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5"/>
  </p:notesMasterIdLst>
  <p:handoutMasterIdLst>
    <p:handoutMasterId r:id="rId206"/>
  </p:handoutMasterIdLst>
  <p:sldIdLst>
    <p:sldId id="996" r:id="rId2"/>
    <p:sldId id="823" r:id="rId3"/>
    <p:sldId id="998" r:id="rId4"/>
    <p:sldId id="997" r:id="rId5"/>
    <p:sldId id="825" r:id="rId6"/>
    <p:sldId id="826" r:id="rId7"/>
    <p:sldId id="1404" r:id="rId8"/>
    <p:sldId id="1000" r:id="rId9"/>
    <p:sldId id="807" r:id="rId10"/>
    <p:sldId id="829" r:id="rId11"/>
    <p:sldId id="828" r:id="rId12"/>
    <p:sldId id="1001" r:id="rId13"/>
    <p:sldId id="827" r:id="rId14"/>
    <p:sldId id="813" r:id="rId15"/>
    <p:sldId id="832" r:id="rId16"/>
    <p:sldId id="831" r:id="rId17"/>
    <p:sldId id="1405" r:id="rId18"/>
    <p:sldId id="511" r:id="rId19"/>
    <p:sldId id="651" r:id="rId20"/>
    <p:sldId id="1406" r:id="rId21"/>
    <p:sldId id="516" r:id="rId22"/>
    <p:sldId id="517" r:id="rId23"/>
    <p:sldId id="592" r:id="rId24"/>
    <p:sldId id="833" r:id="rId25"/>
    <p:sldId id="1003" r:id="rId26"/>
    <p:sldId id="767" r:id="rId27"/>
    <p:sldId id="594" r:id="rId28"/>
    <p:sldId id="595" r:id="rId29"/>
    <p:sldId id="1004" r:id="rId30"/>
    <p:sldId id="596" r:id="rId31"/>
    <p:sldId id="586" r:id="rId32"/>
    <p:sldId id="587" r:id="rId33"/>
    <p:sldId id="588" r:id="rId34"/>
    <p:sldId id="537" r:id="rId35"/>
    <p:sldId id="584" r:id="rId36"/>
    <p:sldId id="597" r:id="rId37"/>
    <p:sldId id="590" r:id="rId38"/>
    <p:sldId id="583" r:id="rId39"/>
    <p:sldId id="585" r:id="rId40"/>
    <p:sldId id="598" r:id="rId41"/>
    <p:sldId id="447" r:id="rId42"/>
    <p:sldId id="448" r:id="rId43"/>
    <p:sldId id="1446" r:id="rId44"/>
    <p:sldId id="1447" r:id="rId45"/>
    <p:sldId id="1448" r:id="rId46"/>
    <p:sldId id="613" r:id="rId47"/>
    <p:sldId id="1017" r:id="rId48"/>
    <p:sldId id="1450" r:id="rId49"/>
    <p:sldId id="1451" r:id="rId50"/>
    <p:sldId id="1453" r:id="rId51"/>
    <p:sldId id="1407" r:id="rId52"/>
    <p:sldId id="520" r:id="rId53"/>
    <p:sldId id="606" r:id="rId54"/>
    <p:sldId id="601" r:id="rId55"/>
    <p:sldId id="602" r:id="rId56"/>
    <p:sldId id="603" r:id="rId57"/>
    <p:sldId id="604" r:id="rId58"/>
    <p:sldId id="605" r:id="rId59"/>
    <p:sldId id="608" r:id="rId60"/>
    <p:sldId id="690" r:id="rId61"/>
    <p:sldId id="691" r:id="rId62"/>
    <p:sldId id="610" r:id="rId63"/>
    <p:sldId id="612" r:id="rId64"/>
    <p:sldId id="600" r:id="rId65"/>
    <p:sldId id="616" r:id="rId66"/>
    <p:sldId id="614" r:id="rId67"/>
    <p:sldId id="599" r:id="rId68"/>
    <p:sldId id="617" r:id="rId69"/>
    <p:sldId id="618" r:id="rId70"/>
    <p:sldId id="619" r:id="rId71"/>
    <p:sldId id="620" r:id="rId72"/>
    <p:sldId id="637" r:id="rId73"/>
    <p:sldId id="638" r:id="rId74"/>
    <p:sldId id="817" r:id="rId75"/>
    <p:sldId id="639" r:id="rId76"/>
    <p:sldId id="640" r:id="rId77"/>
    <p:sldId id="835" r:id="rId78"/>
    <p:sldId id="699" r:id="rId79"/>
    <p:sldId id="818" r:id="rId80"/>
    <p:sldId id="641" r:id="rId81"/>
    <p:sldId id="769" r:id="rId82"/>
    <p:sldId id="820" r:id="rId83"/>
    <p:sldId id="819" r:id="rId84"/>
    <p:sldId id="770" r:id="rId85"/>
    <p:sldId id="771" r:id="rId86"/>
    <p:sldId id="647" r:id="rId87"/>
    <p:sldId id="703" r:id="rId88"/>
    <p:sldId id="648" r:id="rId89"/>
    <p:sldId id="772" r:id="rId90"/>
    <p:sldId id="649" r:id="rId91"/>
    <p:sldId id="650" r:id="rId92"/>
    <p:sldId id="753" r:id="rId93"/>
    <p:sldId id="683" r:id="rId94"/>
    <p:sldId id="684" r:id="rId95"/>
    <p:sldId id="773" r:id="rId96"/>
    <p:sldId id="1328" r:id="rId97"/>
    <p:sldId id="774" r:id="rId98"/>
    <p:sldId id="1449" r:id="rId99"/>
    <p:sldId id="775" r:id="rId100"/>
    <p:sldId id="803" r:id="rId101"/>
    <p:sldId id="804" r:id="rId102"/>
    <p:sldId id="805" r:id="rId103"/>
    <p:sldId id="806" r:id="rId104"/>
    <p:sldId id="802" r:id="rId105"/>
    <p:sldId id="800" r:id="rId106"/>
    <p:sldId id="778" r:id="rId107"/>
    <p:sldId id="779" r:id="rId108"/>
    <p:sldId id="780" r:id="rId109"/>
    <p:sldId id="781" r:id="rId110"/>
    <p:sldId id="782" r:id="rId111"/>
    <p:sldId id="783" r:id="rId112"/>
    <p:sldId id="784" r:id="rId113"/>
    <p:sldId id="785" r:id="rId114"/>
    <p:sldId id="786" r:id="rId115"/>
    <p:sldId id="788" r:id="rId116"/>
    <p:sldId id="789" r:id="rId117"/>
    <p:sldId id="1408" r:id="rId118"/>
    <p:sldId id="836" r:id="rId119"/>
    <p:sldId id="1409" r:id="rId120"/>
    <p:sldId id="791" r:id="rId121"/>
    <p:sldId id="790" r:id="rId122"/>
    <p:sldId id="727" r:id="rId123"/>
    <p:sldId id="688" r:id="rId124"/>
    <p:sldId id="689" r:id="rId125"/>
    <p:sldId id="728" r:id="rId126"/>
    <p:sldId id="692" r:id="rId127"/>
    <p:sldId id="725" r:id="rId128"/>
    <p:sldId id="709" r:id="rId129"/>
    <p:sldId id="723" r:id="rId130"/>
    <p:sldId id="710" r:id="rId131"/>
    <p:sldId id="714" r:id="rId132"/>
    <p:sldId id="715" r:id="rId133"/>
    <p:sldId id="716" r:id="rId134"/>
    <p:sldId id="717" r:id="rId135"/>
    <p:sldId id="718" r:id="rId136"/>
    <p:sldId id="719" r:id="rId137"/>
    <p:sldId id="721" r:id="rId138"/>
    <p:sldId id="720" r:id="rId139"/>
    <p:sldId id="693" r:id="rId140"/>
    <p:sldId id="722" r:id="rId141"/>
    <p:sldId id="724" r:id="rId142"/>
    <p:sldId id="729" r:id="rId143"/>
    <p:sldId id="1410" r:id="rId144"/>
    <p:sldId id="839" r:id="rId145"/>
    <p:sldId id="841" r:id="rId146"/>
    <p:sldId id="1013" r:id="rId147"/>
    <p:sldId id="842" r:id="rId148"/>
    <p:sldId id="850" r:id="rId149"/>
    <p:sldId id="852" r:id="rId150"/>
    <p:sldId id="853" r:id="rId151"/>
    <p:sldId id="843" r:id="rId152"/>
    <p:sldId id="844" r:id="rId153"/>
    <p:sldId id="845" r:id="rId154"/>
    <p:sldId id="855" r:id="rId155"/>
    <p:sldId id="854" r:id="rId156"/>
    <p:sldId id="847" r:id="rId157"/>
    <p:sldId id="848" r:id="rId158"/>
    <p:sldId id="856" r:id="rId159"/>
    <p:sldId id="1411" r:id="rId160"/>
    <p:sldId id="1412" r:id="rId161"/>
    <p:sldId id="1413" r:id="rId162"/>
    <p:sldId id="1414" r:id="rId163"/>
    <p:sldId id="1415" r:id="rId164"/>
    <p:sldId id="1416" r:id="rId165"/>
    <p:sldId id="1417" r:id="rId166"/>
    <p:sldId id="1418" r:id="rId167"/>
    <p:sldId id="1420" r:id="rId168"/>
    <p:sldId id="1422" r:id="rId169"/>
    <p:sldId id="1421" r:id="rId170"/>
    <p:sldId id="1423" r:id="rId171"/>
    <p:sldId id="1424" r:id="rId172"/>
    <p:sldId id="1425" r:id="rId173"/>
    <p:sldId id="1426" r:id="rId174"/>
    <p:sldId id="1427" r:id="rId175"/>
    <p:sldId id="1428" r:id="rId176"/>
    <p:sldId id="1429" r:id="rId177"/>
    <p:sldId id="1430" r:id="rId178"/>
    <p:sldId id="1431" r:id="rId179"/>
    <p:sldId id="1432" r:id="rId180"/>
    <p:sldId id="1433" r:id="rId181"/>
    <p:sldId id="1434" r:id="rId182"/>
    <p:sldId id="1435" r:id="rId183"/>
    <p:sldId id="1436" r:id="rId184"/>
    <p:sldId id="1437" r:id="rId185"/>
    <p:sldId id="1438" r:id="rId186"/>
    <p:sldId id="1439" r:id="rId187"/>
    <p:sldId id="1440" r:id="rId188"/>
    <p:sldId id="1441" r:id="rId189"/>
    <p:sldId id="1442" r:id="rId190"/>
    <p:sldId id="1443" r:id="rId191"/>
    <p:sldId id="1444" r:id="rId192"/>
    <p:sldId id="1445" r:id="rId193"/>
    <p:sldId id="748" r:id="rId194"/>
    <p:sldId id="750" r:id="rId195"/>
    <p:sldId id="798" r:id="rId196"/>
    <p:sldId id="751" r:id="rId197"/>
    <p:sldId id="793" r:id="rId198"/>
    <p:sldId id="794" r:id="rId199"/>
    <p:sldId id="795" r:id="rId200"/>
    <p:sldId id="761" r:id="rId201"/>
    <p:sldId id="796" r:id="rId202"/>
    <p:sldId id="762" r:id="rId203"/>
    <p:sldId id="797" r:id="rId204"/>
  </p:sldIdLst>
  <p:sldSz cx="9144000" cy="6858000" type="screen4x3"/>
  <p:notesSz cx="6858000" cy="9144000"/>
  <p:custDataLst>
    <p:tags r:id="rId207"/>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9pPr>
  </p:defaultTextStyle>
  <p:extLst>
    <p:ext uri="{EFAFB233-063F-42B5-8137-9DF3F51BA10A}">
      <p15:sldGuideLst xmlns:p15="http://schemas.microsoft.com/office/powerpoint/2012/main">
        <p15:guide id="1" orient="horz" pos="2121" userDrawn="1">
          <p15:clr>
            <a:srgbClr val="A4A3A4"/>
          </p15:clr>
        </p15:guide>
        <p15:guide id="2" pos="29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Muha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9476B6"/>
    <a:srgbClr val="EBEBEB"/>
    <a:srgbClr val="E2D9EB"/>
    <a:srgbClr val="B8D4EC"/>
    <a:srgbClr val="F6F6F6"/>
    <a:srgbClr val="D7D7FF"/>
    <a:srgbClr val="36A6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4"/>
    <p:restoredTop sz="94789"/>
  </p:normalViewPr>
  <p:slideViewPr>
    <p:cSldViewPr snapToObjects="1" showGuides="1">
      <p:cViewPr varScale="1">
        <p:scale>
          <a:sx n="97" d="100"/>
          <a:sy n="97" d="100"/>
        </p:scale>
        <p:origin x="1170" y="54"/>
      </p:cViewPr>
      <p:guideLst>
        <p:guide orient="horz" pos="2121"/>
        <p:guide pos="291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51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ags" Target="tags/tag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presProps" Target="presProps.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2A38A7-D78D-4DF9-B239-EF7EA5511D4D}"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1403426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172"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9F52307-9B28-41B2-8D96-4A8282D1D992}"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422837279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1</a:t>
            </a:fld>
            <a:endParaRPr lang="en-US" altLang="zh-CN" sz="1200" dirty="0">
              <a:ea typeface="宋体" panose="02010600030101010101" pitchFamily="2" charset="-122"/>
            </a:endParaRPr>
          </a:p>
        </p:txBody>
      </p:sp>
      <p:sp>
        <p:nvSpPr>
          <p:cNvPr id="10243" name="Rectangle 2"/>
          <p:cNvSpPr>
            <a:spLocks noGrp="1" noRot="1" noChangeAspect="1" noTextEdit="1"/>
          </p:cNvSpPr>
          <p:nvPr>
            <p:ph type="sldImg"/>
          </p:nvPr>
        </p:nvSpPr>
        <p:spPr/>
      </p:sp>
      <p:sp>
        <p:nvSpPr>
          <p:cNvPr id="10244"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3</a:t>
            </a:fld>
            <a:endParaRPr lang="en-US" altLang="zh-CN" sz="1200" dirty="0">
              <a:ea typeface="宋体" panose="02010600030101010101" pitchFamily="2" charset="-122"/>
            </a:endParaRPr>
          </a:p>
        </p:txBody>
      </p:sp>
      <p:sp>
        <p:nvSpPr>
          <p:cNvPr id="14339" name="Rectangle 2"/>
          <p:cNvSpPr>
            <a:spLocks noGrp="1" noRot="1" noChangeAspect="1" noTextEdit="1"/>
          </p:cNvSpPr>
          <p:nvPr>
            <p:ph type="sldImg"/>
          </p:nvPr>
        </p:nvSpPr>
        <p:spPr/>
      </p:sp>
      <p:sp>
        <p:nvSpPr>
          <p:cNvPr id="14340"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5</a:t>
            </a:fld>
            <a:endParaRPr lang="en-US" altLang="zh-CN" sz="1200" dirty="0">
              <a:ea typeface="宋体" panose="02010600030101010101" pitchFamily="2" charset="-122"/>
            </a:endParaRPr>
          </a:p>
        </p:txBody>
      </p:sp>
      <p:sp>
        <p:nvSpPr>
          <p:cNvPr id="17411" name="Rectangle 2"/>
          <p:cNvSpPr>
            <a:spLocks noGrp="1" noRot="1" noChangeAspect="1" noTextEdit="1"/>
          </p:cNvSpPr>
          <p:nvPr>
            <p:ph type="sldImg"/>
          </p:nvPr>
        </p:nvSpPr>
        <p:spPr>
          <a:solidFill>
            <a:srgbClr val="FFFFFF">
              <a:alpha val="100000"/>
            </a:srgbClr>
          </a:solidFill>
        </p:spPr>
      </p:sp>
      <p:sp>
        <p:nvSpPr>
          <p:cNvPr id="17412"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6</a:t>
            </a:fld>
            <a:endParaRPr lang="en-US" altLang="zh-CN" sz="1200" dirty="0">
              <a:ea typeface="宋体" panose="02010600030101010101" pitchFamily="2" charset="-122"/>
            </a:endParaRPr>
          </a:p>
        </p:txBody>
      </p:sp>
      <p:sp>
        <p:nvSpPr>
          <p:cNvPr id="19459" name="Rectangle 1026"/>
          <p:cNvSpPr>
            <a:spLocks noGrp="1" noRot="1" noChangeAspect="1" noTextEdit="1"/>
          </p:cNvSpPr>
          <p:nvPr>
            <p:ph type="sldImg"/>
          </p:nvPr>
        </p:nvSpPr>
        <p:spPr>
          <a:solidFill>
            <a:srgbClr val="FFFFFF">
              <a:alpha val="100000"/>
            </a:srgbClr>
          </a:solidFill>
        </p:spPr>
      </p:sp>
      <p:sp>
        <p:nvSpPr>
          <p:cNvPr id="19460" name="Rectangle 1027"/>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18</a:t>
            </a:fld>
            <a:endParaRPr lang="en-US" altLang="zh-CN" sz="1200" dirty="0">
              <a:ea typeface="宋体" panose="02010600030101010101" pitchFamily="2" charset="-122"/>
            </a:endParaRPr>
          </a:p>
        </p:txBody>
      </p:sp>
      <p:sp>
        <p:nvSpPr>
          <p:cNvPr id="36867" name="Rectangle 2"/>
          <p:cNvSpPr>
            <a:spLocks noGrp="1" noRot="1" noChangeAspect="1" noTextEdit="1"/>
          </p:cNvSpPr>
          <p:nvPr>
            <p:ph type="sldImg"/>
          </p:nvPr>
        </p:nvSpPr>
        <p:spPr>
          <a:solidFill>
            <a:srgbClr val="FFFFFF">
              <a:alpha val="100000"/>
            </a:srgbClr>
          </a:solidFill>
        </p:spPr>
      </p:sp>
      <p:sp>
        <p:nvSpPr>
          <p:cNvPr id="368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25</a:t>
            </a:fld>
            <a:endParaRPr lang="en-US" altLang="zh-CN" sz="1200" dirty="0">
              <a:ea typeface="宋体" panose="02010600030101010101" pitchFamily="2" charset="-122"/>
            </a:endParaRPr>
          </a:p>
        </p:txBody>
      </p:sp>
      <p:sp>
        <p:nvSpPr>
          <p:cNvPr id="56323" name="Rectangle 2"/>
          <p:cNvSpPr>
            <a:spLocks noGrp="1" noRot="1" noChangeAspect="1" noTextEdit="1"/>
          </p:cNvSpPr>
          <p:nvPr>
            <p:ph type="sldImg"/>
          </p:nvPr>
        </p:nvSpPr>
        <p:spPr>
          <a:solidFill>
            <a:srgbClr val="FFFFFF">
              <a:alpha val="100000"/>
            </a:srgbClr>
          </a:solidFill>
        </p:spPr>
      </p:sp>
      <p:sp>
        <p:nvSpPr>
          <p:cNvPr id="56324"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t>29</a:t>
            </a:fld>
            <a:endParaRPr lang="en-US" altLang="zh-CN" sz="1200" dirty="0">
              <a:ea typeface="宋体" panose="02010600030101010101" pitchFamily="2" charset="-122"/>
            </a:endParaRPr>
          </a:p>
        </p:txBody>
      </p:sp>
      <p:sp>
        <p:nvSpPr>
          <p:cNvPr id="62467" name="Rectangle 2"/>
          <p:cNvSpPr>
            <a:spLocks noGrp="1" noRot="1" noChangeAspect="1" noTextEdit="1"/>
          </p:cNvSpPr>
          <p:nvPr>
            <p:ph type="sldImg"/>
          </p:nvPr>
        </p:nvSpPr>
        <p:spPr>
          <a:solidFill>
            <a:srgbClr val="FFFFFF">
              <a:alpha val="100000"/>
            </a:srgbClr>
          </a:solidFill>
        </p:spPr>
      </p:sp>
      <p:sp>
        <p:nvSpPr>
          <p:cNvPr id="624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p:sp>
      <p:sp>
        <p:nvSpPr>
          <p:cNvPr id="10854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0854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79</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050"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p:txBody>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p>
        </p:txBody>
      </p:sp>
      <p:sp>
        <p:nvSpPr>
          <p:cNvPr id="4101"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122"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017588" y="188640"/>
            <a:ext cx="6400800" cy="685800"/>
          </a:xfrm>
          <a:prstGeom prst="rect">
            <a:avLst/>
          </a:prstGeom>
        </p:spPr>
        <p:txBody>
          <a:bodyPr/>
          <a:lstStyle/>
          <a:p>
            <a:r>
              <a:rPr lang="zh-CN" altLang="en-US" noProof="1"/>
              <a:t>单击此处编辑母版标题样式</a:t>
            </a:r>
          </a:p>
        </p:txBody>
      </p:sp>
      <p:sp>
        <p:nvSpPr>
          <p:cNvPr id="3" name="表格占位符 2"/>
          <p:cNvSpPr>
            <a:spLocks noGrp="1"/>
          </p:cNvSpPr>
          <p:nvPr>
            <p:ph type="tbl" idx="1"/>
          </p:nvPr>
        </p:nvSpPr>
        <p:spPr>
          <a:xfrm>
            <a:off x="649288" y="1449388"/>
            <a:ext cx="7983537" cy="4725987"/>
          </a:xfrm>
          <a:prstGeom prst="rect">
            <a:avLst/>
          </a:prstGeo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a:prstGeom prst="rect">
            <a:avLst/>
          </a:prstGeom>
        </p:spPr>
        <p:txBody>
          <a:bodyPr/>
          <a:lstStyle/>
          <a:p>
            <a:r>
              <a:rPr lang="zh-CN" altLang="en-US" noProof="1"/>
              <a:t>单击此处编辑母版标题样式</a:t>
            </a:r>
          </a:p>
        </p:txBody>
      </p:sp>
      <p:sp>
        <p:nvSpPr>
          <p:cNvPr id="3" name="SmartArt 占位符 2"/>
          <p:cNvSpPr>
            <a:spLocks noGrp="1"/>
          </p:cNvSpPr>
          <p:nvPr>
            <p:ph type="pic" idx="1"/>
          </p:nvPr>
        </p:nvSpPr>
        <p:spPr>
          <a:xfrm>
            <a:off x="649288" y="1449388"/>
            <a:ext cx="7983537" cy="4725987"/>
          </a:xfrm>
          <a:prstGeom prst="rect">
            <a:avLst/>
          </a:prstGeo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49288" y="609600"/>
            <a:ext cx="7983537" cy="55657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p:nvPr>
        </p:nvSpPr>
        <p:spPr>
          <a:xfrm>
            <a:off x="496888" y="1116013"/>
            <a:ext cx="8251825" cy="5472112"/>
          </a:xfrm>
          <a:prstGeom prst="rect">
            <a:avLst/>
          </a:prstGeom>
          <a:noFill/>
          <a:ln w="9525">
            <a:noFill/>
          </a:ln>
        </p:spPr>
        <p:txBody>
          <a:bodyPr/>
          <a:lstStyle/>
          <a:p>
            <a:pPr lvl="0"/>
            <a:r>
              <a:rPr lang="zh-CN" altLang="en-US" dirty="0"/>
              <a:t>单击以编辑母版文本样式</a:t>
            </a:r>
          </a:p>
        </p:txBody>
      </p:sp>
      <p:cxnSp>
        <p:nvCxnSpPr>
          <p:cNvPr id="1027"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1" name="矩形 10"/>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grpSp>
        <p:nvGrpSpPr>
          <p:cNvPr id="2" name="组合 1"/>
          <p:cNvGrpSpPr/>
          <p:nvPr/>
        </p:nvGrpSpPr>
        <p:grpSpPr>
          <a:xfrm>
            <a:off x="115637" y="404664"/>
            <a:ext cx="617410" cy="174607"/>
            <a:chOff x="384175" y="480608"/>
            <a:chExt cx="348872" cy="98663"/>
          </a:xfrm>
          <a:solidFill>
            <a:srgbClr val="76AEDD"/>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
        <p:nvSpPr>
          <p:cNvPr id="1031" name="Rectangle 2"/>
          <p:cNvSpPr>
            <a:spLocks noGrp="1"/>
          </p:cNvSpPr>
          <p:nvPr>
            <p:ph type="title"/>
          </p:nvPr>
        </p:nvSpPr>
        <p:spPr>
          <a:xfrm>
            <a:off x="844550" y="260350"/>
            <a:ext cx="6400800" cy="457200"/>
          </a:xfrm>
          <a:prstGeom prst="rect">
            <a:avLst/>
          </a:prstGeom>
          <a:noFill/>
          <a:ln w="9525">
            <a:noFill/>
          </a:ln>
        </p:spPr>
        <p:txBody>
          <a:bodyPr anchor="ctr" anchorCtr="0"/>
          <a:lstStyle/>
          <a:p>
            <a:pPr lvl="0"/>
            <a:r>
              <a:rPr lang="en-US" altLang="zh-CN" dirty="0"/>
              <a:t>单击以编辑</a:t>
            </a:r>
            <a:r>
              <a:rPr lang="en-US" altLang="en-US" dirty="0"/>
              <a:t>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6" Type="http://schemas.openxmlformats.org/officeDocument/2006/relationships/image" Target="../media/image11.tmp"/><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slideLayout" Target="../slideLayouts/slideLayout4.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49.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tags" Target="../tags/tag28.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image" Target="../media/image11.tmp"/><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slideLayout" Target="../slideLayouts/slideLayout4.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 Type="http://schemas.openxmlformats.org/officeDocument/2006/relationships/tags" Target="../tags/tag30.xml"/><Relationship Id="rId16" Type="http://schemas.openxmlformats.org/officeDocument/2006/relationships/tags" Target="../tags/tag44.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tags" Target="../tags/tag43.xml"/><Relationship Id="rId10" Type="http://schemas.openxmlformats.org/officeDocument/2006/relationships/tags" Target="../tags/tag38.xml"/><Relationship Id="rId19" Type="http://schemas.openxmlformats.org/officeDocument/2006/relationships/image" Target="../media/image11.tmp"/><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14.emf"/><Relationship Id="rId5" Type="http://schemas.openxmlformats.org/officeDocument/2006/relationships/oleObject" Target="../embeddings/oleObject4.bin"/><Relationship Id="rId4" Type="http://schemas.openxmlformats.org/officeDocument/2006/relationships/image" Target="../media/image13.e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vmlDrawing" Target="../drawings/vmlDrawing4.vml"/><Relationship Id="rId4" Type="http://schemas.openxmlformats.org/officeDocument/2006/relationships/image" Target="../media/image13.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8.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xml"/><Relationship Id="rId1" Type="http://schemas.openxmlformats.org/officeDocument/2006/relationships/vmlDrawing" Target="../drawings/vmlDrawing6.vml"/><Relationship Id="rId4" Type="http://schemas.openxmlformats.org/officeDocument/2006/relationships/image" Target="../media/image19.wmf"/></Relationships>
</file>

<file path=ppt/slides/_rels/slide9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8.xml"/><Relationship Id="rId1" Type="http://schemas.openxmlformats.org/officeDocument/2006/relationships/vmlDrawing" Target="../drawings/vmlDrawing7.vml"/><Relationship Id="rId6" Type="http://schemas.openxmlformats.org/officeDocument/2006/relationships/image" Target="../media/image21.wmf"/><Relationship Id="rId5" Type="http://schemas.openxmlformats.org/officeDocument/2006/relationships/oleObject" Target="../embeddings/oleObject9.bin"/><Relationship Id="rId4" Type="http://schemas.openxmlformats.org/officeDocument/2006/relationships/image" Target="../media/image20.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8.xml"/><Relationship Id="rId1" Type="http://schemas.openxmlformats.org/officeDocument/2006/relationships/vmlDrawing" Target="../drawings/vmlDrawing8.vml"/><Relationship Id="rId4" Type="http://schemas.openxmlformats.org/officeDocument/2006/relationships/image" Target="../media/image23.w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8.xml"/><Relationship Id="rId1" Type="http://schemas.openxmlformats.org/officeDocument/2006/relationships/vmlDrawing" Target="../drawings/vmlDrawing9.vml"/><Relationship Id="rId4" Type="http://schemas.openxmlformats.org/officeDocument/2006/relationships/image" Target="../media/image23.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slideLayout" Target="../slideLayouts/slideLayout4.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 Type="http://schemas.openxmlformats.org/officeDocument/2006/relationships/tags" Target="../tags/tag47.xml"/><Relationship Id="rId16" Type="http://schemas.openxmlformats.org/officeDocument/2006/relationships/tags" Target="../tags/tag61.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10" Type="http://schemas.openxmlformats.org/officeDocument/2006/relationships/tags" Target="../tags/tag55.xml"/><Relationship Id="rId19" Type="http://schemas.openxmlformats.org/officeDocument/2006/relationships/image" Target="../media/image11.tmp"/><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8.xml"/><Relationship Id="rId1" Type="http://schemas.openxmlformats.org/officeDocument/2006/relationships/vmlDrawing" Target="../drawings/vmlDrawing10.vml"/><Relationship Id="rId6" Type="http://schemas.openxmlformats.org/officeDocument/2006/relationships/image" Target="../media/image25.wmf"/><Relationship Id="rId5" Type="http://schemas.openxmlformats.org/officeDocument/2006/relationships/oleObject" Target="../embeddings/oleObject14.bin"/><Relationship Id="rId4" Type="http://schemas.openxmlformats.org/officeDocument/2006/relationships/image" Target="../media/image24.wmf"/></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8.xml"/><Relationship Id="rId1" Type="http://schemas.openxmlformats.org/officeDocument/2006/relationships/vmlDrawing" Target="../drawings/vmlDrawing11.vml"/><Relationship Id="rId6" Type="http://schemas.openxmlformats.org/officeDocument/2006/relationships/image" Target="../media/image24.wmf"/><Relationship Id="rId5" Type="http://schemas.openxmlformats.org/officeDocument/2006/relationships/oleObject" Target="../embeddings/oleObject16.bin"/><Relationship Id="rId4" Type="http://schemas.openxmlformats.org/officeDocument/2006/relationships/image" Target="../media/image26.wmf"/></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vmlDrawing" Target="../drawings/vmlDrawing12.vml"/><Relationship Id="rId4" Type="http://schemas.openxmlformats.org/officeDocument/2006/relationships/image" Target="../media/image26.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8.xml"/><Relationship Id="rId1" Type="http://schemas.openxmlformats.org/officeDocument/2006/relationships/vmlDrawing" Target="../drawings/vmlDrawing13.vml"/><Relationship Id="rId6" Type="http://schemas.openxmlformats.org/officeDocument/2006/relationships/image" Target="../media/image30.emf"/><Relationship Id="rId5" Type="http://schemas.openxmlformats.org/officeDocument/2006/relationships/oleObject" Target="../embeddings/oleObject19.bin"/><Relationship Id="rId4" Type="http://schemas.openxmlformats.org/officeDocument/2006/relationships/image" Target="../media/image29.e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8.xml"/><Relationship Id="rId1" Type="http://schemas.openxmlformats.org/officeDocument/2006/relationships/vmlDrawing" Target="../drawings/vmlDrawing14.vml"/><Relationship Id="rId6" Type="http://schemas.openxmlformats.org/officeDocument/2006/relationships/image" Target="../media/image32.wmf"/><Relationship Id="rId5" Type="http://schemas.openxmlformats.org/officeDocument/2006/relationships/oleObject" Target="../embeddings/oleObject21.bin"/><Relationship Id="rId4" Type="http://schemas.openxmlformats.org/officeDocument/2006/relationships/image" Target="../media/image31.w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8.xml"/><Relationship Id="rId1" Type="http://schemas.openxmlformats.org/officeDocument/2006/relationships/vmlDrawing" Target="../drawings/vmlDrawing15.vml"/><Relationship Id="rId6" Type="http://schemas.openxmlformats.org/officeDocument/2006/relationships/image" Target="../media/image34.wmf"/><Relationship Id="rId5" Type="http://schemas.openxmlformats.org/officeDocument/2006/relationships/oleObject" Target="../embeddings/oleObject23.bin"/><Relationship Id="rId4" Type="http://schemas.openxmlformats.org/officeDocument/2006/relationships/image" Target="../media/image33.w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8.xml"/><Relationship Id="rId1" Type="http://schemas.openxmlformats.org/officeDocument/2006/relationships/vmlDrawing" Target="../drawings/vmlDrawing16.vml"/><Relationship Id="rId4" Type="http://schemas.openxmlformats.org/officeDocument/2006/relationships/image" Target="../media/image35.wm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8.xml"/><Relationship Id="rId1" Type="http://schemas.openxmlformats.org/officeDocument/2006/relationships/vmlDrawing" Target="../drawings/vmlDrawing17.vml"/><Relationship Id="rId6" Type="http://schemas.openxmlformats.org/officeDocument/2006/relationships/image" Target="../media/image37.wmf"/><Relationship Id="rId5" Type="http://schemas.openxmlformats.org/officeDocument/2006/relationships/oleObject" Target="../embeddings/oleObject26.bin"/><Relationship Id="rId4" Type="http://schemas.openxmlformats.org/officeDocument/2006/relationships/image" Target="../media/image36.wmf"/></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8.xml"/><Relationship Id="rId1" Type="http://schemas.openxmlformats.org/officeDocument/2006/relationships/vmlDrawing" Target="../drawings/vmlDrawing18.vml"/><Relationship Id="rId4" Type="http://schemas.openxmlformats.org/officeDocument/2006/relationships/image" Target="../media/image38.emf"/></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8.xml"/><Relationship Id="rId1" Type="http://schemas.openxmlformats.org/officeDocument/2006/relationships/vmlDrawing" Target="../drawings/vmlDrawing19.vml"/><Relationship Id="rId4" Type="http://schemas.openxmlformats.org/officeDocument/2006/relationships/image" Target="../media/image39.w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8.xml"/><Relationship Id="rId1" Type="http://schemas.openxmlformats.org/officeDocument/2006/relationships/vmlDrawing" Target="../drawings/vmlDrawing20.vml"/><Relationship Id="rId4" Type="http://schemas.openxmlformats.org/officeDocument/2006/relationships/image" Target="../media/image40.wm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8.xml"/><Relationship Id="rId1" Type="http://schemas.openxmlformats.org/officeDocument/2006/relationships/vmlDrawing" Target="../drawings/vmlDrawing21.vml"/><Relationship Id="rId4" Type="http://schemas.openxmlformats.org/officeDocument/2006/relationships/image" Target="../media/image40.wmf"/></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1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514350"/>
            <a:ext cx="9144000" cy="881063"/>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 name="矩形 22"/>
          <p:cNvSpPr/>
          <p:nvPr/>
        </p:nvSpPr>
        <p:spPr bwMode="auto">
          <a:xfrm>
            <a:off x="0" y="1519238"/>
            <a:ext cx="9144000" cy="53975"/>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9222" name="图片 1"/>
          <p:cNvPicPr>
            <a:picLocks noChangeAspect="1"/>
          </p:cNvPicPr>
          <p:nvPr/>
        </p:nvPicPr>
        <p:blipFill>
          <a:blip r:embed="rId3"/>
          <a:srcRect l="36591" t="61440" r="36745" b="14038"/>
          <a:stretch>
            <a:fillRect/>
          </a:stretch>
        </p:blipFill>
        <p:spPr>
          <a:xfrm>
            <a:off x="511175" y="2382838"/>
            <a:ext cx="2282825" cy="2935287"/>
          </a:xfrm>
          <a:prstGeom prst="rect">
            <a:avLst/>
          </a:prstGeom>
          <a:noFill/>
          <a:ln w="9525">
            <a:noFill/>
          </a:ln>
        </p:spPr>
      </p:pic>
      <p:sp>
        <p:nvSpPr>
          <p:cNvPr id="29" name="矩形 28"/>
          <p:cNvSpPr/>
          <p:nvPr/>
        </p:nvSpPr>
        <p:spPr bwMode="auto">
          <a:xfrm>
            <a:off x="0" y="6121400"/>
            <a:ext cx="9155113" cy="604838"/>
          </a:xfrm>
          <a:prstGeom prst="rect">
            <a:avLst/>
          </a:prstGeom>
          <a:solidFill>
            <a:srgbClr val="76AEDD"/>
          </a:solidFill>
          <a:ln w="9525" cap="flat" cmpd="sng" algn="ctr">
            <a:noFill/>
            <a:prstDash val="solid"/>
            <a:round/>
            <a:headEnd type="none" w="med" len="med"/>
            <a:tailEnd type="none" w="med" len="med"/>
          </a:ln>
        </p:spPr>
        <p:txBody>
          <a:body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Rectangle 24"/>
          <p:cNvSpPr txBox="1">
            <a:spLocks noChangeArrowheads="1"/>
          </p:cNvSpPr>
          <p:nvPr/>
        </p:nvSpPr>
        <p:spPr bwMode="auto">
          <a:xfrm>
            <a:off x="300038" y="641350"/>
            <a:ext cx="8843963" cy="714375"/>
          </a:xfrm>
          <a:prstGeom prst="rect">
            <a:avLst/>
          </a:prstGeom>
          <a:noFill/>
          <a:ln w="9525">
            <a:noFill/>
            <a:miter lim="800000"/>
          </a:ln>
        </p:spPr>
        <p:txBody>
          <a:bodyPr anchor="ctr"/>
          <a:lstStyle/>
          <a:p>
            <a:pPr marR="0" defTabSz="914400" eaLnBrk="1" hangingPunct="1">
              <a:buClrTx/>
              <a:buSzTx/>
              <a:buFont typeface="Arial" panose="020B0604020202020204" pitchFamily="34" charset="0"/>
              <a:buNone/>
              <a:defRPr/>
            </a:pPr>
            <a:r>
              <a:rPr kumimoji="0" lang="zh-CN" altLang="en-US" sz="4000" kern="1200" cap="none" spc="0" normalizeH="0" baseline="0" noProof="0" dirty="0">
                <a:solidFill>
                  <a:schemeClr val="bg1"/>
                </a:solidFill>
                <a:latin typeface="+mn-lt"/>
                <a:ea typeface="+mn-ea"/>
                <a:cs typeface="+mn-ea"/>
                <a:sym typeface="+mn-lt"/>
              </a:rPr>
              <a:t>数据结构（</a:t>
            </a:r>
            <a:r>
              <a:rPr kumimoji="0" lang="en-US" altLang="zh-CN" sz="4000" kern="1200" cap="none" spc="0" normalizeH="0" baseline="0" noProof="0" dirty="0">
                <a:solidFill>
                  <a:schemeClr val="bg1"/>
                </a:solidFill>
                <a:latin typeface="+mn-lt"/>
                <a:ea typeface="+mn-ea"/>
                <a:cs typeface="+mn-ea"/>
                <a:sym typeface="+mn-lt"/>
              </a:rPr>
              <a:t>C</a:t>
            </a:r>
            <a:r>
              <a:rPr kumimoji="0" lang="zh-CN" altLang="en-US" sz="4000" kern="1200" cap="none" spc="0" normalizeH="0" baseline="0" noProof="0" dirty="0">
                <a:solidFill>
                  <a:schemeClr val="bg1"/>
                </a:solidFill>
                <a:latin typeface="+mn-lt"/>
                <a:ea typeface="+mn-ea"/>
                <a:cs typeface="+mn-ea"/>
                <a:sym typeface="+mn-lt"/>
              </a:rPr>
              <a:t>语言版）（第</a:t>
            </a:r>
            <a:r>
              <a:rPr kumimoji="0" lang="en-US" altLang="zh-CN" sz="4000" kern="1200" cap="none" spc="0" normalizeH="0" baseline="0" noProof="0" dirty="0">
                <a:solidFill>
                  <a:schemeClr val="bg1"/>
                </a:solidFill>
                <a:latin typeface="+mn-lt"/>
                <a:ea typeface="+mn-ea"/>
                <a:cs typeface="+mn-ea"/>
                <a:sym typeface="+mn-lt"/>
              </a:rPr>
              <a:t>2</a:t>
            </a:r>
            <a:r>
              <a:rPr kumimoji="0" lang="zh-CN" altLang="en-US" sz="4000" kern="1200" cap="none" spc="0" normalizeH="0" baseline="0" noProof="0" dirty="0">
                <a:solidFill>
                  <a:schemeClr val="bg1"/>
                </a:solidFill>
                <a:latin typeface="+mn-lt"/>
                <a:ea typeface="+mn-ea"/>
                <a:cs typeface="+mn-ea"/>
                <a:sym typeface="+mn-lt"/>
              </a:rPr>
              <a:t>版）</a:t>
            </a:r>
            <a:endParaRPr kumimoji="1" lang="zh-CN" altLang="en-US" sz="5400" b="1" i="1" kern="0" cap="none" spc="0" normalizeH="0" baseline="0" noProof="0" dirty="0">
              <a:solidFill>
                <a:schemeClr val="accent1">
                  <a:lumMod val="50000"/>
                </a:schemeClr>
              </a:solidFill>
              <a:effectLst>
                <a:outerShdw blurRad="38100" dist="38100" dir="2700000" algn="tl">
                  <a:srgbClr val="C0C0C0"/>
                </a:outerShdw>
              </a:effectLst>
              <a:latin typeface="+mn-lt"/>
              <a:ea typeface="+mn-ea"/>
              <a:cs typeface="+mn-ea"/>
              <a:sym typeface="+mn-lt"/>
            </a:endParaRPr>
          </a:p>
        </p:txBody>
      </p:sp>
      <p:sp>
        <p:nvSpPr>
          <p:cNvPr id="3" name="矩形: 圆角 2"/>
          <p:cNvSpPr>
            <a:spLocks noChangeArrowheads="1"/>
          </p:cNvSpPr>
          <p:nvPr/>
        </p:nvSpPr>
        <p:spPr bwMode="auto">
          <a:xfrm>
            <a:off x="3276251" y="2924825"/>
            <a:ext cx="5640388" cy="579438"/>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 name="Rectangle 24"/>
          <p:cNvSpPr txBox="1">
            <a:spLocks noChangeArrowheads="1"/>
          </p:cNvSpPr>
          <p:nvPr/>
        </p:nvSpPr>
        <p:spPr bwMode="auto">
          <a:xfrm>
            <a:off x="3390551" y="2858150"/>
            <a:ext cx="2554288" cy="714375"/>
          </a:xfrm>
          <a:prstGeom prst="rect">
            <a:avLst/>
          </a:prstGeom>
          <a:noFill/>
          <a:ln w="9525">
            <a:noFill/>
            <a:miter lim="800000"/>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9pPr>
          </a:lstStyle>
          <a:p>
            <a:pPr marR="0"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线性表</a:t>
            </a:r>
            <a:endParaRPr kumimoji="1" lang="zh-CN" altLang="en-US" sz="4800" b="1" i="1" kern="0" cap="none" spc="0" normalizeH="0" baseline="0" noProof="0" dirty="0">
              <a:solidFill>
                <a:schemeClr val="accent1">
                  <a:lumMod val="50000"/>
                </a:schemeClr>
              </a:solidFill>
              <a:effectLst>
                <a:outerShdw blurRad="38100" dist="38100" dir="2700000" algn="tl">
                  <a:srgbClr val="C0C0C0"/>
                </a:outerShdw>
              </a:effectLst>
              <a:latin typeface="+mn-lt"/>
              <a:ea typeface="+mn-ea"/>
              <a:cs typeface="+mn-ea"/>
              <a:sym typeface="+mn-lt"/>
            </a:endParaRPr>
          </a:p>
        </p:txBody>
      </p:sp>
      <p:sp>
        <p:nvSpPr>
          <p:cNvPr id="7" name="Rectangle 24"/>
          <p:cNvSpPr txBox="1">
            <a:spLocks noChangeArrowheads="1"/>
          </p:cNvSpPr>
          <p:nvPr/>
        </p:nvSpPr>
        <p:spPr bwMode="auto">
          <a:xfrm>
            <a:off x="3215926" y="2135837"/>
            <a:ext cx="2554288" cy="714375"/>
          </a:xfrm>
          <a:prstGeom prst="rect">
            <a:avLst/>
          </a:prstGeom>
          <a:noFill/>
          <a:ln w="9525">
            <a:noFill/>
            <a:miter lim="800000"/>
          </a:ln>
        </p:spPr>
        <p:txBody>
          <a:bodyPr anchor="ctr"/>
          <a:ls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9pPr>
          </a:lstStyle>
          <a:p>
            <a:pPr marR="0" defTabSz="914400">
              <a:buClrTx/>
              <a:buSzTx/>
              <a:buFontTx/>
              <a:buNone/>
              <a:defRPr/>
            </a:pPr>
            <a:r>
              <a:rPr kumimoji="1" lang="zh-CN" altLang="en-US" sz="3600" kern="0" cap="none" spc="0" normalizeH="0" baseline="0" noProof="0" dirty="0">
                <a:solidFill>
                  <a:schemeClr val="bg1"/>
                </a:solidFill>
                <a:latin typeface="+mn-lt"/>
                <a:ea typeface="+mn-ea"/>
                <a:cs typeface="+mn-ea"/>
                <a:sym typeface="+mn-lt"/>
              </a:rPr>
              <a:t>第</a:t>
            </a:r>
            <a:r>
              <a:rPr kumimoji="1" lang="en-US" altLang="zh-CN" sz="3600" kern="0" cap="none" spc="0" normalizeH="0" baseline="0" noProof="0" dirty="0">
                <a:solidFill>
                  <a:schemeClr val="bg1"/>
                </a:solidFill>
                <a:latin typeface="+mn-lt"/>
                <a:ea typeface="+mn-ea"/>
                <a:cs typeface="+mn-ea"/>
                <a:sym typeface="+mn-lt"/>
              </a:rPr>
              <a:t>2</a:t>
            </a:r>
            <a:r>
              <a:rPr kumimoji="1" lang="zh-CN" altLang="en-US" sz="3600" kern="0" cap="none" spc="0" normalizeH="0" baseline="0" noProof="0" dirty="0">
                <a:solidFill>
                  <a:schemeClr val="bg1"/>
                </a:solidFill>
                <a:latin typeface="+mn-lt"/>
                <a:ea typeface="+mn-ea"/>
                <a:cs typeface="+mn-ea"/>
                <a:sym typeface="+mn-lt"/>
              </a:rPr>
              <a:t>章</a:t>
            </a:r>
            <a:endParaRPr kumimoji="1" lang="zh-CN" altLang="en-US" sz="4800" kern="0" cap="none" spc="0" normalizeH="0" baseline="0" noProof="0" dirty="0">
              <a:solidFill>
                <a:schemeClr val="accent1">
                  <a:lumMod val="50000"/>
                </a:schemeClr>
              </a:solidFill>
              <a:latin typeface="+mn-lt"/>
              <a:ea typeface="+mn-ea"/>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3451" y="884461"/>
            <a:ext cx="8672513" cy="2223636"/>
            <a:chOff x="3175" y="3429000"/>
            <a:chExt cx="8672513" cy="2223636"/>
          </a:xfrm>
        </p:grpSpPr>
        <p:sp>
          <p:nvSpPr>
            <p:cNvPr id="12" name="矩形: 圆角 16"/>
            <p:cNvSpPr>
              <a:spLocks noChangeArrowheads="1"/>
            </p:cNvSpPr>
            <p:nvPr/>
          </p:nvSpPr>
          <p:spPr bwMode="auto">
            <a:xfrm>
              <a:off x="392113" y="3433763"/>
              <a:ext cx="8283575"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316" name="Rectangle 11"/>
            <p:cNvSpPr>
              <a:spLocks noChangeArrowheads="1"/>
            </p:cNvSpPr>
            <p:nvPr/>
          </p:nvSpPr>
          <p:spPr bwMode="auto">
            <a:xfrm>
              <a:off x="365125" y="4005039"/>
              <a:ext cx="8310563" cy="1200150"/>
            </a:xfrm>
            <a:prstGeom prst="rect">
              <a:avLst/>
            </a:prstGeom>
            <a:solidFill>
              <a:schemeClr val="bg2">
                <a:lumMod val="20000"/>
                <a:lumOff val="80000"/>
              </a:schemeClr>
            </a:solidFill>
            <a:ln>
              <a:noFill/>
            </a:ln>
          </p:spPr>
          <p:txBody>
            <a:bodyPr>
              <a:spAutoFit/>
            </a:bodyPr>
            <a:lstStyle>
              <a:lvl1pPr>
                <a:lnSpc>
                  <a:spcPct val="130000"/>
                </a:lnSpc>
                <a:tabLst>
                  <a:tab pos="669925" algn="l"/>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669925" algn="l"/>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669925" algn="l"/>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669925" algn="l"/>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669925" algn="l"/>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tab pos="669925" algn="l"/>
                </a:tabLst>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若结构是非空有限集，则有且仅有一个开始结点和一个终端结点，并且所有结点都最多只有一个直接前趋和一个直接后继。</a:t>
              </a:r>
            </a:p>
          </p:txBody>
        </p:sp>
        <p:sp>
          <p:nvSpPr>
            <p:cNvPr id="13317" name="Rectangle 12"/>
            <p:cNvSpPr>
              <a:spLocks noChangeArrowheads="1"/>
            </p:cNvSpPr>
            <p:nvPr/>
          </p:nvSpPr>
          <p:spPr bwMode="auto">
            <a:xfrm>
              <a:off x="371475" y="5190674"/>
              <a:ext cx="8294688" cy="461962"/>
            </a:xfrm>
            <a:prstGeom prst="rect">
              <a:avLst/>
            </a:prstGeom>
            <a:solidFill>
              <a:schemeClr val="bg2">
                <a:lumMod val="20000"/>
                <a:lumOff val="80000"/>
              </a:schemeClr>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可表示为：（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1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2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0" name="Rectangle 13"/>
            <p:cNvSpPr>
              <a:spLocks noChangeArrowheads="1"/>
            </p:cNvSpPr>
            <p:nvPr/>
          </p:nvSpPr>
          <p:spPr bwMode="auto">
            <a:xfrm>
              <a:off x="3175" y="3429000"/>
              <a:ext cx="3724275" cy="461963"/>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线性结构的定义：</a:t>
              </a:r>
            </a:p>
          </p:txBody>
        </p:sp>
      </p:grpSp>
      <p:sp>
        <p:nvSpPr>
          <p:cNvPr id="5" name="标题 4">
            <a:extLst>
              <a:ext uri="{FF2B5EF4-FFF2-40B4-BE49-F238E27FC236}">
                <a16:creationId xmlns:a16="http://schemas.microsoft.com/office/drawing/2014/main" id="{6E55870C-B063-42AE-9CCC-D63DBC48761E}"/>
              </a:ext>
            </a:extLst>
          </p:cNvPr>
          <p:cNvSpPr>
            <a:spLocks noGrp="1"/>
          </p:cNvSpPr>
          <p:nvPr>
            <p:ph type="title"/>
          </p:nvPr>
        </p:nvSpPr>
        <p:spPr/>
        <p:txBody>
          <a:bodyPr/>
          <a:lstStyle/>
          <a:p>
            <a:r>
              <a:rPr lang="zh-CN" altLang="en-US" dirty="0"/>
              <a:t>第</a:t>
            </a:r>
            <a:r>
              <a:rPr lang="en-US" altLang="zh-CN" dirty="0"/>
              <a:t>2</a:t>
            </a:r>
            <a:r>
              <a:rPr lang="zh-CN" altLang="en-US" dirty="0"/>
              <a:t>章   线性表</a:t>
            </a:r>
          </a:p>
        </p:txBody>
      </p:sp>
      <p:sp>
        <p:nvSpPr>
          <p:cNvPr id="15" name="矩形 14">
            <a:extLst>
              <a:ext uri="{FF2B5EF4-FFF2-40B4-BE49-F238E27FC236}">
                <a16:creationId xmlns:a16="http://schemas.microsoft.com/office/drawing/2014/main" id="{8748E22F-B907-4A00-B7B0-35E0C1EFF1E8}"/>
              </a:ext>
            </a:extLst>
          </p:cNvPr>
          <p:cNvSpPr/>
          <p:nvPr/>
        </p:nvSpPr>
        <p:spPr bwMode="auto">
          <a:xfrm>
            <a:off x="232393" y="3090938"/>
            <a:ext cx="8283575" cy="30035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 name="矩形: 圆角 16">
            <a:extLst>
              <a:ext uri="{FF2B5EF4-FFF2-40B4-BE49-F238E27FC236}">
                <a16:creationId xmlns:a16="http://schemas.microsoft.com/office/drawing/2014/main" id="{0B40FBBB-EE65-47F8-AEA6-3EE116570C1B}"/>
              </a:ext>
            </a:extLst>
          </p:cNvPr>
          <p:cNvSpPr>
            <a:spLocks noChangeArrowheads="1"/>
          </p:cNvSpPr>
          <p:nvPr/>
        </p:nvSpPr>
        <p:spPr bwMode="auto">
          <a:xfrm>
            <a:off x="251520" y="3078728"/>
            <a:ext cx="8283575"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 name="Rectangle 4">
            <a:extLst>
              <a:ext uri="{FF2B5EF4-FFF2-40B4-BE49-F238E27FC236}">
                <a16:creationId xmlns:a16="http://schemas.microsoft.com/office/drawing/2014/main" id="{36573FB1-743B-40AC-B5F7-C6AF323E5045}"/>
              </a:ext>
            </a:extLst>
          </p:cNvPr>
          <p:cNvSpPr>
            <a:spLocks noChangeArrowheads="1"/>
          </p:cNvSpPr>
          <p:nvPr/>
        </p:nvSpPr>
        <p:spPr bwMode="auto">
          <a:xfrm>
            <a:off x="310802" y="2991141"/>
            <a:ext cx="2663825" cy="715963"/>
          </a:xfrm>
          <a:prstGeom prst="rect">
            <a:avLst/>
          </a:prstGeom>
          <a:noFill/>
          <a:ln w="9525">
            <a:noFill/>
            <a:miter lim="800000"/>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线性结构的特点：</a:t>
            </a:r>
          </a:p>
        </p:txBody>
      </p:sp>
      <p:sp>
        <p:nvSpPr>
          <p:cNvPr id="18" name="Rectangle 5">
            <a:extLst>
              <a:ext uri="{FF2B5EF4-FFF2-40B4-BE49-F238E27FC236}">
                <a16:creationId xmlns:a16="http://schemas.microsoft.com/office/drawing/2014/main" id="{38C6554E-5839-4779-8175-A2E815B45D7C}"/>
              </a:ext>
            </a:extLst>
          </p:cNvPr>
          <p:cNvSpPr>
            <a:spLocks noChangeArrowheads="1"/>
          </p:cNvSpPr>
          <p:nvPr/>
        </p:nvSpPr>
        <p:spPr bwMode="auto">
          <a:xfrm>
            <a:off x="268499" y="3583553"/>
            <a:ext cx="7908925"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①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只有一个首结点和尾结点；</a:t>
            </a:r>
          </a:p>
          <a:p>
            <a:pPr marL="0" marR="0" lvl="0" indent="0" algn="just"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② 除首尾结点外，其他结点只有一个直接前驱和一个直接后继。</a:t>
            </a:r>
          </a:p>
        </p:txBody>
      </p:sp>
      <p:sp>
        <p:nvSpPr>
          <p:cNvPr id="19" name="Rectangle 7">
            <a:extLst>
              <a:ext uri="{FF2B5EF4-FFF2-40B4-BE49-F238E27FC236}">
                <a16:creationId xmlns:a16="http://schemas.microsoft.com/office/drawing/2014/main" id="{6C58B346-C0A5-42A9-95A4-B0F75749E210}"/>
              </a:ext>
            </a:extLst>
          </p:cNvPr>
          <p:cNvSpPr>
            <a:spLocks noChangeArrowheads="1"/>
          </p:cNvSpPr>
          <p:nvPr/>
        </p:nvSpPr>
        <p:spPr bwMode="auto">
          <a:xfrm>
            <a:off x="213266" y="5318439"/>
            <a:ext cx="7924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线性结构包括线性表、堆栈、队列、字符串、数组等等，其中，最典型、最常用的是线性表</a:t>
            </a:r>
            <a:endParaRPr kumimoji="0" lang="zh-CN" altLang="en-US" sz="2400" b="0" i="0" u="sng" strike="noStrike" kern="1200" cap="none" spc="0" normalizeH="0" baseline="0" noProof="0" dirty="0">
              <a:ln>
                <a:noFill/>
              </a:ln>
              <a:solidFill>
                <a:schemeClr val="accent1"/>
              </a:solidFill>
              <a:effectLst/>
              <a:uLnTx/>
              <a:uFillTx/>
              <a:latin typeface="+mn-lt"/>
              <a:ea typeface="+mn-ea"/>
              <a:cs typeface="+mn-ea"/>
              <a:sym typeface="+mn-lt"/>
            </a:endParaRPr>
          </a:p>
        </p:txBody>
      </p:sp>
      <p:sp>
        <p:nvSpPr>
          <p:cNvPr id="20" name="Rectangle 9">
            <a:extLst>
              <a:ext uri="{FF2B5EF4-FFF2-40B4-BE49-F238E27FC236}">
                <a16:creationId xmlns:a16="http://schemas.microsoft.com/office/drawing/2014/main" id="{D06577DF-9519-4D72-BE22-D4379A38E176}"/>
              </a:ext>
            </a:extLst>
          </p:cNvPr>
          <p:cNvSpPr>
            <a:spLocks noChangeArrowheads="1"/>
          </p:cNvSpPr>
          <p:nvPr/>
        </p:nvSpPr>
        <p:spPr bwMode="auto">
          <a:xfrm>
            <a:off x="169299" y="4807025"/>
            <a:ext cx="7693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简言之，线性结构反映结点间的逻辑关系是</a:t>
            </a:r>
            <a:r>
              <a:rPr kumimoji="0" lang="zh-CN" altLang="en-US" sz="2400" b="0" i="0" u="sng" strike="noStrike" kern="1200" cap="none" spc="0" normalizeH="0" baseline="0" noProof="0" dirty="0">
                <a:ln>
                  <a:noFill/>
                </a:ln>
                <a:solidFill>
                  <a:schemeClr val="accent1"/>
                </a:solidFill>
                <a:effectLst/>
                <a:uLnTx/>
                <a:uFillTx/>
                <a:latin typeface="+mn-lt"/>
                <a:ea typeface="+mn-ea"/>
                <a:cs typeface="+mn-ea"/>
                <a:sym typeface="+mn-lt"/>
              </a:rPr>
              <a:t> </a:t>
            </a: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一对一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a:t>
            </a:r>
          </a:p>
        </p:txBody>
      </p:sp>
      <p:sp>
        <p:nvSpPr>
          <p:cNvPr id="21" name="矩形 2">
            <a:extLst>
              <a:ext uri="{FF2B5EF4-FFF2-40B4-BE49-F238E27FC236}">
                <a16:creationId xmlns:a16="http://schemas.microsoft.com/office/drawing/2014/main" id="{67B81322-8ADA-4E94-A523-A5A423B15C15}"/>
              </a:ext>
            </a:extLst>
          </p:cNvPr>
          <p:cNvSpPr>
            <a:spLocks noChangeArrowheads="1"/>
          </p:cNvSpPr>
          <p:nvPr/>
        </p:nvSpPr>
        <p:spPr bwMode="auto">
          <a:xfrm>
            <a:off x="295487" y="5281836"/>
            <a:ext cx="8283575" cy="460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1000"/>
                                  </p:stCondLst>
                                  <p:childTnLst>
                                    <p:set>
                                      <p:cBhvr>
                                        <p:cTn id="11" dur="1" fill="hold">
                                          <p:stCondLst>
                                            <p:cond delay="499"/>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8">
                                            <p:txEl>
                                              <p:pRg st="0" end="0"/>
                                            </p:txEl>
                                          </p:spTgt>
                                        </p:tgtEl>
                                        <p:attrNameLst>
                                          <p:attrName>style.visibility</p:attrName>
                                        </p:attrNameLst>
                                      </p:cBhvr>
                                      <p:to>
                                        <p:strVal val="visible"/>
                                      </p:to>
                                    </p:set>
                                    <p:animEffect transition="in" filter="strips(downRight)">
                                      <p:cBhvr>
                                        <p:cTn id="16" dur="500"/>
                                        <p:tgtEl>
                                          <p:spTgt spid="1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8">
                                            <p:txEl>
                                              <p:pRg st="1" end="1"/>
                                            </p:txEl>
                                          </p:spTgt>
                                        </p:tgtEl>
                                        <p:attrNameLst>
                                          <p:attrName>style.visibility</p:attrName>
                                        </p:attrNameLst>
                                      </p:cBhvr>
                                      <p:to>
                                        <p:strVal val="visible"/>
                                      </p:to>
                                    </p:set>
                                    <p:animEffect transition="in" filter="strips(downRight)">
                                      <p:cBhvr>
                                        <p:cTn id="21" dur="500"/>
                                        <p:tgtEl>
                                          <p:spTgt spid="18">
                                            <p:txEl>
                                              <p:pRg st="1" end="1"/>
                                            </p:txEl>
                                          </p:spTgt>
                                        </p:tgtEl>
                                      </p:cBhvr>
                                    </p:animEffect>
                                  </p:childTnLst>
                                </p:cTn>
                              </p:par>
                            </p:childTnLst>
                          </p:cTn>
                        </p:par>
                        <p:par>
                          <p:cTn id="22" fill="hold">
                            <p:stCondLst>
                              <p:cond delay="500"/>
                            </p:stCondLst>
                            <p:childTnLst>
                              <p:par>
                                <p:cTn id="23" presetID="16" presetClass="entr" presetSubtype="37" fill="hold" grpId="0" nodeType="afterEffect">
                                  <p:stCondLst>
                                    <p:cond delay="3000"/>
                                  </p:stCondLst>
                                  <p:childTnLst>
                                    <p:set>
                                      <p:cBhvr>
                                        <p:cTn id="24" dur="1" fill="hold">
                                          <p:stCondLst>
                                            <p:cond delay="0"/>
                                          </p:stCondLst>
                                        </p:cTn>
                                        <p:tgtEl>
                                          <p:spTgt spid="20"/>
                                        </p:tgtEl>
                                        <p:attrNameLst>
                                          <p:attrName>style.visibility</p:attrName>
                                        </p:attrNameLst>
                                      </p:cBhvr>
                                      <p:to>
                                        <p:strVal val="visible"/>
                                      </p:to>
                                    </p:set>
                                    <p:animEffect transition="in" filter="barn(outVertical)">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uild="p"/>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bwMode="auto">
          <a:xfrm>
            <a:off x="0" y="1727200"/>
            <a:ext cx="9144000" cy="53975"/>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9476B6"/>
              </a:solidFill>
              <a:effectLst/>
              <a:uLnTx/>
              <a:uFillTx/>
              <a:latin typeface="+mn-lt"/>
              <a:ea typeface="+mn-ea"/>
              <a:cs typeface="+mn-ea"/>
              <a:sym typeface="+mn-lt"/>
            </a:endParaRPr>
          </a:p>
        </p:txBody>
      </p:sp>
      <p:pic>
        <p:nvPicPr>
          <p:cNvPr id="13315" name="图片 2"/>
          <p:cNvPicPr>
            <a:picLocks noChangeAspect="1"/>
          </p:cNvPicPr>
          <p:nvPr/>
        </p:nvPicPr>
        <p:blipFill>
          <a:blip r:embed="rId3"/>
          <a:srcRect l="1575" t="11116"/>
          <a:stretch>
            <a:fillRect/>
          </a:stretch>
        </p:blipFill>
        <p:spPr>
          <a:xfrm>
            <a:off x="-4762" y="0"/>
            <a:ext cx="9124950" cy="1627188"/>
          </a:xfrm>
          <a:prstGeom prst="rect">
            <a:avLst/>
          </a:prstGeom>
          <a:noFill/>
          <a:ln w="9525">
            <a:noFill/>
          </a:ln>
        </p:spPr>
      </p:pic>
      <p:sp>
        <p:nvSpPr>
          <p:cNvPr id="63" name="矩形 62"/>
          <p:cNvSpPr/>
          <p:nvPr/>
        </p:nvSpPr>
        <p:spPr bwMode="auto">
          <a:xfrm>
            <a:off x="23813" y="9525"/>
            <a:ext cx="9151938" cy="1609725"/>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64"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25" name="矩形 24"/>
          <p:cNvSpPr/>
          <p:nvPr/>
        </p:nvSpPr>
        <p:spPr>
          <a:xfrm>
            <a:off x="1095375" y="2538413"/>
            <a:ext cx="7832725" cy="2724150"/>
          </a:xfrm>
          <a:prstGeom prst="rect">
            <a:avLst/>
          </a:prstGeom>
        </p:spPr>
        <p:txBody>
          <a:bodyPr>
            <a:spAutoFit/>
          </a:bodyPr>
          <a:lstStyle/>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了解线性结构的</a:t>
            </a:r>
            <a:r>
              <a:rPr kumimoji="1" lang="zh-CN" altLang="en-US" sz="2400" b="0" i="0" u="none" strike="noStrike" kern="1200" cap="none" spc="0" normalizeH="0" baseline="0" noProof="0" dirty="0">
                <a:ln>
                  <a:noFill/>
                </a:ln>
                <a:solidFill>
                  <a:srgbClr val="FF9900"/>
                </a:solidFill>
                <a:effectLst/>
                <a:uLnTx/>
                <a:uFillTx/>
                <a:latin typeface="+mn-lt"/>
                <a:ea typeface="+mn-ea"/>
                <a:cs typeface="+mn-ea"/>
                <a:sym typeface="+mn-lt"/>
              </a:rPr>
              <a:t>特点</a:t>
            </a:r>
          </a:p>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掌握顺序表的</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定义</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查找</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插入</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删除 </a:t>
            </a:r>
          </a:p>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掌握</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链表</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的定义、创建、查找、插入和删除 </a:t>
            </a:r>
          </a:p>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能够从</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时间</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1" lang="zh-CN" altLang="en-US" sz="2400" b="0" i="0" u="none" strike="noStrike" kern="1200" cap="none" spc="0" normalizeH="0" baseline="0" noProof="0" dirty="0">
                <a:ln>
                  <a:noFill/>
                </a:ln>
                <a:solidFill>
                  <a:srgbClr val="FFB545"/>
                </a:solidFill>
                <a:effectLst/>
                <a:uLnTx/>
                <a:uFillTx/>
                <a:latin typeface="+mn-lt"/>
                <a:ea typeface="+mn-ea"/>
                <a:cs typeface="+mn-ea"/>
                <a:sym typeface="+mn-lt"/>
              </a:rPr>
              <a:t>空间复杂度的角度</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比较两种存储结构的不同特点及其适用场合 </a:t>
            </a:r>
          </a:p>
        </p:txBody>
      </p:sp>
      <p:grpSp>
        <p:nvGrpSpPr>
          <p:cNvPr id="13319" name="组合 28"/>
          <p:cNvGrpSpPr/>
          <p:nvPr/>
        </p:nvGrpSpPr>
        <p:grpSpPr>
          <a:xfrm>
            <a:off x="458788" y="2541588"/>
            <a:ext cx="590550" cy="627062"/>
            <a:chOff x="6242320" y="1105727"/>
            <a:chExt cx="589786" cy="626517"/>
          </a:xfrm>
        </p:grpSpPr>
        <p:sp>
          <p:nvSpPr>
            <p:cNvPr id="12310" name="TextBox 6"/>
            <p:cNvSpPr txBox="1">
              <a:spLocks noChangeArrowheads="1"/>
            </p:cNvSpPr>
            <p:nvPr/>
          </p:nvSpPr>
          <p:spPr bwMode="auto">
            <a:xfrm>
              <a:off x="6327934" y="1105727"/>
              <a:ext cx="447096" cy="491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9900"/>
                  </a:solidFill>
                  <a:effectLst/>
                  <a:uLnTx/>
                  <a:uFillTx/>
                  <a:latin typeface="+mn-lt"/>
                  <a:ea typeface="+mn-ea"/>
                  <a:cs typeface="+mn-ea"/>
                  <a:sym typeface="+mn-lt"/>
                </a:rPr>
                <a:t>01</a:t>
              </a:r>
              <a:endParaRPr kumimoji="0" lang="zh-CN" altLang="en-US" sz="3200" b="0"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12311" name="文本框 22"/>
            <p:cNvSpPr txBox="1">
              <a:spLocks noChangeArrowheads="1"/>
            </p:cNvSpPr>
            <p:nvPr/>
          </p:nvSpPr>
          <p:spPr bwMode="auto">
            <a:xfrm>
              <a:off x="6242320" y="1516532"/>
              <a:ext cx="589786" cy="21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3320" name="组合 45"/>
          <p:cNvGrpSpPr/>
          <p:nvPr/>
        </p:nvGrpSpPr>
        <p:grpSpPr>
          <a:xfrm>
            <a:off x="458788" y="3095625"/>
            <a:ext cx="590550" cy="631825"/>
            <a:chOff x="6242320" y="2373233"/>
            <a:chExt cx="589786" cy="631741"/>
          </a:xfrm>
        </p:grpSpPr>
        <p:sp>
          <p:nvSpPr>
            <p:cNvPr id="12308" name="TextBox 6"/>
            <p:cNvSpPr txBox="1">
              <a:spLocks noChangeArrowheads="1"/>
            </p:cNvSpPr>
            <p:nvPr/>
          </p:nvSpPr>
          <p:spPr bwMode="auto">
            <a:xfrm>
              <a:off x="6327934" y="2373233"/>
              <a:ext cx="447096" cy="49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mn-lt"/>
                  <a:ea typeface="+mn-ea"/>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mn-lt"/>
                <a:ea typeface="+mn-ea"/>
                <a:cs typeface="+mn-ea"/>
                <a:sym typeface="+mn-lt"/>
              </a:endParaRPr>
            </a:p>
          </p:txBody>
        </p:sp>
        <p:sp>
          <p:nvSpPr>
            <p:cNvPr id="12309" name="文本框 23"/>
            <p:cNvSpPr txBox="1">
              <a:spLocks noChangeArrowheads="1"/>
            </p:cNvSpPr>
            <p:nvPr/>
          </p:nvSpPr>
          <p:spPr bwMode="auto">
            <a:xfrm>
              <a:off x="6242320" y="2789103"/>
              <a:ext cx="589786" cy="21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3321" name="组合 48"/>
          <p:cNvGrpSpPr/>
          <p:nvPr/>
        </p:nvGrpSpPr>
        <p:grpSpPr>
          <a:xfrm>
            <a:off x="458788" y="3627438"/>
            <a:ext cx="590550" cy="620712"/>
            <a:chOff x="6242320" y="3640739"/>
            <a:chExt cx="589786" cy="620418"/>
          </a:xfrm>
        </p:grpSpPr>
        <p:sp>
          <p:nvSpPr>
            <p:cNvPr id="12306" name="TextBox 6"/>
            <p:cNvSpPr txBox="1">
              <a:spLocks noChangeArrowheads="1"/>
            </p:cNvSpPr>
            <p:nvPr/>
          </p:nvSpPr>
          <p:spPr bwMode="auto">
            <a:xfrm>
              <a:off x="6327934" y="3640739"/>
              <a:ext cx="447096" cy="49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mn-lt"/>
                  <a:ea typeface="+mn-ea"/>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mn-lt"/>
                <a:ea typeface="+mn-ea"/>
                <a:cs typeface="+mn-ea"/>
                <a:sym typeface="+mn-lt"/>
              </a:endParaRPr>
            </a:p>
          </p:txBody>
        </p:sp>
        <p:sp>
          <p:nvSpPr>
            <p:cNvPr id="12307" name="文本框 24"/>
            <p:cNvSpPr txBox="1">
              <a:spLocks noChangeArrowheads="1"/>
            </p:cNvSpPr>
            <p:nvPr/>
          </p:nvSpPr>
          <p:spPr bwMode="auto">
            <a:xfrm>
              <a:off x="6242320" y="4045359"/>
              <a:ext cx="589786" cy="21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3322" name="组合 51"/>
          <p:cNvGrpSpPr/>
          <p:nvPr/>
        </p:nvGrpSpPr>
        <p:grpSpPr>
          <a:xfrm>
            <a:off x="458788" y="4216400"/>
            <a:ext cx="590550" cy="608013"/>
            <a:chOff x="6250444" y="4908245"/>
            <a:chExt cx="589786" cy="609656"/>
          </a:xfrm>
        </p:grpSpPr>
        <p:sp>
          <p:nvSpPr>
            <p:cNvPr id="2" name="TextBox 6"/>
            <p:cNvSpPr txBox="1">
              <a:spLocks noChangeArrowheads="1"/>
            </p:cNvSpPr>
            <p:nvPr/>
          </p:nvSpPr>
          <p:spPr bwMode="auto">
            <a:xfrm>
              <a:off x="6326545" y="4908245"/>
              <a:ext cx="448681" cy="491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04</a:t>
              </a:r>
              <a:endParaRPr kumimoji="0" lang="zh-CN" altLang="en-US" sz="3200" b="0" i="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endParaRPr>
            </a:p>
          </p:txBody>
        </p:sp>
        <p:sp>
          <p:nvSpPr>
            <p:cNvPr id="12305" name="文本框 25"/>
            <p:cNvSpPr txBox="1">
              <a:spLocks noChangeArrowheads="1"/>
            </p:cNvSpPr>
            <p:nvPr/>
          </p:nvSpPr>
          <p:spPr bwMode="auto">
            <a:xfrm>
              <a:off x="6250444" y="5301418"/>
              <a:ext cx="589786" cy="21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3323" name="组合 3"/>
          <p:cNvGrpSpPr/>
          <p:nvPr/>
        </p:nvGrpSpPr>
        <p:grpSpPr>
          <a:xfrm>
            <a:off x="3684588" y="336550"/>
            <a:ext cx="1830387" cy="1831975"/>
            <a:chOff x="3117668" y="234317"/>
            <a:chExt cx="2127323" cy="2127323"/>
          </a:xfrm>
        </p:grpSpPr>
        <p:sp>
          <p:nvSpPr>
            <p:cNvPr id="46" name="椭圆 45"/>
            <p:cNvSpPr/>
            <p:nvPr/>
          </p:nvSpPr>
          <p:spPr>
            <a:xfrm>
              <a:off x="3117668" y="234317"/>
              <a:ext cx="2127323" cy="2127323"/>
            </a:xfrm>
            <a:prstGeom prst="ellipse">
              <a:avLst/>
            </a:prstGeom>
            <a:solidFill>
              <a:schemeClr val="tx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47" name="椭圆 46"/>
            <p:cNvSpPr/>
            <p:nvPr/>
          </p:nvSpPr>
          <p:spPr>
            <a:xfrm>
              <a:off x="3372208" y="482505"/>
              <a:ext cx="1630947" cy="1630947"/>
            </a:xfrm>
            <a:prstGeom prst="ellipse">
              <a:avLst/>
            </a:prstGeom>
            <a:solidFill>
              <a:schemeClr val="bg1"/>
            </a:solidFill>
            <a:ln>
              <a:noFill/>
            </a:ln>
            <a:effectLst>
              <a:glow rad="165100">
                <a:schemeClr val="tx1">
                  <a:alpha val="27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ea"/>
                <a:sym typeface="+mn-lt"/>
              </a:endParaRPr>
            </a:p>
          </p:txBody>
        </p:sp>
        <p:grpSp>
          <p:nvGrpSpPr>
            <p:cNvPr id="13328" name="组合 47"/>
            <p:cNvGrpSpPr/>
            <p:nvPr/>
          </p:nvGrpSpPr>
          <p:grpSpPr>
            <a:xfrm>
              <a:off x="3250509" y="768989"/>
              <a:ext cx="1800200" cy="1001573"/>
              <a:chOff x="3896925" y="1033243"/>
              <a:chExt cx="1350150" cy="751179"/>
            </a:xfrm>
          </p:grpSpPr>
          <p:sp>
            <p:nvSpPr>
              <p:cNvPr id="49" name="TextBox 7"/>
              <p:cNvSpPr txBox="1"/>
              <p:nvPr/>
            </p:nvSpPr>
            <p:spPr>
              <a:xfrm>
                <a:off x="4256708" y="1399568"/>
                <a:ext cx="690504" cy="384356"/>
              </a:xfrm>
              <a:prstGeom prst="rect">
                <a:avLst/>
              </a:prstGeom>
              <a:noFill/>
            </p:spPr>
            <p:txBody>
              <a:bodyPr lIns="0" tIns="0" rIns="0" bIns="0" anchor="b">
                <a:normAutofit/>
              </a:bodyPr>
              <a:lstStyle/>
              <a:p>
                <a:pPr marR="0" algn="dist" defTabSz="914400">
                  <a:buClrTx/>
                  <a:buSzTx/>
                  <a:buFontTx/>
                  <a:buNone/>
                  <a:defRPr/>
                </a:pPr>
                <a:r>
                  <a:rPr kumimoji="0" lang="en-US" altLang="zh-CN" sz="2135" kern="1200" cap="none" spc="0" normalizeH="0" baseline="0" noProof="0" dirty="0">
                    <a:latin typeface="+mn-lt"/>
                    <a:ea typeface="+mn-ea"/>
                    <a:cs typeface="+mn-ea"/>
                    <a:sym typeface="+mn-lt"/>
                  </a:rPr>
                  <a:t>target</a:t>
                </a:r>
              </a:p>
            </p:txBody>
          </p:sp>
          <p:sp>
            <p:nvSpPr>
              <p:cNvPr id="50" name="Rectangle 9"/>
              <p:cNvSpPr/>
              <p:nvPr/>
            </p:nvSpPr>
            <p:spPr>
              <a:xfrm>
                <a:off x="3896926" y="1033186"/>
                <a:ext cx="1350565" cy="692670"/>
              </a:xfrm>
              <a:prstGeom prst="rect">
                <a:avLst/>
              </a:prstGeom>
            </p:spPr>
            <p:txBody>
              <a:bodyPr>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735" b="1" i="0" u="none" strike="noStrike" kern="1200" cap="none" spc="0" normalizeH="0" baseline="0" noProof="0" dirty="0">
                    <a:ln>
                      <a:noFill/>
                    </a:ln>
                    <a:solidFill>
                      <a:schemeClr val="tx1"/>
                    </a:solidFill>
                    <a:effectLst/>
                    <a:uLnTx/>
                    <a:uFillTx/>
                    <a:latin typeface="+mn-lt"/>
                    <a:ea typeface="+mn-ea"/>
                    <a:cs typeface="+mn-ea"/>
                    <a:sym typeface="+mn-lt"/>
                  </a:rPr>
                  <a:t>目标</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223837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223837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2.1</a:t>
            </a:r>
            <a:endParaRPr kumimoji="0" lang="zh-CN" altLang="en-US" sz="2200" kern="1200" cap="none" spc="0" normalizeH="0" baseline="0" noProof="0" dirty="0">
              <a:solidFill>
                <a:schemeClr val="bg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844675"/>
            <a:ext cx="9144000" cy="46085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34" name="Rectangle 38"/>
          <p:cNvSpPr>
            <a:spLocks noChangeArrowheads="1"/>
          </p:cNvSpPr>
          <p:nvPr/>
        </p:nvSpPr>
        <p:spPr bwMode="auto">
          <a:xfrm>
            <a:off x="762000" y="1931988"/>
            <a:ext cx="7924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30000"/>
              </a:spcAft>
              <a:buClrTx/>
              <a:buSzTx/>
              <a:buFontTx/>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3200" b="0" i="0" u="none" strike="noStrike" kern="1200" cap="none" spc="0" normalizeH="0" baseline="-30000" noProof="0">
                <a:ln>
                  <a:noFill/>
                </a:ln>
                <a:solidFill>
                  <a:schemeClr val="accent1"/>
                </a:solidFill>
                <a:effectLst/>
                <a:uLnTx/>
                <a:uFillTx/>
                <a:latin typeface="+mn-lt"/>
                <a:ea typeface="+mn-ea"/>
                <a:cs typeface="+mn-ea"/>
                <a:sym typeface="+mn-lt"/>
              </a:rPr>
              <a:t>1</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3200" b="0" i="0" u="none" strike="noStrike" kern="1200" cap="none" spc="0" normalizeH="0" baseline="-30000" noProof="0">
                <a:ln>
                  <a:noFill/>
                </a:ln>
                <a:solidFill>
                  <a:schemeClr val="tx1"/>
                </a:solidFill>
                <a:effectLst/>
                <a:uLnTx/>
                <a:uFillTx/>
                <a:latin typeface="+mn-lt"/>
                <a:ea typeface="+mn-ea"/>
                <a:cs typeface="+mn-ea"/>
                <a:sym typeface="+mn-lt"/>
              </a:rPr>
              <a:t>2</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 … </a:t>
            </a:r>
            <a:r>
              <a:rPr kumimoji="0" lang="en-US" altLang="zh-CN" sz="32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3200" b="0" i="0" u="none" strike="noStrike" kern="1200" cap="none" spc="0" normalizeH="0" baseline="-30000" noProof="0">
                <a:ln>
                  <a:noFill/>
                </a:ln>
                <a:solidFill>
                  <a:schemeClr val="accent1"/>
                </a:solidFill>
                <a:effectLst/>
                <a:uLnTx/>
                <a:uFillTx/>
                <a:latin typeface="+mn-lt"/>
                <a:ea typeface="+mn-ea"/>
                <a:cs typeface="+mn-ea"/>
                <a:sym typeface="+mn-lt"/>
              </a:rPr>
              <a:t>i-1</a:t>
            </a:r>
            <a:r>
              <a:rPr kumimoji="0" lang="zh-CN" altLang="en-US" sz="3200" b="0" i="0" u="none" strike="noStrike" kern="1200" cap="none" spc="0" normalizeH="0" baseline="-30000" noProof="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3200" b="0" i="0" u="none" strike="noStrike" kern="1200" cap="none" spc="0" normalizeH="0" baseline="-30000" noProof="0">
                <a:ln>
                  <a:noFill/>
                </a:ln>
                <a:solidFill>
                  <a:schemeClr val="tx1"/>
                </a:solidFill>
                <a:effectLst/>
                <a:uLnTx/>
                <a:uFillTx/>
                <a:latin typeface="+mn-lt"/>
                <a:ea typeface="+mn-ea"/>
                <a:cs typeface="+mn-ea"/>
                <a:sym typeface="+mn-lt"/>
              </a:rPr>
              <a:t>i</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3200" b="0" i="0" u="none" strike="noStrike" kern="1200" cap="none" spc="0" normalizeH="0" baseline="-30000" noProof="0">
                <a:ln>
                  <a:noFill/>
                </a:ln>
                <a:solidFill>
                  <a:schemeClr val="accent1"/>
                </a:solidFill>
                <a:effectLst/>
                <a:uLnTx/>
                <a:uFillTx/>
                <a:latin typeface="+mn-lt"/>
                <a:ea typeface="+mn-ea"/>
                <a:cs typeface="+mn-ea"/>
                <a:sym typeface="+mn-lt"/>
              </a:rPr>
              <a:t>i</a:t>
            </a:r>
            <a:r>
              <a:rPr kumimoji="0" lang="zh-CN" altLang="en-US" sz="3200" b="0" i="0" u="none" strike="noStrike" kern="1200" cap="none" spc="0" normalizeH="0" baseline="-30000" noProof="0">
                <a:ln>
                  <a:noFill/>
                </a:ln>
                <a:solidFill>
                  <a:schemeClr val="accent1"/>
                </a:solidFill>
                <a:effectLst/>
                <a:uLnTx/>
                <a:uFillTx/>
                <a:latin typeface="+mn-lt"/>
                <a:ea typeface="+mn-ea"/>
                <a:cs typeface="+mn-ea"/>
                <a:sym typeface="+mn-lt"/>
              </a:rPr>
              <a:t>＋</a:t>
            </a:r>
            <a:r>
              <a:rPr kumimoji="0" lang="en-US" altLang="zh-CN" sz="3200" b="0" i="0" u="none" strike="noStrike" kern="1200" cap="none" spc="0" normalizeH="0" baseline="-30000" noProof="0">
                <a:ln>
                  <a:noFill/>
                </a:ln>
                <a:solidFill>
                  <a:schemeClr val="accent1"/>
                </a:solidFill>
                <a:effectLst/>
                <a:uLnTx/>
                <a:uFillTx/>
                <a:latin typeface="+mn-lt"/>
                <a:ea typeface="+mn-ea"/>
                <a:cs typeface="+mn-ea"/>
                <a:sym typeface="+mn-lt"/>
              </a:rPr>
              <a:t>1</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 </a:t>
            </a:r>
            <a:r>
              <a:rPr kumimoji="0" lang="zh-CN" altLang="en-US" sz="32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3200" b="0" i="0" u="none" strike="noStrike" kern="1200" cap="none" spc="0" normalizeH="0" baseline="-30000" noProof="0">
                <a:ln>
                  <a:noFill/>
                </a:ln>
                <a:solidFill>
                  <a:schemeClr val="accent1"/>
                </a:solidFill>
                <a:effectLst/>
                <a:uLnTx/>
                <a:uFillTx/>
                <a:latin typeface="+mn-lt"/>
                <a:ea typeface="+mn-ea"/>
                <a:cs typeface="+mn-ea"/>
                <a:sym typeface="+mn-lt"/>
              </a:rPr>
              <a:t>n</a:t>
            </a:r>
            <a:r>
              <a:rPr kumimoji="0" lang="zh-CN" altLang="en-US" sz="32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362536" name="Rectangle 40"/>
          <p:cNvSpPr>
            <a:spLocks noChangeArrowheads="1"/>
          </p:cNvSpPr>
          <p:nvPr/>
        </p:nvSpPr>
        <p:spPr bwMode="auto">
          <a:xfrm>
            <a:off x="768350" y="1028700"/>
            <a:ext cx="792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chemeClr val="accent2"/>
                </a:solidFill>
                <a:effectLst/>
                <a:uLnTx/>
                <a:uFillTx/>
                <a:latin typeface="+mn-lt"/>
                <a:ea typeface="+mn-ea"/>
                <a:cs typeface="+mn-ea"/>
                <a:sym typeface="+mn-lt"/>
              </a:rPr>
              <a:t>线性表的定义：</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用数据元素的有限序列表示</a:t>
            </a:r>
          </a:p>
        </p:txBody>
      </p:sp>
      <p:sp>
        <p:nvSpPr>
          <p:cNvPr id="362537" name="Rectangle 41"/>
          <p:cNvSpPr>
            <a:spLocks noChangeArrowheads="1"/>
          </p:cNvSpPr>
          <p:nvPr/>
        </p:nvSpPr>
        <p:spPr bwMode="auto">
          <a:xfrm>
            <a:off x="3354388" y="5029200"/>
            <a:ext cx="190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n=0</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时称为</a:t>
            </a:r>
          </a:p>
        </p:txBody>
      </p:sp>
      <p:sp>
        <p:nvSpPr>
          <p:cNvPr id="362538" name="AutoShape 42"/>
          <p:cNvSpPr/>
          <p:nvPr/>
        </p:nvSpPr>
        <p:spPr bwMode="auto">
          <a:xfrm rot="-5400000">
            <a:off x="4542631" y="143669"/>
            <a:ext cx="363538" cy="5486400"/>
          </a:xfrm>
          <a:prstGeom prst="leftBrace">
            <a:avLst>
              <a:gd name="adj1" fmla="val 25013"/>
              <a:gd name="adj2" fmla="val 50000"/>
            </a:avLst>
          </a:prstGeom>
          <a:noFill/>
          <a:ln w="254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39" name="Rectangle 43"/>
          <p:cNvSpPr>
            <a:spLocks noChangeArrowheads="1"/>
          </p:cNvSpPr>
          <p:nvPr/>
        </p:nvSpPr>
        <p:spPr bwMode="auto">
          <a:xfrm>
            <a:off x="4025900" y="3238500"/>
            <a:ext cx="168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数据元素</a:t>
            </a:r>
          </a:p>
        </p:txBody>
      </p:sp>
      <p:sp>
        <p:nvSpPr>
          <p:cNvPr id="362540" name="Line 44"/>
          <p:cNvSpPr>
            <a:spLocks noChangeShapeType="1"/>
          </p:cNvSpPr>
          <p:nvPr/>
        </p:nvSpPr>
        <p:spPr bwMode="auto">
          <a:xfrm flipH="1">
            <a:off x="990600" y="2628900"/>
            <a:ext cx="914400" cy="1295400"/>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1" name="Rectangle 45"/>
          <p:cNvSpPr>
            <a:spLocks noChangeArrowheads="1"/>
          </p:cNvSpPr>
          <p:nvPr/>
        </p:nvSpPr>
        <p:spPr bwMode="auto">
          <a:xfrm>
            <a:off x="222250" y="3924300"/>
            <a:ext cx="168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线性起点</a:t>
            </a:r>
          </a:p>
        </p:txBody>
      </p:sp>
      <p:sp>
        <p:nvSpPr>
          <p:cNvPr id="362542" name="Line 46"/>
          <p:cNvSpPr>
            <a:spLocks noChangeShapeType="1"/>
          </p:cNvSpPr>
          <p:nvPr/>
        </p:nvSpPr>
        <p:spPr bwMode="auto">
          <a:xfrm>
            <a:off x="7015163" y="2628900"/>
            <a:ext cx="0" cy="1193800"/>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3" name="Rectangle 47"/>
          <p:cNvSpPr>
            <a:spLocks noChangeArrowheads="1"/>
          </p:cNvSpPr>
          <p:nvPr/>
        </p:nvSpPr>
        <p:spPr bwMode="auto">
          <a:xfrm>
            <a:off x="2890838" y="3913188"/>
            <a:ext cx="2054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的直接前趋</a:t>
            </a:r>
          </a:p>
        </p:txBody>
      </p:sp>
      <p:sp>
        <p:nvSpPr>
          <p:cNvPr id="362544" name="Rectangle 48"/>
          <p:cNvSpPr>
            <a:spLocks noChangeArrowheads="1"/>
          </p:cNvSpPr>
          <p:nvPr/>
        </p:nvSpPr>
        <p:spPr bwMode="auto">
          <a:xfrm>
            <a:off x="4802188" y="3905250"/>
            <a:ext cx="2151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的直接后继</a:t>
            </a:r>
          </a:p>
        </p:txBody>
      </p:sp>
      <p:sp>
        <p:nvSpPr>
          <p:cNvPr id="362545" name="Line 49"/>
          <p:cNvSpPr>
            <a:spLocks noChangeShapeType="1"/>
          </p:cNvSpPr>
          <p:nvPr/>
        </p:nvSpPr>
        <p:spPr bwMode="auto">
          <a:xfrm>
            <a:off x="4054475" y="2628900"/>
            <a:ext cx="0" cy="1219200"/>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6" name="Line 50"/>
          <p:cNvSpPr>
            <a:spLocks noChangeShapeType="1"/>
          </p:cNvSpPr>
          <p:nvPr/>
        </p:nvSpPr>
        <p:spPr bwMode="auto">
          <a:xfrm flipH="1">
            <a:off x="5778500" y="2644775"/>
            <a:ext cx="0" cy="1187450"/>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9" name="Rectangle 53"/>
          <p:cNvSpPr>
            <a:spLocks noChangeArrowheads="1"/>
          </p:cNvSpPr>
          <p:nvPr/>
        </p:nvSpPr>
        <p:spPr bwMode="auto">
          <a:xfrm>
            <a:off x="5259388" y="5029200"/>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accent1"/>
                </a:solidFill>
                <a:effectLst/>
                <a:uLnTx/>
                <a:uFillTx/>
                <a:latin typeface="+mn-lt"/>
                <a:ea typeface="+mn-ea"/>
                <a:cs typeface="+mn-ea"/>
                <a:sym typeface="+mn-lt"/>
              </a:rPr>
              <a:t>空表</a:t>
            </a:r>
          </a:p>
        </p:txBody>
      </p:sp>
      <p:sp>
        <p:nvSpPr>
          <p:cNvPr id="362550" name="Rectangle 54"/>
          <p:cNvSpPr>
            <a:spLocks noChangeArrowheads="1"/>
          </p:cNvSpPr>
          <p:nvPr/>
        </p:nvSpPr>
        <p:spPr bwMode="auto">
          <a:xfrm>
            <a:off x="6626225" y="3924300"/>
            <a:ext cx="168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线性终点</a:t>
            </a:r>
          </a:p>
        </p:txBody>
      </p:sp>
      <p:sp>
        <p:nvSpPr>
          <p:cNvPr id="362551" name="Oval 55"/>
          <p:cNvSpPr>
            <a:spLocks noChangeArrowheads="1"/>
          </p:cNvSpPr>
          <p:nvPr/>
        </p:nvSpPr>
        <p:spPr bwMode="auto">
          <a:xfrm>
            <a:off x="2925763" y="2262188"/>
            <a:ext cx="214313" cy="292100"/>
          </a:xfrm>
          <a:prstGeom prst="ellipse">
            <a:avLst/>
          </a:pr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52" name="Oval 56"/>
          <p:cNvSpPr>
            <a:spLocks noChangeArrowheads="1"/>
          </p:cNvSpPr>
          <p:nvPr/>
        </p:nvSpPr>
        <p:spPr bwMode="auto">
          <a:xfrm>
            <a:off x="7019925" y="2287588"/>
            <a:ext cx="228600" cy="277813"/>
          </a:xfrm>
          <a:prstGeom prst="ellipse">
            <a:avLst/>
          </a:pr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9" name="Rectangle 58"/>
          <p:cNvSpPr>
            <a:spLocks noChangeArrowheads="1"/>
          </p:cNvSpPr>
          <p:nvPr/>
        </p:nvSpPr>
        <p:spPr bwMode="auto">
          <a:xfrm>
            <a:off x="768350" y="219075"/>
            <a:ext cx="677545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线性表的定义和特点</a:t>
            </a:r>
          </a:p>
        </p:txBody>
      </p:sp>
      <p:sp>
        <p:nvSpPr>
          <p:cNvPr id="16404" name="AutoShape 51"/>
          <p:cNvSpPr/>
          <p:nvPr/>
        </p:nvSpPr>
        <p:spPr>
          <a:xfrm flipV="1">
            <a:off x="222250" y="4686300"/>
            <a:ext cx="2981325" cy="1263650"/>
          </a:xfrm>
          <a:prstGeom prst="wedgeRoundRectCallout">
            <a:avLst>
              <a:gd name="adj1" fmla="val 40935"/>
              <a:gd name="adj2" fmla="val 206551"/>
              <a:gd name="adj3" fmla="val 16667"/>
            </a:avLst>
          </a:prstGeom>
          <a:solidFill>
            <a:schemeClr val="bg1"/>
          </a:solidFill>
          <a:ln w="34925">
            <a:noFill/>
          </a:ln>
        </p:spPr>
        <p:txBody>
          <a:bodyPr rot="1080000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00000"/>
              </a:lnSpc>
              <a:spcBef>
                <a:spcPct val="50000"/>
              </a:spcBef>
              <a:buNone/>
            </a:pPr>
            <a:r>
              <a:rPr lang="zh-CN" altLang="en-US" dirty="0">
                <a:solidFill>
                  <a:schemeClr val="accent1"/>
                </a:solidFill>
                <a:ea typeface="微软雅黑" panose="020B0503020204020204" pitchFamily="34" charset="-122"/>
                <a:sym typeface="+mn-lt"/>
              </a:rPr>
              <a:t>下标，</a:t>
            </a:r>
            <a:r>
              <a:rPr lang="zh-CN" altLang="en-US" dirty="0">
                <a:ea typeface="微软雅黑" panose="020B0503020204020204" pitchFamily="34" charset="-122"/>
                <a:sym typeface="+mn-lt"/>
              </a:rPr>
              <a:t>是元素的序号，表示元素在表中的位置</a:t>
            </a:r>
          </a:p>
        </p:txBody>
      </p:sp>
      <p:sp>
        <p:nvSpPr>
          <p:cNvPr id="16405" name="AutoShape 52"/>
          <p:cNvSpPr/>
          <p:nvPr/>
        </p:nvSpPr>
        <p:spPr>
          <a:xfrm flipV="1">
            <a:off x="6559550" y="5029200"/>
            <a:ext cx="2114550" cy="914400"/>
          </a:xfrm>
          <a:prstGeom prst="wedgeRoundRectCallout">
            <a:avLst>
              <a:gd name="adj1" fmla="val -21282"/>
              <a:gd name="adj2" fmla="val 304338"/>
              <a:gd name="adj3" fmla="val 16667"/>
            </a:avLst>
          </a:prstGeom>
          <a:solidFill>
            <a:schemeClr val="bg1"/>
          </a:solidFill>
          <a:ln w="34925">
            <a:noFill/>
          </a:ln>
        </p:spPr>
        <p:txBody>
          <a:bodyPr rot="1080000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00000"/>
              </a:lnSpc>
              <a:spcBef>
                <a:spcPct val="50000"/>
              </a:spcBef>
              <a:buNone/>
            </a:pPr>
            <a:r>
              <a:rPr lang="en-US" altLang="zh-CN" dirty="0">
                <a:solidFill>
                  <a:schemeClr val="accent1"/>
                </a:solidFill>
                <a:ea typeface="微软雅黑" panose="020B0503020204020204" pitchFamily="34" charset="-122"/>
                <a:sym typeface="+mn-lt"/>
              </a:rPr>
              <a:t>n</a:t>
            </a:r>
            <a:r>
              <a:rPr lang="zh-CN" altLang="en-US" dirty="0">
                <a:ea typeface="微软雅黑" panose="020B0503020204020204" pitchFamily="34" charset="-122"/>
                <a:sym typeface="+mn-lt"/>
              </a:rPr>
              <a:t>为元素总个数，即表长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62536">
                                            <p:txEl>
                                              <p:pRg st="0" end="0"/>
                                            </p:txEl>
                                          </p:spTgt>
                                        </p:tgtEl>
                                        <p:attrNameLst>
                                          <p:attrName>style.visibility</p:attrName>
                                        </p:attrNameLst>
                                      </p:cBhvr>
                                      <p:to>
                                        <p:strVal val="visible"/>
                                      </p:to>
                                    </p:set>
                                    <p:animEffect transition="in" filter="strips(downRight)">
                                      <p:cBhvr>
                                        <p:cTn id="7" dur="500"/>
                                        <p:tgtEl>
                                          <p:spTgt spid="3625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18" presetClass="entr" presetSubtype="6" fill="hold" grpId="0" nodeType="afterEffect">
                                  <p:stCondLst>
                                    <p:cond delay="1000"/>
                                  </p:stCondLst>
                                  <p:childTnLst>
                                    <p:set>
                                      <p:cBhvr>
                                        <p:cTn id="16" dur="1" fill="hold">
                                          <p:stCondLst>
                                            <p:cond delay="0"/>
                                          </p:stCondLst>
                                        </p:cTn>
                                        <p:tgtEl>
                                          <p:spTgt spid="362534"/>
                                        </p:tgtEl>
                                        <p:attrNameLst>
                                          <p:attrName>style.visibility</p:attrName>
                                        </p:attrNameLst>
                                      </p:cBhvr>
                                      <p:to>
                                        <p:strVal val="visible"/>
                                      </p:to>
                                    </p:set>
                                    <p:animEffect transition="in" filter="strips(downRight)">
                                      <p:cBhvr>
                                        <p:cTn id="17" dur="500"/>
                                        <p:tgtEl>
                                          <p:spTgt spid="36253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36253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36253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36254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36254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36254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36255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36254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36254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36254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36254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362551"/>
                                        </p:tgtEl>
                                        <p:attrNameLst>
                                          <p:attrName>style.visibility</p:attrName>
                                        </p:attrNameLst>
                                      </p:cBhvr>
                                      <p:to>
                                        <p:strVal val="visible"/>
                                      </p:to>
                                    </p:set>
                                  </p:childTnLst>
                                </p:cTn>
                              </p:par>
                            </p:childTnLst>
                          </p:cTn>
                        </p:par>
                        <p:par>
                          <p:cTn id="62" fill="hold">
                            <p:stCondLst>
                              <p:cond delay="500"/>
                            </p:stCondLst>
                            <p:childTnLst>
                              <p:par>
                                <p:cTn id="63" presetID="1" presetClass="entr" presetSubtype="0" fill="hold" grpId="0" nodeType="afterEffect">
                                  <p:stCondLst>
                                    <p:cond delay="1000"/>
                                  </p:stCondLst>
                                  <p:childTnLst>
                                    <p:set>
                                      <p:cBhvr>
                                        <p:cTn id="64" dur="1" fill="hold">
                                          <p:stCondLst>
                                            <p:cond delay="499"/>
                                          </p:stCondLst>
                                        </p:cTn>
                                        <p:tgtEl>
                                          <p:spTgt spid="1640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362552"/>
                                        </p:tgtEl>
                                        <p:attrNameLst>
                                          <p:attrName>style.visibility</p:attrName>
                                        </p:attrNameLst>
                                      </p:cBhvr>
                                      <p:to>
                                        <p:strVal val="visible"/>
                                      </p:to>
                                    </p:set>
                                  </p:childTnLst>
                                </p:cTn>
                              </p:par>
                            </p:childTnLst>
                          </p:cTn>
                        </p:par>
                        <p:par>
                          <p:cTn id="69" fill="hold">
                            <p:stCondLst>
                              <p:cond delay="500"/>
                            </p:stCondLst>
                            <p:childTnLst>
                              <p:par>
                                <p:cTn id="70" presetID="1" presetClass="entr" presetSubtype="0" fill="hold" grpId="0" nodeType="afterEffect">
                                  <p:stCondLst>
                                    <p:cond delay="1000"/>
                                  </p:stCondLst>
                                  <p:childTnLst>
                                    <p:set>
                                      <p:cBhvr>
                                        <p:cTn id="71" dur="1" fill="hold">
                                          <p:stCondLst>
                                            <p:cond delay="499"/>
                                          </p:stCondLst>
                                        </p:cTn>
                                        <p:tgtEl>
                                          <p:spTgt spid="16405"/>
                                        </p:tgtEl>
                                        <p:attrNameLst>
                                          <p:attrName>style.visibility</p:attrName>
                                        </p:attrNameLst>
                                      </p:cBhvr>
                                      <p:to>
                                        <p:strVal val="visible"/>
                                      </p:to>
                                    </p:set>
                                  </p:childTnLst>
                                </p:cTn>
                              </p:par>
                            </p:childTnLst>
                          </p:cTn>
                        </p:par>
                        <p:par>
                          <p:cTn id="72" fill="hold">
                            <p:stCondLst>
                              <p:cond delay="2000"/>
                            </p:stCondLst>
                            <p:childTnLst>
                              <p:par>
                                <p:cTn id="73" presetID="18" presetClass="entr" presetSubtype="6" fill="hold" grpId="0" nodeType="afterEffect">
                                  <p:stCondLst>
                                    <p:cond delay="2000"/>
                                  </p:stCondLst>
                                  <p:childTnLst>
                                    <p:set>
                                      <p:cBhvr>
                                        <p:cTn id="74" dur="1" fill="hold">
                                          <p:stCondLst>
                                            <p:cond delay="0"/>
                                          </p:stCondLst>
                                        </p:cTn>
                                        <p:tgtEl>
                                          <p:spTgt spid="362537"/>
                                        </p:tgtEl>
                                        <p:attrNameLst>
                                          <p:attrName>style.visibility</p:attrName>
                                        </p:attrNameLst>
                                      </p:cBhvr>
                                      <p:to>
                                        <p:strVal val="visible"/>
                                      </p:to>
                                    </p:set>
                                    <p:animEffect transition="in" filter="strips(downRight)">
                                      <p:cBhvr>
                                        <p:cTn id="75" dur="500"/>
                                        <p:tgtEl>
                                          <p:spTgt spid="362537"/>
                                        </p:tgtEl>
                                      </p:cBhvr>
                                    </p:animEffect>
                                  </p:childTnLst>
                                </p:cTn>
                              </p:par>
                            </p:childTnLst>
                          </p:cTn>
                        </p:par>
                        <p:par>
                          <p:cTn id="76" fill="hold">
                            <p:stCondLst>
                              <p:cond delay="4500"/>
                            </p:stCondLst>
                            <p:childTnLst>
                              <p:par>
                                <p:cTn id="77" presetID="1" presetClass="entr" presetSubtype="0" fill="hold" grpId="0" nodeType="afterEffect">
                                  <p:stCondLst>
                                    <p:cond delay="1000"/>
                                  </p:stCondLst>
                                  <p:iterate type="lt">
                                    <p:tmAbs val="75"/>
                                  </p:iterate>
                                  <p:childTnLst>
                                    <p:set>
                                      <p:cBhvr>
                                        <p:cTn id="78" dur="1" fill="hold">
                                          <p:stCondLst>
                                            <p:cond delay="74"/>
                                          </p:stCondLst>
                                        </p:cTn>
                                        <p:tgtEl>
                                          <p:spTgt spid="362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2534" grpId="0"/>
      <p:bldP spid="362536" grpId="0" build="p" advAuto="1000"/>
      <p:bldP spid="362537" grpId="0"/>
      <p:bldP spid="362538" grpId="0" animBg="1"/>
      <p:bldP spid="362539" grpId="0"/>
      <p:bldP spid="362541" grpId="0"/>
      <p:bldP spid="362543" grpId="0"/>
      <p:bldP spid="362544" grpId="0"/>
      <p:bldP spid="362549" grpId="0"/>
      <p:bldP spid="362550" grpId="0"/>
      <p:bldP spid="362551" grpId="0" animBg="1"/>
      <p:bldP spid="362552" grpId="0" animBg="1"/>
      <p:bldP spid="16404" grpId="0" animBg="1"/>
      <p:bldP spid="1640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2"/>
          <p:cNvSpPr>
            <a:spLocks noChangeArrowheads="1"/>
          </p:cNvSpPr>
          <p:nvPr/>
        </p:nvSpPr>
        <p:spPr bwMode="auto">
          <a:xfrm>
            <a:off x="12700" y="5648325"/>
            <a:ext cx="9144000" cy="1238250"/>
          </a:xfrm>
          <a:prstGeom prst="rect">
            <a:avLst/>
          </a:prstGeom>
          <a:solidFill>
            <a:srgbClr val="76AEDD"/>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 name="Rectangle 154"/>
          <p:cNvSpPr>
            <a:spLocks noGrp="1" noChangeArrowheads="1"/>
          </p:cNvSpPr>
          <p:nvPr>
            <p:ph type="title"/>
          </p:nvPr>
        </p:nvSpPr>
        <p:spPr>
          <a:xfrm>
            <a:off x="812800" y="165100"/>
            <a:ext cx="7712075"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例</a:t>
            </a:r>
            <a:r>
              <a:rPr kumimoji="0" lang="en-US" altLang="zh-CN" sz="2800" b="0" i="0" u="none" strike="noStrike" kern="0" cap="none" spc="0" normalizeH="0" baseline="0" noProof="0" dirty="0">
                <a:ln>
                  <a:noFill/>
                </a:ln>
                <a:solidFill>
                  <a:schemeClr val="bg1"/>
                </a:solidFill>
                <a:effectLst/>
                <a:uLnTx/>
                <a:uFillTx/>
                <a:latin typeface="+mn-lt"/>
                <a:ea typeface="+mn-ea"/>
                <a:cs typeface="+mn-ea"/>
                <a:sym typeface="+mn-lt"/>
              </a:rPr>
              <a:t>1 </a:t>
            </a: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分析</a:t>
            </a:r>
            <a:r>
              <a:rPr kumimoji="0" lang="en-US" altLang="zh-CN" sz="2800" b="0" i="0" u="none" strike="noStrike" kern="0" cap="none" spc="0" normalizeH="0" baseline="0" noProof="0" dirty="0">
                <a:ln>
                  <a:noFill/>
                </a:ln>
                <a:solidFill>
                  <a:schemeClr val="bg1"/>
                </a:solidFill>
                <a:effectLst/>
                <a:uLnTx/>
                <a:uFillTx/>
                <a:latin typeface="+mn-lt"/>
                <a:ea typeface="+mn-ea"/>
                <a:cs typeface="+mn-ea"/>
                <a:sym typeface="+mn-lt"/>
              </a:rPr>
              <a:t>26 </a:t>
            </a: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个英文字母组成的英文表</a:t>
            </a:r>
          </a:p>
        </p:txBody>
      </p:sp>
      <p:sp>
        <p:nvSpPr>
          <p:cNvPr id="364699" name="Rectangle 155"/>
          <p:cNvSpPr>
            <a:spLocks noGrp="1" noChangeArrowheads="1"/>
          </p:cNvSpPr>
          <p:nvPr>
            <p:ph idx="1"/>
          </p:nvPr>
        </p:nvSpPr>
        <p:spPr>
          <a:xfrm>
            <a:off x="295275" y="1139825"/>
            <a:ext cx="4897438" cy="377825"/>
          </a:xfrm>
        </p:spPr>
        <p:txBody>
          <a:bodyPr vert="horz" wrap="square" lIns="91440" tIns="45720" rIns="91440" bIns="45720" numCol="1" anchor="ctr" anchorCtr="0" compatLnSpc="1"/>
          <a:lstStyle/>
          <a:p>
            <a:pPr marL="0" marR="0" lvl="0" indent="0" algn="l" defTabSz="914400" rtl="0" eaLnBrk="0" fontAlgn="base" latinLnBrk="0" hangingPunct="0">
              <a:lnSpc>
                <a:spcPct val="8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  B,  C,  D, ……  ,  Z</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a:t>
            </a:r>
          </a:p>
        </p:txBody>
      </p:sp>
      <p:sp>
        <p:nvSpPr>
          <p:cNvPr id="364756" name="Text Box 212"/>
          <p:cNvSpPr txBox="1">
            <a:spLocks noChangeArrowheads="1"/>
          </p:cNvSpPr>
          <p:nvPr/>
        </p:nvSpPr>
        <p:spPr bwMode="auto">
          <a:xfrm>
            <a:off x="79374" y="2205038"/>
            <a:ext cx="8021017" cy="523220"/>
          </a:xfrm>
          <a:prstGeom prst="rect">
            <a:avLst/>
          </a:prstGeom>
          <a:noFill/>
          <a:ln w="9525">
            <a:noFill/>
            <a:miter lim="800000"/>
          </a:ln>
          <a:effectLst/>
        </p:spPr>
        <p:txBody>
          <a:bodyPr wrap="square">
            <a:spAutoFit/>
          </a:bodyPr>
          <a:lstStyle/>
          <a:p>
            <a:pPr marR="0" defTabSz="914400">
              <a:buClrTx/>
              <a:buSzTx/>
              <a:buFontTx/>
              <a:buNone/>
              <a:defRPr/>
            </a:pPr>
            <a:r>
              <a:rPr kumimoji="1" lang="zh-CN" altLang="en-US" kern="1200" cap="none" spc="0" normalizeH="0" baseline="0" noProof="0" dirty="0">
                <a:solidFill>
                  <a:schemeClr val="tx1">
                    <a:lumMod val="95000"/>
                    <a:lumOff val="5000"/>
                  </a:schemeClr>
                </a:solidFill>
                <a:latin typeface="+mn-lt"/>
                <a:ea typeface="+mn-ea"/>
                <a:cs typeface="+mn-ea"/>
                <a:sym typeface="+mn-lt"/>
              </a:rPr>
              <a:t>例</a:t>
            </a:r>
            <a:r>
              <a:rPr kumimoji="1" lang="en-US" altLang="zh-CN" kern="1200" cap="none" spc="0" normalizeH="0" baseline="0" noProof="0" dirty="0">
                <a:solidFill>
                  <a:schemeClr val="tx1">
                    <a:lumMod val="95000"/>
                    <a:lumOff val="5000"/>
                  </a:schemeClr>
                </a:solidFill>
                <a:latin typeface="+mn-lt"/>
                <a:ea typeface="+mn-ea"/>
                <a:cs typeface="+mn-ea"/>
                <a:sym typeface="+mn-lt"/>
              </a:rPr>
              <a:t>2    </a:t>
            </a:r>
            <a:r>
              <a:rPr kumimoji="1" lang="zh-CN" altLang="en-US" kern="1200" cap="none" spc="0" normalizeH="0" baseline="0" noProof="0" dirty="0">
                <a:solidFill>
                  <a:schemeClr val="tx1">
                    <a:lumMod val="95000"/>
                    <a:lumOff val="5000"/>
                  </a:schemeClr>
                </a:solidFill>
                <a:latin typeface="+mn-lt"/>
                <a:ea typeface="+mn-ea"/>
                <a:cs typeface="+mn-ea"/>
                <a:sym typeface="+mn-lt"/>
              </a:rPr>
              <a:t>分析学生情况登记表</a:t>
            </a:r>
          </a:p>
        </p:txBody>
      </p:sp>
      <p:sp>
        <p:nvSpPr>
          <p:cNvPr id="364757" name="Rectangle 213"/>
          <p:cNvSpPr>
            <a:spLocks noChangeArrowheads="1"/>
          </p:cNvSpPr>
          <p:nvPr/>
        </p:nvSpPr>
        <p:spPr bwMode="auto">
          <a:xfrm>
            <a:off x="295275" y="5878513"/>
            <a:ext cx="7589838" cy="388938"/>
          </a:xfrm>
          <a:prstGeom prst="rect">
            <a:avLst/>
          </a:prstGeom>
          <a:solidFill>
            <a:srgbClr val="76AE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数据元素都是记录</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元素间关系是线性</a:t>
            </a:r>
          </a:p>
        </p:txBody>
      </p:sp>
      <p:sp>
        <p:nvSpPr>
          <p:cNvPr id="364758" name="Rectangle 214"/>
          <p:cNvSpPr>
            <a:spLocks noChangeArrowheads="1"/>
          </p:cNvSpPr>
          <p:nvPr/>
        </p:nvSpPr>
        <p:spPr bwMode="auto">
          <a:xfrm>
            <a:off x="158750" y="1597025"/>
            <a:ext cx="593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数据元素都是字母</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元素间关系是线性</a:t>
            </a:r>
          </a:p>
        </p:txBody>
      </p:sp>
      <p:sp>
        <p:nvSpPr>
          <p:cNvPr id="364760" name="Rectangle 216"/>
          <p:cNvSpPr>
            <a:spLocks noChangeArrowheads="1"/>
          </p:cNvSpPr>
          <p:nvPr/>
        </p:nvSpPr>
        <p:spPr bwMode="auto">
          <a:xfrm>
            <a:off x="295275" y="6353175"/>
            <a:ext cx="7948613" cy="388938"/>
          </a:xfrm>
          <a:prstGeom prst="rect">
            <a:avLst/>
          </a:prstGeom>
          <a:solidFill>
            <a:srgbClr val="76AE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同一线性表中的元素必定具有相同特性</a:t>
            </a:r>
          </a:p>
        </p:txBody>
      </p:sp>
      <p:graphicFrame>
        <p:nvGraphicFramePr>
          <p:cNvPr id="10" name="表格 9"/>
          <p:cNvGraphicFramePr/>
          <p:nvPr/>
        </p:nvGraphicFramePr>
        <p:xfrm>
          <a:off x="161925" y="2684463"/>
          <a:ext cx="8820150" cy="2811463"/>
        </p:xfrm>
        <a:graphic>
          <a:graphicData uri="http://schemas.openxmlformats.org/drawingml/2006/table">
            <a:tbl>
              <a:tblPr firstRow="1">
                <a:tableStyleId>{5C22544A-7EE6-4342-B048-85BDC9FD1C3A}</a:tableStyleId>
              </a:tblPr>
              <a:tblGrid>
                <a:gridCol w="1479714">
                  <a:extLst>
                    <a:ext uri="{9D8B030D-6E8A-4147-A177-3AD203B41FA5}">
                      <a16:colId xmlns:a16="http://schemas.microsoft.com/office/drawing/2014/main" val="20000"/>
                    </a:ext>
                  </a:extLst>
                </a:gridCol>
                <a:gridCol w="1579520">
                  <a:extLst>
                    <a:ext uri="{9D8B030D-6E8A-4147-A177-3AD203B41FA5}">
                      <a16:colId xmlns:a16="http://schemas.microsoft.com/office/drawing/2014/main" val="20001"/>
                    </a:ext>
                  </a:extLst>
                </a:gridCol>
                <a:gridCol w="1440229">
                  <a:extLst>
                    <a:ext uri="{9D8B030D-6E8A-4147-A177-3AD203B41FA5}">
                      <a16:colId xmlns:a16="http://schemas.microsoft.com/office/drawing/2014/main" val="20002"/>
                    </a:ext>
                  </a:extLst>
                </a:gridCol>
                <a:gridCol w="1872298">
                  <a:extLst>
                    <a:ext uri="{9D8B030D-6E8A-4147-A177-3AD203B41FA5}">
                      <a16:colId xmlns:a16="http://schemas.microsoft.com/office/drawing/2014/main" val="20003"/>
                    </a:ext>
                  </a:extLst>
                </a:gridCol>
                <a:gridCol w="2448389">
                  <a:extLst>
                    <a:ext uri="{9D8B030D-6E8A-4147-A177-3AD203B41FA5}">
                      <a16:colId xmlns:a16="http://schemas.microsoft.com/office/drawing/2014/main" val="20004"/>
                    </a:ext>
                  </a:extLst>
                </a:gridCol>
              </a:tblGrid>
              <a:tr h="461473">
                <a:tc>
                  <a:txBody>
                    <a:bodyPr/>
                    <a:lstStyle>
                      <a:lvl1pPr marL="0" lvl="0"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stStyle>
                    <a:p>
                      <a:pPr lvl="0" algn="ctr" eaLnBrk="1" hangingPunct="1">
                        <a:buNone/>
                      </a:pPr>
                      <a:r>
                        <a:rPr lang="zh-CN" altLang="en-US" sz="1800" b="0" i="0" u="none" kern="1200" baseline="0" dirty="0">
                          <a:solidFill>
                            <a:schemeClr val="bg1"/>
                          </a:solidFill>
                          <a:latin typeface="+mn-lt"/>
                          <a:ea typeface="+mn-ea"/>
                          <a:cs typeface="+mn-ea"/>
                          <a:sym typeface="+mn-lt"/>
                        </a:rPr>
                        <a:t>学号</a:t>
                      </a:r>
                    </a:p>
                  </a:txBody>
                  <a:tcPr marL="90020" marR="90020" marT="46829" marB="46829" anchor="ctr"/>
                </a:tc>
                <a:tc>
                  <a:txBody>
                    <a:bodyPr/>
                    <a:lstStyle>
                      <a:lvl1pPr marL="0" lvl="0"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stStyle>
                    <a:p>
                      <a:pPr lvl="0" algn="ctr" eaLnBrk="1" hangingPunct="1">
                        <a:buNone/>
                      </a:pPr>
                      <a:r>
                        <a:rPr lang="zh-CN" altLang="en-US" sz="1800" b="0" i="0" u="none" kern="1200" baseline="0" dirty="0">
                          <a:solidFill>
                            <a:schemeClr val="bg1"/>
                          </a:solidFill>
                          <a:latin typeface="+mn-lt"/>
                          <a:ea typeface="+mn-ea"/>
                          <a:cs typeface="+mn-ea"/>
                          <a:sym typeface="+mn-lt"/>
                        </a:rPr>
                        <a:t>姓名</a:t>
                      </a:r>
                    </a:p>
                  </a:txBody>
                  <a:tcPr marL="90020" marR="90020" marT="46829" marB="46829" anchor="ctr"/>
                </a:tc>
                <a:tc>
                  <a:txBody>
                    <a:bodyPr/>
                    <a:lstStyle/>
                    <a:p>
                      <a:pPr lvl="0" algn="ctr" eaLnBrk="1" hangingPunct="1">
                        <a:buNone/>
                      </a:pPr>
                      <a:r>
                        <a:rPr lang="zh-CN" altLang="en-US" sz="1800" b="0" i="0" u="none" kern="1200" baseline="0" dirty="0">
                          <a:solidFill>
                            <a:schemeClr val="bg1"/>
                          </a:solidFill>
                          <a:latin typeface="+mn-lt"/>
                          <a:ea typeface="+mn-ea"/>
                          <a:cs typeface="+mn-ea"/>
                          <a:sym typeface="+mn-lt"/>
                        </a:rPr>
                        <a:t>性别</a:t>
                      </a:r>
                    </a:p>
                  </a:txBody>
                  <a:tcPr marL="90020" marR="90020" marT="46829" marB="46829" anchor="ctr"/>
                </a:tc>
                <a:tc>
                  <a:txBody>
                    <a:bodyPr/>
                    <a:lstStyle/>
                    <a:p>
                      <a:pPr lvl="0" algn="ctr" eaLnBrk="1" hangingPunct="1">
                        <a:buNone/>
                      </a:pPr>
                      <a:r>
                        <a:rPr lang="zh-CN" altLang="en-US" sz="1800" b="0" i="0" u="none" kern="1200" baseline="0" dirty="0">
                          <a:solidFill>
                            <a:schemeClr val="bg1"/>
                          </a:solidFill>
                          <a:latin typeface="+mn-lt"/>
                          <a:ea typeface="+mn-ea"/>
                          <a:cs typeface="+mn-ea"/>
                          <a:sym typeface="+mn-lt"/>
                        </a:rPr>
                        <a:t>年龄</a:t>
                      </a:r>
                    </a:p>
                  </a:txBody>
                  <a:tcPr marL="90020" marR="90020" marT="46829" marB="46829" anchor="ctr"/>
                </a:tc>
                <a:tc>
                  <a:txBody>
                    <a:bodyPr/>
                    <a:lstStyle>
                      <a:lvl1pPr marL="0" lvl="0"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stStyle>
                    <a:p>
                      <a:pPr lvl="0" algn="ctr" eaLnBrk="1" hangingPunct="1">
                        <a:buNone/>
                      </a:pPr>
                      <a:r>
                        <a:rPr lang="zh-CN" altLang="en-US" sz="1800" b="0" i="0" u="none" kern="1200" baseline="0" dirty="0">
                          <a:solidFill>
                            <a:schemeClr val="bg1"/>
                          </a:solidFill>
                          <a:latin typeface="+mn-lt"/>
                          <a:ea typeface="+mn-ea"/>
                          <a:cs typeface="+mn-ea"/>
                          <a:sym typeface="+mn-lt"/>
                        </a:rPr>
                        <a:t>班级</a:t>
                      </a:r>
                    </a:p>
                  </a:txBody>
                  <a:tcPr marL="90020" marR="90020" marT="46829" marB="46829" anchor="ctr"/>
                </a:tc>
                <a:extLst>
                  <a:ext uri="{0D108BD9-81ED-4DB2-BD59-A6C34878D82A}">
                    <a16:rowId xmlns:a16="http://schemas.microsoft.com/office/drawing/2014/main" val="10000"/>
                  </a:ext>
                </a:extLst>
              </a:tr>
              <a:tr h="45712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041810205</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于春梅</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a:solidFill>
                            <a:schemeClr val="tx1"/>
                          </a:solidFill>
                          <a:latin typeface="+mn-lt"/>
                          <a:ea typeface="+mn-ea"/>
                          <a:cs typeface="+mn-ea"/>
                          <a:sym typeface="+mn-lt"/>
                        </a:rPr>
                        <a:t>女</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   18</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04</a:t>
                      </a:r>
                      <a:r>
                        <a:rPr lang="zh-CN" altLang="en-US" sz="1800" b="0" i="0" u="none" kern="1200" baseline="0">
                          <a:solidFill>
                            <a:schemeClr val="tx1"/>
                          </a:solidFill>
                          <a:latin typeface="+mn-lt"/>
                          <a:ea typeface="+mn-ea"/>
                          <a:cs typeface="+mn-ea"/>
                          <a:sym typeface="+mn-lt"/>
                        </a:rPr>
                        <a:t>级计算机</a:t>
                      </a:r>
                      <a:r>
                        <a:rPr lang="en-US" altLang="zh-CN" sz="1800" b="0" i="0" u="none" kern="1200" baseline="0">
                          <a:solidFill>
                            <a:schemeClr val="tx1"/>
                          </a:solidFill>
                          <a:latin typeface="+mn-lt"/>
                          <a:ea typeface="+mn-ea"/>
                          <a:cs typeface="+mn-ea"/>
                          <a:sym typeface="+mn-lt"/>
                        </a:rPr>
                        <a:t>1</a:t>
                      </a:r>
                      <a:r>
                        <a:rPr lang="zh-CN" altLang="en-US" sz="1800" b="0" i="0" u="none" kern="1200" baseline="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1"/>
                  </a:ext>
                </a:extLst>
              </a:tr>
              <a:tr h="52149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041810260</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何仕鹏</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男</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   20</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04</a:t>
                      </a:r>
                      <a:r>
                        <a:rPr lang="zh-CN" altLang="en-US" sz="1800" b="0" i="0" u="none" kern="1200" baseline="0">
                          <a:solidFill>
                            <a:schemeClr val="tx1"/>
                          </a:solidFill>
                          <a:latin typeface="+mn-lt"/>
                          <a:ea typeface="+mn-ea"/>
                          <a:cs typeface="+mn-ea"/>
                          <a:sym typeface="+mn-lt"/>
                        </a:rPr>
                        <a:t>级计算机</a:t>
                      </a:r>
                      <a:r>
                        <a:rPr lang="en-US" altLang="zh-CN" sz="1800" b="0" i="0" u="none" kern="1200" baseline="0">
                          <a:solidFill>
                            <a:schemeClr val="tx1"/>
                          </a:solidFill>
                          <a:latin typeface="+mn-lt"/>
                          <a:ea typeface="+mn-ea"/>
                          <a:cs typeface="+mn-ea"/>
                          <a:sym typeface="+mn-lt"/>
                        </a:rPr>
                        <a:t>2</a:t>
                      </a:r>
                      <a:r>
                        <a:rPr lang="zh-CN" altLang="en-US" sz="1800" b="0" i="0" u="none" kern="1200" baseline="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2"/>
                  </a:ext>
                </a:extLst>
              </a:tr>
              <a:tr h="45712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041810284</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王   爽</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女</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   19</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a:t>
                      </a:r>
                      <a:r>
                        <a:rPr lang="zh-CN" altLang="en-US" sz="1800" b="0" i="0" u="none" kern="1200" baseline="0" dirty="0">
                          <a:solidFill>
                            <a:schemeClr val="tx1"/>
                          </a:solidFill>
                          <a:latin typeface="+mn-lt"/>
                          <a:ea typeface="+mn-ea"/>
                          <a:cs typeface="+mn-ea"/>
                          <a:sym typeface="+mn-lt"/>
                        </a:rPr>
                        <a:t>级计算机</a:t>
                      </a:r>
                      <a:r>
                        <a:rPr lang="en-US" altLang="zh-CN" sz="1800" b="0" i="0" u="none" kern="1200" baseline="0" dirty="0">
                          <a:solidFill>
                            <a:schemeClr val="tx1"/>
                          </a:solidFill>
                          <a:latin typeface="+mn-lt"/>
                          <a:ea typeface="+mn-ea"/>
                          <a:cs typeface="+mn-ea"/>
                          <a:sym typeface="+mn-lt"/>
                        </a:rPr>
                        <a:t>3</a:t>
                      </a:r>
                      <a:r>
                        <a:rPr lang="zh-CN" altLang="en-US" sz="1800" b="0" i="0" u="none" kern="1200" baseline="0" dirty="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3"/>
                  </a:ext>
                </a:extLst>
              </a:tr>
              <a:tr h="45712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041810360</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王亚武</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男</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   18</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a:t>
                      </a:r>
                      <a:r>
                        <a:rPr lang="zh-CN" altLang="en-US" sz="1800" b="0" i="0" u="none" kern="1200" baseline="0" dirty="0">
                          <a:solidFill>
                            <a:schemeClr val="tx1"/>
                          </a:solidFill>
                          <a:latin typeface="+mn-lt"/>
                          <a:ea typeface="+mn-ea"/>
                          <a:cs typeface="+mn-ea"/>
                          <a:sym typeface="+mn-lt"/>
                        </a:rPr>
                        <a:t>级计算机</a:t>
                      </a:r>
                      <a:r>
                        <a:rPr lang="en-US" altLang="zh-CN" sz="1800" b="0" i="0" u="none" kern="1200" baseline="0" dirty="0">
                          <a:solidFill>
                            <a:schemeClr val="tx1"/>
                          </a:solidFill>
                          <a:latin typeface="+mn-lt"/>
                          <a:ea typeface="+mn-ea"/>
                          <a:cs typeface="+mn-ea"/>
                          <a:sym typeface="+mn-lt"/>
                        </a:rPr>
                        <a:t>4</a:t>
                      </a:r>
                      <a:r>
                        <a:rPr lang="zh-CN" altLang="en-US" sz="1800" b="0" i="0" u="none" kern="1200" baseline="0" dirty="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4"/>
                  </a:ext>
                </a:extLst>
              </a:tr>
              <a:tr h="457123">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zh-CN" altLang="en-US" sz="2000" b="0" i="0" u="none" strike="noStrike" cap="none" normalizeH="0" baseline="0" dirty="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a:t>
                      </a:r>
                    </a:p>
                  </a:txBody>
                  <a:tcPr marL="91444" marR="91444" marT="45735" marB="45735" anchor="ctr" horzOverflow="overflow"/>
                </a:tc>
                <a:extLst>
                  <a:ext uri="{0D108BD9-81ED-4DB2-BD59-A6C34878D82A}">
                    <a16:rowId xmlns:a16="http://schemas.microsoft.com/office/drawing/2014/main" val="10005"/>
                  </a:ext>
                </a:extLst>
              </a:tr>
            </a:tbl>
          </a:graphicData>
        </a:graphic>
      </p:graphicFrame>
      <p:cxnSp>
        <p:nvCxnSpPr>
          <p:cNvPr id="18485" name="直接连接符 2"/>
          <p:cNvCxnSpPr/>
          <p:nvPr/>
        </p:nvCxnSpPr>
        <p:spPr>
          <a:xfrm>
            <a:off x="161925" y="2058988"/>
            <a:ext cx="7289800" cy="146050"/>
          </a:xfrm>
          <a:prstGeom prst="line">
            <a:avLst/>
          </a:prstGeom>
          <a:ln w="9525">
            <a:noFill/>
          </a:ln>
        </p:spPr>
      </p:cxnSp>
      <p:cxnSp>
        <p:nvCxnSpPr>
          <p:cNvPr id="18486" name="直接连接符 7"/>
          <p:cNvCxnSpPr/>
          <p:nvPr/>
        </p:nvCxnSpPr>
        <p:spPr>
          <a:xfrm>
            <a:off x="149225" y="2111375"/>
            <a:ext cx="8820150" cy="0"/>
          </a:xfrm>
          <a:prstGeom prst="line">
            <a:avLst/>
          </a:prstGeom>
          <a:ln w="57150" cap="flat" cmpd="sng">
            <a:solidFill>
              <a:srgbClr val="76AEDD"/>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364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300"/>
                                  </p:iterate>
                                  <p:childTnLst>
                                    <p:set>
                                      <p:cBhvr>
                                        <p:cTn id="10" dur="1" fill="hold">
                                          <p:stCondLst>
                                            <p:cond delay="299"/>
                                          </p:stCondLst>
                                        </p:cTn>
                                        <p:tgtEl>
                                          <p:spTgt spid="3647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47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7410"/>
                                        </p:tgtEl>
                                        <p:attrNameLst>
                                          <p:attrName>style.visibility</p:attrName>
                                        </p:attrNameLst>
                                      </p:cBhvr>
                                      <p:to>
                                        <p:strVal val="visible"/>
                                      </p:to>
                                    </p:set>
                                    <p:animEffect transition="in" filter="barn(inVertical)">
                                      <p:cBhvr>
                                        <p:cTn id="19" dur="500"/>
                                        <p:tgtEl>
                                          <p:spTgt spid="1741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type="wd">
                                    <p:tmAbs val="300"/>
                                  </p:iterate>
                                  <p:childTnLst>
                                    <p:set>
                                      <p:cBhvr>
                                        <p:cTn id="23" dur="1" fill="hold">
                                          <p:stCondLst>
                                            <p:cond delay="299"/>
                                          </p:stCondLst>
                                        </p:cTn>
                                        <p:tgtEl>
                                          <p:spTgt spid="36475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364760"/>
                                        </p:tgtEl>
                                        <p:attrNameLst>
                                          <p:attrName>style.visibility</p:attrName>
                                        </p:attrNameLst>
                                      </p:cBhvr>
                                      <p:to>
                                        <p:strVal val="visible"/>
                                      </p:to>
                                    </p:set>
                                    <p:anim calcmode="lin" valueType="num">
                                      <p:cBhvr>
                                        <p:cTn id="28" dur="1000" fill="hold"/>
                                        <p:tgtEl>
                                          <p:spTgt spid="364760"/>
                                        </p:tgtEl>
                                        <p:attrNameLst>
                                          <p:attrName>ppt_w</p:attrName>
                                        </p:attrNameLst>
                                      </p:cBhvr>
                                      <p:tavLst>
                                        <p:tav tm="0">
                                          <p:val>
                                            <p:fltVal val="0"/>
                                          </p:val>
                                        </p:tav>
                                        <p:tav tm="100000">
                                          <p:val>
                                            <p:strVal val="#ppt_w"/>
                                          </p:val>
                                        </p:tav>
                                      </p:tavLst>
                                    </p:anim>
                                    <p:anim calcmode="lin" valueType="num">
                                      <p:cBhvr>
                                        <p:cTn id="29" dur="1000" fill="hold"/>
                                        <p:tgtEl>
                                          <p:spTgt spid="364760"/>
                                        </p:tgtEl>
                                        <p:attrNameLst>
                                          <p:attrName>ppt_h</p:attrName>
                                        </p:attrNameLst>
                                      </p:cBhvr>
                                      <p:tavLst>
                                        <p:tav tm="0">
                                          <p:val>
                                            <p:fltVal val="0"/>
                                          </p:val>
                                        </p:tav>
                                        <p:tav tm="100000">
                                          <p:val>
                                            <p:strVal val="#ppt_h"/>
                                          </p:val>
                                        </p:tav>
                                      </p:tavLst>
                                    </p:anim>
                                    <p:anim calcmode="lin" valueType="num">
                                      <p:cBhvr>
                                        <p:cTn id="30" dur="1000" fill="hold"/>
                                        <p:tgtEl>
                                          <p:spTgt spid="364760"/>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36476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364699" grpId="0" build="p" advAuto="1000"/>
      <p:bldP spid="364756" grpId="0"/>
      <p:bldP spid="364757" grpId="0" animBg="1"/>
      <p:bldP spid="364758" grpId="0"/>
      <p:bldP spid="36476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57525" y="274066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274066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2.2</a:t>
            </a:r>
            <a:endParaRPr kumimoji="0" lang="zh-CN" altLang="en-US" sz="2200" kern="1200" cap="none" spc="0" normalizeH="0" baseline="0" noProof="0" dirty="0">
              <a:solidFill>
                <a:schemeClr val="bg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noChangeArrowheads="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0" cap="none" spc="0" normalizeH="0" baseline="0" noProof="0">
                <a:ln>
                  <a:noFill/>
                </a:ln>
                <a:solidFill>
                  <a:schemeClr val="bg1"/>
                </a:solidFill>
                <a:effectLst/>
                <a:uLnTx/>
                <a:uFillTx/>
                <a:latin typeface="+mn-lt"/>
                <a:ea typeface="+mn-ea"/>
                <a:cs typeface="+mn-ea"/>
                <a:sym typeface="+mn-lt"/>
              </a:rPr>
              <a:t>2.2 </a:t>
            </a: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案例引入</a:t>
            </a:r>
          </a:p>
        </p:txBody>
      </p:sp>
      <p:grpSp>
        <p:nvGrpSpPr>
          <p:cNvPr id="21507" name="组合 3"/>
          <p:cNvGrpSpPr/>
          <p:nvPr/>
        </p:nvGrpSpPr>
        <p:grpSpPr>
          <a:xfrm>
            <a:off x="274638" y="2244725"/>
            <a:ext cx="2690812" cy="2735263"/>
            <a:chOff x="1198662" y="1665926"/>
            <a:chExt cx="4286400" cy="4356156"/>
          </a:xfrm>
        </p:grpSpPr>
        <p:sp>
          <p:nvSpPr>
            <p:cNvPr id="15" name="泪滴形 24"/>
            <p:cNvSpPr/>
            <p:nvPr/>
          </p:nvSpPr>
          <p:spPr bwMode="auto">
            <a:xfrm rot="10800000" flipH="1">
              <a:off x="1428787" y="1944032"/>
              <a:ext cx="1770195" cy="1772296"/>
            </a:xfrm>
            <a:custGeom>
              <a:avLst/>
              <a:gdLst>
                <a:gd name="T0" fmla="*/ 679134 w 1680168"/>
                <a:gd name="T1" fmla="*/ 1503514 h 1680168"/>
                <a:gd name="T2" fmla="*/ 176653 w 1680168"/>
                <a:gd name="T3" fmla="*/ 1001034 h 1680168"/>
                <a:gd name="T4" fmla="*/ 679134 w 1680168"/>
                <a:gd name="T5" fmla="*/ 498554 h 1680168"/>
                <a:gd name="T6" fmla="*/ 1181615 w 1680168"/>
                <a:gd name="T7" fmla="*/ 1001034 h 1680168"/>
                <a:gd name="T8" fmla="*/ 679134 w 1680168"/>
                <a:gd name="T9" fmla="*/ 1503514 h 1680168"/>
                <a:gd name="T10" fmla="*/ 840084 w 1680168"/>
                <a:gd name="T11" fmla="*/ 1680168 h 1680168"/>
                <a:gd name="T12" fmla="*/ 1680168 w 1680168"/>
                <a:gd name="T13" fmla="*/ 840084 h 1680168"/>
                <a:gd name="T14" fmla="*/ 1680168 w 1680168"/>
                <a:gd name="T15" fmla="*/ 0 h 1680168"/>
                <a:gd name="T16" fmla="*/ 840084 w 1680168"/>
                <a:gd name="T17" fmla="*/ 0 h 1680168"/>
                <a:gd name="T18" fmla="*/ 0 w 1680168"/>
                <a:gd name="T19" fmla="*/ 840084 h 1680168"/>
                <a:gd name="T20" fmla="*/ 840084 w 1680168"/>
                <a:gd name="T21" fmla="*/ 1680168 h 1680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0168" h="1680168">
                  <a:moveTo>
                    <a:pt x="679134" y="1503514"/>
                  </a:moveTo>
                  <a:cubicBezTo>
                    <a:pt x="401621" y="1503514"/>
                    <a:pt x="176653" y="1278546"/>
                    <a:pt x="176653" y="1001034"/>
                  </a:cubicBezTo>
                  <a:cubicBezTo>
                    <a:pt x="176653" y="723522"/>
                    <a:pt x="401621" y="498554"/>
                    <a:pt x="679134" y="498554"/>
                  </a:cubicBezTo>
                  <a:cubicBezTo>
                    <a:pt x="956647" y="498554"/>
                    <a:pt x="1181615" y="723522"/>
                    <a:pt x="1181615" y="1001034"/>
                  </a:cubicBezTo>
                  <a:cubicBezTo>
                    <a:pt x="1181615" y="1278546"/>
                    <a:pt x="956647" y="1503514"/>
                    <a:pt x="679134" y="1503514"/>
                  </a:cubicBezTo>
                  <a:close/>
                  <a:moveTo>
                    <a:pt x="840084" y="1680168"/>
                  </a:moveTo>
                  <a:cubicBezTo>
                    <a:pt x="1304050" y="1680168"/>
                    <a:pt x="1680168" y="1304050"/>
                    <a:pt x="1680168" y="840084"/>
                  </a:cubicBezTo>
                  <a:lnTo>
                    <a:pt x="1680168" y="0"/>
                  </a:lnTo>
                  <a:lnTo>
                    <a:pt x="840084" y="0"/>
                  </a:lnTo>
                  <a:cubicBezTo>
                    <a:pt x="376118" y="0"/>
                    <a:pt x="0" y="376118"/>
                    <a:pt x="0" y="840084"/>
                  </a:cubicBezTo>
                  <a:cubicBezTo>
                    <a:pt x="0" y="1304050"/>
                    <a:pt x="376118" y="1680168"/>
                    <a:pt x="840084" y="1680168"/>
                  </a:cubicBezTo>
                  <a:close/>
                </a:path>
              </a:pathLst>
            </a:custGeom>
            <a:solidFill>
              <a:srgbClr val="65A5D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3" name="泪滴形 38"/>
            <p:cNvSpPr/>
            <p:nvPr/>
          </p:nvSpPr>
          <p:spPr bwMode="auto">
            <a:xfrm>
              <a:off x="1198662" y="3761837"/>
              <a:ext cx="1980089" cy="1982139"/>
            </a:xfrm>
            <a:custGeom>
              <a:avLst/>
              <a:gdLst>
                <a:gd name="T0" fmla="*/ 811275 w 1879944"/>
                <a:gd name="T1" fmla="*/ 455670 h 1880638"/>
                <a:gd name="T2" fmla="*/ 198108 w 1879944"/>
                <a:gd name="T3" fmla="*/ 1069063 h 1880638"/>
                <a:gd name="T4" fmla="*/ 811275 w 1879944"/>
                <a:gd name="T5" fmla="*/ 1682456 h 1880638"/>
                <a:gd name="T6" fmla="*/ 1424442 w 1879944"/>
                <a:gd name="T7" fmla="*/ 1069063 h 1880638"/>
                <a:gd name="T8" fmla="*/ 811275 w 1879944"/>
                <a:gd name="T9" fmla="*/ 455670 h 1880638"/>
                <a:gd name="T10" fmla="*/ 939973 w 1879944"/>
                <a:gd name="T11" fmla="*/ 0 h 1880638"/>
                <a:gd name="T12" fmla="*/ 1879944 w 1879944"/>
                <a:gd name="T13" fmla="*/ 0 h 1880638"/>
                <a:gd name="T14" fmla="*/ 1879944 w 1879944"/>
                <a:gd name="T15" fmla="*/ 940319 h 1880638"/>
                <a:gd name="T16" fmla="*/ 939972 w 1879944"/>
                <a:gd name="T17" fmla="*/ 1880638 h 1880638"/>
                <a:gd name="T18" fmla="*/ 0 w 1879944"/>
                <a:gd name="T19" fmla="*/ 940319 h 1880638"/>
                <a:gd name="T20" fmla="*/ 1 w 1879944"/>
                <a:gd name="T21" fmla="*/ 940319 h 1880638"/>
                <a:gd name="T22" fmla="*/ 939973 w 1879944"/>
                <a:gd name="T23" fmla="*/ 0 h 1880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9944" h="1880638">
                  <a:moveTo>
                    <a:pt x="811275" y="455670"/>
                  </a:moveTo>
                  <a:cubicBezTo>
                    <a:pt x="472632" y="455670"/>
                    <a:pt x="198108" y="730295"/>
                    <a:pt x="198108" y="1069063"/>
                  </a:cubicBezTo>
                  <a:cubicBezTo>
                    <a:pt x="198108" y="1407831"/>
                    <a:pt x="472632" y="1682456"/>
                    <a:pt x="811275" y="1682456"/>
                  </a:cubicBezTo>
                  <a:cubicBezTo>
                    <a:pt x="1149918" y="1682456"/>
                    <a:pt x="1424442" y="1407831"/>
                    <a:pt x="1424442" y="1069063"/>
                  </a:cubicBezTo>
                  <a:cubicBezTo>
                    <a:pt x="1424442" y="730295"/>
                    <a:pt x="1149918" y="455670"/>
                    <a:pt x="811275" y="455670"/>
                  </a:cubicBezTo>
                  <a:close/>
                  <a:moveTo>
                    <a:pt x="939973" y="0"/>
                  </a:moveTo>
                  <a:lnTo>
                    <a:pt x="1879944" y="0"/>
                  </a:lnTo>
                  <a:lnTo>
                    <a:pt x="1879944" y="940319"/>
                  </a:lnTo>
                  <a:cubicBezTo>
                    <a:pt x="1879944" y="1459643"/>
                    <a:pt x="1459104" y="1880638"/>
                    <a:pt x="939972" y="1880638"/>
                  </a:cubicBezTo>
                  <a:cubicBezTo>
                    <a:pt x="420840" y="1880638"/>
                    <a:pt x="0" y="1459643"/>
                    <a:pt x="0" y="940319"/>
                  </a:cubicBezTo>
                  <a:lnTo>
                    <a:pt x="1" y="940319"/>
                  </a:lnTo>
                  <a:cubicBezTo>
                    <a:pt x="1" y="420995"/>
                    <a:pt x="420841" y="0"/>
                    <a:pt x="939973" y="0"/>
                  </a:cubicBezTo>
                  <a:close/>
                </a:path>
              </a:pathLst>
            </a:custGeom>
            <a:solidFill>
              <a:srgbClr val="6C4C8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1" name="泪滴形 34"/>
            <p:cNvSpPr/>
            <p:nvPr/>
          </p:nvSpPr>
          <p:spPr bwMode="auto">
            <a:xfrm rot="16200000" flipH="1">
              <a:off x="3224518" y="1665678"/>
              <a:ext cx="2050402" cy="2050898"/>
            </a:xfrm>
            <a:custGeom>
              <a:avLst/>
              <a:gdLst>
                <a:gd name="T0" fmla="*/ 205247 w 1947680"/>
                <a:gd name="T1" fmla="*/ 1146936 h 1946960"/>
                <a:gd name="T2" fmla="*/ 800320 w 1947680"/>
                <a:gd name="T3" fmla="*/ 552082 h 1946960"/>
                <a:gd name="T4" fmla="*/ 1395393 w 1947680"/>
                <a:gd name="T5" fmla="*/ 1146936 h 1946960"/>
                <a:gd name="T6" fmla="*/ 800320 w 1947680"/>
                <a:gd name="T7" fmla="*/ 1741790 h 1946960"/>
                <a:gd name="T8" fmla="*/ 205247 w 1947680"/>
                <a:gd name="T9" fmla="*/ 1146936 h 1946960"/>
                <a:gd name="T10" fmla="*/ 0 w 1947680"/>
                <a:gd name="T11" fmla="*/ 973480 h 1946960"/>
                <a:gd name="T12" fmla="*/ 973840 w 1947680"/>
                <a:gd name="T13" fmla="*/ 1946960 h 1946960"/>
                <a:gd name="T14" fmla="*/ 1947680 w 1947680"/>
                <a:gd name="T15" fmla="*/ 973480 h 1946960"/>
                <a:gd name="T16" fmla="*/ 1947680 w 1947680"/>
                <a:gd name="T17" fmla="*/ 0 h 1946960"/>
                <a:gd name="T18" fmla="*/ 973841 w 1947680"/>
                <a:gd name="T19" fmla="*/ 0 h 1946960"/>
                <a:gd name="T20" fmla="*/ 1 w 1947680"/>
                <a:gd name="T21" fmla="*/ 973480 h 1946960"/>
                <a:gd name="T22" fmla="*/ 0 w 1947680"/>
                <a:gd name="T23" fmla="*/ 973480 h 1946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7680" h="1946960">
                  <a:moveTo>
                    <a:pt x="205247" y="1146936"/>
                  </a:moveTo>
                  <a:cubicBezTo>
                    <a:pt x="205247" y="818407"/>
                    <a:pt x="471670" y="552082"/>
                    <a:pt x="800320" y="552082"/>
                  </a:cubicBezTo>
                  <a:cubicBezTo>
                    <a:pt x="1128970" y="552082"/>
                    <a:pt x="1395393" y="818407"/>
                    <a:pt x="1395393" y="1146936"/>
                  </a:cubicBezTo>
                  <a:cubicBezTo>
                    <a:pt x="1395393" y="1475465"/>
                    <a:pt x="1128970" y="1741790"/>
                    <a:pt x="800320" y="1741790"/>
                  </a:cubicBezTo>
                  <a:cubicBezTo>
                    <a:pt x="471670" y="1741790"/>
                    <a:pt x="205247" y="1475465"/>
                    <a:pt x="205247" y="1146936"/>
                  </a:cubicBezTo>
                  <a:close/>
                  <a:moveTo>
                    <a:pt x="0" y="973480"/>
                  </a:moveTo>
                  <a:cubicBezTo>
                    <a:pt x="0" y="1511118"/>
                    <a:pt x="436003" y="1946960"/>
                    <a:pt x="973840" y="1946960"/>
                  </a:cubicBezTo>
                  <a:cubicBezTo>
                    <a:pt x="1511677" y="1946960"/>
                    <a:pt x="1947680" y="1511118"/>
                    <a:pt x="1947680" y="973480"/>
                  </a:cubicBezTo>
                  <a:lnTo>
                    <a:pt x="1947680" y="0"/>
                  </a:lnTo>
                  <a:lnTo>
                    <a:pt x="973841" y="0"/>
                  </a:lnTo>
                  <a:cubicBezTo>
                    <a:pt x="436004" y="0"/>
                    <a:pt x="1" y="435842"/>
                    <a:pt x="1" y="973480"/>
                  </a:cubicBezTo>
                  <a:lnTo>
                    <a:pt x="0" y="973480"/>
                  </a:lnTo>
                  <a:close/>
                </a:path>
              </a:pathLst>
            </a:custGeom>
            <a:solidFill>
              <a:schemeClr val="tx1">
                <a:lumMod val="50000"/>
                <a:lumOff val="5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9" name="泪滴形 36"/>
            <p:cNvSpPr/>
            <p:nvPr/>
          </p:nvSpPr>
          <p:spPr bwMode="auto">
            <a:xfrm flipH="1">
              <a:off x="3224270" y="3761837"/>
              <a:ext cx="2260792" cy="2260245"/>
            </a:xfrm>
            <a:custGeom>
              <a:avLst/>
              <a:gdLst>
                <a:gd name="T0" fmla="*/ 875297 w 2146050"/>
                <a:gd name="T1" fmla="*/ 621837 h 2146844"/>
                <a:gd name="T2" fmla="*/ 1524443 w 2146050"/>
                <a:gd name="T3" fmla="*/ 1271223 h 2146844"/>
                <a:gd name="T4" fmla="*/ 875297 w 2146050"/>
                <a:gd name="T5" fmla="*/ 1920609 h 2146844"/>
                <a:gd name="T6" fmla="*/ 226151 w 2146050"/>
                <a:gd name="T7" fmla="*/ 1271223 h 2146844"/>
                <a:gd name="T8" fmla="*/ 875297 w 2146050"/>
                <a:gd name="T9" fmla="*/ 621837 h 2146844"/>
                <a:gd name="T10" fmla="*/ 2146050 w 2146050"/>
                <a:gd name="T11" fmla="*/ 0 h 2146844"/>
                <a:gd name="T12" fmla="*/ 1073025 w 2146050"/>
                <a:gd name="T13" fmla="*/ 0 h 2146844"/>
                <a:gd name="T14" fmla="*/ 0 w 2146050"/>
                <a:gd name="T15" fmla="*/ 1073422 h 2146844"/>
                <a:gd name="T16" fmla="*/ 1073025 w 2146050"/>
                <a:gd name="T17" fmla="*/ 2146844 h 2146844"/>
                <a:gd name="T18" fmla="*/ 2146050 w 2146050"/>
                <a:gd name="T19" fmla="*/ 1073422 h 2146844"/>
                <a:gd name="T20" fmla="*/ 2146050 w 2146050"/>
                <a:gd name="T21" fmla="*/ 0 h 2146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6050" h="2146844">
                  <a:moveTo>
                    <a:pt x="875297" y="621837"/>
                  </a:moveTo>
                  <a:cubicBezTo>
                    <a:pt x="1233810" y="621837"/>
                    <a:pt x="1524443" y="912577"/>
                    <a:pt x="1524443" y="1271223"/>
                  </a:cubicBezTo>
                  <a:cubicBezTo>
                    <a:pt x="1524443" y="1629869"/>
                    <a:pt x="1233810" y="1920609"/>
                    <a:pt x="875297" y="1920609"/>
                  </a:cubicBezTo>
                  <a:cubicBezTo>
                    <a:pt x="516784" y="1920609"/>
                    <a:pt x="226151" y="1629869"/>
                    <a:pt x="226151" y="1271223"/>
                  </a:cubicBezTo>
                  <a:cubicBezTo>
                    <a:pt x="226151" y="912577"/>
                    <a:pt x="516784" y="621837"/>
                    <a:pt x="875297" y="621837"/>
                  </a:cubicBezTo>
                  <a:close/>
                  <a:moveTo>
                    <a:pt x="2146050" y="0"/>
                  </a:moveTo>
                  <a:lnTo>
                    <a:pt x="1073025" y="0"/>
                  </a:lnTo>
                  <a:cubicBezTo>
                    <a:pt x="480410" y="0"/>
                    <a:pt x="0" y="480587"/>
                    <a:pt x="0" y="1073422"/>
                  </a:cubicBezTo>
                  <a:cubicBezTo>
                    <a:pt x="0" y="1666257"/>
                    <a:pt x="480410" y="2146844"/>
                    <a:pt x="1073025" y="2146844"/>
                  </a:cubicBezTo>
                  <a:cubicBezTo>
                    <a:pt x="1665640" y="2146844"/>
                    <a:pt x="2146050" y="1666257"/>
                    <a:pt x="2146050" y="1073422"/>
                  </a:cubicBezTo>
                  <a:lnTo>
                    <a:pt x="2146050" y="0"/>
                  </a:lnTo>
                  <a:close/>
                </a:path>
              </a:pathLst>
            </a:custGeom>
            <a:solidFill>
              <a:srgbClr val="9476B6"/>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9476B6"/>
                </a:solidFill>
                <a:effectLst/>
                <a:uLnTx/>
                <a:uFillTx/>
                <a:latin typeface="+mn-lt"/>
                <a:ea typeface="+mn-ea"/>
                <a:cs typeface="+mn-ea"/>
                <a:sym typeface="+mn-lt"/>
              </a:endParaRPr>
            </a:p>
          </p:txBody>
        </p:sp>
      </p:grpSp>
      <p:grpSp>
        <p:nvGrpSpPr>
          <p:cNvPr id="21508" name="组合 16"/>
          <p:cNvGrpSpPr/>
          <p:nvPr/>
        </p:nvGrpSpPr>
        <p:grpSpPr>
          <a:xfrm>
            <a:off x="3625339" y="2897187"/>
            <a:ext cx="657225" cy="663575"/>
            <a:chOff x="4929188" y="1303338"/>
            <a:chExt cx="501650" cy="506412"/>
          </a:xfrm>
        </p:grpSpPr>
        <p:sp>
          <p:nvSpPr>
            <p:cNvPr id="18" name="Freeform 6"/>
            <p:cNvSpPr/>
            <p:nvPr/>
          </p:nvSpPr>
          <p:spPr bwMode="auto">
            <a:xfrm>
              <a:off x="4929188" y="1303338"/>
              <a:ext cx="501650" cy="506412"/>
            </a:xfrm>
            <a:custGeom>
              <a:avLst/>
              <a:gdLst>
                <a:gd name="T0" fmla="*/ 134 w 134"/>
                <a:gd name="T1" fmla="*/ 36 h 135"/>
                <a:gd name="T2" fmla="*/ 134 w 134"/>
                <a:gd name="T3" fmla="*/ 98 h 135"/>
                <a:gd name="T4" fmla="*/ 98 w 134"/>
                <a:gd name="T5" fmla="*/ 135 h 135"/>
                <a:gd name="T6" fmla="*/ 36 w 134"/>
                <a:gd name="T7" fmla="*/ 135 h 135"/>
                <a:gd name="T8" fmla="*/ 0 w 134"/>
                <a:gd name="T9" fmla="*/ 98 h 135"/>
                <a:gd name="T10" fmla="*/ 0 w 134"/>
                <a:gd name="T11" fmla="*/ 36 h 135"/>
                <a:gd name="T12" fmla="*/ 36 w 134"/>
                <a:gd name="T13" fmla="*/ 0 h 135"/>
                <a:gd name="T14" fmla="*/ 134 w 134"/>
                <a:gd name="T15" fmla="*/ 0 h 135"/>
                <a:gd name="T16" fmla="*/ 134 w 134"/>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6"/>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4" y="0"/>
                    <a:pt x="134" y="0"/>
                    <a:pt x="134" y="0"/>
                  </a:cubicBezTo>
                  <a:lnTo>
                    <a:pt x="134" y="36"/>
                  </a:lnTo>
                  <a:close/>
                </a:path>
              </a:pathLst>
            </a:custGeom>
            <a:solidFill>
              <a:srgbClr val="65A5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9" name="Freeform 7"/>
            <p:cNvSpPr/>
            <p:nvPr/>
          </p:nvSpPr>
          <p:spPr bwMode="auto">
            <a:xfrm>
              <a:off x="4995833" y="1359068"/>
              <a:ext cx="371996" cy="205957"/>
            </a:xfrm>
            <a:custGeom>
              <a:avLst/>
              <a:gdLst>
                <a:gd name="T0" fmla="*/ 97 w 99"/>
                <a:gd name="T1" fmla="*/ 44 h 55"/>
                <a:gd name="T2" fmla="*/ 50 w 99"/>
                <a:gd name="T3" fmla="*/ 0 h 55"/>
                <a:gd name="T4" fmla="*/ 3 w 99"/>
                <a:gd name="T5" fmla="*/ 44 h 55"/>
                <a:gd name="T6" fmla="*/ 3 w 99"/>
                <a:gd name="T7" fmla="*/ 53 h 55"/>
                <a:gd name="T8" fmla="*/ 8 w 99"/>
                <a:gd name="T9" fmla="*/ 55 h 55"/>
                <a:gd name="T10" fmla="*/ 12 w 99"/>
                <a:gd name="T11" fmla="*/ 53 h 55"/>
                <a:gd name="T12" fmla="*/ 50 w 99"/>
                <a:gd name="T13" fmla="*/ 18 h 55"/>
                <a:gd name="T14" fmla="*/ 87 w 99"/>
                <a:gd name="T15" fmla="*/ 53 h 55"/>
                <a:gd name="T16" fmla="*/ 92 w 99"/>
                <a:gd name="T17" fmla="*/ 55 h 55"/>
                <a:gd name="T18" fmla="*/ 97 w 99"/>
                <a:gd name="T19" fmla="*/ 53 h 55"/>
                <a:gd name="T20" fmla="*/ 97 w 99"/>
                <a:gd name="T21"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5">
                  <a:moveTo>
                    <a:pt x="97" y="44"/>
                  </a:moveTo>
                  <a:cubicBezTo>
                    <a:pt x="50" y="0"/>
                    <a:pt x="50" y="0"/>
                    <a:pt x="50" y="0"/>
                  </a:cubicBezTo>
                  <a:cubicBezTo>
                    <a:pt x="3" y="44"/>
                    <a:pt x="3" y="44"/>
                    <a:pt x="3" y="44"/>
                  </a:cubicBezTo>
                  <a:cubicBezTo>
                    <a:pt x="1" y="46"/>
                    <a:pt x="0" y="50"/>
                    <a:pt x="3" y="53"/>
                  </a:cubicBezTo>
                  <a:cubicBezTo>
                    <a:pt x="4" y="54"/>
                    <a:pt x="6" y="55"/>
                    <a:pt x="8" y="55"/>
                  </a:cubicBezTo>
                  <a:cubicBezTo>
                    <a:pt x="9" y="55"/>
                    <a:pt x="11" y="54"/>
                    <a:pt x="12" y="53"/>
                  </a:cubicBezTo>
                  <a:cubicBezTo>
                    <a:pt x="50" y="18"/>
                    <a:pt x="50" y="18"/>
                    <a:pt x="50" y="18"/>
                  </a:cubicBezTo>
                  <a:cubicBezTo>
                    <a:pt x="87" y="53"/>
                    <a:pt x="87" y="53"/>
                    <a:pt x="87" y="53"/>
                  </a:cubicBezTo>
                  <a:cubicBezTo>
                    <a:pt x="89" y="54"/>
                    <a:pt x="90" y="55"/>
                    <a:pt x="92" y="55"/>
                  </a:cubicBezTo>
                  <a:cubicBezTo>
                    <a:pt x="94" y="55"/>
                    <a:pt x="96" y="54"/>
                    <a:pt x="97" y="53"/>
                  </a:cubicBezTo>
                  <a:cubicBezTo>
                    <a:pt x="99" y="50"/>
                    <a:pt x="99" y="46"/>
                    <a:pt x="97" y="44"/>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0" name="Freeform 8"/>
            <p:cNvSpPr/>
            <p:nvPr/>
          </p:nvSpPr>
          <p:spPr bwMode="auto">
            <a:xfrm>
              <a:off x="5056418" y="1446296"/>
              <a:ext cx="255671" cy="265321"/>
            </a:xfrm>
            <a:custGeom>
              <a:avLst/>
              <a:gdLst>
                <a:gd name="T0" fmla="*/ 0 w 68"/>
                <a:gd name="T1" fmla="*/ 32 h 71"/>
                <a:gd name="T2" fmla="*/ 0 w 68"/>
                <a:gd name="T3" fmla="*/ 68 h 71"/>
                <a:gd name="T4" fmla="*/ 5 w 68"/>
                <a:gd name="T5" fmla="*/ 71 h 71"/>
                <a:gd name="T6" fmla="*/ 22 w 68"/>
                <a:gd name="T7" fmla="*/ 71 h 71"/>
                <a:gd name="T8" fmla="*/ 22 w 68"/>
                <a:gd name="T9" fmla="*/ 44 h 71"/>
                <a:gd name="T10" fmla="*/ 46 w 68"/>
                <a:gd name="T11" fmla="*/ 44 h 71"/>
                <a:gd name="T12" fmla="*/ 46 w 68"/>
                <a:gd name="T13" fmla="*/ 71 h 71"/>
                <a:gd name="T14" fmla="*/ 63 w 68"/>
                <a:gd name="T15" fmla="*/ 71 h 71"/>
                <a:gd name="T16" fmla="*/ 68 w 68"/>
                <a:gd name="T17" fmla="*/ 68 h 71"/>
                <a:gd name="T18" fmla="*/ 68 w 68"/>
                <a:gd name="T19" fmla="*/ 32 h 71"/>
                <a:gd name="T20" fmla="*/ 34 w 68"/>
                <a:gd name="T21" fmla="*/ 0 h 71"/>
                <a:gd name="T22" fmla="*/ 0 w 68"/>
                <a:gd name="T23"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71">
                  <a:moveTo>
                    <a:pt x="0" y="32"/>
                  </a:moveTo>
                  <a:cubicBezTo>
                    <a:pt x="0" y="68"/>
                    <a:pt x="0" y="68"/>
                    <a:pt x="0" y="68"/>
                  </a:cubicBezTo>
                  <a:cubicBezTo>
                    <a:pt x="0" y="70"/>
                    <a:pt x="2" y="71"/>
                    <a:pt x="5" y="71"/>
                  </a:cubicBezTo>
                  <a:cubicBezTo>
                    <a:pt x="22" y="71"/>
                    <a:pt x="22" y="71"/>
                    <a:pt x="22" y="71"/>
                  </a:cubicBezTo>
                  <a:cubicBezTo>
                    <a:pt x="22" y="44"/>
                    <a:pt x="22" y="44"/>
                    <a:pt x="22" y="44"/>
                  </a:cubicBezTo>
                  <a:cubicBezTo>
                    <a:pt x="46" y="44"/>
                    <a:pt x="46" y="44"/>
                    <a:pt x="46" y="44"/>
                  </a:cubicBezTo>
                  <a:cubicBezTo>
                    <a:pt x="46" y="71"/>
                    <a:pt x="46" y="71"/>
                    <a:pt x="46" y="71"/>
                  </a:cubicBezTo>
                  <a:cubicBezTo>
                    <a:pt x="63" y="71"/>
                    <a:pt x="63" y="71"/>
                    <a:pt x="63" y="71"/>
                  </a:cubicBezTo>
                  <a:cubicBezTo>
                    <a:pt x="66" y="71"/>
                    <a:pt x="68" y="70"/>
                    <a:pt x="68" y="68"/>
                  </a:cubicBezTo>
                  <a:cubicBezTo>
                    <a:pt x="68" y="32"/>
                    <a:pt x="68" y="32"/>
                    <a:pt x="68" y="32"/>
                  </a:cubicBezTo>
                  <a:cubicBezTo>
                    <a:pt x="34" y="0"/>
                    <a:pt x="34" y="0"/>
                    <a:pt x="34" y="0"/>
                  </a:cubicBezTo>
                  <a:lnTo>
                    <a:pt x="0" y="32"/>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21509" name="组合 20"/>
          <p:cNvGrpSpPr/>
          <p:nvPr/>
        </p:nvGrpSpPr>
        <p:grpSpPr>
          <a:xfrm>
            <a:off x="3618989" y="3883024"/>
            <a:ext cx="663575" cy="661988"/>
            <a:chOff x="1339850" y="2163763"/>
            <a:chExt cx="506413" cy="506412"/>
          </a:xfrm>
        </p:grpSpPr>
        <p:sp>
          <p:nvSpPr>
            <p:cNvPr id="22" name="Freeform 13"/>
            <p:cNvSpPr/>
            <p:nvPr/>
          </p:nvSpPr>
          <p:spPr bwMode="auto">
            <a:xfrm>
              <a:off x="1339850" y="2163763"/>
              <a:ext cx="506413" cy="506412"/>
            </a:xfrm>
            <a:custGeom>
              <a:avLst/>
              <a:gdLst>
                <a:gd name="T0" fmla="*/ 135 w 135"/>
                <a:gd name="T1" fmla="*/ 36 h 135"/>
                <a:gd name="T2" fmla="*/ 135 w 135"/>
                <a:gd name="T3" fmla="*/ 98 h 135"/>
                <a:gd name="T4" fmla="*/ 98 w 135"/>
                <a:gd name="T5" fmla="*/ 135 h 135"/>
                <a:gd name="T6" fmla="*/ 37 w 135"/>
                <a:gd name="T7" fmla="*/ 135 h 135"/>
                <a:gd name="T8" fmla="*/ 0 w 135"/>
                <a:gd name="T9" fmla="*/ 98 h 135"/>
                <a:gd name="T10" fmla="*/ 0 w 135"/>
                <a:gd name="T11" fmla="*/ 36 h 135"/>
                <a:gd name="T12" fmla="*/ 37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7" y="135"/>
                    <a:pt x="37" y="135"/>
                    <a:pt x="37" y="135"/>
                  </a:cubicBezTo>
                  <a:cubicBezTo>
                    <a:pt x="16" y="135"/>
                    <a:pt x="0" y="118"/>
                    <a:pt x="0" y="98"/>
                  </a:cubicBezTo>
                  <a:cubicBezTo>
                    <a:pt x="0" y="36"/>
                    <a:pt x="0" y="36"/>
                    <a:pt x="0" y="36"/>
                  </a:cubicBezTo>
                  <a:cubicBezTo>
                    <a:pt x="0" y="16"/>
                    <a:pt x="16" y="0"/>
                    <a:pt x="37" y="0"/>
                  </a:cubicBezTo>
                  <a:cubicBezTo>
                    <a:pt x="135" y="0"/>
                    <a:pt x="135" y="0"/>
                    <a:pt x="135" y="0"/>
                  </a:cubicBezTo>
                  <a:lnTo>
                    <a:pt x="135" y="36"/>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3" name="Freeform 14"/>
            <p:cNvSpPr/>
            <p:nvPr/>
          </p:nvSpPr>
          <p:spPr bwMode="auto">
            <a:xfrm>
              <a:off x="1499770" y="2276704"/>
              <a:ext cx="176881" cy="104440"/>
            </a:xfrm>
            <a:custGeom>
              <a:avLst/>
              <a:gdLst>
                <a:gd name="T0" fmla="*/ 111 w 111"/>
                <a:gd name="T1" fmla="*/ 0 h 66"/>
                <a:gd name="T2" fmla="*/ 55 w 111"/>
                <a:gd name="T3" fmla="*/ 0 h 66"/>
                <a:gd name="T4" fmla="*/ 55 w 111"/>
                <a:gd name="T5" fmla="*/ 54 h 66"/>
                <a:gd name="T6" fmla="*/ 14 w 111"/>
                <a:gd name="T7" fmla="*/ 54 h 66"/>
                <a:gd name="T8" fmla="*/ 14 w 111"/>
                <a:gd name="T9" fmla="*/ 0 h 66"/>
                <a:gd name="T10" fmla="*/ 0 w 111"/>
                <a:gd name="T11" fmla="*/ 0 h 66"/>
                <a:gd name="T12" fmla="*/ 0 w 111"/>
                <a:gd name="T13" fmla="*/ 66 h 66"/>
                <a:gd name="T14" fmla="*/ 111 w 111"/>
                <a:gd name="T15" fmla="*/ 66 h 66"/>
                <a:gd name="T16" fmla="*/ 111 w 111"/>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66">
                  <a:moveTo>
                    <a:pt x="111" y="0"/>
                  </a:moveTo>
                  <a:lnTo>
                    <a:pt x="55" y="0"/>
                  </a:lnTo>
                  <a:lnTo>
                    <a:pt x="55" y="54"/>
                  </a:lnTo>
                  <a:lnTo>
                    <a:pt x="14" y="54"/>
                  </a:lnTo>
                  <a:lnTo>
                    <a:pt x="14" y="0"/>
                  </a:lnTo>
                  <a:lnTo>
                    <a:pt x="0" y="0"/>
                  </a:lnTo>
                  <a:lnTo>
                    <a:pt x="0" y="66"/>
                  </a:lnTo>
                  <a:lnTo>
                    <a:pt x="111" y="66"/>
                  </a:lnTo>
                  <a:lnTo>
                    <a:pt x="111" y="0"/>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4" name="Freeform 15"/>
            <p:cNvSpPr>
              <a:spLocks noEditPoints="1"/>
            </p:cNvSpPr>
            <p:nvPr/>
          </p:nvSpPr>
          <p:spPr bwMode="auto">
            <a:xfrm>
              <a:off x="1447675" y="2276704"/>
              <a:ext cx="289552" cy="278101"/>
            </a:xfrm>
            <a:custGeom>
              <a:avLst/>
              <a:gdLst>
                <a:gd name="T0" fmla="*/ 72 w 77"/>
                <a:gd name="T1" fmla="*/ 0 h 74"/>
                <a:gd name="T2" fmla="*/ 64 w 77"/>
                <a:gd name="T3" fmla="*/ 0 h 74"/>
                <a:gd name="T4" fmla="*/ 64 w 77"/>
                <a:gd name="T5" fmla="*/ 31 h 74"/>
                <a:gd name="T6" fmla="*/ 10 w 77"/>
                <a:gd name="T7" fmla="*/ 31 h 74"/>
                <a:gd name="T8" fmla="*/ 10 w 77"/>
                <a:gd name="T9" fmla="*/ 0 h 74"/>
                <a:gd name="T10" fmla="*/ 5 w 77"/>
                <a:gd name="T11" fmla="*/ 0 h 74"/>
                <a:gd name="T12" fmla="*/ 0 w 77"/>
                <a:gd name="T13" fmla="*/ 6 h 74"/>
                <a:gd name="T14" fmla="*/ 0 w 77"/>
                <a:gd name="T15" fmla="*/ 68 h 74"/>
                <a:gd name="T16" fmla="*/ 5 w 77"/>
                <a:gd name="T17" fmla="*/ 74 h 74"/>
                <a:gd name="T18" fmla="*/ 72 w 77"/>
                <a:gd name="T19" fmla="*/ 74 h 74"/>
                <a:gd name="T20" fmla="*/ 77 w 77"/>
                <a:gd name="T21" fmla="*/ 68 h 74"/>
                <a:gd name="T22" fmla="*/ 77 w 77"/>
                <a:gd name="T23" fmla="*/ 6 h 74"/>
                <a:gd name="T24" fmla="*/ 72 w 77"/>
                <a:gd name="T25" fmla="*/ 0 h 74"/>
                <a:gd name="T26" fmla="*/ 38 w 77"/>
                <a:gd name="T27" fmla="*/ 65 h 74"/>
                <a:gd name="T28" fmla="*/ 22 w 77"/>
                <a:gd name="T29" fmla="*/ 49 h 74"/>
                <a:gd name="T30" fmla="*/ 38 w 77"/>
                <a:gd name="T31" fmla="*/ 33 h 74"/>
                <a:gd name="T32" fmla="*/ 54 w 77"/>
                <a:gd name="T33" fmla="*/ 49 h 74"/>
                <a:gd name="T34" fmla="*/ 38 w 77"/>
                <a:gd name="T35"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4">
                  <a:moveTo>
                    <a:pt x="72" y="0"/>
                  </a:moveTo>
                  <a:cubicBezTo>
                    <a:pt x="64" y="0"/>
                    <a:pt x="64" y="0"/>
                    <a:pt x="64" y="0"/>
                  </a:cubicBezTo>
                  <a:cubicBezTo>
                    <a:pt x="64" y="31"/>
                    <a:pt x="64" y="31"/>
                    <a:pt x="64" y="31"/>
                  </a:cubicBezTo>
                  <a:cubicBezTo>
                    <a:pt x="10" y="31"/>
                    <a:pt x="10" y="31"/>
                    <a:pt x="10" y="31"/>
                  </a:cubicBezTo>
                  <a:cubicBezTo>
                    <a:pt x="10" y="0"/>
                    <a:pt x="10" y="0"/>
                    <a:pt x="10" y="0"/>
                  </a:cubicBezTo>
                  <a:cubicBezTo>
                    <a:pt x="5" y="0"/>
                    <a:pt x="5" y="0"/>
                    <a:pt x="5" y="0"/>
                  </a:cubicBezTo>
                  <a:cubicBezTo>
                    <a:pt x="2" y="0"/>
                    <a:pt x="0" y="3"/>
                    <a:pt x="0" y="6"/>
                  </a:cubicBezTo>
                  <a:cubicBezTo>
                    <a:pt x="0" y="68"/>
                    <a:pt x="0" y="68"/>
                    <a:pt x="0" y="68"/>
                  </a:cubicBezTo>
                  <a:cubicBezTo>
                    <a:pt x="0" y="72"/>
                    <a:pt x="2" y="74"/>
                    <a:pt x="5" y="74"/>
                  </a:cubicBezTo>
                  <a:cubicBezTo>
                    <a:pt x="72" y="74"/>
                    <a:pt x="72" y="74"/>
                    <a:pt x="72" y="74"/>
                  </a:cubicBezTo>
                  <a:cubicBezTo>
                    <a:pt x="75" y="74"/>
                    <a:pt x="77" y="72"/>
                    <a:pt x="77" y="68"/>
                  </a:cubicBezTo>
                  <a:cubicBezTo>
                    <a:pt x="77" y="6"/>
                    <a:pt x="77" y="6"/>
                    <a:pt x="77" y="6"/>
                  </a:cubicBezTo>
                  <a:cubicBezTo>
                    <a:pt x="77" y="3"/>
                    <a:pt x="75" y="0"/>
                    <a:pt x="72" y="0"/>
                  </a:cubicBezTo>
                  <a:close/>
                  <a:moveTo>
                    <a:pt x="38" y="65"/>
                  </a:moveTo>
                  <a:cubicBezTo>
                    <a:pt x="29" y="65"/>
                    <a:pt x="22" y="58"/>
                    <a:pt x="22" y="49"/>
                  </a:cubicBezTo>
                  <a:cubicBezTo>
                    <a:pt x="22" y="40"/>
                    <a:pt x="29" y="33"/>
                    <a:pt x="38" y="33"/>
                  </a:cubicBezTo>
                  <a:cubicBezTo>
                    <a:pt x="46" y="33"/>
                    <a:pt x="54" y="40"/>
                    <a:pt x="54" y="49"/>
                  </a:cubicBezTo>
                  <a:cubicBezTo>
                    <a:pt x="54" y="58"/>
                    <a:pt x="46" y="65"/>
                    <a:pt x="38" y="65"/>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5" name="Oval 16"/>
            <p:cNvSpPr>
              <a:spLocks noChangeArrowheads="1"/>
            </p:cNvSpPr>
            <p:nvPr/>
          </p:nvSpPr>
          <p:spPr bwMode="auto">
            <a:xfrm>
              <a:off x="1549442" y="2418790"/>
              <a:ext cx="82383" cy="82580"/>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sp>
        <p:nvSpPr>
          <p:cNvPr id="20488" name="Text Box 11"/>
          <p:cNvSpPr txBox="1">
            <a:spLocks noChangeArrowheads="1"/>
          </p:cNvSpPr>
          <p:nvPr/>
        </p:nvSpPr>
        <p:spPr bwMode="auto">
          <a:xfrm>
            <a:off x="4471477" y="2967037"/>
            <a:ext cx="4117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mn-lt"/>
                <a:ea typeface="+mn-ea"/>
                <a:cs typeface="+mn-ea"/>
                <a:sym typeface="+mn-lt"/>
              </a:rPr>
              <a:t>案例</a:t>
            </a:r>
            <a:r>
              <a:rPr kumimoji="0" lang="en-US" altLang="zh-CN" sz="2400" b="0" i="0" u="none" strike="noStrike" kern="1200" cap="none" spc="0" normalizeH="0" baseline="0" noProof="0">
                <a:ln>
                  <a:noFill/>
                </a:ln>
                <a:solidFill>
                  <a:srgbClr val="000000"/>
                </a:solidFill>
                <a:effectLst/>
                <a:uLnTx/>
                <a:uFillTx/>
                <a:latin typeface="+mn-lt"/>
                <a:ea typeface="+mn-ea"/>
                <a:cs typeface="+mn-ea"/>
                <a:sym typeface="+mn-lt"/>
              </a:rPr>
              <a:t>2.1 </a:t>
            </a:r>
            <a:r>
              <a:rPr kumimoji="0" lang="zh-CN" altLang="en-US" sz="2400" b="0" i="0" u="none" strike="noStrike" kern="1200" cap="none" spc="0" normalizeH="0" baseline="0" noProof="0">
                <a:ln>
                  <a:noFill/>
                </a:ln>
                <a:solidFill>
                  <a:srgbClr val="000000"/>
                </a:solidFill>
                <a:effectLst/>
                <a:uLnTx/>
                <a:uFillTx/>
                <a:latin typeface="+mn-lt"/>
                <a:ea typeface="+mn-ea"/>
                <a:cs typeface="+mn-ea"/>
                <a:sym typeface="+mn-lt"/>
              </a:rPr>
              <a:t>：一元多项式的运算</a:t>
            </a:r>
          </a:p>
        </p:txBody>
      </p:sp>
      <p:sp>
        <p:nvSpPr>
          <p:cNvPr id="20489" name="Text Box 11"/>
          <p:cNvSpPr txBox="1">
            <a:spLocks noChangeArrowheads="1"/>
          </p:cNvSpPr>
          <p:nvPr/>
        </p:nvSpPr>
        <p:spPr bwMode="auto">
          <a:xfrm>
            <a:off x="4471477" y="3952874"/>
            <a:ext cx="4117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mn-lt"/>
                <a:ea typeface="+mn-ea"/>
                <a:cs typeface="+mn-ea"/>
                <a:sym typeface="+mn-lt"/>
              </a:rPr>
              <a:t>案例</a:t>
            </a:r>
            <a:r>
              <a:rPr kumimoji="0" lang="en-US" altLang="zh-CN" sz="2400" b="0" i="0" u="none" strike="noStrike" kern="1200" cap="none" spc="0" normalizeH="0" baseline="0" noProof="0">
                <a:ln>
                  <a:noFill/>
                </a:ln>
                <a:solidFill>
                  <a:srgbClr val="000000"/>
                </a:solidFill>
                <a:effectLst/>
                <a:uLnTx/>
                <a:uFillTx/>
                <a:latin typeface="+mn-lt"/>
                <a:ea typeface="+mn-ea"/>
                <a:cs typeface="+mn-ea"/>
                <a:sym typeface="+mn-lt"/>
              </a:rPr>
              <a:t>2.2</a:t>
            </a:r>
            <a:r>
              <a:rPr kumimoji="0" lang="zh-CN" altLang="en-US" sz="2400" b="0" i="0" u="none" strike="noStrike" kern="1200" cap="none" spc="0" normalizeH="0" baseline="0" noProof="0">
                <a:ln>
                  <a:noFill/>
                </a:ln>
                <a:solidFill>
                  <a:srgbClr val="000000"/>
                </a:solidFill>
                <a:effectLst/>
                <a:uLnTx/>
                <a:uFillTx/>
                <a:latin typeface="+mn-lt"/>
                <a:ea typeface="+mn-ea"/>
                <a:cs typeface="+mn-ea"/>
                <a:sym typeface="+mn-lt"/>
              </a:rPr>
              <a:t>：稀疏多项式的运算</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257175" y="1995488"/>
            <a:ext cx="8491538" cy="8826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16" name="表格 15"/>
          <p:cNvGraphicFramePr/>
          <p:nvPr/>
        </p:nvGraphicFramePr>
        <p:xfrm>
          <a:off x="257175" y="4319588"/>
          <a:ext cx="5143499" cy="1223962"/>
        </p:xfrm>
        <a:graphic>
          <a:graphicData uri="http://schemas.openxmlformats.org/drawingml/2006/table">
            <a:tbl>
              <a:tblPr firstRow="1">
                <a:tableStyleId>{5C22544A-7EE6-4342-B048-85BDC9FD1C3A}</a:tableStyleId>
              </a:tblPr>
              <a:tblGrid>
                <a:gridCol w="154310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720077">
                  <a:extLst>
                    <a:ext uri="{9D8B030D-6E8A-4147-A177-3AD203B41FA5}">
                      <a16:colId xmlns:a16="http://schemas.microsoft.com/office/drawing/2014/main" val="20005"/>
                    </a:ext>
                  </a:extLst>
                </a:gridCol>
              </a:tblGrid>
              <a:tr h="614879">
                <a:tc>
                  <a:txBody>
                    <a:bodyPr/>
                    <a:lstStyle/>
                    <a:p>
                      <a:pPr marL="0" lvl="0" indent="0" algn="ctr" defTabSz="914400" rtl="0" eaLnBrk="1" fontAlgn="base" latinLnBrk="0" hangingPunct="1">
                        <a:lnSpc>
                          <a:spcPct val="100000"/>
                        </a:lnSpc>
                        <a:spcBef>
                          <a:spcPct val="20000"/>
                        </a:spcBef>
                        <a:spcAft>
                          <a:spcPct val="0"/>
                        </a:spcAft>
                        <a:buNone/>
                      </a:pPr>
                      <a:r>
                        <a:rPr lang="zh-CN" sz="1800" b="0" i="0" u="none" kern="1200" baseline="0" dirty="0">
                          <a:solidFill>
                            <a:schemeClr val="bg1"/>
                          </a:solidFill>
                          <a:latin typeface="+mn-lt"/>
                          <a:ea typeface="+mn-ea"/>
                          <a:cs typeface="+mn-ea"/>
                          <a:sym typeface="+mn-lt"/>
                        </a:rPr>
                        <a:t>指数（下标</a:t>
                      </a:r>
                      <a:r>
                        <a:rPr lang="en-US" sz="1800" b="0" i="0" u="none" kern="1200" baseline="0" dirty="0" err="1">
                          <a:solidFill>
                            <a:schemeClr val="bg1"/>
                          </a:solidFill>
                          <a:latin typeface="+mn-lt"/>
                          <a:ea typeface="+mn-ea"/>
                          <a:cs typeface="+mn-ea"/>
                          <a:sym typeface="+mn-lt"/>
                        </a:rPr>
                        <a:t>i</a:t>
                      </a:r>
                      <a:r>
                        <a:rPr lang="zh-CN" sz="1800" b="0" i="0" u="none" kern="1200" baseline="0" dirty="0">
                          <a:solidFill>
                            <a:schemeClr val="bg1"/>
                          </a:solidFill>
                          <a:latin typeface="+mn-lt"/>
                          <a:ea typeface="+mn-ea"/>
                          <a:cs typeface="+mn-ea"/>
                          <a:sym typeface="+mn-lt"/>
                        </a:rPr>
                        <a:t>）</a:t>
                      </a:r>
                    </a:p>
                  </a:txBody>
                  <a:tcPr marL="68580" marR="68580" marT="0" marB="0" anchor="ctr">
                    <a:solidFill>
                      <a:srgbClr val="6C4C8F"/>
                    </a:solidFill>
                  </a:tcP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0</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solidFill>
                      <a:srgbClr val="EBE9EE"/>
                    </a:solidFill>
                  </a:tcP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1</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solidFill>
                      <a:srgbClr val="EBE9EE"/>
                    </a:solidFill>
                  </a:tcP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2</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solidFill>
                      <a:srgbClr val="EBE9EE"/>
                    </a:solidFill>
                  </a:tcP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3</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solidFill>
                      <a:srgbClr val="EBE9EE"/>
                    </a:solidFill>
                  </a:tcPr>
                </a:tc>
                <a:tc>
                  <a:txBody>
                    <a:bodyPr/>
                    <a:lstStyle/>
                    <a:p>
                      <a:pPr algn="ctr">
                        <a:spcBef>
                          <a:spcPts val="120"/>
                        </a:spcBef>
                        <a:spcAft>
                          <a:spcPts val="120"/>
                        </a:spcAft>
                      </a:pPr>
                      <a:r>
                        <a:rPr lang="en-US" altLang="zh-CN" sz="2400" b="0" kern="1000" dirty="0">
                          <a:solidFill>
                            <a:schemeClr val="tx1">
                              <a:lumMod val="95000"/>
                              <a:lumOff val="5000"/>
                            </a:schemeClr>
                          </a:solidFill>
                          <a:latin typeface="+mn-lt"/>
                          <a:ea typeface="+mn-ea"/>
                          <a:cs typeface="+mn-ea"/>
                          <a:sym typeface="+mn-lt"/>
                        </a:rPr>
                        <a:t>4</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solidFill>
                      <a:srgbClr val="EBE9EE"/>
                    </a:solidFill>
                  </a:tcPr>
                </a:tc>
                <a:extLst>
                  <a:ext uri="{0D108BD9-81ED-4DB2-BD59-A6C34878D82A}">
                    <a16:rowId xmlns:a16="http://schemas.microsoft.com/office/drawing/2014/main" val="10000"/>
                  </a:ext>
                </a:extLst>
              </a:tr>
              <a:tr h="609083">
                <a:tc>
                  <a:txBody>
                    <a:bodyPr/>
                    <a:lstStyle/>
                    <a:p>
                      <a:pPr marL="0" lvl="0" indent="0" algn="ctr" defTabSz="914400" rtl="0" eaLnBrk="1" fontAlgn="base" latinLnBrk="0" hangingPunct="1">
                        <a:lnSpc>
                          <a:spcPct val="100000"/>
                        </a:lnSpc>
                        <a:spcBef>
                          <a:spcPct val="20000"/>
                        </a:spcBef>
                        <a:spcAft>
                          <a:spcPct val="0"/>
                        </a:spcAft>
                        <a:buNone/>
                      </a:pPr>
                      <a:r>
                        <a:rPr lang="zh-CN" sz="1800" b="0" i="0" u="none" kern="1200" baseline="0" dirty="0">
                          <a:solidFill>
                            <a:schemeClr val="bg1"/>
                          </a:solidFill>
                          <a:latin typeface="+mn-lt"/>
                          <a:ea typeface="+mn-ea"/>
                          <a:cs typeface="+mn-ea"/>
                          <a:sym typeface="+mn-lt"/>
                        </a:rPr>
                        <a:t>系数</a:t>
                      </a:r>
                      <a:r>
                        <a:rPr lang="en-US" sz="1800" b="0" i="0" u="none" kern="1200" baseline="0" dirty="0">
                          <a:solidFill>
                            <a:schemeClr val="bg1"/>
                          </a:solidFill>
                          <a:latin typeface="+mn-lt"/>
                          <a:ea typeface="+mn-ea"/>
                          <a:cs typeface="+mn-ea"/>
                          <a:sym typeface="+mn-lt"/>
                        </a:rPr>
                        <a:t>p[</a:t>
                      </a:r>
                      <a:r>
                        <a:rPr lang="en-US" sz="1800" b="0" i="0" u="none" kern="1200" baseline="0" dirty="0" err="1">
                          <a:solidFill>
                            <a:schemeClr val="bg1"/>
                          </a:solidFill>
                          <a:latin typeface="+mn-lt"/>
                          <a:ea typeface="+mn-ea"/>
                          <a:cs typeface="+mn-ea"/>
                          <a:sym typeface="+mn-lt"/>
                        </a:rPr>
                        <a:t>i</a:t>
                      </a:r>
                      <a:r>
                        <a:rPr lang="en-US" sz="1800" b="0" i="0" u="none" kern="1200" baseline="0" dirty="0">
                          <a:solidFill>
                            <a:schemeClr val="bg1"/>
                          </a:solidFill>
                          <a:latin typeface="+mn-lt"/>
                          <a:ea typeface="+mn-ea"/>
                          <a:cs typeface="+mn-ea"/>
                          <a:sym typeface="+mn-lt"/>
                        </a:rPr>
                        <a:t>]</a:t>
                      </a:r>
                      <a:endParaRPr lang="zh-CN" sz="1800" b="0" i="0" u="none" kern="1200" baseline="0" dirty="0">
                        <a:solidFill>
                          <a:schemeClr val="bg1"/>
                        </a:solidFill>
                        <a:latin typeface="+mn-lt"/>
                        <a:ea typeface="+mn-ea"/>
                        <a:cs typeface="+mn-ea"/>
                        <a:sym typeface="+mn-lt"/>
                      </a:endParaRPr>
                    </a:p>
                  </a:txBody>
                  <a:tcPr marL="68580" marR="68580" marT="0" marB="0" anchor="ctr">
                    <a:solidFill>
                      <a:srgbClr val="6C4C8F"/>
                    </a:solidFill>
                  </a:tcP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10</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5</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-4</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tc>
                <a:tc>
                  <a:txBody>
                    <a:bodyPr/>
                    <a:lstStyle/>
                    <a:p>
                      <a:pPr algn="ctr">
                        <a:spcBef>
                          <a:spcPts val="120"/>
                        </a:spcBef>
                        <a:spcAft>
                          <a:spcPts val="120"/>
                        </a:spcAft>
                      </a:pPr>
                      <a:r>
                        <a:rPr lang="en-US" sz="2400" b="0" kern="1000" dirty="0">
                          <a:solidFill>
                            <a:schemeClr val="tx1">
                              <a:lumMod val="95000"/>
                              <a:lumOff val="5000"/>
                            </a:schemeClr>
                          </a:solidFill>
                          <a:latin typeface="+mn-lt"/>
                          <a:ea typeface="+mn-ea"/>
                          <a:cs typeface="+mn-ea"/>
                          <a:sym typeface="+mn-lt"/>
                        </a:rPr>
                        <a:t>3</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tc>
                <a:tc>
                  <a:txBody>
                    <a:bodyPr/>
                    <a:lstStyle/>
                    <a:p>
                      <a:pPr algn="ctr">
                        <a:spcBef>
                          <a:spcPts val="120"/>
                        </a:spcBef>
                        <a:spcAft>
                          <a:spcPts val="120"/>
                        </a:spcAft>
                      </a:pPr>
                      <a:r>
                        <a:rPr lang="en-US" altLang="zh-CN" sz="2400" b="0" kern="1000" dirty="0">
                          <a:solidFill>
                            <a:schemeClr val="tx1">
                              <a:lumMod val="95000"/>
                              <a:lumOff val="5000"/>
                            </a:schemeClr>
                          </a:solidFill>
                          <a:latin typeface="+mn-lt"/>
                          <a:ea typeface="+mn-ea"/>
                          <a:cs typeface="+mn-ea"/>
                          <a:sym typeface="+mn-lt"/>
                        </a:rPr>
                        <a:t>2</a:t>
                      </a:r>
                      <a:endParaRPr lang="zh-CN" sz="2400" b="0" kern="1000" dirty="0">
                        <a:solidFill>
                          <a:schemeClr val="tx1">
                            <a:lumMod val="95000"/>
                            <a:lumOff val="5000"/>
                          </a:schemeClr>
                        </a:solidFill>
                        <a:latin typeface="+mn-lt"/>
                        <a:ea typeface="+mn-ea"/>
                        <a:cs typeface="+mn-ea"/>
                        <a:sym typeface="+mn-lt"/>
                      </a:endParaRPr>
                    </a:p>
                  </a:txBody>
                  <a:tcPr marL="68580" marR="68580" marT="0" marB="0" anchor="ctr"/>
                </a:tc>
                <a:extLst>
                  <a:ext uri="{0D108BD9-81ED-4DB2-BD59-A6C34878D82A}">
                    <a16:rowId xmlns:a16="http://schemas.microsoft.com/office/drawing/2014/main" val="10001"/>
                  </a:ext>
                </a:extLst>
              </a:tr>
            </a:tbl>
          </a:graphicData>
        </a:graphic>
      </p:graphicFrame>
      <p:sp>
        <p:nvSpPr>
          <p:cNvPr id="21530" name="Rectangle 154"/>
          <p:cNvSpPr txBox="1">
            <a:spLocks noChangeArrowheads="1"/>
          </p:cNvSpPr>
          <p:nvPr/>
        </p:nvSpPr>
        <p:spPr bwMode="auto">
          <a:xfrm>
            <a:off x="798513" y="188913"/>
            <a:ext cx="5213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2.1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：一元多项式的运算</a:t>
            </a:r>
          </a:p>
        </p:txBody>
      </p:sp>
      <p:sp>
        <p:nvSpPr>
          <p:cNvPr id="63" name="矩形 62"/>
          <p:cNvSpPr>
            <a:spLocks noChangeArrowheads="1"/>
          </p:cNvSpPr>
          <p:nvPr/>
        </p:nvSpPr>
        <p:spPr bwMode="auto">
          <a:xfrm>
            <a:off x="257175" y="1533525"/>
            <a:ext cx="8491538" cy="461963"/>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1" u="none" strike="noStrike" kern="1200" cap="none" spc="0" normalizeH="0" baseline="0" noProof="0" dirty="0" err="1">
                <a:ln>
                  <a:noFill/>
                </a:ln>
                <a:solidFill>
                  <a:schemeClr val="bg1"/>
                </a:solidFill>
                <a:effectLst/>
                <a:uLnTx/>
                <a:uFillTx/>
                <a:latin typeface="+mn-lt"/>
                <a:ea typeface="+mn-ea"/>
                <a:cs typeface="+mn-ea"/>
                <a:sym typeface="+mn-lt"/>
              </a:rPr>
              <a:t>P</a:t>
            </a:r>
            <a:r>
              <a:rPr kumimoji="0" lang="en-US" altLang="zh-CN" sz="2400" b="0" i="1" u="none" strike="noStrike" kern="1200" cap="none" spc="0" normalizeH="0" baseline="-25000" noProof="0" dirty="0" err="1">
                <a:ln>
                  <a:noFill/>
                </a:ln>
                <a:solidFill>
                  <a:schemeClr val="bg1"/>
                </a:solidFill>
                <a:effectLst/>
                <a:uLnTx/>
                <a:uFillTx/>
                <a:latin typeface="+mn-lt"/>
                <a:ea typeface="+mn-ea"/>
                <a:cs typeface="+mn-ea"/>
                <a:sym typeface="+mn-lt"/>
              </a:rPr>
              <a:t>n</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bg1"/>
                </a:solidFill>
                <a:effectLst/>
                <a:uLnTx/>
                <a:uFillTx/>
                <a:latin typeface="+mn-lt"/>
                <a:ea typeface="+mn-ea"/>
                <a:cs typeface="+mn-ea"/>
                <a:sym typeface="+mn-lt"/>
              </a:rPr>
              <a:t>x</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 </a:t>
            </a:r>
            <a:r>
              <a:rPr kumimoji="0" lang="en-US" altLang="zh-CN" sz="2400" b="0" i="1"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0" i="0" u="none" strike="noStrike" kern="1200" cap="none" spc="0" normalizeH="0" baseline="-25000" noProof="0" dirty="0">
                <a:ln>
                  <a:noFill/>
                </a:ln>
                <a:solidFill>
                  <a:schemeClr val="bg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 </a:t>
            </a:r>
            <a:r>
              <a:rPr kumimoji="0" lang="en-US" altLang="zh-CN" sz="2400" b="0" i="1"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0" i="0" u="none" strike="noStrike" kern="1200" cap="none" spc="0" normalizeH="0" baseline="-25000" noProof="0" dirty="0">
                <a:ln>
                  <a:noFill/>
                </a:ln>
                <a:solidFill>
                  <a:schemeClr val="bg1"/>
                </a:solidFill>
                <a:effectLst/>
                <a:uLnTx/>
                <a:uFillTx/>
                <a:latin typeface="+mn-lt"/>
                <a:ea typeface="+mn-ea"/>
                <a:cs typeface="+mn-ea"/>
                <a:sym typeface="+mn-lt"/>
              </a:rPr>
              <a:t>1</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x + </a:t>
            </a:r>
            <a:r>
              <a:rPr kumimoji="0" lang="en-US" altLang="zh-CN" sz="2400" b="0" i="1"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0" i="0" u="none" strike="noStrike" kern="1200" cap="none" spc="0" normalizeH="0" baseline="-25000" noProof="0" dirty="0">
                <a:ln>
                  <a:noFill/>
                </a:ln>
                <a:solidFill>
                  <a:schemeClr val="bg1"/>
                </a:solidFill>
                <a:effectLst/>
                <a:uLnTx/>
                <a:uFillTx/>
                <a:latin typeface="+mn-lt"/>
                <a:ea typeface="+mn-ea"/>
                <a:cs typeface="+mn-ea"/>
                <a:sym typeface="+mn-lt"/>
              </a:rPr>
              <a:t>2</a:t>
            </a:r>
            <a:r>
              <a:rPr kumimoji="0" lang="en-US" altLang="zh-CN" sz="2400" b="0" i="1" u="none" strike="noStrike" kern="1200" cap="none" spc="0" normalizeH="0" baseline="0" noProof="0" dirty="0">
                <a:ln>
                  <a:noFill/>
                </a:ln>
                <a:solidFill>
                  <a:schemeClr val="bg1"/>
                </a:solidFill>
                <a:effectLst/>
                <a:uLnTx/>
                <a:uFillTx/>
                <a:latin typeface="+mn-lt"/>
                <a:ea typeface="+mn-ea"/>
                <a:cs typeface="+mn-ea"/>
                <a:sym typeface="+mn-lt"/>
              </a:rPr>
              <a:t>x</a:t>
            </a:r>
            <a:r>
              <a:rPr kumimoji="0" lang="en-US" altLang="zh-CN" sz="2400" b="0" i="0" u="none" strike="noStrike" kern="1200" cap="none" spc="0" normalizeH="0" baseline="30000" noProof="0" dirty="0">
                <a:ln>
                  <a:noFill/>
                </a:ln>
                <a:solidFill>
                  <a:schemeClr val="bg1"/>
                </a:solidFill>
                <a:effectLst/>
                <a:uLnTx/>
                <a:uFillTx/>
                <a:latin typeface="+mn-lt"/>
                <a:ea typeface="+mn-ea"/>
                <a:cs typeface="+mn-ea"/>
                <a:sym typeface="+mn-lt"/>
              </a:rPr>
              <a:t>2</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 … + </a:t>
            </a:r>
            <a:r>
              <a:rPr kumimoji="0" lang="en-US" altLang="zh-CN" sz="2400" b="0" i="1" u="none" strike="noStrike" kern="1200" cap="none" spc="0" normalizeH="0" baseline="0" noProof="0" dirty="0" err="1">
                <a:ln>
                  <a:noFill/>
                </a:ln>
                <a:solidFill>
                  <a:schemeClr val="bg1"/>
                </a:solidFill>
                <a:effectLst/>
                <a:uLnTx/>
                <a:uFillTx/>
                <a:latin typeface="+mn-lt"/>
                <a:ea typeface="+mn-ea"/>
                <a:cs typeface="+mn-ea"/>
                <a:sym typeface="+mn-lt"/>
              </a:rPr>
              <a:t>p</a:t>
            </a:r>
            <a:r>
              <a:rPr kumimoji="0" lang="en-US" altLang="zh-CN" sz="2400" b="0" i="1" u="none" strike="noStrike" kern="1200" cap="none" spc="0" normalizeH="0" baseline="-25000" noProof="0" dirty="0" err="1">
                <a:ln>
                  <a:noFill/>
                </a:ln>
                <a:solidFill>
                  <a:schemeClr val="bg1"/>
                </a:solidFill>
                <a:effectLst/>
                <a:uLnTx/>
                <a:uFillTx/>
                <a:latin typeface="+mn-lt"/>
                <a:ea typeface="+mn-ea"/>
                <a:cs typeface="+mn-ea"/>
                <a:sym typeface="+mn-lt"/>
              </a:rPr>
              <a:t>n</a:t>
            </a:r>
            <a:r>
              <a:rPr kumimoji="0" lang="en-US" altLang="zh-CN" sz="2400" b="0" i="1" u="none" strike="noStrike" kern="1200" cap="none" spc="0" normalizeH="0" baseline="0" noProof="0" dirty="0" err="1">
                <a:ln>
                  <a:noFill/>
                </a:ln>
                <a:solidFill>
                  <a:schemeClr val="bg1"/>
                </a:solidFill>
                <a:effectLst/>
                <a:uLnTx/>
                <a:uFillTx/>
                <a:latin typeface="+mn-lt"/>
                <a:ea typeface="+mn-ea"/>
                <a:cs typeface="+mn-ea"/>
                <a:sym typeface="+mn-lt"/>
              </a:rPr>
              <a:t>x</a:t>
            </a:r>
            <a:r>
              <a:rPr kumimoji="0" lang="en-US" altLang="zh-CN" sz="2400" b="0" i="1" u="none" strike="noStrike" kern="1200" cap="none" spc="0" normalizeH="0" baseline="30000" noProof="0" dirty="0" err="1">
                <a:ln>
                  <a:noFill/>
                </a:ln>
                <a:solidFill>
                  <a:schemeClr val="bg1"/>
                </a:solidFill>
                <a:effectLst/>
                <a:uLnTx/>
                <a:uFillTx/>
                <a:latin typeface="+mn-lt"/>
                <a:ea typeface="+mn-ea"/>
                <a:cs typeface="+mn-ea"/>
                <a:sym typeface="+mn-lt"/>
              </a:rPr>
              <a:t>n</a:t>
            </a:r>
            <a:endPar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21538" name="矩形 64"/>
          <p:cNvSpPr>
            <a:spLocks noChangeArrowheads="1"/>
          </p:cNvSpPr>
          <p:nvPr/>
        </p:nvSpPr>
        <p:spPr bwMode="auto">
          <a:xfrm>
            <a:off x="868363" y="2252663"/>
            <a:ext cx="7772400" cy="461963"/>
          </a:xfrm>
          <a:prstGeom prst="rect">
            <a:avLst/>
          </a:prstGeom>
          <a:solidFill>
            <a:schemeClr val="bg2">
              <a:lumMod val="20000"/>
              <a:lumOff val="80000"/>
            </a:schemeClr>
          </a:solid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线性表</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 = (p</a:t>
            </a:r>
            <a:r>
              <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rPr>
              <a:t>1</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rPr>
              <a:t>2</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rPr>
              <a:t>n</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62" name="矩形 74"/>
          <p:cNvSpPr>
            <a:spLocks noChangeArrowheads="1"/>
          </p:cNvSpPr>
          <p:nvPr/>
        </p:nvSpPr>
        <p:spPr bwMode="auto">
          <a:xfrm>
            <a:off x="257175" y="3362325"/>
            <a:ext cx="5143500" cy="461963"/>
          </a:xfrm>
          <a:prstGeom prst="rect">
            <a:avLst/>
          </a:prstGeom>
          <a:solidFill>
            <a:schemeClr val="bg2">
              <a:lumMod val="20000"/>
              <a:lumOff val="80000"/>
            </a:schemeClr>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10 + 5x - 4</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2</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+ 3</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3</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+ 2</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4</a:t>
            </a: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 name="组合 14"/>
          <p:cNvGrpSpPr/>
          <p:nvPr/>
        </p:nvGrpSpPr>
        <p:grpSpPr>
          <a:xfrm>
            <a:off x="5400675" y="3357563"/>
            <a:ext cx="3348038" cy="2185987"/>
            <a:chOff x="5786438" y="3852255"/>
            <a:chExt cx="2432312" cy="2186130"/>
          </a:xfrm>
        </p:grpSpPr>
        <p:sp>
          <p:nvSpPr>
            <p:cNvPr id="21536" name="矩形 75"/>
            <p:cNvSpPr>
              <a:spLocks noChangeArrowheads="1"/>
            </p:cNvSpPr>
            <p:nvPr/>
          </p:nvSpPr>
          <p:spPr bwMode="auto">
            <a:xfrm>
              <a:off x="6331950" y="3852255"/>
              <a:ext cx="1886800" cy="2186130"/>
            </a:xfrm>
            <a:prstGeom prst="roundRect">
              <a:avLst/>
            </a:prstGeom>
            <a:solidFill>
              <a:schemeClr val="bg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数组表示</a:t>
              </a:r>
              <a:endPar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endParaRPr>
            </a:p>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（每一项的指数</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隐含在其系数</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1" u="none" strike="noStrike" kern="1200" cap="none" spc="0" normalizeH="0" baseline="-30000" noProof="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的序号中）</a:t>
              </a:r>
            </a:p>
          </p:txBody>
        </p:sp>
        <p:sp>
          <p:nvSpPr>
            <p:cNvPr id="2" name="右弧形箭头 76"/>
            <p:cNvSpPr>
              <a:spLocks noChangeArrowheads="1"/>
            </p:cNvSpPr>
            <p:nvPr/>
          </p:nvSpPr>
          <p:spPr bwMode="auto">
            <a:xfrm>
              <a:off x="5786438" y="4045943"/>
              <a:ext cx="429028" cy="1759065"/>
            </a:xfrm>
            <a:prstGeom prst="curvedLeftArrow">
              <a:avLst>
                <a:gd name="adj1" fmla="val 24980"/>
                <a:gd name="adj2" fmla="val 49923"/>
                <a:gd name="adj3" fmla="val 3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ox(in)">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4062"/>
                                        </p:tgtEl>
                                        <p:attrNameLst>
                                          <p:attrName>style.visibility</p:attrName>
                                        </p:attrNameLst>
                                      </p:cBhvr>
                                      <p:to>
                                        <p:strVal val="visible"/>
                                      </p:to>
                                    </p:set>
                                    <p:anim calcmode="lin" valueType="num">
                                      <p:cBhvr additive="base">
                                        <p:cTn id="12" dur="500" fill="hold"/>
                                        <p:tgtEl>
                                          <p:spTgt spid="44062"/>
                                        </p:tgtEl>
                                        <p:attrNameLst>
                                          <p:attrName>ppt_x</p:attrName>
                                        </p:attrNameLst>
                                      </p:cBhvr>
                                      <p:tavLst>
                                        <p:tav tm="0">
                                          <p:val>
                                            <p:strVal val="#ppt_x"/>
                                          </p:val>
                                        </p:tav>
                                        <p:tav tm="100000">
                                          <p:val>
                                            <p:strVal val="#ppt_x"/>
                                          </p:val>
                                        </p:tav>
                                      </p:tavLst>
                                    </p:anim>
                                    <p:anim calcmode="lin" valueType="num">
                                      <p:cBhvr additive="base">
                                        <p:cTn id="13" dur="500" fill="hold"/>
                                        <p:tgtEl>
                                          <p:spTgt spid="4406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4406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2"/>
          <p:cNvSpPr>
            <a:spLocks noChangeArrowheads="1"/>
          </p:cNvSpPr>
          <p:nvPr/>
        </p:nvSpPr>
        <p:spPr bwMode="auto">
          <a:xfrm>
            <a:off x="539750" y="1468438"/>
            <a:ext cx="8066088" cy="461963"/>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1" u="none" strike="noStrike" kern="1200" cap="none" spc="0" normalizeH="0" baseline="0" noProof="0">
                <a:ln>
                  <a:noFill/>
                </a:ln>
                <a:solidFill>
                  <a:schemeClr val="bg1"/>
                </a:solidFill>
                <a:effectLst/>
                <a:uLnTx/>
                <a:uFillTx/>
                <a:latin typeface="+mn-lt"/>
                <a:ea typeface="+mn-ea"/>
                <a:cs typeface="+mn-ea"/>
                <a:sym typeface="+mn-lt"/>
              </a:rPr>
              <a:t>R</a:t>
            </a:r>
            <a:r>
              <a:rPr kumimoji="0" lang="en-US" altLang="zh-CN" sz="2400" b="0" i="1" u="none" strike="noStrike" kern="1200" cap="none" spc="0" normalizeH="0" baseline="-30000" noProof="0">
                <a:ln>
                  <a:noFill/>
                </a:ln>
                <a:solidFill>
                  <a:schemeClr val="bg1"/>
                </a:solidFill>
                <a:effectLst/>
                <a:uLnTx/>
                <a:uFillTx/>
                <a:latin typeface="+mn-lt"/>
                <a:ea typeface="+mn-ea"/>
                <a:cs typeface="+mn-ea"/>
                <a:sym typeface="+mn-lt"/>
              </a:rPr>
              <a:t>n</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bg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 </a:t>
            </a:r>
            <a:r>
              <a:rPr kumimoji="0" lang="en-US" altLang="zh-CN" sz="2400" b="0" i="1" u="none" strike="noStrike" kern="1200" cap="none" spc="0" normalizeH="0" baseline="0" noProof="0">
                <a:ln>
                  <a:noFill/>
                </a:ln>
                <a:solidFill>
                  <a:schemeClr val="bg1"/>
                </a:solidFill>
                <a:effectLst/>
                <a:uLnTx/>
                <a:uFillTx/>
                <a:latin typeface="+mn-lt"/>
                <a:ea typeface="+mn-ea"/>
                <a:cs typeface="+mn-ea"/>
                <a:sym typeface="+mn-lt"/>
              </a:rPr>
              <a:t>P</a:t>
            </a:r>
            <a:r>
              <a:rPr kumimoji="0" lang="en-US" altLang="zh-CN" sz="2400" b="0" i="1" u="none" strike="noStrike" kern="1200" cap="none" spc="0" normalizeH="0" baseline="-30000" noProof="0">
                <a:ln>
                  <a:noFill/>
                </a:ln>
                <a:solidFill>
                  <a:schemeClr val="bg1"/>
                </a:solidFill>
                <a:effectLst/>
                <a:uLnTx/>
                <a:uFillTx/>
                <a:latin typeface="+mn-lt"/>
                <a:ea typeface="+mn-ea"/>
                <a:cs typeface="+mn-ea"/>
                <a:sym typeface="+mn-lt"/>
              </a:rPr>
              <a:t>n</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bg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 + </a:t>
            </a:r>
            <a:r>
              <a:rPr kumimoji="0" lang="en-US" altLang="zh-CN" sz="2400" b="0" i="1" u="none" strike="noStrike" kern="1200" cap="none" spc="0" normalizeH="0" baseline="0" noProof="0">
                <a:ln>
                  <a:noFill/>
                </a:ln>
                <a:solidFill>
                  <a:schemeClr val="bg1"/>
                </a:solidFill>
                <a:effectLst/>
                <a:uLnTx/>
                <a:uFillTx/>
                <a:latin typeface="+mn-lt"/>
                <a:ea typeface="+mn-ea"/>
                <a:cs typeface="+mn-ea"/>
                <a:sym typeface="+mn-lt"/>
              </a:rPr>
              <a:t>Q</a:t>
            </a:r>
            <a:r>
              <a:rPr kumimoji="0" lang="en-US" altLang="zh-CN" sz="2400" b="0" i="1" u="none" strike="noStrike" kern="1200" cap="none" spc="0" normalizeH="0" baseline="-30000" noProof="0">
                <a:ln>
                  <a:noFill/>
                </a:ln>
                <a:solidFill>
                  <a:schemeClr val="bg1"/>
                </a:solidFill>
                <a:effectLst/>
                <a:uLnTx/>
                <a:uFillTx/>
                <a:latin typeface="+mn-lt"/>
                <a:ea typeface="+mn-ea"/>
                <a:cs typeface="+mn-ea"/>
                <a:sym typeface="+mn-lt"/>
              </a:rPr>
              <a:t>m</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bg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endParaRPr kumimoji="0" lang="zh-CN" altLang="en-US" sz="24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22536" name="矩形 4"/>
          <p:cNvSpPr>
            <a:spLocks noChangeArrowheads="1"/>
          </p:cNvSpPr>
          <p:nvPr/>
        </p:nvSpPr>
        <p:spPr bwMode="auto">
          <a:xfrm>
            <a:off x="539750" y="1925638"/>
            <a:ext cx="8050213" cy="525463"/>
          </a:xfrm>
          <a:prstGeom prst="rect">
            <a:avLst/>
          </a:prstGeom>
          <a:solidFill>
            <a:schemeClr val="bg2">
              <a:lumMod val="20000"/>
              <a:lumOff val="80000"/>
            </a:schemeClr>
          </a:solidFill>
          <a:ln>
            <a:noFill/>
          </a:ln>
        </p:spPr>
        <p:txBody>
          <a:bodyPr>
            <a:spAutoFit/>
          </a:bodyPr>
          <a:lstStyle>
            <a:lvl1pPr indent="254000">
              <a:lnSpc>
                <a:spcPct val="130000"/>
              </a:lnSpc>
              <a:tabLst>
                <a:tab pos="2667000" algn="ctr"/>
                <a:tab pos="5334000" algn="r"/>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2667000" algn="ctr"/>
                <a:tab pos="5334000" algn="r"/>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2667000" algn="ctr"/>
                <a:tab pos="5334000" algn="r"/>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254000" algn="l" defTabSz="914400" rtl="0" eaLnBrk="0" fontAlgn="base" latinLnBrk="0" hangingPunct="0">
              <a:lnSpc>
                <a:spcPct val="130000"/>
              </a:lnSpc>
              <a:spcBef>
                <a:spcPct val="0"/>
              </a:spcBef>
              <a:spcAft>
                <a:spcPct val="0"/>
              </a:spcAft>
              <a:buClrTx/>
              <a:buSzTx/>
              <a:buFontTx/>
              <a:buNone/>
              <a:tabLst>
                <a:tab pos="2667000" algn="ctr"/>
                <a:tab pos="5334000" algn="r"/>
              </a:tabLst>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线性表</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R = (p</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q</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1</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q</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1</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2</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q</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2</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m</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q</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m</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m+1</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n</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pic>
        <p:nvPicPr>
          <p:cNvPr id="8" name="Picture 12" descr="http://img10.3lian.com/c1/newpic/11/03/22/16.gif"/>
          <p:cNvPicPr>
            <a:picLocks noChangeAspect="1"/>
          </p:cNvPicPr>
          <p:nvPr/>
        </p:nvPicPr>
        <p:blipFill>
          <a:blip r:embed="rId2"/>
          <a:stretch>
            <a:fillRect/>
          </a:stretch>
        </p:blipFill>
        <p:spPr>
          <a:xfrm>
            <a:off x="6454775" y="4221163"/>
            <a:ext cx="3048000" cy="2286000"/>
          </a:xfrm>
          <a:prstGeom prst="rect">
            <a:avLst/>
          </a:prstGeom>
          <a:noFill/>
          <a:ln w="9525">
            <a:noFill/>
          </a:ln>
        </p:spPr>
      </p:pic>
      <p:sp>
        <p:nvSpPr>
          <p:cNvPr id="9" name="云形标注 8"/>
          <p:cNvSpPr>
            <a:spLocks noChangeArrowheads="1"/>
          </p:cNvSpPr>
          <p:nvPr/>
        </p:nvSpPr>
        <p:spPr bwMode="auto">
          <a:xfrm>
            <a:off x="865188" y="3640138"/>
            <a:ext cx="6192838" cy="1265238"/>
          </a:xfrm>
          <a:prstGeom prst="cloudCallout">
            <a:avLst>
              <a:gd name="adj1" fmla="val 49958"/>
              <a:gd name="adj2" fmla="val 57644"/>
            </a:avLst>
          </a:pr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稀疏多项式</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S</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1 + 3</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10000</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+ 2</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20000</a:t>
            </a: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534" name="Rectangle 154"/>
          <p:cNvSpPr txBox="1">
            <a:spLocks noChangeArrowheads="1"/>
          </p:cNvSpPr>
          <p:nvPr/>
        </p:nvSpPr>
        <p:spPr bwMode="auto">
          <a:xfrm>
            <a:off x="798513" y="188913"/>
            <a:ext cx="5213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2.1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：一元多项式的运算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
          <p:cNvSpPr>
            <a:spLocks noChangeArrowheads="1"/>
          </p:cNvSpPr>
          <p:nvPr/>
        </p:nvSpPr>
        <p:spPr bwMode="auto">
          <a:xfrm>
            <a:off x="12700" y="5189538"/>
            <a:ext cx="9144000" cy="1697038"/>
          </a:xfrm>
          <a:prstGeom prst="rect">
            <a:avLst/>
          </a:prstGeom>
          <a:solidFill>
            <a:srgbClr val="76AEDD"/>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矩形: 圆角 16"/>
          <p:cNvSpPr>
            <a:spLocks noChangeArrowheads="1"/>
          </p:cNvSpPr>
          <p:nvPr/>
        </p:nvSpPr>
        <p:spPr bwMode="auto">
          <a:xfrm>
            <a:off x="604838" y="1177925"/>
            <a:ext cx="7918450"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56" name="AutoShape 2"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57" name="AutoShape 4"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58" name="AutoShape 6"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559" name="AutoShape 8" descr="http://img4.imgtn.bdimg.com/it/u=3584398993,898841989&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7" name="表格 6"/>
          <p:cNvGraphicFramePr>
            <a:graphicFrameLocks noGrp="1"/>
          </p:cNvGraphicFramePr>
          <p:nvPr/>
        </p:nvGraphicFramePr>
        <p:xfrm>
          <a:off x="833438" y="2595563"/>
          <a:ext cx="7721600" cy="2201861"/>
        </p:xfrm>
        <a:graphic>
          <a:graphicData uri="http://schemas.openxmlformats.org/drawingml/2006/table">
            <a:tbl>
              <a:tblPr/>
              <a:tblGrid>
                <a:gridCol w="1025974">
                  <a:extLst>
                    <a:ext uri="{9D8B030D-6E8A-4147-A177-3AD203B41FA5}">
                      <a16:colId xmlns:a16="http://schemas.microsoft.com/office/drawing/2014/main" val="20000"/>
                    </a:ext>
                  </a:extLst>
                </a:gridCol>
                <a:gridCol w="656396">
                  <a:extLst>
                    <a:ext uri="{9D8B030D-6E8A-4147-A177-3AD203B41FA5}">
                      <a16:colId xmlns:a16="http://schemas.microsoft.com/office/drawing/2014/main" val="20001"/>
                    </a:ext>
                  </a:extLst>
                </a:gridCol>
                <a:gridCol w="657337">
                  <a:extLst>
                    <a:ext uri="{9D8B030D-6E8A-4147-A177-3AD203B41FA5}">
                      <a16:colId xmlns:a16="http://schemas.microsoft.com/office/drawing/2014/main" val="20002"/>
                    </a:ext>
                  </a:extLst>
                </a:gridCol>
                <a:gridCol w="656396">
                  <a:extLst>
                    <a:ext uri="{9D8B030D-6E8A-4147-A177-3AD203B41FA5}">
                      <a16:colId xmlns:a16="http://schemas.microsoft.com/office/drawing/2014/main" val="20003"/>
                    </a:ext>
                  </a:extLst>
                </a:gridCol>
                <a:gridCol w="657337">
                  <a:extLst>
                    <a:ext uri="{9D8B030D-6E8A-4147-A177-3AD203B41FA5}">
                      <a16:colId xmlns:a16="http://schemas.microsoft.com/office/drawing/2014/main" val="20004"/>
                    </a:ext>
                  </a:extLst>
                </a:gridCol>
                <a:gridCol w="691192">
                  <a:extLst>
                    <a:ext uri="{9D8B030D-6E8A-4147-A177-3AD203B41FA5}">
                      <a16:colId xmlns:a16="http://schemas.microsoft.com/office/drawing/2014/main" val="20005"/>
                    </a:ext>
                  </a:extLst>
                </a:gridCol>
                <a:gridCol w="902781">
                  <a:extLst>
                    <a:ext uri="{9D8B030D-6E8A-4147-A177-3AD203B41FA5}">
                      <a16:colId xmlns:a16="http://schemas.microsoft.com/office/drawing/2014/main" val="20006"/>
                    </a:ext>
                  </a:extLst>
                </a:gridCol>
                <a:gridCol w="824729">
                  <a:extLst>
                    <a:ext uri="{9D8B030D-6E8A-4147-A177-3AD203B41FA5}">
                      <a16:colId xmlns:a16="http://schemas.microsoft.com/office/drawing/2014/main" val="20007"/>
                    </a:ext>
                  </a:extLst>
                </a:gridCol>
                <a:gridCol w="824729">
                  <a:extLst>
                    <a:ext uri="{9D8B030D-6E8A-4147-A177-3AD203B41FA5}">
                      <a16:colId xmlns:a16="http://schemas.microsoft.com/office/drawing/2014/main" val="20008"/>
                    </a:ext>
                  </a:extLst>
                </a:gridCol>
                <a:gridCol w="824729">
                  <a:extLst>
                    <a:ext uri="{9D8B030D-6E8A-4147-A177-3AD203B41FA5}">
                      <a16:colId xmlns:a16="http://schemas.microsoft.com/office/drawing/2014/main" val="20009"/>
                    </a:ext>
                  </a:extLst>
                </a:gridCol>
              </a:tblGrid>
              <a:tr h="599134">
                <a:tc>
                  <a:txBody>
                    <a:bodyPr/>
                    <a:lstStyle/>
                    <a:p>
                      <a:pPr algn="ctr">
                        <a:spcBef>
                          <a:spcPts val="120"/>
                        </a:spcBef>
                        <a:spcAft>
                          <a:spcPts val="120"/>
                        </a:spcAft>
                      </a:pPr>
                      <a:r>
                        <a:rPr lang="zh-CN" sz="2000" kern="1000" dirty="0">
                          <a:latin typeface="+mn-lt"/>
                          <a:ea typeface="+mn-ea"/>
                          <a:cs typeface="+mn-ea"/>
                          <a:sym typeface="+mn-lt"/>
                        </a:rPr>
                        <a:t>下标</a:t>
                      </a:r>
                      <a:r>
                        <a:rPr lang="en-US" sz="2000" kern="1000" dirty="0" err="1">
                          <a:latin typeface="+mn-lt"/>
                          <a:ea typeface="+mn-ea"/>
                          <a:cs typeface="+mn-ea"/>
                          <a:sym typeface="+mn-lt"/>
                        </a:rPr>
                        <a:t>i</a:t>
                      </a:r>
                      <a:endParaRPr lang="zh-CN" sz="2000" kern="1000" dirty="0">
                        <a:latin typeface="+mn-lt"/>
                        <a:ea typeface="+mn-ea"/>
                        <a:cs typeface="+mn-ea"/>
                        <a:sym typeface="+mn-lt"/>
                      </a:endParaRPr>
                    </a:p>
                  </a:txBody>
                  <a:tcPr marL="68565" marR="6856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0</a:t>
                      </a:r>
                      <a:endParaRPr lang="zh-CN" sz="2000" kern="100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1</a:t>
                      </a:r>
                      <a:endParaRPr lang="zh-CN" sz="2000" kern="100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latin typeface="+mn-lt"/>
                          <a:ea typeface="+mn-ea"/>
                          <a:cs typeface="+mn-ea"/>
                          <a:sym typeface="+mn-lt"/>
                        </a:rPr>
                        <a:t>2</a:t>
                      </a:r>
                      <a:endParaRPr lang="zh-CN" sz="2000" kern="1000" dirty="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3</a:t>
                      </a:r>
                      <a:endParaRPr lang="zh-CN" sz="2000" kern="100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endParaRPr lang="en-US" sz="2000" kern="1000">
                        <a:latin typeface="+mn-lt"/>
                        <a:ea typeface="+mn-ea"/>
                        <a:cs typeface="+mn-ea"/>
                        <a:sym typeface="+mn-lt"/>
                      </a:endParaRPr>
                    </a:p>
                  </a:txBody>
                  <a:tcPr marL="68565" marR="68565" marT="0" marB="0" anchor="ctr">
                    <a:lnL>
                      <a:noFill/>
                    </a:lnL>
                    <a:lnR>
                      <a:noFill/>
                    </a:lnR>
                    <a:lnT>
                      <a:noFill/>
                    </a:lnT>
                    <a:lnB>
                      <a:noFill/>
                    </a:lnB>
                  </a:tcPr>
                </a:tc>
                <a:tc>
                  <a:txBody>
                    <a:bodyPr/>
                    <a:lstStyle/>
                    <a:p>
                      <a:pPr algn="ctr">
                        <a:spcBef>
                          <a:spcPts val="120"/>
                        </a:spcBef>
                        <a:spcAft>
                          <a:spcPts val="120"/>
                        </a:spcAft>
                      </a:pPr>
                      <a:r>
                        <a:rPr lang="zh-CN" sz="2000" kern="1000">
                          <a:latin typeface="+mn-lt"/>
                          <a:ea typeface="+mn-ea"/>
                          <a:cs typeface="+mn-ea"/>
                          <a:sym typeface="+mn-lt"/>
                        </a:rPr>
                        <a:t>下标</a:t>
                      </a:r>
                      <a:r>
                        <a:rPr lang="en-US" sz="2000" kern="1000">
                          <a:latin typeface="+mn-lt"/>
                          <a:ea typeface="+mn-ea"/>
                          <a:cs typeface="+mn-ea"/>
                          <a:sym typeface="+mn-lt"/>
                        </a:rPr>
                        <a:t>i</a:t>
                      </a:r>
                      <a:endParaRPr lang="zh-CN" sz="2000" kern="1000">
                        <a:latin typeface="+mn-lt"/>
                        <a:ea typeface="+mn-ea"/>
                        <a:cs typeface="+mn-ea"/>
                        <a:sym typeface="+mn-lt"/>
                      </a:endParaRPr>
                    </a:p>
                  </a:txBody>
                  <a:tcPr marL="68565" marR="6856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0</a:t>
                      </a:r>
                      <a:endParaRPr lang="zh-CN" sz="2000" kern="100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1</a:t>
                      </a:r>
                      <a:endParaRPr lang="zh-CN" sz="2000" kern="100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2</a:t>
                      </a:r>
                      <a:endParaRPr lang="zh-CN" sz="2000" kern="1000">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3593">
                <a:tc>
                  <a:txBody>
                    <a:bodyPr/>
                    <a:lstStyle/>
                    <a:p>
                      <a:pPr algn="ctr">
                        <a:spcBef>
                          <a:spcPts val="120"/>
                        </a:spcBef>
                        <a:spcAft>
                          <a:spcPts val="120"/>
                        </a:spcAft>
                      </a:pPr>
                      <a:r>
                        <a:rPr lang="zh-CN" sz="2000" kern="1000" dirty="0">
                          <a:solidFill>
                            <a:srgbClr val="FF0000"/>
                          </a:solidFill>
                          <a:latin typeface="+mn-lt"/>
                          <a:ea typeface="+mn-ea"/>
                          <a:cs typeface="+mn-ea"/>
                          <a:sym typeface="+mn-lt"/>
                        </a:rPr>
                        <a:t>系数</a:t>
                      </a:r>
                      <a:r>
                        <a:rPr lang="en-US" sz="2000" kern="1000" dirty="0">
                          <a:latin typeface="+mn-lt"/>
                          <a:ea typeface="+mn-ea"/>
                          <a:cs typeface="+mn-ea"/>
                          <a:sym typeface="+mn-lt"/>
                        </a:rPr>
                        <a:t>a[</a:t>
                      </a:r>
                      <a:r>
                        <a:rPr lang="en-US" sz="2000" kern="1000" dirty="0" err="1">
                          <a:latin typeface="+mn-lt"/>
                          <a:ea typeface="+mn-ea"/>
                          <a:cs typeface="+mn-ea"/>
                          <a:sym typeface="+mn-lt"/>
                        </a:rPr>
                        <a:t>i</a:t>
                      </a:r>
                      <a:r>
                        <a:rPr lang="en-US" sz="2000" kern="1000" dirty="0">
                          <a:latin typeface="+mn-lt"/>
                          <a:ea typeface="+mn-ea"/>
                          <a:cs typeface="+mn-ea"/>
                          <a:sym typeface="+mn-lt"/>
                        </a:rPr>
                        <a:t>]</a:t>
                      </a:r>
                      <a:endParaRPr lang="zh-CN" sz="2000" kern="1000" dirty="0">
                        <a:latin typeface="+mn-lt"/>
                        <a:ea typeface="+mn-ea"/>
                        <a:cs typeface="+mn-ea"/>
                        <a:sym typeface="+mn-lt"/>
                      </a:endParaRPr>
                    </a:p>
                  </a:txBody>
                  <a:tcPr marL="68565" marR="6856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7</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3</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9</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5</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endParaRPr lang="en-US" sz="2000" kern="1000">
                        <a:latin typeface="+mn-lt"/>
                        <a:ea typeface="+mn-ea"/>
                        <a:cs typeface="+mn-ea"/>
                        <a:sym typeface="+mn-lt"/>
                      </a:endParaRPr>
                    </a:p>
                  </a:txBody>
                  <a:tcPr marL="68565" marR="68565" marT="0" marB="0" anchor="ctr">
                    <a:lnL>
                      <a:noFill/>
                    </a:lnL>
                    <a:lnR>
                      <a:noFill/>
                    </a:lnR>
                    <a:lnT>
                      <a:noFill/>
                    </a:lnT>
                    <a:lnB>
                      <a:noFill/>
                    </a:lnB>
                  </a:tcPr>
                </a:tc>
                <a:tc>
                  <a:txBody>
                    <a:bodyPr/>
                    <a:lstStyle/>
                    <a:p>
                      <a:pPr algn="ctr">
                        <a:spcBef>
                          <a:spcPts val="120"/>
                        </a:spcBef>
                        <a:spcAft>
                          <a:spcPts val="120"/>
                        </a:spcAft>
                      </a:pPr>
                      <a:r>
                        <a:rPr lang="zh-CN" sz="2000" kern="1000" dirty="0">
                          <a:solidFill>
                            <a:srgbClr val="FF0000"/>
                          </a:solidFill>
                          <a:latin typeface="+mn-lt"/>
                          <a:ea typeface="+mn-ea"/>
                          <a:cs typeface="+mn-ea"/>
                          <a:sym typeface="+mn-lt"/>
                        </a:rPr>
                        <a:t>系数</a:t>
                      </a:r>
                      <a:r>
                        <a:rPr lang="en-US" sz="2000" kern="1000" dirty="0">
                          <a:latin typeface="+mn-lt"/>
                          <a:ea typeface="+mn-ea"/>
                          <a:cs typeface="+mn-ea"/>
                          <a:sym typeface="+mn-lt"/>
                        </a:rPr>
                        <a:t>b[</a:t>
                      </a:r>
                      <a:r>
                        <a:rPr lang="en-US" sz="2000" kern="1000" dirty="0" err="1">
                          <a:latin typeface="+mn-lt"/>
                          <a:ea typeface="+mn-ea"/>
                          <a:cs typeface="+mn-ea"/>
                          <a:sym typeface="+mn-lt"/>
                        </a:rPr>
                        <a:t>i</a:t>
                      </a:r>
                      <a:r>
                        <a:rPr lang="en-US" sz="2000" kern="1000" dirty="0">
                          <a:latin typeface="+mn-lt"/>
                          <a:ea typeface="+mn-ea"/>
                          <a:cs typeface="+mn-ea"/>
                          <a:sym typeface="+mn-lt"/>
                        </a:rPr>
                        <a:t>]</a:t>
                      </a:r>
                      <a:endParaRPr lang="zh-CN" sz="2000" kern="1000" dirty="0">
                        <a:latin typeface="+mn-lt"/>
                        <a:ea typeface="+mn-ea"/>
                        <a:cs typeface="+mn-ea"/>
                        <a:sym typeface="+mn-lt"/>
                      </a:endParaRPr>
                    </a:p>
                  </a:txBody>
                  <a:tcPr marL="68565" marR="6856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8</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22</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-9</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9134">
                <a:tc>
                  <a:txBody>
                    <a:bodyPr/>
                    <a:lstStyle/>
                    <a:p>
                      <a:pPr algn="ctr">
                        <a:spcBef>
                          <a:spcPts val="120"/>
                        </a:spcBef>
                        <a:spcAft>
                          <a:spcPts val="120"/>
                        </a:spcAft>
                      </a:pPr>
                      <a:r>
                        <a:rPr lang="zh-CN" sz="2000" kern="1000" dirty="0">
                          <a:solidFill>
                            <a:srgbClr val="FF0000"/>
                          </a:solidFill>
                          <a:latin typeface="+mn-lt"/>
                          <a:ea typeface="+mn-ea"/>
                          <a:cs typeface="+mn-ea"/>
                          <a:sym typeface="+mn-lt"/>
                        </a:rPr>
                        <a:t>指数</a:t>
                      </a:r>
                    </a:p>
                  </a:txBody>
                  <a:tcPr marL="68565" marR="6856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0</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1</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8</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17</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endParaRPr lang="en-US" sz="2000" kern="1000">
                        <a:latin typeface="+mn-lt"/>
                        <a:ea typeface="+mn-ea"/>
                        <a:cs typeface="+mn-ea"/>
                        <a:sym typeface="+mn-lt"/>
                      </a:endParaRPr>
                    </a:p>
                  </a:txBody>
                  <a:tcPr marL="68565" marR="68565" marT="0" marB="0" anchor="ctr">
                    <a:lnL>
                      <a:noFill/>
                    </a:lnL>
                    <a:lnR>
                      <a:noFill/>
                    </a:lnR>
                    <a:lnT>
                      <a:noFill/>
                    </a:lnT>
                    <a:lnB>
                      <a:noFill/>
                    </a:lnB>
                  </a:tcPr>
                </a:tc>
                <a:tc>
                  <a:txBody>
                    <a:bodyPr/>
                    <a:lstStyle/>
                    <a:p>
                      <a:pPr algn="ctr">
                        <a:spcBef>
                          <a:spcPts val="120"/>
                        </a:spcBef>
                        <a:spcAft>
                          <a:spcPts val="120"/>
                        </a:spcAft>
                      </a:pPr>
                      <a:r>
                        <a:rPr lang="zh-CN" sz="2000" kern="1000" dirty="0">
                          <a:solidFill>
                            <a:srgbClr val="FF0000"/>
                          </a:solidFill>
                          <a:latin typeface="+mn-lt"/>
                          <a:ea typeface="+mn-ea"/>
                          <a:cs typeface="+mn-ea"/>
                          <a:sym typeface="+mn-lt"/>
                        </a:rPr>
                        <a:t>指数</a:t>
                      </a:r>
                    </a:p>
                  </a:txBody>
                  <a:tcPr marL="68565" marR="6856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solidFill>
                            <a:srgbClr val="FF0000"/>
                          </a:solidFill>
                          <a:latin typeface="+mn-lt"/>
                          <a:ea typeface="+mn-ea"/>
                          <a:cs typeface="+mn-ea"/>
                          <a:sym typeface="+mn-lt"/>
                        </a:rPr>
                        <a:t>1</a:t>
                      </a:r>
                      <a:endParaRPr lang="zh-CN" sz="2000" kern="100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solidFill>
                            <a:srgbClr val="FF0000"/>
                          </a:solidFill>
                          <a:latin typeface="+mn-lt"/>
                          <a:ea typeface="+mn-ea"/>
                          <a:cs typeface="+mn-ea"/>
                          <a:sym typeface="+mn-lt"/>
                        </a:rPr>
                        <a:t>7</a:t>
                      </a:r>
                      <a:endParaRPr lang="zh-CN" sz="2000" kern="100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8</a:t>
                      </a:r>
                      <a:endParaRPr lang="zh-CN" sz="2000" kern="1000" dirty="0">
                        <a:solidFill>
                          <a:srgbClr val="FF0000"/>
                        </a:solidFill>
                        <a:latin typeface="+mn-lt"/>
                        <a:ea typeface="+mn-ea"/>
                        <a:cs typeface="+mn-ea"/>
                        <a:sym typeface="+mn-lt"/>
                      </a:endParaRPr>
                    </a:p>
                  </a:txBody>
                  <a:tcPr marL="68565" marR="6856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3606" name="Rectangle 1"/>
          <p:cNvSpPr>
            <a:spLocks noChangeArrowheads="1"/>
          </p:cNvSpPr>
          <p:nvPr/>
        </p:nvSpPr>
        <p:spPr bwMode="auto">
          <a:xfrm>
            <a:off x="554038" y="1144588"/>
            <a:ext cx="82486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2730">
              <a:lnSpc>
                <a:spcPct val="130000"/>
              </a:lnSpc>
              <a:tabLst>
                <a:tab pos="2667000" algn="ctr"/>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2667000" algn="ctr"/>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2667000" algn="ctr"/>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2667000" algn="ctr"/>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2667000" algn="ctr"/>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252730" algn="l" defTabSz="914400" rtl="0" eaLnBrk="1" fontAlgn="base" latinLnBrk="0" hangingPunct="1">
              <a:lnSpc>
                <a:spcPct val="130000"/>
              </a:lnSpc>
              <a:spcBef>
                <a:spcPct val="0"/>
              </a:spcBef>
              <a:spcAft>
                <a:spcPct val="0"/>
              </a:spcAft>
              <a:buClrTx/>
              <a:buSzTx/>
              <a:buFontTx/>
              <a:buNone/>
              <a:tabLst>
                <a:tab pos="2667000" algn="ctr"/>
              </a:tabLst>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多项式</a:t>
            </a:r>
            <a:r>
              <a:rPr kumimoji="0" lang="zh-CN" altLang="en-US" sz="2400" b="1" i="0" u="none" strike="noStrike" kern="1200" cap="none" spc="0" normalizeH="0" baseline="0" noProof="0">
                <a:ln>
                  <a:noFill/>
                </a:ln>
                <a:solidFill>
                  <a:schemeClr val="bg1"/>
                </a:solidFill>
                <a:effectLst/>
                <a:uLnTx/>
                <a:uFillTx/>
                <a:latin typeface="+mn-lt"/>
                <a:ea typeface="+mn-ea"/>
                <a:cs typeface="+mn-ea"/>
                <a:sym typeface="+mn-lt"/>
              </a:rPr>
              <a:t>非零项</a:t>
            </a: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的数组表示</a:t>
            </a:r>
          </a:p>
        </p:txBody>
      </p:sp>
      <p:grpSp>
        <p:nvGrpSpPr>
          <p:cNvPr id="3" name="组合 22"/>
          <p:cNvGrpSpPr/>
          <p:nvPr/>
        </p:nvGrpSpPr>
        <p:grpSpPr>
          <a:xfrm>
            <a:off x="833438" y="5418138"/>
            <a:ext cx="7421562" cy="1252537"/>
            <a:chOff x="611560" y="2886256"/>
            <a:chExt cx="7422324" cy="1251208"/>
          </a:xfrm>
        </p:grpSpPr>
        <p:sp>
          <p:nvSpPr>
            <p:cNvPr id="23611" name="矩形 10"/>
            <p:cNvSpPr>
              <a:spLocks noChangeArrowheads="1"/>
            </p:cNvSpPr>
            <p:nvPr/>
          </p:nvSpPr>
          <p:spPr bwMode="auto">
            <a:xfrm>
              <a:off x="611560" y="3599873"/>
              <a:ext cx="6707876" cy="52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线性表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 =((p</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a:t>
              </a:r>
              <a:r>
                <a:rPr kumimoji="0" lang="en-US" altLang="zh-CN" sz="2800" b="0" i="0" u="none" strike="noStrike" kern="1200" cap="none" spc="0" normalizeH="0" baseline="-25000" noProof="0" dirty="0" err="1">
                  <a:ln>
                    <a:noFill/>
                  </a:ln>
                  <a:solidFill>
                    <a:schemeClr val="tx1"/>
                  </a:solidFill>
                  <a:effectLst/>
                  <a:uLnTx/>
                  <a:uFillTx/>
                  <a:latin typeface="+mn-lt"/>
                  <a:ea typeface="+mn-ea"/>
                  <a:cs typeface="+mn-ea"/>
                  <a:sym typeface="+mn-lt"/>
                </a:rPr>
                <a:t>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3612" name="右弧形箭头 11"/>
            <p:cNvSpPr>
              <a:spLocks noChangeArrowheads="1"/>
            </p:cNvSpPr>
            <p:nvPr/>
          </p:nvSpPr>
          <p:spPr bwMode="auto">
            <a:xfrm>
              <a:off x="7567111" y="3155845"/>
              <a:ext cx="466773" cy="981619"/>
            </a:xfrm>
            <a:prstGeom prst="curvedLeftArrow">
              <a:avLst>
                <a:gd name="adj1" fmla="val 25002"/>
                <a:gd name="adj2" fmla="val 50004"/>
                <a:gd name="adj3" fmla="val 3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23615" name="Picture 9" descr="C:\Users\Administrator\AppData\Roaming\Tencent\Users\597999009\QQ\WinTemp\RichOle\1AKPSCBIIOLLOXL@N~]ADUB.png"/>
            <p:cNvPicPr>
              <a:picLocks noChangeAspect="1" noChangeArrowheads="1"/>
            </p:cNvPicPr>
            <p:nvPr/>
          </p:nvPicPr>
          <p:blipFill>
            <a:blip r:embed="rId2">
              <a:clrChange>
                <a:clrFrom>
                  <a:srgbClr val="FFFFFF"/>
                </a:clrFrom>
                <a:clrTo>
                  <a:srgbClr val="FFFF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11560" y="2886256"/>
              <a:ext cx="6475533" cy="647700"/>
            </a:xfrm>
            <a:prstGeom prst="rect">
              <a:avLst/>
            </a:prstGeom>
            <a:solidFill>
              <a:srgbClr val="76AEDD"/>
            </a:solidFill>
            <a:ln w="9525">
              <a:noFill/>
              <a:miter lim="800000"/>
              <a:headEnd/>
              <a:tailEnd/>
            </a:ln>
          </p:spPr>
        </p:pic>
      </p:grpSp>
      <p:sp>
        <p:nvSpPr>
          <p:cNvPr id="23608" name="AutoShape 11" descr="http://img5.imgtn.bdimg.com/it/u=2433390337,3835181186&amp;fm=21&amp;gp=0.jpg"/>
          <p:cNvSpPr>
            <a:spLocks noChangeAspect="1" noChangeArrowheads="1"/>
          </p:cNvSpPr>
          <p:nvPr/>
        </p:nvSpPr>
        <p:spPr bwMode="auto">
          <a:xfrm>
            <a:off x="155575" y="-144462"/>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609" name="Rectangle 154"/>
          <p:cNvSpPr txBox="1">
            <a:spLocks noChangeArrowheads="1"/>
          </p:cNvSpPr>
          <p:nvPr/>
        </p:nvSpPr>
        <p:spPr bwMode="auto">
          <a:xfrm>
            <a:off x="854075" y="165100"/>
            <a:ext cx="493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2.2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：稀疏多项式的运算</a:t>
            </a:r>
          </a:p>
        </p:txBody>
      </p:sp>
      <p:sp>
        <p:nvSpPr>
          <p:cNvPr id="23610" name="Rectangle 1"/>
          <p:cNvSpPr>
            <a:spLocks noChangeArrowheads="1"/>
          </p:cNvSpPr>
          <p:nvPr/>
        </p:nvSpPr>
        <p:spPr bwMode="auto">
          <a:xfrm>
            <a:off x="395288" y="1898650"/>
            <a:ext cx="82486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2730">
              <a:lnSpc>
                <a:spcPct val="130000"/>
              </a:lnSpc>
              <a:tabLst>
                <a:tab pos="2667000" algn="ctr"/>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2667000" algn="ctr"/>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2667000" algn="ctr"/>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2667000" algn="ctr"/>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2667000" algn="ctr"/>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252730" algn="l" defTabSz="914400" rtl="0" eaLnBrk="1" fontAlgn="base" latinLnBrk="0" hangingPunct="1">
              <a:lnSpc>
                <a:spcPct val="130000"/>
              </a:lnSpc>
              <a:spcBef>
                <a:spcPct val="0"/>
              </a:spcBef>
              <a:spcAft>
                <a:spcPct val="0"/>
              </a:spcAft>
              <a:buClrTx/>
              <a:buSzTx/>
              <a:buFontTx/>
              <a:buNone/>
              <a:tabLst>
                <a:tab pos="2667000" algn="ctr"/>
              </a:tabLst>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7 + 3</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+ 9</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8</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+ 5</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17</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8</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+ 22</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7</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− 9</a:t>
            </a:r>
            <a:r>
              <a:rPr kumimoji="0" lang="en-US" altLang="zh-CN" sz="2400" b="0"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a:ln>
                  <a:noFill/>
                </a:ln>
                <a:solidFill>
                  <a:schemeClr val="tx1"/>
                </a:solidFill>
                <a:effectLst/>
                <a:uLnTx/>
                <a:uFillTx/>
                <a:latin typeface="+mn-lt"/>
                <a:ea typeface="+mn-ea"/>
                <a:cs typeface="+mn-ea"/>
                <a:sym typeface="+mn-lt"/>
              </a:rPr>
              <a:t>8</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79" name="AutoShape 4"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0" name="AutoShape 6"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1" name="AutoShape 8" descr="http://img4.imgtn.bdimg.com/it/u=3584398993,898841989&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2" name="AutoShape 11" descr="http://img5.imgtn.bdimg.com/it/u=2433390337,3835181186&amp;fm=21&amp;gp=0.jpg"/>
          <p:cNvSpPr>
            <a:spLocks noChangeAspect="1" noChangeArrowheads="1"/>
          </p:cNvSpPr>
          <p:nvPr/>
        </p:nvSpPr>
        <p:spPr bwMode="auto">
          <a:xfrm>
            <a:off x="155575" y="-144462"/>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83" name="Rectangle 1044"/>
          <p:cNvSpPr>
            <a:spLocks noChangeArrowheads="1"/>
          </p:cNvSpPr>
          <p:nvPr/>
        </p:nvSpPr>
        <p:spPr bwMode="auto">
          <a:xfrm>
            <a:off x="119063" y="2732088"/>
            <a:ext cx="2817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创建一个</a:t>
            </a: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新数组</a:t>
            </a: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c</a:t>
            </a:r>
          </a:p>
        </p:txBody>
      </p:sp>
      <p:sp>
        <p:nvSpPr>
          <p:cNvPr id="24584" name="Rectangle 154"/>
          <p:cNvSpPr txBox="1">
            <a:spLocks noChangeArrowheads="1"/>
          </p:cNvSpPr>
          <p:nvPr/>
        </p:nvSpPr>
        <p:spPr bwMode="auto">
          <a:xfrm>
            <a:off x="854075" y="165100"/>
            <a:ext cx="493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2.2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：稀疏多项式的运算</a:t>
            </a:r>
          </a:p>
        </p:txBody>
      </p:sp>
      <p:grpSp>
        <p:nvGrpSpPr>
          <p:cNvPr id="25609" name="组合 15"/>
          <p:cNvGrpSpPr/>
          <p:nvPr/>
        </p:nvGrpSpPr>
        <p:grpSpPr>
          <a:xfrm>
            <a:off x="2743200" y="1638300"/>
            <a:ext cx="2644775" cy="2355850"/>
            <a:chOff x="3025400" y="1197238"/>
            <a:chExt cx="5489035" cy="4890804"/>
          </a:xfrm>
        </p:grpSpPr>
        <p:sp>
          <p:nvSpPr>
            <p:cNvPr id="19" name="Freeform 5"/>
            <p:cNvSpPr>
              <a:spLocks noEditPoints="1"/>
            </p:cNvSpPr>
            <p:nvPr/>
          </p:nvSpPr>
          <p:spPr bwMode="auto">
            <a:xfrm>
              <a:off x="3373764" y="2204590"/>
              <a:ext cx="2722236" cy="2755074"/>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01ACBE"/>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5615" name="Group 8"/>
            <p:cNvGrpSpPr>
              <a:grpSpLocks noChangeAspect="1"/>
            </p:cNvGrpSpPr>
            <p:nvPr/>
          </p:nvGrpSpPr>
          <p:grpSpPr>
            <a:xfrm>
              <a:off x="4430530" y="3139897"/>
              <a:ext cx="608702" cy="743027"/>
              <a:chOff x="3804" y="2116"/>
              <a:chExt cx="503" cy="614"/>
            </a:xfrm>
          </p:grpSpPr>
          <p:sp>
            <p:nvSpPr>
              <p:cNvPr id="24600" name="AutoShape 7"/>
              <p:cNvSpPr>
                <a:spLocks noChangeAspect="1" noChangeArrowheads="1" noTextEdit="1"/>
              </p:cNvSpPr>
              <p:nvPr/>
            </p:nvSpPr>
            <p:spPr bwMode="auto">
              <a:xfrm>
                <a:off x="3803" y="2115"/>
                <a:ext cx="504"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601" name="Oval 9"/>
              <p:cNvSpPr>
                <a:spLocks noChangeArrowheads="1"/>
              </p:cNvSpPr>
              <p:nvPr/>
            </p:nvSpPr>
            <p:spPr bwMode="auto">
              <a:xfrm>
                <a:off x="3906" y="2137"/>
                <a:ext cx="275" cy="267"/>
              </a:xfrm>
              <a:prstGeom prst="ellipse">
                <a:avLst/>
              </a:prstGeom>
              <a:solidFill>
                <a:srgbClr val="888890"/>
              </a:solidFill>
              <a:ln>
                <a:noFill/>
              </a:ln>
              <a:extLst>
                <a:ext uri="{91240B29-F687-4F45-9708-019B960494DF}">
                  <a14:hiddenLine xmlns:a14="http://schemas.microsoft.com/office/drawing/2010/main" w="9525">
                    <a:solidFill>
                      <a:srgbClr val="000000"/>
                    </a:solidFill>
                    <a:rou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602" name="Freeform 10"/>
              <p:cNvSpPr/>
              <p:nvPr/>
            </p:nvSpPr>
            <p:spPr bwMode="auto">
              <a:xfrm>
                <a:off x="3781" y="2423"/>
                <a:ext cx="525" cy="327"/>
              </a:xfrm>
              <a:custGeom>
                <a:avLst/>
                <a:gdLst>
                  <a:gd name="T0" fmla="*/ 2147483646 w 25"/>
                  <a:gd name="T1" fmla="*/ 0 h 16"/>
                  <a:gd name="T2" fmla="*/ 2147483646 w 25"/>
                  <a:gd name="T3" fmla="*/ 0 h 16"/>
                  <a:gd name="T4" fmla="*/ 2147483646 w 25"/>
                  <a:gd name="T5" fmla="*/ 2147483646 h 16"/>
                  <a:gd name="T6" fmla="*/ 2147483646 w 25"/>
                  <a:gd name="T7" fmla="*/ 2147483646 h 16"/>
                  <a:gd name="T8" fmla="*/ 2147483646 w 25"/>
                  <a:gd name="T9" fmla="*/ 2147483646 h 16"/>
                  <a:gd name="T10" fmla="*/ 2147483646 w 25"/>
                  <a:gd name="T11" fmla="*/ 0 h 16"/>
                  <a:gd name="T12" fmla="*/ 2147483646 w 25"/>
                  <a:gd name="T13" fmla="*/ 0 h 16"/>
                  <a:gd name="T14" fmla="*/ 0 w 25"/>
                  <a:gd name="T15" fmla="*/ 2147483646 h 16"/>
                  <a:gd name="T16" fmla="*/ 0 w 25"/>
                  <a:gd name="T17" fmla="*/ 2147483646 h 16"/>
                  <a:gd name="T18" fmla="*/ 2147483646 w 25"/>
                  <a:gd name="T19" fmla="*/ 2147483646 h 16"/>
                  <a:gd name="T20" fmla="*/ 2147483646 w 25"/>
                  <a:gd name="T21" fmla="*/ 2147483646 h 16"/>
                  <a:gd name="T22" fmla="*/ 2147483646 w 25"/>
                  <a:gd name="T23" fmla="*/ 2147483646 h 16"/>
                  <a:gd name="T24" fmla="*/ 2147483646 w 25"/>
                  <a:gd name="T25" fmla="*/ 0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16">
                    <a:moveTo>
                      <a:pt x="16" y="0"/>
                    </a:moveTo>
                    <a:cubicBezTo>
                      <a:pt x="13" y="0"/>
                      <a:pt x="13" y="0"/>
                      <a:pt x="13" y="0"/>
                    </a:cubicBezTo>
                    <a:cubicBezTo>
                      <a:pt x="15" y="11"/>
                      <a:pt x="15" y="11"/>
                      <a:pt x="15" y="11"/>
                    </a:cubicBezTo>
                    <a:cubicBezTo>
                      <a:pt x="12" y="14"/>
                      <a:pt x="12" y="14"/>
                      <a:pt x="12" y="14"/>
                    </a:cubicBezTo>
                    <a:cubicBezTo>
                      <a:pt x="9" y="11"/>
                      <a:pt x="9" y="11"/>
                      <a:pt x="9" y="11"/>
                    </a:cubicBezTo>
                    <a:cubicBezTo>
                      <a:pt x="11" y="0"/>
                      <a:pt x="11" y="0"/>
                      <a:pt x="11" y="0"/>
                    </a:cubicBezTo>
                    <a:cubicBezTo>
                      <a:pt x="8" y="0"/>
                      <a:pt x="8" y="0"/>
                      <a:pt x="8" y="0"/>
                    </a:cubicBezTo>
                    <a:cubicBezTo>
                      <a:pt x="3" y="0"/>
                      <a:pt x="0" y="4"/>
                      <a:pt x="0" y="8"/>
                    </a:cubicBezTo>
                    <a:cubicBezTo>
                      <a:pt x="0" y="14"/>
                      <a:pt x="0" y="14"/>
                      <a:pt x="0" y="14"/>
                    </a:cubicBezTo>
                    <a:cubicBezTo>
                      <a:pt x="3" y="16"/>
                      <a:pt x="9" y="16"/>
                      <a:pt x="12" y="16"/>
                    </a:cubicBezTo>
                    <a:cubicBezTo>
                      <a:pt x="15" y="16"/>
                      <a:pt x="21" y="16"/>
                      <a:pt x="25" y="14"/>
                    </a:cubicBezTo>
                    <a:cubicBezTo>
                      <a:pt x="25" y="8"/>
                      <a:pt x="25" y="8"/>
                      <a:pt x="25" y="8"/>
                    </a:cubicBezTo>
                    <a:cubicBezTo>
                      <a:pt x="25" y="4"/>
                      <a:pt x="21" y="0"/>
                      <a:pt x="16" y="0"/>
                    </a:cubicBezTo>
                  </a:path>
                </a:pathLst>
              </a:custGeom>
              <a:solidFill>
                <a:srgbClr val="88889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4592" name="Freeform 14"/>
            <p:cNvSpPr/>
            <p:nvPr/>
          </p:nvSpPr>
          <p:spPr bwMode="auto">
            <a:xfrm>
              <a:off x="3025400" y="1968429"/>
              <a:ext cx="2807118" cy="3256142"/>
            </a:xfrm>
            <a:custGeom>
              <a:avLst/>
              <a:gdLst>
                <a:gd name="T0" fmla="*/ 2147483646 w 85"/>
                <a:gd name="T1" fmla="*/ 0 h 99"/>
                <a:gd name="T2" fmla="*/ 2147483646 w 85"/>
                <a:gd name="T3" fmla="*/ 2147483646 h 99"/>
                <a:gd name="T4" fmla="*/ 0 w 85"/>
                <a:gd name="T5" fmla="*/ 2147483646 h 99"/>
                <a:gd name="T6" fmla="*/ 2147483646 w 85"/>
                <a:gd name="T7" fmla="*/ 2147483646 h 99"/>
                <a:gd name="T8" fmla="*/ 2147483646 w 85"/>
                <a:gd name="T9" fmla="*/ 2147483646 h 99"/>
                <a:gd name="T10" fmla="*/ 2147483646 w 85"/>
                <a:gd name="T11" fmla="*/ 2147483646 h 99"/>
                <a:gd name="T12" fmla="*/ 2147483646 w 85"/>
                <a:gd name="T13" fmla="*/ 2147483646 h 99"/>
                <a:gd name="T14" fmla="*/ 2147483646 w 85"/>
                <a:gd name="T15" fmla="*/ 2147483646 h 99"/>
                <a:gd name="T16" fmla="*/ 2147483646 w 85"/>
                <a:gd name="T17" fmla="*/ 2147483646 h 99"/>
                <a:gd name="T18" fmla="*/ 2147483646 w 85"/>
                <a:gd name="T19" fmla="*/ 2147483646 h 99"/>
                <a:gd name="T20" fmla="*/ 2147483646 w 85"/>
                <a:gd name="T21" fmla="*/ 2147483646 h 99"/>
                <a:gd name="T22" fmla="*/ 2147483646 w 85"/>
                <a:gd name="T23" fmla="*/ 2147483646 h 99"/>
                <a:gd name="T24" fmla="*/ 2147483646 w 85"/>
                <a:gd name="T25" fmla="*/ 2147483646 h 99"/>
                <a:gd name="T26" fmla="*/ 2147483646 w 85"/>
                <a:gd name="T27" fmla="*/ 2147483646 h 99"/>
                <a:gd name="T28" fmla="*/ 2147483646 w 85"/>
                <a:gd name="T29" fmla="*/ 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solidFill>
              <a:srgbClr val="05B8CA"/>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2" name="组合 21"/>
            <p:cNvGrpSpPr/>
            <p:nvPr/>
          </p:nvGrpSpPr>
          <p:grpSpPr>
            <a:xfrm rot="9277281">
              <a:off x="6065134" y="1197238"/>
              <a:ext cx="2449301" cy="2596616"/>
              <a:chOff x="3533775" y="1263651"/>
              <a:chExt cx="4028103" cy="4270375"/>
            </a:xfrm>
            <a:solidFill>
              <a:srgbClr val="8DC1CF"/>
            </a:solidFill>
          </p:grpSpPr>
          <p:sp>
            <p:nvSpPr>
              <p:cNvPr id="28" name="Freeform 5"/>
              <p:cNvSpPr>
                <a:spLocks noEditPoints="1"/>
              </p:cNvSpPr>
              <p:nvPr/>
            </p:nvSpPr>
            <p:spPr bwMode="auto">
              <a:xfrm>
                <a:off x="3990769" y="1572211"/>
                <a:ext cx="3571109" cy="3614186"/>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chemeClr val="bg2">
                  <a:lumMod val="40000"/>
                  <a:lumOff val="60000"/>
                </a:schemeClr>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9" name="Freeform 14"/>
              <p:cNvSpPr/>
              <p:nvPr/>
            </p:nvSpPr>
            <p:spPr bwMode="auto">
              <a:xfrm>
                <a:off x="3533775" y="1263651"/>
                <a:ext cx="3683000" cy="4270375"/>
              </a:xfrm>
              <a:custGeom>
                <a:avLst/>
                <a:gdLst>
                  <a:gd name="T0" fmla="*/ 49 w 85"/>
                  <a:gd name="T1" fmla="*/ 0 h 99"/>
                  <a:gd name="T2" fmla="*/ 14 w 85"/>
                  <a:gd name="T3" fmla="*/ 14 h 99"/>
                  <a:gd name="T4" fmla="*/ 0 w 85"/>
                  <a:gd name="T5" fmla="*/ 49 h 99"/>
                  <a:gd name="T6" fmla="*/ 14 w 85"/>
                  <a:gd name="T7" fmla="*/ 84 h 99"/>
                  <a:gd name="T8" fmla="*/ 50 w 85"/>
                  <a:gd name="T9" fmla="*/ 99 h 99"/>
                  <a:gd name="T10" fmla="*/ 85 w 85"/>
                  <a:gd name="T11" fmla="*/ 84 h 99"/>
                  <a:gd name="T12" fmla="*/ 82 w 85"/>
                  <a:gd name="T13" fmla="*/ 82 h 99"/>
                  <a:gd name="T14" fmla="*/ 50 w 85"/>
                  <a:gd name="T15" fmla="*/ 96 h 99"/>
                  <a:gd name="T16" fmla="*/ 17 w 85"/>
                  <a:gd name="T17" fmla="*/ 82 h 99"/>
                  <a:gd name="T18" fmla="*/ 3 w 85"/>
                  <a:gd name="T19" fmla="*/ 49 h 99"/>
                  <a:gd name="T20" fmla="*/ 17 w 85"/>
                  <a:gd name="T21" fmla="*/ 16 h 99"/>
                  <a:gd name="T22" fmla="*/ 49 w 85"/>
                  <a:gd name="T23" fmla="*/ 2 h 99"/>
                  <a:gd name="T24" fmla="*/ 78 w 85"/>
                  <a:gd name="T25" fmla="*/ 12 h 99"/>
                  <a:gd name="T26" fmla="*/ 80 w 85"/>
                  <a:gd name="T27" fmla="*/ 10 h 99"/>
                  <a:gd name="T28" fmla="*/ 49 w 85"/>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solidFill>
                <a:schemeClr val="bg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4594" name="KSO_Shape"/>
            <p:cNvSpPr/>
            <p:nvPr/>
          </p:nvSpPr>
          <p:spPr bwMode="auto">
            <a:xfrm>
              <a:off x="7002151" y="2261747"/>
              <a:ext cx="336063" cy="606407"/>
            </a:xfrm>
            <a:custGeom>
              <a:avLst/>
              <a:gdLst>
                <a:gd name="T0" fmla="*/ 5278 w 709759"/>
                <a:gd name="T1" fmla="*/ 0 h 1280034"/>
                <a:gd name="T2" fmla="*/ 8181 w 709759"/>
                <a:gd name="T3" fmla="*/ 0 h 1280034"/>
                <a:gd name="T4" fmla="*/ 8181 w 709759"/>
                <a:gd name="T5" fmla="*/ 2609 h 1280034"/>
                <a:gd name="T6" fmla="*/ 12668 w 709759"/>
                <a:gd name="T7" fmla="*/ 3392 h 1280034"/>
                <a:gd name="T8" fmla="*/ 11613 w 709759"/>
                <a:gd name="T9" fmla="*/ 6784 h 1280034"/>
                <a:gd name="T10" fmla="*/ 7390 w 709759"/>
                <a:gd name="T11" fmla="*/ 5740 h 1280034"/>
                <a:gd name="T12" fmla="*/ 4751 w 709759"/>
                <a:gd name="T13" fmla="*/ 7567 h 1280034"/>
                <a:gd name="T14" fmla="*/ 8445 w 709759"/>
                <a:gd name="T15" fmla="*/ 9915 h 1280034"/>
                <a:gd name="T16" fmla="*/ 13460 w 709759"/>
                <a:gd name="T17" fmla="*/ 15656 h 1280034"/>
                <a:gd name="T18" fmla="*/ 8181 w 709759"/>
                <a:gd name="T19" fmla="*/ 20874 h 1280034"/>
                <a:gd name="T20" fmla="*/ 8181 w 709759"/>
                <a:gd name="T21" fmla="*/ 24005 h 1280034"/>
                <a:gd name="T22" fmla="*/ 5278 w 709759"/>
                <a:gd name="T23" fmla="*/ 24005 h 1280034"/>
                <a:gd name="T24" fmla="*/ 5278 w 709759"/>
                <a:gd name="T25" fmla="*/ 21135 h 1280034"/>
                <a:gd name="T26" fmla="*/ 0 w 709759"/>
                <a:gd name="T27" fmla="*/ 19830 h 1280034"/>
                <a:gd name="T28" fmla="*/ 1056 w 709759"/>
                <a:gd name="T29" fmla="*/ 16438 h 1280034"/>
                <a:gd name="T30" fmla="*/ 6070 w 709759"/>
                <a:gd name="T31" fmla="*/ 17743 h 1280034"/>
                <a:gd name="T32" fmla="*/ 8973 w 709759"/>
                <a:gd name="T33" fmla="*/ 15916 h 1280034"/>
                <a:gd name="T34" fmla="*/ 5806 w 709759"/>
                <a:gd name="T35" fmla="*/ 13307 h 1280034"/>
                <a:gd name="T36" fmla="*/ 264 w 709759"/>
                <a:gd name="T37" fmla="*/ 8089 h 1280034"/>
                <a:gd name="T38" fmla="*/ 5278 w 709759"/>
                <a:gd name="T39" fmla="*/ 2609 h 1280034"/>
                <a:gd name="T40" fmla="*/ 5278 w 709759"/>
                <a:gd name="T41" fmla="*/ 0 h 12800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09759" h="1280034">
                  <a:moveTo>
                    <a:pt x="278337" y="0"/>
                  </a:moveTo>
                  <a:cubicBezTo>
                    <a:pt x="431422" y="0"/>
                    <a:pt x="431422" y="0"/>
                    <a:pt x="431422" y="0"/>
                  </a:cubicBezTo>
                  <a:cubicBezTo>
                    <a:pt x="431422" y="139134"/>
                    <a:pt x="431422" y="139134"/>
                    <a:pt x="431422" y="139134"/>
                  </a:cubicBezTo>
                  <a:cubicBezTo>
                    <a:pt x="542757" y="139134"/>
                    <a:pt x="612342" y="166961"/>
                    <a:pt x="668009" y="180875"/>
                  </a:cubicBezTo>
                  <a:cubicBezTo>
                    <a:pt x="612342" y="361749"/>
                    <a:pt x="612342" y="361749"/>
                    <a:pt x="612342" y="361749"/>
                  </a:cubicBezTo>
                  <a:cubicBezTo>
                    <a:pt x="584508" y="347835"/>
                    <a:pt x="501007" y="306095"/>
                    <a:pt x="389672" y="306095"/>
                  </a:cubicBezTo>
                  <a:cubicBezTo>
                    <a:pt x="292254" y="306095"/>
                    <a:pt x="250503" y="361749"/>
                    <a:pt x="250503" y="403489"/>
                  </a:cubicBezTo>
                  <a:cubicBezTo>
                    <a:pt x="250503" y="445229"/>
                    <a:pt x="306171" y="486970"/>
                    <a:pt x="445339" y="528710"/>
                  </a:cubicBezTo>
                  <a:cubicBezTo>
                    <a:pt x="640175" y="598277"/>
                    <a:pt x="709759" y="681757"/>
                    <a:pt x="709759" y="834805"/>
                  </a:cubicBezTo>
                  <a:cubicBezTo>
                    <a:pt x="709759" y="973939"/>
                    <a:pt x="612342" y="1085246"/>
                    <a:pt x="431422" y="1113073"/>
                  </a:cubicBezTo>
                  <a:cubicBezTo>
                    <a:pt x="431422" y="1280034"/>
                    <a:pt x="431422" y="1280034"/>
                    <a:pt x="431422" y="1280034"/>
                  </a:cubicBezTo>
                  <a:cubicBezTo>
                    <a:pt x="278337" y="1280034"/>
                    <a:pt x="278337" y="1280034"/>
                    <a:pt x="278337" y="1280034"/>
                  </a:cubicBezTo>
                  <a:cubicBezTo>
                    <a:pt x="278337" y="1126986"/>
                    <a:pt x="278337" y="1126986"/>
                    <a:pt x="278337" y="1126986"/>
                  </a:cubicBezTo>
                  <a:cubicBezTo>
                    <a:pt x="167002" y="1126986"/>
                    <a:pt x="69584" y="1099160"/>
                    <a:pt x="0" y="1057419"/>
                  </a:cubicBezTo>
                  <a:cubicBezTo>
                    <a:pt x="55667" y="876545"/>
                    <a:pt x="55667" y="876545"/>
                    <a:pt x="55667" y="876545"/>
                  </a:cubicBezTo>
                  <a:cubicBezTo>
                    <a:pt x="125252" y="918285"/>
                    <a:pt x="208753" y="946112"/>
                    <a:pt x="320088" y="946112"/>
                  </a:cubicBezTo>
                  <a:cubicBezTo>
                    <a:pt x="403589" y="946112"/>
                    <a:pt x="473173" y="918285"/>
                    <a:pt x="473173" y="848718"/>
                  </a:cubicBezTo>
                  <a:cubicBezTo>
                    <a:pt x="473173" y="793065"/>
                    <a:pt x="417506" y="751324"/>
                    <a:pt x="306171" y="709584"/>
                  </a:cubicBezTo>
                  <a:cubicBezTo>
                    <a:pt x="125252" y="653930"/>
                    <a:pt x="13917" y="584363"/>
                    <a:pt x="13917" y="431316"/>
                  </a:cubicBezTo>
                  <a:cubicBezTo>
                    <a:pt x="13917" y="292182"/>
                    <a:pt x="111335" y="180875"/>
                    <a:pt x="278337" y="139134"/>
                  </a:cubicBezTo>
                  <a:cubicBezTo>
                    <a:pt x="278337" y="0"/>
                    <a:pt x="278337" y="0"/>
                    <a:pt x="278337" y="0"/>
                  </a:cubicBezTo>
                  <a:close/>
                </a:path>
              </a:pathLst>
            </a:custGeom>
            <a:solidFill>
              <a:srgbClr val="888890"/>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 name="Freeform 5"/>
            <p:cNvSpPr>
              <a:spLocks noEditPoints="1"/>
            </p:cNvSpPr>
            <p:nvPr/>
          </p:nvSpPr>
          <p:spPr bwMode="auto">
            <a:xfrm rot="13858708">
              <a:off x="6228882" y="4042244"/>
              <a:ext cx="1697289" cy="1717763"/>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6C4C8F"/>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4598" name="Freeform 18"/>
            <p:cNvSpPr/>
            <p:nvPr/>
          </p:nvSpPr>
          <p:spPr bwMode="auto">
            <a:xfrm rot="-1119039">
              <a:off x="5875350" y="4031531"/>
              <a:ext cx="2405159" cy="2056511"/>
            </a:xfrm>
            <a:custGeom>
              <a:avLst/>
              <a:gdLst>
                <a:gd name="T0" fmla="*/ 2147483646 w 52"/>
                <a:gd name="T1" fmla="*/ 0 h 44"/>
                <a:gd name="T2" fmla="*/ 2147483646 w 52"/>
                <a:gd name="T3" fmla="*/ 2147483646 h 44"/>
                <a:gd name="T4" fmla="*/ 2147483646 w 52"/>
                <a:gd name="T5" fmla="*/ 2147483646 h 44"/>
                <a:gd name="T6" fmla="*/ 2147483646 w 52"/>
                <a:gd name="T7" fmla="*/ 2147483646 h 44"/>
                <a:gd name="T8" fmla="*/ 2147483646 w 52"/>
                <a:gd name="T9" fmla="*/ 2147483646 h 44"/>
                <a:gd name="T10" fmla="*/ 2147483646 w 52"/>
                <a:gd name="T11" fmla="*/ 2147483646 h 44"/>
                <a:gd name="T12" fmla="*/ 2147483646 w 52"/>
                <a:gd name="T13" fmla="*/ 2147483646 h 44"/>
                <a:gd name="T14" fmla="*/ 2147483646 w 52"/>
                <a:gd name="T15" fmla="*/ 2147483646 h 44"/>
                <a:gd name="T16" fmla="*/ 2147483646 w 52"/>
                <a:gd name="T17" fmla="*/ 2147483646 h 44"/>
                <a:gd name="T18" fmla="*/ 2147483646 w 52"/>
                <a:gd name="T19" fmla="*/ 2147483646 h 44"/>
                <a:gd name="T20" fmla="*/ 0 w 52"/>
                <a:gd name="T21" fmla="*/ 2147483646 h 44"/>
                <a:gd name="T22" fmla="*/ 0 w 52"/>
                <a:gd name="T23" fmla="*/ 2147483646 h 44"/>
                <a:gd name="T24" fmla="*/ 2147483646 w 52"/>
                <a:gd name="T25" fmla="*/ 2147483646 h 44"/>
                <a:gd name="T26" fmla="*/ 2147483646 w 52"/>
                <a:gd name="T27" fmla="*/ 2147483646 h 44"/>
                <a:gd name="T28" fmla="*/ 2147483646 w 52"/>
                <a:gd name="T29" fmla="*/ 2147483646 h 44"/>
                <a:gd name="T30" fmla="*/ 2147483646 w 52"/>
                <a:gd name="T31" fmla="*/ 2147483646 h 44"/>
                <a:gd name="T32" fmla="*/ 2147483646 w 52"/>
                <a:gd name="T33" fmla="*/ 2147483646 h 44"/>
                <a:gd name="T34" fmla="*/ 2147483646 w 52"/>
                <a:gd name="T35" fmla="*/ 2147483646 h 44"/>
                <a:gd name="T36" fmla="*/ 2147483646 w 52"/>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2" h="44">
                  <a:moveTo>
                    <a:pt x="45" y="0"/>
                  </a:moveTo>
                  <a:cubicBezTo>
                    <a:pt x="43" y="2"/>
                    <a:pt x="43" y="2"/>
                    <a:pt x="43" y="2"/>
                  </a:cubicBezTo>
                  <a:cubicBezTo>
                    <a:pt x="43" y="3"/>
                    <a:pt x="43" y="3"/>
                    <a:pt x="43" y="3"/>
                  </a:cubicBezTo>
                  <a:cubicBezTo>
                    <a:pt x="47" y="8"/>
                    <a:pt x="49" y="14"/>
                    <a:pt x="49" y="20"/>
                  </a:cubicBezTo>
                  <a:cubicBezTo>
                    <a:pt x="48" y="26"/>
                    <a:pt x="45" y="31"/>
                    <a:pt x="41" y="35"/>
                  </a:cubicBezTo>
                  <a:cubicBezTo>
                    <a:pt x="37" y="39"/>
                    <a:pt x="31" y="41"/>
                    <a:pt x="26" y="41"/>
                  </a:cubicBezTo>
                  <a:cubicBezTo>
                    <a:pt x="25" y="41"/>
                    <a:pt x="25" y="41"/>
                    <a:pt x="24" y="40"/>
                  </a:cubicBezTo>
                  <a:cubicBezTo>
                    <a:pt x="18" y="40"/>
                    <a:pt x="13" y="37"/>
                    <a:pt x="9" y="32"/>
                  </a:cubicBezTo>
                  <a:cubicBezTo>
                    <a:pt x="5" y="28"/>
                    <a:pt x="3" y="22"/>
                    <a:pt x="3" y="16"/>
                  </a:cubicBezTo>
                  <a:cubicBezTo>
                    <a:pt x="3" y="15"/>
                    <a:pt x="3" y="15"/>
                    <a:pt x="3" y="15"/>
                  </a:cubicBezTo>
                  <a:cubicBezTo>
                    <a:pt x="0" y="15"/>
                    <a:pt x="0" y="15"/>
                    <a:pt x="0" y="15"/>
                  </a:cubicBezTo>
                  <a:cubicBezTo>
                    <a:pt x="0" y="16"/>
                    <a:pt x="0" y="16"/>
                    <a:pt x="0" y="16"/>
                  </a:cubicBezTo>
                  <a:cubicBezTo>
                    <a:pt x="0" y="22"/>
                    <a:pt x="2" y="29"/>
                    <a:pt x="6" y="34"/>
                  </a:cubicBezTo>
                  <a:cubicBezTo>
                    <a:pt x="11" y="40"/>
                    <a:pt x="17" y="43"/>
                    <a:pt x="24" y="43"/>
                  </a:cubicBezTo>
                  <a:cubicBezTo>
                    <a:pt x="25" y="44"/>
                    <a:pt x="25" y="44"/>
                    <a:pt x="26" y="44"/>
                  </a:cubicBezTo>
                  <a:cubicBezTo>
                    <a:pt x="32" y="44"/>
                    <a:pt x="38" y="41"/>
                    <a:pt x="43" y="38"/>
                  </a:cubicBezTo>
                  <a:cubicBezTo>
                    <a:pt x="48" y="33"/>
                    <a:pt x="51" y="27"/>
                    <a:pt x="52" y="20"/>
                  </a:cubicBezTo>
                  <a:cubicBezTo>
                    <a:pt x="52" y="13"/>
                    <a:pt x="50" y="6"/>
                    <a:pt x="46" y="1"/>
                  </a:cubicBezTo>
                  <a:cubicBezTo>
                    <a:pt x="45" y="0"/>
                    <a:pt x="45" y="0"/>
                    <a:pt x="45" y="0"/>
                  </a:cubicBezTo>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 name="KSO_Shape"/>
            <p:cNvSpPr/>
            <p:nvPr/>
          </p:nvSpPr>
          <p:spPr bwMode="auto">
            <a:xfrm>
              <a:off x="6929667" y="4720332"/>
              <a:ext cx="332768" cy="359229"/>
            </a:xfrm>
            <a:custGeom>
              <a:avLst/>
              <a:gdLst>
                <a:gd name="T0" fmla="*/ 1753292 w 4636"/>
                <a:gd name="T1" fmla="*/ 1304768 h 4986"/>
                <a:gd name="T2" fmla="*/ 1683756 w 4636"/>
                <a:gd name="T3" fmla="*/ 1479374 h 4986"/>
                <a:gd name="T4" fmla="*/ 1569137 w 4636"/>
                <a:gd name="T5" fmla="*/ 1631438 h 4986"/>
                <a:gd name="T6" fmla="*/ 1415547 w 4636"/>
                <a:gd name="T7" fmla="*/ 1755611 h 4986"/>
                <a:gd name="T8" fmla="*/ 1230628 w 4636"/>
                <a:gd name="T9" fmla="*/ 1845779 h 4986"/>
                <a:gd name="T10" fmla="*/ 1020493 w 4636"/>
                <a:gd name="T11" fmla="*/ 1896594 h 4986"/>
                <a:gd name="T12" fmla="*/ 817235 w 4636"/>
                <a:gd name="T13" fmla="*/ 1902708 h 4986"/>
                <a:gd name="T14" fmla="*/ 601369 w 4636"/>
                <a:gd name="T15" fmla="*/ 1865647 h 4986"/>
                <a:gd name="T16" fmla="*/ 408426 w 4636"/>
                <a:gd name="T17" fmla="*/ 1786558 h 4986"/>
                <a:gd name="T18" fmla="*/ 244521 w 4636"/>
                <a:gd name="T19" fmla="*/ 1671937 h 4986"/>
                <a:gd name="T20" fmla="*/ 117294 w 4636"/>
                <a:gd name="T21" fmla="*/ 1527897 h 4986"/>
                <a:gd name="T22" fmla="*/ 33622 w 4636"/>
                <a:gd name="T23" fmla="*/ 1359022 h 4986"/>
                <a:gd name="T24" fmla="*/ 382 w 4636"/>
                <a:gd name="T25" fmla="*/ 1173336 h 4986"/>
                <a:gd name="T26" fmla="*/ 9170 w 4636"/>
                <a:gd name="T27" fmla="*/ 1046107 h 4986"/>
                <a:gd name="T28" fmla="*/ 44319 w 4636"/>
                <a:gd name="T29" fmla="*/ 918114 h 4986"/>
                <a:gd name="T30" fmla="*/ 104303 w 4636"/>
                <a:gd name="T31" fmla="*/ 799672 h 4986"/>
                <a:gd name="T32" fmla="*/ 224654 w 4636"/>
                <a:gd name="T33" fmla="*/ 654103 h 4986"/>
                <a:gd name="T34" fmla="*/ 458477 w 4636"/>
                <a:gd name="T35" fmla="*/ 495927 h 4986"/>
                <a:gd name="T36" fmla="*/ 1413637 w 4636"/>
                <a:gd name="T37" fmla="*/ 551327 h 4986"/>
                <a:gd name="T38" fmla="*/ 1619952 w 4636"/>
                <a:gd name="T39" fmla="*/ 733956 h 4986"/>
                <a:gd name="T40" fmla="*/ 1693690 w 4636"/>
                <a:gd name="T41" fmla="*/ 845520 h 4986"/>
                <a:gd name="T42" fmla="*/ 1744122 w 4636"/>
                <a:gd name="T43" fmla="*/ 968165 h 4986"/>
                <a:gd name="T44" fmla="*/ 1768957 w 4636"/>
                <a:gd name="T45" fmla="*/ 1099215 h 4986"/>
                <a:gd name="T46" fmla="*/ 810740 w 4636"/>
                <a:gd name="T47" fmla="*/ 1403342 h 4986"/>
                <a:gd name="T48" fmla="*/ 749610 w 4636"/>
                <a:gd name="T49" fmla="*/ 1364371 h 4986"/>
                <a:gd name="T50" fmla="*/ 721337 w 4636"/>
                <a:gd name="T51" fmla="*/ 1311646 h 4986"/>
                <a:gd name="T52" fmla="*/ 574242 w 4636"/>
                <a:gd name="T53" fmla="*/ 1220331 h 4986"/>
                <a:gd name="T54" fmla="*/ 590289 w 4636"/>
                <a:gd name="T55" fmla="*/ 1349853 h 4986"/>
                <a:gd name="T56" fmla="*/ 636519 w 4636"/>
                <a:gd name="T57" fmla="*/ 1442696 h 4986"/>
                <a:gd name="T58" fmla="*/ 705290 w 4636"/>
                <a:gd name="T59" fmla="*/ 1500770 h 4986"/>
                <a:gd name="T60" fmla="*/ 835956 w 4636"/>
                <a:gd name="T61" fmla="*/ 1679961 h 4986"/>
                <a:gd name="T62" fmla="*/ 1024696 w 4636"/>
                <a:gd name="T63" fmla="*/ 1517199 h 4986"/>
                <a:gd name="T64" fmla="*/ 1127089 w 4636"/>
                <a:gd name="T65" fmla="*/ 1453011 h 4986"/>
                <a:gd name="T66" fmla="*/ 1182488 w 4636"/>
                <a:gd name="T67" fmla="*/ 1354819 h 4986"/>
                <a:gd name="T68" fmla="*/ 1193950 w 4636"/>
                <a:gd name="T69" fmla="*/ 1246694 h 4986"/>
                <a:gd name="T70" fmla="*/ 1176375 w 4636"/>
                <a:gd name="T71" fmla="*/ 1166459 h 4986"/>
                <a:gd name="T72" fmla="*/ 1133584 w 4636"/>
                <a:gd name="T73" fmla="*/ 1100361 h 4986"/>
                <a:gd name="T74" fmla="*/ 1066341 w 4636"/>
                <a:gd name="T75" fmla="*/ 1049164 h 4986"/>
                <a:gd name="T76" fmla="*/ 943316 w 4636"/>
                <a:gd name="T77" fmla="*/ 710650 h 4986"/>
                <a:gd name="T78" fmla="*/ 992220 w 4636"/>
                <a:gd name="T79" fmla="*/ 732810 h 4986"/>
                <a:gd name="T80" fmla="*/ 1028899 w 4636"/>
                <a:gd name="T81" fmla="*/ 775984 h 4986"/>
                <a:gd name="T82" fmla="*/ 1183634 w 4636"/>
                <a:gd name="T83" fmla="*/ 862332 h 4986"/>
                <a:gd name="T84" fmla="*/ 1156126 w 4636"/>
                <a:gd name="T85" fmla="*/ 728989 h 4986"/>
                <a:gd name="T86" fmla="*/ 1112953 w 4636"/>
                <a:gd name="T87" fmla="*/ 665566 h 4986"/>
                <a:gd name="T88" fmla="*/ 1054879 w 4636"/>
                <a:gd name="T89" fmla="*/ 620481 h 4986"/>
                <a:gd name="T90" fmla="*/ 971207 w 4636"/>
                <a:gd name="T91" fmla="*/ 591062 h 4986"/>
                <a:gd name="T92" fmla="*/ 831753 w 4636"/>
                <a:gd name="T93" fmla="*/ 588005 h 4986"/>
                <a:gd name="T94" fmla="*/ 707201 w 4636"/>
                <a:gd name="T95" fmla="*/ 635382 h 4986"/>
                <a:gd name="T96" fmla="*/ 628877 w 4636"/>
                <a:gd name="T97" fmla="*/ 713324 h 4986"/>
                <a:gd name="T98" fmla="*/ 596784 w 4636"/>
                <a:gd name="T99" fmla="*/ 822978 h 4986"/>
                <a:gd name="T100" fmla="*/ 609010 w 4636"/>
                <a:gd name="T101" fmla="*/ 933779 h 4986"/>
                <a:gd name="T102" fmla="*/ 664409 w 4636"/>
                <a:gd name="T103" fmla="*/ 1020508 h 4986"/>
                <a:gd name="T104" fmla="*/ 780175 w 4636"/>
                <a:gd name="T105" fmla="*/ 1086989 h 4986"/>
                <a:gd name="T106" fmla="*/ 829461 w 4636"/>
                <a:gd name="T107" fmla="*/ 963962 h 4986"/>
                <a:gd name="T108" fmla="*/ 750374 w 4636"/>
                <a:gd name="T109" fmla="*/ 897100 h 4986"/>
                <a:gd name="T110" fmla="*/ 740440 w 4636"/>
                <a:gd name="T111" fmla="*/ 809988 h 4986"/>
                <a:gd name="T112" fmla="*/ 788198 w 4636"/>
                <a:gd name="T113" fmla="*/ 733192 h 4986"/>
                <a:gd name="T114" fmla="*/ 943316 w 4636"/>
                <a:gd name="T115" fmla="*/ 1136276 h 4986"/>
                <a:gd name="T116" fmla="*/ 1017437 w 4636"/>
                <a:gd name="T117" fmla="*/ 1185945 h 4986"/>
                <a:gd name="T118" fmla="*/ 1045709 w 4636"/>
                <a:gd name="T119" fmla="*/ 1231411 h 4986"/>
                <a:gd name="T120" fmla="*/ 1048766 w 4636"/>
                <a:gd name="T121" fmla="*/ 1299801 h 4986"/>
                <a:gd name="T122" fmla="*/ 1017819 w 4636"/>
                <a:gd name="T123" fmla="*/ 1372395 h 4986"/>
                <a:gd name="T124" fmla="*/ 965858 w 4636"/>
                <a:gd name="T125" fmla="*/ 1409838 h 49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636" h="4986">
                  <a:moveTo>
                    <a:pt x="4636" y="3019"/>
                  </a:moveTo>
                  <a:lnTo>
                    <a:pt x="4636" y="3019"/>
                  </a:lnTo>
                  <a:lnTo>
                    <a:pt x="4635" y="3071"/>
                  </a:lnTo>
                  <a:lnTo>
                    <a:pt x="4633" y="3121"/>
                  </a:lnTo>
                  <a:lnTo>
                    <a:pt x="4629" y="3171"/>
                  </a:lnTo>
                  <a:lnTo>
                    <a:pt x="4624" y="3221"/>
                  </a:lnTo>
                  <a:lnTo>
                    <a:pt x="4618" y="3270"/>
                  </a:lnTo>
                  <a:lnTo>
                    <a:pt x="4609" y="3319"/>
                  </a:lnTo>
                  <a:lnTo>
                    <a:pt x="4600" y="3367"/>
                  </a:lnTo>
                  <a:lnTo>
                    <a:pt x="4589" y="3415"/>
                  </a:lnTo>
                  <a:lnTo>
                    <a:pt x="4577" y="3464"/>
                  </a:lnTo>
                  <a:lnTo>
                    <a:pt x="4563" y="3511"/>
                  </a:lnTo>
                  <a:lnTo>
                    <a:pt x="4548" y="3557"/>
                  </a:lnTo>
                  <a:lnTo>
                    <a:pt x="4532" y="3605"/>
                  </a:lnTo>
                  <a:lnTo>
                    <a:pt x="4515" y="3650"/>
                  </a:lnTo>
                  <a:lnTo>
                    <a:pt x="4496" y="3696"/>
                  </a:lnTo>
                  <a:lnTo>
                    <a:pt x="4476" y="3740"/>
                  </a:lnTo>
                  <a:lnTo>
                    <a:pt x="4454" y="3785"/>
                  </a:lnTo>
                  <a:lnTo>
                    <a:pt x="4431" y="3829"/>
                  </a:lnTo>
                  <a:lnTo>
                    <a:pt x="4407" y="3872"/>
                  </a:lnTo>
                  <a:lnTo>
                    <a:pt x="4382" y="3915"/>
                  </a:lnTo>
                  <a:lnTo>
                    <a:pt x="4357" y="3957"/>
                  </a:lnTo>
                  <a:lnTo>
                    <a:pt x="4330" y="3999"/>
                  </a:lnTo>
                  <a:lnTo>
                    <a:pt x="4300" y="4039"/>
                  </a:lnTo>
                  <a:lnTo>
                    <a:pt x="4271" y="4080"/>
                  </a:lnTo>
                  <a:lnTo>
                    <a:pt x="4240" y="4119"/>
                  </a:lnTo>
                  <a:lnTo>
                    <a:pt x="4209" y="4157"/>
                  </a:lnTo>
                  <a:lnTo>
                    <a:pt x="4176" y="4196"/>
                  </a:lnTo>
                  <a:lnTo>
                    <a:pt x="4141" y="4233"/>
                  </a:lnTo>
                  <a:lnTo>
                    <a:pt x="4107" y="4270"/>
                  </a:lnTo>
                  <a:lnTo>
                    <a:pt x="4071" y="4307"/>
                  </a:lnTo>
                  <a:lnTo>
                    <a:pt x="4034" y="4341"/>
                  </a:lnTo>
                  <a:lnTo>
                    <a:pt x="3996" y="4376"/>
                  </a:lnTo>
                  <a:lnTo>
                    <a:pt x="3957" y="4410"/>
                  </a:lnTo>
                  <a:lnTo>
                    <a:pt x="3917" y="4443"/>
                  </a:lnTo>
                  <a:lnTo>
                    <a:pt x="3876" y="4475"/>
                  </a:lnTo>
                  <a:lnTo>
                    <a:pt x="3835" y="4506"/>
                  </a:lnTo>
                  <a:lnTo>
                    <a:pt x="3792" y="4537"/>
                  </a:lnTo>
                  <a:lnTo>
                    <a:pt x="3749" y="4566"/>
                  </a:lnTo>
                  <a:lnTo>
                    <a:pt x="3705" y="4595"/>
                  </a:lnTo>
                  <a:lnTo>
                    <a:pt x="3660" y="4623"/>
                  </a:lnTo>
                  <a:lnTo>
                    <a:pt x="3614" y="4650"/>
                  </a:lnTo>
                  <a:lnTo>
                    <a:pt x="3567" y="4676"/>
                  </a:lnTo>
                  <a:lnTo>
                    <a:pt x="3520" y="4701"/>
                  </a:lnTo>
                  <a:lnTo>
                    <a:pt x="3472" y="4725"/>
                  </a:lnTo>
                  <a:lnTo>
                    <a:pt x="3422" y="4748"/>
                  </a:lnTo>
                  <a:lnTo>
                    <a:pt x="3373" y="4770"/>
                  </a:lnTo>
                  <a:lnTo>
                    <a:pt x="3322" y="4792"/>
                  </a:lnTo>
                  <a:lnTo>
                    <a:pt x="3272" y="4812"/>
                  </a:lnTo>
                  <a:lnTo>
                    <a:pt x="3221" y="4831"/>
                  </a:lnTo>
                  <a:lnTo>
                    <a:pt x="3168" y="4849"/>
                  </a:lnTo>
                  <a:lnTo>
                    <a:pt x="3114" y="4867"/>
                  </a:lnTo>
                  <a:lnTo>
                    <a:pt x="3062" y="4883"/>
                  </a:lnTo>
                  <a:lnTo>
                    <a:pt x="3007" y="4897"/>
                  </a:lnTo>
                  <a:lnTo>
                    <a:pt x="2952" y="4911"/>
                  </a:lnTo>
                  <a:lnTo>
                    <a:pt x="2897" y="4924"/>
                  </a:lnTo>
                  <a:lnTo>
                    <a:pt x="2841" y="4935"/>
                  </a:lnTo>
                  <a:lnTo>
                    <a:pt x="2785" y="4946"/>
                  </a:lnTo>
                  <a:lnTo>
                    <a:pt x="2729" y="4955"/>
                  </a:lnTo>
                  <a:lnTo>
                    <a:pt x="2671" y="4964"/>
                  </a:lnTo>
                  <a:lnTo>
                    <a:pt x="2613" y="4970"/>
                  </a:lnTo>
                  <a:lnTo>
                    <a:pt x="2555" y="4975"/>
                  </a:lnTo>
                  <a:lnTo>
                    <a:pt x="2496" y="4980"/>
                  </a:lnTo>
                  <a:lnTo>
                    <a:pt x="2437" y="4984"/>
                  </a:lnTo>
                  <a:lnTo>
                    <a:pt x="2377" y="4986"/>
                  </a:lnTo>
                  <a:lnTo>
                    <a:pt x="2318" y="4986"/>
                  </a:lnTo>
                  <a:lnTo>
                    <a:pt x="2258" y="4986"/>
                  </a:lnTo>
                  <a:lnTo>
                    <a:pt x="2199" y="4984"/>
                  </a:lnTo>
                  <a:lnTo>
                    <a:pt x="2139" y="4980"/>
                  </a:lnTo>
                  <a:lnTo>
                    <a:pt x="2081" y="4975"/>
                  </a:lnTo>
                  <a:lnTo>
                    <a:pt x="2022" y="4970"/>
                  </a:lnTo>
                  <a:lnTo>
                    <a:pt x="1964" y="4964"/>
                  </a:lnTo>
                  <a:lnTo>
                    <a:pt x="1908" y="4955"/>
                  </a:lnTo>
                  <a:lnTo>
                    <a:pt x="1851" y="4946"/>
                  </a:lnTo>
                  <a:lnTo>
                    <a:pt x="1794" y="4935"/>
                  </a:lnTo>
                  <a:lnTo>
                    <a:pt x="1738" y="4924"/>
                  </a:lnTo>
                  <a:lnTo>
                    <a:pt x="1683" y="4911"/>
                  </a:lnTo>
                  <a:lnTo>
                    <a:pt x="1628" y="4897"/>
                  </a:lnTo>
                  <a:lnTo>
                    <a:pt x="1574" y="4883"/>
                  </a:lnTo>
                  <a:lnTo>
                    <a:pt x="1521" y="4867"/>
                  </a:lnTo>
                  <a:lnTo>
                    <a:pt x="1468" y="4849"/>
                  </a:lnTo>
                  <a:lnTo>
                    <a:pt x="1416" y="4831"/>
                  </a:lnTo>
                  <a:lnTo>
                    <a:pt x="1364" y="4812"/>
                  </a:lnTo>
                  <a:lnTo>
                    <a:pt x="1313" y="4792"/>
                  </a:lnTo>
                  <a:lnTo>
                    <a:pt x="1262" y="4770"/>
                  </a:lnTo>
                  <a:lnTo>
                    <a:pt x="1213" y="4748"/>
                  </a:lnTo>
                  <a:lnTo>
                    <a:pt x="1163" y="4725"/>
                  </a:lnTo>
                  <a:lnTo>
                    <a:pt x="1116" y="4701"/>
                  </a:lnTo>
                  <a:lnTo>
                    <a:pt x="1069" y="4676"/>
                  </a:lnTo>
                  <a:lnTo>
                    <a:pt x="1021" y="4650"/>
                  </a:lnTo>
                  <a:lnTo>
                    <a:pt x="976" y="4623"/>
                  </a:lnTo>
                  <a:lnTo>
                    <a:pt x="931" y="4595"/>
                  </a:lnTo>
                  <a:lnTo>
                    <a:pt x="887" y="4566"/>
                  </a:lnTo>
                  <a:lnTo>
                    <a:pt x="843" y="4537"/>
                  </a:lnTo>
                  <a:lnTo>
                    <a:pt x="801" y="4506"/>
                  </a:lnTo>
                  <a:lnTo>
                    <a:pt x="759" y="4475"/>
                  </a:lnTo>
                  <a:lnTo>
                    <a:pt x="719" y="4443"/>
                  </a:lnTo>
                  <a:lnTo>
                    <a:pt x="679" y="4410"/>
                  </a:lnTo>
                  <a:lnTo>
                    <a:pt x="640" y="4376"/>
                  </a:lnTo>
                  <a:lnTo>
                    <a:pt x="602" y="4341"/>
                  </a:lnTo>
                  <a:lnTo>
                    <a:pt x="565" y="4307"/>
                  </a:lnTo>
                  <a:lnTo>
                    <a:pt x="529" y="4270"/>
                  </a:lnTo>
                  <a:lnTo>
                    <a:pt x="494" y="4233"/>
                  </a:lnTo>
                  <a:lnTo>
                    <a:pt x="460" y="4196"/>
                  </a:lnTo>
                  <a:lnTo>
                    <a:pt x="428" y="4157"/>
                  </a:lnTo>
                  <a:lnTo>
                    <a:pt x="396" y="4119"/>
                  </a:lnTo>
                  <a:lnTo>
                    <a:pt x="364" y="4080"/>
                  </a:lnTo>
                  <a:lnTo>
                    <a:pt x="335" y="4039"/>
                  </a:lnTo>
                  <a:lnTo>
                    <a:pt x="307" y="3999"/>
                  </a:lnTo>
                  <a:lnTo>
                    <a:pt x="279" y="3957"/>
                  </a:lnTo>
                  <a:lnTo>
                    <a:pt x="253" y="3915"/>
                  </a:lnTo>
                  <a:lnTo>
                    <a:pt x="228" y="3872"/>
                  </a:lnTo>
                  <a:lnTo>
                    <a:pt x="205" y="3829"/>
                  </a:lnTo>
                  <a:lnTo>
                    <a:pt x="182" y="3785"/>
                  </a:lnTo>
                  <a:lnTo>
                    <a:pt x="160" y="3740"/>
                  </a:lnTo>
                  <a:lnTo>
                    <a:pt x="141" y="3696"/>
                  </a:lnTo>
                  <a:lnTo>
                    <a:pt x="122" y="3650"/>
                  </a:lnTo>
                  <a:lnTo>
                    <a:pt x="104" y="3605"/>
                  </a:lnTo>
                  <a:lnTo>
                    <a:pt x="88" y="3557"/>
                  </a:lnTo>
                  <a:lnTo>
                    <a:pt x="72" y="3511"/>
                  </a:lnTo>
                  <a:lnTo>
                    <a:pt x="59" y="3464"/>
                  </a:lnTo>
                  <a:lnTo>
                    <a:pt x="47" y="3415"/>
                  </a:lnTo>
                  <a:lnTo>
                    <a:pt x="35" y="3367"/>
                  </a:lnTo>
                  <a:lnTo>
                    <a:pt x="26" y="3319"/>
                  </a:lnTo>
                  <a:lnTo>
                    <a:pt x="19" y="3270"/>
                  </a:lnTo>
                  <a:lnTo>
                    <a:pt x="11" y="3221"/>
                  </a:lnTo>
                  <a:lnTo>
                    <a:pt x="6" y="3171"/>
                  </a:lnTo>
                  <a:lnTo>
                    <a:pt x="3" y="3121"/>
                  </a:lnTo>
                  <a:lnTo>
                    <a:pt x="1" y="3071"/>
                  </a:lnTo>
                  <a:lnTo>
                    <a:pt x="0" y="3019"/>
                  </a:lnTo>
                  <a:lnTo>
                    <a:pt x="0" y="2983"/>
                  </a:lnTo>
                  <a:lnTo>
                    <a:pt x="1" y="2948"/>
                  </a:lnTo>
                  <a:lnTo>
                    <a:pt x="3" y="2912"/>
                  </a:lnTo>
                  <a:lnTo>
                    <a:pt x="6" y="2877"/>
                  </a:lnTo>
                  <a:lnTo>
                    <a:pt x="9" y="2842"/>
                  </a:lnTo>
                  <a:lnTo>
                    <a:pt x="13" y="2807"/>
                  </a:lnTo>
                  <a:lnTo>
                    <a:pt x="18" y="2772"/>
                  </a:lnTo>
                  <a:lnTo>
                    <a:pt x="24" y="2738"/>
                  </a:lnTo>
                  <a:lnTo>
                    <a:pt x="29" y="2703"/>
                  </a:lnTo>
                  <a:lnTo>
                    <a:pt x="36" y="2669"/>
                  </a:lnTo>
                  <a:lnTo>
                    <a:pt x="44" y="2635"/>
                  </a:lnTo>
                  <a:lnTo>
                    <a:pt x="52" y="2601"/>
                  </a:lnTo>
                  <a:lnTo>
                    <a:pt x="62" y="2567"/>
                  </a:lnTo>
                  <a:lnTo>
                    <a:pt x="71" y="2534"/>
                  </a:lnTo>
                  <a:lnTo>
                    <a:pt x="82" y="2501"/>
                  </a:lnTo>
                  <a:lnTo>
                    <a:pt x="92" y="2468"/>
                  </a:lnTo>
                  <a:lnTo>
                    <a:pt x="104" y="2436"/>
                  </a:lnTo>
                  <a:lnTo>
                    <a:pt x="116" y="2403"/>
                  </a:lnTo>
                  <a:lnTo>
                    <a:pt x="129" y="2371"/>
                  </a:lnTo>
                  <a:lnTo>
                    <a:pt x="143" y="2339"/>
                  </a:lnTo>
                  <a:lnTo>
                    <a:pt x="156" y="2308"/>
                  </a:lnTo>
                  <a:lnTo>
                    <a:pt x="172" y="2276"/>
                  </a:lnTo>
                  <a:lnTo>
                    <a:pt x="187" y="2245"/>
                  </a:lnTo>
                  <a:lnTo>
                    <a:pt x="203" y="2214"/>
                  </a:lnTo>
                  <a:lnTo>
                    <a:pt x="219" y="2184"/>
                  </a:lnTo>
                  <a:lnTo>
                    <a:pt x="237" y="2153"/>
                  </a:lnTo>
                  <a:lnTo>
                    <a:pt x="255" y="2123"/>
                  </a:lnTo>
                  <a:lnTo>
                    <a:pt x="273" y="2093"/>
                  </a:lnTo>
                  <a:lnTo>
                    <a:pt x="292" y="2064"/>
                  </a:lnTo>
                  <a:lnTo>
                    <a:pt x="312" y="2034"/>
                  </a:lnTo>
                  <a:lnTo>
                    <a:pt x="332" y="2006"/>
                  </a:lnTo>
                  <a:lnTo>
                    <a:pt x="353" y="1978"/>
                  </a:lnTo>
                  <a:lnTo>
                    <a:pt x="374" y="1949"/>
                  </a:lnTo>
                  <a:lnTo>
                    <a:pt x="396" y="1922"/>
                  </a:lnTo>
                  <a:lnTo>
                    <a:pt x="440" y="1867"/>
                  </a:lnTo>
                  <a:lnTo>
                    <a:pt x="487" y="1814"/>
                  </a:lnTo>
                  <a:lnTo>
                    <a:pt x="537" y="1762"/>
                  </a:lnTo>
                  <a:lnTo>
                    <a:pt x="588" y="1712"/>
                  </a:lnTo>
                  <a:lnTo>
                    <a:pt x="642" y="1662"/>
                  </a:lnTo>
                  <a:lnTo>
                    <a:pt x="697" y="1615"/>
                  </a:lnTo>
                  <a:lnTo>
                    <a:pt x="754" y="1570"/>
                  </a:lnTo>
                  <a:lnTo>
                    <a:pt x="812" y="1526"/>
                  </a:lnTo>
                  <a:lnTo>
                    <a:pt x="873" y="1483"/>
                  </a:lnTo>
                  <a:lnTo>
                    <a:pt x="935" y="1443"/>
                  </a:lnTo>
                  <a:lnTo>
                    <a:pt x="999" y="1404"/>
                  </a:lnTo>
                  <a:lnTo>
                    <a:pt x="1065" y="1366"/>
                  </a:lnTo>
                  <a:lnTo>
                    <a:pt x="1132" y="1331"/>
                  </a:lnTo>
                  <a:lnTo>
                    <a:pt x="1200" y="1298"/>
                  </a:lnTo>
                  <a:lnTo>
                    <a:pt x="1271" y="1266"/>
                  </a:lnTo>
                  <a:lnTo>
                    <a:pt x="553" y="0"/>
                  </a:lnTo>
                  <a:lnTo>
                    <a:pt x="4082" y="0"/>
                  </a:lnTo>
                  <a:lnTo>
                    <a:pt x="3365" y="1266"/>
                  </a:lnTo>
                  <a:lnTo>
                    <a:pt x="3435" y="1298"/>
                  </a:lnTo>
                  <a:lnTo>
                    <a:pt x="3503" y="1331"/>
                  </a:lnTo>
                  <a:lnTo>
                    <a:pt x="3571" y="1366"/>
                  </a:lnTo>
                  <a:lnTo>
                    <a:pt x="3636" y="1404"/>
                  </a:lnTo>
                  <a:lnTo>
                    <a:pt x="3700" y="1443"/>
                  </a:lnTo>
                  <a:lnTo>
                    <a:pt x="3762" y="1483"/>
                  </a:lnTo>
                  <a:lnTo>
                    <a:pt x="3823" y="1526"/>
                  </a:lnTo>
                  <a:lnTo>
                    <a:pt x="3882" y="1570"/>
                  </a:lnTo>
                  <a:lnTo>
                    <a:pt x="3938" y="1615"/>
                  </a:lnTo>
                  <a:lnTo>
                    <a:pt x="3994" y="1662"/>
                  </a:lnTo>
                  <a:lnTo>
                    <a:pt x="4047" y="1712"/>
                  </a:lnTo>
                  <a:lnTo>
                    <a:pt x="4098" y="1762"/>
                  </a:lnTo>
                  <a:lnTo>
                    <a:pt x="4148" y="1814"/>
                  </a:lnTo>
                  <a:lnTo>
                    <a:pt x="4195" y="1866"/>
                  </a:lnTo>
                  <a:lnTo>
                    <a:pt x="4240" y="1921"/>
                  </a:lnTo>
                  <a:lnTo>
                    <a:pt x="4262" y="1949"/>
                  </a:lnTo>
                  <a:lnTo>
                    <a:pt x="4283" y="1978"/>
                  </a:lnTo>
                  <a:lnTo>
                    <a:pt x="4304" y="2006"/>
                  </a:lnTo>
                  <a:lnTo>
                    <a:pt x="4324" y="2034"/>
                  </a:lnTo>
                  <a:lnTo>
                    <a:pt x="4343" y="2064"/>
                  </a:lnTo>
                  <a:lnTo>
                    <a:pt x="4362" y="2093"/>
                  </a:lnTo>
                  <a:lnTo>
                    <a:pt x="4381" y="2123"/>
                  </a:lnTo>
                  <a:lnTo>
                    <a:pt x="4399" y="2153"/>
                  </a:lnTo>
                  <a:lnTo>
                    <a:pt x="4416" y="2183"/>
                  </a:lnTo>
                  <a:lnTo>
                    <a:pt x="4433" y="2213"/>
                  </a:lnTo>
                  <a:lnTo>
                    <a:pt x="4448" y="2245"/>
                  </a:lnTo>
                  <a:lnTo>
                    <a:pt x="4464" y="2275"/>
                  </a:lnTo>
                  <a:lnTo>
                    <a:pt x="4479" y="2307"/>
                  </a:lnTo>
                  <a:lnTo>
                    <a:pt x="4494" y="2338"/>
                  </a:lnTo>
                  <a:lnTo>
                    <a:pt x="4507" y="2371"/>
                  </a:lnTo>
                  <a:lnTo>
                    <a:pt x="4520" y="2402"/>
                  </a:lnTo>
                  <a:lnTo>
                    <a:pt x="4532" y="2435"/>
                  </a:lnTo>
                  <a:lnTo>
                    <a:pt x="4544" y="2467"/>
                  </a:lnTo>
                  <a:lnTo>
                    <a:pt x="4554" y="2501"/>
                  </a:lnTo>
                  <a:lnTo>
                    <a:pt x="4565" y="2534"/>
                  </a:lnTo>
                  <a:lnTo>
                    <a:pt x="4574" y="2567"/>
                  </a:lnTo>
                  <a:lnTo>
                    <a:pt x="4584" y="2601"/>
                  </a:lnTo>
                  <a:lnTo>
                    <a:pt x="4592" y="2635"/>
                  </a:lnTo>
                  <a:lnTo>
                    <a:pt x="4600" y="2669"/>
                  </a:lnTo>
                  <a:lnTo>
                    <a:pt x="4606" y="2703"/>
                  </a:lnTo>
                  <a:lnTo>
                    <a:pt x="4612" y="2738"/>
                  </a:lnTo>
                  <a:lnTo>
                    <a:pt x="4618" y="2772"/>
                  </a:lnTo>
                  <a:lnTo>
                    <a:pt x="4623" y="2807"/>
                  </a:lnTo>
                  <a:lnTo>
                    <a:pt x="4627" y="2842"/>
                  </a:lnTo>
                  <a:lnTo>
                    <a:pt x="4630" y="2877"/>
                  </a:lnTo>
                  <a:lnTo>
                    <a:pt x="4633" y="2912"/>
                  </a:lnTo>
                  <a:lnTo>
                    <a:pt x="4634" y="2948"/>
                  </a:lnTo>
                  <a:lnTo>
                    <a:pt x="4635" y="2983"/>
                  </a:lnTo>
                  <a:lnTo>
                    <a:pt x="4636" y="3019"/>
                  </a:lnTo>
                  <a:close/>
                  <a:moveTo>
                    <a:pt x="2188" y="3696"/>
                  </a:moveTo>
                  <a:lnTo>
                    <a:pt x="2188" y="3696"/>
                  </a:lnTo>
                  <a:lnTo>
                    <a:pt x="2165" y="3689"/>
                  </a:lnTo>
                  <a:lnTo>
                    <a:pt x="2143" y="3681"/>
                  </a:lnTo>
                  <a:lnTo>
                    <a:pt x="2122" y="3673"/>
                  </a:lnTo>
                  <a:lnTo>
                    <a:pt x="2101" y="3665"/>
                  </a:lnTo>
                  <a:lnTo>
                    <a:pt x="2082" y="3655"/>
                  </a:lnTo>
                  <a:lnTo>
                    <a:pt x="2064" y="3646"/>
                  </a:lnTo>
                  <a:lnTo>
                    <a:pt x="2046" y="3636"/>
                  </a:lnTo>
                  <a:lnTo>
                    <a:pt x="2030" y="3627"/>
                  </a:lnTo>
                  <a:lnTo>
                    <a:pt x="2015" y="3616"/>
                  </a:lnTo>
                  <a:lnTo>
                    <a:pt x="2000" y="3606"/>
                  </a:lnTo>
                  <a:lnTo>
                    <a:pt x="1986" y="3594"/>
                  </a:lnTo>
                  <a:lnTo>
                    <a:pt x="1974" y="3583"/>
                  </a:lnTo>
                  <a:lnTo>
                    <a:pt x="1962" y="3571"/>
                  </a:lnTo>
                  <a:lnTo>
                    <a:pt x="1952" y="3558"/>
                  </a:lnTo>
                  <a:lnTo>
                    <a:pt x="1942" y="3546"/>
                  </a:lnTo>
                  <a:lnTo>
                    <a:pt x="1934" y="3533"/>
                  </a:lnTo>
                  <a:lnTo>
                    <a:pt x="1925" y="3518"/>
                  </a:lnTo>
                  <a:lnTo>
                    <a:pt x="1917" y="3504"/>
                  </a:lnTo>
                  <a:lnTo>
                    <a:pt x="1909" y="3487"/>
                  </a:lnTo>
                  <a:lnTo>
                    <a:pt x="1901" y="3470"/>
                  </a:lnTo>
                  <a:lnTo>
                    <a:pt x="1894" y="3452"/>
                  </a:lnTo>
                  <a:lnTo>
                    <a:pt x="1888" y="3433"/>
                  </a:lnTo>
                  <a:lnTo>
                    <a:pt x="1882" y="3413"/>
                  </a:lnTo>
                  <a:lnTo>
                    <a:pt x="1877" y="3392"/>
                  </a:lnTo>
                  <a:lnTo>
                    <a:pt x="1873" y="3370"/>
                  </a:lnTo>
                  <a:lnTo>
                    <a:pt x="1869" y="3348"/>
                  </a:lnTo>
                  <a:lnTo>
                    <a:pt x="1866" y="3325"/>
                  </a:lnTo>
                  <a:lnTo>
                    <a:pt x="1862" y="3300"/>
                  </a:lnTo>
                  <a:lnTo>
                    <a:pt x="1858" y="3248"/>
                  </a:lnTo>
                  <a:lnTo>
                    <a:pt x="1856" y="3194"/>
                  </a:lnTo>
                  <a:lnTo>
                    <a:pt x="1503" y="3194"/>
                  </a:lnTo>
                  <a:lnTo>
                    <a:pt x="1505" y="3234"/>
                  </a:lnTo>
                  <a:lnTo>
                    <a:pt x="1507" y="3271"/>
                  </a:lnTo>
                  <a:lnTo>
                    <a:pt x="1509" y="3309"/>
                  </a:lnTo>
                  <a:lnTo>
                    <a:pt x="1512" y="3345"/>
                  </a:lnTo>
                  <a:lnTo>
                    <a:pt x="1517" y="3380"/>
                  </a:lnTo>
                  <a:lnTo>
                    <a:pt x="1521" y="3412"/>
                  </a:lnTo>
                  <a:lnTo>
                    <a:pt x="1526" y="3445"/>
                  </a:lnTo>
                  <a:lnTo>
                    <a:pt x="1532" y="3475"/>
                  </a:lnTo>
                  <a:lnTo>
                    <a:pt x="1538" y="3505"/>
                  </a:lnTo>
                  <a:lnTo>
                    <a:pt x="1545" y="3533"/>
                  </a:lnTo>
                  <a:lnTo>
                    <a:pt x="1552" y="3559"/>
                  </a:lnTo>
                  <a:lnTo>
                    <a:pt x="1561" y="3585"/>
                  </a:lnTo>
                  <a:lnTo>
                    <a:pt x="1569" y="3609"/>
                  </a:lnTo>
                  <a:lnTo>
                    <a:pt x="1578" y="3632"/>
                  </a:lnTo>
                  <a:lnTo>
                    <a:pt x="1588" y="3653"/>
                  </a:lnTo>
                  <a:lnTo>
                    <a:pt x="1599" y="3673"/>
                  </a:lnTo>
                  <a:lnTo>
                    <a:pt x="1618" y="3710"/>
                  </a:lnTo>
                  <a:lnTo>
                    <a:pt x="1642" y="3743"/>
                  </a:lnTo>
                  <a:lnTo>
                    <a:pt x="1666" y="3776"/>
                  </a:lnTo>
                  <a:lnTo>
                    <a:pt x="1691" y="3806"/>
                  </a:lnTo>
                  <a:lnTo>
                    <a:pt x="1705" y="3820"/>
                  </a:lnTo>
                  <a:lnTo>
                    <a:pt x="1718" y="3835"/>
                  </a:lnTo>
                  <a:lnTo>
                    <a:pt x="1733" y="3848"/>
                  </a:lnTo>
                  <a:lnTo>
                    <a:pt x="1748" y="3861"/>
                  </a:lnTo>
                  <a:lnTo>
                    <a:pt x="1763" y="3874"/>
                  </a:lnTo>
                  <a:lnTo>
                    <a:pt x="1778" y="3885"/>
                  </a:lnTo>
                  <a:lnTo>
                    <a:pt x="1795" y="3897"/>
                  </a:lnTo>
                  <a:lnTo>
                    <a:pt x="1811" y="3908"/>
                  </a:lnTo>
                  <a:lnTo>
                    <a:pt x="1846" y="3928"/>
                  </a:lnTo>
                  <a:lnTo>
                    <a:pt x="1881" y="3947"/>
                  </a:lnTo>
                  <a:lnTo>
                    <a:pt x="1918" y="3964"/>
                  </a:lnTo>
                  <a:lnTo>
                    <a:pt x="1958" y="3980"/>
                  </a:lnTo>
                  <a:lnTo>
                    <a:pt x="1998" y="3992"/>
                  </a:lnTo>
                  <a:lnTo>
                    <a:pt x="2041" y="4004"/>
                  </a:lnTo>
                  <a:lnTo>
                    <a:pt x="2085" y="4012"/>
                  </a:lnTo>
                  <a:lnTo>
                    <a:pt x="2131" y="4020"/>
                  </a:lnTo>
                  <a:lnTo>
                    <a:pt x="2188" y="4027"/>
                  </a:lnTo>
                  <a:lnTo>
                    <a:pt x="2188" y="4397"/>
                  </a:lnTo>
                  <a:lnTo>
                    <a:pt x="2469" y="4397"/>
                  </a:lnTo>
                  <a:lnTo>
                    <a:pt x="2469" y="4027"/>
                  </a:lnTo>
                  <a:lnTo>
                    <a:pt x="2504" y="4021"/>
                  </a:lnTo>
                  <a:lnTo>
                    <a:pt x="2541" y="4012"/>
                  </a:lnTo>
                  <a:lnTo>
                    <a:pt x="2578" y="4004"/>
                  </a:lnTo>
                  <a:lnTo>
                    <a:pt x="2614" y="3994"/>
                  </a:lnTo>
                  <a:lnTo>
                    <a:pt x="2649" y="3983"/>
                  </a:lnTo>
                  <a:lnTo>
                    <a:pt x="2682" y="3971"/>
                  </a:lnTo>
                  <a:lnTo>
                    <a:pt x="2715" y="3959"/>
                  </a:lnTo>
                  <a:lnTo>
                    <a:pt x="2745" y="3945"/>
                  </a:lnTo>
                  <a:lnTo>
                    <a:pt x="2776" y="3930"/>
                  </a:lnTo>
                  <a:lnTo>
                    <a:pt x="2804" y="3915"/>
                  </a:lnTo>
                  <a:lnTo>
                    <a:pt x="2832" y="3899"/>
                  </a:lnTo>
                  <a:lnTo>
                    <a:pt x="2858" y="3882"/>
                  </a:lnTo>
                  <a:lnTo>
                    <a:pt x="2882" y="3863"/>
                  </a:lnTo>
                  <a:lnTo>
                    <a:pt x="2906" y="3844"/>
                  </a:lnTo>
                  <a:lnTo>
                    <a:pt x="2928" y="3824"/>
                  </a:lnTo>
                  <a:lnTo>
                    <a:pt x="2950" y="3803"/>
                  </a:lnTo>
                  <a:lnTo>
                    <a:pt x="2970" y="3782"/>
                  </a:lnTo>
                  <a:lnTo>
                    <a:pt x="2989" y="3759"/>
                  </a:lnTo>
                  <a:lnTo>
                    <a:pt x="3006" y="3736"/>
                  </a:lnTo>
                  <a:lnTo>
                    <a:pt x="3023" y="3711"/>
                  </a:lnTo>
                  <a:lnTo>
                    <a:pt x="3038" y="3686"/>
                  </a:lnTo>
                  <a:lnTo>
                    <a:pt x="3052" y="3659"/>
                  </a:lnTo>
                  <a:lnTo>
                    <a:pt x="3065" y="3632"/>
                  </a:lnTo>
                  <a:lnTo>
                    <a:pt x="3076" y="3605"/>
                  </a:lnTo>
                  <a:lnTo>
                    <a:pt x="3087" y="3575"/>
                  </a:lnTo>
                  <a:lnTo>
                    <a:pt x="3095" y="3546"/>
                  </a:lnTo>
                  <a:lnTo>
                    <a:pt x="3104" y="3514"/>
                  </a:lnTo>
                  <a:lnTo>
                    <a:pt x="3110" y="3483"/>
                  </a:lnTo>
                  <a:lnTo>
                    <a:pt x="3115" y="3450"/>
                  </a:lnTo>
                  <a:lnTo>
                    <a:pt x="3121" y="3417"/>
                  </a:lnTo>
                  <a:lnTo>
                    <a:pt x="3123" y="3382"/>
                  </a:lnTo>
                  <a:lnTo>
                    <a:pt x="3125" y="3346"/>
                  </a:lnTo>
                  <a:lnTo>
                    <a:pt x="3126" y="3310"/>
                  </a:lnTo>
                  <a:lnTo>
                    <a:pt x="3125" y="3286"/>
                  </a:lnTo>
                  <a:lnTo>
                    <a:pt x="3125" y="3263"/>
                  </a:lnTo>
                  <a:lnTo>
                    <a:pt x="3123" y="3241"/>
                  </a:lnTo>
                  <a:lnTo>
                    <a:pt x="3121" y="3218"/>
                  </a:lnTo>
                  <a:lnTo>
                    <a:pt x="3117" y="3196"/>
                  </a:lnTo>
                  <a:lnTo>
                    <a:pt x="3114" y="3175"/>
                  </a:lnTo>
                  <a:lnTo>
                    <a:pt x="3109" y="3154"/>
                  </a:lnTo>
                  <a:lnTo>
                    <a:pt x="3105" y="3133"/>
                  </a:lnTo>
                  <a:lnTo>
                    <a:pt x="3100" y="3112"/>
                  </a:lnTo>
                  <a:lnTo>
                    <a:pt x="3093" y="3092"/>
                  </a:lnTo>
                  <a:lnTo>
                    <a:pt x="3086" y="3072"/>
                  </a:lnTo>
                  <a:lnTo>
                    <a:pt x="3079" y="3053"/>
                  </a:lnTo>
                  <a:lnTo>
                    <a:pt x="3070" y="3034"/>
                  </a:lnTo>
                  <a:lnTo>
                    <a:pt x="3062" y="3015"/>
                  </a:lnTo>
                  <a:lnTo>
                    <a:pt x="3052" y="2997"/>
                  </a:lnTo>
                  <a:lnTo>
                    <a:pt x="3042" y="2979"/>
                  </a:lnTo>
                  <a:lnTo>
                    <a:pt x="3031" y="2961"/>
                  </a:lnTo>
                  <a:lnTo>
                    <a:pt x="3020" y="2945"/>
                  </a:lnTo>
                  <a:lnTo>
                    <a:pt x="3007" y="2928"/>
                  </a:lnTo>
                  <a:lnTo>
                    <a:pt x="2995" y="2912"/>
                  </a:lnTo>
                  <a:lnTo>
                    <a:pt x="2981" y="2895"/>
                  </a:lnTo>
                  <a:lnTo>
                    <a:pt x="2967" y="2880"/>
                  </a:lnTo>
                  <a:lnTo>
                    <a:pt x="2952" y="2865"/>
                  </a:lnTo>
                  <a:lnTo>
                    <a:pt x="2937" y="2850"/>
                  </a:lnTo>
                  <a:lnTo>
                    <a:pt x="2921" y="2836"/>
                  </a:lnTo>
                  <a:lnTo>
                    <a:pt x="2904" y="2822"/>
                  </a:lnTo>
                  <a:lnTo>
                    <a:pt x="2887" y="2808"/>
                  </a:lnTo>
                  <a:lnTo>
                    <a:pt x="2869" y="2795"/>
                  </a:lnTo>
                  <a:lnTo>
                    <a:pt x="2850" y="2783"/>
                  </a:lnTo>
                  <a:lnTo>
                    <a:pt x="2832" y="2770"/>
                  </a:lnTo>
                  <a:lnTo>
                    <a:pt x="2812" y="2758"/>
                  </a:lnTo>
                  <a:lnTo>
                    <a:pt x="2791" y="2746"/>
                  </a:lnTo>
                  <a:lnTo>
                    <a:pt x="2756" y="2728"/>
                  </a:lnTo>
                  <a:lnTo>
                    <a:pt x="2720" y="2709"/>
                  </a:lnTo>
                  <a:lnTo>
                    <a:pt x="2682" y="2690"/>
                  </a:lnTo>
                  <a:lnTo>
                    <a:pt x="2642" y="2672"/>
                  </a:lnTo>
                  <a:lnTo>
                    <a:pt x="2601" y="2655"/>
                  </a:lnTo>
                  <a:lnTo>
                    <a:pt x="2559" y="2637"/>
                  </a:lnTo>
                  <a:lnTo>
                    <a:pt x="2515" y="2618"/>
                  </a:lnTo>
                  <a:lnTo>
                    <a:pt x="2469" y="2600"/>
                  </a:lnTo>
                  <a:lnTo>
                    <a:pt x="2469" y="1860"/>
                  </a:lnTo>
                  <a:lnTo>
                    <a:pt x="2486" y="1864"/>
                  </a:lnTo>
                  <a:lnTo>
                    <a:pt x="2501" y="1869"/>
                  </a:lnTo>
                  <a:lnTo>
                    <a:pt x="2516" y="1875"/>
                  </a:lnTo>
                  <a:lnTo>
                    <a:pt x="2531" y="1880"/>
                  </a:lnTo>
                  <a:lnTo>
                    <a:pt x="2545" y="1886"/>
                  </a:lnTo>
                  <a:lnTo>
                    <a:pt x="2558" y="1894"/>
                  </a:lnTo>
                  <a:lnTo>
                    <a:pt x="2572" y="1901"/>
                  </a:lnTo>
                  <a:lnTo>
                    <a:pt x="2585" y="1909"/>
                  </a:lnTo>
                  <a:lnTo>
                    <a:pt x="2597" y="1918"/>
                  </a:lnTo>
                  <a:lnTo>
                    <a:pt x="2609" y="1926"/>
                  </a:lnTo>
                  <a:lnTo>
                    <a:pt x="2620" y="1936"/>
                  </a:lnTo>
                  <a:lnTo>
                    <a:pt x="2631" y="1946"/>
                  </a:lnTo>
                  <a:lnTo>
                    <a:pt x="2641" y="1957"/>
                  </a:lnTo>
                  <a:lnTo>
                    <a:pt x="2651" y="1967"/>
                  </a:lnTo>
                  <a:lnTo>
                    <a:pt x="2660" y="1979"/>
                  </a:lnTo>
                  <a:lnTo>
                    <a:pt x="2669" y="1991"/>
                  </a:lnTo>
                  <a:lnTo>
                    <a:pt x="2677" y="2004"/>
                  </a:lnTo>
                  <a:lnTo>
                    <a:pt x="2685" y="2018"/>
                  </a:lnTo>
                  <a:lnTo>
                    <a:pt x="2693" y="2031"/>
                  </a:lnTo>
                  <a:lnTo>
                    <a:pt x="2699" y="2045"/>
                  </a:lnTo>
                  <a:lnTo>
                    <a:pt x="2705" y="2060"/>
                  </a:lnTo>
                  <a:lnTo>
                    <a:pt x="2712" y="2075"/>
                  </a:lnTo>
                  <a:lnTo>
                    <a:pt x="2722" y="2107"/>
                  </a:lnTo>
                  <a:lnTo>
                    <a:pt x="2731" y="2142"/>
                  </a:lnTo>
                  <a:lnTo>
                    <a:pt x="2737" y="2178"/>
                  </a:lnTo>
                  <a:lnTo>
                    <a:pt x="2741" y="2216"/>
                  </a:lnTo>
                  <a:lnTo>
                    <a:pt x="2744" y="2257"/>
                  </a:lnTo>
                  <a:lnTo>
                    <a:pt x="3098" y="2257"/>
                  </a:lnTo>
                  <a:lnTo>
                    <a:pt x="3095" y="2208"/>
                  </a:lnTo>
                  <a:lnTo>
                    <a:pt x="3092" y="2161"/>
                  </a:lnTo>
                  <a:lnTo>
                    <a:pt x="3087" y="2114"/>
                  </a:lnTo>
                  <a:lnTo>
                    <a:pt x="3079" y="2070"/>
                  </a:lnTo>
                  <a:lnTo>
                    <a:pt x="3069" y="2027"/>
                  </a:lnTo>
                  <a:lnTo>
                    <a:pt x="3057" y="1986"/>
                  </a:lnTo>
                  <a:lnTo>
                    <a:pt x="3050" y="1966"/>
                  </a:lnTo>
                  <a:lnTo>
                    <a:pt x="3043" y="1946"/>
                  </a:lnTo>
                  <a:lnTo>
                    <a:pt x="3034" y="1927"/>
                  </a:lnTo>
                  <a:lnTo>
                    <a:pt x="3026" y="1908"/>
                  </a:lnTo>
                  <a:lnTo>
                    <a:pt x="3017" y="1889"/>
                  </a:lnTo>
                  <a:lnTo>
                    <a:pt x="3007" y="1871"/>
                  </a:lnTo>
                  <a:lnTo>
                    <a:pt x="2998" y="1854"/>
                  </a:lnTo>
                  <a:lnTo>
                    <a:pt x="2987" y="1837"/>
                  </a:lnTo>
                  <a:lnTo>
                    <a:pt x="2976" y="1820"/>
                  </a:lnTo>
                  <a:lnTo>
                    <a:pt x="2964" y="1803"/>
                  </a:lnTo>
                  <a:lnTo>
                    <a:pt x="2952" y="1787"/>
                  </a:lnTo>
                  <a:lnTo>
                    <a:pt x="2940" y="1772"/>
                  </a:lnTo>
                  <a:lnTo>
                    <a:pt x="2926" y="1757"/>
                  </a:lnTo>
                  <a:lnTo>
                    <a:pt x="2913" y="1742"/>
                  </a:lnTo>
                  <a:lnTo>
                    <a:pt x="2898" y="1727"/>
                  </a:lnTo>
                  <a:lnTo>
                    <a:pt x="2883" y="1714"/>
                  </a:lnTo>
                  <a:lnTo>
                    <a:pt x="2868" y="1700"/>
                  </a:lnTo>
                  <a:lnTo>
                    <a:pt x="2853" y="1686"/>
                  </a:lnTo>
                  <a:lnTo>
                    <a:pt x="2836" y="1674"/>
                  </a:lnTo>
                  <a:lnTo>
                    <a:pt x="2819" y="1661"/>
                  </a:lnTo>
                  <a:lnTo>
                    <a:pt x="2800" y="1649"/>
                  </a:lnTo>
                  <a:lnTo>
                    <a:pt x="2781" y="1636"/>
                  </a:lnTo>
                  <a:lnTo>
                    <a:pt x="2761" y="1624"/>
                  </a:lnTo>
                  <a:lnTo>
                    <a:pt x="2741" y="1614"/>
                  </a:lnTo>
                  <a:lnTo>
                    <a:pt x="2720" y="1603"/>
                  </a:lnTo>
                  <a:lnTo>
                    <a:pt x="2700" y="1594"/>
                  </a:lnTo>
                  <a:lnTo>
                    <a:pt x="2678" y="1586"/>
                  </a:lnTo>
                  <a:lnTo>
                    <a:pt x="2657" y="1577"/>
                  </a:lnTo>
                  <a:lnTo>
                    <a:pt x="2635" y="1570"/>
                  </a:lnTo>
                  <a:lnTo>
                    <a:pt x="2612" y="1562"/>
                  </a:lnTo>
                  <a:lnTo>
                    <a:pt x="2590" y="1556"/>
                  </a:lnTo>
                  <a:lnTo>
                    <a:pt x="2567" y="1551"/>
                  </a:lnTo>
                  <a:lnTo>
                    <a:pt x="2542" y="1547"/>
                  </a:lnTo>
                  <a:lnTo>
                    <a:pt x="2518" y="1542"/>
                  </a:lnTo>
                  <a:lnTo>
                    <a:pt x="2494" y="1538"/>
                  </a:lnTo>
                  <a:lnTo>
                    <a:pt x="2469" y="1535"/>
                  </a:lnTo>
                  <a:lnTo>
                    <a:pt x="2469" y="1248"/>
                  </a:lnTo>
                  <a:lnTo>
                    <a:pt x="2197" y="1248"/>
                  </a:lnTo>
                  <a:lnTo>
                    <a:pt x="2197" y="1536"/>
                  </a:lnTo>
                  <a:lnTo>
                    <a:pt x="2186" y="1537"/>
                  </a:lnTo>
                  <a:lnTo>
                    <a:pt x="2177" y="1539"/>
                  </a:lnTo>
                  <a:lnTo>
                    <a:pt x="2139" y="1549"/>
                  </a:lnTo>
                  <a:lnTo>
                    <a:pt x="2102" y="1558"/>
                  </a:lnTo>
                  <a:lnTo>
                    <a:pt x="2066" y="1568"/>
                  </a:lnTo>
                  <a:lnTo>
                    <a:pt x="2032" y="1579"/>
                  </a:lnTo>
                  <a:lnTo>
                    <a:pt x="1999" y="1591"/>
                  </a:lnTo>
                  <a:lnTo>
                    <a:pt x="1966" y="1603"/>
                  </a:lnTo>
                  <a:lnTo>
                    <a:pt x="1936" y="1617"/>
                  </a:lnTo>
                  <a:lnTo>
                    <a:pt x="1907" y="1632"/>
                  </a:lnTo>
                  <a:lnTo>
                    <a:pt x="1878" y="1647"/>
                  </a:lnTo>
                  <a:lnTo>
                    <a:pt x="1851" y="1663"/>
                  </a:lnTo>
                  <a:lnTo>
                    <a:pt x="1826" y="1680"/>
                  </a:lnTo>
                  <a:lnTo>
                    <a:pt x="1800" y="1697"/>
                  </a:lnTo>
                  <a:lnTo>
                    <a:pt x="1777" y="1716"/>
                  </a:lnTo>
                  <a:lnTo>
                    <a:pt x="1755" y="1735"/>
                  </a:lnTo>
                  <a:lnTo>
                    <a:pt x="1734" y="1755"/>
                  </a:lnTo>
                  <a:lnTo>
                    <a:pt x="1714" y="1776"/>
                  </a:lnTo>
                  <a:lnTo>
                    <a:pt x="1695" y="1798"/>
                  </a:lnTo>
                  <a:lnTo>
                    <a:pt x="1677" y="1820"/>
                  </a:lnTo>
                  <a:lnTo>
                    <a:pt x="1662" y="1843"/>
                  </a:lnTo>
                  <a:lnTo>
                    <a:pt x="1646" y="1867"/>
                  </a:lnTo>
                  <a:lnTo>
                    <a:pt x="1632" y="1892"/>
                  </a:lnTo>
                  <a:lnTo>
                    <a:pt x="1620" y="1919"/>
                  </a:lnTo>
                  <a:lnTo>
                    <a:pt x="1608" y="1945"/>
                  </a:lnTo>
                  <a:lnTo>
                    <a:pt x="1599" y="1972"/>
                  </a:lnTo>
                  <a:lnTo>
                    <a:pt x="1589" y="2001"/>
                  </a:lnTo>
                  <a:lnTo>
                    <a:pt x="1582" y="2029"/>
                  </a:lnTo>
                  <a:lnTo>
                    <a:pt x="1574" y="2060"/>
                  </a:lnTo>
                  <a:lnTo>
                    <a:pt x="1569" y="2090"/>
                  </a:lnTo>
                  <a:lnTo>
                    <a:pt x="1565" y="2122"/>
                  </a:lnTo>
                  <a:lnTo>
                    <a:pt x="1562" y="2154"/>
                  </a:lnTo>
                  <a:lnTo>
                    <a:pt x="1561" y="2187"/>
                  </a:lnTo>
                  <a:lnTo>
                    <a:pt x="1560" y="2220"/>
                  </a:lnTo>
                  <a:lnTo>
                    <a:pt x="1561" y="2255"/>
                  </a:lnTo>
                  <a:lnTo>
                    <a:pt x="1563" y="2289"/>
                  </a:lnTo>
                  <a:lnTo>
                    <a:pt x="1566" y="2321"/>
                  </a:lnTo>
                  <a:lnTo>
                    <a:pt x="1571" y="2353"/>
                  </a:lnTo>
                  <a:lnTo>
                    <a:pt x="1578" y="2384"/>
                  </a:lnTo>
                  <a:lnTo>
                    <a:pt x="1585" y="2415"/>
                  </a:lnTo>
                  <a:lnTo>
                    <a:pt x="1594" y="2444"/>
                  </a:lnTo>
                  <a:lnTo>
                    <a:pt x="1605" y="2473"/>
                  </a:lnTo>
                  <a:lnTo>
                    <a:pt x="1616" y="2500"/>
                  </a:lnTo>
                  <a:lnTo>
                    <a:pt x="1630" y="2527"/>
                  </a:lnTo>
                  <a:lnTo>
                    <a:pt x="1645" y="2554"/>
                  </a:lnTo>
                  <a:lnTo>
                    <a:pt x="1661" y="2579"/>
                  </a:lnTo>
                  <a:lnTo>
                    <a:pt x="1678" y="2603"/>
                  </a:lnTo>
                  <a:lnTo>
                    <a:pt x="1697" y="2627"/>
                  </a:lnTo>
                  <a:lnTo>
                    <a:pt x="1718" y="2649"/>
                  </a:lnTo>
                  <a:lnTo>
                    <a:pt x="1739" y="2671"/>
                  </a:lnTo>
                  <a:lnTo>
                    <a:pt x="1752" y="2683"/>
                  </a:lnTo>
                  <a:lnTo>
                    <a:pt x="1767" y="2694"/>
                  </a:lnTo>
                  <a:lnTo>
                    <a:pt x="1781" y="2707"/>
                  </a:lnTo>
                  <a:lnTo>
                    <a:pt x="1798" y="2719"/>
                  </a:lnTo>
                  <a:lnTo>
                    <a:pt x="1816" y="2730"/>
                  </a:lnTo>
                  <a:lnTo>
                    <a:pt x="1836" y="2743"/>
                  </a:lnTo>
                  <a:lnTo>
                    <a:pt x="1879" y="2767"/>
                  </a:lnTo>
                  <a:lnTo>
                    <a:pt x="1928" y="2793"/>
                  </a:lnTo>
                  <a:lnTo>
                    <a:pt x="1982" y="2818"/>
                  </a:lnTo>
                  <a:lnTo>
                    <a:pt x="2042" y="2845"/>
                  </a:lnTo>
                  <a:lnTo>
                    <a:pt x="2107" y="2872"/>
                  </a:lnTo>
                  <a:lnTo>
                    <a:pt x="2148" y="2888"/>
                  </a:lnTo>
                  <a:lnTo>
                    <a:pt x="2188" y="2903"/>
                  </a:lnTo>
                  <a:lnTo>
                    <a:pt x="2188" y="3696"/>
                  </a:lnTo>
                  <a:close/>
                  <a:moveTo>
                    <a:pt x="2188" y="2533"/>
                  </a:moveTo>
                  <a:lnTo>
                    <a:pt x="2188" y="2533"/>
                  </a:lnTo>
                  <a:lnTo>
                    <a:pt x="2180" y="2528"/>
                  </a:lnTo>
                  <a:lnTo>
                    <a:pt x="2171" y="2523"/>
                  </a:lnTo>
                  <a:lnTo>
                    <a:pt x="2143" y="2508"/>
                  </a:lnTo>
                  <a:lnTo>
                    <a:pt x="2116" y="2494"/>
                  </a:lnTo>
                  <a:lnTo>
                    <a:pt x="2089" y="2479"/>
                  </a:lnTo>
                  <a:lnTo>
                    <a:pt x="2066" y="2462"/>
                  </a:lnTo>
                  <a:lnTo>
                    <a:pt x="2044" y="2445"/>
                  </a:lnTo>
                  <a:lnTo>
                    <a:pt x="2025" y="2427"/>
                  </a:lnTo>
                  <a:lnTo>
                    <a:pt x="2007" y="2409"/>
                  </a:lnTo>
                  <a:lnTo>
                    <a:pt x="1991" y="2389"/>
                  </a:lnTo>
                  <a:lnTo>
                    <a:pt x="1977" y="2369"/>
                  </a:lnTo>
                  <a:lnTo>
                    <a:pt x="1964" y="2348"/>
                  </a:lnTo>
                  <a:lnTo>
                    <a:pt x="1954" y="2326"/>
                  </a:lnTo>
                  <a:lnTo>
                    <a:pt x="1945" y="2302"/>
                  </a:lnTo>
                  <a:lnTo>
                    <a:pt x="1939" y="2279"/>
                  </a:lnTo>
                  <a:lnTo>
                    <a:pt x="1935" y="2255"/>
                  </a:lnTo>
                  <a:lnTo>
                    <a:pt x="1932" y="2230"/>
                  </a:lnTo>
                  <a:lnTo>
                    <a:pt x="1931" y="2204"/>
                  </a:lnTo>
                  <a:lnTo>
                    <a:pt x="1932" y="2174"/>
                  </a:lnTo>
                  <a:lnTo>
                    <a:pt x="1934" y="2147"/>
                  </a:lnTo>
                  <a:lnTo>
                    <a:pt x="1938" y="2120"/>
                  </a:lnTo>
                  <a:lnTo>
                    <a:pt x="1943" y="2094"/>
                  </a:lnTo>
                  <a:lnTo>
                    <a:pt x="1951" y="2070"/>
                  </a:lnTo>
                  <a:lnTo>
                    <a:pt x="1959" y="2047"/>
                  </a:lnTo>
                  <a:lnTo>
                    <a:pt x="1969" y="2025"/>
                  </a:lnTo>
                  <a:lnTo>
                    <a:pt x="1981" y="2004"/>
                  </a:lnTo>
                  <a:lnTo>
                    <a:pt x="1994" y="1985"/>
                  </a:lnTo>
                  <a:lnTo>
                    <a:pt x="2008" y="1966"/>
                  </a:lnTo>
                  <a:lnTo>
                    <a:pt x="2025" y="1949"/>
                  </a:lnTo>
                  <a:lnTo>
                    <a:pt x="2043" y="1933"/>
                  </a:lnTo>
                  <a:lnTo>
                    <a:pt x="2063" y="1919"/>
                  </a:lnTo>
                  <a:lnTo>
                    <a:pt x="2084" y="1905"/>
                  </a:lnTo>
                  <a:lnTo>
                    <a:pt x="2106" y="1892"/>
                  </a:lnTo>
                  <a:lnTo>
                    <a:pt x="2131" y="1881"/>
                  </a:lnTo>
                  <a:lnTo>
                    <a:pt x="2142" y="1877"/>
                  </a:lnTo>
                  <a:lnTo>
                    <a:pt x="2156" y="1871"/>
                  </a:lnTo>
                  <a:lnTo>
                    <a:pt x="2188" y="1861"/>
                  </a:lnTo>
                  <a:lnTo>
                    <a:pt x="2188" y="2533"/>
                  </a:lnTo>
                  <a:close/>
                  <a:moveTo>
                    <a:pt x="2469" y="2974"/>
                  </a:moveTo>
                  <a:lnTo>
                    <a:pt x="2469" y="2974"/>
                  </a:lnTo>
                  <a:lnTo>
                    <a:pt x="2485" y="2981"/>
                  </a:lnTo>
                  <a:lnTo>
                    <a:pt x="2499" y="2991"/>
                  </a:lnTo>
                  <a:lnTo>
                    <a:pt x="2544" y="3017"/>
                  </a:lnTo>
                  <a:lnTo>
                    <a:pt x="2583" y="3042"/>
                  </a:lnTo>
                  <a:lnTo>
                    <a:pt x="2602" y="3055"/>
                  </a:lnTo>
                  <a:lnTo>
                    <a:pt x="2619" y="3068"/>
                  </a:lnTo>
                  <a:lnTo>
                    <a:pt x="2635" y="3079"/>
                  </a:lnTo>
                  <a:lnTo>
                    <a:pt x="2650" y="3092"/>
                  </a:lnTo>
                  <a:lnTo>
                    <a:pt x="2663" y="3104"/>
                  </a:lnTo>
                  <a:lnTo>
                    <a:pt x="2676" y="3117"/>
                  </a:lnTo>
                  <a:lnTo>
                    <a:pt x="2688" y="3130"/>
                  </a:lnTo>
                  <a:lnTo>
                    <a:pt x="2697" y="3142"/>
                  </a:lnTo>
                  <a:lnTo>
                    <a:pt x="2706" y="3155"/>
                  </a:lnTo>
                  <a:lnTo>
                    <a:pt x="2714" y="3166"/>
                  </a:lnTo>
                  <a:lnTo>
                    <a:pt x="2721" y="3179"/>
                  </a:lnTo>
                  <a:lnTo>
                    <a:pt x="2726" y="3192"/>
                  </a:lnTo>
                  <a:lnTo>
                    <a:pt x="2732" y="3207"/>
                  </a:lnTo>
                  <a:lnTo>
                    <a:pt x="2737" y="3223"/>
                  </a:lnTo>
                  <a:lnTo>
                    <a:pt x="2741" y="3240"/>
                  </a:lnTo>
                  <a:lnTo>
                    <a:pt x="2744" y="3257"/>
                  </a:lnTo>
                  <a:lnTo>
                    <a:pt x="2746" y="3275"/>
                  </a:lnTo>
                  <a:lnTo>
                    <a:pt x="2749" y="3292"/>
                  </a:lnTo>
                  <a:lnTo>
                    <a:pt x="2750" y="3311"/>
                  </a:lnTo>
                  <a:lnTo>
                    <a:pt x="2750" y="3330"/>
                  </a:lnTo>
                  <a:lnTo>
                    <a:pt x="2750" y="3354"/>
                  </a:lnTo>
                  <a:lnTo>
                    <a:pt x="2747" y="3379"/>
                  </a:lnTo>
                  <a:lnTo>
                    <a:pt x="2745" y="3402"/>
                  </a:lnTo>
                  <a:lnTo>
                    <a:pt x="2742" y="3424"/>
                  </a:lnTo>
                  <a:lnTo>
                    <a:pt x="2737" y="3445"/>
                  </a:lnTo>
                  <a:lnTo>
                    <a:pt x="2732" y="3466"/>
                  </a:lnTo>
                  <a:lnTo>
                    <a:pt x="2725" y="3486"/>
                  </a:lnTo>
                  <a:lnTo>
                    <a:pt x="2717" y="3506"/>
                  </a:lnTo>
                  <a:lnTo>
                    <a:pt x="2709" y="3524"/>
                  </a:lnTo>
                  <a:lnTo>
                    <a:pt x="2699" y="3543"/>
                  </a:lnTo>
                  <a:lnTo>
                    <a:pt x="2689" y="3559"/>
                  </a:lnTo>
                  <a:lnTo>
                    <a:pt x="2677" y="3576"/>
                  </a:lnTo>
                  <a:lnTo>
                    <a:pt x="2664" y="3592"/>
                  </a:lnTo>
                  <a:lnTo>
                    <a:pt x="2651" y="3608"/>
                  </a:lnTo>
                  <a:lnTo>
                    <a:pt x="2636" y="3623"/>
                  </a:lnTo>
                  <a:lnTo>
                    <a:pt x="2620" y="3636"/>
                  </a:lnTo>
                  <a:lnTo>
                    <a:pt x="2605" y="3648"/>
                  </a:lnTo>
                  <a:lnTo>
                    <a:pt x="2590" y="3659"/>
                  </a:lnTo>
                  <a:lnTo>
                    <a:pt x="2574" y="3669"/>
                  </a:lnTo>
                  <a:lnTo>
                    <a:pt x="2558" y="3677"/>
                  </a:lnTo>
                  <a:lnTo>
                    <a:pt x="2544" y="3683"/>
                  </a:lnTo>
                  <a:lnTo>
                    <a:pt x="2528" y="3690"/>
                  </a:lnTo>
                  <a:lnTo>
                    <a:pt x="2512" y="3694"/>
                  </a:lnTo>
                  <a:lnTo>
                    <a:pt x="2496" y="3697"/>
                  </a:lnTo>
                  <a:lnTo>
                    <a:pt x="2469" y="3697"/>
                  </a:lnTo>
                  <a:lnTo>
                    <a:pt x="2469" y="2974"/>
                  </a:lnTo>
                  <a:close/>
                </a:path>
              </a:pathLst>
            </a:custGeom>
            <a:solidFill>
              <a:srgbClr val="888890"/>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FFFFFF"/>
                </a:solidFill>
                <a:effectLst/>
                <a:uLnTx/>
                <a:uFillTx/>
                <a:latin typeface="+mn-lt"/>
                <a:ea typeface="+mn-ea"/>
                <a:cs typeface="+mn-ea"/>
                <a:sym typeface="+mn-lt"/>
              </a:endParaRPr>
            </a:p>
          </p:txBody>
        </p:sp>
      </p:grpSp>
      <p:sp>
        <p:nvSpPr>
          <p:cNvPr id="24586" name="Rectangle 1044"/>
          <p:cNvSpPr>
            <a:spLocks noChangeArrowheads="1"/>
          </p:cNvSpPr>
          <p:nvPr/>
        </p:nvSpPr>
        <p:spPr bwMode="auto">
          <a:xfrm>
            <a:off x="854075" y="4381500"/>
            <a:ext cx="7173913"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800100" indent="-34290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分别从头遍历比较</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的每一项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800100" marR="0" lvl="1"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n"/>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指数相同</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，对应系数相加，若其和不为零，则在</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c</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中增加一个新项。</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800100" marR="0" lvl="1"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n"/>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指数不相同</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，则将指数较小的项复制到</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c</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中。</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4587" name="Rectangle 1044"/>
          <p:cNvSpPr>
            <a:spLocks noChangeArrowheads="1"/>
          </p:cNvSpPr>
          <p:nvPr/>
        </p:nvSpPr>
        <p:spPr bwMode="auto">
          <a:xfrm>
            <a:off x="5619750" y="1482725"/>
            <a:ext cx="331311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一个多项式已遍历</a:t>
            </a: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完毕</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时，将另一个剩余项依次复制到</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c</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中即可</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
          <p:cNvSpPr>
            <a:spLocks noChangeArrowheads="1"/>
          </p:cNvSpPr>
          <p:nvPr/>
        </p:nvSpPr>
        <p:spPr bwMode="auto">
          <a:xfrm>
            <a:off x="-6350" y="2887663"/>
            <a:ext cx="9144000" cy="3514725"/>
          </a:xfrm>
          <a:prstGeom prst="rect">
            <a:avLst/>
          </a:prstGeom>
          <a:solidFill>
            <a:srgbClr val="76AEDD"/>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 name="组合 1"/>
          <p:cNvGrpSpPr/>
          <p:nvPr/>
        </p:nvGrpSpPr>
        <p:grpSpPr>
          <a:xfrm>
            <a:off x="360363" y="3025775"/>
            <a:ext cx="8453437" cy="3262313"/>
            <a:chOff x="379413" y="3510024"/>
            <a:chExt cx="8453437" cy="3261635"/>
          </a:xfrm>
        </p:grpSpPr>
        <p:sp>
          <p:nvSpPr>
            <p:cNvPr id="25610" name="Text Box 3"/>
            <p:cNvSpPr txBox="1">
              <a:spLocks noChangeArrowheads="1"/>
            </p:cNvSpPr>
            <p:nvPr/>
          </p:nvSpPr>
          <p:spPr bwMode="auto">
            <a:xfrm>
              <a:off x="379413" y="3510024"/>
              <a:ext cx="4054475" cy="46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17</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(x)=7+3x+9x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+5x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17</a:t>
              </a:r>
            </a:p>
          </p:txBody>
        </p:sp>
        <p:sp>
          <p:nvSpPr>
            <p:cNvPr id="25611" name="Text Box 4"/>
            <p:cNvSpPr txBox="1">
              <a:spLocks noChangeArrowheads="1"/>
            </p:cNvSpPr>
            <p:nvPr/>
          </p:nvSpPr>
          <p:spPr bwMode="auto">
            <a:xfrm>
              <a:off x="381000" y="4016332"/>
              <a:ext cx="2743200" cy="46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8</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(x)=8x+22x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-9x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8</a:t>
              </a:r>
            </a:p>
          </p:txBody>
        </p:sp>
        <p:sp>
          <p:nvSpPr>
            <p:cNvPr id="25612" name="Rectangle 6" descr="深色上对角线"/>
            <p:cNvSpPr>
              <a:spLocks noChangeArrowheads="1"/>
            </p:cNvSpPr>
            <p:nvPr/>
          </p:nvSpPr>
          <p:spPr bwMode="auto">
            <a:xfrm>
              <a:off x="958850" y="4898798"/>
              <a:ext cx="419100" cy="438059"/>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3" name="Rectangle 7" descr="深色上对角线"/>
            <p:cNvSpPr>
              <a:spLocks noChangeArrowheads="1"/>
            </p:cNvSpPr>
            <p:nvPr/>
          </p:nvSpPr>
          <p:spPr bwMode="auto">
            <a:xfrm>
              <a:off x="13779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5614" name="Rectangle 8" descr="深色上对角线"/>
            <p:cNvSpPr>
              <a:spLocks noChangeArrowheads="1"/>
            </p:cNvSpPr>
            <p:nvPr/>
          </p:nvSpPr>
          <p:spPr bwMode="auto">
            <a:xfrm>
              <a:off x="18097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5" name="Rectangle 9" descr="深色上对角线"/>
            <p:cNvSpPr>
              <a:spLocks noChangeArrowheads="1"/>
            </p:cNvSpPr>
            <p:nvPr/>
          </p:nvSpPr>
          <p:spPr bwMode="auto">
            <a:xfrm>
              <a:off x="2609850" y="4898798"/>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25616" name="Rectangle 10" descr="深色上对角线"/>
            <p:cNvSpPr>
              <a:spLocks noChangeArrowheads="1"/>
            </p:cNvSpPr>
            <p:nvPr/>
          </p:nvSpPr>
          <p:spPr bwMode="auto">
            <a:xfrm>
              <a:off x="30289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25617" name="Rectangle 11" descr="深色上对角线"/>
            <p:cNvSpPr>
              <a:spLocks noChangeArrowheads="1"/>
            </p:cNvSpPr>
            <p:nvPr/>
          </p:nvSpPr>
          <p:spPr bwMode="auto">
            <a:xfrm>
              <a:off x="34607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18" name="Rectangle 12" descr="深色上对角线"/>
            <p:cNvSpPr>
              <a:spLocks noChangeArrowheads="1"/>
            </p:cNvSpPr>
            <p:nvPr/>
          </p:nvSpPr>
          <p:spPr bwMode="auto">
            <a:xfrm>
              <a:off x="4260850" y="4898798"/>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25619" name="Rectangle 13" descr="深色上对角线"/>
            <p:cNvSpPr>
              <a:spLocks noChangeArrowheads="1"/>
            </p:cNvSpPr>
            <p:nvPr/>
          </p:nvSpPr>
          <p:spPr bwMode="auto">
            <a:xfrm>
              <a:off x="46799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5620" name="Rectangle 14" descr="深色上对角线"/>
            <p:cNvSpPr>
              <a:spLocks noChangeArrowheads="1"/>
            </p:cNvSpPr>
            <p:nvPr/>
          </p:nvSpPr>
          <p:spPr bwMode="auto">
            <a:xfrm>
              <a:off x="51117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1" name="Rectangle 15" descr="深色上对角线"/>
            <p:cNvSpPr>
              <a:spLocks noChangeArrowheads="1"/>
            </p:cNvSpPr>
            <p:nvPr/>
          </p:nvSpPr>
          <p:spPr bwMode="auto">
            <a:xfrm>
              <a:off x="5886450" y="4898798"/>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25622" name="Rectangle 16" descr="深色上对角线"/>
            <p:cNvSpPr>
              <a:spLocks noChangeArrowheads="1"/>
            </p:cNvSpPr>
            <p:nvPr/>
          </p:nvSpPr>
          <p:spPr bwMode="auto">
            <a:xfrm>
              <a:off x="63055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25623" name="Rectangle 17" descr="深色上对角线"/>
            <p:cNvSpPr>
              <a:spLocks noChangeArrowheads="1"/>
            </p:cNvSpPr>
            <p:nvPr/>
          </p:nvSpPr>
          <p:spPr bwMode="auto">
            <a:xfrm>
              <a:off x="67373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4" name="Rectangle 18" descr="深色上对角线"/>
            <p:cNvSpPr>
              <a:spLocks noChangeArrowheads="1"/>
            </p:cNvSpPr>
            <p:nvPr/>
          </p:nvSpPr>
          <p:spPr bwMode="auto">
            <a:xfrm>
              <a:off x="7550150" y="4898798"/>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25625" name="Rectangle 19" descr="深色上对角线"/>
            <p:cNvSpPr>
              <a:spLocks noChangeArrowheads="1"/>
            </p:cNvSpPr>
            <p:nvPr/>
          </p:nvSpPr>
          <p:spPr bwMode="auto">
            <a:xfrm>
              <a:off x="79692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17</a:t>
              </a:r>
            </a:p>
          </p:txBody>
        </p:sp>
        <p:sp>
          <p:nvSpPr>
            <p:cNvPr id="25626" name="Rectangle 20" descr="深色上对角线"/>
            <p:cNvSpPr>
              <a:spLocks noChangeArrowheads="1"/>
            </p:cNvSpPr>
            <p:nvPr/>
          </p:nvSpPr>
          <p:spPr bwMode="auto">
            <a:xfrm>
              <a:off x="8401050" y="4898798"/>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7" name="Line 21"/>
            <p:cNvSpPr>
              <a:spLocks noChangeShapeType="1"/>
            </p:cNvSpPr>
            <p:nvPr/>
          </p:nvSpPr>
          <p:spPr bwMode="auto">
            <a:xfrm flipH="1">
              <a:off x="8540750" y="5032121"/>
              <a:ext cx="76200" cy="15236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8" name="Line 22"/>
            <p:cNvSpPr>
              <a:spLocks noChangeShapeType="1"/>
            </p:cNvSpPr>
            <p:nvPr/>
          </p:nvSpPr>
          <p:spPr bwMode="auto">
            <a:xfrm>
              <a:off x="8616950" y="5032121"/>
              <a:ext cx="76200" cy="15236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29" name="Rectangle 23" descr="深色上对角线"/>
            <p:cNvSpPr>
              <a:spLocks noChangeArrowheads="1"/>
            </p:cNvSpPr>
            <p:nvPr/>
          </p:nvSpPr>
          <p:spPr bwMode="auto">
            <a:xfrm>
              <a:off x="958850" y="5613025"/>
              <a:ext cx="419100" cy="438059"/>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30" name="Rectangle 24" descr="深色上对角线"/>
            <p:cNvSpPr>
              <a:spLocks noChangeArrowheads="1"/>
            </p:cNvSpPr>
            <p:nvPr/>
          </p:nvSpPr>
          <p:spPr bwMode="auto">
            <a:xfrm>
              <a:off x="13779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5631" name="Rectangle 25" descr="深色上对角线"/>
            <p:cNvSpPr>
              <a:spLocks noChangeArrowheads="1"/>
            </p:cNvSpPr>
            <p:nvPr/>
          </p:nvSpPr>
          <p:spPr bwMode="auto">
            <a:xfrm>
              <a:off x="18097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32" name="Rectangle 26" descr="深色上对角线"/>
            <p:cNvSpPr>
              <a:spLocks noChangeArrowheads="1"/>
            </p:cNvSpPr>
            <p:nvPr/>
          </p:nvSpPr>
          <p:spPr bwMode="auto">
            <a:xfrm>
              <a:off x="2609850" y="5613025"/>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25633" name="Rectangle 27" descr="深色上对角线"/>
            <p:cNvSpPr>
              <a:spLocks noChangeArrowheads="1"/>
            </p:cNvSpPr>
            <p:nvPr/>
          </p:nvSpPr>
          <p:spPr bwMode="auto">
            <a:xfrm>
              <a:off x="30289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5634" name="Rectangle 28" descr="深色上对角线"/>
            <p:cNvSpPr>
              <a:spLocks noChangeArrowheads="1"/>
            </p:cNvSpPr>
            <p:nvPr/>
          </p:nvSpPr>
          <p:spPr bwMode="auto">
            <a:xfrm>
              <a:off x="34607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35" name="Rectangle 29" descr="深色上对角线"/>
            <p:cNvSpPr>
              <a:spLocks noChangeArrowheads="1"/>
            </p:cNvSpPr>
            <p:nvPr/>
          </p:nvSpPr>
          <p:spPr bwMode="auto">
            <a:xfrm>
              <a:off x="4260850" y="5613025"/>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22</a:t>
              </a:r>
            </a:p>
          </p:txBody>
        </p:sp>
        <p:sp>
          <p:nvSpPr>
            <p:cNvPr id="25636" name="Rectangle 30" descr="深色上对角线"/>
            <p:cNvSpPr>
              <a:spLocks noChangeArrowheads="1"/>
            </p:cNvSpPr>
            <p:nvPr/>
          </p:nvSpPr>
          <p:spPr bwMode="auto">
            <a:xfrm>
              <a:off x="46799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25637" name="Rectangle 31" descr="深色上对角线"/>
            <p:cNvSpPr>
              <a:spLocks noChangeArrowheads="1"/>
            </p:cNvSpPr>
            <p:nvPr/>
          </p:nvSpPr>
          <p:spPr bwMode="auto">
            <a:xfrm>
              <a:off x="51117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38" name="Rectangle 32" descr="深色上对角线"/>
            <p:cNvSpPr>
              <a:spLocks noChangeArrowheads="1"/>
            </p:cNvSpPr>
            <p:nvPr/>
          </p:nvSpPr>
          <p:spPr bwMode="auto">
            <a:xfrm>
              <a:off x="5886450" y="5613025"/>
              <a:ext cx="4191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25639" name="Rectangle 33" descr="深色上对角线"/>
            <p:cNvSpPr>
              <a:spLocks noChangeArrowheads="1"/>
            </p:cNvSpPr>
            <p:nvPr/>
          </p:nvSpPr>
          <p:spPr bwMode="auto">
            <a:xfrm>
              <a:off x="63055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25640" name="Rectangle 34" descr="深色上对角线"/>
            <p:cNvSpPr>
              <a:spLocks noChangeArrowheads="1"/>
            </p:cNvSpPr>
            <p:nvPr/>
          </p:nvSpPr>
          <p:spPr bwMode="auto">
            <a:xfrm>
              <a:off x="6737350" y="5613025"/>
              <a:ext cx="431800" cy="438059"/>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1" name="Line 35"/>
            <p:cNvSpPr>
              <a:spLocks noChangeShapeType="1"/>
            </p:cNvSpPr>
            <p:nvPr/>
          </p:nvSpPr>
          <p:spPr bwMode="auto">
            <a:xfrm flipH="1">
              <a:off x="6864350" y="5771742"/>
              <a:ext cx="76200" cy="15236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2" name="Line 36"/>
            <p:cNvSpPr>
              <a:spLocks noChangeShapeType="1"/>
            </p:cNvSpPr>
            <p:nvPr/>
          </p:nvSpPr>
          <p:spPr bwMode="auto">
            <a:xfrm>
              <a:off x="6940550" y="5771742"/>
              <a:ext cx="76200" cy="15236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3" name="Line 37"/>
            <p:cNvSpPr>
              <a:spLocks noChangeShapeType="1"/>
            </p:cNvSpPr>
            <p:nvPr/>
          </p:nvSpPr>
          <p:spPr bwMode="auto">
            <a:xfrm>
              <a:off x="463550" y="5108305"/>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4" name="Line 38"/>
            <p:cNvSpPr>
              <a:spLocks noChangeShapeType="1"/>
            </p:cNvSpPr>
            <p:nvPr/>
          </p:nvSpPr>
          <p:spPr bwMode="auto">
            <a:xfrm>
              <a:off x="463550" y="5835229"/>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5" name="Line 39"/>
            <p:cNvSpPr>
              <a:spLocks noChangeShapeType="1"/>
            </p:cNvSpPr>
            <p:nvPr/>
          </p:nvSpPr>
          <p:spPr bwMode="auto">
            <a:xfrm>
              <a:off x="2108200" y="5121002"/>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6" name="Line 40"/>
            <p:cNvSpPr>
              <a:spLocks noChangeShapeType="1"/>
            </p:cNvSpPr>
            <p:nvPr/>
          </p:nvSpPr>
          <p:spPr bwMode="auto">
            <a:xfrm>
              <a:off x="3759200" y="5121002"/>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7" name="Line 41"/>
            <p:cNvSpPr>
              <a:spLocks noChangeShapeType="1"/>
            </p:cNvSpPr>
            <p:nvPr/>
          </p:nvSpPr>
          <p:spPr bwMode="auto">
            <a:xfrm>
              <a:off x="5397500" y="5127351"/>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8" name="Line 42"/>
            <p:cNvSpPr>
              <a:spLocks noChangeShapeType="1"/>
            </p:cNvSpPr>
            <p:nvPr/>
          </p:nvSpPr>
          <p:spPr bwMode="auto">
            <a:xfrm>
              <a:off x="7061200" y="5133699"/>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49" name="Line 43"/>
            <p:cNvSpPr>
              <a:spLocks noChangeShapeType="1"/>
            </p:cNvSpPr>
            <p:nvPr/>
          </p:nvSpPr>
          <p:spPr bwMode="auto">
            <a:xfrm>
              <a:off x="2114550" y="5835229"/>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50" name="Line 44"/>
            <p:cNvSpPr>
              <a:spLocks noChangeShapeType="1"/>
            </p:cNvSpPr>
            <p:nvPr/>
          </p:nvSpPr>
          <p:spPr bwMode="auto">
            <a:xfrm>
              <a:off x="3765550" y="5835229"/>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51" name="Line 45"/>
            <p:cNvSpPr>
              <a:spLocks noChangeShapeType="1"/>
            </p:cNvSpPr>
            <p:nvPr/>
          </p:nvSpPr>
          <p:spPr bwMode="auto">
            <a:xfrm>
              <a:off x="5403850" y="5841577"/>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52" name="Text Box 46"/>
            <p:cNvSpPr txBox="1">
              <a:spLocks noChangeArrowheads="1"/>
            </p:cNvSpPr>
            <p:nvPr/>
          </p:nvSpPr>
          <p:spPr bwMode="auto">
            <a:xfrm>
              <a:off x="396875" y="4795632"/>
              <a:ext cx="331788" cy="33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25653" name="Text Box 47"/>
            <p:cNvSpPr txBox="1">
              <a:spLocks noChangeArrowheads="1"/>
            </p:cNvSpPr>
            <p:nvPr/>
          </p:nvSpPr>
          <p:spPr bwMode="auto">
            <a:xfrm>
              <a:off x="381000" y="5524143"/>
              <a:ext cx="320675" cy="33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B</a:t>
              </a:r>
            </a:p>
          </p:txBody>
        </p:sp>
        <p:grpSp>
          <p:nvGrpSpPr>
            <p:cNvPr id="26678" name="Group 48"/>
            <p:cNvGrpSpPr/>
            <p:nvPr/>
          </p:nvGrpSpPr>
          <p:grpSpPr>
            <a:xfrm>
              <a:off x="2978150" y="4051301"/>
              <a:ext cx="474663" cy="746125"/>
              <a:chOff x="1728" y="2205"/>
              <a:chExt cx="299" cy="470"/>
            </a:xfrm>
          </p:grpSpPr>
          <p:sp>
            <p:nvSpPr>
              <p:cNvPr id="25658" name="Line 49"/>
              <p:cNvSpPr>
                <a:spLocks noChangeShapeType="1"/>
              </p:cNvSpPr>
              <p:nvPr/>
            </p:nvSpPr>
            <p:spPr bwMode="auto">
              <a:xfrm>
                <a:off x="1872" y="2493"/>
                <a:ext cx="0" cy="182"/>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59" name="Text Box 50"/>
              <p:cNvSpPr txBox="1">
                <a:spLocks noChangeArrowheads="1"/>
              </p:cNvSpPr>
              <p:nvPr/>
            </p:nvSpPr>
            <p:spPr bwMode="auto">
              <a:xfrm>
                <a:off x="1728" y="2205"/>
                <a:ext cx="2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pa</a:t>
                </a:r>
              </a:p>
            </p:txBody>
          </p:sp>
        </p:grpSp>
        <p:grpSp>
          <p:nvGrpSpPr>
            <p:cNvPr id="26679" name="Group 51"/>
            <p:cNvGrpSpPr/>
            <p:nvPr/>
          </p:nvGrpSpPr>
          <p:grpSpPr>
            <a:xfrm>
              <a:off x="2978150" y="6119196"/>
              <a:ext cx="492125" cy="652463"/>
              <a:chOff x="1728" y="3360"/>
              <a:chExt cx="310" cy="411"/>
            </a:xfrm>
          </p:grpSpPr>
          <p:sp>
            <p:nvSpPr>
              <p:cNvPr id="25656" name="Line 52"/>
              <p:cNvSpPr>
                <a:spLocks noChangeShapeType="1"/>
              </p:cNvSpPr>
              <p:nvPr/>
            </p:nvSpPr>
            <p:spPr bwMode="auto">
              <a:xfrm flipV="1">
                <a:off x="1872" y="3360"/>
                <a:ext cx="0" cy="178"/>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57" name="Text Box 53"/>
              <p:cNvSpPr txBox="1">
                <a:spLocks noChangeArrowheads="1"/>
              </p:cNvSpPr>
              <p:nvPr/>
            </p:nvSpPr>
            <p:spPr bwMode="auto">
              <a:xfrm>
                <a:off x="1728" y="3480"/>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pb</a:t>
                </a:r>
              </a:p>
            </p:txBody>
          </p:sp>
        </p:grpSp>
      </p:grpSp>
      <p:sp>
        <p:nvSpPr>
          <p:cNvPr id="25604" name="Rectangle 1044"/>
          <p:cNvSpPr>
            <a:spLocks noChangeArrowheads="1"/>
          </p:cNvSpPr>
          <p:nvPr/>
        </p:nvSpPr>
        <p:spPr bwMode="auto">
          <a:xfrm>
            <a:off x="296863" y="1235075"/>
            <a:ext cx="4249738" cy="1323975"/>
          </a:xfrm>
          <a:prstGeom prst="rect">
            <a:avLst/>
          </a:prstGeom>
          <a:noFill/>
          <a:ln>
            <a:solidFill>
              <a:schemeClr val="bg2">
                <a:lumMod val="40000"/>
                <a:lumOff val="60000"/>
              </a:schemeClr>
            </a:solid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顺序存储结构存在问题</a:t>
            </a:r>
            <a:endPar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1" fontAlgn="base" latinLnBrk="0" hangingPunct="1">
              <a:lnSpc>
                <a:spcPct val="100000"/>
              </a:lnSpc>
              <a:spcBef>
                <a:spcPct val="5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存储空间分配不灵活</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1" fontAlgn="base" latinLnBrk="0" hangingPunct="1">
              <a:lnSpc>
                <a:spcPct val="100000"/>
              </a:lnSpc>
              <a:spcBef>
                <a:spcPct val="5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运算的空间复杂度高</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26629" name="Picture 2" descr="http://p8.qhimg.com/t01fd6029fbad6d07a4.jpg"/>
          <p:cNvPicPr>
            <a:picLocks noChangeAspect="1"/>
          </p:cNvPicPr>
          <p:nvPr/>
        </p:nvPicPr>
        <p:blipFill>
          <a:blip r:embed="rId2"/>
          <a:stretch>
            <a:fillRect/>
          </a:stretch>
        </p:blipFill>
        <p:spPr>
          <a:xfrm>
            <a:off x="3689350" y="1235075"/>
            <a:ext cx="985838" cy="1322388"/>
          </a:xfrm>
          <a:prstGeom prst="rect">
            <a:avLst/>
          </a:prstGeom>
          <a:noFill/>
          <a:ln w="9525" cap="flat" cmpd="sng">
            <a:solidFill>
              <a:srgbClr val="000000"/>
            </a:solidFill>
            <a:prstDash val="solid"/>
            <a:miter/>
            <a:headEnd type="none" w="med" len="med"/>
            <a:tailEnd type="none" w="med" len="med"/>
          </a:ln>
        </p:spPr>
      </p:pic>
      <p:grpSp>
        <p:nvGrpSpPr>
          <p:cNvPr id="7" name="组合 61"/>
          <p:cNvGrpSpPr/>
          <p:nvPr/>
        </p:nvGrpSpPr>
        <p:grpSpPr>
          <a:xfrm>
            <a:off x="4784725" y="1631950"/>
            <a:ext cx="4122738" cy="584200"/>
            <a:chOff x="4475162" y="585545"/>
            <a:chExt cx="4122738" cy="584775"/>
          </a:xfrm>
        </p:grpSpPr>
        <p:sp>
          <p:nvSpPr>
            <p:cNvPr id="25608" name="Rectangle 8"/>
            <p:cNvSpPr>
              <a:spLocks noChangeArrowheads="1"/>
            </p:cNvSpPr>
            <p:nvPr/>
          </p:nvSpPr>
          <p:spPr bwMode="auto">
            <a:xfrm>
              <a:off x="5951537" y="585545"/>
              <a:ext cx="26463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链式存储结构</a:t>
              </a:r>
            </a:p>
          </p:txBody>
        </p:sp>
        <p:sp>
          <p:nvSpPr>
            <p:cNvPr id="25609" name="AutoShape 11"/>
            <p:cNvSpPr>
              <a:spLocks noChangeArrowheads="1"/>
            </p:cNvSpPr>
            <p:nvPr/>
          </p:nvSpPr>
          <p:spPr bwMode="auto">
            <a:xfrm>
              <a:off x="4475162" y="664998"/>
              <a:ext cx="1387475" cy="425869"/>
            </a:xfrm>
            <a:prstGeom prst="notchedRightArrow">
              <a:avLst>
                <a:gd name="adj1" fmla="val 50000"/>
                <a:gd name="adj2" fmla="val 8119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5607" name="Rectangle 154"/>
          <p:cNvSpPr txBox="1">
            <a:spLocks noChangeArrowheads="1"/>
          </p:cNvSpPr>
          <p:nvPr/>
        </p:nvSpPr>
        <p:spPr bwMode="auto">
          <a:xfrm>
            <a:off x="854075" y="165100"/>
            <a:ext cx="493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2.2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：稀疏多项式的运算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矩形 6"/>
          <p:cNvSpPr>
            <a:spLocks noChangeArrowheads="1"/>
          </p:cNvSpPr>
          <p:nvPr/>
        </p:nvSpPr>
        <p:spPr bwMode="auto">
          <a:xfrm>
            <a:off x="6300788" y="1219200"/>
            <a:ext cx="2500313" cy="2703513"/>
          </a:xfrm>
          <a:prstGeom prst="roundRect">
            <a:avLst>
              <a:gd name="adj" fmla="val 2953"/>
            </a:avLst>
          </a:prstGeom>
          <a:solidFill>
            <a:schemeClr val="accent1">
              <a:lumMod val="20000"/>
              <a:lumOff val="80000"/>
            </a:schemeClr>
          </a:solidFill>
          <a:ln w="9525">
            <a:no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）查找</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）修改</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）排序</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6</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）计数</a:t>
            </a:r>
          </a:p>
        </p:txBody>
      </p:sp>
      <p:sp>
        <p:nvSpPr>
          <p:cNvPr id="3" name="Rectangle 154"/>
          <p:cNvSpPr txBox="1">
            <a:spLocks noChangeArrowheads="1"/>
          </p:cNvSpPr>
          <p:nvPr/>
        </p:nvSpPr>
        <p:spPr bwMode="auto">
          <a:xfrm>
            <a:off x="827088" y="161925"/>
            <a:ext cx="493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2.3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：图书信息管理系统</a:t>
            </a:r>
          </a:p>
        </p:txBody>
      </p:sp>
      <p:pic>
        <p:nvPicPr>
          <p:cNvPr id="31748" name="Picture 1" descr="2UD0Y{DZT1C_VAP(LNSYLGW"/>
          <p:cNvPicPr>
            <a:picLocks noChangeAspect="1"/>
          </p:cNvPicPr>
          <p:nvPr/>
        </p:nvPicPr>
        <p:blipFill>
          <a:blip r:embed="rId2"/>
          <a:stretch>
            <a:fillRect/>
          </a:stretch>
        </p:blipFill>
        <p:spPr>
          <a:xfrm>
            <a:off x="179388" y="1219200"/>
            <a:ext cx="5889625" cy="4878388"/>
          </a:xfrm>
          <a:prstGeom prst="rect">
            <a:avLst/>
          </a:prstGeom>
          <a:noFill/>
          <a:ln w="9525" cap="flat" cmpd="sng">
            <a:solidFill>
              <a:srgbClr val="2F9DE9"/>
            </a:solidFill>
            <a:prstDash val="solid"/>
            <a:miter/>
            <a:headEnd type="none" w="med" len="med"/>
            <a:tailEnd type="none" w="med" len="med"/>
          </a:ln>
        </p:spPr>
      </p:pic>
      <p:sp>
        <p:nvSpPr>
          <p:cNvPr id="2" name="矩形 1"/>
          <p:cNvSpPr/>
          <p:nvPr/>
        </p:nvSpPr>
        <p:spPr bwMode="auto">
          <a:xfrm>
            <a:off x="6300788" y="4221163"/>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 name="矩形 6"/>
          <p:cNvSpPr/>
          <p:nvPr/>
        </p:nvSpPr>
        <p:spPr bwMode="auto">
          <a:xfrm>
            <a:off x="6300788" y="4348163"/>
            <a:ext cx="2500313" cy="7302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6294438" y="4476750"/>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矩形 8"/>
          <p:cNvSpPr/>
          <p:nvPr/>
        </p:nvSpPr>
        <p:spPr bwMode="auto">
          <a:xfrm>
            <a:off x="6307138" y="4603750"/>
            <a:ext cx="2500313" cy="7302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矩形 9"/>
          <p:cNvSpPr/>
          <p:nvPr/>
        </p:nvSpPr>
        <p:spPr bwMode="auto">
          <a:xfrm>
            <a:off x="6307138" y="4732338"/>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矩形 10"/>
          <p:cNvSpPr/>
          <p:nvPr/>
        </p:nvSpPr>
        <p:spPr bwMode="auto">
          <a:xfrm>
            <a:off x="6300788" y="4859338"/>
            <a:ext cx="2500313" cy="7302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矩形 11"/>
          <p:cNvSpPr/>
          <p:nvPr/>
        </p:nvSpPr>
        <p:spPr bwMode="auto">
          <a:xfrm>
            <a:off x="6307138" y="4994275"/>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 name="矩形 12"/>
          <p:cNvSpPr/>
          <p:nvPr/>
        </p:nvSpPr>
        <p:spPr bwMode="auto">
          <a:xfrm>
            <a:off x="6307138" y="5122863"/>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 name="矩形 13"/>
          <p:cNvSpPr/>
          <p:nvPr/>
        </p:nvSpPr>
        <p:spPr bwMode="auto">
          <a:xfrm>
            <a:off x="6300788" y="5249863"/>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 name="矩形 14"/>
          <p:cNvSpPr/>
          <p:nvPr/>
        </p:nvSpPr>
        <p:spPr bwMode="auto">
          <a:xfrm>
            <a:off x="6313488" y="5378450"/>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 name="矩形 15"/>
          <p:cNvSpPr/>
          <p:nvPr/>
        </p:nvSpPr>
        <p:spPr bwMode="auto">
          <a:xfrm>
            <a:off x="6313488" y="5505450"/>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 name="矩形 16"/>
          <p:cNvSpPr/>
          <p:nvPr/>
        </p:nvSpPr>
        <p:spPr bwMode="auto">
          <a:xfrm>
            <a:off x="6307138" y="5634038"/>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 name="矩形 17"/>
          <p:cNvSpPr/>
          <p:nvPr/>
        </p:nvSpPr>
        <p:spPr bwMode="auto">
          <a:xfrm>
            <a:off x="6300788" y="5767388"/>
            <a:ext cx="2500313" cy="7302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 name="矩形 18"/>
          <p:cNvSpPr/>
          <p:nvPr/>
        </p:nvSpPr>
        <p:spPr bwMode="auto">
          <a:xfrm>
            <a:off x="6313488" y="5895975"/>
            <a:ext cx="2500313" cy="714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矩形 19"/>
          <p:cNvSpPr/>
          <p:nvPr/>
        </p:nvSpPr>
        <p:spPr bwMode="auto">
          <a:xfrm>
            <a:off x="6313488" y="6022975"/>
            <a:ext cx="2500313" cy="7302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3" descr="0204"/>
          <p:cNvPicPr>
            <a:picLocks noChangeAspect="1"/>
          </p:cNvPicPr>
          <p:nvPr/>
        </p:nvPicPr>
        <p:blipFill>
          <a:blip r:embed="rId2"/>
          <a:stretch>
            <a:fillRect/>
          </a:stretch>
        </p:blipFill>
        <p:spPr>
          <a:xfrm>
            <a:off x="428625" y="1612900"/>
            <a:ext cx="8215313" cy="2117725"/>
          </a:xfrm>
          <a:prstGeom prst="rect">
            <a:avLst/>
          </a:prstGeom>
          <a:noFill/>
          <a:ln w="9525">
            <a:noFill/>
          </a:ln>
        </p:spPr>
      </p:pic>
      <p:sp>
        <p:nvSpPr>
          <p:cNvPr id="31747" name="矩形 5"/>
          <p:cNvSpPr>
            <a:spLocks noChangeArrowheads="1"/>
          </p:cNvSpPr>
          <p:nvPr/>
        </p:nvSpPr>
        <p:spPr bwMode="auto">
          <a:xfrm>
            <a:off x="0" y="1541463"/>
            <a:ext cx="2214563" cy="523875"/>
          </a:xfrm>
          <a:prstGeom prst="rect">
            <a:avLst/>
          </a:prstGeom>
          <a:solidFill>
            <a:srgbClr val="6C4C8F"/>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图书顺序表</a:t>
            </a:r>
          </a:p>
        </p:txBody>
      </p:sp>
      <p:grpSp>
        <p:nvGrpSpPr>
          <p:cNvPr id="2" name="组合 6"/>
          <p:cNvGrpSpPr/>
          <p:nvPr/>
        </p:nvGrpSpPr>
        <p:grpSpPr>
          <a:xfrm>
            <a:off x="0" y="3730625"/>
            <a:ext cx="6696075" cy="1704975"/>
            <a:chOff x="0" y="2903804"/>
            <a:chExt cx="6696046" cy="1704130"/>
          </a:xfrm>
        </p:grpSpPr>
        <p:pic>
          <p:nvPicPr>
            <p:cNvPr id="32780" name="Picture 6" descr="C:\Users\Administrator\AppData\Roaming\Tencent\Users\597999009\QQ\WinTemp\RichOle\ZB7IEZIQ4@M0WCY9X1%V~UU.png"/>
            <p:cNvPicPr>
              <a:picLocks noChangeAspect="1"/>
            </p:cNvPicPr>
            <p:nvPr/>
          </p:nvPicPr>
          <p:blipFill>
            <a:blip r:embed="rId3"/>
            <a:stretch>
              <a:fillRect/>
            </a:stretch>
          </p:blipFill>
          <p:spPr>
            <a:xfrm>
              <a:off x="428596" y="3836409"/>
              <a:ext cx="6267450" cy="771525"/>
            </a:xfrm>
            <a:prstGeom prst="rect">
              <a:avLst/>
            </a:prstGeom>
            <a:noFill/>
            <a:ln w="9525">
              <a:noFill/>
            </a:ln>
          </p:spPr>
        </p:pic>
        <p:sp>
          <p:nvSpPr>
            <p:cNvPr id="31750" name="矩形 8"/>
            <p:cNvSpPr>
              <a:spLocks noChangeArrowheads="1"/>
            </p:cNvSpPr>
            <p:nvPr/>
          </p:nvSpPr>
          <p:spPr bwMode="auto">
            <a:xfrm>
              <a:off x="0" y="3214800"/>
              <a:ext cx="2214553" cy="523615"/>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图书链表</a:t>
              </a:r>
            </a:p>
          </p:txBody>
        </p:sp>
        <p:cxnSp>
          <p:nvCxnSpPr>
            <p:cNvPr id="32782" name="直接连接符 9"/>
            <p:cNvCxnSpPr/>
            <p:nvPr/>
          </p:nvCxnSpPr>
          <p:spPr>
            <a:xfrm>
              <a:off x="2571736" y="2903804"/>
              <a:ext cx="1428761" cy="1025262"/>
            </a:xfrm>
            <a:prstGeom prst="line">
              <a:avLst/>
            </a:prstGeom>
            <a:ln w="31750" cap="flat" cmpd="sng">
              <a:solidFill>
                <a:srgbClr val="FF0000"/>
              </a:solidFill>
              <a:prstDash val="solid"/>
              <a:headEnd type="none" w="med" len="med"/>
              <a:tailEnd type="none" w="med" len="med"/>
            </a:ln>
          </p:spPr>
        </p:cxnSp>
        <p:cxnSp>
          <p:nvCxnSpPr>
            <p:cNvPr id="32783" name="直接连接符 10"/>
            <p:cNvCxnSpPr/>
            <p:nvPr/>
          </p:nvCxnSpPr>
          <p:spPr>
            <a:xfrm rot="-5400000" flipH="1">
              <a:off x="3380708" y="3309278"/>
              <a:ext cx="1025262" cy="214314"/>
            </a:xfrm>
            <a:prstGeom prst="line">
              <a:avLst/>
            </a:prstGeom>
            <a:ln w="31750" cap="flat" cmpd="sng">
              <a:solidFill>
                <a:srgbClr val="FF0000"/>
              </a:solidFill>
              <a:prstDash val="solid"/>
              <a:headEnd type="none" w="med" len="med"/>
              <a:tailEnd type="none" w="med" len="med"/>
            </a:ln>
          </p:spPr>
        </p:cxnSp>
      </p:grpSp>
      <p:sp>
        <p:nvSpPr>
          <p:cNvPr id="31749" name="Rectangle 154"/>
          <p:cNvSpPr txBox="1">
            <a:spLocks noChangeArrowheads="1"/>
          </p:cNvSpPr>
          <p:nvPr/>
        </p:nvSpPr>
        <p:spPr bwMode="auto">
          <a:xfrm>
            <a:off x="827088" y="161925"/>
            <a:ext cx="493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2.3 </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：图书信息管理系统</a:t>
            </a:r>
          </a:p>
        </p:txBody>
      </p:sp>
      <p:grpSp>
        <p:nvGrpSpPr>
          <p:cNvPr id="10" name="组合 9"/>
          <p:cNvGrpSpPr/>
          <p:nvPr/>
        </p:nvGrpSpPr>
        <p:grpSpPr>
          <a:xfrm>
            <a:off x="0" y="6380163"/>
            <a:ext cx="9144000" cy="431800"/>
            <a:chOff x="0" y="6379908"/>
            <a:chExt cx="9144000" cy="432048"/>
          </a:xfrm>
        </p:grpSpPr>
        <p:grpSp>
          <p:nvGrpSpPr>
            <p:cNvPr id="32775" name="组合 5"/>
            <p:cNvGrpSpPr/>
            <p:nvPr/>
          </p:nvGrpSpPr>
          <p:grpSpPr>
            <a:xfrm>
              <a:off x="0" y="6379908"/>
              <a:ext cx="9144000" cy="432048"/>
              <a:chOff x="0" y="6165304"/>
              <a:chExt cx="9144000" cy="432048"/>
            </a:xfrm>
          </p:grpSpPr>
          <p:cxnSp>
            <p:nvCxnSpPr>
              <p:cNvPr id="32777"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4" name="直接连接符 13"/>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32779"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2"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par>
                          <p:cTn id="8" fill="hold">
                            <p:stCondLst>
                              <p:cond delay="2000"/>
                            </p:stCondLst>
                            <p:childTnLst>
                              <p:par>
                                <p:cTn id="9" presetID="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p:cNvGrpSpPr/>
          <p:nvPr/>
        </p:nvGrpSpPr>
        <p:grpSpPr>
          <a:xfrm>
            <a:off x="0" y="6380163"/>
            <a:ext cx="9144000" cy="431800"/>
            <a:chOff x="0" y="6379908"/>
            <a:chExt cx="9144000" cy="432048"/>
          </a:xfrm>
        </p:grpSpPr>
        <p:grpSp>
          <p:nvGrpSpPr>
            <p:cNvPr id="33800" name="组合 5"/>
            <p:cNvGrpSpPr/>
            <p:nvPr/>
          </p:nvGrpSpPr>
          <p:grpSpPr>
            <a:xfrm>
              <a:off x="0" y="6379908"/>
              <a:ext cx="9144000" cy="432048"/>
              <a:chOff x="0" y="6165304"/>
              <a:chExt cx="9144000" cy="432048"/>
            </a:xfrm>
          </p:grpSpPr>
          <p:cxnSp>
            <p:nvCxnSpPr>
              <p:cNvPr id="33802"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78" name="直接连接符 77"/>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33804"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76"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
        <p:nvSpPr>
          <p:cNvPr id="21" name="Rectangle 1044"/>
          <p:cNvSpPr>
            <a:spLocks noChangeArrowheads="1"/>
          </p:cNvSpPr>
          <p:nvPr/>
        </p:nvSpPr>
        <p:spPr bwMode="auto">
          <a:xfrm>
            <a:off x="1979613" y="1766888"/>
            <a:ext cx="6408738" cy="3822700"/>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线性表中数据元素的类型可以为简单类型，也可以为复杂类型。</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许多实际应用问题所涉的基本操作有很大相似性，不应为每个具体应用单独编写一个程序。</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从具体应用中</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抽象出共性的逻辑结构和基本操作</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抽象数据类型</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），然后实现其存储结构和基本操作。</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2772" name="Rectangle 154"/>
          <p:cNvSpPr txBox="1">
            <a:spLocks noChangeArrowheads="1"/>
          </p:cNvSpPr>
          <p:nvPr/>
        </p:nvSpPr>
        <p:spPr bwMode="auto">
          <a:xfrm>
            <a:off x="827088" y="161925"/>
            <a:ext cx="4933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总结</a:t>
            </a:r>
          </a:p>
        </p:txBody>
      </p:sp>
      <p:sp>
        <p:nvSpPr>
          <p:cNvPr id="61" name="Diamond 8"/>
          <p:cNvSpPr/>
          <p:nvPr/>
        </p:nvSpPr>
        <p:spPr>
          <a:xfrm>
            <a:off x="727075" y="4175125"/>
            <a:ext cx="982663" cy="944563"/>
          </a:xfrm>
          <a:prstGeom prst="diamond">
            <a:avLst/>
          </a:prstGeom>
          <a:solidFill>
            <a:srgbClr val="4BACC6"/>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GB" sz="1800" b="0" i="0" u="none" strike="noStrike" kern="0" cap="none" spc="0" normalizeH="0" baseline="0" noProof="0" dirty="0">
                <a:ln>
                  <a:noFill/>
                </a:ln>
                <a:solidFill>
                  <a:schemeClr val="bg1"/>
                </a:solidFill>
                <a:effectLst/>
                <a:uLnTx/>
                <a:uFillTx/>
                <a:latin typeface="+mn-lt"/>
                <a:ea typeface="+mn-ea"/>
                <a:cs typeface="+mn-ea"/>
                <a:sym typeface="+mn-lt"/>
              </a:rPr>
              <a:t>03</a:t>
            </a:r>
          </a:p>
        </p:txBody>
      </p:sp>
      <p:sp>
        <p:nvSpPr>
          <p:cNvPr id="66" name="Diamond 13"/>
          <p:cNvSpPr/>
          <p:nvPr/>
        </p:nvSpPr>
        <p:spPr>
          <a:xfrm>
            <a:off x="727075" y="1766888"/>
            <a:ext cx="982663" cy="944563"/>
          </a:xfrm>
          <a:prstGeom prst="diamond">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GB" sz="1800" b="0" i="0" u="none" strike="noStrike" kern="0" cap="none" spc="0" normalizeH="0" baseline="0" noProof="0" dirty="0">
                <a:ln>
                  <a:noFill/>
                </a:ln>
                <a:solidFill>
                  <a:schemeClr val="bg1"/>
                </a:solidFill>
                <a:effectLst/>
                <a:uLnTx/>
                <a:uFillTx/>
                <a:latin typeface="+mn-lt"/>
                <a:ea typeface="+mn-ea"/>
                <a:cs typeface="+mn-ea"/>
                <a:sym typeface="+mn-lt"/>
              </a:rPr>
              <a:t>01</a:t>
            </a:r>
          </a:p>
        </p:txBody>
      </p:sp>
      <p:sp>
        <p:nvSpPr>
          <p:cNvPr id="69" name="Diamond 16"/>
          <p:cNvSpPr/>
          <p:nvPr/>
        </p:nvSpPr>
        <p:spPr>
          <a:xfrm>
            <a:off x="719138" y="3006725"/>
            <a:ext cx="984250" cy="944563"/>
          </a:xfrm>
          <a:prstGeom prst="diamond">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GB" sz="1800" b="0" i="0" u="none" strike="noStrike" kern="0" cap="none" spc="0" normalizeH="0" baseline="0" noProof="0" dirty="0">
                <a:ln>
                  <a:noFill/>
                </a:ln>
                <a:solidFill>
                  <a:schemeClr val="bg1"/>
                </a:solidFill>
                <a:effectLst/>
                <a:uLnTx/>
                <a:uFillTx/>
                <a:latin typeface="+mn-lt"/>
                <a:ea typeface="+mn-ea"/>
                <a:cs typeface="+mn-ea"/>
                <a:sym typeface="+mn-lt"/>
              </a:rPr>
              <a:t>02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6">
                                            <p:bg/>
                                          </p:spTgt>
                                        </p:tgtEl>
                                        <p:attrNameLst>
                                          <p:attrName>style.visibility</p:attrName>
                                        </p:attrNameLst>
                                      </p:cBhvr>
                                      <p:to>
                                        <p:strVal val="visible"/>
                                      </p:to>
                                    </p:set>
                                    <p:animEffect transition="in" filter="box(in)">
                                      <p:cBhvr>
                                        <p:cTn id="7" dur="500"/>
                                        <p:tgtEl>
                                          <p:spTgt spid="66">
                                            <p:bg/>
                                          </p:spTgt>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66">
                                            <p:txEl>
                                              <p:pRg st="0" end="0"/>
                                            </p:txEl>
                                          </p:spTgt>
                                        </p:tgtEl>
                                        <p:attrNameLst>
                                          <p:attrName>style.visibility</p:attrName>
                                        </p:attrNameLst>
                                      </p:cBhvr>
                                      <p:to>
                                        <p:strVal val="visible"/>
                                      </p:to>
                                    </p:set>
                                    <p:animEffect transition="in" filter="box(in)">
                                      <p:cBhvr>
                                        <p:cTn id="11" dur="500"/>
                                        <p:tgtEl>
                                          <p:spTgt spid="6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1">
                                            <p:txEl>
                                              <p:pRg st="0" end="0"/>
                                            </p:txEl>
                                          </p:spTgt>
                                        </p:tgtEl>
                                        <p:attrNameLst>
                                          <p:attrName>style.visibility</p:attrName>
                                        </p:attrNameLst>
                                      </p:cBhvr>
                                      <p:to>
                                        <p:strVal val="visible"/>
                                      </p:to>
                                    </p:set>
                                    <p:animEffect transition="in" filter="box(in)">
                                      <p:cBhvr>
                                        <p:cTn id="16" dur="500"/>
                                        <p:tgtEl>
                                          <p:spTgt spid="2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69">
                                            <p:bg/>
                                          </p:spTgt>
                                        </p:tgtEl>
                                        <p:attrNameLst>
                                          <p:attrName>style.visibility</p:attrName>
                                        </p:attrNameLst>
                                      </p:cBhvr>
                                      <p:to>
                                        <p:strVal val="visible"/>
                                      </p:to>
                                    </p:set>
                                    <p:animEffect transition="in" filter="box(in)">
                                      <p:cBhvr>
                                        <p:cTn id="21" dur="500"/>
                                        <p:tgtEl>
                                          <p:spTgt spid="69">
                                            <p:bg/>
                                          </p:spTgt>
                                        </p:tgtEl>
                                      </p:cBhvr>
                                    </p:animEffect>
                                  </p:childTnLst>
                                </p:cTn>
                              </p:par>
                            </p:childTnLst>
                          </p:cTn>
                        </p:par>
                        <p:par>
                          <p:cTn id="22" fill="hold">
                            <p:stCondLst>
                              <p:cond delay="500"/>
                            </p:stCondLst>
                            <p:childTnLst>
                              <p:par>
                                <p:cTn id="23" presetID="4" presetClass="entr" presetSubtype="16" fill="hold" grpId="0" nodeType="afterEffect">
                                  <p:stCondLst>
                                    <p:cond delay="0"/>
                                  </p:stCondLst>
                                  <p:childTnLst>
                                    <p:set>
                                      <p:cBhvr>
                                        <p:cTn id="24" dur="1" fill="hold">
                                          <p:stCondLst>
                                            <p:cond delay="0"/>
                                          </p:stCondLst>
                                        </p:cTn>
                                        <p:tgtEl>
                                          <p:spTgt spid="69">
                                            <p:txEl>
                                              <p:pRg st="0" end="0"/>
                                            </p:txEl>
                                          </p:spTgt>
                                        </p:tgtEl>
                                        <p:attrNameLst>
                                          <p:attrName>style.visibility</p:attrName>
                                        </p:attrNameLst>
                                      </p:cBhvr>
                                      <p:to>
                                        <p:strVal val="visible"/>
                                      </p:to>
                                    </p:set>
                                    <p:animEffect transition="in" filter="box(in)">
                                      <p:cBhvr>
                                        <p:cTn id="25" dur="500"/>
                                        <p:tgtEl>
                                          <p:spTgt spid="6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1">
                                            <p:txEl>
                                              <p:pRg st="1" end="1"/>
                                            </p:txEl>
                                          </p:spTgt>
                                        </p:tgtEl>
                                        <p:attrNameLst>
                                          <p:attrName>style.visibility</p:attrName>
                                        </p:attrNameLst>
                                      </p:cBhvr>
                                      <p:to>
                                        <p:strVal val="visible"/>
                                      </p:to>
                                    </p:set>
                                    <p:animEffect transition="in" filter="box(in)">
                                      <p:cBhvr>
                                        <p:cTn id="30" dur="500"/>
                                        <p:tgtEl>
                                          <p:spTgt spid="21">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61">
                                            <p:bg/>
                                          </p:spTgt>
                                        </p:tgtEl>
                                        <p:attrNameLst>
                                          <p:attrName>style.visibility</p:attrName>
                                        </p:attrNameLst>
                                      </p:cBhvr>
                                      <p:to>
                                        <p:strVal val="visible"/>
                                      </p:to>
                                    </p:set>
                                    <p:animEffect transition="in" filter="box(in)">
                                      <p:cBhvr>
                                        <p:cTn id="35" dur="500"/>
                                        <p:tgtEl>
                                          <p:spTgt spid="61">
                                            <p:bg/>
                                          </p:spTgt>
                                        </p:tgtEl>
                                      </p:cBhvr>
                                    </p:animEffect>
                                  </p:childTnLst>
                                </p:cTn>
                              </p:par>
                            </p:childTnLst>
                          </p:cTn>
                        </p:par>
                        <p:par>
                          <p:cTn id="36" fill="hold">
                            <p:stCondLst>
                              <p:cond delay="500"/>
                            </p:stCondLst>
                            <p:childTnLst>
                              <p:par>
                                <p:cTn id="37" presetID="4" presetClass="entr" presetSubtype="16" fill="hold" grpId="0" nodeType="afterEffect">
                                  <p:stCondLst>
                                    <p:cond delay="0"/>
                                  </p:stCondLst>
                                  <p:childTnLst>
                                    <p:set>
                                      <p:cBhvr>
                                        <p:cTn id="38" dur="1" fill="hold">
                                          <p:stCondLst>
                                            <p:cond delay="0"/>
                                          </p:stCondLst>
                                        </p:cTn>
                                        <p:tgtEl>
                                          <p:spTgt spid="61">
                                            <p:txEl>
                                              <p:pRg st="0" end="0"/>
                                            </p:txEl>
                                          </p:spTgt>
                                        </p:tgtEl>
                                        <p:attrNameLst>
                                          <p:attrName>style.visibility</p:attrName>
                                        </p:attrNameLst>
                                      </p:cBhvr>
                                      <p:to>
                                        <p:strVal val="visible"/>
                                      </p:to>
                                    </p:set>
                                    <p:animEffect transition="in" filter="box(in)">
                                      <p:cBhvr>
                                        <p:cTn id="39" dur="500"/>
                                        <p:tgtEl>
                                          <p:spTgt spid="61">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21">
                                            <p:txEl>
                                              <p:pRg st="2" end="2"/>
                                            </p:txEl>
                                          </p:spTgt>
                                        </p:tgtEl>
                                        <p:attrNameLst>
                                          <p:attrName>style.visibility</p:attrName>
                                        </p:attrNameLst>
                                      </p:cBhvr>
                                      <p:to>
                                        <p:strVal val="visible"/>
                                      </p:to>
                                    </p:set>
                                    <p:animEffect transition="in" filter="box(in)">
                                      <p:cBhvr>
                                        <p:cTn id="44" dur="500"/>
                                        <p:tgtEl>
                                          <p:spTgt spid="21">
                                            <p:txEl>
                                              <p:pRg st="2" end="2"/>
                                            </p:txEl>
                                          </p:spTgt>
                                        </p:tgtEl>
                                      </p:cBhvr>
                                    </p:animEffect>
                                  </p:childTnLst>
                                </p:cTn>
                              </p:par>
                            </p:childTnLst>
                          </p:cTn>
                        </p:par>
                        <p:par>
                          <p:cTn id="45" fill="hold">
                            <p:stCondLst>
                              <p:cond delay="500"/>
                            </p:stCondLst>
                            <p:childTnLst>
                              <p:par>
                                <p:cTn id="46" presetID="2" presetClass="entr" presetSubtype="4" fill="hold" nodeType="afterEffect">
                                  <p:stCondLst>
                                    <p:cond delay="0"/>
                                  </p:stCondLst>
                                  <p:childTnLst>
                                    <p:set>
                                      <p:cBhvr>
                                        <p:cTn id="47" dur="1" fill="hold">
                                          <p:stCondLst>
                                            <p:cond delay="0"/>
                                          </p:stCondLst>
                                        </p:cTn>
                                        <p:tgtEl>
                                          <p:spTgt spid="74"/>
                                        </p:tgtEl>
                                        <p:attrNameLst>
                                          <p:attrName>style.visibility</p:attrName>
                                        </p:attrNameLst>
                                      </p:cBhvr>
                                      <p:to>
                                        <p:strVal val="visible"/>
                                      </p:to>
                                    </p:set>
                                    <p:anim calcmode="lin" valueType="num">
                                      <p:cBhvr additive="base">
                                        <p:cTn id="48" dur="500" fill="hold"/>
                                        <p:tgtEl>
                                          <p:spTgt spid="74"/>
                                        </p:tgtEl>
                                        <p:attrNameLst>
                                          <p:attrName>ppt_x</p:attrName>
                                        </p:attrNameLst>
                                      </p:cBhvr>
                                      <p:tavLst>
                                        <p:tav tm="0">
                                          <p:val>
                                            <p:strVal val="#ppt_x"/>
                                          </p:val>
                                        </p:tav>
                                        <p:tav tm="100000">
                                          <p:val>
                                            <p:strVal val="#ppt_x"/>
                                          </p:val>
                                        </p:tav>
                                      </p:tavLst>
                                    </p:anim>
                                    <p:anim calcmode="lin" valueType="num">
                                      <p:cBhvr additive="base">
                                        <p:cTn id="49"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61" grpId="0" build="p" animBg="1"/>
      <p:bldP spid="66" grpId="0" build="p" animBg="1"/>
      <p:bldP spid="69"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324294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324294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bg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a:p>
            <a:pPr marR="0" defTabSz="914400">
              <a:lnSpc>
                <a:spcPct val="150000"/>
              </a:lnSpc>
              <a:buClrTx/>
              <a:buSzTx/>
              <a:buFontTx/>
              <a:buNone/>
              <a:defRPr/>
            </a:pPr>
            <a:endParaRPr kumimoji="0" lang="en-US" altLang="zh-CN" sz="2200" kern="1200" cap="none" spc="0" normalizeH="0" baseline="0" noProof="0" dirty="0">
              <a:solidFill>
                <a:schemeClr val="tx1">
                  <a:lumMod val="95000"/>
                  <a:lumOff val="5000"/>
                </a:schemeClr>
              </a:solidFill>
              <a:latin typeface="+mn-lt"/>
              <a:ea typeface="+mn-ea"/>
              <a:cs typeface="+mn-ea"/>
              <a:sym typeface="+mn-lt"/>
            </a:endParaRP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p:nvPr>
        </p:nvSpPr>
        <p:spPr>
          <a:xfrm>
            <a:off x="336550" y="1069975"/>
            <a:ext cx="3979863" cy="550863"/>
          </a:xfrm>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0" cap="none" spc="0" normalizeH="0" baseline="0" noProof="0" dirty="0">
                <a:ln>
                  <a:noFill/>
                </a:ln>
                <a:solidFill>
                  <a:schemeClr val="tx1">
                    <a:lumMod val="95000"/>
                    <a:lumOff val="5000"/>
                  </a:schemeClr>
                </a:solidFill>
                <a:effectLst/>
                <a:uLnTx/>
                <a:uFillTx/>
                <a:latin typeface="+mn-lt"/>
                <a:ea typeface="+mn-ea"/>
                <a:cs typeface="+mn-ea"/>
                <a:sym typeface="+mn-lt"/>
              </a:rPr>
              <a:t>线性表的重要基本操作</a:t>
            </a:r>
          </a:p>
        </p:txBody>
      </p:sp>
      <p:sp>
        <p:nvSpPr>
          <p:cNvPr id="33796" name="Rectangle 58"/>
          <p:cNvSpPr>
            <a:spLocks noChangeArrowheads="1"/>
          </p:cNvSpPr>
          <p:nvPr/>
        </p:nvSpPr>
        <p:spPr bwMode="auto">
          <a:xfrm>
            <a:off x="801688" y="1412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线性表的类型定义</a:t>
            </a:r>
          </a:p>
        </p:txBody>
      </p:sp>
      <p:sp>
        <p:nvSpPr>
          <p:cNvPr id="44" name="Freeform 5"/>
          <p:cNvSpPr/>
          <p:nvPr/>
        </p:nvSpPr>
        <p:spPr bwMode="auto">
          <a:xfrm>
            <a:off x="4984750" y="189071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263683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425608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229076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432752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273843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200660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87191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91172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315436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453231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369252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343852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412273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84028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350996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81133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436086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573246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78276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508952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96570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623411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789363"/>
            <a:ext cx="1204913" cy="738188"/>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646988" y="1595438"/>
            <a:ext cx="1285875"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54363" y="6094413"/>
            <a:ext cx="938213"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查找</a:t>
            </a:r>
          </a:p>
        </p:txBody>
      </p:sp>
      <p:sp>
        <p:nvSpPr>
          <p:cNvPr id="70" name="TextBox 202"/>
          <p:cNvSpPr txBox="1"/>
          <p:nvPr/>
        </p:nvSpPr>
        <p:spPr bwMode="auto">
          <a:xfrm>
            <a:off x="849313" y="4799013"/>
            <a:ext cx="939800"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插入</a:t>
            </a:r>
          </a:p>
        </p:txBody>
      </p:sp>
      <p:sp>
        <p:nvSpPr>
          <p:cNvPr id="71" name="TextBox 204"/>
          <p:cNvSpPr txBox="1"/>
          <p:nvPr/>
        </p:nvSpPr>
        <p:spPr bwMode="auto">
          <a:xfrm>
            <a:off x="7532688" y="4941888"/>
            <a:ext cx="938213"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取值</a:t>
            </a:r>
          </a:p>
        </p:txBody>
      </p:sp>
      <p:sp>
        <p:nvSpPr>
          <p:cNvPr id="72" name="TextBox 206"/>
          <p:cNvSpPr txBox="1"/>
          <p:nvPr/>
        </p:nvSpPr>
        <p:spPr bwMode="auto">
          <a:xfrm>
            <a:off x="347663" y="2755900"/>
            <a:ext cx="938213" cy="49371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删除</a:t>
            </a:r>
          </a:p>
        </p:txBody>
      </p:sp>
      <p:sp>
        <p:nvSpPr>
          <p:cNvPr id="73" name="TextBox 210"/>
          <p:cNvSpPr txBox="1"/>
          <p:nvPr/>
        </p:nvSpPr>
        <p:spPr bwMode="auto">
          <a:xfrm>
            <a:off x="5629275" y="2532063"/>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3255963"/>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4589463"/>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5008563"/>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998913"/>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502285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300196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97180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ChangeArrowheads="1"/>
          </p:cNvSpPr>
          <p:nvPr/>
        </p:nvSpPr>
        <p:spPr bwMode="auto">
          <a:xfrm>
            <a:off x="827088" y="11113"/>
            <a:ext cx="88392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马克思主义唯物论</a:t>
            </a:r>
          </a:p>
        </p:txBody>
      </p:sp>
      <p:grpSp>
        <p:nvGrpSpPr>
          <p:cNvPr id="38" name="组合 37"/>
          <p:cNvGrpSpPr/>
          <p:nvPr/>
        </p:nvGrpSpPr>
        <p:grpSpPr>
          <a:xfrm>
            <a:off x="242888" y="1858963"/>
            <a:ext cx="8445500" cy="4030662"/>
            <a:chOff x="243525" y="1859482"/>
            <a:chExt cx="8445208" cy="4029824"/>
          </a:xfrm>
        </p:grpSpPr>
        <p:grpSp>
          <p:nvGrpSpPr>
            <p:cNvPr id="43012" name="组合 15"/>
            <p:cNvGrpSpPr/>
            <p:nvPr/>
          </p:nvGrpSpPr>
          <p:grpSpPr>
            <a:xfrm>
              <a:off x="6204965" y="1859482"/>
              <a:ext cx="2483768" cy="4029824"/>
              <a:chOff x="8023591" y="1879600"/>
              <a:chExt cx="2900948" cy="4706682"/>
            </a:xfrm>
          </p:grpSpPr>
          <p:sp>
            <p:nvSpPr>
              <p:cNvPr id="17" name="íślíḋè-Rectangle 11"/>
              <p:cNvSpPr/>
              <p:nvPr/>
            </p:nvSpPr>
            <p:spPr>
              <a:xfrm>
                <a:off x="8115613" y="2003801"/>
                <a:ext cx="2716222" cy="4582481"/>
              </a:xfrm>
              <a:prstGeom prst="rect">
                <a:avLst/>
              </a:prstGeom>
              <a:noFill/>
              <a:ln w="19050" cap="flat" cmpd="sng" algn="ctr">
                <a:solidFill>
                  <a:schemeClr val="accent1">
                    <a:lumMod val="60000"/>
                    <a:lumOff val="40000"/>
                  </a:schemeClr>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18" name="íślíḋè-Arrow: Pentagon 12"/>
              <p:cNvSpPr/>
              <p:nvPr/>
            </p:nvSpPr>
            <p:spPr>
              <a:xfrm rot="5400000">
                <a:off x="8354984" y="1547525"/>
                <a:ext cx="2237481" cy="2901630"/>
              </a:xfrm>
              <a:prstGeom prst="homePlate">
                <a:avLst/>
              </a:prstGeom>
              <a:solidFill>
                <a:schemeClr val="accent1">
                  <a:lumMod val="60000"/>
                  <a:lumOff val="40000"/>
                </a:schemeClr>
              </a:solidFill>
              <a:ln w="25400" cap="flat" cmpd="sng" algn="ctr">
                <a:noFill/>
                <a:prstDash val="solid"/>
              </a:ln>
              <a:effectLst/>
            </p:spPr>
            <p:txBody>
              <a:bodyPr vert="vert270" wrap="none" lIns="216000" tIns="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19" name="íślíḋè-Freeform: Shape 19"/>
              <p:cNvSpPr/>
              <p:nvPr/>
            </p:nvSpPr>
            <p:spPr bwMode="auto">
              <a:xfrm>
                <a:off x="9109398" y="2808330"/>
                <a:ext cx="728653" cy="728526"/>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43013" name="组合 19"/>
            <p:cNvGrpSpPr/>
            <p:nvPr/>
          </p:nvGrpSpPr>
          <p:grpSpPr>
            <a:xfrm>
              <a:off x="243525" y="1859482"/>
              <a:ext cx="2483768" cy="4029824"/>
              <a:chOff x="1267463" y="1879600"/>
              <a:chExt cx="2900948" cy="4706682"/>
            </a:xfrm>
          </p:grpSpPr>
          <p:sp>
            <p:nvSpPr>
              <p:cNvPr id="21" name="íślíḋè-Rectangle 1"/>
              <p:cNvSpPr/>
              <p:nvPr/>
            </p:nvSpPr>
            <p:spPr>
              <a:xfrm>
                <a:off x="1360167" y="2003801"/>
                <a:ext cx="2716221" cy="4582481"/>
              </a:xfrm>
              <a:prstGeom prst="rect">
                <a:avLst/>
              </a:prstGeom>
              <a:noFill/>
              <a:ln w="19050" cap="flat" cmpd="sng" algn="ctr">
                <a:solidFill>
                  <a:srgbClr val="4F81BD"/>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22" name="íślíḋè-Arrow: Pentagon 2"/>
              <p:cNvSpPr/>
              <p:nvPr/>
            </p:nvSpPr>
            <p:spPr>
              <a:xfrm rot="5400000">
                <a:off x="1599538" y="1547525"/>
                <a:ext cx="2237481" cy="2901629"/>
              </a:xfrm>
              <a:prstGeom prst="homePlate">
                <a:avLst/>
              </a:prstGeom>
              <a:solidFill>
                <a:srgbClr val="4F81BD"/>
              </a:solidFill>
              <a:ln w="25400" cap="flat" cmpd="sng" algn="ctr">
                <a:noFill/>
                <a:prstDash val="solid"/>
              </a:ln>
              <a:effectLst/>
            </p:spPr>
            <p:txBody>
              <a:bodyPr vert="vert270" wrap="none" l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23" name="íślíḋè-Freeform: Shape 20"/>
              <p:cNvSpPr/>
              <p:nvPr/>
            </p:nvSpPr>
            <p:spPr bwMode="auto">
              <a:xfrm>
                <a:off x="2353952" y="2808330"/>
                <a:ext cx="728651" cy="728526"/>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43014" name="组合 23"/>
            <p:cNvGrpSpPr/>
            <p:nvPr/>
          </p:nvGrpSpPr>
          <p:grpSpPr>
            <a:xfrm>
              <a:off x="3254111" y="1859482"/>
              <a:ext cx="2483768" cy="3188898"/>
              <a:chOff x="4645526" y="1879600"/>
              <a:chExt cx="2900948" cy="3724512"/>
            </a:xfrm>
          </p:grpSpPr>
          <p:sp>
            <p:nvSpPr>
              <p:cNvPr id="25" name="íślíḋè-Rectangle 6"/>
              <p:cNvSpPr/>
              <p:nvPr/>
            </p:nvSpPr>
            <p:spPr>
              <a:xfrm>
                <a:off x="4737307" y="2003801"/>
                <a:ext cx="2716221" cy="3599991"/>
              </a:xfrm>
              <a:prstGeom prst="rect">
                <a:avLst/>
              </a:prstGeom>
              <a:noFill/>
              <a:ln w="19050" cap="flat" cmpd="sng" algn="ctr">
                <a:solidFill>
                  <a:srgbClr val="C0504D"/>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26" name="íślíḋè-Arrow: Pentagon 7"/>
              <p:cNvSpPr/>
              <p:nvPr/>
            </p:nvSpPr>
            <p:spPr>
              <a:xfrm rot="5400000">
                <a:off x="4976678" y="1547525"/>
                <a:ext cx="2237481" cy="2901629"/>
              </a:xfrm>
              <a:prstGeom prst="homePlate">
                <a:avLst/>
              </a:prstGeom>
              <a:solidFill>
                <a:srgbClr val="C0504D"/>
              </a:solidFill>
              <a:ln w="25400" cap="flat" cmpd="sng" algn="ctr">
                <a:noFill/>
                <a:prstDash val="solid"/>
              </a:ln>
              <a:effectLst/>
            </p:spPr>
            <p:txBody>
              <a:bodyPr vert="vert270" wrap="none" l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27" name="íślíḋè-Freeform: Shape 21"/>
              <p:cNvSpPr/>
              <p:nvPr/>
            </p:nvSpPr>
            <p:spPr bwMode="auto">
              <a:xfrm>
                <a:off x="5744070" y="2808330"/>
                <a:ext cx="728653" cy="728526"/>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
          <p:nvSpPr>
            <p:cNvPr id="522244" name="Rectangle 4"/>
            <p:cNvSpPr>
              <a:spLocks noChangeArrowheads="1"/>
            </p:cNvSpPr>
            <p:nvPr/>
          </p:nvSpPr>
          <p:spPr bwMode="auto">
            <a:xfrm>
              <a:off x="637211" y="1965822"/>
              <a:ext cx="1776351" cy="81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mn-lt"/>
                  <a:ea typeface="+mn-ea"/>
                  <a:cs typeface="+mn-ea"/>
                  <a:sym typeface="+mn-lt"/>
                </a:rPr>
                <a:t>从实际出发</a:t>
              </a:r>
            </a:p>
          </p:txBody>
        </p:sp>
        <p:sp>
          <p:nvSpPr>
            <p:cNvPr id="29" name="Rectangle 4"/>
            <p:cNvSpPr>
              <a:spLocks noChangeArrowheads="1"/>
            </p:cNvSpPr>
            <p:nvPr/>
          </p:nvSpPr>
          <p:spPr bwMode="auto">
            <a:xfrm>
              <a:off x="395920" y="3897408"/>
              <a:ext cx="2236393" cy="19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sz="2000" b="0" i="0" u="none" strike="noStrike" kern="1200" cap="none" spc="0" normalizeH="0" baseline="0" noProof="0" dirty="0">
                  <a:ln>
                    <a:noFill/>
                  </a:ln>
                  <a:effectLst/>
                  <a:uLnTx/>
                  <a:uFillTx/>
                  <a:latin typeface="+mn-lt"/>
                  <a:ea typeface="+mn-ea"/>
                  <a:cs typeface="+mn-ea"/>
                  <a:sym typeface="+mn-lt"/>
                </a:rPr>
                <a:t>以</a:t>
              </a:r>
              <a:r>
                <a:rPr kumimoji="0" sz="2000" b="0" i="0" u="none" strike="noStrike" kern="1200" cap="none" spc="0" normalizeH="0" baseline="0" noProof="0" dirty="0">
                  <a:ln>
                    <a:noFill/>
                  </a:ln>
                  <a:solidFill>
                    <a:srgbClr val="FF0000"/>
                  </a:solidFill>
                  <a:effectLst/>
                  <a:uLnTx/>
                  <a:uFillTx/>
                  <a:latin typeface="+mn-lt"/>
                  <a:ea typeface="+mn-ea"/>
                  <a:cs typeface="+mn-ea"/>
                  <a:sym typeface="+mn-lt"/>
                </a:rPr>
                <a:t>客观存在的事物</a:t>
              </a:r>
              <a:r>
                <a:rPr kumimoji="0" sz="2000" b="0" i="0" u="none" strike="noStrike" kern="1200" cap="none" spc="0" normalizeH="0" baseline="0" noProof="0" dirty="0">
                  <a:ln>
                    <a:noFill/>
                  </a:ln>
                  <a:effectLst/>
                  <a:uLnTx/>
                  <a:uFillTx/>
                  <a:latin typeface="+mn-lt"/>
                  <a:ea typeface="+mn-ea"/>
                  <a:cs typeface="+mn-ea"/>
                  <a:sym typeface="+mn-lt"/>
                </a:rPr>
                <a:t>为出发点，深入了解和把握事物的本质和规律。</a:t>
              </a:r>
            </a:p>
          </p:txBody>
        </p:sp>
        <p:sp>
          <p:nvSpPr>
            <p:cNvPr id="30" name="Rectangle 4"/>
            <p:cNvSpPr>
              <a:spLocks noChangeArrowheads="1"/>
            </p:cNvSpPr>
            <p:nvPr/>
          </p:nvSpPr>
          <p:spPr bwMode="auto">
            <a:xfrm>
              <a:off x="3872425" y="1886463"/>
              <a:ext cx="1787463" cy="74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b="0" i="0" u="none" strike="noStrike" kern="1200" cap="none" spc="0" normalizeH="0" baseline="0" noProof="0" dirty="0" err="1">
                  <a:ln>
                    <a:noFill/>
                  </a:ln>
                  <a:solidFill>
                    <a:schemeClr val="bg1"/>
                  </a:solidFill>
                  <a:effectLst/>
                  <a:uLnTx/>
                  <a:uFillTx/>
                  <a:latin typeface="+mn-lt"/>
                  <a:ea typeface="+mn-ea"/>
                  <a:cs typeface="+mn-ea"/>
                  <a:sym typeface="+mn-lt"/>
                </a:rPr>
                <a:t>实事求事</a:t>
              </a:r>
              <a:endParaRPr kumimoji="0" lang="zh-CN" altLang="en-US"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31" name="Rectangle 4"/>
            <p:cNvSpPr>
              <a:spLocks noChangeArrowheads="1"/>
            </p:cNvSpPr>
            <p:nvPr/>
          </p:nvSpPr>
          <p:spPr bwMode="auto">
            <a:xfrm>
              <a:off x="3529536" y="3927564"/>
              <a:ext cx="1954144" cy="96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sz="2000" b="0" i="0" u="none" strike="noStrike" kern="1200" cap="none" spc="0" normalizeH="0" baseline="0" noProof="0" dirty="0">
                  <a:ln>
                    <a:noFill/>
                  </a:ln>
                  <a:effectLst/>
                  <a:uLnTx/>
                  <a:uFillTx/>
                  <a:latin typeface="+mn-lt"/>
                  <a:ea typeface="+mn-ea"/>
                  <a:cs typeface="+mn-ea"/>
                  <a:sym typeface="+mn-lt"/>
                </a:rPr>
                <a:t>将</a:t>
              </a:r>
              <a:r>
                <a:rPr kumimoji="0" sz="2000" b="0" i="0" u="none" strike="noStrike" kern="1200" cap="none" spc="0" normalizeH="0" baseline="0" noProof="0" dirty="0">
                  <a:ln>
                    <a:noFill/>
                  </a:ln>
                  <a:solidFill>
                    <a:srgbClr val="FF0000"/>
                  </a:solidFill>
                  <a:effectLst/>
                  <a:uLnTx/>
                  <a:uFillTx/>
                  <a:latin typeface="+mn-lt"/>
                  <a:ea typeface="+mn-ea"/>
                  <a:cs typeface="+mn-ea"/>
                  <a:sym typeface="+mn-lt"/>
                </a:rPr>
                <a:t>理论与实践</a:t>
              </a:r>
              <a:r>
                <a:rPr kumimoji="0" sz="2000" b="0" i="0" u="none" strike="noStrike" kern="1200" cap="none" spc="0" normalizeH="0" baseline="0" noProof="0" dirty="0">
                  <a:ln>
                    <a:noFill/>
                  </a:ln>
                  <a:effectLst/>
                  <a:uLnTx/>
                  <a:uFillTx/>
                  <a:latin typeface="+mn-lt"/>
                  <a:ea typeface="+mn-ea"/>
                  <a:cs typeface="+mn-ea"/>
                  <a:sym typeface="+mn-lt"/>
                </a:rPr>
                <a:t>相结合。</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2" name="Rectangle 4"/>
            <p:cNvSpPr>
              <a:spLocks noChangeArrowheads="1"/>
            </p:cNvSpPr>
            <p:nvPr/>
          </p:nvSpPr>
          <p:spPr bwMode="auto">
            <a:xfrm>
              <a:off x="6482184" y="1888051"/>
              <a:ext cx="1906204" cy="74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mn-lt"/>
                  <a:ea typeface="+mn-ea"/>
                  <a:cs typeface="+mn-ea"/>
                  <a:sym typeface="+mn-lt"/>
                </a:rPr>
                <a:t>科学方法论</a:t>
              </a:r>
            </a:p>
          </p:txBody>
        </p:sp>
        <p:sp>
          <p:nvSpPr>
            <p:cNvPr id="33" name="Rectangle 4"/>
            <p:cNvSpPr>
              <a:spLocks noChangeArrowheads="1"/>
            </p:cNvSpPr>
            <p:nvPr/>
          </p:nvSpPr>
          <p:spPr bwMode="auto">
            <a:xfrm>
              <a:off x="6377413" y="3837096"/>
              <a:ext cx="2231948" cy="205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sz="2400" b="0" i="0" u="none" strike="noStrike" kern="1200" cap="none" spc="0" normalizeH="0" baseline="0" noProof="0" dirty="0">
                  <a:ln>
                    <a:noFill/>
                  </a:ln>
                  <a:solidFill>
                    <a:srgbClr val="FF0000"/>
                  </a:solidFill>
                  <a:effectLst/>
                  <a:uLnTx/>
                  <a:uFillTx/>
                  <a:latin typeface="+mn-lt"/>
                  <a:ea typeface="+mn-ea"/>
                  <a:cs typeface="+mn-ea"/>
                  <a:sym typeface="+mn-lt"/>
                </a:rPr>
                <a:t>归纳与演绎</a:t>
              </a:r>
              <a:r>
                <a:rPr kumimoji="0" 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sz="2400" b="0" i="0" u="none" strike="noStrike" kern="1200" cap="none" spc="0" normalizeH="0" baseline="0" noProof="0" dirty="0">
                  <a:ln>
                    <a:noFill/>
                  </a:ln>
                  <a:solidFill>
                    <a:srgbClr val="FF0000"/>
                  </a:solidFill>
                  <a:effectLst/>
                  <a:uLnTx/>
                  <a:uFillTx/>
                  <a:latin typeface="+mn-lt"/>
                  <a:ea typeface="+mn-ea"/>
                  <a:cs typeface="+mn-ea"/>
                  <a:sym typeface="+mn-lt"/>
                </a:rPr>
                <a:t>分析与综合</a:t>
              </a:r>
              <a:r>
                <a:rPr kumimoji="0" 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43021" name="组合 27"/>
            <p:cNvGrpSpPr/>
            <p:nvPr/>
          </p:nvGrpSpPr>
          <p:grpSpPr>
            <a:xfrm>
              <a:off x="3343609" y="5171144"/>
              <a:ext cx="2326496" cy="664952"/>
              <a:chOff x="3343609" y="5171144"/>
              <a:chExt cx="2326496" cy="664952"/>
            </a:xfrm>
          </p:grpSpPr>
          <p:grpSp>
            <p:nvGrpSpPr>
              <p:cNvPr id="3" name="组合 2"/>
              <p:cNvGrpSpPr/>
              <p:nvPr/>
            </p:nvGrpSpPr>
            <p:grpSpPr>
              <a:xfrm>
                <a:off x="3343609" y="5171144"/>
                <a:ext cx="2326496" cy="313506"/>
                <a:chOff x="-11318" y="6021288"/>
                <a:chExt cx="9155318" cy="528512"/>
              </a:xfrm>
              <a:solidFill>
                <a:srgbClr val="C0504D"/>
              </a:solidFill>
            </p:grpSpPr>
            <p:sp>
              <p:nvSpPr>
                <p:cNvPr id="34" name="矩形 2"/>
                <p:cNvSpPr>
                  <a:spLocks noChangeArrowheads="1"/>
                </p:cNvSpPr>
                <p:nvPr/>
              </p:nvSpPr>
              <p:spPr bwMode="auto">
                <a:xfrm>
                  <a:off x="0" y="6021288"/>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 name="矩形 2"/>
                <p:cNvSpPr>
                  <a:spLocks noChangeArrowheads="1"/>
                </p:cNvSpPr>
                <p:nvPr/>
              </p:nvSpPr>
              <p:spPr bwMode="auto">
                <a:xfrm>
                  <a:off x="0" y="6178041"/>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 name="矩形 2"/>
                <p:cNvSpPr>
                  <a:spLocks noChangeArrowheads="1"/>
                </p:cNvSpPr>
                <p:nvPr/>
              </p:nvSpPr>
              <p:spPr bwMode="auto">
                <a:xfrm>
                  <a:off x="-11318" y="6334794"/>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 name="矩形 2"/>
                <p:cNvSpPr>
                  <a:spLocks noChangeArrowheads="1"/>
                </p:cNvSpPr>
                <p:nvPr/>
              </p:nvSpPr>
              <p:spPr bwMode="auto">
                <a:xfrm>
                  <a:off x="-11318" y="6477792"/>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9" name="组合 38"/>
              <p:cNvGrpSpPr/>
              <p:nvPr/>
            </p:nvGrpSpPr>
            <p:grpSpPr>
              <a:xfrm>
                <a:off x="3343609" y="5522590"/>
                <a:ext cx="2326496" cy="313506"/>
                <a:chOff x="-11318" y="6021288"/>
                <a:chExt cx="9155318" cy="528512"/>
              </a:xfrm>
              <a:solidFill>
                <a:srgbClr val="C0504D"/>
              </a:solidFill>
            </p:grpSpPr>
            <p:sp>
              <p:nvSpPr>
                <p:cNvPr id="40" name="矩形 2"/>
                <p:cNvSpPr>
                  <a:spLocks noChangeArrowheads="1"/>
                </p:cNvSpPr>
                <p:nvPr/>
              </p:nvSpPr>
              <p:spPr bwMode="auto">
                <a:xfrm>
                  <a:off x="0" y="6021288"/>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1" name="矩形 2"/>
                <p:cNvSpPr>
                  <a:spLocks noChangeArrowheads="1"/>
                </p:cNvSpPr>
                <p:nvPr/>
              </p:nvSpPr>
              <p:spPr bwMode="auto">
                <a:xfrm>
                  <a:off x="0" y="6178041"/>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2" name="矩形 2"/>
                <p:cNvSpPr>
                  <a:spLocks noChangeArrowheads="1"/>
                </p:cNvSpPr>
                <p:nvPr/>
              </p:nvSpPr>
              <p:spPr bwMode="auto">
                <a:xfrm>
                  <a:off x="-11318" y="6334794"/>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3" name="矩形 2"/>
                <p:cNvSpPr>
                  <a:spLocks noChangeArrowheads="1"/>
                </p:cNvSpPr>
                <p:nvPr/>
              </p:nvSpPr>
              <p:spPr bwMode="auto">
                <a:xfrm>
                  <a:off x="-11318" y="6477792"/>
                  <a:ext cx="9144000" cy="72008"/>
                </a:xfrm>
                <a:prstGeom prst="rect">
                  <a:avLst/>
                </a:prstGeom>
                <a:grp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374523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374523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2.4</a:t>
            </a:r>
            <a:endParaRPr kumimoji="0" lang="zh-CN" altLang="en-US" sz="2200" kern="1200" cap="none" spc="0" normalizeH="0" baseline="0" noProof="0" dirty="0">
              <a:solidFill>
                <a:schemeClr val="bg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1038"/>
          <p:cNvSpPr>
            <a:spLocks noChangeArrowheads="1"/>
          </p:cNvSpPr>
          <p:nvPr/>
        </p:nvSpPr>
        <p:spPr bwMode="auto">
          <a:xfrm>
            <a:off x="539750" y="1044575"/>
            <a:ext cx="843597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线性表的顺序表示又称为</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顺序存储结构</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顺序映像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0" name="Rectangle 58"/>
          <p:cNvSpPr>
            <a:spLocks noChangeArrowheads="1"/>
          </p:cNvSpPr>
          <p:nvPr/>
        </p:nvSpPr>
        <p:spPr bwMode="auto">
          <a:xfrm>
            <a:off x="801688" y="1412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线性表的顺序表示和实现</a:t>
            </a:r>
          </a:p>
        </p:txBody>
      </p:sp>
      <p:grpSp>
        <p:nvGrpSpPr>
          <p:cNvPr id="11" name="组合 10"/>
          <p:cNvGrpSpPr/>
          <p:nvPr/>
        </p:nvGrpSpPr>
        <p:grpSpPr>
          <a:xfrm>
            <a:off x="679450" y="1912938"/>
            <a:ext cx="3267075" cy="4192587"/>
            <a:chOff x="1091444" y="1808820"/>
            <a:chExt cx="3771794" cy="4840379"/>
          </a:xfrm>
        </p:grpSpPr>
        <p:sp>
          <p:nvSpPr>
            <p:cNvPr id="12" name="íṩľíḍè-圆角矩形 61"/>
            <p:cNvSpPr/>
            <p:nvPr/>
          </p:nvSpPr>
          <p:spPr>
            <a:xfrm>
              <a:off x="1091444" y="1808820"/>
              <a:ext cx="3771794" cy="3698556"/>
            </a:xfrm>
            <a:prstGeom prst="roundRect">
              <a:avLst>
                <a:gd name="adj" fmla="val 3485"/>
              </a:avLst>
            </a:prstGeom>
            <a:solidFill>
              <a:srgbClr val="4F81BD"/>
            </a:solidFill>
            <a:ln w="25400" cap="flat" cmpd="sng" algn="ctr">
              <a:noFill/>
              <a:prstDash val="solid"/>
            </a:ln>
            <a:effectLst/>
          </p:spPr>
          <p:txBody>
            <a:bodyPr wrap="none" tIns="216000" b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13" name="íṩľíḍè-任意多边形 62"/>
            <p:cNvSpPr/>
            <p:nvPr/>
          </p:nvSpPr>
          <p:spPr>
            <a:xfrm>
              <a:off x="1091444" y="2734375"/>
              <a:ext cx="3771794" cy="3914824"/>
            </a:xfrm>
            <a:custGeom>
              <a:avLst/>
              <a:gdLst>
                <a:gd name="connsiteX0" fmla="*/ 0 w 3657600"/>
                <a:gd name="connsiteY0" fmla="*/ 0 h 5486400"/>
                <a:gd name="connsiteX1" fmla="*/ 127467 w 3657600"/>
                <a:gd name="connsiteY1" fmla="*/ 0 h 5486400"/>
                <a:gd name="connsiteX2" fmla="*/ 1072342 w 3657600"/>
                <a:gd name="connsiteY2" fmla="*/ 0 h 5486400"/>
                <a:gd name="connsiteX3" fmla="*/ 1828800 w 3657600"/>
                <a:gd name="connsiteY3" fmla="*/ 756458 h 5486400"/>
                <a:gd name="connsiteX4" fmla="*/ 2585258 w 3657600"/>
                <a:gd name="connsiteY4" fmla="*/ 0 h 5486400"/>
                <a:gd name="connsiteX5" fmla="*/ 3530133 w 3657600"/>
                <a:gd name="connsiteY5" fmla="*/ 0 h 5486400"/>
                <a:gd name="connsiteX6" fmla="*/ 3657600 w 3657600"/>
                <a:gd name="connsiteY6" fmla="*/ 0 h 5486400"/>
                <a:gd name="connsiteX7" fmla="*/ 3657600 w 3657600"/>
                <a:gd name="connsiteY7" fmla="*/ 127467 h 5486400"/>
                <a:gd name="connsiteX8" fmla="*/ 3657600 w 3657600"/>
                <a:gd name="connsiteY8" fmla="*/ 914400 h 5486400"/>
                <a:gd name="connsiteX9" fmla="*/ 3657600 w 3657600"/>
                <a:gd name="connsiteY9" fmla="*/ 5358933 h 5486400"/>
                <a:gd name="connsiteX10" fmla="*/ 3530133 w 3657600"/>
                <a:gd name="connsiteY10" fmla="*/ 5486400 h 5486400"/>
                <a:gd name="connsiteX11" fmla="*/ 127467 w 3657600"/>
                <a:gd name="connsiteY11" fmla="*/ 5486400 h 5486400"/>
                <a:gd name="connsiteX12" fmla="*/ 0 w 3657600"/>
                <a:gd name="connsiteY12" fmla="*/ 5358933 h 5486400"/>
                <a:gd name="connsiteX13" fmla="*/ 0 w 3657600"/>
                <a:gd name="connsiteY13" fmla="*/ 914400 h 5486400"/>
                <a:gd name="connsiteX14" fmla="*/ 0 w 3657600"/>
                <a:gd name="connsiteY14" fmla="*/ 127467 h 5486400"/>
                <a:gd name="connsiteX15" fmla="*/ 0 w 3657600"/>
                <a:gd name="connsiteY15"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57600" h="5486400">
                  <a:moveTo>
                    <a:pt x="0" y="0"/>
                  </a:moveTo>
                  <a:lnTo>
                    <a:pt x="127467" y="0"/>
                  </a:lnTo>
                  <a:lnTo>
                    <a:pt x="1072342" y="0"/>
                  </a:lnTo>
                  <a:cubicBezTo>
                    <a:pt x="1072342" y="417780"/>
                    <a:pt x="1411020" y="756458"/>
                    <a:pt x="1828800" y="756458"/>
                  </a:cubicBezTo>
                  <a:cubicBezTo>
                    <a:pt x="2246580" y="756458"/>
                    <a:pt x="2585258" y="417780"/>
                    <a:pt x="2585258" y="0"/>
                  </a:cubicBezTo>
                  <a:lnTo>
                    <a:pt x="3530133" y="0"/>
                  </a:lnTo>
                  <a:lnTo>
                    <a:pt x="3657600" y="0"/>
                  </a:lnTo>
                  <a:lnTo>
                    <a:pt x="3657600" y="127467"/>
                  </a:lnTo>
                  <a:lnTo>
                    <a:pt x="3657600" y="914400"/>
                  </a:lnTo>
                  <a:lnTo>
                    <a:pt x="3657600" y="5358933"/>
                  </a:lnTo>
                  <a:cubicBezTo>
                    <a:pt x="3657600" y="5429331"/>
                    <a:pt x="3600531" y="5486400"/>
                    <a:pt x="3530133" y="5486400"/>
                  </a:cubicBezTo>
                  <a:lnTo>
                    <a:pt x="127467" y="5486400"/>
                  </a:lnTo>
                  <a:cubicBezTo>
                    <a:pt x="57069" y="5486400"/>
                    <a:pt x="0" y="5429331"/>
                    <a:pt x="0" y="5358933"/>
                  </a:cubicBezTo>
                  <a:lnTo>
                    <a:pt x="0" y="914400"/>
                  </a:lnTo>
                  <a:lnTo>
                    <a:pt x="0" y="127467"/>
                  </a:lnTo>
                  <a:lnTo>
                    <a:pt x="0" y="0"/>
                  </a:lnTo>
                  <a:close/>
                </a:path>
              </a:pathLst>
            </a:custGeom>
            <a:solidFill>
              <a:sysClr val="window" lastClr="FFFFFF">
                <a:lumMod val="95000"/>
              </a:sysClr>
            </a:solidFill>
            <a:ln w="25400" cap="flat" cmpd="sng" algn="ctr">
              <a:noFill/>
              <a:prstDash val="solid"/>
            </a:ln>
            <a:effectLst>
              <a:outerShdw dist="25400" dir="16200000" sx="101000" sy="101000" rotWithShape="0">
                <a:prstClr val="black">
                  <a:alpha val="1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4" name="íṩľíḍè-文本框 63"/>
            <p:cNvSpPr txBox="1"/>
            <p:nvPr/>
          </p:nvSpPr>
          <p:spPr>
            <a:xfrm>
              <a:off x="2596130" y="2453960"/>
              <a:ext cx="755092" cy="707454"/>
            </a:xfrm>
            <a:prstGeom prst="rect">
              <a:avLst/>
            </a:prstGeom>
            <a:noFill/>
          </p:spPr>
          <p:txBody>
            <a:bodyPr wrap="none">
              <a:normAutofit fontScale="92500" lnSpcReduction="10000"/>
            </a:bodyPr>
            <a:lstStyle/>
            <a:p>
              <a:pPr marR="0" algn="ctr" defTabSz="914400" eaLnBrk="1" fontAlgn="auto" hangingPunct="1">
                <a:spcBef>
                  <a:spcPts val="0"/>
                </a:spcBef>
                <a:spcAft>
                  <a:spcPts val="0"/>
                </a:spcAft>
                <a:buClrTx/>
                <a:buSzTx/>
                <a:buFontTx/>
                <a:buNone/>
                <a:defRPr/>
              </a:pPr>
              <a:r>
                <a:rPr kumimoji="0" lang="en-US" sz="4000" kern="0" cap="none" spc="0" normalizeH="0" baseline="0" noProof="0" dirty="0">
                  <a:solidFill>
                    <a:srgbClr val="EEECE1"/>
                  </a:solidFill>
                  <a:latin typeface="+mn-lt"/>
                  <a:ea typeface="+mn-ea"/>
                  <a:cs typeface="+mn-ea"/>
                  <a:sym typeface="+mn-lt"/>
                </a:rPr>
                <a:t>01</a:t>
              </a:r>
            </a:p>
          </p:txBody>
        </p:sp>
      </p:grpSp>
      <p:grpSp>
        <p:nvGrpSpPr>
          <p:cNvPr id="17" name="组合 16"/>
          <p:cNvGrpSpPr/>
          <p:nvPr/>
        </p:nvGrpSpPr>
        <p:grpSpPr>
          <a:xfrm>
            <a:off x="4597400" y="1916113"/>
            <a:ext cx="3719513" cy="4189412"/>
            <a:chOff x="8988321" y="1808820"/>
            <a:chExt cx="4294550" cy="4835431"/>
          </a:xfrm>
        </p:grpSpPr>
        <p:sp>
          <p:nvSpPr>
            <p:cNvPr id="18" name="íślíḋè-圆角矩形 46"/>
            <p:cNvSpPr/>
            <p:nvPr/>
          </p:nvSpPr>
          <p:spPr>
            <a:xfrm>
              <a:off x="8988321" y="1808820"/>
              <a:ext cx="4294550" cy="3699407"/>
            </a:xfrm>
            <a:prstGeom prst="roundRect">
              <a:avLst>
                <a:gd name="adj" fmla="val 3485"/>
              </a:avLst>
            </a:prstGeom>
            <a:solidFill>
              <a:srgbClr val="8064A2"/>
            </a:solidFill>
            <a:ln w="25400" cap="flat" cmpd="sng" algn="ctr">
              <a:noFill/>
              <a:prstDash val="solid"/>
            </a:ln>
            <a:effectLst/>
          </p:spPr>
          <p:txBody>
            <a:bodyPr wrap="none" tIns="216000" b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19" name="íślíḋè-任意多边形 47"/>
            <p:cNvSpPr/>
            <p:nvPr/>
          </p:nvSpPr>
          <p:spPr>
            <a:xfrm>
              <a:off x="8988321" y="2734129"/>
              <a:ext cx="4294550" cy="3910122"/>
            </a:xfrm>
            <a:custGeom>
              <a:avLst/>
              <a:gdLst>
                <a:gd name="connsiteX0" fmla="*/ 0 w 3657600"/>
                <a:gd name="connsiteY0" fmla="*/ 0 h 5486400"/>
                <a:gd name="connsiteX1" fmla="*/ 127467 w 3657600"/>
                <a:gd name="connsiteY1" fmla="*/ 0 h 5486400"/>
                <a:gd name="connsiteX2" fmla="*/ 1072342 w 3657600"/>
                <a:gd name="connsiteY2" fmla="*/ 0 h 5486400"/>
                <a:gd name="connsiteX3" fmla="*/ 1828800 w 3657600"/>
                <a:gd name="connsiteY3" fmla="*/ 756458 h 5486400"/>
                <a:gd name="connsiteX4" fmla="*/ 2585258 w 3657600"/>
                <a:gd name="connsiteY4" fmla="*/ 0 h 5486400"/>
                <a:gd name="connsiteX5" fmla="*/ 3530133 w 3657600"/>
                <a:gd name="connsiteY5" fmla="*/ 0 h 5486400"/>
                <a:gd name="connsiteX6" fmla="*/ 3657600 w 3657600"/>
                <a:gd name="connsiteY6" fmla="*/ 0 h 5486400"/>
                <a:gd name="connsiteX7" fmla="*/ 3657600 w 3657600"/>
                <a:gd name="connsiteY7" fmla="*/ 127467 h 5486400"/>
                <a:gd name="connsiteX8" fmla="*/ 3657600 w 3657600"/>
                <a:gd name="connsiteY8" fmla="*/ 914400 h 5486400"/>
                <a:gd name="connsiteX9" fmla="*/ 3657600 w 3657600"/>
                <a:gd name="connsiteY9" fmla="*/ 5358933 h 5486400"/>
                <a:gd name="connsiteX10" fmla="*/ 3530133 w 3657600"/>
                <a:gd name="connsiteY10" fmla="*/ 5486400 h 5486400"/>
                <a:gd name="connsiteX11" fmla="*/ 127467 w 3657600"/>
                <a:gd name="connsiteY11" fmla="*/ 5486400 h 5486400"/>
                <a:gd name="connsiteX12" fmla="*/ 0 w 3657600"/>
                <a:gd name="connsiteY12" fmla="*/ 5358933 h 5486400"/>
                <a:gd name="connsiteX13" fmla="*/ 0 w 3657600"/>
                <a:gd name="connsiteY13" fmla="*/ 914400 h 5486400"/>
                <a:gd name="connsiteX14" fmla="*/ 0 w 3657600"/>
                <a:gd name="connsiteY14" fmla="*/ 127467 h 5486400"/>
                <a:gd name="connsiteX15" fmla="*/ 0 w 3657600"/>
                <a:gd name="connsiteY15"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57600" h="5486400">
                  <a:moveTo>
                    <a:pt x="0" y="0"/>
                  </a:moveTo>
                  <a:lnTo>
                    <a:pt x="127467" y="0"/>
                  </a:lnTo>
                  <a:lnTo>
                    <a:pt x="1072342" y="0"/>
                  </a:lnTo>
                  <a:cubicBezTo>
                    <a:pt x="1072342" y="417780"/>
                    <a:pt x="1411020" y="756458"/>
                    <a:pt x="1828800" y="756458"/>
                  </a:cubicBezTo>
                  <a:cubicBezTo>
                    <a:pt x="2246580" y="756458"/>
                    <a:pt x="2585258" y="417780"/>
                    <a:pt x="2585258" y="0"/>
                  </a:cubicBezTo>
                  <a:lnTo>
                    <a:pt x="3530133" y="0"/>
                  </a:lnTo>
                  <a:lnTo>
                    <a:pt x="3657600" y="0"/>
                  </a:lnTo>
                  <a:lnTo>
                    <a:pt x="3657600" y="127467"/>
                  </a:lnTo>
                  <a:lnTo>
                    <a:pt x="3657600" y="914400"/>
                  </a:lnTo>
                  <a:lnTo>
                    <a:pt x="3657600" y="5358933"/>
                  </a:lnTo>
                  <a:cubicBezTo>
                    <a:pt x="3657600" y="5429331"/>
                    <a:pt x="3600531" y="5486400"/>
                    <a:pt x="3530133" y="5486400"/>
                  </a:cubicBezTo>
                  <a:lnTo>
                    <a:pt x="127467" y="5486400"/>
                  </a:lnTo>
                  <a:cubicBezTo>
                    <a:pt x="57069" y="5486400"/>
                    <a:pt x="0" y="5429331"/>
                    <a:pt x="0" y="5358933"/>
                  </a:cubicBezTo>
                  <a:lnTo>
                    <a:pt x="0" y="914400"/>
                  </a:lnTo>
                  <a:lnTo>
                    <a:pt x="0" y="127467"/>
                  </a:lnTo>
                  <a:lnTo>
                    <a:pt x="0" y="0"/>
                  </a:lnTo>
                  <a:close/>
                </a:path>
              </a:pathLst>
            </a:custGeom>
            <a:solidFill>
              <a:sysClr val="window" lastClr="FFFFFF">
                <a:lumMod val="95000"/>
              </a:sysClr>
            </a:solidFill>
            <a:ln w="25400" cap="flat" cmpd="sng" algn="ctr">
              <a:noFill/>
              <a:prstDash val="solid"/>
            </a:ln>
            <a:effectLst>
              <a:outerShdw dist="25400" dir="16200000" sx="101000" sy="101000" rotWithShape="0">
                <a:prstClr val="black">
                  <a:alpha val="1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20" name="íślíḋè-文本框 48"/>
            <p:cNvSpPr txBox="1"/>
            <p:nvPr/>
          </p:nvSpPr>
          <p:spPr>
            <a:xfrm>
              <a:off x="10757097" y="2453789"/>
              <a:ext cx="756999" cy="707267"/>
            </a:xfrm>
            <a:prstGeom prst="rect">
              <a:avLst/>
            </a:prstGeom>
            <a:noFill/>
          </p:spPr>
          <p:txBody>
            <a:bodyPr wrap="none">
              <a:normAutofit fontScale="92500" lnSpcReduction="10000"/>
            </a:bodyPr>
            <a:lstStyle/>
            <a:p>
              <a:pPr marR="0" algn="ctr" defTabSz="914400" eaLnBrk="1" fontAlgn="auto" hangingPunct="1">
                <a:spcBef>
                  <a:spcPts val="0"/>
                </a:spcBef>
                <a:spcAft>
                  <a:spcPts val="0"/>
                </a:spcAft>
                <a:buClrTx/>
                <a:buSzTx/>
                <a:buFontTx/>
                <a:buNone/>
                <a:defRPr/>
              </a:pPr>
              <a:r>
                <a:rPr kumimoji="0" lang="en-US" sz="4000" kern="0" cap="none" spc="0" normalizeH="0" baseline="0" noProof="0" dirty="0">
                  <a:solidFill>
                    <a:srgbClr val="EEECE1"/>
                  </a:solidFill>
                  <a:latin typeface="+mn-lt"/>
                  <a:ea typeface="+mn-ea"/>
                  <a:cs typeface="+mn-ea"/>
                  <a:sym typeface="+mn-lt"/>
                </a:rPr>
                <a:t>02</a:t>
              </a:r>
            </a:p>
          </p:txBody>
        </p:sp>
      </p:grpSp>
      <p:sp>
        <p:nvSpPr>
          <p:cNvPr id="373780" name="Rectangle 1044"/>
          <p:cNvSpPr>
            <a:spLocks noChangeArrowheads="1"/>
          </p:cNvSpPr>
          <p:nvPr/>
        </p:nvSpPr>
        <p:spPr bwMode="auto">
          <a:xfrm>
            <a:off x="1331913" y="1987550"/>
            <a:ext cx="2376488" cy="5254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顺序存储定义</a:t>
            </a:r>
          </a:p>
        </p:txBody>
      </p:sp>
      <p:sp>
        <p:nvSpPr>
          <p:cNvPr id="23" name="Rectangle 1044"/>
          <p:cNvSpPr>
            <a:spLocks noChangeArrowheads="1"/>
          </p:cNvSpPr>
          <p:nvPr/>
        </p:nvSpPr>
        <p:spPr bwMode="auto">
          <a:xfrm>
            <a:off x="801688" y="3094038"/>
            <a:ext cx="3049588" cy="2012950"/>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把逻辑上相邻的数据元素存储在物理上相邻的存储单元中的存储结构。</a:t>
            </a:r>
          </a:p>
        </p:txBody>
      </p:sp>
      <p:sp>
        <p:nvSpPr>
          <p:cNvPr id="373777" name="Rectangle 1041"/>
          <p:cNvSpPr>
            <a:spLocks noChangeArrowheads="1"/>
          </p:cNvSpPr>
          <p:nvPr/>
        </p:nvSpPr>
        <p:spPr bwMode="auto">
          <a:xfrm>
            <a:off x="679450" y="5031105"/>
            <a:ext cx="3035935" cy="57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逻辑相邻，物理相邻</a:t>
            </a:r>
          </a:p>
        </p:txBody>
      </p:sp>
      <p:sp>
        <p:nvSpPr>
          <p:cNvPr id="373779" name="Rectangle 1043"/>
          <p:cNvSpPr>
            <a:spLocks noChangeArrowheads="1"/>
          </p:cNvSpPr>
          <p:nvPr/>
        </p:nvSpPr>
        <p:spPr bwMode="auto">
          <a:xfrm>
            <a:off x="5435600" y="2009775"/>
            <a:ext cx="2592388" cy="5254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顺序存储方法</a:t>
            </a:r>
          </a:p>
        </p:txBody>
      </p:sp>
      <p:sp>
        <p:nvSpPr>
          <p:cNvPr id="24" name="Rectangle 1043"/>
          <p:cNvSpPr>
            <a:spLocks noChangeArrowheads="1"/>
          </p:cNvSpPr>
          <p:nvPr/>
        </p:nvSpPr>
        <p:spPr bwMode="auto">
          <a:xfrm>
            <a:off x="4859338" y="3552825"/>
            <a:ext cx="3313113" cy="2012950"/>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zh-CN" altLang="en-US" sz="2400" b="0" i="0" u="none" strike="noStrike" kern="1200" cap="none" spc="0" normalizeH="0" baseline="0" noProof="0" dirty="0">
                <a:ln>
                  <a:noFill/>
                </a:ln>
                <a:solidFill>
                  <a:srgbClr val="FF3399"/>
                </a:solidFill>
                <a:effectLst/>
                <a:uLnTx/>
                <a:uFillTx/>
                <a:latin typeface="+mn-lt"/>
                <a:ea typeface="+mn-ea"/>
                <a:cs typeface="+mn-ea"/>
                <a:sym typeface="+mn-lt"/>
              </a:rPr>
              <a:t>一组地址连续</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的存储单元依次存储线性表的元素，可通过</a:t>
            </a:r>
            <a:r>
              <a:rPr kumimoji="0" lang="zh-CN" altLang="en-US" sz="2400" b="0" i="0" u="none" strike="noStrike" kern="1200" cap="none" spc="0" normalizeH="0" baseline="0" noProof="0" dirty="0">
                <a:ln>
                  <a:noFill/>
                </a:ln>
                <a:solidFill>
                  <a:srgbClr val="FF3399"/>
                </a:solidFill>
                <a:effectLst/>
                <a:uLnTx/>
                <a:uFillTx/>
                <a:latin typeface="+mn-lt"/>
                <a:ea typeface="+mn-ea"/>
                <a:cs typeface="+mn-ea"/>
                <a:sym typeface="+mn-lt"/>
              </a:rPr>
              <a:t>数组</a:t>
            </a:r>
            <a:r>
              <a:rPr kumimoji="0" lang="en-US" altLang="zh-CN" sz="2400" b="0" i="0" u="none" strike="noStrike" kern="1200" cap="none" spc="0" normalizeH="0" baseline="0" noProof="0" dirty="0">
                <a:ln>
                  <a:noFill/>
                </a:ln>
                <a:solidFill>
                  <a:srgbClr val="FF3399"/>
                </a:solidFill>
                <a:effectLst/>
                <a:uLnTx/>
                <a:uFillTx/>
                <a:latin typeface="+mn-lt"/>
                <a:ea typeface="+mn-ea"/>
                <a:cs typeface="+mn-ea"/>
                <a:sym typeface="+mn-lt"/>
              </a:rPr>
              <a:t>V[n]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来实现。</a:t>
            </a: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73780"/>
                                        </p:tgtEl>
                                        <p:attrNameLst>
                                          <p:attrName>style.visibility</p:attrName>
                                        </p:attrNameLst>
                                      </p:cBhvr>
                                      <p:to>
                                        <p:strVal val="visible"/>
                                      </p:to>
                                    </p:set>
                                    <p:animEffect transition="in" filter="box(in)">
                                      <p:cBhvr>
                                        <p:cTn id="13" dur="500"/>
                                        <p:tgtEl>
                                          <p:spTgt spid="373780"/>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ox(in)">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373777"/>
                                        </p:tgtEl>
                                        <p:attrNameLst>
                                          <p:attrName>style.visibility</p:attrName>
                                        </p:attrNameLst>
                                      </p:cBhvr>
                                      <p:to>
                                        <p:strVal val="visible"/>
                                      </p:to>
                                    </p:set>
                                    <p:animEffect transition="in" filter="box(in)">
                                      <p:cBhvr>
                                        <p:cTn id="23" dur="500"/>
                                        <p:tgtEl>
                                          <p:spTgt spid="373777"/>
                                        </p:tgtEl>
                                      </p:cBhvr>
                                    </p:animEffect>
                                  </p:child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373779"/>
                                        </p:tgtEl>
                                        <p:attrNameLst>
                                          <p:attrName>style.visibility</p:attrName>
                                        </p:attrNameLst>
                                      </p:cBhvr>
                                      <p:to>
                                        <p:strVal val="visible"/>
                                      </p:to>
                                    </p:set>
                                    <p:animEffect transition="in" filter="checkerboard(across)">
                                      <p:cBhvr>
                                        <p:cTn id="33" dur="500"/>
                                        <p:tgtEl>
                                          <p:spTgt spid="373779"/>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checkerboard(across)">
                                      <p:cBhvr>
                                        <p:cTn id="3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80" grpId="0"/>
      <p:bldP spid="23" grpId="0"/>
      <p:bldP spid="373777" grpId="0"/>
      <p:bldP spid="373779" grpId="0"/>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2"/>
          <p:cNvSpPr>
            <a:spLocks noChangeArrowheads="1"/>
          </p:cNvSpPr>
          <p:nvPr/>
        </p:nvSpPr>
        <p:spPr bwMode="auto">
          <a:xfrm>
            <a:off x="0" y="1616075"/>
            <a:ext cx="107950" cy="4572000"/>
          </a:xfrm>
          <a:prstGeom prst="rect">
            <a:avLst/>
          </a:prstGeom>
          <a:solidFill>
            <a:srgbClr val="76AEDD"/>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9939" name="Group 21"/>
          <p:cNvGrpSpPr/>
          <p:nvPr/>
        </p:nvGrpSpPr>
        <p:grpSpPr>
          <a:xfrm>
            <a:off x="1949450" y="1590675"/>
            <a:ext cx="4267200" cy="5181600"/>
            <a:chOff x="1128" y="288"/>
            <a:chExt cx="2688" cy="3264"/>
          </a:xfrm>
        </p:grpSpPr>
        <p:sp>
          <p:nvSpPr>
            <p:cNvPr id="36868" name="Rectangle 22"/>
            <p:cNvSpPr>
              <a:spLocks noChangeArrowheads="1"/>
            </p:cNvSpPr>
            <p:nvPr/>
          </p:nvSpPr>
          <p:spPr bwMode="auto">
            <a:xfrm>
              <a:off x="2952" y="2757"/>
              <a:ext cx="816" cy="427"/>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元素</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n</a:t>
              </a:r>
            </a:p>
          </p:txBody>
        </p:sp>
        <p:sp>
          <p:nvSpPr>
            <p:cNvPr id="36869" name="Rectangle 23"/>
            <p:cNvSpPr>
              <a:spLocks noChangeArrowheads="1"/>
            </p:cNvSpPr>
            <p:nvPr/>
          </p:nvSpPr>
          <p:spPr bwMode="auto">
            <a:xfrm>
              <a:off x="2952" y="2331"/>
              <a:ext cx="816" cy="426"/>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6870" name="Rectangle 24"/>
            <p:cNvSpPr>
              <a:spLocks noChangeArrowheads="1"/>
            </p:cNvSpPr>
            <p:nvPr/>
          </p:nvSpPr>
          <p:spPr bwMode="auto">
            <a:xfrm>
              <a:off x="2952" y="1904"/>
              <a:ext cx="816" cy="427"/>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元素</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i</a:t>
              </a:r>
            </a:p>
          </p:txBody>
        </p:sp>
        <p:sp>
          <p:nvSpPr>
            <p:cNvPr id="36871" name="Rectangle 25"/>
            <p:cNvSpPr>
              <a:spLocks noChangeArrowheads="1"/>
            </p:cNvSpPr>
            <p:nvPr/>
          </p:nvSpPr>
          <p:spPr bwMode="auto">
            <a:xfrm>
              <a:off x="2952" y="1477"/>
              <a:ext cx="816" cy="427"/>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36872" name="Rectangle 26"/>
            <p:cNvSpPr>
              <a:spLocks noChangeArrowheads="1"/>
            </p:cNvSpPr>
            <p:nvPr/>
          </p:nvSpPr>
          <p:spPr bwMode="auto">
            <a:xfrm>
              <a:off x="2952" y="1051"/>
              <a:ext cx="816" cy="426"/>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元素</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2</a:t>
              </a:r>
            </a:p>
          </p:txBody>
        </p:sp>
        <p:sp>
          <p:nvSpPr>
            <p:cNvPr id="36873" name="Rectangle 27"/>
            <p:cNvSpPr>
              <a:spLocks noChangeArrowheads="1"/>
            </p:cNvSpPr>
            <p:nvPr/>
          </p:nvSpPr>
          <p:spPr bwMode="auto">
            <a:xfrm>
              <a:off x="2952" y="624"/>
              <a:ext cx="816" cy="427"/>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元素</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37901" name="Line 28"/>
            <p:cNvSpPr>
              <a:spLocks noChangeShapeType="1"/>
            </p:cNvSpPr>
            <p:nvPr/>
          </p:nvSpPr>
          <p:spPr bwMode="auto">
            <a:xfrm>
              <a:off x="2952" y="624"/>
              <a:ext cx="816"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2" name="Line 29"/>
            <p:cNvSpPr>
              <a:spLocks noChangeShapeType="1"/>
            </p:cNvSpPr>
            <p:nvPr/>
          </p:nvSpPr>
          <p:spPr bwMode="auto">
            <a:xfrm>
              <a:off x="2952" y="1051"/>
              <a:ext cx="81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3" name="Line 30"/>
            <p:cNvSpPr>
              <a:spLocks noChangeShapeType="1"/>
            </p:cNvSpPr>
            <p:nvPr/>
          </p:nvSpPr>
          <p:spPr bwMode="auto">
            <a:xfrm>
              <a:off x="2952" y="1477"/>
              <a:ext cx="81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4" name="Line 31"/>
            <p:cNvSpPr>
              <a:spLocks noChangeShapeType="1"/>
            </p:cNvSpPr>
            <p:nvPr/>
          </p:nvSpPr>
          <p:spPr bwMode="auto">
            <a:xfrm>
              <a:off x="2952" y="1904"/>
              <a:ext cx="81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5" name="Line 32"/>
            <p:cNvSpPr>
              <a:spLocks noChangeShapeType="1"/>
            </p:cNvSpPr>
            <p:nvPr/>
          </p:nvSpPr>
          <p:spPr bwMode="auto">
            <a:xfrm>
              <a:off x="2952" y="2331"/>
              <a:ext cx="81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6" name="Line 33"/>
            <p:cNvSpPr>
              <a:spLocks noChangeShapeType="1"/>
            </p:cNvSpPr>
            <p:nvPr/>
          </p:nvSpPr>
          <p:spPr bwMode="auto">
            <a:xfrm>
              <a:off x="2952" y="2757"/>
              <a:ext cx="81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7" name="Line 34"/>
            <p:cNvSpPr>
              <a:spLocks noChangeShapeType="1"/>
            </p:cNvSpPr>
            <p:nvPr/>
          </p:nvSpPr>
          <p:spPr bwMode="auto">
            <a:xfrm>
              <a:off x="2952" y="3184"/>
              <a:ext cx="816"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8" name="Line 35"/>
            <p:cNvSpPr>
              <a:spLocks noChangeShapeType="1"/>
            </p:cNvSpPr>
            <p:nvPr/>
          </p:nvSpPr>
          <p:spPr bwMode="auto">
            <a:xfrm>
              <a:off x="2952" y="624"/>
              <a:ext cx="0" cy="256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9" name="Line 36"/>
            <p:cNvSpPr>
              <a:spLocks noChangeShapeType="1"/>
            </p:cNvSpPr>
            <p:nvPr/>
          </p:nvSpPr>
          <p:spPr bwMode="auto">
            <a:xfrm>
              <a:off x="3768" y="624"/>
              <a:ext cx="0" cy="256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883" name="Text Box 37"/>
            <p:cNvSpPr txBox="1">
              <a:spLocks noChangeArrowheads="1"/>
            </p:cNvSpPr>
            <p:nvPr/>
          </p:nvSpPr>
          <p:spPr bwMode="auto">
            <a:xfrm>
              <a:off x="2424" y="72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0</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6884" name="Text Box 38"/>
            <p:cNvSpPr txBox="1">
              <a:spLocks noChangeArrowheads="1"/>
            </p:cNvSpPr>
            <p:nvPr/>
          </p:nvSpPr>
          <p:spPr bwMode="auto">
            <a:xfrm>
              <a:off x="2232" y="1152"/>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t>
              </a:r>
            </a:p>
          </p:txBody>
        </p:sp>
        <p:sp>
          <p:nvSpPr>
            <p:cNvPr id="36885" name="Text Box 39"/>
            <p:cNvSpPr txBox="1">
              <a:spLocks noChangeArrowheads="1"/>
            </p:cNvSpPr>
            <p:nvPr/>
          </p:nvSpPr>
          <p:spPr bwMode="auto">
            <a:xfrm>
              <a:off x="1872" y="2016"/>
              <a:ext cx="1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+(i-1)*m</a:t>
              </a:r>
            </a:p>
          </p:txBody>
        </p:sp>
        <p:sp>
          <p:nvSpPr>
            <p:cNvPr id="36886" name="Text Box 40"/>
            <p:cNvSpPr txBox="1">
              <a:spLocks noChangeArrowheads="1"/>
            </p:cNvSpPr>
            <p:nvPr/>
          </p:nvSpPr>
          <p:spPr bwMode="auto">
            <a:xfrm>
              <a:off x="1776" y="2880"/>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n-1)*m</a:t>
              </a:r>
            </a:p>
          </p:txBody>
        </p:sp>
        <p:sp>
          <p:nvSpPr>
            <p:cNvPr id="36887" name="Text Box 41"/>
            <p:cNvSpPr txBox="1">
              <a:spLocks noChangeArrowheads="1"/>
            </p:cNvSpPr>
            <p:nvPr/>
          </p:nvSpPr>
          <p:spPr bwMode="auto">
            <a:xfrm>
              <a:off x="1932" y="288"/>
              <a:ext cx="9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存储地址</a:t>
              </a:r>
            </a:p>
          </p:txBody>
        </p:sp>
        <p:sp>
          <p:nvSpPr>
            <p:cNvPr id="36888" name="Text Box 42"/>
            <p:cNvSpPr txBox="1">
              <a:spLocks noChangeArrowheads="1"/>
            </p:cNvSpPr>
            <p:nvPr/>
          </p:nvSpPr>
          <p:spPr bwMode="auto">
            <a:xfrm>
              <a:off x="2904" y="304"/>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存储内容</a:t>
              </a:r>
            </a:p>
          </p:txBody>
        </p:sp>
        <p:sp>
          <p:nvSpPr>
            <p:cNvPr id="37916" name="Line 43"/>
            <p:cNvSpPr>
              <a:spLocks noChangeShapeType="1"/>
            </p:cNvSpPr>
            <p:nvPr/>
          </p:nvSpPr>
          <p:spPr bwMode="auto">
            <a:xfrm flipH="1">
              <a:off x="1896" y="1056"/>
              <a:ext cx="1056" cy="0"/>
            </a:xfrm>
            <a:prstGeom prst="line">
              <a:avLst/>
            </a:prstGeom>
            <a:noFill/>
            <a:ln w="9525">
              <a:solidFill>
                <a:srgbClr val="D60093"/>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17" name="Line 44"/>
            <p:cNvSpPr>
              <a:spLocks noChangeShapeType="1"/>
            </p:cNvSpPr>
            <p:nvPr/>
          </p:nvSpPr>
          <p:spPr bwMode="auto">
            <a:xfrm flipH="1">
              <a:off x="1896" y="1488"/>
              <a:ext cx="1056" cy="0"/>
            </a:xfrm>
            <a:prstGeom prst="line">
              <a:avLst/>
            </a:prstGeom>
            <a:noFill/>
            <a:ln w="9525">
              <a:solidFill>
                <a:srgbClr val="D60093"/>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18" name="Line 45"/>
            <p:cNvSpPr>
              <a:spLocks noChangeShapeType="1"/>
            </p:cNvSpPr>
            <p:nvPr/>
          </p:nvSpPr>
          <p:spPr bwMode="auto">
            <a:xfrm flipH="1">
              <a:off x="1896" y="2352"/>
              <a:ext cx="1056" cy="0"/>
            </a:xfrm>
            <a:prstGeom prst="line">
              <a:avLst/>
            </a:prstGeom>
            <a:noFill/>
            <a:ln w="9525">
              <a:solidFill>
                <a:srgbClr val="D60093"/>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19" name="Line 46"/>
            <p:cNvSpPr>
              <a:spLocks noChangeShapeType="1"/>
            </p:cNvSpPr>
            <p:nvPr/>
          </p:nvSpPr>
          <p:spPr bwMode="auto">
            <a:xfrm flipH="1">
              <a:off x="1896" y="3168"/>
              <a:ext cx="1056" cy="0"/>
            </a:xfrm>
            <a:prstGeom prst="line">
              <a:avLst/>
            </a:prstGeom>
            <a:noFill/>
            <a:ln w="9525">
              <a:solidFill>
                <a:srgbClr val="D60093"/>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893" name="Text Box 47"/>
            <p:cNvSpPr txBox="1">
              <a:spLocks noChangeArrowheads="1"/>
            </p:cNvSpPr>
            <p:nvPr/>
          </p:nvSpPr>
          <p:spPr bwMode="auto">
            <a:xfrm>
              <a:off x="1128" y="3264"/>
              <a:ext cx="2640" cy="288"/>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Loc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元素</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i-1)*m</a:t>
              </a:r>
            </a:p>
          </p:txBody>
        </p:sp>
      </p:grpSp>
      <p:sp>
        <p:nvSpPr>
          <p:cNvPr id="31" name="Rectangle 58"/>
          <p:cNvSpPr>
            <a:spLocks noChangeArrowheads="1"/>
          </p:cNvSpPr>
          <p:nvPr/>
        </p:nvSpPr>
        <p:spPr bwMode="auto">
          <a:xfrm>
            <a:off x="801688" y="1412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线性表的顺序表示和实现</a:t>
            </a:r>
          </a:p>
        </p:txBody>
      </p:sp>
      <p:sp>
        <p:nvSpPr>
          <p:cNvPr id="59" name="Text Box 48" descr="蓝色砂纸"/>
          <p:cNvSpPr txBox="1">
            <a:spLocks noChangeArrowheads="1"/>
          </p:cNvSpPr>
          <p:nvPr/>
        </p:nvSpPr>
        <p:spPr bwMode="auto">
          <a:xfrm>
            <a:off x="801688" y="925513"/>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顺序存储</a:t>
            </a:r>
          </a:p>
        </p:txBody>
      </p:sp>
      <p:sp>
        <p:nvSpPr>
          <p:cNvPr id="37894" name="矩形 2"/>
          <p:cNvSpPr>
            <a:spLocks noChangeArrowheads="1"/>
          </p:cNvSpPr>
          <p:nvPr/>
        </p:nvSpPr>
        <p:spPr bwMode="auto">
          <a:xfrm>
            <a:off x="9064625" y="1735138"/>
            <a:ext cx="107950" cy="4572000"/>
          </a:xfrm>
          <a:prstGeom prst="rect">
            <a:avLst/>
          </a:prstGeom>
          <a:solidFill>
            <a:srgbClr val="76AEDD"/>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
          <p:cNvSpPr>
            <a:spLocks noChangeArrowheads="1"/>
          </p:cNvSpPr>
          <p:nvPr/>
        </p:nvSpPr>
        <p:spPr bwMode="auto">
          <a:xfrm>
            <a:off x="-11112" y="1328738"/>
            <a:ext cx="9144000" cy="4572000"/>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14" name="Rectangle 4"/>
          <p:cNvSpPr>
            <a:spLocks noChangeArrowheads="1"/>
          </p:cNvSpPr>
          <p:nvPr/>
        </p:nvSpPr>
        <p:spPr bwMode="auto">
          <a:xfrm>
            <a:off x="179512" y="1844675"/>
            <a:ext cx="7884988"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#define  MAXSIZE 100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最大长度</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指向数据元素的基地址</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int  length;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线性表的当前长度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7891" name="Rectangle 5"/>
          <p:cNvSpPr>
            <a:spLocks noChangeArrowheads="1"/>
          </p:cNvSpPr>
          <p:nvPr/>
        </p:nvSpPr>
        <p:spPr bwMode="auto">
          <a:xfrm>
            <a:off x="958850" y="227013"/>
            <a:ext cx="57959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顺序表的类型定义</a:t>
            </a:r>
          </a:p>
        </p:txBody>
      </p:sp>
      <p:sp>
        <p:nvSpPr>
          <p:cNvPr id="6" name="矩形 2"/>
          <p:cNvSpPr>
            <a:spLocks noChangeArrowheads="1"/>
          </p:cNvSpPr>
          <p:nvPr/>
        </p:nvSpPr>
        <p:spPr bwMode="auto">
          <a:xfrm>
            <a:off x="0" y="6021388"/>
            <a:ext cx="9144000" cy="71438"/>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 name="矩形 2"/>
          <p:cNvSpPr>
            <a:spLocks noChangeArrowheads="1"/>
          </p:cNvSpPr>
          <p:nvPr/>
        </p:nvSpPr>
        <p:spPr bwMode="auto">
          <a:xfrm>
            <a:off x="0" y="6178550"/>
            <a:ext cx="9144000" cy="71438"/>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矩形 2"/>
          <p:cNvSpPr>
            <a:spLocks noChangeArrowheads="1"/>
          </p:cNvSpPr>
          <p:nvPr/>
        </p:nvSpPr>
        <p:spPr bwMode="auto">
          <a:xfrm>
            <a:off x="-11112" y="6334125"/>
            <a:ext cx="9144000" cy="73025"/>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矩形 2"/>
          <p:cNvSpPr>
            <a:spLocks noChangeArrowheads="1"/>
          </p:cNvSpPr>
          <p:nvPr/>
        </p:nvSpPr>
        <p:spPr bwMode="auto">
          <a:xfrm>
            <a:off x="-11112" y="6477000"/>
            <a:ext cx="9144000" cy="73025"/>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2"/>
          <p:cNvSpPr>
            <a:spLocks noChangeArrowheads="1"/>
          </p:cNvSpPr>
          <p:nvPr/>
        </p:nvSpPr>
        <p:spPr bwMode="auto">
          <a:xfrm>
            <a:off x="-11112" y="1125538"/>
            <a:ext cx="9144000" cy="4775200"/>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 name="Rectangle 4"/>
          <p:cNvSpPr>
            <a:spLocks noChangeArrowheads="1"/>
          </p:cNvSpPr>
          <p:nvPr/>
        </p:nvSpPr>
        <p:spPr bwMode="auto">
          <a:xfrm>
            <a:off x="442913" y="1270000"/>
            <a:ext cx="8569325" cy="4522788"/>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#define MAXSIZE 10000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图书表可能达到的最大长度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typedef</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图书信息定义</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char no[20];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ISBN</a:t>
            </a:r>
            <a:endPar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char name[50];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图书名字</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float price;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图书价格</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en-US" sz="2400" b="0" i="0" u="none" strike="noStrike" kern="1200" cap="none" spc="0" normalizeH="0" baseline="0" noProof="0" dirty="0">
                <a:ln>
                  <a:noFill/>
                </a:ln>
                <a:solidFill>
                  <a:srgbClr val="FF0000"/>
                </a:solidFill>
                <a:effectLst/>
                <a:uLnTx/>
                <a:uFillTx/>
                <a:latin typeface="+mn-lt"/>
                <a:ea typeface="+mn-ea"/>
                <a:cs typeface="+mn-ea"/>
                <a:sym typeface="+mn-lt"/>
              </a:rPr>
              <a:t>Book</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typedef</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struct</a:t>
            </a:r>
            <a:endPar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rgbClr val="FF0000"/>
                </a:solidFill>
                <a:effectLst/>
                <a:uLnTx/>
                <a:uFillTx/>
                <a:latin typeface="+mn-lt"/>
                <a:ea typeface="+mn-ea"/>
                <a:cs typeface="+mn-ea"/>
                <a:sym typeface="+mn-lt"/>
              </a:rPr>
              <a:t>   Book</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elem</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存储空间的基地址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int</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length;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图书表中当前图书个数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1" 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图书表的顺序存储结构类型为</a:t>
            </a:r>
            <a:r>
              <a:rPr kumimoji="1" lang="en-US" sz="2400" b="0" i="0" u="none" strike="noStrike" kern="1200" cap="none" spc="0" normalizeH="0" baseline="0" noProof="0" dirty="0" err="1">
                <a:ln>
                  <a:noFill/>
                </a:ln>
                <a:solidFill>
                  <a:schemeClr val="tx1"/>
                </a:solidFill>
                <a:effectLst/>
                <a:uLnTx/>
                <a:uFillTx/>
                <a:latin typeface="+mn-lt"/>
                <a:ea typeface="+mn-ea"/>
                <a:cs typeface="+mn-ea"/>
                <a:sym typeface="+mn-lt"/>
              </a:rPr>
              <a:t>SqList</a:t>
            </a:r>
            <a:endPar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9939" name="Rectangle 5"/>
          <p:cNvSpPr>
            <a:spLocks noChangeArrowheads="1"/>
          </p:cNvSpPr>
          <p:nvPr/>
        </p:nvSpPr>
        <p:spPr bwMode="auto">
          <a:xfrm>
            <a:off x="755650" y="188913"/>
            <a:ext cx="7215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图书表的顺序存储结构类型定义</a:t>
            </a:r>
          </a:p>
        </p:txBody>
      </p:sp>
      <p:sp>
        <p:nvSpPr>
          <p:cNvPr id="4" name="矩形 2"/>
          <p:cNvSpPr>
            <a:spLocks noChangeArrowheads="1"/>
          </p:cNvSpPr>
          <p:nvPr/>
        </p:nvSpPr>
        <p:spPr bwMode="auto">
          <a:xfrm>
            <a:off x="0" y="6021388"/>
            <a:ext cx="9144000" cy="71438"/>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 name="矩形 2"/>
          <p:cNvSpPr>
            <a:spLocks noChangeArrowheads="1"/>
          </p:cNvSpPr>
          <p:nvPr/>
        </p:nvSpPr>
        <p:spPr bwMode="auto">
          <a:xfrm>
            <a:off x="0" y="6178550"/>
            <a:ext cx="9144000" cy="71438"/>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 name="矩形 2"/>
          <p:cNvSpPr>
            <a:spLocks noChangeArrowheads="1"/>
          </p:cNvSpPr>
          <p:nvPr/>
        </p:nvSpPr>
        <p:spPr bwMode="auto">
          <a:xfrm>
            <a:off x="-11112" y="6334125"/>
            <a:ext cx="9144000" cy="73025"/>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 name="矩形 2"/>
          <p:cNvSpPr>
            <a:spLocks noChangeArrowheads="1"/>
          </p:cNvSpPr>
          <p:nvPr/>
        </p:nvSpPr>
        <p:spPr bwMode="auto">
          <a:xfrm>
            <a:off x="-11112" y="6477000"/>
            <a:ext cx="9144000" cy="73025"/>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887913" y="154146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008188" y="228758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697163" y="390683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624138" y="194151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792413" y="397827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146300" y="238918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887913" y="165735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230813" y="352266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00550" y="456247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490913" y="280511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652838" y="418306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616325" y="334327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4979988" y="308927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241925" y="377348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603750" y="449103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846513" y="316071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762750" y="146208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856288" y="401161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219575" y="538321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373938" y="143351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032625" y="474027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884363" y="461645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168775" y="588486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884613" y="3440113"/>
            <a:ext cx="1204913" cy="738188"/>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473950" y="1246188"/>
            <a:ext cx="143986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初始化</a:t>
            </a:r>
          </a:p>
        </p:txBody>
      </p:sp>
      <p:sp>
        <p:nvSpPr>
          <p:cNvPr id="69" name="TextBox 200"/>
          <p:cNvSpPr txBox="1"/>
          <p:nvPr/>
        </p:nvSpPr>
        <p:spPr bwMode="auto">
          <a:xfrm>
            <a:off x="3057525" y="5745163"/>
            <a:ext cx="938213"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schemeClr val="tx1"/>
                </a:solidFill>
                <a:effectLst/>
                <a:uLnTx/>
                <a:uFillTx/>
                <a:latin typeface="+mn-lt"/>
                <a:ea typeface="+mn-ea"/>
                <a:cs typeface="+mn-ea"/>
                <a:sym typeface="+mn-lt"/>
              </a:rPr>
              <a:t>查找</a:t>
            </a:r>
          </a:p>
        </p:txBody>
      </p:sp>
      <p:sp>
        <p:nvSpPr>
          <p:cNvPr id="70" name="TextBox 202"/>
          <p:cNvSpPr txBox="1"/>
          <p:nvPr/>
        </p:nvSpPr>
        <p:spPr bwMode="auto">
          <a:xfrm>
            <a:off x="752475" y="4449763"/>
            <a:ext cx="939800"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schemeClr val="tx1"/>
                </a:solidFill>
                <a:effectLst/>
                <a:uLnTx/>
                <a:uFillTx/>
                <a:latin typeface="+mn-lt"/>
                <a:ea typeface="+mn-ea"/>
                <a:cs typeface="+mn-ea"/>
                <a:sym typeface="+mn-lt"/>
              </a:rPr>
              <a:t>插入</a:t>
            </a:r>
          </a:p>
        </p:txBody>
      </p:sp>
      <p:sp>
        <p:nvSpPr>
          <p:cNvPr id="71" name="TextBox 204"/>
          <p:cNvSpPr txBox="1"/>
          <p:nvPr/>
        </p:nvSpPr>
        <p:spPr bwMode="auto">
          <a:xfrm>
            <a:off x="7435850" y="4592638"/>
            <a:ext cx="938213"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取值</a:t>
            </a:r>
          </a:p>
        </p:txBody>
      </p:sp>
      <p:sp>
        <p:nvSpPr>
          <p:cNvPr id="72" name="TextBox 206"/>
          <p:cNvSpPr txBox="1"/>
          <p:nvPr/>
        </p:nvSpPr>
        <p:spPr bwMode="auto">
          <a:xfrm>
            <a:off x="250825" y="2406650"/>
            <a:ext cx="938213" cy="49371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schemeClr val="tx1"/>
                </a:solidFill>
                <a:effectLst/>
                <a:uLnTx/>
                <a:uFillTx/>
                <a:latin typeface="+mn-lt"/>
                <a:ea typeface="+mn-ea"/>
                <a:cs typeface="+mn-ea"/>
                <a:sym typeface="+mn-lt"/>
              </a:rPr>
              <a:t>删除</a:t>
            </a:r>
          </a:p>
        </p:txBody>
      </p:sp>
      <p:sp>
        <p:nvSpPr>
          <p:cNvPr id="73" name="TextBox 210"/>
          <p:cNvSpPr txBox="1"/>
          <p:nvPr/>
        </p:nvSpPr>
        <p:spPr bwMode="auto">
          <a:xfrm>
            <a:off x="5534025" y="21828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657475" y="29067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057525" y="42402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619625" y="46593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495925" y="364966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1952625" y="467360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485900" y="265271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433513" y="262255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0" y="1916113"/>
            <a:ext cx="9180513" cy="39608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22" name="Rectangle 4"/>
          <p:cNvSpPr>
            <a:spLocks noChangeArrowheads="1"/>
          </p:cNvSpPr>
          <p:nvPr/>
        </p:nvSpPr>
        <p:spPr bwMode="auto">
          <a:xfrm>
            <a:off x="107950" y="2157413"/>
            <a:ext cx="8496300" cy="4079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609600" marR="0" lvl="0" indent="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InitList_Sq</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*L)</a:t>
            </a:r>
            <a:r>
              <a:rPr kumimoji="0" lang="en-US" altLang="zh-CN" sz="2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ea"/>
                <a:sym typeface="+mn-lt"/>
              </a:rPr>
              <a:t>构造一个空的顺序表</a:t>
            </a:r>
            <a:r>
              <a:rPr kumimoji="0" lang="en-US" altLang="zh-CN" sz="2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ea"/>
                <a:sym typeface="+mn-lt"/>
              </a:rPr>
              <a:t>L</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a:p>
            <a:pPr marL="609600" marR="0" lvl="0" indent="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a:p>
            <a:pPr indent="0">
              <a:spcBef>
                <a:spcPct val="20000"/>
              </a:spcBef>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L-&gt;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elem</a:t>
            </a:r>
            <a:r>
              <a:rPr lang="en-US" altLang="zh-CN" sz="2000" dirty="0">
                <a:cs typeface="+mn-ea"/>
                <a:sym typeface="+mn-lt"/>
              </a:rPr>
              <a:t>=(</a:t>
            </a:r>
            <a:r>
              <a:rPr lang="en-US" altLang="zh-CN" sz="2000" dirty="0" err="1">
                <a:cs typeface="+mn-ea"/>
                <a:sym typeface="+mn-lt"/>
              </a:rPr>
              <a:t>ElemType</a:t>
            </a:r>
            <a:r>
              <a:rPr lang="en-US" altLang="zh-CN" sz="2000" dirty="0">
                <a:cs typeface="+mn-ea"/>
                <a:sym typeface="+mn-lt"/>
              </a:rPr>
              <a:t> *)</a:t>
            </a:r>
            <a:r>
              <a:rPr lang="en-US" altLang="zh-CN" sz="2000" dirty="0" err="1">
                <a:cs typeface="+mn-ea"/>
                <a:sym typeface="+mn-lt"/>
              </a:rPr>
              <a:t>malloc</a:t>
            </a:r>
            <a:r>
              <a:rPr lang="en-US" altLang="zh-CN" sz="2000" dirty="0">
                <a:cs typeface="+mn-ea"/>
                <a:sym typeface="+mn-lt"/>
              </a:rPr>
              <a:t>(MAXSIZE*</a:t>
            </a:r>
            <a:r>
              <a:rPr lang="en-US" altLang="zh-CN" sz="2000" dirty="0" err="1">
                <a:cs typeface="+mn-ea"/>
                <a:sym typeface="+mn-lt"/>
              </a:rPr>
              <a:t>sizeof</a:t>
            </a:r>
            <a:r>
              <a:rPr lang="en-US" altLang="zh-CN" sz="2000" dirty="0">
                <a:cs typeface="+mn-ea"/>
                <a:sym typeface="+mn-lt"/>
              </a:rPr>
              <a:t>(</a:t>
            </a:r>
            <a:r>
              <a:rPr lang="en-US" altLang="zh-CN" sz="2000" dirty="0" err="1">
                <a:cs typeface="+mn-ea"/>
                <a:sym typeface="+mn-lt"/>
              </a:rPr>
              <a:t>ElemType</a:t>
            </a:r>
            <a:r>
              <a:rPr lang="en-US" altLang="zh-CN" sz="2000" dirty="0">
                <a:cs typeface="+mn-ea"/>
                <a:sym typeface="+mn-lt"/>
              </a:rPr>
              <a:t>));  </a:t>
            </a:r>
          </a:p>
          <a:p>
            <a:pPr indent="0">
              <a:spcBef>
                <a:spcPct val="20000"/>
              </a:spcBef>
              <a:defRPr/>
            </a:pPr>
            <a:r>
              <a:rPr lang="en-US" altLang="zh-CN" sz="2000" dirty="0">
                <a:cs typeface="+mn-ea"/>
                <a:sym typeface="+mn-lt"/>
              </a:rPr>
              <a:t>   //</a:t>
            </a:r>
            <a:r>
              <a:rPr lang="zh-CN" altLang="en-US" sz="2000" dirty="0">
                <a:cs typeface="+mn-ea"/>
                <a:sym typeface="+mn-lt"/>
              </a:rPr>
              <a:t>为顺序表分配空间</a:t>
            </a:r>
            <a:endParaRPr lang="en-US" altLang="zh-CN" sz="2000" dirty="0">
              <a:cs typeface="+mn-ea"/>
              <a:sym typeface="+mn-lt"/>
            </a:endParaRPr>
          </a:p>
          <a:p>
            <a:pPr marL="609600" marR="0" lvl="0" indent="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if(! L-&gt;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elem</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exit(OVERFLOW);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存储分配失败</a:t>
            </a:r>
          </a:p>
          <a:p>
            <a:pPr marL="609600" marR="0" lvl="0" indent="0" algn="l" defTabSz="914400" rtl="0" eaLnBrk="0" fontAlgn="base" latinLnBrk="0" hangingPunct="0">
              <a:lnSpc>
                <a:spcPct val="13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L-&gt; length=0;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空表长度为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a:t>
            </a:r>
          </a:p>
          <a:p>
            <a:pPr marL="609600" marR="0" lvl="0" indent="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609600" marR="0" lvl="0" indent="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 name="Rectangle 6"/>
          <p:cNvSpPr>
            <a:spLocks noChangeArrowheads="1"/>
          </p:cNvSpPr>
          <p:nvPr/>
        </p:nvSpPr>
        <p:spPr bwMode="auto">
          <a:xfrm>
            <a:off x="755650" y="214313"/>
            <a:ext cx="56880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初始化线性表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L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（参数用指针）</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485775" y="2349500"/>
            <a:ext cx="4176713" cy="2676525"/>
          </a:xfrm>
          <a:prstGeom prst="rect">
            <a:avLst/>
          </a:prstGeom>
          <a:solidFill>
            <a:srgbClr val="E2D9EB"/>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DestroyList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&amp;L)</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free(</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释放存储空间</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458757" name="Rectangle 5"/>
          <p:cNvSpPr>
            <a:spLocks noChangeArrowheads="1"/>
          </p:cNvSpPr>
          <p:nvPr/>
        </p:nvSpPr>
        <p:spPr bwMode="auto">
          <a:xfrm>
            <a:off x="4878388" y="2349500"/>
            <a:ext cx="3743325" cy="2676525"/>
          </a:xfrm>
          <a:prstGeom prst="rect">
            <a:avLst/>
          </a:prstGeom>
          <a:solidFill>
            <a:srgbClr val="B8D4EC"/>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ClearList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&amp;L)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将线性表的长度置为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7348" name="Rectangle 6"/>
          <p:cNvSpPr>
            <a:spLocks noChangeArrowheads="1"/>
          </p:cNvSpPr>
          <p:nvPr/>
        </p:nvSpPr>
        <p:spPr bwMode="auto">
          <a:xfrm>
            <a:off x="842963" y="206375"/>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9" name="矩形: 圆角 16"/>
          <p:cNvSpPr>
            <a:spLocks noChangeArrowheads="1"/>
          </p:cNvSpPr>
          <p:nvPr/>
        </p:nvSpPr>
        <p:spPr bwMode="auto">
          <a:xfrm>
            <a:off x="509588" y="1666875"/>
            <a:ext cx="4152900"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Rectangle 4"/>
          <p:cNvSpPr>
            <a:spLocks noChangeArrowheads="1"/>
          </p:cNvSpPr>
          <p:nvPr/>
        </p:nvSpPr>
        <p:spPr bwMode="auto">
          <a:xfrm>
            <a:off x="485775" y="1628775"/>
            <a:ext cx="4176713" cy="504825"/>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10000"/>
              </a:lnSpc>
              <a:spcBef>
                <a:spcPts val="3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销毁线性表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p>
        </p:txBody>
      </p:sp>
      <p:grpSp>
        <p:nvGrpSpPr>
          <p:cNvPr id="2" name="组合 1"/>
          <p:cNvGrpSpPr/>
          <p:nvPr/>
        </p:nvGrpSpPr>
        <p:grpSpPr>
          <a:xfrm>
            <a:off x="4851400" y="1666875"/>
            <a:ext cx="3773488" cy="504825"/>
            <a:chOff x="4851400" y="1666875"/>
            <a:chExt cx="3773488" cy="504825"/>
          </a:xfrm>
        </p:grpSpPr>
        <p:sp>
          <p:nvSpPr>
            <p:cNvPr id="10" name="矩形: 圆角 16"/>
            <p:cNvSpPr>
              <a:spLocks noChangeArrowheads="1"/>
            </p:cNvSpPr>
            <p:nvPr/>
          </p:nvSpPr>
          <p:spPr bwMode="auto">
            <a:xfrm>
              <a:off x="4851400" y="1666875"/>
              <a:ext cx="377031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Rectangle 5"/>
            <p:cNvSpPr>
              <a:spLocks noChangeArrowheads="1"/>
            </p:cNvSpPr>
            <p:nvPr/>
          </p:nvSpPr>
          <p:spPr bwMode="auto">
            <a:xfrm>
              <a:off x="4879975" y="1666875"/>
              <a:ext cx="3744913" cy="461963"/>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清空线性表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p>
          </p:txBody>
        </p:sp>
      </p:grpSp>
      <p:grpSp>
        <p:nvGrpSpPr>
          <p:cNvPr id="13" name="组合 12"/>
          <p:cNvGrpSpPr/>
          <p:nvPr/>
        </p:nvGrpSpPr>
        <p:grpSpPr>
          <a:xfrm>
            <a:off x="0" y="6380163"/>
            <a:ext cx="9144000" cy="431800"/>
            <a:chOff x="0" y="6379908"/>
            <a:chExt cx="9144000" cy="432048"/>
          </a:xfrm>
        </p:grpSpPr>
        <p:grpSp>
          <p:nvGrpSpPr>
            <p:cNvPr id="59401" name="组合 5"/>
            <p:cNvGrpSpPr/>
            <p:nvPr/>
          </p:nvGrpSpPr>
          <p:grpSpPr>
            <a:xfrm>
              <a:off x="0" y="6379908"/>
              <a:ext cx="9144000" cy="432048"/>
              <a:chOff x="0" y="6165304"/>
              <a:chExt cx="9144000" cy="432048"/>
            </a:xfrm>
          </p:grpSpPr>
          <p:cxnSp>
            <p:nvCxnSpPr>
              <p:cNvPr id="59403"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7" name="直接连接符 16"/>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59405"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5"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8757"/>
                                        </p:tgtEl>
                                        <p:attrNameLst>
                                          <p:attrName>style.visibility</p:attrName>
                                        </p:attrNameLst>
                                      </p:cBhvr>
                                      <p:to>
                                        <p:strVal val="visible"/>
                                      </p:to>
                                    </p:set>
                                    <p:anim calcmode="lin" valueType="num">
                                      <p:cBhvr additive="base">
                                        <p:cTn id="13" dur="500" fill="hold"/>
                                        <p:tgtEl>
                                          <p:spTgt spid="458757"/>
                                        </p:tgtEl>
                                        <p:attrNameLst>
                                          <p:attrName>ppt_x</p:attrName>
                                        </p:attrNameLst>
                                      </p:cBhvr>
                                      <p:tavLst>
                                        <p:tav tm="0">
                                          <p:val>
                                            <p:strVal val="#ppt_x"/>
                                          </p:val>
                                        </p:tav>
                                        <p:tav tm="100000">
                                          <p:val>
                                            <p:strVal val="#ppt_x"/>
                                          </p:val>
                                        </p:tav>
                                      </p:tavLst>
                                    </p:anim>
                                    <p:anim calcmode="lin" valueType="num">
                                      <p:cBhvr additive="base">
                                        <p:cTn id="14" dur="500" fill="hold"/>
                                        <p:tgtEl>
                                          <p:spTgt spid="458757"/>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6"/>
          <p:cNvSpPr>
            <a:spLocks noChangeArrowheads="1"/>
          </p:cNvSpPr>
          <p:nvPr/>
        </p:nvSpPr>
        <p:spPr bwMode="auto">
          <a:xfrm>
            <a:off x="827088" y="201613"/>
            <a:ext cx="74295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5" name="Rectangle 4"/>
          <p:cNvSpPr>
            <a:spLocks noChangeArrowheads="1"/>
          </p:cNvSpPr>
          <p:nvPr/>
        </p:nvSpPr>
        <p:spPr bwMode="auto">
          <a:xfrm>
            <a:off x="485775" y="2778125"/>
            <a:ext cx="4176713" cy="2235200"/>
          </a:xfrm>
          <a:prstGeom prst="rect">
            <a:avLst/>
          </a:prstGeom>
          <a:solidFill>
            <a:srgbClr val="E2D9EB"/>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1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 name="Rectangle 5"/>
          <p:cNvSpPr>
            <a:spLocks noChangeArrowheads="1"/>
          </p:cNvSpPr>
          <p:nvPr/>
        </p:nvSpPr>
        <p:spPr bwMode="auto">
          <a:xfrm>
            <a:off x="4878388" y="2778125"/>
            <a:ext cx="3743325" cy="2235200"/>
          </a:xfrm>
          <a:prstGeom prst="rect">
            <a:avLst/>
          </a:prstGeom>
          <a:solidFill>
            <a:srgbClr val="B8D4EC"/>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IsEmpty(</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 return 1;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else return 0;</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 name="矩形: 圆角 16"/>
          <p:cNvSpPr>
            <a:spLocks noChangeArrowheads="1"/>
          </p:cNvSpPr>
          <p:nvPr/>
        </p:nvSpPr>
        <p:spPr bwMode="auto">
          <a:xfrm>
            <a:off x="509588" y="2095500"/>
            <a:ext cx="4152900"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Rectangle 4"/>
          <p:cNvSpPr>
            <a:spLocks noChangeArrowheads="1"/>
          </p:cNvSpPr>
          <p:nvPr/>
        </p:nvSpPr>
        <p:spPr bwMode="auto">
          <a:xfrm>
            <a:off x="485775" y="2058988"/>
            <a:ext cx="4176713" cy="504825"/>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10000"/>
              </a:lnSpc>
              <a:spcBef>
                <a:spcPts val="3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求线性表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的长度</a:t>
            </a:r>
          </a:p>
        </p:txBody>
      </p:sp>
      <p:grpSp>
        <p:nvGrpSpPr>
          <p:cNvPr id="2" name="组合 1"/>
          <p:cNvGrpSpPr/>
          <p:nvPr/>
        </p:nvGrpSpPr>
        <p:grpSpPr>
          <a:xfrm>
            <a:off x="4851400" y="2095500"/>
            <a:ext cx="3773488" cy="504825"/>
            <a:chOff x="4851400" y="2095500"/>
            <a:chExt cx="3773488" cy="504825"/>
          </a:xfrm>
        </p:grpSpPr>
        <p:sp>
          <p:nvSpPr>
            <p:cNvPr id="8" name="矩形: 圆角 16"/>
            <p:cNvSpPr>
              <a:spLocks noChangeArrowheads="1"/>
            </p:cNvSpPr>
            <p:nvPr/>
          </p:nvSpPr>
          <p:spPr bwMode="auto">
            <a:xfrm>
              <a:off x="4851400" y="2095500"/>
              <a:ext cx="377031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Rectangle 5"/>
            <p:cNvSpPr>
              <a:spLocks noChangeArrowheads="1"/>
            </p:cNvSpPr>
            <p:nvPr/>
          </p:nvSpPr>
          <p:spPr bwMode="auto">
            <a:xfrm>
              <a:off x="4879975" y="2097088"/>
              <a:ext cx="3744913" cy="461962"/>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判断线性表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是否为空</a:t>
              </a:r>
            </a:p>
          </p:txBody>
        </p:sp>
      </p:grpSp>
      <p:grpSp>
        <p:nvGrpSpPr>
          <p:cNvPr id="11" name="组合 10"/>
          <p:cNvGrpSpPr/>
          <p:nvPr/>
        </p:nvGrpSpPr>
        <p:grpSpPr>
          <a:xfrm>
            <a:off x="0" y="6380163"/>
            <a:ext cx="9144000" cy="431800"/>
            <a:chOff x="0" y="6379908"/>
            <a:chExt cx="9144000" cy="432048"/>
          </a:xfrm>
        </p:grpSpPr>
        <p:grpSp>
          <p:nvGrpSpPr>
            <p:cNvPr id="60425" name="组合 5"/>
            <p:cNvGrpSpPr/>
            <p:nvPr/>
          </p:nvGrpSpPr>
          <p:grpSpPr>
            <a:xfrm>
              <a:off x="0" y="6379908"/>
              <a:ext cx="9144000" cy="432048"/>
              <a:chOff x="0" y="6165304"/>
              <a:chExt cx="9144000" cy="432048"/>
            </a:xfrm>
          </p:grpSpPr>
          <p:cxnSp>
            <p:nvCxnSpPr>
              <p:cNvPr id="60427"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5" name="直接连接符 14"/>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60429"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3"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984750" y="163671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238283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400208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203676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407352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248443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175260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61791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65772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290036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427831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343852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318452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386873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58628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325596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55733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410686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547846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52876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483552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71170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598011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535363"/>
            <a:ext cx="1204913" cy="738188"/>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646988" y="1341438"/>
            <a:ext cx="1285875"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54363" y="5840413"/>
            <a:ext cx="938213"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schemeClr val="tx1"/>
                </a:solidFill>
                <a:effectLst/>
                <a:uLnTx/>
                <a:uFillTx/>
                <a:latin typeface="+mn-lt"/>
                <a:ea typeface="+mn-ea"/>
                <a:cs typeface="+mn-ea"/>
                <a:sym typeface="+mn-lt"/>
              </a:rPr>
              <a:t>查找</a:t>
            </a:r>
          </a:p>
        </p:txBody>
      </p:sp>
      <p:sp>
        <p:nvSpPr>
          <p:cNvPr id="70" name="TextBox 202"/>
          <p:cNvSpPr txBox="1"/>
          <p:nvPr/>
        </p:nvSpPr>
        <p:spPr bwMode="auto">
          <a:xfrm>
            <a:off x="849313" y="4545013"/>
            <a:ext cx="939800" cy="492125"/>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schemeClr val="tx1"/>
                </a:solidFill>
                <a:effectLst/>
                <a:uLnTx/>
                <a:uFillTx/>
                <a:latin typeface="+mn-lt"/>
                <a:ea typeface="+mn-ea"/>
                <a:cs typeface="+mn-ea"/>
                <a:sym typeface="+mn-lt"/>
              </a:rPr>
              <a:t>插入</a:t>
            </a:r>
          </a:p>
        </p:txBody>
      </p:sp>
      <p:sp>
        <p:nvSpPr>
          <p:cNvPr id="71" name="TextBox 204"/>
          <p:cNvSpPr txBox="1"/>
          <p:nvPr/>
        </p:nvSpPr>
        <p:spPr bwMode="auto">
          <a:xfrm>
            <a:off x="7481888" y="4687888"/>
            <a:ext cx="103981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取值</a:t>
            </a:r>
          </a:p>
        </p:txBody>
      </p:sp>
      <p:sp>
        <p:nvSpPr>
          <p:cNvPr id="72" name="TextBox 206"/>
          <p:cNvSpPr txBox="1"/>
          <p:nvPr/>
        </p:nvSpPr>
        <p:spPr bwMode="auto">
          <a:xfrm>
            <a:off x="347663" y="2501900"/>
            <a:ext cx="938213" cy="49371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300" normalizeH="0" baseline="0" noProof="0" dirty="0">
                <a:ln>
                  <a:noFill/>
                </a:ln>
                <a:solidFill>
                  <a:schemeClr val="tx1"/>
                </a:solidFill>
                <a:effectLst/>
                <a:uLnTx/>
                <a:uFillTx/>
                <a:latin typeface="+mn-lt"/>
                <a:ea typeface="+mn-ea"/>
                <a:cs typeface="+mn-ea"/>
                <a:sym typeface="+mn-lt"/>
              </a:rPr>
              <a:t>删除</a:t>
            </a:r>
          </a:p>
        </p:txBody>
      </p:sp>
      <p:sp>
        <p:nvSpPr>
          <p:cNvPr id="73" name="TextBox 210"/>
          <p:cNvSpPr txBox="1"/>
          <p:nvPr/>
        </p:nvSpPr>
        <p:spPr bwMode="auto">
          <a:xfrm>
            <a:off x="5629275" y="22780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30019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43354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47545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74491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476885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274796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71780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820863"/>
            <a:ext cx="9144000" cy="432117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0418" name="Rectangle 4"/>
          <p:cNvSpPr>
            <a:spLocks noChangeArrowheads="1"/>
          </p:cNvSpPr>
          <p:nvPr/>
        </p:nvSpPr>
        <p:spPr bwMode="auto">
          <a:xfrm>
            <a:off x="611188" y="1604963"/>
            <a:ext cx="7993063"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i,ElemType</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&amp;e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&lt;1||</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ERROR;   </a:t>
            </a:r>
          </a:p>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判断</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值是否合理，若不合理，返回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ERROR</a:t>
            </a:r>
          </a:p>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e=</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L.elem</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[i-1];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的单元存储着第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个数据</a:t>
            </a:r>
          </a:p>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a:t>
            </a:r>
          </a:p>
          <a:p>
            <a:pPr marL="342900" marR="0" lvl="0" indent="-342900" algn="just" defTabSz="914400" rtl="0" eaLnBrk="0" fontAlgn="base" latinLnBrk="0" hangingPunct="0">
              <a:lnSpc>
                <a:spcPct val="17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 name="Rectangle 6"/>
          <p:cNvSpPr>
            <a:spLocks noChangeArrowheads="1"/>
          </p:cNvSpPr>
          <p:nvPr/>
        </p:nvSpPr>
        <p:spPr bwMode="auto">
          <a:xfrm>
            <a:off x="749300" y="188913"/>
            <a:ext cx="89090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取值（根据位置</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获取相应位置数据元素的内容）</a:t>
            </a:r>
          </a:p>
        </p:txBody>
      </p:sp>
      <p:sp>
        <p:nvSpPr>
          <p:cNvPr id="7" name="云形标注 6"/>
          <p:cNvSpPr>
            <a:spLocks noChangeArrowheads="1"/>
          </p:cNvSpPr>
          <p:nvPr/>
        </p:nvSpPr>
        <p:spPr bwMode="auto">
          <a:xfrm>
            <a:off x="3506788" y="5060950"/>
            <a:ext cx="2714625" cy="785813"/>
          </a:xfrm>
          <a:prstGeom prst="cloudCallout">
            <a:avLst>
              <a:gd name="adj1" fmla="val -76940"/>
              <a:gd name="adj2" fmla="val -81745"/>
            </a:avLst>
          </a:prstGeom>
          <a:solidFill>
            <a:srgbClr val="FFC000"/>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随机存取</a:t>
            </a:r>
          </a:p>
        </p:txBody>
      </p:sp>
      <p:sp>
        <p:nvSpPr>
          <p:cNvPr id="60421" name="矩形 7"/>
          <p:cNvSpPr>
            <a:spLocks noChangeArrowheads="1"/>
          </p:cNvSpPr>
          <p:nvPr/>
        </p:nvSpPr>
        <p:spPr bwMode="auto">
          <a:xfrm>
            <a:off x="611188" y="1125538"/>
            <a:ext cx="6246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获取线性表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中的某个数据元素的内容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mph" presetSubtype="0" fill="hold" grpId="1" nodeType="clickEffect">
                                  <p:stCondLst>
                                    <p:cond delay="0"/>
                                  </p:stCondLst>
                                  <p:childTnLst>
                                    <p:animScale>
                                      <p:cBhvr>
                                        <p:cTn id="12" dur="2000" fill="hold"/>
                                        <p:tgtEl>
                                          <p:spTgt spid="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47" name="Rectangle 11"/>
          <p:cNvSpPr>
            <a:spLocks noChangeArrowheads="1"/>
          </p:cNvSpPr>
          <p:nvPr/>
        </p:nvSpPr>
        <p:spPr bwMode="auto">
          <a:xfrm>
            <a:off x="749300" y="225425"/>
            <a:ext cx="77104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查找（根据指定数据获取数据所在的位置） </a:t>
            </a:r>
          </a:p>
        </p:txBody>
      </p:sp>
      <p:sp>
        <p:nvSpPr>
          <p:cNvPr id="449548" name="Rectangle 12"/>
          <p:cNvSpPr>
            <a:spLocks noChangeArrowheads="1"/>
          </p:cNvSpPr>
          <p:nvPr/>
        </p:nvSpPr>
        <p:spPr bwMode="auto">
          <a:xfrm>
            <a:off x="1009650" y="858838"/>
            <a:ext cx="4267200" cy="762000"/>
          </a:xfrm>
          <a:prstGeom prst="rect">
            <a:avLst/>
          </a:prstGeom>
          <a:noFill/>
          <a:ln w="9525">
            <a:no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顺序查找图示</a:t>
            </a:r>
          </a:p>
        </p:txBody>
      </p:sp>
      <p:sp>
        <p:nvSpPr>
          <p:cNvPr id="61444" name="Line 13"/>
          <p:cNvSpPr>
            <a:spLocks noChangeShapeType="1"/>
          </p:cNvSpPr>
          <p:nvPr/>
        </p:nvSpPr>
        <p:spPr bwMode="auto">
          <a:xfrm flipV="1">
            <a:off x="2914650" y="2846388"/>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5" name="Rectangle 14"/>
          <p:cNvSpPr>
            <a:spLocks noChangeArrowheads="1"/>
          </p:cNvSpPr>
          <p:nvPr/>
        </p:nvSpPr>
        <p:spPr bwMode="auto">
          <a:xfrm>
            <a:off x="2609850" y="2236788"/>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6" name="Text Box 15"/>
          <p:cNvSpPr txBox="1">
            <a:spLocks noChangeArrowheads="1"/>
          </p:cNvSpPr>
          <p:nvPr/>
        </p:nvSpPr>
        <p:spPr bwMode="auto">
          <a:xfrm>
            <a:off x="2686050" y="2268538"/>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47" name="Line 16"/>
          <p:cNvSpPr>
            <a:spLocks noChangeShapeType="1"/>
          </p:cNvSpPr>
          <p:nvPr/>
        </p:nvSpPr>
        <p:spPr bwMode="auto">
          <a:xfrm>
            <a:off x="32956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8" name="Line 17"/>
          <p:cNvSpPr>
            <a:spLocks noChangeShapeType="1"/>
          </p:cNvSpPr>
          <p:nvPr/>
        </p:nvSpPr>
        <p:spPr bwMode="auto">
          <a:xfrm>
            <a:off x="39814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9" name="Line 18"/>
          <p:cNvSpPr>
            <a:spLocks noChangeShapeType="1"/>
          </p:cNvSpPr>
          <p:nvPr/>
        </p:nvSpPr>
        <p:spPr bwMode="auto">
          <a:xfrm>
            <a:off x="46672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0" name="Line 19"/>
          <p:cNvSpPr>
            <a:spLocks noChangeShapeType="1"/>
          </p:cNvSpPr>
          <p:nvPr/>
        </p:nvSpPr>
        <p:spPr bwMode="auto">
          <a:xfrm>
            <a:off x="53530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1" name="Line 20"/>
          <p:cNvSpPr>
            <a:spLocks noChangeShapeType="1"/>
          </p:cNvSpPr>
          <p:nvPr/>
        </p:nvSpPr>
        <p:spPr bwMode="auto">
          <a:xfrm flipH="1">
            <a:off x="60388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2" name="Text Box 21"/>
          <p:cNvSpPr txBox="1">
            <a:spLocks noChangeArrowheads="1"/>
          </p:cNvSpPr>
          <p:nvPr/>
        </p:nvSpPr>
        <p:spPr bwMode="auto">
          <a:xfrm>
            <a:off x="2686050" y="1717675"/>
            <a:ext cx="3954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mn-lt"/>
                <a:ea typeface="+mn-ea"/>
                <a:cs typeface="+mn-ea"/>
                <a:sym typeface="+mn-lt"/>
              </a:rPr>
              <a:t>0        1       2        3      4       5 </a:t>
            </a:r>
            <a:endPar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endParaRPr>
          </a:p>
        </p:txBody>
      </p:sp>
      <p:sp>
        <p:nvSpPr>
          <p:cNvPr id="61453" name="Text Box 22"/>
          <p:cNvSpPr txBox="1">
            <a:spLocks noChangeArrowheads="1"/>
          </p:cNvSpPr>
          <p:nvPr/>
        </p:nvSpPr>
        <p:spPr bwMode="auto">
          <a:xfrm>
            <a:off x="1671638" y="2236788"/>
            <a:ext cx="695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2"/>
                </a:solidFill>
                <a:effectLst/>
                <a:uLnTx/>
                <a:uFillTx/>
                <a:latin typeface="+mn-lt"/>
                <a:ea typeface="+mn-ea"/>
                <a:cs typeface="+mn-ea"/>
                <a:sym typeface="+mn-lt"/>
              </a:rPr>
              <a:t>data</a:t>
            </a:r>
          </a:p>
        </p:txBody>
      </p:sp>
      <p:sp>
        <p:nvSpPr>
          <p:cNvPr id="61454" name="Text Box 23"/>
          <p:cNvSpPr txBox="1">
            <a:spLocks noChangeArrowheads="1"/>
          </p:cNvSpPr>
          <p:nvPr/>
        </p:nvSpPr>
        <p:spPr bwMode="auto">
          <a:xfrm>
            <a:off x="1212850" y="2714625"/>
            <a:ext cx="11858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a:t>
            </a:r>
            <a:r>
              <a:rPr kumimoji="0" lang="zh-CN" altLang="en-US" sz="2400" b="0" i="0" u="none" strike="noStrike" kern="1200" cap="none" spc="0" normalizeH="0" baseline="0" noProof="0" dirty="0">
                <a:ln>
                  <a:noFill/>
                </a:ln>
                <a:solidFill>
                  <a:srgbClr val="FF505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5050"/>
                </a:solidFill>
                <a:effectLst/>
                <a:uLnTx/>
                <a:uFillTx/>
                <a:latin typeface="+mn-lt"/>
                <a:ea typeface="+mn-ea"/>
                <a:cs typeface="+mn-ea"/>
                <a:sym typeface="+mn-lt"/>
              </a:rPr>
              <a:t>16</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1455" name="Text Box 24"/>
          <p:cNvSpPr txBox="1">
            <a:spLocks noChangeArrowheads="1"/>
          </p:cNvSpPr>
          <p:nvPr/>
        </p:nvSpPr>
        <p:spPr bwMode="auto">
          <a:xfrm>
            <a:off x="2533650" y="28003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6" name="Line 25"/>
          <p:cNvSpPr>
            <a:spLocks noChangeShapeType="1"/>
          </p:cNvSpPr>
          <p:nvPr/>
        </p:nvSpPr>
        <p:spPr bwMode="auto">
          <a:xfrm flipV="1">
            <a:off x="3524250" y="3943350"/>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7" name="Rectangle 26"/>
          <p:cNvSpPr>
            <a:spLocks noChangeArrowheads="1"/>
          </p:cNvSpPr>
          <p:nvPr/>
        </p:nvSpPr>
        <p:spPr bwMode="auto">
          <a:xfrm>
            <a:off x="2609850" y="3333750"/>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8" name="Text Box 27"/>
          <p:cNvSpPr txBox="1">
            <a:spLocks noChangeArrowheads="1"/>
          </p:cNvSpPr>
          <p:nvPr/>
        </p:nvSpPr>
        <p:spPr bwMode="auto">
          <a:xfrm>
            <a:off x="2686050" y="3384550"/>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59" name="Line 28"/>
          <p:cNvSpPr>
            <a:spLocks noChangeShapeType="1"/>
          </p:cNvSpPr>
          <p:nvPr/>
        </p:nvSpPr>
        <p:spPr bwMode="auto">
          <a:xfrm>
            <a:off x="32956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0" name="Line 29"/>
          <p:cNvSpPr>
            <a:spLocks noChangeShapeType="1"/>
          </p:cNvSpPr>
          <p:nvPr/>
        </p:nvSpPr>
        <p:spPr bwMode="auto">
          <a:xfrm>
            <a:off x="39814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1" name="Line 30"/>
          <p:cNvSpPr>
            <a:spLocks noChangeShapeType="1"/>
          </p:cNvSpPr>
          <p:nvPr/>
        </p:nvSpPr>
        <p:spPr bwMode="auto">
          <a:xfrm>
            <a:off x="46672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2" name="Line 31"/>
          <p:cNvSpPr>
            <a:spLocks noChangeShapeType="1"/>
          </p:cNvSpPr>
          <p:nvPr/>
        </p:nvSpPr>
        <p:spPr bwMode="auto">
          <a:xfrm>
            <a:off x="53530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3" name="Line 32"/>
          <p:cNvSpPr>
            <a:spLocks noChangeShapeType="1"/>
          </p:cNvSpPr>
          <p:nvPr/>
        </p:nvSpPr>
        <p:spPr bwMode="auto">
          <a:xfrm flipH="1">
            <a:off x="60388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4" name="Text Box 33"/>
          <p:cNvSpPr txBox="1">
            <a:spLocks noChangeArrowheads="1"/>
          </p:cNvSpPr>
          <p:nvPr/>
        </p:nvSpPr>
        <p:spPr bwMode="auto">
          <a:xfrm>
            <a:off x="3143250" y="38671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5" name="Line 34"/>
          <p:cNvSpPr>
            <a:spLocks noChangeShapeType="1"/>
          </p:cNvSpPr>
          <p:nvPr/>
        </p:nvSpPr>
        <p:spPr bwMode="auto">
          <a:xfrm flipV="1">
            <a:off x="4210050" y="5056188"/>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6" name="Rectangle 35"/>
          <p:cNvSpPr>
            <a:spLocks noChangeArrowheads="1"/>
          </p:cNvSpPr>
          <p:nvPr/>
        </p:nvSpPr>
        <p:spPr bwMode="auto">
          <a:xfrm>
            <a:off x="2609850" y="4446588"/>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7" name="Text Box 36"/>
          <p:cNvSpPr txBox="1">
            <a:spLocks noChangeArrowheads="1"/>
          </p:cNvSpPr>
          <p:nvPr/>
        </p:nvSpPr>
        <p:spPr bwMode="auto">
          <a:xfrm>
            <a:off x="2686050" y="4484688"/>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68" name="Line 37"/>
          <p:cNvSpPr>
            <a:spLocks noChangeShapeType="1"/>
          </p:cNvSpPr>
          <p:nvPr/>
        </p:nvSpPr>
        <p:spPr bwMode="auto">
          <a:xfrm>
            <a:off x="32956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9" name="Line 38"/>
          <p:cNvSpPr>
            <a:spLocks noChangeShapeType="1"/>
          </p:cNvSpPr>
          <p:nvPr/>
        </p:nvSpPr>
        <p:spPr bwMode="auto">
          <a:xfrm>
            <a:off x="39814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0" name="Line 39"/>
          <p:cNvSpPr>
            <a:spLocks noChangeShapeType="1"/>
          </p:cNvSpPr>
          <p:nvPr/>
        </p:nvSpPr>
        <p:spPr bwMode="auto">
          <a:xfrm>
            <a:off x="46672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1" name="Line 40"/>
          <p:cNvSpPr>
            <a:spLocks noChangeShapeType="1"/>
          </p:cNvSpPr>
          <p:nvPr/>
        </p:nvSpPr>
        <p:spPr bwMode="auto">
          <a:xfrm>
            <a:off x="53530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2" name="Line 41"/>
          <p:cNvSpPr>
            <a:spLocks noChangeShapeType="1"/>
          </p:cNvSpPr>
          <p:nvPr/>
        </p:nvSpPr>
        <p:spPr bwMode="auto">
          <a:xfrm flipH="1">
            <a:off x="60388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3" name="Text Box 42"/>
          <p:cNvSpPr txBox="1">
            <a:spLocks noChangeArrowheads="1"/>
          </p:cNvSpPr>
          <p:nvPr/>
        </p:nvSpPr>
        <p:spPr bwMode="auto">
          <a:xfrm>
            <a:off x="3836988" y="4979988"/>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4" name="Line 43"/>
          <p:cNvSpPr>
            <a:spLocks noChangeShapeType="1"/>
          </p:cNvSpPr>
          <p:nvPr/>
        </p:nvSpPr>
        <p:spPr bwMode="auto">
          <a:xfrm flipV="1">
            <a:off x="4972050" y="6153150"/>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5" name="Rectangle 44"/>
          <p:cNvSpPr>
            <a:spLocks noChangeArrowheads="1"/>
          </p:cNvSpPr>
          <p:nvPr/>
        </p:nvSpPr>
        <p:spPr bwMode="auto">
          <a:xfrm>
            <a:off x="2619375" y="5543550"/>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6" name="Text Box 45"/>
          <p:cNvSpPr txBox="1">
            <a:spLocks noChangeArrowheads="1"/>
          </p:cNvSpPr>
          <p:nvPr/>
        </p:nvSpPr>
        <p:spPr bwMode="auto">
          <a:xfrm>
            <a:off x="2695575" y="5594350"/>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77" name="Line 46"/>
          <p:cNvSpPr>
            <a:spLocks noChangeShapeType="1"/>
          </p:cNvSpPr>
          <p:nvPr/>
        </p:nvSpPr>
        <p:spPr bwMode="auto">
          <a:xfrm>
            <a:off x="33051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8" name="Line 47"/>
          <p:cNvSpPr>
            <a:spLocks noChangeShapeType="1"/>
          </p:cNvSpPr>
          <p:nvPr/>
        </p:nvSpPr>
        <p:spPr bwMode="auto">
          <a:xfrm>
            <a:off x="39909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9" name="Line 48"/>
          <p:cNvSpPr>
            <a:spLocks noChangeShapeType="1"/>
          </p:cNvSpPr>
          <p:nvPr/>
        </p:nvSpPr>
        <p:spPr bwMode="auto">
          <a:xfrm>
            <a:off x="46767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0" name="Line 49"/>
          <p:cNvSpPr>
            <a:spLocks noChangeShapeType="1"/>
          </p:cNvSpPr>
          <p:nvPr/>
        </p:nvSpPr>
        <p:spPr bwMode="auto">
          <a:xfrm>
            <a:off x="53625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1" name="Line 50"/>
          <p:cNvSpPr>
            <a:spLocks noChangeShapeType="1"/>
          </p:cNvSpPr>
          <p:nvPr/>
        </p:nvSpPr>
        <p:spPr bwMode="auto">
          <a:xfrm flipH="1">
            <a:off x="60483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2" name="Text Box 51"/>
          <p:cNvSpPr txBox="1">
            <a:spLocks noChangeArrowheads="1"/>
          </p:cNvSpPr>
          <p:nvPr/>
        </p:nvSpPr>
        <p:spPr bwMode="auto">
          <a:xfrm>
            <a:off x="4591050" y="60769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err="1">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1483" name="AutoShape 52"/>
          <p:cNvSpPr>
            <a:spLocks noChangeArrowheads="1"/>
          </p:cNvSpPr>
          <p:nvPr/>
        </p:nvSpPr>
        <p:spPr bwMode="auto">
          <a:xfrm>
            <a:off x="3067050" y="2922588"/>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4" name="AutoShape 53"/>
          <p:cNvSpPr>
            <a:spLocks noChangeArrowheads="1"/>
          </p:cNvSpPr>
          <p:nvPr/>
        </p:nvSpPr>
        <p:spPr bwMode="auto">
          <a:xfrm>
            <a:off x="3676650" y="3989388"/>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5" name="AutoShape 54"/>
          <p:cNvSpPr>
            <a:spLocks noChangeArrowheads="1"/>
          </p:cNvSpPr>
          <p:nvPr/>
        </p:nvSpPr>
        <p:spPr bwMode="auto">
          <a:xfrm>
            <a:off x="4438650" y="5132388"/>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6" name="Text Box 55"/>
          <p:cNvSpPr txBox="1">
            <a:spLocks noChangeArrowheads="1"/>
          </p:cNvSpPr>
          <p:nvPr/>
        </p:nvSpPr>
        <p:spPr bwMode="auto">
          <a:xfrm>
            <a:off x="5070475" y="61277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查找成功</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Line 4"/>
          <p:cNvSpPr>
            <a:spLocks noChangeShapeType="1"/>
          </p:cNvSpPr>
          <p:nvPr/>
        </p:nvSpPr>
        <p:spPr bwMode="auto">
          <a:xfrm flipV="1">
            <a:off x="2987675" y="20351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67" name="Rectangle 5"/>
          <p:cNvSpPr>
            <a:spLocks noChangeArrowheads="1"/>
          </p:cNvSpPr>
          <p:nvPr/>
        </p:nvSpPr>
        <p:spPr bwMode="auto">
          <a:xfrm>
            <a:off x="2690813" y="1425575"/>
            <a:ext cx="34290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68" name="Text Box 6"/>
          <p:cNvSpPr txBox="1">
            <a:spLocks noChangeArrowheads="1"/>
          </p:cNvSpPr>
          <p:nvPr/>
        </p:nvSpPr>
        <p:spPr bwMode="auto">
          <a:xfrm>
            <a:off x="2767013" y="1425575"/>
            <a:ext cx="3429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69" name="Line 7"/>
          <p:cNvSpPr>
            <a:spLocks noChangeShapeType="1"/>
          </p:cNvSpPr>
          <p:nvPr/>
        </p:nvSpPr>
        <p:spPr bwMode="auto">
          <a:xfrm>
            <a:off x="33766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0" name="Line 8"/>
          <p:cNvSpPr>
            <a:spLocks noChangeShapeType="1"/>
          </p:cNvSpPr>
          <p:nvPr/>
        </p:nvSpPr>
        <p:spPr bwMode="auto">
          <a:xfrm>
            <a:off x="40624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1" name="Line 9"/>
          <p:cNvSpPr>
            <a:spLocks noChangeShapeType="1"/>
          </p:cNvSpPr>
          <p:nvPr/>
        </p:nvSpPr>
        <p:spPr bwMode="auto">
          <a:xfrm>
            <a:off x="47482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2" name="Line 10"/>
          <p:cNvSpPr>
            <a:spLocks noChangeShapeType="1"/>
          </p:cNvSpPr>
          <p:nvPr/>
        </p:nvSpPr>
        <p:spPr bwMode="auto">
          <a:xfrm>
            <a:off x="54340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3" name="Text Box 11"/>
          <p:cNvSpPr txBox="1">
            <a:spLocks noChangeArrowheads="1"/>
          </p:cNvSpPr>
          <p:nvPr/>
        </p:nvSpPr>
        <p:spPr bwMode="auto">
          <a:xfrm>
            <a:off x="2767013" y="982663"/>
            <a:ext cx="272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0     1      2      3      4</a:t>
            </a:r>
          </a:p>
        </p:txBody>
      </p:sp>
      <p:sp>
        <p:nvSpPr>
          <p:cNvPr id="62474" name="Text Box 12"/>
          <p:cNvSpPr txBox="1">
            <a:spLocks noChangeArrowheads="1"/>
          </p:cNvSpPr>
          <p:nvPr/>
        </p:nvSpPr>
        <p:spPr bwMode="auto">
          <a:xfrm>
            <a:off x="1892300" y="1422400"/>
            <a:ext cx="695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data</a:t>
            </a:r>
          </a:p>
        </p:txBody>
      </p:sp>
      <p:sp>
        <p:nvSpPr>
          <p:cNvPr id="62475" name="Text Box 13"/>
          <p:cNvSpPr txBox="1">
            <a:spLocks noChangeArrowheads="1"/>
          </p:cNvSpPr>
          <p:nvPr/>
        </p:nvSpPr>
        <p:spPr bwMode="auto">
          <a:xfrm>
            <a:off x="1412875" y="1958975"/>
            <a:ext cx="1184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50</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2476" name="Text Box 14"/>
          <p:cNvSpPr txBox="1">
            <a:spLocks noChangeArrowheads="1"/>
          </p:cNvSpPr>
          <p:nvPr/>
        </p:nvSpPr>
        <p:spPr bwMode="auto">
          <a:xfrm>
            <a:off x="2614613" y="19589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err="1">
                <a:ln>
                  <a:noFill/>
                </a:ln>
                <a:solidFill>
                  <a:srgbClr val="FF5050"/>
                </a:solidFill>
                <a:effectLst/>
                <a:uLnTx/>
                <a:uFillTx/>
                <a:latin typeface="+mn-lt"/>
                <a:ea typeface="+mn-ea"/>
                <a:cs typeface="+mn-ea"/>
                <a:sym typeface="+mn-lt"/>
              </a:rPr>
              <a:t>i</a:t>
            </a:r>
            <a:endPar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2477" name="Line 15"/>
          <p:cNvSpPr>
            <a:spLocks noChangeShapeType="1"/>
          </p:cNvSpPr>
          <p:nvPr/>
        </p:nvSpPr>
        <p:spPr bwMode="auto">
          <a:xfrm flipV="1">
            <a:off x="3597275" y="31019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8" name="Rectangle 16"/>
          <p:cNvSpPr>
            <a:spLocks noChangeArrowheads="1"/>
          </p:cNvSpPr>
          <p:nvPr/>
        </p:nvSpPr>
        <p:spPr bwMode="auto">
          <a:xfrm>
            <a:off x="2690813" y="2492375"/>
            <a:ext cx="34290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9" name="Text Box 17"/>
          <p:cNvSpPr txBox="1">
            <a:spLocks noChangeArrowheads="1"/>
          </p:cNvSpPr>
          <p:nvPr/>
        </p:nvSpPr>
        <p:spPr bwMode="auto">
          <a:xfrm>
            <a:off x="2767013" y="2492375"/>
            <a:ext cx="3505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80" name="Line 18"/>
          <p:cNvSpPr>
            <a:spLocks noChangeShapeType="1"/>
          </p:cNvSpPr>
          <p:nvPr/>
        </p:nvSpPr>
        <p:spPr bwMode="auto">
          <a:xfrm>
            <a:off x="33766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1" name="Line 19"/>
          <p:cNvSpPr>
            <a:spLocks noChangeShapeType="1"/>
          </p:cNvSpPr>
          <p:nvPr/>
        </p:nvSpPr>
        <p:spPr bwMode="auto">
          <a:xfrm>
            <a:off x="40624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2" name="Line 20"/>
          <p:cNvSpPr>
            <a:spLocks noChangeShapeType="1"/>
          </p:cNvSpPr>
          <p:nvPr/>
        </p:nvSpPr>
        <p:spPr bwMode="auto">
          <a:xfrm>
            <a:off x="47482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3" name="Line 21"/>
          <p:cNvSpPr>
            <a:spLocks noChangeShapeType="1"/>
          </p:cNvSpPr>
          <p:nvPr/>
        </p:nvSpPr>
        <p:spPr bwMode="auto">
          <a:xfrm>
            <a:off x="54340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4" name="Text Box 22"/>
          <p:cNvSpPr txBox="1">
            <a:spLocks noChangeArrowheads="1"/>
          </p:cNvSpPr>
          <p:nvPr/>
        </p:nvSpPr>
        <p:spPr bwMode="auto">
          <a:xfrm>
            <a:off x="3224213" y="30257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5" name="Line 23"/>
          <p:cNvSpPr>
            <a:spLocks noChangeShapeType="1"/>
          </p:cNvSpPr>
          <p:nvPr/>
        </p:nvSpPr>
        <p:spPr bwMode="auto">
          <a:xfrm flipV="1">
            <a:off x="4291013" y="41687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6" name="Rectangle 24"/>
          <p:cNvSpPr>
            <a:spLocks noChangeArrowheads="1"/>
          </p:cNvSpPr>
          <p:nvPr/>
        </p:nvSpPr>
        <p:spPr bwMode="auto">
          <a:xfrm>
            <a:off x="2690813" y="3559175"/>
            <a:ext cx="34290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7" name="Text Box 25"/>
          <p:cNvSpPr txBox="1">
            <a:spLocks noChangeArrowheads="1"/>
          </p:cNvSpPr>
          <p:nvPr/>
        </p:nvSpPr>
        <p:spPr bwMode="auto">
          <a:xfrm>
            <a:off x="2767013" y="3559175"/>
            <a:ext cx="4105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88" name="Line 26"/>
          <p:cNvSpPr>
            <a:spLocks noChangeShapeType="1"/>
          </p:cNvSpPr>
          <p:nvPr/>
        </p:nvSpPr>
        <p:spPr bwMode="auto">
          <a:xfrm>
            <a:off x="33766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9" name="Line 27"/>
          <p:cNvSpPr>
            <a:spLocks noChangeShapeType="1"/>
          </p:cNvSpPr>
          <p:nvPr/>
        </p:nvSpPr>
        <p:spPr bwMode="auto">
          <a:xfrm>
            <a:off x="40624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0" name="Line 28"/>
          <p:cNvSpPr>
            <a:spLocks noChangeShapeType="1"/>
          </p:cNvSpPr>
          <p:nvPr/>
        </p:nvSpPr>
        <p:spPr bwMode="auto">
          <a:xfrm>
            <a:off x="47482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1" name="Line 29"/>
          <p:cNvSpPr>
            <a:spLocks noChangeShapeType="1"/>
          </p:cNvSpPr>
          <p:nvPr/>
        </p:nvSpPr>
        <p:spPr bwMode="auto">
          <a:xfrm>
            <a:off x="54340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2" name="Text Box 30"/>
          <p:cNvSpPr txBox="1">
            <a:spLocks noChangeArrowheads="1"/>
          </p:cNvSpPr>
          <p:nvPr/>
        </p:nvSpPr>
        <p:spPr bwMode="auto">
          <a:xfrm>
            <a:off x="3917950" y="40925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3" name="Line 31"/>
          <p:cNvSpPr>
            <a:spLocks noChangeShapeType="1"/>
          </p:cNvSpPr>
          <p:nvPr/>
        </p:nvSpPr>
        <p:spPr bwMode="auto">
          <a:xfrm flipV="1">
            <a:off x="5053013" y="52355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4" name="Rectangle 32"/>
          <p:cNvSpPr>
            <a:spLocks noChangeArrowheads="1"/>
          </p:cNvSpPr>
          <p:nvPr/>
        </p:nvSpPr>
        <p:spPr bwMode="auto">
          <a:xfrm>
            <a:off x="2700338" y="4625975"/>
            <a:ext cx="3419475"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5" name="Text Box 33"/>
          <p:cNvSpPr txBox="1">
            <a:spLocks noChangeArrowheads="1"/>
          </p:cNvSpPr>
          <p:nvPr/>
        </p:nvSpPr>
        <p:spPr bwMode="auto">
          <a:xfrm>
            <a:off x="2776538" y="4625975"/>
            <a:ext cx="4105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96" name="Line 34"/>
          <p:cNvSpPr>
            <a:spLocks noChangeShapeType="1"/>
          </p:cNvSpPr>
          <p:nvPr/>
        </p:nvSpPr>
        <p:spPr bwMode="auto">
          <a:xfrm>
            <a:off x="33861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7" name="Line 35"/>
          <p:cNvSpPr>
            <a:spLocks noChangeShapeType="1"/>
          </p:cNvSpPr>
          <p:nvPr/>
        </p:nvSpPr>
        <p:spPr bwMode="auto">
          <a:xfrm>
            <a:off x="40719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8" name="Line 36"/>
          <p:cNvSpPr>
            <a:spLocks noChangeShapeType="1"/>
          </p:cNvSpPr>
          <p:nvPr/>
        </p:nvSpPr>
        <p:spPr bwMode="auto">
          <a:xfrm>
            <a:off x="47577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9" name="Line 37"/>
          <p:cNvSpPr>
            <a:spLocks noChangeShapeType="1"/>
          </p:cNvSpPr>
          <p:nvPr/>
        </p:nvSpPr>
        <p:spPr bwMode="auto">
          <a:xfrm>
            <a:off x="54435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0" name="Text Box 38"/>
          <p:cNvSpPr txBox="1">
            <a:spLocks noChangeArrowheads="1"/>
          </p:cNvSpPr>
          <p:nvPr/>
        </p:nvSpPr>
        <p:spPr bwMode="auto">
          <a:xfrm>
            <a:off x="4672013" y="51593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1" name="Line 39"/>
          <p:cNvSpPr>
            <a:spLocks noChangeShapeType="1"/>
          </p:cNvSpPr>
          <p:nvPr/>
        </p:nvSpPr>
        <p:spPr bwMode="auto">
          <a:xfrm flipV="1">
            <a:off x="5738813" y="63023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2" name="Rectangle 40"/>
          <p:cNvSpPr>
            <a:spLocks noChangeArrowheads="1"/>
          </p:cNvSpPr>
          <p:nvPr/>
        </p:nvSpPr>
        <p:spPr bwMode="auto">
          <a:xfrm>
            <a:off x="2700338" y="5692775"/>
            <a:ext cx="3419475"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3" name="Text Box 41"/>
          <p:cNvSpPr txBox="1">
            <a:spLocks noChangeArrowheads="1"/>
          </p:cNvSpPr>
          <p:nvPr/>
        </p:nvSpPr>
        <p:spPr bwMode="auto">
          <a:xfrm>
            <a:off x="2776538" y="5692775"/>
            <a:ext cx="4105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504" name="Line 42"/>
          <p:cNvSpPr>
            <a:spLocks noChangeShapeType="1"/>
          </p:cNvSpPr>
          <p:nvPr/>
        </p:nvSpPr>
        <p:spPr bwMode="auto">
          <a:xfrm>
            <a:off x="3386138"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5" name="Line 43"/>
          <p:cNvSpPr>
            <a:spLocks noChangeShapeType="1"/>
          </p:cNvSpPr>
          <p:nvPr/>
        </p:nvSpPr>
        <p:spPr bwMode="auto">
          <a:xfrm>
            <a:off x="4071938"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6" name="Line 44"/>
          <p:cNvSpPr>
            <a:spLocks noChangeShapeType="1"/>
          </p:cNvSpPr>
          <p:nvPr/>
        </p:nvSpPr>
        <p:spPr bwMode="auto">
          <a:xfrm>
            <a:off x="5443538"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7" name="Line 45"/>
          <p:cNvSpPr>
            <a:spLocks noChangeShapeType="1"/>
          </p:cNvSpPr>
          <p:nvPr/>
        </p:nvSpPr>
        <p:spPr bwMode="auto">
          <a:xfrm flipH="1">
            <a:off x="4824413"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8" name="Text Box 46"/>
          <p:cNvSpPr txBox="1">
            <a:spLocks noChangeArrowheads="1"/>
          </p:cNvSpPr>
          <p:nvPr/>
        </p:nvSpPr>
        <p:spPr bwMode="auto">
          <a:xfrm>
            <a:off x="5365750" y="62261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9" name="AutoShape 47"/>
          <p:cNvSpPr>
            <a:spLocks noChangeArrowheads="1"/>
          </p:cNvSpPr>
          <p:nvPr/>
        </p:nvSpPr>
        <p:spPr bwMode="auto">
          <a:xfrm>
            <a:off x="3148013" y="21113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0" name="AutoShape 48"/>
          <p:cNvSpPr>
            <a:spLocks noChangeArrowheads="1"/>
          </p:cNvSpPr>
          <p:nvPr/>
        </p:nvSpPr>
        <p:spPr bwMode="auto">
          <a:xfrm>
            <a:off x="3757613" y="31781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1" name="AutoShape 49"/>
          <p:cNvSpPr>
            <a:spLocks noChangeArrowheads="1"/>
          </p:cNvSpPr>
          <p:nvPr/>
        </p:nvSpPr>
        <p:spPr bwMode="auto">
          <a:xfrm>
            <a:off x="4443413" y="42449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2" name="AutoShape 50"/>
          <p:cNvSpPr>
            <a:spLocks noChangeArrowheads="1"/>
          </p:cNvSpPr>
          <p:nvPr/>
        </p:nvSpPr>
        <p:spPr bwMode="auto">
          <a:xfrm>
            <a:off x="5205413" y="53117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3" name="AutoShape 51"/>
          <p:cNvSpPr>
            <a:spLocks noChangeArrowheads="1"/>
          </p:cNvSpPr>
          <p:nvPr/>
        </p:nvSpPr>
        <p:spPr bwMode="auto">
          <a:xfrm>
            <a:off x="5891213" y="63785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4" name="Text Box 52"/>
          <p:cNvSpPr txBox="1">
            <a:spLocks noChangeArrowheads="1"/>
          </p:cNvSpPr>
          <p:nvPr/>
        </p:nvSpPr>
        <p:spPr bwMode="auto">
          <a:xfrm>
            <a:off x="6577013" y="6103938"/>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查找失败</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2" name="Rectangle 11"/>
          <p:cNvSpPr>
            <a:spLocks noChangeArrowheads="1"/>
          </p:cNvSpPr>
          <p:nvPr/>
        </p:nvSpPr>
        <p:spPr bwMode="auto">
          <a:xfrm>
            <a:off x="749300" y="225425"/>
            <a:ext cx="72866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查找（根据指定数据获取数据所在的位置）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0" y="1223963"/>
            <a:ext cx="9144000" cy="469900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1590" name="Rectangle 6"/>
          <p:cNvSpPr>
            <a:spLocks noChangeArrowheads="1"/>
          </p:cNvSpPr>
          <p:nvPr/>
        </p:nvSpPr>
        <p:spPr bwMode="auto">
          <a:xfrm>
            <a:off x="0" y="5949950"/>
            <a:ext cx="6192838" cy="515938"/>
          </a:xfrm>
          <a:prstGeom prst="rect">
            <a:avLst/>
          </a:prstGeom>
          <a:solidFill>
            <a:srgbClr val="B8D4EC"/>
          </a:solid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3399"/>
                </a:solidFill>
                <a:effectLst/>
                <a:uLnTx/>
                <a:uFillTx/>
                <a:latin typeface="+mn-lt"/>
                <a:ea typeface="+mn-ea"/>
                <a:cs typeface="+mn-ea"/>
                <a:sym typeface="+mn-lt"/>
              </a:rPr>
              <a:t>查找算法时间效率分析</a:t>
            </a:r>
            <a:r>
              <a:rPr kumimoji="1" lang="zh-CN" altLang="en-US" sz="2400" b="0" i="0" u="none" strike="noStrike" kern="1200" cap="none" spc="0" normalizeH="0" baseline="0" noProof="0" dirty="0">
                <a:ln>
                  <a:noFill/>
                </a:ln>
                <a:solidFill>
                  <a:schemeClr val="accent1"/>
                </a:solidFill>
                <a:effectLst>
                  <a:outerShdw blurRad="38100" dist="38100" dir="2700000" algn="tl">
                    <a:srgbClr val="000000"/>
                  </a:outerShdw>
                </a:effectLst>
                <a:uLnTx/>
                <a:uFillTx/>
                <a:latin typeface="+mn-lt"/>
                <a:ea typeface="+mn-ea"/>
                <a:cs typeface="+mn-ea"/>
                <a:sym typeface="+mn-lt"/>
              </a:rPr>
              <a:t> ？？？</a:t>
            </a:r>
          </a:p>
        </p:txBody>
      </p:sp>
      <p:sp>
        <p:nvSpPr>
          <p:cNvPr id="63491" name="Rectangle 7"/>
          <p:cNvSpPr>
            <a:spLocks noChangeArrowheads="1"/>
          </p:cNvSpPr>
          <p:nvPr/>
        </p:nvSpPr>
        <p:spPr bwMode="auto">
          <a:xfrm>
            <a:off x="803275" y="1412875"/>
            <a:ext cx="740092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200000"/>
              </a:lnSpc>
              <a:spcBef>
                <a:spcPts val="3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在线性表</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中查找值为</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的数据元素</a:t>
            </a:r>
          </a:p>
          <a:p>
            <a:pPr marL="342900" marR="0" lvl="0" indent="-342900" algn="l" defTabSz="914400" rtl="0" eaLnBrk="0" fontAlgn="base" latinLnBrk="0" hangingPunct="0">
              <a:lnSpc>
                <a:spcPct val="105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LocateELem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a:t>
            </a:r>
          </a:p>
          <a:p>
            <a:pPr marL="342900" marR="0" lvl="0" indent="-342900" algn="l" defTabSz="914400" rtl="0" eaLnBrk="0" fontAlgn="base" latinLnBrk="0" hangingPunct="0">
              <a:lnSpc>
                <a:spcPct val="105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5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=0;i&lt;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5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 return i+1;                </a:t>
            </a:r>
          </a:p>
          <a:p>
            <a:pPr marL="342900" marR="0" lvl="0" indent="-342900" algn="l" defTabSz="914400" rtl="0" eaLnBrk="0" fontAlgn="base" latinLnBrk="0" hangingPunct="0">
              <a:lnSpc>
                <a:spcPct val="105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0;</a:t>
            </a:r>
          </a:p>
          <a:p>
            <a:pPr marL="342900" marR="0" lvl="0" indent="-342900" algn="l" defTabSz="914400" rtl="0" eaLnBrk="0" fontAlgn="base" latinLnBrk="0" hangingPunct="0">
              <a:lnSpc>
                <a:spcPct val="105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 name="Rectangle 11"/>
          <p:cNvSpPr>
            <a:spLocks noChangeArrowheads="1"/>
          </p:cNvSpPr>
          <p:nvPr/>
        </p:nvSpPr>
        <p:spPr bwMode="auto">
          <a:xfrm>
            <a:off x="749300" y="225425"/>
            <a:ext cx="72866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查找（根据指定数据获取数据所在的位置） </a:t>
            </a:r>
          </a:p>
        </p:txBody>
      </p:sp>
      <p:grpSp>
        <p:nvGrpSpPr>
          <p:cNvPr id="66566" name="组合 11"/>
          <p:cNvGrpSpPr/>
          <p:nvPr/>
        </p:nvGrpSpPr>
        <p:grpSpPr>
          <a:xfrm flipH="1">
            <a:off x="5778500" y="5180013"/>
            <a:ext cx="3228975" cy="1301750"/>
            <a:chOff x="-8805" y="5407865"/>
            <a:chExt cx="3213509" cy="1301644"/>
          </a:xfrm>
        </p:grpSpPr>
        <p:sp>
          <p:nvSpPr>
            <p:cNvPr id="13" name="矩形 12"/>
            <p:cNvSpPr/>
            <p:nvPr/>
          </p:nvSpPr>
          <p:spPr>
            <a:xfrm>
              <a:off x="2015042" y="5522156"/>
              <a:ext cx="267003" cy="287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4" name="矩形 13"/>
            <p:cNvSpPr/>
            <p:nvPr/>
          </p:nvSpPr>
          <p:spPr>
            <a:xfrm>
              <a:off x="367210" y="5522156"/>
              <a:ext cx="267002" cy="287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5" name="矩形 14"/>
            <p:cNvSpPr/>
            <p:nvPr/>
          </p:nvSpPr>
          <p:spPr>
            <a:xfrm>
              <a:off x="-8805" y="5666606"/>
              <a:ext cx="496087" cy="533357"/>
            </a:xfrm>
            <a:prstGeom prst="rect">
              <a:avLst/>
            </a:prstGeom>
            <a:solidFill>
              <a:srgbClr val="B8D4E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6" name="矩形 15"/>
            <p:cNvSpPr/>
            <p:nvPr/>
          </p:nvSpPr>
          <p:spPr>
            <a:xfrm>
              <a:off x="2338921" y="6007891"/>
              <a:ext cx="267002" cy="28731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7" name="矩形 16"/>
            <p:cNvSpPr/>
            <p:nvPr/>
          </p:nvSpPr>
          <p:spPr>
            <a:xfrm>
              <a:off x="2015042" y="6422194"/>
              <a:ext cx="267003" cy="2873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8" name="矩形 17"/>
            <p:cNvSpPr/>
            <p:nvPr/>
          </p:nvSpPr>
          <p:spPr>
            <a:xfrm>
              <a:off x="2605923" y="5407865"/>
              <a:ext cx="107433" cy="1142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19" name="矩形 18"/>
            <p:cNvSpPr/>
            <p:nvPr/>
          </p:nvSpPr>
          <p:spPr>
            <a:xfrm>
              <a:off x="1882330" y="5720577"/>
              <a:ext cx="267003" cy="287315"/>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20" name="矩形 19"/>
            <p:cNvSpPr/>
            <p:nvPr/>
          </p:nvSpPr>
          <p:spPr>
            <a:xfrm flipV="1">
              <a:off x="1172957" y="6007891"/>
              <a:ext cx="267002" cy="2873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sp>
          <p:nvSpPr>
            <p:cNvPr id="21" name="矩形 20"/>
            <p:cNvSpPr/>
            <p:nvPr/>
          </p:nvSpPr>
          <p:spPr>
            <a:xfrm>
              <a:off x="3048294" y="6292030"/>
              <a:ext cx="156410" cy="1365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1590"/>
                                        </p:tgtEl>
                                        <p:attrNameLst>
                                          <p:attrName>style.visibility</p:attrName>
                                        </p:attrNameLst>
                                      </p:cBhvr>
                                      <p:to>
                                        <p:strVal val="visible"/>
                                      </p:to>
                                    </p:set>
                                    <p:anim calcmode="lin" valueType="num">
                                      <p:cBhvr additive="base">
                                        <p:cTn id="7" dur="500" fill="hold"/>
                                        <p:tgtEl>
                                          <p:spTgt spid="451590"/>
                                        </p:tgtEl>
                                        <p:attrNameLst>
                                          <p:attrName>ppt_x</p:attrName>
                                        </p:attrNameLst>
                                      </p:cBhvr>
                                      <p:tavLst>
                                        <p:tav tm="0">
                                          <p:val>
                                            <p:strVal val="#ppt_x"/>
                                          </p:val>
                                        </p:tav>
                                        <p:tav tm="100000">
                                          <p:val>
                                            <p:strVal val="#ppt_x"/>
                                          </p:val>
                                        </p:tav>
                                      </p:tavLst>
                                    </p:anim>
                                    <p:anim calcmode="lin" valueType="num">
                                      <p:cBhvr additive="base">
                                        <p:cTn id="8" dur="500" fill="hold"/>
                                        <p:tgtEl>
                                          <p:spTgt spid="4515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9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7"/>
          <p:cNvSpPr>
            <a:spLocks noChangeArrowheads="1"/>
          </p:cNvSpPr>
          <p:nvPr/>
        </p:nvSpPr>
        <p:spPr bwMode="auto">
          <a:xfrm>
            <a:off x="15081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5" name="Line 1038"/>
          <p:cNvSpPr>
            <a:spLocks noChangeShapeType="1"/>
          </p:cNvSpPr>
          <p:nvPr/>
        </p:nvSpPr>
        <p:spPr bwMode="auto">
          <a:xfrm>
            <a:off x="15081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6" name="Line 1039"/>
          <p:cNvSpPr>
            <a:spLocks noChangeShapeType="1"/>
          </p:cNvSpPr>
          <p:nvPr/>
        </p:nvSpPr>
        <p:spPr bwMode="auto">
          <a:xfrm>
            <a:off x="15081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7" name="Line 1040"/>
          <p:cNvSpPr>
            <a:spLocks noChangeShapeType="1"/>
          </p:cNvSpPr>
          <p:nvPr/>
        </p:nvSpPr>
        <p:spPr bwMode="auto">
          <a:xfrm>
            <a:off x="15081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8" name="Line 1041"/>
          <p:cNvSpPr>
            <a:spLocks noChangeShapeType="1"/>
          </p:cNvSpPr>
          <p:nvPr/>
        </p:nvSpPr>
        <p:spPr bwMode="auto">
          <a:xfrm>
            <a:off x="15081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9" name="Line 1042"/>
          <p:cNvSpPr>
            <a:spLocks noChangeShapeType="1"/>
          </p:cNvSpPr>
          <p:nvPr/>
        </p:nvSpPr>
        <p:spPr bwMode="auto">
          <a:xfrm>
            <a:off x="15081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0" name="Line 1043"/>
          <p:cNvSpPr>
            <a:spLocks noChangeShapeType="1"/>
          </p:cNvSpPr>
          <p:nvPr/>
        </p:nvSpPr>
        <p:spPr bwMode="auto">
          <a:xfrm>
            <a:off x="15081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1" name="Line 1044"/>
          <p:cNvSpPr>
            <a:spLocks noChangeShapeType="1"/>
          </p:cNvSpPr>
          <p:nvPr/>
        </p:nvSpPr>
        <p:spPr bwMode="auto">
          <a:xfrm>
            <a:off x="15081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2" name="Line 1045"/>
          <p:cNvSpPr>
            <a:spLocks noChangeShapeType="1"/>
          </p:cNvSpPr>
          <p:nvPr/>
        </p:nvSpPr>
        <p:spPr bwMode="auto">
          <a:xfrm>
            <a:off x="15081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3" name="Text Box 1046"/>
          <p:cNvSpPr txBox="1">
            <a:spLocks noChangeArrowheads="1"/>
          </p:cNvSpPr>
          <p:nvPr/>
        </p:nvSpPr>
        <p:spPr bwMode="auto">
          <a:xfrm>
            <a:off x="1508125" y="1057275"/>
            <a:ext cx="7620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4524" name="Text Box 1047"/>
          <p:cNvSpPr txBox="1">
            <a:spLocks noChangeArrowheads="1"/>
          </p:cNvSpPr>
          <p:nvPr/>
        </p:nvSpPr>
        <p:spPr bwMode="auto">
          <a:xfrm>
            <a:off x="974725" y="1057275"/>
            <a:ext cx="762000"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8</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9</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5" name="Rectangle 1048"/>
          <p:cNvSpPr>
            <a:spLocks noChangeArrowheads="1"/>
          </p:cNvSpPr>
          <p:nvPr/>
        </p:nvSpPr>
        <p:spPr bwMode="auto">
          <a:xfrm>
            <a:off x="75279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6" name="Line 1049"/>
          <p:cNvSpPr>
            <a:spLocks noChangeShapeType="1"/>
          </p:cNvSpPr>
          <p:nvPr/>
        </p:nvSpPr>
        <p:spPr bwMode="auto">
          <a:xfrm>
            <a:off x="75279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7" name="Line 1050"/>
          <p:cNvSpPr>
            <a:spLocks noChangeShapeType="1"/>
          </p:cNvSpPr>
          <p:nvPr/>
        </p:nvSpPr>
        <p:spPr bwMode="auto">
          <a:xfrm>
            <a:off x="75279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8" name="Line 1051"/>
          <p:cNvSpPr>
            <a:spLocks noChangeShapeType="1"/>
          </p:cNvSpPr>
          <p:nvPr/>
        </p:nvSpPr>
        <p:spPr bwMode="auto">
          <a:xfrm>
            <a:off x="75279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9" name="Line 1052"/>
          <p:cNvSpPr>
            <a:spLocks noChangeShapeType="1"/>
          </p:cNvSpPr>
          <p:nvPr/>
        </p:nvSpPr>
        <p:spPr bwMode="auto">
          <a:xfrm>
            <a:off x="75279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0" name="Line 1053"/>
          <p:cNvSpPr>
            <a:spLocks noChangeShapeType="1"/>
          </p:cNvSpPr>
          <p:nvPr/>
        </p:nvSpPr>
        <p:spPr bwMode="auto">
          <a:xfrm>
            <a:off x="75279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1" name="Line 1054"/>
          <p:cNvSpPr>
            <a:spLocks noChangeShapeType="1"/>
          </p:cNvSpPr>
          <p:nvPr/>
        </p:nvSpPr>
        <p:spPr bwMode="auto">
          <a:xfrm>
            <a:off x="75279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2" name="Line 1055"/>
          <p:cNvSpPr>
            <a:spLocks noChangeShapeType="1"/>
          </p:cNvSpPr>
          <p:nvPr/>
        </p:nvSpPr>
        <p:spPr bwMode="auto">
          <a:xfrm>
            <a:off x="75279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3" name="Line 1056"/>
          <p:cNvSpPr>
            <a:spLocks noChangeShapeType="1"/>
          </p:cNvSpPr>
          <p:nvPr/>
        </p:nvSpPr>
        <p:spPr bwMode="auto">
          <a:xfrm>
            <a:off x="75279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4" name="Text Box 1057"/>
          <p:cNvSpPr txBox="1">
            <a:spLocks noChangeArrowheads="1"/>
          </p:cNvSpPr>
          <p:nvPr/>
        </p:nvSpPr>
        <p:spPr bwMode="auto">
          <a:xfrm>
            <a:off x="7527925" y="1057275"/>
            <a:ext cx="762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99</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5" name="AutoShape 1058"/>
          <p:cNvSpPr>
            <a:spLocks noChangeArrowheads="1"/>
          </p:cNvSpPr>
          <p:nvPr/>
        </p:nvSpPr>
        <p:spPr bwMode="auto">
          <a:xfrm>
            <a:off x="288925" y="2352675"/>
            <a:ext cx="1219200" cy="136525"/>
          </a:xfrm>
          <a:prstGeom prst="rightArrow">
            <a:avLst>
              <a:gd name="adj1" fmla="val 50000"/>
              <a:gd name="adj2" fmla="val 150000"/>
            </a:avLst>
          </a:prstGeom>
          <a:solidFill>
            <a:schemeClr val="accent1"/>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6" name="Text Box 1059"/>
          <p:cNvSpPr txBox="1">
            <a:spLocks noChangeArrowheads="1"/>
          </p:cNvSpPr>
          <p:nvPr/>
        </p:nvSpPr>
        <p:spPr bwMode="auto">
          <a:xfrm>
            <a:off x="174625" y="1922463"/>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folHlink"/>
                </a:solidFill>
                <a:effectLst/>
                <a:uLnTx/>
                <a:uFillTx/>
                <a:latin typeface="+mn-lt"/>
                <a:ea typeface="+mn-ea"/>
                <a:cs typeface="+mn-ea"/>
                <a:sym typeface="+mn-lt"/>
              </a:rPr>
              <a:t>99</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a:t>
            </a:r>
          </a:p>
        </p:txBody>
      </p:sp>
      <p:sp>
        <p:nvSpPr>
          <p:cNvPr id="64537" name="Rectangle 1060"/>
          <p:cNvSpPr>
            <a:spLocks noChangeArrowheads="1"/>
          </p:cNvSpPr>
          <p:nvPr/>
        </p:nvSpPr>
        <p:spPr bwMode="auto">
          <a:xfrm>
            <a:off x="29559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8" name="Line 1061"/>
          <p:cNvSpPr>
            <a:spLocks noChangeShapeType="1"/>
          </p:cNvSpPr>
          <p:nvPr/>
        </p:nvSpPr>
        <p:spPr bwMode="auto">
          <a:xfrm>
            <a:off x="29559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9" name="Line 1062"/>
          <p:cNvSpPr>
            <a:spLocks noChangeShapeType="1"/>
          </p:cNvSpPr>
          <p:nvPr/>
        </p:nvSpPr>
        <p:spPr bwMode="auto">
          <a:xfrm>
            <a:off x="29559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0" name="Line 1063"/>
          <p:cNvSpPr>
            <a:spLocks noChangeShapeType="1"/>
          </p:cNvSpPr>
          <p:nvPr/>
        </p:nvSpPr>
        <p:spPr bwMode="auto">
          <a:xfrm>
            <a:off x="29559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1" name="Line 1064"/>
          <p:cNvSpPr>
            <a:spLocks noChangeShapeType="1"/>
          </p:cNvSpPr>
          <p:nvPr/>
        </p:nvSpPr>
        <p:spPr bwMode="auto">
          <a:xfrm>
            <a:off x="29559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2" name="Line 1065"/>
          <p:cNvSpPr>
            <a:spLocks noChangeShapeType="1"/>
          </p:cNvSpPr>
          <p:nvPr/>
        </p:nvSpPr>
        <p:spPr bwMode="auto">
          <a:xfrm>
            <a:off x="29559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3" name="Line 1066"/>
          <p:cNvSpPr>
            <a:spLocks noChangeShapeType="1"/>
          </p:cNvSpPr>
          <p:nvPr/>
        </p:nvSpPr>
        <p:spPr bwMode="auto">
          <a:xfrm>
            <a:off x="29559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4" name="Line 1067"/>
          <p:cNvSpPr>
            <a:spLocks noChangeShapeType="1"/>
          </p:cNvSpPr>
          <p:nvPr/>
        </p:nvSpPr>
        <p:spPr bwMode="auto">
          <a:xfrm>
            <a:off x="29559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5" name="Line 1068"/>
          <p:cNvSpPr>
            <a:spLocks noChangeShapeType="1"/>
          </p:cNvSpPr>
          <p:nvPr/>
        </p:nvSpPr>
        <p:spPr bwMode="auto">
          <a:xfrm>
            <a:off x="29559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6" name="Text Box 1069"/>
          <p:cNvSpPr txBox="1">
            <a:spLocks noChangeArrowheads="1"/>
          </p:cNvSpPr>
          <p:nvPr/>
        </p:nvSpPr>
        <p:spPr bwMode="auto">
          <a:xfrm>
            <a:off x="2955925" y="1057275"/>
            <a:ext cx="762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7" name="AutoShape 1070"/>
          <p:cNvSpPr>
            <a:spLocks noChangeArrowheads="1"/>
          </p:cNvSpPr>
          <p:nvPr/>
        </p:nvSpPr>
        <p:spPr bwMode="auto">
          <a:xfrm>
            <a:off x="3336925" y="3495675"/>
            <a:ext cx="76200" cy="457200"/>
          </a:xfrm>
          <a:prstGeom prst="downArrow">
            <a:avLst>
              <a:gd name="adj1" fmla="val 50000"/>
              <a:gd name="adj2" fmla="val 150000"/>
            </a:avLst>
          </a:prstGeom>
          <a:solidFill>
            <a:schemeClr val="accent1"/>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8" name="Rectangle 1071"/>
          <p:cNvSpPr>
            <a:spLocks noChangeArrowheads="1"/>
          </p:cNvSpPr>
          <p:nvPr/>
        </p:nvSpPr>
        <p:spPr bwMode="auto">
          <a:xfrm>
            <a:off x="44037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9" name="Line 1072"/>
          <p:cNvSpPr>
            <a:spLocks noChangeShapeType="1"/>
          </p:cNvSpPr>
          <p:nvPr/>
        </p:nvSpPr>
        <p:spPr bwMode="auto">
          <a:xfrm>
            <a:off x="44037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0" name="Line 1073"/>
          <p:cNvSpPr>
            <a:spLocks noChangeShapeType="1"/>
          </p:cNvSpPr>
          <p:nvPr/>
        </p:nvSpPr>
        <p:spPr bwMode="auto">
          <a:xfrm>
            <a:off x="44037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1" name="Line 1074"/>
          <p:cNvSpPr>
            <a:spLocks noChangeShapeType="1"/>
          </p:cNvSpPr>
          <p:nvPr/>
        </p:nvSpPr>
        <p:spPr bwMode="auto">
          <a:xfrm>
            <a:off x="44037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2" name="Line 1075"/>
          <p:cNvSpPr>
            <a:spLocks noChangeShapeType="1"/>
          </p:cNvSpPr>
          <p:nvPr/>
        </p:nvSpPr>
        <p:spPr bwMode="auto">
          <a:xfrm>
            <a:off x="44037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3" name="Line 1076"/>
          <p:cNvSpPr>
            <a:spLocks noChangeShapeType="1"/>
          </p:cNvSpPr>
          <p:nvPr/>
        </p:nvSpPr>
        <p:spPr bwMode="auto">
          <a:xfrm>
            <a:off x="44037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4" name="Line 1077"/>
          <p:cNvSpPr>
            <a:spLocks noChangeShapeType="1"/>
          </p:cNvSpPr>
          <p:nvPr/>
        </p:nvSpPr>
        <p:spPr bwMode="auto">
          <a:xfrm>
            <a:off x="44037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5" name="Line 1078"/>
          <p:cNvSpPr>
            <a:spLocks noChangeShapeType="1"/>
          </p:cNvSpPr>
          <p:nvPr/>
        </p:nvSpPr>
        <p:spPr bwMode="auto">
          <a:xfrm>
            <a:off x="44037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6" name="Line 1079"/>
          <p:cNvSpPr>
            <a:spLocks noChangeShapeType="1"/>
          </p:cNvSpPr>
          <p:nvPr/>
        </p:nvSpPr>
        <p:spPr bwMode="auto">
          <a:xfrm>
            <a:off x="44037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7" name="Text Box 1080"/>
          <p:cNvSpPr txBox="1">
            <a:spLocks noChangeArrowheads="1"/>
          </p:cNvSpPr>
          <p:nvPr/>
        </p:nvSpPr>
        <p:spPr bwMode="auto">
          <a:xfrm>
            <a:off x="4403725" y="1057275"/>
            <a:ext cx="762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8" name="AutoShape 1081"/>
          <p:cNvSpPr>
            <a:spLocks noChangeArrowheads="1"/>
          </p:cNvSpPr>
          <p:nvPr/>
        </p:nvSpPr>
        <p:spPr bwMode="auto">
          <a:xfrm>
            <a:off x="4784725" y="3038475"/>
            <a:ext cx="76200" cy="457200"/>
          </a:xfrm>
          <a:prstGeom prst="downArrow">
            <a:avLst>
              <a:gd name="adj1" fmla="val 50000"/>
              <a:gd name="adj2" fmla="val 150000"/>
            </a:avLst>
          </a:prstGeom>
          <a:solidFill>
            <a:schemeClr val="accent1"/>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9" name="Rectangle 1082"/>
          <p:cNvSpPr>
            <a:spLocks noChangeArrowheads="1"/>
          </p:cNvSpPr>
          <p:nvPr/>
        </p:nvSpPr>
        <p:spPr bwMode="auto">
          <a:xfrm>
            <a:off x="59277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0" name="Line 1083"/>
          <p:cNvSpPr>
            <a:spLocks noChangeShapeType="1"/>
          </p:cNvSpPr>
          <p:nvPr/>
        </p:nvSpPr>
        <p:spPr bwMode="auto">
          <a:xfrm>
            <a:off x="59277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1" name="Line 1084"/>
          <p:cNvSpPr>
            <a:spLocks noChangeShapeType="1"/>
          </p:cNvSpPr>
          <p:nvPr/>
        </p:nvSpPr>
        <p:spPr bwMode="auto">
          <a:xfrm>
            <a:off x="59277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2" name="Line 1085"/>
          <p:cNvSpPr>
            <a:spLocks noChangeShapeType="1"/>
          </p:cNvSpPr>
          <p:nvPr/>
        </p:nvSpPr>
        <p:spPr bwMode="auto">
          <a:xfrm>
            <a:off x="59277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3" name="Line 1086"/>
          <p:cNvSpPr>
            <a:spLocks noChangeShapeType="1"/>
          </p:cNvSpPr>
          <p:nvPr/>
        </p:nvSpPr>
        <p:spPr bwMode="auto">
          <a:xfrm>
            <a:off x="59277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4" name="Line 1087"/>
          <p:cNvSpPr>
            <a:spLocks noChangeShapeType="1"/>
          </p:cNvSpPr>
          <p:nvPr/>
        </p:nvSpPr>
        <p:spPr bwMode="auto">
          <a:xfrm>
            <a:off x="59277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5" name="Line 1088"/>
          <p:cNvSpPr>
            <a:spLocks noChangeShapeType="1"/>
          </p:cNvSpPr>
          <p:nvPr/>
        </p:nvSpPr>
        <p:spPr bwMode="auto">
          <a:xfrm>
            <a:off x="59277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6" name="Line 1089"/>
          <p:cNvSpPr>
            <a:spLocks noChangeShapeType="1"/>
          </p:cNvSpPr>
          <p:nvPr/>
        </p:nvSpPr>
        <p:spPr bwMode="auto">
          <a:xfrm>
            <a:off x="59277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7" name="Line 1090"/>
          <p:cNvSpPr>
            <a:spLocks noChangeShapeType="1"/>
          </p:cNvSpPr>
          <p:nvPr/>
        </p:nvSpPr>
        <p:spPr bwMode="auto">
          <a:xfrm>
            <a:off x="59277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8" name="Text Box 1091"/>
          <p:cNvSpPr txBox="1">
            <a:spLocks noChangeArrowheads="1"/>
          </p:cNvSpPr>
          <p:nvPr/>
        </p:nvSpPr>
        <p:spPr bwMode="auto">
          <a:xfrm>
            <a:off x="5927725" y="1057275"/>
            <a:ext cx="762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9" name="AutoShape 1092"/>
          <p:cNvSpPr>
            <a:spLocks noChangeArrowheads="1"/>
          </p:cNvSpPr>
          <p:nvPr/>
        </p:nvSpPr>
        <p:spPr bwMode="auto">
          <a:xfrm>
            <a:off x="6308725" y="2505075"/>
            <a:ext cx="76200" cy="457200"/>
          </a:xfrm>
          <a:prstGeom prst="downArrow">
            <a:avLst>
              <a:gd name="adj1" fmla="val 50000"/>
              <a:gd name="adj2" fmla="val 150000"/>
            </a:avLst>
          </a:prstGeom>
          <a:solidFill>
            <a:schemeClr val="accent1"/>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5333" name="Rectangle 1093"/>
          <p:cNvSpPr>
            <a:spLocks noChangeArrowheads="1"/>
          </p:cNvSpPr>
          <p:nvPr/>
        </p:nvSpPr>
        <p:spPr bwMode="auto">
          <a:xfrm>
            <a:off x="0" y="5187949"/>
            <a:ext cx="9158288" cy="1738938"/>
          </a:xfrm>
          <a:prstGeom prst="rect">
            <a:avLst/>
          </a:prstGeom>
          <a:solidFill>
            <a:srgbClr val="D6D6F5"/>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0" fontAlgn="base" latinLnBrk="0" hangingPunct="0">
              <a:lnSpc>
                <a:spcPct val="100000"/>
              </a:lnSpc>
              <a:spcBef>
                <a:spcPts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0+1+2+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p>
          <a:p>
            <a:pPr marL="457200" marR="0" lvl="1"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插第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个结点之前，移动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6</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4+1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次</a:t>
            </a:r>
          </a:p>
          <a:p>
            <a:pPr marL="457200" marR="0" lvl="1"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插在第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个结点之前，移动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n-i+1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次</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endParaRPr kumimoji="0" lang="zh-CN" altLang="en-US" sz="1000" b="0" i="0" u="none" strike="noStrike" kern="1200" cap="none" spc="0" normalizeH="0" baseline="0" noProof="0" dirty="0">
              <a:ln>
                <a:noFill/>
              </a:ln>
              <a:solidFill>
                <a:schemeClr val="folHlink"/>
              </a:solidFill>
              <a:effectLst/>
              <a:uLnTx/>
              <a:uFillTx/>
              <a:latin typeface="+mn-lt"/>
              <a:ea typeface="+mn-ea"/>
              <a:cs typeface="+mn-ea"/>
              <a:sym typeface="+mn-lt"/>
            </a:endParaRPr>
          </a:p>
        </p:txBody>
      </p:sp>
      <p:sp>
        <p:nvSpPr>
          <p:cNvPr id="395334" name="Rectangle 1094"/>
          <p:cNvSpPr>
            <a:spLocks noChangeArrowheads="1"/>
          </p:cNvSpPr>
          <p:nvPr/>
        </p:nvSpPr>
        <p:spPr bwMode="auto">
          <a:xfrm>
            <a:off x="755650" y="223838"/>
            <a:ext cx="69215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插入（插在第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个结点之前）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95333">
                                            <p:bg/>
                                          </p:spTgt>
                                        </p:tgtEl>
                                        <p:attrNameLst>
                                          <p:attrName>style.visibility</p:attrName>
                                        </p:attrNameLst>
                                      </p:cBhvr>
                                      <p:to>
                                        <p:strVal val="visible"/>
                                      </p:to>
                                    </p:set>
                                    <p:animEffect transition="in" filter="diamond(in)">
                                      <p:cBhvr>
                                        <p:cTn id="7" dur="2000"/>
                                        <p:tgtEl>
                                          <p:spTgt spid="395333">
                                            <p:bg/>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95333">
                                            <p:txEl>
                                              <p:pRg st="1" end="1"/>
                                            </p:txEl>
                                          </p:spTgt>
                                        </p:tgtEl>
                                        <p:attrNameLst>
                                          <p:attrName>style.visibility</p:attrName>
                                        </p:attrNameLst>
                                      </p:cBhvr>
                                      <p:to>
                                        <p:strVal val="visible"/>
                                      </p:to>
                                    </p:set>
                                    <p:animEffect transition="in" filter="diamond(in)">
                                      <p:cBhvr>
                                        <p:cTn id="12" dur="2000"/>
                                        <p:tgtEl>
                                          <p:spTgt spid="3953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95333">
                                            <p:txEl>
                                              <p:pRg st="2" end="2"/>
                                            </p:txEl>
                                          </p:spTgt>
                                        </p:tgtEl>
                                        <p:attrNameLst>
                                          <p:attrName>style.visibility</p:attrName>
                                        </p:attrNameLst>
                                      </p:cBhvr>
                                      <p:to>
                                        <p:strVal val="visible"/>
                                      </p:to>
                                    </p:set>
                                    <p:animEffect transition="in" filter="diamond(in)">
                                      <p:cBhvr>
                                        <p:cTn id="17" dur="2000"/>
                                        <p:tgtEl>
                                          <p:spTgt spid="3953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95333">
                                            <p:txEl>
                                              <p:pRg st="3" end="3"/>
                                            </p:txEl>
                                          </p:spTgt>
                                        </p:tgtEl>
                                        <p:attrNameLst>
                                          <p:attrName>style.visibility</p:attrName>
                                        </p:attrNameLst>
                                      </p:cBhvr>
                                      <p:to>
                                        <p:strVal val="visible"/>
                                      </p:to>
                                    </p:set>
                                    <p:animEffect transition="in" filter="diamond(in)">
                                      <p:cBhvr>
                                        <p:cTn id="22" dur="2000"/>
                                        <p:tgtEl>
                                          <p:spTgt spid="3953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333" grpId="0" build="p" bldLvl="2"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3" name="Rectangle 5"/>
          <p:cNvSpPr>
            <a:spLocks noRot="1" noChangeArrowheads="1"/>
          </p:cNvSpPr>
          <p:nvPr/>
        </p:nvSpPr>
        <p:spPr bwMode="auto">
          <a:xfrm>
            <a:off x="4852988" y="1450975"/>
            <a:ext cx="40290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判断</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插入位置</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是否合法</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5539" name="Rectangle 12"/>
          <p:cNvSpPr>
            <a:spLocks noChangeArrowheads="1"/>
          </p:cNvSpPr>
          <p:nvPr/>
        </p:nvSpPr>
        <p:spPr bwMode="auto">
          <a:xfrm>
            <a:off x="611188" y="188913"/>
            <a:ext cx="7561263" cy="533400"/>
          </a:xfrm>
          <a:prstGeom prst="round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68612" name="组合 1"/>
          <p:cNvGrpSpPr/>
          <p:nvPr/>
        </p:nvGrpSpPr>
        <p:grpSpPr>
          <a:xfrm>
            <a:off x="2160588" y="1341438"/>
            <a:ext cx="4127500" cy="3935412"/>
            <a:chOff x="2160837" y="1533022"/>
            <a:chExt cx="4126962" cy="3935794"/>
          </a:xfrm>
        </p:grpSpPr>
        <p:sp>
          <p:nvSpPr>
            <p:cNvPr id="68617" name="Freeform 7"/>
            <p:cNvSpPr/>
            <p:nvPr/>
          </p:nvSpPr>
          <p:spPr>
            <a:xfrm>
              <a:off x="3532259" y="1533022"/>
              <a:ext cx="1384120" cy="1221599"/>
            </a:xfrm>
            <a:custGeom>
              <a:avLst/>
              <a:gdLst>
                <a:gd name="txL" fmla="*/ 0 w 2684"/>
                <a:gd name="txT" fmla="*/ 0 h 2365"/>
                <a:gd name="txR" fmla="*/ 2684 w 2684"/>
                <a:gd name="txB" fmla="*/ 2365 h 2365"/>
              </a:gdLst>
              <a:ahLst/>
              <a:cxnLst>
                <a:cxn ang="0">
                  <a:pos x="2147483646" y="2147483646"/>
                </a:cxn>
                <a:cxn ang="0">
                  <a:pos x="2147483646" y="0"/>
                </a:cxn>
                <a:cxn ang="0">
                  <a:pos x="0" y="2147483646"/>
                </a:cxn>
                <a:cxn ang="0">
                  <a:pos x="2147483646" y="2147483646"/>
                </a:cxn>
              </a:cxnLst>
              <a:rect l="txL" t="txT" r="txR" b="txB"/>
              <a:pathLst>
                <a:path w="2684" h="2365">
                  <a:moveTo>
                    <a:pt x="2684" y="2365"/>
                  </a:moveTo>
                  <a:lnTo>
                    <a:pt x="1342" y="0"/>
                  </a:lnTo>
                  <a:lnTo>
                    <a:pt x="0" y="2365"/>
                  </a:lnTo>
                  <a:lnTo>
                    <a:pt x="2684" y="2365"/>
                  </a:lnTo>
                  <a:close/>
                </a:path>
              </a:pathLst>
            </a:custGeom>
            <a:solidFill>
              <a:schemeClr val="accent1">
                <a:alpha val="100000"/>
              </a:schemeClr>
            </a:solidFill>
            <a:ln w="9525">
              <a:noFill/>
            </a:ln>
          </p:spPr>
          <p:txBody>
            <a:bodyPr/>
            <a:lstStyle/>
            <a:p>
              <a:endParaRPr lang="zh-CN" altLang="en-US"/>
            </a:p>
          </p:txBody>
        </p:sp>
        <p:sp>
          <p:nvSpPr>
            <p:cNvPr id="68618" name="Freeform 8"/>
            <p:cNvSpPr/>
            <p:nvPr/>
          </p:nvSpPr>
          <p:spPr>
            <a:xfrm>
              <a:off x="2160837" y="2754620"/>
              <a:ext cx="1371421" cy="1321106"/>
            </a:xfrm>
            <a:custGeom>
              <a:avLst/>
              <a:gdLst>
                <a:gd name="txL" fmla="*/ 0 w 2664"/>
                <a:gd name="txT" fmla="*/ 0 h 2553"/>
                <a:gd name="txR" fmla="*/ 2664 w 2664"/>
                <a:gd name="txB" fmla="*/ 2553 h 2553"/>
              </a:gdLst>
              <a:ahLst/>
              <a:cxnLst>
                <a:cxn ang="0">
                  <a:pos x="2147483646" y="0"/>
                </a:cxn>
                <a:cxn ang="0">
                  <a:pos x="0" y="2147483646"/>
                </a:cxn>
                <a:cxn ang="0">
                  <a:pos x="2147483646" y="2147483646"/>
                </a:cxn>
                <a:cxn ang="0">
                  <a:pos x="2147483646" y="0"/>
                </a:cxn>
              </a:cxnLst>
              <a:rect l="txL" t="txT" r="txR" b="txB"/>
              <a:pathLst>
                <a:path w="2664" h="2553">
                  <a:moveTo>
                    <a:pt x="2664" y="0"/>
                  </a:moveTo>
                  <a:lnTo>
                    <a:pt x="0" y="546"/>
                  </a:lnTo>
                  <a:lnTo>
                    <a:pt x="1835" y="2553"/>
                  </a:lnTo>
                  <a:lnTo>
                    <a:pt x="2664" y="0"/>
                  </a:lnTo>
                  <a:close/>
                </a:path>
              </a:pathLst>
            </a:custGeom>
            <a:solidFill>
              <a:schemeClr val="accent1">
                <a:alpha val="100000"/>
              </a:schemeClr>
            </a:solidFill>
            <a:ln w="9525">
              <a:noFill/>
            </a:ln>
          </p:spPr>
          <p:txBody>
            <a:bodyPr/>
            <a:lstStyle/>
            <a:p>
              <a:endParaRPr lang="zh-CN" altLang="en-US"/>
            </a:p>
          </p:txBody>
        </p:sp>
        <p:sp>
          <p:nvSpPr>
            <p:cNvPr id="68619" name="Freeform 9"/>
            <p:cNvSpPr/>
            <p:nvPr/>
          </p:nvSpPr>
          <p:spPr>
            <a:xfrm>
              <a:off x="2948135" y="4075727"/>
              <a:ext cx="1274067" cy="1393089"/>
            </a:xfrm>
            <a:custGeom>
              <a:avLst/>
              <a:gdLst>
                <a:gd name="txL" fmla="*/ 0 w 2476"/>
                <a:gd name="txT" fmla="*/ 0 h 2702"/>
                <a:gd name="txR" fmla="*/ 2476 w 2476"/>
                <a:gd name="txB" fmla="*/ 2702 h 2702"/>
              </a:gdLst>
              <a:ahLst/>
              <a:cxnLst>
                <a:cxn ang="0">
                  <a:pos x="2147483646" y="0"/>
                </a:cxn>
                <a:cxn ang="0">
                  <a:pos x="0" y="2147483646"/>
                </a:cxn>
                <a:cxn ang="0">
                  <a:pos x="2147483646" y="2147483646"/>
                </a:cxn>
                <a:cxn ang="0">
                  <a:pos x="2147483646" y="0"/>
                </a:cxn>
              </a:cxnLst>
              <a:rect l="txL" t="txT" r="txR" b="txB"/>
              <a:pathLst>
                <a:path w="2476" h="2702">
                  <a:moveTo>
                    <a:pt x="305" y="0"/>
                  </a:moveTo>
                  <a:lnTo>
                    <a:pt x="0" y="2702"/>
                  </a:lnTo>
                  <a:lnTo>
                    <a:pt x="2476" y="1578"/>
                  </a:lnTo>
                  <a:lnTo>
                    <a:pt x="305" y="0"/>
                  </a:lnTo>
                  <a:close/>
                </a:path>
              </a:pathLst>
            </a:custGeom>
            <a:solidFill>
              <a:schemeClr val="accent1">
                <a:alpha val="100000"/>
              </a:schemeClr>
            </a:solidFill>
            <a:ln w="9525">
              <a:noFill/>
            </a:ln>
          </p:spPr>
          <p:txBody>
            <a:bodyPr/>
            <a:lstStyle/>
            <a:p>
              <a:endParaRPr lang="zh-CN" altLang="en-US"/>
            </a:p>
          </p:txBody>
        </p:sp>
        <p:sp>
          <p:nvSpPr>
            <p:cNvPr id="68620" name="Freeform 10"/>
            <p:cNvSpPr/>
            <p:nvPr/>
          </p:nvSpPr>
          <p:spPr>
            <a:xfrm>
              <a:off x="4222202" y="4075727"/>
              <a:ext cx="1278300" cy="1393089"/>
            </a:xfrm>
            <a:custGeom>
              <a:avLst/>
              <a:gdLst>
                <a:gd name="txL" fmla="*/ 0 w 2476"/>
                <a:gd name="txT" fmla="*/ 0 h 2702"/>
                <a:gd name="txR" fmla="*/ 2476 w 2476"/>
                <a:gd name="txB" fmla="*/ 2702 h 2702"/>
              </a:gdLst>
              <a:ahLst/>
              <a:cxnLst>
                <a:cxn ang="0">
                  <a:pos x="0" y="2147483646"/>
                </a:cxn>
                <a:cxn ang="0">
                  <a:pos x="2147483646" y="2147483646"/>
                </a:cxn>
                <a:cxn ang="0">
                  <a:pos x="2147483646" y="0"/>
                </a:cxn>
                <a:cxn ang="0">
                  <a:pos x="0" y="2147483646"/>
                </a:cxn>
              </a:cxnLst>
              <a:rect l="txL" t="txT" r="txR" b="txB"/>
              <a:pathLst>
                <a:path w="2476" h="2702">
                  <a:moveTo>
                    <a:pt x="0" y="1578"/>
                  </a:moveTo>
                  <a:lnTo>
                    <a:pt x="2476" y="2702"/>
                  </a:lnTo>
                  <a:lnTo>
                    <a:pt x="2172" y="0"/>
                  </a:lnTo>
                  <a:lnTo>
                    <a:pt x="0" y="1578"/>
                  </a:lnTo>
                  <a:close/>
                </a:path>
              </a:pathLst>
            </a:custGeom>
            <a:solidFill>
              <a:schemeClr val="accent1">
                <a:alpha val="100000"/>
              </a:schemeClr>
            </a:solidFill>
            <a:ln w="9525">
              <a:noFill/>
            </a:ln>
          </p:spPr>
          <p:txBody>
            <a:bodyPr/>
            <a:lstStyle/>
            <a:p>
              <a:endParaRPr lang="zh-CN" altLang="en-US"/>
            </a:p>
          </p:txBody>
        </p:sp>
        <p:sp>
          <p:nvSpPr>
            <p:cNvPr id="68621" name="Freeform 11"/>
            <p:cNvSpPr/>
            <p:nvPr/>
          </p:nvSpPr>
          <p:spPr>
            <a:xfrm>
              <a:off x="4916378" y="2754620"/>
              <a:ext cx="1371421" cy="1321106"/>
            </a:xfrm>
            <a:custGeom>
              <a:avLst/>
              <a:gdLst>
                <a:gd name="txL" fmla="*/ 0 w 2664"/>
                <a:gd name="txT" fmla="*/ 0 h 2553"/>
                <a:gd name="txR" fmla="*/ 2664 w 2664"/>
                <a:gd name="txB" fmla="*/ 2553 h 2553"/>
              </a:gdLst>
              <a:ahLst/>
              <a:cxnLst>
                <a:cxn ang="0">
                  <a:pos x="2147483646" y="2147483646"/>
                </a:cxn>
                <a:cxn ang="0">
                  <a:pos x="2147483646" y="2147483646"/>
                </a:cxn>
                <a:cxn ang="0">
                  <a:pos x="0" y="0"/>
                </a:cxn>
                <a:cxn ang="0">
                  <a:pos x="2147483646" y="2147483646"/>
                </a:cxn>
              </a:cxnLst>
              <a:rect l="txL" t="txT" r="txR" b="txB"/>
              <a:pathLst>
                <a:path w="2664" h="2553">
                  <a:moveTo>
                    <a:pt x="830" y="2553"/>
                  </a:moveTo>
                  <a:lnTo>
                    <a:pt x="2664" y="546"/>
                  </a:lnTo>
                  <a:lnTo>
                    <a:pt x="0" y="0"/>
                  </a:lnTo>
                  <a:lnTo>
                    <a:pt x="830" y="2553"/>
                  </a:lnTo>
                  <a:close/>
                </a:path>
              </a:pathLst>
            </a:custGeom>
            <a:solidFill>
              <a:schemeClr val="accent1">
                <a:alpha val="100000"/>
              </a:schemeClr>
            </a:solidFill>
            <a:ln w="9525">
              <a:noFill/>
            </a:ln>
          </p:spPr>
          <p:txBody>
            <a:bodyPr/>
            <a:lstStyle/>
            <a:p>
              <a:endParaRPr lang="zh-CN" altLang="en-US"/>
            </a:p>
          </p:txBody>
        </p:sp>
        <p:sp>
          <p:nvSpPr>
            <p:cNvPr id="68622" name="矩形 22"/>
            <p:cNvSpPr/>
            <p:nvPr/>
          </p:nvSpPr>
          <p:spPr>
            <a:xfrm>
              <a:off x="3983051" y="2091951"/>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700" dirty="0">
                  <a:solidFill>
                    <a:schemeClr val="bg1"/>
                  </a:solidFill>
                  <a:latin typeface="Swiss911 UCm BT"/>
                  <a:ea typeface="仿宋_GB2312" pitchFamily="49" charset="-122"/>
                  <a:sym typeface="Swiss911 UCm BT"/>
                </a:rPr>
                <a:t>01</a:t>
              </a:r>
              <a:endParaRPr lang="zh-CN" altLang="en-US" sz="3700" dirty="0">
                <a:solidFill>
                  <a:schemeClr val="bg1"/>
                </a:solidFill>
                <a:latin typeface="Swiss911 UCm BT"/>
                <a:ea typeface="仿宋_GB2312" pitchFamily="49" charset="-122"/>
                <a:sym typeface="Swiss911 UCm BT"/>
              </a:endParaRPr>
            </a:p>
          </p:txBody>
        </p:sp>
        <p:sp>
          <p:nvSpPr>
            <p:cNvPr id="68623" name="矩形 23"/>
            <p:cNvSpPr/>
            <p:nvPr/>
          </p:nvSpPr>
          <p:spPr>
            <a:xfrm>
              <a:off x="5263466" y="3004445"/>
              <a:ext cx="476189"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700" dirty="0">
                  <a:solidFill>
                    <a:schemeClr val="bg1"/>
                  </a:solidFill>
                  <a:latin typeface="Swiss911 UCm BT"/>
                  <a:ea typeface="仿宋_GB2312" pitchFamily="49" charset="-122"/>
                  <a:sym typeface="Swiss911 UCm BT"/>
                </a:rPr>
                <a:t>02</a:t>
              </a:r>
              <a:endParaRPr lang="zh-CN" altLang="en-US" sz="3700" dirty="0">
                <a:solidFill>
                  <a:schemeClr val="bg1"/>
                </a:solidFill>
                <a:latin typeface="Swiss911 UCm BT"/>
                <a:ea typeface="仿宋_GB2312" pitchFamily="49" charset="-122"/>
                <a:sym typeface="Swiss911 UCm BT"/>
              </a:endParaRPr>
            </a:p>
          </p:txBody>
        </p:sp>
        <p:sp>
          <p:nvSpPr>
            <p:cNvPr id="68624" name="矩形 24"/>
            <p:cNvSpPr/>
            <p:nvPr/>
          </p:nvSpPr>
          <p:spPr>
            <a:xfrm>
              <a:off x="4785161" y="4524563"/>
              <a:ext cx="476189"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700" dirty="0">
                  <a:solidFill>
                    <a:schemeClr val="bg1"/>
                  </a:solidFill>
                  <a:latin typeface="Swiss911 UCm BT"/>
                  <a:ea typeface="仿宋_GB2312" pitchFamily="49" charset="-122"/>
                  <a:sym typeface="Swiss911 UCm BT"/>
                </a:rPr>
                <a:t>03</a:t>
              </a:r>
              <a:endParaRPr lang="zh-CN" altLang="en-US" sz="3700" dirty="0">
                <a:solidFill>
                  <a:schemeClr val="bg1"/>
                </a:solidFill>
                <a:latin typeface="Swiss911 UCm BT"/>
                <a:ea typeface="仿宋_GB2312" pitchFamily="49" charset="-122"/>
                <a:sym typeface="Swiss911 UCm BT"/>
              </a:endParaRPr>
            </a:p>
          </p:txBody>
        </p:sp>
        <p:sp>
          <p:nvSpPr>
            <p:cNvPr id="68625" name="矩形 25"/>
            <p:cNvSpPr/>
            <p:nvPr/>
          </p:nvSpPr>
          <p:spPr>
            <a:xfrm>
              <a:off x="3106865" y="4543619"/>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04</a:t>
              </a:r>
              <a:endParaRPr lang="zh-CN" altLang="en-US" sz="3600" dirty="0">
                <a:solidFill>
                  <a:schemeClr val="bg1"/>
                </a:solidFill>
                <a:latin typeface="Swiss911 UCm BT"/>
                <a:ea typeface="仿宋_GB2312" pitchFamily="49" charset="-122"/>
                <a:sym typeface="Swiss911 UCm BT"/>
              </a:endParaRPr>
            </a:p>
          </p:txBody>
        </p:sp>
        <p:sp>
          <p:nvSpPr>
            <p:cNvPr id="68626" name="矩形 26"/>
            <p:cNvSpPr/>
            <p:nvPr/>
          </p:nvSpPr>
          <p:spPr>
            <a:xfrm>
              <a:off x="2708983" y="3017148"/>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05</a:t>
              </a:r>
              <a:endParaRPr lang="zh-CN" altLang="en-US" sz="3600" dirty="0">
                <a:solidFill>
                  <a:schemeClr val="bg1"/>
                </a:solidFill>
                <a:latin typeface="Swiss911 UCm BT"/>
                <a:ea typeface="仿宋_GB2312" pitchFamily="49" charset="-122"/>
                <a:sym typeface="Swiss911 UCm BT"/>
              </a:endParaRPr>
            </a:p>
          </p:txBody>
        </p:sp>
      </p:grpSp>
      <p:sp>
        <p:nvSpPr>
          <p:cNvPr id="30" name="Rectangle 5"/>
          <p:cNvSpPr>
            <a:spLocks noRot="1" noChangeArrowheads="1"/>
          </p:cNvSpPr>
          <p:nvPr/>
        </p:nvSpPr>
        <p:spPr bwMode="auto">
          <a:xfrm>
            <a:off x="5800725" y="3360738"/>
            <a:ext cx="3316288"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判断顺序表的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存储空间是否已满</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31" name="Rectangle 5"/>
          <p:cNvSpPr>
            <a:spLocks noRot="1" noChangeArrowheads="1"/>
          </p:cNvSpPr>
          <p:nvPr/>
        </p:nvSpPr>
        <p:spPr bwMode="auto">
          <a:xfrm>
            <a:off x="4087813" y="5327650"/>
            <a:ext cx="4725988"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至第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位的元素依次</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向后移动一个位置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，空出第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个位置。</a:t>
            </a:r>
          </a:p>
        </p:txBody>
      </p:sp>
      <p:sp>
        <p:nvSpPr>
          <p:cNvPr id="32" name="Rectangle 5"/>
          <p:cNvSpPr>
            <a:spLocks noRot="1" noChangeArrowheads="1"/>
          </p:cNvSpPr>
          <p:nvPr/>
        </p:nvSpPr>
        <p:spPr bwMode="auto">
          <a:xfrm>
            <a:off x="190500" y="4373563"/>
            <a:ext cx="304482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将要插入的新元素</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放入第</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个位置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3" name="Rectangle 5"/>
          <p:cNvSpPr>
            <a:spLocks noRot="1" noChangeArrowheads="1"/>
          </p:cNvSpPr>
          <p:nvPr/>
        </p:nvSpPr>
        <p:spPr bwMode="auto">
          <a:xfrm>
            <a:off x="257175" y="2057400"/>
            <a:ext cx="3275013"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表长加</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，插入成功返回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OK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74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3" grpId="0" build="p"/>
      <p:bldP spid="30" grpId="0" build="p"/>
      <p:bldP spid="31" grpId="0" build="p"/>
      <p:bldP spid="32" grpId="0" build="p"/>
      <p:bldP spid="3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auto">
          <a:xfrm>
            <a:off x="330200" y="1700213"/>
            <a:ext cx="8586788" cy="4994275"/>
          </a:xfrm>
          <a:prstGeom prst="roundRect">
            <a:avLst>
              <a:gd name="adj" fmla="val 2011"/>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69635" name="圆角矩形 1"/>
          <p:cNvSpPr/>
          <p:nvPr/>
        </p:nvSpPr>
        <p:spPr>
          <a:xfrm>
            <a:off x="317500" y="1050925"/>
            <a:ext cx="8599488" cy="552450"/>
          </a:xfrm>
          <a:prstGeom prst="roundRect">
            <a:avLst>
              <a:gd name="adj" fmla="val 16667"/>
            </a:avLst>
          </a:prstGeom>
          <a:solidFill>
            <a:srgbClr val="9476B6"/>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6562" name="Rectangle 4"/>
          <p:cNvSpPr>
            <a:spLocks noChangeArrowheads="1"/>
          </p:cNvSpPr>
          <p:nvPr/>
        </p:nvSpPr>
        <p:spPr bwMode="auto">
          <a:xfrm>
            <a:off x="330200" y="1628775"/>
            <a:ext cx="8586788" cy="5040313"/>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ListInsert_Sq</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e)</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if(</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&lt;1 ||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&gt;L.length+1) return ERROR;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值不合法</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if(</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==MAXSIZE) return ERROR;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当前存储空间已满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for(j=L.length-1;j&gt;=i-1;j--)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L.elem</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[j+1]=</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L.elem</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[j];    //</a:t>
            </a: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插入位置及之后的元素后移</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L.elem</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[i-1]=e;                     //</a:t>
            </a: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将新元素</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e</a:t>
            </a: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放入第</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个位置</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rgbClr val="FF0000"/>
                </a:solidFill>
                <a:effectLst/>
                <a:uLnTx/>
                <a:uFillTx/>
                <a:latin typeface="+mn-lt"/>
                <a:ea typeface="+mn-ea"/>
                <a:cs typeface="+mn-ea"/>
                <a:sym typeface="+mn-lt"/>
              </a:rPr>
              <a:t>L.length</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表长增</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1</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6563" name="Rectangle 5"/>
          <p:cNvSpPr>
            <a:spLocks noChangeArrowheads="1"/>
          </p:cNvSpPr>
          <p:nvPr/>
        </p:nvSpPr>
        <p:spPr bwMode="auto">
          <a:xfrm>
            <a:off x="684213" y="166688"/>
            <a:ext cx="37750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4" name="Rectangle 4"/>
          <p:cNvSpPr>
            <a:spLocks noChangeArrowheads="1"/>
          </p:cNvSpPr>
          <p:nvPr/>
        </p:nvSpPr>
        <p:spPr bwMode="auto">
          <a:xfrm>
            <a:off x="317500" y="1020763"/>
            <a:ext cx="8142288" cy="576263"/>
          </a:xfrm>
          <a:prstGeom prst="rect">
            <a:avLst/>
          </a:prstGeom>
          <a:no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 在线性表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中第</a:t>
            </a:r>
            <a:r>
              <a:rPr kumimoji="0" lang="en-US" altLang="zh-CN" sz="24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个数据元素之前插入数据元素</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0" y="1817688"/>
            <a:ext cx="9144000" cy="25225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248000" rIns="252000" anchor="ctr"/>
          <a:lstStyle/>
          <a:p>
            <a:pPr marL="0" marR="0" lvl="0" indent="0" algn="just" defTabSz="914400" rtl="0" eaLnBrk="1" fontAlgn="base" latinLnBrk="0" hangingPunct="1">
              <a:lnSpc>
                <a:spcPct val="130000"/>
              </a:lnSpc>
              <a:spcBef>
                <a:spcPts val="600"/>
              </a:spcBef>
              <a:spcAft>
                <a:spcPts val="600"/>
              </a:spcAft>
              <a:buClrTx/>
              <a:buSzTx/>
              <a:buFontTx/>
              <a:buNone/>
              <a:defRPr/>
            </a:pPr>
            <a:endParaRPr kumimoji="0" lang="zh-CN" altLang="en-US" sz="28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53636" name="Object 4"/>
          <p:cNvGraphicFramePr/>
          <p:nvPr/>
        </p:nvGraphicFramePr>
        <p:xfrm>
          <a:off x="477838" y="4370388"/>
          <a:ext cx="8058150" cy="2133600"/>
        </p:xfrm>
        <a:graphic>
          <a:graphicData uri="http://schemas.openxmlformats.org/presentationml/2006/ole">
            <mc:AlternateContent xmlns:mc="http://schemas.openxmlformats.org/markup-compatibility/2006">
              <mc:Choice xmlns:v="urn:schemas-microsoft-com:vml" Requires="v">
                <p:oleObj spid="_x0000_s1048" r:id="rId3" imgW="2983230" imgH="862965" progId="Equation.3">
                  <p:embed/>
                </p:oleObj>
              </mc:Choice>
              <mc:Fallback>
                <p:oleObj r:id="rId3" imgW="2983230" imgH="862965" progId="Equation.3">
                  <p:embed/>
                  <p:pic>
                    <p:nvPicPr>
                      <p:cNvPr id="0" name="图片 3075"/>
                      <p:cNvPicPr/>
                      <p:nvPr/>
                    </p:nvPicPr>
                    <p:blipFill>
                      <a:blip r:embed="rId4"/>
                      <a:stretch>
                        <a:fillRect/>
                      </a:stretch>
                    </p:blipFill>
                    <p:spPr>
                      <a:xfrm>
                        <a:off x="477838" y="4370388"/>
                        <a:ext cx="8058150" cy="2133600"/>
                      </a:xfrm>
                      <a:prstGeom prst="rect">
                        <a:avLst/>
                      </a:prstGeom>
                      <a:noFill/>
                      <a:ln w="38100">
                        <a:noFill/>
                        <a:miter/>
                      </a:ln>
                    </p:spPr>
                  </p:pic>
                </p:oleObj>
              </mc:Fallback>
            </mc:AlternateContent>
          </a:graphicData>
        </a:graphic>
      </p:graphicFrame>
      <p:sp>
        <p:nvSpPr>
          <p:cNvPr id="453637" name="Rectangle 5"/>
          <p:cNvSpPr>
            <a:spLocks noChangeArrowheads="1"/>
          </p:cNvSpPr>
          <p:nvPr/>
        </p:nvSpPr>
        <p:spPr bwMode="auto">
          <a:xfrm>
            <a:off x="403225" y="1879600"/>
            <a:ext cx="8208963" cy="238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若插入在尾结点之后，则根本无需移动（特别快）；</a:t>
            </a: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若元素全部后移（特别慢）；</a:t>
            </a: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若要考虑在各种位置插入（共</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n+1</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种可能）的平均移动次数，该如何计算？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AMN</a:t>
            </a: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p:txBody>
      </p:sp>
      <p:sp>
        <p:nvSpPr>
          <p:cNvPr id="67588" name="Rectangle 6"/>
          <p:cNvSpPr>
            <a:spLocks noChangeArrowheads="1"/>
          </p:cNvSpPr>
          <p:nvPr/>
        </p:nvSpPr>
        <p:spPr bwMode="auto">
          <a:xfrm>
            <a:off x="406400" y="1057275"/>
            <a:ext cx="541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算法时间主要耗费在移动元素的操作上</a:t>
            </a:r>
          </a:p>
        </p:txBody>
      </p:sp>
      <p:sp>
        <p:nvSpPr>
          <p:cNvPr id="67589" name="Rectangle 8"/>
          <p:cNvSpPr>
            <a:spLocks noChangeArrowheads="1"/>
          </p:cNvSpPr>
          <p:nvPr/>
        </p:nvSpPr>
        <p:spPr bwMode="auto">
          <a:xfrm>
            <a:off x="657225" y="176213"/>
            <a:ext cx="377507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3" name="组合 2"/>
          <p:cNvGrpSpPr/>
          <p:nvPr/>
        </p:nvGrpSpPr>
        <p:grpSpPr>
          <a:xfrm>
            <a:off x="6229636" y="6314486"/>
            <a:ext cx="2914364" cy="438375"/>
            <a:chOff x="11112" y="3659857"/>
            <a:chExt cx="2914364" cy="2325912"/>
          </a:xfrm>
          <a:solidFill>
            <a:schemeClr val="accent6">
              <a:lumMod val="40000"/>
              <a:lumOff val="60000"/>
            </a:schemeClr>
          </a:solidFill>
        </p:grpSpPr>
        <p:sp>
          <p:nvSpPr>
            <p:cNvPr id="25" name="Rectangle 26"/>
            <p:cNvSpPr>
              <a:spLocks noChangeArrowheads="1"/>
            </p:cNvSpPr>
            <p:nvPr/>
          </p:nvSpPr>
          <p:spPr bwMode="auto">
            <a:xfrm flipH="1" flipV="1">
              <a:off x="11113" y="4972719"/>
              <a:ext cx="2914363" cy="574675"/>
            </a:xfrm>
            <a:prstGeom prst="rect">
              <a:avLst/>
            </a:pr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6" name="Rectangle 27"/>
            <p:cNvSpPr>
              <a:spLocks noChangeArrowheads="1"/>
            </p:cNvSpPr>
            <p:nvPr/>
          </p:nvSpPr>
          <p:spPr bwMode="auto">
            <a:xfrm flipH="1" flipV="1">
              <a:off x="11113" y="4620294"/>
              <a:ext cx="2914363" cy="285750"/>
            </a:xfrm>
            <a:prstGeom prst="rect">
              <a:avLst/>
            </a:pr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7" name="Rectangle 28"/>
            <p:cNvSpPr>
              <a:spLocks noChangeArrowheads="1"/>
            </p:cNvSpPr>
            <p:nvPr/>
          </p:nvSpPr>
          <p:spPr bwMode="auto">
            <a:xfrm flipH="1" flipV="1">
              <a:off x="11113" y="4109119"/>
              <a:ext cx="2914363" cy="446088"/>
            </a:xfrm>
            <a:prstGeom prst="rect">
              <a:avLst/>
            </a:pr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8" name="Rectangle 29"/>
            <p:cNvSpPr>
              <a:spLocks noChangeArrowheads="1"/>
            </p:cNvSpPr>
            <p:nvPr/>
          </p:nvSpPr>
          <p:spPr bwMode="auto">
            <a:xfrm flipH="1" flipV="1">
              <a:off x="11113" y="3818607"/>
              <a:ext cx="2914363" cy="222250"/>
            </a:xfrm>
            <a:prstGeom prst="rect">
              <a:avLst/>
            </a:pr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9" name="Rectangle 30"/>
            <p:cNvSpPr>
              <a:spLocks noChangeArrowheads="1"/>
            </p:cNvSpPr>
            <p:nvPr/>
          </p:nvSpPr>
          <p:spPr bwMode="auto">
            <a:xfrm flipH="1" flipV="1">
              <a:off x="11113" y="3659857"/>
              <a:ext cx="2914363" cy="98425"/>
            </a:xfrm>
            <a:prstGeom prst="rect">
              <a:avLst/>
            </a:pr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 name="Rectangle 26"/>
            <p:cNvSpPr>
              <a:spLocks noChangeArrowheads="1"/>
            </p:cNvSpPr>
            <p:nvPr/>
          </p:nvSpPr>
          <p:spPr bwMode="auto">
            <a:xfrm flipH="1" flipV="1">
              <a:off x="11112" y="5698432"/>
              <a:ext cx="2914363" cy="287337"/>
            </a:xfrm>
            <a:prstGeom prst="rect">
              <a:avLst/>
            </a:pr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53637">
                                            <p:txEl>
                                              <p:pRg st="0" end="0"/>
                                            </p:txEl>
                                          </p:spTgt>
                                        </p:tgtEl>
                                        <p:attrNameLst>
                                          <p:attrName>style.visibility</p:attrName>
                                        </p:attrNameLst>
                                      </p:cBhvr>
                                      <p:to>
                                        <p:strVal val="visible"/>
                                      </p:to>
                                    </p:set>
                                    <p:animEffect transition="in" filter="strips(downRight)">
                                      <p:cBhvr>
                                        <p:cTn id="12" dur="500"/>
                                        <p:tgtEl>
                                          <p:spTgt spid="4536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53637">
                                            <p:txEl>
                                              <p:pRg st="1" end="1"/>
                                            </p:txEl>
                                          </p:spTgt>
                                        </p:tgtEl>
                                        <p:attrNameLst>
                                          <p:attrName>style.visibility</p:attrName>
                                        </p:attrNameLst>
                                      </p:cBhvr>
                                      <p:to>
                                        <p:strVal val="visible"/>
                                      </p:to>
                                    </p:set>
                                    <p:animEffect transition="in" filter="strips(downRight)">
                                      <p:cBhvr>
                                        <p:cTn id="17" dur="500"/>
                                        <p:tgtEl>
                                          <p:spTgt spid="4536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53637">
                                            <p:txEl>
                                              <p:pRg st="2" end="2"/>
                                            </p:txEl>
                                          </p:spTgt>
                                        </p:tgtEl>
                                        <p:attrNameLst>
                                          <p:attrName>style.visibility</p:attrName>
                                        </p:attrNameLst>
                                      </p:cBhvr>
                                      <p:to>
                                        <p:strVal val="visible"/>
                                      </p:to>
                                    </p:set>
                                    <p:animEffect transition="in" filter="strips(downRight)">
                                      <p:cBhvr>
                                        <p:cTn id="22" dur="500"/>
                                        <p:tgtEl>
                                          <p:spTgt spid="4536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453636"/>
                                        </p:tgtEl>
                                        <p:attrNameLst>
                                          <p:attrName>style.visibility</p:attrName>
                                        </p:attrNameLst>
                                      </p:cBhvr>
                                      <p:to>
                                        <p:strVal val="visible"/>
                                      </p:to>
                                    </p:set>
                                    <p:animEffect transition="in" filter="diamond(in)">
                                      <p:cBhvr>
                                        <p:cTn id="27" dur="2000"/>
                                        <p:tgtEl>
                                          <p:spTgt spid="453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5363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ChangeArrowheads="1"/>
          </p:cNvSpPr>
          <p:nvPr/>
        </p:nvSpPr>
        <p:spPr bwMode="auto">
          <a:xfrm>
            <a:off x="23129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1" name="Line 8"/>
          <p:cNvSpPr>
            <a:spLocks noChangeShapeType="1"/>
          </p:cNvSpPr>
          <p:nvPr/>
        </p:nvSpPr>
        <p:spPr bwMode="auto">
          <a:xfrm>
            <a:off x="23129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2" name="Line 9"/>
          <p:cNvSpPr>
            <a:spLocks noChangeShapeType="1"/>
          </p:cNvSpPr>
          <p:nvPr/>
        </p:nvSpPr>
        <p:spPr bwMode="auto">
          <a:xfrm>
            <a:off x="23129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3" name="Line 10"/>
          <p:cNvSpPr>
            <a:spLocks noChangeShapeType="1"/>
          </p:cNvSpPr>
          <p:nvPr/>
        </p:nvSpPr>
        <p:spPr bwMode="auto">
          <a:xfrm>
            <a:off x="23129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4" name="Line 11"/>
          <p:cNvSpPr>
            <a:spLocks noChangeShapeType="1"/>
          </p:cNvSpPr>
          <p:nvPr/>
        </p:nvSpPr>
        <p:spPr bwMode="auto">
          <a:xfrm>
            <a:off x="23129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5" name="Line 12"/>
          <p:cNvSpPr>
            <a:spLocks noChangeShapeType="1"/>
          </p:cNvSpPr>
          <p:nvPr/>
        </p:nvSpPr>
        <p:spPr bwMode="auto">
          <a:xfrm>
            <a:off x="23129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6" name="Line 13"/>
          <p:cNvSpPr>
            <a:spLocks noChangeShapeType="1"/>
          </p:cNvSpPr>
          <p:nvPr/>
        </p:nvSpPr>
        <p:spPr bwMode="auto">
          <a:xfrm>
            <a:off x="23129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7" name="Line 14"/>
          <p:cNvSpPr>
            <a:spLocks noChangeShapeType="1"/>
          </p:cNvSpPr>
          <p:nvPr/>
        </p:nvSpPr>
        <p:spPr bwMode="auto">
          <a:xfrm>
            <a:off x="23129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8" name="Line 15"/>
          <p:cNvSpPr>
            <a:spLocks noChangeShapeType="1"/>
          </p:cNvSpPr>
          <p:nvPr/>
        </p:nvSpPr>
        <p:spPr bwMode="auto">
          <a:xfrm>
            <a:off x="23129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9" name="Text Box 16"/>
          <p:cNvSpPr txBox="1">
            <a:spLocks noChangeArrowheads="1"/>
          </p:cNvSpPr>
          <p:nvPr/>
        </p:nvSpPr>
        <p:spPr bwMode="auto">
          <a:xfrm>
            <a:off x="2312988" y="1143000"/>
            <a:ext cx="7620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8620" name="Text Box 17"/>
          <p:cNvSpPr txBox="1">
            <a:spLocks noChangeArrowheads="1"/>
          </p:cNvSpPr>
          <p:nvPr/>
        </p:nvSpPr>
        <p:spPr bwMode="auto">
          <a:xfrm>
            <a:off x="1779588" y="1143000"/>
            <a:ext cx="762000"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8</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9</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1" name="Rectangle 18"/>
          <p:cNvSpPr>
            <a:spLocks noChangeArrowheads="1"/>
          </p:cNvSpPr>
          <p:nvPr/>
        </p:nvSpPr>
        <p:spPr bwMode="auto">
          <a:xfrm>
            <a:off x="37607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2" name="Line 19"/>
          <p:cNvSpPr>
            <a:spLocks noChangeShapeType="1"/>
          </p:cNvSpPr>
          <p:nvPr/>
        </p:nvSpPr>
        <p:spPr bwMode="auto">
          <a:xfrm>
            <a:off x="37607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3" name="Line 20"/>
          <p:cNvSpPr>
            <a:spLocks noChangeShapeType="1"/>
          </p:cNvSpPr>
          <p:nvPr/>
        </p:nvSpPr>
        <p:spPr bwMode="auto">
          <a:xfrm>
            <a:off x="37607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4" name="Line 21"/>
          <p:cNvSpPr>
            <a:spLocks noChangeShapeType="1"/>
          </p:cNvSpPr>
          <p:nvPr/>
        </p:nvSpPr>
        <p:spPr bwMode="auto">
          <a:xfrm>
            <a:off x="37607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5" name="Line 22"/>
          <p:cNvSpPr>
            <a:spLocks noChangeShapeType="1"/>
          </p:cNvSpPr>
          <p:nvPr/>
        </p:nvSpPr>
        <p:spPr bwMode="auto">
          <a:xfrm>
            <a:off x="37607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6" name="Line 23"/>
          <p:cNvSpPr>
            <a:spLocks noChangeShapeType="1"/>
          </p:cNvSpPr>
          <p:nvPr/>
        </p:nvSpPr>
        <p:spPr bwMode="auto">
          <a:xfrm>
            <a:off x="37607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7" name="Line 24"/>
          <p:cNvSpPr>
            <a:spLocks noChangeShapeType="1"/>
          </p:cNvSpPr>
          <p:nvPr/>
        </p:nvSpPr>
        <p:spPr bwMode="auto">
          <a:xfrm>
            <a:off x="37607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8" name="Line 25"/>
          <p:cNvSpPr>
            <a:spLocks noChangeShapeType="1"/>
          </p:cNvSpPr>
          <p:nvPr/>
        </p:nvSpPr>
        <p:spPr bwMode="auto">
          <a:xfrm>
            <a:off x="37607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9" name="Line 26"/>
          <p:cNvSpPr>
            <a:spLocks noChangeShapeType="1"/>
          </p:cNvSpPr>
          <p:nvPr/>
        </p:nvSpPr>
        <p:spPr bwMode="auto">
          <a:xfrm>
            <a:off x="37607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0" name="Text Box 27"/>
          <p:cNvSpPr txBox="1">
            <a:spLocks noChangeArrowheads="1"/>
          </p:cNvSpPr>
          <p:nvPr/>
        </p:nvSpPr>
        <p:spPr bwMode="auto">
          <a:xfrm>
            <a:off x="3760788" y="1143000"/>
            <a:ext cx="7620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1" name="AutoShape 28"/>
          <p:cNvSpPr>
            <a:spLocks noChangeArrowheads="1"/>
          </p:cNvSpPr>
          <p:nvPr/>
        </p:nvSpPr>
        <p:spPr bwMode="auto">
          <a:xfrm rot="10896541">
            <a:off x="4103688" y="2851150"/>
            <a:ext cx="88900" cy="485775"/>
          </a:xfrm>
          <a:prstGeom prst="downArrow">
            <a:avLst>
              <a:gd name="adj1" fmla="val 50000"/>
              <a:gd name="adj2" fmla="val 150000"/>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2" name="Rectangle 29"/>
          <p:cNvSpPr>
            <a:spLocks noChangeArrowheads="1"/>
          </p:cNvSpPr>
          <p:nvPr/>
        </p:nvSpPr>
        <p:spPr bwMode="auto">
          <a:xfrm>
            <a:off x="52085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3" name="Line 30"/>
          <p:cNvSpPr>
            <a:spLocks noChangeShapeType="1"/>
          </p:cNvSpPr>
          <p:nvPr/>
        </p:nvSpPr>
        <p:spPr bwMode="auto">
          <a:xfrm>
            <a:off x="52085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4" name="Line 31"/>
          <p:cNvSpPr>
            <a:spLocks noChangeShapeType="1"/>
          </p:cNvSpPr>
          <p:nvPr/>
        </p:nvSpPr>
        <p:spPr bwMode="auto">
          <a:xfrm>
            <a:off x="52085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5" name="Line 32"/>
          <p:cNvSpPr>
            <a:spLocks noChangeShapeType="1"/>
          </p:cNvSpPr>
          <p:nvPr/>
        </p:nvSpPr>
        <p:spPr bwMode="auto">
          <a:xfrm>
            <a:off x="52085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6" name="Line 33"/>
          <p:cNvSpPr>
            <a:spLocks noChangeShapeType="1"/>
          </p:cNvSpPr>
          <p:nvPr/>
        </p:nvSpPr>
        <p:spPr bwMode="auto">
          <a:xfrm>
            <a:off x="52085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7" name="Line 34"/>
          <p:cNvSpPr>
            <a:spLocks noChangeShapeType="1"/>
          </p:cNvSpPr>
          <p:nvPr/>
        </p:nvSpPr>
        <p:spPr bwMode="auto">
          <a:xfrm>
            <a:off x="52085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8" name="Line 35"/>
          <p:cNvSpPr>
            <a:spLocks noChangeShapeType="1"/>
          </p:cNvSpPr>
          <p:nvPr/>
        </p:nvSpPr>
        <p:spPr bwMode="auto">
          <a:xfrm>
            <a:off x="52085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9" name="Line 36"/>
          <p:cNvSpPr>
            <a:spLocks noChangeShapeType="1"/>
          </p:cNvSpPr>
          <p:nvPr/>
        </p:nvSpPr>
        <p:spPr bwMode="auto">
          <a:xfrm>
            <a:off x="52085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0" name="Line 37"/>
          <p:cNvSpPr>
            <a:spLocks noChangeShapeType="1"/>
          </p:cNvSpPr>
          <p:nvPr/>
        </p:nvSpPr>
        <p:spPr bwMode="auto">
          <a:xfrm>
            <a:off x="52085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1" name="Text Box 38"/>
          <p:cNvSpPr txBox="1">
            <a:spLocks noChangeArrowheads="1"/>
          </p:cNvSpPr>
          <p:nvPr/>
        </p:nvSpPr>
        <p:spPr bwMode="auto">
          <a:xfrm>
            <a:off x="5208588" y="1143000"/>
            <a:ext cx="762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2" name="Rectangle 39"/>
          <p:cNvSpPr>
            <a:spLocks noChangeArrowheads="1"/>
          </p:cNvSpPr>
          <p:nvPr/>
        </p:nvSpPr>
        <p:spPr bwMode="auto">
          <a:xfrm>
            <a:off x="67325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3" name="Line 40"/>
          <p:cNvSpPr>
            <a:spLocks noChangeShapeType="1"/>
          </p:cNvSpPr>
          <p:nvPr/>
        </p:nvSpPr>
        <p:spPr bwMode="auto">
          <a:xfrm>
            <a:off x="67325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4" name="Line 41"/>
          <p:cNvSpPr>
            <a:spLocks noChangeShapeType="1"/>
          </p:cNvSpPr>
          <p:nvPr/>
        </p:nvSpPr>
        <p:spPr bwMode="auto">
          <a:xfrm>
            <a:off x="67325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5" name="Line 42"/>
          <p:cNvSpPr>
            <a:spLocks noChangeShapeType="1"/>
          </p:cNvSpPr>
          <p:nvPr/>
        </p:nvSpPr>
        <p:spPr bwMode="auto">
          <a:xfrm>
            <a:off x="67325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6" name="Line 43"/>
          <p:cNvSpPr>
            <a:spLocks noChangeShapeType="1"/>
          </p:cNvSpPr>
          <p:nvPr/>
        </p:nvSpPr>
        <p:spPr bwMode="auto">
          <a:xfrm>
            <a:off x="67325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7" name="Line 44"/>
          <p:cNvSpPr>
            <a:spLocks noChangeShapeType="1"/>
          </p:cNvSpPr>
          <p:nvPr/>
        </p:nvSpPr>
        <p:spPr bwMode="auto">
          <a:xfrm>
            <a:off x="67325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8" name="Line 45"/>
          <p:cNvSpPr>
            <a:spLocks noChangeShapeType="1"/>
          </p:cNvSpPr>
          <p:nvPr/>
        </p:nvSpPr>
        <p:spPr bwMode="auto">
          <a:xfrm>
            <a:off x="67325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9" name="Line 46"/>
          <p:cNvSpPr>
            <a:spLocks noChangeShapeType="1"/>
          </p:cNvSpPr>
          <p:nvPr/>
        </p:nvSpPr>
        <p:spPr bwMode="auto">
          <a:xfrm>
            <a:off x="67325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0" name="Line 47"/>
          <p:cNvSpPr>
            <a:spLocks noChangeShapeType="1"/>
          </p:cNvSpPr>
          <p:nvPr/>
        </p:nvSpPr>
        <p:spPr bwMode="auto">
          <a:xfrm>
            <a:off x="67325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1" name="Text Box 48"/>
          <p:cNvSpPr txBox="1">
            <a:spLocks noChangeArrowheads="1"/>
          </p:cNvSpPr>
          <p:nvPr/>
        </p:nvSpPr>
        <p:spPr bwMode="auto">
          <a:xfrm>
            <a:off x="6732588" y="1143000"/>
            <a:ext cx="762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14</a:t>
            </a:r>
            <a:endParaRPr kumimoji="0" lang="en-US" altLang="zh-CN"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2" name="AutoShape 50"/>
          <p:cNvSpPr>
            <a:spLocks noChangeArrowheads="1"/>
          </p:cNvSpPr>
          <p:nvPr/>
        </p:nvSpPr>
        <p:spPr bwMode="auto">
          <a:xfrm>
            <a:off x="1100138" y="2697163"/>
            <a:ext cx="914400" cy="152400"/>
          </a:xfrm>
          <a:prstGeom prst="rightArrow">
            <a:avLst>
              <a:gd name="adj1" fmla="val 50000"/>
              <a:gd name="adj2" fmla="val 150000"/>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3" name="Text Box 51"/>
          <p:cNvSpPr txBox="1">
            <a:spLocks noChangeArrowheads="1"/>
          </p:cNvSpPr>
          <p:nvPr/>
        </p:nvSpPr>
        <p:spPr bwMode="auto">
          <a:xfrm>
            <a:off x="1081088" y="2235200"/>
            <a:ext cx="83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a:t>
            </a:r>
          </a:p>
        </p:txBody>
      </p:sp>
      <p:sp>
        <p:nvSpPr>
          <p:cNvPr id="68654" name="AutoShape 52"/>
          <p:cNvSpPr>
            <a:spLocks noChangeArrowheads="1"/>
          </p:cNvSpPr>
          <p:nvPr/>
        </p:nvSpPr>
        <p:spPr bwMode="auto">
          <a:xfrm rot="10896541">
            <a:off x="5576888" y="3338513"/>
            <a:ext cx="76200" cy="457200"/>
          </a:xfrm>
          <a:prstGeom prst="downArrow">
            <a:avLst>
              <a:gd name="adj1" fmla="val 50000"/>
              <a:gd name="adj2" fmla="val 150000"/>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6517" name="Rectangle 53"/>
          <p:cNvSpPr>
            <a:spLocks noChangeArrowheads="1"/>
          </p:cNvSpPr>
          <p:nvPr/>
        </p:nvSpPr>
        <p:spPr bwMode="auto">
          <a:xfrm>
            <a:off x="900113" y="214313"/>
            <a:ext cx="71056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 </a:t>
            </a:r>
          </a:p>
        </p:txBody>
      </p:sp>
      <p:sp>
        <p:nvSpPr>
          <p:cNvPr id="446518" name="Rectangle 54"/>
          <p:cNvSpPr>
            <a:spLocks noChangeArrowheads="1"/>
          </p:cNvSpPr>
          <p:nvPr/>
        </p:nvSpPr>
        <p:spPr bwMode="auto">
          <a:xfrm>
            <a:off x="0" y="5307909"/>
            <a:ext cx="9144000" cy="1354217"/>
          </a:xfrm>
          <a:prstGeom prst="rect">
            <a:avLst/>
          </a:prstGeom>
          <a:solidFill>
            <a:srgbClr val="B8D4EC"/>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57200" marR="0" lvl="1"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0+1+2+… n-1</a:t>
            </a:r>
          </a:p>
          <a:p>
            <a:pPr marL="457200" marR="0" lvl="1"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删除第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个结点，移动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6</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4</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次</a:t>
            </a:r>
          </a:p>
          <a:p>
            <a:pPr marL="457200" marR="0" lvl="1" indent="0" algn="l" defTabSz="914400" rtl="0" eaLnBrk="0" fontAlgn="base" latinLnBrk="0" hangingPunct="0">
              <a:lnSpc>
                <a:spcPct val="100000"/>
              </a:lnSpc>
              <a:spcBef>
                <a:spcPts val="6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删除第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个结点，移动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次</a:t>
            </a:r>
            <a:endParaRPr kumimoji="0" lang="zh-CN" altLang="en-US" sz="2400" b="0" i="0" u="none" strike="noStrike" kern="1200" cap="none" spc="0" normalizeH="0" baseline="0" noProof="0" dirty="0">
              <a:ln>
                <a:noFill/>
              </a:ln>
              <a:solidFill>
                <a:schemeClr val="folHlink"/>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46518">
                                            <p:bg/>
                                          </p:spTgt>
                                        </p:tgtEl>
                                        <p:attrNameLst>
                                          <p:attrName>style.visibility</p:attrName>
                                        </p:attrNameLst>
                                      </p:cBhvr>
                                      <p:to>
                                        <p:strVal val="visible"/>
                                      </p:to>
                                    </p:set>
                                    <p:animEffect transition="in" filter="diamond(in)">
                                      <p:cBhvr>
                                        <p:cTn id="7" dur="2000"/>
                                        <p:tgtEl>
                                          <p:spTgt spid="446518">
                                            <p:bg/>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446518">
                                            <p:txEl>
                                              <p:pRg st="0" end="0"/>
                                            </p:txEl>
                                          </p:spTgt>
                                        </p:tgtEl>
                                        <p:attrNameLst>
                                          <p:attrName>style.visibility</p:attrName>
                                        </p:attrNameLst>
                                      </p:cBhvr>
                                      <p:to>
                                        <p:strVal val="visible"/>
                                      </p:to>
                                    </p:set>
                                    <p:animEffect transition="in" filter="diamond(in)">
                                      <p:cBhvr>
                                        <p:cTn id="12" dur="2000"/>
                                        <p:tgtEl>
                                          <p:spTgt spid="4465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446518">
                                            <p:txEl>
                                              <p:pRg st="1" end="1"/>
                                            </p:txEl>
                                          </p:spTgt>
                                        </p:tgtEl>
                                        <p:attrNameLst>
                                          <p:attrName>style.visibility</p:attrName>
                                        </p:attrNameLst>
                                      </p:cBhvr>
                                      <p:to>
                                        <p:strVal val="visible"/>
                                      </p:to>
                                    </p:set>
                                    <p:animEffect transition="in" filter="diamond(in)">
                                      <p:cBhvr>
                                        <p:cTn id="17" dur="2000"/>
                                        <p:tgtEl>
                                          <p:spTgt spid="4465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446518">
                                            <p:txEl>
                                              <p:pRg st="2" end="2"/>
                                            </p:txEl>
                                          </p:spTgt>
                                        </p:tgtEl>
                                        <p:attrNameLst>
                                          <p:attrName>style.visibility</p:attrName>
                                        </p:attrNameLst>
                                      </p:cBhvr>
                                      <p:to>
                                        <p:strVal val="visible"/>
                                      </p:to>
                                    </p:set>
                                    <p:animEffect transition="in" filter="diamond(in)">
                                      <p:cBhvr>
                                        <p:cTn id="22" dur="2000"/>
                                        <p:tgtEl>
                                          <p:spTgt spid="4465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518" grpId="0" build="p" bldLvl="2"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12"/>
          <p:cNvSpPr>
            <a:spLocks noChangeArrowheads="1"/>
          </p:cNvSpPr>
          <p:nvPr/>
        </p:nvSpPr>
        <p:spPr bwMode="auto">
          <a:xfrm>
            <a:off x="684213" y="158750"/>
            <a:ext cx="37750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72707" name="椭圆 9"/>
          <p:cNvSpPr/>
          <p:nvPr/>
        </p:nvSpPr>
        <p:spPr>
          <a:xfrm>
            <a:off x="900113" y="2387600"/>
            <a:ext cx="96837"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72708" name="椭圆 3"/>
          <p:cNvSpPr/>
          <p:nvPr/>
        </p:nvSpPr>
        <p:spPr>
          <a:xfrm>
            <a:off x="1439863" y="5314950"/>
            <a:ext cx="95250" cy="157163"/>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72709" name="椭圆 4"/>
          <p:cNvSpPr/>
          <p:nvPr/>
        </p:nvSpPr>
        <p:spPr>
          <a:xfrm>
            <a:off x="901700" y="5303838"/>
            <a:ext cx="96838" cy="157162"/>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72710" name="椭圆 6"/>
          <p:cNvSpPr/>
          <p:nvPr/>
        </p:nvSpPr>
        <p:spPr>
          <a:xfrm>
            <a:off x="306388" y="5297488"/>
            <a:ext cx="95250"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72711" name="椭圆 8"/>
          <p:cNvSpPr/>
          <p:nvPr/>
        </p:nvSpPr>
        <p:spPr>
          <a:xfrm>
            <a:off x="1436688" y="2398713"/>
            <a:ext cx="95250" cy="157162"/>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72712" name="椭圆 11"/>
          <p:cNvSpPr/>
          <p:nvPr/>
        </p:nvSpPr>
        <p:spPr>
          <a:xfrm>
            <a:off x="301625" y="2386013"/>
            <a:ext cx="96838"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16" name="矩形 15"/>
          <p:cNvSpPr>
            <a:spLocks noChangeArrowheads="1"/>
          </p:cNvSpPr>
          <p:nvPr/>
        </p:nvSpPr>
        <p:spPr bwMode="auto">
          <a:xfrm>
            <a:off x="0" y="2497138"/>
            <a:ext cx="9144000" cy="2867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248000" rIns="252000" anchor="ctr"/>
          <a:lstStyle/>
          <a:p>
            <a:pPr marL="0" marR="0" lvl="0" indent="0" algn="just" defTabSz="914400" rtl="0" eaLnBrk="1" fontAlgn="base" latinLnBrk="0" hangingPunct="1">
              <a:lnSpc>
                <a:spcPct val="130000"/>
              </a:lnSpc>
              <a:spcBef>
                <a:spcPts val="600"/>
              </a:spcBef>
              <a:spcAft>
                <a:spcPts val="600"/>
              </a:spcAft>
              <a:buClrTx/>
              <a:buSzTx/>
              <a:buFontTx/>
              <a:buNone/>
              <a:defRPr/>
            </a:pPr>
            <a:endParaRPr kumimoji="0" lang="zh-CN" altLang="en-US" sz="28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cs"/>
            </a:endParaRPr>
          </a:p>
        </p:txBody>
      </p:sp>
      <p:sp>
        <p:nvSpPr>
          <p:cNvPr id="72714" name="圆角矩形 15"/>
          <p:cNvSpPr/>
          <p:nvPr/>
        </p:nvSpPr>
        <p:spPr>
          <a:xfrm>
            <a:off x="927100" y="2387600"/>
            <a:ext cx="493713" cy="3073400"/>
          </a:xfrm>
          <a:custGeom>
            <a:avLst/>
            <a:gdLst>
              <a:gd name="txL" fmla="*/ 0 w 738285"/>
              <a:gd name="txT" fmla="*/ 0 h 4248500"/>
              <a:gd name="txR" fmla="*/ 738285 w 738285"/>
              <a:gd name="txB" fmla="*/ 4248500 h 4248500"/>
            </a:gdLst>
            <a:ahLst/>
            <a:cxnLst>
              <a:cxn ang="0">
                <a:pos x="1614" y="5736"/>
              </a:cxn>
              <a:cxn ang="0">
                <a:pos x="223" y="1"/>
              </a:cxn>
              <a:cxn ang="0">
                <a:pos x="11273" y="1"/>
              </a:cxn>
              <a:cxn ang="0">
                <a:pos x="13205" y="4240"/>
              </a:cxn>
              <a:cxn ang="0">
                <a:pos x="13205" y="162511"/>
              </a:cxn>
              <a:cxn ang="0">
                <a:pos x="11273" y="166751"/>
              </a:cxn>
              <a:cxn ang="0">
                <a:pos x="649" y="166751"/>
              </a:cxn>
              <a:cxn ang="0">
                <a:pos x="1614" y="162511"/>
              </a:cxn>
              <a:cxn ang="0">
                <a:pos x="1614" y="5736"/>
              </a:cxn>
            </a:cxnLst>
            <a:rect l="txL" t="txT" r="txR" b="tx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FFC000">
              <a:alpha val="100000"/>
            </a:srgbClr>
          </a:solidFill>
          <a:ln w="9525">
            <a:noFill/>
          </a:ln>
        </p:spPr>
        <p:txBody>
          <a:bodyPr/>
          <a:lstStyle/>
          <a:p>
            <a:endParaRPr lang="zh-CN" altLang="en-US"/>
          </a:p>
        </p:txBody>
      </p:sp>
      <p:sp>
        <p:nvSpPr>
          <p:cNvPr id="72715" name="圆角矩形 15"/>
          <p:cNvSpPr/>
          <p:nvPr/>
        </p:nvSpPr>
        <p:spPr>
          <a:xfrm>
            <a:off x="331788" y="2382838"/>
            <a:ext cx="492125" cy="3073400"/>
          </a:xfrm>
          <a:custGeom>
            <a:avLst/>
            <a:gdLst>
              <a:gd name="txL" fmla="*/ 0 w 738285"/>
              <a:gd name="txT" fmla="*/ 0 h 4248500"/>
              <a:gd name="txR" fmla="*/ 738285 w 738285"/>
              <a:gd name="txB" fmla="*/ 4248500 h 4248500"/>
            </a:gdLst>
            <a:ahLst/>
            <a:cxnLst>
              <a:cxn ang="0">
                <a:pos x="1562" y="5736"/>
              </a:cxn>
              <a:cxn ang="0">
                <a:pos x="217" y="1"/>
              </a:cxn>
              <a:cxn ang="0">
                <a:pos x="10915" y="1"/>
              </a:cxn>
              <a:cxn ang="0">
                <a:pos x="12786" y="4240"/>
              </a:cxn>
              <a:cxn ang="0">
                <a:pos x="12786" y="162511"/>
              </a:cxn>
              <a:cxn ang="0">
                <a:pos x="10915" y="166751"/>
              </a:cxn>
              <a:cxn ang="0">
                <a:pos x="629" y="166751"/>
              </a:cxn>
              <a:cxn ang="0">
                <a:pos x="1562" y="162511"/>
              </a:cxn>
              <a:cxn ang="0">
                <a:pos x="1562" y="5736"/>
              </a:cxn>
            </a:cxnLst>
            <a:rect l="txL" t="txT" r="txR" b="tx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9476B6">
              <a:alpha val="100000"/>
            </a:srgbClr>
          </a:solidFill>
          <a:ln w="9525">
            <a:noFill/>
          </a:ln>
        </p:spPr>
        <p:txBody>
          <a:bodyPr/>
          <a:lstStyle/>
          <a:p>
            <a:endParaRPr lang="zh-CN" altLang="en-US"/>
          </a:p>
        </p:txBody>
      </p:sp>
      <p:sp>
        <p:nvSpPr>
          <p:cNvPr id="21" name="圆角矩形 15"/>
          <p:cNvSpPr>
            <a:spLocks noChangeArrowheads="1"/>
          </p:cNvSpPr>
          <p:nvPr/>
        </p:nvSpPr>
        <p:spPr bwMode="auto">
          <a:xfrm>
            <a:off x="1465263" y="2398713"/>
            <a:ext cx="492125" cy="3073400"/>
          </a:xfrm>
          <a:custGeom>
            <a:avLst/>
            <a:gdLst>
              <a:gd name="T0" fmla="*/ 26719 w 738285"/>
              <a:gd name="T1" fmla="*/ 55318 h 4248500"/>
              <a:gd name="T2" fmla="*/ 3700 w 738285"/>
              <a:gd name="T3" fmla="*/ 4 h 4248500"/>
              <a:gd name="T4" fmla="*/ 186673 w 738285"/>
              <a:gd name="T5" fmla="*/ 4 h 4248500"/>
              <a:gd name="T6" fmla="*/ 218664 w 738285"/>
              <a:gd name="T7" fmla="*/ 40895 h 4248500"/>
              <a:gd name="T8" fmla="*/ 218664 w 738285"/>
              <a:gd name="T9" fmla="*/ 1567472 h 4248500"/>
              <a:gd name="T10" fmla="*/ 186673 w 738285"/>
              <a:gd name="T11" fmla="*/ 1608364 h 4248500"/>
              <a:gd name="T12" fmla="*/ 10752 w 738285"/>
              <a:gd name="T13" fmla="*/ 1608364 h 4248500"/>
              <a:gd name="T14" fmla="*/ 26719 w 738285"/>
              <a:gd name="T15" fmla="*/ 1567472 h 4248500"/>
              <a:gd name="T16" fmla="*/ 26719 w 738285"/>
              <a:gd name="T17" fmla="*/ 55318 h 42485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8285"/>
              <a:gd name="T28" fmla="*/ 0 h 4248500"/>
              <a:gd name="T29" fmla="*/ 738285 w 738285"/>
              <a:gd name="T30" fmla="*/ 4248500 h 42485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2">
              <a:lumMod val="60000"/>
              <a:lumOff val="40000"/>
            </a:schemeClr>
          </a:solidFill>
          <a:ln>
            <a:noFill/>
          </a:ln>
        </p:spPr>
        <p:txBody>
          <a:bodyPr vert="eaVert" lIns="7200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48523" name="Rectangle 11"/>
          <p:cNvSpPr>
            <a:spLocks noRot="1" noChangeArrowheads="1"/>
          </p:cNvSpPr>
          <p:nvPr/>
        </p:nvSpPr>
        <p:spPr bwMode="auto">
          <a:xfrm>
            <a:off x="1982788" y="2874963"/>
            <a:ext cx="80152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）判断</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删除位置</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是否合法</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（合法值为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1≤i≤n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）将欲删除的元素保留在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至第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位的元素依次</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向前移动一个位置</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表长减</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，删除成功返回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OK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bwMode="auto">
          <a:xfrm>
            <a:off x="330200" y="1700213"/>
            <a:ext cx="8586788" cy="4994275"/>
          </a:xfrm>
          <a:prstGeom prst="roundRect">
            <a:avLst>
              <a:gd name="adj" fmla="val 2011"/>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3731" name="圆角矩形 4"/>
          <p:cNvSpPr/>
          <p:nvPr/>
        </p:nvSpPr>
        <p:spPr>
          <a:xfrm>
            <a:off x="317500" y="1050925"/>
            <a:ext cx="8599488" cy="552450"/>
          </a:xfrm>
          <a:prstGeom prst="roundRect">
            <a:avLst>
              <a:gd name="adj" fmla="val 16667"/>
            </a:avLst>
          </a:prstGeom>
          <a:solidFill>
            <a:srgbClr val="9476B6"/>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0658" name="Rectangle 4"/>
          <p:cNvSpPr>
            <a:spLocks noChangeArrowheads="1"/>
          </p:cNvSpPr>
          <p:nvPr/>
        </p:nvSpPr>
        <p:spPr bwMode="auto">
          <a:xfrm>
            <a:off x="611188" y="1881188"/>
            <a:ext cx="8305800"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ListDelete_Sq</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&lt;1)||(</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ERROR;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值不合法</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for (j=</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i;j</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&lt;=L.length-1;j++)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de-DE" altLang="zh-CN" sz="2400" b="0" i="0" u="none" strike="noStrike" kern="1200" cap="none" spc="0" normalizeH="0" baseline="0" noProof="0" dirty="0">
                <a:ln>
                  <a:noFill/>
                </a:ln>
                <a:solidFill>
                  <a:srgbClr val="FF0000"/>
                </a:solidFill>
                <a:effectLst/>
                <a:uLnTx/>
                <a:uFillTx/>
                <a:latin typeface="+mn-lt"/>
                <a:ea typeface="+mn-ea"/>
                <a:cs typeface="+mn-ea"/>
                <a:sym typeface="+mn-lt"/>
              </a:rPr>
              <a:t>L.elem[j-1]=L.elem[j];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被删除元素之后的元素前移</a:t>
            </a:r>
            <a:r>
              <a:rPr kumimoji="0" lang="zh-CN" altLang="de-DE" sz="2400" b="0" i="0" u="none" strike="noStrike" kern="1200" cap="none" spc="0" normalizeH="0" baseline="0" noProof="0" dirty="0">
                <a:ln>
                  <a:noFill/>
                </a:ln>
                <a:solidFill>
                  <a:srgbClr val="FF0000"/>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de-DE"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表长减</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1</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0659" name="Rectangle 5"/>
          <p:cNvSpPr>
            <a:spLocks noChangeArrowheads="1"/>
          </p:cNvSpPr>
          <p:nvPr/>
        </p:nvSpPr>
        <p:spPr bwMode="auto">
          <a:xfrm>
            <a:off x="611188" y="166688"/>
            <a:ext cx="37750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6" name="Rectangle 4"/>
          <p:cNvSpPr>
            <a:spLocks noChangeArrowheads="1"/>
          </p:cNvSpPr>
          <p:nvPr/>
        </p:nvSpPr>
        <p:spPr bwMode="auto">
          <a:xfrm>
            <a:off x="611188" y="1044575"/>
            <a:ext cx="5689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将线性表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中第</a:t>
            </a:r>
            <a:r>
              <a:rPr kumimoji="0" lang="en-US" altLang="zh-CN" sz="24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个数据元素删除</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028" name="Object 20"/>
          <p:cNvGraphicFramePr>
            <a:graphicFrameLocks noGrp="1"/>
          </p:cNvGraphicFramePr>
          <p:nvPr>
            <p:ph/>
          </p:nvPr>
        </p:nvGraphicFramePr>
        <p:xfrm>
          <a:off x="468313" y="5181600"/>
          <a:ext cx="8207375" cy="1062038"/>
        </p:xfrm>
        <a:graphic>
          <a:graphicData uri="http://schemas.openxmlformats.org/presentationml/2006/ole">
            <mc:AlternateContent xmlns:mc="http://schemas.openxmlformats.org/markup-compatibility/2006">
              <mc:Choice xmlns:v="urn:schemas-microsoft-com:vml" Requires="v">
                <p:oleObj spid="_x0000_s2071" r:id="rId3" imgW="2487930" imgH="431800" progId="Equation.3">
                  <p:embed/>
                </p:oleObj>
              </mc:Choice>
              <mc:Fallback>
                <p:oleObj r:id="rId3" imgW="2487930" imgH="431800" progId="Equation.3">
                  <p:embed/>
                  <p:pic>
                    <p:nvPicPr>
                      <p:cNvPr id="0" name="图片 3076"/>
                      <p:cNvPicPr/>
                      <p:nvPr/>
                    </p:nvPicPr>
                    <p:blipFill>
                      <a:blip r:embed="rId4"/>
                      <a:srcRect/>
                      <a:stretch>
                        <a:fillRect/>
                      </a:stretch>
                    </p:blipFill>
                    <p:spPr>
                      <a:xfrm>
                        <a:off x="468313" y="5181600"/>
                        <a:ext cx="8207375" cy="1062038"/>
                      </a:xfrm>
                      <a:prstGeom prst="rect">
                        <a:avLst/>
                      </a:prstGeom>
                      <a:noFill/>
                      <a:ln w="38100">
                        <a:miter/>
                      </a:ln>
                    </p:spPr>
                  </p:pic>
                </p:oleObj>
              </mc:Fallback>
            </mc:AlternateContent>
          </a:graphicData>
        </a:graphic>
      </p:graphicFrame>
      <p:sp>
        <p:nvSpPr>
          <p:cNvPr id="299025" name="Rectangle 17"/>
          <p:cNvSpPr>
            <a:spLocks noChangeArrowheads="1"/>
          </p:cNvSpPr>
          <p:nvPr/>
        </p:nvSpPr>
        <p:spPr bwMode="auto">
          <a:xfrm>
            <a:off x="1116013" y="1947863"/>
            <a:ext cx="74168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若删除尾结点，则根本无需移动（特别快）；</a:t>
            </a: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若删除首结点，则表中</a:t>
            </a:r>
            <a:r>
              <a:rPr kumimoji="0" lang="en-US" altLang="zh-CN"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n-1</a:t>
            </a: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个元素全部前移（特别慢）；</a:t>
            </a: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若要考虑在各种位置删除（共</a:t>
            </a:r>
            <a:r>
              <a:rPr kumimoji="0" lang="en-US" altLang="zh-CN"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种可能）的平均移动次数，该如何计算？</a:t>
            </a:r>
          </a:p>
        </p:txBody>
      </p:sp>
      <p:sp>
        <p:nvSpPr>
          <p:cNvPr id="71685" name="Rectangle 18"/>
          <p:cNvSpPr>
            <a:spLocks noChangeArrowheads="1"/>
          </p:cNvSpPr>
          <p:nvPr/>
        </p:nvSpPr>
        <p:spPr bwMode="auto">
          <a:xfrm>
            <a:off x="468313" y="1196975"/>
            <a:ext cx="541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算法时间主要耗费在移动元素的操作上</a:t>
            </a:r>
          </a:p>
        </p:txBody>
      </p:sp>
      <p:sp>
        <p:nvSpPr>
          <p:cNvPr id="71686" name="Rectangle 22"/>
          <p:cNvSpPr>
            <a:spLocks noChangeArrowheads="1"/>
          </p:cNvSpPr>
          <p:nvPr/>
        </p:nvSpPr>
        <p:spPr bwMode="auto">
          <a:xfrm>
            <a:off x="611188" y="169863"/>
            <a:ext cx="37750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7" name="矩形 6"/>
          <p:cNvSpPr/>
          <p:nvPr/>
        </p:nvSpPr>
        <p:spPr>
          <a:xfrm>
            <a:off x="468313" y="2022475"/>
            <a:ext cx="476250" cy="423863"/>
          </a:xfrm>
          <a:prstGeom prst="rect">
            <a:avLst/>
          </a:prstGeom>
          <a:solidFill>
            <a:srgbClr val="F8300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lt1"/>
                </a:solidFill>
                <a:effectLst/>
                <a:uLnTx/>
                <a:uFillTx/>
                <a:latin typeface="微软雅黑" panose="020B0503020204020204" pitchFamily="34" charset="-122"/>
                <a:ea typeface="+mn-ea"/>
                <a:cs typeface="+mn-cs"/>
              </a:rPr>
              <a:t>1</a:t>
            </a:r>
            <a:endParaRPr kumimoji="0" lang="zh-CN" altLang="en-US" sz="2000" b="0" i="0" u="none" strike="noStrike" kern="1200" cap="none" spc="0" normalizeH="0" baseline="0" noProof="0" dirty="0">
              <a:ln>
                <a:noFill/>
              </a:ln>
              <a:solidFill>
                <a:schemeClr val="lt1"/>
              </a:solidFill>
              <a:effectLst/>
              <a:uLnTx/>
              <a:uFillTx/>
              <a:latin typeface="微软雅黑" panose="020B0503020204020204" pitchFamily="34" charset="-122"/>
              <a:ea typeface="+mn-ea"/>
              <a:cs typeface="+mn-cs"/>
            </a:endParaRPr>
          </a:p>
        </p:txBody>
      </p:sp>
      <p:sp>
        <p:nvSpPr>
          <p:cNvPr id="8" name="矩形 7"/>
          <p:cNvSpPr/>
          <p:nvPr/>
        </p:nvSpPr>
        <p:spPr>
          <a:xfrm>
            <a:off x="468313" y="2713038"/>
            <a:ext cx="476250" cy="412750"/>
          </a:xfrm>
          <a:prstGeom prst="rect">
            <a:avLst/>
          </a:prstGeom>
          <a:solidFill>
            <a:srgbClr val="9476B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lt1"/>
                </a:solidFill>
                <a:effectLst/>
                <a:uLnTx/>
                <a:uFillTx/>
                <a:latin typeface="微软雅黑" panose="020B0503020204020204" pitchFamily="34" charset="-122"/>
                <a:ea typeface="+mn-ea"/>
                <a:cs typeface="+mn-cs"/>
              </a:rPr>
              <a:t>2</a:t>
            </a:r>
            <a:endParaRPr kumimoji="0" lang="zh-CN" altLang="en-US" sz="2000" b="0" i="0" u="none" strike="noStrike" kern="1200" cap="none" spc="0" normalizeH="0" baseline="0" noProof="0" dirty="0">
              <a:ln>
                <a:noFill/>
              </a:ln>
              <a:solidFill>
                <a:schemeClr val="lt1"/>
              </a:solidFill>
              <a:effectLst/>
              <a:uLnTx/>
              <a:uFillTx/>
              <a:latin typeface="微软雅黑" panose="020B0503020204020204" pitchFamily="34" charset="-122"/>
              <a:ea typeface="+mn-ea"/>
              <a:cs typeface="+mn-cs"/>
            </a:endParaRPr>
          </a:p>
        </p:txBody>
      </p:sp>
      <p:sp>
        <p:nvSpPr>
          <p:cNvPr id="9" name="矩形 8"/>
          <p:cNvSpPr/>
          <p:nvPr/>
        </p:nvSpPr>
        <p:spPr>
          <a:xfrm>
            <a:off x="468313" y="3414713"/>
            <a:ext cx="476250" cy="423863"/>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lt1"/>
                </a:solidFill>
                <a:effectLst/>
                <a:uLnTx/>
                <a:uFillTx/>
                <a:latin typeface="微软雅黑" panose="020B0503020204020204" pitchFamily="34" charset="-122"/>
                <a:ea typeface="+mn-ea"/>
                <a:cs typeface="+mn-cs"/>
              </a:rPr>
              <a:t>3</a:t>
            </a:r>
            <a:endParaRPr kumimoji="0" lang="zh-CN" altLang="en-US" sz="2000" b="0" i="0" u="none" strike="noStrike" kern="1200" cap="none" spc="0" normalizeH="0" baseline="0" noProof="0" dirty="0">
              <a:ln>
                <a:noFill/>
              </a:ln>
              <a:solidFill>
                <a:schemeClr val="lt1"/>
              </a:solidFill>
              <a:effectLst/>
              <a:uLnTx/>
              <a:uFillTx/>
              <a:latin typeface="微软雅黑" panose="020B0503020204020204" pitchFamily="34" charset="-122"/>
              <a:ea typeface="+mn-ea"/>
              <a:cs typeface="+mn-cs"/>
            </a:endParaRPr>
          </a:p>
        </p:txBody>
      </p:sp>
      <p:cxnSp>
        <p:nvCxnSpPr>
          <p:cNvPr id="74761" name="直接连接符 2"/>
          <p:cNvCxnSpPr/>
          <p:nvPr/>
        </p:nvCxnSpPr>
        <p:spPr>
          <a:xfrm>
            <a:off x="468313" y="1735138"/>
            <a:ext cx="8207375" cy="0"/>
          </a:xfrm>
          <a:prstGeom prst="line">
            <a:avLst/>
          </a:prstGeom>
          <a:ln w="9525" cap="flat" cmpd="sng">
            <a:solidFill>
              <a:srgbClr val="7030A0"/>
            </a:solidFill>
            <a:prstDash val="solid"/>
            <a:headEnd type="none" w="med" len="med"/>
            <a:tailEnd type="none" w="med" len="med"/>
          </a:ln>
        </p:spPr>
      </p:cxnSp>
      <p:cxnSp>
        <p:nvCxnSpPr>
          <p:cNvPr id="74762" name="直接连接符 11"/>
          <p:cNvCxnSpPr/>
          <p:nvPr/>
        </p:nvCxnSpPr>
        <p:spPr>
          <a:xfrm>
            <a:off x="468313" y="4689475"/>
            <a:ext cx="8207375" cy="0"/>
          </a:xfrm>
          <a:prstGeom prst="line">
            <a:avLst/>
          </a:prstGeom>
          <a:ln w="9525" cap="flat" cmpd="sng">
            <a:solidFill>
              <a:srgbClr val="7030A0"/>
            </a:solidFill>
            <a:prstDash val="solid"/>
            <a:headEnd type="none" w="med" len="med"/>
            <a:tailEnd type="none" w="med" len="med"/>
          </a:ln>
        </p:spPr>
      </p:cxn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strips(downRight)">
                                      <p:cBhvr>
                                        <p:cTn id="7" dur="500"/>
                                        <p:tgtEl>
                                          <p:spTgt spid="7">
                                            <p:bg/>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strips(downRight)">
                                      <p:cBhvr>
                                        <p:cTn id="10" dur="500"/>
                                        <p:tgtEl>
                                          <p:spTgt spid="7">
                                            <p:txEl>
                                              <p:pRg st="0" end="0"/>
                                            </p:txEl>
                                          </p:spTgt>
                                        </p:tgtEl>
                                      </p:cBhvr>
                                    </p:animEffect>
                                  </p:childTnLst>
                                </p:cTn>
                              </p:par>
                            </p:childTnLst>
                          </p:cTn>
                        </p:par>
                        <p:par>
                          <p:cTn id="11" fill="hold">
                            <p:stCondLst>
                              <p:cond delay="500"/>
                            </p:stCondLst>
                            <p:childTnLst>
                              <p:par>
                                <p:cTn id="12" presetID="18" presetClass="entr" presetSubtype="6" fill="hold" grpId="0" nodeType="afterEffect">
                                  <p:stCondLst>
                                    <p:cond delay="0"/>
                                  </p:stCondLst>
                                  <p:childTnLst>
                                    <p:set>
                                      <p:cBhvr>
                                        <p:cTn id="13" dur="1" fill="hold">
                                          <p:stCondLst>
                                            <p:cond delay="0"/>
                                          </p:stCondLst>
                                        </p:cTn>
                                        <p:tgtEl>
                                          <p:spTgt spid="299025">
                                            <p:txEl>
                                              <p:pRg st="0" end="0"/>
                                            </p:txEl>
                                          </p:spTgt>
                                        </p:tgtEl>
                                        <p:attrNameLst>
                                          <p:attrName>style.visibility</p:attrName>
                                        </p:attrNameLst>
                                      </p:cBhvr>
                                      <p:to>
                                        <p:strVal val="visible"/>
                                      </p:to>
                                    </p:set>
                                    <p:animEffect transition="in" filter="strips(downRight)">
                                      <p:cBhvr>
                                        <p:cTn id="14" dur="500"/>
                                        <p:tgtEl>
                                          <p:spTgt spid="29902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8">
                                            <p:bg/>
                                          </p:spTgt>
                                        </p:tgtEl>
                                        <p:attrNameLst>
                                          <p:attrName>style.visibility</p:attrName>
                                        </p:attrNameLst>
                                      </p:cBhvr>
                                      <p:to>
                                        <p:strVal val="visible"/>
                                      </p:to>
                                    </p:set>
                                    <p:animEffect transition="in" filter="strips(downRight)">
                                      <p:cBhvr>
                                        <p:cTn id="19" dur="500"/>
                                        <p:tgtEl>
                                          <p:spTgt spid="8">
                                            <p:bg/>
                                          </p:spTgt>
                                        </p:tgtEl>
                                      </p:cBhvr>
                                    </p:animEffect>
                                  </p:childTnLst>
                                </p:cTn>
                              </p:par>
                              <p:par>
                                <p:cTn id="20" presetID="18" presetClass="entr" presetSubtype="6"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strips(downRight)">
                                      <p:cBhvr>
                                        <p:cTn id="22" dur="500"/>
                                        <p:tgtEl>
                                          <p:spTgt spid="8">
                                            <p:txEl>
                                              <p:pRg st="0" end="0"/>
                                            </p:txEl>
                                          </p:spTgt>
                                        </p:tgtEl>
                                      </p:cBhvr>
                                    </p:animEffect>
                                  </p:childTnLst>
                                </p:cTn>
                              </p:par>
                            </p:childTnLst>
                          </p:cTn>
                        </p:par>
                        <p:par>
                          <p:cTn id="23" fill="hold">
                            <p:stCondLst>
                              <p:cond delay="500"/>
                            </p:stCondLst>
                            <p:childTnLst>
                              <p:par>
                                <p:cTn id="24" presetID="18" presetClass="entr" presetSubtype="6" fill="hold" grpId="0" nodeType="afterEffect">
                                  <p:stCondLst>
                                    <p:cond delay="0"/>
                                  </p:stCondLst>
                                  <p:childTnLst>
                                    <p:set>
                                      <p:cBhvr>
                                        <p:cTn id="25" dur="1" fill="hold">
                                          <p:stCondLst>
                                            <p:cond delay="0"/>
                                          </p:stCondLst>
                                        </p:cTn>
                                        <p:tgtEl>
                                          <p:spTgt spid="299025">
                                            <p:txEl>
                                              <p:pRg st="1" end="1"/>
                                            </p:txEl>
                                          </p:spTgt>
                                        </p:tgtEl>
                                        <p:attrNameLst>
                                          <p:attrName>style.visibility</p:attrName>
                                        </p:attrNameLst>
                                      </p:cBhvr>
                                      <p:to>
                                        <p:strVal val="visible"/>
                                      </p:to>
                                    </p:set>
                                    <p:animEffect transition="in" filter="strips(downRight)">
                                      <p:cBhvr>
                                        <p:cTn id="26" dur="500"/>
                                        <p:tgtEl>
                                          <p:spTgt spid="29902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9">
                                            <p:bg/>
                                          </p:spTgt>
                                        </p:tgtEl>
                                        <p:attrNameLst>
                                          <p:attrName>style.visibility</p:attrName>
                                        </p:attrNameLst>
                                      </p:cBhvr>
                                      <p:to>
                                        <p:strVal val="visible"/>
                                      </p:to>
                                    </p:set>
                                    <p:animEffect transition="in" filter="strips(downRight)">
                                      <p:cBhvr>
                                        <p:cTn id="31" dur="500"/>
                                        <p:tgtEl>
                                          <p:spTgt spid="9">
                                            <p:bg/>
                                          </p:spTgt>
                                        </p:tgtEl>
                                      </p:cBhvr>
                                    </p:animEffect>
                                  </p:childTnLst>
                                </p:cTn>
                              </p:par>
                              <p:par>
                                <p:cTn id="32" presetID="18" presetClass="entr" presetSubtype="6" fill="hold" grpId="0" nodeType="withEffect">
                                  <p:stCondLst>
                                    <p:cond delay="0"/>
                                  </p:stCondLst>
                                  <p:childTnLst>
                                    <p:set>
                                      <p:cBhvr>
                                        <p:cTn id="33" dur="1" fill="hold">
                                          <p:stCondLst>
                                            <p:cond delay="0"/>
                                          </p:stCondLst>
                                        </p:cTn>
                                        <p:tgtEl>
                                          <p:spTgt spid="9">
                                            <p:txEl>
                                              <p:pRg st="0" end="0"/>
                                            </p:txEl>
                                          </p:spTgt>
                                        </p:tgtEl>
                                        <p:attrNameLst>
                                          <p:attrName>style.visibility</p:attrName>
                                        </p:attrNameLst>
                                      </p:cBhvr>
                                      <p:to>
                                        <p:strVal val="visible"/>
                                      </p:to>
                                    </p:set>
                                    <p:animEffect transition="in" filter="strips(downRight)">
                                      <p:cBhvr>
                                        <p:cTn id="34" dur="500"/>
                                        <p:tgtEl>
                                          <p:spTgt spid="9">
                                            <p:txEl>
                                              <p:pRg st="0" end="0"/>
                                            </p:txEl>
                                          </p:spTgt>
                                        </p:tgtEl>
                                      </p:cBhvr>
                                    </p:animEffect>
                                  </p:childTnLst>
                                </p:cTn>
                              </p:par>
                            </p:childTnLst>
                          </p:cTn>
                        </p:par>
                        <p:par>
                          <p:cTn id="35" fill="hold">
                            <p:stCondLst>
                              <p:cond delay="500"/>
                            </p:stCondLst>
                            <p:childTnLst>
                              <p:par>
                                <p:cTn id="36" presetID="18" presetClass="entr" presetSubtype="6" fill="hold" grpId="0" nodeType="afterEffect">
                                  <p:stCondLst>
                                    <p:cond delay="0"/>
                                  </p:stCondLst>
                                  <p:childTnLst>
                                    <p:set>
                                      <p:cBhvr>
                                        <p:cTn id="37" dur="1" fill="hold">
                                          <p:stCondLst>
                                            <p:cond delay="0"/>
                                          </p:stCondLst>
                                        </p:cTn>
                                        <p:tgtEl>
                                          <p:spTgt spid="299025">
                                            <p:txEl>
                                              <p:pRg st="2" end="2"/>
                                            </p:txEl>
                                          </p:spTgt>
                                        </p:tgtEl>
                                        <p:attrNameLst>
                                          <p:attrName>style.visibility</p:attrName>
                                        </p:attrNameLst>
                                      </p:cBhvr>
                                      <p:to>
                                        <p:strVal val="visible"/>
                                      </p:to>
                                    </p:set>
                                    <p:animEffect transition="in" filter="strips(downRight)">
                                      <p:cBhvr>
                                        <p:cTn id="38" dur="500"/>
                                        <p:tgtEl>
                                          <p:spTgt spid="299025">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99028"/>
                                        </p:tgtEl>
                                        <p:attrNameLst>
                                          <p:attrName>style.visibility</p:attrName>
                                        </p:attrNameLst>
                                      </p:cBhvr>
                                      <p:to>
                                        <p:strVal val="visible"/>
                                      </p:to>
                                    </p:set>
                                    <p:animEffect transition="in" filter="blinds(horizontal)">
                                      <p:cBhvr>
                                        <p:cTn id="43" dur="500"/>
                                        <p:tgtEl>
                                          <p:spTgt spid="299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25" grpId="0" build="p"/>
      <p:bldP spid="7" grpId="0" build="p" animBg="1"/>
      <p:bldP spid="8" grpId="0" build="p" animBg="1"/>
      <p:bldP spid="9"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auto">
          <a:xfrm>
            <a:off x="2868613" y="2165350"/>
            <a:ext cx="5942013" cy="3370263"/>
          </a:xfrm>
          <a:prstGeom prst="roundRect">
            <a:avLst>
              <a:gd name="adj" fmla="val 5508"/>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0040" name="Text Box 8"/>
          <p:cNvSpPr txBox="1">
            <a:spLocks noChangeArrowheads="1"/>
          </p:cNvSpPr>
          <p:nvPr/>
        </p:nvSpPr>
        <p:spPr bwMode="auto">
          <a:xfrm>
            <a:off x="3176588" y="3282950"/>
            <a:ext cx="526573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显然，顺序表的</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空间</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复杂度</a:t>
            </a:r>
            <a:r>
              <a:rPr kumimoji="0" lang="en-US" altLang="zh-CN" sz="2400" b="0" i="0" u="none" strike="noStrike" kern="1200" cap="none" spc="0" normalizeH="0" baseline="0" noProof="0" dirty="0">
                <a:ln>
                  <a:noFill/>
                </a:ln>
                <a:solidFill>
                  <a:schemeClr val="accent1"/>
                </a:solidFill>
                <a:effectLst/>
                <a:uLnTx/>
                <a:uFillTx/>
                <a:latin typeface="+mn-lt"/>
                <a:ea typeface="+mn-ea"/>
                <a:cs typeface="+mn-ea"/>
                <a:sym typeface="+mn-lt"/>
              </a:rPr>
              <a:t>S(n)=</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O(1)</a:t>
            </a:r>
          </a:p>
          <a:p>
            <a:pPr marL="0" marR="0" lvl="0" indent="0" algn="ctr"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（没有占用辅助空间）</a:t>
            </a:r>
          </a:p>
        </p:txBody>
      </p:sp>
      <p:grpSp>
        <p:nvGrpSpPr>
          <p:cNvPr id="75780" name="组合 1"/>
          <p:cNvGrpSpPr/>
          <p:nvPr/>
        </p:nvGrpSpPr>
        <p:grpSpPr>
          <a:xfrm>
            <a:off x="423863" y="2125663"/>
            <a:ext cx="2108200" cy="3548062"/>
            <a:chOff x="358177" y="1261676"/>
            <a:chExt cx="3157127" cy="5314595"/>
          </a:xfrm>
        </p:grpSpPr>
        <p:grpSp>
          <p:nvGrpSpPr>
            <p:cNvPr id="6" name="组合 208"/>
            <p:cNvGrpSpPr/>
            <p:nvPr/>
          </p:nvGrpSpPr>
          <p:grpSpPr>
            <a:xfrm>
              <a:off x="1796265" y="4448526"/>
              <a:ext cx="184127" cy="644675"/>
              <a:chOff x="2752726" y="4344988"/>
              <a:chExt cx="184150" cy="644525"/>
            </a:xfrm>
            <a:solidFill>
              <a:schemeClr val="accent6"/>
            </a:solidFill>
          </p:grpSpPr>
          <p:sp>
            <p:nvSpPr>
              <p:cNvPr id="7" name="Freeform 101"/>
              <p:cNvSpPr/>
              <p:nvPr/>
            </p:nvSpPr>
            <p:spPr bwMode="auto">
              <a:xfrm>
                <a:off x="2762251" y="4427538"/>
                <a:ext cx="174625" cy="519113"/>
              </a:xfrm>
              <a:custGeom>
                <a:avLst/>
                <a:gdLst>
                  <a:gd name="T0" fmla="*/ 34 w 110"/>
                  <a:gd name="T1" fmla="*/ 267 h 327"/>
                  <a:gd name="T2" fmla="*/ 67 w 110"/>
                  <a:gd name="T3" fmla="*/ 327 h 327"/>
                  <a:gd name="T4" fmla="*/ 95 w 110"/>
                  <a:gd name="T5" fmla="*/ 323 h 327"/>
                  <a:gd name="T6" fmla="*/ 110 w 110"/>
                  <a:gd name="T7" fmla="*/ 256 h 327"/>
                  <a:gd name="T8" fmla="*/ 76 w 110"/>
                  <a:gd name="T9" fmla="*/ 0 h 327"/>
                  <a:gd name="T10" fmla="*/ 0 w 110"/>
                  <a:gd name="T11" fmla="*/ 10 h 327"/>
                  <a:gd name="T12" fmla="*/ 34 w 110"/>
                  <a:gd name="T13" fmla="*/ 267 h 327"/>
                </a:gdLst>
                <a:ahLst/>
                <a:cxnLst>
                  <a:cxn ang="0">
                    <a:pos x="T0" y="T1"/>
                  </a:cxn>
                  <a:cxn ang="0">
                    <a:pos x="T2" y="T3"/>
                  </a:cxn>
                  <a:cxn ang="0">
                    <a:pos x="T4" y="T5"/>
                  </a:cxn>
                  <a:cxn ang="0">
                    <a:pos x="T6" y="T7"/>
                  </a:cxn>
                  <a:cxn ang="0">
                    <a:pos x="T8" y="T9"/>
                  </a:cxn>
                  <a:cxn ang="0">
                    <a:pos x="T10" y="T11"/>
                  </a:cxn>
                  <a:cxn ang="0">
                    <a:pos x="T12" y="T13"/>
                  </a:cxn>
                </a:cxnLst>
                <a:rect l="0" t="0" r="r" b="b"/>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8" name="Freeform 102"/>
              <p:cNvSpPr/>
              <p:nvPr/>
            </p:nvSpPr>
            <p:spPr bwMode="auto">
              <a:xfrm>
                <a:off x="2754313" y="4344988"/>
                <a:ext cx="128588" cy="146050"/>
              </a:xfrm>
              <a:custGeom>
                <a:avLst/>
                <a:gdLst>
                  <a:gd name="T0" fmla="*/ 5 w 81"/>
                  <a:gd name="T1" fmla="*/ 58 h 92"/>
                  <a:gd name="T2" fmla="*/ 5 w 81"/>
                  <a:gd name="T3" fmla="*/ 58 h 92"/>
                  <a:gd name="T4" fmla="*/ 7 w 81"/>
                  <a:gd name="T5" fmla="*/ 66 h 92"/>
                  <a:gd name="T6" fmla="*/ 10 w 81"/>
                  <a:gd name="T7" fmla="*/ 73 h 92"/>
                  <a:gd name="T8" fmla="*/ 15 w 81"/>
                  <a:gd name="T9" fmla="*/ 78 h 92"/>
                  <a:gd name="T10" fmla="*/ 20 w 81"/>
                  <a:gd name="T11" fmla="*/ 84 h 92"/>
                  <a:gd name="T12" fmla="*/ 26 w 81"/>
                  <a:gd name="T13" fmla="*/ 88 h 92"/>
                  <a:gd name="T14" fmla="*/ 33 w 81"/>
                  <a:gd name="T15" fmla="*/ 90 h 92"/>
                  <a:gd name="T16" fmla="*/ 39 w 81"/>
                  <a:gd name="T17" fmla="*/ 92 h 92"/>
                  <a:gd name="T18" fmla="*/ 47 w 81"/>
                  <a:gd name="T19" fmla="*/ 90 h 92"/>
                  <a:gd name="T20" fmla="*/ 49 w 81"/>
                  <a:gd name="T21" fmla="*/ 90 h 92"/>
                  <a:gd name="T22" fmla="*/ 49 w 81"/>
                  <a:gd name="T23" fmla="*/ 90 h 92"/>
                  <a:gd name="T24" fmla="*/ 56 w 81"/>
                  <a:gd name="T25" fmla="*/ 89 h 92"/>
                  <a:gd name="T26" fmla="*/ 62 w 81"/>
                  <a:gd name="T27" fmla="*/ 86 h 92"/>
                  <a:gd name="T28" fmla="*/ 69 w 81"/>
                  <a:gd name="T29" fmla="*/ 81 h 92"/>
                  <a:gd name="T30" fmla="*/ 73 w 81"/>
                  <a:gd name="T31" fmla="*/ 77 h 92"/>
                  <a:gd name="T32" fmla="*/ 77 w 81"/>
                  <a:gd name="T33" fmla="*/ 70 h 92"/>
                  <a:gd name="T34" fmla="*/ 80 w 81"/>
                  <a:gd name="T35" fmla="*/ 63 h 92"/>
                  <a:gd name="T36" fmla="*/ 81 w 81"/>
                  <a:gd name="T37" fmla="*/ 56 h 92"/>
                  <a:gd name="T38" fmla="*/ 81 w 81"/>
                  <a:gd name="T39" fmla="*/ 48 h 92"/>
                  <a:gd name="T40" fmla="*/ 76 w 81"/>
                  <a:gd name="T41" fmla="*/ 13 h 92"/>
                  <a:gd name="T42" fmla="*/ 76 w 81"/>
                  <a:gd name="T43" fmla="*/ 13 h 92"/>
                  <a:gd name="T44" fmla="*/ 75 w 81"/>
                  <a:gd name="T45" fmla="*/ 8 h 92"/>
                  <a:gd name="T46" fmla="*/ 72 w 81"/>
                  <a:gd name="T47" fmla="*/ 2 h 92"/>
                  <a:gd name="T48" fmla="*/ 68 w 81"/>
                  <a:gd name="T49" fmla="*/ 1 h 92"/>
                  <a:gd name="T50" fmla="*/ 64 w 81"/>
                  <a:gd name="T51" fmla="*/ 0 h 92"/>
                  <a:gd name="T52" fmla="*/ 51 w 81"/>
                  <a:gd name="T53" fmla="*/ 0 h 92"/>
                  <a:gd name="T54" fmla="*/ 37 w 81"/>
                  <a:gd name="T55" fmla="*/ 2 h 92"/>
                  <a:gd name="T56" fmla="*/ 35 w 81"/>
                  <a:gd name="T57" fmla="*/ 2 h 92"/>
                  <a:gd name="T58" fmla="*/ 35 w 81"/>
                  <a:gd name="T59" fmla="*/ 2 h 92"/>
                  <a:gd name="T60" fmla="*/ 22 w 81"/>
                  <a:gd name="T61" fmla="*/ 4 h 92"/>
                  <a:gd name="T62" fmla="*/ 10 w 81"/>
                  <a:gd name="T63" fmla="*/ 6 h 92"/>
                  <a:gd name="T64" fmla="*/ 5 w 81"/>
                  <a:gd name="T65" fmla="*/ 9 h 92"/>
                  <a:gd name="T66" fmla="*/ 3 w 81"/>
                  <a:gd name="T67" fmla="*/ 12 h 92"/>
                  <a:gd name="T68" fmla="*/ 0 w 81"/>
                  <a:gd name="T69" fmla="*/ 17 h 92"/>
                  <a:gd name="T70" fmla="*/ 0 w 81"/>
                  <a:gd name="T71" fmla="*/ 24 h 92"/>
                  <a:gd name="T72" fmla="*/ 5 w 81"/>
                  <a:gd name="T73" fmla="*/ 5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49" y="90"/>
                    </a:lnTo>
                    <a:lnTo>
                      <a:pt x="56" y="89"/>
                    </a:lnTo>
                    <a:lnTo>
                      <a:pt x="62" y="86"/>
                    </a:lnTo>
                    <a:lnTo>
                      <a:pt x="69" y="81"/>
                    </a:lnTo>
                    <a:lnTo>
                      <a:pt x="73" y="77"/>
                    </a:lnTo>
                    <a:lnTo>
                      <a:pt x="77" y="70"/>
                    </a:lnTo>
                    <a:lnTo>
                      <a:pt x="80" y="63"/>
                    </a:lnTo>
                    <a:lnTo>
                      <a:pt x="81" y="56"/>
                    </a:lnTo>
                    <a:lnTo>
                      <a:pt x="81" y="48"/>
                    </a:lnTo>
                    <a:lnTo>
                      <a:pt x="76" y="13"/>
                    </a:lnTo>
                    <a:lnTo>
                      <a:pt x="76" y="13"/>
                    </a:lnTo>
                    <a:lnTo>
                      <a:pt x="75" y="8"/>
                    </a:lnTo>
                    <a:lnTo>
                      <a:pt x="72" y="2"/>
                    </a:lnTo>
                    <a:lnTo>
                      <a:pt x="68" y="1"/>
                    </a:lnTo>
                    <a:lnTo>
                      <a:pt x="64" y="0"/>
                    </a:lnTo>
                    <a:lnTo>
                      <a:pt x="51" y="0"/>
                    </a:lnTo>
                    <a:lnTo>
                      <a:pt x="37" y="2"/>
                    </a:lnTo>
                    <a:lnTo>
                      <a:pt x="35"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9" name="Freeform 103"/>
              <p:cNvSpPr/>
              <p:nvPr/>
            </p:nvSpPr>
            <p:spPr bwMode="auto">
              <a:xfrm>
                <a:off x="2752726" y="4394200"/>
                <a:ext cx="149225" cy="142875"/>
              </a:xfrm>
              <a:custGeom>
                <a:avLst/>
                <a:gdLst>
                  <a:gd name="T0" fmla="*/ 11 w 94"/>
                  <a:gd name="T1" fmla="*/ 90 h 90"/>
                  <a:gd name="T2" fmla="*/ 94 w 94"/>
                  <a:gd name="T3" fmla="*/ 80 h 90"/>
                  <a:gd name="T4" fmla="*/ 84 w 94"/>
                  <a:gd name="T5" fmla="*/ 0 h 90"/>
                  <a:gd name="T6" fmla="*/ 0 w 94"/>
                  <a:gd name="T7" fmla="*/ 11 h 90"/>
                  <a:gd name="T8" fmla="*/ 11 w 94"/>
                  <a:gd name="T9" fmla="*/ 90 h 90"/>
                </a:gdLst>
                <a:ahLst/>
                <a:cxnLst>
                  <a:cxn ang="0">
                    <a:pos x="T0" y="T1"/>
                  </a:cxn>
                  <a:cxn ang="0">
                    <a:pos x="T2" y="T3"/>
                  </a:cxn>
                  <a:cxn ang="0">
                    <a:pos x="T4" y="T5"/>
                  </a:cxn>
                  <a:cxn ang="0">
                    <a:pos x="T6" y="T7"/>
                  </a:cxn>
                  <a:cxn ang="0">
                    <a:pos x="T8" y="T9"/>
                  </a:cxn>
                </a:cxnLst>
                <a:rect l="0" t="0" r="r" b="b"/>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 name="Freeform 104"/>
              <p:cNvSpPr/>
              <p:nvPr/>
            </p:nvSpPr>
            <p:spPr bwMode="auto">
              <a:xfrm>
                <a:off x="2868613" y="4933950"/>
                <a:ext cx="44450" cy="55563"/>
              </a:xfrm>
              <a:custGeom>
                <a:avLst/>
                <a:gdLst>
                  <a:gd name="T0" fmla="*/ 28 w 28"/>
                  <a:gd name="T1" fmla="*/ 2 h 35"/>
                  <a:gd name="T2" fmla="*/ 28 w 28"/>
                  <a:gd name="T3" fmla="*/ 2 h 35"/>
                  <a:gd name="T4" fmla="*/ 27 w 28"/>
                  <a:gd name="T5" fmla="*/ 14 h 35"/>
                  <a:gd name="T6" fmla="*/ 21 w 28"/>
                  <a:gd name="T7" fmla="*/ 31 h 35"/>
                  <a:gd name="T8" fmla="*/ 21 w 28"/>
                  <a:gd name="T9" fmla="*/ 31 h 35"/>
                  <a:gd name="T10" fmla="*/ 20 w 28"/>
                  <a:gd name="T11" fmla="*/ 35 h 35"/>
                  <a:gd name="T12" fmla="*/ 19 w 28"/>
                  <a:gd name="T13" fmla="*/ 35 h 35"/>
                  <a:gd name="T14" fmla="*/ 16 w 28"/>
                  <a:gd name="T15" fmla="*/ 35 h 35"/>
                  <a:gd name="T16" fmla="*/ 13 w 28"/>
                  <a:gd name="T17" fmla="*/ 32 h 35"/>
                  <a:gd name="T18" fmla="*/ 11 w 28"/>
                  <a:gd name="T19" fmla="*/ 27 h 35"/>
                  <a:gd name="T20" fmla="*/ 0 w 28"/>
                  <a:gd name="T21" fmla="*/ 8 h 35"/>
                  <a:gd name="T22" fmla="*/ 0 w 28"/>
                  <a:gd name="T23" fmla="*/ 8 h 35"/>
                  <a:gd name="T24" fmla="*/ 3 w 28"/>
                  <a:gd name="T25" fmla="*/ 5 h 35"/>
                  <a:gd name="T26" fmla="*/ 8 w 28"/>
                  <a:gd name="T27" fmla="*/ 2 h 35"/>
                  <a:gd name="T28" fmla="*/ 12 w 28"/>
                  <a:gd name="T29" fmla="*/ 1 h 35"/>
                  <a:gd name="T30" fmla="*/ 16 w 28"/>
                  <a:gd name="T31" fmla="*/ 0 h 35"/>
                  <a:gd name="T32" fmla="*/ 23 w 28"/>
                  <a:gd name="T33" fmla="*/ 0 h 35"/>
                  <a:gd name="T34" fmla="*/ 28 w 28"/>
                  <a:gd name="T35" fmla="*/ 2 h 35"/>
                  <a:gd name="T36" fmla="*/ 28 w 28"/>
                  <a:gd name="T37"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35">
                    <a:moveTo>
                      <a:pt x="28" y="2"/>
                    </a:moveTo>
                    <a:lnTo>
                      <a:pt x="28" y="2"/>
                    </a:lnTo>
                    <a:lnTo>
                      <a:pt x="27" y="14"/>
                    </a:lnTo>
                    <a:lnTo>
                      <a:pt x="21" y="31"/>
                    </a:lnTo>
                    <a:lnTo>
                      <a:pt x="21" y="31"/>
                    </a:lnTo>
                    <a:lnTo>
                      <a:pt x="20" y="35"/>
                    </a:lnTo>
                    <a:lnTo>
                      <a:pt x="19" y="35"/>
                    </a:lnTo>
                    <a:lnTo>
                      <a:pt x="16" y="35"/>
                    </a:lnTo>
                    <a:lnTo>
                      <a:pt x="13" y="32"/>
                    </a:lnTo>
                    <a:lnTo>
                      <a:pt x="11" y="27"/>
                    </a:lnTo>
                    <a:lnTo>
                      <a:pt x="0" y="8"/>
                    </a:lnTo>
                    <a:lnTo>
                      <a:pt x="0" y="8"/>
                    </a:lnTo>
                    <a:lnTo>
                      <a:pt x="3" y="5"/>
                    </a:lnTo>
                    <a:lnTo>
                      <a:pt x="8" y="2"/>
                    </a:lnTo>
                    <a:lnTo>
                      <a:pt x="12" y="1"/>
                    </a:lnTo>
                    <a:lnTo>
                      <a:pt x="16" y="0"/>
                    </a:lnTo>
                    <a:lnTo>
                      <a:pt x="23" y="0"/>
                    </a:lnTo>
                    <a:lnTo>
                      <a:pt x="28" y="2"/>
                    </a:lnTo>
                    <a:lnTo>
                      <a:pt x="28"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75783" name="组合 215"/>
            <p:cNvGrpSpPr/>
            <p:nvPr/>
          </p:nvGrpSpPr>
          <p:grpSpPr>
            <a:xfrm>
              <a:off x="1186745" y="5034451"/>
              <a:ext cx="1414279" cy="1541820"/>
              <a:chOff x="2143126" y="4930775"/>
              <a:chExt cx="1414463" cy="1541463"/>
            </a:xfrm>
          </p:grpSpPr>
          <p:sp>
            <p:nvSpPr>
              <p:cNvPr id="75820" name="Freeform 5"/>
              <p:cNvSpPr/>
              <p:nvPr/>
            </p:nvSpPr>
            <p:spPr>
              <a:xfrm>
                <a:off x="2143126" y="5083175"/>
                <a:ext cx="1414463" cy="12573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solidFill>
                <a:srgbClr val="939396">
                  <a:alpha val="100000"/>
                </a:srgbClr>
              </a:solidFill>
              <a:ln w="9525">
                <a:noFill/>
              </a:ln>
            </p:spPr>
            <p:txBody>
              <a:bodyPr/>
              <a:lstStyle/>
              <a:p>
                <a:endParaRPr lang="zh-CN" altLang="en-US"/>
              </a:p>
            </p:txBody>
          </p:sp>
          <p:sp>
            <p:nvSpPr>
              <p:cNvPr id="75821" name="Freeform 6"/>
              <p:cNvSpPr/>
              <p:nvPr/>
            </p:nvSpPr>
            <p:spPr>
              <a:xfrm>
                <a:off x="2446338" y="5083175"/>
                <a:ext cx="400050" cy="12573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solidFill>
                <a:srgbClr val="B1B1B3">
                  <a:alpha val="100000"/>
                </a:srgbClr>
              </a:solidFill>
              <a:ln w="9525">
                <a:noFill/>
              </a:ln>
            </p:spPr>
            <p:txBody>
              <a:bodyPr/>
              <a:lstStyle/>
              <a:p>
                <a:endParaRPr lang="zh-CN" altLang="en-US"/>
              </a:p>
            </p:txBody>
          </p:sp>
          <p:sp>
            <p:nvSpPr>
              <p:cNvPr id="75822" name="Freeform 7"/>
              <p:cNvSpPr/>
              <p:nvPr/>
            </p:nvSpPr>
            <p:spPr>
              <a:xfrm>
                <a:off x="2700338" y="6330950"/>
                <a:ext cx="322263" cy="141288"/>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Lst>
                <a:rect l="0" t="0" r="0" b="0"/>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solidFill>
                <a:srgbClr val="6C6C6E">
                  <a:alpha val="100000"/>
                </a:srgbClr>
              </a:solidFill>
              <a:ln w="9525">
                <a:noFill/>
              </a:ln>
            </p:spPr>
            <p:txBody>
              <a:bodyPr/>
              <a:lstStyle/>
              <a:p>
                <a:endParaRPr lang="zh-CN" altLang="en-US"/>
              </a:p>
            </p:txBody>
          </p:sp>
          <p:sp>
            <p:nvSpPr>
              <p:cNvPr id="75823" name="Freeform 8"/>
              <p:cNvSpPr/>
              <p:nvPr/>
            </p:nvSpPr>
            <p:spPr>
              <a:xfrm>
                <a:off x="2579688" y="6265863"/>
                <a:ext cx="563563" cy="157163"/>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Lst>
                <a:rect l="0" t="0" r="0" b="0"/>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solidFill>
                <a:srgbClr val="575759">
                  <a:alpha val="100000"/>
                </a:srgbClr>
              </a:solidFill>
              <a:ln w="9525">
                <a:noFill/>
              </a:ln>
            </p:spPr>
            <p:txBody>
              <a:bodyPr/>
              <a:lstStyle/>
              <a:p>
                <a:endParaRPr lang="zh-CN" altLang="en-US"/>
              </a:p>
            </p:txBody>
          </p:sp>
          <p:sp>
            <p:nvSpPr>
              <p:cNvPr id="75824" name="Freeform 9"/>
              <p:cNvSpPr/>
              <p:nvPr/>
            </p:nvSpPr>
            <p:spPr>
              <a:xfrm>
                <a:off x="2505076" y="6310313"/>
                <a:ext cx="714375" cy="587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solidFill>
                <a:srgbClr val="4B4B4D">
                  <a:alpha val="100000"/>
                </a:srgbClr>
              </a:solidFill>
              <a:ln w="9525">
                <a:noFill/>
              </a:ln>
            </p:spPr>
            <p:txBody>
              <a:bodyPr/>
              <a:lstStyle/>
              <a:p>
                <a:endParaRPr lang="zh-CN" altLang="en-US"/>
              </a:p>
            </p:txBody>
          </p:sp>
          <p:sp>
            <p:nvSpPr>
              <p:cNvPr id="75825" name="Freeform 10"/>
              <p:cNvSpPr/>
              <p:nvPr/>
            </p:nvSpPr>
            <p:spPr>
              <a:xfrm>
                <a:off x="2212976" y="5440363"/>
                <a:ext cx="1306513" cy="96838"/>
              </a:xfrm>
              <a:custGeom>
                <a:avLst/>
                <a:gdLst/>
                <a:ahLst/>
                <a:cxnLst>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solidFill>
                <a:srgbClr val="6C6C6E">
                  <a:alpha val="100000"/>
                </a:srgbClr>
              </a:solidFill>
              <a:ln w="9525">
                <a:noFill/>
              </a:ln>
            </p:spPr>
            <p:txBody>
              <a:bodyPr/>
              <a:lstStyle/>
              <a:p>
                <a:endParaRPr lang="zh-CN" altLang="en-US"/>
              </a:p>
            </p:txBody>
          </p:sp>
          <p:sp>
            <p:nvSpPr>
              <p:cNvPr id="75826" name="Freeform 11"/>
              <p:cNvSpPr/>
              <p:nvPr/>
            </p:nvSpPr>
            <p:spPr>
              <a:xfrm>
                <a:off x="2189163" y="5332413"/>
                <a:ext cx="1325563" cy="100013"/>
              </a:xfrm>
              <a:custGeom>
                <a:avLst/>
                <a:gdLst/>
                <a:ahLst/>
                <a:cxnLst>
                  <a:cxn ang="0">
                    <a:pos x="0"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0" t="0" r="0" b="0"/>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solidFill>
                <a:srgbClr val="6C6C6E">
                  <a:alpha val="100000"/>
                </a:srgbClr>
              </a:solidFill>
              <a:ln w="9525">
                <a:noFill/>
              </a:ln>
            </p:spPr>
            <p:txBody>
              <a:bodyPr/>
              <a:lstStyle/>
              <a:p>
                <a:endParaRPr lang="zh-CN" altLang="en-US"/>
              </a:p>
            </p:txBody>
          </p:sp>
          <p:sp>
            <p:nvSpPr>
              <p:cNvPr id="75827" name="Freeform 12"/>
              <p:cNvSpPr/>
              <p:nvPr/>
            </p:nvSpPr>
            <p:spPr>
              <a:xfrm>
                <a:off x="2216151" y="5529263"/>
                <a:ext cx="1268413" cy="96838"/>
              </a:xfrm>
              <a:custGeom>
                <a:avLst/>
                <a:gdLst/>
                <a:ahLst/>
                <a:cxnLst>
                  <a:cxn ang="0">
                    <a:pos x="0"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0" t="0" r="0" b="0"/>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solidFill>
                <a:srgbClr val="6C6C6E">
                  <a:alpha val="100000"/>
                </a:srgbClr>
              </a:solidFill>
              <a:ln w="9525">
                <a:noFill/>
              </a:ln>
            </p:spPr>
            <p:txBody>
              <a:bodyPr/>
              <a:lstStyle/>
              <a:p>
                <a:endParaRPr lang="zh-CN" altLang="en-US"/>
              </a:p>
            </p:txBody>
          </p:sp>
          <p:sp>
            <p:nvSpPr>
              <p:cNvPr id="75828" name="Freeform 13"/>
              <p:cNvSpPr/>
              <p:nvPr/>
            </p:nvSpPr>
            <p:spPr>
              <a:xfrm>
                <a:off x="2227263" y="5614988"/>
                <a:ext cx="1285875" cy="96838"/>
              </a:xfrm>
              <a:custGeom>
                <a:avLst/>
                <a:gdLst/>
                <a:ahLst/>
                <a:cxnLst>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solidFill>
                <a:srgbClr val="6C6C6E">
                  <a:alpha val="100000"/>
                </a:srgbClr>
              </a:solidFill>
              <a:ln w="9525">
                <a:noFill/>
              </a:ln>
            </p:spPr>
            <p:txBody>
              <a:bodyPr/>
              <a:lstStyle/>
              <a:p>
                <a:endParaRPr lang="zh-CN" altLang="en-US"/>
              </a:p>
            </p:txBody>
          </p:sp>
          <p:sp>
            <p:nvSpPr>
              <p:cNvPr id="75829" name="Freeform 14"/>
              <p:cNvSpPr/>
              <p:nvPr/>
            </p:nvSpPr>
            <p:spPr>
              <a:xfrm>
                <a:off x="2219326" y="5713413"/>
                <a:ext cx="1262063" cy="96838"/>
              </a:xfrm>
              <a:custGeom>
                <a:avLst/>
                <a:gdLst/>
                <a:ahLst/>
                <a:cxnLst>
                  <a:cxn ang="0">
                    <a:pos x="0"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0" t="0" r="0" b="0"/>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solidFill>
                <a:srgbClr val="6C6C6E">
                  <a:alpha val="100000"/>
                </a:srgbClr>
              </a:solidFill>
              <a:ln w="9525">
                <a:noFill/>
              </a:ln>
            </p:spPr>
            <p:txBody>
              <a:bodyPr/>
              <a:lstStyle/>
              <a:p>
                <a:endParaRPr lang="zh-CN" altLang="en-US"/>
              </a:p>
            </p:txBody>
          </p:sp>
          <p:sp>
            <p:nvSpPr>
              <p:cNvPr id="75830" name="Freeform 15"/>
              <p:cNvSpPr/>
              <p:nvPr/>
            </p:nvSpPr>
            <p:spPr>
              <a:xfrm>
                <a:off x="2214563" y="5803900"/>
                <a:ext cx="1306513" cy="96838"/>
              </a:xfrm>
              <a:custGeom>
                <a:avLst/>
                <a:gdLst/>
                <a:ahLst/>
                <a:cxnLst>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solidFill>
                <a:srgbClr val="6C6C6E">
                  <a:alpha val="100000"/>
                </a:srgbClr>
              </a:solidFill>
              <a:ln w="9525">
                <a:noFill/>
              </a:ln>
            </p:spPr>
            <p:txBody>
              <a:bodyPr/>
              <a:lstStyle/>
              <a:p>
                <a:endParaRPr lang="zh-CN" altLang="en-US"/>
              </a:p>
            </p:txBody>
          </p:sp>
          <p:sp>
            <p:nvSpPr>
              <p:cNvPr id="75831" name="Freeform 16"/>
              <p:cNvSpPr/>
              <p:nvPr/>
            </p:nvSpPr>
            <p:spPr>
              <a:xfrm>
                <a:off x="2227263" y="5895975"/>
                <a:ext cx="1250950" cy="96838"/>
              </a:xfrm>
              <a:custGeom>
                <a:avLst/>
                <a:gdLst/>
                <a:ahLst/>
                <a:cxnLst>
                  <a:cxn ang="0">
                    <a:pos x="0"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0" t="0" r="0" b="0"/>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solidFill>
                <a:srgbClr val="6C6C6E">
                  <a:alpha val="100000"/>
                </a:srgbClr>
              </a:solidFill>
              <a:ln w="9525">
                <a:noFill/>
              </a:ln>
            </p:spPr>
            <p:txBody>
              <a:bodyPr/>
              <a:lstStyle/>
              <a:p>
                <a:endParaRPr lang="zh-CN" altLang="en-US"/>
              </a:p>
            </p:txBody>
          </p:sp>
          <p:sp>
            <p:nvSpPr>
              <p:cNvPr id="75832" name="Freeform 17"/>
              <p:cNvSpPr/>
              <p:nvPr/>
            </p:nvSpPr>
            <p:spPr>
              <a:xfrm>
                <a:off x="2246313" y="6029325"/>
                <a:ext cx="1254125" cy="3111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solidFill>
                <a:srgbClr val="6C6C6E">
                  <a:alpha val="100000"/>
                </a:srgbClr>
              </a:solidFill>
              <a:ln w="9525">
                <a:noFill/>
              </a:ln>
            </p:spPr>
            <p:txBody>
              <a:bodyPr/>
              <a:lstStyle/>
              <a:p>
                <a:endParaRPr lang="zh-CN" altLang="en-US"/>
              </a:p>
            </p:txBody>
          </p:sp>
          <p:sp>
            <p:nvSpPr>
              <p:cNvPr id="75833" name="Freeform 18"/>
              <p:cNvSpPr/>
              <p:nvPr/>
            </p:nvSpPr>
            <p:spPr>
              <a:xfrm>
                <a:off x="2470151" y="6061075"/>
                <a:ext cx="361950" cy="2794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solidFill>
                <a:srgbClr val="939396">
                  <a:alpha val="100000"/>
                </a:srgbClr>
              </a:solidFill>
              <a:ln w="9525">
                <a:noFill/>
              </a:ln>
            </p:spPr>
            <p:txBody>
              <a:bodyPr/>
              <a:lstStyle/>
              <a:p>
                <a:endParaRPr lang="zh-CN" altLang="en-US"/>
              </a:p>
            </p:txBody>
          </p:sp>
          <p:sp>
            <p:nvSpPr>
              <p:cNvPr id="75834" name="Freeform 19"/>
              <p:cNvSpPr/>
              <p:nvPr/>
            </p:nvSpPr>
            <p:spPr>
              <a:xfrm>
                <a:off x="3044826" y="5083175"/>
                <a:ext cx="512763" cy="271463"/>
              </a:xfrm>
              <a:custGeom>
                <a:avLst/>
                <a:gdLst/>
                <a:ahLst/>
                <a:cxnLst>
                  <a:cxn ang="0">
                    <a:pos x="0"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0"/>
                  </a:cxn>
                </a:cxnLst>
                <a:rect l="0" t="0" r="0" b="0"/>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solidFill>
                <a:srgbClr val="939396">
                  <a:alpha val="100000"/>
                </a:srgbClr>
              </a:solidFill>
              <a:ln w="9525">
                <a:noFill/>
              </a:ln>
            </p:spPr>
            <p:txBody>
              <a:bodyPr/>
              <a:lstStyle/>
              <a:p>
                <a:endParaRPr lang="zh-CN" altLang="en-US"/>
              </a:p>
            </p:txBody>
          </p:sp>
          <p:sp>
            <p:nvSpPr>
              <p:cNvPr id="75835" name="Freeform 20"/>
              <p:cNvSpPr/>
              <p:nvPr/>
            </p:nvSpPr>
            <p:spPr>
              <a:xfrm>
                <a:off x="3049588" y="5083175"/>
                <a:ext cx="508000" cy="269875"/>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Lst>
                <a:rect l="0" t="0" r="0" b="0"/>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solidFill>
                <a:srgbClr val="949497">
                  <a:alpha val="100000"/>
                </a:srgbClr>
              </a:solidFill>
              <a:ln w="9525">
                <a:noFill/>
              </a:ln>
            </p:spPr>
            <p:txBody>
              <a:bodyPr/>
              <a:lstStyle/>
              <a:p>
                <a:endParaRPr lang="zh-CN" altLang="en-US"/>
              </a:p>
            </p:txBody>
          </p:sp>
          <p:sp>
            <p:nvSpPr>
              <p:cNvPr id="75836" name="Freeform 21"/>
              <p:cNvSpPr/>
              <p:nvPr/>
            </p:nvSpPr>
            <p:spPr>
              <a:xfrm>
                <a:off x="3055938" y="5083175"/>
                <a:ext cx="501650" cy="269875"/>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Lst>
                <a:rect l="0" t="0" r="0" b="0"/>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solidFill>
                <a:srgbClr val="949497">
                  <a:alpha val="100000"/>
                </a:srgbClr>
              </a:solidFill>
              <a:ln w="9525">
                <a:noFill/>
              </a:ln>
            </p:spPr>
            <p:txBody>
              <a:bodyPr/>
              <a:lstStyle/>
              <a:p>
                <a:endParaRPr lang="zh-CN" altLang="en-US"/>
              </a:p>
            </p:txBody>
          </p:sp>
          <p:sp>
            <p:nvSpPr>
              <p:cNvPr id="75837" name="Freeform 22"/>
              <p:cNvSpPr/>
              <p:nvPr/>
            </p:nvSpPr>
            <p:spPr>
              <a:xfrm>
                <a:off x="3062288" y="5083175"/>
                <a:ext cx="495300"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solidFill>
                <a:srgbClr val="959598">
                  <a:alpha val="100000"/>
                </a:srgbClr>
              </a:solidFill>
              <a:ln w="9525">
                <a:noFill/>
              </a:ln>
            </p:spPr>
            <p:txBody>
              <a:bodyPr/>
              <a:lstStyle/>
              <a:p>
                <a:endParaRPr lang="zh-CN" altLang="en-US"/>
              </a:p>
            </p:txBody>
          </p:sp>
          <p:sp>
            <p:nvSpPr>
              <p:cNvPr id="75838" name="Freeform 23"/>
              <p:cNvSpPr/>
              <p:nvPr/>
            </p:nvSpPr>
            <p:spPr>
              <a:xfrm>
                <a:off x="3068638" y="5083175"/>
                <a:ext cx="488950"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solidFill>
                <a:srgbClr val="959599">
                  <a:alpha val="100000"/>
                </a:srgbClr>
              </a:solidFill>
              <a:ln w="9525">
                <a:noFill/>
              </a:ln>
            </p:spPr>
            <p:txBody>
              <a:bodyPr/>
              <a:lstStyle/>
              <a:p>
                <a:endParaRPr lang="zh-CN" altLang="en-US"/>
              </a:p>
            </p:txBody>
          </p:sp>
          <p:sp>
            <p:nvSpPr>
              <p:cNvPr id="75839" name="Freeform 24"/>
              <p:cNvSpPr/>
              <p:nvPr/>
            </p:nvSpPr>
            <p:spPr>
              <a:xfrm>
                <a:off x="3074988" y="5083175"/>
                <a:ext cx="482600"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solidFill>
                <a:srgbClr val="969699">
                  <a:alpha val="100000"/>
                </a:srgbClr>
              </a:solidFill>
              <a:ln w="9525">
                <a:noFill/>
              </a:ln>
            </p:spPr>
            <p:txBody>
              <a:bodyPr/>
              <a:lstStyle/>
              <a:p>
                <a:endParaRPr lang="zh-CN" altLang="en-US"/>
              </a:p>
            </p:txBody>
          </p:sp>
          <p:sp>
            <p:nvSpPr>
              <p:cNvPr id="75840" name="Freeform 25"/>
              <p:cNvSpPr/>
              <p:nvPr/>
            </p:nvSpPr>
            <p:spPr>
              <a:xfrm>
                <a:off x="3081338" y="5083175"/>
                <a:ext cx="476250"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solidFill>
                <a:srgbClr val="97979A">
                  <a:alpha val="100000"/>
                </a:srgbClr>
              </a:solidFill>
              <a:ln w="9525">
                <a:noFill/>
              </a:ln>
            </p:spPr>
            <p:txBody>
              <a:bodyPr/>
              <a:lstStyle/>
              <a:p>
                <a:endParaRPr lang="zh-CN" altLang="en-US"/>
              </a:p>
            </p:txBody>
          </p:sp>
          <p:sp>
            <p:nvSpPr>
              <p:cNvPr id="75841" name="Freeform 26"/>
              <p:cNvSpPr/>
              <p:nvPr/>
            </p:nvSpPr>
            <p:spPr>
              <a:xfrm>
                <a:off x="3086101" y="5083175"/>
                <a:ext cx="471488"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0"/>
                  </a:cxn>
                  <a:cxn ang="0">
                    <a:pos x="0" y="0"/>
                  </a:cxn>
                </a:cxnLst>
                <a:rect l="0" t="0" r="0" b="0"/>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solidFill>
                <a:srgbClr val="97979A">
                  <a:alpha val="100000"/>
                </a:srgbClr>
              </a:solidFill>
              <a:ln w="9525">
                <a:noFill/>
              </a:ln>
            </p:spPr>
            <p:txBody>
              <a:bodyPr/>
              <a:lstStyle/>
              <a:p>
                <a:endParaRPr lang="zh-CN" altLang="en-US"/>
              </a:p>
            </p:txBody>
          </p:sp>
          <p:sp>
            <p:nvSpPr>
              <p:cNvPr id="75842" name="Freeform 27"/>
              <p:cNvSpPr/>
              <p:nvPr/>
            </p:nvSpPr>
            <p:spPr>
              <a:xfrm>
                <a:off x="3092451" y="5083175"/>
                <a:ext cx="465138"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solidFill>
                <a:srgbClr val="98989B">
                  <a:alpha val="100000"/>
                </a:srgbClr>
              </a:solidFill>
              <a:ln w="9525">
                <a:noFill/>
              </a:ln>
            </p:spPr>
            <p:txBody>
              <a:bodyPr/>
              <a:lstStyle/>
              <a:p>
                <a:endParaRPr lang="zh-CN" altLang="en-US"/>
              </a:p>
            </p:txBody>
          </p:sp>
          <p:sp>
            <p:nvSpPr>
              <p:cNvPr id="75843" name="Freeform 28"/>
              <p:cNvSpPr/>
              <p:nvPr/>
            </p:nvSpPr>
            <p:spPr>
              <a:xfrm>
                <a:off x="3098801" y="5083175"/>
                <a:ext cx="458788" cy="266700"/>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solidFill>
                <a:srgbClr val="99999C">
                  <a:alpha val="100000"/>
                </a:srgbClr>
              </a:solidFill>
              <a:ln w="9525">
                <a:noFill/>
              </a:ln>
            </p:spPr>
            <p:txBody>
              <a:bodyPr/>
              <a:lstStyle/>
              <a:p>
                <a:endParaRPr lang="zh-CN" altLang="en-US"/>
              </a:p>
            </p:txBody>
          </p:sp>
          <p:sp>
            <p:nvSpPr>
              <p:cNvPr id="75844" name="Freeform 29"/>
              <p:cNvSpPr/>
              <p:nvPr/>
            </p:nvSpPr>
            <p:spPr>
              <a:xfrm>
                <a:off x="3105151" y="5083175"/>
                <a:ext cx="452438" cy="265113"/>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solidFill>
                <a:srgbClr val="99999C">
                  <a:alpha val="100000"/>
                </a:srgbClr>
              </a:solidFill>
              <a:ln w="9525">
                <a:noFill/>
              </a:ln>
            </p:spPr>
            <p:txBody>
              <a:bodyPr/>
              <a:lstStyle/>
              <a:p>
                <a:endParaRPr lang="zh-CN" altLang="en-US"/>
              </a:p>
            </p:txBody>
          </p:sp>
          <p:sp>
            <p:nvSpPr>
              <p:cNvPr id="75845" name="Freeform 30"/>
              <p:cNvSpPr/>
              <p:nvPr/>
            </p:nvSpPr>
            <p:spPr>
              <a:xfrm>
                <a:off x="3111501" y="5083175"/>
                <a:ext cx="446088" cy="265113"/>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solidFill>
                <a:srgbClr val="9A9A9D">
                  <a:alpha val="100000"/>
                </a:srgbClr>
              </a:solidFill>
              <a:ln w="9525">
                <a:noFill/>
              </a:ln>
            </p:spPr>
            <p:txBody>
              <a:bodyPr/>
              <a:lstStyle/>
              <a:p>
                <a:endParaRPr lang="zh-CN" altLang="en-US"/>
              </a:p>
            </p:txBody>
          </p:sp>
          <p:sp>
            <p:nvSpPr>
              <p:cNvPr id="75846" name="Freeform 31"/>
              <p:cNvSpPr/>
              <p:nvPr/>
            </p:nvSpPr>
            <p:spPr>
              <a:xfrm>
                <a:off x="3116263" y="5083175"/>
                <a:ext cx="441325" cy="2651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solidFill>
                <a:srgbClr val="9A9A9E">
                  <a:alpha val="100000"/>
                </a:srgbClr>
              </a:solidFill>
              <a:ln w="9525">
                <a:noFill/>
              </a:ln>
            </p:spPr>
            <p:txBody>
              <a:bodyPr/>
              <a:lstStyle/>
              <a:p>
                <a:endParaRPr lang="zh-CN" altLang="en-US"/>
              </a:p>
            </p:txBody>
          </p:sp>
          <p:sp>
            <p:nvSpPr>
              <p:cNvPr id="75847" name="Freeform 32"/>
              <p:cNvSpPr/>
              <p:nvPr/>
            </p:nvSpPr>
            <p:spPr>
              <a:xfrm>
                <a:off x="3122613" y="5083175"/>
                <a:ext cx="434975" cy="2651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solidFill>
                <a:srgbClr val="9B9B9E">
                  <a:alpha val="100000"/>
                </a:srgbClr>
              </a:solidFill>
              <a:ln w="9525">
                <a:noFill/>
              </a:ln>
            </p:spPr>
            <p:txBody>
              <a:bodyPr/>
              <a:lstStyle/>
              <a:p>
                <a:endParaRPr lang="zh-CN" altLang="en-US"/>
              </a:p>
            </p:txBody>
          </p:sp>
          <p:sp>
            <p:nvSpPr>
              <p:cNvPr id="75848" name="Freeform 33"/>
              <p:cNvSpPr/>
              <p:nvPr/>
            </p:nvSpPr>
            <p:spPr>
              <a:xfrm>
                <a:off x="3128963" y="5083175"/>
                <a:ext cx="428625" cy="265113"/>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solidFill>
                <a:srgbClr val="9C9C9F">
                  <a:alpha val="100000"/>
                </a:srgbClr>
              </a:solidFill>
              <a:ln w="9525">
                <a:noFill/>
              </a:ln>
            </p:spPr>
            <p:txBody>
              <a:bodyPr/>
              <a:lstStyle/>
              <a:p>
                <a:endParaRPr lang="zh-CN" altLang="en-US"/>
              </a:p>
            </p:txBody>
          </p:sp>
          <p:sp>
            <p:nvSpPr>
              <p:cNvPr id="75849" name="Freeform 34"/>
              <p:cNvSpPr/>
              <p:nvPr/>
            </p:nvSpPr>
            <p:spPr>
              <a:xfrm>
                <a:off x="3135313" y="5083175"/>
                <a:ext cx="422275" cy="265113"/>
              </a:xfrm>
              <a:custGeom>
                <a:avLst/>
                <a:gdLst/>
                <a:ahLst/>
                <a:cxnLst>
                  <a:cxn ang="0">
                    <a:pos x="0" y="0"/>
                  </a:cxn>
                  <a:cxn ang="0">
                    <a:pos x="0"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0"/>
                  </a:cxn>
                  <a:cxn ang="0">
                    <a:pos x="0" y="0"/>
                  </a:cxn>
                </a:cxnLst>
                <a:rect l="0" t="0" r="0" b="0"/>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solidFill>
                <a:srgbClr val="9C9C9F">
                  <a:alpha val="100000"/>
                </a:srgbClr>
              </a:solidFill>
              <a:ln w="9525">
                <a:noFill/>
              </a:ln>
            </p:spPr>
            <p:txBody>
              <a:bodyPr/>
              <a:lstStyle/>
              <a:p>
                <a:endParaRPr lang="zh-CN" altLang="en-US"/>
              </a:p>
            </p:txBody>
          </p:sp>
          <p:sp>
            <p:nvSpPr>
              <p:cNvPr id="75850" name="Freeform 35"/>
              <p:cNvSpPr/>
              <p:nvPr/>
            </p:nvSpPr>
            <p:spPr>
              <a:xfrm>
                <a:off x="3138488" y="5083175"/>
                <a:ext cx="419100" cy="2651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solidFill>
                <a:srgbClr val="9D9DA0">
                  <a:alpha val="100000"/>
                </a:srgbClr>
              </a:solidFill>
              <a:ln w="9525">
                <a:noFill/>
              </a:ln>
            </p:spPr>
            <p:txBody>
              <a:bodyPr/>
              <a:lstStyle/>
              <a:p>
                <a:endParaRPr lang="zh-CN" altLang="en-US"/>
              </a:p>
            </p:txBody>
          </p:sp>
          <p:sp>
            <p:nvSpPr>
              <p:cNvPr id="75851" name="Freeform 36"/>
              <p:cNvSpPr/>
              <p:nvPr/>
            </p:nvSpPr>
            <p:spPr>
              <a:xfrm>
                <a:off x="3144838" y="5083175"/>
                <a:ext cx="412750" cy="2651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solidFill>
                <a:srgbClr val="9D9DA1">
                  <a:alpha val="100000"/>
                </a:srgbClr>
              </a:solidFill>
              <a:ln w="9525">
                <a:noFill/>
              </a:ln>
            </p:spPr>
            <p:txBody>
              <a:bodyPr/>
              <a:lstStyle/>
              <a:p>
                <a:endParaRPr lang="zh-CN" altLang="en-US"/>
              </a:p>
            </p:txBody>
          </p:sp>
          <p:sp>
            <p:nvSpPr>
              <p:cNvPr id="75852" name="Freeform 37"/>
              <p:cNvSpPr/>
              <p:nvPr/>
            </p:nvSpPr>
            <p:spPr>
              <a:xfrm>
                <a:off x="3152776" y="5083175"/>
                <a:ext cx="404813" cy="2651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solidFill>
                <a:srgbClr val="9E9EA1">
                  <a:alpha val="100000"/>
                </a:srgbClr>
              </a:solidFill>
              <a:ln w="9525">
                <a:noFill/>
              </a:ln>
            </p:spPr>
            <p:txBody>
              <a:bodyPr/>
              <a:lstStyle/>
              <a:p>
                <a:endParaRPr lang="zh-CN" altLang="en-US"/>
              </a:p>
            </p:txBody>
          </p:sp>
          <p:sp>
            <p:nvSpPr>
              <p:cNvPr id="75853" name="Freeform 38"/>
              <p:cNvSpPr/>
              <p:nvPr/>
            </p:nvSpPr>
            <p:spPr>
              <a:xfrm>
                <a:off x="3159126" y="5083175"/>
                <a:ext cx="398463" cy="2651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solidFill>
                <a:srgbClr val="9F9FA2">
                  <a:alpha val="100000"/>
                </a:srgbClr>
              </a:solidFill>
              <a:ln w="9525">
                <a:noFill/>
              </a:ln>
            </p:spPr>
            <p:txBody>
              <a:bodyPr/>
              <a:lstStyle/>
              <a:p>
                <a:endParaRPr lang="zh-CN" altLang="en-US"/>
              </a:p>
            </p:txBody>
          </p:sp>
          <p:sp>
            <p:nvSpPr>
              <p:cNvPr id="75854" name="Freeform 39"/>
              <p:cNvSpPr/>
              <p:nvPr/>
            </p:nvSpPr>
            <p:spPr>
              <a:xfrm>
                <a:off x="3162301" y="5083175"/>
                <a:ext cx="395288"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solidFill>
                <a:srgbClr val="9F9FA3">
                  <a:alpha val="100000"/>
                </a:srgbClr>
              </a:solidFill>
              <a:ln w="9525">
                <a:noFill/>
              </a:ln>
            </p:spPr>
            <p:txBody>
              <a:bodyPr/>
              <a:lstStyle/>
              <a:p>
                <a:endParaRPr lang="zh-CN" altLang="en-US"/>
              </a:p>
            </p:txBody>
          </p:sp>
          <p:sp>
            <p:nvSpPr>
              <p:cNvPr id="75855" name="Freeform 40"/>
              <p:cNvSpPr/>
              <p:nvPr/>
            </p:nvSpPr>
            <p:spPr>
              <a:xfrm>
                <a:off x="3168651" y="5083175"/>
                <a:ext cx="388938"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solidFill>
                <a:srgbClr val="A0A0A3">
                  <a:alpha val="100000"/>
                </a:srgbClr>
              </a:solidFill>
              <a:ln w="9525">
                <a:noFill/>
              </a:ln>
            </p:spPr>
            <p:txBody>
              <a:bodyPr/>
              <a:lstStyle/>
              <a:p>
                <a:endParaRPr lang="zh-CN" altLang="en-US"/>
              </a:p>
            </p:txBody>
          </p:sp>
          <p:sp>
            <p:nvSpPr>
              <p:cNvPr id="75856" name="Freeform 41"/>
              <p:cNvSpPr/>
              <p:nvPr/>
            </p:nvSpPr>
            <p:spPr>
              <a:xfrm>
                <a:off x="3175001" y="5083175"/>
                <a:ext cx="382588"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solidFill>
                <a:srgbClr val="A1A1A4">
                  <a:alpha val="100000"/>
                </a:srgbClr>
              </a:solidFill>
              <a:ln w="9525">
                <a:noFill/>
              </a:ln>
            </p:spPr>
            <p:txBody>
              <a:bodyPr/>
              <a:lstStyle/>
              <a:p>
                <a:endParaRPr lang="zh-CN" altLang="en-US"/>
              </a:p>
            </p:txBody>
          </p:sp>
          <p:sp>
            <p:nvSpPr>
              <p:cNvPr id="75857" name="Freeform 42"/>
              <p:cNvSpPr/>
              <p:nvPr/>
            </p:nvSpPr>
            <p:spPr>
              <a:xfrm>
                <a:off x="3182938" y="5083175"/>
                <a:ext cx="374650"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solidFill>
                <a:srgbClr val="A1A1A4">
                  <a:alpha val="100000"/>
                </a:srgbClr>
              </a:solidFill>
              <a:ln w="9525">
                <a:noFill/>
              </a:ln>
            </p:spPr>
            <p:txBody>
              <a:bodyPr/>
              <a:lstStyle/>
              <a:p>
                <a:endParaRPr lang="zh-CN" altLang="en-US"/>
              </a:p>
            </p:txBody>
          </p:sp>
          <p:sp>
            <p:nvSpPr>
              <p:cNvPr id="75858" name="Freeform 43"/>
              <p:cNvSpPr/>
              <p:nvPr/>
            </p:nvSpPr>
            <p:spPr>
              <a:xfrm>
                <a:off x="3189288" y="5083175"/>
                <a:ext cx="368300"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solidFill>
                <a:srgbClr val="A2A2A5">
                  <a:alpha val="100000"/>
                </a:srgbClr>
              </a:solidFill>
              <a:ln w="9525">
                <a:noFill/>
              </a:ln>
            </p:spPr>
            <p:txBody>
              <a:bodyPr/>
              <a:lstStyle/>
              <a:p>
                <a:endParaRPr lang="zh-CN" altLang="en-US"/>
              </a:p>
            </p:txBody>
          </p:sp>
          <p:sp>
            <p:nvSpPr>
              <p:cNvPr id="75859" name="Freeform 44"/>
              <p:cNvSpPr/>
              <p:nvPr/>
            </p:nvSpPr>
            <p:spPr>
              <a:xfrm>
                <a:off x="3192463" y="5083175"/>
                <a:ext cx="365125"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solidFill>
                <a:srgbClr val="A2A2A6">
                  <a:alpha val="100000"/>
                </a:srgbClr>
              </a:solidFill>
              <a:ln w="9525">
                <a:noFill/>
              </a:ln>
            </p:spPr>
            <p:txBody>
              <a:bodyPr/>
              <a:lstStyle/>
              <a:p>
                <a:endParaRPr lang="zh-CN" altLang="en-US"/>
              </a:p>
            </p:txBody>
          </p:sp>
          <p:sp>
            <p:nvSpPr>
              <p:cNvPr id="75860" name="Freeform 45"/>
              <p:cNvSpPr/>
              <p:nvPr/>
            </p:nvSpPr>
            <p:spPr>
              <a:xfrm>
                <a:off x="3198813" y="5083175"/>
                <a:ext cx="358775"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solidFill>
                <a:srgbClr val="A3A3A6">
                  <a:alpha val="100000"/>
                </a:srgbClr>
              </a:solidFill>
              <a:ln w="9525">
                <a:noFill/>
              </a:ln>
            </p:spPr>
            <p:txBody>
              <a:bodyPr/>
              <a:lstStyle/>
              <a:p>
                <a:endParaRPr lang="zh-CN" altLang="en-US"/>
              </a:p>
            </p:txBody>
          </p:sp>
          <p:sp>
            <p:nvSpPr>
              <p:cNvPr id="75861" name="Freeform 46"/>
              <p:cNvSpPr/>
              <p:nvPr/>
            </p:nvSpPr>
            <p:spPr>
              <a:xfrm>
                <a:off x="3205163" y="5083175"/>
                <a:ext cx="352425"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solidFill>
                <a:srgbClr val="A4A4A7">
                  <a:alpha val="100000"/>
                </a:srgbClr>
              </a:solidFill>
              <a:ln w="9525">
                <a:noFill/>
              </a:ln>
            </p:spPr>
            <p:txBody>
              <a:bodyPr/>
              <a:lstStyle/>
              <a:p>
                <a:endParaRPr lang="zh-CN" altLang="en-US"/>
              </a:p>
            </p:txBody>
          </p:sp>
          <p:sp>
            <p:nvSpPr>
              <p:cNvPr id="75862" name="Freeform 47"/>
              <p:cNvSpPr/>
              <p:nvPr/>
            </p:nvSpPr>
            <p:spPr>
              <a:xfrm>
                <a:off x="3211513" y="5083175"/>
                <a:ext cx="346075" cy="263525"/>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solidFill>
                <a:srgbClr val="A4A4A8">
                  <a:alpha val="100000"/>
                </a:srgbClr>
              </a:solidFill>
              <a:ln w="9525">
                <a:noFill/>
              </a:ln>
            </p:spPr>
            <p:txBody>
              <a:bodyPr/>
              <a:lstStyle/>
              <a:p>
                <a:endParaRPr lang="zh-CN" altLang="en-US"/>
              </a:p>
            </p:txBody>
          </p:sp>
          <p:sp>
            <p:nvSpPr>
              <p:cNvPr id="75863" name="Freeform 48"/>
              <p:cNvSpPr/>
              <p:nvPr/>
            </p:nvSpPr>
            <p:spPr>
              <a:xfrm>
                <a:off x="3216276" y="5083175"/>
                <a:ext cx="341313"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solidFill>
                <a:srgbClr val="A5A5A8">
                  <a:alpha val="100000"/>
                </a:srgbClr>
              </a:solidFill>
              <a:ln w="9525">
                <a:noFill/>
              </a:ln>
            </p:spPr>
            <p:txBody>
              <a:bodyPr/>
              <a:lstStyle/>
              <a:p>
                <a:endParaRPr lang="zh-CN" altLang="en-US"/>
              </a:p>
            </p:txBody>
          </p:sp>
          <p:sp>
            <p:nvSpPr>
              <p:cNvPr id="75864" name="Freeform 49"/>
              <p:cNvSpPr/>
              <p:nvPr/>
            </p:nvSpPr>
            <p:spPr>
              <a:xfrm>
                <a:off x="3222626" y="5083175"/>
                <a:ext cx="334963"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solidFill>
                <a:srgbClr val="A6A6A9">
                  <a:alpha val="100000"/>
                </a:srgbClr>
              </a:solidFill>
              <a:ln w="9525">
                <a:noFill/>
              </a:ln>
            </p:spPr>
            <p:txBody>
              <a:bodyPr/>
              <a:lstStyle/>
              <a:p>
                <a:endParaRPr lang="zh-CN" altLang="en-US"/>
              </a:p>
            </p:txBody>
          </p:sp>
          <p:sp>
            <p:nvSpPr>
              <p:cNvPr id="75865" name="Freeform 50"/>
              <p:cNvSpPr/>
              <p:nvPr/>
            </p:nvSpPr>
            <p:spPr>
              <a:xfrm>
                <a:off x="3228976" y="5083175"/>
                <a:ext cx="328613"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solidFill>
                <a:srgbClr val="A6A6AA">
                  <a:alpha val="100000"/>
                </a:srgbClr>
              </a:solidFill>
              <a:ln w="9525">
                <a:noFill/>
              </a:ln>
            </p:spPr>
            <p:txBody>
              <a:bodyPr/>
              <a:lstStyle/>
              <a:p>
                <a:endParaRPr lang="zh-CN" altLang="en-US"/>
              </a:p>
            </p:txBody>
          </p:sp>
          <p:sp>
            <p:nvSpPr>
              <p:cNvPr id="75866" name="Freeform 51"/>
              <p:cNvSpPr/>
              <p:nvPr/>
            </p:nvSpPr>
            <p:spPr>
              <a:xfrm>
                <a:off x="3235326" y="5083175"/>
                <a:ext cx="322263"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solidFill>
                <a:srgbClr val="A7A7AA">
                  <a:alpha val="100000"/>
                </a:srgbClr>
              </a:solidFill>
              <a:ln w="9525">
                <a:noFill/>
              </a:ln>
            </p:spPr>
            <p:txBody>
              <a:bodyPr/>
              <a:lstStyle/>
              <a:p>
                <a:endParaRPr lang="zh-CN" altLang="en-US"/>
              </a:p>
            </p:txBody>
          </p:sp>
          <p:sp>
            <p:nvSpPr>
              <p:cNvPr id="75867" name="Freeform 52"/>
              <p:cNvSpPr/>
              <p:nvPr/>
            </p:nvSpPr>
            <p:spPr>
              <a:xfrm>
                <a:off x="3240088" y="5083175"/>
                <a:ext cx="317500"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solidFill>
                <a:srgbClr val="A7A7AB">
                  <a:alpha val="100000"/>
                </a:srgbClr>
              </a:solidFill>
              <a:ln w="9525">
                <a:noFill/>
              </a:ln>
            </p:spPr>
            <p:txBody>
              <a:bodyPr/>
              <a:lstStyle/>
              <a:p>
                <a:endParaRPr lang="zh-CN" altLang="en-US"/>
              </a:p>
            </p:txBody>
          </p:sp>
          <p:sp>
            <p:nvSpPr>
              <p:cNvPr id="75868" name="Freeform 53"/>
              <p:cNvSpPr/>
              <p:nvPr/>
            </p:nvSpPr>
            <p:spPr>
              <a:xfrm>
                <a:off x="3246438" y="5083175"/>
                <a:ext cx="311150"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solidFill>
                <a:srgbClr val="A8A8AB">
                  <a:alpha val="100000"/>
                </a:srgbClr>
              </a:solidFill>
              <a:ln w="9525">
                <a:noFill/>
              </a:ln>
            </p:spPr>
            <p:txBody>
              <a:bodyPr/>
              <a:lstStyle/>
              <a:p>
                <a:endParaRPr lang="zh-CN" altLang="en-US"/>
              </a:p>
            </p:txBody>
          </p:sp>
          <p:sp>
            <p:nvSpPr>
              <p:cNvPr id="75869" name="Freeform 54"/>
              <p:cNvSpPr/>
              <p:nvPr/>
            </p:nvSpPr>
            <p:spPr>
              <a:xfrm>
                <a:off x="3252788" y="5083175"/>
                <a:ext cx="304800"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solidFill>
                <a:srgbClr val="A9A9AC">
                  <a:alpha val="100000"/>
                </a:srgbClr>
              </a:solidFill>
              <a:ln w="9525">
                <a:noFill/>
              </a:ln>
            </p:spPr>
            <p:txBody>
              <a:bodyPr/>
              <a:lstStyle/>
              <a:p>
                <a:endParaRPr lang="zh-CN" altLang="en-US"/>
              </a:p>
            </p:txBody>
          </p:sp>
          <p:sp>
            <p:nvSpPr>
              <p:cNvPr id="75870" name="Freeform 55"/>
              <p:cNvSpPr/>
              <p:nvPr/>
            </p:nvSpPr>
            <p:spPr>
              <a:xfrm>
                <a:off x="3259138" y="5083175"/>
                <a:ext cx="298450"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solidFill>
                <a:srgbClr val="A9A9AD">
                  <a:alpha val="100000"/>
                </a:srgbClr>
              </a:solidFill>
              <a:ln w="9525">
                <a:noFill/>
              </a:ln>
            </p:spPr>
            <p:txBody>
              <a:bodyPr/>
              <a:lstStyle/>
              <a:p>
                <a:endParaRPr lang="zh-CN" altLang="en-US"/>
              </a:p>
            </p:txBody>
          </p:sp>
          <p:sp>
            <p:nvSpPr>
              <p:cNvPr id="75871" name="Freeform 56"/>
              <p:cNvSpPr/>
              <p:nvPr/>
            </p:nvSpPr>
            <p:spPr>
              <a:xfrm>
                <a:off x="3265488" y="5083175"/>
                <a:ext cx="292100"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solidFill>
                <a:srgbClr val="AAAAAD">
                  <a:alpha val="100000"/>
                </a:srgbClr>
              </a:solidFill>
              <a:ln w="9525">
                <a:noFill/>
              </a:ln>
            </p:spPr>
            <p:txBody>
              <a:bodyPr/>
              <a:lstStyle/>
              <a:p>
                <a:endParaRPr lang="zh-CN" altLang="en-US"/>
              </a:p>
            </p:txBody>
          </p:sp>
          <p:sp>
            <p:nvSpPr>
              <p:cNvPr id="75872" name="Freeform 57"/>
              <p:cNvSpPr/>
              <p:nvPr/>
            </p:nvSpPr>
            <p:spPr>
              <a:xfrm>
                <a:off x="3270251" y="5083175"/>
                <a:ext cx="287338" cy="26035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solidFill>
                <a:srgbClr val="AAAAAE">
                  <a:alpha val="100000"/>
                </a:srgbClr>
              </a:solidFill>
              <a:ln w="9525">
                <a:noFill/>
              </a:ln>
            </p:spPr>
            <p:txBody>
              <a:bodyPr/>
              <a:lstStyle/>
              <a:p>
                <a:endParaRPr lang="zh-CN" altLang="en-US"/>
              </a:p>
            </p:txBody>
          </p:sp>
          <p:sp>
            <p:nvSpPr>
              <p:cNvPr id="75873" name="Freeform 58"/>
              <p:cNvSpPr/>
              <p:nvPr/>
            </p:nvSpPr>
            <p:spPr>
              <a:xfrm>
                <a:off x="3276601" y="5083175"/>
                <a:ext cx="280988"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solidFill>
                <a:srgbClr val="ABABAF">
                  <a:alpha val="100000"/>
                </a:srgbClr>
              </a:solidFill>
              <a:ln w="9525">
                <a:noFill/>
              </a:ln>
            </p:spPr>
            <p:txBody>
              <a:bodyPr/>
              <a:lstStyle/>
              <a:p>
                <a:endParaRPr lang="zh-CN" altLang="en-US"/>
              </a:p>
            </p:txBody>
          </p:sp>
          <p:sp>
            <p:nvSpPr>
              <p:cNvPr id="75874" name="Freeform 59"/>
              <p:cNvSpPr/>
              <p:nvPr/>
            </p:nvSpPr>
            <p:spPr>
              <a:xfrm>
                <a:off x="3282951" y="5083175"/>
                <a:ext cx="274638"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solidFill>
                <a:srgbClr val="ACACAF">
                  <a:alpha val="100000"/>
                </a:srgbClr>
              </a:solidFill>
              <a:ln w="9525">
                <a:noFill/>
              </a:ln>
            </p:spPr>
            <p:txBody>
              <a:bodyPr/>
              <a:lstStyle/>
              <a:p>
                <a:endParaRPr lang="zh-CN" altLang="en-US"/>
              </a:p>
            </p:txBody>
          </p:sp>
          <p:sp>
            <p:nvSpPr>
              <p:cNvPr id="75875" name="Freeform 60"/>
              <p:cNvSpPr/>
              <p:nvPr/>
            </p:nvSpPr>
            <p:spPr>
              <a:xfrm>
                <a:off x="3289301" y="5083175"/>
                <a:ext cx="268288"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solidFill>
                <a:srgbClr val="ACACB0">
                  <a:alpha val="100000"/>
                </a:srgbClr>
              </a:solidFill>
              <a:ln w="9525">
                <a:noFill/>
              </a:ln>
            </p:spPr>
            <p:txBody>
              <a:bodyPr/>
              <a:lstStyle/>
              <a:p>
                <a:endParaRPr lang="zh-CN" altLang="en-US"/>
              </a:p>
            </p:txBody>
          </p:sp>
          <p:sp>
            <p:nvSpPr>
              <p:cNvPr id="75876" name="Freeform 61"/>
              <p:cNvSpPr/>
              <p:nvPr/>
            </p:nvSpPr>
            <p:spPr>
              <a:xfrm>
                <a:off x="3294063" y="5083175"/>
                <a:ext cx="263525"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solidFill>
                <a:srgbClr val="ADADB0">
                  <a:alpha val="100000"/>
                </a:srgbClr>
              </a:solidFill>
              <a:ln w="9525">
                <a:noFill/>
              </a:ln>
            </p:spPr>
            <p:txBody>
              <a:bodyPr/>
              <a:lstStyle/>
              <a:p>
                <a:endParaRPr lang="zh-CN" altLang="en-US"/>
              </a:p>
            </p:txBody>
          </p:sp>
          <p:sp>
            <p:nvSpPr>
              <p:cNvPr id="75877" name="Freeform 62"/>
              <p:cNvSpPr/>
              <p:nvPr/>
            </p:nvSpPr>
            <p:spPr>
              <a:xfrm>
                <a:off x="3300413" y="5083175"/>
                <a:ext cx="257175"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solidFill>
                <a:srgbClr val="AEAEB1">
                  <a:alpha val="100000"/>
                </a:srgbClr>
              </a:solidFill>
              <a:ln w="9525">
                <a:noFill/>
              </a:ln>
            </p:spPr>
            <p:txBody>
              <a:bodyPr/>
              <a:lstStyle/>
              <a:p>
                <a:endParaRPr lang="zh-CN" altLang="en-US"/>
              </a:p>
            </p:txBody>
          </p:sp>
          <p:sp>
            <p:nvSpPr>
              <p:cNvPr id="75878" name="Freeform 63"/>
              <p:cNvSpPr/>
              <p:nvPr/>
            </p:nvSpPr>
            <p:spPr>
              <a:xfrm>
                <a:off x="3306763" y="5083175"/>
                <a:ext cx="250825"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solidFill>
                <a:srgbClr val="AEAEB2">
                  <a:alpha val="100000"/>
                </a:srgbClr>
              </a:solidFill>
              <a:ln w="9525">
                <a:noFill/>
              </a:ln>
            </p:spPr>
            <p:txBody>
              <a:bodyPr/>
              <a:lstStyle/>
              <a:p>
                <a:endParaRPr lang="zh-CN" altLang="en-US"/>
              </a:p>
            </p:txBody>
          </p:sp>
          <p:sp>
            <p:nvSpPr>
              <p:cNvPr id="75879" name="Freeform 64"/>
              <p:cNvSpPr/>
              <p:nvPr/>
            </p:nvSpPr>
            <p:spPr>
              <a:xfrm>
                <a:off x="3313113" y="5083175"/>
                <a:ext cx="244475"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solidFill>
                <a:srgbClr val="AFAFB2">
                  <a:alpha val="100000"/>
                </a:srgbClr>
              </a:solidFill>
              <a:ln w="9525">
                <a:noFill/>
              </a:ln>
            </p:spPr>
            <p:txBody>
              <a:bodyPr/>
              <a:lstStyle/>
              <a:p>
                <a:endParaRPr lang="zh-CN" altLang="en-US"/>
              </a:p>
            </p:txBody>
          </p:sp>
          <p:sp>
            <p:nvSpPr>
              <p:cNvPr id="75880" name="Freeform 65"/>
              <p:cNvSpPr/>
              <p:nvPr/>
            </p:nvSpPr>
            <p:spPr>
              <a:xfrm>
                <a:off x="3317876" y="5083175"/>
                <a:ext cx="239713"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solidFill>
                <a:srgbClr val="AFAFB3">
                  <a:alpha val="100000"/>
                </a:srgbClr>
              </a:solidFill>
              <a:ln w="9525">
                <a:noFill/>
              </a:ln>
            </p:spPr>
            <p:txBody>
              <a:bodyPr/>
              <a:lstStyle/>
              <a:p>
                <a:endParaRPr lang="zh-CN" altLang="en-US"/>
              </a:p>
            </p:txBody>
          </p:sp>
          <p:sp>
            <p:nvSpPr>
              <p:cNvPr id="75881" name="Freeform 66"/>
              <p:cNvSpPr/>
              <p:nvPr/>
            </p:nvSpPr>
            <p:spPr>
              <a:xfrm>
                <a:off x="3324226" y="5083175"/>
                <a:ext cx="233363"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solidFill>
                <a:srgbClr val="B0B0B4">
                  <a:alpha val="100000"/>
                </a:srgbClr>
              </a:solidFill>
              <a:ln w="9525">
                <a:noFill/>
              </a:ln>
            </p:spPr>
            <p:txBody>
              <a:bodyPr/>
              <a:lstStyle/>
              <a:p>
                <a:endParaRPr lang="zh-CN" altLang="en-US"/>
              </a:p>
            </p:txBody>
          </p:sp>
          <p:sp>
            <p:nvSpPr>
              <p:cNvPr id="75882" name="Freeform 67"/>
              <p:cNvSpPr/>
              <p:nvPr/>
            </p:nvSpPr>
            <p:spPr>
              <a:xfrm>
                <a:off x="3330576" y="5083175"/>
                <a:ext cx="227013" cy="25876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solidFill>
                <a:srgbClr val="B1B1B4">
                  <a:alpha val="100000"/>
                </a:srgbClr>
              </a:solidFill>
              <a:ln w="9525">
                <a:noFill/>
              </a:ln>
            </p:spPr>
            <p:txBody>
              <a:bodyPr/>
              <a:lstStyle/>
              <a:p>
                <a:endParaRPr lang="zh-CN" altLang="en-US"/>
              </a:p>
            </p:txBody>
          </p:sp>
          <p:sp>
            <p:nvSpPr>
              <p:cNvPr id="75883" name="Freeform 68"/>
              <p:cNvSpPr/>
              <p:nvPr/>
            </p:nvSpPr>
            <p:spPr>
              <a:xfrm>
                <a:off x="3336926" y="5083175"/>
                <a:ext cx="220663"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solidFill>
                <a:srgbClr val="B1B1B5">
                  <a:alpha val="100000"/>
                </a:srgbClr>
              </a:solidFill>
              <a:ln w="9525">
                <a:noFill/>
              </a:ln>
            </p:spPr>
            <p:txBody>
              <a:bodyPr/>
              <a:lstStyle/>
              <a:p>
                <a:endParaRPr lang="zh-CN" altLang="en-US"/>
              </a:p>
            </p:txBody>
          </p:sp>
          <p:sp>
            <p:nvSpPr>
              <p:cNvPr id="75884" name="Freeform 69"/>
              <p:cNvSpPr/>
              <p:nvPr/>
            </p:nvSpPr>
            <p:spPr>
              <a:xfrm>
                <a:off x="3343276" y="5083175"/>
                <a:ext cx="214313"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solidFill>
                <a:srgbClr val="B2B2B5">
                  <a:alpha val="100000"/>
                </a:srgbClr>
              </a:solidFill>
              <a:ln w="9525">
                <a:noFill/>
              </a:ln>
            </p:spPr>
            <p:txBody>
              <a:bodyPr/>
              <a:lstStyle/>
              <a:p>
                <a:endParaRPr lang="zh-CN" altLang="en-US"/>
              </a:p>
            </p:txBody>
          </p:sp>
          <p:sp>
            <p:nvSpPr>
              <p:cNvPr id="75885" name="Freeform 70"/>
              <p:cNvSpPr/>
              <p:nvPr/>
            </p:nvSpPr>
            <p:spPr>
              <a:xfrm>
                <a:off x="3348038" y="5083175"/>
                <a:ext cx="209550"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solidFill>
                <a:srgbClr val="B2B2B6">
                  <a:alpha val="100000"/>
                </a:srgbClr>
              </a:solidFill>
              <a:ln w="9525">
                <a:noFill/>
              </a:ln>
            </p:spPr>
            <p:txBody>
              <a:bodyPr/>
              <a:lstStyle/>
              <a:p>
                <a:endParaRPr lang="zh-CN" altLang="en-US"/>
              </a:p>
            </p:txBody>
          </p:sp>
          <p:sp>
            <p:nvSpPr>
              <p:cNvPr id="75886" name="Freeform 71"/>
              <p:cNvSpPr/>
              <p:nvPr/>
            </p:nvSpPr>
            <p:spPr>
              <a:xfrm>
                <a:off x="3354388" y="5083175"/>
                <a:ext cx="203200"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solidFill>
                <a:srgbClr val="B3B3B7">
                  <a:alpha val="100000"/>
                </a:srgbClr>
              </a:solidFill>
              <a:ln w="9525">
                <a:noFill/>
              </a:ln>
            </p:spPr>
            <p:txBody>
              <a:bodyPr/>
              <a:lstStyle/>
              <a:p>
                <a:endParaRPr lang="zh-CN" altLang="en-US"/>
              </a:p>
            </p:txBody>
          </p:sp>
          <p:sp>
            <p:nvSpPr>
              <p:cNvPr id="75887" name="Freeform 72"/>
              <p:cNvSpPr/>
              <p:nvPr/>
            </p:nvSpPr>
            <p:spPr>
              <a:xfrm>
                <a:off x="3360738" y="5083175"/>
                <a:ext cx="196850"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solidFill>
                <a:srgbClr val="B4B4B7">
                  <a:alpha val="100000"/>
                </a:srgbClr>
              </a:solidFill>
              <a:ln w="9525">
                <a:noFill/>
              </a:ln>
            </p:spPr>
            <p:txBody>
              <a:bodyPr/>
              <a:lstStyle/>
              <a:p>
                <a:endParaRPr lang="zh-CN" altLang="en-US"/>
              </a:p>
            </p:txBody>
          </p:sp>
          <p:sp>
            <p:nvSpPr>
              <p:cNvPr id="75888" name="Freeform 73"/>
              <p:cNvSpPr/>
              <p:nvPr/>
            </p:nvSpPr>
            <p:spPr>
              <a:xfrm>
                <a:off x="3367088" y="5083175"/>
                <a:ext cx="190500"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solidFill>
                <a:srgbClr val="B4B4B8">
                  <a:alpha val="100000"/>
                </a:srgbClr>
              </a:solidFill>
              <a:ln w="9525">
                <a:noFill/>
              </a:ln>
            </p:spPr>
            <p:txBody>
              <a:bodyPr/>
              <a:lstStyle/>
              <a:p>
                <a:endParaRPr lang="zh-CN" altLang="en-US"/>
              </a:p>
            </p:txBody>
          </p:sp>
          <p:sp>
            <p:nvSpPr>
              <p:cNvPr id="75889" name="Freeform 74"/>
              <p:cNvSpPr/>
              <p:nvPr/>
            </p:nvSpPr>
            <p:spPr>
              <a:xfrm>
                <a:off x="3371851" y="5083175"/>
                <a:ext cx="185738"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solidFill>
                <a:srgbClr val="B5B5B9">
                  <a:alpha val="100000"/>
                </a:srgbClr>
              </a:solidFill>
              <a:ln w="9525">
                <a:noFill/>
              </a:ln>
            </p:spPr>
            <p:txBody>
              <a:bodyPr/>
              <a:lstStyle/>
              <a:p>
                <a:endParaRPr lang="zh-CN" altLang="en-US"/>
              </a:p>
            </p:txBody>
          </p:sp>
          <p:sp>
            <p:nvSpPr>
              <p:cNvPr id="75890" name="Freeform 75"/>
              <p:cNvSpPr/>
              <p:nvPr/>
            </p:nvSpPr>
            <p:spPr>
              <a:xfrm>
                <a:off x="3378201" y="5083175"/>
                <a:ext cx="179388"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solidFill>
                <a:srgbClr val="B6B6B9">
                  <a:alpha val="100000"/>
                </a:srgbClr>
              </a:solidFill>
              <a:ln w="9525">
                <a:noFill/>
              </a:ln>
            </p:spPr>
            <p:txBody>
              <a:bodyPr/>
              <a:lstStyle/>
              <a:p>
                <a:endParaRPr lang="zh-CN" altLang="en-US"/>
              </a:p>
            </p:txBody>
          </p:sp>
          <p:sp>
            <p:nvSpPr>
              <p:cNvPr id="75891" name="Freeform 76"/>
              <p:cNvSpPr/>
              <p:nvPr/>
            </p:nvSpPr>
            <p:spPr>
              <a:xfrm>
                <a:off x="3384551" y="5083175"/>
                <a:ext cx="173038" cy="25558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solidFill>
                <a:srgbClr val="B6B6BA">
                  <a:alpha val="100000"/>
                </a:srgbClr>
              </a:solidFill>
              <a:ln w="9525">
                <a:noFill/>
              </a:ln>
            </p:spPr>
            <p:txBody>
              <a:bodyPr/>
              <a:lstStyle/>
              <a:p>
                <a:endParaRPr lang="zh-CN" altLang="en-US"/>
              </a:p>
            </p:txBody>
          </p:sp>
          <p:sp>
            <p:nvSpPr>
              <p:cNvPr id="75892" name="Freeform 77"/>
              <p:cNvSpPr/>
              <p:nvPr/>
            </p:nvSpPr>
            <p:spPr>
              <a:xfrm>
                <a:off x="3390901" y="5083175"/>
                <a:ext cx="166688"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solidFill>
                <a:srgbClr val="B7B7BB">
                  <a:alpha val="100000"/>
                </a:srgbClr>
              </a:solidFill>
              <a:ln w="9525">
                <a:noFill/>
              </a:ln>
            </p:spPr>
            <p:txBody>
              <a:bodyPr/>
              <a:lstStyle/>
              <a:p>
                <a:endParaRPr lang="zh-CN" altLang="en-US"/>
              </a:p>
            </p:txBody>
          </p:sp>
          <p:sp>
            <p:nvSpPr>
              <p:cNvPr id="75893" name="Freeform 78"/>
              <p:cNvSpPr/>
              <p:nvPr/>
            </p:nvSpPr>
            <p:spPr>
              <a:xfrm>
                <a:off x="3395663" y="5083175"/>
                <a:ext cx="161925"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solidFill>
                <a:srgbClr val="B7B7BB">
                  <a:alpha val="100000"/>
                </a:srgbClr>
              </a:solidFill>
              <a:ln w="9525">
                <a:noFill/>
              </a:ln>
            </p:spPr>
            <p:txBody>
              <a:bodyPr/>
              <a:lstStyle/>
              <a:p>
                <a:endParaRPr lang="zh-CN" altLang="en-US"/>
              </a:p>
            </p:txBody>
          </p:sp>
          <p:sp>
            <p:nvSpPr>
              <p:cNvPr id="75894" name="Freeform 79"/>
              <p:cNvSpPr/>
              <p:nvPr/>
            </p:nvSpPr>
            <p:spPr>
              <a:xfrm>
                <a:off x="3402013" y="5083175"/>
                <a:ext cx="155575"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solidFill>
                <a:srgbClr val="B8B8BC">
                  <a:alpha val="100000"/>
                </a:srgbClr>
              </a:solidFill>
              <a:ln w="9525">
                <a:noFill/>
              </a:ln>
            </p:spPr>
            <p:txBody>
              <a:bodyPr/>
              <a:lstStyle/>
              <a:p>
                <a:endParaRPr lang="zh-CN" altLang="en-US"/>
              </a:p>
            </p:txBody>
          </p:sp>
          <p:sp>
            <p:nvSpPr>
              <p:cNvPr id="75895" name="Freeform 80"/>
              <p:cNvSpPr/>
              <p:nvPr/>
            </p:nvSpPr>
            <p:spPr>
              <a:xfrm>
                <a:off x="3408363" y="5083175"/>
                <a:ext cx="149225"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solidFill>
                <a:srgbClr val="B9B9BC">
                  <a:alpha val="100000"/>
                </a:srgbClr>
              </a:solidFill>
              <a:ln w="9525">
                <a:noFill/>
              </a:ln>
            </p:spPr>
            <p:txBody>
              <a:bodyPr/>
              <a:lstStyle/>
              <a:p>
                <a:endParaRPr lang="zh-CN" altLang="en-US"/>
              </a:p>
            </p:txBody>
          </p:sp>
          <p:sp>
            <p:nvSpPr>
              <p:cNvPr id="75896" name="Freeform 81"/>
              <p:cNvSpPr/>
              <p:nvPr/>
            </p:nvSpPr>
            <p:spPr>
              <a:xfrm>
                <a:off x="3414713" y="5083175"/>
                <a:ext cx="142875"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solidFill>
                <a:srgbClr val="B9B9BD">
                  <a:alpha val="100000"/>
                </a:srgbClr>
              </a:solidFill>
              <a:ln w="9525">
                <a:noFill/>
              </a:ln>
            </p:spPr>
            <p:txBody>
              <a:bodyPr/>
              <a:lstStyle/>
              <a:p>
                <a:endParaRPr lang="zh-CN" altLang="en-US"/>
              </a:p>
            </p:txBody>
          </p:sp>
          <p:sp>
            <p:nvSpPr>
              <p:cNvPr id="75897" name="Freeform 82"/>
              <p:cNvSpPr/>
              <p:nvPr/>
            </p:nvSpPr>
            <p:spPr>
              <a:xfrm>
                <a:off x="3417888" y="5083175"/>
                <a:ext cx="139700"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solidFill>
                <a:srgbClr val="BABABE">
                  <a:alpha val="100000"/>
                </a:srgbClr>
              </a:solidFill>
              <a:ln w="9525">
                <a:noFill/>
              </a:ln>
            </p:spPr>
            <p:txBody>
              <a:bodyPr/>
              <a:lstStyle/>
              <a:p>
                <a:endParaRPr lang="zh-CN" altLang="en-US"/>
              </a:p>
            </p:txBody>
          </p:sp>
          <p:sp>
            <p:nvSpPr>
              <p:cNvPr id="75898" name="Freeform 83"/>
              <p:cNvSpPr/>
              <p:nvPr/>
            </p:nvSpPr>
            <p:spPr>
              <a:xfrm>
                <a:off x="3425826" y="5083175"/>
                <a:ext cx="131763"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solidFill>
                <a:srgbClr val="BBBBBE">
                  <a:alpha val="100000"/>
                </a:srgbClr>
              </a:solidFill>
              <a:ln w="9525">
                <a:noFill/>
              </a:ln>
            </p:spPr>
            <p:txBody>
              <a:bodyPr/>
              <a:lstStyle/>
              <a:p>
                <a:endParaRPr lang="zh-CN" altLang="en-US"/>
              </a:p>
            </p:txBody>
          </p:sp>
          <p:sp>
            <p:nvSpPr>
              <p:cNvPr id="75899" name="Freeform 84"/>
              <p:cNvSpPr/>
              <p:nvPr/>
            </p:nvSpPr>
            <p:spPr>
              <a:xfrm>
                <a:off x="3432176" y="5083175"/>
                <a:ext cx="125413"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solidFill>
                <a:srgbClr val="BBBBBF">
                  <a:alpha val="100000"/>
                </a:srgbClr>
              </a:solidFill>
              <a:ln w="9525">
                <a:noFill/>
              </a:ln>
            </p:spPr>
            <p:txBody>
              <a:bodyPr/>
              <a:lstStyle/>
              <a:p>
                <a:endParaRPr lang="zh-CN" altLang="en-US"/>
              </a:p>
            </p:txBody>
          </p:sp>
          <p:sp>
            <p:nvSpPr>
              <p:cNvPr id="75900" name="Freeform 85"/>
              <p:cNvSpPr/>
              <p:nvPr/>
            </p:nvSpPr>
            <p:spPr>
              <a:xfrm>
                <a:off x="3438526" y="5083175"/>
                <a:ext cx="119063"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solidFill>
                <a:srgbClr val="BCBCC0">
                  <a:alpha val="100000"/>
                </a:srgbClr>
              </a:solidFill>
              <a:ln w="9525">
                <a:noFill/>
              </a:ln>
            </p:spPr>
            <p:txBody>
              <a:bodyPr/>
              <a:lstStyle/>
              <a:p>
                <a:endParaRPr lang="zh-CN" altLang="en-US"/>
              </a:p>
            </p:txBody>
          </p:sp>
          <p:sp>
            <p:nvSpPr>
              <p:cNvPr id="75901" name="Freeform 86"/>
              <p:cNvSpPr/>
              <p:nvPr/>
            </p:nvSpPr>
            <p:spPr>
              <a:xfrm>
                <a:off x="3444876" y="5083175"/>
                <a:ext cx="112713" cy="254000"/>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solidFill>
                <a:srgbClr val="BCBCC0">
                  <a:alpha val="100000"/>
                </a:srgbClr>
              </a:solidFill>
              <a:ln w="9525">
                <a:noFill/>
              </a:ln>
            </p:spPr>
            <p:txBody>
              <a:bodyPr/>
              <a:lstStyle/>
              <a:p>
                <a:endParaRPr lang="zh-CN" altLang="en-US"/>
              </a:p>
            </p:txBody>
          </p:sp>
          <p:sp>
            <p:nvSpPr>
              <p:cNvPr id="75902" name="Freeform 87"/>
              <p:cNvSpPr/>
              <p:nvPr/>
            </p:nvSpPr>
            <p:spPr>
              <a:xfrm>
                <a:off x="3448051" y="5083175"/>
                <a:ext cx="109538"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solidFill>
                <a:srgbClr val="BDBDC1">
                  <a:alpha val="100000"/>
                </a:srgbClr>
              </a:solidFill>
              <a:ln w="9525">
                <a:noFill/>
              </a:ln>
            </p:spPr>
            <p:txBody>
              <a:bodyPr/>
              <a:lstStyle/>
              <a:p>
                <a:endParaRPr lang="zh-CN" altLang="en-US"/>
              </a:p>
            </p:txBody>
          </p:sp>
          <p:sp>
            <p:nvSpPr>
              <p:cNvPr id="75903" name="Freeform 88"/>
              <p:cNvSpPr/>
              <p:nvPr/>
            </p:nvSpPr>
            <p:spPr>
              <a:xfrm>
                <a:off x="3454401" y="5083175"/>
                <a:ext cx="103188"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solidFill>
                <a:srgbClr val="BEBEC1">
                  <a:alpha val="100000"/>
                </a:srgbClr>
              </a:solidFill>
              <a:ln w="9525">
                <a:noFill/>
              </a:ln>
            </p:spPr>
            <p:txBody>
              <a:bodyPr/>
              <a:lstStyle/>
              <a:p>
                <a:endParaRPr lang="zh-CN" altLang="en-US"/>
              </a:p>
            </p:txBody>
          </p:sp>
          <p:sp>
            <p:nvSpPr>
              <p:cNvPr id="75904" name="Freeform 89"/>
              <p:cNvSpPr/>
              <p:nvPr/>
            </p:nvSpPr>
            <p:spPr>
              <a:xfrm>
                <a:off x="3462338" y="5083175"/>
                <a:ext cx="95250"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solidFill>
                <a:srgbClr val="BEBEC2">
                  <a:alpha val="100000"/>
                </a:srgbClr>
              </a:solidFill>
              <a:ln w="9525">
                <a:noFill/>
              </a:ln>
            </p:spPr>
            <p:txBody>
              <a:bodyPr/>
              <a:lstStyle/>
              <a:p>
                <a:endParaRPr lang="zh-CN" altLang="en-US"/>
              </a:p>
            </p:txBody>
          </p:sp>
          <p:sp>
            <p:nvSpPr>
              <p:cNvPr id="75905" name="Freeform 90"/>
              <p:cNvSpPr/>
              <p:nvPr/>
            </p:nvSpPr>
            <p:spPr>
              <a:xfrm>
                <a:off x="3468688" y="5083175"/>
                <a:ext cx="88900"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solidFill>
                <a:srgbClr val="BFBFC3">
                  <a:alpha val="100000"/>
                </a:srgbClr>
              </a:solidFill>
              <a:ln w="9525">
                <a:noFill/>
              </a:ln>
            </p:spPr>
            <p:txBody>
              <a:bodyPr/>
              <a:lstStyle/>
              <a:p>
                <a:endParaRPr lang="zh-CN" altLang="en-US"/>
              </a:p>
            </p:txBody>
          </p:sp>
          <p:sp>
            <p:nvSpPr>
              <p:cNvPr id="75906" name="Freeform 91"/>
              <p:cNvSpPr/>
              <p:nvPr/>
            </p:nvSpPr>
            <p:spPr>
              <a:xfrm>
                <a:off x="3471863" y="5083175"/>
                <a:ext cx="85725"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solidFill>
                <a:srgbClr val="BFBFC3">
                  <a:alpha val="100000"/>
                </a:srgbClr>
              </a:solidFill>
              <a:ln w="9525">
                <a:noFill/>
              </a:ln>
            </p:spPr>
            <p:txBody>
              <a:bodyPr/>
              <a:lstStyle/>
              <a:p>
                <a:endParaRPr lang="zh-CN" altLang="en-US"/>
              </a:p>
            </p:txBody>
          </p:sp>
          <p:sp>
            <p:nvSpPr>
              <p:cNvPr id="75907" name="Freeform 92"/>
              <p:cNvSpPr/>
              <p:nvPr/>
            </p:nvSpPr>
            <p:spPr>
              <a:xfrm>
                <a:off x="3478213" y="5083175"/>
                <a:ext cx="79375"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solidFill>
                <a:srgbClr val="C0C0C4">
                  <a:alpha val="100000"/>
                </a:srgbClr>
              </a:solidFill>
              <a:ln w="9525">
                <a:noFill/>
              </a:ln>
            </p:spPr>
            <p:txBody>
              <a:bodyPr/>
              <a:lstStyle/>
              <a:p>
                <a:endParaRPr lang="zh-CN" altLang="en-US"/>
              </a:p>
            </p:txBody>
          </p:sp>
          <p:sp>
            <p:nvSpPr>
              <p:cNvPr id="75908" name="Freeform 93"/>
              <p:cNvSpPr/>
              <p:nvPr/>
            </p:nvSpPr>
            <p:spPr>
              <a:xfrm>
                <a:off x="3484563" y="5083175"/>
                <a:ext cx="73025"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solidFill>
                <a:srgbClr val="C1C1C5">
                  <a:alpha val="100000"/>
                </a:srgbClr>
              </a:solidFill>
              <a:ln w="9525">
                <a:noFill/>
              </a:ln>
            </p:spPr>
            <p:txBody>
              <a:bodyPr/>
              <a:lstStyle/>
              <a:p>
                <a:endParaRPr lang="zh-CN" altLang="en-US"/>
              </a:p>
            </p:txBody>
          </p:sp>
          <p:sp>
            <p:nvSpPr>
              <p:cNvPr id="75909" name="Freeform 94"/>
              <p:cNvSpPr/>
              <p:nvPr/>
            </p:nvSpPr>
            <p:spPr>
              <a:xfrm>
                <a:off x="3492501" y="5083175"/>
                <a:ext cx="65088"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solidFill>
                <a:srgbClr val="C1C1C5">
                  <a:alpha val="100000"/>
                </a:srgbClr>
              </a:solidFill>
              <a:ln w="9525">
                <a:noFill/>
              </a:ln>
            </p:spPr>
            <p:txBody>
              <a:bodyPr/>
              <a:lstStyle/>
              <a:p>
                <a:endParaRPr lang="zh-CN" altLang="en-US"/>
              </a:p>
            </p:txBody>
          </p:sp>
          <p:sp>
            <p:nvSpPr>
              <p:cNvPr id="75910" name="Freeform 95"/>
              <p:cNvSpPr/>
              <p:nvPr/>
            </p:nvSpPr>
            <p:spPr>
              <a:xfrm>
                <a:off x="3495676" y="5083175"/>
                <a:ext cx="61913"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solidFill>
                <a:srgbClr val="C2C2C6">
                  <a:alpha val="100000"/>
                </a:srgbClr>
              </a:solidFill>
              <a:ln w="9525">
                <a:noFill/>
              </a:ln>
            </p:spPr>
            <p:txBody>
              <a:bodyPr/>
              <a:lstStyle/>
              <a:p>
                <a:endParaRPr lang="zh-CN" altLang="en-US"/>
              </a:p>
            </p:txBody>
          </p:sp>
          <p:sp>
            <p:nvSpPr>
              <p:cNvPr id="75911" name="Freeform 96"/>
              <p:cNvSpPr/>
              <p:nvPr/>
            </p:nvSpPr>
            <p:spPr>
              <a:xfrm>
                <a:off x="3502026" y="5083175"/>
                <a:ext cx="55563" cy="252413"/>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solidFill>
                <a:srgbClr val="C3C3C6">
                  <a:alpha val="100000"/>
                </a:srgbClr>
              </a:solidFill>
              <a:ln w="9525">
                <a:noFill/>
              </a:ln>
            </p:spPr>
            <p:txBody>
              <a:bodyPr/>
              <a:lstStyle/>
              <a:p>
                <a:endParaRPr lang="zh-CN" altLang="en-US"/>
              </a:p>
            </p:txBody>
          </p:sp>
          <p:sp>
            <p:nvSpPr>
              <p:cNvPr id="75912" name="Freeform 97"/>
              <p:cNvSpPr/>
              <p:nvPr/>
            </p:nvSpPr>
            <p:spPr>
              <a:xfrm>
                <a:off x="3508376" y="5083175"/>
                <a:ext cx="49213" cy="24923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0"/>
                  </a:cxn>
                  <a:cxn ang="0">
                    <a:pos x="2147483646" y="0"/>
                  </a:cxn>
                </a:cxnLst>
                <a:rect l="0" t="0" r="0" b="0"/>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solidFill>
                <a:srgbClr val="C3C3C7">
                  <a:alpha val="100000"/>
                </a:srgbClr>
              </a:solidFill>
              <a:ln w="9525">
                <a:noFill/>
              </a:ln>
            </p:spPr>
            <p:txBody>
              <a:bodyPr/>
              <a:lstStyle/>
              <a:p>
                <a:endParaRPr lang="zh-CN" altLang="en-US"/>
              </a:p>
            </p:txBody>
          </p:sp>
          <p:sp>
            <p:nvSpPr>
              <p:cNvPr id="75913" name="Freeform 98"/>
              <p:cNvSpPr/>
              <p:nvPr/>
            </p:nvSpPr>
            <p:spPr>
              <a:xfrm>
                <a:off x="3513138" y="5083175"/>
                <a:ext cx="44450" cy="24923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0"/>
                  </a:cxn>
                  <a:cxn ang="0">
                    <a:pos x="2147483646" y="0"/>
                  </a:cxn>
                </a:cxnLst>
                <a:rect l="0" t="0" r="0" b="0"/>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solidFill>
                <a:srgbClr val="C4C4C8">
                  <a:alpha val="100000"/>
                </a:srgbClr>
              </a:solidFill>
              <a:ln w="9525">
                <a:noFill/>
              </a:ln>
            </p:spPr>
            <p:txBody>
              <a:bodyPr/>
              <a:lstStyle/>
              <a:p>
                <a:endParaRPr lang="zh-CN" altLang="en-US"/>
              </a:p>
            </p:txBody>
          </p:sp>
          <p:sp>
            <p:nvSpPr>
              <p:cNvPr id="75914" name="Freeform 99"/>
              <p:cNvSpPr/>
              <p:nvPr/>
            </p:nvSpPr>
            <p:spPr>
              <a:xfrm>
                <a:off x="3513138" y="5083175"/>
                <a:ext cx="44450" cy="249238"/>
              </a:xfrm>
              <a:custGeom>
                <a:avLst/>
                <a:gdLst/>
                <a:ahLst/>
                <a:cxnLst>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0"/>
                  </a:cxn>
                  <a:cxn ang="0">
                    <a:pos x="2147483646" y="0"/>
                  </a:cxn>
                </a:cxnLst>
                <a:rect l="0" t="0" r="0" b="0"/>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solidFill>
                <a:srgbClr val="C4C4C8">
                  <a:alpha val="100000"/>
                </a:srgbClr>
              </a:solidFill>
              <a:ln w="9525">
                <a:noFill/>
              </a:ln>
            </p:spPr>
            <p:txBody>
              <a:bodyPr/>
              <a:lstStyle/>
              <a:p>
                <a:endParaRPr lang="zh-CN" altLang="en-US"/>
              </a:p>
            </p:txBody>
          </p:sp>
          <p:sp>
            <p:nvSpPr>
              <p:cNvPr id="75915" name="Freeform 100"/>
              <p:cNvSpPr/>
              <p:nvPr/>
            </p:nvSpPr>
            <p:spPr>
              <a:xfrm>
                <a:off x="3514726" y="5083175"/>
                <a:ext cx="42863" cy="249238"/>
              </a:xfrm>
              <a:custGeom>
                <a:avLst/>
                <a:gdLst/>
                <a:ahLst/>
                <a:cxnLst>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0"/>
                  </a:cxn>
                </a:cxnLst>
                <a:rect l="0" t="0" r="0" b="0"/>
                <a:pathLst>
                  <a:path w="27" h="157">
                    <a:moveTo>
                      <a:pt x="15" y="0"/>
                    </a:moveTo>
                    <a:lnTo>
                      <a:pt x="27" y="0"/>
                    </a:lnTo>
                    <a:lnTo>
                      <a:pt x="10" y="140"/>
                    </a:lnTo>
                    <a:lnTo>
                      <a:pt x="9" y="145"/>
                    </a:lnTo>
                    <a:lnTo>
                      <a:pt x="7" y="149"/>
                    </a:lnTo>
                    <a:lnTo>
                      <a:pt x="3" y="153"/>
                    </a:lnTo>
                    <a:lnTo>
                      <a:pt x="0" y="157"/>
                    </a:lnTo>
                    <a:lnTo>
                      <a:pt x="15" y="0"/>
                    </a:lnTo>
                    <a:close/>
                  </a:path>
                </a:pathLst>
              </a:custGeom>
              <a:solidFill>
                <a:srgbClr val="C5C5C9">
                  <a:alpha val="100000"/>
                </a:srgbClr>
              </a:solidFill>
              <a:ln w="9525">
                <a:noFill/>
              </a:ln>
            </p:spPr>
            <p:txBody>
              <a:bodyPr/>
              <a:lstStyle/>
              <a:p>
                <a:endParaRPr lang="zh-CN" altLang="en-US"/>
              </a:p>
            </p:txBody>
          </p:sp>
          <p:sp>
            <p:nvSpPr>
              <p:cNvPr id="75916" name="Freeform 108"/>
              <p:cNvSpPr/>
              <p:nvPr/>
            </p:nvSpPr>
            <p:spPr>
              <a:xfrm>
                <a:off x="2687638" y="4930775"/>
                <a:ext cx="47625" cy="5556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Lst>
                <a:rect l="0" t="0" r="0" b="0"/>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solidFill>
                <a:srgbClr val="F2463D">
                  <a:alpha val="100000"/>
                </a:srgbClr>
              </a:solidFill>
              <a:ln w="9525">
                <a:noFill/>
              </a:ln>
            </p:spPr>
            <p:txBody>
              <a:bodyPr/>
              <a:lstStyle/>
              <a:p>
                <a:endParaRPr lang="zh-CN" altLang="en-US"/>
              </a:p>
            </p:txBody>
          </p:sp>
        </p:grpSp>
        <p:grpSp>
          <p:nvGrpSpPr>
            <p:cNvPr id="109" name="组合 209"/>
            <p:cNvGrpSpPr/>
            <p:nvPr/>
          </p:nvGrpSpPr>
          <p:grpSpPr>
            <a:xfrm>
              <a:off x="1599439" y="4443764"/>
              <a:ext cx="203174" cy="601802"/>
              <a:chOff x="2555876" y="4340225"/>
              <a:chExt cx="203200" cy="601663"/>
            </a:xfrm>
            <a:solidFill>
              <a:schemeClr val="accent4"/>
            </a:solidFill>
          </p:grpSpPr>
          <p:sp>
            <p:nvSpPr>
              <p:cNvPr id="110" name="Freeform 105"/>
              <p:cNvSpPr/>
              <p:nvPr/>
            </p:nvSpPr>
            <p:spPr bwMode="auto">
              <a:xfrm>
                <a:off x="2582863" y="4424363"/>
                <a:ext cx="176213" cy="517525"/>
              </a:xfrm>
              <a:custGeom>
                <a:avLst/>
                <a:gdLst>
                  <a:gd name="T0" fmla="*/ 35 w 111"/>
                  <a:gd name="T1" fmla="*/ 266 h 326"/>
                  <a:gd name="T2" fmla="*/ 66 w 111"/>
                  <a:gd name="T3" fmla="*/ 326 h 326"/>
                  <a:gd name="T4" fmla="*/ 94 w 111"/>
                  <a:gd name="T5" fmla="*/ 322 h 326"/>
                  <a:gd name="T6" fmla="*/ 111 w 111"/>
                  <a:gd name="T7" fmla="*/ 256 h 326"/>
                  <a:gd name="T8" fmla="*/ 76 w 111"/>
                  <a:gd name="T9" fmla="*/ 0 h 326"/>
                  <a:gd name="T10" fmla="*/ 0 w 111"/>
                  <a:gd name="T11" fmla="*/ 11 h 326"/>
                  <a:gd name="T12" fmla="*/ 35 w 111"/>
                  <a:gd name="T13" fmla="*/ 266 h 326"/>
                </a:gdLst>
                <a:ahLst/>
                <a:cxnLst>
                  <a:cxn ang="0">
                    <a:pos x="T0" y="T1"/>
                  </a:cxn>
                  <a:cxn ang="0">
                    <a:pos x="T2" y="T3"/>
                  </a:cxn>
                  <a:cxn ang="0">
                    <a:pos x="T4" y="T5"/>
                  </a:cxn>
                  <a:cxn ang="0">
                    <a:pos x="T6" y="T7"/>
                  </a:cxn>
                  <a:cxn ang="0">
                    <a:pos x="T8" y="T9"/>
                  </a:cxn>
                  <a:cxn ang="0">
                    <a:pos x="T10" y="T11"/>
                  </a:cxn>
                  <a:cxn ang="0">
                    <a:pos x="T12" y="T13"/>
                  </a:cxn>
                </a:cxnLst>
                <a:rect l="0" t="0" r="r" b="b"/>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1" name="Freeform 106"/>
              <p:cNvSpPr/>
              <p:nvPr/>
            </p:nvSpPr>
            <p:spPr bwMode="auto">
              <a:xfrm>
                <a:off x="2576513" y="4340225"/>
                <a:ext cx="127000" cy="146050"/>
              </a:xfrm>
              <a:custGeom>
                <a:avLst/>
                <a:gdLst>
                  <a:gd name="T0" fmla="*/ 4 w 80"/>
                  <a:gd name="T1" fmla="*/ 59 h 92"/>
                  <a:gd name="T2" fmla="*/ 4 w 80"/>
                  <a:gd name="T3" fmla="*/ 59 h 92"/>
                  <a:gd name="T4" fmla="*/ 5 w 80"/>
                  <a:gd name="T5" fmla="*/ 66 h 92"/>
                  <a:gd name="T6" fmla="*/ 9 w 80"/>
                  <a:gd name="T7" fmla="*/ 73 h 92"/>
                  <a:gd name="T8" fmla="*/ 13 w 80"/>
                  <a:gd name="T9" fmla="*/ 80 h 92"/>
                  <a:gd name="T10" fmla="*/ 19 w 80"/>
                  <a:gd name="T11" fmla="*/ 84 h 92"/>
                  <a:gd name="T12" fmla="*/ 24 w 80"/>
                  <a:gd name="T13" fmla="*/ 88 h 92"/>
                  <a:gd name="T14" fmla="*/ 31 w 80"/>
                  <a:gd name="T15" fmla="*/ 91 h 92"/>
                  <a:gd name="T16" fmla="*/ 39 w 80"/>
                  <a:gd name="T17" fmla="*/ 92 h 92"/>
                  <a:gd name="T18" fmla="*/ 46 w 80"/>
                  <a:gd name="T19" fmla="*/ 92 h 92"/>
                  <a:gd name="T20" fmla="*/ 47 w 80"/>
                  <a:gd name="T21" fmla="*/ 92 h 92"/>
                  <a:gd name="T22" fmla="*/ 47 w 80"/>
                  <a:gd name="T23" fmla="*/ 92 h 92"/>
                  <a:gd name="T24" fmla="*/ 55 w 80"/>
                  <a:gd name="T25" fmla="*/ 89 h 92"/>
                  <a:gd name="T26" fmla="*/ 62 w 80"/>
                  <a:gd name="T27" fmla="*/ 87 h 92"/>
                  <a:gd name="T28" fmla="*/ 67 w 80"/>
                  <a:gd name="T29" fmla="*/ 82 h 92"/>
                  <a:gd name="T30" fmla="*/ 71 w 80"/>
                  <a:gd name="T31" fmla="*/ 77 h 92"/>
                  <a:gd name="T32" fmla="*/ 75 w 80"/>
                  <a:gd name="T33" fmla="*/ 70 h 92"/>
                  <a:gd name="T34" fmla="*/ 78 w 80"/>
                  <a:gd name="T35" fmla="*/ 64 h 92"/>
                  <a:gd name="T36" fmla="*/ 80 w 80"/>
                  <a:gd name="T37" fmla="*/ 57 h 92"/>
                  <a:gd name="T38" fmla="*/ 80 w 80"/>
                  <a:gd name="T39" fmla="*/ 49 h 92"/>
                  <a:gd name="T40" fmla="*/ 75 w 80"/>
                  <a:gd name="T41" fmla="*/ 15 h 92"/>
                  <a:gd name="T42" fmla="*/ 75 w 80"/>
                  <a:gd name="T43" fmla="*/ 15 h 92"/>
                  <a:gd name="T44" fmla="*/ 73 w 80"/>
                  <a:gd name="T45" fmla="*/ 8 h 92"/>
                  <a:gd name="T46" fmla="*/ 70 w 80"/>
                  <a:gd name="T47" fmla="*/ 4 h 92"/>
                  <a:gd name="T48" fmla="*/ 66 w 80"/>
                  <a:gd name="T49" fmla="*/ 1 h 92"/>
                  <a:gd name="T50" fmla="*/ 62 w 80"/>
                  <a:gd name="T51" fmla="*/ 0 h 92"/>
                  <a:gd name="T52" fmla="*/ 50 w 80"/>
                  <a:gd name="T53" fmla="*/ 1 h 92"/>
                  <a:gd name="T54" fmla="*/ 35 w 80"/>
                  <a:gd name="T55" fmla="*/ 3 h 92"/>
                  <a:gd name="T56" fmla="*/ 35 w 80"/>
                  <a:gd name="T57" fmla="*/ 3 h 92"/>
                  <a:gd name="T58" fmla="*/ 35 w 80"/>
                  <a:gd name="T59" fmla="*/ 3 h 92"/>
                  <a:gd name="T60" fmla="*/ 20 w 80"/>
                  <a:gd name="T61" fmla="*/ 5 h 92"/>
                  <a:gd name="T62" fmla="*/ 8 w 80"/>
                  <a:gd name="T63" fmla="*/ 7 h 92"/>
                  <a:gd name="T64" fmla="*/ 4 w 80"/>
                  <a:gd name="T65" fmla="*/ 9 h 92"/>
                  <a:gd name="T66" fmla="*/ 1 w 80"/>
                  <a:gd name="T67" fmla="*/ 13 h 92"/>
                  <a:gd name="T68" fmla="*/ 0 w 80"/>
                  <a:gd name="T69" fmla="*/ 17 h 92"/>
                  <a:gd name="T70" fmla="*/ 0 w 80"/>
                  <a:gd name="T71" fmla="*/ 24 h 92"/>
                  <a:gd name="T72" fmla="*/ 4 w 80"/>
                  <a:gd name="T73"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47" y="92"/>
                    </a:lnTo>
                    <a:lnTo>
                      <a:pt x="55" y="89"/>
                    </a:lnTo>
                    <a:lnTo>
                      <a:pt x="62" y="87"/>
                    </a:lnTo>
                    <a:lnTo>
                      <a:pt x="67" y="82"/>
                    </a:lnTo>
                    <a:lnTo>
                      <a:pt x="71" y="77"/>
                    </a:lnTo>
                    <a:lnTo>
                      <a:pt x="75" y="70"/>
                    </a:lnTo>
                    <a:lnTo>
                      <a:pt x="78" y="64"/>
                    </a:lnTo>
                    <a:lnTo>
                      <a:pt x="80" y="57"/>
                    </a:lnTo>
                    <a:lnTo>
                      <a:pt x="80" y="49"/>
                    </a:lnTo>
                    <a:lnTo>
                      <a:pt x="75" y="15"/>
                    </a:lnTo>
                    <a:lnTo>
                      <a:pt x="75" y="15"/>
                    </a:lnTo>
                    <a:lnTo>
                      <a:pt x="73" y="8"/>
                    </a:lnTo>
                    <a:lnTo>
                      <a:pt x="70" y="4"/>
                    </a:lnTo>
                    <a:lnTo>
                      <a:pt x="66" y="1"/>
                    </a:lnTo>
                    <a:lnTo>
                      <a:pt x="62" y="0"/>
                    </a:lnTo>
                    <a:lnTo>
                      <a:pt x="50" y="1"/>
                    </a:lnTo>
                    <a:lnTo>
                      <a:pt x="35" y="3"/>
                    </a:lnTo>
                    <a:lnTo>
                      <a:pt x="35" y="3"/>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2" name="Freeform 107"/>
              <p:cNvSpPr/>
              <p:nvPr/>
            </p:nvSpPr>
            <p:spPr bwMode="auto">
              <a:xfrm>
                <a:off x="2571751" y="4389438"/>
                <a:ext cx="150813" cy="144463"/>
              </a:xfrm>
              <a:custGeom>
                <a:avLst/>
                <a:gdLst>
                  <a:gd name="T0" fmla="*/ 11 w 95"/>
                  <a:gd name="T1" fmla="*/ 91 h 91"/>
                  <a:gd name="T2" fmla="*/ 95 w 95"/>
                  <a:gd name="T3" fmla="*/ 80 h 91"/>
                  <a:gd name="T4" fmla="*/ 84 w 95"/>
                  <a:gd name="T5" fmla="*/ 0 h 91"/>
                  <a:gd name="T6" fmla="*/ 0 w 95"/>
                  <a:gd name="T7" fmla="*/ 11 h 91"/>
                  <a:gd name="T8" fmla="*/ 11 w 95"/>
                  <a:gd name="T9" fmla="*/ 91 h 91"/>
                </a:gdLst>
                <a:ahLst/>
                <a:cxnLst>
                  <a:cxn ang="0">
                    <a:pos x="T0" y="T1"/>
                  </a:cxn>
                  <a:cxn ang="0">
                    <a:pos x="T2" y="T3"/>
                  </a:cxn>
                  <a:cxn ang="0">
                    <a:pos x="T4" y="T5"/>
                  </a:cxn>
                  <a:cxn ang="0">
                    <a:pos x="T6" y="T7"/>
                  </a:cxn>
                  <a:cxn ang="0">
                    <a:pos x="T8" y="T9"/>
                  </a:cxn>
                </a:cxnLst>
                <a:rect l="0" t="0" r="r" b="b"/>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3" name="Freeform 109"/>
              <p:cNvSpPr/>
              <p:nvPr/>
            </p:nvSpPr>
            <p:spPr bwMode="auto">
              <a:xfrm>
                <a:off x="2555876" y="4430713"/>
                <a:ext cx="44450" cy="260350"/>
              </a:xfrm>
              <a:custGeom>
                <a:avLst/>
                <a:gdLst>
                  <a:gd name="T0" fmla="*/ 21 w 28"/>
                  <a:gd name="T1" fmla="*/ 0 h 164"/>
                  <a:gd name="T2" fmla="*/ 21 w 28"/>
                  <a:gd name="T3" fmla="*/ 0 h 164"/>
                  <a:gd name="T4" fmla="*/ 11 w 28"/>
                  <a:gd name="T5" fmla="*/ 7 h 164"/>
                  <a:gd name="T6" fmla="*/ 5 w 28"/>
                  <a:gd name="T7" fmla="*/ 13 h 164"/>
                  <a:gd name="T8" fmla="*/ 2 w 28"/>
                  <a:gd name="T9" fmla="*/ 17 h 164"/>
                  <a:gd name="T10" fmla="*/ 0 w 28"/>
                  <a:gd name="T11" fmla="*/ 20 h 164"/>
                  <a:gd name="T12" fmla="*/ 0 w 28"/>
                  <a:gd name="T13" fmla="*/ 20 h 164"/>
                  <a:gd name="T14" fmla="*/ 3 w 28"/>
                  <a:gd name="T15" fmla="*/ 44 h 164"/>
                  <a:gd name="T16" fmla="*/ 9 w 28"/>
                  <a:gd name="T17" fmla="*/ 90 h 164"/>
                  <a:gd name="T18" fmla="*/ 18 w 28"/>
                  <a:gd name="T19" fmla="*/ 154 h 164"/>
                  <a:gd name="T20" fmla="*/ 18 w 28"/>
                  <a:gd name="T21" fmla="*/ 154 h 164"/>
                  <a:gd name="T22" fmla="*/ 17 w 28"/>
                  <a:gd name="T23" fmla="*/ 155 h 164"/>
                  <a:gd name="T24" fmla="*/ 18 w 28"/>
                  <a:gd name="T25" fmla="*/ 160 h 164"/>
                  <a:gd name="T26" fmla="*/ 19 w 28"/>
                  <a:gd name="T27" fmla="*/ 161 h 164"/>
                  <a:gd name="T28" fmla="*/ 21 w 28"/>
                  <a:gd name="T29" fmla="*/ 162 h 164"/>
                  <a:gd name="T30" fmla="*/ 23 w 28"/>
                  <a:gd name="T31" fmla="*/ 164 h 164"/>
                  <a:gd name="T32" fmla="*/ 28 w 28"/>
                  <a:gd name="T33" fmla="*/ 164 h 164"/>
                  <a:gd name="T34" fmla="*/ 13 w 28"/>
                  <a:gd name="T35" fmla="*/ 58 h 164"/>
                  <a:gd name="T36" fmla="*/ 19 w 28"/>
                  <a:gd name="T37" fmla="*/ 44 h 164"/>
                  <a:gd name="T38" fmla="*/ 21 w 28"/>
                  <a:gd name="T39" fmla="*/ 0 h 164"/>
                  <a:gd name="T40" fmla="*/ 21 w 28"/>
                  <a:gd name="T4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64">
                    <a:moveTo>
                      <a:pt x="21" y="0"/>
                    </a:moveTo>
                    <a:lnTo>
                      <a:pt x="21" y="0"/>
                    </a:lnTo>
                    <a:lnTo>
                      <a:pt x="11" y="7"/>
                    </a:lnTo>
                    <a:lnTo>
                      <a:pt x="5" y="13"/>
                    </a:lnTo>
                    <a:lnTo>
                      <a:pt x="2" y="17"/>
                    </a:lnTo>
                    <a:lnTo>
                      <a:pt x="0" y="20"/>
                    </a:lnTo>
                    <a:lnTo>
                      <a:pt x="0" y="20"/>
                    </a:lnTo>
                    <a:lnTo>
                      <a:pt x="3" y="44"/>
                    </a:lnTo>
                    <a:lnTo>
                      <a:pt x="9" y="90"/>
                    </a:lnTo>
                    <a:lnTo>
                      <a:pt x="18" y="154"/>
                    </a:lnTo>
                    <a:lnTo>
                      <a:pt x="18" y="154"/>
                    </a:lnTo>
                    <a:lnTo>
                      <a:pt x="17" y="155"/>
                    </a:lnTo>
                    <a:lnTo>
                      <a:pt x="18" y="160"/>
                    </a:lnTo>
                    <a:lnTo>
                      <a:pt x="19" y="161"/>
                    </a:lnTo>
                    <a:lnTo>
                      <a:pt x="21" y="162"/>
                    </a:lnTo>
                    <a:lnTo>
                      <a:pt x="23" y="164"/>
                    </a:lnTo>
                    <a:lnTo>
                      <a:pt x="28" y="164"/>
                    </a:lnTo>
                    <a:lnTo>
                      <a:pt x="13" y="58"/>
                    </a:lnTo>
                    <a:lnTo>
                      <a:pt x="19" y="44"/>
                    </a:lnTo>
                    <a:lnTo>
                      <a:pt x="21"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14" name="组合 207"/>
            <p:cNvGrpSpPr/>
            <p:nvPr/>
          </p:nvGrpSpPr>
          <p:grpSpPr>
            <a:xfrm>
              <a:off x="2062930" y="4450114"/>
              <a:ext cx="796822" cy="612918"/>
              <a:chOff x="3019426" y="4346575"/>
              <a:chExt cx="796925" cy="612776"/>
            </a:xfrm>
            <a:solidFill>
              <a:schemeClr val="accent5"/>
            </a:solidFill>
          </p:grpSpPr>
          <p:sp>
            <p:nvSpPr>
              <p:cNvPr id="115" name="Freeform 110"/>
              <p:cNvSpPr/>
              <p:nvPr/>
            </p:nvSpPr>
            <p:spPr bwMode="auto">
              <a:xfrm>
                <a:off x="3040063" y="4346575"/>
                <a:ext cx="776288" cy="347663"/>
              </a:xfrm>
              <a:custGeom>
                <a:avLst/>
                <a:gdLst>
                  <a:gd name="T0" fmla="*/ 247 w 489"/>
                  <a:gd name="T1" fmla="*/ 219 h 219"/>
                  <a:gd name="T2" fmla="*/ 489 w 489"/>
                  <a:gd name="T3" fmla="*/ 110 h 219"/>
                  <a:gd name="T4" fmla="*/ 240 w 489"/>
                  <a:gd name="T5" fmla="*/ 0 h 219"/>
                  <a:gd name="T6" fmla="*/ 0 w 489"/>
                  <a:gd name="T7" fmla="*/ 107 h 219"/>
                  <a:gd name="T8" fmla="*/ 247 w 489"/>
                  <a:gd name="T9" fmla="*/ 219 h 219"/>
                </a:gdLst>
                <a:ahLst/>
                <a:cxnLst>
                  <a:cxn ang="0">
                    <a:pos x="T0" y="T1"/>
                  </a:cxn>
                  <a:cxn ang="0">
                    <a:pos x="T2" y="T3"/>
                  </a:cxn>
                  <a:cxn ang="0">
                    <a:pos x="T4" y="T5"/>
                  </a:cxn>
                  <a:cxn ang="0">
                    <a:pos x="T6" y="T7"/>
                  </a:cxn>
                  <a:cxn ang="0">
                    <a:pos x="T8" y="T9"/>
                  </a:cxn>
                </a:cxnLst>
                <a:rect l="0" t="0" r="r" b="b"/>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6" name="Rectangle 111"/>
              <p:cNvSpPr>
                <a:spLocks noChangeArrowheads="1"/>
              </p:cNvSpPr>
              <p:nvPr/>
            </p:nvSpPr>
            <p:spPr bwMode="auto">
              <a:xfrm>
                <a:off x="3049588" y="4510088"/>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7" name="Freeform 112"/>
              <p:cNvSpPr/>
              <p:nvPr/>
            </p:nvSpPr>
            <p:spPr bwMode="auto">
              <a:xfrm>
                <a:off x="3022601" y="4735513"/>
                <a:ext cx="76200" cy="77788"/>
              </a:xfrm>
              <a:custGeom>
                <a:avLst/>
                <a:gdLst>
                  <a:gd name="T0" fmla="*/ 0 w 48"/>
                  <a:gd name="T1" fmla="*/ 24 h 49"/>
                  <a:gd name="T2" fmla="*/ 0 w 48"/>
                  <a:gd name="T3" fmla="*/ 24 h 49"/>
                  <a:gd name="T4" fmla="*/ 0 w 48"/>
                  <a:gd name="T5" fmla="*/ 20 h 49"/>
                  <a:gd name="T6" fmla="*/ 2 w 48"/>
                  <a:gd name="T7" fmla="*/ 15 h 49"/>
                  <a:gd name="T8" fmla="*/ 4 w 48"/>
                  <a:gd name="T9" fmla="*/ 11 h 49"/>
                  <a:gd name="T10" fmla="*/ 7 w 48"/>
                  <a:gd name="T11" fmla="*/ 8 h 49"/>
                  <a:gd name="T12" fmla="*/ 11 w 48"/>
                  <a:gd name="T13" fmla="*/ 4 h 49"/>
                  <a:gd name="T14" fmla="*/ 15 w 48"/>
                  <a:gd name="T15" fmla="*/ 3 h 49"/>
                  <a:gd name="T16" fmla="*/ 19 w 48"/>
                  <a:gd name="T17" fmla="*/ 1 h 49"/>
                  <a:gd name="T18" fmla="*/ 25 w 48"/>
                  <a:gd name="T19" fmla="*/ 0 h 49"/>
                  <a:gd name="T20" fmla="*/ 25 w 48"/>
                  <a:gd name="T21" fmla="*/ 0 h 49"/>
                  <a:gd name="T22" fmla="*/ 29 w 48"/>
                  <a:gd name="T23" fmla="*/ 1 h 49"/>
                  <a:gd name="T24" fmla="*/ 34 w 48"/>
                  <a:gd name="T25" fmla="*/ 3 h 49"/>
                  <a:gd name="T26" fmla="*/ 38 w 48"/>
                  <a:gd name="T27" fmla="*/ 4 h 49"/>
                  <a:gd name="T28" fmla="*/ 41 w 48"/>
                  <a:gd name="T29" fmla="*/ 8 h 49"/>
                  <a:gd name="T30" fmla="*/ 44 w 48"/>
                  <a:gd name="T31" fmla="*/ 11 h 49"/>
                  <a:gd name="T32" fmla="*/ 46 w 48"/>
                  <a:gd name="T33" fmla="*/ 15 h 49"/>
                  <a:gd name="T34" fmla="*/ 48 w 48"/>
                  <a:gd name="T35" fmla="*/ 20 h 49"/>
                  <a:gd name="T36" fmla="*/ 48 w 48"/>
                  <a:gd name="T37" fmla="*/ 24 h 49"/>
                  <a:gd name="T38" fmla="*/ 48 w 48"/>
                  <a:gd name="T39" fmla="*/ 24 h 49"/>
                  <a:gd name="T40" fmla="*/ 48 w 48"/>
                  <a:gd name="T41" fmla="*/ 30 h 49"/>
                  <a:gd name="T42" fmla="*/ 46 w 48"/>
                  <a:gd name="T43" fmla="*/ 34 h 49"/>
                  <a:gd name="T44" fmla="*/ 44 w 48"/>
                  <a:gd name="T45" fmla="*/ 38 h 49"/>
                  <a:gd name="T46" fmla="*/ 41 w 48"/>
                  <a:gd name="T47" fmla="*/ 42 h 49"/>
                  <a:gd name="T48" fmla="*/ 38 w 48"/>
                  <a:gd name="T49" fmla="*/ 45 h 49"/>
                  <a:gd name="T50" fmla="*/ 34 w 48"/>
                  <a:gd name="T51" fmla="*/ 47 h 49"/>
                  <a:gd name="T52" fmla="*/ 29 w 48"/>
                  <a:gd name="T53" fmla="*/ 49 h 49"/>
                  <a:gd name="T54" fmla="*/ 25 w 48"/>
                  <a:gd name="T55" fmla="*/ 49 h 49"/>
                  <a:gd name="T56" fmla="*/ 25 w 48"/>
                  <a:gd name="T57" fmla="*/ 49 h 49"/>
                  <a:gd name="T58" fmla="*/ 19 w 48"/>
                  <a:gd name="T59" fmla="*/ 49 h 49"/>
                  <a:gd name="T60" fmla="*/ 15 w 48"/>
                  <a:gd name="T61" fmla="*/ 47 h 49"/>
                  <a:gd name="T62" fmla="*/ 11 w 48"/>
                  <a:gd name="T63" fmla="*/ 45 h 49"/>
                  <a:gd name="T64" fmla="*/ 7 w 48"/>
                  <a:gd name="T65" fmla="*/ 42 h 49"/>
                  <a:gd name="T66" fmla="*/ 4 w 48"/>
                  <a:gd name="T67" fmla="*/ 38 h 49"/>
                  <a:gd name="T68" fmla="*/ 2 w 48"/>
                  <a:gd name="T69" fmla="*/ 34 h 49"/>
                  <a:gd name="T70" fmla="*/ 0 w 48"/>
                  <a:gd name="T71" fmla="*/ 30 h 49"/>
                  <a:gd name="T72" fmla="*/ 0 w 48"/>
                  <a:gd name="T73" fmla="*/ 24 h 49"/>
                  <a:gd name="T74" fmla="*/ 0 w 48"/>
                  <a:gd name="T75"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9">
                    <a:moveTo>
                      <a:pt x="0" y="24"/>
                    </a:moveTo>
                    <a:lnTo>
                      <a:pt x="0" y="24"/>
                    </a:lnTo>
                    <a:lnTo>
                      <a:pt x="0" y="20"/>
                    </a:lnTo>
                    <a:lnTo>
                      <a:pt x="2" y="15"/>
                    </a:lnTo>
                    <a:lnTo>
                      <a:pt x="4" y="11"/>
                    </a:lnTo>
                    <a:lnTo>
                      <a:pt x="7" y="8"/>
                    </a:lnTo>
                    <a:lnTo>
                      <a:pt x="11" y="4"/>
                    </a:lnTo>
                    <a:lnTo>
                      <a:pt x="15" y="3"/>
                    </a:lnTo>
                    <a:lnTo>
                      <a:pt x="19" y="1"/>
                    </a:lnTo>
                    <a:lnTo>
                      <a:pt x="25" y="0"/>
                    </a:lnTo>
                    <a:lnTo>
                      <a:pt x="25" y="0"/>
                    </a:lnTo>
                    <a:lnTo>
                      <a:pt x="29" y="1"/>
                    </a:lnTo>
                    <a:lnTo>
                      <a:pt x="34" y="3"/>
                    </a:lnTo>
                    <a:lnTo>
                      <a:pt x="38" y="4"/>
                    </a:lnTo>
                    <a:lnTo>
                      <a:pt x="41" y="8"/>
                    </a:lnTo>
                    <a:lnTo>
                      <a:pt x="44" y="11"/>
                    </a:lnTo>
                    <a:lnTo>
                      <a:pt x="46" y="15"/>
                    </a:lnTo>
                    <a:lnTo>
                      <a:pt x="48" y="20"/>
                    </a:lnTo>
                    <a:lnTo>
                      <a:pt x="48" y="24"/>
                    </a:lnTo>
                    <a:lnTo>
                      <a:pt x="48" y="24"/>
                    </a:lnTo>
                    <a:lnTo>
                      <a:pt x="48" y="30"/>
                    </a:lnTo>
                    <a:lnTo>
                      <a:pt x="46" y="34"/>
                    </a:lnTo>
                    <a:lnTo>
                      <a:pt x="44" y="38"/>
                    </a:lnTo>
                    <a:lnTo>
                      <a:pt x="41" y="42"/>
                    </a:lnTo>
                    <a:lnTo>
                      <a:pt x="38" y="45"/>
                    </a:lnTo>
                    <a:lnTo>
                      <a:pt x="34" y="47"/>
                    </a:lnTo>
                    <a:lnTo>
                      <a:pt x="29" y="49"/>
                    </a:lnTo>
                    <a:lnTo>
                      <a:pt x="25" y="49"/>
                    </a:lnTo>
                    <a:lnTo>
                      <a:pt x="25" y="49"/>
                    </a:lnTo>
                    <a:lnTo>
                      <a:pt x="19" y="49"/>
                    </a:lnTo>
                    <a:lnTo>
                      <a:pt x="15" y="47"/>
                    </a:lnTo>
                    <a:lnTo>
                      <a:pt x="11" y="45"/>
                    </a:lnTo>
                    <a:lnTo>
                      <a:pt x="7" y="42"/>
                    </a:lnTo>
                    <a:lnTo>
                      <a:pt x="4" y="38"/>
                    </a:lnTo>
                    <a:lnTo>
                      <a:pt x="2" y="34"/>
                    </a:lnTo>
                    <a:lnTo>
                      <a:pt x="0" y="30"/>
                    </a:lnTo>
                    <a:lnTo>
                      <a:pt x="0" y="24"/>
                    </a:lnTo>
                    <a:lnTo>
                      <a:pt x="0"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8" name="Freeform 113"/>
              <p:cNvSpPr/>
              <p:nvPr/>
            </p:nvSpPr>
            <p:spPr bwMode="auto">
              <a:xfrm>
                <a:off x="3052763" y="4778375"/>
                <a:ext cx="46038" cy="169863"/>
              </a:xfrm>
              <a:custGeom>
                <a:avLst/>
                <a:gdLst>
                  <a:gd name="T0" fmla="*/ 17 w 29"/>
                  <a:gd name="T1" fmla="*/ 5 h 107"/>
                  <a:gd name="T2" fmla="*/ 17 w 29"/>
                  <a:gd name="T3" fmla="*/ 5 h 107"/>
                  <a:gd name="T4" fmla="*/ 19 w 29"/>
                  <a:gd name="T5" fmla="*/ 12 h 107"/>
                  <a:gd name="T6" fmla="*/ 22 w 29"/>
                  <a:gd name="T7" fmla="*/ 22 h 107"/>
                  <a:gd name="T8" fmla="*/ 25 w 29"/>
                  <a:gd name="T9" fmla="*/ 33 h 107"/>
                  <a:gd name="T10" fmla="*/ 27 w 29"/>
                  <a:gd name="T11" fmla="*/ 47 h 107"/>
                  <a:gd name="T12" fmla="*/ 29 w 29"/>
                  <a:gd name="T13" fmla="*/ 65 h 107"/>
                  <a:gd name="T14" fmla="*/ 29 w 29"/>
                  <a:gd name="T15" fmla="*/ 84 h 107"/>
                  <a:gd name="T16" fmla="*/ 27 w 29"/>
                  <a:gd name="T17" fmla="*/ 107 h 107"/>
                  <a:gd name="T18" fmla="*/ 0 w 29"/>
                  <a:gd name="T19" fmla="*/ 107 h 107"/>
                  <a:gd name="T20" fmla="*/ 0 w 29"/>
                  <a:gd name="T21" fmla="*/ 0 h 107"/>
                  <a:gd name="T22" fmla="*/ 0 w 29"/>
                  <a:gd name="T23" fmla="*/ 0 h 107"/>
                  <a:gd name="T24" fmla="*/ 8 w 29"/>
                  <a:gd name="T25" fmla="*/ 4 h 107"/>
                  <a:gd name="T26" fmla="*/ 14 w 29"/>
                  <a:gd name="T27" fmla="*/ 5 h 107"/>
                  <a:gd name="T28" fmla="*/ 15 w 29"/>
                  <a:gd name="T29" fmla="*/ 5 h 107"/>
                  <a:gd name="T30" fmla="*/ 17 w 29"/>
                  <a:gd name="T31" fmla="*/ 5 h 107"/>
                  <a:gd name="T32" fmla="*/ 17 w 29"/>
                  <a:gd name="T33"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0" y="0"/>
                    </a:lnTo>
                    <a:lnTo>
                      <a:pt x="8" y="4"/>
                    </a:lnTo>
                    <a:lnTo>
                      <a:pt x="14" y="5"/>
                    </a:lnTo>
                    <a:lnTo>
                      <a:pt x="15" y="5"/>
                    </a:lnTo>
                    <a:lnTo>
                      <a:pt x="17" y="5"/>
                    </a:lnTo>
                    <a:lnTo>
                      <a:pt x="17"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9" name="Freeform 114"/>
              <p:cNvSpPr/>
              <p:nvPr/>
            </p:nvSpPr>
            <p:spPr bwMode="auto">
              <a:xfrm>
                <a:off x="3019426" y="4778375"/>
                <a:ext cx="46038" cy="169863"/>
              </a:xfrm>
              <a:custGeom>
                <a:avLst/>
                <a:gdLst>
                  <a:gd name="T0" fmla="*/ 13 w 29"/>
                  <a:gd name="T1" fmla="*/ 5 h 107"/>
                  <a:gd name="T2" fmla="*/ 13 w 29"/>
                  <a:gd name="T3" fmla="*/ 5 h 107"/>
                  <a:gd name="T4" fmla="*/ 10 w 29"/>
                  <a:gd name="T5" fmla="*/ 12 h 107"/>
                  <a:gd name="T6" fmla="*/ 4 w 29"/>
                  <a:gd name="T7" fmla="*/ 33 h 107"/>
                  <a:gd name="T8" fmla="*/ 2 w 29"/>
                  <a:gd name="T9" fmla="*/ 47 h 107"/>
                  <a:gd name="T10" fmla="*/ 0 w 29"/>
                  <a:gd name="T11" fmla="*/ 65 h 107"/>
                  <a:gd name="T12" fmla="*/ 0 w 29"/>
                  <a:gd name="T13" fmla="*/ 84 h 107"/>
                  <a:gd name="T14" fmla="*/ 1 w 29"/>
                  <a:gd name="T15" fmla="*/ 107 h 107"/>
                  <a:gd name="T16" fmla="*/ 29 w 29"/>
                  <a:gd name="T17" fmla="*/ 107 h 107"/>
                  <a:gd name="T18" fmla="*/ 29 w 29"/>
                  <a:gd name="T19" fmla="*/ 0 h 107"/>
                  <a:gd name="T20" fmla="*/ 29 w 29"/>
                  <a:gd name="T21" fmla="*/ 0 h 107"/>
                  <a:gd name="T22" fmla="*/ 21 w 29"/>
                  <a:gd name="T23" fmla="*/ 4 h 107"/>
                  <a:gd name="T24" fmla="*/ 16 w 29"/>
                  <a:gd name="T25" fmla="*/ 5 h 107"/>
                  <a:gd name="T26" fmla="*/ 13 w 29"/>
                  <a:gd name="T27" fmla="*/ 5 h 107"/>
                  <a:gd name="T28" fmla="*/ 13 w 29"/>
                  <a:gd name="T29" fmla="*/ 5 h 107"/>
                  <a:gd name="T30" fmla="*/ 13 w 29"/>
                  <a:gd name="T31"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07">
                    <a:moveTo>
                      <a:pt x="13" y="5"/>
                    </a:moveTo>
                    <a:lnTo>
                      <a:pt x="13" y="5"/>
                    </a:lnTo>
                    <a:lnTo>
                      <a:pt x="10" y="12"/>
                    </a:lnTo>
                    <a:lnTo>
                      <a:pt x="4" y="33"/>
                    </a:lnTo>
                    <a:lnTo>
                      <a:pt x="2" y="47"/>
                    </a:lnTo>
                    <a:lnTo>
                      <a:pt x="0" y="65"/>
                    </a:lnTo>
                    <a:lnTo>
                      <a:pt x="0" y="84"/>
                    </a:lnTo>
                    <a:lnTo>
                      <a:pt x="1" y="107"/>
                    </a:lnTo>
                    <a:lnTo>
                      <a:pt x="29" y="107"/>
                    </a:lnTo>
                    <a:lnTo>
                      <a:pt x="29" y="0"/>
                    </a:lnTo>
                    <a:lnTo>
                      <a:pt x="29" y="0"/>
                    </a:lnTo>
                    <a:lnTo>
                      <a:pt x="21" y="4"/>
                    </a:lnTo>
                    <a:lnTo>
                      <a:pt x="16" y="5"/>
                    </a:lnTo>
                    <a:lnTo>
                      <a:pt x="13" y="5"/>
                    </a:lnTo>
                    <a:lnTo>
                      <a:pt x="13" y="5"/>
                    </a:lnTo>
                    <a:lnTo>
                      <a:pt x="13"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0" name="Freeform 115"/>
              <p:cNvSpPr/>
              <p:nvPr/>
            </p:nvSpPr>
            <p:spPr bwMode="auto">
              <a:xfrm>
                <a:off x="3211513" y="4624388"/>
                <a:ext cx="449263" cy="334963"/>
              </a:xfrm>
              <a:custGeom>
                <a:avLst/>
                <a:gdLst>
                  <a:gd name="T0" fmla="*/ 0 w 283"/>
                  <a:gd name="T1" fmla="*/ 0 h 211"/>
                  <a:gd name="T2" fmla="*/ 0 w 283"/>
                  <a:gd name="T3" fmla="*/ 0 h 211"/>
                  <a:gd name="T4" fmla="*/ 63 w 283"/>
                  <a:gd name="T5" fmla="*/ 29 h 211"/>
                  <a:gd name="T6" fmla="*/ 143 w 283"/>
                  <a:gd name="T7" fmla="*/ 67 h 211"/>
                  <a:gd name="T8" fmla="*/ 143 w 283"/>
                  <a:gd name="T9" fmla="*/ 67 h 211"/>
                  <a:gd name="T10" fmla="*/ 221 w 283"/>
                  <a:gd name="T11" fmla="*/ 29 h 211"/>
                  <a:gd name="T12" fmla="*/ 283 w 283"/>
                  <a:gd name="T13" fmla="*/ 0 h 211"/>
                  <a:gd name="T14" fmla="*/ 283 w 283"/>
                  <a:gd name="T15" fmla="*/ 163 h 211"/>
                  <a:gd name="T16" fmla="*/ 283 w 283"/>
                  <a:gd name="T17" fmla="*/ 163 h 211"/>
                  <a:gd name="T18" fmla="*/ 277 w 283"/>
                  <a:gd name="T19" fmla="*/ 170 h 211"/>
                  <a:gd name="T20" fmla="*/ 267 w 283"/>
                  <a:gd name="T21" fmla="*/ 177 h 211"/>
                  <a:gd name="T22" fmla="*/ 259 w 283"/>
                  <a:gd name="T23" fmla="*/ 182 h 211"/>
                  <a:gd name="T24" fmla="*/ 250 w 283"/>
                  <a:gd name="T25" fmla="*/ 188 h 211"/>
                  <a:gd name="T26" fmla="*/ 229 w 283"/>
                  <a:gd name="T27" fmla="*/ 196 h 211"/>
                  <a:gd name="T28" fmla="*/ 209 w 283"/>
                  <a:gd name="T29" fmla="*/ 201 h 211"/>
                  <a:gd name="T30" fmla="*/ 190 w 283"/>
                  <a:gd name="T31" fmla="*/ 205 h 211"/>
                  <a:gd name="T32" fmla="*/ 172 w 283"/>
                  <a:gd name="T33" fmla="*/ 208 h 211"/>
                  <a:gd name="T34" fmla="*/ 147 w 283"/>
                  <a:gd name="T35" fmla="*/ 211 h 211"/>
                  <a:gd name="T36" fmla="*/ 147 w 283"/>
                  <a:gd name="T37" fmla="*/ 211 h 211"/>
                  <a:gd name="T38" fmla="*/ 147 w 283"/>
                  <a:gd name="T39" fmla="*/ 211 h 211"/>
                  <a:gd name="T40" fmla="*/ 143 w 283"/>
                  <a:gd name="T41" fmla="*/ 211 h 211"/>
                  <a:gd name="T42" fmla="*/ 143 w 283"/>
                  <a:gd name="T43" fmla="*/ 211 h 211"/>
                  <a:gd name="T44" fmla="*/ 139 w 283"/>
                  <a:gd name="T45" fmla="*/ 211 h 211"/>
                  <a:gd name="T46" fmla="*/ 139 w 283"/>
                  <a:gd name="T47" fmla="*/ 211 h 211"/>
                  <a:gd name="T48" fmla="*/ 139 w 283"/>
                  <a:gd name="T49" fmla="*/ 211 h 211"/>
                  <a:gd name="T50" fmla="*/ 113 w 283"/>
                  <a:gd name="T51" fmla="*/ 208 h 211"/>
                  <a:gd name="T52" fmla="*/ 94 w 283"/>
                  <a:gd name="T53" fmla="*/ 205 h 211"/>
                  <a:gd name="T54" fmla="*/ 75 w 283"/>
                  <a:gd name="T55" fmla="*/ 201 h 211"/>
                  <a:gd name="T56" fmla="*/ 55 w 283"/>
                  <a:gd name="T57" fmla="*/ 196 h 211"/>
                  <a:gd name="T58" fmla="*/ 36 w 283"/>
                  <a:gd name="T59" fmla="*/ 188 h 211"/>
                  <a:gd name="T60" fmla="*/ 26 w 283"/>
                  <a:gd name="T61" fmla="*/ 182 h 211"/>
                  <a:gd name="T62" fmla="*/ 17 w 283"/>
                  <a:gd name="T63" fmla="*/ 177 h 211"/>
                  <a:gd name="T64" fmla="*/ 9 w 283"/>
                  <a:gd name="T65" fmla="*/ 170 h 211"/>
                  <a:gd name="T66" fmla="*/ 0 w 283"/>
                  <a:gd name="T67" fmla="*/ 163 h 211"/>
                  <a:gd name="T68" fmla="*/ 0 w 283"/>
                  <a:gd name="T6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11">
                    <a:moveTo>
                      <a:pt x="0" y="0"/>
                    </a:moveTo>
                    <a:lnTo>
                      <a:pt x="0" y="0"/>
                    </a:lnTo>
                    <a:lnTo>
                      <a:pt x="63" y="29"/>
                    </a:lnTo>
                    <a:lnTo>
                      <a:pt x="143" y="67"/>
                    </a:lnTo>
                    <a:lnTo>
                      <a:pt x="143" y="67"/>
                    </a:lnTo>
                    <a:lnTo>
                      <a:pt x="221" y="29"/>
                    </a:lnTo>
                    <a:lnTo>
                      <a:pt x="283" y="0"/>
                    </a:lnTo>
                    <a:lnTo>
                      <a:pt x="283" y="163"/>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7" y="211"/>
                    </a:lnTo>
                    <a:lnTo>
                      <a:pt x="147" y="211"/>
                    </a:lnTo>
                    <a:lnTo>
                      <a:pt x="143" y="211"/>
                    </a:lnTo>
                    <a:lnTo>
                      <a:pt x="143" y="211"/>
                    </a:lnTo>
                    <a:lnTo>
                      <a:pt x="139" y="211"/>
                    </a:lnTo>
                    <a:lnTo>
                      <a:pt x="139"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75786" name="Freeform 116"/>
            <p:cNvSpPr>
              <a:spLocks noEditPoints="1"/>
            </p:cNvSpPr>
            <p:nvPr/>
          </p:nvSpPr>
          <p:spPr>
            <a:xfrm>
              <a:off x="3074037" y="2322372"/>
              <a:ext cx="392062" cy="492239"/>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chemeClr val="accent1">
                <a:alpha val="100000"/>
              </a:schemeClr>
            </a:solidFill>
            <a:ln w="9525">
              <a:noFill/>
            </a:ln>
          </p:spPr>
          <p:txBody>
            <a:bodyPr/>
            <a:lstStyle/>
            <a:p>
              <a:endParaRPr lang="zh-CN" altLang="en-US"/>
            </a:p>
          </p:txBody>
        </p:sp>
        <p:grpSp>
          <p:nvGrpSpPr>
            <p:cNvPr id="122" name="组合 201"/>
            <p:cNvGrpSpPr/>
            <p:nvPr/>
          </p:nvGrpSpPr>
          <p:grpSpPr>
            <a:xfrm>
              <a:off x="1155000" y="1815843"/>
              <a:ext cx="601584" cy="601802"/>
              <a:chOff x="2111376" y="1712913"/>
              <a:chExt cx="601663" cy="601663"/>
            </a:xfrm>
            <a:solidFill>
              <a:schemeClr val="accent5"/>
            </a:solidFill>
          </p:grpSpPr>
          <p:sp>
            <p:nvSpPr>
              <p:cNvPr id="123" name="Freeform 121"/>
              <p:cNvSpPr>
                <a:spLocks noEditPoints="1"/>
              </p:cNvSpPr>
              <p:nvPr/>
            </p:nvSpPr>
            <p:spPr bwMode="auto">
              <a:xfrm>
                <a:off x="2300288" y="1712913"/>
                <a:ext cx="223838" cy="601663"/>
              </a:xfrm>
              <a:custGeom>
                <a:avLst/>
                <a:gdLst>
                  <a:gd name="T0" fmla="*/ 71 w 141"/>
                  <a:gd name="T1" fmla="*/ 0 h 379"/>
                  <a:gd name="T2" fmla="*/ 84 w 141"/>
                  <a:gd name="T3" fmla="*/ 4 h 379"/>
                  <a:gd name="T4" fmla="*/ 98 w 141"/>
                  <a:gd name="T5" fmla="*/ 15 h 379"/>
                  <a:gd name="T6" fmla="*/ 110 w 141"/>
                  <a:gd name="T7" fmla="*/ 33 h 379"/>
                  <a:gd name="T8" fmla="*/ 119 w 141"/>
                  <a:gd name="T9" fmla="*/ 56 h 379"/>
                  <a:gd name="T10" fmla="*/ 136 w 141"/>
                  <a:gd name="T11" fmla="*/ 117 h 379"/>
                  <a:gd name="T12" fmla="*/ 141 w 141"/>
                  <a:gd name="T13" fmla="*/ 190 h 379"/>
                  <a:gd name="T14" fmla="*/ 140 w 141"/>
                  <a:gd name="T15" fmla="*/ 228 h 379"/>
                  <a:gd name="T16" fmla="*/ 129 w 141"/>
                  <a:gd name="T17" fmla="*/ 295 h 379"/>
                  <a:gd name="T18" fmla="*/ 115 w 141"/>
                  <a:gd name="T19" fmla="*/ 336 h 379"/>
                  <a:gd name="T20" fmla="*/ 105 w 141"/>
                  <a:gd name="T21" fmla="*/ 356 h 379"/>
                  <a:gd name="T22" fmla="*/ 91 w 141"/>
                  <a:gd name="T23" fmla="*/ 371 h 379"/>
                  <a:gd name="T24" fmla="*/ 77 w 141"/>
                  <a:gd name="T25" fmla="*/ 378 h 379"/>
                  <a:gd name="T26" fmla="*/ 71 w 141"/>
                  <a:gd name="T27" fmla="*/ 379 h 379"/>
                  <a:gd name="T28" fmla="*/ 71 w 141"/>
                  <a:gd name="T29" fmla="*/ 348 h 379"/>
                  <a:gd name="T30" fmla="*/ 71 w 141"/>
                  <a:gd name="T31" fmla="*/ 348 h 379"/>
                  <a:gd name="T32" fmla="*/ 83 w 141"/>
                  <a:gd name="T33" fmla="*/ 346 h 379"/>
                  <a:gd name="T34" fmla="*/ 94 w 141"/>
                  <a:gd name="T35" fmla="*/ 336 h 379"/>
                  <a:gd name="T36" fmla="*/ 103 w 141"/>
                  <a:gd name="T37" fmla="*/ 321 h 379"/>
                  <a:gd name="T38" fmla="*/ 119 w 141"/>
                  <a:gd name="T39" fmla="*/ 279 h 379"/>
                  <a:gd name="T40" fmla="*/ 128 w 141"/>
                  <a:gd name="T41" fmla="*/ 222 h 379"/>
                  <a:gd name="T42" fmla="*/ 129 w 141"/>
                  <a:gd name="T43" fmla="*/ 190 h 379"/>
                  <a:gd name="T44" fmla="*/ 125 w 141"/>
                  <a:gd name="T45" fmla="*/ 128 h 379"/>
                  <a:gd name="T46" fmla="*/ 113 w 141"/>
                  <a:gd name="T47" fmla="*/ 77 h 379"/>
                  <a:gd name="T48" fmla="*/ 99 w 141"/>
                  <a:gd name="T49" fmla="*/ 50 h 379"/>
                  <a:gd name="T50" fmla="*/ 88 w 141"/>
                  <a:gd name="T51" fmla="*/ 38 h 379"/>
                  <a:gd name="T52" fmla="*/ 76 w 141"/>
                  <a:gd name="T53" fmla="*/ 31 h 379"/>
                  <a:gd name="T54" fmla="*/ 71 w 141"/>
                  <a:gd name="T55" fmla="*/ 31 h 379"/>
                  <a:gd name="T56" fmla="*/ 71 w 141"/>
                  <a:gd name="T57" fmla="*/ 0 h 379"/>
                  <a:gd name="T58" fmla="*/ 71 w 141"/>
                  <a:gd name="T59" fmla="*/ 379 h 379"/>
                  <a:gd name="T60" fmla="*/ 57 w 141"/>
                  <a:gd name="T61" fmla="*/ 375 h 379"/>
                  <a:gd name="T62" fmla="*/ 44 w 141"/>
                  <a:gd name="T63" fmla="*/ 365 h 379"/>
                  <a:gd name="T64" fmla="*/ 31 w 141"/>
                  <a:gd name="T65" fmla="*/ 347 h 379"/>
                  <a:gd name="T66" fmla="*/ 22 w 141"/>
                  <a:gd name="T67" fmla="*/ 324 h 379"/>
                  <a:gd name="T68" fmla="*/ 7 w 141"/>
                  <a:gd name="T69" fmla="*/ 264 h 379"/>
                  <a:gd name="T70" fmla="*/ 0 w 141"/>
                  <a:gd name="T71" fmla="*/ 190 h 379"/>
                  <a:gd name="T72" fmla="*/ 3 w 141"/>
                  <a:gd name="T73" fmla="*/ 152 h 379"/>
                  <a:gd name="T74" fmla="*/ 12 w 141"/>
                  <a:gd name="T75" fmla="*/ 84 h 379"/>
                  <a:gd name="T76" fmla="*/ 26 w 141"/>
                  <a:gd name="T77" fmla="*/ 44 h 379"/>
                  <a:gd name="T78" fmla="*/ 37 w 141"/>
                  <a:gd name="T79" fmla="*/ 23 h 379"/>
                  <a:gd name="T80" fmla="*/ 50 w 141"/>
                  <a:gd name="T81" fmla="*/ 8 h 379"/>
                  <a:gd name="T82" fmla="*/ 64 w 141"/>
                  <a:gd name="T83" fmla="*/ 2 h 379"/>
                  <a:gd name="T84" fmla="*/ 71 w 141"/>
                  <a:gd name="T85" fmla="*/ 31 h 379"/>
                  <a:gd name="T86" fmla="*/ 65 w 141"/>
                  <a:gd name="T87" fmla="*/ 31 h 379"/>
                  <a:gd name="T88" fmla="*/ 53 w 141"/>
                  <a:gd name="T89" fmla="*/ 38 h 379"/>
                  <a:gd name="T90" fmla="*/ 42 w 141"/>
                  <a:gd name="T91" fmla="*/ 50 h 379"/>
                  <a:gd name="T92" fmla="*/ 29 w 141"/>
                  <a:gd name="T93" fmla="*/ 77 h 379"/>
                  <a:gd name="T94" fmla="*/ 17 w 141"/>
                  <a:gd name="T95" fmla="*/ 128 h 379"/>
                  <a:gd name="T96" fmla="*/ 12 w 141"/>
                  <a:gd name="T97" fmla="*/ 190 h 379"/>
                  <a:gd name="T98" fmla="*/ 14 w 141"/>
                  <a:gd name="T99" fmla="*/ 222 h 379"/>
                  <a:gd name="T100" fmla="*/ 22 w 141"/>
                  <a:gd name="T101" fmla="*/ 279 h 379"/>
                  <a:gd name="T102" fmla="*/ 38 w 141"/>
                  <a:gd name="T103" fmla="*/ 321 h 379"/>
                  <a:gd name="T104" fmla="*/ 48 w 141"/>
                  <a:gd name="T105" fmla="*/ 336 h 379"/>
                  <a:gd name="T106" fmla="*/ 59 w 141"/>
                  <a:gd name="T107" fmla="*/ 346 h 379"/>
                  <a:gd name="T108" fmla="*/ 71 w 141"/>
                  <a:gd name="T109" fmla="*/ 348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79"/>
                    </a:lnTo>
                    <a:lnTo>
                      <a:pt x="71" y="348"/>
                    </a:lnTo>
                    <a:lnTo>
                      <a:pt x="71" y="348"/>
                    </a:lnTo>
                    <a:lnTo>
                      <a:pt x="71" y="348"/>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31"/>
                    </a:lnTo>
                    <a:lnTo>
                      <a:pt x="71" y="0"/>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4" name="Freeform 122"/>
              <p:cNvSpPr>
                <a:spLocks noEditPoints="1"/>
              </p:cNvSpPr>
              <p:nvPr/>
            </p:nvSpPr>
            <p:spPr bwMode="auto">
              <a:xfrm>
                <a:off x="2111376" y="1905000"/>
                <a:ext cx="601663" cy="220663"/>
              </a:xfrm>
              <a:custGeom>
                <a:avLst/>
                <a:gdLst>
                  <a:gd name="T0" fmla="*/ 190 w 379"/>
                  <a:gd name="T1" fmla="*/ 0 h 139"/>
                  <a:gd name="T2" fmla="*/ 228 w 379"/>
                  <a:gd name="T3" fmla="*/ 1 h 139"/>
                  <a:gd name="T4" fmla="*/ 295 w 379"/>
                  <a:gd name="T5" fmla="*/ 11 h 139"/>
                  <a:gd name="T6" fmla="*/ 336 w 379"/>
                  <a:gd name="T7" fmla="*/ 24 h 139"/>
                  <a:gd name="T8" fmla="*/ 356 w 379"/>
                  <a:gd name="T9" fmla="*/ 35 h 139"/>
                  <a:gd name="T10" fmla="*/ 371 w 379"/>
                  <a:gd name="T11" fmla="*/ 49 h 139"/>
                  <a:gd name="T12" fmla="*/ 378 w 379"/>
                  <a:gd name="T13" fmla="*/ 62 h 139"/>
                  <a:gd name="T14" fmla="*/ 379 w 379"/>
                  <a:gd name="T15" fmla="*/ 69 h 139"/>
                  <a:gd name="T16" fmla="*/ 375 w 379"/>
                  <a:gd name="T17" fmla="*/ 82 h 139"/>
                  <a:gd name="T18" fmla="*/ 364 w 379"/>
                  <a:gd name="T19" fmla="*/ 96 h 139"/>
                  <a:gd name="T20" fmla="*/ 347 w 379"/>
                  <a:gd name="T21" fmla="*/ 108 h 139"/>
                  <a:gd name="T22" fmla="*/ 324 w 379"/>
                  <a:gd name="T23" fmla="*/ 119 h 139"/>
                  <a:gd name="T24" fmla="*/ 264 w 379"/>
                  <a:gd name="T25" fmla="*/ 134 h 139"/>
                  <a:gd name="T26" fmla="*/ 190 w 379"/>
                  <a:gd name="T27" fmla="*/ 139 h 139"/>
                  <a:gd name="T28" fmla="*/ 190 w 379"/>
                  <a:gd name="T29" fmla="*/ 127 h 139"/>
                  <a:gd name="T30" fmla="*/ 190 w 379"/>
                  <a:gd name="T31" fmla="*/ 127 h 139"/>
                  <a:gd name="T32" fmla="*/ 252 w 379"/>
                  <a:gd name="T33" fmla="*/ 123 h 139"/>
                  <a:gd name="T34" fmla="*/ 302 w 379"/>
                  <a:gd name="T35" fmla="*/ 111 h 139"/>
                  <a:gd name="T36" fmla="*/ 329 w 379"/>
                  <a:gd name="T37" fmla="*/ 97 h 139"/>
                  <a:gd name="T38" fmla="*/ 341 w 379"/>
                  <a:gd name="T39" fmla="*/ 86 h 139"/>
                  <a:gd name="T40" fmla="*/ 348 w 379"/>
                  <a:gd name="T41" fmla="*/ 74 h 139"/>
                  <a:gd name="T42" fmla="*/ 348 w 379"/>
                  <a:gd name="T43" fmla="*/ 69 h 139"/>
                  <a:gd name="T44" fmla="*/ 348 w 379"/>
                  <a:gd name="T45" fmla="*/ 63 h 139"/>
                  <a:gd name="T46" fmla="*/ 341 w 379"/>
                  <a:gd name="T47" fmla="*/ 51 h 139"/>
                  <a:gd name="T48" fmla="*/ 329 w 379"/>
                  <a:gd name="T49" fmla="*/ 40 h 139"/>
                  <a:gd name="T50" fmla="*/ 302 w 379"/>
                  <a:gd name="T51" fmla="*/ 28 h 139"/>
                  <a:gd name="T52" fmla="*/ 252 w 379"/>
                  <a:gd name="T53" fmla="*/ 15 h 139"/>
                  <a:gd name="T54" fmla="*/ 190 w 379"/>
                  <a:gd name="T55" fmla="*/ 11 h 139"/>
                  <a:gd name="T56" fmla="*/ 190 w 379"/>
                  <a:gd name="T57" fmla="*/ 0 h 139"/>
                  <a:gd name="T58" fmla="*/ 0 w 379"/>
                  <a:gd name="T59" fmla="*/ 69 h 139"/>
                  <a:gd name="T60" fmla="*/ 4 w 379"/>
                  <a:gd name="T61" fmla="*/ 55 h 139"/>
                  <a:gd name="T62" fmla="*/ 15 w 379"/>
                  <a:gd name="T63" fmla="*/ 42 h 139"/>
                  <a:gd name="T64" fmla="*/ 33 w 379"/>
                  <a:gd name="T65" fmla="*/ 30 h 139"/>
                  <a:gd name="T66" fmla="*/ 56 w 379"/>
                  <a:gd name="T67" fmla="*/ 20 h 139"/>
                  <a:gd name="T68" fmla="*/ 117 w 379"/>
                  <a:gd name="T69" fmla="*/ 5 h 139"/>
                  <a:gd name="T70" fmla="*/ 190 w 379"/>
                  <a:gd name="T71" fmla="*/ 0 h 139"/>
                  <a:gd name="T72" fmla="*/ 190 w 379"/>
                  <a:gd name="T73" fmla="*/ 11 h 139"/>
                  <a:gd name="T74" fmla="*/ 127 w 379"/>
                  <a:gd name="T75" fmla="*/ 15 h 139"/>
                  <a:gd name="T76" fmla="*/ 77 w 379"/>
                  <a:gd name="T77" fmla="*/ 28 h 139"/>
                  <a:gd name="T78" fmla="*/ 50 w 379"/>
                  <a:gd name="T79" fmla="*/ 40 h 139"/>
                  <a:gd name="T80" fmla="*/ 38 w 379"/>
                  <a:gd name="T81" fmla="*/ 51 h 139"/>
                  <a:gd name="T82" fmla="*/ 31 w 379"/>
                  <a:gd name="T83" fmla="*/ 63 h 139"/>
                  <a:gd name="T84" fmla="*/ 31 w 379"/>
                  <a:gd name="T85" fmla="*/ 69 h 139"/>
                  <a:gd name="T86" fmla="*/ 34 w 379"/>
                  <a:gd name="T87" fmla="*/ 81 h 139"/>
                  <a:gd name="T88" fmla="*/ 43 w 379"/>
                  <a:gd name="T89" fmla="*/ 92 h 139"/>
                  <a:gd name="T90" fmla="*/ 58 w 379"/>
                  <a:gd name="T91" fmla="*/ 101 h 139"/>
                  <a:gd name="T92" fmla="*/ 102 w 379"/>
                  <a:gd name="T93" fmla="*/ 118 h 139"/>
                  <a:gd name="T94" fmla="*/ 157 w 379"/>
                  <a:gd name="T95" fmla="*/ 126 h 139"/>
                  <a:gd name="T96" fmla="*/ 190 w 379"/>
                  <a:gd name="T97" fmla="*/ 139 h 139"/>
                  <a:gd name="T98" fmla="*/ 152 w 379"/>
                  <a:gd name="T99" fmla="*/ 138 h 139"/>
                  <a:gd name="T100" fmla="*/ 84 w 379"/>
                  <a:gd name="T101" fmla="*/ 127 h 139"/>
                  <a:gd name="T102" fmla="*/ 43 w 379"/>
                  <a:gd name="T103" fmla="*/ 114 h 139"/>
                  <a:gd name="T104" fmla="*/ 23 w 379"/>
                  <a:gd name="T105" fmla="*/ 103 h 139"/>
                  <a:gd name="T106" fmla="*/ 8 w 379"/>
                  <a:gd name="T107" fmla="*/ 89 h 139"/>
                  <a:gd name="T108" fmla="*/ 1 w 379"/>
                  <a:gd name="T109" fmla="*/ 76 h 139"/>
                  <a:gd name="T110" fmla="*/ 0 w 379"/>
                  <a:gd name="T111"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9" h="139">
                    <a:moveTo>
                      <a:pt x="190" y="0"/>
                    </a:moveTo>
                    <a:lnTo>
                      <a:pt x="190" y="0"/>
                    </a:ln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39"/>
                    </a:lnTo>
                    <a:lnTo>
                      <a:pt x="190" y="127"/>
                    </a:lnTo>
                    <a:lnTo>
                      <a:pt x="190" y="127"/>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9"/>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lnTo>
                      <a:pt x="0"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5" name="Freeform 123"/>
              <p:cNvSpPr>
                <a:spLocks noEditPoints="1"/>
              </p:cNvSpPr>
              <p:nvPr/>
            </p:nvSpPr>
            <p:spPr bwMode="auto">
              <a:xfrm>
                <a:off x="2187576" y="1789113"/>
                <a:ext cx="450850" cy="452438"/>
              </a:xfrm>
              <a:custGeom>
                <a:avLst/>
                <a:gdLst>
                  <a:gd name="T0" fmla="*/ 142 w 284"/>
                  <a:gd name="T1" fmla="*/ 50 h 285"/>
                  <a:gd name="T2" fmla="*/ 190 w 284"/>
                  <a:gd name="T3" fmla="*/ 93 h 285"/>
                  <a:gd name="T4" fmla="*/ 218 w 284"/>
                  <a:gd name="T5" fmla="*/ 120 h 285"/>
                  <a:gd name="T6" fmla="*/ 258 w 284"/>
                  <a:gd name="T7" fmla="*/ 176 h 285"/>
                  <a:gd name="T8" fmla="*/ 277 w 284"/>
                  <a:gd name="T9" fmla="*/ 214 h 285"/>
                  <a:gd name="T10" fmla="*/ 283 w 284"/>
                  <a:gd name="T11" fmla="*/ 237 h 285"/>
                  <a:gd name="T12" fmla="*/ 284 w 284"/>
                  <a:gd name="T13" fmla="*/ 256 h 285"/>
                  <a:gd name="T14" fmla="*/ 280 w 284"/>
                  <a:gd name="T15" fmla="*/ 271 h 285"/>
                  <a:gd name="T16" fmla="*/ 276 w 284"/>
                  <a:gd name="T17" fmla="*/ 276 h 285"/>
                  <a:gd name="T18" fmla="*/ 266 w 284"/>
                  <a:gd name="T19" fmla="*/ 283 h 285"/>
                  <a:gd name="T20" fmla="*/ 254 w 284"/>
                  <a:gd name="T21" fmla="*/ 285 h 285"/>
                  <a:gd name="T22" fmla="*/ 223 w 284"/>
                  <a:gd name="T23" fmla="*/ 280 h 285"/>
                  <a:gd name="T24" fmla="*/ 184 w 284"/>
                  <a:gd name="T25" fmla="*/ 262 h 285"/>
                  <a:gd name="T26" fmla="*/ 142 w 284"/>
                  <a:gd name="T27" fmla="*/ 235 h 285"/>
                  <a:gd name="T28" fmla="*/ 142 w 284"/>
                  <a:gd name="T29" fmla="*/ 219 h 285"/>
                  <a:gd name="T30" fmla="*/ 177 w 284"/>
                  <a:gd name="T31" fmla="*/ 243 h 285"/>
                  <a:gd name="T32" fmla="*/ 209 w 284"/>
                  <a:gd name="T33" fmla="*/ 257 h 285"/>
                  <a:gd name="T34" fmla="*/ 235 w 284"/>
                  <a:gd name="T35" fmla="*/ 261 h 285"/>
                  <a:gd name="T36" fmla="*/ 246 w 284"/>
                  <a:gd name="T37" fmla="*/ 260 h 285"/>
                  <a:gd name="T38" fmla="*/ 254 w 284"/>
                  <a:gd name="T39" fmla="*/ 254 h 285"/>
                  <a:gd name="T40" fmla="*/ 254 w 284"/>
                  <a:gd name="T41" fmla="*/ 254 h 285"/>
                  <a:gd name="T42" fmla="*/ 260 w 284"/>
                  <a:gd name="T43" fmla="*/ 243 h 285"/>
                  <a:gd name="T44" fmla="*/ 261 w 284"/>
                  <a:gd name="T45" fmla="*/ 230 h 285"/>
                  <a:gd name="T46" fmla="*/ 258 w 284"/>
                  <a:gd name="T47" fmla="*/ 212 h 285"/>
                  <a:gd name="T48" fmla="*/ 239 w 284"/>
                  <a:gd name="T49" fmla="*/ 170 h 285"/>
                  <a:gd name="T50" fmla="*/ 205 w 284"/>
                  <a:gd name="T51" fmla="*/ 124 h 285"/>
                  <a:gd name="T52" fmla="*/ 184 w 284"/>
                  <a:gd name="T53" fmla="*/ 101 h 285"/>
                  <a:gd name="T54" fmla="*/ 142 w 284"/>
                  <a:gd name="T55" fmla="*/ 65 h 285"/>
                  <a:gd name="T56" fmla="*/ 8 w 284"/>
                  <a:gd name="T57" fmla="*/ 8 h 285"/>
                  <a:gd name="T58" fmla="*/ 12 w 284"/>
                  <a:gd name="T59" fmla="*/ 5 h 285"/>
                  <a:gd name="T60" fmla="*/ 23 w 284"/>
                  <a:gd name="T61" fmla="*/ 0 h 285"/>
                  <a:gd name="T62" fmla="*/ 44 w 284"/>
                  <a:gd name="T63" fmla="*/ 0 h 285"/>
                  <a:gd name="T64" fmla="*/ 79 w 284"/>
                  <a:gd name="T65" fmla="*/ 11 h 285"/>
                  <a:gd name="T66" fmla="*/ 120 w 284"/>
                  <a:gd name="T67" fmla="*/ 34 h 285"/>
                  <a:gd name="T68" fmla="*/ 142 w 284"/>
                  <a:gd name="T69" fmla="*/ 65 h 285"/>
                  <a:gd name="T70" fmla="*/ 124 w 284"/>
                  <a:gd name="T71" fmla="*/ 51 h 285"/>
                  <a:gd name="T72" fmla="*/ 89 w 284"/>
                  <a:gd name="T73" fmla="*/ 32 h 285"/>
                  <a:gd name="T74" fmla="*/ 60 w 284"/>
                  <a:gd name="T75" fmla="*/ 23 h 285"/>
                  <a:gd name="T76" fmla="*/ 43 w 284"/>
                  <a:gd name="T77" fmla="*/ 23 h 285"/>
                  <a:gd name="T78" fmla="*/ 33 w 284"/>
                  <a:gd name="T79" fmla="*/ 27 h 285"/>
                  <a:gd name="T80" fmla="*/ 29 w 284"/>
                  <a:gd name="T81" fmla="*/ 29 h 285"/>
                  <a:gd name="T82" fmla="*/ 24 w 284"/>
                  <a:gd name="T83" fmla="*/ 40 h 285"/>
                  <a:gd name="T84" fmla="*/ 23 w 284"/>
                  <a:gd name="T85" fmla="*/ 55 h 285"/>
                  <a:gd name="T86" fmla="*/ 25 w 284"/>
                  <a:gd name="T87" fmla="*/ 71 h 285"/>
                  <a:gd name="T88" fmla="*/ 44 w 284"/>
                  <a:gd name="T89" fmla="*/ 113 h 285"/>
                  <a:gd name="T90" fmla="*/ 78 w 284"/>
                  <a:gd name="T91" fmla="*/ 159 h 285"/>
                  <a:gd name="T92" fmla="*/ 100 w 284"/>
                  <a:gd name="T93" fmla="*/ 184 h 285"/>
                  <a:gd name="T94" fmla="*/ 142 w 284"/>
                  <a:gd name="T95" fmla="*/ 219 h 285"/>
                  <a:gd name="T96" fmla="*/ 142 w 284"/>
                  <a:gd name="T97" fmla="*/ 235 h 285"/>
                  <a:gd name="T98" fmla="*/ 93 w 284"/>
                  <a:gd name="T99" fmla="*/ 192 h 285"/>
                  <a:gd name="T100" fmla="*/ 66 w 284"/>
                  <a:gd name="T101" fmla="*/ 164 h 285"/>
                  <a:gd name="T102" fmla="*/ 25 w 284"/>
                  <a:gd name="T103" fmla="*/ 108 h 285"/>
                  <a:gd name="T104" fmla="*/ 6 w 284"/>
                  <a:gd name="T105" fmla="*/ 70 h 285"/>
                  <a:gd name="T106" fmla="*/ 1 w 284"/>
                  <a:gd name="T107" fmla="*/ 47 h 285"/>
                  <a:gd name="T108" fmla="*/ 0 w 284"/>
                  <a:gd name="T109" fmla="*/ 28 h 285"/>
                  <a:gd name="T110" fmla="*/ 4 w 284"/>
                  <a:gd name="T111" fmla="*/ 13 h 285"/>
                  <a:gd name="T112" fmla="*/ 8 w 284"/>
                  <a:gd name="T113"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6" y="70"/>
                    </a:lnTo>
                    <a:lnTo>
                      <a:pt x="190" y="93"/>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4" y="254"/>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00" y="184"/>
                    </a:lnTo>
                    <a:lnTo>
                      <a:pt x="121" y="203"/>
                    </a:lnTo>
                    <a:lnTo>
                      <a:pt x="142" y="219"/>
                    </a:lnTo>
                    <a:lnTo>
                      <a:pt x="142" y="235"/>
                    </a:lnTo>
                    <a:lnTo>
                      <a:pt x="142" y="235"/>
                    </a:lnTo>
                    <a:lnTo>
                      <a:pt x="117" y="215"/>
                    </a:lnTo>
                    <a:lnTo>
                      <a:pt x="93" y="192"/>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lnTo>
                      <a:pt x="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6" name="Freeform 124"/>
              <p:cNvSpPr>
                <a:spLocks noEditPoints="1"/>
              </p:cNvSpPr>
              <p:nvPr/>
            </p:nvSpPr>
            <p:spPr bwMode="auto">
              <a:xfrm>
                <a:off x="2187576" y="1789113"/>
                <a:ext cx="450850" cy="452438"/>
              </a:xfrm>
              <a:custGeom>
                <a:avLst/>
                <a:gdLst>
                  <a:gd name="T0" fmla="*/ 142 w 284"/>
                  <a:gd name="T1" fmla="*/ 50 h 285"/>
                  <a:gd name="T2" fmla="*/ 184 w 284"/>
                  <a:gd name="T3" fmla="*/ 21 h 285"/>
                  <a:gd name="T4" fmla="*/ 223 w 284"/>
                  <a:gd name="T5" fmla="*/ 4 h 285"/>
                  <a:gd name="T6" fmla="*/ 254 w 284"/>
                  <a:gd name="T7" fmla="*/ 0 h 285"/>
                  <a:gd name="T8" fmla="*/ 266 w 284"/>
                  <a:gd name="T9" fmla="*/ 2 h 285"/>
                  <a:gd name="T10" fmla="*/ 276 w 284"/>
                  <a:gd name="T11" fmla="*/ 8 h 285"/>
                  <a:gd name="T12" fmla="*/ 280 w 284"/>
                  <a:gd name="T13" fmla="*/ 13 h 285"/>
                  <a:gd name="T14" fmla="*/ 284 w 284"/>
                  <a:gd name="T15" fmla="*/ 28 h 285"/>
                  <a:gd name="T16" fmla="*/ 283 w 284"/>
                  <a:gd name="T17" fmla="*/ 47 h 285"/>
                  <a:gd name="T18" fmla="*/ 277 w 284"/>
                  <a:gd name="T19" fmla="*/ 70 h 285"/>
                  <a:gd name="T20" fmla="*/ 258 w 284"/>
                  <a:gd name="T21" fmla="*/ 108 h 285"/>
                  <a:gd name="T22" fmla="*/ 218 w 284"/>
                  <a:gd name="T23" fmla="*/ 164 h 285"/>
                  <a:gd name="T24" fmla="*/ 190 w 284"/>
                  <a:gd name="T25" fmla="*/ 192 h 285"/>
                  <a:gd name="T26" fmla="*/ 142 w 284"/>
                  <a:gd name="T27" fmla="*/ 235 h 285"/>
                  <a:gd name="T28" fmla="*/ 142 w 284"/>
                  <a:gd name="T29" fmla="*/ 219 h 285"/>
                  <a:gd name="T30" fmla="*/ 184 w 284"/>
                  <a:gd name="T31" fmla="*/ 184 h 285"/>
                  <a:gd name="T32" fmla="*/ 205 w 284"/>
                  <a:gd name="T33" fmla="*/ 159 h 285"/>
                  <a:gd name="T34" fmla="*/ 239 w 284"/>
                  <a:gd name="T35" fmla="*/ 113 h 285"/>
                  <a:gd name="T36" fmla="*/ 258 w 284"/>
                  <a:gd name="T37" fmla="*/ 71 h 285"/>
                  <a:gd name="T38" fmla="*/ 261 w 284"/>
                  <a:gd name="T39" fmla="*/ 55 h 285"/>
                  <a:gd name="T40" fmla="*/ 260 w 284"/>
                  <a:gd name="T41" fmla="*/ 40 h 285"/>
                  <a:gd name="T42" fmla="*/ 254 w 284"/>
                  <a:gd name="T43" fmla="*/ 29 h 285"/>
                  <a:gd name="T44" fmla="*/ 254 w 284"/>
                  <a:gd name="T45" fmla="*/ 29 h 285"/>
                  <a:gd name="T46" fmla="*/ 246 w 284"/>
                  <a:gd name="T47" fmla="*/ 24 h 285"/>
                  <a:gd name="T48" fmla="*/ 235 w 284"/>
                  <a:gd name="T49" fmla="*/ 23 h 285"/>
                  <a:gd name="T50" fmla="*/ 209 w 284"/>
                  <a:gd name="T51" fmla="*/ 27 h 285"/>
                  <a:gd name="T52" fmla="*/ 177 w 284"/>
                  <a:gd name="T53" fmla="*/ 40 h 285"/>
                  <a:gd name="T54" fmla="*/ 142 w 284"/>
                  <a:gd name="T55" fmla="*/ 65 h 285"/>
                  <a:gd name="T56" fmla="*/ 8 w 284"/>
                  <a:gd name="T57" fmla="*/ 276 h 285"/>
                  <a:gd name="T58" fmla="*/ 4 w 284"/>
                  <a:gd name="T59" fmla="*/ 271 h 285"/>
                  <a:gd name="T60" fmla="*/ 0 w 284"/>
                  <a:gd name="T61" fmla="*/ 256 h 285"/>
                  <a:gd name="T62" fmla="*/ 1 w 284"/>
                  <a:gd name="T63" fmla="*/ 237 h 285"/>
                  <a:gd name="T64" fmla="*/ 6 w 284"/>
                  <a:gd name="T65" fmla="*/ 214 h 285"/>
                  <a:gd name="T66" fmla="*/ 25 w 284"/>
                  <a:gd name="T67" fmla="*/ 176 h 285"/>
                  <a:gd name="T68" fmla="*/ 66 w 284"/>
                  <a:gd name="T69" fmla="*/ 120 h 285"/>
                  <a:gd name="T70" fmla="*/ 93 w 284"/>
                  <a:gd name="T71" fmla="*/ 93 h 285"/>
                  <a:gd name="T72" fmla="*/ 142 w 284"/>
                  <a:gd name="T73" fmla="*/ 50 h 285"/>
                  <a:gd name="T74" fmla="*/ 142 w 284"/>
                  <a:gd name="T75" fmla="*/ 65 h 285"/>
                  <a:gd name="T76" fmla="*/ 100 w 284"/>
                  <a:gd name="T77" fmla="*/ 101 h 285"/>
                  <a:gd name="T78" fmla="*/ 78 w 284"/>
                  <a:gd name="T79" fmla="*/ 124 h 285"/>
                  <a:gd name="T80" fmla="*/ 44 w 284"/>
                  <a:gd name="T81" fmla="*/ 170 h 285"/>
                  <a:gd name="T82" fmla="*/ 25 w 284"/>
                  <a:gd name="T83" fmla="*/ 212 h 285"/>
                  <a:gd name="T84" fmla="*/ 23 w 284"/>
                  <a:gd name="T85" fmla="*/ 230 h 285"/>
                  <a:gd name="T86" fmla="*/ 24 w 284"/>
                  <a:gd name="T87" fmla="*/ 243 h 285"/>
                  <a:gd name="T88" fmla="*/ 29 w 284"/>
                  <a:gd name="T89" fmla="*/ 254 h 285"/>
                  <a:gd name="T90" fmla="*/ 33 w 284"/>
                  <a:gd name="T91" fmla="*/ 257 h 285"/>
                  <a:gd name="T92" fmla="*/ 43 w 284"/>
                  <a:gd name="T93" fmla="*/ 261 h 285"/>
                  <a:gd name="T94" fmla="*/ 60 w 284"/>
                  <a:gd name="T95" fmla="*/ 261 h 285"/>
                  <a:gd name="T96" fmla="*/ 89 w 284"/>
                  <a:gd name="T97" fmla="*/ 252 h 285"/>
                  <a:gd name="T98" fmla="*/ 124 w 284"/>
                  <a:gd name="T99" fmla="*/ 233 h 285"/>
                  <a:gd name="T100" fmla="*/ 142 w 284"/>
                  <a:gd name="T101" fmla="*/ 235 h 285"/>
                  <a:gd name="T102" fmla="*/ 120 w 284"/>
                  <a:gd name="T103" fmla="*/ 250 h 285"/>
                  <a:gd name="T104" fmla="*/ 79 w 284"/>
                  <a:gd name="T105" fmla="*/ 273 h 285"/>
                  <a:gd name="T106" fmla="*/ 44 w 284"/>
                  <a:gd name="T107" fmla="*/ 284 h 285"/>
                  <a:gd name="T108" fmla="*/ 23 w 284"/>
                  <a:gd name="T109" fmla="*/ 284 h 285"/>
                  <a:gd name="T110" fmla="*/ 12 w 284"/>
                  <a:gd name="T111" fmla="*/ 280 h 285"/>
                  <a:gd name="T112" fmla="*/ 8 w 284"/>
                  <a:gd name="T113" fmla="*/ 27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90" y="192"/>
                    </a:lnTo>
                    <a:lnTo>
                      <a:pt x="166" y="215"/>
                    </a:lnTo>
                    <a:lnTo>
                      <a:pt x="142" y="235"/>
                    </a:lnTo>
                    <a:lnTo>
                      <a:pt x="142" y="219"/>
                    </a:lnTo>
                    <a:lnTo>
                      <a:pt x="142" y="219"/>
                    </a:lnTo>
                    <a:lnTo>
                      <a:pt x="162" y="203"/>
                    </a:lnTo>
                    <a:lnTo>
                      <a:pt x="184" y="184"/>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4" y="29"/>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93" y="93"/>
                    </a:lnTo>
                    <a:lnTo>
                      <a:pt x="117" y="70"/>
                    </a:lnTo>
                    <a:lnTo>
                      <a:pt x="142" y="50"/>
                    </a:lnTo>
                    <a:lnTo>
                      <a:pt x="142" y="65"/>
                    </a:lnTo>
                    <a:lnTo>
                      <a:pt x="142" y="65"/>
                    </a:lnTo>
                    <a:lnTo>
                      <a:pt x="121" y="81"/>
                    </a:lnTo>
                    <a:lnTo>
                      <a:pt x="100" y="10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lnTo>
                      <a:pt x="8"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7" name="Freeform 125"/>
              <p:cNvSpPr/>
              <p:nvPr/>
            </p:nvSpPr>
            <p:spPr bwMode="auto">
              <a:xfrm>
                <a:off x="2365376" y="1966913"/>
                <a:ext cx="92075" cy="95250"/>
              </a:xfrm>
              <a:custGeom>
                <a:avLst/>
                <a:gdLst>
                  <a:gd name="T0" fmla="*/ 0 w 58"/>
                  <a:gd name="T1" fmla="*/ 30 h 60"/>
                  <a:gd name="T2" fmla="*/ 0 w 58"/>
                  <a:gd name="T3" fmla="*/ 30 h 60"/>
                  <a:gd name="T4" fmla="*/ 1 w 58"/>
                  <a:gd name="T5" fmla="*/ 24 h 60"/>
                  <a:gd name="T6" fmla="*/ 3 w 58"/>
                  <a:gd name="T7" fmla="*/ 19 h 60"/>
                  <a:gd name="T8" fmla="*/ 5 w 58"/>
                  <a:gd name="T9" fmla="*/ 14 h 60"/>
                  <a:gd name="T10" fmla="*/ 9 w 58"/>
                  <a:gd name="T11" fmla="*/ 10 h 60"/>
                  <a:gd name="T12" fmla="*/ 13 w 58"/>
                  <a:gd name="T13" fmla="*/ 6 h 60"/>
                  <a:gd name="T14" fmla="*/ 18 w 58"/>
                  <a:gd name="T15" fmla="*/ 3 h 60"/>
                  <a:gd name="T16" fmla="*/ 24 w 58"/>
                  <a:gd name="T17" fmla="*/ 1 h 60"/>
                  <a:gd name="T18" fmla="*/ 30 w 58"/>
                  <a:gd name="T19" fmla="*/ 0 h 60"/>
                  <a:gd name="T20" fmla="*/ 30 w 58"/>
                  <a:gd name="T21" fmla="*/ 0 h 60"/>
                  <a:gd name="T22" fmla="*/ 35 w 58"/>
                  <a:gd name="T23" fmla="*/ 1 h 60"/>
                  <a:gd name="T24" fmla="*/ 41 w 58"/>
                  <a:gd name="T25" fmla="*/ 3 h 60"/>
                  <a:gd name="T26" fmla="*/ 46 w 58"/>
                  <a:gd name="T27" fmla="*/ 6 h 60"/>
                  <a:gd name="T28" fmla="*/ 50 w 58"/>
                  <a:gd name="T29" fmla="*/ 10 h 60"/>
                  <a:gd name="T30" fmla="*/ 54 w 58"/>
                  <a:gd name="T31" fmla="*/ 14 h 60"/>
                  <a:gd name="T32" fmla="*/ 57 w 58"/>
                  <a:gd name="T33" fmla="*/ 19 h 60"/>
                  <a:gd name="T34" fmla="*/ 58 w 58"/>
                  <a:gd name="T35" fmla="*/ 24 h 60"/>
                  <a:gd name="T36" fmla="*/ 58 w 58"/>
                  <a:gd name="T37" fmla="*/ 30 h 60"/>
                  <a:gd name="T38" fmla="*/ 58 w 58"/>
                  <a:gd name="T39" fmla="*/ 30 h 60"/>
                  <a:gd name="T40" fmla="*/ 58 w 58"/>
                  <a:gd name="T41" fmla="*/ 35 h 60"/>
                  <a:gd name="T42" fmla="*/ 57 w 58"/>
                  <a:gd name="T43" fmla="*/ 41 h 60"/>
                  <a:gd name="T44" fmla="*/ 54 w 58"/>
                  <a:gd name="T45" fmla="*/ 46 h 60"/>
                  <a:gd name="T46" fmla="*/ 50 w 58"/>
                  <a:gd name="T47" fmla="*/ 50 h 60"/>
                  <a:gd name="T48" fmla="*/ 46 w 58"/>
                  <a:gd name="T49" fmla="*/ 54 h 60"/>
                  <a:gd name="T50" fmla="*/ 41 w 58"/>
                  <a:gd name="T51" fmla="*/ 57 h 60"/>
                  <a:gd name="T52" fmla="*/ 35 w 58"/>
                  <a:gd name="T53" fmla="*/ 58 h 60"/>
                  <a:gd name="T54" fmla="*/ 30 w 58"/>
                  <a:gd name="T55" fmla="*/ 60 h 60"/>
                  <a:gd name="T56" fmla="*/ 30 w 58"/>
                  <a:gd name="T57" fmla="*/ 60 h 60"/>
                  <a:gd name="T58" fmla="*/ 24 w 58"/>
                  <a:gd name="T59" fmla="*/ 58 h 60"/>
                  <a:gd name="T60" fmla="*/ 18 w 58"/>
                  <a:gd name="T61" fmla="*/ 57 h 60"/>
                  <a:gd name="T62" fmla="*/ 13 w 58"/>
                  <a:gd name="T63" fmla="*/ 54 h 60"/>
                  <a:gd name="T64" fmla="*/ 9 w 58"/>
                  <a:gd name="T65" fmla="*/ 50 h 60"/>
                  <a:gd name="T66" fmla="*/ 5 w 58"/>
                  <a:gd name="T67" fmla="*/ 46 h 60"/>
                  <a:gd name="T68" fmla="*/ 3 w 58"/>
                  <a:gd name="T69" fmla="*/ 41 h 60"/>
                  <a:gd name="T70" fmla="*/ 1 w 58"/>
                  <a:gd name="T71" fmla="*/ 35 h 60"/>
                  <a:gd name="T72" fmla="*/ 0 w 58"/>
                  <a:gd name="T73" fmla="*/ 30 h 60"/>
                  <a:gd name="T74" fmla="*/ 0 w 58"/>
                  <a:gd name="T75"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60">
                    <a:moveTo>
                      <a:pt x="0" y="30"/>
                    </a:moveTo>
                    <a:lnTo>
                      <a:pt x="0" y="30"/>
                    </a:lnTo>
                    <a:lnTo>
                      <a:pt x="1" y="24"/>
                    </a:lnTo>
                    <a:lnTo>
                      <a:pt x="3" y="19"/>
                    </a:lnTo>
                    <a:lnTo>
                      <a:pt x="5" y="14"/>
                    </a:lnTo>
                    <a:lnTo>
                      <a:pt x="9" y="10"/>
                    </a:lnTo>
                    <a:lnTo>
                      <a:pt x="13" y="6"/>
                    </a:lnTo>
                    <a:lnTo>
                      <a:pt x="18" y="3"/>
                    </a:lnTo>
                    <a:lnTo>
                      <a:pt x="24" y="1"/>
                    </a:lnTo>
                    <a:lnTo>
                      <a:pt x="30" y="0"/>
                    </a:lnTo>
                    <a:lnTo>
                      <a:pt x="30" y="0"/>
                    </a:lnTo>
                    <a:lnTo>
                      <a:pt x="35" y="1"/>
                    </a:lnTo>
                    <a:lnTo>
                      <a:pt x="41" y="3"/>
                    </a:lnTo>
                    <a:lnTo>
                      <a:pt x="46" y="6"/>
                    </a:lnTo>
                    <a:lnTo>
                      <a:pt x="50" y="10"/>
                    </a:lnTo>
                    <a:lnTo>
                      <a:pt x="54" y="14"/>
                    </a:lnTo>
                    <a:lnTo>
                      <a:pt x="57" y="19"/>
                    </a:lnTo>
                    <a:lnTo>
                      <a:pt x="58" y="24"/>
                    </a:lnTo>
                    <a:lnTo>
                      <a:pt x="58" y="30"/>
                    </a:lnTo>
                    <a:lnTo>
                      <a:pt x="58" y="30"/>
                    </a:lnTo>
                    <a:lnTo>
                      <a:pt x="58" y="35"/>
                    </a:lnTo>
                    <a:lnTo>
                      <a:pt x="57" y="41"/>
                    </a:lnTo>
                    <a:lnTo>
                      <a:pt x="54" y="46"/>
                    </a:lnTo>
                    <a:lnTo>
                      <a:pt x="50" y="50"/>
                    </a:lnTo>
                    <a:lnTo>
                      <a:pt x="46" y="54"/>
                    </a:lnTo>
                    <a:lnTo>
                      <a:pt x="41" y="57"/>
                    </a:lnTo>
                    <a:lnTo>
                      <a:pt x="35" y="58"/>
                    </a:lnTo>
                    <a:lnTo>
                      <a:pt x="30" y="60"/>
                    </a:lnTo>
                    <a:lnTo>
                      <a:pt x="30" y="60"/>
                    </a:lnTo>
                    <a:lnTo>
                      <a:pt x="24" y="58"/>
                    </a:lnTo>
                    <a:lnTo>
                      <a:pt x="18" y="57"/>
                    </a:lnTo>
                    <a:lnTo>
                      <a:pt x="13" y="54"/>
                    </a:lnTo>
                    <a:lnTo>
                      <a:pt x="9" y="50"/>
                    </a:lnTo>
                    <a:lnTo>
                      <a:pt x="5" y="46"/>
                    </a:lnTo>
                    <a:lnTo>
                      <a:pt x="3" y="41"/>
                    </a:lnTo>
                    <a:lnTo>
                      <a:pt x="1" y="35"/>
                    </a:lnTo>
                    <a:lnTo>
                      <a:pt x="0" y="30"/>
                    </a:lnTo>
                    <a:lnTo>
                      <a:pt x="0"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28" name="组合 203"/>
            <p:cNvGrpSpPr/>
            <p:nvPr/>
          </p:nvGrpSpPr>
          <p:grpSpPr>
            <a:xfrm>
              <a:off x="537541" y="1644353"/>
              <a:ext cx="380950" cy="484299"/>
              <a:chOff x="1493838" y="1541463"/>
              <a:chExt cx="381000" cy="484187"/>
            </a:xfrm>
            <a:solidFill>
              <a:schemeClr val="accent4"/>
            </a:solidFill>
          </p:grpSpPr>
          <p:sp>
            <p:nvSpPr>
              <p:cNvPr id="129" name="Freeform 126"/>
              <p:cNvSpPr>
                <a:spLocks noEditPoints="1"/>
              </p:cNvSpPr>
              <p:nvPr/>
            </p:nvSpPr>
            <p:spPr bwMode="auto">
              <a:xfrm>
                <a:off x="1493838" y="1546225"/>
                <a:ext cx="254000" cy="479425"/>
              </a:xfrm>
              <a:custGeom>
                <a:avLst/>
                <a:gdLst>
                  <a:gd name="T0" fmla="*/ 160 w 160"/>
                  <a:gd name="T1" fmla="*/ 0 h 302"/>
                  <a:gd name="T2" fmla="*/ 160 w 160"/>
                  <a:gd name="T3" fmla="*/ 302 h 302"/>
                  <a:gd name="T4" fmla="*/ 94 w 160"/>
                  <a:gd name="T5" fmla="*/ 302 h 302"/>
                  <a:gd name="T6" fmla="*/ 94 w 160"/>
                  <a:gd name="T7" fmla="*/ 261 h 302"/>
                  <a:gd name="T8" fmla="*/ 136 w 160"/>
                  <a:gd name="T9" fmla="*/ 261 h 302"/>
                  <a:gd name="T10" fmla="*/ 136 w 160"/>
                  <a:gd name="T11" fmla="*/ 116 h 302"/>
                  <a:gd name="T12" fmla="*/ 136 w 160"/>
                  <a:gd name="T13" fmla="*/ 116 h 302"/>
                  <a:gd name="T14" fmla="*/ 94 w 160"/>
                  <a:gd name="T15" fmla="*/ 189 h 302"/>
                  <a:gd name="T16" fmla="*/ 94 w 160"/>
                  <a:gd name="T17" fmla="*/ 124 h 302"/>
                  <a:gd name="T18" fmla="*/ 160 w 160"/>
                  <a:gd name="T19" fmla="*/ 0 h 302"/>
                  <a:gd name="T20" fmla="*/ 94 w 160"/>
                  <a:gd name="T21" fmla="*/ 302 h 302"/>
                  <a:gd name="T22" fmla="*/ 0 w 160"/>
                  <a:gd name="T23" fmla="*/ 302 h 302"/>
                  <a:gd name="T24" fmla="*/ 94 w 160"/>
                  <a:gd name="T25" fmla="*/ 124 h 302"/>
                  <a:gd name="T26" fmla="*/ 94 w 160"/>
                  <a:gd name="T27" fmla="*/ 189 h 302"/>
                  <a:gd name="T28" fmla="*/ 53 w 160"/>
                  <a:gd name="T29" fmla="*/ 261 h 302"/>
                  <a:gd name="T30" fmla="*/ 94 w 160"/>
                  <a:gd name="T31" fmla="*/ 261 h 302"/>
                  <a:gd name="T32" fmla="*/ 94 w 160"/>
                  <a:gd name="T3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302">
                    <a:moveTo>
                      <a:pt x="160" y="0"/>
                    </a:moveTo>
                    <a:lnTo>
                      <a:pt x="160" y="302"/>
                    </a:lnTo>
                    <a:lnTo>
                      <a:pt x="94" y="302"/>
                    </a:lnTo>
                    <a:lnTo>
                      <a:pt x="94" y="261"/>
                    </a:lnTo>
                    <a:lnTo>
                      <a:pt x="136" y="261"/>
                    </a:lnTo>
                    <a:lnTo>
                      <a:pt x="136" y="116"/>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0" name="Rectangle 127"/>
              <p:cNvSpPr>
                <a:spLocks noChangeArrowheads="1"/>
              </p:cNvSpPr>
              <p:nvPr/>
            </p:nvSpPr>
            <p:spPr bwMode="auto">
              <a:xfrm>
                <a:off x="1811338" y="1541463"/>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31" name="Freeform 128"/>
            <p:cNvSpPr>
              <a:spLocks noEditPoints="1"/>
            </p:cNvSpPr>
            <p:nvPr/>
          </p:nvSpPr>
          <p:spPr bwMode="auto">
            <a:xfrm>
              <a:off x="2452626" y="4012900"/>
              <a:ext cx="508754" cy="397109"/>
            </a:xfrm>
            <a:custGeom>
              <a:avLst/>
              <a:gdLst>
                <a:gd name="T0" fmla="*/ 298 w 320"/>
                <a:gd name="T1" fmla="*/ 57 h 250"/>
                <a:gd name="T2" fmla="*/ 320 w 320"/>
                <a:gd name="T3" fmla="*/ 138 h 250"/>
                <a:gd name="T4" fmla="*/ 303 w 320"/>
                <a:gd name="T5" fmla="*/ 212 h 250"/>
                <a:gd name="T6" fmla="*/ 271 w 320"/>
                <a:gd name="T7" fmla="*/ 245 h 250"/>
                <a:gd name="T8" fmla="*/ 263 w 320"/>
                <a:gd name="T9" fmla="*/ 233 h 250"/>
                <a:gd name="T10" fmla="*/ 279 w 320"/>
                <a:gd name="T11" fmla="*/ 214 h 250"/>
                <a:gd name="T12" fmla="*/ 276 w 320"/>
                <a:gd name="T13" fmla="*/ 191 h 250"/>
                <a:gd name="T14" fmla="*/ 261 w 320"/>
                <a:gd name="T15" fmla="*/ 165 h 250"/>
                <a:gd name="T16" fmla="*/ 287 w 320"/>
                <a:gd name="T17" fmla="*/ 165 h 250"/>
                <a:gd name="T18" fmla="*/ 299 w 320"/>
                <a:gd name="T19" fmla="*/ 153 h 250"/>
                <a:gd name="T20" fmla="*/ 299 w 320"/>
                <a:gd name="T21" fmla="*/ 126 h 250"/>
                <a:gd name="T22" fmla="*/ 283 w 320"/>
                <a:gd name="T23" fmla="*/ 112 h 250"/>
                <a:gd name="T24" fmla="*/ 261 w 320"/>
                <a:gd name="T25" fmla="*/ 100 h 250"/>
                <a:gd name="T26" fmla="*/ 278 w 320"/>
                <a:gd name="T27" fmla="*/ 96 h 250"/>
                <a:gd name="T28" fmla="*/ 287 w 320"/>
                <a:gd name="T29" fmla="*/ 74 h 250"/>
                <a:gd name="T30" fmla="*/ 280 w 320"/>
                <a:gd name="T31" fmla="*/ 58 h 250"/>
                <a:gd name="T32" fmla="*/ 238 w 320"/>
                <a:gd name="T33" fmla="*/ 8 h 250"/>
                <a:gd name="T34" fmla="*/ 261 w 320"/>
                <a:gd name="T35" fmla="*/ 50 h 250"/>
                <a:gd name="T36" fmla="*/ 242 w 320"/>
                <a:gd name="T37" fmla="*/ 59 h 250"/>
                <a:gd name="T38" fmla="*/ 238 w 320"/>
                <a:gd name="T39" fmla="*/ 34 h 250"/>
                <a:gd name="T40" fmla="*/ 261 w 320"/>
                <a:gd name="T41" fmla="*/ 247 h 250"/>
                <a:gd name="T42" fmla="*/ 244 w 320"/>
                <a:gd name="T43" fmla="*/ 235 h 250"/>
                <a:gd name="T44" fmla="*/ 261 w 320"/>
                <a:gd name="T45" fmla="*/ 247 h 250"/>
                <a:gd name="T46" fmla="*/ 261 w 320"/>
                <a:gd name="T47" fmla="*/ 113 h 250"/>
                <a:gd name="T48" fmla="*/ 245 w 320"/>
                <a:gd name="T49" fmla="*/ 135 h 250"/>
                <a:gd name="T50" fmla="*/ 252 w 320"/>
                <a:gd name="T51" fmla="*/ 155 h 250"/>
                <a:gd name="T52" fmla="*/ 256 w 320"/>
                <a:gd name="T53" fmla="*/ 174 h 250"/>
                <a:gd name="T54" fmla="*/ 238 w 320"/>
                <a:gd name="T55" fmla="*/ 82 h 250"/>
                <a:gd name="T56" fmla="*/ 255 w 320"/>
                <a:gd name="T57" fmla="*/ 100 h 250"/>
                <a:gd name="T58" fmla="*/ 238 w 320"/>
                <a:gd name="T59" fmla="*/ 8 h 250"/>
                <a:gd name="T60" fmla="*/ 234 w 320"/>
                <a:gd name="T61" fmla="*/ 20 h 250"/>
                <a:gd name="T62" fmla="*/ 219 w 320"/>
                <a:gd name="T63" fmla="*/ 2 h 250"/>
                <a:gd name="T64" fmla="*/ 219 w 320"/>
                <a:gd name="T65" fmla="*/ 215 h 250"/>
                <a:gd name="T66" fmla="*/ 229 w 320"/>
                <a:gd name="T67" fmla="*/ 227 h 250"/>
                <a:gd name="T68" fmla="*/ 238 w 320"/>
                <a:gd name="T69" fmla="*/ 39 h 250"/>
                <a:gd name="T70" fmla="*/ 238 w 320"/>
                <a:gd name="T71" fmla="*/ 174 h 250"/>
                <a:gd name="T72" fmla="*/ 226 w 320"/>
                <a:gd name="T73" fmla="*/ 184 h 250"/>
                <a:gd name="T74" fmla="*/ 225 w 320"/>
                <a:gd name="T75" fmla="*/ 51 h 250"/>
                <a:gd name="T76" fmla="*/ 238 w 320"/>
                <a:gd name="T77" fmla="*/ 39 h 250"/>
                <a:gd name="T78" fmla="*/ 134 w 320"/>
                <a:gd name="T79" fmla="*/ 8 h 250"/>
                <a:gd name="T80" fmla="*/ 219 w 320"/>
                <a:gd name="T81" fmla="*/ 2 h 250"/>
                <a:gd name="T82" fmla="*/ 211 w 320"/>
                <a:gd name="T83" fmla="*/ 16 h 250"/>
                <a:gd name="T84" fmla="*/ 203 w 320"/>
                <a:gd name="T85" fmla="*/ 42 h 250"/>
                <a:gd name="T86" fmla="*/ 219 w 320"/>
                <a:gd name="T87" fmla="*/ 53 h 250"/>
                <a:gd name="T88" fmla="*/ 218 w 320"/>
                <a:gd name="T89" fmla="*/ 210 h 250"/>
                <a:gd name="T90" fmla="*/ 194 w 320"/>
                <a:gd name="T91" fmla="*/ 230 h 250"/>
                <a:gd name="T92" fmla="*/ 125 w 320"/>
                <a:gd name="T93" fmla="*/ 192 h 250"/>
                <a:gd name="T94" fmla="*/ 68 w 320"/>
                <a:gd name="T95" fmla="*/ 164 h 250"/>
                <a:gd name="T96" fmla="*/ 84 w 320"/>
                <a:gd name="T97" fmla="*/ 159 h 250"/>
                <a:gd name="T98" fmla="*/ 104 w 320"/>
                <a:gd name="T99" fmla="*/ 131 h 250"/>
                <a:gd name="T100" fmla="*/ 95 w 320"/>
                <a:gd name="T101" fmla="*/ 100 h 250"/>
                <a:gd name="T102" fmla="*/ 0 w 320"/>
                <a:gd name="T103" fmla="*/ 136 h 250"/>
                <a:gd name="T104" fmla="*/ 5 w 320"/>
                <a:gd name="T105" fmla="*/ 96 h 250"/>
                <a:gd name="T106" fmla="*/ 45 w 320"/>
                <a:gd name="T107" fmla="*/ 44 h 250"/>
                <a:gd name="T108" fmla="*/ 68 w 320"/>
                <a:gd name="T109" fmla="*/ 88 h 250"/>
                <a:gd name="T110" fmla="*/ 38 w 320"/>
                <a:gd name="T111" fmla="*/ 101 h 250"/>
                <a:gd name="T112" fmla="*/ 31 w 320"/>
                <a:gd name="T113" fmla="*/ 135 h 250"/>
                <a:gd name="T114" fmla="*/ 57 w 320"/>
                <a:gd name="T115" fmla="*/ 162 h 250"/>
                <a:gd name="T116" fmla="*/ 42 w 320"/>
                <a:gd name="T117" fmla="*/ 189 h 250"/>
                <a:gd name="T118" fmla="*/ 3 w 320"/>
                <a:gd name="T119" fmla="*/ 1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82" y="239"/>
                  </a:lnTo>
                  <a:lnTo>
                    <a:pt x="271" y="245"/>
                  </a:lnTo>
                  <a:lnTo>
                    <a:pt x="261" y="247"/>
                  </a:lnTo>
                  <a:lnTo>
                    <a:pt x="261" y="233"/>
                  </a:lnTo>
                  <a:lnTo>
                    <a:pt x="261" y="233"/>
                  </a:lnTo>
                  <a:lnTo>
                    <a:pt x="263" y="233"/>
                  </a:lnTo>
                  <a:lnTo>
                    <a:pt x="263" y="233"/>
                  </a:lnTo>
                  <a:lnTo>
                    <a:pt x="263" y="233"/>
                  </a:lnTo>
                  <a:lnTo>
                    <a:pt x="268" y="229"/>
                  </a:lnTo>
                  <a:lnTo>
                    <a:pt x="272" y="224"/>
                  </a:lnTo>
                  <a:lnTo>
                    <a:pt x="276" y="219"/>
                  </a:lnTo>
                  <a:lnTo>
                    <a:pt x="279" y="214"/>
                  </a:lnTo>
                  <a:lnTo>
                    <a:pt x="280" y="208"/>
                  </a:lnTo>
                  <a:lnTo>
                    <a:pt x="280" y="203"/>
                  </a:lnTo>
                  <a:lnTo>
                    <a:pt x="279" y="196"/>
                  </a:lnTo>
                  <a:lnTo>
                    <a:pt x="276" y="191"/>
                  </a:lnTo>
                  <a:lnTo>
                    <a:pt x="276" y="191"/>
                  </a:lnTo>
                  <a:lnTo>
                    <a:pt x="274" y="185"/>
                  </a:lnTo>
                  <a:lnTo>
                    <a:pt x="271" y="181"/>
                  </a:lnTo>
                  <a:lnTo>
                    <a:pt x="267" y="178"/>
                  </a:lnTo>
                  <a:lnTo>
                    <a:pt x="261" y="176"/>
                  </a:lnTo>
                  <a:lnTo>
                    <a:pt x="261" y="165"/>
                  </a:lnTo>
                  <a:lnTo>
                    <a:pt x="261" y="165"/>
                  </a:lnTo>
                  <a:lnTo>
                    <a:pt x="268" y="168"/>
                  </a:lnTo>
                  <a:lnTo>
                    <a:pt x="275" y="168"/>
                  </a:lnTo>
                  <a:lnTo>
                    <a:pt x="280" y="168"/>
                  </a:lnTo>
                  <a:lnTo>
                    <a:pt x="287" y="165"/>
                  </a:lnTo>
                  <a:lnTo>
                    <a:pt x="287" y="165"/>
                  </a:lnTo>
                  <a:lnTo>
                    <a:pt x="287" y="165"/>
                  </a:lnTo>
                  <a:lnTo>
                    <a:pt x="293" y="162"/>
                  </a:lnTo>
                  <a:lnTo>
                    <a:pt x="297" y="158"/>
                  </a:lnTo>
                  <a:lnTo>
                    <a:pt x="299" y="153"/>
                  </a:lnTo>
                  <a:lnTo>
                    <a:pt x="302" y="149"/>
                  </a:lnTo>
                  <a:lnTo>
                    <a:pt x="303" y="143"/>
                  </a:lnTo>
                  <a:lnTo>
                    <a:pt x="303" y="136"/>
                  </a:lnTo>
                  <a:lnTo>
                    <a:pt x="302" y="131"/>
                  </a:lnTo>
                  <a:lnTo>
                    <a:pt x="299" y="126"/>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1" y="100"/>
                  </a:lnTo>
                  <a:lnTo>
                    <a:pt x="268" y="100"/>
                  </a:lnTo>
                  <a:lnTo>
                    <a:pt x="274" y="99"/>
                  </a:lnTo>
                  <a:lnTo>
                    <a:pt x="274" y="99"/>
                  </a:lnTo>
                  <a:lnTo>
                    <a:pt x="278" y="96"/>
                  </a:lnTo>
                  <a:lnTo>
                    <a:pt x="282" y="92"/>
                  </a:lnTo>
                  <a:lnTo>
                    <a:pt x="284" y="88"/>
                  </a:lnTo>
                  <a:lnTo>
                    <a:pt x="286" y="84"/>
                  </a:lnTo>
                  <a:lnTo>
                    <a:pt x="287" y="78"/>
                  </a:lnTo>
                  <a:lnTo>
                    <a:pt x="287" y="74"/>
                  </a:lnTo>
                  <a:lnTo>
                    <a:pt x="286" y="69"/>
                  </a:lnTo>
                  <a:lnTo>
                    <a:pt x="284" y="63"/>
                  </a:lnTo>
                  <a:lnTo>
                    <a:pt x="284" y="63"/>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61" y="50"/>
                  </a:lnTo>
                  <a:lnTo>
                    <a:pt x="256" y="50"/>
                  </a:lnTo>
                  <a:lnTo>
                    <a:pt x="251" y="53"/>
                  </a:lnTo>
                  <a:lnTo>
                    <a:pt x="251" y="53"/>
                  </a:lnTo>
                  <a:lnTo>
                    <a:pt x="247" y="55"/>
                  </a:lnTo>
                  <a:lnTo>
                    <a:pt x="242" y="59"/>
                  </a:lnTo>
                  <a:lnTo>
                    <a:pt x="240" y="63"/>
                  </a:lnTo>
                  <a:lnTo>
                    <a:pt x="238" y="67"/>
                  </a:lnTo>
                  <a:lnTo>
                    <a:pt x="238" y="39"/>
                  </a:lnTo>
                  <a:lnTo>
                    <a:pt x="238" y="39"/>
                  </a:lnTo>
                  <a:lnTo>
                    <a:pt x="238" y="34"/>
                  </a:lnTo>
                  <a:lnTo>
                    <a:pt x="238" y="27"/>
                  </a:lnTo>
                  <a:lnTo>
                    <a:pt x="238" y="8"/>
                  </a:lnTo>
                  <a:lnTo>
                    <a:pt x="238" y="8"/>
                  </a:lnTo>
                  <a:close/>
                  <a:moveTo>
                    <a:pt x="261" y="247"/>
                  </a:moveTo>
                  <a:lnTo>
                    <a:pt x="261" y="247"/>
                  </a:lnTo>
                  <a:lnTo>
                    <a:pt x="249" y="250"/>
                  </a:lnTo>
                  <a:lnTo>
                    <a:pt x="238" y="250"/>
                  </a:lnTo>
                  <a:lnTo>
                    <a:pt x="238" y="233"/>
                  </a:lnTo>
                  <a:lnTo>
                    <a:pt x="238" y="233"/>
                  </a:lnTo>
                  <a:lnTo>
                    <a:pt x="244" y="235"/>
                  </a:lnTo>
                  <a:lnTo>
                    <a:pt x="249" y="235"/>
                  </a:lnTo>
                  <a:lnTo>
                    <a:pt x="256" y="235"/>
                  </a:lnTo>
                  <a:lnTo>
                    <a:pt x="261" y="233"/>
                  </a:lnTo>
                  <a:lnTo>
                    <a:pt x="261" y="247"/>
                  </a:lnTo>
                  <a:lnTo>
                    <a:pt x="261" y="247"/>
                  </a:lnTo>
                  <a:close/>
                  <a:moveTo>
                    <a:pt x="261" y="100"/>
                  </a:moveTo>
                  <a:lnTo>
                    <a:pt x="261" y="112"/>
                  </a:lnTo>
                  <a:lnTo>
                    <a:pt x="261" y="112"/>
                  </a:lnTo>
                  <a:lnTo>
                    <a:pt x="261" y="113"/>
                  </a:lnTo>
                  <a:lnTo>
                    <a:pt x="261" y="113"/>
                  </a:lnTo>
                  <a:lnTo>
                    <a:pt x="256" y="116"/>
                  </a:lnTo>
                  <a:lnTo>
                    <a:pt x="252" y="120"/>
                  </a:lnTo>
                  <a:lnTo>
                    <a:pt x="249" y="124"/>
                  </a:lnTo>
                  <a:lnTo>
                    <a:pt x="247" y="130"/>
                  </a:lnTo>
                  <a:lnTo>
                    <a:pt x="245" y="135"/>
                  </a:lnTo>
                  <a:lnTo>
                    <a:pt x="245" y="141"/>
                  </a:lnTo>
                  <a:lnTo>
                    <a:pt x="247" y="146"/>
                  </a:lnTo>
                  <a:lnTo>
                    <a:pt x="249" y="151"/>
                  </a:lnTo>
                  <a:lnTo>
                    <a:pt x="249" y="151"/>
                  </a:lnTo>
                  <a:lnTo>
                    <a:pt x="252" y="155"/>
                  </a:lnTo>
                  <a:lnTo>
                    <a:pt x="255" y="159"/>
                  </a:lnTo>
                  <a:lnTo>
                    <a:pt x="261" y="165"/>
                  </a:lnTo>
                  <a:lnTo>
                    <a:pt x="261" y="176"/>
                  </a:lnTo>
                  <a:lnTo>
                    <a:pt x="261" y="176"/>
                  </a:lnTo>
                  <a:lnTo>
                    <a:pt x="256" y="174"/>
                  </a:lnTo>
                  <a:lnTo>
                    <a:pt x="251" y="173"/>
                  </a:lnTo>
                  <a:lnTo>
                    <a:pt x="244" y="173"/>
                  </a:lnTo>
                  <a:lnTo>
                    <a:pt x="238" y="174"/>
                  </a:lnTo>
                  <a:lnTo>
                    <a:pt x="238" y="82"/>
                  </a:lnTo>
                  <a:lnTo>
                    <a:pt x="238" y="82"/>
                  </a:lnTo>
                  <a:lnTo>
                    <a:pt x="240" y="86"/>
                  </a:lnTo>
                  <a:lnTo>
                    <a:pt x="240" y="86"/>
                  </a:lnTo>
                  <a:lnTo>
                    <a:pt x="244" y="92"/>
                  </a:lnTo>
                  <a:lnTo>
                    <a:pt x="249" y="97"/>
                  </a:lnTo>
                  <a:lnTo>
                    <a:pt x="255" y="100"/>
                  </a:lnTo>
                  <a:lnTo>
                    <a:pt x="261" y="100"/>
                  </a:lnTo>
                  <a:lnTo>
                    <a:pt x="261" y="100"/>
                  </a:lnTo>
                  <a:close/>
                  <a:moveTo>
                    <a:pt x="219" y="2"/>
                  </a:moveTo>
                  <a:lnTo>
                    <a:pt x="219" y="2"/>
                  </a:lnTo>
                  <a:lnTo>
                    <a:pt x="238" y="8"/>
                  </a:lnTo>
                  <a:lnTo>
                    <a:pt x="238" y="27"/>
                  </a:lnTo>
                  <a:lnTo>
                    <a:pt x="238" y="27"/>
                  </a:lnTo>
                  <a:lnTo>
                    <a:pt x="237" y="24"/>
                  </a:lnTo>
                  <a:lnTo>
                    <a:pt x="237" y="24"/>
                  </a:lnTo>
                  <a:lnTo>
                    <a:pt x="234" y="20"/>
                  </a:lnTo>
                  <a:lnTo>
                    <a:pt x="230" y="17"/>
                  </a:lnTo>
                  <a:lnTo>
                    <a:pt x="225" y="15"/>
                  </a:lnTo>
                  <a:lnTo>
                    <a:pt x="219" y="15"/>
                  </a:lnTo>
                  <a:lnTo>
                    <a:pt x="219" y="2"/>
                  </a:lnTo>
                  <a:lnTo>
                    <a:pt x="219" y="2"/>
                  </a:lnTo>
                  <a:close/>
                  <a:moveTo>
                    <a:pt x="238" y="250"/>
                  </a:moveTo>
                  <a:lnTo>
                    <a:pt x="238" y="250"/>
                  </a:lnTo>
                  <a:lnTo>
                    <a:pt x="229" y="247"/>
                  </a:lnTo>
                  <a:lnTo>
                    <a:pt x="219" y="245"/>
                  </a:lnTo>
                  <a:lnTo>
                    <a:pt x="219" y="215"/>
                  </a:lnTo>
                  <a:lnTo>
                    <a:pt x="219" y="215"/>
                  </a:lnTo>
                  <a:lnTo>
                    <a:pt x="221" y="218"/>
                  </a:lnTo>
                  <a:lnTo>
                    <a:pt x="221" y="218"/>
                  </a:lnTo>
                  <a:lnTo>
                    <a:pt x="225" y="223"/>
                  </a:lnTo>
                  <a:lnTo>
                    <a:pt x="229" y="227"/>
                  </a:lnTo>
                  <a:lnTo>
                    <a:pt x="233" y="231"/>
                  </a:lnTo>
                  <a:lnTo>
                    <a:pt x="238" y="233"/>
                  </a:lnTo>
                  <a:lnTo>
                    <a:pt x="238" y="250"/>
                  </a:lnTo>
                  <a:lnTo>
                    <a:pt x="238" y="250"/>
                  </a:lnTo>
                  <a:close/>
                  <a:moveTo>
                    <a:pt x="238" y="39"/>
                  </a:moveTo>
                  <a:lnTo>
                    <a:pt x="238" y="67"/>
                  </a:lnTo>
                  <a:lnTo>
                    <a:pt x="238" y="67"/>
                  </a:lnTo>
                  <a:lnTo>
                    <a:pt x="237" y="74"/>
                  </a:lnTo>
                  <a:lnTo>
                    <a:pt x="238" y="82"/>
                  </a:lnTo>
                  <a:lnTo>
                    <a:pt x="238" y="174"/>
                  </a:lnTo>
                  <a:lnTo>
                    <a:pt x="238" y="174"/>
                  </a:lnTo>
                  <a:lnTo>
                    <a:pt x="236" y="176"/>
                  </a:lnTo>
                  <a:lnTo>
                    <a:pt x="236" y="176"/>
                  </a:lnTo>
                  <a:lnTo>
                    <a:pt x="230" y="180"/>
                  </a:lnTo>
                  <a:lnTo>
                    <a:pt x="226" y="184"/>
                  </a:lnTo>
                  <a:lnTo>
                    <a:pt x="222" y="188"/>
                  </a:lnTo>
                  <a:lnTo>
                    <a:pt x="219" y="193"/>
                  </a:lnTo>
                  <a:lnTo>
                    <a:pt x="219" y="53"/>
                  </a:lnTo>
                  <a:lnTo>
                    <a:pt x="219" y="53"/>
                  </a:lnTo>
                  <a:lnTo>
                    <a:pt x="225" y="51"/>
                  </a:lnTo>
                  <a:lnTo>
                    <a:pt x="229" y="50"/>
                  </a:lnTo>
                  <a:lnTo>
                    <a:pt x="229" y="50"/>
                  </a:lnTo>
                  <a:lnTo>
                    <a:pt x="234" y="46"/>
                  </a:lnTo>
                  <a:lnTo>
                    <a:pt x="238" y="39"/>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9" y="15"/>
                  </a:lnTo>
                  <a:lnTo>
                    <a:pt x="215" y="15"/>
                  </a:lnTo>
                  <a:lnTo>
                    <a:pt x="211" y="16"/>
                  </a:lnTo>
                  <a:lnTo>
                    <a:pt x="211" y="16"/>
                  </a:lnTo>
                  <a:lnTo>
                    <a:pt x="211" y="16"/>
                  </a:lnTo>
                  <a:lnTo>
                    <a:pt x="206" y="20"/>
                  </a:lnTo>
                  <a:lnTo>
                    <a:pt x="202" y="27"/>
                  </a:lnTo>
                  <a:lnTo>
                    <a:pt x="200" y="34"/>
                  </a:lnTo>
                  <a:lnTo>
                    <a:pt x="203" y="42"/>
                  </a:lnTo>
                  <a:lnTo>
                    <a:pt x="203" y="42"/>
                  </a:lnTo>
                  <a:lnTo>
                    <a:pt x="206" y="46"/>
                  </a:lnTo>
                  <a:lnTo>
                    <a:pt x="210" y="50"/>
                  </a:lnTo>
                  <a:lnTo>
                    <a:pt x="215" y="51"/>
                  </a:lnTo>
                  <a:lnTo>
                    <a:pt x="219" y="53"/>
                  </a:lnTo>
                  <a:lnTo>
                    <a:pt x="219" y="193"/>
                  </a:lnTo>
                  <a:lnTo>
                    <a:pt x="219" y="193"/>
                  </a:lnTo>
                  <a:lnTo>
                    <a:pt x="218" y="199"/>
                  </a:lnTo>
                  <a:lnTo>
                    <a:pt x="218" y="204"/>
                  </a:lnTo>
                  <a:lnTo>
                    <a:pt x="218" y="210"/>
                  </a:lnTo>
                  <a:lnTo>
                    <a:pt x="219" y="215"/>
                  </a:lnTo>
                  <a:lnTo>
                    <a:pt x="219" y="245"/>
                  </a:lnTo>
                  <a:lnTo>
                    <a:pt x="219" y="245"/>
                  </a:lnTo>
                  <a:lnTo>
                    <a:pt x="207" y="238"/>
                  </a:lnTo>
                  <a:lnTo>
                    <a:pt x="194" y="230"/>
                  </a:lnTo>
                  <a:lnTo>
                    <a:pt x="169" y="212"/>
                  </a:lnTo>
                  <a:lnTo>
                    <a:pt x="157" y="203"/>
                  </a:lnTo>
                  <a:lnTo>
                    <a:pt x="145" y="196"/>
                  </a:lnTo>
                  <a:lnTo>
                    <a:pt x="131" y="192"/>
                  </a:lnTo>
                  <a:lnTo>
                    <a:pt x="125" y="192"/>
                  </a:lnTo>
                  <a:lnTo>
                    <a:pt x="118" y="192"/>
                  </a:lnTo>
                  <a:lnTo>
                    <a:pt x="118" y="192"/>
                  </a:lnTo>
                  <a:lnTo>
                    <a:pt x="92" y="193"/>
                  </a:lnTo>
                  <a:lnTo>
                    <a:pt x="68" y="193"/>
                  </a:lnTo>
                  <a:lnTo>
                    <a:pt x="68" y="164"/>
                  </a:lnTo>
                  <a:lnTo>
                    <a:pt x="68" y="164"/>
                  </a:lnTo>
                  <a:lnTo>
                    <a:pt x="76" y="162"/>
                  </a:lnTo>
                  <a:lnTo>
                    <a:pt x="84" y="159"/>
                  </a:lnTo>
                  <a:lnTo>
                    <a:pt x="84" y="159"/>
                  </a:lnTo>
                  <a:lnTo>
                    <a:pt x="84" y="159"/>
                  </a:lnTo>
                  <a:lnTo>
                    <a:pt x="91" y="155"/>
                  </a:lnTo>
                  <a:lnTo>
                    <a:pt x="96" y="150"/>
                  </a:lnTo>
                  <a:lnTo>
                    <a:pt x="100" y="145"/>
                  </a:lnTo>
                  <a:lnTo>
                    <a:pt x="103" y="138"/>
                  </a:lnTo>
                  <a:lnTo>
                    <a:pt x="104" y="131"/>
                  </a:lnTo>
                  <a:lnTo>
                    <a:pt x="104" y="123"/>
                  </a:lnTo>
                  <a:lnTo>
                    <a:pt x="103" y="116"/>
                  </a:lnTo>
                  <a:lnTo>
                    <a:pt x="100" y="109"/>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54" y="38"/>
                  </a:lnTo>
                  <a:lnTo>
                    <a:pt x="68" y="31"/>
                  </a:lnTo>
                  <a:lnTo>
                    <a:pt x="68" y="88"/>
                  </a:lnTo>
                  <a:lnTo>
                    <a:pt x="68" y="88"/>
                  </a:lnTo>
                  <a:lnTo>
                    <a:pt x="58" y="89"/>
                  </a:lnTo>
                  <a:lnTo>
                    <a:pt x="50" y="92"/>
                  </a:lnTo>
                  <a:lnTo>
                    <a:pt x="50" y="92"/>
                  </a:lnTo>
                  <a:lnTo>
                    <a:pt x="43" y="96"/>
                  </a:lnTo>
                  <a:lnTo>
                    <a:pt x="38" y="101"/>
                  </a:lnTo>
                  <a:lnTo>
                    <a:pt x="34" y="108"/>
                  </a:lnTo>
                  <a:lnTo>
                    <a:pt x="31" y="113"/>
                  </a:lnTo>
                  <a:lnTo>
                    <a:pt x="30" y="122"/>
                  </a:lnTo>
                  <a:lnTo>
                    <a:pt x="30" y="128"/>
                  </a:lnTo>
                  <a:lnTo>
                    <a:pt x="31" y="135"/>
                  </a:lnTo>
                  <a:lnTo>
                    <a:pt x="34" y="143"/>
                  </a:lnTo>
                  <a:lnTo>
                    <a:pt x="34" y="143"/>
                  </a:lnTo>
                  <a:lnTo>
                    <a:pt x="39" y="151"/>
                  </a:lnTo>
                  <a:lnTo>
                    <a:pt x="47" y="158"/>
                  </a:lnTo>
                  <a:lnTo>
                    <a:pt x="57" y="162"/>
                  </a:lnTo>
                  <a:lnTo>
                    <a:pt x="68" y="164"/>
                  </a:lnTo>
                  <a:lnTo>
                    <a:pt x="68" y="193"/>
                  </a:lnTo>
                  <a:lnTo>
                    <a:pt x="68" y="193"/>
                  </a:lnTo>
                  <a:lnTo>
                    <a:pt x="54" y="192"/>
                  </a:lnTo>
                  <a:lnTo>
                    <a:pt x="42" y="189"/>
                  </a:lnTo>
                  <a:lnTo>
                    <a:pt x="31" y="185"/>
                  </a:lnTo>
                  <a:lnTo>
                    <a:pt x="22" y="178"/>
                  </a:lnTo>
                  <a:lnTo>
                    <a:pt x="14" y="172"/>
                  </a:lnTo>
                  <a:lnTo>
                    <a:pt x="8" y="162"/>
                  </a:lnTo>
                  <a:lnTo>
                    <a:pt x="3" y="150"/>
                  </a:lnTo>
                  <a:lnTo>
                    <a:pt x="0" y="136"/>
                  </a:lnTo>
                  <a:lnTo>
                    <a:pt x="0" y="136"/>
                  </a:lnTo>
                  <a:close/>
                </a:path>
              </a:pathLst>
            </a:custGeom>
            <a:solidFill>
              <a:schemeClr val="accent4"/>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132" name="组合 206"/>
            <p:cNvGrpSpPr/>
            <p:nvPr/>
          </p:nvGrpSpPr>
          <p:grpSpPr>
            <a:xfrm>
              <a:off x="937538" y="4408830"/>
              <a:ext cx="495236" cy="644676"/>
              <a:chOff x="1893888" y="4305300"/>
              <a:chExt cx="495300" cy="644526"/>
            </a:xfrm>
            <a:solidFill>
              <a:schemeClr val="accent3"/>
            </a:solidFill>
          </p:grpSpPr>
          <p:sp>
            <p:nvSpPr>
              <p:cNvPr id="133" name="Freeform 129"/>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4" name="Freeform 130"/>
              <p:cNvSpPr>
                <a:spLocks noEditPoints="1"/>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5" name="Freeform 131"/>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6" name="Freeform 132"/>
              <p:cNvSpPr/>
              <p:nvPr/>
            </p:nvSpPr>
            <p:spPr bwMode="auto">
              <a:xfrm>
                <a:off x="2139951" y="4786313"/>
                <a:ext cx="136525" cy="163513"/>
              </a:xfrm>
              <a:custGeom>
                <a:avLst/>
                <a:gdLst>
                  <a:gd name="T0" fmla="*/ 27 w 86"/>
                  <a:gd name="T1" fmla="*/ 6 h 103"/>
                  <a:gd name="T2" fmla="*/ 27 w 86"/>
                  <a:gd name="T3" fmla="*/ 38 h 103"/>
                  <a:gd name="T4" fmla="*/ 27 w 86"/>
                  <a:gd name="T5" fmla="*/ 38 h 103"/>
                  <a:gd name="T6" fmla="*/ 28 w 86"/>
                  <a:gd name="T7" fmla="*/ 41 h 103"/>
                  <a:gd name="T8" fmla="*/ 34 w 86"/>
                  <a:gd name="T9" fmla="*/ 47 h 103"/>
                  <a:gd name="T10" fmla="*/ 42 w 86"/>
                  <a:gd name="T11" fmla="*/ 55 h 103"/>
                  <a:gd name="T12" fmla="*/ 47 w 86"/>
                  <a:gd name="T13" fmla="*/ 57 h 103"/>
                  <a:gd name="T14" fmla="*/ 54 w 86"/>
                  <a:gd name="T15" fmla="*/ 60 h 103"/>
                  <a:gd name="T16" fmla="*/ 54 w 86"/>
                  <a:gd name="T17" fmla="*/ 60 h 103"/>
                  <a:gd name="T18" fmla="*/ 66 w 86"/>
                  <a:gd name="T19" fmla="*/ 65 h 103"/>
                  <a:gd name="T20" fmla="*/ 78 w 86"/>
                  <a:gd name="T21" fmla="*/ 72 h 103"/>
                  <a:gd name="T22" fmla="*/ 82 w 86"/>
                  <a:gd name="T23" fmla="*/ 75 h 103"/>
                  <a:gd name="T24" fmla="*/ 85 w 86"/>
                  <a:gd name="T25" fmla="*/ 79 h 103"/>
                  <a:gd name="T26" fmla="*/ 86 w 86"/>
                  <a:gd name="T27" fmla="*/ 82 h 103"/>
                  <a:gd name="T28" fmla="*/ 86 w 86"/>
                  <a:gd name="T29" fmla="*/ 86 h 103"/>
                  <a:gd name="T30" fmla="*/ 86 w 86"/>
                  <a:gd name="T31" fmla="*/ 86 h 103"/>
                  <a:gd name="T32" fmla="*/ 85 w 86"/>
                  <a:gd name="T33" fmla="*/ 90 h 103"/>
                  <a:gd name="T34" fmla="*/ 81 w 86"/>
                  <a:gd name="T35" fmla="*/ 93 h 103"/>
                  <a:gd name="T36" fmla="*/ 76 w 86"/>
                  <a:gd name="T37" fmla="*/ 95 h 103"/>
                  <a:gd name="T38" fmla="*/ 66 w 86"/>
                  <a:gd name="T39" fmla="*/ 98 h 103"/>
                  <a:gd name="T40" fmla="*/ 55 w 86"/>
                  <a:gd name="T41" fmla="*/ 101 h 103"/>
                  <a:gd name="T42" fmla="*/ 40 w 86"/>
                  <a:gd name="T43" fmla="*/ 102 h 103"/>
                  <a:gd name="T44" fmla="*/ 21 w 86"/>
                  <a:gd name="T45" fmla="*/ 103 h 103"/>
                  <a:gd name="T46" fmla="*/ 0 w 86"/>
                  <a:gd name="T47" fmla="*/ 103 h 103"/>
                  <a:gd name="T48" fmla="*/ 0 w 86"/>
                  <a:gd name="T49" fmla="*/ 0 h 103"/>
                  <a:gd name="T50" fmla="*/ 27 w 86"/>
                  <a:gd name="T51"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6" h="103">
                    <a:moveTo>
                      <a:pt x="27" y="6"/>
                    </a:moveTo>
                    <a:lnTo>
                      <a:pt x="27" y="38"/>
                    </a:lnTo>
                    <a:lnTo>
                      <a:pt x="27" y="38"/>
                    </a:lnTo>
                    <a:lnTo>
                      <a:pt x="28" y="41"/>
                    </a:lnTo>
                    <a:lnTo>
                      <a:pt x="34" y="47"/>
                    </a:lnTo>
                    <a:lnTo>
                      <a:pt x="42" y="55"/>
                    </a:lnTo>
                    <a:lnTo>
                      <a:pt x="47" y="57"/>
                    </a:lnTo>
                    <a:lnTo>
                      <a:pt x="54" y="60"/>
                    </a:lnTo>
                    <a:lnTo>
                      <a:pt x="54" y="60"/>
                    </a:lnTo>
                    <a:lnTo>
                      <a:pt x="66" y="65"/>
                    </a:lnTo>
                    <a:lnTo>
                      <a:pt x="78" y="72"/>
                    </a:lnTo>
                    <a:lnTo>
                      <a:pt x="82" y="75"/>
                    </a:lnTo>
                    <a:lnTo>
                      <a:pt x="85" y="79"/>
                    </a:lnTo>
                    <a:lnTo>
                      <a:pt x="86" y="82"/>
                    </a:lnTo>
                    <a:lnTo>
                      <a:pt x="86" y="86"/>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7" name="Freeform 133"/>
              <p:cNvSpPr/>
              <p:nvPr/>
            </p:nvSpPr>
            <p:spPr bwMode="auto">
              <a:xfrm>
                <a:off x="2024063" y="4786313"/>
                <a:ext cx="130175" cy="163513"/>
              </a:xfrm>
              <a:custGeom>
                <a:avLst/>
                <a:gdLst>
                  <a:gd name="T0" fmla="*/ 63 w 82"/>
                  <a:gd name="T1" fmla="*/ 6 h 103"/>
                  <a:gd name="T2" fmla="*/ 63 w 82"/>
                  <a:gd name="T3" fmla="*/ 38 h 103"/>
                  <a:gd name="T4" fmla="*/ 63 w 82"/>
                  <a:gd name="T5" fmla="*/ 38 h 103"/>
                  <a:gd name="T6" fmla="*/ 62 w 82"/>
                  <a:gd name="T7" fmla="*/ 41 h 103"/>
                  <a:gd name="T8" fmla="*/ 58 w 82"/>
                  <a:gd name="T9" fmla="*/ 47 h 103"/>
                  <a:gd name="T10" fmla="*/ 51 w 82"/>
                  <a:gd name="T11" fmla="*/ 55 h 103"/>
                  <a:gd name="T12" fmla="*/ 46 w 82"/>
                  <a:gd name="T13" fmla="*/ 57 h 103"/>
                  <a:gd name="T14" fmla="*/ 39 w 82"/>
                  <a:gd name="T15" fmla="*/ 60 h 103"/>
                  <a:gd name="T16" fmla="*/ 39 w 82"/>
                  <a:gd name="T17" fmla="*/ 60 h 103"/>
                  <a:gd name="T18" fmla="*/ 25 w 82"/>
                  <a:gd name="T19" fmla="*/ 65 h 103"/>
                  <a:gd name="T20" fmla="*/ 12 w 82"/>
                  <a:gd name="T21" fmla="*/ 72 h 103"/>
                  <a:gd name="T22" fmla="*/ 6 w 82"/>
                  <a:gd name="T23" fmla="*/ 75 h 103"/>
                  <a:gd name="T24" fmla="*/ 4 w 82"/>
                  <a:gd name="T25" fmla="*/ 79 h 103"/>
                  <a:gd name="T26" fmla="*/ 1 w 82"/>
                  <a:gd name="T27" fmla="*/ 82 h 103"/>
                  <a:gd name="T28" fmla="*/ 0 w 82"/>
                  <a:gd name="T29" fmla="*/ 86 h 103"/>
                  <a:gd name="T30" fmla="*/ 0 w 82"/>
                  <a:gd name="T31" fmla="*/ 86 h 103"/>
                  <a:gd name="T32" fmla="*/ 2 w 82"/>
                  <a:gd name="T33" fmla="*/ 90 h 103"/>
                  <a:gd name="T34" fmla="*/ 8 w 82"/>
                  <a:gd name="T35" fmla="*/ 93 h 103"/>
                  <a:gd name="T36" fmla="*/ 15 w 82"/>
                  <a:gd name="T37" fmla="*/ 95 h 103"/>
                  <a:gd name="T38" fmla="*/ 24 w 82"/>
                  <a:gd name="T39" fmla="*/ 98 h 103"/>
                  <a:gd name="T40" fmla="*/ 36 w 82"/>
                  <a:gd name="T41" fmla="*/ 101 h 103"/>
                  <a:gd name="T42" fmla="*/ 50 w 82"/>
                  <a:gd name="T43" fmla="*/ 102 h 103"/>
                  <a:gd name="T44" fmla="*/ 82 w 82"/>
                  <a:gd name="T45" fmla="*/ 103 h 103"/>
                  <a:gd name="T46" fmla="*/ 82 w 82"/>
                  <a:gd name="T47" fmla="*/ 0 h 103"/>
                  <a:gd name="T48" fmla="*/ 63 w 82"/>
                  <a:gd name="T49"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103">
                    <a:moveTo>
                      <a:pt x="63" y="6"/>
                    </a:moveTo>
                    <a:lnTo>
                      <a:pt x="63" y="38"/>
                    </a:lnTo>
                    <a:lnTo>
                      <a:pt x="63" y="38"/>
                    </a:lnTo>
                    <a:lnTo>
                      <a:pt x="62" y="41"/>
                    </a:lnTo>
                    <a:lnTo>
                      <a:pt x="58" y="47"/>
                    </a:lnTo>
                    <a:lnTo>
                      <a:pt x="51" y="55"/>
                    </a:lnTo>
                    <a:lnTo>
                      <a:pt x="46" y="57"/>
                    </a:lnTo>
                    <a:lnTo>
                      <a:pt x="39" y="60"/>
                    </a:lnTo>
                    <a:lnTo>
                      <a:pt x="39" y="60"/>
                    </a:lnTo>
                    <a:lnTo>
                      <a:pt x="25" y="65"/>
                    </a:lnTo>
                    <a:lnTo>
                      <a:pt x="12" y="72"/>
                    </a:lnTo>
                    <a:lnTo>
                      <a:pt x="6" y="75"/>
                    </a:lnTo>
                    <a:lnTo>
                      <a:pt x="4" y="79"/>
                    </a:lnTo>
                    <a:lnTo>
                      <a:pt x="1" y="82"/>
                    </a:lnTo>
                    <a:lnTo>
                      <a:pt x="0" y="86"/>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8" name="Freeform 134"/>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9" name="Freeform 135"/>
              <p:cNvSpPr>
                <a:spLocks noEditPoints="1"/>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0" name="Freeform 136"/>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41" name="组合 198"/>
            <p:cNvGrpSpPr/>
            <p:nvPr/>
          </p:nvGrpSpPr>
          <p:grpSpPr>
            <a:xfrm>
              <a:off x="2889909" y="1917465"/>
              <a:ext cx="323809" cy="576396"/>
              <a:chOff x="3846513" y="1814513"/>
              <a:chExt cx="323850" cy="576262"/>
            </a:xfrm>
            <a:solidFill>
              <a:schemeClr val="accent5"/>
            </a:solidFill>
          </p:grpSpPr>
          <p:sp>
            <p:nvSpPr>
              <p:cNvPr id="142" name="Freeform 137"/>
              <p:cNvSpPr>
                <a:spLocks noEditPoints="1"/>
              </p:cNvSpPr>
              <p:nvPr/>
            </p:nvSpPr>
            <p:spPr bwMode="auto">
              <a:xfrm>
                <a:off x="3846513" y="1814513"/>
                <a:ext cx="323850" cy="323850"/>
              </a:xfrm>
              <a:custGeom>
                <a:avLst/>
                <a:gdLst>
                  <a:gd name="T0" fmla="*/ 112 w 204"/>
                  <a:gd name="T1" fmla="*/ 0 h 204"/>
                  <a:gd name="T2" fmla="*/ 141 w 204"/>
                  <a:gd name="T3" fmla="*/ 8 h 204"/>
                  <a:gd name="T4" fmla="*/ 165 w 204"/>
                  <a:gd name="T5" fmla="*/ 22 h 204"/>
                  <a:gd name="T6" fmla="*/ 185 w 204"/>
                  <a:gd name="T7" fmla="*/ 42 h 204"/>
                  <a:gd name="T8" fmla="*/ 199 w 204"/>
                  <a:gd name="T9" fmla="*/ 68 h 204"/>
                  <a:gd name="T10" fmla="*/ 204 w 204"/>
                  <a:gd name="T11" fmla="*/ 96 h 204"/>
                  <a:gd name="T12" fmla="*/ 203 w 204"/>
                  <a:gd name="T13" fmla="*/ 118 h 204"/>
                  <a:gd name="T14" fmla="*/ 195 w 204"/>
                  <a:gd name="T15" fmla="*/ 146 h 204"/>
                  <a:gd name="T16" fmla="*/ 179 w 204"/>
                  <a:gd name="T17" fmla="*/ 171 h 204"/>
                  <a:gd name="T18" fmla="*/ 156 w 204"/>
                  <a:gd name="T19" fmla="*/ 190 h 204"/>
                  <a:gd name="T20" fmla="*/ 129 w 204"/>
                  <a:gd name="T21" fmla="*/ 202 h 204"/>
                  <a:gd name="T22" fmla="*/ 108 w 204"/>
                  <a:gd name="T23" fmla="*/ 204 h 204"/>
                  <a:gd name="T24" fmla="*/ 102 w 204"/>
                  <a:gd name="T25" fmla="*/ 185 h 204"/>
                  <a:gd name="T26" fmla="*/ 107 w 204"/>
                  <a:gd name="T27" fmla="*/ 185 h 204"/>
                  <a:gd name="T28" fmla="*/ 131 w 204"/>
                  <a:gd name="T29" fmla="*/ 180 h 204"/>
                  <a:gd name="T30" fmla="*/ 164 w 204"/>
                  <a:gd name="T31" fmla="*/ 158 h 204"/>
                  <a:gd name="T32" fmla="*/ 183 w 204"/>
                  <a:gd name="T33" fmla="*/ 123 h 204"/>
                  <a:gd name="T34" fmla="*/ 185 w 204"/>
                  <a:gd name="T35" fmla="*/ 97 h 204"/>
                  <a:gd name="T36" fmla="*/ 177 w 204"/>
                  <a:gd name="T37" fmla="*/ 66 h 204"/>
                  <a:gd name="T38" fmla="*/ 148 w 204"/>
                  <a:gd name="T39" fmla="*/ 32 h 204"/>
                  <a:gd name="T40" fmla="*/ 102 w 204"/>
                  <a:gd name="T41" fmla="*/ 19 h 204"/>
                  <a:gd name="T42" fmla="*/ 96 w 204"/>
                  <a:gd name="T43" fmla="*/ 0 h 204"/>
                  <a:gd name="T44" fmla="*/ 102 w 204"/>
                  <a:gd name="T45" fmla="*/ 19 h 204"/>
                  <a:gd name="T46" fmla="*/ 89 w 204"/>
                  <a:gd name="T47" fmla="*/ 20 h 204"/>
                  <a:gd name="T48" fmla="*/ 66 w 204"/>
                  <a:gd name="T49" fmla="*/ 27 h 204"/>
                  <a:gd name="T50" fmla="*/ 31 w 204"/>
                  <a:gd name="T51" fmla="*/ 60 h 204"/>
                  <a:gd name="T52" fmla="*/ 20 w 204"/>
                  <a:gd name="T53" fmla="*/ 89 h 204"/>
                  <a:gd name="T54" fmla="*/ 19 w 204"/>
                  <a:gd name="T55" fmla="*/ 107 h 204"/>
                  <a:gd name="T56" fmla="*/ 35 w 204"/>
                  <a:gd name="T57" fmla="*/ 152 h 204"/>
                  <a:gd name="T58" fmla="*/ 70 w 204"/>
                  <a:gd name="T59" fmla="*/ 179 h 204"/>
                  <a:gd name="T60" fmla="*/ 102 w 204"/>
                  <a:gd name="T61" fmla="*/ 204 h 204"/>
                  <a:gd name="T62" fmla="*/ 83 w 204"/>
                  <a:gd name="T63" fmla="*/ 203 h 204"/>
                  <a:gd name="T64" fmla="*/ 55 w 204"/>
                  <a:gd name="T65" fmla="*/ 194 h 204"/>
                  <a:gd name="T66" fmla="*/ 32 w 204"/>
                  <a:gd name="T67" fmla="*/ 176 h 204"/>
                  <a:gd name="T68" fmla="*/ 13 w 204"/>
                  <a:gd name="T69" fmla="*/ 154 h 204"/>
                  <a:gd name="T70" fmla="*/ 3 w 204"/>
                  <a:gd name="T71" fmla="*/ 127 h 204"/>
                  <a:gd name="T72" fmla="*/ 0 w 204"/>
                  <a:gd name="T73" fmla="*/ 108 h 204"/>
                  <a:gd name="T74" fmla="*/ 3 w 204"/>
                  <a:gd name="T75" fmla="*/ 77 h 204"/>
                  <a:gd name="T76" fmla="*/ 15 w 204"/>
                  <a:gd name="T77" fmla="*/ 50 h 204"/>
                  <a:gd name="T78" fmla="*/ 32 w 204"/>
                  <a:gd name="T79" fmla="*/ 27 h 204"/>
                  <a:gd name="T80" fmla="*/ 57 w 204"/>
                  <a:gd name="T81" fmla="*/ 11 h 204"/>
                  <a:gd name="T82" fmla="*/ 87 w 204"/>
                  <a:gd name="T83" fmla="*/ 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8" y="204"/>
                    </a:lnTo>
                    <a:lnTo>
                      <a:pt x="102" y="204"/>
                    </a:lnTo>
                    <a:lnTo>
                      <a:pt x="102" y="185"/>
                    </a:lnTo>
                    <a:lnTo>
                      <a:pt x="102" y="185"/>
                    </a:lnTo>
                    <a:lnTo>
                      <a:pt x="107" y="185"/>
                    </a:lnTo>
                    <a:lnTo>
                      <a:pt x="107"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102" y="19"/>
                    </a:lnTo>
                    <a:lnTo>
                      <a:pt x="97"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19" y="107"/>
                    </a:lnTo>
                    <a:lnTo>
                      <a:pt x="22" y="123"/>
                    </a:lnTo>
                    <a:lnTo>
                      <a:pt x="27" y="138"/>
                    </a:lnTo>
                    <a:lnTo>
                      <a:pt x="35" y="152"/>
                    </a:lnTo>
                    <a:lnTo>
                      <a:pt x="45" y="162"/>
                    </a:lnTo>
                    <a:lnTo>
                      <a:pt x="57" y="172"/>
                    </a:lnTo>
                    <a:lnTo>
                      <a:pt x="70" y="179"/>
                    </a:lnTo>
                    <a:lnTo>
                      <a:pt x="87" y="184"/>
                    </a:lnTo>
                    <a:lnTo>
                      <a:pt x="102" y="185"/>
                    </a:lnTo>
                    <a:lnTo>
                      <a:pt x="102" y="204"/>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lnTo>
                      <a:pt x="9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3" name="Freeform 138"/>
              <p:cNvSpPr/>
              <p:nvPr/>
            </p:nvSpPr>
            <p:spPr bwMode="auto">
              <a:xfrm>
                <a:off x="3994151" y="2119313"/>
                <a:ext cx="52388" cy="161925"/>
              </a:xfrm>
              <a:custGeom>
                <a:avLst/>
                <a:gdLst>
                  <a:gd name="T0" fmla="*/ 6 w 33"/>
                  <a:gd name="T1" fmla="*/ 102 h 102"/>
                  <a:gd name="T2" fmla="*/ 33 w 33"/>
                  <a:gd name="T3" fmla="*/ 100 h 102"/>
                  <a:gd name="T4" fmla="*/ 27 w 33"/>
                  <a:gd name="T5" fmla="*/ 0 h 102"/>
                  <a:gd name="T6" fmla="*/ 0 w 33"/>
                  <a:gd name="T7" fmla="*/ 2 h 102"/>
                  <a:gd name="T8" fmla="*/ 6 w 33"/>
                  <a:gd name="T9" fmla="*/ 102 h 102"/>
                </a:gdLst>
                <a:ahLst/>
                <a:cxnLst>
                  <a:cxn ang="0">
                    <a:pos x="T0" y="T1"/>
                  </a:cxn>
                  <a:cxn ang="0">
                    <a:pos x="T2" y="T3"/>
                  </a:cxn>
                  <a:cxn ang="0">
                    <a:pos x="T4" y="T5"/>
                  </a:cxn>
                  <a:cxn ang="0">
                    <a:pos x="T6" y="T7"/>
                  </a:cxn>
                  <a:cxn ang="0">
                    <a:pos x="T8" y="T9"/>
                  </a:cxn>
                </a:cxnLst>
                <a:rect l="0" t="0" r="r" b="b"/>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4" name="Freeform 139"/>
              <p:cNvSpPr/>
              <p:nvPr/>
            </p:nvSpPr>
            <p:spPr bwMode="auto">
              <a:xfrm>
                <a:off x="3986213" y="2171700"/>
                <a:ext cx="77788" cy="219075"/>
              </a:xfrm>
              <a:custGeom>
                <a:avLst/>
                <a:gdLst>
                  <a:gd name="T0" fmla="*/ 5 w 49"/>
                  <a:gd name="T1" fmla="*/ 116 h 138"/>
                  <a:gd name="T2" fmla="*/ 5 w 49"/>
                  <a:gd name="T3" fmla="*/ 116 h 138"/>
                  <a:gd name="T4" fmla="*/ 5 w 49"/>
                  <a:gd name="T5" fmla="*/ 122 h 138"/>
                  <a:gd name="T6" fmla="*/ 7 w 49"/>
                  <a:gd name="T7" fmla="*/ 126 h 138"/>
                  <a:gd name="T8" fmla="*/ 9 w 49"/>
                  <a:gd name="T9" fmla="*/ 128 h 138"/>
                  <a:gd name="T10" fmla="*/ 12 w 49"/>
                  <a:gd name="T11" fmla="*/ 132 h 138"/>
                  <a:gd name="T12" fmla="*/ 16 w 49"/>
                  <a:gd name="T13" fmla="*/ 134 h 138"/>
                  <a:gd name="T14" fmla="*/ 19 w 49"/>
                  <a:gd name="T15" fmla="*/ 136 h 138"/>
                  <a:gd name="T16" fmla="*/ 23 w 49"/>
                  <a:gd name="T17" fmla="*/ 138 h 138"/>
                  <a:gd name="T18" fmla="*/ 28 w 49"/>
                  <a:gd name="T19" fmla="*/ 138 h 138"/>
                  <a:gd name="T20" fmla="*/ 28 w 49"/>
                  <a:gd name="T21" fmla="*/ 138 h 138"/>
                  <a:gd name="T22" fmla="*/ 32 w 49"/>
                  <a:gd name="T23" fmla="*/ 136 h 138"/>
                  <a:gd name="T24" fmla="*/ 37 w 49"/>
                  <a:gd name="T25" fmla="*/ 135 h 138"/>
                  <a:gd name="T26" fmla="*/ 41 w 49"/>
                  <a:gd name="T27" fmla="*/ 132 h 138"/>
                  <a:gd name="T28" fmla="*/ 43 w 49"/>
                  <a:gd name="T29" fmla="*/ 130 h 138"/>
                  <a:gd name="T30" fmla="*/ 46 w 49"/>
                  <a:gd name="T31" fmla="*/ 127 h 138"/>
                  <a:gd name="T32" fmla="*/ 47 w 49"/>
                  <a:gd name="T33" fmla="*/ 123 h 138"/>
                  <a:gd name="T34" fmla="*/ 49 w 49"/>
                  <a:gd name="T35" fmla="*/ 119 h 138"/>
                  <a:gd name="T36" fmla="*/ 49 w 49"/>
                  <a:gd name="T37" fmla="*/ 115 h 138"/>
                  <a:gd name="T38" fmla="*/ 43 w 49"/>
                  <a:gd name="T39" fmla="*/ 20 h 138"/>
                  <a:gd name="T40" fmla="*/ 43 w 49"/>
                  <a:gd name="T41" fmla="*/ 20 h 138"/>
                  <a:gd name="T42" fmla="*/ 43 w 49"/>
                  <a:gd name="T43" fmla="*/ 16 h 138"/>
                  <a:gd name="T44" fmla="*/ 42 w 49"/>
                  <a:gd name="T45" fmla="*/ 12 h 138"/>
                  <a:gd name="T46" fmla="*/ 39 w 49"/>
                  <a:gd name="T47" fmla="*/ 8 h 138"/>
                  <a:gd name="T48" fmla="*/ 37 w 49"/>
                  <a:gd name="T49" fmla="*/ 5 h 138"/>
                  <a:gd name="T50" fmla="*/ 34 w 49"/>
                  <a:gd name="T51" fmla="*/ 2 h 138"/>
                  <a:gd name="T52" fmla="*/ 30 w 49"/>
                  <a:gd name="T53" fmla="*/ 1 h 138"/>
                  <a:gd name="T54" fmla="*/ 26 w 49"/>
                  <a:gd name="T55" fmla="*/ 0 h 138"/>
                  <a:gd name="T56" fmla="*/ 20 w 49"/>
                  <a:gd name="T57" fmla="*/ 0 h 138"/>
                  <a:gd name="T58" fmla="*/ 20 w 49"/>
                  <a:gd name="T59" fmla="*/ 0 h 138"/>
                  <a:gd name="T60" fmla="*/ 16 w 49"/>
                  <a:gd name="T61" fmla="*/ 0 h 138"/>
                  <a:gd name="T62" fmla="*/ 12 w 49"/>
                  <a:gd name="T63" fmla="*/ 1 h 138"/>
                  <a:gd name="T64" fmla="*/ 8 w 49"/>
                  <a:gd name="T65" fmla="*/ 4 h 138"/>
                  <a:gd name="T66" fmla="*/ 5 w 49"/>
                  <a:gd name="T67" fmla="*/ 6 h 138"/>
                  <a:gd name="T68" fmla="*/ 3 w 49"/>
                  <a:gd name="T69" fmla="*/ 11 h 138"/>
                  <a:gd name="T70" fmla="*/ 1 w 49"/>
                  <a:gd name="T71" fmla="*/ 15 h 138"/>
                  <a:gd name="T72" fmla="*/ 0 w 49"/>
                  <a:gd name="T73" fmla="*/ 19 h 138"/>
                  <a:gd name="T74" fmla="*/ 0 w 49"/>
                  <a:gd name="T75" fmla="*/ 23 h 138"/>
                  <a:gd name="T76" fmla="*/ 5 w 49"/>
                  <a:gd name="T77" fmla="*/ 1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28" y="138"/>
                    </a:lnTo>
                    <a:lnTo>
                      <a:pt x="32" y="136"/>
                    </a:lnTo>
                    <a:lnTo>
                      <a:pt x="37" y="135"/>
                    </a:lnTo>
                    <a:lnTo>
                      <a:pt x="41" y="132"/>
                    </a:lnTo>
                    <a:lnTo>
                      <a:pt x="43" y="130"/>
                    </a:lnTo>
                    <a:lnTo>
                      <a:pt x="46" y="127"/>
                    </a:lnTo>
                    <a:lnTo>
                      <a:pt x="47" y="123"/>
                    </a:lnTo>
                    <a:lnTo>
                      <a:pt x="49" y="119"/>
                    </a:lnTo>
                    <a:lnTo>
                      <a:pt x="49" y="115"/>
                    </a:lnTo>
                    <a:lnTo>
                      <a:pt x="43" y="20"/>
                    </a:lnTo>
                    <a:lnTo>
                      <a:pt x="43" y="20"/>
                    </a:lnTo>
                    <a:lnTo>
                      <a:pt x="43" y="16"/>
                    </a:lnTo>
                    <a:lnTo>
                      <a:pt x="42" y="12"/>
                    </a:lnTo>
                    <a:lnTo>
                      <a:pt x="39" y="8"/>
                    </a:lnTo>
                    <a:lnTo>
                      <a:pt x="37" y="5"/>
                    </a:lnTo>
                    <a:lnTo>
                      <a:pt x="34" y="2"/>
                    </a:lnTo>
                    <a:lnTo>
                      <a:pt x="30" y="1"/>
                    </a:lnTo>
                    <a:lnTo>
                      <a:pt x="26" y="0"/>
                    </a:lnTo>
                    <a:lnTo>
                      <a:pt x="20"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75792" name="Freeform 140"/>
            <p:cNvSpPr/>
            <p:nvPr/>
          </p:nvSpPr>
          <p:spPr>
            <a:xfrm>
              <a:off x="1608964" y="1261676"/>
              <a:ext cx="515872" cy="42078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Lst>
              <a:rect l="0" t="0" r="0" b="0"/>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chemeClr val="accent2">
                <a:alpha val="100000"/>
              </a:schemeClr>
            </a:solidFill>
            <a:ln w="9525">
              <a:noFill/>
            </a:ln>
          </p:spPr>
          <p:txBody>
            <a:bodyPr/>
            <a:lstStyle/>
            <a:p>
              <a:endParaRPr lang="zh-CN" altLang="en-US"/>
            </a:p>
          </p:txBody>
        </p:sp>
        <p:sp>
          <p:nvSpPr>
            <p:cNvPr id="146" name="Freeform 141"/>
            <p:cNvSpPr>
              <a:spLocks noEditPoints="1"/>
            </p:cNvSpPr>
            <p:nvPr/>
          </p:nvSpPr>
          <p:spPr bwMode="auto">
            <a:xfrm>
              <a:off x="1649080" y="3834559"/>
              <a:ext cx="630000" cy="520758"/>
            </a:xfrm>
            <a:custGeom>
              <a:avLst/>
              <a:gdLst>
                <a:gd name="T0" fmla="*/ 365 w 396"/>
                <a:gd name="T1" fmla="*/ 0 h 327"/>
                <a:gd name="T2" fmla="*/ 383 w 396"/>
                <a:gd name="T3" fmla="*/ 5 h 327"/>
                <a:gd name="T4" fmla="*/ 394 w 396"/>
                <a:gd name="T5" fmla="*/ 19 h 327"/>
                <a:gd name="T6" fmla="*/ 396 w 396"/>
                <a:gd name="T7" fmla="*/ 197 h 327"/>
                <a:gd name="T8" fmla="*/ 394 w 396"/>
                <a:gd name="T9" fmla="*/ 210 h 327"/>
                <a:gd name="T10" fmla="*/ 383 w 396"/>
                <a:gd name="T11" fmla="*/ 224 h 327"/>
                <a:gd name="T12" fmla="*/ 365 w 396"/>
                <a:gd name="T13" fmla="*/ 230 h 327"/>
                <a:gd name="T14" fmla="*/ 295 w 396"/>
                <a:gd name="T15" fmla="*/ 260 h 327"/>
                <a:gd name="T16" fmla="*/ 307 w 396"/>
                <a:gd name="T17" fmla="*/ 262 h 327"/>
                <a:gd name="T18" fmla="*/ 321 w 396"/>
                <a:gd name="T19" fmla="*/ 273 h 327"/>
                <a:gd name="T20" fmla="*/ 326 w 396"/>
                <a:gd name="T21" fmla="*/ 291 h 327"/>
                <a:gd name="T22" fmla="*/ 326 w 396"/>
                <a:gd name="T23" fmla="*/ 302 h 327"/>
                <a:gd name="T24" fmla="*/ 318 w 396"/>
                <a:gd name="T25" fmla="*/ 318 h 327"/>
                <a:gd name="T26" fmla="*/ 302 w 396"/>
                <a:gd name="T27" fmla="*/ 326 h 327"/>
                <a:gd name="T28" fmla="*/ 199 w 396"/>
                <a:gd name="T29" fmla="*/ 208 h 327"/>
                <a:gd name="T30" fmla="*/ 348 w 396"/>
                <a:gd name="T31" fmla="*/ 208 h 327"/>
                <a:gd name="T32" fmla="*/ 361 w 396"/>
                <a:gd name="T33" fmla="*/ 204 h 327"/>
                <a:gd name="T34" fmla="*/ 371 w 396"/>
                <a:gd name="T35" fmla="*/ 192 h 327"/>
                <a:gd name="T36" fmla="*/ 373 w 396"/>
                <a:gd name="T37" fmla="*/ 47 h 327"/>
                <a:gd name="T38" fmla="*/ 371 w 396"/>
                <a:gd name="T39" fmla="*/ 36 h 327"/>
                <a:gd name="T40" fmla="*/ 361 w 396"/>
                <a:gd name="T41" fmla="*/ 25 h 327"/>
                <a:gd name="T42" fmla="*/ 348 w 396"/>
                <a:gd name="T43" fmla="*/ 20 h 327"/>
                <a:gd name="T44" fmla="*/ 127 w 396"/>
                <a:gd name="T45" fmla="*/ 260 h 327"/>
                <a:gd name="T46" fmla="*/ 127 w 396"/>
                <a:gd name="T47" fmla="*/ 230 h 327"/>
                <a:gd name="T48" fmla="*/ 199 w 396"/>
                <a:gd name="T49" fmla="*/ 327 h 327"/>
                <a:gd name="T50" fmla="*/ 154 w 396"/>
                <a:gd name="T51" fmla="*/ 288 h 327"/>
                <a:gd name="T52" fmla="*/ 158 w 396"/>
                <a:gd name="T53" fmla="*/ 287 h 327"/>
                <a:gd name="T54" fmla="*/ 159 w 396"/>
                <a:gd name="T55" fmla="*/ 283 h 327"/>
                <a:gd name="T56" fmla="*/ 155 w 396"/>
                <a:gd name="T57" fmla="*/ 277 h 327"/>
                <a:gd name="T58" fmla="*/ 127 w 396"/>
                <a:gd name="T59" fmla="*/ 260 h 327"/>
                <a:gd name="T60" fmla="*/ 199 w 396"/>
                <a:gd name="T61" fmla="*/ 0 h 327"/>
                <a:gd name="T62" fmla="*/ 127 w 396"/>
                <a:gd name="T63" fmla="*/ 0 h 327"/>
                <a:gd name="T64" fmla="*/ 127 w 396"/>
                <a:gd name="T65" fmla="*/ 276 h 327"/>
                <a:gd name="T66" fmla="*/ 97 w 396"/>
                <a:gd name="T67" fmla="*/ 277 h 327"/>
                <a:gd name="T68" fmla="*/ 94 w 396"/>
                <a:gd name="T69" fmla="*/ 283 h 327"/>
                <a:gd name="T70" fmla="*/ 96 w 396"/>
                <a:gd name="T71" fmla="*/ 287 h 327"/>
                <a:gd name="T72" fmla="*/ 100 w 396"/>
                <a:gd name="T73" fmla="*/ 288 h 327"/>
                <a:gd name="T74" fmla="*/ 101 w 396"/>
                <a:gd name="T75" fmla="*/ 327 h 327"/>
                <a:gd name="T76" fmla="*/ 88 w 396"/>
                <a:gd name="T77" fmla="*/ 325 h 327"/>
                <a:gd name="T78" fmla="*/ 74 w 396"/>
                <a:gd name="T79" fmla="*/ 314 h 327"/>
                <a:gd name="T80" fmla="*/ 69 w 396"/>
                <a:gd name="T81" fmla="*/ 295 h 327"/>
                <a:gd name="T82" fmla="*/ 70 w 396"/>
                <a:gd name="T83" fmla="*/ 285 h 327"/>
                <a:gd name="T84" fmla="*/ 78 w 396"/>
                <a:gd name="T85" fmla="*/ 269 h 327"/>
                <a:gd name="T86" fmla="*/ 94 w 396"/>
                <a:gd name="T87" fmla="*/ 260 h 327"/>
                <a:gd name="T88" fmla="*/ 127 w 396"/>
                <a:gd name="T89" fmla="*/ 230 h 327"/>
                <a:gd name="T90" fmla="*/ 25 w 396"/>
                <a:gd name="T91" fmla="*/ 229 h 327"/>
                <a:gd name="T92" fmla="*/ 9 w 396"/>
                <a:gd name="T93" fmla="*/ 220 h 327"/>
                <a:gd name="T94" fmla="*/ 1 w 396"/>
                <a:gd name="T95" fmla="*/ 204 h 327"/>
                <a:gd name="T96" fmla="*/ 0 w 396"/>
                <a:gd name="T97" fmla="*/ 31 h 327"/>
                <a:gd name="T98" fmla="*/ 5 w 396"/>
                <a:gd name="T99" fmla="*/ 13 h 327"/>
                <a:gd name="T100" fmla="*/ 20 w 396"/>
                <a:gd name="T101" fmla="*/ 2 h 327"/>
                <a:gd name="T102" fmla="*/ 127 w 396"/>
                <a:gd name="T103" fmla="*/ 0 h 327"/>
                <a:gd name="T104" fmla="*/ 50 w 396"/>
                <a:gd name="T105" fmla="*/ 20 h 327"/>
                <a:gd name="T106" fmla="*/ 35 w 396"/>
                <a:gd name="T107" fmla="*/ 25 h 327"/>
                <a:gd name="T108" fmla="*/ 25 w 396"/>
                <a:gd name="T109" fmla="*/ 36 h 327"/>
                <a:gd name="T110" fmla="*/ 24 w 396"/>
                <a:gd name="T111" fmla="*/ 182 h 327"/>
                <a:gd name="T112" fmla="*/ 25 w 396"/>
                <a:gd name="T113" fmla="*/ 192 h 327"/>
                <a:gd name="T114" fmla="*/ 35 w 396"/>
                <a:gd name="T115" fmla="*/ 204 h 327"/>
                <a:gd name="T116" fmla="*/ 50 w 396"/>
                <a:gd name="T117" fmla="*/ 20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6" h="327">
                  <a:moveTo>
                    <a:pt x="199" y="0"/>
                  </a:moveTo>
                  <a:lnTo>
                    <a:pt x="365" y="0"/>
                  </a:lnTo>
                  <a:lnTo>
                    <a:pt x="365" y="0"/>
                  </a:lnTo>
                  <a:lnTo>
                    <a:pt x="372" y="0"/>
                  </a:lnTo>
                  <a:lnTo>
                    <a:pt x="377" y="2"/>
                  </a:lnTo>
                  <a:lnTo>
                    <a:pt x="383" y="5"/>
                  </a:lnTo>
                  <a:lnTo>
                    <a:pt x="387" y="9"/>
                  </a:lnTo>
                  <a:lnTo>
                    <a:pt x="391" y="13"/>
                  </a:lnTo>
                  <a:lnTo>
                    <a:pt x="394" y="19"/>
                  </a:lnTo>
                  <a:lnTo>
                    <a:pt x="396" y="24"/>
                  </a:lnTo>
                  <a:lnTo>
                    <a:pt x="396" y="31"/>
                  </a:lnTo>
                  <a:lnTo>
                    <a:pt x="396" y="197"/>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48"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4" y="288"/>
                  </a:lnTo>
                  <a:lnTo>
                    <a:pt x="155" y="288"/>
                  </a:lnTo>
                  <a:lnTo>
                    <a:pt x="158" y="287"/>
                  </a:lnTo>
                  <a:lnTo>
                    <a:pt x="159" y="284"/>
                  </a:lnTo>
                  <a:lnTo>
                    <a:pt x="159" y="283"/>
                  </a:lnTo>
                  <a:lnTo>
                    <a:pt x="159" y="283"/>
                  </a:lnTo>
                  <a:lnTo>
                    <a:pt x="159" y="280"/>
                  </a:lnTo>
                  <a:lnTo>
                    <a:pt x="158" y="279"/>
                  </a:lnTo>
                  <a:lnTo>
                    <a:pt x="155" y="277"/>
                  </a:lnTo>
                  <a:lnTo>
                    <a:pt x="154" y="276"/>
                  </a:lnTo>
                  <a:lnTo>
                    <a:pt x="127" y="276"/>
                  </a:lnTo>
                  <a:lnTo>
                    <a:pt x="127" y="260"/>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100" y="276"/>
                  </a:lnTo>
                  <a:lnTo>
                    <a:pt x="97" y="277"/>
                  </a:lnTo>
                  <a:lnTo>
                    <a:pt x="96" y="279"/>
                  </a:lnTo>
                  <a:lnTo>
                    <a:pt x="94" y="280"/>
                  </a:lnTo>
                  <a:lnTo>
                    <a:pt x="94" y="283"/>
                  </a:lnTo>
                  <a:lnTo>
                    <a:pt x="94" y="283"/>
                  </a:lnTo>
                  <a:lnTo>
                    <a:pt x="94" y="284"/>
                  </a:lnTo>
                  <a:lnTo>
                    <a:pt x="96" y="287"/>
                  </a:lnTo>
                  <a:lnTo>
                    <a:pt x="97" y="288"/>
                  </a:lnTo>
                  <a:lnTo>
                    <a:pt x="100" y="288"/>
                  </a:lnTo>
                  <a:lnTo>
                    <a:pt x="100" y="288"/>
                  </a:lnTo>
                  <a:lnTo>
                    <a:pt x="127" y="288"/>
                  </a:lnTo>
                  <a:lnTo>
                    <a:pt x="127" y="327"/>
                  </a:lnTo>
                  <a:lnTo>
                    <a:pt x="101" y="327"/>
                  </a:lnTo>
                  <a:lnTo>
                    <a:pt x="101" y="327"/>
                  </a:lnTo>
                  <a:lnTo>
                    <a:pt x="94" y="326"/>
                  </a:lnTo>
                  <a:lnTo>
                    <a:pt x="88" y="325"/>
                  </a:lnTo>
                  <a:lnTo>
                    <a:pt x="82" y="322"/>
                  </a:lnTo>
                  <a:lnTo>
                    <a:pt x="78" y="318"/>
                  </a:lnTo>
                  <a:lnTo>
                    <a:pt x="74" y="314"/>
                  </a:lnTo>
                  <a:lnTo>
                    <a:pt x="71" y="308"/>
                  </a:lnTo>
                  <a:lnTo>
                    <a:pt x="70" y="302"/>
                  </a:lnTo>
                  <a:lnTo>
                    <a:pt x="69" y="295"/>
                  </a:lnTo>
                  <a:lnTo>
                    <a:pt x="69" y="291"/>
                  </a:lnTo>
                  <a:lnTo>
                    <a:pt x="69" y="291"/>
                  </a:lnTo>
                  <a:lnTo>
                    <a:pt x="70" y="285"/>
                  </a:lnTo>
                  <a:lnTo>
                    <a:pt x="71" y="279"/>
                  </a:lnTo>
                  <a:lnTo>
                    <a:pt x="74" y="273"/>
                  </a:lnTo>
                  <a:lnTo>
                    <a:pt x="78" y="269"/>
                  </a:lnTo>
                  <a:lnTo>
                    <a:pt x="82" y="265"/>
                  </a:lnTo>
                  <a:lnTo>
                    <a:pt x="88" y="262"/>
                  </a:lnTo>
                  <a:lnTo>
                    <a:pt x="94" y="260"/>
                  </a:lnTo>
                  <a:lnTo>
                    <a:pt x="101" y="260"/>
                  </a:lnTo>
                  <a:lnTo>
                    <a:pt x="101" y="260"/>
                  </a:lnTo>
                  <a:close/>
                  <a:moveTo>
                    <a:pt x="127" y="230"/>
                  </a:moveTo>
                  <a:lnTo>
                    <a:pt x="32" y="230"/>
                  </a:lnTo>
                  <a:lnTo>
                    <a:pt x="32" y="230"/>
                  </a:lnTo>
                  <a:lnTo>
                    <a:pt x="25" y="229"/>
                  </a:lnTo>
                  <a:lnTo>
                    <a:pt x="20" y="227"/>
                  </a:lnTo>
                  <a:lnTo>
                    <a:pt x="14" y="224"/>
                  </a:lnTo>
                  <a:lnTo>
                    <a:pt x="9" y="220"/>
                  </a:lnTo>
                  <a:lnTo>
                    <a:pt x="5" y="215"/>
                  </a:lnTo>
                  <a:lnTo>
                    <a:pt x="2" y="210"/>
                  </a:lnTo>
                  <a:lnTo>
                    <a:pt x="1" y="204"/>
                  </a:lnTo>
                  <a:lnTo>
                    <a:pt x="0" y="197"/>
                  </a:lnTo>
                  <a:lnTo>
                    <a:pt x="0" y="31"/>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50" y="20"/>
                  </a:lnTo>
                  <a:lnTo>
                    <a:pt x="44" y="21"/>
                  </a:lnTo>
                  <a:lnTo>
                    <a:pt x="40" y="23"/>
                  </a:lnTo>
                  <a:lnTo>
                    <a:pt x="35" y="25"/>
                  </a:lnTo>
                  <a:lnTo>
                    <a:pt x="31" y="28"/>
                  </a:lnTo>
                  <a:lnTo>
                    <a:pt x="28" y="32"/>
                  </a:lnTo>
                  <a:lnTo>
                    <a:pt x="25" y="36"/>
                  </a:lnTo>
                  <a:lnTo>
                    <a:pt x="24" y="42"/>
                  </a:lnTo>
                  <a:lnTo>
                    <a:pt x="24" y="47"/>
                  </a:lnTo>
                  <a:lnTo>
                    <a:pt x="24" y="182"/>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chemeClr val="accent3"/>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5794" name="Freeform 142"/>
            <p:cNvSpPr>
              <a:spLocks noEditPoints="1"/>
            </p:cNvSpPr>
            <p:nvPr/>
          </p:nvSpPr>
          <p:spPr>
            <a:xfrm>
              <a:off x="358177" y="2793970"/>
              <a:ext cx="807933" cy="941606"/>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chemeClr val="accent2">
                <a:alpha val="100000"/>
              </a:schemeClr>
            </a:solidFill>
            <a:ln w="9525">
              <a:noFill/>
            </a:ln>
          </p:spPr>
          <p:txBody>
            <a:bodyPr/>
            <a:lstStyle/>
            <a:p>
              <a:endParaRPr lang="zh-CN" altLang="en-US"/>
            </a:p>
          </p:txBody>
        </p:sp>
        <p:grpSp>
          <p:nvGrpSpPr>
            <p:cNvPr id="148" name="组合 213"/>
            <p:cNvGrpSpPr/>
            <p:nvPr/>
          </p:nvGrpSpPr>
          <p:grpSpPr>
            <a:xfrm>
              <a:off x="1201029" y="3157590"/>
              <a:ext cx="571426" cy="574808"/>
              <a:chOff x="2157413" y="3054350"/>
              <a:chExt cx="571500" cy="574675"/>
            </a:xfrm>
            <a:solidFill>
              <a:schemeClr val="accent5"/>
            </a:solidFill>
          </p:grpSpPr>
          <p:sp>
            <p:nvSpPr>
              <p:cNvPr id="149" name="Freeform 144"/>
              <p:cNvSpPr>
                <a:spLocks noEditPoints="1"/>
              </p:cNvSpPr>
              <p:nvPr/>
            </p:nvSpPr>
            <p:spPr bwMode="auto">
              <a:xfrm>
                <a:off x="2157413" y="3054350"/>
                <a:ext cx="571500" cy="574675"/>
              </a:xfrm>
              <a:custGeom>
                <a:avLst/>
                <a:gdLst>
                  <a:gd name="T0" fmla="*/ 180 w 360"/>
                  <a:gd name="T1" fmla="*/ 0 h 362"/>
                  <a:gd name="T2" fmla="*/ 232 w 360"/>
                  <a:gd name="T3" fmla="*/ 8 h 362"/>
                  <a:gd name="T4" fmla="*/ 280 w 360"/>
                  <a:gd name="T5" fmla="*/ 31 h 362"/>
                  <a:gd name="T6" fmla="*/ 319 w 360"/>
                  <a:gd name="T7" fmla="*/ 67 h 362"/>
                  <a:gd name="T8" fmla="*/ 346 w 360"/>
                  <a:gd name="T9" fmla="*/ 111 h 362"/>
                  <a:gd name="T10" fmla="*/ 358 w 360"/>
                  <a:gd name="T11" fmla="*/ 163 h 362"/>
                  <a:gd name="T12" fmla="*/ 358 w 360"/>
                  <a:gd name="T13" fmla="*/ 199 h 362"/>
                  <a:gd name="T14" fmla="*/ 346 w 360"/>
                  <a:gd name="T15" fmla="*/ 251 h 362"/>
                  <a:gd name="T16" fmla="*/ 319 w 360"/>
                  <a:gd name="T17" fmla="*/ 295 h 362"/>
                  <a:gd name="T18" fmla="*/ 280 w 360"/>
                  <a:gd name="T19" fmla="*/ 331 h 362"/>
                  <a:gd name="T20" fmla="*/ 232 w 360"/>
                  <a:gd name="T21" fmla="*/ 354 h 362"/>
                  <a:gd name="T22" fmla="*/ 180 w 360"/>
                  <a:gd name="T23" fmla="*/ 362 h 362"/>
                  <a:gd name="T24" fmla="*/ 180 w 360"/>
                  <a:gd name="T25" fmla="*/ 314 h 362"/>
                  <a:gd name="T26" fmla="*/ 193 w 360"/>
                  <a:gd name="T27" fmla="*/ 318 h 362"/>
                  <a:gd name="T28" fmla="*/ 201 w 360"/>
                  <a:gd name="T29" fmla="*/ 329 h 362"/>
                  <a:gd name="T30" fmla="*/ 237 w 360"/>
                  <a:gd name="T31" fmla="*/ 320 h 362"/>
                  <a:gd name="T32" fmla="*/ 268 w 360"/>
                  <a:gd name="T33" fmla="*/ 302 h 362"/>
                  <a:gd name="T34" fmla="*/ 293 w 360"/>
                  <a:gd name="T35" fmla="*/ 278 h 362"/>
                  <a:gd name="T36" fmla="*/ 312 w 360"/>
                  <a:gd name="T37" fmla="*/ 248 h 362"/>
                  <a:gd name="T38" fmla="*/ 325 w 360"/>
                  <a:gd name="T39" fmla="*/ 215 h 362"/>
                  <a:gd name="T40" fmla="*/ 322 w 360"/>
                  <a:gd name="T41" fmla="*/ 199 h 362"/>
                  <a:gd name="T42" fmla="*/ 312 w 360"/>
                  <a:gd name="T43" fmla="*/ 180 h 362"/>
                  <a:gd name="T44" fmla="*/ 316 w 360"/>
                  <a:gd name="T45" fmla="*/ 167 h 362"/>
                  <a:gd name="T46" fmla="*/ 327 w 360"/>
                  <a:gd name="T47" fmla="*/ 159 h 362"/>
                  <a:gd name="T48" fmla="*/ 318 w 360"/>
                  <a:gd name="T49" fmla="*/ 123 h 362"/>
                  <a:gd name="T50" fmla="*/ 300 w 360"/>
                  <a:gd name="T51" fmla="*/ 94 h 362"/>
                  <a:gd name="T52" fmla="*/ 277 w 360"/>
                  <a:gd name="T53" fmla="*/ 67 h 362"/>
                  <a:gd name="T54" fmla="*/ 247 w 360"/>
                  <a:gd name="T55" fmla="*/ 48 h 362"/>
                  <a:gd name="T56" fmla="*/ 214 w 360"/>
                  <a:gd name="T57" fmla="*/ 35 h 362"/>
                  <a:gd name="T58" fmla="*/ 199 w 360"/>
                  <a:gd name="T59" fmla="*/ 39 h 362"/>
                  <a:gd name="T60" fmla="*/ 180 w 360"/>
                  <a:gd name="T61" fmla="*/ 48 h 362"/>
                  <a:gd name="T62" fmla="*/ 180 w 360"/>
                  <a:gd name="T63" fmla="*/ 0 h 362"/>
                  <a:gd name="T64" fmla="*/ 180 w 360"/>
                  <a:gd name="T65" fmla="*/ 48 h 362"/>
                  <a:gd name="T66" fmla="*/ 161 w 360"/>
                  <a:gd name="T67" fmla="*/ 39 h 362"/>
                  <a:gd name="T68" fmla="*/ 146 w 360"/>
                  <a:gd name="T69" fmla="*/ 35 h 362"/>
                  <a:gd name="T70" fmla="*/ 112 w 360"/>
                  <a:gd name="T71" fmla="*/ 48 h 362"/>
                  <a:gd name="T72" fmla="*/ 82 w 360"/>
                  <a:gd name="T73" fmla="*/ 67 h 362"/>
                  <a:gd name="T74" fmla="*/ 59 w 360"/>
                  <a:gd name="T75" fmla="*/ 94 h 362"/>
                  <a:gd name="T76" fmla="*/ 42 w 360"/>
                  <a:gd name="T77" fmla="*/ 123 h 362"/>
                  <a:gd name="T78" fmla="*/ 32 w 360"/>
                  <a:gd name="T79" fmla="*/ 159 h 362"/>
                  <a:gd name="T80" fmla="*/ 43 w 360"/>
                  <a:gd name="T81" fmla="*/ 167 h 362"/>
                  <a:gd name="T82" fmla="*/ 47 w 360"/>
                  <a:gd name="T83" fmla="*/ 180 h 362"/>
                  <a:gd name="T84" fmla="*/ 37 w 360"/>
                  <a:gd name="T85" fmla="*/ 199 h 362"/>
                  <a:gd name="T86" fmla="*/ 33 w 360"/>
                  <a:gd name="T87" fmla="*/ 215 h 362"/>
                  <a:gd name="T88" fmla="*/ 46 w 360"/>
                  <a:gd name="T89" fmla="*/ 248 h 362"/>
                  <a:gd name="T90" fmla="*/ 66 w 360"/>
                  <a:gd name="T91" fmla="*/ 278 h 362"/>
                  <a:gd name="T92" fmla="*/ 92 w 360"/>
                  <a:gd name="T93" fmla="*/ 302 h 362"/>
                  <a:gd name="T94" fmla="*/ 123 w 360"/>
                  <a:gd name="T95" fmla="*/ 320 h 362"/>
                  <a:gd name="T96" fmla="*/ 158 w 360"/>
                  <a:gd name="T97" fmla="*/ 329 h 362"/>
                  <a:gd name="T98" fmla="*/ 161 w 360"/>
                  <a:gd name="T99" fmla="*/ 322 h 362"/>
                  <a:gd name="T100" fmla="*/ 180 w 360"/>
                  <a:gd name="T101" fmla="*/ 314 h 362"/>
                  <a:gd name="T102" fmla="*/ 180 w 360"/>
                  <a:gd name="T103" fmla="*/ 362 h 362"/>
                  <a:gd name="T104" fmla="*/ 126 w 360"/>
                  <a:gd name="T105" fmla="*/ 354 h 362"/>
                  <a:gd name="T106" fmla="*/ 78 w 360"/>
                  <a:gd name="T107" fmla="*/ 331 h 362"/>
                  <a:gd name="T108" fmla="*/ 40 w 360"/>
                  <a:gd name="T109" fmla="*/ 295 h 362"/>
                  <a:gd name="T110" fmla="*/ 13 w 360"/>
                  <a:gd name="T111" fmla="*/ 251 h 362"/>
                  <a:gd name="T112" fmla="*/ 0 w 360"/>
                  <a:gd name="T113" fmla="*/ 199 h 362"/>
                  <a:gd name="T114" fmla="*/ 0 w 360"/>
                  <a:gd name="T115" fmla="*/ 163 h 362"/>
                  <a:gd name="T116" fmla="*/ 13 w 360"/>
                  <a:gd name="T117" fmla="*/ 111 h 362"/>
                  <a:gd name="T118" fmla="*/ 40 w 360"/>
                  <a:gd name="T119" fmla="*/ 67 h 362"/>
                  <a:gd name="T120" fmla="*/ 78 w 360"/>
                  <a:gd name="T121" fmla="*/ 31 h 362"/>
                  <a:gd name="T122" fmla="*/ 126 w 360"/>
                  <a:gd name="T123" fmla="*/ 8 h 362"/>
                  <a:gd name="T124" fmla="*/ 180 w 360"/>
                  <a:gd name="T125"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 h="362">
                    <a:moveTo>
                      <a:pt x="180" y="0"/>
                    </a:moveTo>
                    <a:lnTo>
                      <a:pt x="180" y="0"/>
                    </a:ln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62"/>
                    </a:lnTo>
                    <a:lnTo>
                      <a:pt x="180" y="314"/>
                    </a:lnTo>
                    <a:lnTo>
                      <a:pt x="180" y="314"/>
                    </a:lnTo>
                    <a:lnTo>
                      <a:pt x="180" y="314"/>
                    </a:lnTo>
                    <a:lnTo>
                      <a:pt x="186" y="314"/>
                    </a:lnTo>
                    <a:lnTo>
                      <a:pt x="193" y="318"/>
                    </a:lnTo>
                    <a:lnTo>
                      <a:pt x="199" y="322"/>
                    </a:lnTo>
                    <a:lnTo>
                      <a:pt x="201" y="329"/>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7" y="203"/>
                    </a:lnTo>
                    <a:lnTo>
                      <a:pt x="322" y="199"/>
                    </a:lnTo>
                    <a:lnTo>
                      <a:pt x="316" y="194"/>
                    </a:lnTo>
                    <a:lnTo>
                      <a:pt x="314" y="188"/>
                    </a:lnTo>
                    <a:lnTo>
                      <a:pt x="312" y="180"/>
                    </a:lnTo>
                    <a:lnTo>
                      <a:pt x="312" y="180"/>
                    </a:lnTo>
                    <a:lnTo>
                      <a:pt x="314" y="174"/>
                    </a:lnTo>
                    <a:lnTo>
                      <a:pt x="316" y="167"/>
                    </a:lnTo>
                    <a:lnTo>
                      <a:pt x="322" y="163"/>
                    </a:lnTo>
                    <a:lnTo>
                      <a:pt x="327" y="159"/>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201" y="33"/>
                    </a:lnTo>
                    <a:lnTo>
                      <a:pt x="199" y="39"/>
                    </a:lnTo>
                    <a:lnTo>
                      <a:pt x="193" y="44"/>
                    </a:lnTo>
                    <a:lnTo>
                      <a:pt x="186" y="46"/>
                    </a:lnTo>
                    <a:lnTo>
                      <a:pt x="180" y="48"/>
                    </a:lnTo>
                    <a:lnTo>
                      <a:pt x="180" y="48"/>
                    </a:lnTo>
                    <a:lnTo>
                      <a:pt x="180" y="0"/>
                    </a:lnTo>
                    <a:close/>
                    <a:moveTo>
                      <a:pt x="180" y="0"/>
                    </a:moveTo>
                    <a:lnTo>
                      <a:pt x="180" y="0"/>
                    </a:lnTo>
                    <a:lnTo>
                      <a:pt x="180" y="48"/>
                    </a:lnTo>
                    <a:lnTo>
                      <a:pt x="180" y="48"/>
                    </a:lnTo>
                    <a:lnTo>
                      <a:pt x="173" y="46"/>
                    </a:lnTo>
                    <a:lnTo>
                      <a:pt x="166" y="44"/>
                    </a:lnTo>
                    <a:lnTo>
                      <a:pt x="161" y="39"/>
                    </a:lnTo>
                    <a:lnTo>
                      <a:pt x="158" y="33"/>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2" y="159"/>
                    </a:lnTo>
                    <a:lnTo>
                      <a:pt x="37" y="163"/>
                    </a:lnTo>
                    <a:lnTo>
                      <a:pt x="43" y="167"/>
                    </a:lnTo>
                    <a:lnTo>
                      <a:pt x="46" y="174"/>
                    </a:lnTo>
                    <a:lnTo>
                      <a:pt x="47" y="180"/>
                    </a:lnTo>
                    <a:lnTo>
                      <a:pt x="47" y="180"/>
                    </a:lnTo>
                    <a:lnTo>
                      <a:pt x="46" y="188"/>
                    </a:lnTo>
                    <a:lnTo>
                      <a:pt x="43" y="194"/>
                    </a:lnTo>
                    <a:lnTo>
                      <a:pt x="37" y="199"/>
                    </a:lnTo>
                    <a:lnTo>
                      <a:pt x="32" y="203"/>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58" y="329"/>
                    </a:lnTo>
                    <a:lnTo>
                      <a:pt x="158" y="329"/>
                    </a:lnTo>
                    <a:lnTo>
                      <a:pt x="161" y="322"/>
                    </a:lnTo>
                    <a:lnTo>
                      <a:pt x="166" y="318"/>
                    </a:lnTo>
                    <a:lnTo>
                      <a:pt x="173" y="314"/>
                    </a:lnTo>
                    <a:lnTo>
                      <a:pt x="180" y="314"/>
                    </a:lnTo>
                    <a:lnTo>
                      <a:pt x="180" y="362"/>
                    </a:lnTo>
                    <a:lnTo>
                      <a:pt x="180" y="362"/>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0" name="Freeform 145"/>
              <p:cNvSpPr/>
              <p:nvPr/>
            </p:nvSpPr>
            <p:spPr bwMode="auto">
              <a:xfrm>
                <a:off x="2336801" y="3235325"/>
                <a:ext cx="285750" cy="150813"/>
              </a:xfrm>
              <a:custGeom>
                <a:avLst/>
                <a:gdLst>
                  <a:gd name="T0" fmla="*/ 13 w 180"/>
                  <a:gd name="T1" fmla="*/ 0 h 95"/>
                  <a:gd name="T2" fmla="*/ 54 w 180"/>
                  <a:gd name="T3" fmla="*/ 42 h 95"/>
                  <a:gd name="T4" fmla="*/ 54 w 180"/>
                  <a:gd name="T5" fmla="*/ 42 h 95"/>
                  <a:gd name="T6" fmla="*/ 60 w 180"/>
                  <a:gd name="T7" fmla="*/ 39 h 95"/>
                  <a:gd name="T8" fmla="*/ 67 w 180"/>
                  <a:gd name="T9" fmla="*/ 39 h 95"/>
                  <a:gd name="T10" fmla="*/ 67 w 180"/>
                  <a:gd name="T11" fmla="*/ 39 h 95"/>
                  <a:gd name="T12" fmla="*/ 75 w 180"/>
                  <a:gd name="T13" fmla="*/ 41 h 95"/>
                  <a:gd name="T14" fmla="*/ 83 w 180"/>
                  <a:gd name="T15" fmla="*/ 45 h 95"/>
                  <a:gd name="T16" fmla="*/ 88 w 180"/>
                  <a:gd name="T17" fmla="*/ 50 h 95"/>
                  <a:gd name="T18" fmla="*/ 92 w 180"/>
                  <a:gd name="T19" fmla="*/ 58 h 95"/>
                  <a:gd name="T20" fmla="*/ 180 w 180"/>
                  <a:gd name="T21" fmla="*/ 58 h 95"/>
                  <a:gd name="T22" fmla="*/ 180 w 180"/>
                  <a:gd name="T23" fmla="*/ 76 h 95"/>
                  <a:gd name="T24" fmla="*/ 92 w 180"/>
                  <a:gd name="T25" fmla="*/ 76 h 95"/>
                  <a:gd name="T26" fmla="*/ 92 w 180"/>
                  <a:gd name="T27" fmla="*/ 76 h 95"/>
                  <a:gd name="T28" fmla="*/ 88 w 180"/>
                  <a:gd name="T29" fmla="*/ 84 h 95"/>
                  <a:gd name="T30" fmla="*/ 83 w 180"/>
                  <a:gd name="T31" fmla="*/ 89 h 95"/>
                  <a:gd name="T32" fmla="*/ 75 w 180"/>
                  <a:gd name="T33" fmla="*/ 93 h 95"/>
                  <a:gd name="T34" fmla="*/ 67 w 180"/>
                  <a:gd name="T35" fmla="*/ 95 h 95"/>
                  <a:gd name="T36" fmla="*/ 67 w 180"/>
                  <a:gd name="T37" fmla="*/ 95 h 95"/>
                  <a:gd name="T38" fmla="*/ 61 w 180"/>
                  <a:gd name="T39" fmla="*/ 95 h 95"/>
                  <a:gd name="T40" fmla="*/ 56 w 180"/>
                  <a:gd name="T41" fmla="*/ 92 h 95"/>
                  <a:gd name="T42" fmla="*/ 50 w 180"/>
                  <a:gd name="T43" fmla="*/ 91 h 95"/>
                  <a:gd name="T44" fmla="*/ 46 w 180"/>
                  <a:gd name="T45" fmla="*/ 87 h 95"/>
                  <a:gd name="T46" fmla="*/ 44 w 180"/>
                  <a:gd name="T47" fmla="*/ 83 h 95"/>
                  <a:gd name="T48" fmla="*/ 41 w 180"/>
                  <a:gd name="T49" fmla="*/ 77 h 95"/>
                  <a:gd name="T50" fmla="*/ 40 w 180"/>
                  <a:gd name="T51" fmla="*/ 73 h 95"/>
                  <a:gd name="T52" fmla="*/ 38 w 180"/>
                  <a:gd name="T53" fmla="*/ 66 h 95"/>
                  <a:gd name="T54" fmla="*/ 38 w 180"/>
                  <a:gd name="T55" fmla="*/ 66 h 95"/>
                  <a:gd name="T56" fmla="*/ 40 w 180"/>
                  <a:gd name="T57" fmla="*/ 61 h 95"/>
                  <a:gd name="T58" fmla="*/ 41 w 180"/>
                  <a:gd name="T59" fmla="*/ 54 h 95"/>
                  <a:gd name="T60" fmla="*/ 0 w 180"/>
                  <a:gd name="T61" fmla="*/ 13 h 95"/>
                  <a:gd name="T62" fmla="*/ 13 w 180"/>
                  <a:gd name="T6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 h="95">
                    <a:moveTo>
                      <a:pt x="13" y="0"/>
                    </a:moveTo>
                    <a:lnTo>
                      <a:pt x="54" y="42"/>
                    </a:lnTo>
                    <a:lnTo>
                      <a:pt x="54" y="42"/>
                    </a:lnTo>
                    <a:lnTo>
                      <a:pt x="60" y="39"/>
                    </a:lnTo>
                    <a:lnTo>
                      <a:pt x="67" y="39"/>
                    </a:lnTo>
                    <a:lnTo>
                      <a:pt x="67" y="39"/>
                    </a:lnTo>
                    <a:lnTo>
                      <a:pt x="75" y="41"/>
                    </a:lnTo>
                    <a:lnTo>
                      <a:pt x="83" y="45"/>
                    </a:lnTo>
                    <a:lnTo>
                      <a:pt x="88" y="50"/>
                    </a:lnTo>
                    <a:lnTo>
                      <a:pt x="92" y="58"/>
                    </a:lnTo>
                    <a:lnTo>
                      <a:pt x="180" y="58"/>
                    </a:lnTo>
                    <a:lnTo>
                      <a:pt x="180" y="76"/>
                    </a:lnTo>
                    <a:lnTo>
                      <a:pt x="92" y="76"/>
                    </a:lnTo>
                    <a:lnTo>
                      <a:pt x="92" y="76"/>
                    </a:lnTo>
                    <a:lnTo>
                      <a:pt x="88" y="84"/>
                    </a:lnTo>
                    <a:lnTo>
                      <a:pt x="83" y="89"/>
                    </a:lnTo>
                    <a:lnTo>
                      <a:pt x="75" y="93"/>
                    </a:lnTo>
                    <a:lnTo>
                      <a:pt x="67" y="95"/>
                    </a:lnTo>
                    <a:lnTo>
                      <a:pt x="67" y="95"/>
                    </a:lnTo>
                    <a:lnTo>
                      <a:pt x="61" y="95"/>
                    </a:lnTo>
                    <a:lnTo>
                      <a:pt x="56" y="92"/>
                    </a:lnTo>
                    <a:lnTo>
                      <a:pt x="50" y="91"/>
                    </a:lnTo>
                    <a:lnTo>
                      <a:pt x="46" y="87"/>
                    </a:lnTo>
                    <a:lnTo>
                      <a:pt x="44" y="83"/>
                    </a:lnTo>
                    <a:lnTo>
                      <a:pt x="41" y="77"/>
                    </a:lnTo>
                    <a:lnTo>
                      <a:pt x="40" y="73"/>
                    </a:lnTo>
                    <a:lnTo>
                      <a:pt x="38" y="66"/>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51" name="组合 211"/>
            <p:cNvGrpSpPr/>
            <p:nvPr/>
          </p:nvGrpSpPr>
          <p:grpSpPr>
            <a:xfrm>
              <a:off x="1094682" y="3895950"/>
              <a:ext cx="447616" cy="422372"/>
              <a:chOff x="2051051" y="3792538"/>
              <a:chExt cx="447675" cy="422275"/>
            </a:xfrm>
            <a:solidFill>
              <a:schemeClr val="accent1"/>
            </a:solidFill>
          </p:grpSpPr>
          <p:sp>
            <p:nvSpPr>
              <p:cNvPr id="152" name="Freeform 146"/>
              <p:cNvSpPr/>
              <p:nvPr/>
            </p:nvSpPr>
            <p:spPr bwMode="auto">
              <a:xfrm>
                <a:off x="2051051" y="3879850"/>
                <a:ext cx="447675" cy="334963"/>
              </a:xfrm>
              <a:custGeom>
                <a:avLst/>
                <a:gdLst>
                  <a:gd name="T0" fmla="*/ 86 w 282"/>
                  <a:gd name="T1" fmla="*/ 0 h 211"/>
                  <a:gd name="T2" fmla="*/ 115 w 282"/>
                  <a:gd name="T3" fmla="*/ 6 h 211"/>
                  <a:gd name="T4" fmla="*/ 141 w 282"/>
                  <a:gd name="T5" fmla="*/ 20 h 211"/>
                  <a:gd name="T6" fmla="*/ 153 w 282"/>
                  <a:gd name="T7" fmla="*/ 11 h 211"/>
                  <a:gd name="T8" fmla="*/ 182 w 282"/>
                  <a:gd name="T9" fmla="*/ 1 h 211"/>
                  <a:gd name="T10" fmla="*/ 198 w 282"/>
                  <a:gd name="T11" fmla="*/ 0 h 211"/>
                  <a:gd name="T12" fmla="*/ 214 w 282"/>
                  <a:gd name="T13" fmla="*/ 1 h 211"/>
                  <a:gd name="T14" fmla="*/ 245 w 282"/>
                  <a:gd name="T15" fmla="*/ 14 h 211"/>
                  <a:gd name="T16" fmla="*/ 268 w 282"/>
                  <a:gd name="T17" fmla="*/ 35 h 211"/>
                  <a:gd name="T18" fmla="*/ 278 w 282"/>
                  <a:gd name="T19" fmla="*/ 57 h 211"/>
                  <a:gd name="T20" fmla="*/ 282 w 282"/>
                  <a:gd name="T21" fmla="*/ 73 h 211"/>
                  <a:gd name="T22" fmla="*/ 282 w 282"/>
                  <a:gd name="T23" fmla="*/ 81 h 211"/>
                  <a:gd name="T24" fmla="*/ 281 w 282"/>
                  <a:gd name="T25" fmla="*/ 102 h 211"/>
                  <a:gd name="T26" fmla="*/ 274 w 282"/>
                  <a:gd name="T27" fmla="*/ 123 h 211"/>
                  <a:gd name="T28" fmla="*/ 263 w 282"/>
                  <a:gd name="T29" fmla="*/ 145 h 211"/>
                  <a:gd name="T30" fmla="*/ 248 w 282"/>
                  <a:gd name="T31" fmla="*/ 165 h 211"/>
                  <a:gd name="T32" fmla="*/ 228 w 282"/>
                  <a:gd name="T33" fmla="*/ 184 h 211"/>
                  <a:gd name="T34" fmla="*/ 203 w 282"/>
                  <a:gd name="T35" fmla="*/ 199 h 211"/>
                  <a:gd name="T36" fmla="*/ 172 w 282"/>
                  <a:gd name="T37" fmla="*/ 209 h 211"/>
                  <a:gd name="T38" fmla="*/ 137 w 282"/>
                  <a:gd name="T39" fmla="*/ 211 h 211"/>
                  <a:gd name="T40" fmla="*/ 118 w 282"/>
                  <a:gd name="T41" fmla="*/ 211 h 211"/>
                  <a:gd name="T42" fmla="*/ 86 w 282"/>
                  <a:gd name="T43" fmla="*/ 203 h 211"/>
                  <a:gd name="T44" fmla="*/ 58 w 282"/>
                  <a:gd name="T45" fmla="*/ 191 h 211"/>
                  <a:gd name="T46" fmla="*/ 38 w 282"/>
                  <a:gd name="T47" fmla="*/ 173 h 211"/>
                  <a:gd name="T48" fmla="*/ 22 w 282"/>
                  <a:gd name="T49" fmla="*/ 153 h 211"/>
                  <a:gd name="T50" fmla="*/ 11 w 282"/>
                  <a:gd name="T51" fmla="*/ 133 h 211"/>
                  <a:gd name="T52" fmla="*/ 4 w 282"/>
                  <a:gd name="T53" fmla="*/ 111 h 211"/>
                  <a:gd name="T54" fmla="*/ 0 w 282"/>
                  <a:gd name="T55" fmla="*/ 81 h 211"/>
                  <a:gd name="T56" fmla="*/ 0 w 282"/>
                  <a:gd name="T57" fmla="*/ 73 h 211"/>
                  <a:gd name="T58" fmla="*/ 4 w 282"/>
                  <a:gd name="T59" fmla="*/ 57 h 211"/>
                  <a:gd name="T60" fmla="*/ 15 w 282"/>
                  <a:gd name="T61" fmla="*/ 35 h 211"/>
                  <a:gd name="T62" fmla="*/ 38 w 282"/>
                  <a:gd name="T63" fmla="*/ 14 h 211"/>
                  <a:gd name="T64" fmla="*/ 68 w 282"/>
                  <a:gd name="T65" fmla="*/ 1 h 211"/>
                  <a:gd name="T66" fmla="*/ 86 w 282"/>
                  <a:gd name="T6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2" h="211">
                    <a:moveTo>
                      <a:pt x="86" y="0"/>
                    </a:moveTo>
                    <a:lnTo>
                      <a:pt x="86" y="0"/>
                    </a:lnTo>
                    <a:lnTo>
                      <a:pt x="100" y="1"/>
                    </a:lnTo>
                    <a:lnTo>
                      <a:pt x="115" y="6"/>
                    </a:lnTo>
                    <a:lnTo>
                      <a:pt x="129" y="11"/>
                    </a:lnTo>
                    <a:lnTo>
                      <a:pt x="141" y="20"/>
                    </a:lnTo>
                    <a:lnTo>
                      <a:pt x="141" y="20"/>
                    </a:lnTo>
                    <a:lnTo>
                      <a:pt x="153" y="11"/>
                    </a:lnTo>
                    <a:lnTo>
                      <a:pt x="167" y="6"/>
                    </a:lnTo>
                    <a:lnTo>
                      <a:pt x="182" y="1"/>
                    </a:lnTo>
                    <a:lnTo>
                      <a:pt x="198" y="0"/>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lnTo>
                      <a:pt x="8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3" name="Freeform 147"/>
              <p:cNvSpPr/>
              <p:nvPr/>
            </p:nvSpPr>
            <p:spPr bwMode="auto">
              <a:xfrm>
                <a:off x="2178051" y="3792538"/>
                <a:ext cx="107950" cy="153988"/>
              </a:xfrm>
              <a:custGeom>
                <a:avLst/>
                <a:gdLst>
                  <a:gd name="T0" fmla="*/ 60 w 68"/>
                  <a:gd name="T1" fmla="*/ 97 h 97"/>
                  <a:gd name="T2" fmla="*/ 60 w 68"/>
                  <a:gd name="T3" fmla="*/ 97 h 97"/>
                  <a:gd name="T4" fmla="*/ 65 w 68"/>
                  <a:gd name="T5" fmla="*/ 85 h 97"/>
                  <a:gd name="T6" fmla="*/ 68 w 68"/>
                  <a:gd name="T7" fmla="*/ 71 h 97"/>
                  <a:gd name="T8" fmla="*/ 68 w 68"/>
                  <a:gd name="T9" fmla="*/ 58 h 97"/>
                  <a:gd name="T10" fmla="*/ 66 w 68"/>
                  <a:gd name="T11" fmla="*/ 46 h 97"/>
                  <a:gd name="T12" fmla="*/ 62 w 68"/>
                  <a:gd name="T13" fmla="*/ 33 h 97"/>
                  <a:gd name="T14" fmla="*/ 56 w 68"/>
                  <a:gd name="T15" fmla="*/ 21 h 97"/>
                  <a:gd name="T16" fmla="*/ 49 w 68"/>
                  <a:gd name="T17" fmla="*/ 10 h 97"/>
                  <a:gd name="T18" fmla="*/ 39 w 68"/>
                  <a:gd name="T19" fmla="*/ 0 h 97"/>
                  <a:gd name="T20" fmla="*/ 0 w 68"/>
                  <a:gd name="T21" fmla="*/ 6 h 97"/>
                  <a:gd name="T22" fmla="*/ 0 w 68"/>
                  <a:gd name="T23" fmla="*/ 6 h 97"/>
                  <a:gd name="T24" fmla="*/ 14 w 68"/>
                  <a:gd name="T25" fmla="*/ 15 h 97"/>
                  <a:gd name="T26" fmla="*/ 24 w 68"/>
                  <a:gd name="T27" fmla="*/ 23 h 97"/>
                  <a:gd name="T28" fmla="*/ 35 w 68"/>
                  <a:gd name="T29" fmla="*/ 32 h 97"/>
                  <a:gd name="T30" fmla="*/ 43 w 68"/>
                  <a:gd name="T31" fmla="*/ 42 h 97"/>
                  <a:gd name="T32" fmla="*/ 50 w 68"/>
                  <a:gd name="T33" fmla="*/ 54 h 97"/>
                  <a:gd name="T34" fmla="*/ 56 w 68"/>
                  <a:gd name="T35" fmla="*/ 66 h 97"/>
                  <a:gd name="T36" fmla="*/ 58 w 68"/>
                  <a:gd name="T37" fmla="*/ 81 h 97"/>
                  <a:gd name="T38" fmla="*/ 60 w 68"/>
                  <a:gd name="T39" fmla="*/ 97 h 97"/>
                  <a:gd name="T40" fmla="*/ 60 w 68"/>
                  <a:gd name="T41"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0" y="6"/>
                    </a:lnTo>
                    <a:lnTo>
                      <a:pt x="14" y="15"/>
                    </a:lnTo>
                    <a:lnTo>
                      <a:pt x="24" y="23"/>
                    </a:lnTo>
                    <a:lnTo>
                      <a:pt x="35" y="32"/>
                    </a:lnTo>
                    <a:lnTo>
                      <a:pt x="43" y="42"/>
                    </a:lnTo>
                    <a:lnTo>
                      <a:pt x="50" y="54"/>
                    </a:lnTo>
                    <a:lnTo>
                      <a:pt x="56" y="66"/>
                    </a:lnTo>
                    <a:lnTo>
                      <a:pt x="58" y="81"/>
                    </a:lnTo>
                    <a:lnTo>
                      <a:pt x="60" y="97"/>
                    </a:lnTo>
                    <a:lnTo>
                      <a:pt x="60" y="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54" name="组合 200"/>
            <p:cNvGrpSpPr/>
            <p:nvPr/>
          </p:nvGrpSpPr>
          <p:grpSpPr>
            <a:xfrm>
              <a:off x="2234358" y="1333131"/>
              <a:ext cx="676187" cy="555754"/>
              <a:chOff x="3190876" y="1230313"/>
              <a:chExt cx="676275" cy="555625"/>
            </a:xfrm>
            <a:solidFill>
              <a:schemeClr val="accent3"/>
            </a:solidFill>
          </p:grpSpPr>
          <p:sp>
            <p:nvSpPr>
              <p:cNvPr id="155" name="Freeform 148"/>
              <p:cNvSpPr/>
              <p:nvPr/>
            </p:nvSpPr>
            <p:spPr bwMode="auto">
              <a:xfrm>
                <a:off x="3209926" y="1257300"/>
                <a:ext cx="657225" cy="528638"/>
              </a:xfrm>
              <a:custGeom>
                <a:avLst/>
                <a:gdLst>
                  <a:gd name="T0" fmla="*/ 0 w 414"/>
                  <a:gd name="T1" fmla="*/ 117 h 333"/>
                  <a:gd name="T2" fmla="*/ 10 w 414"/>
                  <a:gd name="T3" fmla="*/ 102 h 333"/>
                  <a:gd name="T4" fmla="*/ 316 w 414"/>
                  <a:gd name="T5" fmla="*/ 306 h 333"/>
                  <a:gd name="T6" fmla="*/ 316 w 414"/>
                  <a:gd name="T7" fmla="*/ 306 h 333"/>
                  <a:gd name="T8" fmla="*/ 325 w 414"/>
                  <a:gd name="T9" fmla="*/ 310 h 333"/>
                  <a:gd name="T10" fmla="*/ 335 w 414"/>
                  <a:gd name="T11" fmla="*/ 313 h 333"/>
                  <a:gd name="T12" fmla="*/ 343 w 414"/>
                  <a:gd name="T13" fmla="*/ 313 h 333"/>
                  <a:gd name="T14" fmla="*/ 352 w 414"/>
                  <a:gd name="T15" fmla="*/ 312 h 333"/>
                  <a:gd name="T16" fmla="*/ 362 w 414"/>
                  <a:gd name="T17" fmla="*/ 309 h 333"/>
                  <a:gd name="T18" fmla="*/ 371 w 414"/>
                  <a:gd name="T19" fmla="*/ 304 h 333"/>
                  <a:gd name="T20" fmla="*/ 378 w 414"/>
                  <a:gd name="T21" fmla="*/ 297 h 333"/>
                  <a:gd name="T22" fmla="*/ 385 w 414"/>
                  <a:gd name="T23" fmla="*/ 289 h 333"/>
                  <a:gd name="T24" fmla="*/ 385 w 414"/>
                  <a:gd name="T25" fmla="*/ 289 h 333"/>
                  <a:gd name="T26" fmla="*/ 390 w 414"/>
                  <a:gd name="T27" fmla="*/ 279 h 333"/>
                  <a:gd name="T28" fmla="*/ 393 w 414"/>
                  <a:gd name="T29" fmla="*/ 270 h 333"/>
                  <a:gd name="T30" fmla="*/ 394 w 414"/>
                  <a:gd name="T31" fmla="*/ 260 h 333"/>
                  <a:gd name="T32" fmla="*/ 394 w 414"/>
                  <a:gd name="T33" fmla="*/ 251 h 333"/>
                  <a:gd name="T34" fmla="*/ 391 w 414"/>
                  <a:gd name="T35" fmla="*/ 241 h 333"/>
                  <a:gd name="T36" fmla="*/ 387 w 414"/>
                  <a:gd name="T37" fmla="*/ 232 h 333"/>
                  <a:gd name="T38" fmla="*/ 382 w 414"/>
                  <a:gd name="T39" fmla="*/ 225 h 333"/>
                  <a:gd name="T40" fmla="*/ 375 w 414"/>
                  <a:gd name="T41" fmla="*/ 218 h 333"/>
                  <a:gd name="T42" fmla="*/ 69 w 414"/>
                  <a:gd name="T43" fmla="*/ 14 h 333"/>
                  <a:gd name="T44" fmla="*/ 79 w 414"/>
                  <a:gd name="T45" fmla="*/ 0 h 333"/>
                  <a:gd name="T46" fmla="*/ 389 w 414"/>
                  <a:gd name="T47" fmla="*/ 207 h 333"/>
                  <a:gd name="T48" fmla="*/ 389 w 414"/>
                  <a:gd name="T49" fmla="*/ 207 h 333"/>
                  <a:gd name="T50" fmla="*/ 398 w 414"/>
                  <a:gd name="T51" fmla="*/ 216 h 333"/>
                  <a:gd name="T52" fmla="*/ 405 w 414"/>
                  <a:gd name="T53" fmla="*/ 225 h 333"/>
                  <a:gd name="T54" fmla="*/ 410 w 414"/>
                  <a:gd name="T55" fmla="*/ 236 h 333"/>
                  <a:gd name="T56" fmla="*/ 414 w 414"/>
                  <a:gd name="T57" fmla="*/ 248 h 333"/>
                  <a:gd name="T58" fmla="*/ 414 w 414"/>
                  <a:gd name="T59" fmla="*/ 262 h 333"/>
                  <a:gd name="T60" fmla="*/ 413 w 414"/>
                  <a:gd name="T61" fmla="*/ 275 h 333"/>
                  <a:gd name="T62" fmla="*/ 409 w 414"/>
                  <a:gd name="T63" fmla="*/ 287 h 333"/>
                  <a:gd name="T64" fmla="*/ 402 w 414"/>
                  <a:gd name="T65" fmla="*/ 300 h 333"/>
                  <a:gd name="T66" fmla="*/ 402 w 414"/>
                  <a:gd name="T67" fmla="*/ 300 h 333"/>
                  <a:gd name="T68" fmla="*/ 393 w 414"/>
                  <a:gd name="T69" fmla="*/ 312 h 333"/>
                  <a:gd name="T70" fmla="*/ 382 w 414"/>
                  <a:gd name="T71" fmla="*/ 320 h 333"/>
                  <a:gd name="T72" fmla="*/ 371 w 414"/>
                  <a:gd name="T73" fmla="*/ 327 h 333"/>
                  <a:gd name="T74" fmla="*/ 359 w 414"/>
                  <a:gd name="T75" fmla="*/ 331 h 333"/>
                  <a:gd name="T76" fmla="*/ 347 w 414"/>
                  <a:gd name="T77" fmla="*/ 333 h 333"/>
                  <a:gd name="T78" fmla="*/ 335 w 414"/>
                  <a:gd name="T79" fmla="*/ 332 h 333"/>
                  <a:gd name="T80" fmla="*/ 322 w 414"/>
                  <a:gd name="T81" fmla="*/ 329 h 333"/>
                  <a:gd name="T82" fmla="*/ 310 w 414"/>
                  <a:gd name="T83" fmla="*/ 323 h 333"/>
                  <a:gd name="T84" fmla="*/ 0 w 414"/>
                  <a:gd name="T85" fmla="*/ 11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4" h="333">
                    <a:moveTo>
                      <a:pt x="0" y="117"/>
                    </a:moveTo>
                    <a:lnTo>
                      <a:pt x="10" y="102"/>
                    </a:lnTo>
                    <a:lnTo>
                      <a:pt x="316" y="306"/>
                    </a:lnTo>
                    <a:lnTo>
                      <a:pt x="316" y="306"/>
                    </a:lnTo>
                    <a:lnTo>
                      <a:pt x="325" y="310"/>
                    </a:lnTo>
                    <a:lnTo>
                      <a:pt x="335" y="313"/>
                    </a:lnTo>
                    <a:lnTo>
                      <a:pt x="343" y="313"/>
                    </a:lnTo>
                    <a:lnTo>
                      <a:pt x="352" y="312"/>
                    </a:lnTo>
                    <a:lnTo>
                      <a:pt x="362" y="309"/>
                    </a:lnTo>
                    <a:lnTo>
                      <a:pt x="371" y="304"/>
                    </a:lnTo>
                    <a:lnTo>
                      <a:pt x="378" y="297"/>
                    </a:lnTo>
                    <a:lnTo>
                      <a:pt x="385" y="289"/>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89" y="207"/>
                    </a:lnTo>
                    <a:lnTo>
                      <a:pt x="398" y="216"/>
                    </a:lnTo>
                    <a:lnTo>
                      <a:pt x="405" y="225"/>
                    </a:lnTo>
                    <a:lnTo>
                      <a:pt x="410" y="236"/>
                    </a:lnTo>
                    <a:lnTo>
                      <a:pt x="414" y="248"/>
                    </a:lnTo>
                    <a:lnTo>
                      <a:pt x="414" y="262"/>
                    </a:lnTo>
                    <a:lnTo>
                      <a:pt x="413" y="275"/>
                    </a:lnTo>
                    <a:lnTo>
                      <a:pt x="409" y="287"/>
                    </a:lnTo>
                    <a:lnTo>
                      <a:pt x="402" y="300"/>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6" name="Freeform 149"/>
              <p:cNvSpPr/>
              <p:nvPr/>
            </p:nvSpPr>
            <p:spPr bwMode="auto">
              <a:xfrm>
                <a:off x="3190876" y="1230313"/>
                <a:ext cx="176213" cy="246063"/>
              </a:xfrm>
              <a:custGeom>
                <a:avLst/>
                <a:gdLst>
                  <a:gd name="T0" fmla="*/ 5 w 111"/>
                  <a:gd name="T1" fmla="*/ 154 h 155"/>
                  <a:gd name="T2" fmla="*/ 5 w 111"/>
                  <a:gd name="T3" fmla="*/ 154 h 155"/>
                  <a:gd name="T4" fmla="*/ 9 w 111"/>
                  <a:gd name="T5" fmla="*/ 155 h 155"/>
                  <a:gd name="T6" fmla="*/ 15 w 111"/>
                  <a:gd name="T7" fmla="*/ 155 h 155"/>
                  <a:gd name="T8" fmla="*/ 19 w 111"/>
                  <a:gd name="T9" fmla="*/ 154 h 155"/>
                  <a:gd name="T10" fmla="*/ 23 w 111"/>
                  <a:gd name="T11" fmla="*/ 150 h 155"/>
                  <a:gd name="T12" fmla="*/ 110 w 111"/>
                  <a:gd name="T13" fmla="*/ 20 h 155"/>
                  <a:gd name="T14" fmla="*/ 110 w 111"/>
                  <a:gd name="T15" fmla="*/ 20 h 155"/>
                  <a:gd name="T16" fmla="*/ 111 w 111"/>
                  <a:gd name="T17" fmla="*/ 15 h 155"/>
                  <a:gd name="T18" fmla="*/ 111 w 111"/>
                  <a:gd name="T19" fmla="*/ 11 h 155"/>
                  <a:gd name="T20" fmla="*/ 110 w 111"/>
                  <a:gd name="T21" fmla="*/ 5 h 155"/>
                  <a:gd name="T22" fmla="*/ 106 w 111"/>
                  <a:gd name="T23" fmla="*/ 2 h 155"/>
                  <a:gd name="T24" fmla="*/ 106 w 111"/>
                  <a:gd name="T25" fmla="*/ 2 h 155"/>
                  <a:gd name="T26" fmla="*/ 101 w 111"/>
                  <a:gd name="T27" fmla="*/ 0 h 155"/>
                  <a:gd name="T28" fmla="*/ 96 w 111"/>
                  <a:gd name="T29" fmla="*/ 0 h 155"/>
                  <a:gd name="T30" fmla="*/ 92 w 111"/>
                  <a:gd name="T31" fmla="*/ 2 h 155"/>
                  <a:gd name="T32" fmla="*/ 89 w 111"/>
                  <a:gd name="T33" fmla="*/ 5 h 155"/>
                  <a:gd name="T34" fmla="*/ 1 w 111"/>
                  <a:gd name="T35" fmla="*/ 136 h 155"/>
                  <a:gd name="T36" fmla="*/ 1 w 111"/>
                  <a:gd name="T37" fmla="*/ 136 h 155"/>
                  <a:gd name="T38" fmla="*/ 0 w 111"/>
                  <a:gd name="T39" fmla="*/ 140 h 155"/>
                  <a:gd name="T40" fmla="*/ 0 w 111"/>
                  <a:gd name="T41" fmla="*/ 146 h 155"/>
                  <a:gd name="T42" fmla="*/ 1 w 111"/>
                  <a:gd name="T43" fmla="*/ 150 h 155"/>
                  <a:gd name="T44" fmla="*/ 5 w 111"/>
                  <a:gd name="T45" fmla="*/ 154 h 155"/>
                  <a:gd name="T46" fmla="*/ 5 w 111"/>
                  <a:gd name="T47" fmla="*/ 15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1" h="155">
                    <a:moveTo>
                      <a:pt x="5" y="154"/>
                    </a:moveTo>
                    <a:lnTo>
                      <a:pt x="5" y="154"/>
                    </a:lnTo>
                    <a:lnTo>
                      <a:pt x="9" y="155"/>
                    </a:lnTo>
                    <a:lnTo>
                      <a:pt x="15" y="155"/>
                    </a:lnTo>
                    <a:lnTo>
                      <a:pt x="19" y="154"/>
                    </a:lnTo>
                    <a:lnTo>
                      <a:pt x="23" y="150"/>
                    </a:lnTo>
                    <a:lnTo>
                      <a:pt x="110" y="20"/>
                    </a:lnTo>
                    <a:lnTo>
                      <a:pt x="110" y="20"/>
                    </a:lnTo>
                    <a:lnTo>
                      <a:pt x="111" y="15"/>
                    </a:lnTo>
                    <a:lnTo>
                      <a:pt x="111" y="11"/>
                    </a:lnTo>
                    <a:lnTo>
                      <a:pt x="110" y="5"/>
                    </a:lnTo>
                    <a:lnTo>
                      <a:pt x="106" y="2"/>
                    </a:lnTo>
                    <a:lnTo>
                      <a:pt x="106" y="2"/>
                    </a:lnTo>
                    <a:lnTo>
                      <a:pt x="101" y="0"/>
                    </a:lnTo>
                    <a:lnTo>
                      <a:pt x="96" y="0"/>
                    </a:lnTo>
                    <a:lnTo>
                      <a:pt x="92" y="2"/>
                    </a:lnTo>
                    <a:lnTo>
                      <a:pt x="89" y="5"/>
                    </a:lnTo>
                    <a:lnTo>
                      <a:pt x="1" y="136"/>
                    </a:lnTo>
                    <a:lnTo>
                      <a:pt x="1" y="136"/>
                    </a:lnTo>
                    <a:lnTo>
                      <a:pt x="0" y="140"/>
                    </a:lnTo>
                    <a:lnTo>
                      <a:pt x="0" y="146"/>
                    </a:lnTo>
                    <a:lnTo>
                      <a:pt x="1" y="150"/>
                    </a:lnTo>
                    <a:lnTo>
                      <a:pt x="5" y="154"/>
                    </a:lnTo>
                    <a:lnTo>
                      <a:pt x="5" y="1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7" name="Freeform 150"/>
              <p:cNvSpPr/>
              <p:nvPr/>
            </p:nvSpPr>
            <p:spPr bwMode="auto">
              <a:xfrm>
                <a:off x="3287713" y="1400175"/>
                <a:ext cx="504825" cy="323850"/>
              </a:xfrm>
              <a:custGeom>
                <a:avLst/>
                <a:gdLst>
                  <a:gd name="T0" fmla="*/ 0 w 318"/>
                  <a:gd name="T1" fmla="*/ 19 h 204"/>
                  <a:gd name="T2" fmla="*/ 11 w 318"/>
                  <a:gd name="T3" fmla="*/ 0 h 204"/>
                  <a:gd name="T4" fmla="*/ 284 w 318"/>
                  <a:gd name="T5" fmla="*/ 182 h 204"/>
                  <a:gd name="T6" fmla="*/ 284 w 318"/>
                  <a:gd name="T7" fmla="*/ 182 h 204"/>
                  <a:gd name="T8" fmla="*/ 292 w 318"/>
                  <a:gd name="T9" fmla="*/ 186 h 204"/>
                  <a:gd name="T10" fmla="*/ 302 w 318"/>
                  <a:gd name="T11" fmla="*/ 188 h 204"/>
                  <a:gd name="T12" fmla="*/ 310 w 318"/>
                  <a:gd name="T13" fmla="*/ 188 h 204"/>
                  <a:gd name="T14" fmla="*/ 318 w 318"/>
                  <a:gd name="T15" fmla="*/ 185 h 204"/>
                  <a:gd name="T16" fmla="*/ 318 w 318"/>
                  <a:gd name="T17" fmla="*/ 185 h 204"/>
                  <a:gd name="T18" fmla="*/ 317 w 318"/>
                  <a:gd name="T19" fmla="*/ 186 h 204"/>
                  <a:gd name="T20" fmla="*/ 317 w 318"/>
                  <a:gd name="T21" fmla="*/ 186 h 204"/>
                  <a:gd name="T22" fmla="*/ 313 w 318"/>
                  <a:gd name="T23" fmla="*/ 192 h 204"/>
                  <a:gd name="T24" fmla="*/ 307 w 318"/>
                  <a:gd name="T25" fmla="*/ 197 h 204"/>
                  <a:gd name="T26" fmla="*/ 302 w 318"/>
                  <a:gd name="T27" fmla="*/ 200 h 204"/>
                  <a:gd name="T28" fmla="*/ 295 w 318"/>
                  <a:gd name="T29" fmla="*/ 203 h 204"/>
                  <a:gd name="T30" fmla="*/ 288 w 318"/>
                  <a:gd name="T31" fmla="*/ 204 h 204"/>
                  <a:gd name="T32" fmla="*/ 282 w 318"/>
                  <a:gd name="T33" fmla="*/ 203 h 204"/>
                  <a:gd name="T34" fmla="*/ 276 w 318"/>
                  <a:gd name="T35" fmla="*/ 201 h 204"/>
                  <a:gd name="T36" fmla="*/ 269 w 318"/>
                  <a:gd name="T37" fmla="*/ 199 h 204"/>
                  <a:gd name="T38" fmla="*/ 0 w 318"/>
                  <a:gd name="T39" fmla="*/ 1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8" h="204">
                    <a:moveTo>
                      <a:pt x="0" y="19"/>
                    </a:moveTo>
                    <a:lnTo>
                      <a:pt x="11" y="0"/>
                    </a:lnTo>
                    <a:lnTo>
                      <a:pt x="284" y="182"/>
                    </a:lnTo>
                    <a:lnTo>
                      <a:pt x="284" y="182"/>
                    </a:lnTo>
                    <a:lnTo>
                      <a:pt x="292" y="186"/>
                    </a:lnTo>
                    <a:lnTo>
                      <a:pt x="302" y="188"/>
                    </a:lnTo>
                    <a:lnTo>
                      <a:pt x="310" y="188"/>
                    </a:lnTo>
                    <a:lnTo>
                      <a:pt x="318" y="185"/>
                    </a:lnTo>
                    <a:lnTo>
                      <a:pt x="318" y="185"/>
                    </a:lnTo>
                    <a:lnTo>
                      <a:pt x="317" y="186"/>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58" name="Freeform 151"/>
            <p:cNvSpPr>
              <a:spLocks noEditPoints="1"/>
            </p:cNvSpPr>
            <p:nvPr/>
          </p:nvSpPr>
          <p:spPr bwMode="auto">
            <a:xfrm>
              <a:off x="595912" y="3734687"/>
              <a:ext cx="380377" cy="661055"/>
            </a:xfrm>
            <a:custGeom>
              <a:avLst/>
              <a:gdLst>
                <a:gd name="T0" fmla="*/ 144 w 240"/>
                <a:gd name="T1" fmla="*/ 352 h 416"/>
                <a:gd name="T2" fmla="*/ 154 w 240"/>
                <a:gd name="T3" fmla="*/ 354 h 416"/>
                <a:gd name="T4" fmla="*/ 164 w 240"/>
                <a:gd name="T5" fmla="*/ 359 h 416"/>
                <a:gd name="T6" fmla="*/ 171 w 240"/>
                <a:gd name="T7" fmla="*/ 366 h 416"/>
                <a:gd name="T8" fmla="*/ 175 w 240"/>
                <a:gd name="T9" fmla="*/ 375 h 416"/>
                <a:gd name="T10" fmla="*/ 176 w 240"/>
                <a:gd name="T11" fmla="*/ 382 h 416"/>
                <a:gd name="T12" fmla="*/ 175 w 240"/>
                <a:gd name="T13" fmla="*/ 394 h 416"/>
                <a:gd name="T14" fmla="*/ 168 w 240"/>
                <a:gd name="T15" fmla="*/ 405 h 416"/>
                <a:gd name="T16" fmla="*/ 158 w 240"/>
                <a:gd name="T17" fmla="*/ 413 h 416"/>
                <a:gd name="T18" fmla="*/ 152 w 240"/>
                <a:gd name="T19" fmla="*/ 415 h 416"/>
                <a:gd name="T20" fmla="*/ 144 w 240"/>
                <a:gd name="T21" fmla="*/ 352 h 416"/>
                <a:gd name="T22" fmla="*/ 144 w 240"/>
                <a:gd name="T23" fmla="*/ 325 h 416"/>
                <a:gd name="T24" fmla="*/ 144 w 240"/>
                <a:gd name="T25" fmla="*/ 141 h 416"/>
                <a:gd name="T26" fmla="*/ 163 w 240"/>
                <a:gd name="T27" fmla="*/ 160 h 416"/>
                <a:gd name="T28" fmla="*/ 175 w 240"/>
                <a:gd name="T29" fmla="*/ 189 h 416"/>
                <a:gd name="T30" fmla="*/ 188 w 240"/>
                <a:gd name="T31" fmla="*/ 243 h 416"/>
                <a:gd name="T32" fmla="*/ 192 w 240"/>
                <a:gd name="T33" fmla="*/ 251 h 416"/>
                <a:gd name="T34" fmla="*/ 205 w 240"/>
                <a:gd name="T35" fmla="*/ 260 h 416"/>
                <a:gd name="T36" fmla="*/ 225 w 240"/>
                <a:gd name="T37" fmla="*/ 264 h 416"/>
                <a:gd name="T38" fmla="*/ 240 w 240"/>
                <a:gd name="T39" fmla="*/ 300 h 416"/>
                <a:gd name="T40" fmla="*/ 135 w 240"/>
                <a:gd name="T41" fmla="*/ 352 h 416"/>
                <a:gd name="T42" fmla="*/ 144 w 240"/>
                <a:gd name="T43" fmla="*/ 352 h 416"/>
                <a:gd name="T44" fmla="*/ 144 w 240"/>
                <a:gd name="T45" fmla="*/ 416 h 416"/>
                <a:gd name="T46" fmla="*/ 134 w 240"/>
                <a:gd name="T47" fmla="*/ 415 h 416"/>
                <a:gd name="T48" fmla="*/ 125 w 240"/>
                <a:gd name="T49" fmla="*/ 409 h 416"/>
                <a:gd name="T50" fmla="*/ 118 w 240"/>
                <a:gd name="T51" fmla="*/ 403 h 416"/>
                <a:gd name="T52" fmla="*/ 112 w 240"/>
                <a:gd name="T53" fmla="*/ 392 h 416"/>
                <a:gd name="T54" fmla="*/ 112 w 240"/>
                <a:gd name="T55" fmla="*/ 386 h 416"/>
                <a:gd name="T56" fmla="*/ 114 w 240"/>
                <a:gd name="T57" fmla="*/ 374 h 416"/>
                <a:gd name="T58" fmla="*/ 121 w 240"/>
                <a:gd name="T59" fmla="*/ 363 h 416"/>
                <a:gd name="T60" fmla="*/ 130 w 240"/>
                <a:gd name="T61" fmla="*/ 355 h 416"/>
                <a:gd name="T62" fmla="*/ 135 w 240"/>
                <a:gd name="T63" fmla="*/ 352 h 416"/>
                <a:gd name="T64" fmla="*/ 144 w 240"/>
                <a:gd name="T65" fmla="*/ 141 h 416"/>
                <a:gd name="T66" fmla="*/ 122 w 240"/>
                <a:gd name="T67" fmla="*/ 130 h 416"/>
                <a:gd name="T68" fmla="*/ 98 w 240"/>
                <a:gd name="T69" fmla="*/ 126 h 416"/>
                <a:gd name="T70" fmla="*/ 69 w 240"/>
                <a:gd name="T71" fmla="*/ 19 h 416"/>
                <a:gd name="T72" fmla="*/ 65 w 240"/>
                <a:gd name="T73" fmla="*/ 10 h 416"/>
                <a:gd name="T74" fmla="*/ 58 w 240"/>
                <a:gd name="T75" fmla="*/ 4 h 416"/>
                <a:gd name="T76" fmla="*/ 49 w 240"/>
                <a:gd name="T77" fmla="*/ 0 h 416"/>
                <a:gd name="T78" fmla="*/ 39 w 240"/>
                <a:gd name="T79" fmla="*/ 2 h 416"/>
                <a:gd name="T80" fmla="*/ 34 w 240"/>
                <a:gd name="T81" fmla="*/ 3 h 416"/>
                <a:gd name="T82" fmla="*/ 26 w 240"/>
                <a:gd name="T83" fmla="*/ 10 h 416"/>
                <a:gd name="T84" fmla="*/ 22 w 240"/>
                <a:gd name="T85" fmla="*/ 18 h 416"/>
                <a:gd name="T86" fmla="*/ 20 w 240"/>
                <a:gd name="T87" fmla="*/ 27 h 416"/>
                <a:gd name="T88" fmla="*/ 49 w 240"/>
                <a:gd name="T89" fmla="*/ 139 h 416"/>
                <a:gd name="T90" fmla="*/ 38 w 240"/>
                <a:gd name="T91" fmla="*/ 145 h 416"/>
                <a:gd name="T92" fmla="*/ 20 w 240"/>
                <a:gd name="T93" fmla="*/ 164 h 416"/>
                <a:gd name="T94" fmla="*/ 11 w 240"/>
                <a:gd name="T95" fmla="*/ 187 h 416"/>
                <a:gd name="T96" fmla="*/ 8 w 240"/>
                <a:gd name="T97" fmla="*/ 216 h 416"/>
                <a:gd name="T98" fmla="*/ 11 w 240"/>
                <a:gd name="T99" fmla="*/ 232 h 416"/>
                <a:gd name="T100" fmla="*/ 26 w 240"/>
                <a:gd name="T101" fmla="*/ 285 h 416"/>
                <a:gd name="T102" fmla="*/ 26 w 240"/>
                <a:gd name="T103" fmla="*/ 294 h 416"/>
                <a:gd name="T104" fmla="*/ 20 w 240"/>
                <a:gd name="T105" fmla="*/ 308 h 416"/>
                <a:gd name="T106" fmla="*/ 5 w 240"/>
                <a:gd name="T107" fmla="*/ 321 h 416"/>
                <a:gd name="T108" fmla="*/ 10 w 240"/>
                <a:gd name="T109" fmla="*/ 361 h 416"/>
                <a:gd name="T110" fmla="*/ 144 w 240"/>
                <a:gd name="T111" fmla="*/ 14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5" y="375"/>
                  </a:lnTo>
                  <a:lnTo>
                    <a:pt x="176" y="382"/>
                  </a:lnTo>
                  <a:lnTo>
                    <a:pt x="176" y="389"/>
                  </a:lnTo>
                  <a:lnTo>
                    <a:pt x="175" y="394"/>
                  </a:lnTo>
                  <a:lnTo>
                    <a:pt x="172" y="400"/>
                  </a:lnTo>
                  <a:lnTo>
                    <a:pt x="168" y="405"/>
                  </a:lnTo>
                  <a:lnTo>
                    <a:pt x="164" y="409"/>
                  </a:lnTo>
                  <a:lnTo>
                    <a:pt x="158" y="413"/>
                  </a:lnTo>
                  <a:lnTo>
                    <a:pt x="152" y="415"/>
                  </a:lnTo>
                  <a:lnTo>
                    <a:pt x="152" y="415"/>
                  </a:lnTo>
                  <a:lnTo>
                    <a:pt x="144" y="416"/>
                  </a:lnTo>
                  <a:lnTo>
                    <a:pt x="144" y="352"/>
                  </a:lnTo>
                  <a:lnTo>
                    <a:pt x="144" y="352"/>
                  </a:lnTo>
                  <a:close/>
                  <a:moveTo>
                    <a:pt x="144" y="325"/>
                  </a:moveTo>
                  <a:lnTo>
                    <a:pt x="144" y="141"/>
                  </a:lnTo>
                  <a:lnTo>
                    <a:pt x="144" y="141"/>
                  </a:lnTo>
                  <a:lnTo>
                    <a:pt x="154" y="149"/>
                  </a:lnTo>
                  <a:lnTo>
                    <a:pt x="163" y="160"/>
                  </a:lnTo>
                  <a:lnTo>
                    <a:pt x="169" y="174"/>
                  </a:lnTo>
                  <a:lnTo>
                    <a:pt x="175" y="189"/>
                  </a:lnTo>
                  <a:lnTo>
                    <a:pt x="175" y="189"/>
                  </a:lnTo>
                  <a:lnTo>
                    <a:pt x="188" y="243"/>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44" y="416"/>
                  </a:lnTo>
                  <a:lnTo>
                    <a:pt x="138" y="416"/>
                  </a:lnTo>
                  <a:lnTo>
                    <a:pt x="134" y="415"/>
                  </a:lnTo>
                  <a:lnTo>
                    <a:pt x="129" y="412"/>
                  </a:lnTo>
                  <a:lnTo>
                    <a:pt x="125" y="409"/>
                  </a:lnTo>
                  <a:lnTo>
                    <a:pt x="121" y="407"/>
                  </a:lnTo>
                  <a:lnTo>
                    <a:pt x="118" y="403"/>
                  </a:lnTo>
                  <a:lnTo>
                    <a:pt x="115" y="397"/>
                  </a:lnTo>
                  <a:lnTo>
                    <a:pt x="112" y="392"/>
                  </a:lnTo>
                  <a:lnTo>
                    <a:pt x="112" y="392"/>
                  </a:lnTo>
                  <a:lnTo>
                    <a:pt x="112" y="386"/>
                  </a:lnTo>
                  <a:lnTo>
                    <a:pt x="112" y="380"/>
                  </a:lnTo>
                  <a:lnTo>
                    <a:pt x="114" y="374"/>
                  </a:lnTo>
                  <a:lnTo>
                    <a:pt x="117" y="367"/>
                  </a:lnTo>
                  <a:lnTo>
                    <a:pt x="121" y="363"/>
                  </a:lnTo>
                  <a:lnTo>
                    <a:pt x="125" y="359"/>
                  </a:lnTo>
                  <a:lnTo>
                    <a:pt x="130" y="355"/>
                  </a:lnTo>
                  <a:lnTo>
                    <a:pt x="135" y="352"/>
                  </a:lnTo>
                  <a:lnTo>
                    <a:pt x="135" y="352"/>
                  </a:lnTo>
                  <a:close/>
                  <a:moveTo>
                    <a:pt x="144" y="141"/>
                  </a:moveTo>
                  <a:lnTo>
                    <a:pt x="144" y="141"/>
                  </a:lnTo>
                  <a:lnTo>
                    <a:pt x="133" y="134"/>
                  </a:lnTo>
                  <a:lnTo>
                    <a:pt x="122" y="130"/>
                  </a:lnTo>
                  <a:lnTo>
                    <a:pt x="110" y="128"/>
                  </a:lnTo>
                  <a:lnTo>
                    <a:pt x="98" y="126"/>
                  </a:lnTo>
                  <a:lnTo>
                    <a:pt x="69" y="19"/>
                  </a:lnTo>
                  <a:lnTo>
                    <a:pt x="69" y="19"/>
                  </a:lnTo>
                  <a:lnTo>
                    <a:pt x="68" y="15"/>
                  </a:lnTo>
                  <a:lnTo>
                    <a:pt x="65" y="10"/>
                  </a:lnTo>
                  <a:lnTo>
                    <a:pt x="61" y="7"/>
                  </a:lnTo>
                  <a:lnTo>
                    <a:pt x="58" y="4"/>
                  </a:lnTo>
                  <a:lnTo>
                    <a:pt x="53" y="2"/>
                  </a:lnTo>
                  <a:lnTo>
                    <a:pt x="49" y="0"/>
                  </a:lnTo>
                  <a:lnTo>
                    <a:pt x="43" y="0"/>
                  </a:lnTo>
                  <a:lnTo>
                    <a:pt x="39" y="2"/>
                  </a:lnTo>
                  <a:lnTo>
                    <a:pt x="39" y="2"/>
                  </a:lnTo>
                  <a:lnTo>
                    <a:pt x="34" y="3"/>
                  </a:lnTo>
                  <a:lnTo>
                    <a:pt x="30" y="6"/>
                  </a:lnTo>
                  <a:lnTo>
                    <a:pt x="26" y="10"/>
                  </a:lnTo>
                  <a:lnTo>
                    <a:pt x="23" y="13"/>
                  </a:lnTo>
                  <a:lnTo>
                    <a:pt x="22" y="18"/>
                  </a:lnTo>
                  <a:lnTo>
                    <a:pt x="20" y="22"/>
                  </a:lnTo>
                  <a:lnTo>
                    <a:pt x="20" y="27"/>
                  </a:lnTo>
                  <a:lnTo>
                    <a:pt x="20" y="32"/>
                  </a:lnTo>
                  <a:lnTo>
                    <a:pt x="49" y="139"/>
                  </a:lnTo>
                  <a:lnTo>
                    <a:pt x="49" y="139"/>
                  </a:lnTo>
                  <a:lnTo>
                    <a:pt x="38" y="145"/>
                  </a:lnTo>
                  <a:lnTo>
                    <a:pt x="28" y="155"/>
                  </a:lnTo>
                  <a:lnTo>
                    <a:pt x="20" y="164"/>
                  </a:lnTo>
                  <a:lnTo>
                    <a:pt x="15" y="175"/>
                  </a:lnTo>
                  <a:lnTo>
                    <a:pt x="11" y="187"/>
                  </a:lnTo>
                  <a:lnTo>
                    <a:pt x="8" y="201"/>
                  </a:lnTo>
                  <a:lnTo>
                    <a:pt x="8" y="216"/>
                  </a:lnTo>
                  <a:lnTo>
                    <a:pt x="11" y="232"/>
                  </a:lnTo>
                  <a:lnTo>
                    <a:pt x="11" y="232"/>
                  </a:lnTo>
                  <a:lnTo>
                    <a:pt x="26" y="285"/>
                  </a:lnTo>
                  <a:lnTo>
                    <a:pt x="26" y="285"/>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chemeClr val="accent4"/>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9" name="Freeform 152"/>
            <p:cNvSpPr>
              <a:spLocks noEditPoints="1"/>
            </p:cNvSpPr>
            <p:nvPr/>
          </p:nvSpPr>
          <p:spPr bwMode="auto">
            <a:xfrm>
              <a:off x="2968512" y="2871510"/>
              <a:ext cx="546792" cy="596852"/>
            </a:xfrm>
            <a:custGeom>
              <a:avLst/>
              <a:gdLst>
                <a:gd name="T0" fmla="*/ 268 w 345"/>
                <a:gd name="T1" fmla="*/ 172 h 375"/>
                <a:gd name="T2" fmla="*/ 258 w 345"/>
                <a:gd name="T3" fmla="*/ 130 h 375"/>
                <a:gd name="T4" fmla="*/ 264 w 345"/>
                <a:gd name="T5" fmla="*/ 252 h 375"/>
                <a:gd name="T6" fmla="*/ 296 w 345"/>
                <a:gd name="T7" fmla="*/ 291 h 375"/>
                <a:gd name="T8" fmla="*/ 281 w 345"/>
                <a:gd name="T9" fmla="*/ 295 h 375"/>
                <a:gd name="T10" fmla="*/ 281 w 345"/>
                <a:gd name="T11" fmla="*/ 50 h 375"/>
                <a:gd name="T12" fmla="*/ 296 w 345"/>
                <a:gd name="T13" fmla="*/ 53 h 375"/>
                <a:gd name="T14" fmla="*/ 264 w 345"/>
                <a:gd name="T15" fmla="*/ 94 h 375"/>
                <a:gd name="T16" fmla="*/ 284 w 345"/>
                <a:gd name="T17" fmla="*/ 172 h 375"/>
                <a:gd name="T18" fmla="*/ 336 w 345"/>
                <a:gd name="T19" fmla="*/ 164 h 375"/>
                <a:gd name="T20" fmla="*/ 344 w 345"/>
                <a:gd name="T21" fmla="*/ 176 h 375"/>
                <a:gd name="T22" fmla="*/ 289 w 345"/>
                <a:gd name="T23" fmla="*/ 180 h 375"/>
                <a:gd name="T24" fmla="*/ 173 w 345"/>
                <a:gd name="T25" fmla="*/ 77 h 375"/>
                <a:gd name="T26" fmla="*/ 243 w 345"/>
                <a:gd name="T27" fmla="*/ 108 h 375"/>
                <a:gd name="T28" fmla="*/ 245 w 345"/>
                <a:gd name="T29" fmla="*/ 236 h 375"/>
                <a:gd name="T30" fmla="*/ 222 w 345"/>
                <a:gd name="T31" fmla="*/ 345 h 375"/>
                <a:gd name="T32" fmla="*/ 178 w 345"/>
                <a:gd name="T33" fmla="*/ 375 h 375"/>
                <a:gd name="T34" fmla="*/ 207 w 345"/>
                <a:gd name="T35" fmla="*/ 242 h 375"/>
                <a:gd name="T36" fmla="*/ 238 w 345"/>
                <a:gd name="T37" fmla="*/ 211 h 375"/>
                <a:gd name="T38" fmla="*/ 248 w 345"/>
                <a:gd name="T39" fmla="*/ 157 h 375"/>
                <a:gd name="T40" fmla="*/ 203 w 345"/>
                <a:gd name="T41" fmla="*/ 103 h 375"/>
                <a:gd name="T42" fmla="*/ 173 w 345"/>
                <a:gd name="T43" fmla="*/ 77 h 375"/>
                <a:gd name="T44" fmla="*/ 250 w 345"/>
                <a:gd name="T45" fmla="*/ 91 h 375"/>
                <a:gd name="T46" fmla="*/ 258 w 345"/>
                <a:gd name="T47" fmla="*/ 73 h 375"/>
                <a:gd name="T48" fmla="*/ 250 w 345"/>
                <a:gd name="T49" fmla="*/ 255 h 375"/>
                <a:gd name="T50" fmla="*/ 258 w 345"/>
                <a:gd name="T51" fmla="*/ 249 h 375"/>
                <a:gd name="T52" fmla="*/ 180 w 345"/>
                <a:gd name="T53" fmla="*/ 6 h 375"/>
                <a:gd name="T54" fmla="*/ 176 w 345"/>
                <a:gd name="T55" fmla="*/ 60 h 375"/>
                <a:gd name="T56" fmla="*/ 157 w 345"/>
                <a:gd name="T57" fmla="*/ 374 h 375"/>
                <a:gd name="T58" fmla="*/ 120 w 345"/>
                <a:gd name="T59" fmla="*/ 337 h 375"/>
                <a:gd name="T60" fmla="*/ 93 w 345"/>
                <a:gd name="T61" fmla="*/ 224 h 375"/>
                <a:gd name="T62" fmla="*/ 111 w 345"/>
                <a:gd name="T63" fmla="*/ 100 h 375"/>
                <a:gd name="T64" fmla="*/ 173 w 345"/>
                <a:gd name="T65" fmla="*/ 96 h 375"/>
                <a:gd name="T66" fmla="*/ 119 w 345"/>
                <a:gd name="T67" fmla="*/ 119 h 375"/>
                <a:gd name="T68" fmla="*/ 97 w 345"/>
                <a:gd name="T69" fmla="*/ 183 h 375"/>
                <a:gd name="T70" fmla="*/ 126 w 345"/>
                <a:gd name="T71" fmla="*/ 232 h 375"/>
                <a:gd name="T72" fmla="*/ 139 w 345"/>
                <a:gd name="T73" fmla="*/ 290 h 375"/>
                <a:gd name="T74" fmla="*/ 173 w 345"/>
                <a:gd name="T75" fmla="*/ 60 h 375"/>
                <a:gd name="T76" fmla="*/ 164 w 345"/>
                <a:gd name="T77" fmla="*/ 54 h 375"/>
                <a:gd name="T78" fmla="*/ 169 w 345"/>
                <a:gd name="T79" fmla="*/ 0 h 375"/>
                <a:gd name="T80" fmla="*/ 93 w 345"/>
                <a:gd name="T81" fmla="*/ 264 h 375"/>
                <a:gd name="T82" fmla="*/ 93 w 345"/>
                <a:gd name="T83" fmla="*/ 252 h 375"/>
                <a:gd name="T84" fmla="*/ 86 w 345"/>
                <a:gd name="T85" fmla="*/ 96 h 375"/>
                <a:gd name="T86" fmla="*/ 94 w 345"/>
                <a:gd name="T87" fmla="*/ 84 h 375"/>
                <a:gd name="T88" fmla="*/ 82 w 345"/>
                <a:gd name="T89" fmla="*/ 203 h 375"/>
                <a:gd name="T90" fmla="*/ 80 w 345"/>
                <a:gd name="T91" fmla="*/ 152 h 375"/>
                <a:gd name="T92" fmla="*/ 86 w 345"/>
                <a:gd name="T93" fmla="*/ 96 h 375"/>
                <a:gd name="T94" fmla="*/ 50 w 345"/>
                <a:gd name="T95" fmla="*/ 64 h 375"/>
                <a:gd name="T96" fmla="*/ 53 w 345"/>
                <a:gd name="T97" fmla="*/ 49 h 375"/>
                <a:gd name="T98" fmla="*/ 86 w 345"/>
                <a:gd name="T99" fmla="*/ 249 h 375"/>
                <a:gd name="T100" fmla="*/ 53 w 345"/>
                <a:gd name="T101" fmla="*/ 297 h 375"/>
                <a:gd name="T102" fmla="*/ 50 w 345"/>
                <a:gd name="T103" fmla="*/ 282 h 375"/>
                <a:gd name="T104" fmla="*/ 86 w 345"/>
                <a:gd name="T105" fmla="*/ 249 h 375"/>
                <a:gd name="T106" fmla="*/ 57 w 345"/>
                <a:gd name="T107" fmla="*/ 167 h 375"/>
                <a:gd name="T108" fmla="*/ 54 w 345"/>
                <a:gd name="T109" fmla="*/ 180 h 375"/>
                <a:gd name="T110" fmla="*/ 0 w 345"/>
                <a:gd name="T111" fmla="*/ 176 h 375"/>
                <a:gd name="T112" fmla="*/ 8 w 345"/>
                <a:gd name="T113" fmla="*/ 1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5" h="375">
                  <a:moveTo>
                    <a:pt x="258" y="130"/>
                  </a:moveTo>
                  <a:lnTo>
                    <a:pt x="258" y="130"/>
                  </a:lnTo>
                  <a:lnTo>
                    <a:pt x="262" y="141"/>
                  </a:lnTo>
                  <a:lnTo>
                    <a:pt x="266" y="150"/>
                  </a:lnTo>
                  <a:lnTo>
                    <a:pt x="268" y="161"/>
                  </a:lnTo>
                  <a:lnTo>
                    <a:pt x="268" y="172"/>
                  </a:lnTo>
                  <a:lnTo>
                    <a:pt x="268" y="172"/>
                  </a:lnTo>
                  <a:lnTo>
                    <a:pt x="268" y="184"/>
                  </a:lnTo>
                  <a:lnTo>
                    <a:pt x="266" y="194"/>
                  </a:lnTo>
                  <a:lnTo>
                    <a:pt x="262" y="205"/>
                  </a:lnTo>
                  <a:lnTo>
                    <a:pt x="258" y="214"/>
                  </a:lnTo>
                  <a:lnTo>
                    <a:pt x="258" y="130"/>
                  </a:lnTo>
                  <a:lnTo>
                    <a:pt x="258" y="130"/>
                  </a:lnTo>
                  <a:close/>
                  <a:moveTo>
                    <a:pt x="258" y="272"/>
                  </a:moveTo>
                  <a:lnTo>
                    <a:pt x="258" y="249"/>
                  </a:lnTo>
                  <a:lnTo>
                    <a:pt x="258" y="249"/>
                  </a:lnTo>
                  <a:lnTo>
                    <a:pt x="261" y="251"/>
                  </a:lnTo>
                  <a:lnTo>
                    <a:pt x="264" y="252"/>
                  </a:lnTo>
                  <a:lnTo>
                    <a:pt x="264" y="252"/>
                  </a:lnTo>
                  <a:lnTo>
                    <a:pt x="295" y="282"/>
                  </a:lnTo>
                  <a:lnTo>
                    <a:pt x="295" y="282"/>
                  </a:lnTo>
                  <a:lnTo>
                    <a:pt x="296" y="286"/>
                  </a:lnTo>
                  <a:lnTo>
                    <a:pt x="296" y="289"/>
                  </a:lnTo>
                  <a:lnTo>
                    <a:pt x="296" y="291"/>
                  </a:lnTo>
                  <a:lnTo>
                    <a:pt x="295" y="295"/>
                  </a:lnTo>
                  <a:lnTo>
                    <a:pt x="295" y="295"/>
                  </a:lnTo>
                  <a:lnTo>
                    <a:pt x="291" y="297"/>
                  </a:lnTo>
                  <a:lnTo>
                    <a:pt x="288" y="298"/>
                  </a:lnTo>
                  <a:lnTo>
                    <a:pt x="284" y="297"/>
                  </a:lnTo>
                  <a:lnTo>
                    <a:pt x="281" y="295"/>
                  </a:lnTo>
                  <a:lnTo>
                    <a:pt x="258" y="272"/>
                  </a:lnTo>
                  <a:lnTo>
                    <a:pt x="258" y="272"/>
                  </a:lnTo>
                  <a:close/>
                  <a:moveTo>
                    <a:pt x="258" y="96"/>
                  </a:moveTo>
                  <a:lnTo>
                    <a:pt x="258" y="73"/>
                  </a:lnTo>
                  <a:lnTo>
                    <a:pt x="281" y="50"/>
                  </a:lnTo>
                  <a:lnTo>
                    <a:pt x="281" y="50"/>
                  </a:lnTo>
                  <a:lnTo>
                    <a:pt x="284" y="49"/>
                  </a:lnTo>
                  <a:lnTo>
                    <a:pt x="288" y="48"/>
                  </a:lnTo>
                  <a:lnTo>
                    <a:pt x="291" y="49"/>
                  </a:lnTo>
                  <a:lnTo>
                    <a:pt x="295" y="50"/>
                  </a:lnTo>
                  <a:lnTo>
                    <a:pt x="295" y="50"/>
                  </a:lnTo>
                  <a:lnTo>
                    <a:pt x="296" y="53"/>
                  </a:lnTo>
                  <a:lnTo>
                    <a:pt x="296" y="57"/>
                  </a:lnTo>
                  <a:lnTo>
                    <a:pt x="296" y="60"/>
                  </a:lnTo>
                  <a:lnTo>
                    <a:pt x="295" y="64"/>
                  </a:lnTo>
                  <a:lnTo>
                    <a:pt x="264" y="94"/>
                  </a:lnTo>
                  <a:lnTo>
                    <a:pt x="264" y="94"/>
                  </a:lnTo>
                  <a:lnTo>
                    <a:pt x="264" y="94"/>
                  </a:lnTo>
                  <a:lnTo>
                    <a:pt x="261" y="95"/>
                  </a:lnTo>
                  <a:lnTo>
                    <a:pt x="258" y="96"/>
                  </a:lnTo>
                  <a:lnTo>
                    <a:pt x="258" y="96"/>
                  </a:lnTo>
                  <a:close/>
                  <a:moveTo>
                    <a:pt x="284" y="172"/>
                  </a:moveTo>
                  <a:lnTo>
                    <a:pt x="284" y="172"/>
                  </a:lnTo>
                  <a:lnTo>
                    <a:pt x="284" y="172"/>
                  </a:lnTo>
                  <a:lnTo>
                    <a:pt x="285" y="169"/>
                  </a:lnTo>
                  <a:lnTo>
                    <a:pt x="287" y="167"/>
                  </a:lnTo>
                  <a:lnTo>
                    <a:pt x="289" y="164"/>
                  </a:lnTo>
                  <a:lnTo>
                    <a:pt x="294" y="164"/>
                  </a:lnTo>
                  <a:lnTo>
                    <a:pt x="336" y="164"/>
                  </a:lnTo>
                  <a:lnTo>
                    <a:pt x="336" y="164"/>
                  </a:lnTo>
                  <a:lnTo>
                    <a:pt x="340" y="164"/>
                  </a:lnTo>
                  <a:lnTo>
                    <a:pt x="342" y="167"/>
                  </a:lnTo>
                  <a:lnTo>
                    <a:pt x="344" y="169"/>
                  </a:lnTo>
                  <a:lnTo>
                    <a:pt x="345" y="172"/>
                  </a:lnTo>
                  <a:lnTo>
                    <a:pt x="345" y="172"/>
                  </a:lnTo>
                  <a:lnTo>
                    <a:pt x="344" y="176"/>
                  </a:lnTo>
                  <a:lnTo>
                    <a:pt x="342" y="179"/>
                  </a:lnTo>
                  <a:lnTo>
                    <a:pt x="340" y="180"/>
                  </a:lnTo>
                  <a:lnTo>
                    <a:pt x="336" y="182"/>
                  </a:lnTo>
                  <a:lnTo>
                    <a:pt x="294" y="182"/>
                  </a:lnTo>
                  <a:lnTo>
                    <a:pt x="294" y="182"/>
                  </a:lnTo>
                  <a:lnTo>
                    <a:pt x="289" y="180"/>
                  </a:lnTo>
                  <a:lnTo>
                    <a:pt x="287" y="179"/>
                  </a:lnTo>
                  <a:lnTo>
                    <a:pt x="285" y="176"/>
                  </a:lnTo>
                  <a:lnTo>
                    <a:pt x="284" y="172"/>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8" y="214"/>
                  </a:lnTo>
                  <a:lnTo>
                    <a:pt x="252" y="225"/>
                  </a:lnTo>
                  <a:lnTo>
                    <a:pt x="245" y="236"/>
                  </a:lnTo>
                  <a:lnTo>
                    <a:pt x="235" y="245"/>
                  </a:lnTo>
                  <a:lnTo>
                    <a:pt x="224" y="252"/>
                  </a:lnTo>
                  <a:lnTo>
                    <a:pt x="224" y="328"/>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6" y="247"/>
                  </a:lnTo>
                  <a:lnTo>
                    <a:pt x="207" y="242"/>
                  </a:lnTo>
                  <a:lnTo>
                    <a:pt x="211" y="238"/>
                  </a:lnTo>
                  <a:lnTo>
                    <a:pt x="211" y="238"/>
                  </a:lnTo>
                  <a:lnTo>
                    <a:pt x="219" y="233"/>
                  </a:lnTo>
                  <a:lnTo>
                    <a:pt x="226" y="226"/>
                  </a:lnTo>
                  <a:lnTo>
                    <a:pt x="233" y="219"/>
                  </a:lnTo>
                  <a:lnTo>
                    <a:pt x="238" y="211"/>
                  </a:lnTo>
                  <a:lnTo>
                    <a:pt x="242" y="202"/>
                  </a:lnTo>
                  <a:lnTo>
                    <a:pt x="246" y="192"/>
                  </a:lnTo>
                  <a:lnTo>
                    <a:pt x="248" y="183"/>
                  </a:lnTo>
                  <a:lnTo>
                    <a:pt x="249" y="172"/>
                  </a:lnTo>
                  <a:lnTo>
                    <a:pt x="249" y="172"/>
                  </a:lnTo>
                  <a:lnTo>
                    <a:pt x="248" y="157"/>
                  </a:lnTo>
                  <a:lnTo>
                    <a:pt x="242" y="144"/>
                  </a:lnTo>
                  <a:lnTo>
                    <a:pt x="235" y="130"/>
                  </a:lnTo>
                  <a:lnTo>
                    <a:pt x="226" y="119"/>
                  </a:lnTo>
                  <a:lnTo>
                    <a:pt x="226" y="119"/>
                  </a:lnTo>
                  <a:lnTo>
                    <a:pt x="215" y="110"/>
                  </a:lnTo>
                  <a:lnTo>
                    <a:pt x="203" y="103"/>
                  </a:lnTo>
                  <a:lnTo>
                    <a:pt x="188" y="99"/>
                  </a:lnTo>
                  <a:lnTo>
                    <a:pt x="173" y="96"/>
                  </a:lnTo>
                  <a:lnTo>
                    <a:pt x="173" y="96"/>
                  </a:lnTo>
                  <a:lnTo>
                    <a:pt x="173" y="77"/>
                  </a:lnTo>
                  <a:lnTo>
                    <a:pt x="173" y="77"/>
                  </a:lnTo>
                  <a:lnTo>
                    <a:pt x="173" y="77"/>
                  </a:lnTo>
                  <a:close/>
                  <a:moveTo>
                    <a:pt x="258" y="73"/>
                  </a:moveTo>
                  <a:lnTo>
                    <a:pt x="252" y="81"/>
                  </a:lnTo>
                  <a:lnTo>
                    <a:pt x="252" y="81"/>
                  </a:lnTo>
                  <a:lnTo>
                    <a:pt x="250" y="84"/>
                  </a:lnTo>
                  <a:lnTo>
                    <a:pt x="249" y="87"/>
                  </a:lnTo>
                  <a:lnTo>
                    <a:pt x="250" y="91"/>
                  </a:lnTo>
                  <a:lnTo>
                    <a:pt x="252" y="94"/>
                  </a:lnTo>
                  <a:lnTo>
                    <a:pt x="252" y="94"/>
                  </a:lnTo>
                  <a:lnTo>
                    <a:pt x="254" y="95"/>
                  </a:lnTo>
                  <a:lnTo>
                    <a:pt x="258" y="96"/>
                  </a:lnTo>
                  <a:lnTo>
                    <a:pt x="258" y="73"/>
                  </a:lnTo>
                  <a:lnTo>
                    <a:pt x="258" y="73"/>
                  </a:lnTo>
                  <a:close/>
                  <a:moveTo>
                    <a:pt x="258" y="249"/>
                  </a:moveTo>
                  <a:lnTo>
                    <a:pt x="258" y="249"/>
                  </a:lnTo>
                  <a:lnTo>
                    <a:pt x="254" y="251"/>
                  </a:lnTo>
                  <a:lnTo>
                    <a:pt x="252" y="252"/>
                  </a:lnTo>
                  <a:lnTo>
                    <a:pt x="252" y="252"/>
                  </a:lnTo>
                  <a:lnTo>
                    <a:pt x="250" y="255"/>
                  </a:lnTo>
                  <a:lnTo>
                    <a:pt x="249" y="259"/>
                  </a:lnTo>
                  <a:lnTo>
                    <a:pt x="250" y="261"/>
                  </a:lnTo>
                  <a:lnTo>
                    <a:pt x="252" y="264"/>
                  </a:lnTo>
                  <a:lnTo>
                    <a:pt x="258" y="272"/>
                  </a:lnTo>
                  <a:lnTo>
                    <a:pt x="258" y="249"/>
                  </a:lnTo>
                  <a:lnTo>
                    <a:pt x="258" y="249"/>
                  </a:lnTo>
                  <a:close/>
                  <a:moveTo>
                    <a:pt x="173" y="60"/>
                  </a:moveTo>
                  <a:lnTo>
                    <a:pt x="173" y="0"/>
                  </a:lnTo>
                  <a:lnTo>
                    <a:pt x="173" y="0"/>
                  </a:lnTo>
                  <a:lnTo>
                    <a:pt x="176" y="1"/>
                  </a:lnTo>
                  <a:lnTo>
                    <a:pt x="178" y="3"/>
                  </a:lnTo>
                  <a:lnTo>
                    <a:pt x="180" y="6"/>
                  </a:lnTo>
                  <a:lnTo>
                    <a:pt x="181" y="8"/>
                  </a:lnTo>
                  <a:lnTo>
                    <a:pt x="181" y="52"/>
                  </a:lnTo>
                  <a:lnTo>
                    <a:pt x="181" y="52"/>
                  </a:lnTo>
                  <a:lnTo>
                    <a:pt x="180" y="54"/>
                  </a:lnTo>
                  <a:lnTo>
                    <a:pt x="178" y="57"/>
                  </a:lnTo>
                  <a:lnTo>
                    <a:pt x="176" y="60"/>
                  </a:lnTo>
                  <a:lnTo>
                    <a:pt x="173" y="60"/>
                  </a:lnTo>
                  <a:lnTo>
                    <a:pt x="173" y="60"/>
                  </a:lnTo>
                  <a:close/>
                  <a:moveTo>
                    <a:pt x="173" y="375"/>
                  </a:moveTo>
                  <a:lnTo>
                    <a:pt x="166" y="375"/>
                  </a:lnTo>
                  <a:lnTo>
                    <a:pt x="166" y="375"/>
                  </a:lnTo>
                  <a:lnTo>
                    <a:pt x="157" y="374"/>
                  </a:lnTo>
                  <a:lnTo>
                    <a:pt x="147" y="371"/>
                  </a:lnTo>
                  <a:lnTo>
                    <a:pt x="139" y="367"/>
                  </a:lnTo>
                  <a:lnTo>
                    <a:pt x="132" y="360"/>
                  </a:lnTo>
                  <a:lnTo>
                    <a:pt x="127" y="354"/>
                  </a:lnTo>
                  <a:lnTo>
                    <a:pt x="123" y="345"/>
                  </a:lnTo>
                  <a:lnTo>
                    <a:pt x="120" y="337"/>
                  </a:lnTo>
                  <a:lnTo>
                    <a:pt x="119" y="328"/>
                  </a:lnTo>
                  <a:lnTo>
                    <a:pt x="119" y="252"/>
                  </a:lnTo>
                  <a:lnTo>
                    <a:pt x="119" y="252"/>
                  </a:lnTo>
                  <a:lnTo>
                    <a:pt x="109" y="244"/>
                  </a:lnTo>
                  <a:lnTo>
                    <a:pt x="100" y="234"/>
                  </a:lnTo>
                  <a:lnTo>
                    <a:pt x="93" y="224"/>
                  </a:lnTo>
                  <a:lnTo>
                    <a:pt x="86" y="213"/>
                  </a:lnTo>
                  <a:lnTo>
                    <a:pt x="86" y="131"/>
                  </a:lnTo>
                  <a:lnTo>
                    <a:pt x="86" y="131"/>
                  </a:lnTo>
                  <a:lnTo>
                    <a:pt x="93" y="121"/>
                  </a:lnTo>
                  <a:lnTo>
                    <a:pt x="101" y="110"/>
                  </a:lnTo>
                  <a:lnTo>
                    <a:pt x="111" y="100"/>
                  </a:lnTo>
                  <a:lnTo>
                    <a:pt x="122" y="92"/>
                  </a:lnTo>
                  <a:lnTo>
                    <a:pt x="132" y="85"/>
                  </a:lnTo>
                  <a:lnTo>
                    <a:pt x="146" y="81"/>
                  </a:lnTo>
                  <a:lnTo>
                    <a:pt x="158" y="79"/>
                  </a:lnTo>
                  <a:lnTo>
                    <a:pt x="173" y="77"/>
                  </a:lnTo>
                  <a:lnTo>
                    <a:pt x="173" y="96"/>
                  </a:lnTo>
                  <a:lnTo>
                    <a:pt x="173" y="96"/>
                  </a:lnTo>
                  <a:lnTo>
                    <a:pt x="158" y="99"/>
                  </a:lnTo>
                  <a:lnTo>
                    <a:pt x="143" y="103"/>
                  </a:lnTo>
                  <a:lnTo>
                    <a:pt x="131" y="110"/>
                  </a:lnTo>
                  <a:lnTo>
                    <a:pt x="119" y="119"/>
                  </a:lnTo>
                  <a:lnTo>
                    <a:pt x="119" y="119"/>
                  </a:lnTo>
                  <a:lnTo>
                    <a:pt x="109" y="130"/>
                  </a:lnTo>
                  <a:lnTo>
                    <a:pt x="103" y="144"/>
                  </a:lnTo>
                  <a:lnTo>
                    <a:pt x="99" y="157"/>
                  </a:lnTo>
                  <a:lnTo>
                    <a:pt x="97" y="172"/>
                  </a:lnTo>
                  <a:lnTo>
                    <a:pt x="97" y="172"/>
                  </a:lnTo>
                  <a:lnTo>
                    <a:pt x="97" y="183"/>
                  </a:lnTo>
                  <a:lnTo>
                    <a:pt x="100" y="192"/>
                  </a:lnTo>
                  <a:lnTo>
                    <a:pt x="103" y="202"/>
                  </a:lnTo>
                  <a:lnTo>
                    <a:pt x="107" y="210"/>
                  </a:lnTo>
                  <a:lnTo>
                    <a:pt x="112" y="218"/>
                  </a:lnTo>
                  <a:lnTo>
                    <a:pt x="119" y="226"/>
                  </a:lnTo>
                  <a:lnTo>
                    <a:pt x="126" y="232"/>
                  </a:lnTo>
                  <a:lnTo>
                    <a:pt x="134" y="237"/>
                  </a:lnTo>
                  <a:lnTo>
                    <a:pt x="134" y="237"/>
                  </a:lnTo>
                  <a:lnTo>
                    <a:pt x="134" y="237"/>
                  </a:lnTo>
                  <a:lnTo>
                    <a:pt x="138" y="241"/>
                  </a:lnTo>
                  <a:lnTo>
                    <a:pt x="139" y="247"/>
                  </a:lnTo>
                  <a:lnTo>
                    <a:pt x="139" y="290"/>
                  </a:lnTo>
                  <a:lnTo>
                    <a:pt x="173" y="290"/>
                  </a:lnTo>
                  <a:lnTo>
                    <a:pt x="173" y="375"/>
                  </a:lnTo>
                  <a:lnTo>
                    <a:pt x="173" y="375"/>
                  </a:lnTo>
                  <a:close/>
                  <a:moveTo>
                    <a:pt x="173" y="0"/>
                  </a:moveTo>
                  <a:lnTo>
                    <a:pt x="173" y="60"/>
                  </a:lnTo>
                  <a:lnTo>
                    <a:pt x="173" y="60"/>
                  </a:lnTo>
                  <a:lnTo>
                    <a:pt x="172" y="60"/>
                  </a:lnTo>
                  <a:lnTo>
                    <a:pt x="172" y="60"/>
                  </a:lnTo>
                  <a:lnTo>
                    <a:pt x="172" y="60"/>
                  </a:lnTo>
                  <a:lnTo>
                    <a:pt x="169" y="60"/>
                  </a:lnTo>
                  <a:lnTo>
                    <a:pt x="166" y="58"/>
                  </a:lnTo>
                  <a:lnTo>
                    <a:pt x="164" y="54"/>
                  </a:lnTo>
                  <a:lnTo>
                    <a:pt x="164" y="52"/>
                  </a:lnTo>
                  <a:lnTo>
                    <a:pt x="164" y="8"/>
                  </a:lnTo>
                  <a:lnTo>
                    <a:pt x="164" y="8"/>
                  </a:lnTo>
                  <a:lnTo>
                    <a:pt x="164" y="6"/>
                  </a:lnTo>
                  <a:lnTo>
                    <a:pt x="166" y="3"/>
                  </a:lnTo>
                  <a:lnTo>
                    <a:pt x="169" y="0"/>
                  </a:lnTo>
                  <a:lnTo>
                    <a:pt x="172" y="0"/>
                  </a:lnTo>
                  <a:lnTo>
                    <a:pt x="172" y="0"/>
                  </a:lnTo>
                  <a:lnTo>
                    <a:pt x="173" y="0"/>
                  </a:lnTo>
                  <a:lnTo>
                    <a:pt x="173" y="0"/>
                  </a:lnTo>
                  <a:close/>
                  <a:moveTo>
                    <a:pt x="86" y="271"/>
                  </a:moveTo>
                  <a:lnTo>
                    <a:pt x="93" y="264"/>
                  </a:lnTo>
                  <a:lnTo>
                    <a:pt x="93" y="264"/>
                  </a:lnTo>
                  <a:lnTo>
                    <a:pt x="94" y="261"/>
                  </a:lnTo>
                  <a:lnTo>
                    <a:pt x="96" y="259"/>
                  </a:lnTo>
                  <a:lnTo>
                    <a:pt x="94" y="255"/>
                  </a:lnTo>
                  <a:lnTo>
                    <a:pt x="93" y="252"/>
                  </a:lnTo>
                  <a:lnTo>
                    <a:pt x="93" y="252"/>
                  </a:lnTo>
                  <a:lnTo>
                    <a:pt x="90" y="251"/>
                  </a:lnTo>
                  <a:lnTo>
                    <a:pt x="86" y="249"/>
                  </a:lnTo>
                  <a:lnTo>
                    <a:pt x="86" y="271"/>
                  </a:lnTo>
                  <a:lnTo>
                    <a:pt x="86" y="271"/>
                  </a:lnTo>
                  <a:close/>
                  <a:moveTo>
                    <a:pt x="86" y="96"/>
                  </a:moveTo>
                  <a:lnTo>
                    <a:pt x="86" y="96"/>
                  </a:lnTo>
                  <a:lnTo>
                    <a:pt x="90" y="95"/>
                  </a:lnTo>
                  <a:lnTo>
                    <a:pt x="93" y="94"/>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7" y="172"/>
                  </a:lnTo>
                  <a:lnTo>
                    <a:pt x="78" y="161"/>
                  </a:lnTo>
                  <a:lnTo>
                    <a:pt x="80" y="152"/>
                  </a:lnTo>
                  <a:lnTo>
                    <a:pt x="82" y="141"/>
                  </a:lnTo>
                  <a:lnTo>
                    <a:pt x="86" y="131"/>
                  </a:lnTo>
                  <a:lnTo>
                    <a:pt x="86" y="213"/>
                  </a:lnTo>
                  <a:lnTo>
                    <a:pt x="86" y="213"/>
                  </a:lnTo>
                  <a:close/>
                  <a:moveTo>
                    <a:pt x="86" y="75"/>
                  </a:moveTo>
                  <a:lnTo>
                    <a:pt x="86" y="96"/>
                  </a:lnTo>
                  <a:lnTo>
                    <a:pt x="86" y="96"/>
                  </a:lnTo>
                  <a:lnTo>
                    <a:pt x="84" y="95"/>
                  </a:lnTo>
                  <a:lnTo>
                    <a:pt x="80" y="94"/>
                  </a:lnTo>
                  <a:lnTo>
                    <a:pt x="80" y="94"/>
                  </a:lnTo>
                  <a:lnTo>
                    <a:pt x="50" y="64"/>
                  </a:lnTo>
                  <a:lnTo>
                    <a:pt x="50" y="64"/>
                  </a:lnTo>
                  <a:lnTo>
                    <a:pt x="48" y="60"/>
                  </a:lnTo>
                  <a:lnTo>
                    <a:pt x="47" y="57"/>
                  </a:lnTo>
                  <a:lnTo>
                    <a:pt x="48" y="53"/>
                  </a:lnTo>
                  <a:lnTo>
                    <a:pt x="50" y="50"/>
                  </a:lnTo>
                  <a:lnTo>
                    <a:pt x="50" y="50"/>
                  </a:lnTo>
                  <a:lnTo>
                    <a:pt x="53" y="49"/>
                  </a:lnTo>
                  <a:lnTo>
                    <a:pt x="57" y="48"/>
                  </a:lnTo>
                  <a:lnTo>
                    <a:pt x="59" y="49"/>
                  </a:lnTo>
                  <a:lnTo>
                    <a:pt x="62" y="50"/>
                  </a:lnTo>
                  <a:lnTo>
                    <a:pt x="86" y="75"/>
                  </a:lnTo>
                  <a:lnTo>
                    <a:pt x="86" y="75"/>
                  </a:lnTo>
                  <a:close/>
                  <a:moveTo>
                    <a:pt x="86" y="249"/>
                  </a:moveTo>
                  <a:lnTo>
                    <a:pt x="86" y="271"/>
                  </a:lnTo>
                  <a:lnTo>
                    <a:pt x="62" y="295"/>
                  </a:lnTo>
                  <a:lnTo>
                    <a:pt x="62" y="295"/>
                  </a:lnTo>
                  <a:lnTo>
                    <a:pt x="59" y="297"/>
                  </a:lnTo>
                  <a:lnTo>
                    <a:pt x="57" y="298"/>
                  </a:lnTo>
                  <a:lnTo>
                    <a:pt x="53" y="297"/>
                  </a:lnTo>
                  <a:lnTo>
                    <a:pt x="50" y="295"/>
                  </a:lnTo>
                  <a:lnTo>
                    <a:pt x="50" y="295"/>
                  </a:lnTo>
                  <a:lnTo>
                    <a:pt x="48" y="291"/>
                  </a:lnTo>
                  <a:lnTo>
                    <a:pt x="47" y="289"/>
                  </a:lnTo>
                  <a:lnTo>
                    <a:pt x="48" y="286"/>
                  </a:lnTo>
                  <a:lnTo>
                    <a:pt x="50" y="282"/>
                  </a:lnTo>
                  <a:lnTo>
                    <a:pt x="80" y="252"/>
                  </a:lnTo>
                  <a:lnTo>
                    <a:pt x="80" y="252"/>
                  </a:lnTo>
                  <a:lnTo>
                    <a:pt x="80" y="252"/>
                  </a:lnTo>
                  <a:lnTo>
                    <a:pt x="84" y="251"/>
                  </a:lnTo>
                  <a:lnTo>
                    <a:pt x="86" y="249"/>
                  </a:lnTo>
                  <a:lnTo>
                    <a:pt x="86" y="249"/>
                  </a:lnTo>
                  <a:close/>
                  <a:moveTo>
                    <a:pt x="8" y="164"/>
                  </a:moveTo>
                  <a:lnTo>
                    <a:pt x="8" y="164"/>
                  </a:lnTo>
                  <a:lnTo>
                    <a:pt x="51" y="164"/>
                  </a:lnTo>
                  <a:lnTo>
                    <a:pt x="51" y="164"/>
                  </a:lnTo>
                  <a:lnTo>
                    <a:pt x="54" y="164"/>
                  </a:lnTo>
                  <a:lnTo>
                    <a:pt x="57" y="167"/>
                  </a:lnTo>
                  <a:lnTo>
                    <a:pt x="59" y="169"/>
                  </a:lnTo>
                  <a:lnTo>
                    <a:pt x="59" y="172"/>
                  </a:lnTo>
                  <a:lnTo>
                    <a:pt x="59" y="172"/>
                  </a:lnTo>
                  <a:lnTo>
                    <a:pt x="59" y="176"/>
                  </a:lnTo>
                  <a:lnTo>
                    <a:pt x="57" y="179"/>
                  </a:lnTo>
                  <a:lnTo>
                    <a:pt x="54" y="180"/>
                  </a:lnTo>
                  <a:lnTo>
                    <a:pt x="51" y="182"/>
                  </a:lnTo>
                  <a:lnTo>
                    <a:pt x="8" y="182"/>
                  </a:lnTo>
                  <a:lnTo>
                    <a:pt x="8" y="182"/>
                  </a:lnTo>
                  <a:lnTo>
                    <a:pt x="5" y="180"/>
                  </a:lnTo>
                  <a:lnTo>
                    <a:pt x="2" y="179"/>
                  </a:lnTo>
                  <a:lnTo>
                    <a:pt x="0" y="176"/>
                  </a:lnTo>
                  <a:lnTo>
                    <a:pt x="0" y="172"/>
                  </a:lnTo>
                  <a:lnTo>
                    <a:pt x="0" y="172"/>
                  </a:lnTo>
                  <a:lnTo>
                    <a:pt x="0" y="169"/>
                  </a:lnTo>
                  <a:lnTo>
                    <a:pt x="2" y="167"/>
                  </a:lnTo>
                  <a:lnTo>
                    <a:pt x="5" y="164"/>
                  </a:lnTo>
                  <a:lnTo>
                    <a:pt x="8" y="164"/>
                  </a:lnTo>
                  <a:lnTo>
                    <a:pt x="8" y="164"/>
                  </a:lnTo>
                  <a:close/>
                </a:path>
              </a:pathLst>
            </a:custGeom>
            <a:solidFill>
              <a:schemeClr val="accent4"/>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0" name="Freeform 153"/>
            <p:cNvSpPr>
              <a:spLocks noEditPoints="1"/>
            </p:cNvSpPr>
            <p:nvPr/>
          </p:nvSpPr>
          <p:spPr bwMode="auto">
            <a:xfrm>
              <a:off x="971535" y="1325878"/>
              <a:ext cx="515885" cy="506492"/>
            </a:xfrm>
            <a:custGeom>
              <a:avLst/>
              <a:gdLst>
                <a:gd name="T0" fmla="*/ 200 w 325"/>
                <a:gd name="T1" fmla="*/ 35 h 318"/>
                <a:gd name="T2" fmla="*/ 214 w 325"/>
                <a:gd name="T3" fmla="*/ 29 h 318"/>
                <a:gd name="T4" fmla="*/ 215 w 325"/>
                <a:gd name="T5" fmla="*/ 16 h 318"/>
                <a:gd name="T6" fmla="*/ 321 w 325"/>
                <a:gd name="T7" fmla="*/ 177 h 318"/>
                <a:gd name="T8" fmla="*/ 325 w 325"/>
                <a:gd name="T9" fmla="*/ 196 h 318"/>
                <a:gd name="T10" fmla="*/ 314 w 325"/>
                <a:gd name="T11" fmla="*/ 218 h 318"/>
                <a:gd name="T12" fmla="*/ 291 w 325"/>
                <a:gd name="T13" fmla="*/ 158 h 318"/>
                <a:gd name="T14" fmla="*/ 293 w 325"/>
                <a:gd name="T15" fmla="*/ 154 h 318"/>
                <a:gd name="T16" fmla="*/ 194 w 325"/>
                <a:gd name="T17" fmla="*/ 174 h 318"/>
                <a:gd name="T18" fmla="*/ 276 w 325"/>
                <a:gd name="T19" fmla="*/ 126 h 318"/>
                <a:gd name="T20" fmla="*/ 194 w 325"/>
                <a:gd name="T21" fmla="*/ 168 h 318"/>
                <a:gd name="T22" fmla="*/ 261 w 325"/>
                <a:gd name="T23" fmla="*/ 98 h 318"/>
                <a:gd name="T24" fmla="*/ 257 w 325"/>
                <a:gd name="T25" fmla="*/ 96 h 318"/>
                <a:gd name="T26" fmla="*/ 244 w 325"/>
                <a:gd name="T27" fmla="*/ 73 h 318"/>
                <a:gd name="T28" fmla="*/ 244 w 325"/>
                <a:gd name="T29" fmla="*/ 67 h 318"/>
                <a:gd name="T30" fmla="*/ 15 w 325"/>
                <a:gd name="T31" fmla="*/ 116 h 318"/>
                <a:gd name="T32" fmla="*/ 16 w 325"/>
                <a:gd name="T33" fmla="*/ 126 h 318"/>
                <a:gd name="T34" fmla="*/ 34 w 325"/>
                <a:gd name="T35" fmla="*/ 131 h 318"/>
                <a:gd name="T36" fmla="*/ 41 w 325"/>
                <a:gd name="T37" fmla="*/ 117 h 318"/>
                <a:gd name="T38" fmla="*/ 31 w 325"/>
                <a:gd name="T39" fmla="*/ 107 h 318"/>
                <a:gd name="T40" fmla="*/ 51 w 325"/>
                <a:gd name="T41" fmla="*/ 107 h 318"/>
                <a:gd name="T42" fmla="*/ 64 w 325"/>
                <a:gd name="T43" fmla="*/ 113 h 318"/>
                <a:gd name="T44" fmla="*/ 76 w 325"/>
                <a:gd name="T45" fmla="*/ 104 h 318"/>
                <a:gd name="T46" fmla="*/ 70 w 325"/>
                <a:gd name="T47" fmla="*/ 89 h 318"/>
                <a:gd name="T48" fmla="*/ 85 w 325"/>
                <a:gd name="T49" fmla="*/ 81 h 318"/>
                <a:gd name="T50" fmla="*/ 95 w 325"/>
                <a:gd name="T51" fmla="*/ 93 h 318"/>
                <a:gd name="T52" fmla="*/ 108 w 325"/>
                <a:gd name="T53" fmla="*/ 88 h 318"/>
                <a:gd name="T54" fmla="*/ 110 w 325"/>
                <a:gd name="T55" fmla="*/ 74 h 318"/>
                <a:gd name="T56" fmla="*/ 121 w 325"/>
                <a:gd name="T57" fmla="*/ 56 h 318"/>
                <a:gd name="T58" fmla="*/ 125 w 325"/>
                <a:gd name="T59" fmla="*/ 71 h 318"/>
                <a:gd name="T60" fmla="*/ 140 w 325"/>
                <a:gd name="T61" fmla="*/ 73 h 318"/>
                <a:gd name="T62" fmla="*/ 145 w 325"/>
                <a:gd name="T63" fmla="*/ 54 h 318"/>
                <a:gd name="T64" fmla="*/ 156 w 325"/>
                <a:gd name="T65" fmla="*/ 38 h 318"/>
                <a:gd name="T66" fmla="*/ 157 w 325"/>
                <a:gd name="T67" fmla="*/ 47 h 318"/>
                <a:gd name="T68" fmla="*/ 175 w 325"/>
                <a:gd name="T69" fmla="*/ 52 h 318"/>
                <a:gd name="T70" fmla="*/ 181 w 325"/>
                <a:gd name="T71" fmla="*/ 40 h 318"/>
                <a:gd name="T72" fmla="*/ 172 w 325"/>
                <a:gd name="T73" fmla="*/ 28 h 318"/>
                <a:gd name="T74" fmla="*/ 192 w 325"/>
                <a:gd name="T75" fmla="*/ 28 h 318"/>
                <a:gd name="T76" fmla="*/ 47 w 325"/>
                <a:gd name="T77" fmla="*/ 174 h 318"/>
                <a:gd name="T78" fmla="*/ 46 w 325"/>
                <a:gd name="T79" fmla="*/ 178 h 318"/>
                <a:gd name="T80" fmla="*/ 194 w 325"/>
                <a:gd name="T81" fmla="*/ 100 h 318"/>
                <a:gd name="T82" fmla="*/ 62 w 325"/>
                <a:gd name="T83" fmla="*/ 204 h 318"/>
                <a:gd name="T84" fmla="*/ 66 w 325"/>
                <a:gd name="T85" fmla="*/ 208 h 318"/>
                <a:gd name="T86" fmla="*/ 80 w 325"/>
                <a:gd name="T87" fmla="*/ 231 h 318"/>
                <a:gd name="T88" fmla="*/ 79 w 325"/>
                <a:gd name="T89" fmla="*/ 235 h 318"/>
                <a:gd name="T90" fmla="*/ 194 w 325"/>
                <a:gd name="T91" fmla="*/ 174 h 318"/>
                <a:gd name="T92" fmla="*/ 93 w 325"/>
                <a:gd name="T93" fmla="*/ 261 h 318"/>
                <a:gd name="T94" fmla="*/ 98 w 325"/>
                <a:gd name="T95" fmla="*/ 265 h 318"/>
                <a:gd name="T96" fmla="*/ 142 w 325"/>
                <a:gd name="T97" fmla="*/ 314 h 318"/>
                <a:gd name="T98" fmla="*/ 123 w 325"/>
                <a:gd name="T99" fmla="*/ 318 h 318"/>
                <a:gd name="T100" fmla="*/ 102 w 325"/>
                <a:gd name="T101" fmla="*/ 30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5" h="318">
                  <a:moveTo>
                    <a:pt x="194" y="31"/>
                  </a:moveTo>
                  <a:lnTo>
                    <a:pt x="194" y="31"/>
                  </a:lnTo>
                  <a:lnTo>
                    <a:pt x="196" y="33"/>
                  </a:lnTo>
                  <a:lnTo>
                    <a:pt x="200" y="35"/>
                  </a:lnTo>
                  <a:lnTo>
                    <a:pt x="206" y="35"/>
                  </a:lnTo>
                  <a:lnTo>
                    <a:pt x="210" y="33"/>
                  </a:lnTo>
                  <a:lnTo>
                    <a:pt x="210" y="33"/>
                  </a:lnTo>
                  <a:lnTo>
                    <a:pt x="214" y="29"/>
                  </a:lnTo>
                  <a:lnTo>
                    <a:pt x="215" y="25"/>
                  </a:lnTo>
                  <a:lnTo>
                    <a:pt x="217" y="20"/>
                  </a:lnTo>
                  <a:lnTo>
                    <a:pt x="215" y="16"/>
                  </a:lnTo>
                  <a:lnTo>
                    <a:pt x="215" y="16"/>
                  </a:lnTo>
                  <a:lnTo>
                    <a:pt x="211" y="12"/>
                  </a:lnTo>
                  <a:lnTo>
                    <a:pt x="207" y="9"/>
                  </a:lnTo>
                  <a:lnTo>
                    <a:pt x="223" y="0"/>
                  </a:lnTo>
                  <a:lnTo>
                    <a:pt x="321" y="177"/>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1" y="158"/>
                  </a:lnTo>
                  <a:lnTo>
                    <a:pt x="293" y="155"/>
                  </a:lnTo>
                  <a:lnTo>
                    <a:pt x="293" y="154"/>
                  </a:lnTo>
                  <a:lnTo>
                    <a:pt x="293" y="154"/>
                  </a:lnTo>
                  <a:lnTo>
                    <a:pt x="291" y="153"/>
                  </a:lnTo>
                  <a:lnTo>
                    <a:pt x="288" y="153"/>
                  </a:lnTo>
                  <a:lnTo>
                    <a:pt x="194" y="205"/>
                  </a:lnTo>
                  <a:lnTo>
                    <a:pt x="194" y="174"/>
                  </a:lnTo>
                  <a:lnTo>
                    <a:pt x="275" y="130"/>
                  </a:lnTo>
                  <a:lnTo>
                    <a:pt x="275" y="130"/>
                  </a:lnTo>
                  <a:lnTo>
                    <a:pt x="276" y="127"/>
                  </a:lnTo>
                  <a:lnTo>
                    <a:pt x="276" y="126"/>
                  </a:lnTo>
                  <a:lnTo>
                    <a:pt x="276" y="126"/>
                  </a:lnTo>
                  <a:lnTo>
                    <a:pt x="275" y="124"/>
                  </a:lnTo>
                  <a:lnTo>
                    <a:pt x="272" y="124"/>
                  </a:lnTo>
                  <a:lnTo>
                    <a:pt x="194" y="168"/>
                  </a:lnTo>
                  <a:lnTo>
                    <a:pt x="194" y="138"/>
                  </a:lnTo>
                  <a:lnTo>
                    <a:pt x="260" y="101"/>
                  </a:lnTo>
                  <a:lnTo>
                    <a:pt x="260" y="101"/>
                  </a:lnTo>
                  <a:lnTo>
                    <a:pt x="261" y="98"/>
                  </a:lnTo>
                  <a:lnTo>
                    <a:pt x="261" y="97"/>
                  </a:lnTo>
                  <a:lnTo>
                    <a:pt x="261" y="97"/>
                  </a:lnTo>
                  <a:lnTo>
                    <a:pt x="259" y="96"/>
                  </a:lnTo>
                  <a:lnTo>
                    <a:pt x="257" y="96"/>
                  </a:lnTo>
                  <a:lnTo>
                    <a:pt x="194" y="131"/>
                  </a:lnTo>
                  <a:lnTo>
                    <a:pt x="194" y="100"/>
                  </a:lnTo>
                  <a:lnTo>
                    <a:pt x="244" y="73"/>
                  </a:lnTo>
                  <a:lnTo>
                    <a:pt x="244" y="73"/>
                  </a:lnTo>
                  <a:lnTo>
                    <a:pt x="245" y="70"/>
                  </a:lnTo>
                  <a:lnTo>
                    <a:pt x="245" y="69"/>
                  </a:lnTo>
                  <a:lnTo>
                    <a:pt x="245" y="69"/>
                  </a:lnTo>
                  <a:lnTo>
                    <a:pt x="244" y="67"/>
                  </a:lnTo>
                  <a:lnTo>
                    <a:pt x="241" y="67"/>
                  </a:lnTo>
                  <a:lnTo>
                    <a:pt x="194" y="93"/>
                  </a:lnTo>
                  <a:lnTo>
                    <a:pt x="194" y="31"/>
                  </a:lnTo>
                  <a:close/>
                  <a:moveTo>
                    <a:pt x="15" y="116"/>
                  </a:moveTo>
                  <a:lnTo>
                    <a:pt x="15" y="116"/>
                  </a:lnTo>
                  <a:lnTo>
                    <a:pt x="15" y="120"/>
                  </a:lnTo>
                  <a:lnTo>
                    <a:pt x="16" y="126"/>
                  </a:lnTo>
                  <a:lnTo>
                    <a:pt x="16" y="126"/>
                  </a:lnTo>
                  <a:lnTo>
                    <a:pt x="19" y="130"/>
                  </a:lnTo>
                  <a:lnTo>
                    <a:pt x="24" y="132"/>
                  </a:lnTo>
                  <a:lnTo>
                    <a:pt x="28" y="132"/>
                  </a:lnTo>
                  <a:lnTo>
                    <a:pt x="34" y="131"/>
                  </a:lnTo>
                  <a:lnTo>
                    <a:pt x="34" y="131"/>
                  </a:lnTo>
                  <a:lnTo>
                    <a:pt x="38" y="127"/>
                  </a:lnTo>
                  <a:lnTo>
                    <a:pt x="41" y="123"/>
                  </a:lnTo>
                  <a:lnTo>
                    <a:pt x="41" y="117"/>
                  </a:lnTo>
                  <a:lnTo>
                    <a:pt x="39" y="113"/>
                  </a:lnTo>
                  <a:lnTo>
                    <a:pt x="39" y="113"/>
                  </a:lnTo>
                  <a:lnTo>
                    <a:pt x="35" y="109"/>
                  </a:lnTo>
                  <a:lnTo>
                    <a:pt x="31" y="107"/>
                  </a:lnTo>
                  <a:lnTo>
                    <a:pt x="50" y="96"/>
                  </a:lnTo>
                  <a:lnTo>
                    <a:pt x="50" y="96"/>
                  </a:lnTo>
                  <a:lnTo>
                    <a:pt x="50" y="101"/>
                  </a:lnTo>
                  <a:lnTo>
                    <a:pt x="51" y="107"/>
                  </a:lnTo>
                  <a:lnTo>
                    <a:pt x="51" y="107"/>
                  </a:lnTo>
                  <a:lnTo>
                    <a:pt x="54" y="111"/>
                  </a:lnTo>
                  <a:lnTo>
                    <a:pt x="60" y="112"/>
                  </a:lnTo>
                  <a:lnTo>
                    <a:pt x="64" y="113"/>
                  </a:lnTo>
                  <a:lnTo>
                    <a:pt x="69" y="111"/>
                  </a:lnTo>
                  <a:lnTo>
                    <a:pt x="69" y="111"/>
                  </a:lnTo>
                  <a:lnTo>
                    <a:pt x="73" y="108"/>
                  </a:lnTo>
                  <a:lnTo>
                    <a:pt x="76" y="104"/>
                  </a:lnTo>
                  <a:lnTo>
                    <a:pt x="76" y="98"/>
                  </a:lnTo>
                  <a:lnTo>
                    <a:pt x="75" y="93"/>
                  </a:lnTo>
                  <a:lnTo>
                    <a:pt x="75" y="93"/>
                  </a:lnTo>
                  <a:lnTo>
                    <a:pt x="70" y="89"/>
                  </a:lnTo>
                  <a:lnTo>
                    <a:pt x="66" y="88"/>
                  </a:lnTo>
                  <a:lnTo>
                    <a:pt x="85" y="77"/>
                  </a:lnTo>
                  <a:lnTo>
                    <a:pt x="85" y="77"/>
                  </a:lnTo>
                  <a:lnTo>
                    <a:pt x="85" y="81"/>
                  </a:lnTo>
                  <a:lnTo>
                    <a:pt x="87" y="86"/>
                  </a:lnTo>
                  <a:lnTo>
                    <a:pt x="87" y="86"/>
                  </a:lnTo>
                  <a:lnTo>
                    <a:pt x="89" y="90"/>
                  </a:lnTo>
                  <a:lnTo>
                    <a:pt x="95" y="93"/>
                  </a:lnTo>
                  <a:lnTo>
                    <a:pt x="99" y="93"/>
                  </a:lnTo>
                  <a:lnTo>
                    <a:pt x="104" y="92"/>
                  </a:lnTo>
                  <a:lnTo>
                    <a:pt x="104" y="92"/>
                  </a:lnTo>
                  <a:lnTo>
                    <a:pt x="108" y="88"/>
                  </a:lnTo>
                  <a:lnTo>
                    <a:pt x="111" y="84"/>
                  </a:lnTo>
                  <a:lnTo>
                    <a:pt x="111" y="78"/>
                  </a:lnTo>
                  <a:lnTo>
                    <a:pt x="110" y="74"/>
                  </a:lnTo>
                  <a:lnTo>
                    <a:pt x="110" y="74"/>
                  </a:lnTo>
                  <a:lnTo>
                    <a:pt x="106" y="70"/>
                  </a:lnTo>
                  <a:lnTo>
                    <a:pt x="102" y="67"/>
                  </a:lnTo>
                  <a:lnTo>
                    <a:pt x="121" y="56"/>
                  </a:lnTo>
                  <a:lnTo>
                    <a:pt x="121" y="56"/>
                  </a:lnTo>
                  <a:lnTo>
                    <a:pt x="121" y="62"/>
                  </a:lnTo>
                  <a:lnTo>
                    <a:pt x="122" y="67"/>
                  </a:lnTo>
                  <a:lnTo>
                    <a:pt x="122" y="67"/>
                  </a:lnTo>
                  <a:lnTo>
                    <a:pt x="125" y="71"/>
                  </a:lnTo>
                  <a:lnTo>
                    <a:pt x="130" y="73"/>
                  </a:lnTo>
                  <a:lnTo>
                    <a:pt x="134" y="74"/>
                  </a:lnTo>
                  <a:lnTo>
                    <a:pt x="140" y="73"/>
                  </a:lnTo>
                  <a:lnTo>
                    <a:pt x="140" y="73"/>
                  </a:lnTo>
                  <a:lnTo>
                    <a:pt x="144" y="69"/>
                  </a:lnTo>
                  <a:lnTo>
                    <a:pt x="146" y="65"/>
                  </a:lnTo>
                  <a:lnTo>
                    <a:pt x="146" y="59"/>
                  </a:lnTo>
                  <a:lnTo>
                    <a:pt x="145" y="54"/>
                  </a:lnTo>
                  <a:lnTo>
                    <a:pt x="145" y="54"/>
                  </a:lnTo>
                  <a:lnTo>
                    <a:pt x="141" y="50"/>
                  </a:lnTo>
                  <a:lnTo>
                    <a:pt x="137" y="48"/>
                  </a:lnTo>
                  <a:lnTo>
                    <a:pt x="156" y="38"/>
                  </a:lnTo>
                  <a:lnTo>
                    <a:pt x="156" y="38"/>
                  </a:lnTo>
                  <a:lnTo>
                    <a:pt x="154" y="43"/>
                  </a:lnTo>
                  <a:lnTo>
                    <a:pt x="157" y="47"/>
                  </a:lnTo>
                  <a:lnTo>
                    <a:pt x="157" y="47"/>
                  </a:lnTo>
                  <a:lnTo>
                    <a:pt x="160" y="51"/>
                  </a:lnTo>
                  <a:lnTo>
                    <a:pt x="164" y="54"/>
                  </a:lnTo>
                  <a:lnTo>
                    <a:pt x="169" y="54"/>
                  </a:lnTo>
                  <a:lnTo>
                    <a:pt x="175" y="52"/>
                  </a:lnTo>
                  <a:lnTo>
                    <a:pt x="175" y="52"/>
                  </a:lnTo>
                  <a:lnTo>
                    <a:pt x="179" y="50"/>
                  </a:lnTo>
                  <a:lnTo>
                    <a:pt x="180" y="44"/>
                  </a:lnTo>
                  <a:lnTo>
                    <a:pt x="181" y="40"/>
                  </a:lnTo>
                  <a:lnTo>
                    <a:pt x="180" y="35"/>
                  </a:lnTo>
                  <a:lnTo>
                    <a:pt x="180" y="35"/>
                  </a:lnTo>
                  <a:lnTo>
                    <a:pt x="176" y="31"/>
                  </a:lnTo>
                  <a:lnTo>
                    <a:pt x="172" y="28"/>
                  </a:lnTo>
                  <a:lnTo>
                    <a:pt x="191" y="19"/>
                  </a:lnTo>
                  <a:lnTo>
                    <a:pt x="191" y="19"/>
                  </a:lnTo>
                  <a:lnTo>
                    <a:pt x="190" y="23"/>
                  </a:lnTo>
                  <a:lnTo>
                    <a:pt x="192" y="28"/>
                  </a:lnTo>
                  <a:lnTo>
                    <a:pt x="192" y="28"/>
                  </a:lnTo>
                  <a:lnTo>
                    <a:pt x="194" y="31"/>
                  </a:lnTo>
                  <a:lnTo>
                    <a:pt x="194" y="93"/>
                  </a:lnTo>
                  <a:lnTo>
                    <a:pt x="47" y="174"/>
                  </a:lnTo>
                  <a:lnTo>
                    <a:pt x="47" y="174"/>
                  </a:lnTo>
                  <a:lnTo>
                    <a:pt x="46" y="176"/>
                  </a:lnTo>
                  <a:lnTo>
                    <a:pt x="46" y="178"/>
                  </a:lnTo>
                  <a:lnTo>
                    <a:pt x="46" y="178"/>
                  </a:lnTo>
                  <a:lnTo>
                    <a:pt x="49" y="180"/>
                  </a:lnTo>
                  <a:lnTo>
                    <a:pt x="50" y="180"/>
                  </a:lnTo>
                  <a:lnTo>
                    <a:pt x="50" y="180"/>
                  </a:lnTo>
                  <a:lnTo>
                    <a:pt x="194" y="100"/>
                  </a:lnTo>
                  <a:lnTo>
                    <a:pt x="194" y="131"/>
                  </a:lnTo>
                  <a:lnTo>
                    <a:pt x="64" y="203"/>
                  </a:lnTo>
                  <a:lnTo>
                    <a:pt x="64" y="203"/>
                  </a:lnTo>
                  <a:lnTo>
                    <a:pt x="62" y="204"/>
                  </a:lnTo>
                  <a:lnTo>
                    <a:pt x="62" y="207"/>
                  </a:lnTo>
                  <a:lnTo>
                    <a:pt x="62" y="207"/>
                  </a:lnTo>
                  <a:lnTo>
                    <a:pt x="64" y="208"/>
                  </a:lnTo>
                  <a:lnTo>
                    <a:pt x="66" y="208"/>
                  </a:lnTo>
                  <a:lnTo>
                    <a:pt x="66" y="208"/>
                  </a:lnTo>
                  <a:lnTo>
                    <a:pt x="194" y="138"/>
                  </a:lnTo>
                  <a:lnTo>
                    <a:pt x="194" y="168"/>
                  </a:lnTo>
                  <a:lnTo>
                    <a:pt x="80" y="231"/>
                  </a:lnTo>
                  <a:lnTo>
                    <a:pt x="80" y="231"/>
                  </a:lnTo>
                  <a:lnTo>
                    <a:pt x="77" y="233"/>
                  </a:lnTo>
                  <a:lnTo>
                    <a:pt x="79" y="235"/>
                  </a:lnTo>
                  <a:lnTo>
                    <a:pt x="79" y="235"/>
                  </a:lnTo>
                  <a:lnTo>
                    <a:pt x="80" y="237"/>
                  </a:lnTo>
                  <a:lnTo>
                    <a:pt x="83" y="237"/>
                  </a:lnTo>
                  <a:lnTo>
                    <a:pt x="83" y="237"/>
                  </a:lnTo>
                  <a:lnTo>
                    <a:pt x="194" y="174"/>
                  </a:lnTo>
                  <a:lnTo>
                    <a:pt x="194" y="205"/>
                  </a:lnTo>
                  <a:lnTo>
                    <a:pt x="95" y="260"/>
                  </a:lnTo>
                  <a:lnTo>
                    <a:pt x="95" y="260"/>
                  </a:lnTo>
                  <a:lnTo>
                    <a:pt x="93" y="261"/>
                  </a:lnTo>
                  <a:lnTo>
                    <a:pt x="93" y="264"/>
                  </a:lnTo>
                  <a:lnTo>
                    <a:pt x="93" y="264"/>
                  </a:lnTo>
                  <a:lnTo>
                    <a:pt x="96" y="265"/>
                  </a:lnTo>
                  <a:lnTo>
                    <a:pt x="98" y="265"/>
                  </a:lnTo>
                  <a:lnTo>
                    <a:pt x="98" y="265"/>
                  </a:lnTo>
                  <a:lnTo>
                    <a:pt x="194" y="212"/>
                  </a:lnTo>
                  <a:lnTo>
                    <a:pt x="194" y="285"/>
                  </a:lnTo>
                  <a:lnTo>
                    <a:pt x="142" y="314"/>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chemeClr val="accent4"/>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1" name="Freeform 154"/>
            <p:cNvSpPr>
              <a:spLocks noEditPoints="1"/>
            </p:cNvSpPr>
            <p:nvPr/>
          </p:nvSpPr>
          <p:spPr bwMode="auto">
            <a:xfrm>
              <a:off x="2785455" y="3480251"/>
              <a:ext cx="489735" cy="513625"/>
            </a:xfrm>
            <a:custGeom>
              <a:avLst/>
              <a:gdLst>
                <a:gd name="T0" fmla="*/ 306 w 308"/>
                <a:gd name="T1" fmla="*/ 96 h 323"/>
                <a:gd name="T2" fmla="*/ 218 w 308"/>
                <a:gd name="T3" fmla="*/ 308 h 323"/>
                <a:gd name="T4" fmla="*/ 227 w 308"/>
                <a:gd name="T5" fmla="*/ 224 h 323"/>
                <a:gd name="T6" fmla="*/ 233 w 308"/>
                <a:gd name="T7" fmla="*/ 209 h 323"/>
                <a:gd name="T8" fmla="*/ 246 w 308"/>
                <a:gd name="T9" fmla="*/ 184 h 323"/>
                <a:gd name="T10" fmla="*/ 250 w 308"/>
                <a:gd name="T11" fmla="*/ 159 h 323"/>
                <a:gd name="T12" fmla="*/ 280 w 308"/>
                <a:gd name="T13" fmla="*/ 109 h 323"/>
                <a:gd name="T14" fmla="*/ 218 w 308"/>
                <a:gd name="T15" fmla="*/ 75 h 323"/>
                <a:gd name="T16" fmla="*/ 201 w 308"/>
                <a:gd name="T17" fmla="*/ 320 h 323"/>
                <a:gd name="T18" fmla="*/ 197 w 308"/>
                <a:gd name="T19" fmla="*/ 289 h 323"/>
                <a:gd name="T20" fmla="*/ 208 w 308"/>
                <a:gd name="T21" fmla="*/ 262 h 323"/>
                <a:gd name="T22" fmla="*/ 218 w 308"/>
                <a:gd name="T23" fmla="*/ 248 h 323"/>
                <a:gd name="T24" fmla="*/ 203 w 308"/>
                <a:gd name="T25" fmla="*/ 161 h 323"/>
                <a:gd name="T26" fmla="*/ 189 w 308"/>
                <a:gd name="T27" fmla="*/ 184 h 323"/>
                <a:gd name="T28" fmla="*/ 186 w 308"/>
                <a:gd name="T29" fmla="*/ 202 h 323"/>
                <a:gd name="T30" fmla="*/ 185 w 308"/>
                <a:gd name="T31" fmla="*/ 155 h 323"/>
                <a:gd name="T32" fmla="*/ 180 w 308"/>
                <a:gd name="T33" fmla="*/ 26 h 323"/>
                <a:gd name="T34" fmla="*/ 174 w 308"/>
                <a:gd name="T35" fmla="*/ 318 h 323"/>
                <a:gd name="T36" fmla="*/ 147 w 308"/>
                <a:gd name="T37" fmla="*/ 218 h 323"/>
                <a:gd name="T38" fmla="*/ 166 w 308"/>
                <a:gd name="T39" fmla="*/ 199 h 323"/>
                <a:gd name="T40" fmla="*/ 147 w 308"/>
                <a:gd name="T41" fmla="*/ 170 h 323"/>
                <a:gd name="T42" fmla="*/ 180 w 308"/>
                <a:gd name="T43" fmla="*/ 170 h 323"/>
                <a:gd name="T44" fmla="*/ 170 w 308"/>
                <a:gd name="T45" fmla="*/ 225 h 323"/>
                <a:gd name="T46" fmla="*/ 168 w 308"/>
                <a:gd name="T47" fmla="*/ 243 h 323"/>
                <a:gd name="T48" fmla="*/ 151 w 308"/>
                <a:gd name="T49" fmla="*/ 263 h 323"/>
                <a:gd name="T50" fmla="*/ 180 w 308"/>
                <a:gd name="T51" fmla="*/ 321 h 323"/>
                <a:gd name="T52" fmla="*/ 147 w 308"/>
                <a:gd name="T53" fmla="*/ 10 h 323"/>
                <a:gd name="T54" fmla="*/ 119 w 308"/>
                <a:gd name="T55" fmla="*/ 0 h 323"/>
                <a:gd name="T56" fmla="*/ 132 w 308"/>
                <a:gd name="T57" fmla="*/ 260 h 323"/>
                <a:gd name="T58" fmla="*/ 147 w 308"/>
                <a:gd name="T59" fmla="*/ 306 h 323"/>
                <a:gd name="T60" fmla="*/ 139 w 308"/>
                <a:gd name="T61" fmla="*/ 134 h 323"/>
                <a:gd name="T62" fmla="*/ 128 w 308"/>
                <a:gd name="T63" fmla="*/ 159 h 323"/>
                <a:gd name="T64" fmla="*/ 121 w 308"/>
                <a:gd name="T65" fmla="*/ 174 h 323"/>
                <a:gd name="T66" fmla="*/ 123 w 308"/>
                <a:gd name="T67" fmla="*/ 125 h 323"/>
                <a:gd name="T68" fmla="*/ 147 w 308"/>
                <a:gd name="T69" fmla="*/ 235 h 323"/>
                <a:gd name="T70" fmla="*/ 98 w 308"/>
                <a:gd name="T71" fmla="*/ 283 h 323"/>
                <a:gd name="T72" fmla="*/ 103 w 308"/>
                <a:gd name="T73" fmla="*/ 4 h 323"/>
                <a:gd name="T74" fmla="*/ 111 w 308"/>
                <a:gd name="T75" fmla="*/ 34 h 323"/>
                <a:gd name="T76" fmla="*/ 119 w 308"/>
                <a:gd name="T77" fmla="*/ 122 h 323"/>
                <a:gd name="T78" fmla="*/ 119 w 308"/>
                <a:gd name="T79" fmla="*/ 141 h 323"/>
                <a:gd name="T80" fmla="*/ 109 w 308"/>
                <a:gd name="T81" fmla="*/ 197 h 323"/>
                <a:gd name="T82" fmla="*/ 107 w 308"/>
                <a:gd name="T83" fmla="*/ 214 h 323"/>
                <a:gd name="T84" fmla="*/ 105 w 308"/>
                <a:gd name="T85" fmla="*/ 171 h 323"/>
                <a:gd name="T86" fmla="*/ 98 w 308"/>
                <a:gd name="T87" fmla="*/ 147 h 323"/>
                <a:gd name="T88" fmla="*/ 119 w 308"/>
                <a:gd name="T89" fmla="*/ 141 h 323"/>
                <a:gd name="T90" fmla="*/ 86 w 308"/>
                <a:gd name="T91" fmla="*/ 206 h 323"/>
                <a:gd name="T92" fmla="*/ 97 w 308"/>
                <a:gd name="T93" fmla="*/ 188 h 323"/>
                <a:gd name="T94" fmla="*/ 90 w 308"/>
                <a:gd name="T95" fmla="*/ 239 h 323"/>
                <a:gd name="T96" fmla="*/ 86 w 308"/>
                <a:gd name="T97" fmla="*/ 22 h 323"/>
                <a:gd name="T98" fmla="*/ 93 w 308"/>
                <a:gd name="T99" fmla="*/ 68 h 323"/>
                <a:gd name="T100" fmla="*/ 86 w 308"/>
                <a:gd name="T101" fmla="*/ 22 h 323"/>
                <a:gd name="T102" fmla="*/ 86 w 308"/>
                <a:gd name="T103" fmla="*/ 278 h 323"/>
                <a:gd name="T104" fmla="*/ 77 w 308"/>
                <a:gd name="T105" fmla="*/ 230 h 323"/>
                <a:gd name="T106" fmla="*/ 86 w 308"/>
                <a:gd name="T107" fmla="*/ 107 h 323"/>
                <a:gd name="T108" fmla="*/ 67 w 308"/>
                <a:gd name="T109" fmla="*/ 126 h 323"/>
                <a:gd name="T110" fmla="*/ 86 w 308"/>
                <a:gd name="T111" fmla="*/ 141 h 323"/>
                <a:gd name="T112" fmla="*/ 58 w 308"/>
                <a:gd name="T113" fmla="*/ 83 h 323"/>
                <a:gd name="T114" fmla="*/ 86 w 308"/>
                <a:gd name="T115" fmla="*/ 190 h 323"/>
                <a:gd name="T116" fmla="*/ 2 w 308"/>
                <a:gd name="T117" fmla="*/ 226 h 323"/>
                <a:gd name="T118" fmla="*/ 58 w 308"/>
                <a:gd name="T119" fmla="*/ 147 h 323"/>
                <a:gd name="T120" fmla="*/ 50 w 308"/>
                <a:gd name="T121" fmla="*/ 172 h 323"/>
                <a:gd name="T122" fmla="*/ 42 w 308"/>
                <a:gd name="T123" fmla="*/ 186 h 323"/>
                <a:gd name="T124" fmla="*/ 29 w 308"/>
                <a:gd name="T125" fmla="*/ 21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23">
                  <a:moveTo>
                    <a:pt x="218" y="44"/>
                  </a:moveTo>
                  <a:lnTo>
                    <a:pt x="288" y="76"/>
                  </a:lnTo>
                  <a:lnTo>
                    <a:pt x="288" y="76"/>
                  </a:lnTo>
                  <a:lnTo>
                    <a:pt x="293" y="80"/>
                  </a:lnTo>
                  <a:lnTo>
                    <a:pt x="299" y="84"/>
                  </a:lnTo>
                  <a:lnTo>
                    <a:pt x="303" y="90"/>
                  </a:lnTo>
                  <a:lnTo>
                    <a:pt x="306" y="96"/>
                  </a:lnTo>
                  <a:lnTo>
                    <a:pt x="308" y="103"/>
                  </a:lnTo>
                  <a:lnTo>
                    <a:pt x="308" y="110"/>
                  </a:lnTo>
                  <a:lnTo>
                    <a:pt x="307" y="117"/>
                  </a:lnTo>
                  <a:lnTo>
                    <a:pt x="304" y="124"/>
                  </a:lnTo>
                  <a:lnTo>
                    <a:pt x="222" y="301"/>
                  </a:lnTo>
                  <a:lnTo>
                    <a:pt x="222" y="301"/>
                  </a:lnTo>
                  <a:lnTo>
                    <a:pt x="218" y="308"/>
                  </a:lnTo>
                  <a:lnTo>
                    <a:pt x="218" y="248"/>
                  </a:lnTo>
                  <a:lnTo>
                    <a:pt x="218" y="248"/>
                  </a:lnTo>
                  <a:lnTo>
                    <a:pt x="219" y="245"/>
                  </a:lnTo>
                  <a:lnTo>
                    <a:pt x="227" y="228"/>
                  </a:lnTo>
                  <a:lnTo>
                    <a:pt x="227" y="228"/>
                  </a:lnTo>
                  <a:lnTo>
                    <a:pt x="228" y="226"/>
                  </a:lnTo>
                  <a:lnTo>
                    <a:pt x="227" y="224"/>
                  </a:lnTo>
                  <a:lnTo>
                    <a:pt x="227" y="222"/>
                  </a:lnTo>
                  <a:lnTo>
                    <a:pt x="224" y="221"/>
                  </a:lnTo>
                  <a:lnTo>
                    <a:pt x="218" y="217"/>
                  </a:lnTo>
                  <a:lnTo>
                    <a:pt x="218" y="202"/>
                  </a:lnTo>
                  <a:lnTo>
                    <a:pt x="230" y="209"/>
                  </a:lnTo>
                  <a:lnTo>
                    <a:pt x="230" y="209"/>
                  </a:lnTo>
                  <a:lnTo>
                    <a:pt x="233" y="209"/>
                  </a:lnTo>
                  <a:lnTo>
                    <a:pt x="235" y="209"/>
                  </a:lnTo>
                  <a:lnTo>
                    <a:pt x="237" y="207"/>
                  </a:lnTo>
                  <a:lnTo>
                    <a:pt x="238" y="206"/>
                  </a:lnTo>
                  <a:lnTo>
                    <a:pt x="246" y="188"/>
                  </a:lnTo>
                  <a:lnTo>
                    <a:pt x="246" y="188"/>
                  </a:lnTo>
                  <a:lnTo>
                    <a:pt x="247" y="186"/>
                  </a:lnTo>
                  <a:lnTo>
                    <a:pt x="246" y="184"/>
                  </a:lnTo>
                  <a:lnTo>
                    <a:pt x="246" y="182"/>
                  </a:lnTo>
                  <a:lnTo>
                    <a:pt x="243" y="180"/>
                  </a:lnTo>
                  <a:lnTo>
                    <a:pt x="218" y="168"/>
                  </a:lnTo>
                  <a:lnTo>
                    <a:pt x="218" y="145"/>
                  </a:lnTo>
                  <a:lnTo>
                    <a:pt x="243" y="157"/>
                  </a:lnTo>
                  <a:lnTo>
                    <a:pt x="243" y="157"/>
                  </a:lnTo>
                  <a:lnTo>
                    <a:pt x="250" y="159"/>
                  </a:lnTo>
                  <a:lnTo>
                    <a:pt x="257" y="157"/>
                  </a:lnTo>
                  <a:lnTo>
                    <a:pt x="262" y="155"/>
                  </a:lnTo>
                  <a:lnTo>
                    <a:pt x="266" y="149"/>
                  </a:lnTo>
                  <a:lnTo>
                    <a:pt x="279" y="122"/>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lnTo>
                    <a:pt x="180" y="26"/>
                  </a:lnTo>
                  <a:close/>
                  <a:moveTo>
                    <a:pt x="218" y="308"/>
                  </a:moveTo>
                  <a:lnTo>
                    <a:pt x="218" y="308"/>
                  </a:lnTo>
                  <a:lnTo>
                    <a:pt x="211" y="316"/>
                  </a:lnTo>
                  <a:lnTo>
                    <a:pt x="201" y="320"/>
                  </a:lnTo>
                  <a:lnTo>
                    <a:pt x="191" y="323"/>
                  </a:lnTo>
                  <a:lnTo>
                    <a:pt x="180" y="321"/>
                  </a:lnTo>
                  <a:lnTo>
                    <a:pt x="180" y="283"/>
                  </a:lnTo>
                  <a:lnTo>
                    <a:pt x="193" y="289"/>
                  </a:lnTo>
                  <a:lnTo>
                    <a:pt x="193" y="289"/>
                  </a:lnTo>
                  <a:lnTo>
                    <a:pt x="195" y="289"/>
                  </a:lnTo>
                  <a:lnTo>
                    <a:pt x="197" y="289"/>
                  </a:lnTo>
                  <a:lnTo>
                    <a:pt x="199" y="287"/>
                  </a:lnTo>
                  <a:lnTo>
                    <a:pt x="200" y="286"/>
                  </a:lnTo>
                  <a:lnTo>
                    <a:pt x="208" y="268"/>
                  </a:lnTo>
                  <a:lnTo>
                    <a:pt x="208" y="268"/>
                  </a:lnTo>
                  <a:lnTo>
                    <a:pt x="209" y="266"/>
                  </a:lnTo>
                  <a:lnTo>
                    <a:pt x="209" y="264"/>
                  </a:lnTo>
                  <a:lnTo>
                    <a:pt x="208" y="262"/>
                  </a:lnTo>
                  <a:lnTo>
                    <a:pt x="205" y="260"/>
                  </a:lnTo>
                  <a:lnTo>
                    <a:pt x="180" y="249"/>
                  </a:lnTo>
                  <a:lnTo>
                    <a:pt x="180" y="235"/>
                  </a:lnTo>
                  <a:lnTo>
                    <a:pt x="212" y="248"/>
                  </a:lnTo>
                  <a:lnTo>
                    <a:pt x="212" y="248"/>
                  </a:lnTo>
                  <a:lnTo>
                    <a:pt x="215" y="249"/>
                  </a:lnTo>
                  <a:lnTo>
                    <a:pt x="218" y="248"/>
                  </a:lnTo>
                  <a:lnTo>
                    <a:pt x="218" y="308"/>
                  </a:lnTo>
                  <a:lnTo>
                    <a:pt x="218" y="308"/>
                  </a:lnTo>
                  <a:close/>
                  <a:moveTo>
                    <a:pt x="218" y="145"/>
                  </a:moveTo>
                  <a:lnTo>
                    <a:pt x="218" y="168"/>
                  </a:lnTo>
                  <a:lnTo>
                    <a:pt x="205" y="163"/>
                  </a:lnTo>
                  <a:lnTo>
                    <a:pt x="205" y="163"/>
                  </a:lnTo>
                  <a:lnTo>
                    <a:pt x="203" y="161"/>
                  </a:lnTo>
                  <a:lnTo>
                    <a:pt x="201" y="163"/>
                  </a:lnTo>
                  <a:lnTo>
                    <a:pt x="199" y="164"/>
                  </a:lnTo>
                  <a:lnTo>
                    <a:pt x="197" y="165"/>
                  </a:lnTo>
                  <a:lnTo>
                    <a:pt x="189" y="183"/>
                  </a:lnTo>
                  <a:lnTo>
                    <a:pt x="189" y="183"/>
                  </a:lnTo>
                  <a:lnTo>
                    <a:pt x="189" y="183"/>
                  </a:lnTo>
                  <a:lnTo>
                    <a:pt x="189" y="184"/>
                  </a:lnTo>
                  <a:lnTo>
                    <a:pt x="189" y="187"/>
                  </a:lnTo>
                  <a:lnTo>
                    <a:pt x="191" y="190"/>
                  </a:lnTo>
                  <a:lnTo>
                    <a:pt x="192" y="191"/>
                  </a:lnTo>
                  <a:lnTo>
                    <a:pt x="218" y="202"/>
                  </a:lnTo>
                  <a:lnTo>
                    <a:pt x="218" y="217"/>
                  </a:lnTo>
                  <a:lnTo>
                    <a:pt x="186" y="202"/>
                  </a:lnTo>
                  <a:lnTo>
                    <a:pt x="186" y="202"/>
                  </a:lnTo>
                  <a:lnTo>
                    <a:pt x="184" y="202"/>
                  </a:lnTo>
                  <a:lnTo>
                    <a:pt x="180" y="203"/>
                  </a:lnTo>
                  <a:lnTo>
                    <a:pt x="180" y="170"/>
                  </a:lnTo>
                  <a:lnTo>
                    <a:pt x="185" y="16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lnTo>
                    <a:pt x="147" y="10"/>
                  </a:lnTo>
                  <a:close/>
                  <a:moveTo>
                    <a:pt x="180" y="321"/>
                  </a:moveTo>
                  <a:lnTo>
                    <a:pt x="180" y="321"/>
                  </a:lnTo>
                  <a:lnTo>
                    <a:pt x="174" y="318"/>
                  </a:lnTo>
                  <a:lnTo>
                    <a:pt x="147" y="306"/>
                  </a:lnTo>
                  <a:lnTo>
                    <a:pt x="147" y="240"/>
                  </a:lnTo>
                  <a:lnTo>
                    <a:pt x="147" y="240"/>
                  </a:lnTo>
                  <a:lnTo>
                    <a:pt x="147" y="240"/>
                  </a:lnTo>
                  <a:lnTo>
                    <a:pt x="149" y="237"/>
                  </a:lnTo>
                  <a:lnTo>
                    <a:pt x="147" y="235"/>
                  </a:lnTo>
                  <a:lnTo>
                    <a:pt x="147" y="218"/>
                  </a:lnTo>
                  <a:lnTo>
                    <a:pt x="150" y="220"/>
                  </a:lnTo>
                  <a:lnTo>
                    <a:pt x="150" y="220"/>
                  </a:lnTo>
                  <a:lnTo>
                    <a:pt x="153" y="221"/>
                  </a:lnTo>
                  <a:lnTo>
                    <a:pt x="155" y="220"/>
                  </a:lnTo>
                  <a:lnTo>
                    <a:pt x="157" y="218"/>
                  </a:lnTo>
                  <a:lnTo>
                    <a:pt x="158" y="217"/>
                  </a:lnTo>
                  <a:lnTo>
                    <a:pt x="166" y="199"/>
                  </a:lnTo>
                  <a:lnTo>
                    <a:pt x="166" y="199"/>
                  </a:lnTo>
                  <a:lnTo>
                    <a:pt x="166" y="198"/>
                  </a:lnTo>
                  <a:lnTo>
                    <a:pt x="166" y="195"/>
                  </a:lnTo>
                  <a:lnTo>
                    <a:pt x="165" y="193"/>
                  </a:lnTo>
                  <a:lnTo>
                    <a:pt x="163" y="191"/>
                  </a:lnTo>
                  <a:lnTo>
                    <a:pt x="147" y="184"/>
                  </a:lnTo>
                  <a:lnTo>
                    <a:pt x="147" y="170"/>
                  </a:lnTo>
                  <a:lnTo>
                    <a:pt x="169" y="180"/>
                  </a:lnTo>
                  <a:lnTo>
                    <a:pt x="169" y="180"/>
                  </a:lnTo>
                  <a:lnTo>
                    <a:pt x="172" y="180"/>
                  </a:lnTo>
                  <a:lnTo>
                    <a:pt x="173" y="180"/>
                  </a:lnTo>
                  <a:lnTo>
                    <a:pt x="176" y="179"/>
                  </a:lnTo>
                  <a:lnTo>
                    <a:pt x="177" y="176"/>
                  </a:lnTo>
                  <a:lnTo>
                    <a:pt x="180" y="170"/>
                  </a:lnTo>
                  <a:lnTo>
                    <a:pt x="180" y="203"/>
                  </a:lnTo>
                  <a:lnTo>
                    <a:pt x="180" y="203"/>
                  </a:lnTo>
                  <a:lnTo>
                    <a:pt x="178" y="206"/>
                  </a:lnTo>
                  <a:lnTo>
                    <a:pt x="170" y="222"/>
                  </a:lnTo>
                  <a:lnTo>
                    <a:pt x="170" y="222"/>
                  </a:lnTo>
                  <a:lnTo>
                    <a:pt x="170" y="222"/>
                  </a:lnTo>
                  <a:lnTo>
                    <a:pt x="170" y="225"/>
                  </a:lnTo>
                  <a:lnTo>
                    <a:pt x="170" y="228"/>
                  </a:lnTo>
                  <a:lnTo>
                    <a:pt x="172" y="229"/>
                  </a:lnTo>
                  <a:lnTo>
                    <a:pt x="173" y="230"/>
                  </a:lnTo>
                  <a:lnTo>
                    <a:pt x="180" y="235"/>
                  </a:lnTo>
                  <a:lnTo>
                    <a:pt x="180" y="249"/>
                  </a:lnTo>
                  <a:lnTo>
                    <a:pt x="168" y="243"/>
                  </a:lnTo>
                  <a:lnTo>
                    <a:pt x="168" y="243"/>
                  </a:lnTo>
                  <a:lnTo>
                    <a:pt x="166" y="243"/>
                  </a:lnTo>
                  <a:lnTo>
                    <a:pt x="163" y="243"/>
                  </a:lnTo>
                  <a:lnTo>
                    <a:pt x="162" y="244"/>
                  </a:lnTo>
                  <a:lnTo>
                    <a:pt x="161" y="245"/>
                  </a:lnTo>
                  <a:lnTo>
                    <a:pt x="151" y="263"/>
                  </a:lnTo>
                  <a:lnTo>
                    <a:pt x="151" y="263"/>
                  </a:lnTo>
                  <a:lnTo>
                    <a:pt x="151" y="263"/>
                  </a:lnTo>
                  <a:lnTo>
                    <a:pt x="151" y="266"/>
                  </a:lnTo>
                  <a:lnTo>
                    <a:pt x="151" y="267"/>
                  </a:lnTo>
                  <a:lnTo>
                    <a:pt x="153" y="270"/>
                  </a:lnTo>
                  <a:lnTo>
                    <a:pt x="155" y="271"/>
                  </a:lnTo>
                  <a:lnTo>
                    <a:pt x="180" y="283"/>
                  </a:lnTo>
                  <a:lnTo>
                    <a:pt x="180" y="321"/>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8" y="33"/>
                  </a:lnTo>
                  <a:lnTo>
                    <a:pt x="124" y="31"/>
                  </a:lnTo>
                  <a:lnTo>
                    <a:pt x="119" y="31"/>
                  </a:lnTo>
                  <a:lnTo>
                    <a:pt x="119" y="0"/>
                  </a:lnTo>
                  <a:lnTo>
                    <a:pt x="119" y="0"/>
                  </a:lnTo>
                  <a:lnTo>
                    <a:pt x="127" y="2"/>
                  </a:lnTo>
                  <a:lnTo>
                    <a:pt x="135" y="4"/>
                  </a:lnTo>
                  <a:lnTo>
                    <a:pt x="135" y="4"/>
                  </a:lnTo>
                  <a:close/>
                  <a:moveTo>
                    <a:pt x="147" y="306"/>
                  </a:moveTo>
                  <a:lnTo>
                    <a:pt x="119" y="293"/>
                  </a:lnTo>
                  <a:lnTo>
                    <a:pt x="119" y="253"/>
                  </a:lnTo>
                  <a:lnTo>
                    <a:pt x="132" y="260"/>
                  </a:lnTo>
                  <a:lnTo>
                    <a:pt x="132" y="260"/>
                  </a:lnTo>
                  <a:lnTo>
                    <a:pt x="134" y="260"/>
                  </a:lnTo>
                  <a:lnTo>
                    <a:pt x="136" y="260"/>
                  </a:lnTo>
                  <a:lnTo>
                    <a:pt x="138" y="259"/>
                  </a:lnTo>
                  <a:lnTo>
                    <a:pt x="139" y="258"/>
                  </a:lnTo>
                  <a:lnTo>
                    <a:pt x="147" y="240"/>
                  </a:lnTo>
                  <a:lnTo>
                    <a:pt x="147" y="306"/>
                  </a:lnTo>
                  <a:lnTo>
                    <a:pt x="147" y="306"/>
                  </a:lnTo>
                  <a:close/>
                  <a:moveTo>
                    <a:pt x="147" y="113"/>
                  </a:moveTo>
                  <a:lnTo>
                    <a:pt x="147" y="136"/>
                  </a:lnTo>
                  <a:lnTo>
                    <a:pt x="144" y="134"/>
                  </a:lnTo>
                  <a:lnTo>
                    <a:pt x="144" y="134"/>
                  </a:lnTo>
                  <a:lnTo>
                    <a:pt x="142" y="133"/>
                  </a:lnTo>
                  <a:lnTo>
                    <a:pt x="139" y="134"/>
                  </a:lnTo>
                  <a:lnTo>
                    <a:pt x="138" y="134"/>
                  </a:lnTo>
                  <a:lnTo>
                    <a:pt x="136" y="137"/>
                  </a:lnTo>
                  <a:lnTo>
                    <a:pt x="128" y="155"/>
                  </a:lnTo>
                  <a:lnTo>
                    <a:pt x="128" y="155"/>
                  </a:lnTo>
                  <a:lnTo>
                    <a:pt x="128" y="155"/>
                  </a:lnTo>
                  <a:lnTo>
                    <a:pt x="128" y="156"/>
                  </a:lnTo>
                  <a:lnTo>
                    <a:pt x="128" y="159"/>
                  </a:lnTo>
                  <a:lnTo>
                    <a:pt x="130" y="160"/>
                  </a:lnTo>
                  <a:lnTo>
                    <a:pt x="131" y="161"/>
                  </a:lnTo>
                  <a:lnTo>
                    <a:pt x="147" y="170"/>
                  </a:lnTo>
                  <a:lnTo>
                    <a:pt x="147" y="184"/>
                  </a:lnTo>
                  <a:lnTo>
                    <a:pt x="126" y="174"/>
                  </a:lnTo>
                  <a:lnTo>
                    <a:pt x="126" y="174"/>
                  </a:lnTo>
                  <a:lnTo>
                    <a:pt x="121" y="174"/>
                  </a:lnTo>
                  <a:lnTo>
                    <a:pt x="119" y="175"/>
                  </a:lnTo>
                  <a:lnTo>
                    <a:pt x="119" y="141"/>
                  </a:lnTo>
                  <a:lnTo>
                    <a:pt x="124" y="130"/>
                  </a:lnTo>
                  <a:lnTo>
                    <a:pt x="124" y="130"/>
                  </a:lnTo>
                  <a:lnTo>
                    <a:pt x="124" y="129"/>
                  </a:lnTo>
                  <a:lnTo>
                    <a:pt x="124" y="126"/>
                  </a:lnTo>
                  <a:lnTo>
                    <a:pt x="123" y="125"/>
                  </a:lnTo>
                  <a:lnTo>
                    <a:pt x="121" y="124"/>
                  </a:lnTo>
                  <a:lnTo>
                    <a:pt x="119" y="122"/>
                  </a:lnTo>
                  <a:lnTo>
                    <a:pt x="119" y="99"/>
                  </a:lnTo>
                  <a:lnTo>
                    <a:pt x="147" y="113"/>
                  </a:lnTo>
                  <a:lnTo>
                    <a:pt x="147" y="113"/>
                  </a:lnTo>
                  <a:close/>
                  <a:moveTo>
                    <a:pt x="147" y="218"/>
                  </a:moveTo>
                  <a:lnTo>
                    <a:pt x="147" y="235"/>
                  </a:lnTo>
                  <a:lnTo>
                    <a:pt x="147" y="235"/>
                  </a:lnTo>
                  <a:lnTo>
                    <a:pt x="144" y="232"/>
                  </a:lnTo>
                  <a:lnTo>
                    <a:pt x="119" y="220"/>
                  </a:lnTo>
                  <a:lnTo>
                    <a:pt x="119" y="205"/>
                  </a:lnTo>
                  <a:lnTo>
                    <a:pt x="147" y="218"/>
                  </a:lnTo>
                  <a:close/>
                  <a:moveTo>
                    <a:pt x="119" y="293"/>
                  </a:moveTo>
                  <a:lnTo>
                    <a:pt x="98" y="283"/>
                  </a:lnTo>
                  <a:lnTo>
                    <a:pt x="98" y="244"/>
                  </a:lnTo>
                  <a:lnTo>
                    <a:pt x="119" y="253"/>
                  </a:lnTo>
                  <a:lnTo>
                    <a:pt x="119" y="293"/>
                  </a:lnTo>
                  <a:lnTo>
                    <a:pt x="119" y="293"/>
                  </a:lnTo>
                  <a:close/>
                  <a:moveTo>
                    <a:pt x="98" y="7"/>
                  </a:moveTo>
                  <a:lnTo>
                    <a:pt x="98" y="7"/>
                  </a:lnTo>
                  <a:lnTo>
                    <a:pt x="103" y="4"/>
                  </a:lnTo>
                  <a:lnTo>
                    <a:pt x="108" y="3"/>
                  </a:lnTo>
                  <a:lnTo>
                    <a:pt x="113" y="2"/>
                  </a:lnTo>
                  <a:lnTo>
                    <a:pt x="119" y="0"/>
                  </a:lnTo>
                  <a:lnTo>
                    <a:pt x="119" y="31"/>
                  </a:lnTo>
                  <a:lnTo>
                    <a:pt x="119" y="31"/>
                  </a:lnTo>
                  <a:lnTo>
                    <a:pt x="115" y="33"/>
                  </a:lnTo>
                  <a:lnTo>
                    <a:pt x="111" y="34"/>
                  </a:lnTo>
                  <a:lnTo>
                    <a:pt x="108" y="37"/>
                  </a:lnTo>
                  <a:lnTo>
                    <a:pt x="105" y="41"/>
                  </a:lnTo>
                  <a:lnTo>
                    <a:pt x="98" y="56"/>
                  </a:lnTo>
                  <a:lnTo>
                    <a:pt x="98" y="7"/>
                  </a:lnTo>
                  <a:lnTo>
                    <a:pt x="98" y="7"/>
                  </a:lnTo>
                  <a:close/>
                  <a:moveTo>
                    <a:pt x="119" y="99"/>
                  </a:moveTo>
                  <a:lnTo>
                    <a:pt x="119" y="122"/>
                  </a:lnTo>
                  <a:lnTo>
                    <a:pt x="98" y="113"/>
                  </a:lnTo>
                  <a:lnTo>
                    <a:pt x="98" y="90"/>
                  </a:lnTo>
                  <a:lnTo>
                    <a:pt x="98" y="90"/>
                  </a:lnTo>
                  <a:lnTo>
                    <a:pt x="101" y="91"/>
                  </a:lnTo>
                  <a:lnTo>
                    <a:pt x="119" y="99"/>
                  </a:lnTo>
                  <a:lnTo>
                    <a:pt x="119" y="99"/>
                  </a:lnTo>
                  <a:close/>
                  <a:moveTo>
                    <a:pt x="119" y="141"/>
                  </a:moveTo>
                  <a:lnTo>
                    <a:pt x="119" y="175"/>
                  </a:lnTo>
                  <a:lnTo>
                    <a:pt x="119" y="175"/>
                  </a:lnTo>
                  <a:lnTo>
                    <a:pt x="117" y="176"/>
                  </a:lnTo>
                  <a:lnTo>
                    <a:pt x="109" y="194"/>
                  </a:lnTo>
                  <a:lnTo>
                    <a:pt x="109" y="194"/>
                  </a:lnTo>
                  <a:lnTo>
                    <a:pt x="109" y="194"/>
                  </a:lnTo>
                  <a:lnTo>
                    <a:pt x="109" y="197"/>
                  </a:lnTo>
                  <a:lnTo>
                    <a:pt x="109" y="199"/>
                  </a:lnTo>
                  <a:lnTo>
                    <a:pt x="111" y="201"/>
                  </a:lnTo>
                  <a:lnTo>
                    <a:pt x="112" y="202"/>
                  </a:lnTo>
                  <a:lnTo>
                    <a:pt x="119" y="205"/>
                  </a:lnTo>
                  <a:lnTo>
                    <a:pt x="119" y="220"/>
                  </a:lnTo>
                  <a:lnTo>
                    <a:pt x="107" y="214"/>
                  </a:lnTo>
                  <a:lnTo>
                    <a:pt x="107" y="214"/>
                  </a:lnTo>
                  <a:lnTo>
                    <a:pt x="104" y="214"/>
                  </a:lnTo>
                  <a:lnTo>
                    <a:pt x="103" y="214"/>
                  </a:lnTo>
                  <a:lnTo>
                    <a:pt x="100" y="216"/>
                  </a:lnTo>
                  <a:lnTo>
                    <a:pt x="98" y="217"/>
                  </a:lnTo>
                  <a:lnTo>
                    <a:pt x="98" y="218"/>
                  </a:lnTo>
                  <a:lnTo>
                    <a:pt x="98" y="186"/>
                  </a:lnTo>
                  <a:lnTo>
                    <a:pt x="105" y="171"/>
                  </a:lnTo>
                  <a:lnTo>
                    <a:pt x="105" y="171"/>
                  </a:lnTo>
                  <a:lnTo>
                    <a:pt x="105" y="168"/>
                  </a:lnTo>
                  <a:lnTo>
                    <a:pt x="105" y="167"/>
                  </a:lnTo>
                  <a:lnTo>
                    <a:pt x="104" y="164"/>
                  </a:lnTo>
                  <a:lnTo>
                    <a:pt x="103" y="163"/>
                  </a:lnTo>
                  <a:lnTo>
                    <a:pt x="98" y="161"/>
                  </a:lnTo>
                  <a:lnTo>
                    <a:pt x="98" y="147"/>
                  </a:lnTo>
                  <a:lnTo>
                    <a:pt x="108" y="152"/>
                  </a:lnTo>
                  <a:lnTo>
                    <a:pt x="108" y="152"/>
                  </a:lnTo>
                  <a:lnTo>
                    <a:pt x="111" y="152"/>
                  </a:lnTo>
                  <a:lnTo>
                    <a:pt x="112" y="152"/>
                  </a:lnTo>
                  <a:lnTo>
                    <a:pt x="115" y="151"/>
                  </a:lnTo>
                  <a:lnTo>
                    <a:pt x="116" y="148"/>
                  </a:lnTo>
                  <a:lnTo>
                    <a:pt x="119" y="141"/>
                  </a:lnTo>
                  <a:close/>
                  <a:moveTo>
                    <a:pt x="98" y="283"/>
                  </a:moveTo>
                  <a:lnTo>
                    <a:pt x="86" y="278"/>
                  </a:lnTo>
                  <a:lnTo>
                    <a:pt x="86" y="212"/>
                  </a:lnTo>
                  <a:lnTo>
                    <a:pt x="86" y="212"/>
                  </a:lnTo>
                  <a:lnTo>
                    <a:pt x="86" y="212"/>
                  </a:lnTo>
                  <a:lnTo>
                    <a:pt x="86" y="209"/>
                  </a:lnTo>
                  <a:lnTo>
                    <a:pt x="86" y="206"/>
                  </a:lnTo>
                  <a:lnTo>
                    <a:pt x="86" y="190"/>
                  </a:lnTo>
                  <a:lnTo>
                    <a:pt x="89" y="191"/>
                  </a:lnTo>
                  <a:lnTo>
                    <a:pt x="89" y="191"/>
                  </a:lnTo>
                  <a:lnTo>
                    <a:pt x="92" y="191"/>
                  </a:lnTo>
                  <a:lnTo>
                    <a:pt x="93" y="191"/>
                  </a:lnTo>
                  <a:lnTo>
                    <a:pt x="96" y="190"/>
                  </a:lnTo>
                  <a:lnTo>
                    <a:pt x="97" y="188"/>
                  </a:lnTo>
                  <a:lnTo>
                    <a:pt x="98" y="186"/>
                  </a:lnTo>
                  <a:lnTo>
                    <a:pt x="98" y="218"/>
                  </a:lnTo>
                  <a:lnTo>
                    <a:pt x="90" y="235"/>
                  </a:lnTo>
                  <a:lnTo>
                    <a:pt x="90" y="235"/>
                  </a:lnTo>
                  <a:lnTo>
                    <a:pt x="90" y="235"/>
                  </a:lnTo>
                  <a:lnTo>
                    <a:pt x="90" y="237"/>
                  </a:lnTo>
                  <a:lnTo>
                    <a:pt x="90" y="239"/>
                  </a:lnTo>
                  <a:lnTo>
                    <a:pt x="92" y="241"/>
                  </a:lnTo>
                  <a:lnTo>
                    <a:pt x="93" y="243"/>
                  </a:lnTo>
                  <a:lnTo>
                    <a:pt x="98" y="244"/>
                  </a:lnTo>
                  <a:lnTo>
                    <a:pt x="98" y="283"/>
                  </a:lnTo>
                  <a:lnTo>
                    <a:pt x="98" y="283"/>
                  </a:lnTo>
                  <a:close/>
                  <a:moveTo>
                    <a:pt x="86" y="22"/>
                  </a:moveTo>
                  <a:lnTo>
                    <a:pt x="86" y="22"/>
                  </a:lnTo>
                  <a:lnTo>
                    <a:pt x="86" y="22"/>
                  </a:lnTo>
                  <a:lnTo>
                    <a:pt x="92" y="14"/>
                  </a:lnTo>
                  <a:lnTo>
                    <a:pt x="98" y="7"/>
                  </a:lnTo>
                  <a:lnTo>
                    <a:pt x="98" y="56"/>
                  </a:lnTo>
                  <a:lnTo>
                    <a:pt x="93" y="68"/>
                  </a:lnTo>
                  <a:lnTo>
                    <a:pt x="93" y="68"/>
                  </a:lnTo>
                  <a:lnTo>
                    <a:pt x="93" y="68"/>
                  </a:lnTo>
                  <a:lnTo>
                    <a:pt x="92" y="73"/>
                  </a:lnTo>
                  <a:lnTo>
                    <a:pt x="92" y="79"/>
                  </a:lnTo>
                  <a:lnTo>
                    <a:pt x="94" y="84"/>
                  </a:lnTo>
                  <a:lnTo>
                    <a:pt x="98" y="90"/>
                  </a:lnTo>
                  <a:lnTo>
                    <a:pt x="98" y="113"/>
                  </a:lnTo>
                  <a:lnTo>
                    <a:pt x="86" y="107"/>
                  </a:lnTo>
                  <a:lnTo>
                    <a:pt x="86" y="22"/>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0" y="232"/>
                  </a:lnTo>
                  <a:lnTo>
                    <a:pt x="73" y="232"/>
                  </a:lnTo>
                  <a:lnTo>
                    <a:pt x="75" y="232"/>
                  </a:lnTo>
                  <a:lnTo>
                    <a:pt x="77" y="230"/>
                  </a:lnTo>
                  <a:lnTo>
                    <a:pt x="78" y="229"/>
                  </a:lnTo>
                  <a:lnTo>
                    <a:pt x="86" y="212"/>
                  </a:lnTo>
                  <a:lnTo>
                    <a:pt x="86" y="278"/>
                  </a:lnTo>
                  <a:lnTo>
                    <a:pt x="86" y="278"/>
                  </a:lnTo>
                  <a:close/>
                  <a:moveTo>
                    <a:pt x="58" y="83"/>
                  </a:moveTo>
                  <a:lnTo>
                    <a:pt x="86" y="22"/>
                  </a:lnTo>
                  <a:lnTo>
                    <a:pt x="86" y="107"/>
                  </a:lnTo>
                  <a:lnTo>
                    <a:pt x="82" y="106"/>
                  </a:lnTo>
                  <a:lnTo>
                    <a:pt x="82" y="106"/>
                  </a:lnTo>
                  <a:lnTo>
                    <a:pt x="81" y="105"/>
                  </a:lnTo>
                  <a:lnTo>
                    <a:pt x="78" y="105"/>
                  </a:lnTo>
                  <a:lnTo>
                    <a:pt x="77" y="106"/>
                  </a:lnTo>
                  <a:lnTo>
                    <a:pt x="75" y="109"/>
                  </a:lnTo>
                  <a:lnTo>
                    <a:pt x="67" y="126"/>
                  </a:lnTo>
                  <a:lnTo>
                    <a:pt x="67" y="126"/>
                  </a:lnTo>
                  <a:lnTo>
                    <a:pt x="67" y="126"/>
                  </a:lnTo>
                  <a:lnTo>
                    <a:pt x="66" y="128"/>
                  </a:lnTo>
                  <a:lnTo>
                    <a:pt x="67" y="130"/>
                  </a:lnTo>
                  <a:lnTo>
                    <a:pt x="67" y="132"/>
                  </a:lnTo>
                  <a:lnTo>
                    <a:pt x="70" y="133"/>
                  </a:lnTo>
                  <a:lnTo>
                    <a:pt x="86" y="141"/>
                  </a:lnTo>
                  <a:lnTo>
                    <a:pt x="86" y="156"/>
                  </a:lnTo>
                  <a:lnTo>
                    <a:pt x="65" y="145"/>
                  </a:lnTo>
                  <a:lnTo>
                    <a:pt x="65" y="145"/>
                  </a:lnTo>
                  <a:lnTo>
                    <a:pt x="61" y="145"/>
                  </a:lnTo>
                  <a:lnTo>
                    <a:pt x="58" y="147"/>
                  </a:lnTo>
                  <a:lnTo>
                    <a:pt x="58" y="83"/>
                  </a:lnTo>
                  <a:lnTo>
                    <a:pt x="58" y="83"/>
                  </a:lnTo>
                  <a:close/>
                  <a:moveTo>
                    <a:pt x="86" y="190"/>
                  </a:moveTo>
                  <a:lnTo>
                    <a:pt x="86" y="206"/>
                  </a:lnTo>
                  <a:lnTo>
                    <a:pt x="86" y="206"/>
                  </a:lnTo>
                  <a:lnTo>
                    <a:pt x="84" y="203"/>
                  </a:lnTo>
                  <a:lnTo>
                    <a:pt x="58" y="191"/>
                  </a:lnTo>
                  <a:lnTo>
                    <a:pt x="58" y="176"/>
                  </a:lnTo>
                  <a:lnTo>
                    <a:pt x="86" y="190"/>
                  </a:lnTo>
                  <a:close/>
                  <a:moveTo>
                    <a:pt x="58" y="264"/>
                  </a:moveTo>
                  <a:lnTo>
                    <a:pt x="21" y="247"/>
                  </a:ln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8" y="147"/>
                  </a:lnTo>
                  <a:lnTo>
                    <a:pt x="56" y="148"/>
                  </a:lnTo>
                  <a:lnTo>
                    <a:pt x="48" y="165"/>
                  </a:lnTo>
                  <a:lnTo>
                    <a:pt x="48" y="165"/>
                  </a:lnTo>
                  <a:lnTo>
                    <a:pt x="48" y="165"/>
                  </a:lnTo>
                  <a:lnTo>
                    <a:pt x="48" y="168"/>
                  </a:lnTo>
                  <a:lnTo>
                    <a:pt x="48" y="170"/>
                  </a:lnTo>
                  <a:lnTo>
                    <a:pt x="50" y="172"/>
                  </a:lnTo>
                  <a:lnTo>
                    <a:pt x="51" y="174"/>
                  </a:lnTo>
                  <a:lnTo>
                    <a:pt x="58" y="176"/>
                  </a:lnTo>
                  <a:lnTo>
                    <a:pt x="58" y="191"/>
                  </a:lnTo>
                  <a:lnTo>
                    <a:pt x="46" y="186"/>
                  </a:lnTo>
                  <a:lnTo>
                    <a:pt x="46" y="186"/>
                  </a:lnTo>
                  <a:lnTo>
                    <a:pt x="43" y="184"/>
                  </a:lnTo>
                  <a:lnTo>
                    <a:pt x="42" y="186"/>
                  </a:lnTo>
                  <a:lnTo>
                    <a:pt x="39" y="187"/>
                  </a:lnTo>
                  <a:lnTo>
                    <a:pt x="38" y="188"/>
                  </a:lnTo>
                  <a:lnTo>
                    <a:pt x="29" y="206"/>
                  </a:lnTo>
                  <a:lnTo>
                    <a:pt x="29" y="206"/>
                  </a:lnTo>
                  <a:lnTo>
                    <a:pt x="29" y="206"/>
                  </a:lnTo>
                  <a:lnTo>
                    <a:pt x="29" y="207"/>
                  </a:lnTo>
                  <a:lnTo>
                    <a:pt x="29" y="210"/>
                  </a:lnTo>
                  <a:lnTo>
                    <a:pt x="31" y="212"/>
                  </a:lnTo>
                  <a:lnTo>
                    <a:pt x="32" y="213"/>
                  </a:lnTo>
                  <a:lnTo>
                    <a:pt x="58" y="225"/>
                  </a:lnTo>
                  <a:lnTo>
                    <a:pt x="58" y="264"/>
                  </a:lnTo>
                  <a:close/>
                </a:path>
              </a:pathLst>
            </a:custGeom>
            <a:solidFill>
              <a:schemeClr val="accent5"/>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162" name="组合 212"/>
            <p:cNvGrpSpPr/>
            <p:nvPr/>
          </p:nvGrpSpPr>
          <p:grpSpPr>
            <a:xfrm>
              <a:off x="748652" y="2358894"/>
              <a:ext cx="619045" cy="651025"/>
              <a:chOff x="1704976" y="2255838"/>
              <a:chExt cx="619125" cy="650875"/>
            </a:xfrm>
            <a:solidFill>
              <a:schemeClr val="accent1"/>
            </a:solidFill>
          </p:grpSpPr>
          <p:sp>
            <p:nvSpPr>
              <p:cNvPr id="163" name="Rectangle 155"/>
              <p:cNvSpPr>
                <a:spLocks noChangeArrowheads="1"/>
              </p:cNvSpPr>
              <p:nvPr/>
            </p:nvSpPr>
            <p:spPr bwMode="auto">
              <a:xfrm>
                <a:off x="1704976" y="2873375"/>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4" name="Rectangle 156"/>
              <p:cNvSpPr>
                <a:spLocks noChangeArrowheads="1"/>
              </p:cNvSpPr>
              <p:nvPr/>
            </p:nvSpPr>
            <p:spPr bwMode="auto">
              <a:xfrm>
                <a:off x="1730376" y="2811463"/>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5" name="Rectangle 157"/>
              <p:cNvSpPr>
                <a:spLocks noChangeArrowheads="1"/>
              </p:cNvSpPr>
              <p:nvPr/>
            </p:nvSpPr>
            <p:spPr bwMode="auto">
              <a:xfrm>
                <a:off x="1954213"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6" name="Rectangle 158"/>
              <p:cNvSpPr>
                <a:spLocks noChangeArrowheads="1"/>
              </p:cNvSpPr>
              <p:nvPr/>
            </p:nvSpPr>
            <p:spPr bwMode="auto">
              <a:xfrm>
                <a:off x="1976438"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7" name="Rectangle 159"/>
              <p:cNvSpPr>
                <a:spLocks noChangeArrowheads="1"/>
              </p:cNvSpPr>
              <p:nvPr/>
            </p:nvSpPr>
            <p:spPr bwMode="auto">
              <a:xfrm>
                <a:off x="1954213"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8" name="Rectangle 160"/>
              <p:cNvSpPr>
                <a:spLocks noChangeArrowheads="1"/>
              </p:cNvSpPr>
              <p:nvPr/>
            </p:nvSpPr>
            <p:spPr bwMode="auto">
              <a:xfrm>
                <a:off x="1774826" y="2747963"/>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9" name="Rectangle 161"/>
              <p:cNvSpPr>
                <a:spLocks noChangeArrowheads="1"/>
              </p:cNvSpPr>
              <p:nvPr/>
            </p:nvSpPr>
            <p:spPr bwMode="auto">
              <a:xfrm>
                <a:off x="1795463"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0" name="Rectangle 162"/>
              <p:cNvSpPr>
                <a:spLocks noChangeArrowheads="1"/>
              </p:cNvSpPr>
              <p:nvPr/>
            </p:nvSpPr>
            <p:spPr bwMode="auto">
              <a:xfrm>
                <a:off x="1774826" y="250507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1" name="Rectangle 163"/>
              <p:cNvSpPr>
                <a:spLocks noChangeArrowheads="1"/>
              </p:cNvSpPr>
              <p:nvPr/>
            </p:nvSpPr>
            <p:spPr bwMode="auto">
              <a:xfrm>
                <a:off x="2135188"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2" name="Rectangle 164"/>
              <p:cNvSpPr>
                <a:spLocks noChangeArrowheads="1"/>
              </p:cNvSpPr>
              <p:nvPr/>
            </p:nvSpPr>
            <p:spPr bwMode="auto">
              <a:xfrm>
                <a:off x="2157413" y="2517775"/>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3" name="Rectangle 165"/>
              <p:cNvSpPr>
                <a:spLocks noChangeArrowheads="1"/>
              </p:cNvSpPr>
              <p:nvPr/>
            </p:nvSpPr>
            <p:spPr bwMode="auto">
              <a:xfrm>
                <a:off x="2135188"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4" name="Rectangle 166"/>
              <p:cNvSpPr>
                <a:spLocks noChangeArrowheads="1"/>
              </p:cNvSpPr>
              <p:nvPr/>
            </p:nvSpPr>
            <p:spPr bwMode="auto">
              <a:xfrm>
                <a:off x="1730376" y="24352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5" name="Freeform 167"/>
              <p:cNvSpPr/>
              <p:nvPr/>
            </p:nvSpPr>
            <p:spPr bwMode="auto">
              <a:xfrm>
                <a:off x="1730376" y="2255838"/>
                <a:ext cx="568325" cy="179388"/>
              </a:xfrm>
              <a:custGeom>
                <a:avLst/>
                <a:gdLst>
                  <a:gd name="T0" fmla="*/ 179 w 358"/>
                  <a:gd name="T1" fmla="*/ 0 h 113"/>
                  <a:gd name="T2" fmla="*/ 0 w 358"/>
                  <a:gd name="T3" fmla="*/ 113 h 113"/>
                  <a:gd name="T4" fmla="*/ 358 w 358"/>
                  <a:gd name="T5" fmla="*/ 113 h 113"/>
                  <a:gd name="T6" fmla="*/ 179 w 358"/>
                  <a:gd name="T7" fmla="*/ 0 h 113"/>
                </a:gdLst>
                <a:ahLst/>
                <a:cxnLst>
                  <a:cxn ang="0">
                    <a:pos x="T0" y="T1"/>
                  </a:cxn>
                  <a:cxn ang="0">
                    <a:pos x="T2" y="T3"/>
                  </a:cxn>
                  <a:cxn ang="0">
                    <a:pos x="T4" y="T5"/>
                  </a:cxn>
                  <a:cxn ang="0">
                    <a:pos x="T6" y="T7"/>
                  </a:cxn>
                </a:cxnLst>
                <a:rect l="0" t="0" r="r" b="b"/>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76" name="Freeform 168"/>
            <p:cNvSpPr>
              <a:spLocks noEditPoints="1"/>
            </p:cNvSpPr>
            <p:nvPr/>
          </p:nvSpPr>
          <p:spPr bwMode="auto">
            <a:xfrm>
              <a:off x="2115041" y="2521960"/>
              <a:ext cx="789282" cy="516003"/>
            </a:xfrm>
            <a:custGeom>
              <a:avLst/>
              <a:gdLst>
                <a:gd name="T0" fmla="*/ 497 w 497"/>
                <a:gd name="T1" fmla="*/ 0 h 325"/>
                <a:gd name="T2" fmla="*/ 386 w 497"/>
                <a:gd name="T3" fmla="*/ 37 h 325"/>
                <a:gd name="T4" fmla="*/ 386 w 497"/>
                <a:gd name="T5" fmla="*/ 210 h 325"/>
                <a:gd name="T6" fmla="*/ 386 w 497"/>
                <a:gd name="T7" fmla="*/ 210 h 325"/>
                <a:gd name="T8" fmla="*/ 397 w 497"/>
                <a:gd name="T9" fmla="*/ 209 h 325"/>
                <a:gd name="T10" fmla="*/ 405 w 497"/>
                <a:gd name="T11" fmla="*/ 206 h 325"/>
                <a:gd name="T12" fmla="*/ 409 w 497"/>
                <a:gd name="T13" fmla="*/ 204 h 325"/>
                <a:gd name="T14" fmla="*/ 411 w 497"/>
                <a:gd name="T15" fmla="*/ 201 h 325"/>
                <a:gd name="T16" fmla="*/ 413 w 497"/>
                <a:gd name="T17" fmla="*/ 197 h 325"/>
                <a:gd name="T18" fmla="*/ 413 w 497"/>
                <a:gd name="T19" fmla="*/ 194 h 325"/>
                <a:gd name="T20" fmla="*/ 413 w 497"/>
                <a:gd name="T21" fmla="*/ 118 h 325"/>
                <a:gd name="T22" fmla="*/ 399 w 497"/>
                <a:gd name="T23" fmla="*/ 118 h 325"/>
                <a:gd name="T24" fmla="*/ 399 w 497"/>
                <a:gd name="T25" fmla="*/ 86 h 325"/>
                <a:gd name="T26" fmla="*/ 413 w 497"/>
                <a:gd name="T27" fmla="*/ 86 h 325"/>
                <a:gd name="T28" fmla="*/ 447 w 497"/>
                <a:gd name="T29" fmla="*/ 86 h 325"/>
                <a:gd name="T30" fmla="*/ 462 w 497"/>
                <a:gd name="T31" fmla="*/ 86 h 325"/>
                <a:gd name="T32" fmla="*/ 462 w 497"/>
                <a:gd name="T33" fmla="*/ 118 h 325"/>
                <a:gd name="T34" fmla="*/ 447 w 497"/>
                <a:gd name="T35" fmla="*/ 118 h 325"/>
                <a:gd name="T36" fmla="*/ 447 w 497"/>
                <a:gd name="T37" fmla="*/ 194 h 325"/>
                <a:gd name="T38" fmla="*/ 447 w 497"/>
                <a:gd name="T39" fmla="*/ 194 h 325"/>
                <a:gd name="T40" fmla="*/ 446 w 497"/>
                <a:gd name="T41" fmla="*/ 204 h 325"/>
                <a:gd name="T42" fmla="*/ 442 w 497"/>
                <a:gd name="T43" fmla="*/ 212 h 325"/>
                <a:gd name="T44" fmla="*/ 436 w 497"/>
                <a:gd name="T45" fmla="*/ 220 h 325"/>
                <a:gd name="T46" fmla="*/ 430 w 497"/>
                <a:gd name="T47" fmla="*/ 227 h 325"/>
                <a:gd name="T48" fmla="*/ 420 w 497"/>
                <a:gd name="T49" fmla="*/ 232 h 325"/>
                <a:gd name="T50" fmla="*/ 411 w 497"/>
                <a:gd name="T51" fmla="*/ 236 h 325"/>
                <a:gd name="T52" fmla="*/ 399 w 497"/>
                <a:gd name="T53" fmla="*/ 239 h 325"/>
                <a:gd name="T54" fmla="*/ 386 w 497"/>
                <a:gd name="T55" fmla="*/ 239 h 325"/>
                <a:gd name="T56" fmla="*/ 386 w 497"/>
                <a:gd name="T57" fmla="*/ 289 h 325"/>
                <a:gd name="T58" fmla="*/ 497 w 497"/>
                <a:gd name="T59" fmla="*/ 325 h 325"/>
                <a:gd name="T60" fmla="*/ 497 w 497"/>
                <a:gd name="T61" fmla="*/ 0 h 325"/>
                <a:gd name="T62" fmla="*/ 386 w 497"/>
                <a:gd name="T63" fmla="*/ 37 h 325"/>
                <a:gd name="T64" fmla="*/ 0 w 497"/>
                <a:gd name="T65" fmla="*/ 163 h 325"/>
                <a:gd name="T66" fmla="*/ 386 w 497"/>
                <a:gd name="T67" fmla="*/ 289 h 325"/>
                <a:gd name="T68" fmla="*/ 386 w 497"/>
                <a:gd name="T69" fmla="*/ 239 h 325"/>
                <a:gd name="T70" fmla="*/ 386 w 497"/>
                <a:gd name="T71" fmla="*/ 239 h 325"/>
                <a:gd name="T72" fmla="*/ 374 w 497"/>
                <a:gd name="T73" fmla="*/ 239 h 325"/>
                <a:gd name="T74" fmla="*/ 363 w 497"/>
                <a:gd name="T75" fmla="*/ 236 h 325"/>
                <a:gd name="T76" fmla="*/ 353 w 497"/>
                <a:gd name="T77" fmla="*/ 232 h 325"/>
                <a:gd name="T78" fmla="*/ 343 w 497"/>
                <a:gd name="T79" fmla="*/ 227 h 325"/>
                <a:gd name="T80" fmla="*/ 336 w 497"/>
                <a:gd name="T81" fmla="*/ 220 h 325"/>
                <a:gd name="T82" fmla="*/ 331 w 497"/>
                <a:gd name="T83" fmla="*/ 212 h 325"/>
                <a:gd name="T84" fmla="*/ 327 w 497"/>
                <a:gd name="T85" fmla="*/ 204 h 325"/>
                <a:gd name="T86" fmla="*/ 325 w 497"/>
                <a:gd name="T87" fmla="*/ 194 h 325"/>
                <a:gd name="T88" fmla="*/ 325 w 497"/>
                <a:gd name="T89" fmla="*/ 118 h 325"/>
                <a:gd name="T90" fmla="*/ 311 w 497"/>
                <a:gd name="T91" fmla="*/ 118 h 325"/>
                <a:gd name="T92" fmla="*/ 311 w 497"/>
                <a:gd name="T93" fmla="*/ 86 h 325"/>
                <a:gd name="T94" fmla="*/ 325 w 497"/>
                <a:gd name="T95" fmla="*/ 86 h 325"/>
                <a:gd name="T96" fmla="*/ 359 w 497"/>
                <a:gd name="T97" fmla="*/ 86 h 325"/>
                <a:gd name="T98" fmla="*/ 376 w 497"/>
                <a:gd name="T99" fmla="*/ 86 h 325"/>
                <a:gd name="T100" fmla="*/ 376 w 497"/>
                <a:gd name="T101" fmla="*/ 118 h 325"/>
                <a:gd name="T102" fmla="*/ 359 w 497"/>
                <a:gd name="T103" fmla="*/ 118 h 325"/>
                <a:gd name="T104" fmla="*/ 359 w 497"/>
                <a:gd name="T105" fmla="*/ 194 h 325"/>
                <a:gd name="T106" fmla="*/ 359 w 497"/>
                <a:gd name="T107" fmla="*/ 194 h 325"/>
                <a:gd name="T108" fmla="*/ 361 w 497"/>
                <a:gd name="T109" fmla="*/ 197 h 325"/>
                <a:gd name="T110" fmla="*/ 362 w 497"/>
                <a:gd name="T111" fmla="*/ 201 h 325"/>
                <a:gd name="T112" fmla="*/ 365 w 497"/>
                <a:gd name="T113" fmla="*/ 204 h 325"/>
                <a:gd name="T114" fmla="*/ 367 w 497"/>
                <a:gd name="T115" fmla="*/ 206 h 325"/>
                <a:gd name="T116" fmla="*/ 376 w 497"/>
                <a:gd name="T117" fmla="*/ 209 h 325"/>
                <a:gd name="T118" fmla="*/ 386 w 497"/>
                <a:gd name="T119" fmla="*/ 210 h 325"/>
                <a:gd name="T120" fmla="*/ 386 w 497"/>
                <a:gd name="T121" fmla="*/ 3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325">
                  <a:moveTo>
                    <a:pt x="497" y="0"/>
                  </a:moveTo>
                  <a:lnTo>
                    <a:pt x="386" y="37"/>
                  </a:lnTo>
                  <a:lnTo>
                    <a:pt x="386" y="210"/>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59" y="194"/>
                  </a:lnTo>
                  <a:lnTo>
                    <a:pt x="361" y="197"/>
                  </a:lnTo>
                  <a:lnTo>
                    <a:pt x="362" y="201"/>
                  </a:lnTo>
                  <a:lnTo>
                    <a:pt x="365" y="204"/>
                  </a:lnTo>
                  <a:lnTo>
                    <a:pt x="367" y="206"/>
                  </a:lnTo>
                  <a:lnTo>
                    <a:pt x="376" y="209"/>
                  </a:lnTo>
                  <a:lnTo>
                    <a:pt x="386" y="210"/>
                  </a:lnTo>
                  <a:lnTo>
                    <a:pt x="386" y="37"/>
                  </a:lnTo>
                  <a:close/>
                </a:path>
              </a:pathLst>
            </a:custGeom>
            <a:solidFill>
              <a:schemeClr val="accent4"/>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5804" name="Freeform 169"/>
            <p:cNvSpPr>
              <a:spLocks noEditPoints="1"/>
            </p:cNvSpPr>
            <p:nvPr/>
          </p:nvSpPr>
          <p:spPr>
            <a:xfrm>
              <a:off x="978807" y="3089312"/>
              <a:ext cx="185714" cy="320749"/>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chemeClr val="accent1">
                <a:alpha val="100000"/>
              </a:schemeClr>
            </a:solidFill>
            <a:ln w="9525">
              <a:noFill/>
            </a:ln>
          </p:spPr>
          <p:txBody>
            <a:bodyPr/>
            <a:lstStyle/>
            <a:p>
              <a:endParaRPr lang="zh-CN" altLang="en-US"/>
            </a:p>
          </p:txBody>
        </p:sp>
        <p:sp>
          <p:nvSpPr>
            <p:cNvPr id="75805" name="Freeform 170"/>
            <p:cNvSpPr>
              <a:spLocks noEditPoints="1"/>
            </p:cNvSpPr>
            <p:nvPr/>
          </p:nvSpPr>
          <p:spPr>
            <a:xfrm>
              <a:off x="2412134" y="1979392"/>
              <a:ext cx="369840" cy="455719"/>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0" t="0" r="0" b="0"/>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chemeClr val="accent2">
                <a:alpha val="100000"/>
              </a:schemeClr>
            </a:solidFill>
            <a:ln w="9525">
              <a:noFill/>
            </a:ln>
          </p:spPr>
          <p:txBody>
            <a:bodyPr/>
            <a:lstStyle/>
            <a:p>
              <a:endParaRPr lang="zh-CN" altLang="en-US"/>
            </a:p>
          </p:txBody>
        </p:sp>
        <p:sp>
          <p:nvSpPr>
            <p:cNvPr id="75806" name="Freeform 171"/>
            <p:cNvSpPr>
              <a:spLocks noEditPoints="1"/>
            </p:cNvSpPr>
            <p:nvPr/>
          </p:nvSpPr>
          <p:spPr>
            <a:xfrm>
              <a:off x="1501029" y="2457341"/>
              <a:ext cx="561902" cy="56528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Lst>
              <a:rect l="0" t="0" r="0" b="0"/>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chemeClr val="accent2">
                <a:alpha val="100000"/>
              </a:schemeClr>
            </a:solidFill>
            <a:ln w="9525">
              <a:noFill/>
            </a:ln>
          </p:spPr>
          <p:txBody>
            <a:bodyPr/>
            <a:lstStyle/>
            <a:p>
              <a:endParaRPr lang="zh-CN" altLang="en-US"/>
            </a:p>
          </p:txBody>
        </p:sp>
        <p:sp>
          <p:nvSpPr>
            <p:cNvPr id="75807" name="Freeform 172"/>
            <p:cNvSpPr>
              <a:spLocks noEditPoints="1"/>
            </p:cNvSpPr>
            <p:nvPr/>
          </p:nvSpPr>
          <p:spPr>
            <a:xfrm>
              <a:off x="1916900" y="3182995"/>
              <a:ext cx="633331" cy="4827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chemeClr val="accent2">
                <a:alpha val="100000"/>
              </a:schemeClr>
            </a:solidFill>
            <a:ln w="9525">
              <a:noFill/>
            </a:ln>
          </p:spPr>
          <p:txBody>
            <a:bodyPr/>
            <a:lstStyle/>
            <a:p>
              <a:endParaRPr lang="zh-CN" altLang="en-US"/>
            </a:p>
          </p:txBody>
        </p:sp>
        <p:grpSp>
          <p:nvGrpSpPr>
            <p:cNvPr id="181" name="组合 210"/>
            <p:cNvGrpSpPr/>
            <p:nvPr/>
          </p:nvGrpSpPr>
          <p:grpSpPr>
            <a:xfrm>
              <a:off x="2135945" y="2439874"/>
              <a:ext cx="209523" cy="200072"/>
              <a:chOff x="3092451" y="2336800"/>
              <a:chExt cx="209550" cy="200025"/>
            </a:xfrm>
            <a:solidFill>
              <a:schemeClr val="accent6"/>
            </a:solidFill>
          </p:grpSpPr>
          <p:sp>
            <p:nvSpPr>
              <p:cNvPr id="182" name="Freeform 173"/>
              <p:cNvSpPr/>
              <p:nvPr/>
            </p:nvSpPr>
            <p:spPr bwMode="auto">
              <a:xfrm>
                <a:off x="3092451" y="2378075"/>
                <a:ext cx="209550" cy="158750"/>
              </a:xfrm>
              <a:custGeom>
                <a:avLst/>
                <a:gdLst>
                  <a:gd name="T0" fmla="*/ 39 w 132"/>
                  <a:gd name="T1" fmla="*/ 0 h 100"/>
                  <a:gd name="T2" fmla="*/ 39 w 132"/>
                  <a:gd name="T3" fmla="*/ 0 h 100"/>
                  <a:gd name="T4" fmla="*/ 47 w 132"/>
                  <a:gd name="T5" fmla="*/ 0 h 100"/>
                  <a:gd name="T6" fmla="*/ 54 w 132"/>
                  <a:gd name="T7" fmla="*/ 2 h 100"/>
                  <a:gd name="T8" fmla="*/ 61 w 132"/>
                  <a:gd name="T9" fmla="*/ 5 h 100"/>
                  <a:gd name="T10" fmla="*/ 66 w 132"/>
                  <a:gd name="T11" fmla="*/ 9 h 100"/>
                  <a:gd name="T12" fmla="*/ 66 w 132"/>
                  <a:gd name="T13" fmla="*/ 9 h 100"/>
                  <a:gd name="T14" fmla="*/ 71 w 132"/>
                  <a:gd name="T15" fmla="*/ 5 h 100"/>
                  <a:gd name="T16" fmla="*/ 78 w 132"/>
                  <a:gd name="T17" fmla="*/ 2 h 100"/>
                  <a:gd name="T18" fmla="*/ 85 w 132"/>
                  <a:gd name="T19" fmla="*/ 0 h 100"/>
                  <a:gd name="T20" fmla="*/ 93 w 132"/>
                  <a:gd name="T21" fmla="*/ 0 h 100"/>
                  <a:gd name="T22" fmla="*/ 93 w 132"/>
                  <a:gd name="T23" fmla="*/ 0 h 100"/>
                  <a:gd name="T24" fmla="*/ 101 w 132"/>
                  <a:gd name="T25" fmla="*/ 0 h 100"/>
                  <a:gd name="T26" fmla="*/ 108 w 132"/>
                  <a:gd name="T27" fmla="*/ 2 h 100"/>
                  <a:gd name="T28" fmla="*/ 115 w 132"/>
                  <a:gd name="T29" fmla="*/ 6 h 100"/>
                  <a:gd name="T30" fmla="*/ 120 w 132"/>
                  <a:gd name="T31" fmla="*/ 11 h 100"/>
                  <a:gd name="T32" fmla="*/ 126 w 132"/>
                  <a:gd name="T33" fmla="*/ 16 h 100"/>
                  <a:gd name="T34" fmla="*/ 130 w 132"/>
                  <a:gd name="T35" fmla="*/ 23 h 100"/>
                  <a:gd name="T36" fmla="*/ 131 w 132"/>
                  <a:gd name="T37" fmla="*/ 31 h 100"/>
                  <a:gd name="T38" fmla="*/ 132 w 132"/>
                  <a:gd name="T39" fmla="*/ 38 h 100"/>
                  <a:gd name="T40" fmla="*/ 132 w 132"/>
                  <a:gd name="T41" fmla="*/ 38 h 100"/>
                  <a:gd name="T42" fmla="*/ 131 w 132"/>
                  <a:gd name="T43" fmla="*/ 47 h 100"/>
                  <a:gd name="T44" fmla="*/ 128 w 132"/>
                  <a:gd name="T45" fmla="*/ 58 h 100"/>
                  <a:gd name="T46" fmla="*/ 123 w 132"/>
                  <a:gd name="T47" fmla="*/ 69 h 100"/>
                  <a:gd name="T48" fmla="*/ 116 w 132"/>
                  <a:gd name="T49" fmla="*/ 78 h 100"/>
                  <a:gd name="T50" fmla="*/ 107 w 132"/>
                  <a:gd name="T51" fmla="*/ 86 h 100"/>
                  <a:gd name="T52" fmla="*/ 94 w 132"/>
                  <a:gd name="T53" fmla="*/ 93 h 100"/>
                  <a:gd name="T54" fmla="*/ 88 w 132"/>
                  <a:gd name="T55" fmla="*/ 96 h 100"/>
                  <a:gd name="T56" fmla="*/ 81 w 132"/>
                  <a:gd name="T57" fmla="*/ 99 h 100"/>
                  <a:gd name="T58" fmla="*/ 73 w 132"/>
                  <a:gd name="T59" fmla="*/ 99 h 100"/>
                  <a:gd name="T60" fmla="*/ 63 w 132"/>
                  <a:gd name="T61" fmla="*/ 100 h 100"/>
                  <a:gd name="T62" fmla="*/ 63 w 132"/>
                  <a:gd name="T63" fmla="*/ 100 h 100"/>
                  <a:gd name="T64" fmla="*/ 55 w 132"/>
                  <a:gd name="T65" fmla="*/ 99 h 100"/>
                  <a:gd name="T66" fmla="*/ 47 w 132"/>
                  <a:gd name="T67" fmla="*/ 97 h 100"/>
                  <a:gd name="T68" fmla="*/ 39 w 132"/>
                  <a:gd name="T69" fmla="*/ 96 h 100"/>
                  <a:gd name="T70" fmla="*/ 32 w 132"/>
                  <a:gd name="T71" fmla="*/ 93 h 100"/>
                  <a:gd name="T72" fmla="*/ 27 w 132"/>
                  <a:gd name="T73" fmla="*/ 90 h 100"/>
                  <a:gd name="T74" fmla="*/ 21 w 132"/>
                  <a:gd name="T75" fmla="*/ 86 h 100"/>
                  <a:gd name="T76" fmla="*/ 13 w 132"/>
                  <a:gd name="T77" fmla="*/ 77 h 100"/>
                  <a:gd name="T78" fmla="*/ 6 w 132"/>
                  <a:gd name="T79" fmla="*/ 67 h 100"/>
                  <a:gd name="T80" fmla="*/ 2 w 132"/>
                  <a:gd name="T81" fmla="*/ 57 h 100"/>
                  <a:gd name="T82" fmla="*/ 0 w 132"/>
                  <a:gd name="T83" fmla="*/ 47 h 100"/>
                  <a:gd name="T84" fmla="*/ 0 w 132"/>
                  <a:gd name="T85" fmla="*/ 38 h 100"/>
                  <a:gd name="T86" fmla="*/ 0 w 132"/>
                  <a:gd name="T87" fmla="*/ 38 h 100"/>
                  <a:gd name="T88" fmla="*/ 0 w 132"/>
                  <a:gd name="T89" fmla="*/ 31 h 100"/>
                  <a:gd name="T90" fmla="*/ 2 w 132"/>
                  <a:gd name="T91" fmla="*/ 23 h 100"/>
                  <a:gd name="T92" fmla="*/ 6 w 132"/>
                  <a:gd name="T93" fmla="*/ 16 h 100"/>
                  <a:gd name="T94" fmla="*/ 12 w 132"/>
                  <a:gd name="T95" fmla="*/ 11 h 100"/>
                  <a:gd name="T96" fmla="*/ 17 w 132"/>
                  <a:gd name="T97" fmla="*/ 6 h 100"/>
                  <a:gd name="T98" fmla="*/ 24 w 132"/>
                  <a:gd name="T99" fmla="*/ 2 h 100"/>
                  <a:gd name="T100" fmla="*/ 31 w 132"/>
                  <a:gd name="T101" fmla="*/ 0 h 100"/>
                  <a:gd name="T102" fmla="*/ 39 w 132"/>
                  <a:gd name="T103" fmla="*/ 0 h 100"/>
                  <a:gd name="T104" fmla="*/ 39 w 132"/>
                  <a:gd name="T10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2" h="100">
                    <a:moveTo>
                      <a:pt x="39" y="0"/>
                    </a:moveTo>
                    <a:lnTo>
                      <a:pt x="39" y="0"/>
                    </a:lnTo>
                    <a:lnTo>
                      <a:pt x="47" y="0"/>
                    </a:lnTo>
                    <a:lnTo>
                      <a:pt x="54" y="2"/>
                    </a:lnTo>
                    <a:lnTo>
                      <a:pt x="61" y="5"/>
                    </a:lnTo>
                    <a:lnTo>
                      <a:pt x="66" y="9"/>
                    </a:lnTo>
                    <a:lnTo>
                      <a:pt x="66" y="9"/>
                    </a:lnTo>
                    <a:lnTo>
                      <a:pt x="71" y="5"/>
                    </a:lnTo>
                    <a:lnTo>
                      <a:pt x="78" y="2"/>
                    </a:lnTo>
                    <a:lnTo>
                      <a:pt x="85" y="0"/>
                    </a:lnTo>
                    <a:lnTo>
                      <a:pt x="93" y="0"/>
                    </a:lnTo>
                    <a:lnTo>
                      <a:pt x="93" y="0"/>
                    </a:lnTo>
                    <a:lnTo>
                      <a:pt x="101" y="0"/>
                    </a:lnTo>
                    <a:lnTo>
                      <a:pt x="108" y="2"/>
                    </a:lnTo>
                    <a:lnTo>
                      <a:pt x="115" y="6"/>
                    </a:lnTo>
                    <a:lnTo>
                      <a:pt x="120" y="11"/>
                    </a:lnTo>
                    <a:lnTo>
                      <a:pt x="126" y="16"/>
                    </a:lnTo>
                    <a:lnTo>
                      <a:pt x="130" y="23"/>
                    </a:lnTo>
                    <a:lnTo>
                      <a:pt x="131" y="31"/>
                    </a:lnTo>
                    <a:lnTo>
                      <a:pt x="132" y="38"/>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8"/>
                    </a:lnTo>
                    <a:lnTo>
                      <a:pt x="0" y="31"/>
                    </a:lnTo>
                    <a:lnTo>
                      <a:pt x="2" y="23"/>
                    </a:lnTo>
                    <a:lnTo>
                      <a:pt x="6" y="16"/>
                    </a:lnTo>
                    <a:lnTo>
                      <a:pt x="12" y="11"/>
                    </a:lnTo>
                    <a:lnTo>
                      <a:pt x="17" y="6"/>
                    </a:lnTo>
                    <a:lnTo>
                      <a:pt x="24" y="2"/>
                    </a:lnTo>
                    <a:lnTo>
                      <a:pt x="31" y="0"/>
                    </a:lnTo>
                    <a:lnTo>
                      <a:pt x="39" y="0"/>
                    </a:lnTo>
                    <a:lnTo>
                      <a:pt x="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83" name="Freeform 174"/>
              <p:cNvSpPr/>
              <p:nvPr/>
            </p:nvSpPr>
            <p:spPr bwMode="auto">
              <a:xfrm>
                <a:off x="3149601" y="2336800"/>
                <a:ext cx="52388" cy="73025"/>
              </a:xfrm>
              <a:custGeom>
                <a:avLst/>
                <a:gdLst>
                  <a:gd name="T0" fmla="*/ 29 w 33"/>
                  <a:gd name="T1" fmla="*/ 46 h 46"/>
                  <a:gd name="T2" fmla="*/ 29 w 33"/>
                  <a:gd name="T3" fmla="*/ 46 h 46"/>
                  <a:gd name="T4" fmla="*/ 31 w 33"/>
                  <a:gd name="T5" fmla="*/ 39 h 46"/>
                  <a:gd name="T6" fmla="*/ 33 w 33"/>
                  <a:gd name="T7" fmla="*/ 34 h 46"/>
                  <a:gd name="T8" fmla="*/ 33 w 33"/>
                  <a:gd name="T9" fmla="*/ 27 h 46"/>
                  <a:gd name="T10" fmla="*/ 33 w 33"/>
                  <a:gd name="T11" fmla="*/ 22 h 46"/>
                  <a:gd name="T12" fmla="*/ 30 w 33"/>
                  <a:gd name="T13" fmla="*/ 15 h 46"/>
                  <a:gd name="T14" fmla="*/ 27 w 33"/>
                  <a:gd name="T15" fmla="*/ 9 h 46"/>
                  <a:gd name="T16" fmla="*/ 25 w 33"/>
                  <a:gd name="T17" fmla="*/ 4 h 46"/>
                  <a:gd name="T18" fmla="*/ 19 w 33"/>
                  <a:gd name="T19" fmla="*/ 0 h 46"/>
                  <a:gd name="T20" fmla="*/ 0 w 33"/>
                  <a:gd name="T21" fmla="*/ 3 h 46"/>
                  <a:gd name="T22" fmla="*/ 0 w 33"/>
                  <a:gd name="T23" fmla="*/ 3 h 46"/>
                  <a:gd name="T24" fmla="*/ 12 w 33"/>
                  <a:gd name="T25" fmla="*/ 11 h 46"/>
                  <a:gd name="T26" fmla="*/ 18 w 33"/>
                  <a:gd name="T27" fmla="*/ 15 h 46"/>
                  <a:gd name="T28" fmla="*/ 22 w 33"/>
                  <a:gd name="T29" fmla="*/ 19 h 46"/>
                  <a:gd name="T30" fmla="*/ 25 w 33"/>
                  <a:gd name="T31" fmla="*/ 24 h 46"/>
                  <a:gd name="T32" fmla="*/ 27 w 33"/>
                  <a:gd name="T33" fmla="*/ 31 h 46"/>
                  <a:gd name="T34" fmla="*/ 29 w 33"/>
                  <a:gd name="T35" fmla="*/ 38 h 46"/>
                  <a:gd name="T36" fmla="*/ 29 w 33"/>
                  <a:gd name="T37" fmla="*/ 46 h 46"/>
                  <a:gd name="T38" fmla="*/ 29 w 33"/>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0" y="3"/>
                    </a:lnTo>
                    <a:lnTo>
                      <a:pt x="12" y="11"/>
                    </a:lnTo>
                    <a:lnTo>
                      <a:pt x="18" y="15"/>
                    </a:lnTo>
                    <a:lnTo>
                      <a:pt x="22" y="19"/>
                    </a:lnTo>
                    <a:lnTo>
                      <a:pt x="25" y="24"/>
                    </a:lnTo>
                    <a:lnTo>
                      <a:pt x="27" y="31"/>
                    </a:lnTo>
                    <a:lnTo>
                      <a:pt x="29" y="38"/>
                    </a:lnTo>
                    <a:lnTo>
                      <a:pt x="29" y="46"/>
                    </a:lnTo>
                    <a:lnTo>
                      <a:pt x="29"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84" name="Freeform 175"/>
            <p:cNvSpPr>
              <a:spLocks noEditPoints="1"/>
            </p:cNvSpPr>
            <p:nvPr/>
          </p:nvSpPr>
          <p:spPr bwMode="auto">
            <a:xfrm>
              <a:off x="2357532" y="3763222"/>
              <a:ext cx="218717" cy="301992"/>
            </a:xfrm>
            <a:custGeom>
              <a:avLst/>
              <a:gdLst>
                <a:gd name="T0" fmla="*/ 125 w 137"/>
                <a:gd name="T1" fmla="*/ 55 h 191"/>
                <a:gd name="T2" fmla="*/ 126 w 137"/>
                <a:gd name="T3" fmla="*/ 51 h 191"/>
                <a:gd name="T4" fmla="*/ 133 w 137"/>
                <a:gd name="T5" fmla="*/ 34 h 191"/>
                <a:gd name="T6" fmla="*/ 136 w 137"/>
                <a:gd name="T7" fmla="*/ 29 h 191"/>
                <a:gd name="T8" fmla="*/ 137 w 137"/>
                <a:gd name="T9" fmla="*/ 21 h 191"/>
                <a:gd name="T10" fmla="*/ 136 w 137"/>
                <a:gd name="T11" fmla="*/ 13 h 191"/>
                <a:gd name="T12" fmla="*/ 132 w 137"/>
                <a:gd name="T13" fmla="*/ 6 h 191"/>
                <a:gd name="T14" fmla="*/ 128 w 137"/>
                <a:gd name="T15" fmla="*/ 4 h 191"/>
                <a:gd name="T16" fmla="*/ 116 w 137"/>
                <a:gd name="T17" fmla="*/ 0 h 191"/>
                <a:gd name="T18" fmla="*/ 103 w 137"/>
                <a:gd name="T19" fmla="*/ 4 h 191"/>
                <a:gd name="T20" fmla="*/ 113 w 137"/>
                <a:gd name="T21" fmla="*/ 39 h 191"/>
                <a:gd name="T22" fmla="*/ 103 w 137"/>
                <a:gd name="T23" fmla="*/ 59 h 191"/>
                <a:gd name="T24" fmla="*/ 110 w 137"/>
                <a:gd name="T25" fmla="*/ 48 h 191"/>
                <a:gd name="T26" fmla="*/ 110 w 137"/>
                <a:gd name="T27" fmla="*/ 42 h 191"/>
                <a:gd name="T28" fmla="*/ 120 w 137"/>
                <a:gd name="T29" fmla="*/ 48 h 191"/>
                <a:gd name="T30" fmla="*/ 121 w 137"/>
                <a:gd name="T31" fmla="*/ 52 h 191"/>
                <a:gd name="T32" fmla="*/ 121 w 137"/>
                <a:gd name="T33" fmla="*/ 57 h 191"/>
                <a:gd name="T34" fmla="*/ 103 w 137"/>
                <a:gd name="T35" fmla="*/ 89 h 191"/>
                <a:gd name="T36" fmla="*/ 97 w 137"/>
                <a:gd name="T37" fmla="*/ 93 h 191"/>
                <a:gd name="T38" fmla="*/ 99 w 137"/>
                <a:gd name="T39" fmla="*/ 92 h 191"/>
                <a:gd name="T40" fmla="*/ 103 w 137"/>
                <a:gd name="T41" fmla="*/ 89 h 191"/>
                <a:gd name="T42" fmla="*/ 101 w 137"/>
                <a:gd name="T43" fmla="*/ 85 h 191"/>
                <a:gd name="T44" fmla="*/ 99 w 137"/>
                <a:gd name="T45" fmla="*/ 86 h 191"/>
                <a:gd name="T46" fmla="*/ 95 w 137"/>
                <a:gd name="T47" fmla="*/ 88 h 191"/>
                <a:gd name="T48" fmla="*/ 84 w 137"/>
                <a:gd name="T49" fmla="*/ 81 h 191"/>
                <a:gd name="T50" fmla="*/ 84 w 137"/>
                <a:gd name="T51" fmla="*/ 81 h 191"/>
                <a:gd name="T52" fmla="*/ 90 w 137"/>
                <a:gd name="T53" fmla="*/ 78 h 191"/>
                <a:gd name="T54" fmla="*/ 103 w 137"/>
                <a:gd name="T55" fmla="*/ 34 h 191"/>
                <a:gd name="T56" fmla="*/ 88 w 137"/>
                <a:gd name="T57" fmla="*/ 23 h 191"/>
                <a:gd name="T58" fmla="*/ 80 w 137"/>
                <a:gd name="T59" fmla="*/ 25 h 191"/>
                <a:gd name="T60" fmla="*/ 57 w 137"/>
                <a:gd name="T61" fmla="*/ 59 h 191"/>
                <a:gd name="T62" fmla="*/ 57 w 137"/>
                <a:gd name="T63" fmla="*/ 66 h 191"/>
                <a:gd name="T64" fmla="*/ 22 w 137"/>
                <a:gd name="T65" fmla="*/ 153 h 191"/>
                <a:gd name="T66" fmla="*/ 26 w 137"/>
                <a:gd name="T67" fmla="*/ 154 h 191"/>
                <a:gd name="T68" fmla="*/ 29 w 137"/>
                <a:gd name="T69" fmla="*/ 155 h 191"/>
                <a:gd name="T70" fmla="*/ 29 w 137"/>
                <a:gd name="T71" fmla="*/ 162 h 191"/>
                <a:gd name="T72" fmla="*/ 33 w 137"/>
                <a:gd name="T73" fmla="*/ 161 h 191"/>
                <a:gd name="T74" fmla="*/ 38 w 137"/>
                <a:gd name="T75" fmla="*/ 162 h 191"/>
                <a:gd name="T76" fmla="*/ 40 w 137"/>
                <a:gd name="T77" fmla="*/ 163 h 191"/>
                <a:gd name="T78" fmla="*/ 41 w 137"/>
                <a:gd name="T79" fmla="*/ 169 h 191"/>
                <a:gd name="T80" fmla="*/ 38 w 137"/>
                <a:gd name="T81" fmla="*/ 173 h 191"/>
                <a:gd name="T82" fmla="*/ 22 w 137"/>
                <a:gd name="T83" fmla="*/ 182 h 191"/>
                <a:gd name="T84" fmla="*/ 41 w 137"/>
                <a:gd name="T85" fmla="*/ 176 h 191"/>
                <a:gd name="T86" fmla="*/ 103 w 137"/>
                <a:gd name="T87" fmla="*/ 29 h 191"/>
                <a:gd name="T88" fmla="*/ 97 w 137"/>
                <a:gd name="T89" fmla="*/ 9 h 191"/>
                <a:gd name="T90" fmla="*/ 103 w 137"/>
                <a:gd name="T91" fmla="*/ 4 h 191"/>
                <a:gd name="T92" fmla="*/ 22 w 137"/>
                <a:gd name="T93" fmla="*/ 117 h 191"/>
                <a:gd name="T94" fmla="*/ 2 w 137"/>
                <a:gd name="T95" fmla="*/ 191 h 191"/>
                <a:gd name="T96" fmla="*/ 22 w 137"/>
                <a:gd name="T97" fmla="*/ 180 h 191"/>
                <a:gd name="T98" fmla="*/ 5 w 137"/>
                <a:gd name="T99" fmla="*/ 174 h 191"/>
                <a:gd name="T100" fmla="*/ 5 w 137"/>
                <a:gd name="T101" fmla="*/ 150 h 191"/>
                <a:gd name="T102" fmla="*/ 6 w 137"/>
                <a:gd name="T103" fmla="*/ 149 h 191"/>
                <a:gd name="T104" fmla="*/ 10 w 137"/>
                <a:gd name="T105" fmla="*/ 146 h 191"/>
                <a:gd name="T106" fmla="*/ 15 w 137"/>
                <a:gd name="T107" fmla="*/ 146 h 191"/>
                <a:gd name="T108" fmla="*/ 17 w 137"/>
                <a:gd name="T109" fmla="*/ 149 h 191"/>
                <a:gd name="T110" fmla="*/ 18 w 137"/>
                <a:gd name="T111" fmla="*/ 155 h 191"/>
                <a:gd name="T112" fmla="*/ 19 w 137"/>
                <a:gd name="T113" fmla="*/ 154 h 191"/>
                <a:gd name="T114" fmla="*/ 22 w 137"/>
                <a:gd name="T115" fmla="*/ 117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 h="191">
                  <a:moveTo>
                    <a:pt x="103" y="89"/>
                  </a:moveTo>
                  <a:lnTo>
                    <a:pt x="125" y="55"/>
                  </a:lnTo>
                  <a:lnTo>
                    <a:pt x="125" y="55"/>
                  </a:lnTo>
                  <a:lnTo>
                    <a:pt x="126" y="51"/>
                  </a:lnTo>
                  <a:lnTo>
                    <a:pt x="125" y="47"/>
                  </a:lnTo>
                  <a:lnTo>
                    <a:pt x="133" y="34"/>
                  </a:lnTo>
                  <a:lnTo>
                    <a:pt x="133" y="34"/>
                  </a:lnTo>
                  <a:lnTo>
                    <a:pt x="136" y="29"/>
                  </a:lnTo>
                  <a:lnTo>
                    <a:pt x="137" y="25"/>
                  </a:lnTo>
                  <a:lnTo>
                    <a:pt x="137" y="21"/>
                  </a:lnTo>
                  <a:lnTo>
                    <a:pt x="137" y="17"/>
                  </a:lnTo>
                  <a:lnTo>
                    <a:pt x="136" y="13"/>
                  </a:lnTo>
                  <a:lnTo>
                    <a:pt x="135" y="9"/>
                  </a:lnTo>
                  <a:lnTo>
                    <a:pt x="132" y="6"/>
                  </a:lnTo>
                  <a:lnTo>
                    <a:pt x="128" y="4"/>
                  </a:lnTo>
                  <a:lnTo>
                    <a:pt x="128" y="4"/>
                  </a:lnTo>
                  <a:lnTo>
                    <a:pt x="121" y="0"/>
                  </a:lnTo>
                  <a:lnTo>
                    <a:pt x="116" y="0"/>
                  </a:lnTo>
                  <a:lnTo>
                    <a:pt x="109" y="1"/>
                  </a:lnTo>
                  <a:lnTo>
                    <a:pt x="103" y="4"/>
                  </a:lnTo>
                  <a:lnTo>
                    <a:pt x="103" y="29"/>
                  </a:lnTo>
                  <a:lnTo>
                    <a:pt x="113" y="39"/>
                  </a:lnTo>
                  <a:lnTo>
                    <a:pt x="103" y="34"/>
                  </a:lnTo>
                  <a:lnTo>
                    <a:pt x="103" y="59"/>
                  </a:lnTo>
                  <a:lnTo>
                    <a:pt x="110" y="48"/>
                  </a:lnTo>
                  <a:lnTo>
                    <a:pt x="110" y="48"/>
                  </a:lnTo>
                  <a:lnTo>
                    <a:pt x="110" y="46"/>
                  </a:lnTo>
                  <a:lnTo>
                    <a:pt x="110" y="42"/>
                  </a:lnTo>
                  <a:lnTo>
                    <a:pt x="120" y="48"/>
                  </a:lnTo>
                  <a:lnTo>
                    <a:pt x="120" y="48"/>
                  </a:lnTo>
                  <a:lnTo>
                    <a:pt x="121" y="50"/>
                  </a:lnTo>
                  <a:lnTo>
                    <a:pt x="121" y="52"/>
                  </a:lnTo>
                  <a:lnTo>
                    <a:pt x="121" y="54"/>
                  </a:lnTo>
                  <a:lnTo>
                    <a:pt x="121" y="57"/>
                  </a:lnTo>
                  <a:lnTo>
                    <a:pt x="103" y="82"/>
                  </a:lnTo>
                  <a:lnTo>
                    <a:pt x="103" y="89"/>
                  </a:lnTo>
                  <a:close/>
                  <a:moveTo>
                    <a:pt x="41" y="176"/>
                  </a:moveTo>
                  <a:lnTo>
                    <a:pt x="97" y="93"/>
                  </a:lnTo>
                  <a:lnTo>
                    <a:pt x="97" y="93"/>
                  </a:lnTo>
                  <a:lnTo>
                    <a:pt x="99" y="92"/>
                  </a:lnTo>
                  <a:lnTo>
                    <a:pt x="102" y="89"/>
                  </a:lnTo>
                  <a:lnTo>
                    <a:pt x="103" y="89"/>
                  </a:lnTo>
                  <a:lnTo>
                    <a:pt x="103" y="82"/>
                  </a:lnTo>
                  <a:lnTo>
                    <a:pt x="101" y="85"/>
                  </a:lnTo>
                  <a:lnTo>
                    <a:pt x="101" y="85"/>
                  </a:lnTo>
                  <a:lnTo>
                    <a:pt x="99" y="86"/>
                  </a:lnTo>
                  <a:lnTo>
                    <a:pt x="98" y="88"/>
                  </a:lnTo>
                  <a:lnTo>
                    <a:pt x="95" y="88"/>
                  </a:lnTo>
                  <a:lnTo>
                    <a:pt x="94" y="86"/>
                  </a:lnTo>
                  <a:lnTo>
                    <a:pt x="84" y="81"/>
                  </a:lnTo>
                  <a:lnTo>
                    <a:pt x="84" y="81"/>
                  </a:lnTo>
                  <a:lnTo>
                    <a:pt x="84" y="81"/>
                  </a:lnTo>
                  <a:lnTo>
                    <a:pt x="87" y="80"/>
                  </a:lnTo>
                  <a:lnTo>
                    <a:pt x="90" y="78"/>
                  </a:lnTo>
                  <a:lnTo>
                    <a:pt x="103" y="59"/>
                  </a:lnTo>
                  <a:lnTo>
                    <a:pt x="103" y="34"/>
                  </a:lnTo>
                  <a:lnTo>
                    <a:pt x="88" y="23"/>
                  </a:lnTo>
                  <a:lnTo>
                    <a:pt x="88" y="23"/>
                  </a:lnTo>
                  <a:lnTo>
                    <a:pt x="83" y="23"/>
                  </a:lnTo>
                  <a:lnTo>
                    <a:pt x="80" y="25"/>
                  </a:lnTo>
                  <a:lnTo>
                    <a:pt x="57" y="59"/>
                  </a:lnTo>
                  <a:lnTo>
                    <a:pt x="57" y="59"/>
                  </a:lnTo>
                  <a:lnTo>
                    <a:pt x="56" y="63"/>
                  </a:lnTo>
                  <a:lnTo>
                    <a:pt x="57" y="66"/>
                  </a:lnTo>
                  <a:lnTo>
                    <a:pt x="22" y="117"/>
                  </a:lnTo>
                  <a:lnTo>
                    <a:pt x="22" y="153"/>
                  </a:lnTo>
                  <a:lnTo>
                    <a:pt x="22" y="153"/>
                  </a:lnTo>
                  <a:lnTo>
                    <a:pt x="26" y="154"/>
                  </a:lnTo>
                  <a:lnTo>
                    <a:pt x="26" y="154"/>
                  </a:lnTo>
                  <a:lnTo>
                    <a:pt x="29" y="155"/>
                  </a:lnTo>
                  <a:lnTo>
                    <a:pt x="29" y="158"/>
                  </a:lnTo>
                  <a:lnTo>
                    <a:pt x="29" y="162"/>
                  </a:lnTo>
                  <a:lnTo>
                    <a:pt x="29" y="162"/>
                  </a:lnTo>
                  <a:lnTo>
                    <a:pt x="33" y="161"/>
                  </a:lnTo>
                  <a:lnTo>
                    <a:pt x="36" y="161"/>
                  </a:lnTo>
                  <a:lnTo>
                    <a:pt x="38" y="162"/>
                  </a:lnTo>
                  <a:lnTo>
                    <a:pt x="38" y="162"/>
                  </a:lnTo>
                  <a:lnTo>
                    <a:pt x="40" y="163"/>
                  </a:lnTo>
                  <a:lnTo>
                    <a:pt x="41" y="166"/>
                  </a:lnTo>
                  <a:lnTo>
                    <a:pt x="41" y="169"/>
                  </a:lnTo>
                  <a:lnTo>
                    <a:pt x="40" y="172"/>
                  </a:lnTo>
                  <a:lnTo>
                    <a:pt x="38" y="173"/>
                  </a:lnTo>
                  <a:lnTo>
                    <a:pt x="22" y="180"/>
                  </a:lnTo>
                  <a:lnTo>
                    <a:pt x="22" y="182"/>
                  </a:lnTo>
                  <a:lnTo>
                    <a:pt x="41" y="176"/>
                  </a:lnTo>
                  <a:lnTo>
                    <a:pt x="41" y="176"/>
                  </a:lnTo>
                  <a:close/>
                  <a:moveTo>
                    <a:pt x="103" y="4"/>
                  </a:moveTo>
                  <a:lnTo>
                    <a:pt x="103" y="29"/>
                  </a:lnTo>
                  <a:lnTo>
                    <a:pt x="91" y="17"/>
                  </a:lnTo>
                  <a:lnTo>
                    <a:pt x="97" y="9"/>
                  </a:lnTo>
                  <a:lnTo>
                    <a:pt x="97" y="9"/>
                  </a:lnTo>
                  <a:lnTo>
                    <a:pt x="103" y="4"/>
                  </a:lnTo>
                  <a:lnTo>
                    <a:pt x="103" y="4"/>
                  </a:lnTo>
                  <a:close/>
                  <a:moveTo>
                    <a:pt x="22" y="117"/>
                  </a:moveTo>
                  <a:lnTo>
                    <a:pt x="0" y="150"/>
                  </a:lnTo>
                  <a:lnTo>
                    <a:pt x="2" y="191"/>
                  </a:lnTo>
                  <a:lnTo>
                    <a:pt x="22" y="182"/>
                  </a:lnTo>
                  <a:lnTo>
                    <a:pt x="22" y="180"/>
                  </a:lnTo>
                  <a:lnTo>
                    <a:pt x="17" y="182"/>
                  </a:lnTo>
                  <a:lnTo>
                    <a:pt x="5" y="174"/>
                  </a:lnTo>
                  <a:lnTo>
                    <a:pt x="5" y="150"/>
                  </a:lnTo>
                  <a:lnTo>
                    <a:pt x="5" y="150"/>
                  </a:lnTo>
                  <a:lnTo>
                    <a:pt x="6" y="149"/>
                  </a:lnTo>
                  <a:lnTo>
                    <a:pt x="6" y="149"/>
                  </a:lnTo>
                  <a:lnTo>
                    <a:pt x="7" y="146"/>
                  </a:lnTo>
                  <a:lnTo>
                    <a:pt x="10" y="146"/>
                  </a:lnTo>
                  <a:lnTo>
                    <a:pt x="13" y="146"/>
                  </a:lnTo>
                  <a:lnTo>
                    <a:pt x="15" y="146"/>
                  </a:lnTo>
                  <a:lnTo>
                    <a:pt x="15" y="146"/>
                  </a:lnTo>
                  <a:lnTo>
                    <a:pt x="17" y="149"/>
                  </a:lnTo>
                  <a:lnTo>
                    <a:pt x="18" y="150"/>
                  </a:lnTo>
                  <a:lnTo>
                    <a:pt x="18" y="155"/>
                  </a:lnTo>
                  <a:lnTo>
                    <a:pt x="18" y="155"/>
                  </a:lnTo>
                  <a:lnTo>
                    <a:pt x="19" y="154"/>
                  </a:lnTo>
                  <a:lnTo>
                    <a:pt x="22" y="153"/>
                  </a:lnTo>
                  <a:lnTo>
                    <a:pt x="22" y="117"/>
                  </a:lnTo>
                  <a:close/>
                </a:path>
              </a:pathLst>
            </a:custGeom>
            <a:solidFill>
              <a:schemeClr val="accent6"/>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85" name="Freeform 176"/>
            <p:cNvSpPr>
              <a:spLocks noEditPoints="1"/>
            </p:cNvSpPr>
            <p:nvPr/>
          </p:nvSpPr>
          <p:spPr bwMode="auto">
            <a:xfrm>
              <a:off x="593534" y="2177165"/>
              <a:ext cx="280528" cy="304371"/>
            </a:xfrm>
            <a:custGeom>
              <a:avLst/>
              <a:gdLst>
                <a:gd name="T0" fmla="*/ 138 w 176"/>
                <a:gd name="T1" fmla="*/ 88 h 191"/>
                <a:gd name="T2" fmla="*/ 132 w 176"/>
                <a:gd name="T3" fmla="*/ 138 h 191"/>
                <a:gd name="T4" fmla="*/ 150 w 176"/>
                <a:gd name="T5" fmla="*/ 143 h 191"/>
                <a:gd name="T6" fmla="*/ 147 w 176"/>
                <a:gd name="T7" fmla="*/ 151 h 191"/>
                <a:gd name="T8" fmla="*/ 132 w 176"/>
                <a:gd name="T9" fmla="*/ 36 h 191"/>
                <a:gd name="T10" fmla="*/ 150 w 176"/>
                <a:gd name="T11" fmla="*/ 26 h 191"/>
                <a:gd name="T12" fmla="*/ 135 w 176"/>
                <a:gd name="T13" fmla="*/ 47 h 191"/>
                <a:gd name="T14" fmla="*/ 146 w 176"/>
                <a:gd name="T15" fmla="*/ 88 h 191"/>
                <a:gd name="T16" fmla="*/ 174 w 176"/>
                <a:gd name="T17" fmla="*/ 85 h 191"/>
                <a:gd name="T18" fmla="*/ 150 w 176"/>
                <a:gd name="T19" fmla="*/ 92 h 191"/>
                <a:gd name="T20" fmla="*/ 88 w 176"/>
                <a:gd name="T21" fmla="*/ 39 h 191"/>
                <a:gd name="T22" fmla="*/ 115 w 176"/>
                <a:gd name="T23" fmla="*/ 46 h 191"/>
                <a:gd name="T24" fmla="*/ 132 w 176"/>
                <a:gd name="T25" fmla="*/ 109 h 191"/>
                <a:gd name="T26" fmla="*/ 115 w 176"/>
                <a:gd name="T27" fmla="*/ 128 h 191"/>
                <a:gd name="T28" fmla="*/ 111 w 176"/>
                <a:gd name="T29" fmla="*/ 180 h 191"/>
                <a:gd name="T30" fmla="*/ 90 w 176"/>
                <a:gd name="T31" fmla="*/ 191 h 191"/>
                <a:gd name="T32" fmla="*/ 105 w 176"/>
                <a:gd name="T33" fmla="*/ 126 h 191"/>
                <a:gd name="T34" fmla="*/ 122 w 176"/>
                <a:gd name="T35" fmla="*/ 107 h 191"/>
                <a:gd name="T36" fmla="*/ 124 w 176"/>
                <a:gd name="T37" fmla="*/ 73 h 191"/>
                <a:gd name="T38" fmla="*/ 104 w 176"/>
                <a:gd name="T39" fmla="*/ 51 h 191"/>
                <a:gd name="T40" fmla="*/ 88 w 176"/>
                <a:gd name="T41" fmla="*/ 39 h 191"/>
                <a:gd name="T42" fmla="*/ 127 w 176"/>
                <a:gd name="T43" fmla="*/ 43 h 191"/>
                <a:gd name="T44" fmla="*/ 132 w 176"/>
                <a:gd name="T45" fmla="*/ 36 h 191"/>
                <a:gd name="T46" fmla="*/ 128 w 176"/>
                <a:gd name="T47" fmla="*/ 128 h 191"/>
                <a:gd name="T48" fmla="*/ 132 w 176"/>
                <a:gd name="T49" fmla="*/ 127 h 191"/>
                <a:gd name="T50" fmla="*/ 92 w 176"/>
                <a:gd name="T51" fmla="*/ 1 h 191"/>
                <a:gd name="T52" fmla="*/ 88 w 176"/>
                <a:gd name="T53" fmla="*/ 30 h 191"/>
                <a:gd name="T54" fmla="*/ 80 w 176"/>
                <a:gd name="T55" fmla="*/ 191 h 191"/>
                <a:gd name="T56" fmla="*/ 62 w 176"/>
                <a:gd name="T57" fmla="*/ 176 h 191"/>
                <a:gd name="T58" fmla="*/ 55 w 176"/>
                <a:gd name="T59" fmla="*/ 124 h 191"/>
                <a:gd name="T60" fmla="*/ 44 w 176"/>
                <a:gd name="T61" fmla="*/ 67 h 191"/>
                <a:gd name="T62" fmla="*/ 67 w 176"/>
                <a:gd name="T63" fmla="*/ 43 h 191"/>
                <a:gd name="T64" fmla="*/ 88 w 176"/>
                <a:gd name="T65" fmla="*/ 49 h 191"/>
                <a:gd name="T66" fmla="*/ 61 w 176"/>
                <a:gd name="T67" fmla="*/ 61 h 191"/>
                <a:gd name="T68" fmla="*/ 50 w 176"/>
                <a:gd name="T69" fmla="*/ 88 h 191"/>
                <a:gd name="T70" fmla="*/ 69 w 176"/>
                <a:gd name="T71" fmla="*/ 120 h 191"/>
                <a:gd name="T72" fmla="*/ 88 w 176"/>
                <a:gd name="T73" fmla="*/ 147 h 191"/>
                <a:gd name="T74" fmla="*/ 88 w 176"/>
                <a:gd name="T75" fmla="*/ 30 h 191"/>
                <a:gd name="T76" fmla="*/ 84 w 176"/>
                <a:gd name="T77" fmla="*/ 26 h 191"/>
                <a:gd name="T78" fmla="*/ 88 w 176"/>
                <a:gd name="T79" fmla="*/ 0 h 191"/>
                <a:gd name="T80" fmla="*/ 47 w 176"/>
                <a:gd name="T81" fmla="*/ 135 h 191"/>
                <a:gd name="T82" fmla="*/ 44 w 176"/>
                <a:gd name="T83" fmla="*/ 138 h 191"/>
                <a:gd name="T84" fmla="*/ 47 w 176"/>
                <a:gd name="T85" fmla="*/ 47 h 191"/>
                <a:gd name="T86" fmla="*/ 44 w 176"/>
                <a:gd name="T87" fmla="*/ 108 h 191"/>
                <a:gd name="T88" fmla="*/ 40 w 176"/>
                <a:gd name="T89" fmla="*/ 77 h 191"/>
                <a:gd name="T90" fmla="*/ 44 w 176"/>
                <a:gd name="T91" fmla="*/ 49 h 191"/>
                <a:gd name="T92" fmla="*/ 25 w 176"/>
                <a:gd name="T93" fmla="*/ 31 h 191"/>
                <a:gd name="T94" fmla="*/ 32 w 176"/>
                <a:gd name="T95" fmla="*/ 26 h 191"/>
                <a:gd name="T96" fmla="*/ 32 w 176"/>
                <a:gd name="T97" fmla="*/ 150 h 191"/>
                <a:gd name="T98" fmla="*/ 24 w 176"/>
                <a:gd name="T99" fmla="*/ 147 h 191"/>
                <a:gd name="T100" fmla="*/ 44 w 176"/>
                <a:gd name="T101" fmla="*/ 127 h 191"/>
                <a:gd name="T102" fmla="*/ 25 w 176"/>
                <a:gd name="T103" fmla="*/ 84 h 191"/>
                <a:gd name="T104" fmla="*/ 25 w 176"/>
                <a:gd name="T105" fmla="*/ 92 h 191"/>
                <a:gd name="T106" fmla="*/ 0 w 176"/>
                <a:gd name="T107" fmla="*/ 8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6" h="191">
                  <a:moveTo>
                    <a:pt x="132" y="66"/>
                  </a:moveTo>
                  <a:lnTo>
                    <a:pt x="132" y="66"/>
                  </a:lnTo>
                  <a:lnTo>
                    <a:pt x="136" y="77"/>
                  </a:lnTo>
                  <a:lnTo>
                    <a:pt x="138" y="88"/>
                  </a:lnTo>
                  <a:lnTo>
                    <a:pt x="138" y="88"/>
                  </a:lnTo>
                  <a:lnTo>
                    <a:pt x="136" y="99"/>
                  </a:lnTo>
                  <a:lnTo>
                    <a:pt x="132" y="109"/>
                  </a:lnTo>
                  <a:lnTo>
                    <a:pt x="132" y="66"/>
                  </a:lnTo>
                  <a:lnTo>
                    <a:pt x="132" y="66"/>
                  </a:lnTo>
                  <a:close/>
                  <a:moveTo>
                    <a:pt x="132" y="138"/>
                  </a:moveTo>
                  <a:lnTo>
                    <a:pt x="132" y="127"/>
                  </a:lnTo>
                  <a:lnTo>
                    <a:pt x="132" y="127"/>
                  </a:lnTo>
                  <a:lnTo>
                    <a:pt x="135" y="128"/>
                  </a:lnTo>
                  <a:lnTo>
                    <a:pt x="135" y="128"/>
                  </a:lnTo>
                  <a:lnTo>
                    <a:pt x="150" y="143"/>
                  </a:lnTo>
                  <a:lnTo>
                    <a:pt x="150" y="143"/>
                  </a:lnTo>
                  <a:lnTo>
                    <a:pt x="151" y="147"/>
                  </a:lnTo>
                  <a:lnTo>
                    <a:pt x="150" y="150"/>
                  </a:lnTo>
                  <a:lnTo>
                    <a:pt x="150" y="150"/>
                  </a:lnTo>
                  <a:lnTo>
                    <a:pt x="147" y="151"/>
                  </a:lnTo>
                  <a:lnTo>
                    <a:pt x="145" y="150"/>
                  </a:lnTo>
                  <a:lnTo>
                    <a:pt x="132" y="138"/>
                  </a:lnTo>
                  <a:lnTo>
                    <a:pt x="132" y="138"/>
                  </a:lnTo>
                  <a:close/>
                  <a:moveTo>
                    <a:pt x="132" y="49"/>
                  </a:moveTo>
                  <a:lnTo>
                    <a:pt x="132" y="36"/>
                  </a:lnTo>
                  <a:lnTo>
                    <a:pt x="145" y="26"/>
                  </a:lnTo>
                  <a:lnTo>
                    <a:pt x="145" y="26"/>
                  </a:lnTo>
                  <a:lnTo>
                    <a:pt x="147" y="24"/>
                  </a:lnTo>
                  <a:lnTo>
                    <a:pt x="150" y="26"/>
                  </a:lnTo>
                  <a:lnTo>
                    <a:pt x="150" y="26"/>
                  </a:lnTo>
                  <a:lnTo>
                    <a:pt x="151" y="28"/>
                  </a:lnTo>
                  <a:lnTo>
                    <a:pt x="150" y="31"/>
                  </a:lnTo>
                  <a:lnTo>
                    <a:pt x="135" y="47"/>
                  </a:lnTo>
                  <a:lnTo>
                    <a:pt x="135" y="47"/>
                  </a:lnTo>
                  <a:lnTo>
                    <a:pt x="135" y="47"/>
                  </a:lnTo>
                  <a:lnTo>
                    <a:pt x="132" y="49"/>
                  </a:lnTo>
                  <a:lnTo>
                    <a:pt x="132" y="49"/>
                  </a:lnTo>
                  <a:close/>
                  <a:moveTo>
                    <a:pt x="146" y="88"/>
                  </a:moveTo>
                  <a:lnTo>
                    <a:pt x="146" y="88"/>
                  </a:lnTo>
                  <a:lnTo>
                    <a:pt x="146" y="88"/>
                  </a:lnTo>
                  <a:lnTo>
                    <a:pt x="147" y="85"/>
                  </a:lnTo>
                  <a:lnTo>
                    <a:pt x="150" y="84"/>
                  </a:lnTo>
                  <a:lnTo>
                    <a:pt x="172" y="84"/>
                  </a:lnTo>
                  <a:lnTo>
                    <a:pt x="172" y="84"/>
                  </a:lnTo>
                  <a:lnTo>
                    <a:pt x="174" y="85"/>
                  </a:lnTo>
                  <a:lnTo>
                    <a:pt x="176" y="88"/>
                  </a:lnTo>
                  <a:lnTo>
                    <a:pt x="176" y="88"/>
                  </a:lnTo>
                  <a:lnTo>
                    <a:pt x="174" y="91"/>
                  </a:lnTo>
                  <a:lnTo>
                    <a:pt x="172" y="92"/>
                  </a:lnTo>
                  <a:lnTo>
                    <a:pt x="150" y="92"/>
                  </a:lnTo>
                  <a:lnTo>
                    <a:pt x="150" y="92"/>
                  </a:lnTo>
                  <a:lnTo>
                    <a:pt x="147" y="91"/>
                  </a:lnTo>
                  <a:lnTo>
                    <a:pt x="146" y="88"/>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32" y="109"/>
                  </a:lnTo>
                  <a:lnTo>
                    <a:pt x="128" y="115"/>
                  </a:lnTo>
                  <a:lnTo>
                    <a:pt x="124" y="120"/>
                  </a:lnTo>
                  <a:lnTo>
                    <a:pt x="120" y="124"/>
                  </a:lnTo>
                  <a:lnTo>
                    <a:pt x="115" y="128"/>
                  </a:lnTo>
                  <a:lnTo>
                    <a:pt x="115" y="166"/>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6"/>
                  </a:lnTo>
                  <a:lnTo>
                    <a:pt x="105" y="123"/>
                  </a:lnTo>
                  <a:lnTo>
                    <a:pt x="108" y="122"/>
                  </a:lnTo>
                  <a:lnTo>
                    <a:pt x="108" y="122"/>
                  </a:lnTo>
                  <a:lnTo>
                    <a:pt x="115" y="115"/>
                  </a:lnTo>
                  <a:lnTo>
                    <a:pt x="122" y="107"/>
                  </a:lnTo>
                  <a:lnTo>
                    <a:pt x="126" y="99"/>
                  </a:lnTo>
                  <a:lnTo>
                    <a:pt x="127" y="88"/>
                  </a:lnTo>
                  <a:lnTo>
                    <a:pt x="127" y="88"/>
                  </a:lnTo>
                  <a:lnTo>
                    <a:pt x="126" y="80"/>
                  </a:lnTo>
                  <a:lnTo>
                    <a:pt x="124" y="73"/>
                  </a:lnTo>
                  <a:lnTo>
                    <a:pt x="120" y="66"/>
                  </a:lnTo>
                  <a:lnTo>
                    <a:pt x="116" y="61"/>
                  </a:lnTo>
                  <a:lnTo>
                    <a:pt x="116" y="61"/>
                  </a:lnTo>
                  <a:lnTo>
                    <a:pt x="109" y="55"/>
                  </a:lnTo>
                  <a:lnTo>
                    <a:pt x="104" y="51"/>
                  </a:lnTo>
                  <a:lnTo>
                    <a:pt x="96" y="50"/>
                  </a:lnTo>
                  <a:lnTo>
                    <a:pt x="88" y="49"/>
                  </a:lnTo>
                  <a:lnTo>
                    <a:pt x="88" y="49"/>
                  </a:lnTo>
                  <a:lnTo>
                    <a:pt x="88" y="39"/>
                  </a:lnTo>
                  <a:lnTo>
                    <a:pt x="88" y="39"/>
                  </a:lnTo>
                  <a:lnTo>
                    <a:pt x="88" y="39"/>
                  </a:lnTo>
                  <a:close/>
                  <a:moveTo>
                    <a:pt x="132" y="36"/>
                  </a:moveTo>
                  <a:lnTo>
                    <a:pt x="128" y="40"/>
                  </a:lnTo>
                  <a:lnTo>
                    <a:pt x="128" y="40"/>
                  </a:lnTo>
                  <a:lnTo>
                    <a:pt x="127" y="43"/>
                  </a:lnTo>
                  <a:lnTo>
                    <a:pt x="128" y="47"/>
                  </a:lnTo>
                  <a:lnTo>
                    <a:pt x="128" y="47"/>
                  </a:lnTo>
                  <a:lnTo>
                    <a:pt x="130" y="49"/>
                  </a:lnTo>
                  <a:lnTo>
                    <a:pt x="132" y="49"/>
                  </a:lnTo>
                  <a:lnTo>
                    <a:pt x="132" y="36"/>
                  </a:lnTo>
                  <a:lnTo>
                    <a:pt x="132" y="36"/>
                  </a:lnTo>
                  <a:close/>
                  <a:moveTo>
                    <a:pt x="132" y="127"/>
                  </a:moveTo>
                  <a:lnTo>
                    <a:pt x="132" y="127"/>
                  </a:lnTo>
                  <a:lnTo>
                    <a:pt x="130" y="127"/>
                  </a:lnTo>
                  <a:lnTo>
                    <a:pt x="128" y="128"/>
                  </a:lnTo>
                  <a:lnTo>
                    <a:pt x="128" y="128"/>
                  </a:lnTo>
                  <a:lnTo>
                    <a:pt x="127" y="131"/>
                  </a:lnTo>
                  <a:lnTo>
                    <a:pt x="128" y="135"/>
                  </a:lnTo>
                  <a:lnTo>
                    <a:pt x="132" y="138"/>
                  </a:lnTo>
                  <a:lnTo>
                    <a:pt x="132" y="127"/>
                  </a:lnTo>
                  <a:lnTo>
                    <a:pt x="132" y="127"/>
                  </a:lnTo>
                  <a:close/>
                  <a:moveTo>
                    <a:pt x="88" y="30"/>
                  </a:moveTo>
                  <a:lnTo>
                    <a:pt x="88" y="0"/>
                  </a:lnTo>
                  <a:lnTo>
                    <a:pt x="88" y="0"/>
                  </a:lnTo>
                  <a:lnTo>
                    <a:pt x="92" y="1"/>
                  </a:lnTo>
                  <a:lnTo>
                    <a:pt x="92" y="4"/>
                  </a:lnTo>
                  <a:lnTo>
                    <a:pt x="92" y="26"/>
                  </a:lnTo>
                  <a:lnTo>
                    <a:pt x="92" y="26"/>
                  </a:lnTo>
                  <a:lnTo>
                    <a:pt x="92" y="28"/>
                  </a:lnTo>
                  <a:lnTo>
                    <a:pt x="88" y="30"/>
                  </a:lnTo>
                  <a:lnTo>
                    <a:pt x="88" y="30"/>
                  </a:lnTo>
                  <a:close/>
                  <a:moveTo>
                    <a:pt x="88" y="191"/>
                  </a:moveTo>
                  <a:lnTo>
                    <a:pt x="85" y="191"/>
                  </a:lnTo>
                  <a:lnTo>
                    <a:pt x="85" y="191"/>
                  </a:lnTo>
                  <a:lnTo>
                    <a:pt x="80" y="191"/>
                  </a:lnTo>
                  <a:lnTo>
                    <a:pt x="76" y="189"/>
                  </a:lnTo>
                  <a:lnTo>
                    <a:pt x="71" y="187"/>
                  </a:lnTo>
                  <a:lnTo>
                    <a:pt x="67" y="184"/>
                  </a:lnTo>
                  <a:lnTo>
                    <a:pt x="65" y="180"/>
                  </a:lnTo>
                  <a:lnTo>
                    <a:pt x="62" y="176"/>
                  </a:lnTo>
                  <a:lnTo>
                    <a:pt x="61" y="172"/>
                  </a:lnTo>
                  <a:lnTo>
                    <a:pt x="61" y="166"/>
                  </a:lnTo>
                  <a:lnTo>
                    <a:pt x="61" y="128"/>
                  </a:lnTo>
                  <a:lnTo>
                    <a:pt x="61" y="128"/>
                  </a:lnTo>
                  <a:lnTo>
                    <a:pt x="55" y="124"/>
                  </a:lnTo>
                  <a:lnTo>
                    <a:pt x="51" y="119"/>
                  </a:lnTo>
                  <a:lnTo>
                    <a:pt x="47" y="114"/>
                  </a:lnTo>
                  <a:lnTo>
                    <a:pt x="44" y="108"/>
                  </a:lnTo>
                  <a:lnTo>
                    <a:pt x="44" y="67"/>
                  </a:lnTo>
                  <a:lnTo>
                    <a:pt x="44" y="67"/>
                  </a:lnTo>
                  <a:lnTo>
                    <a:pt x="47" y="61"/>
                  </a:lnTo>
                  <a:lnTo>
                    <a:pt x="51" y="55"/>
                  </a:lnTo>
                  <a:lnTo>
                    <a:pt x="57" y="51"/>
                  </a:lnTo>
                  <a:lnTo>
                    <a:pt x="62" y="47"/>
                  </a:lnTo>
                  <a:lnTo>
                    <a:pt x="67" y="43"/>
                  </a:lnTo>
                  <a:lnTo>
                    <a:pt x="74" y="40"/>
                  </a:lnTo>
                  <a:lnTo>
                    <a:pt x="81" y="39"/>
                  </a:lnTo>
                  <a:lnTo>
                    <a:pt x="88" y="39"/>
                  </a:lnTo>
                  <a:lnTo>
                    <a:pt x="88" y="49"/>
                  </a:lnTo>
                  <a:lnTo>
                    <a:pt x="88" y="49"/>
                  </a:lnTo>
                  <a:lnTo>
                    <a:pt x="81" y="50"/>
                  </a:lnTo>
                  <a:lnTo>
                    <a:pt x="73" y="51"/>
                  </a:lnTo>
                  <a:lnTo>
                    <a:pt x="66" y="55"/>
                  </a:lnTo>
                  <a:lnTo>
                    <a:pt x="61" y="61"/>
                  </a:lnTo>
                  <a:lnTo>
                    <a:pt x="61" y="61"/>
                  </a:lnTo>
                  <a:lnTo>
                    <a:pt x="57" y="66"/>
                  </a:lnTo>
                  <a:lnTo>
                    <a:pt x="53" y="73"/>
                  </a:lnTo>
                  <a:lnTo>
                    <a:pt x="50" y="80"/>
                  </a:lnTo>
                  <a:lnTo>
                    <a:pt x="50" y="88"/>
                  </a:lnTo>
                  <a:lnTo>
                    <a:pt x="50" y="88"/>
                  </a:lnTo>
                  <a:lnTo>
                    <a:pt x="51" y="97"/>
                  </a:lnTo>
                  <a:lnTo>
                    <a:pt x="55" y="107"/>
                  </a:lnTo>
                  <a:lnTo>
                    <a:pt x="61" y="115"/>
                  </a:lnTo>
                  <a:lnTo>
                    <a:pt x="69" y="120"/>
                  </a:lnTo>
                  <a:lnTo>
                    <a:pt x="69" y="120"/>
                  </a:lnTo>
                  <a:lnTo>
                    <a:pt x="69" y="120"/>
                  </a:lnTo>
                  <a:lnTo>
                    <a:pt x="70" y="123"/>
                  </a:lnTo>
                  <a:lnTo>
                    <a:pt x="70" y="126"/>
                  </a:lnTo>
                  <a:lnTo>
                    <a:pt x="70" y="147"/>
                  </a:lnTo>
                  <a:lnTo>
                    <a:pt x="88" y="147"/>
                  </a:lnTo>
                  <a:lnTo>
                    <a:pt x="88" y="191"/>
                  </a:lnTo>
                  <a:lnTo>
                    <a:pt x="88" y="191"/>
                  </a:lnTo>
                  <a:close/>
                  <a:moveTo>
                    <a:pt x="88" y="0"/>
                  </a:moveTo>
                  <a:lnTo>
                    <a:pt x="88" y="30"/>
                  </a:lnTo>
                  <a:lnTo>
                    <a:pt x="88" y="30"/>
                  </a:lnTo>
                  <a:lnTo>
                    <a:pt x="88" y="30"/>
                  </a:lnTo>
                  <a:lnTo>
                    <a:pt x="88" y="30"/>
                  </a:lnTo>
                  <a:lnTo>
                    <a:pt x="88" y="30"/>
                  </a:lnTo>
                  <a:lnTo>
                    <a:pt x="85" y="28"/>
                  </a:lnTo>
                  <a:lnTo>
                    <a:pt x="84" y="26"/>
                  </a:lnTo>
                  <a:lnTo>
                    <a:pt x="84" y="4"/>
                  </a:lnTo>
                  <a:lnTo>
                    <a:pt x="84" y="4"/>
                  </a:lnTo>
                  <a:lnTo>
                    <a:pt x="85" y="1"/>
                  </a:lnTo>
                  <a:lnTo>
                    <a:pt x="88" y="0"/>
                  </a:lnTo>
                  <a:lnTo>
                    <a:pt x="88" y="0"/>
                  </a:lnTo>
                  <a:lnTo>
                    <a:pt x="88" y="0"/>
                  </a:lnTo>
                  <a:lnTo>
                    <a:pt x="88" y="0"/>
                  </a:lnTo>
                  <a:close/>
                  <a:moveTo>
                    <a:pt x="44" y="138"/>
                  </a:moveTo>
                  <a:lnTo>
                    <a:pt x="47" y="135"/>
                  </a:lnTo>
                  <a:lnTo>
                    <a:pt x="47" y="135"/>
                  </a:lnTo>
                  <a:lnTo>
                    <a:pt x="48" y="131"/>
                  </a:lnTo>
                  <a:lnTo>
                    <a:pt x="47" y="128"/>
                  </a:lnTo>
                  <a:lnTo>
                    <a:pt x="47" y="128"/>
                  </a:lnTo>
                  <a:lnTo>
                    <a:pt x="44" y="127"/>
                  </a:lnTo>
                  <a:lnTo>
                    <a:pt x="44" y="138"/>
                  </a:lnTo>
                  <a:lnTo>
                    <a:pt x="44" y="138"/>
                  </a:lnTo>
                  <a:close/>
                  <a:moveTo>
                    <a:pt x="44" y="49"/>
                  </a:moveTo>
                  <a:lnTo>
                    <a:pt x="44" y="49"/>
                  </a:lnTo>
                  <a:lnTo>
                    <a:pt x="47" y="47"/>
                  </a:lnTo>
                  <a:lnTo>
                    <a:pt x="47" y="47"/>
                  </a:lnTo>
                  <a:lnTo>
                    <a:pt x="48" y="43"/>
                  </a:lnTo>
                  <a:lnTo>
                    <a:pt x="47" y="40"/>
                  </a:lnTo>
                  <a:lnTo>
                    <a:pt x="44" y="38"/>
                  </a:lnTo>
                  <a:lnTo>
                    <a:pt x="44" y="49"/>
                  </a:lnTo>
                  <a:close/>
                  <a:moveTo>
                    <a:pt x="44" y="108"/>
                  </a:moveTo>
                  <a:lnTo>
                    <a:pt x="44" y="108"/>
                  </a:lnTo>
                  <a:lnTo>
                    <a:pt x="40" y="99"/>
                  </a:lnTo>
                  <a:lnTo>
                    <a:pt x="39" y="88"/>
                  </a:lnTo>
                  <a:lnTo>
                    <a:pt x="39" y="88"/>
                  </a:lnTo>
                  <a:lnTo>
                    <a:pt x="40" y="77"/>
                  </a:lnTo>
                  <a:lnTo>
                    <a:pt x="44" y="67"/>
                  </a:lnTo>
                  <a:lnTo>
                    <a:pt x="44" y="108"/>
                  </a:lnTo>
                  <a:lnTo>
                    <a:pt x="44" y="108"/>
                  </a:lnTo>
                  <a:close/>
                  <a:moveTo>
                    <a:pt x="44" y="38"/>
                  </a:moveTo>
                  <a:lnTo>
                    <a:pt x="44" y="49"/>
                  </a:lnTo>
                  <a:lnTo>
                    <a:pt x="44" y="49"/>
                  </a:lnTo>
                  <a:lnTo>
                    <a:pt x="40" y="47"/>
                  </a:lnTo>
                  <a:lnTo>
                    <a:pt x="40" y="47"/>
                  </a:lnTo>
                  <a:lnTo>
                    <a:pt x="25" y="31"/>
                  </a:lnTo>
                  <a:lnTo>
                    <a:pt x="25" y="31"/>
                  </a:lnTo>
                  <a:lnTo>
                    <a:pt x="24" y="28"/>
                  </a:lnTo>
                  <a:lnTo>
                    <a:pt x="25" y="26"/>
                  </a:lnTo>
                  <a:lnTo>
                    <a:pt x="25" y="26"/>
                  </a:lnTo>
                  <a:lnTo>
                    <a:pt x="28" y="24"/>
                  </a:lnTo>
                  <a:lnTo>
                    <a:pt x="32" y="26"/>
                  </a:lnTo>
                  <a:lnTo>
                    <a:pt x="44" y="38"/>
                  </a:lnTo>
                  <a:lnTo>
                    <a:pt x="44" y="38"/>
                  </a:lnTo>
                  <a:close/>
                  <a:moveTo>
                    <a:pt x="44" y="127"/>
                  </a:moveTo>
                  <a:lnTo>
                    <a:pt x="44" y="138"/>
                  </a:lnTo>
                  <a:lnTo>
                    <a:pt x="32" y="150"/>
                  </a:lnTo>
                  <a:lnTo>
                    <a:pt x="32" y="150"/>
                  </a:lnTo>
                  <a:lnTo>
                    <a:pt x="28" y="151"/>
                  </a:lnTo>
                  <a:lnTo>
                    <a:pt x="25" y="150"/>
                  </a:lnTo>
                  <a:lnTo>
                    <a:pt x="25" y="150"/>
                  </a:lnTo>
                  <a:lnTo>
                    <a:pt x="24" y="147"/>
                  </a:lnTo>
                  <a:lnTo>
                    <a:pt x="25" y="143"/>
                  </a:lnTo>
                  <a:lnTo>
                    <a:pt x="40" y="128"/>
                  </a:lnTo>
                  <a:lnTo>
                    <a:pt x="40" y="128"/>
                  </a:lnTo>
                  <a:lnTo>
                    <a:pt x="40" y="128"/>
                  </a:lnTo>
                  <a:lnTo>
                    <a:pt x="44" y="127"/>
                  </a:lnTo>
                  <a:lnTo>
                    <a:pt x="44" y="127"/>
                  </a:lnTo>
                  <a:close/>
                  <a:moveTo>
                    <a:pt x="4" y="84"/>
                  </a:moveTo>
                  <a:lnTo>
                    <a:pt x="4" y="84"/>
                  </a:lnTo>
                  <a:lnTo>
                    <a:pt x="25" y="84"/>
                  </a:lnTo>
                  <a:lnTo>
                    <a:pt x="25" y="84"/>
                  </a:lnTo>
                  <a:lnTo>
                    <a:pt x="29" y="85"/>
                  </a:lnTo>
                  <a:lnTo>
                    <a:pt x="31" y="88"/>
                  </a:lnTo>
                  <a:lnTo>
                    <a:pt x="31" y="88"/>
                  </a:lnTo>
                  <a:lnTo>
                    <a:pt x="29" y="91"/>
                  </a:lnTo>
                  <a:lnTo>
                    <a:pt x="25" y="92"/>
                  </a:lnTo>
                  <a:lnTo>
                    <a:pt x="4" y="92"/>
                  </a:lnTo>
                  <a:lnTo>
                    <a:pt x="4" y="92"/>
                  </a:lnTo>
                  <a:lnTo>
                    <a:pt x="1" y="91"/>
                  </a:lnTo>
                  <a:lnTo>
                    <a:pt x="0" y="88"/>
                  </a:lnTo>
                  <a:lnTo>
                    <a:pt x="0" y="88"/>
                  </a:lnTo>
                  <a:lnTo>
                    <a:pt x="1" y="85"/>
                  </a:lnTo>
                  <a:lnTo>
                    <a:pt x="4" y="84"/>
                  </a:lnTo>
                  <a:lnTo>
                    <a:pt x="4" y="84"/>
                  </a:lnTo>
                  <a:close/>
                </a:path>
              </a:pathLst>
            </a:custGeom>
            <a:solidFill>
              <a:schemeClr val="accent3"/>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5811" name="Freeform 177"/>
            <p:cNvSpPr>
              <a:spLocks noEditPoints="1"/>
            </p:cNvSpPr>
            <p:nvPr/>
          </p:nvSpPr>
          <p:spPr>
            <a:xfrm>
              <a:off x="1847059" y="1765031"/>
              <a:ext cx="419045" cy="606566"/>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chemeClr val="accent1">
                <a:alpha val="100000"/>
              </a:schemeClr>
            </a:solidFill>
            <a:ln w="9525">
              <a:noFill/>
            </a:ln>
          </p:spPr>
          <p:txBody>
            <a:bodyPr/>
            <a:lstStyle/>
            <a:p>
              <a:endParaRPr lang="zh-CN" altLang="en-US"/>
            </a:p>
          </p:txBody>
        </p:sp>
        <p:grpSp>
          <p:nvGrpSpPr>
            <p:cNvPr id="187" name="组合 197"/>
            <p:cNvGrpSpPr/>
            <p:nvPr/>
          </p:nvGrpSpPr>
          <p:grpSpPr>
            <a:xfrm>
              <a:off x="2186738" y="1680874"/>
              <a:ext cx="363491" cy="220714"/>
              <a:chOff x="3143251" y="1577975"/>
              <a:chExt cx="363538" cy="220663"/>
            </a:xfrm>
            <a:solidFill>
              <a:schemeClr val="accent6"/>
            </a:solidFill>
          </p:grpSpPr>
          <p:sp>
            <p:nvSpPr>
              <p:cNvPr id="188" name="Freeform 178"/>
              <p:cNvSpPr>
                <a:spLocks noEditPoints="1"/>
              </p:cNvSpPr>
              <p:nvPr/>
            </p:nvSpPr>
            <p:spPr bwMode="auto">
              <a:xfrm>
                <a:off x="3143251" y="1577975"/>
                <a:ext cx="215900" cy="212725"/>
              </a:xfrm>
              <a:custGeom>
                <a:avLst/>
                <a:gdLst>
                  <a:gd name="T0" fmla="*/ 68 w 136"/>
                  <a:gd name="T1" fmla="*/ 0 h 134"/>
                  <a:gd name="T2" fmla="*/ 94 w 136"/>
                  <a:gd name="T3" fmla="*/ 4 h 134"/>
                  <a:gd name="T4" fmla="*/ 106 w 136"/>
                  <a:gd name="T5" fmla="*/ 11 h 134"/>
                  <a:gd name="T6" fmla="*/ 125 w 136"/>
                  <a:gd name="T7" fmla="*/ 28 h 134"/>
                  <a:gd name="T8" fmla="*/ 134 w 136"/>
                  <a:gd name="T9" fmla="*/ 53 h 134"/>
                  <a:gd name="T10" fmla="*/ 134 w 136"/>
                  <a:gd name="T11" fmla="*/ 79 h 134"/>
                  <a:gd name="T12" fmla="*/ 131 w 136"/>
                  <a:gd name="T13" fmla="*/ 92 h 134"/>
                  <a:gd name="T14" fmla="*/ 121 w 136"/>
                  <a:gd name="T15" fmla="*/ 110 h 134"/>
                  <a:gd name="T16" fmla="*/ 106 w 136"/>
                  <a:gd name="T17" fmla="*/ 123 h 134"/>
                  <a:gd name="T18" fmla="*/ 88 w 136"/>
                  <a:gd name="T19" fmla="*/ 131 h 134"/>
                  <a:gd name="T20" fmla="*/ 68 w 136"/>
                  <a:gd name="T21" fmla="*/ 134 h 134"/>
                  <a:gd name="T22" fmla="*/ 68 w 136"/>
                  <a:gd name="T23" fmla="*/ 122 h 134"/>
                  <a:gd name="T24" fmla="*/ 84 w 136"/>
                  <a:gd name="T25" fmla="*/ 119 h 134"/>
                  <a:gd name="T26" fmla="*/ 99 w 136"/>
                  <a:gd name="T27" fmla="*/ 112 h 134"/>
                  <a:gd name="T28" fmla="*/ 111 w 136"/>
                  <a:gd name="T29" fmla="*/ 102 h 134"/>
                  <a:gd name="T30" fmla="*/ 119 w 136"/>
                  <a:gd name="T31" fmla="*/ 87 h 134"/>
                  <a:gd name="T32" fmla="*/ 119 w 136"/>
                  <a:gd name="T33" fmla="*/ 87 h 134"/>
                  <a:gd name="T34" fmla="*/ 123 w 136"/>
                  <a:gd name="T35" fmla="*/ 66 h 134"/>
                  <a:gd name="T36" fmla="*/ 119 w 136"/>
                  <a:gd name="T37" fmla="*/ 45 h 134"/>
                  <a:gd name="T38" fmla="*/ 107 w 136"/>
                  <a:gd name="T39" fmla="*/ 28 h 134"/>
                  <a:gd name="T40" fmla="*/ 88 w 136"/>
                  <a:gd name="T41" fmla="*/ 16 h 134"/>
                  <a:gd name="T42" fmla="*/ 79 w 136"/>
                  <a:gd name="T43" fmla="*/ 14 h 134"/>
                  <a:gd name="T44" fmla="*/ 68 w 136"/>
                  <a:gd name="T45" fmla="*/ 0 h 134"/>
                  <a:gd name="T46" fmla="*/ 6 w 136"/>
                  <a:gd name="T47" fmla="*/ 42 h 134"/>
                  <a:gd name="T48" fmla="*/ 16 w 136"/>
                  <a:gd name="T49" fmla="*/ 24 h 134"/>
                  <a:gd name="T50" fmla="*/ 31 w 136"/>
                  <a:gd name="T51" fmla="*/ 11 h 134"/>
                  <a:gd name="T52" fmla="*/ 49 w 136"/>
                  <a:gd name="T53" fmla="*/ 3 h 134"/>
                  <a:gd name="T54" fmla="*/ 68 w 136"/>
                  <a:gd name="T55" fmla="*/ 0 h 134"/>
                  <a:gd name="T56" fmla="*/ 68 w 136"/>
                  <a:gd name="T57" fmla="*/ 12 h 134"/>
                  <a:gd name="T58" fmla="*/ 52 w 136"/>
                  <a:gd name="T59" fmla="*/ 15 h 134"/>
                  <a:gd name="T60" fmla="*/ 38 w 136"/>
                  <a:gd name="T61" fmla="*/ 22 h 134"/>
                  <a:gd name="T62" fmla="*/ 26 w 136"/>
                  <a:gd name="T63" fmla="*/ 33 h 134"/>
                  <a:gd name="T64" fmla="*/ 18 w 136"/>
                  <a:gd name="T65" fmla="*/ 46 h 134"/>
                  <a:gd name="T66" fmla="*/ 14 w 136"/>
                  <a:gd name="T67" fmla="*/ 57 h 134"/>
                  <a:gd name="T68" fmla="*/ 15 w 136"/>
                  <a:gd name="T69" fmla="*/ 79 h 134"/>
                  <a:gd name="T70" fmla="*/ 23 w 136"/>
                  <a:gd name="T71" fmla="*/ 98 h 134"/>
                  <a:gd name="T72" fmla="*/ 38 w 136"/>
                  <a:gd name="T73" fmla="*/ 112 h 134"/>
                  <a:gd name="T74" fmla="*/ 48 w 136"/>
                  <a:gd name="T75" fmla="*/ 118 h 134"/>
                  <a:gd name="T76" fmla="*/ 68 w 136"/>
                  <a:gd name="T77" fmla="*/ 122 h 134"/>
                  <a:gd name="T78" fmla="*/ 68 w 136"/>
                  <a:gd name="T79" fmla="*/ 134 h 134"/>
                  <a:gd name="T80" fmla="*/ 43 w 136"/>
                  <a:gd name="T81" fmla="*/ 130 h 134"/>
                  <a:gd name="T82" fmla="*/ 31 w 136"/>
                  <a:gd name="T83" fmla="*/ 123 h 134"/>
                  <a:gd name="T84" fmla="*/ 12 w 136"/>
                  <a:gd name="T85" fmla="*/ 104 h 134"/>
                  <a:gd name="T86" fmla="*/ 3 w 136"/>
                  <a:gd name="T87" fmla="*/ 81 h 134"/>
                  <a:gd name="T88" fmla="*/ 1 w 136"/>
                  <a:gd name="T89" fmla="*/ 56 h 134"/>
                  <a:gd name="T90" fmla="*/ 6 w 136"/>
                  <a:gd name="T91" fmla="*/ 4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134">
                    <a:moveTo>
                      <a:pt x="68" y="0"/>
                    </a:moveTo>
                    <a:lnTo>
                      <a:pt x="68" y="0"/>
                    </a:lnTo>
                    <a:lnTo>
                      <a:pt x="81" y="0"/>
                    </a:lnTo>
                    <a:lnTo>
                      <a:pt x="94" y="4"/>
                    </a:lnTo>
                    <a:lnTo>
                      <a:pt x="94" y="4"/>
                    </a:lnTo>
                    <a:lnTo>
                      <a:pt x="106" y="11"/>
                    </a:lnTo>
                    <a:lnTo>
                      <a:pt x="115" y="19"/>
                    </a:lnTo>
                    <a:lnTo>
                      <a:pt x="125" y="28"/>
                    </a:lnTo>
                    <a:lnTo>
                      <a:pt x="130" y="41"/>
                    </a:lnTo>
                    <a:lnTo>
                      <a:pt x="134" y="53"/>
                    </a:lnTo>
                    <a:lnTo>
                      <a:pt x="136" y="65"/>
                    </a:lnTo>
                    <a:lnTo>
                      <a:pt x="134" y="79"/>
                    </a:lnTo>
                    <a:lnTo>
                      <a:pt x="131" y="92"/>
                    </a:lnTo>
                    <a:lnTo>
                      <a:pt x="131" y="92"/>
                    </a:lnTo>
                    <a:lnTo>
                      <a:pt x="126" y="102"/>
                    </a:lnTo>
                    <a:lnTo>
                      <a:pt x="121" y="110"/>
                    </a:lnTo>
                    <a:lnTo>
                      <a:pt x="114" y="116"/>
                    </a:lnTo>
                    <a:lnTo>
                      <a:pt x="106" y="123"/>
                    </a:lnTo>
                    <a:lnTo>
                      <a:pt x="98" y="129"/>
                    </a:lnTo>
                    <a:lnTo>
                      <a:pt x="88" y="131"/>
                    </a:lnTo>
                    <a:lnTo>
                      <a:pt x="79" y="134"/>
                    </a:lnTo>
                    <a:lnTo>
                      <a:pt x="68" y="134"/>
                    </a:lnTo>
                    <a:lnTo>
                      <a:pt x="68" y="122"/>
                    </a:lnTo>
                    <a:lnTo>
                      <a:pt x="68" y="122"/>
                    </a:lnTo>
                    <a:lnTo>
                      <a:pt x="76" y="122"/>
                    </a:lnTo>
                    <a:lnTo>
                      <a:pt x="84" y="119"/>
                    </a:lnTo>
                    <a:lnTo>
                      <a:pt x="92" y="116"/>
                    </a:lnTo>
                    <a:lnTo>
                      <a:pt x="99" y="112"/>
                    </a:lnTo>
                    <a:lnTo>
                      <a:pt x="104" y="108"/>
                    </a:lnTo>
                    <a:lnTo>
                      <a:pt x="111" y="102"/>
                    </a:lnTo>
                    <a:lnTo>
                      <a:pt x="115" y="95"/>
                    </a:lnTo>
                    <a:lnTo>
                      <a:pt x="119" y="87"/>
                    </a:lnTo>
                    <a:lnTo>
                      <a:pt x="119" y="87"/>
                    </a:lnTo>
                    <a:lnTo>
                      <a:pt x="119" y="87"/>
                    </a:lnTo>
                    <a:lnTo>
                      <a:pt x="122" y="77"/>
                    </a:lnTo>
                    <a:lnTo>
                      <a:pt x="123" y="66"/>
                    </a:lnTo>
                    <a:lnTo>
                      <a:pt x="122" y="56"/>
                    </a:lnTo>
                    <a:lnTo>
                      <a:pt x="119" y="45"/>
                    </a:lnTo>
                    <a:lnTo>
                      <a:pt x="114" y="37"/>
                    </a:lnTo>
                    <a:lnTo>
                      <a:pt x="107" y="28"/>
                    </a:lnTo>
                    <a:lnTo>
                      <a:pt x="99" y="22"/>
                    </a:lnTo>
                    <a:lnTo>
                      <a:pt x="88" y="16"/>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8" y="12"/>
                    </a:lnTo>
                    <a:lnTo>
                      <a:pt x="60" y="12"/>
                    </a:lnTo>
                    <a:lnTo>
                      <a:pt x="52" y="15"/>
                    </a:lnTo>
                    <a:lnTo>
                      <a:pt x="45" y="18"/>
                    </a:lnTo>
                    <a:lnTo>
                      <a:pt x="38" y="22"/>
                    </a:lnTo>
                    <a:lnTo>
                      <a:pt x="31" y="26"/>
                    </a:lnTo>
                    <a:lnTo>
                      <a:pt x="26" y="33"/>
                    </a:lnTo>
                    <a:lnTo>
                      <a:pt x="20" y="39"/>
                    </a:lnTo>
                    <a:lnTo>
                      <a:pt x="18" y="46"/>
                    </a:lnTo>
                    <a:lnTo>
                      <a:pt x="18" y="46"/>
                    </a:lnTo>
                    <a:lnTo>
                      <a:pt x="14" y="57"/>
                    </a:lnTo>
                    <a:lnTo>
                      <a:pt x="14" y="68"/>
                    </a:lnTo>
                    <a:lnTo>
                      <a:pt x="15" y="79"/>
                    </a:lnTo>
                    <a:lnTo>
                      <a:pt x="18" y="88"/>
                    </a:lnTo>
                    <a:lnTo>
                      <a:pt x="23" y="98"/>
                    </a:lnTo>
                    <a:lnTo>
                      <a:pt x="30" y="106"/>
                    </a:lnTo>
                    <a:lnTo>
                      <a:pt x="38" y="112"/>
                    </a:lnTo>
                    <a:lnTo>
                      <a:pt x="48" y="118"/>
                    </a:lnTo>
                    <a:lnTo>
                      <a:pt x="48" y="118"/>
                    </a:lnTo>
                    <a:lnTo>
                      <a:pt x="58" y="121"/>
                    </a:lnTo>
                    <a:lnTo>
                      <a:pt x="68" y="122"/>
                    </a:lnTo>
                    <a:lnTo>
                      <a:pt x="68" y="134"/>
                    </a:lnTo>
                    <a:lnTo>
                      <a:pt x="68" y="134"/>
                    </a:lnTo>
                    <a:lnTo>
                      <a:pt x="56" y="133"/>
                    </a:lnTo>
                    <a:lnTo>
                      <a:pt x="43" y="130"/>
                    </a:lnTo>
                    <a:lnTo>
                      <a:pt x="43" y="130"/>
                    </a:lnTo>
                    <a:lnTo>
                      <a:pt x="31" y="123"/>
                    </a:lnTo>
                    <a:lnTo>
                      <a:pt x="20" y="115"/>
                    </a:lnTo>
                    <a:lnTo>
                      <a:pt x="12" y="104"/>
                    </a:lnTo>
                    <a:lnTo>
                      <a:pt x="6" y="93"/>
                    </a:lnTo>
                    <a:lnTo>
                      <a:pt x="3" y="81"/>
                    </a:lnTo>
                    <a:lnTo>
                      <a:pt x="0" y="68"/>
                    </a:lnTo>
                    <a:lnTo>
                      <a:pt x="1" y="56"/>
                    </a:lnTo>
                    <a:lnTo>
                      <a:pt x="6" y="42"/>
                    </a:lnTo>
                    <a:lnTo>
                      <a:pt x="6"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89" name="Freeform 179"/>
              <p:cNvSpPr/>
              <p:nvPr/>
            </p:nvSpPr>
            <p:spPr bwMode="auto">
              <a:xfrm>
                <a:off x="3335338" y="1706563"/>
                <a:ext cx="106363" cy="65088"/>
              </a:xfrm>
              <a:custGeom>
                <a:avLst/>
                <a:gdLst>
                  <a:gd name="T0" fmla="*/ 61 w 67"/>
                  <a:gd name="T1" fmla="*/ 41 h 41"/>
                  <a:gd name="T2" fmla="*/ 67 w 67"/>
                  <a:gd name="T3" fmla="*/ 25 h 41"/>
                  <a:gd name="T4" fmla="*/ 6 w 67"/>
                  <a:gd name="T5" fmla="*/ 0 h 41"/>
                  <a:gd name="T6" fmla="*/ 0 w 67"/>
                  <a:gd name="T7" fmla="*/ 17 h 41"/>
                  <a:gd name="T8" fmla="*/ 61 w 67"/>
                  <a:gd name="T9" fmla="*/ 41 h 41"/>
                </a:gdLst>
                <a:ahLst/>
                <a:cxnLst>
                  <a:cxn ang="0">
                    <a:pos x="T0" y="T1"/>
                  </a:cxn>
                  <a:cxn ang="0">
                    <a:pos x="T2" y="T3"/>
                  </a:cxn>
                  <a:cxn ang="0">
                    <a:pos x="T4" y="T5"/>
                  </a:cxn>
                  <a:cxn ang="0">
                    <a:pos x="T6" y="T7"/>
                  </a:cxn>
                  <a:cxn ang="0">
                    <a:pos x="T8" y="T9"/>
                  </a:cxn>
                </a:cxnLst>
                <a:rect l="0" t="0" r="r" b="b"/>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90" name="Freeform 180"/>
              <p:cNvSpPr/>
              <p:nvPr/>
            </p:nvSpPr>
            <p:spPr bwMode="auto">
              <a:xfrm>
                <a:off x="3368676" y="1717675"/>
                <a:ext cx="138113" cy="80963"/>
              </a:xfrm>
              <a:custGeom>
                <a:avLst/>
                <a:gdLst>
                  <a:gd name="T0" fmla="*/ 67 w 87"/>
                  <a:gd name="T1" fmla="*/ 51 h 51"/>
                  <a:gd name="T2" fmla="*/ 67 w 87"/>
                  <a:gd name="T3" fmla="*/ 51 h 51"/>
                  <a:gd name="T4" fmla="*/ 73 w 87"/>
                  <a:gd name="T5" fmla="*/ 51 h 51"/>
                  <a:gd name="T6" fmla="*/ 79 w 87"/>
                  <a:gd name="T7" fmla="*/ 51 h 51"/>
                  <a:gd name="T8" fmla="*/ 83 w 87"/>
                  <a:gd name="T9" fmla="*/ 47 h 51"/>
                  <a:gd name="T10" fmla="*/ 86 w 87"/>
                  <a:gd name="T11" fmla="*/ 43 h 51"/>
                  <a:gd name="T12" fmla="*/ 86 w 87"/>
                  <a:gd name="T13" fmla="*/ 43 h 51"/>
                  <a:gd name="T14" fmla="*/ 87 w 87"/>
                  <a:gd name="T15" fmla="*/ 37 h 51"/>
                  <a:gd name="T16" fmla="*/ 86 w 87"/>
                  <a:gd name="T17" fmla="*/ 31 h 51"/>
                  <a:gd name="T18" fmla="*/ 83 w 87"/>
                  <a:gd name="T19" fmla="*/ 27 h 51"/>
                  <a:gd name="T20" fmla="*/ 78 w 87"/>
                  <a:gd name="T21" fmla="*/ 24 h 51"/>
                  <a:gd name="T22" fmla="*/ 21 w 87"/>
                  <a:gd name="T23" fmla="*/ 1 h 51"/>
                  <a:gd name="T24" fmla="*/ 21 w 87"/>
                  <a:gd name="T25" fmla="*/ 1 h 51"/>
                  <a:gd name="T26" fmla="*/ 15 w 87"/>
                  <a:gd name="T27" fmla="*/ 0 h 51"/>
                  <a:gd name="T28" fmla="*/ 10 w 87"/>
                  <a:gd name="T29" fmla="*/ 1 h 51"/>
                  <a:gd name="T30" fmla="*/ 4 w 87"/>
                  <a:gd name="T31" fmla="*/ 4 h 51"/>
                  <a:gd name="T32" fmla="*/ 2 w 87"/>
                  <a:gd name="T33" fmla="*/ 10 h 51"/>
                  <a:gd name="T34" fmla="*/ 2 w 87"/>
                  <a:gd name="T35" fmla="*/ 10 h 51"/>
                  <a:gd name="T36" fmla="*/ 0 w 87"/>
                  <a:gd name="T37" fmla="*/ 15 h 51"/>
                  <a:gd name="T38" fmla="*/ 2 w 87"/>
                  <a:gd name="T39" fmla="*/ 20 h 51"/>
                  <a:gd name="T40" fmla="*/ 4 w 87"/>
                  <a:gd name="T41" fmla="*/ 24 h 51"/>
                  <a:gd name="T42" fmla="*/ 10 w 87"/>
                  <a:gd name="T43" fmla="*/ 28 h 51"/>
                  <a:gd name="T44" fmla="*/ 67 w 87"/>
                  <a:gd name="T45"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7" h="51">
                    <a:moveTo>
                      <a:pt x="67" y="51"/>
                    </a:moveTo>
                    <a:lnTo>
                      <a:pt x="67" y="51"/>
                    </a:lnTo>
                    <a:lnTo>
                      <a:pt x="73" y="51"/>
                    </a:lnTo>
                    <a:lnTo>
                      <a:pt x="79" y="51"/>
                    </a:lnTo>
                    <a:lnTo>
                      <a:pt x="83" y="47"/>
                    </a:lnTo>
                    <a:lnTo>
                      <a:pt x="86" y="43"/>
                    </a:lnTo>
                    <a:lnTo>
                      <a:pt x="86" y="43"/>
                    </a:lnTo>
                    <a:lnTo>
                      <a:pt x="87" y="37"/>
                    </a:lnTo>
                    <a:lnTo>
                      <a:pt x="86" y="31"/>
                    </a:lnTo>
                    <a:lnTo>
                      <a:pt x="83" y="27"/>
                    </a:lnTo>
                    <a:lnTo>
                      <a:pt x="78" y="24"/>
                    </a:lnTo>
                    <a:lnTo>
                      <a:pt x="21" y="1"/>
                    </a:lnTo>
                    <a:lnTo>
                      <a:pt x="21" y="1"/>
                    </a:lnTo>
                    <a:lnTo>
                      <a:pt x="15" y="0"/>
                    </a:lnTo>
                    <a:lnTo>
                      <a:pt x="10" y="1"/>
                    </a:lnTo>
                    <a:lnTo>
                      <a:pt x="4" y="4"/>
                    </a:lnTo>
                    <a:lnTo>
                      <a:pt x="2" y="10"/>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75813" name="Freeform 181"/>
            <p:cNvSpPr>
              <a:spLocks noEditPoints="1"/>
            </p:cNvSpPr>
            <p:nvPr/>
          </p:nvSpPr>
          <p:spPr>
            <a:xfrm>
              <a:off x="2199437" y="2963871"/>
              <a:ext cx="436506" cy="155611"/>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chemeClr val="accent1">
                <a:alpha val="100000"/>
              </a:schemeClr>
            </a:solidFill>
            <a:ln w="9525">
              <a:noFill/>
            </a:ln>
          </p:spPr>
          <p:txBody>
            <a:bodyPr/>
            <a:lstStyle/>
            <a:p>
              <a:endParaRPr lang="zh-CN" altLang="en-US"/>
            </a:p>
          </p:txBody>
        </p:sp>
        <p:grpSp>
          <p:nvGrpSpPr>
            <p:cNvPr id="192" name="组合 205"/>
            <p:cNvGrpSpPr/>
            <p:nvPr/>
          </p:nvGrpSpPr>
          <p:grpSpPr>
            <a:xfrm>
              <a:off x="559763" y="3356074"/>
              <a:ext cx="247618" cy="312810"/>
              <a:chOff x="1516063" y="3252788"/>
              <a:chExt cx="247651" cy="312737"/>
            </a:xfrm>
            <a:solidFill>
              <a:schemeClr val="accent4"/>
            </a:solidFill>
          </p:grpSpPr>
          <p:sp>
            <p:nvSpPr>
              <p:cNvPr id="193" name="Freeform 182"/>
              <p:cNvSpPr/>
              <p:nvPr/>
            </p:nvSpPr>
            <p:spPr bwMode="auto">
              <a:xfrm>
                <a:off x="1527176" y="3263900"/>
                <a:ext cx="236538" cy="301625"/>
              </a:xfrm>
              <a:custGeom>
                <a:avLst/>
                <a:gdLst>
                  <a:gd name="T0" fmla="*/ 0 w 149"/>
                  <a:gd name="T1" fmla="*/ 33 h 190"/>
                  <a:gd name="T2" fmla="*/ 7 w 149"/>
                  <a:gd name="T3" fmla="*/ 28 h 190"/>
                  <a:gd name="T4" fmla="*/ 96 w 149"/>
                  <a:gd name="T5" fmla="*/ 171 h 190"/>
                  <a:gd name="T6" fmla="*/ 96 w 149"/>
                  <a:gd name="T7" fmla="*/ 171 h 190"/>
                  <a:gd name="T8" fmla="*/ 99 w 149"/>
                  <a:gd name="T9" fmla="*/ 176 h 190"/>
                  <a:gd name="T10" fmla="*/ 101 w 149"/>
                  <a:gd name="T11" fmla="*/ 178 h 190"/>
                  <a:gd name="T12" fmla="*/ 105 w 149"/>
                  <a:gd name="T13" fmla="*/ 180 h 190"/>
                  <a:gd name="T14" fmla="*/ 109 w 149"/>
                  <a:gd name="T15" fmla="*/ 181 h 190"/>
                  <a:gd name="T16" fmla="*/ 114 w 149"/>
                  <a:gd name="T17" fmla="*/ 181 h 190"/>
                  <a:gd name="T18" fmla="*/ 119 w 149"/>
                  <a:gd name="T19" fmla="*/ 181 h 190"/>
                  <a:gd name="T20" fmla="*/ 123 w 149"/>
                  <a:gd name="T21" fmla="*/ 180 h 190"/>
                  <a:gd name="T22" fmla="*/ 127 w 149"/>
                  <a:gd name="T23" fmla="*/ 177 h 190"/>
                  <a:gd name="T24" fmla="*/ 127 w 149"/>
                  <a:gd name="T25" fmla="*/ 177 h 190"/>
                  <a:gd name="T26" fmla="*/ 131 w 149"/>
                  <a:gd name="T27" fmla="*/ 174 h 190"/>
                  <a:gd name="T28" fmla="*/ 135 w 149"/>
                  <a:gd name="T29" fmla="*/ 171 h 190"/>
                  <a:gd name="T30" fmla="*/ 137 w 149"/>
                  <a:gd name="T31" fmla="*/ 167 h 190"/>
                  <a:gd name="T32" fmla="*/ 138 w 149"/>
                  <a:gd name="T33" fmla="*/ 163 h 190"/>
                  <a:gd name="T34" fmla="*/ 139 w 149"/>
                  <a:gd name="T35" fmla="*/ 159 h 190"/>
                  <a:gd name="T36" fmla="*/ 139 w 149"/>
                  <a:gd name="T37" fmla="*/ 155 h 190"/>
                  <a:gd name="T38" fmla="*/ 138 w 149"/>
                  <a:gd name="T39" fmla="*/ 150 h 190"/>
                  <a:gd name="T40" fmla="*/ 137 w 149"/>
                  <a:gd name="T41" fmla="*/ 146 h 190"/>
                  <a:gd name="T42" fmla="*/ 49 w 149"/>
                  <a:gd name="T43" fmla="*/ 4 h 190"/>
                  <a:gd name="T44" fmla="*/ 54 w 149"/>
                  <a:gd name="T45" fmla="*/ 0 h 190"/>
                  <a:gd name="T46" fmla="*/ 145 w 149"/>
                  <a:gd name="T47" fmla="*/ 144 h 190"/>
                  <a:gd name="T48" fmla="*/ 145 w 149"/>
                  <a:gd name="T49" fmla="*/ 144 h 190"/>
                  <a:gd name="T50" fmla="*/ 147 w 149"/>
                  <a:gd name="T51" fmla="*/ 150 h 190"/>
                  <a:gd name="T52" fmla="*/ 149 w 149"/>
                  <a:gd name="T53" fmla="*/ 155 h 190"/>
                  <a:gd name="T54" fmla="*/ 149 w 149"/>
                  <a:gd name="T55" fmla="*/ 161 h 190"/>
                  <a:gd name="T56" fmla="*/ 147 w 149"/>
                  <a:gd name="T57" fmla="*/ 166 h 190"/>
                  <a:gd name="T58" fmla="*/ 145 w 149"/>
                  <a:gd name="T59" fmla="*/ 171 h 190"/>
                  <a:gd name="T60" fmla="*/ 142 w 149"/>
                  <a:gd name="T61" fmla="*/ 177 h 190"/>
                  <a:gd name="T62" fmla="*/ 138 w 149"/>
                  <a:gd name="T63" fmla="*/ 181 h 190"/>
                  <a:gd name="T64" fmla="*/ 133 w 149"/>
                  <a:gd name="T65" fmla="*/ 185 h 190"/>
                  <a:gd name="T66" fmla="*/ 133 w 149"/>
                  <a:gd name="T67" fmla="*/ 185 h 190"/>
                  <a:gd name="T68" fmla="*/ 127 w 149"/>
                  <a:gd name="T69" fmla="*/ 188 h 190"/>
                  <a:gd name="T70" fmla="*/ 120 w 149"/>
                  <a:gd name="T71" fmla="*/ 190 h 190"/>
                  <a:gd name="T72" fmla="*/ 115 w 149"/>
                  <a:gd name="T73" fmla="*/ 190 h 190"/>
                  <a:gd name="T74" fmla="*/ 108 w 149"/>
                  <a:gd name="T75" fmla="*/ 190 h 190"/>
                  <a:gd name="T76" fmla="*/ 103 w 149"/>
                  <a:gd name="T77" fmla="*/ 189 h 190"/>
                  <a:gd name="T78" fmla="*/ 97 w 149"/>
                  <a:gd name="T79" fmla="*/ 186 h 190"/>
                  <a:gd name="T80" fmla="*/ 93 w 149"/>
                  <a:gd name="T81" fmla="*/ 182 h 190"/>
                  <a:gd name="T82" fmla="*/ 91 w 149"/>
                  <a:gd name="T83" fmla="*/ 178 h 190"/>
                  <a:gd name="T84" fmla="*/ 0 w 149"/>
                  <a:gd name="T8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9" h="190">
                    <a:moveTo>
                      <a:pt x="0" y="33"/>
                    </a:moveTo>
                    <a:lnTo>
                      <a:pt x="7" y="28"/>
                    </a:lnTo>
                    <a:lnTo>
                      <a:pt x="96" y="171"/>
                    </a:lnTo>
                    <a:lnTo>
                      <a:pt x="96" y="171"/>
                    </a:lnTo>
                    <a:lnTo>
                      <a:pt x="99" y="176"/>
                    </a:lnTo>
                    <a:lnTo>
                      <a:pt x="101" y="178"/>
                    </a:lnTo>
                    <a:lnTo>
                      <a:pt x="105" y="180"/>
                    </a:lnTo>
                    <a:lnTo>
                      <a:pt x="109" y="181"/>
                    </a:lnTo>
                    <a:lnTo>
                      <a:pt x="114" y="181"/>
                    </a:lnTo>
                    <a:lnTo>
                      <a:pt x="119" y="181"/>
                    </a:lnTo>
                    <a:lnTo>
                      <a:pt x="123" y="180"/>
                    </a:lnTo>
                    <a:lnTo>
                      <a:pt x="127" y="177"/>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5" y="144"/>
                    </a:lnTo>
                    <a:lnTo>
                      <a:pt x="147" y="150"/>
                    </a:lnTo>
                    <a:lnTo>
                      <a:pt x="149" y="155"/>
                    </a:lnTo>
                    <a:lnTo>
                      <a:pt x="149" y="161"/>
                    </a:lnTo>
                    <a:lnTo>
                      <a:pt x="147" y="166"/>
                    </a:lnTo>
                    <a:lnTo>
                      <a:pt x="145" y="171"/>
                    </a:lnTo>
                    <a:lnTo>
                      <a:pt x="142" y="177"/>
                    </a:lnTo>
                    <a:lnTo>
                      <a:pt x="138" y="181"/>
                    </a:lnTo>
                    <a:lnTo>
                      <a:pt x="133" y="185"/>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94" name="Freeform 183"/>
              <p:cNvSpPr/>
              <p:nvPr/>
            </p:nvSpPr>
            <p:spPr bwMode="auto">
              <a:xfrm>
                <a:off x="1516063" y="3252788"/>
                <a:ext cx="114300" cy="79375"/>
              </a:xfrm>
              <a:custGeom>
                <a:avLst/>
                <a:gdLst>
                  <a:gd name="T0" fmla="*/ 0 w 72"/>
                  <a:gd name="T1" fmla="*/ 47 h 50"/>
                  <a:gd name="T2" fmla="*/ 0 w 72"/>
                  <a:gd name="T3" fmla="*/ 47 h 50"/>
                  <a:gd name="T4" fmla="*/ 1 w 72"/>
                  <a:gd name="T5" fmla="*/ 49 h 50"/>
                  <a:gd name="T6" fmla="*/ 4 w 72"/>
                  <a:gd name="T7" fmla="*/ 50 h 50"/>
                  <a:gd name="T8" fmla="*/ 5 w 72"/>
                  <a:gd name="T9" fmla="*/ 50 h 50"/>
                  <a:gd name="T10" fmla="*/ 8 w 72"/>
                  <a:gd name="T11" fmla="*/ 49 h 50"/>
                  <a:gd name="T12" fmla="*/ 69 w 72"/>
                  <a:gd name="T13" fmla="*/ 11 h 50"/>
                  <a:gd name="T14" fmla="*/ 69 w 72"/>
                  <a:gd name="T15" fmla="*/ 11 h 50"/>
                  <a:gd name="T16" fmla="*/ 70 w 72"/>
                  <a:gd name="T17" fmla="*/ 9 h 50"/>
                  <a:gd name="T18" fmla="*/ 72 w 72"/>
                  <a:gd name="T19" fmla="*/ 8 h 50"/>
                  <a:gd name="T20" fmla="*/ 72 w 72"/>
                  <a:gd name="T21" fmla="*/ 5 h 50"/>
                  <a:gd name="T22" fmla="*/ 70 w 72"/>
                  <a:gd name="T23" fmla="*/ 2 h 50"/>
                  <a:gd name="T24" fmla="*/ 70 w 72"/>
                  <a:gd name="T25" fmla="*/ 2 h 50"/>
                  <a:gd name="T26" fmla="*/ 69 w 72"/>
                  <a:gd name="T27" fmla="*/ 1 h 50"/>
                  <a:gd name="T28" fmla="*/ 68 w 72"/>
                  <a:gd name="T29" fmla="*/ 0 h 50"/>
                  <a:gd name="T30" fmla="*/ 65 w 72"/>
                  <a:gd name="T31" fmla="*/ 0 h 50"/>
                  <a:gd name="T32" fmla="*/ 64 w 72"/>
                  <a:gd name="T33" fmla="*/ 1 h 50"/>
                  <a:gd name="T34" fmla="*/ 1 w 72"/>
                  <a:gd name="T35" fmla="*/ 39 h 50"/>
                  <a:gd name="T36" fmla="*/ 1 w 72"/>
                  <a:gd name="T37" fmla="*/ 39 h 50"/>
                  <a:gd name="T38" fmla="*/ 0 w 72"/>
                  <a:gd name="T39" fmla="*/ 40 h 50"/>
                  <a:gd name="T40" fmla="*/ 0 w 72"/>
                  <a:gd name="T41" fmla="*/ 43 h 50"/>
                  <a:gd name="T42" fmla="*/ 0 w 72"/>
                  <a:gd name="T43" fmla="*/ 44 h 50"/>
                  <a:gd name="T44" fmla="*/ 0 w 72"/>
                  <a:gd name="T45" fmla="*/ 47 h 50"/>
                  <a:gd name="T46" fmla="*/ 0 w 72"/>
                  <a:gd name="T47" fmla="*/ 4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50">
                    <a:moveTo>
                      <a:pt x="0" y="47"/>
                    </a:moveTo>
                    <a:lnTo>
                      <a:pt x="0" y="47"/>
                    </a:lnTo>
                    <a:lnTo>
                      <a:pt x="1" y="49"/>
                    </a:lnTo>
                    <a:lnTo>
                      <a:pt x="4" y="50"/>
                    </a:lnTo>
                    <a:lnTo>
                      <a:pt x="5" y="50"/>
                    </a:lnTo>
                    <a:lnTo>
                      <a:pt x="8" y="49"/>
                    </a:lnTo>
                    <a:lnTo>
                      <a:pt x="69" y="11"/>
                    </a:lnTo>
                    <a:lnTo>
                      <a:pt x="69" y="11"/>
                    </a:lnTo>
                    <a:lnTo>
                      <a:pt x="70" y="9"/>
                    </a:lnTo>
                    <a:lnTo>
                      <a:pt x="72" y="8"/>
                    </a:lnTo>
                    <a:lnTo>
                      <a:pt x="72" y="5"/>
                    </a:lnTo>
                    <a:lnTo>
                      <a:pt x="70" y="2"/>
                    </a:lnTo>
                    <a:lnTo>
                      <a:pt x="70" y="2"/>
                    </a:lnTo>
                    <a:lnTo>
                      <a:pt x="69" y="1"/>
                    </a:lnTo>
                    <a:lnTo>
                      <a:pt x="68" y="0"/>
                    </a:lnTo>
                    <a:lnTo>
                      <a:pt x="65" y="0"/>
                    </a:lnTo>
                    <a:lnTo>
                      <a:pt x="64" y="1"/>
                    </a:lnTo>
                    <a:lnTo>
                      <a:pt x="1" y="39"/>
                    </a:lnTo>
                    <a:lnTo>
                      <a:pt x="1" y="39"/>
                    </a:lnTo>
                    <a:lnTo>
                      <a:pt x="0" y="40"/>
                    </a:lnTo>
                    <a:lnTo>
                      <a:pt x="0" y="43"/>
                    </a:lnTo>
                    <a:lnTo>
                      <a:pt x="0" y="44"/>
                    </a:lnTo>
                    <a:lnTo>
                      <a:pt x="0" y="47"/>
                    </a:lnTo>
                    <a:lnTo>
                      <a:pt x="0" y="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95" name="Freeform 184"/>
              <p:cNvSpPr/>
              <p:nvPr/>
            </p:nvSpPr>
            <p:spPr bwMode="auto">
              <a:xfrm>
                <a:off x="1560513" y="3316288"/>
                <a:ext cx="161925" cy="219075"/>
              </a:xfrm>
              <a:custGeom>
                <a:avLst/>
                <a:gdLst>
                  <a:gd name="T0" fmla="*/ 0 w 102"/>
                  <a:gd name="T1" fmla="*/ 6 h 138"/>
                  <a:gd name="T2" fmla="*/ 9 w 102"/>
                  <a:gd name="T3" fmla="*/ 0 h 138"/>
                  <a:gd name="T4" fmla="*/ 88 w 102"/>
                  <a:gd name="T5" fmla="*/ 128 h 138"/>
                  <a:gd name="T6" fmla="*/ 88 w 102"/>
                  <a:gd name="T7" fmla="*/ 128 h 138"/>
                  <a:gd name="T8" fmla="*/ 91 w 102"/>
                  <a:gd name="T9" fmla="*/ 132 h 138"/>
                  <a:gd name="T10" fmla="*/ 94 w 102"/>
                  <a:gd name="T11" fmla="*/ 133 h 138"/>
                  <a:gd name="T12" fmla="*/ 98 w 102"/>
                  <a:gd name="T13" fmla="*/ 134 h 138"/>
                  <a:gd name="T14" fmla="*/ 102 w 102"/>
                  <a:gd name="T15" fmla="*/ 136 h 138"/>
                  <a:gd name="T16" fmla="*/ 102 w 102"/>
                  <a:gd name="T17" fmla="*/ 136 h 138"/>
                  <a:gd name="T18" fmla="*/ 101 w 102"/>
                  <a:gd name="T19" fmla="*/ 136 h 138"/>
                  <a:gd name="T20" fmla="*/ 101 w 102"/>
                  <a:gd name="T21" fmla="*/ 136 h 138"/>
                  <a:gd name="T22" fmla="*/ 95 w 102"/>
                  <a:gd name="T23" fmla="*/ 138 h 138"/>
                  <a:gd name="T24" fmla="*/ 88 w 102"/>
                  <a:gd name="T25" fmla="*/ 138 h 138"/>
                  <a:gd name="T26" fmla="*/ 83 w 102"/>
                  <a:gd name="T27" fmla="*/ 136 h 138"/>
                  <a:gd name="T28" fmla="*/ 79 w 102"/>
                  <a:gd name="T29" fmla="*/ 132 h 138"/>
                  <a:gd name="T30" fmla="*/ 0 w 102"/>
                  <a:gd name="T31" fmla="*/ 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38">
                    <a:moveTo>
                      <a:pt x="0" y="6"/>
                    </a:moveTo>
                    <a:lnTo>
                      <a:pt x="9" y="0"/>
                    </a:lnTo>
                    <a:lnTo>
                      <a:pt x="88" y="128"/>
                    </a:lnTo>
                    <a:lnTo>
                      <a:pt x="88" y="128"/>
                    </a:lnTo>
                    <a:lnTo>
                      <a:pt x="91" y="132"/>
                    </a:lnTo>
                    <a:lnTo>
                      <a:pt x="94" y="133"/>
                    </a:lnTo>
                    <a:lnTo>
                      <a:pt x="98" y="134"/>
                    </a:lnTo>
                    <a:lnTo>
                      <a:pt x="102" y="136"/>
                    </a:lnTo>
                    <a:lnTo>
                      <a:pt x="102" y="136"/>
                    </a:lnTo>
                    <a:lnTo>
                      <a:pt x="101"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96" name="Freeform 185"/>
            <p:cNvSpPr>
              <a:spLocks noEditPoints="1"/>
            </p:cNvSpPr>
            <p:nvPr/>
          </p:nvSpPr>
          <p:spPr bwMode="auto">
            <a:xfrm>
              <a:off x="938252" y="2148630"/>
              <a:ext cx="199698" cy="152185"/>
            </a:xfrm>
            <a:custGeom>
              <a:avLst/>
              <a:gdLst>
                <a:gd name="T0" fmla="*/ 124 w 126"/>
                <a:gd name="T1" fmla="*/ 38 h 97"/>
                <a:gd name="T2" fmla="*/ 105 w 126"/>
                <a:gd name="T3" fmla="*/ 15 h 97"/>
                <a:gd name="T4" fmla="*/ 99 w 126"/>
                <a:gd name="T5" fmla="*/ 34 h 97"/>
                <a:gd name="T6" fmla="*/ 111 w 126"/>
                <a:gd name="T7" fmla="*/ 39 h 97"/>
                <a:gd name="T8" fmla="*/ 113 w 126"/>
                <a:gd name="T9" fmla="*/ 55 h 97"/>
                <a:gd name="T10" fmla="*/ 99 w 126"/>
                <a:gd name="T11" fmla="*/ 63 h 97"/>
                <a:gd name="T12" fmla="*/ 113 w 126"/>
                <a:gd name="T13" fmla="*/ 72 h 97"/>
                <a:gd name="T14" fmla="*/ 125 w 126"/>
                <a:gd name="T15" fmla="*/ 58 h 97"/>
                <a:gd name="T16" fmla="*/ 99 w 126"/>
                <a:gd name="T17" fmla="*/ 12 h 97"/>
                <a:gd name="T18" fmla="*/ 40 w 126"/>
                <a:gd name="T19" fmla="*/ 1 h 97"/>
                <a:gd name="T20" fmla="*/ 42 w 126"/>
                <a:gd name="T21" fmla="*/ 5 h 97"/>
                <a:gd name="T22" fmla="*/ 46 w 126"/>
                <a:gd name="T23" fmla="*/ 13 h 97"/>
                <a:gd name="T24" fmla="*/ 40 w 126"/>
                <a:gd name="T25" fmla="*/ 20 h 97"/>
                <a:gd name="T26" fmla="*/ 40 w 126"/>
                <a:gd name="T27" fmla="*/ 84 h 97"/>
                <a:gd name="T28" fmla="*/ 59 w 126"/>
                <a:gd name="T29" fmla="*/ 82 h 97"/>
                <a:gd name="T30" fmla="*/ 79 w 126"/>
                <a:gd name="T31" fmla="*/ 76 h 97"/>
                <a:gd name="T32" fmla="*/ 99 w 126"/>
                <a:gd name="T33" fmla="*/ 63 h 97"/>
                <a:gd name="T34" fmla="*/ 92 w 126"/>
                <a:gd name="T35" fmla="*/ 62 h 97"/>
                <a:gd name="T36" fmla="*/ 86 w 126"/>
                <a:gd name="T37" fmla="*/ 42 h 97"/>
                <a:gd name="T38" fmla="*/ 95 w 126"/>
                <a:gd name="T39" fmla="*/ 35 h 97"/>
                <a:gd name="T40" fmla="*/ 40 w 126"/>
                <a:gd name="T41" fmla="*/ 1 h 97"/>
                <a:gd name="T42" fmla="*/ 33 w 126"/>
                <a:gd name="T43" fmla="*/ 9 h 97"/>
                <a:gd name="T44" fmla="*/ 40 w 126"/>
                <a:gd name="T45" fmla="*/ 1 h 97"/>
                <a:gd name="T46" fmla="*/ 40 w 126"/>
                <a:gd name="T47" fmla="*/ 96 h 97"/>
                <a:gd name="T48" fmla="*/ 38 w 126"/>
                <a:gd name="T49" fmla="*/ 85 h 97"/>
                <a:gd name="T50" fmla="*/ 33 w 126"/>
                <a:gd name="T51" fmla="*/ 97 h 97"/>
                <a:gd name="T52" fmla="*/ 37 w 126"/>
                <a:gd name="T53" fmla="*/ 72 h 97"/>
                <a:gd name="T54" fmla="*/ 33 w 126"/>
                <a:gd name="T55" fmla="*/ 32 h 97"/>
                <a:gd name="T56" fmla="*/ 33 w 126"/>
                <a:gd name="T57" fmla="*/ 15 h 97"/>
                <a:gd name="T58" fmla="*/ 36 w 126"/>
                <a:gd name="T59" fmla="*/ 19 h 97"/>
                <a:gd name="T60" fmla="*/ 33 w 126"/>
                <a:gd name="T61" fmla="*/ 3 h 97"/>
                <a:gd name="T62" fmla="*/ 27 w 126"/>
                <a:gd name="T63" fmla="*/ 20 h 97"/>
                <a:gd name="T64" fmla="*/ 33 w 126"/>
                <a:gd name="T65" fmla="*/ 15 h 97"/>
                <a:gd name="T66" fmla="*/ 33 w 126"/>
                <a:gd name="T67" fmla="*/ 3 h 97"/>
                <a:gd name="T68" fmla="*/ 27 w 126"/>
                <a:gd name="T69" fmla="*/ 97 h 97"/>
                <a:gd name="T70" fmla="*/ 27 w 126"/>
                <a:gd name="T71" fmla="*/ 92 h 97"/>
                <a:gd name="T72" fmla="*/ 33 w 126"/>
                <a:gd name="T73" fmla="*/ 32 h 97"/>
                <a:gd name="T74" fmla="*/ 23 w 126"/>
                <a:gd name="T75" fmla="*/ 69 h 97"/>
                <a:gd name="T76" fmla="*/ 27 w 126"/>
                <a:gd name="T77" fmla="*/ 59 h 97"/>
                <a:gd name="T78" fmla="*/ 26 w 126"/>
                <a:gd name="T79" fmla="*/ 47 h 97"/>
                <a:gd name="T80" fmla="*/ 23 w 126"/>
                <a:gd name="T81" fmla="*/ 39 h 97"/>
                <a:gd name="T82" fmla="*/ 33 w 126"/>
                <a:gd name="T83" fmla="*/ 32 h 97"/>
                <a:gd name="T84" fmla="*/ 17 w 126"/>
                <a:gd name="T85" fmla="*/ 11 h 97"/>
                <a:gd name="T86" fmla="*/ 2 w 126"/>
                <a:gd name="T87" fmla="*/ 40 h 97"/>
                <a:gd name="T88" fmla="*/ 8 w 126"/>
                <a:gd name="T89" fmla="*/ 88 h 97"/>
                <a:gd name="T90" fmla="*/ 23 w 126"/>
                <a:gd name="T91" fmla="*/ 97 h 97"/>
                <a:gd name="T92" fmla="*/ 22 w 126"/>
                <a:gd name="T93" fmla="*/ 91 h 97"/>
                <a:gd name="T94" fmla="*/ 17 w 126"/>
                <a:gd name="T95" fmla="*/ 74 h 97"/>
                <a:gd name="T96" fmla="*/ 23 w 126"/>
                <a:gd name="T97" fmla="*/ 65 h 97"/>
                <a:gd name="T98" fmla="*/ 13 w 126"/>
                <a:gd name="T99" fmla="*/ 65 h 97"/>
                <a:gd name="T100" fmla="*/ 7 w 126"/>
                <a:gd name="T101" fmla="*/ 54 h 97"/>
                <a:gd name="T102" fmla="*/ 14 w 126"/>
                <a:gd name="T103" fmla="*/ 43 h 97"/>
                <a:gd name="T104" fmla="*/ 23 w 126"/>
                <a:gd name="T105" fmla="*/ 39 h 97"/>
                <a:gd name="T106" fmla="*/ 14 w 126"/>
                <a:gd name="T107" fmla="*/ 32 h 97"/>
                <a:gd name="T108" fmla="*/ 14 w 126"/>
                <a:gd name="T109"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 h="97">
                  <a:moveTo>
                    <a:pt x="126" y="53"/>
                  </a:moveTo>
                  <a:lnTo>
                    <a:pt x="126" y="53"/>
                  </a:lnTo>
                  <a:lnTo>
                    <a:pt x="126" y="45"/>
                  </a:lnTo>
                  <a:lnTo>
                    <a:pt x="124" y="38"/>
                  </a:lnTo>
                  <a:lnTo>
                    <a:pt x="121" y="31"/>
                  </a:lnTo>
                  <a:lnTo>
                    <a:pt x="117" y="24"/>
                  </a:lnTo>
                  <a:lnTo>
                    <a:pt x="109" y="17"/>
                  </a:lnTo>
                  <a:lnTo>
                    <a:pt x="105" y="15"/>
                  </a:lnTo>
                  <a:lnTo>
                    <a:pt x="105" y="15"/>
                  </a:lnTo>
                  <a:lnTo>
                    <a:pt x="99" y="12"/>
                  </a:lnTo>
                  <a:lnTo>
                    <a:pt x="99" y="34"/>
                  </a:lnTo>
                  <a:lnTo>
                    <a:pt x="99" y="34"/>
                  </a:lnTo>
                  <a:lnTo>
                    <a:pt x="103" y="35"/>
                  </a:lnTo>
                  <a:lnTo>
                    <a:pt x="106" y="36"/>
                  </a:lnTo>
                  <a:lnTo>
                    <a:pt x="106" y="36"/>
                  </a:lnTo>
                  <a:lnTo>
                    <a:pt x="111" y="39"/>
                  </a:lnTo>
                  <a:lnTo>
                    <a:pt x="114" y="45"/>
                  </a:lnTo>
                  <a:lnTo>
                    <a:pt x="114" y="50"/>
                  </a:lnTo>
                  <a:lnTo>
                    <a:pt x="113" y="55"/>
                  </a:lnTo>
                  <a:lnTo>
                    <a:pt x="113" y="55"/>
                  </a:lnTo>
                  <a:lnTo>
                    <a:pt x="110" y="59"/>
                  </a:lnTo>
                  <a:lnTo>
                    <a:pt x="107" y="62"/>
                  </a:lnTo>
                  <a:lnTo>
                    <a:pt x="103" y="63"/>
                  </a:lnTo>
                  <a:lnTo>
                    <a:pt x="99" y="63"/>
                  </a:lnTo>
                  <a:lnTo>
                    <a:pt x="99" y="76"/>
                  </a:lnTo>
                  <a:lnTo>
                    <a:pt x="99" y="76"/>
                  </a:lnTo>
                  <a:lnTo>
                    <a:pt x="109" y="74"/>
                  </a:lnTo>
                  <a:lnTo>
                    <a:pt x="113" y="72"/>
                  </a:lnTo>
                  <a:lnTo>
                    <a:pt x="117" y="70"/>
                  </a:lnTo>
                  <a:lnTo>
                    <a:pt x="121" y="68"/>
                  </a:lnTo>
                  <a:lnTo>
                    <a:pt x="122" y="63"/>
                  </a:lnTo>
                  <a:lnTo>
                    <a:pt x="125" y="58"/>
                  </a:lnTo>
                  <a:lnTo>
                    <a:pt x="126" y="53"/>
                  </a:lnTo>
                  <a:lnTo>
                    <a:pt x="126" y="53"/>
                  </a:lnTo>
                  <a:close/>
                  <a:moveTo>
                    <a:pt x="99" y="12"/>
                  </a:moveTo>
                  <a:lnTo>
                    <a:pt x="99" y="12"/>
                  </a:lnTo>
                  <a:lnTo>
                    <a:pt x="82" y="5"/>
                  </a:lnTo>
                  <a:lnTo>
                    <a:pt x="65" y="1"/>
                  </a:lnTo>
                  <a:lnTo>
                    <a:pt x="52" y="0"/>
                  </a:lnTo>
                  <a:lnTo>
                    <a:pt x="40" y="1"/>
                  </a:lnTo>
                  <a:lnTo>
                    <a:pt x="40" y="5"/>
                  </a:lnTo>
                  <a:lnTo>
                    <a:pt x="40" y="5"/>
                  </a:lnTo>
                  <a:lnTo>
                    <a:pt x="42" y="5"/>
                  </a:lnTo>
                  <a:lnTo>
                    <a:pt x="42" y="5"/>
                  </a:lnTo>
                  <a:lnTo>
                    <a:pt x="42" y="5"/>
                  </a:lnTo>
                  <a:lnTo>
                    <a:pt x="45" y="8"/>
                  </a:lnTo>
                  <a:lnTo>
                    <a:pt x="46" y="11"/>
                  </a:lnTo>
                  <a:lnTo>
                    <a:pt x="46" y="13"/>
                  </a:lnTo>
                  <a:lnTo>
                    <a:pt x="46" y="16"/>
                  </a:lnTo>
                  <a:lnTo>
                    <a:pt x="46" y="16"/>
                  </a:lnTo>
                  <a:lnTo>
                    <a:pt x="44" y="19"/>
                  </a:lnTo>
                  <a:lnTo>
                    <a:pt x="40" y="20"/>
                  </a:lnTo>
                  <a:lnTo>
                    <a:pt x="40" y="76"/>
                  </a:lnTo>
                  <a:lnTo>
                    <a:pt x="40" y="76"/>
                  </a:lnTo>
                  <a:lnTo>
                    <a:pt x="40" y="80"/>
                  </a:lnTo>
                  <a:lnTo>
                    <a:pt x="40" y="84"/>
                  </a:lnTo>
                  <a:lnTo>
                    <a:pt x="40" y="96"/>
                  </a:lnTo>
                  <a:lnTo>
                    <a:pt x="40" y="96"/>
                  </a:lnTo>
                  <a:lnTo>
                    <a:pt x="49" y="91"/>
                  </a:lnTo>
                  <a:lnTo>
                    <a:pt x="59" y="82"/>
                  </a:lnTo>
                  <a:lnTo>
                    <a:pt x="69" y="77"/>
                  </a:lnTo>
                  <a:lnTo>
                    <a:pt x="73" y="76"/>
                  </a:lnTo>
                  <a:lnTo>
                    <a:pt x="79" y="76"/>
                  </a:lnTo>
                  <a:lnTo>
                    <a:pt x="79" y="76"/>
                  </a:lnTo>
                  <a:lnTo>
                    <a:pt x="90" y="76"/>
                  </a:lnTo>
                  <a:lnTo>
                    <a:pt x="99" y="76"/>
                  </a:lnTo>
                  <a:lnTo>
                    <a:pt x="99" y="63"/>
                  </a:lnTo>
                  <a:lnTo>
                    <a:pt x="99" y="63"/>
                  </a:lnTo>
                  <a:lnTo>
                    <a:pt x="97" y="63"/>
                  </a:lnTo>
                  <a:lnTo>
                    <a:pt x="92" y="62"/>
                  </a:lnTo>
                  <a:lnTo>
                    <a:pt x="92" y="62"/>
                  </a:lnTo>
                  <a:lnTo>
                    <a:pt x="92" y="62"/>
                  </a:lnTo>
                  <a:lnTo>
                    <a:pt x="88" y="59"/>
                  </a:lnTo>
                  <a:lnTo>
                    <a:pt x="86" y="54"/>
                  </a:lnTo>
                  <a:lnTo>
                    <a:pt x="84" y="49"/>
                  </a:lnTo>
                  <a:lnTo>
                    <a:pt x="86" y="42"/>
                  </a:lnTo>
                  <a:lnTo>
                    <a:pt x="86" y="42"/>
                  </a:lnTo>
                  <a:lnTo>
                    <a:pt x="88" y="39"/>
                  </a:lnTo>
                  <a:lnTo>
                    <a:pt x="91" y="36"/>
                  </a:lnTo>
                  <a:lnTo>
                    <a:pt x="95" y="35"/>
                  </a:lnTo>
                  <a:lnTo>
                    <a:pt x="99" y="34"/>
                  </a:lnTo>
                  <a:lnTo>
                    <a:pt x="99" y="12"/>
                  </a:lnTo>
                  <a:close/>
                  <a:moveTo>
                    <a:pt x="40" y="1"/>
                  </a:moveTo>
                  <a:lnTo>
                    <a:pt x="40" y="1"/>
                  </a:lnTo>
                  <a:lnTo>
                    <a:pt x="33" y="3"/>
                  </a:lnTo>
                  <a:lnTo>
                    <a:pt x="33" y="11"/>
                  </a:lnTo>
                  <a:lnTo>
                    <a:pt x="33" y="11"/>
                  </a:lnTo>
                  <a:lnTo>
                    <a:pt x="33" y="9"/>
                  </a:lnTo>
                  <a:lnTo>
                    <a:pt x="33" y="9"/>
                  </a:lnTo>
                  <a:lnTo>
                    <a:pt x="36" y="7"/>
                  </a:lnTo>
                  <a:lnTo>
                    <a:pt x="40" y="5"/>
                  </a:lnTo>
                  <a:lnTo>
                    <a:pt x="40" y="1"/>
                  </a:lnTo>
                  <a:lnTo>
                    <a:pt x="40" y="1"/>
                  </a:lnTo>
                  <a:close/>
                  <a:moveTo>
                    <a:pt x="33" y="97"/>
                  </a:moveTo>
                  <a:lnTo>
                    <a:pt x="33" y="97"/>
                  </a:lnTo>
                  <a:lnTo>
                    <a:pt x="40" y="96"/>
                  </a:lnTo>
                  <a:lnTo>
                    <a:pt x="40" y="84"/>
                  </a:lnTo>
                  <a:lnTo>
                    <a:pt x="40" y="84"/>
                  </a:lnTo>
                  <a:lnTo>
                    <a:pt x="38" y="85"/>
                  </a:lnTo>
                  <a:lnTo>
                    <a:pt x="38" y="85"/>
                  </a:lnTo>
                  <a:lnTo>
                    <a:pt x="36" y="89"/>
                  </a:lnTo>
                  <a:lnTo>
                    <a:pt x="33" y="92"/>
                  </a:lnTo>
                  <a:lnTo>
                    <a:pt x="33" y="97"/>
                  </a:lnTo>
                  <a:lnTo>
                    <a:pt x="33" y="97"/>
                  </a:lnTo>
                  <a:close/>
                  <a:moveTo>
                    <a:pt x="40" y="20"/>
                  </a:moveTo>
                  <a:lnTo>
                    <a:pt x="40" y="76"/>
                  </a:lnTo>
                  <a:lnTo>
                    <a:pt x="40" y="76"/>
                  </a:lnTo>
                  <a:lnTo>
                    <a:pt x="37" y="72"/>
                  </a:lnTo>
                  <a:lnTo>
                    <a:pt x="33" y="69"/>
                  </a:lnTo>
                  <a:lnTo>
                    <a:pt x="33" y="69"/>
                  </a:lnTo>
                  <a:lnTo>
                    <a:pt x="33" y="69"/>
                  </a:lnTo>
                  <a:lnTo>
                    <a:pt x="33" y="32"/>
                  </a:lnTo>
                  <a:lnTo>
                    <a:pt x="33" y="32"/>
                  </a:lnTo>
                  <a:lnTo>
                    <a:pt x="33" y="30"/>
                  </a:lnTo>
                  <a:lnTo>
                    <a:pt x="33" y="26"/>
                  </a:lnTo>
                  <a:lnTo>
                    <a:pt x="33" y="15"/>
                  </a:lnTo>
                  <a:lnTo>
                    <a:pt x="33" y="15"/>
                  </a:lnTo>
                  <a:lnTo>
                    <a:pt x="34" y="17"/>
                  </a:lnTo>
                  <a:lnTo>
                    <a:pt x="36" y="19"/>
                  </a:lnTo>
                  <a:lnTo>
                    <a:pt x="36" y="19"/>
                  </a:lnTo>
                  <a:lnTo>
                    <a:pt x="40" y="20"/>
                  </a:lnTo>
                  <a:lnTo>
                    <a:pt x="40" y="20"/>
                  </a:lnTo>
                  <a:close/>
                  <a:moveTo>
                    <a:pt x="33" y="3"/>
                  </a:moveTo>
                  <a:lnTo>
                    <a:pt x="33" y="3"/>
                  </a:lnTo>
                  <a:lnTo>
                    <a:pt x="23" y="7"/>
                  </a:lnTo>
                  <a:lnTo>
                    <a:pt x="23" y="19"/>
                  </a:lnTo>
                  <a:lnTo>
                    <a:pt x="23" y="19"/>
                  </a:lnTo>
                  <a:lnTo>
                    <a:pt x="27" y="20"/>
                  </a:lnTo>
                  <a:lnTo>
                    <a:pt x="27" y="20"/>
                  </a:lnTo>
                  <a:lnTo>
                    <a:pt x="30" y="23"/>
                  </a:lnTo>
                  <a:lnTo>
                    <a:pt x="33" y="26"/>
                  </a:lnTo>
                  <a:lnTo>
                    <a:pt x="33" y="15"/>
                  </a:lnTo>
                  <a:lnTo>
                    <a:pt x="33" y="15"/>
                  </a:lnTo>
                  <a:lnTo>
                    <a:pt x="32" y="13"/>
                  </a:lnTo>
                  <a:lnTo>
                    <a:pt x="33" y="11"/>
                  </a:lnTo>
                  <a:lnTo>
                    <a:pt x="33" y="3"/>
                  </a:lnTo>
                  <a:lnTo>
                    <a:pt x="33" y="3"/>
                  </a:lnTo>
                  <a:close/>
                  <a:moveTo>
                    <a:pt x="23" y="97"/>
                  </a:moveTo>
                  <a:lnTo>
                    <a:pt x="23" y="97"/>
                  </a:lnTo>
                  <a:lnTo>
                    <a:pt x="27" y="97"/>
                  </a:lnTo>
                  <a:lnTo>
                    <a:pt x="33" y="97"/>
                  </a:lnTo>
                  <a:lnTo>
                    <a:pt x="33" y="92"/>
                  </a:lnTo>
                  <a:lnTo>
                    <a:pt x="33" y="92"/>
                  </a:lnTo>
                  <a:lnTo>
                    <a:pt x="27" y="92"/>
                  </a:lnTo>
                  <a:lnTo>
                    <a:pt x="23" y="91"/>
                  </a:lnTo>
                  <a:lnTo>
                    <a:pt x="23" y="97"/>
                  </a:lnTo>
                  <a:lnTo>
                    <a:pt x="23" y="97"/>
                  </a:lnTo>
                  <a:close/>
                  <a:moveTo>
                    <a:pt x="33" y="32"/>
                  </a:moveTo>
                  <a:lnTo>
                    <a:pt x="33" y="69"/>
                  </a:lnTo>
                  <a:lnTo>
                    <a:pt x="33" y="69"/>
                  </a:lnTo>
                  <a:lnTo>
                    <a:pt x="27" y="68"/>
                  </a:lnTo>
                  <a:lnTo>
                    <a:pt x="23" y="69"/>
                  </a:lnTo>
                  <a:lnTo>
                    <a:pt x="23" y="65"/>
                  </a:lnTo>
                  <a:lnTo>
                    <a:pt x="23" y="65"/>
                  </a:lnTo>
                  <a:lnTo>
                    <a:pt x="26" y="62"/>
                  </a:lnTo>
                  <a:lnTo>
                    <a:pt x="27" y="59"/>
                  </a:lnTo>
                  <a:lnTo>
                    <a:pt x="27" y="59"/>
                  </a:lnTo>
                  <a:lnTo>
                    <a:pt x="29" y="55"/>
                  </a:lnTo>
                  <a:lnTo>
                    <a:pt x="29" y="50"/>
                  </a:lnTo>
                  <a:lnTo>
                    <a:pt x="26" y="47"/>
                  </a:lnTo>
                  <a:lnTo>
                    <a:pt x="23" y="45"/>
                  </a:lnTo>
                  <a:lnTo>
                    <a:pt x="23" y="43"/>
                  </a:lnTo>
                  <a:lnTo>
                    <a:pt x="23" y="39"/>
                  </a:lnTo>
                  <a:lnTo>
                    <a:pt x="23" y="39"/>
                  </a:lnTo>
                  <a:lnTo>
                    <a:pt x="27" y="38"/>
                  </a:lnTo>
                  <a:lnTo>
                    <a:pt x="32" y="34"/>
                  </a:lnTo>
                  <a:lnTo>
                    <a:pt x="32" y="34"/>
                  </a:lnTo>
                  <a:lnTo>
                    <a:pt x="33" y="32"/>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15" y="93"/>
                  </a:lnTo>
                  <a:lnTo>
                    <a:pt x="23" y="97"/>
                  </a:lnTo>
                  <a:lnTo>
                    <a:pt x="23" y="91"/>
                  </a:lnTo>
                  <a:lnTo>
                    <a:pt x="22" y="91"/>
                  </a:lnTo>
                  <a:lnTo>
                    <a:pt x="22" y="91"/>
                  </a:lnTo>
                  <a:lnTo>
                    <a:pt x="22" y="91"/>
                  </a:lnTo>
                  <a:lnTo>
                    <a:pt x="18" y="88"/>
                  </a:lnTo>
                  <a:lnTo>
                    <a:pt x="17" y="84"/>
                  </a:lnTo>
                  <a:lnTo>
                    <a:pt x="15" y="80"/>
                  </a:lnTo>
                  <a:lnTo>
                    <a:pt x="17" y="74"/>
                  </a:lnTo>
                  <a:lnTo>
                    <a:pt x="17" y="74"/>
                  </a:lnTo>
                  <a:lnTo>
                    <a:pt x="19" y="72"/>
                  </a:lnTo>
                  <a:lnTo>
                    <a:pt x="23" y="69"/>
                  </a:lnTo>
                  <a:lnTo>
                    <a:pt x="23" y="65"/>
                  </a:lnTo>
                  <a:lnTo>
                    <a:pt x="23" y="65"/>
                  </a:lnTo>
                  <a:lnTo>
                    <a:pt x="18" y="66"/>
                  </a:lnTo>
                  <a:lnTo>
                    <a:pt x="13" y="65"/>
                  </a:lnTo>
                  <a:lnTo>
                    <a:pt x="13" y="65"/>
                  </a:lnTo>
                  <a:lnTo>
                    <a:pt x="13" y="65"/>
                  </a:lnTo>
                  <a:lnTo>
                    <a:pt x="10" y="62"/>
                  </a:lnTo>
                  <a:lnTo>
                    <a:pt x="7" y="58"/>
                  </a:lnTo>
                  <a:lnTo>
                    <a:pt x="7" y="54"/>
                  </a:lnTo>
                  <a:lnTo>
                    <a:pt x="8" y="49"/>
                  </a:lnTo>
                  <a:lnTo>
                    <a:pt x="8" y="49"/>
                  </a:lnTo>
                  <a:lnTo>
                    <a:pt x="11" y="46"/>
                  </a:lnTo>
                  <a:lnTo>
                    <a:pt x="14" y="43"/>
                  </a:lnTo>
                  <a:lnTo>
                    <a:pt x="18" y="43"/>
                  </a:lnTo>
                  <a:lnTo>
                    <a:pt x="23" y="43"/>
                  </a:lnTo>
                  <a:lnTo>
                    <a:pt x="23" y="39"/>
                  </a:lnTo>
                  <a:lnTo>
                    <a:pt x="23" y="39"/>
                  </a:lnTo>
                  <a:lnTo>
                    <a:pt x="18" y="38"/>
                  </a:lnTo>
                  <a:lnTo>
                    <a:pt x="18" y="38"/>
                  </a:lnTo>
                  <a:lnTo>
                    <a:pt x="15" y="35"/>
                  </a:lnTo>
                  <a:lnTo>
                    <a:pt x="14" y="32"/>
                  </a:lnTo>
                  <a:lnTo>
                    <a:pt x="13" y="28"/>
                  </a:lnTo>
                  <a:lnTo>
                    <a:pt x="14" y="24"/>
                  </a:lnTo>
                  <a:lnTo>
                    <a:pt x="14" y="24"/>
                  </a:lnTo>
                  <a:lnTo>
                    <a:pt x="14" y="24"/>
                  </a:lnTo>
                  <a:lnTo>
                    <a:pt x="18" y="20"/>
                  </a:lnTo>
                  <a:lnTo>
                    <a:pt x="23" y="19"/>
                  </a:lnTo>
                  <a:lnTo>
                    <a:pt x="23" y="7"/>
                  </a:lnTo>
                  <a:close/>
                </a:path>
              </a:pathLst>
            </a:custGeom>
            <a:solidFill>
              <a:schemeClr val="accent6"/>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197" name="组合 199"/>
            <p:cNvGrpSpPr/>
            <p:nvPr/>
          </p:nvGrpSpPr>
          <p:grpSpPr>
            <a:xfrm>
              <a:off x="2708958" y="3203639"/>
              <a:ext cx="265079" cy="335040"/>
              <a:chOff x="3665538" y="3100388"/>
              <a:chExt cx="265113" cy="334963"/>
            </a:xfrm>
            <a:solidFill>
              <a:schemeClr val="accent6"/>
            </a:solidFill>
          </p:grpSpPr>
          <p:sp>
            <p:nvSpPr>
              <p:cNvPr id="198" name="Freeform 186"/>
              <p:cNvSpPr/>
              <p:nvPr/>
            </p:nvSpPr>
            <p:spPr bwMode="auto">
              <a:xfrm>
                <a:off x="3665538" y="3109913"/>
                <a:ext cx="252413" cy="325438"/>
              </a:xfrm>
              <a:custGeom>
                <a:avLst/>
                <a:gdLst>
                  <a:gd name="T0" fmla="*/ 159 w 159"/>
                  <a:gd name="T1" fmla="*/ 36 h 205"/>
                  <a:gd name="T2" fmla="*/ 151 w 159"/>
                  <a:gd name="T3" fmla="*/ 32 h 205"/>
                  <a:gd name="T4" fmla="*/ 56 w 159"/>
                  <a:gd name="T5" fmla="*/ 185 h 205"/>
                  <a:gd name="T6" fmla="*/ 56 w 159"/>
                  <a:gd name="T7" fmla="*/ 185 h 205"/>
                  <a:gd name="T8" fmla="*/ 53 w 159"/>
                  <a:gd name="T9" fmla="*/ 189 h 205"/>
                  <a:gd name="T10" fmla="*/ 50 w 159"/>
                  <a:gd name="T11" fmla="*/ 191 h 205"/>
                  <a:gd name="T12" fmla="*/ 46 w 159"/>
                  <a:gd name="T13" fmla="*/ 193 h 205"/>
                  <a:gd name="T14" fmla="*/ 41 w 159"/>
                  <a:gd name="T15" fmla="*/ 194 h 205"/>
                  <a:gd name="T16" fmla="*/ 37 w 159"/>
                  <a:gd name="T17" fmla="*/ 195 h 205"/>
                  <a:gd name="T18" fmla="*/ 31 w 159"/>
                  <a:gd name="T19" fmla="*/ 194 h 205"/>
                  <a:gd name="T20" fmla="*/ 27 w 159"/>
                  <a:gd name="T21" fmla="*/ 193 h 205"/>
                  <a:gd name="T22" fmla="*/ 22 w 159"/>
                  <a:gd name="T23" fmla="*/ 191 h 205"/>
                  <a:gd name="T24" fmla="*/ 22 w 159"/>
                  <a:gd name="T25" fmla="*/ 191 h 205"/>
                  <a:gd name="T26" fmla="*/ 18 w 159"/>
                  <a:gd name="T27" fmla="*/ 187 h 205"/>
                  <a:gd name="T28" fmla="*/ 15 w 159"/>
                  <a:gd name="T29" fmla="*/ 185 h 205"/>
                  <a:gd name="T30" fmla="*/ 12 w 159"/>
                  <a:gd name="T31" fmla="*/ 180 h 205"/>
                  <a:gd name="T32" fmla="*/ 10 w 159"/>
                  <a:gd name="T33" fmla="*/ 175 h 205"/>
                  <a:gd name="T34" fmla="*/ 10 w 159"/>
                  <a:gd name="T35" fmla="*/ 171 h 205"/>
                  <a:gd name="T36" fmla="*/ 10 w 159"/>
                  <a:gd name="T37" fmla="*/ 166 h 205"/>
                  <a:gd name="T38" fmla="*/ 11 w 159"/>
                  <a:gd name="T39" fmla="*/ 162 h 205"/>
                  <a:gd name="T40" fmla="*/ 12 w 159"/>
                  <a:gd name="T41" fmla="*/ 157 h 205"/>
                  <a:gd name="T42" fmla="*/ 107 w 159"/>
                  <a:gd name="T43" fmla="*/ 4 h 205"/>
                  <a:gd name="T44" fmla="*/ 100 w 159"/>
                  <a:gd name="T45" fmla="*/ 0 h 205"/>
                  <a:gd name="T46" fmla="*/ 4 w 159"/>
                  <a:gd name="T47" fmla="*/ 155 h 205"/>
                  <a:gd name="T48" fmla="*/ 4 w 159"/>
                  <a:gd name="T49" fmla="*/ 155 h 205"/>
                  <a:gd name="T50" fmla="*/ 2 w 159"/>
                  <a:gd name="T51" fmla="*/ 160 h 205"/>
                  <a:gd name="T52" fmla="*/ 0 w 159"/>
                  <a:gd name="T53" fmla="*/ 167 h 205"/>
                  <a:gd name="T54" fmla="*/ 0 w 159"/>
                  <a:gd name="T55" fmla="*/ 172 h 205"/>
                  <a:gd name="T56" fmla="*/ 2 w 159"/>
                  <a:gd name="T57" fmla="*/ 179 h 205"/>
                  <a:gd name="T58" fmla="*/ 3 w 159"/>
                  <a:gd name="T59" fmla="*/ 185 h 205"/>
                  <a:gd name="T60" fmla="*/ 7 w 159"/>
                  <a:gd name="T61" fmla="*/ 190 h 205"/>
                  <a:gd name="T62" fmla="*/ 11 w 159"/>
                  <a:gd name="T63" fmla="*/ 195 h 205"/>
                  <a:gd name="T64" fmla="*/ 16 w 159"/>
                  <a:gd name="T65" fmla="*/ 199 h 205"/>
                  <a:gd name="T66" fmla="*/ 16 w 159"/>
                  <a:gd name="T67" fmla="*/ 199 h 205"/>
                  <a:gd name="T68" fmla="*/ 23 w 159"/>
                  <a:gd name="T69" fmla="*/ 202 h 205"/>
                  <a:gd name="T70" fmla="*/ 30 w 159"/>
                  <a:gd name="T71" fmla="*/ 203 h 205"/>
                  <a:gd name="T72" fmla="*/ 35 w 159"/>
                  <a:gd name="T73" fmla="*/ 205 h 205"/>
                  <a:gd name="T74" fmla="*/ 42 w 159"/>
                  <a:gd name="T75" fmla="*/ 205 h 205"/>
                  <a:gd name="T76" fmla="*/ 48 w 159"/>
                  <a:gd name="T77" fmla="*/ 202 h 205"/>
                  <a:gd name="T78" fmla="*/ 53 w 159"/>
                  <a:gd name="T79" fmla="*/ 199 h 205"/>
                  <a:gd name="T80" fmla="*/ 58 w 159"/>
                  <a:gd name="T81" fmla="*/ 195 h 205"/>
                  <a:gd name="T82" fmla="*/ 62 w 159"/>
                  <a:gd name="T83" fmla="*/ 191 h 205"/>
                  <a:gd name="T84" fmla="*/ 159 w 159"/>
                  <a:gd name="T85" fmla="*/ 3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 h="205">
                    <a:moveTo>
                      <a:pt x="159" y="36"/>
                    </a:moveTo>
                    <a:lnTo>
                      <a:pt x="151" y="32"/>
                    </a:lnTo>
                    <a:lnTo>
                      <a:pt x="56" y="185"/>
                    </a:lnTo>
                    <a:lnTo>
                      <a:pt x="56" y="185"/>
                    </a:lnTo>
                    <a:lnTo>
                      <a:pt x="53" y="189"/>
                    </a:lnTo>
                    <a:lnTo>
                      <a:pt x="50" y="191"/>
                    </a:lnTo>
                    <a:lnTo>
                      <a:pt x="46" y="193"/>
                    </a:lnTo>
                    <a:lnTo>
                      <a:pt x="41" y="194"/>
                    </a:lnTo>
                    <a:lnTo>
                      <a:pt x="37" y="195"/>
                    </a:lnTo>
                    <a:lnTo>
                      <a:pt x="31" y="194"/>
                    </a:lnTo>
                    <a:lnTo>
                      <a:pt x="27" y="193"/>
                    </a:lnTo>
                    <a:lnTo>
                      <a:pt x="22" y="191"/>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4" y="155"/>
                    </a:lnTo>
                    <a:lnTo>
                      <a:pt x="2" y="160"/>
                    </a:lnTo>
                    <a:lnTo>
                      <a:pt x="0" y="167"/>
                    </a:lnTo>
                    <a:lnTo>
                      <a:pt x="0" y="172"/>
                    </a:lnTo>
                    <a:lnTo>
                      <a:pt x="2" y="179"/>
                    </a:lnTo>
                    <a:lnTo>
                      <a:pt x="3" y="185"/>
                    </a:lnTo>
                    <a:lnTo>
                      <a:pt x="7" y="190"/>
                    </a:lnTo>
                    <a:lnTo>
                      <a:pt x="11" y="195"/>
                    </a:lnTo>
                    <a:lnTo>
                      <a:pt x="16" y="199"/>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99" name="Freeform 187"/>
              <p:cNvSpPr/>
              <p:nvPr/>
            </p:nvSpPr>
            <p:spPr bwMode="auto">
              <a:xfrm>
                <a:off x="3808413" y="3100388"/>
                <a:ext cx="122238" cy="82550"/>
              </a:xfrm>
              <a:custGeom>
                <a:avLst/>
                <a:gdLst>
                  <a:gd name="T0" fmla="*/ 75 w 77"/>
                  <a:gd name="T1" fmla="*/ 50 h 52"/>
                  <a:gd name="T2" fmla="*/ 75 w 77"/>
                  <a:gd name="T3" fmla="*/ 50 h 52"/>
                  <a:gd name="T4" fmla="*/ 74 w 77"/>
                  <a:gd name="T5" fmla="*/ 51 h 52"/>
                  <a:gd name="T6" fmla="*/ 71 w 77"/>
                  <a:gd name="T7" fmla="*/ 52 h 52"/>
                  <a:gd name="T8" fmla="*/ 69 w 77"/>
                  <a:gd name="T9" fmla="*/ 52 h 52"/>
                  <a:gd name="T10" fmla="*/ 67 w 77"/>
                  <a:gd name="T11" fmla="*/ 51 h 52"/>
                  <a:gd name="T12" fmla="*/ 2 w 77"/>
                  <a:gd name="T13" fmla="*/ 12 h 52"/>
                  <a:gd name="T14" fmla="*/ 2 w 77"/>
                  <a:gd name="T15" fmla="*/ 12 h 52"/>
                  <a:gd name="T16" fmla="*/ 0 w 77"/>
                  <a:gd name="T17" fmla="*/ 9 h 52"/>
                  <a:gd name="T18" fmla="*/ 0 w 77"/>
                  <a:gd name="T19" fmla="*/ 8 h 52"/>
                  <a:gd name="T20" fmla="*/ 0 w 77"/>
                  <a:gd name="T21" fmla="*/ 5 h 52"/>
                  <a:gd name="T22" fmla="*/ 0 w 77"/>
                  <a:gd name="T23" fmla="*/ 2 h 52"/>
                  <a:gd name="T24" fmla="*/ 0 w 77"/>
                  <a:gd name="T25" fmla="*/ 2 h 52"/>
                  <a:gd name="T26" fmla="*/ 1 w 77"/>
                  <a:gd name="T27" fmla="*/ 1 h 52"/>
                  <a:gd name="T28" fmla="*/ 4 w 77"/>
                  <a:gd name="T29" fmla="*/ 0 h 52"/>
                  <a:gd name="T30" fmla="*/ 6 w 77"/>
                  <a:gd name="T31" fmla="*/ 0 h 52"/>
                  <a:gd name="T32" fmla="*/ 8 w 77"/>
                  <a:gd name="T33" fmla="*/ 1 h 52"/>
                  <a:gd name="T34" fmla="*/ 74 w 77"/>
                  <a:gd name="T35" fmla="*/ 42 h 52"/>
                  <a:gd name="T36" fmla="*/ 74 w 77"/>
                  <a:gd name="T37" fmla="*/ 42 h 52"/>
                  <a:gd name="T38" fmla="*/ 75 w 77"/>
                  <a:gd name="T39" fmla="*/ 43 h 52"/>
                  <a:gd name="T40" fmla="*/ 77 w 77"/>
                  <a:gd name="T41" fmla="*/ 46 h 52"/>
                  <a:gd name="T42" fmla="*/ 77 w 77"/>
                  <a:gd name="T43" fmla="*/ 47 h 52"/>
                  <a:gd name="T44" fmla="*/ 75 w 77"/>
                  <a:gd name="T45" fmla="*/ 50 h 52"/>
                  <a:gd name="T46" fmla="*/ 75 w 77"/>
                  <a:gd name="T4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52">
                    <a:moveTo>
                      <a:pt x="75" y="50"/>
                    </a:moveTo>
                    <a:lnTo>
                      <a:pt x="75" y="50"/>
                    </a:lnTo>
                    <a:lnTo>
                      <a:pt x="74" y="51"/>
                    </a:lnTo>
                    <a:lnTo>
                      <a:pt x="71" y="52"/>
                    </a:lnTo>
                    <a:lnTo>
                      <a:pt x="69" y="52"/>
                    </a:lnTo>
                    <a:lnTo>
                      <a:pt x="67" y="51"/>
                    </a:lnTo>
                    <a:lnTo>
                      <a:pt x="2" y="12"/>
                    </a:lnTo>
                    <a:lnTo>
                      <a:pt x="2" y="12"/>
                    </a:lnTo>
                    <a:lnTo>
                      <a:pt x="0" y="9"/>
                    </a:lnTo>
                    <a:lnTo>
                      <a:pt x="0" y="8"/>
                    </a:lnTo>
                    <a:lnTo>
                      <a:pt x="0" y="5"/>
                    </a:lnTo>
                    <a:lnTo>
                      <a:pt x="0" y="2"/>
                    </a:lnTo>
                    <a:lnTo>
                      <a:pt x="0" y="2"/>
                    </a:lnTo>
                    <a:lnTo>
                      <a:pt x="1" y="1"/>
                    </a:lnTo>
                    <a:lnTo>
                      <a:pt x="4" y="0"/>
                    </a:lnTo>
                    <a:lnTo>
                      <a:pt x="6" y="0"/>
                    </a:lnTo>
                    <a:lnTo>
                      <a:pt x="8" y="1"/>
                    </a:lnTo>
                    <a:lnTo>
                      <a:pt x="74" y="42"/>
                    </a:lnTo>
                    <a:lnTo>
                      <a:pt x="74" y="42"/>
                    </a:lnTo>
                    <a:lnTo>
                      <a:pt x="75" y="43"/>
                    </a:lnTo>
                    <a:lnTo>
                      <a:pt x="77" y="46"/>
                    </a:lnTo>
                    <a:lnTo>
                      <a:pt x="77" y="47"/>
                    </a:lnTo>
                    <a:lnTo>
                      <a:pt x="75" y="50"/>
                    </a:lnTo>
                    <a:lnTo>
                      <a:pt x="75" y="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0" name="Freeform 188"/>
              <p:cNvSpPr/>
              <p:nvPr/>
            </p:nvSpPr>
            <p:spPr bwMode="auto">
              <a:xfrm>
                <a:off x="3708401" y="3168650"/>
                <a:ext cx="173038" cy="234950"/>
              </a:xfrm>
              <a:custGeom>
                <a:avLst/>
                <a:gdLst>
                  <a:gd name="T0" fmla="*/ 109 w 109"/>
                  <a:gd name="T1" fmla="*/ 5 h 148"/>
                  <a:gd name="T2" fmla="*/ 99 w 109"/>
                  <a:gd name="T3" fmla="*/ 0 h 148"/>
                  <a:gd name="T4" fmla="*/ 15 w 109"/>
                  <a:gd name="T5" fmla="*/ 137 h 148"/>
                  <a:gd name="T6" fmla="*/ 15 w 109"/>
                  <a:gd name="T7" fmla="*/ 137 h 148"/>
                  <a:gd name="T8" fmla="*/ 12 w 109"/>
                  <a:gd name="T9" fmla="*/ 139 h 148"/>
                  <a:gd name="T10" fmla="*/ 8 w 109"/>
                  <a:gd name="T11" fmla="*/ 142 h 148"/>
                  <a:gd name="T12" fmla="*/ 4 w 109"/>
                  <a:gd name="T13" fmla="*/ 143 h 148"/>
                  <a:gd name="T14" fmla="*/ 0 w 109"/>
                  <a:gd name="T15" fmla="*/ 143 h 148"/>
                  <a:gd name="T16" fmla="*/ 0 w 109"/>
                  <a:gd name="T17" fmla="*/ 143 h 148"/>
                  <a:gd name="T18" fmla="*/ 0 w 109"/>
                  <a:gd name="T19" fmla="*/ 145 h 148"/>
                  <a:gd name="T20" fmla="*/ 0 w 109"/>
                  <a:gd name="T21" fmla="*/ 145 h 148"/>
                  <a:gd name="T22" fmla="*/ 7 w 109"/>
                  <a:gd name="T23" fmla="*/ 148 h 148"/>
                  <a:gd name="T24" fmla="*/ 14 w 109"/>
                  <a:gd name="T25" fmla="*/ 148 h 148"/>
                  <a:gd name="T26" fmla="*/ 21 w 109"/>
                  <a:gd name="T27" fmla="*/ 145 h 148"/>
                  <a:gd name="T28" fmla="*/ 25 w 109"/>
                  <a:gd name="T29" fmla="*/ 141 h 148"/>
                  <a:gd name="T30" fmla="*/ 109 w 109"/>
                  <a:gd name="T3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48">
                    <a:moveTo>
                      <a:pt x="109" y="5"/>
                    </a:moveTo>
                    <a:lnTo>
                      <a:pt x="99" y="0"/>
                    </a:lnTo>
                    <a:lnTo>
                      <a:pt x="15" y="137"/>
                    </a:lnTo>
                    <a:lnTo>
                      <a:pt x="15" y="137"/>
                    </a:lnTo>
                    <a:lnTo>
                      <a:pt x="12" y="139"/>
                    </a:lnTo>
                    <a:lnTo>
                      <a:pt x="8" y="142"/>
                    </a:lnTo>
                    <a:lnTo>
                      <a:pt x="4" y="143"/>
                    </a:lnTo>
                    <a:lnTo>
                      <a:pt x="0" y="143"/>
                    </a:lnTo>
                    <a:lnTo>
                      <a:pt x="0" y="143"/>
                    </a:lnTo>
                    <a:lnTo>
                      <a:pt x="0" y="145"/>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201" name="Freeform 189"/>
            <p:cNvSpPr>
              <a:spLocks noEditPoints="1"/>
            </p:cNvSpPr>
            <p:nvPr/>
          </p:nvSpPr>
          <p:spPr bwMode="auto">
            <a:xfrm>
              <a:off x="1411344" y="4819007"/>
              <a:ext cx="216340" cy="235411"/>
            </a:xfrm>
            <a:custGeom>
              <a:avLst/>
              <a:gdLst>
                <a:gd name="T0" fmla="*/ 107 w 137"/>
                <a:gd name="T1" fmla="*/ 68 h 147"/>
                <a:gd name="T2" fmla="*/ 103 w 137"/>
                <a:gd name="T3" fmla="*/ 51 h 147"/>
                <a:gd name="T4" fmla="*/ 103 w 137"/>
                <a:gd name="T5" fmla="*/ 99 h 147"/>
                <a:gd name="T6" fmla="*/ 117 w 137"/>
                <a:gd name="T7" fmla="*/ 111 h 147"/>
                <a:gd name="T8" fmla="*/ 115 w 137"/>
                <a:gd name="T9" fmla="*/ 118 h 147"/>
                <a:gd name="T10" fmla="*/ 103 w 137"/>
                <a:gd name="T11" fmla="*/ 38 h 147"/>
                <a:gd name="T12" fmla="*/ 115 w 137"/>
                <a:gd name="T13" fmla="*/ 19 h 147"/>
                <a:gd name="T14" fmla="*/ 117 w 137"/>
                <a:gd name="T15" fmla="*/ 24 h 147"/>
                <a:gd name="T16" fmla="*/ 103 w 137"/>
                <a:gd name="T17" fmla="*/ 38 h 147"/>
                <a:gd name="T18" fmla="*/ 114 w 137"/>
                <a:gd name="T19" fmla="*/ 68 h 147"/>
                <a:gd name="T20" fmla="*/ 134 w 137"/>
                <a:gd name="T21" fmla="*/ 65 h 147"/>
                <a:gd name="T22" fmla="*/ 136 w 137"/>
                <a:gd name="T23" fmla="*/ 70 h 147"/>
                <a:gd name="T24" fmla="*/ 114 w 137"/>
                <a:gd name="T25" fmla="*/ 70 h 147"/>
                <a:gd name="T26" fmla="*/ 69 w 137"/>
                <a:gd name="T27" fmla="*/ 30 h 147"/>
                <a:gd name="T28" fmla="*/ 103 w 137"/>
                <a:gd name="T29" fmla="*/ 51 h 147"/>
                <a:gd name="T30" fmla="*/ 90 w 137"/>
                <a:gd name="T31" fmla="*/ 100 h 147"/>
                <a:gd name="T32" fmla="*/ 84 w 137"/>
                <a:gd name="T33" fmla="*/ 142 h 147"/>
                <a:gd name="T34" fmla="*/ 69 w 137"/>
                <a:gd name="T35" fmla="*/ 114 h 147"/>
                <a:gd name="T36" fmla="*/ 83 w 137"/>
                <a:gd name="T37" fmla="*/ 96 h 147"/>
                <a:gd name="T38" fmla="*/ 95 w 137"/>
                <a:gd name="T39" fmla="*/ 84 h 147"/>
                <a:gd name="T40" fmla="*/ 99 w 137"/>
                <a:gd name="T41" fmla="*/ 62 h 147"/>
                <a:gd name="T42" fmla="*/ 91 w 137"/>
                <a:gd name="T43" fmla="*/ 47 h 147"/>
                <a:gd name="T44" fmla="*/ 69 w 137"/>
                <a:gd name="T45" fmla="*/ 38 h 147"/>
                <a:gd name="T46" fmla="*/ 100 w 137"/>
                <a:gd name="T47" fmla="*/ 31 h 147"/>
                <a:gd name="T48" fmla="*/ 100 w 137"/>
                <a:gd name="T49" fmla="*/ 36 h 147"/>
                <a:gd name="T50" fmla="*/ 103 w 137"/>
                <a:gd name="T51" fmla="*/ 99 h 147"/>
                <a:gd name="T52" fmla="*/ 99 w 137"/>
                <a:gd name="T53" fmla="*/ 101 h 147"/>
                <a:gd name="T54" fmla="*/ 103 w 137"/>
                <a:gd name="T55" fmla="*/ 99 h 147"/>
                <a:gd name="T56" fmla="*/ 72 w 137"/>
                <a:gd name="T57" fmla="*/ 1 h 147"/>
                <a:gd name="T58" fmla="*/ 72 w 137"/>
                <a:gd name="T59" fmla="*/ 23 h 147"/>
                <a:gd name="T60" fmla="*/ 67 w 137"/>
                <a:gd name="T61" fmla="*/ 147 h 147"/>
                <a:gd name="T62" fmla="*/ 49 w 137"/>
                <a:gd name="T63" fmla="*/ 137 h 147"/>
                <a:gd name="T64" fmla="*/ 41 w 137"/>
                <a:gd name="T65" fmla="*/ 92 h 147"/>
                <a:gd name="T66" fmla="*/ 41 w 137"/>
                <a:gd name="T67" fmla="*/ 43 h 147"/>
                <a:gd name="T68" fmla="*/ 69 w 137"/>
                <a:gd name="T69" fmla="*/ 30 h 147"/>
                <a:gd name="T70" fmla="*/ 57 w 137"/>
                <a:gd name="T71" fmla="*/ 40 h 147"/>
                <a:gd name="T72" fmla="*/ 45 w 137"/>
                <a:gd name="T73" fmla="*/ 51 h 147"/>
                <a:gd name="T74" fmla="*/ 40 w 137"/>
                <a:gd name="T75" fmla="*/ 68 h 147"/>
                <a:gd name="T76" fmla="*/ 54 w 137"/>
                <a:gd name="T77" fmla="*/ 93 h 147"/>
                <a:gd name="T78" fmla="*/ 56 w 137"/>
                <a:gd name="T79" fmla="*/ 97 h 147"/>
                <a:gd name="T80" fmla="*/ 69 w 137"/>
                <a:gd name="T81" fmla="*/ 147 h 147"/>
                <a:gd name="T82" fmla="*/ 69 w 137"/>
                <a:gd name="T83" fmla="*/ 24 h 147"/>
                <a:gd name="T84" fmla="*/ 65 w 137"/>
                <a:gd name="T85" fmla="*/ 4 h 147"/>
                <a:gd name="T86" fmla="*/ 69 w 137"/>
                <a:gd name="T87" fmla="*/ 0 h 147"/>
                <a:gd name="T88" fmla="*/ 38 w 137"/>
                <a:gd name="T89" fmla="*/ 104 h 147"/>
                <a:gd name="T90" fmla="*/ 35 w 137"/>
                <a:gd name="T91" fmla="*/ 99 h 147"/>
                <a:gd name="T92" fmla="*/ 35 w 137"/>
                <a:gd name="T93" fmla="*/ 38 h 147"/>
                <a:gd name="T94" fmla="*/ 38 w 137"/>
                <a:gd name="T95" fmla="*/ 31 h 147"/>
                <a:gd name="T96" fmla="*/ 35 w 137"/>
                <a:gd name="T97" fmla="*/ 84 h 147"/>
                <a:gd name="T98" fmla="*/ 33 w 137"/>
                <a:gd name="T99" fmla="*/ 59 h 147"/>
                <a:gd name="T100" fmla="*/ 35 w 137"/>
                <a:gd name="T101" fmla="*/ 30 h 147"/>
                <a:gd name="T102" fmla="*/ 33 w 137"/>
                <a:gd name="T103" fmla="*/ 36 h 147"/>
                <a:gd name="T104" fmla="*/ 21 w 137"/>
                <a:gd name="T105" fmla="*/ 20 h 147"/>
                <a:gd name="T106" fmla="*/ 35 w 137"/>
                <a:gd name="T107" fmla="*/ 30 h 147"/>
                <a:gd name="T108" fmla="*/ 26 w 137"/>
                <a:gd name="T109" fmla="*/ 116 h 147"/>
                <a:gd name="T110" fmla="*/ 21 w 137"/>
                <a:gd name="T111" fmla="*/ 116 h 147"/>
                <a:gd name="T112" fmla="*/ 33 w 137"/>
                <a:gd name="T113" fmla="*/ 99 h 147"/>
                <a:gd name="T114" fmla="*/ 4 w 137"/>
                <a:gd name="T115" fmla="*/ 65 h 147"/>
                <a:gd name="T116" fmla="*/ 23 w 137"/>
                <a:gd name="T117" fmla="*/ 65 h 147"/>
                <a:gd name="T118" fmla="*/ 21 w 137"/>
                <a:gd name="T119" fmla="*/ 72 h 147"/>
                <a:gd name="T120" fmla="*/ 0 w 137"/>
                <a:gd name="T121" fmla="*/ 68 h 147"/>
                <a:gd name="T122" fmla="*/ 4 w 137"/>
                <a:gd name="T123" fmla="*/ 6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7">
                  <a:moveTo>
                    <a:pt x="103" y="51"/>
                  </a:moveTo>
                  <a:lnTo>
                    <a:pt x="103" y="51"/>
                  </a:lnTo>
                  <a:lnTo>
                    <a:pt x="106" y="59"/>
                  </a:lnTo>
                  <a:lnTo>
                    <a:pt x="107" y="68"/>
                  </a:lnTo>
                  <a:lnTo>
                    <a:pt x="107" y="68"/>
                  </a:lnTo>
                  <a:lnTo>
                    <a:pt x="106" y="77"/>
                  </a:lnTo>
                  <a:lnTo>
                    <a:pt x="103" y="84"/>
                  </a:lnTo>
                  <a:lnTo>
                    <a:pt x="103" y="51"/>
                  </a:lnTo>
                  <a:lnTo>
                    <a:pt x="103" y="51"/>
                  </a:lnTo>
                  <a:close/>
                  <a:moveTo>
                    <a:pt x="103" y="107"/>
                  </a:moveTo>
                  <a:lnTo>
                    <a:pt x="103" y="99"/>
                  </a:lnTo>
                  <a:lnTo>
                    <a:pt x="103" y="99"/>
                  </a:lnTo>
                  <a:lnTo>
                    <a:pt x="106" y="99"/>
                  </a:lnTo>
                  <a:lnTo>
                    <a:pt x="106" y="99"/>
                  </a:lnTo>
                  <a:lnTo>
                    <a:pt x="117" y="111"/>
                  </a:lnTo>
                  <a:lnTo>
                    <a:pt x="117" y="111"/>
                  </a:lnTo>
                  <a:lnTo>
                    <a:pt x="118" y="114"/>
                  </a:lnTo>
                  <a:lnTo>
                    <a:pt x="117" y="116"/>
                  </a:lnTo>
                  <a:lnTo>
                    <a:pt x="117" y="116"/>
                  </a:lnTo>
                  <a:lnTo>
                    <a:pt x="115" y="118"/>
                  </a:lnTo>
                  <a:lnTo>
                    <a:pt x="113" y="116"/>
                  </a:lnTo>
                  <a:lnTo>
                    <a:pt x="103" y="107"/>
                  </a:lnTo>
                  <a:lnTo>
                    <a:pt x="103" y="107"/>
                  </a:lnTo>
                  <a:close/>
                  <a:moveTo>
                    <a:pt x="103" y="38"/>
                  </a:moveTo>
                  <a:lnTo>
                    <a:pt x="103" y="28"/>
                  </a:lnTo>
                  <a:lnTo>
                    <a:pt x="113" y="20"/>
                  </a:lnTo>
                  <a:lnTo>
                    <a:pt x="113" y="20"/>
                  </a:lnTo>
                  <a:lnTo>
                    <a:pt x="115" y="19"/>
                  </a:lnTo>
                  <a:lnTo>
                    <a:pt x="117" y="20"/>
                  </a:lnTo>
                  <a:lnTo>
                    <a:pt x="117" y="20"/>
                  </a:lnTo>
                  <a:lnTo>
                    <a:pt x="118" y="23"/>
                  </a:lnTo>
                  <a:lnTo>
                    <a:pt x="117" y="24"/>
                  </a:lnTo>
                  <a:lnTo>
                    <a:pt x="106" y="36"/>
                  </a:lnTo>
                  <a:lnTo>
                    <a:pt x="106" y="36"/>
                  </a:lnTo>
                  <a:lnTo>
                    <a:pt x="106" y="36"/>
                  </a:lnTo>
                  <a:lnTo>
                    <a:pt x="103" y="38"/>
                  </a:lnTo>
                  <a:lnTo>
                    <a:pt x="103" y="38"/>
                  </a:lnTo>
                  <a:close/>
                  <a:moveTo>
                    <a:pt x="114" y="68"/>
                  </a:moveTo>
                  <a:lnTo>
                    <a:pt x="114" y="68"/>
                  </a:lnTo>
                  <a:lnTo>
                    <a:pt x="114" y="68"/>
                  </a:lnTo>
                  <a:lnTo>
                    <a:pt x="114" y="65"/>
                  </a:lnTo>
                  <a:lnTo>
                    <a:pt x="117" y="65"/>
                  </a:lnTo>
                  <a:lnTo>
                    <a:pt x="134" y="65"/>
                  </a:lnTo>
                  <a:lnTo>
                    <a:pt x="134" y="65"/>
                  </a:lnTo>
                  <a:lnTo>
                    <a:pt x="136" y="65"/>
                  </a:lnTo>
                  <a:lnTo>
                    <a:pt x="137" y="68"/>
                  </a:lnTo>
                  <a:lnTo>
                    <a:pt x="137" y="68"/>
                  </a:lnTo>
                  <a:lnTo>
                    <a:pt x="136" y="70"/>
                  </a:lnTo>
                  <a:lnTo>
                    <a:pt x="134" y="72"/>
                  </a:lnTo>
                  <a:lnTo>
                    <a:pt x="117" y="72"/>
                  </a:lnTo>
                  <a:lnTo>
                    <a:pt x="117" y="72"/>
                  </a:lnTo>
                  <a:lnTo>
                    <a:pt x="114" y="70"/>
                  </a:lnTo>
                  <a:lnTo>
                    <a:pt x="114" y="68"/>
                  </a:lnTo>
                  <a:lnTo>
                    <a:pt x="114" y="68"/>
                  </a:lnTo>
                  <a:close/>
                  <a:moveTo>
                    <a:pt x="69" y="30"/>
                  </a:moveTo>
                  <a:lnTo>
                    <a:pt x="69" y="30"/>
                  </a:lnTo>
                  <a:lnTo>
                    <a:pt x="80" y="32"/>
                  </a:lnTo>
                  <a:lnTo>
                    <a:pt x="90" y="36"/>
                  </a:lnTo>
                  <a:lnTo>
                    <a:pt x="98" y="43"/>
                  </a:lnTo>
                  <a:lnTo>
                    <a:pt x="103" y="51"/>
                  </a:lnTo>
                  <a:lnTo>
                    <a:pt x="103" y="84"/>
                  </a:lnTo>
                  <a:lnTo>
                    <a:pt x="103" y="84"/>
                  </a:lnTo>
                  <a:lnTo>
                    <a:pt x="98" y="93"/>
                  </a:lnTo>
                  <a:lnTo>
                    <a:pt x="90" y="100"/>
                  </a:lnTo>
                  <a:lnTo>
                    <a:pt x="90" y="130"/>
                  </a:lnTo>
                  <a:lnTo>
                    <a:pt x="90" y="130"/>
                  </a:lnTo>
                  <a:lnTo>
                    <a:pt x="88" y="137"/>
                  </a:lnTo>
                  <a:lnTo>
                    <a:pt x="84" y="142"/>
                  </a:lnTo>
                  <a:lnTo>
                    <a:pt x="79" y="146"/>
                  </a:lnTo>
                  <a:lnTo>
                    <a:pt x="71" y="147"/>
                  </a:lnTo>
                  <a:lnTo>
                    <a:pt x="69" y="147"/>
                  </a:lnTo>
                  <a:lnTo>
                    <a:pt x="69" y="114"/>
                  </a:lnTo>
                  <a:lnTo>
                    <a:pt x="82" y="114"/>
                  </a:lnTo>
                  <a:lnTo>
                    <a:pt x="82" y="97"/>
                  </a:lnTo>
                  <a:lnTo>
                    <a:pt x="82" y="97"/>
                  </a:lnTo>
                  <a:lnTo>
                    <a:pt x="83" y="96"/>
                  </a:lnTo>
                  <a:lnTo>
                    <a:pt x="84" y="95"/>
                  </a:lnTo>
                  <a:lnTo>
                    <a:pt x="84" y="95"/>
                  </a:lnTo>
                  <a:lnTo>
                    <a:pt x="91" y="89"/>
                  </a:lnTo>
                  <a:lnTo>
                    <a:pt x="95" y="84"/>
                  </a:lnTo>
                  <a:lnTo>
                    <a:pt x="98" y="76"/>
                  </a:lnTo>
                  <a:lnTo>
                    <a:pt x="99" y="68"/>
                  </a:lnTo>
                  <a:lnTo>
                    <a:pt x="99" y="68"/>
                  </a:lnTo>
                  <a:lnTo>
                    <a:pt x="99" y="62"/>
                  </a:lnTo>
                  <a:lnTo>
                    <a:pt x="96" y="57"/>
                  </a:lnTo>
                  <a:lnTo>
                    <a:pt x="94" y="51"/>
                  </a:lnTo>
                  <a:lnTo>
                    <a:pt x="91" y="47"/>
                  </a:lnTo>
                  <a:lnTo>
                    <a:pt x="91" y="47"/>
                  </a:lnTo>
                  <a:lnTo>
                    <a:pt x="86" y="43"/>
                  </a:lnTo>
                  <a:lnTo>
                    <a:pt x="82" y="40"/>
                  </a:lnTo>
                  <a:lnTo>
                    <a:pt x="75" y="39"/>
                  </a:lnTo>
                  <a:lnTo>
                    <a:pt x="69" y="38"/>
                  </a:lnTo>
                  <a:lnTo>
                    <a:pt x="69" y="30"/>
                  </a:lnTo>
                  <a:lnTo>
                    <a:pt x="69" y="30"/>
                  </a:lnTo>
                  <a:close/>
                  <a:moveTo>
                    <a:pt x="103" y="28"/>
                  </a:moveTo>
                  <a:lnTo>
                    <a:pt x="100" y="31"/>
                  </a:lnTo>
                  <a:lnTo>
                    <a:pt x="100" y="31"/>
                  </a:lnTo>
                  <a:lnTo>
                    <a:pt x="99" y="34"/>
                  </a:lnTo>
                  <a:lnTo>
                    <a:pt x="100" y="36"/>
                  </a:lnTo>
                  <a:lnTo>
                    <a:pt x="100" y="36"/>
                  </a:lnTo>
                  <a:lnTo>
                    <a:pt x="103" y="38"/>
                  </a:lnTo>
                  <a:lnTo>
                    <a:pt x="103" y="28"/>
                  </a:lnTo>
                  <a:lnTo>
                    <a:pt x="103" y="28"/>
                  </a:lnTo>
                  <a:close/>
                  <a:moveTo>
                    <a:pt x="103" y="99"/>
                  </a:moveTo>
                  <a:lnTo>
                    <a:pt x="103" y="99"/>
                  </a:lnTo>
                  <a:lnTo>
                    <a:pt x="100" y="99"/>
                  </a:lnTo>
                  <a:lnTo>
                    <a:pt x="100" y="99"/>
                  </a:lnTo>
                  <a:lnTo>
                    <a:pt x="99" y="101"/>
                  </a:lnTo>
                  <a:lnTo>
                    <a:pt x="100" y="104"/>
                  </a:lnTo>
                  <a:lnTo>
                    <a:pt x="103" y="107"/>
                  </a:lnTo>
                  <a:lnTo>
                    <a:pt x="103" y="99"/>
                  </a:lnTo>
                  <a:lnTo>
                    <a:pt x="103" y="99"/>
                  </a:lnTo>
                  <a:close/>
                  <a:moveTo>
                    <a:pt x="69" y="24"/>
                  </a:moveTo>
                  <a:lnTo>
                    <a:pt x="69" y="0"/>
                  </a:lnTo>
                  <a:lnTo>
                    <a:pt x="69" y="0"/>
                  </a:lnTo>
                  <a:lnTo>
                    <a:pt x="72" y="1"/>
                  </a:lnTo>
                  <a:lnTo>
                    <a:pt x="72" y="4"/>
                  </a:lnTo>
                  <a:lnTo>
                    <a:pt x="72" y="20"/>
                  </a:lnTo>
                  <a:lnTo>
                    <a:pt x="72" y="20"/>
                  </a:lnTo>
                  <a:lnTo>
                    <a:pt x="72" y="23"/>
                  </a:lnTo>
                  <a:lnTo>
                    <a:pt x="69" y="24"/>
                  </a:lnTo>
                  <a:lnTo>
                    <a:pt x="69" y="24"/>
                  </a:lnTo>
                  <a:close/>
                  <a:moveTo>
                    <a:pt x="69" y="147"/>
                  </a:moveTo>
                  <a:lnTo>
                    <a:pt x="67" y="147"/>
                  </a:lnTo>
                  <a:lnTo>
                    <a:pt x="67" y="147"/>
                  </a:lnTo>
                  <a:lnTo>
                    <a:pt x="60" y="146"/>
                  </a:lnTo>
                  <a:lnTo>
                    <a:pt x="53" y="142"/>
                  </a:lnTo>
                  <a:lnTo>
                    <a:pt x="49" y="137"/>
                  </a:lnTo>
                  <a:lnTo>
                    <a:pt x="48" y="130"/>
                  </a:lnTo>
                  <a:lnTo>
                    <a:pt x="48" y="99"/>
                  </a:lnTo>
                  <a:lnTo>
                    <a:pt x="48" y="99"/>
                  </a:lnTo>
                  <a:lnTo>
                    <a:pt x="41" y="92"/>
                  </a:lnTo>
                  <a:lnTo>
                    <a:pt x="35" y="84"/>
                  </a:lnTo>
                  <a:lnTo>
                    <a:pt x="35" y="51"/>
                  </a:lnTo>
                  <a:lnTo>
                    <a:pt x="35" y="51"/>
                  </a:lnTo>
                  <a:lnTo>
                    <a:pt x="41" y="43"/>
                  </a:lnTo>
                  <a:lnTo>
                    <a:pt x="49" y="36"/>
                  </a:lnTo>
                  <a:lnTo>
                    <a:pt x="59" y="32"/>
                  </a:lnTo>
                  <a:lnTo>
                    <a:pt x="64" y="31"/>
                  </a:lnTo>
                  <a:lnTo>
                    <a:pt x="69" y="30"/>
                  </a:lnTo>
                  <a:lnTo>
                    <a:pt x="69" y="38"/>
                  </a:lnTo>
                  <a:lnTo>
                    <a:pt x="69" y="38"/>
                  </a:lnTo>
                  <a:lnTo>
                    <a:pt x="64" y="39"/>
                  </a:lnTo>
                  <a:lnTo>
                    <a:pt x="57" y="40"/>
                  </a:lnTo>
                  <a:lnTo>
                    <a:pt x="53" y="43"/>
                  </a:lnTo>
                  <a:lnTo>
                    <a:pt x="48" y="47"/>
                  </a:lnTo>
                  <a:lnTo>
                    <a:pt x="48" y="47"/>
                  </a:lnTo>
                  <a:lnTo>
                    <a:pt x="45" y="51"/>
                  </a:lnTo>
                  <a:lnTo>
                    <a:pt x="42" y="57"/>
                  </a:lnTo>
                  <a:lnTo>
                    <a:pt x="40" y="62"/>
                  </a:lnTo>
                  <a:lnTo>
                    <a:pt x="40" y="68"/>
                  </a:lnTo>
                  <a:lnTo>
                    <a:pt x="40" y="68"/>
                  </a:lnTo>
                  <a:lnTo>
                    <a:pt x="41" y="76"/>
                  </a:lnTo>
                  <a:lnTo>
                    <a:pt x="44" y="82"/>
                  </a:lnTo>
                  <a:lnTo>
                    <a:pt x="48" y="89"/>
                  </a:lnTo>
                  <a:lnTo>
                    <a:pt x="54" y="93"/>
                  </a:lnTo>
                  <a:lnTo>
                    <a:pt x="54" y="93"/>
                  </a:lnTo>
                  <a:lnTo>
                    <a:pt x="54" y="93"/>
                  </a:lnTo>
                  <a:lnTo>
                    <a:pt x="56" y="95"/>
                  </a:lnTo>
                  <a:lnTo>
                    <a:pt x="56" y="97"/>
                  </a:lnTo>
                  <a:lnTo>
                    <a:pt x="56" y="114"/>
                  </a:lnTo>
                  <a:lnTo>
                    <a:pt x="69" y="114"/>
                  </a:lnTo>
                  <a:lnTo>
                    <a:pt x="69" y="147"/>
                  </a:lnTo>
                  <a:lnTo>
                    <a:pt x="69" y="147"/>
                  </a:lnTo>
                  <a:close/>
                  <a:moveTo>
                    <a:pt x="69" y="0"/>
                  </a:moveTo>
                  <a:lnTo>
                    <a:pt x="69" y="24"/>
                  </a:lnTo>
                  <a:lnTo>
                    <a:pt x="69" y="24"/>
                  </a:lnTo>
                  <a:lnTo>
                    <a:pt x="69" y="24"/>
                  </a:lnTo>
                  <a:lnTo>
                    <a:pt x="69" y="24"/>
                  </a:lnTo>
                  <a:lnTo>
                    <a:pt x="67" y="23"/>
                  </a:lnTo>
                  <a:lnTo>
                    <a:pt x="65" y="20"/>
                  </a:lnTo>
                  <a:lnTo>
                    <a:pt x="65" y="4"/>
                  </a:lnTo>
                  <a:lnTo>
                    <a:pt x="65" y="4"/>
                  </a:lnTo>
                  <a:lnTo>
                    <a:pt x="67" y="1"/>
                  </a:lnTo>
                  <a:lnTo>
                    <a:pt x="69" y="0"/>
                  </a:lnTo>
                  <a:lnTo>
                    <a:pt x="69" y="0"/>
                  </a:lnTo>
                  <a:lnTo>
                    <a:pt x="69" y="0"/>
                  </a:lnTo>
                  <a:close/>
                  <a:moveTo>
                    <a:pt x="35" y="107"/>
                  </a:moveTo>
                  <a:lnTo>
                    <a:pt x="38" y="104"/>
                  </a:lnTo>
                  <a:lnTo>
                    <a:pt x="38" y="104"/>
                  </a:lnTo>
                  <a:lnTo>
                    <a:pt x="38" y="101"/>
                  </a:lnTo>
                  <a:lnTo>
                    <a:pt x="38" y="99"/>
                  </a:lnTo>
                  <a:lnTo>
                    <a:pt x="38" y="99"/>
                  </a:lnTo>
                  <a:lnTo>
                    <a:pt x="35" y="99"/>
                  </a:lnTo>
                  <a:lnTo>
                    <a:pt x="35" y="107"/>
                  </a:lnTo>
                  <a:lnTo>
                    <a:pt x="35" y="107"/>
                  </a:lnTo>
                  <a:close/>
                  <a:moveTo>
                    <a:pt x="35" y="38"/>
                  </a:moveTo>
                  <a:lnTo>
                    <a:pt x="35" y="38"/>
                  </a:lnTo>
                  <a:lnTo>
                    <a:pt x="38" y="36"/>
                  </a:lnTo>
                  <a:lnTo>
                    <a:pt x="38" y="36"/>
                  </a:lnTo>
                  <a:lnTo>
                    <a:pt x="38" y="34"/>
                  </a:lnTo>
                  <a:lnTo>
                    <a:pt x="38" y="31"/>
                  </a:lnTo>
                  <a:lnTo>
                    <a:pt x="35" y="30"/>
                  </a:lnTo>
                  <a:lnTo>
                    <a:pt x="35" y="38"/>
                  </a:lnTo>
                  <a:close/>
                  <a:moveTo>
                    <a:pt x="35" y="84"/>
                  </a:moveTo>
                  <a:lnTo>
                    <a:pt x="35" y="84"/>
                  </a:lnTo>
                  <a:lnTo>
                    <a:pt x="33" y="76"/>
                  </a:lnTo>
                  <a:lnTo>
                    <a:pt x="31" y="68"/>
                  </a:lnTo>
                  <a:lnTo>
                    <a:pt x="31" y="68"/>
                  </a:lnTo>
                  <a:lnTo>
                    <a:pt x="33" y="59"/>
                  </a:lnTo>
                  <a:lnTo>
                    <a:pt x="35" y="51"/>
                  </a:lnTo>
                  <a:lnTo>
                    <a:pt x="35" y="84"/>
                  </a:lnTo>
                  <a:lnTo>
                    <a:pt x="35" y="84"/>
                  </a:lnTo>
                  <a:close/>
                  <a:moveTo>
                    <a:pt x="35" y="30"/>
                  </a:moveTo>
                  <a:lnTo>
                    <a:pt x="35" y="38"/>
                  </a:lnTo>
                  <a:lnTo>
                    <a:pt x="35" y="38"/>
                  </a:lnTo>
                  <a:lnTo>
                    <a:pt x="33" y="36"/>
                  </a:lnTo>
                  <a:lnTo>
                    <a:pt x="33" y="36"/>
                  </a:lnTo>
                  <a:lnTo>
                    <a:pt x="21" y="24"/>
                  </a:lnTo>
                  <a:lnTo>
                    <a:pt x="21" y="24"/>
                  </a:lnTo>
                  <a:lnTo>
                    <a:pt x="19" y="23"/>
                  </a:lnTo>
                  <a:lnTo>
                    <a:pt x="21" y="20"/>
                  </a:lnTo>
                  <a:lnTo>
                    <a:pt x="21" y="20"/>
                  </a:lnTo>
                  <a:lnTo>
                    <a:pt x="23" y="19"/>
                  </a:lnTo>
                  <a:lnTo>
                    <a:pt x="26" y="20"/>
                  </a:lnTo>
                  <a:lnTo>
                    <a:pt x="35" y="30"/>
                  </a:lnTo>
                  <a:lnTo>
                    <a:pt x="35" y="30"/>
                  </a:lnTo>
                  <a:close/>
                  <a:moveTo>
                    <a:pt x="35" y="99"/>
                  </a:moveTo>
                  <a:lnTo>
                    <a:pt x="35" y="107"/>
                  </a:lnTo>
                  <a:lnTo>
                    <a:pt x="26" y="116"/>
                  </a:lnTo>
                  <a:lnTo>
                    <a:pt x="26" y="116"/>
                  </a:lnTo>
                  <a:lnTo>
                    <a:pt x="23" y="118"/>
                  </a:lnTo>
                  <a:lnTo>
                    <a:pt x="21" y="116"/>
                  </a:lnTo>
                  <a:lnTo>
                    <a:pt x="21" y="116"/>
                  </a:lnTo>
                  <a:lnTo>
                    <a:pt x="19" y="114"/>
                  </a:lnTo>
                  <a:lnTo>
                    <a:pt x="21" y="111"/>
                  </a:lnTo>
                  <a:lnTo>
                    <a:pt x="33" y="99"/>
                  </a:lnTo>
                  <a:lnTo>
                    <a:pt x="33" y="99"/>
                  </a:lnTo>
                  <a:lnTo>
                    <a:pt x="33" y="99"/>
                  </a:lnTo>
                  <a:lnTo>
                    <a:pt x="35" y="99"/>
                  </a:lnTo>
                  <a:lnTo>
                    <a:pt x="35" y="99"/>
                  </a:lnTo>
                  <a:close/>
                  <a:moveTo>
                    <a:pt x="4" y="65"/>
                  </a:moveTo>
                  <a:lnTo>
                    <a:pt x="4" y="65"/>
                  </a:lnTo>
                  <a:lnTo>
                    <a:pt x="21" y="65"/>
                  </a:lnTo>
                  <a:lnTo>
                    <a:pt x="21" y="65"/>
                  </a:lnTo>
                  <a:lnTo>
                    <a:pt x="23" y="65"/>
                  </a:lnTo>
                  <a:lnTo>
                    <a:pt x="25" y="68"/>
                  </a:lnTo>
                  <a:lnTo>
                    <a:pt x="25" y="68"/>
                  </a:lnTo>
                  <a:lnTo>
                    <a:pt x="23" y="70"/>
                  </a:lnTo>
                  <a:lnTo>
                    <a:pt x="21" y="72"/>
                  </a:lnTo>
                  <a:lnTo>
                    <a:pt x="4" y="72"/>
                  </a:lnTo>
                  <a:lnTo>
                    <a:pt x="4" y="72"/>
                  </a:lnTo>
                  <a:lnTo>
                    <a:pt x="2" y="70"/>
                  </a:lnTo>
                  <a:lnTo>
                    <a:pt x="0" y="68"/>
                  </a:lnTo>
                  <a:lnTo>
                    <a:pt x="0" y="68"/>
                  </a:lnTo>
                  <a:lnTo>
                    <a:pt x="2" y="65"/>
                  </a:lnTo>
                  <a:lnTo>
                    <a:pt x="4" y="65"/>
                  </a:lnTo>
                  <a:lnTo>
                    <a:pt x="4" y="65"/>
                  </a:lnTo>
                  <a:close/>
                </a:path>
              </a:pathLst>
            </a:custGeom>
            <a:solidFill>
              <a:schemeClr val="accent6"/>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202" name="组合 214"/>
            <p:cNvGrpSpPr/>
            <p:nvPr/>
          </p:nvGrpSpPr>
          <p:grpSpPr>
            <a:xfrm>
              <a:off x="1723250" y="3027385"/>
              <a:ext cx="160316" cy="255647"/>
              <a:chOff x="2679701" y="2924175"/>
              <a:chExt cx="160337" cy="255588"/>
            </a:xfrm>
            <a:solidFill>
              <a:schemeClr val="accent6"/>
            </a:solidFill>
          </p:grpSpPr>
          <p:sp>
            <p:nvSpPr>
              <p:cNvPr id="203" name="Freeform 190"/>
              <p:cNvSpPr/>
              <p:nvPr/>
            </p:nvSpPr>
            <p:spPr bwMode="auto">
              <a:xfrm>
                <a:off x="2770188" y="3103563"/>
                <a:ext cx="57150" cy="57150"/>
              </a:xfrm>
              <a:custGeom>
                <a:avLst/>
                <a:gdLst>
                  <a:gd name="T0" fmla="*/ 0 w 36"/>
                  <a:gd name="T1" fmla="*/ 22 h 36"/>
                  <a:gd name="T2" fmla="*/ 0 w 36"/>
                  <a:gd name="T3" fmla="*/ 22 h 36"/>
                  <a:gd name="T4" fmla="*/ 2 w 36"/>
                  <a:gd name="T5" fmla="*/ 27 h 36"/>
                  <a:gd name="T6" fmla="*/ 8 w 36"/>
                  <a:gd name="T7" fmla="*/ 33 h 36"/>
                  <a:gd name="T8" fmla="*/ 13 w 36"/>
                  <a:gd name="T9" fmla="*/ 36 h 36"/>
                  <a:gd name="T10" fmla="*/ 21 w 36"/>
                  <a:gd name="T11" fmla="*/ 36 h 36"/>
                  <a:gd name="T12" fmla="*/ 21 w 36"/>
                  <a:gd name="T13" fmla="*/ 36 h 36"/>
                  <a:gd name="T14" fmla="*/ 28 w 36"/>
                  <a:gd name="T15" fmla="*/ 33 h 36"/>
                  <a:gd name="T16" fmla="*/ 32 w 36"/>
                  <a:gd name="T17" fmla="*/ 29 h 36"/>
                  <a:gd name="T18" fmla="*/ 35 w 36"/>
                  <a:gd name="T19" fmla="*/ 22 h 36"/>
                  <a:gd name="T20" fmla="*/ 36 w 36"/>
                  <a:gd name="T21" fmla="*/ 15 h 36"/>
                  <a:gd name="T22" fmla="*/ 36 w 36"/>
                  <a:gd name="T23" fmla="*/ 15 h 36"/>
                  <a:gd name="T24" fmla="*/ 33 w 36"/>
                  <a:gd name="T25" fmla="*/ 8 h 36"/>
                  <a:gd name="T26" fmla="*/ 28 w 36"/>
                  <a:gd name="T27" fmla="*/ 3 h 36"/>
                  <a:gd name="T28" fmla="*/ 21 w 36"/>
                  <a:gd name="T29" fmla="*/ 0 h 36"/>
                  <a:gd name="T30" fmla="*/ 14 w 36"/>
                  <a:gd name="T31" fmla="*/ 0 h 36"/>
                  <a:gd name="T32" fmla="*/ 14 w 36"/>
                  <a:gd name="T33" fmla="*/ 0 h 36"/>
                  <a:gd name="T34" fmla="*/ 8 w 36"/>
                  <a:gd name="T35" fmla="*/ 3 h 36"/>
                  <a:gd name="T36" fmla="*/ 4 w 36"/>
                  <a:gd name="T37" fmla="*/ 8 h 36"/>
                  <a:gd name="T38" fmla="*/ 1 w 36"/>
                  <a:gd name="T39" fmla="*/ 14 h 36"/>
                  <a:gd name="T40" fmla="*/ 0 w 36"/>
                  <a:gd name="T41" fmla="*/ 22 h 36"/>
                  <a:gd name="T42" fmla="*/ 0 w 36"/>
                  <a:gd name="T43"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36">
                    <a:moveTo>
                      <a:pt x="0" y="22"/>
                    </a:moveTo>
                    <a:lnTo>
                      <a:pt x="0" y="22"/>
                    </a:lnTo>
                    <a:lnTo>
                      <a:pt x="2" y="27"/>
                    </a:lnTo>
                    <a:lnTo>
                      <a:pt x="8" y="33"/>
                    </a:lnTo>
                    <a:lnTo>
                      <a:pt x="13" y="36"/>
                    </a:lnTo>
                    <a:lnTo>
                      <a:pt x="21" y="36"/>
                    </a:lnTo>
                    <a:lnTo>
                      <a:pt x="21" y="36"/>
                    </a:lnTo>
                    <a:lnTo>
                      <a:pt x="28" y="33"/>
                    </a:lnTo>
                    <a:lnTo>
                      <a:pt x="32" y="29"/>
                    </a:lnTo>
                    <a:lnTo>
                      <a:pt x="35" y="22"/>
                    </a:lnTo>
                    <a:lnTo>
                      <a:pt x="36" y="15"/>
                    </a:lnTo>
                    <a:lnTo>
                      <a:pt x="36" y="15"/>
                    </a:lnTo>
                    <a:lnTo>
                      <a:pt x="33" y="8"/>
                    </a:lnTo>
                    <a:lnTo>
                      <a:pt x="28" y="3"/>
                    </a:lnTo>
                    <a:lnTo>
                      <a:pt x="21" y="0"/>
                    </a:lnTo>
                    <a:lnTo>
                      <a:pt x="14" y="0"/>
                    </a:lnTo>
                    <a:lnTo>
                      <a:pt x="14" y="0"/>
                    </a:lnTo>
                    <a:lnTo>
                      <a:pt x="8" y="3"/>
                    </a:lnTo>
                    <a:lnTo>
                      <a:pt x="4" y="8"/>
                    </a:lnTo>
                    <a:lnTo>
                      <a:pt x="1" y="14"/>
                    </a:lnTo>
                    <a:lnTo>
                      <a:pt x="0" y="2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4" name="Freeform 191"/>
              <p:cNvSpPr/>
              <p:nvPr/>
            </p:nvSpPr>
            <p:spPr bwMode="auto">
              <a:xfrm>
                <a:off x="2786063" y="2924175"/>
                <a:ext cx="53975" cy="192088"/>
              </a:xfrm>
              <a:custGeom>
                <a:avLst/>
                <a:gdLst>
                  <a:gd name="T0" fmla="*/ 0 w 34"/>
                  <a:gd name="T1" fmla="*/ 121 h 121"/>
                  <a:gd name="T2" fmla="*/ 0 w 34"/>
                  <a:gd name="T3" fmla="*/ 121 h 121"/>
                  <a:gd name="T4" fmla="*/ 21 w 34"/>
                  <a:gd name="T5" fmla="*/ 17 h 121"/>
                  <a:gd name="T6" fmla="*/ 21 w 34"/>
                  <a:gd name="T7" fmla="*/ 17 h 121"/>
                  <a:gd name="T8" fmla="*/ 27 w 34"/>
                  <a:gd name="T9" fmla="*/ 9 h 121"/>
                  <a:gd name="T10" fmla="*/ 31 w 34"/>
                  <a:gd name="T11" fmla="*/ 2 h 121"/>
                  <a:gd name="T12" fmla="*/ 34 w 34"/>
                  <a:gd name="T13" fmla="*/ 0 h 121"/>
                  <a:gd name="T14" fmla="*/ 34 w 34"/>
                  <a:gd name="T15" fmla="*/ 0 h 121"/>
                  <a:gd name="T16" fmla="*/ 31 w 34"/>
                  <a:gd name="T17" fmla="*/ 19 h 121"/>
                  <a:gd name="T18" fmla="*/ 25 w 34"/>
                  <a:gd name="T19" fmla="*/ 61 h 121"/>
                  <a:gd name="T20" fmla="*/ 14 w 34"/>
                  <a:gd name="T21" fmla="*/ 121 h 121"/>
                  <a:gd name="T22" fmla="*/ 0 w 34"/>
                  <a:gd name="T23"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121">
                    <a:moveTo>
                      <a:pt x="0" y="121"/>
                    </a:moveTo>
                    <a:lnTo>
                      <a:pt x="0" y="121"/>
                    </a:lnTo>
                    <a:lnTo>
                      <a:pt x="21" y="17"/>
                    </a:lnTo>
                    <a:lnTo>
                      <a:pt x="21" y="17"/>
                    </a:lnTo>
                    <a:lnTo>
                      <a:pt x="27" y="9"/>
                    </a:lnTo>
                    <a:lnTo>
                      <a:pt x="31" y="2"/>
                    </a:lnTo>
                    <a:lnTo>
                      <a:pt x="34" y="0"/>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 name="Freeform 192"/>
              <p:cNvSpPr/>
              <p:nvPr/>
            </p:nvSpPr>
            <p:spPr bwMode="auto">
              <a:xfrm>
                <a:off x="2679701" y="2954338"/>
                <a:ext cx="123825" cy="166688"/>
              </a:xfrm>
              <a:custGeom>
                <a:avLst/>
                <a:gdLst>
                  <a:gd name="T0" fmla="*/ 77 w 78"/>
                  <a:gd name="T1" fmla="*/ 98 h 105"/>
                  <a:gd name="T2" fmla="*/ 19 w 78"/>
                  <a:gd name="T3" fmla="*/ 13 h 105"/>
                  <a:gd name="T4" fmla="*/ 0 w 78"/>
                  <a:gd name="T5" fmla="*/ 0 h 105"/>
                  <a:gd name="T6" fmla="*/ 8 w 78"/>
                  <a:gd name="T7" fmla="*/ 20 h 105"/>
                  <a:gd name="T8" fmla="*/ 66 w 78"/>
                  <a:gd name="T9" fmla="*/ 105 h 105"/>
                  <a:gd name="T10" fmla="*/ 78 w 78"/>
                  <a:gd name="T11" fmla="*/ 98 h 105"/>
                  <a:gd name="T12" fmla="*/ 77 w 78"/>
                  <a:gd name="T13" fmla="*/ 98 h 105"/>
                </a:gdLst>
                <a:ahLst/>
                <a:cxnLst>
                  <a:cxn ang="0">
                    <a:pos x="T0" y="T1"/>
                  </a:cxn>
                  <a:cxn ang="0">
                    <a:pos x="T2" y="T3"/>
                  </a:cxn>
                  <a:cxn ang="0">
                    <a:pos x="T4" y="T5"/>
                  </a:cxn>
                  <a:cxn ang="0">
                    <a:pos x="T6" y="T7"/>
                  </a:cxn>
                  <a:cxn ang="0">
                    <a:pos x="T8" y="T9"/>
                  </a:cxn>
                  <a:cxn ang="0">
                    <a:pos x="T10" y="T11"/>
                  </a:cxn>
                  <a:cxn ang="0">
                    <a:pos x="T12" y="T13"/>
                  </a:cxn>
                </a:cxnLst>
                <a:rect l="0" t="0" r="r" b="b"/>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6" name="Freeform 193"/>
              <p:cNvSpPr/>
              <p:nvPr/>
            </p:nvSpPr>
            <p:spPr bwMode="auto">
              <a:xfrm>
                <a:off x="2798763" y="3149600"/>
                <a:ext cx="14288" cy="30163"/>
              </a:xfrm>
              <a:custGeom>
                <a:avLst/>
                <a:gdLst>
                  <a:gd name="T0" fmla="*/ 7 w 9"/>
                  <a:gd name="T1" fmla="*/ 2 h 19"/>
                  <a:gd name="T2" fmla="*/ 7 w 9"/>
                  <a:gd name="T3" fmla="*/ 2 h 19"/>
                  <a:gd name="T4" fmla="*/ 6 w 9"/>
                  <a:gd name="T5" fmla="*/ 0 h 19"/>
                  <a:gd name="T6" fmla="*/ 3 w 9"/>
                  <a:gd name="T7" fmla="*/ 0 h 19"/>
                  <a:gd name="T8" fmla="*/ 3 w 9"/>
                  <a:gd name="T9" fmla="*/ 0 h 19"/>
                  <a:gd name="T10" fmla="*/ 0 w 9"/>
                  <a:gd name="T11" fmla="*/ 1 h 19"/>
                  <a:gd name="T12" fmla="*/ 0 w 9"/>
                  <a:gd name="T13" fmla="*/ 4 h 19"/>
                  <a:gd name="T14" fmla="*/ 3 w 9"/>
                  <a:gd name="T15" fmla="*/ 16 h 19"/>
                  <a:gd name="T16" fmla="*/ 3 w 9"/>
                  <a:gd name="T17" fmla="*/ 16 h 19"/>
                  <a:gd name="T18" fmla="*/ 3 w 9"/>
                  <a:gd name="T19" fmla="*/ 19 h 19"/>
                  <a:gd name="T20" fmla="*/ 6 w 9"/>
                  <a:gd name="T21" fmla="*/ 19 h 19"/>
                  <a:gd name="T22" fmla="*/ 6 w 9"/>
                  <a:gd name="T23" fmla="*/ 19 h 19"/>
                  <a:gd name="T24" fmla="*/ 9 w 9"/>
                  <a:gd name="T25" fmla="*/ 17 h 19"/>
                  <a:gd name="T26" fmla="*/ 9 w 9"/>
                  <a:gd name="T27" fmla="*/ 15 h 19"/>
                  <a:gd name="T28" fmla="*/ 7 w 9"/>
                  <a:gd name="T2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 h="19">
                    <a:moveTo>
                      <a:pt x="7" y="2"/>
                    </a:moveTo>
                    <a:lnTo>
                      <a:pt x="7" y="2"/>
                    </a:lnTo>
                    <a:lnTo>
                      <a:pt x="6" y="0"/>
                    </a:lnTo>
                    <a:lnTo>
                      <a:pt x="3" y="0"/>
                    </a:lnTo>
                    <a:lnTo>
                      <a:pt x="3" y="0"/>
                    </a:lnTo>
                    <a:lnTo>
                      <a:pt x="0" y="1"/>
                    </a:lnTo>
                    <a:lnTo>
                      <a:pt x="0" y="4"/>
                    </a:lnTo>
                    <a:lnTo>
                      <a:pt x="3" y="16"/>
                    </a:lnTo>
                    <a:lnTo>
                      <a:pt x="3" y="16"/>
                    </a:lnTo>
                    <a:lnTo>
                      <a:pt x="3" y="19"/>
                    </a:lnTo>
                    <a:lnTo>
                      <a:pt x="6"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207" name="Freeform 194"/>
            <p:cNvSpPr>
              <a:spLocks noEditPoints="1"/>
            </p:cNvSpPr>
            <p:nvPr/>
          </p:nvSpPr>
          <p:spPr bwMode="auto">
            <a:xfrm>
              <a:off x="1706136" y="1718232"/>
              <a:ext cx="216340" cy="235411"/>
            </a:xfrm>
            <a:custGeom>
              <a:avLst/>
              <a:gdLst>
                <a:gd name="T0" fmla="*/ 105 w 137"/>
                <a:gd name="T1" fmla="*/ 69 h 149"/>
                <a:gd name="T2" fmla="*/ 103 w 137"/>
                <a:gd name="T3" fmla="*/ 51 h 149"/>
                <a:gd name="T4" fmla="*/ 103 w 137"/>
                <a:gd name="T5" fmla="*/ 99 h 149"/>
                <a:gd name="T6" fmla="*/ 116 w 137"/>
                <a:gd name="T7" fmla="*/ 112 h 149"/>
                <a:gd name="T8" fmla="*/ 114 w 137"/>
                <a:gd name="T9" fmla="*/ 118 h 149"/>
                <a:gd name="T10" fmla="*/ 103 w 137"/>
                <a:gd name="T11" fmla="*/ 38 h 149"/>
                <a:gd name="T12" fmla="*/ 114 w 137"/>
                <a:gd name="T13" fmla="*/ 19 h 149"/>
                <a:gd name="T14" fmla="*/ 116 w 137"/>
                <a:gd name="T15" fmla="*/ 26 h 149"/>
                <a:gd name="T16" fmla="*/ 103 w 137"/>
                <a:gd name="T17" fmla="*/ 38 h 149"/>
                <a:gd name="T18" fmla="*/ 112 w 137"/>
                <a:gd name="T19" fmla="*/ 69 h 149"/>
                <a:gd name="T20" fmla="*/ 133 w 137"/>
                <a:gd name="T21" fmla="*/ 65 h 149"/>
                <a:gd name="T22" fmla="*/ 135 w 137"/>
                <a:gd name="T23" fmla="*/ 72 h 149"/>
                <a:gd name="T24" fmla="*/ 114 w 137"/>
                <a:gd name="T25" fmla="*/ 72 h 149"/>
                <a:gd name="T26" fmla="*/ 69 w 137"/>
                <a:gd name="T27" fmla="*/ 31 h 149"/>
                <a:gd name="T28" fmla="*/ 103 w 137"/>
                <a:gd name="T29" fmla="*/ 51 h 149"/>
                <a:gd name="T30" fmla="*/ 89 w 137"/>
                <a:gd name="T31" fmla="*/ 100 h 149"/>
                <a:gd name="T32" fmla="*/ 84 w 137"/>
                <a:gd name="T33" fmla="*/ 144 h 149"/>
                <a:gd name="T34" fmla="*/ 69 w 137"/>
                <a:gd name="T35" fmla="*/ 115 h 149"/>
                <a:gd name="T36" fmla="*/ 81 w 137"/>
                <a:gd name="T37" fmla="*/ 96 h 149"/>
                <a:gd name="T38" fmla="*/ 95 w 137"/>
                <a:gd name="T39" fmla="*/ 84 h 149"/>
                <a:gd name="T40" fmla="*/ 97 w 137"/>
                <a:gd name="T41" fmla="*/ 62 h 149"/>
                <a:gd name="T42" fmla="*/ 89 w 137"/>
                <a:gd name="T43" fmla="*/ 47 h 149"/>
                <a:gd name="T44" fmla="*/ 69 w 137"/>
                <a:gd name="T45" fmla="*/ 39 h 149"/>
                <a:gd name="T46" fmla="*/ 100 w 137"/>
                <a:gd name="T47" fmla="*/ 33 h 149"/>
                <a:gd name="T48" fmla="*/ 100 w 137"/>
                <a:gd name="T49" fmla="*/ 38 h 149"/>
                <a:gd name="T50" fmla="*/ 103 w 137"/>
                <a:gd name="T51" fmla="*/ 99 h 149"/>
                <a:gd name="T52" fmla="*/ 99 w 137"/>
                <a:gd name="T53" fmla="*/ 103 h 149"/>
                <a:gd name="T54" fmla="*/ 103 w 137"/>
                <a:gd name="T55" fmla="*/ 99 h 149"/>
                <a:gd name="T56" fmla="*/ 70 w 137"/>
                <a:gd name="T57" fmla="*/ 1 h 149"/>
                <a:gd name="T58" fmla="*/ 70 w 137"/>
                <a:gd name="T59" fmla="*/ 23 h 149"/>
                <a:gd name="T60" fmla="*/ 66 w 137"/>
                <a:gd name="T61" fmla="*/ 149 h 149"/>
                <a:gd name="T62" fmla="*/ 49 w 137"/>
                <a:gd name="T63" fmla="*/ 137 h 149"/>
                <a:gd name="T64" fmla="*/ 39 w 137"/>
                <a:gd name="T65" fmla="*/ 93 h 149"/>
                <a:gd name="T66" fmla="*/ 40 w 137"/>
                <a:gd name="T67" fmla="*/ 43 h 149"/>
                <a:gd name="T68" fmla="*/ 69 w 137"/>
                <a:gd name="T69" fmla="*/ 31 h 149"/>
                <a:gd name="T70" fmla="*/ 57 w 137"/>
                <a:gd name="T71" fmla="*/ 41 h 149"/>
                <a:gd name="T72" fmla="*/ 43 w 137"/>
                <a:gd name="T73" fmla="*/ 51 h 149"/>
                <a:gd name="T74" fmla="*/ 38 w 137"/>
                <a:gd name="T75" fmla="*/ 69 h 149"/>
                <a:gd name="T76" fmla="*/ 53 w 137"/>
                <a:gd name="T77" fmla="*/ 95 h 149"/>
                <a:gd name="T78" fmla="*/ 55 w 137"/>
                <a:gd name="T79" fmla="*/ 98 h 149"/>
                <a:gd name="T80" fmla="*/ 69 w 137"/>
                <a:gd name="T81" fmla="*/ 149 h 149"/>
                <a:gd name="T82" fmla="*/ 68 w 137"/>
                <a:gd name="T83" fmla="*/ 24 h 149"/>
                <a:gd name="T84" fmla="*/ 65 w 137"/>
                <a:gd name="T85" fmla="*/ 4 h 149"/>
                <a:gd name="T86" fmla="*/ 69 w 137"/>
                <a:gd name="T87" fmla="*/ 0 h 149"/>
                <a:gd name="T88" fmla="*/ 36 w 137"/>
                <a:gd name="T89" fmla="*/ 106 h 149"/>
                <a:gd name="T90" fmla="*/ 34 w 137"/>
                <a:gd name="T91" fmla="*/ 99 h 149"/>
                <a:gd name="T92" fmla="*/ 34 w 137"/>
                <a:gd name="T93" fmla="*/ 38 h 149"/>
                <a:gd name="T94" fmla="*/ 36 w 137"/>
                <a:gd name="T95" fmla="*/ 33 h 149"/>
                <a:gd name="T96" fmla="*/ 34 w 137"/>
                <a:gd name="T97" fmla="*/ 85 h 149"/>
                <a:gd name="T98" fmla="*/ 31 w 137"/>
                <a:gd name="T99" fmla="*/ 61 h 149"/>
                <a:gd name="T100" fmla="*/ 34 w 137"/>
                <a:gd name="T101" fmla="*/ 30 h 149"/>
                <a:gd name="T102" fmla="*/ 31 w 137"/>
                <a:gd name="T103" fmla="*/ 38 h 149"/>
                <a:gd name="T104" fmla="*/ 20 w 137"/>
                <a:gd name="T105" fmla="*/ 20 h 149"/>
                <a:gd name="T106" fmla="*/ 34 w 137"/>
                <a:gd name="T107" fmla="*/ 30 h 149"/>
                <a:gd name="T108" fmla="*/ 24 w 137"/>
                <a:gd name="T109" fmla="*/ 116 h 149"/>
                <a:gd name="T110" fmla="*/ 20 w 137"/>
                <a:gd name="T111" fmla="*/ 116 h 149"/>
                <a:gd name="T112" fmla="*/ 31 w 137"/>
                <a:gd name="T113" fmla="*/ 100 h 149"/>
                <a:gd name="T114" fmla="*/ 4 w 137"/>
                <a:gd name="T115" fmla="*/ 65 h 149"/>
                <a:gd name="T116" fmla="*/ 23 w 137"/>
                <a:gd name="T117" fmla="*/ 66 h 149"/>
                <a:gd name="T118" fmla="*/ 20 w 137"/>
                <a:gd name="T119" fmla="*/ 72 h 149"/>
                <a:gd name="T120" fmla="*/ 0 w 137"/>
                <a:gd name="T121" fmla="*/ 69 h 149"/>
                <a:gd name="T122" fmla="*/ 4 w 137"/>
                <a:gd name="T123" fmla="*/ 6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9">
                  <a:moveTo>
                    <a:pt x="103" y="51"/>
                  </a:moveTo>
                  <a:lnTo>
                    <a:pt x="103" y="51"/>
                  </a:lnTo>
                  <a:lnTo>
                    <a:pt x="105" y="60"/>
                  </a:lnTo>
                  <a:lnTo>
                    <a:pt x="105" y="69"/>
                  </a:lnTo>
                  <a:lnTo>
                    <a:pt x="105" y="69"/>
                  </a:lnTo>
                  <a:lnTo>
                    <a:pt x="105" y="77"/>
                  </a:lnTo>
                  <a:lnTo>
                    <a:pt x="103" y="85"/>
                  </a:lnTo>
                  <a:lnTo>
                    <a:pt x="103" y="51"/>
                  </a:lnTo>
                  <a:lnTo>
                    <a:pt x="103" y="51"/>
                  </a:lnTo>
                  <a:close/>
                  <a:moveTo>
                    <a:pt x="103" y="108"/>
                  </a:moveTo>
                  <a:lnTo>
                    <a:pt x="103" y="99"/>
                  </a:lnTo>
                  <a:lnTo>
                    <a:pt x="103" y="99"/>
                  </a:lnTo>
                  <a:lnTo>
                    <a:pt x="104" y="100"/>
                  </a:lnTo>
                  <a:lnTo>
                    <a:pt x="104" y="100"/>
                  </a:lnTo>
                  <a:lnTo>
                    <a:pt x="116" y="112"/>
                  </a:lnTo>
                  <a:lnTo>
                    <a:pt x="116" y="112"/>
                  </a:lnTo>
                  <a:lnTo>
                    <a:pt x="118" y="115"/>
                  </a:lnTo>
                  <a:lnTo>
                    <a:pt x="116" y="116"/>
                  </a:lnTo>
                  <a:lnTo>
                    <a:pt x="116" y="116"/>
                  </a:lnTo>
                  <a:lnTo>
                    <a:pt x="114" y="118"/>
                  </a:lnTo>
                  <a:lnTo>
                    <a:pt x="111" y="116"/>
                  </a:lnTo>
                  <a:lnTo>
                    <a:pt x="103" y="108"/>
                  </a:lnTo>
                  <a:lnTo>
                    <a:pt x="103" y="108"/>
                  </a:lnTo>
                  <a:close/>
                  <a:moveTo>
                    <a:pt x="103" y="38"/>
                  </a:moveTo>
                  <a:lnTo>
                    <a:pt x="103" y="30"/>
                  </a:lnTo>
                  <a:lnTo>
                    <a:pt x="111" y="20"/>
                  </a:lnTo>
                  <a:lnTo>
                    <a:pt x="111" y="20"/>
                  </a:lnTo>
                  <a:lnTo>
                    <a:pt x="114" y="19"/>
                  </a:lnTo>
                  <a:lnTo>
                    <a:pt x="116" y="20"/>
                  </a:lnTo>
                  <a:lnTo>
                    <a:pt x="116" y="20"/>
                  </a:lnTo>
                  <a:lnTo>
                    <a:pt x="118" y="23"/>
                  </a:lnTo>
                  <a:lnTo>
                    <a:pt x="116" y="26"/>
                  </a:lnTo>
                  <a:lnTo>
                    <a:pt x="104" y="38"/>
                  </a:lnTo>
                  <a:lnTo>
                    <a:pt x="104" y="38"/>
                  </a:lnTo>
                  <a:lnTo>
                    <a:pt x="104" y="38"/>
                  </a:lnTo>
                  <a:lnTo>
                    <a:pt x="103" y="38"/>
                  </a:lnTo>
                  <a:lnTo>
                    <a:pt x="103" y="38"/>
                  </a:lnTo>
                  <a:close/>
                  <a:moveTo>
                    <a:pt x="112" y="69"/>
                  </a:moveTo>
                  <a:lnTo>
                    <a:pt x="112" y="69"/>
                  </a:lnTo>
                  <a:lnTo>
                    <a:pt x="112" y="69"/>
                  </a:lnTo>
                  <a:lnTo>
                    <a:pt x="114" y="66"/>
                  </a:lnTo>
                  <a:lnTo>
                    <a:pt x="116" y="65"/>
                  </a:lnTo>
                  <a:lnTo>
                    <a:pt x="133" y="65"/>
                  </a:lnTo>
                  <a:lnTo>
                    <a:pt x="133" y="65"/>
                  </a:lnTo>
                  <a:lnTo>
                    <a:pt x="135" y="66"/>
                  </a:lnTo>
                  <a:lnTo>
                    <a:pt x="137" y="69"/>
                  </a:lnTo>
                  <a:lnTo>
                    <a:pt x="137" y="69"/>
                  </a:lnTo>
                  <a:lnTo>
                    <a:pt x="135" y="72"/>
                  </a:lnTo>
                  <a:lnTo>
                    <a:pt x="133" y="72"/>
                  </a:lnTo>
                  <a:lnTo>
                    <a:pt x="116" y="72"/>
                  </a:lnTo>
                  <a:lnTo>
                    <a:pt x="116" y="72"/>
                  </a:lnTo>
                  <a:lnTo>
                    <a:pt x="114" y="72"/>
                  </a:lnTo>
                  <a:lnTo>
                    <a:pt x="112" y="69"/>
                  </a:lnTo>
                  <a:lnTo>
                    <a:pt x="112" y="69"/>
                  </a:lnTo>
                  <a:close/>
                  <a:moveTo>
                    <a:pt x="69" y="31"/>
                  </a:moveTo>
                  <a:lnTo>
                    <a:pt x="69" y="31"/>
                  </a:lnTo>
                  <a:lnTo>
                    <a:pt x="78" y="33"/>
                  </a:lnTo>
                  <a:lnTo>
                    <a:pt x="88" y="37"/>
                  </a:lnTo>
                  <a:lnTo>
                    <a:pt x="96" y="43"/>
                  </a:lnTo>
                  <a:lnTo>
                    <a:pt x="103" y="51"/>
                  </a:lnTo>
                  <a:lnTo>
                    <a:pt x="103" y="85"/>
                  </a:lnTo>
                  <a:lnTo>
                    <a:pt x="103" y="85"/>
                  </a:lnTo>
                  <a:lnTo>
                    <a:pt x="96" y="93"/>
                  </a:lnTo>
                  <a:lnTo>
                    <a:pt x="89" y="100"/>
                  </a:lnTo>
                  <a:lnTo>
                    <a:pt x="89" y="130"/>
                  </a:lnTo>
                  <a:lnTo>
                    <a:pt x="89" y="130"/>
                  </a:lnTo>
                  <a:lnTo>
                    <a:pt x="88" y="137"/>
                  </a:lnTo>
                  <a:lnTo>
                    <a:pt x="84" y="144"/>
                  </a:lnTo>
                  <a:lnTo>
                    <a:pt x="77" y="148"/>
                  </a:lnTo>
                  <a:lnTo>
                    <a:pt x="70" y="149"/>
                  </a:lnTo>
                  <a:lnTo>
                    <a:pt x="69" y="149"/>
                  </a:lnTo>
                  <a:lnTo>
                    <a:pt x="69" y="115"/>
                  </a:lnTo>
                  <a:lnTo>
                    <a:pt x="81" y="115"/>
                  </a:lnTo>
                  <a:lnTo>
                    <a:pt x="81" y="98"/>
                  </a:lnTo>
                  <a:lnTo>
                    <a:pt x="81" y="98"/>
                  </a:lnTo>
                  <a:lnTo>
                    <a:pt x="81" y="96"/>
                  </a:lnTo>
                  <a:lnTo>
                    <a:pt x="82" y="95"/>
                  </a:lnTo>
                  <a:lnTo>
                    <a:pt x="82" y="95"/>
                  </a:lnTo>
                  <a:lnTo>
                    <a:pt x="89" y="89"/>
                  </a:lnTo>
                  <a:lnTo>
                    <a:pt x="95" y="84"/>
                  </a:lnTo>
                  <a:lnTo>
                    <a:pt x="97" y="77"/>
                  </a:lnTo>
                  <a:lnTo>
                    <a:pt x="99" y="69"/>
                  </a:lnTo>
                  <a:lnTo>
                    <a:pt x="99" y="69"/>
                  </a:lnTo>
                  <a:lnTo>
                    <a:pt x="97" y="62"/>
                  </a:lnTo>
                  <a:lnTo>
                    <a:pt x="96" y="57"/>
                  </a:lnTo>
                  <a:lnTo>
                    <a:pt x="93" y="51"/>
                  </a:lnTo>
                  <a:lnTo>
                    <a:pt x="89" y="47"/>
                  </a:lnTo>
                  <a:lnTo>
                    <a:pt x="89" y="47"/>
                  </a:lnTo>
                  <a:lnTo>
                    <a:pt x="85" y="43"/>
                  </a:lnTo>
                  <a:lnTo>
                    <a:pt x="80" y="41"/>
                  </a:lnTo>
                  <a:lnTo>
                    <a:pt x="74" y="39"/>
                  </a:lnTo>
                  <a:lnTo>
                    <a:pt x="69" y="39"/>
                  </a:lnTo>
                  <a:lnTo>
                    <a:pt x="69" y="31"/>
                  </a:lnTo>
                  <a:lnTo>
                    <a:pt x="69" y="31"/>
                  </a:lnTo>
                  <a:close/>
                  <a:moveTo>
                    <a:pt x="103" y="30"/>
                  </a:moveTo>
                  <a:lnTo>
                    <a:pt x="100" y="33"/>
                  </a:lnTo>
                  <a:lnTo>
                    <a:pt x="100" y="33"/>
                  </a:lnTo>
                  <a:lnTo>
                    <a:pt x="99" y="35"/>
                  </a:lnTo>
                  <a:lnTo>
                    <a:pt x="100" y="38"/>
                  </a:lnTo>
                  <a:lnTo>
                    <a:pt x="100" y="38"/>
                  </a:lnTo>
                  <a:lnTo>
                    <a:pt x="103" y="38"/>
                  </a:lnTo>
                  <a:lnTo>
                    <a:pt x="103" y="30"/>
                  </a:lnTo>
                  <a:lnTo>
                    <a:pt x="103" y="30"/>
                  </a:lnTo>
                  <a:close/>
                  <a:moveTo>
                    <a:pt x="103" y="99"/>
                  </a:moveTo>
                  <a:lnTo>
                    <a:pt x="103" y="99"/>
                  </a:lnTo>
                  <a:lnTo>
                    <a:pt x="100" y="100"/>
                  </a:lnTo>
                  <a:lnTo>
                    <a:pt x="100" y="100"/>
                  </a:lnTo>
                  <a:lnTo>
                    <a:pt x="99" y="103"/>
                  </a:lnTo>
                  <a:lnTo>
                    <a:pt x="100" y="106"/>
                  </a:lnTo>
                  <a:lnTo>
                    <a:pt x="103" y="108"/>
                  </a:lnTo>
                  <a:lnTo>
                    <a:pt x="103" y="99"/>
                  </a:lnTo>
                  <a:lnTo>
                    <a:pt x="103" y="99"/>
                  </a:lnTo>
                  <a:close/>
                  <a:moveTo>
                    <a:pt x="69" y="24"/>
                  </a:moveTo>
                  <a:lnTo>
                    <a:pt x="69" y="0"/>
                  </a:lnTo>
                  <a:lnTo>
                    <a:pt x="69" y="0"/>
                  </a:lnTo>
                  <a:lnTo>
                    <a:pt x="70" y="1"/>
                  </a:lnTo>
                  <a:lnTo>
                    <a:pt x="72" y="4"/>
                  </a:lnTo>
                  <a:lnTo>
                    <a:pt x="72" y="20"/>
                  </a:lnTo>
                  <a:lnTo>
                    <a:pt x="72" y="20"/>
                  </a:lnTo>
                  <a:lnTo>
                    <a:pt x="70" y="23"/>
                  </a:lnTo>
                  <a:lnTo>
                    <a:pt x="69" y="24"/>
                  </a:lnTo>
                  <a:lnTo>
                    <a:pt x="69" y="24"/>
                  </a:lnTo>
                  <a:close/>
                  <a:moveTo>
                    <a:pt x="69" y="149"/>
                  </a:moveTo>
                  <a:lnTo>
                    <a:pt x="66" y="149"/>
                  </a:lnTo>
                  <a:lnTo>
                    <a:pt x="66" y="149"/>
                  </a:lnTo>
                  <a:lnTo>
                    <a:pt x="58" y="148"/>
                  </a:lnTo>
                  <a:lnTo>
                    <a:pt x="53" y="144"/>
                  </a:lnTo>
                  <a:lnTo>
                    <a:pt x="49" y="137"/>
                  </a:lnTo>
                  <a:lnTo>
                    <a:pt x="47" y="130"/>
                  </a:lnTo>
                  <a:lnTo>
                    <a:pt x="47" y="100"/>
                  </a:lnTo>
                  <a:lnTo>
                    <a:pt x="47" y="100"/>
                  </a:lnTo>
                  <a:lnTo>
                    <a:pt x="39" y="93"/>
                  </a:lnTo>
                  <a:lnTo>
                    <a:pt x="34" y="85"/>
                  </a:lnTo>
                  <a:lnTo>
                    <a:pt x="34" y="53"/>
                  </a:lnTo>
                  <a:lnTo>
                    <a:pt x="34" y="53"/>
                  </a:lnTo>
                  <a:lnTo>
                    <a:pt x="40" y="43"/>
                  </a:lnTo>
                  <a:lnTo>
                    <a:pt x="47" y="37"/>
                  </a:lnTo>
                  <a:lnTo>
                    <a:pt x="58" y="33"/>
                  </a:lnTo>
                  <a:lnTo>
                    <a:pt x="62" y="31"/>
                  </a:lnTo>
                  <a:lnTo>
                    <a:pt x="69" y="31"/>
                  </a:lnTo>
                  <a:lnTo>
                    <a:pt x="69" y="39"/>
                  </a:lnTo>
                  <a:lnTo>
                    <a:pt x="69" y="39"/>
                  </a:lnTo>
                  <a:lnTo>
                    <a:pt x="62" y="39"/>
                  </a:lnTo>
                  <a:lnTo>
                    <a:pt x="57" y="41"/>
                  </a:lnTo>
                  <a:lnTo>
                    <a:pt x="51" y="43"/>
                  </a:lnTo>
                  <a:lnTo>
                    <a:pt x="47" y="47"/>
                  </a:lnTo>
                  <a:lnTo>
                    <a:pt x="47" y="47"/>
                  </a:lnTo>
                  <a:lnTo>
                    <a:pt x="43" y="51"/>
                  </a:lnTo>
                  <a:lnTo>
                    <a:pt x="40" y="57"/>
                  </a:lnTo>
                  <a:lnTo>
                    <a:pt x="39" y="62"/>
                  </a:lnTo>
                  <a:lnTo>
                    <a:pt x="38" y="69"/>
                  </a:lnTo>
                  <a:lnTo>
                    <a:pt x="38" y="69"/>
                  </a:lnTo>
                  <a:lnTo>
                    <a:pt x="39" y="77"/>
                  </a:lnTo>
                  <a:lnTo>
                    <a:pt x="42" y="84"/>
                  </a:lnTo>
                  <a:lnTo>
                    <a:pt x="47" y="89"/>
                  </a:lnTo>
                  <a:lnTo>
                    <a:pt x="53" y="95"/>
                  </a:lnTo>
                  <a:lnTo>
                    <a:pt x="53" y="95"/>
                  </a:lnTo>
                  <a:lnTo>
                    <a:pt x="53" y="95"/>
                  </a:lnTo>
                  <a:lnTo>
                    <a:pt x="54" y="96"/>
                  </a:lnTo>
                  <a:lnTo>
                    <a:pt x="55" y="98"/>
                  </a:lnTo>
                  <a:lnTo>
                    <a:pt x="55" y="115"/>
                  </a:lnTo>
                  <a:lnTo>
                    <a:pt x="69" y="115"/>
                  </a:lnTo>
                  <a:lnTo>
                    <a:pt x="69" y="149"/>
                  </a:lnTo>
                  <a:lnTo>
                    <a:pt x="69" y="149"/>
                  </a:lnTo>
                  <a:close/>
                  <a:moveTo>
                    <a:pt x="69" y="0"/>
                  </a:moveTo>
                  <a:lnTo>
                    <a:pt x="69" y="24"/>
                  </a:lnTo>
                  <a:lnTo>
                    <a:pt x="68" y="24"/>
                  </a:lnTo>
                  <a:lnTo>
                    <a:pt x="68" y="24"/>
                  </a:lnTo>
                  <a:lnTo>
                    <a:pt x="68" y="24"/>
                  </a:lnTo>
                  <a:lnTo>
                    <a:pt x="66" y="23"/>
                  </a:lnTo>
                  <a:lnTo>
                    <a:pt x="65" y="20"/>
                  </a:lnTo>
                  <a:lnTo>
                    <a:pt x="65" y="4"/>
                  </a:lnTo>
                  <a:lnTo>
                    <a:pt x="65" y="4"/>
                  </a:lnTo>
                  <a:lnTo>
                    <a:pt x="66" y="1"/>
                  </a:lnTo>
                  <a:lnTo>
                    <a:pt x="68" y="0"/>
                  </a:lnTo>
                  <a:lnTo>
                    <a:pt x="69" y="0"/>
                  </a:lnTo>
                  <a:lnTo>
                    <a:pt x="69" y="0"/>
                  </a:lnTo>
                  <a:close/>
                  <a:moveTo>
                    <a:pt x="34" y="107"/>
                  </a:moveTo>
                  <a:lnTo>
                    <a:pt x="36" y="106"/>
                  </a:lnTo>
                  <a:lnTo>
                    <a:pt x="36" y="106"/>
                  </a:lnTo>
                  <a:lnTo>
                    <a:pt x="38" y="103"/>
                  </a:lnTo>
                  <a:lnTo>
                    <a:pt x="36" y="100"/>
                  </a:lnTo>
                  <a:lnTo>
                    <a:pt x="36" y="100"/>
                  </a:lnTo>
                  <a:lnTo>
                    <a:pt x="34" y="99"/>
                  </a:lnTo>
                  <a:lnTo>
                    <a:pt x="34" y="107"/>
                  </a:lnTo>
                  <a:lnTo>
                    <a:pt x="34" y="107"/>
                  </a:lnTo>
                  <a:close/>
                  <a:moveTo>
                    <a:pt x="34" y="38"/>
                  </a:moveTo>
                  <a:lnTo>
                    <a:pt x="34" y="38"/>
                  </a:lnTo>
                  <a:lnTo>
                    <a:pt x="36" y="38"/>
                  </a:lnTo>
                  <a:lnTo>
                    <a:pt x="36" y="38"/>
                  </a:lnTo>
                  <a:lnTo>
                    <a:pt x="38" y="35"/>
                  </a:lnTo>
                  <a:lnTo>
                    <a:pt x="36" y="33"/>
                  </a:lnTo>
                  <a:lnTo>
                    <a:pt x="34" y="30"/>
                  </a:lnTo>
                  <a:lnTo>
                    <a:pt x="34" y="38"/>
                  </a:lnTo>
                  <a:close/>
                  <a:moveTo>
                    <a:pt x="34" y="85"/>
                  </a:moveTo>
                  <a:lnTo>
                    <a:pt x="34" y="85"/>
                  </a:lnTo>
                  <a:lnTo>
                    <a:pt x="31" y="77"/>
                  </a:lnTo>
                  <a:lnTo>
                    <a:pt x="31" y="69"/>
                  </a:lnTo>
                  <a:lnTo>
                    <a:pt x="31" y="69"/>
                  </a:lnTo>
                  <a:lnTo>
                    <a:pt x="31" y="61"/>
                  </a:lnTo>
                  <a:lnTo>
                    <a:pt x="34" y="53"/>
                  </a:lnTo>
                  <a:lnTo>
                    <a:pt x="34" y="85"/>
                  </a:lnTo>
                  <a:lnTo>
                    <a:pt x="34" y="85"/>
                  </a:lnTo>
                  <a:close/>
                  <a:moveTo>
                    <a:pt x="34" y="30"/>
                  </a:moveTo>
                  <a:lnTo>
                    <a:pt x="34" y="38"/>
                  </a:lnTo>
                  <a:lnTo>
                    <a:pt x="34" y="38"/>
                  </a:lnTo>
                  <a:lnTo>
                    <a:pt x="31" y="38"/>
                  </a:lnTo>
                  <a:lnTo>
                    <a:pt x="31" y="38"/>
                  </a:lnTo>
                  <a:lnTo>
                    <a:pt x="20" y="26"/>
                  </a:lnTo>
                  <a:lnTo>
                    <a:pt x="20" y="26"/>
                  </a:lnTo>
                  <a:lnTo>
                    <a:pt x="19" y="23"/>
                  </a:lnTo>
                  <a:lnTo>
                    <a:pt x="20" y="20"/>
                  </a:lnTo>
                  <a:lnTo>
                    <a:pt x="20" y="20"/>
                  </a:lnTo>
                  <a:lnTo>
                    <a:pt x="23" y="19"/>
                  </a:lnTo>
                  <a:lnTo>
                    <a:pt x="24" y="20"/>
                  </a:lnTo>
                  <a:lnTo>
                    <a:pt x="34" y="30"/>
                  </a:lnTo>
                  <a:lnTo>
                    <a:pt x="34" y="30"/>
                  </a:lnTo>
                  <a:close/>
                  <a:moveTo>
                    <a:pt x="34" y="99"/>
                  </a:moveTo>
                  <a:lnTo>
                    <a:pt x="34" y="107"/>
                  </a:lnTo>
                  <a:lnTo>
                    <a:pt x="24" y="116"/>
                  </a:lnTo>
                  <a:lnTo>
                    <a:pt x="24" y="116"/>
                  </a:lnTo>
                  <a:lnTo>
                    <a:pt x="23" y="118"/>
                  </a:lnTo>
                  <a:lnTo>
                    <a:pt x="20" y="116"/>
                  </a:lnTo>
                  <a:lnTo>
                    <a:pt x="20" y="116"/>
                  </a:lnTo>
                  <a:lnTo>
                    <a:pt x="19" y="115"/>
                  </a:lnTo>
                  <a:lnTo>
                    <a:pt x="20" y="112"/>
                  </a:lnTo>
                  <a:lnTo>
                    <a:pt x="31" y="100"/>
                  </a:lnTo>
                  <a:lnTo>
                    <a:pt x="31" y="100"/>
                  </a:lnTo>
                  <a:lnTo>
                    <a:pt x="31" y="100"/>
                  </a:lnTo>
                  <a:lnTo>
                    <a:pt x="34" y="99"/>
                  </a:lnTo>
                  <a:lnTo>
                    <a:pt x="34" y="99"/>
                  </a:lnTo>
                  <a:close/>
                  <a:moveTo>
                    <a:pt x="4" y="65"/>
                  </a:moveTo>
                  <a:lnTo>
                    <a:pt x="4" y="65"/>
                  </a:lnTo>
                  <a:lnTo>
                    <a:pt x="20" y="65"/>
                  </a:lnTo>
                  <a:lnTo>
                    <a:pt x="20" y="65"/>
                  </a:lnTo>
                  <a:lnTo>
                    <a:pt x="23" y="66"/>
                  </a:lnTo>
                  <a:lnTo>
                    <a:pt x="24" y="69"/>
                  </a:lnTo>
                  <a:lnTo>
                    <a:pt x="24" y="69"/>
                  </a:lnTo>
                  <a:lnTo>
                    <a:pt x="23" y="72"/>
                  </a:lnTo>
                  <a:lnTo>
                    <a:pt x="20" y="72"/>
                  </a:lnTo>
                  <a:lnTo>
                    <a:pt x="4" y="72"/>
                  </a:lnTo>
                  <a:lnTo>
                    <a:pt x="4" y="72"/>
                  </a:lnTo>
                  <a:lnTo>
                    <a:pt x="1" y="72"/>
                  </a:lnTo>
                  <a:lnTo>
                    <a:pt x="0" y="69"/>
                  </a:lnTo>
                  <a:lnTo>
                    <a:pt x="0" y="69"/>
                  </a:lnTo>
                  <a:lnTo>
                    <a:pt x="1" y="66"/>
                  </a:lnTo>
                  <a:lnTo>
                    <a:pt x="4" y="65"/>
                  </a:lnTo>
                  <a:lnTo>
                    <a:pt x="4" y="65"/>
                  </a:lnTo>
                  <a:close/>
                </a:path>
              </a:pathLst>
            </a:custGeom>
            <a:solidFill>
              <a:schemeClr val="accent6"/>
            </a:solidFill>
            <a:ln>
              <a:noFill/>
            </a:ln>
          </p:spPr>
          <p:txBody>
            <a:bodyPr lIns="91438" tIns="45719" rIns="91438" bIns="45719"/>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211" name="Rectangle 22"/>
          <p:cNvSpPr>
            <a:spLocks noChangeArrowheads="1"/>
          </p:cNvSpPr>
          <p:nvPr/>
        </p:nvSpPr>
        <p:spPr bwMode="auto">
          <a:xfrm>
            <a:off x="865188" y="184150"/>
            <a:ext cx="8099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查找、插入、删除算法的平均时间复杂度为：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O(n)</a:t>
            </a: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00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004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16632"/>
            <a:ext cx="6400800" cy="685800"/>
          </a:xfrm>
        </p:spPr>
        <p:txBody>
          <a:bodyPr/>
          <a:lstStyle/>
          <a:p>
            <a:r>
              <a:rPr lang="zh-CN" altLang="en-US" dirty="0"/>
              <a:t>排序</a:t>
            </a:r>
          </a:p>
        </p:txBody>
      </p:sp>
      <p:sp>
        <p:nvSpPr>
          <p:cNvPr id="4" name="矩形 3"/>
          <p:cNvSpPr/>
          <p:nvPr/>
        </p:nvSpPr>
        <p:spPr>
          <a:xfrm>
            <a:off x="179512" y="802432"/>
            <a:ext cx="8784976" cy="2800767"/>
          </a:xfrm>
          <a:prstGeom prst="rect">
            <a:avLst/>
          </a:prstGeom>
        </p:spPr>
        <p:txBody>
          <a:bodyPr wrap="square">
            <a:spAutoFit/>
          </a:bodyPr>
          <a:lstStyle/>
          <a:p>
            <a:r>
              <a:rPr lang="zh-CN" altLang="en-US" sz="2400" dirty="0">
                <a:latin typeface="+mn-ea"/>
                <a:ea typeface="+mn-ea"/>
              </a:rPr>
              <a:t>采用直接插入排序法</a:t>
            </a:r>
          </a:p>
          <a:p>
            <a:r>
              <a:rPr lang="zh-CN" altLang="en-US" sz="2400" dirty="0">
                <a:latin typeface="+mn-ea"/>
                <a:ea typeface="+mn-ea"/>
              </a:rPr>
              <a:t> ●原理：</a:t>
            </a:r>
            <a:r>
              <a:rPr lang="zh-CN" altLang="en-US" sz="2400" dirty="0">
                <a:solidFill>
                  <a:srgbClr val="FF0000"/>
                </a:solidFill>
                <a:latin typeface="+mn-ea"/>
                <a:ea typeface="+mn-ea"/>
              </a:rPr>
              <a:t>依次</a:t>
            </a:r>
            <a:r>
              <a:rPr lang="zh-CN" altLang="en-US" sz="2400" dirty="0">
                <a:latin typeface="+mn-ea"/>
                <a:ea typeface="+mn-ea"/>
              </a:rPr>
              <a:t>将每个数据元素插入到</a:t>
            </a:r>
            <a:r>
              <a:rPr lang="zh-CN" altLang="en-US" sz="2400" dirty="0">
                <a:solidFill>
                  <a:srgbClr val="FF0000"/>
                </a:solidFill>
                <a:latin typeface="+mn-ea"/>
                <a:ea typeface="+mn-ea"/>
              </a:rPr>
              <a:t>已排好序</a:t>
            </a:r>
            <a:r>
              <a:rPr lang="zh-CN" altLang="en-US" sz="2400" dirty="0">
                <a:latin typeface="+mn-ea"/>
                <a:ea typeface="+mn-ea"/>
              </a:rPr>
              <a:t>的</a:t>
            </a:r>
            <a:r>
              <a:rPr lang="zh-CN" altLang="en-US" sz="2400" dirty="0">
                <a:solidFill>
                  <a:srgbClr val="FF0000"/>
                </a:solidFill>
                <a:latin typeface="+mn-ea"/>
                <a:ea typeface="+mn-ea"/>
              </a:rPr>
              <a:t>有序表</a:t>
            </a:r>
            <a:r>
              <a:rPr lang="zh-CN" altLang="en-US" sz="2400" dirty="0">
                <a:latin typeface="+mn-ea"/>
                <a:ea typeface="+mn-ea"/>
              </a:rPr>
              <a:t>中。</a:t>
            </a:r>
          </a:p>
          <a:p>
            <a:r>
              <a:rPr lang="zh-CN" altLang="en-US" sz="2400" dirty="0">
                <a:latin typeface="+mn-ea"/>
                <a:ea typeface="+mn-ea"/>
              </a:rPr>
              <a:t> ●过程：首先将待排序序列的第</a:t>
            </a:r>
            <a:r>
              <a:rPr lang="en-US" altLang="zh-CN" sz="2400" dirty="0">
                <a:latin typeface="+mn-ea"/>
                <a:ea typeface="+mn-ea"/>
              </a:rPr>
              <a:t>1</a:t>
            </a:r>
            <a:r>
              <a:rPr lang="zh-CN" altLang="en-US" sz="2400" dirty="0">
                <a:latin typeface="+mn-ea"/>
                <a:ea typeface="+mn-ea"/>
              </a:rPr>
              <a:t>个数据元素看成是一个有序的子序列，然后将第 </a:t>
            </a:r>
            <a:r>
              <a:rPr lang="en-US" altLang="zh-CN" sz="2400" dirty="0">
                <a:latin typeface="+mn-ea"/>
                <a:ea typeface="+mn-ea"/>
              </a:rPr>
              <a:t>2 </a:t>
            </a:r>
            <a:r>
              <a:rPr lang="zh-CN" altLang="en-US" sz="2400" dirty="0">
                <a:latin typeface="+mn-ea"/>
                <a:ea typeface="+mn-ea"/>
              </a:rPr>
              <a:t>个数据元素、第 </a:t>
            </a:r>
            <a:r>
              <a:rPr lang="en-US" altLang="zh-CN" sz="2400" dirty="0">
                <a:latin typeface="+mn-ea"/>
                <a:ea typeface="+mn-ea"/>
              </a:rPr>
              <a:t>3 </a:t>
            </a:r>
            <a:r>
              <a:rPr lang="zh-CN" altLang="en-US" sz="2400" dirty="0">
                <a:latin typeface="+mn-ea"/>
                <a:ea typeface="+mn-ea"/>
              </a:rPr>
              <a:t>个数据元素、</a:t>
            </a:r>
            <a:r>
              <a:rPr lang="en-US" altLang="zh-CN" sz="2400" dirty="0">
                <a:latin typeface="+mn-ea"/>
                <a:ea typeface="+mn-ea"/>
              </a:rPr>
              <a:t>…… </a:t>
            </a:r>
            <a:r>
              <a:rPr lang="zh-CN" altLang="en-US" sz="2400" dirty="0">
                <a:latin typeface="+mn-ea"/>
                <a:ea typeface="+mn-ea"/>
              </a:rPr>
              <a:t>依次插入到这个有序序列。</a:t>
            </a:r>
            <a:endParaRPr lang="en-US" altLang="zh-CN" sz="2400" dirty="0">
              <a:latin typeface="+mn-ea"/>
              <a:ea typeface="+mn-ea"/>
            </a:endParaRPr>
          </a:p>
          <a:p>
            <a:endParaRPr lang="en-US" altLang="zh-CN" dirty="0"/>
          </a:p>
          <a:p>
            <a:r>
              <a:rPr lang="zh-CN" altLang="en-US" b="1" dirty="0">
                <a:solidFill>
                  <a:schemeClr val="accent2"/>
                </a:solidFill>
                <a:latin typeface="+mn-ea"/>
                <a:ea typeface="+mn-ea"/>
              </a:rPr>
              <a:t>例：</a:t>
            </a:r>
          </a:p>
        </p:txBody>
      </p:sp>
      <p:sp>
        <p:nvSpPr>
          <p:cNvPr id="6" name="矩形 5"/>
          <p:cNvSpPr/>
          <p:nvPr/>
        </p:nvSpPr>
        <p:spPr>
          <a:xfrm>
            <a:off x="1331640" y="2996952"/>
            <a:ext cx="6318448" cy="3108543"/>
          </a:xfrm>
          <a:prstGeom prst="rect">
            <a:avLst/>
          </a:prstGeom>
        </p:spPr>
        <p:txBody>
          <a:bodyPr wrap="square">
            <a:spAutoFit/>
          </a:bodyPr>
          <a:lstStyle/>
          <a:p>
            <a:pPr marL="342900" lvl="0" indent="-342900" eaLnBrk="1" hangingPunct="1">
              <a:defRPr/>
            </a:pP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i    (0)    (1)    (2)    (3)    (4)    (5)</a:t>
            </a:r>
            <a:r>
              <a:rPr kumimoji="1" lang="en-US" altLang="zh-CN" dirty="0">
                <a:solidFill>
                  <a:srgbClr val="FFFFFF"/>
                </a:solidFill>
                <a:effectLst>
                  <a:outerShdw blurRad="38100" dist="38100" dir="2700000" algn="tl">
                    <a:srgbClr val="000000"/>
                  </a:outerShdw>
                </a:effectLst>
                <a:latin typeface="" pitchFamily="18" charset="0"/>
                <a:ea typeface="楷体_GB2312" pitchFamily="49" charset="-122"/>
              </a:rPr>
              <a:t>     </a:t>
            </a:r>
            <a:r>
              <a:rPr kumimoji="1" lang="en-US" altLang="zh-CN" dirty="0">
                <a:solidFill>
                  <a:srgbClr val="FF33CC"/>
                </a:solidFill>
                <a:effectLst>
                  <a:outerShdw blurRad="38100" dist="38100" dir="2700000" algn="tl">
                    <a:srgbClr val="000000"/>
                  </a:outerShdw>
                </a:effectLst>
                <a:latin typeface="" pitchFamily="18" charset="0"/>
                <a:ea typeface="楷体_GB2312" pitchFamily="49" charset="-122"/>
              </a:rPr>
              <a:t>   x</a:t>
            </a:r>
          </a:p>
          <a:p>
            <a:pPr marL="342900" lvl="0" indent="-342900" eaLnBrk="1" hangingPunct="1">
              <a:defRPr/>
            </a:pP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FF3300"/>
                </a:solidFill>
                <a:effectLst>
                  <a:outerShdw blurRad="38100" dist="38100" dir="2700000" algn="tl">
                    <a:srgbClr val="000000"/>
                  </a:outerShdw>
                </a:effectLst>
                <a:latin typeface="" pitchFamily="18" charset="0"/>
                <a:ea typeface="楷体_GB2312" pitchFamily="49" charset="-122"/>
              </a:rPr>
              <a:t>21</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25     49    26     16     18</a:t>
            </a:r>
            <a:r>
              <a:rPr kumimoji="1" lang="en-US" altLang="zh-CN" dirty="0">
                <a:solidFill>
                  <a:srgbClr val="FFFFFF"/>
                </a:solidFill>
                <a:effectLst>
                  <a:outerShdw blurRad="38100" dist="38100" dir="2700000" algn="tl">
                    <a:srgbClr val="000000"/>
                  </a:outerShdw>
                </a:effectLst>
                <a:latin typeface="" pitchFamily="18" charset="0"/>
                <a:ea typeface="楷体_GB2312" pitchFamily="49" charset="-122"/>
              </a:rPr>
              <a:t>      </a:t>
            </a:r>
            <a:r>
              <a:rPr kumimoji="1" lang="en-US" altLang="zh-CN" dirty="0">
                <a:solidFill>
                  <a:srgbClr val="FF33CC"/>
                </a:solidFill>
                <a:effectLst>
                  <a:outerShdw blurRad="38100" dist="38100" dir="2700000" algn="tl">
                    <a:srgbClr val="000000"/>
                  </a:outerShdw>
                </a:effectLst>
                <a:latin typeface="" pitchFamily="18" charset="0"/>
                <a:ea typeface="楷体_GB2312" pitchFamily="49" charset="-122"/>
              </a:rPr>
              <a:t>25</a:t>
            </a:r>
          </a:p>
          <a:p>
            <a:pPr marL="342900" lvl="0" indent="-342900" eaLnBrk="1" hangingPunct="1">
              <a:defRPr/>
            </a:pP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1</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FF3300"/>
                </a:solidFill>
                <a:effectLst>
                  <a:outerShdw blurRad="38100" dist="38100" dir="2700000" algn="tl">
                    <a:srgbClr val="000000"/>
                  </a:outerShdw>
                </a:effectLst>
                <a:latin typeface="" pitchFamily="18" charset="0"/>
                <a:ea typeface="楷体_GB2312" pitchFamily="49" charset="-122"/>
              </a:rPr>
              <a:t>21    25</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49    26     16     18</a:t>
            </a:r>
            <a:r>
              <a:rPr kumimoji="1" lang="en-US" altLang="zh-CN" dirty="0">
                <a:solidFill>
                  <a:srgbClr val="FFFFFF"/>
                </a:solidFill>
                <a:effectLst>
                  <a:outerShdw blurRad="38100" dist="38100" dir="2700000" algn="tl">
                    <a:srgbClr val="000000"/>
                  </a:outerShdw>
                </a:effectLst>
                <a:latin typeface="" pitchFamily="18" charset="0"/>
                <a:ea typeface="楷体_GB2312" pitchFamily="49" charset="-122"/>
              </a:rPr>
              <a:t>      </a:t>
            </a:r>
            <a:r>
              <a:rPr kumimoji="1" lang="en-US" altLang="zh-CN" dirty="0">
                <a:solidFill>
                  <a:srgbClr val="FF33CC"/>
                </a:solidFill>
                <a:effectLst>
                  <a:outerShdw blurRad="38100" dist="38100" dir="2700000" algn="tl">
                    <a:srgbClr val="000000"/>
                  </a:outerShdw>
                </a:effectLst>
                <a:latin typeface="" pitchFamily="18" charset="0"/>
                <a:ea typeface="楷体_GB2312" pitchFamily="49" charset="-122"/>
              </a:rPr>
              <a:t>49</a:t>
            </a:r>
          </a:p>
          <a:p>
            <a:pPr marL="342900" lvl="0" indent="-342900" eaLnBrk="1" hangingPunct="1">
              <a:defRPr/>
            </a:pP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2</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FF3300"/>
                </a:solidFill>
                <a:effectLst>
                  <a:outerShdw blurRad="38100" dist="38100" dir="2700000" algn="tl">
                    <a:srgbClr val="000000"/>
                  </a:outerShdw>
                </a:effectLst>
                <a:latin typeface="" pitchFamily="18" charset="0"/>
                <a:ea typeface="楷体_GB2312" pitchFamily="49" charset="-122"/>
              </a:rPr>
              <a:t>21    25     49</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26     16     18</a:t>
            </a:r>
            <a:r>
              <a:rPr kumimoji="1" lang="en-US" altLang="zh-CN" dirty="0">
                <a:solidFill>
                  <a:srgbClr val="FFFFFF"/>
                </a:solidFill>
                <a:effectLst>
                  <a:outerShdw blurRad="38100" dist="38100" dir="2700000" algn="tl">
                    <a:srgbClr val="000000"/>
                  </a:outerShdw>
                </a:effectLst>
                <a:latin typeface="" pitchFamily="18" charset="0"/>
                <a:ea typeface="楷体_GB2312" pitchFamily="49" charset="-122"/>
              </a:rPr>
              <a:t>      </a:t>
            </a:r>
            <a:r>
              <a:rPr kumimoji="1" lang="en-US" altLang="zh-CN" dirty="0">
                <a:solidFill>
                  <a:srgbClr val="FF33CC"/>
                </a:solidFill>
                <a:effectLst>
                  <a:outerShdw blurRad="38100" dist="38100" dir="2700000" algn="tl">
                    <a:srgbClr val="000000"/>
                  </a:outerShdw>
                </a:effectLst>
                <a:latin typeface="" pitchFamily="18" charset="0"/>
                <a:ea typeface="楷体_GB2312" pitchFamily="49" charset="-122"/>
              </a:rPr>
              <a:t>26</a:t>
            </a:r>
          </a:p>
          <a:p>
            <a:pPr marL="342900" lvl="0" indent="-342900" eaLnBrk="1" hangingPunct="1">
              <a:defRPr/>
            </a:pP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3  </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a:t>
            </a:r>
            <a:r>
              <a:rPr kumimoji="1" lang="en-US" altLang="zh-CN" dirty="0">
                <a:solidFill>
                  <a:srgbClr val="FF3300"/>
                </a:solidFill>
                <a:effectLst>
                  <a:outerShdw blurRad="38100" dist="38100" dir="2700000" algn="tl">
                    <a:srgbClr val="000000"/>
                  </a:outerShdw>
                </a:effectLst>
                <a:latin typeface="" pitchFamily="18" charset="0"/>
                <a:ea typeface="楷体_GB2312" pitchFamily="49" charset="-122"/>
              </a:rPr>
              <a:t>21    25     26    49</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16     18</a:t>
            </a:r>
            <a:r>
              <a:rPr kumimoji="1" lang="en-US" altLang="zh-CN" dirty="0">
                <a:solidFill>
                  <a:srgbClr val="FFFFFF"/>
                </a:solidFill>
                <a:effectLst>
                  <a:outerShdw blurRad="38100" dist="38100" dir="2700000" algn="tl">
                    <a:srgbClr val="000000"/>
                  </a:outerShdw>
                </a:effectLst>
                <a:latin typeface="" pitchFamily="18" charset="0"/>
                <a:ea typeface="楷体_GB2312" pitchFamily="49" charset="-122"/>
              </a:rPr>
              <a:t>      </a:t>
            </a:r>
            <a:r>
              <a:rPr kumimoji="1" lang="en-US" altLang="zh-CN" dirty="0">
                <a:solidFill>
                  <a:srgbClr val="FF33CC"/>
                </a:solidFill>
                <a:effectLst>
                  <a:outerShdw blurRad="38100" dist="38100" dir="2700000" algn="tl">
                    <a:srgbClr val="000000"/>
                  </a:outerShdw>
                </a:effectLst>
                <a:latin typeface="" pitchFamily="18" charset="0"/>
                <a:ea typeface="楷体_GB2312" pitchFamily="49" charset="-122"/>
              </a:rPr>
              <a:t>16</a:t>
            </a:r>
          </a:p>
          <a:p>
            <a:pPr marL="342900" lvl="0" indent="-342900" eaLnBrk="1" hangingPunct="1">
              <a:defRPr/>
            </a:pP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4 </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FF3300"/>
                </a:solidFill>
                <a:effectLst>
                  <a:outerShdw blurRad="38100" dist="38100" dir="2700000" algn="tl">
                    <a:srgbClr val="000000"/>
                  </a:outerShdw>
                </a:effectLst>
                <a:latin typeface="" pitchFamily="18" charset="0"/>
                <a:ea typeface="楷体_GB2312" pitchFamily="49" charset="-122"/>
              </a:rPr>
              <a:t>16    21     25    26     49</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18</a:t>
            </a:r>
            <a:r>
              <a:rPr kumimoji="1" lang="en-US" altLang="zh-CN" dirty="0">
                <a:solidFill>
                  <a:srgbClr val="FFFFFF"/>
                </a:solidFill>
                <a:effectLst>
                  <a:outerShdw blurRad="38100" dist="38100" dir="2700000" algn="tl">
                    <a:srgbClr val="000000"/>
                  </a:outerShdw>
                </a:effectLst>
                <a:latin typeface="" pitchFamily="18" charset="0"/>
                <a:ea typeface="楷体_GB2312" pitchFamily="49" charset="-122"/>
              </a:rPr>
              <a:t>      </a:t>
            </a:r>
            <a:r>
              <a:rPr kumimoji="1" lang="en-US" altLang="zh-CN" dirty="0">
                <a:solidFill>
                  <a:srgbClr val="FF33CC"/>
                </a:solidFill>
                <a:effectLst>
                  <a:outerShdw blurRad="38100" dist="38100" dir="2700000" algn="tl">
                    <a:srgbClr val="000000"/>
                  </a:outerShdw>
                </a:effectLst>
                <a:latin typeface="" pitchFamily="18" charset="0"/>
                <a:ea typeface="楷体_GB2312" pitchFamily="49" charset="-122"/>
              </a:rPr>
              <a:t>18</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p>
          <a:p>
            <a:pPr marL="342900" lvl="0" indent="-342900" eaLnBrk="1" hangingPunct="1">
              <a:defRPr/>
            </a:pPr>
            <a:r>
              <a:rPr kumimoji="1" lang="en-US" altLang="zh-CN" dirty="0">
                <a:solidFill>
                  <a:srgbClr val="800080"/>
                </a:solidFill>
                <a:effectLst>
                  <a:outerShdw blurRad="38100" dist="38100" dir="2700000" algn="tl">
                    <a:srgbClr val="000000"/>
                  </a:outerShdw>
                </a:effectLst>
                <a:latin typeface="" pitchFamily="18" charset="0"/>
                <a:ea typeface="楷体_GB2312" pitchFamily="49" charset="-122"/>
              </a:rPr>
              <a:t>5</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r>
              <a:rPr kumimoji="1" lang="en-US" altLang="zh-CN" dirty="0">
                <a:solidFill>
                  <a:srgbClr val="FF3300"/>
                </a:solidFill>
                <a:effectLst>
                  <a:outerShdw blurRad="38100" dist="38100" dir="2700000" algn="tl">
                    <a:srgbClr val="000000"/>
                  </a:outerShdw>
                </a:effectLst>
                <a:latin typeface="" pitchFamily="18" charset="0"/>
                <a:ea typeface="楷体_GB2312" pitchFamily="49" charset="-122"/>
              </a:rPr>
              <a:t>16    18     21    25     26     49</a:t>
            </a:r>
            <a:r>
              <a:rPr kumimoji="1" lang="en-US" altLang="zh-CN" dirty="0">
                <a:solidFill>
                  <a:srgbClr val="000000"/>
                </a:solidFill>
                <a:effectLst>
                  <a:outerShdw blurRad="38100" dist="38100" dir="2700000" algn="tl">
                    <a:srgbClr val="FFFFFF"/>
                  </a:outerShdw>
                </a:effectLst>
                <a:latin typeface="" pitchFamily="18" charset="0"/>
                <a:ea typeface="楷体_GB2312" pitchFamily="49" charset="-122"/>
              </a:rPr>
              <a:t>]   </a:t>
            </a:r>
          </a:p>
        </p:txBody>
      </p:sp>
    </p:spTree>
    <p:extLst>
      <p:ext uri="{BB962C8B-B14F-4D97-AF65-F5344CB8AC3E}">
        <p14:creationId xmlns:p14="http://schemas.microsoft.com/office/powerpoint/2010/main" val="16941165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7853" y="188640"/>
            <a:ext cx="6400800" cy="685800"/>
          </a:xfrm>
        </p:spPr>
        <p:txBody>
          <a:bodyPr/>
          <a:lstStyle/>
          <a:p>
            <a:r>
              <a:rPr lang="zh-CN" altLang="en-US" dirty="0"/>
              <a:t>源代码</a:t>
            </a:r>
          </a:p>
        </p:txBody>
      </p:sp>
      <p:sp>
        <p:nvSpPr>
          <p:cNvPr id="4" name="矩形 3"/>
          <p:cNvSpPr/>
          <p:nvPr/>
        </p:nvSpPr>
        <p:spPr>
          <a:xfrm>
            <a:off x="314701" y="1124744"/>
            <a:ext cx="8712968" cy="5262979"/>
          </a:xfrm>
          <a:prstGeom prst="rect">
            <a:avLst/>
          </a:prstGeom>
        </p:spPr>
        <p:txBody>
          <a:bodyPr wrap="square">
            <a:spAutoFit/>
          </a:bodyPr>
          <a:lstStyle/>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void </a:t>
            </a:r>
            <a:r>
              <a:rPr lang="en-US" altLang="zh-CN" sz="2400" dirty="0" err="1">
                <a:solidFill>
                  <a:srgbClr val="000000"/>
                </a:solidFill>
                <a:latin typeface="Arial" panose="020B0604020202020204" pitchFamily="34" charset="0"/>
                <a:ea typeface="宋体" panose="02010600030101010101" pitchFamily="2" charset="-122"/>
              </a:rPr>
              <a:t>SortList</a:t>
            </a:r>
            <a:r>
              <a:rPr lang="en-US" altLang="zh-CN" sz="2400" dirty="0">
                <a:solidFill>
                  <a:srgbClr val="000000"/>
                </a:solidFill>
                <a:latin typeface="Arial" panose="020B0604020202020204" pitchFamily="34" charset="0"/>
                <a:ea typeface="宋体" panose="02010600030101010101" pitchFamily="2" charset="-122"/>
              </a:rPr>
              <a:t>(</a:t>
            </a:r>
            <a:r>
              <a:rPr kumimoji="1" lang="en-US" altLang="zh-CN" sz="2400" dirty="0" err="1">
                <a:solidFill>
                  <a:srgbClr val="000000"/>
                </a:solidFill>
                <a:latin typeface="Arial" panose="020B0604020202020204" pitchFamily="34" charset="0"/>
                <a:ea typeface="宋体" panose="02010600030101010101" pitchFamily="2" charset="-122"/>
              </a:rPr>
              <a:t>SqList</a:t>
            </a:r>
            <a:r>
              <a:rPr lang="en-US" altLang="zh-CN" sz="2400" dirty="0">
                <a:solidFill>
                  <a:srgbClr val="000000"/>
                </a:solidFill>
                <a:latin typeface="Arial" panose="020B0604020202020204" pitchFamily="34" charset="0"/>
                <a:ea typeface="宋体" panose="02010600030101010101" pitchFamily="2" charset="-122"/>
              </a:rPr>
              <a:t> &amp;L)</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a:t>
            </a:r>
            <a:r>
              <a:rPr lang="en-US" altLang="zh-CN" sz="2400" dirty="0" err="1">
                <a:solidFill>
                  <a:srgbClr val="000000"/>
                </a:solidFill>
                <a:latin typeface="Arial" panose="020B0604020202020204" pitchFamily="34" charset="0"/>
                <a:ea typeface="宋体" panose="02010600030101010101" pitchFamily="2" charset="-122"/>
              </a:rPr>
              <a:t>int</a:t>
            </a:r>
            <a:r>
              <a:rPr lang="en-US" altLang="zh-CN" sz="2400" dirty="0">
                <a:solidFill>
                  <a:srgbClr val="000000"/>
                </a:solidFill>
                <a:latin typeface="Arial" panose="020B0604020202020204" pitchFamily="34" charset="0"/>
                <a:ea typeface="宋体" panose="02010600030101010101" pitchFamily="2" charset="-122"/>
              </a:rPr>
              <a:t> i, j;</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a:t>
            </a:r>
            <a:r>
              <a:rPr lang="en-US" altLang="zh-CN" sz="2400" dirty="0" err="1">
                <a:solidFill>
                  <a:srgbClr val="000000"/>
                </a:solidFill>
                <a:latin typeface="Arial" panose="020B0604020202020204" pitchFamily="34" charset="0"/>
                <a:ea typeface="宋体" panose="02010600030101010101" pitchFamily="2" charset="-122"/>
              </a:rPr>
              <a:t>ElemType</a:t>
            </a:r>
            <a:r>
              <a:rPr lang="en-US" altLang="zh-CN" sz="2400" dirty="0">
                <a:solidFill>
                  <a:srgbClr val="000000"/>
                </a:solidFill>
                <a:latin typeface="Arial" panose="020B0604020202020204" pitchFamily="34" charset="0"/>
                <a:ea typeface="宋体" panose="02010600030101010101" pitchFamily="2" charset="-122"/>
              </a:rPr>
              <a:t> x;</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for (i=1; i&lt;</a:t>
            </a:r>
            <a:r>
              <a:rPr lang="en-US" altLang="zh-CN" sz="2400" dirty="0" err="1">
                <a:solidFill>
                  <a:srgbClr val="000000"/>
                </a:solidFill>
                <a:latin typeface="Arial" panose="020B0604020202020204" pitchFamily="34" charset="0"/>
                <a:ea typeface="宋体" panose="02010600030101010101" pitchFamily="2" charset="-122"/>
              </a:rPr>
              <a:t>L.length</a:t>
            </a:r>
            <a:r>
              <a:rPr lang="en-US" altLang="zh-CN" sz="2400" dirty="0">
                <a:solidFill>
                  <a:srgbClr val="000000"/>
                </a:solidFill>
                <a:latin typeface="Arial" panose="020B0604020202020204" pitchFamily="34" charset="0"/>
                <a:ea typeface="宋体" panose="02010600030101010101" pitchFamily="2" charset="-122"/>
              </a:rPr>
              <a:t>; i++) {</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x=</a:t>
            </a:r>
            <a:r>
              <a:rPr lang="en-US" altLang="zh-CN" sz="2400" dirty="0" err="1">
                <a:solidFill>
                  <a:srgbClr val="000000"/>
                </a:solidFill>
                <a:latin typeface="Arial" panose="020B0604020202020204" pitchFamily="34" charset="0"/>
                <a:ea typeface="宋体" panose="02010600030101010101" pitchFamily="2" charset="-122"/>
              </a:rPr>
              <a:t>L.elem</a:t>
            </a:r>
            <a:r>
              <a:rPr lang="en-US" altLang="zh-CN" sz="2400" dirty="0">
                <a:solidFill>
                  <a:srgbClr val="000000"/>
                </a:solidFill>
                <a:latin typeface="Arial" panose="020B0604020202020204" pitchFamily="34" charset="0"/>
                <a:ea typeface="宋体" panose="02010600030101010101" pitchFamily="2" charset="-122"/>
              </a:rPr>
              <a:t>[i];            </a:t>
            </a:r>
            <a:r>
              <a:rPr lang="en-US" altLang="zh-CN" sz="2000" dirty="0">
                <a:solidFill>
                  <a:srgbClr val="CC0000"/>
                </a:solidFill>
                <a:latin typeface="Arial" panose="020B0604020202020204" pitchFamily="34" charset="0"/>
                <a:ea typeface="宋体" panose="02010600030101010101" pitchFamily="2" charset="-122"/>
              </a:rPr>
              <a:t>//</a:t>
            </a:r>
            <a:r>
              <a:rPr lang="zh-CN" altLang="en-US" sz="2000" dirty="0">
                <a:solidFill>
                  <a:srgbClr val="CC0000"/>
                </a:solidFill>
                <a:latin typeface="Arial" panose="020B0604020202020204" pitchFamily="34" charset="0"/>
                <a:ea typeface="宋体" panose="02010600030101010101" pitchFamily="2" charset="-122"/>
              </a:rPr>
              <a:t>待插入元素暂存</a:t>
            </a:r>
          </a:p>
          <a:p>
            <a:pPr lvl="0" eaLnBrk="1" hangingPunct="1">
              <a:spcBef>
                <a:spcPts val="0"/>
              </a:spcBef>
            </a:pPr>
            <a:r>
              <a:rPr lang="zh-CN" altLang="en-US" sz="2400" dirty="0">
                <a:solidFill>
                  <a:srgbClr val="000000"/>
                </a:solidFill>
                <a:latin typeface="Arial" panose="020B0604020202020204" pitchFamily="34" charset="0"/>
                <a:ea typeface="宋体" panose="02010600030101010101" pitchFamily="2" charset="-122"/>
              </a:rPr>
              <a:t>	          </a:t>
            </a:r>
            <a:r>
              <a:rPr lang="en-US" altLang="zh-CN" sz="2400" dirty="0">
                <a:solidFill>
                  <a:srgbClr val="000000"/>
                </a:solidFill>
                <a:latin typeface="Arial" panose="020B0604020202020204" pitchFamily="34" charset="0"/>
                <a:ea typeface="宋体" panose="02010600030101010101" pitchFamily="2" charset="-122"/>
              </a:rPr>
              <a:t>for (j=i-1;j&gt;=0;j--)   </a:t>
            </a:r>
            <a:r>
              <a:rPr lang="en-US" altLang="zh-CN" sz="2000" dirty="0">
                <a:solidFill>
                  <a:srgbClr val="CC0000"/>
                </a:solidFill>
                <a:latin typeface="Arial" panose="020B0604020202020204" pitchFamily="34" charset="0"/>
                <a:ea typeface="宋体" panose="02010600030101010101" pitchFamily="2" charset="-122"/>
              </a:rPr>
              <a:t>//</a:t>
            </a:r>
            <a:r>
              <a:rPr lang="zh-CN" altLang="en-US" sz="2000" dirty="0">
                <a:solidFill>
                  <a:srgbClr val="CC0000"/>
                </a:solidFill>
                <a:latin typeface="Arial" panose="020B0604020202020204" pitchFamily="34" charset="0"/>
                <a:ea typeface="宋体" panose="02010600030101010101" pitchFamily="2" charset="-122"/>
              </a:rPr>
              <a:t>向前比较并移动元素，找插入位置</a:t>
            </a:r>
          </a:p>
          <a:p>
            <a:pPr lvl="0" eaLnBrk="1" hangingPunct="1">
              <a:spcBef>
                <a:spcPts val="0"/>
              </a:spcBef>
            </a:pPr>
            <a:r>
              <a:rPr lang="zh-CN" altLang="en-US" sz="2400" dirty="0">
                <a:solidFill>
                  <a:srgbClr val="000000"/>
                </a:solidFill>
                <a:latin typeface="Arial" panose="020B0604020202020204" pitchFamily="34" charset="0"/>
                <a:ea typeface="宋体" panose="02010600030101010101" pitchFamily="2" charset="-122"/>
              </a:rPr>
              <a:t>			</a:t>
            </a:r>
            <a:r>
              <a:rPr lang="en-US" altLang="zh-CN" sz="2400" dirty="0">
                <a:solidFill>
                  <a:srgbClr val="000000"/>
                </a:solidFill>
                <a:latin typeface="Arial" panose="020B0604020202020204" pitchFamily="34" charset="0"/>
                <a:ea typeface="宋体" panose="02010600030101010101" pitchFamily="2" charset="-122"/>
              </a:rPr>
              <a:t>if (x&lt;</a:t>
            </a:r>
            <a:r>
              <a:rPr lang="en-US" altLang="zh-CN" sz="2400" dirty="0" err="1">
                <a:solidFill>
                  <a:srgbClr val="000000"/>
                </a:solidFill>
                <a:latin typeface="Arial" panose="020B0604020202020204" pitchFamily="34" charset="0"/>
                <a:ea typeface="宋体" panose="02010600030101010101" pitchFamily="2" charset="-122"/>
              </a:rPr>
              <a:t>L.elem</a:t>
            </a:r>
            <a:r>
              <a:rPr lang="en-US" altLang="zh-CN" sz="2400" dirty="0">
                <a:solidFill>
                  <a:srgbClr val="000000"/>
                </a:solidFill>
                <a:latin typeface="Arial" panose="020B0604020202020204" pitchFamily="34" charset="0"/>
                <a:ea typeface="宋体" panose="02010600030101010101" pitchFamily="2" charset="-122"/>
              </a:rPr>
              <a:t>[j]) </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a:t>
            </a:r>
            <a:r>
              <a:rPr lang="en-US" altLang="zh-CN" sz="2400" dirty="0" err="1">
                <a:solidFill>
                  <a:srgbClr val="000000"/>
                </a:solidFill>
                <a:latin typeface="Arial" panose="020B0604020202020204" pitchFamily="34" charset="0"/>
                <a:ea typeface="宋体" panose="02010600030101010101" pitchFamily="2" charset="-122"/>
              </a:rPr>
              <a:t>L.elem</a:t>
            </a:r>
            <a:r>
              <a:rPr lang="en-US" altLang="zh-CN" sz="2400" dirty="0">
                <a:solidFill>
                  <a:srgbClr val="000000"/>
                </a:solidFill>
                <a:latin typeface="Arial" panose="020B0604020202020204" pitchFamily="34" charset="0"/>
                <a:ea typeface="宋体" panose="02010600030101010101" pitchFamily="2" charset="-122"/>
              </a:rPr>
              <a:t>[j+1]=</a:t>
            </a:r>
            <a:r>
              <a:rPr lang="en-US" altLang="zh-CN" sz="2400" dirty="0" err="1">
                <a:solidFill>
                  <a:srgbClr val="000000"/>
                </a:solidFill>
                <a:latin typeface="Arial" panose="020B0604020202020204" pitchFamily="34" charset="0"/>
                <a:ea typeface="宋体" panose="02010600030101010101" pitchFamily="2" charset="-122"/>
              </a:rPr>
              <a:t>L.elem</a:t>
            </a:r>
            <a:r>
              <a:rPr lang="en-US" altLang="zh-CN" sz="2400" dirty="0">
                <a:solidFill>
                  <a:srgbClr val="000000"/>
                </a:solidFill>
                <a:latin typeface="Arial" panose="020B0604020202020204" pitchFamily="34" charset="0"/>
                <a:ea typeface="宋体" panose="02010600030101010101" pitchFamily="2" charset="-122"/>
              </a:rPr>
              <a:t>[j];</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else </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break;</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		</a:t>
            </a:r>
            <a:r>
              <a:rPr lang="en-US" altLang="zh-CN" sz="2400" dirty="0" err="1">
                <a:solidFill>
                  <a:srgbClr val="000000"/>
                </a:solidFill>
                <a:latin typeface="Arial" panose="020B0604020202020204" pitchFamily="34" charset="0"/>
                <a:ea typeface="宋体" panose="02010600030101010101" pitchFamily="2" charset="-122"/>
              </a:rPr>
              <a:t>L.elem</a:t>
            </a:r>
            <a:r>
              <a:rPr lang="en-US" altLang="zh-CN" sz="2400" dirty="0">
                <a:solidFill>
                  <a:srgbClr val="000000"/>
                </a:solidFill>
                <a:latin typeface="Arial" panose="020B0604020202020204" pitchFamily="34" charset="0"/>
                <a:ea typeface="宋体" panose="02010600030101010101" pitchFamily="2" charset="-122"/>
              </a:rPr>
              <a:t>[j+1]=x;        </a:t>
            </a:r>
            <a:r>
              <a:rPr lang="en-US" altLang="zh-CN" sz="2000" dirty="0">
                <a:solidFill>
                  <a:srgbClr val="CC0000"/>
                </a:solidFill>
                <a:latin typeface="Arial" panose="020B0604020202020204" pitchFamily="34" charset="0"/>
                <a:ea typeface="宋体" panose="02010600030101010101" pitchFamily="2" charset="-122"/>
              </a:rPr>
              <a:t>//</a:t>
            </a:r>
            <a:r>
              <a:rPr lang="zh-CN" altLang="en-US" sz="2000" dirty="0">
                <a:solidFill>
                  <a:srgbClr val="CC0000"/>
                </a:solidFill>
                <a:latin typeface="Arial" panose="020B0604020202020204" pitchFamily="34" charset="0"/>
                <a:ea typeface="宋体" panose="02010600030101010101" pitchFamily="2" charset="-122"/>
              </a:rPr>
              <a:t>插入</a:t>
            </a:r>
          </a:p>
          <a:p>
            <a:pPr lvl="0" eaLnBrk="1" hangingPunct="1">
              <a:spcBef>
                <a:spcPts val="0"/>
              </a:spcBef>
            </a:pPr>
            <a:r>
              <a:rPr lang="zh-CN" altLang="en-US" sz="2400" dirty="0">
                <a:solidFill>
                  <a:srgbClr val="000000"/>
                </a:solidFill>
                <a:latin typeface="Arial" panose="020B0604020202020204" pitchFamily="34" charset="0"/>
                <a:ea typeface="宋体" panose="02010600030101010101" pitchFamily="2" charset="-122"/>
              </a:rPr>
              <a:t>	</a:t>
            </a:r>
            <a:r>
              <a:rPr lang="en-US" altLang="zh-CN" sz="2400" dirty="0">
                <a:solidFill>
                  <a:srgbClr val="000000"/>
                </a:solidFill>
                <a:latin typeface="Arial" panose="020B0604020202020204" pitchFamily="34" charset="0"/>
                <a:ea typeface="宋体" panose="02010600030101010101" pitchFamily="2" charset="-122"/>
              </a:rPr>
              <a:t>}</a:t>
            </a:r>
          </a:p>
          <a:p>
            <a:pPr lvl="0" eaLnBrk="1" hangingPunct="1">
              <a:spcBef>
                <a:spcPts val="0"/>
              </a:spcBef>
            </a:pPr>
            <a:r>
              <a:rPr lang="en-US" altLang="zh-CN" sz="2400" dirty="0">
                <a:solidFill>
                  <a:srgbClr val="000000"/>
                </a:solidFill>
                <a:latin typeface="Arial" panose="020B0604020202020204" pitchFamily="34" charset="0"/>
                <a:ea typeface="宋体" panose="02010600030101010101" pitchFamily="2" charset="-122"/>
              </a:rPr>
              <a:t>}</a:t>
            </a:r>
          </a:p>
        </p:txBody>
      </p:sp>
    </p:spTree>
    <p:extLst>
      <p:ext uri="{BB962C8B-B14F-4D97-AF65-F5344CB8AC3E}">
        <p14:creationId xmlns:p14="http://schemas.microsoft.com/office/powerpoint/2010/main" val="4753341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9705" y="116632"/>
            <a:ext cx="6400800" cy="685800"/>
          </a:xfrm>
        </p:spPr>
        <p:txBody>
          <a:bodyPr/>
          <a:lstStyle/>
          <a:p>
            <a:r>
              <a:rPr lang="zh-CN" altLang="en-US" dirty="0"/>
              <a:t>时间复杂度分析</a:t>
            </a:r>
          </a:p>
        </p:txBody>
      </p:sp>
      <p:sp>
        <p:nvSpPr>
          <p:cNvPr id="4" name="矩形 3"/>
          <p:cNvSpPr/>
          <p:nvPr/>
        </p:nvSpPr>
        <p:spPr>
          <a:xfrm>
            <a:off x="31591" y="1052736"/>
            <a:ext cx="8568952" cy="4789003"/>
          </a:xfrm>
          <a:prstGeom prst="rect">
            <a:avLst/>
          </a:prstGeom>
        </p:spPr>
        <p:txBody>
          <a:bodyPr wrap="square">
            <a:spAutoFit/>
          </a:bodyPr>
          <a:lstStyle/>
          <a:p>
            <a:pPr lvl="0" eaLnBrk="1" hangingPunct="1">
              <a:spcBef>
                <a:spcPct val="45000"/>
              </a:spcBef>
              <a:defRPr/>
            </a:pPr>
            <a:r>
              <a:rPr kumimoji="1" lang="en-US" altLang="zh-CN" b="1" dirty="0">
                <a:solidFill>
                  <a:schemeClr val="accent2"/>
                </a:solidFill>
                <a:ea typeface="宋体" panose="02010600030101010101" pitchFamily="2" charset="-122"/>
              </a:rPr>
              <a:t>1</a:t>
            </a:r>
            <a:r>
              <a:rPr kumimoji="1" lang="zh-CN" altLang="en-US" b="1" dirty="0">
                <a:solidFill>
                  <a:schemeClr val="accent2"/>
                </a:solidFill>
                <a:ea typeface="宋体" panose="02010600030101010101" pitchFamily="2" charset="-122"/>
              </a:rPr>
              <a:t>、</a:t>
            </a:r>
            <a:r>
              <a:rPr kumimoji="1" lang="zh-CN" altLang="en-US" b="1" dirty="0">
                <a:solidFill>
                  <a:srgbClr val="0000FF"/>
                </a:solidFill>
                <a:ea typeface="宋体" panose="02010600030101010101" pitchFamily="2" charset="-122"/>
              </a:rPr>
              <a:t>最好情况：</a:t>
            </a:r>
            <a:r>
              <a:rPr kumimoji="1" lang="zh-CN" altLang="en-US" b="1" dirty="0">
                <a:solidFill>
                  <a:srgbClr val="CC0000"/>
                </a:solidFill>
                <a:ea typeface="宋体" panose="02010600030101010101" pitchFamily="2" charset="-122"/>
              </a:rPr>
              <a:t>当待插入的数据元素本身已有序，插入第 </a:t>
            </a:r>
            <a:r>
              <a:rPr kumimoji="1" lang="en-US" altLang="zh-CN" b="1" dirty="0">
                <a:solidFill>
                  <a:srgbClr val="CC0000"/>
                </a:solidFill>
                <a:ea typeface="宋体" panose="02010600030101010101" pitchFamily="2" charset="-122"/>
              </a:rPr>
              <a:t>i </a:t>
            </a:r>
            <a:r>
              <a:rPr kumimoji="1" lang="zh-CN" altLang="en-US" b="1" dirty="0">
                <a:solidFill>
                  <a:srgbClr val="CC0000"/>
                </a:solidFill>
                <a:ea typeface="宋体" panose="02010600030101010101" pitchFamily="2" charset="-122"/>
              </a:rPr>
              <a:t>个数据元素的比较只进行 </a:t>
            </a:r>
            <a:r>
              <a:rPr kumimoji="1" lang="en-US" altLang="zh-CN" b="1" dirty="0">
                <a:solidFill>
                  <a:srgbClr val="CC0000"/>
                </a:solidFill>
                <a:ea typeface="宋体" panose="02010600030101010101" pitchFamily="2" charset="-122"/>
              </a:rPr>
              <a:t>1 </a:t>
            </a:r>
            <a:r>
              <a:rPr kumimoji="1" lang="zh-CN" altLang="en-US" b="1" dirty="0">
                <a:solidFill>
                  <a:srgbClr val="CC0000"/>
                </a:solidFill>
                <a:ea typeface="宋体" panose="02010600030101010101" pitchFamily="2" charset="-122"/>
              </a:rPr>
              <a:t>次，总共比较</a:t>
            </a:r>
            <a:r>
              <a:rPr kumimoji="1" lang="en-US" altLang="zh-CN" b="1" dirty="0">
                <a:solidFill>
                  <a:srgbClr val="CC0000"/>
                </a:solidFill>
                <a:ea typeface="宋体" panose="02010600030101010101" pitchFamily="2" charset="-122"/>
              </a:rPr>
              <a:t>n-1</a:t>
            </a:r>
            <a:r>
              <a:rPr kumimoji="1" lang="zh-CN" altLang="en-US" b="1" dirty="0">
                <a:solidFill>
                  <a:srgbClr val="CC0000"/>
                </a:solidFill>
                <a:ea typeface="宋体" panose="02010600030101010101" pitchFamily="2" charset="-122"/>
              </a:rPr>
              <a:t>次，不需要移动数据元素。时间复杂度为</a:t>
            </a:r>
            <a:r>
              <a:rPr kumimoji="1" lang="en-US" altLang="zh-CN" b="1" dirty="0">
                <a:solidFill>
                  <a:srgbClr val="CC0000"/>
                </a:solidFill>
                <a:ea typeface="宋体" panose="02010600030101010101" pitchFamily="2" charset="-122"/>
              </a:rPr>
              <a:t>O(n)</a:t>
            </a:r>
            <a:r>
              <a:rPr kumimoji="1" lang="zh-CN" altLang="en-US" b="1" dirty="0">
                <a:solidFill>
                  <a:srgbClr val="CC0000"/>
                </a:solidFill>
                <a:ea typeface="宋体" panose="02010600030101010101" pitchFamily="2" charset="-122"/>
              </a:rPr>
              <a:t>。</a:t>
            </a:r>
          </a:p>
          <a:p>
            <a:pPr lvl="0" eaLnBrk="1" hangingPunct="1">
              <a:spcBef>
                <a:spcPct val="45000"/>
              </a:spcBef>
              <a:defRPr/>
            </a:pPr>
            <a:r>
              <a:rPr kumimoji="1" lang="en-US" altLang="zh-CN" b="1" dirty="0">
                <a:solidFill>
                  <a:schemeClr val="accent2"/>
                </a:solidFill>
                <a:ea typeface="宋体" panose="02010600030101010101" pitchFamily="2" charset="-122"/>
              </a:rPr>
              <a:t>2</a:t>
            </a:r>
            <a:r>
              <a:rPr kumimoji="1" lang="zh-CN" altLang="en-US" b="1" dirty="0">
                <a:solidFill>
                  <a:schemeClr val="accent2"/>
                </a:solidFill>
                <a:ea typeface="宋体" panose="02010600030101010101" pitchFamily="2" charset="-122"/>
              </a:rPr>
              <a:t>、</a:t>
            </a:r>
            <a:r>
              <a:rPr kumimoji="1" lang="zh-CN" altLang="en-US" b="1" dirty="0">
                <a:solidFill>
                  <a:srgbClr val="0000FF"/>
                </a:solidFill>
                <a:ea typeface="宋体" panose="02010600030101010101" pitchFamily="2" charset="-122"/>
              </a:rPr>
              <a:t>最坏情况：</a:t>
            </a:r>
            <a:r>
              <a:rPr kumimoji="1" lang="zh-CN" altLang="en-US" b="1" dirty="0">
                <a:solidFill>
                  <a:srgbClr val="CC0000"/>
                </a:solidFill>
                <a:ea typeface="宋体" panose="02010600030101010101" pitchFamily="2" charset="-122"/>
              </a:rPr>
              <a:t>当待插入的数据元素本身是反序排列，插入第 </a:t>
            </a:r>
            <a:r>
              <a:rPr kumimoji="1" lang="en-US" altLang="zh-CN" b="1" dirty="0">
                <a:solidFill>
                  <a:srgbClr val="CC0000"/>
                </a:solidFill>
                <a:ea typeface="宋体" panose="02010600030101010101" pitchFamily="2" charset="-122"/>
              </a:rPr>
              <a:t>i </a:t>
            </a:r>
            <a:r>
              <a:rPr kumimoji="1" lang="zh-CN" altLang="en-US" b="1" dirty="0">
                <a:solidFill>
                  <a:srgbClr val="CC0000"/>
                </a:solidFill>
                <a:ea typeface="宋体" panose="02010600030101010101" pitchFamily="2" charset="-122"/>
              </a:rPr>
              <a:t>个数据元素时，需要与有序子序列</a:t>
            </a:r>
            <a:r>
              <a:rPr kumimoji="1" lang="en-US" altLang="zh-CN" b="1" dirty="0">
                <a:solidFill>
                  <a:srgbClr val="CC0000"/>
                </a:solidFill>
                <a:ea typeface="宋体" panose="02010600030101010101" pitchFamily="2" charset="-122"/>
              </a:rPr>
              <a:t>[0 .. i-1]</a:t>
            </a:r>
            <a:r>
              <a:rPr kumimoji="1" lang="zh-CN" altLang="en-US" b="1" dirty="0">
                <a:solidFill>
                  <a:srgbClr val="CC0000"/>
                </a:solidFill>
                <a:ea typeface="宋体" panose="02010600030101010101" pitchFamily="2" charset="-122"/>
              </a:rPr>
              <a:t>中共 </a:t>
            </a:r>
            <a:r>
              <a:rPr kumimoji="1" lang="en-US" altLang="zh-CN" b="1" dirty="0">
                <a:solidFill>
                  <a:srgbClr val="CC0000"/>
                </a:solidFill>
                <a:ea typeface="宋体" panose="02010600030101010101" pitchFamily="2" charset="-122"/>
              </a:rPr>
              <a:t>i </a:t>
            </a:r>
            <a:r>
              <a:rPr kumimoji="1" lang="zh-CN" altLang="en-US" b="1" dirty="0">
                <a:solidFill>
                  <a:srgbClr val="CC0000"/>
                </a:solidFill>
                <a:ea typeface="宋体" panose="02010600030101010101" pitchFamily="2" charset="-122"/>
              </a:rPr>
              <a:t>个关键字进行比较；同时需移动</a:t>
            </a:r>
            <a:r>
              <a:rPr kumimoji="1" lang="en-US" altLang="zh-CN" b="1" dirty="0">
                <a:solidFill>
                  <a:srgbClr val="CC0000"/>
                </a:solidFill>
                <a:ea typeface="宋体" panose="02010600030101010101" pitchFamily="2" charset="-122"/>
              </a:rPr>
              <a:t>[0 .. i-1]</a:t>
            </a:r>
            <a:r>
              <a:rPr kumimoji="1" lang="zh-CN" altLang="en-US" b="1" dirty="0">
                <a:solidFill>
                  <a:srgbClr val="CC0000"/>
                </a:solidFill>
                <a:ea typeface="宋体" panose="02010600030101010101" pitchFamily="2" charset="-122"/>
              </a:rPr>
              <a:t>中 </a:t>
            </a:r>
            <a:r>
              <a:rPr kumimoji="1" lang="en-US" altLang="zh-CN" b="1" dirty="0">
                <a:solidFill>
                  <a:srgbClr val="CC0000"/>
                </a:solidFill>
                <a:ea typeface="宋体" panose="02010600030101010101" pitchFamily="2" charset="-122"/>
              </a:rPr>
              <a:t>i</a:t>
            </a:r>
            <a:r>
              <a:rPr kumimoji="1" lang="zh-CN" altLang="en-US" b="1" dirty="0">
                <a:solidFill>
                  <a:srgbClr val="CC0000"/>
                </a:solidFill>
                <a:ea typeface="宋体" panose="02010600030101010101" pitchFamily="2" charset="-122"/>
              </a:rPr>
              <a:t>个数据元素。时间复杂度为</a:t>
            </a:r>
            <a:r>
              <a:rPr kumimoji="1" lang="en-US" altLang="zh-CN" b="1" dirty="0">
                <a:solidFill>
                  <a:srgbClr val="CC0000"/>
                </a:solidFill>
                <a:ea typeface="宋体" panose="02010600030101010101" pitchFamily="2" charset="-122"/>
              </a:rPr>
              <a:t>O(n</a:t>
            </a:r>
            <a:r>
              <a:rPr kumimoji="1" lang="en-US" altLang="zh-CN" b="1" baseline="30000" dirty="0">
                <a:solidFill>
                  <a:srgbClr val="CC0000"/>
                </a:solidFill>
                <a:ea typeface="宋体" panose="02010600030101010101" pitchFamily="2" charset="-122"/>
              </a:rPr>
              <a:t>2</a:t>
            </a:r>
            <a:r>
              <a:rPr kumimoji="1" lang="en-US" altLang="zh-CN" b="1" dirty="0">
                <a:solidFill>
                  <a:srgbClr val="CC0000"/>
                </a:solidFill>
                <a:ea typeface="宋体" panose="02010600030101010101" pitchFamily="2" charset="-122"/>
              </a:rPr>
              <a:t>)</a:t>
            </a:r>
          </a:p>
          <a:p>
            <a:pPr lvl="0" eaLnBrk="1" hangingPunct="1">
              <a:spcBef>
                <a:spcPct val="45000"/>
              </a:spcBef>
              <a:defRPr/>
            </a:pPr>
            <a:r>
              <a:rPr kumimoji="1" lang="en-US" altLang="zh-CN" b="1" dirty="0">
                <a:solidFill>
                  <a:schemeClr val="accent2"/>
                </a:solidFill>
                <a:ea typeface="宋体" panose="02010600030101010101" pitchFamily="2" charset="-122"/>
              </a:rPr>
              <a:t>3</a:t>
            </a:r>
            <a:r>
              <a:rPr kumimoji="1" lang="zh-CN" altLang="en-US" b="1" dirty="0">
                <a:solidFill>
                  <a:schemeClr val="accent2"/>
                </a:solidFill>
                <a:ea typeface="宋体" panose="02010600030101010101" pitchFamily="2" charset="-122"/>
              </a:rPr>
              <a:t>、</a:t>
            </a:r>
            <a:r>
              <a:rPr kumimoji="1" lang="zh-CN" altLang="en-US" b="1" dirty="0">
                <a:solidFill>
                  <a:srgbClr val="0000FF"/>
                </a:solidFill>
                <a:ea typeface="宋体" panose="02010600030101010101" pitchFamily="2" charset="-122"/>
              </a:rPr>
              <a:t>平均情况：</a:t>
            </a:r>
            <a:r>
              <a:rPr kumimoji="1" lang="zh-CN" altLang="en-US" b="1" dirty="0">
                <a:solidFill>
                  <a:srgbClr val="CC0000"/>
                </a:solidFill>
                <a:ea typeface="宋体" panose="02010600030101010101" pitchFamily="2" charset="-122"/>
              </a:rPr>
              <a:t>若待排数据元素的排列概率相同（随机的），则插入第 </a:t>
            </a:r>
            <a:r>
              <a:rPr kumimoji="1" lang="en-US" altLang="zh-CN" b="1" dirty="0">
                <a:solidFill>
                  <a:srgbClr val="CC0000"/>
                </a:solidFill>
                <a:ea typeface="宋体" panose="02010600030101010101" pitchFamily="2" charset="-122"/>
              </a:rPr>
              <a:t>i </a:t>
            </a:r>
            <a:r>
              <a:rPr kumimoji="1" lang="zh-CN" altLang="en-US" b="1" dirty="0">
                <a:solidFill>
                  <a:srgbClr val="CC0000"/>
                </a:solidFill>
                <a:ea typeface="宋体" panose="02010600030101010101" pitchFamily="2" charset="-122"/>
              </a:rPr>
              <a:t>个数据元素时，平均比较次数为</a:t>
            </a:r>
            <a:r>
              <a:rPr kumimoji="1" lang="en-US" altLang="zh-CN" b="1" dirty="0">
                <a:solidFill>
                  <a:srgbClr val="CC0000"/>
                </a:solidFill>
                <a:ea typeface="宋体" panose="02010600030101010101" pitchFamily="2" charset="-122"/>
              </a:rPr>
              <a:t>(i+1)/2</a:t>
            </a:r>
            <a:r>
              <a:rPr kumimoji="1" lang="zh-CN" altLang="en-US" b="1" dirty="0">
                <a:solidFill>
                  <a:srgbClr val="CC0000"/>
                </a:solidFill>
                <a:ea typeface="宋体" panose="02010600030101010101" pitchFamily="2" charset="-122"/>
              </a:rPr>
              <a:t>，移动次数为 </a:t>
            </a:r>
            <a:r>
              <a:rPr kumimoji="1" lang="en-US" altLang="zh-CN" b="1" dirty="0">
                <a:solidFill>
                  <a:srgbClr val="CC0000"/>
                </a:solidFill>
                <a:ea typeface="宋体" panose="02010600030101010101" pitchFamily="2" charset="-122"/>
              </a:rPr>
              <a:t>i/2 </a:t>
            </a:r>
            <a:r>
              <a:rPr kumimoji="1" lang="zh-CN" altLang="en-US" b="1" dirty="0">
                <a:solidFill>
                  <a:srgbClr val="CC0000"/>
                </a:solidFill>
                <a:ea typeface="宋体" panose="02010600030101010101" pitchFamily="2" charset="-122"/>
              </a:rPr>
              <a:t>。即时间复杂度为</a:t>
            </a:r>
            <a:r>
              <a:rPr kumimoji="1" lang="en-US" altLang="zh-CN" b="1" dirty="0">
                <a:solidFill>
                  <a:srgbClr val="CC0000"/>
                </a:solidFill>
                <a:ea typeface="宋体" panose="02010600030101010101" pitchFamily="2" charset="-122"/>
              </a:rPr>
              <a:t>O(n</a:t>
            </a:r>
            <a:r>
              <a:rPr kumimoji="1" lang="en-US" altLang="zh-CN" b="1" baseline="30000" dirty="0">
                <a:solidFill>
                  <a:srgbClr val="CC0000"/>
                </a:solidFill>
                <a:ea typeface="宋体" panose="02010600030101010101" pitchFamily="2" charset="-122"/>
              </a:rPr>
              <a:t>2</a:t>
            </a:r>
            <a:r>
              <a:rPr kumimoji="1" lang="en-US" altLang="zh-CN" b="1" dirty="0">
                <a:solidFill>
                  <a:srgbClr val="CC0000"/>
                </a:solidFill>
                <a:ea typeface="宋体" panose="02010600030101010101" pitchFamily="2" charset="-122"/>
              </a:rPr>
              <a:t>)</a:t>
            </a:r>
            <a:r>
              <a:rPr kumimoji="1" lang="zh-CN" altLang="en-US" b="1" dirty="0">
                <a:solidFill>
                  <a:srgbClr val="CC0000"/>
                </a:solidFill>
                <a:ea typeface="宋体" panose="02010600030101010101" pitchFamily="2" charset="-122"/>
              </a:rPr>
              <a:t>。</a:t>
            </a:r>
          </a:p>
        </p:txBody>
      </p:sp>
    </p:spTree>
    <p:extLst>
      <p:ext uri="{BB962C8B-B14F-4D97-AF65-F5344CB8AC3E}">
        <p14:creationId xmlns:p14="http://schemas.microsoft.com/office/powerpoint/2010/main" val="36873695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5"/>
          <p:cNvSpPr>
            <a:spLocks noChangeArrowheads="1"/>
          </p:cNvSpPr>
          <p:nvPr/>
        </p:nvSpPr>
        <p:spPr bwMode="auto">
          <a:xfrm>
            <a:off x="827088" y="227013"/>
            <a:ext cx="6588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顺序表（顺序存储结构）的特点</a:t>
            </a:r>
          </a:p>
        </p:txBody>
      </p:sp>
      <p:sp>
        <p:nvSpPr>
          <p:cNvPr id="479238" name="Rectangle 6"/>
          <p:cNvSpPr>
            <a:spLocks noChangeArrowheads="1"/>
          </p:cNvSpPr>
          <p:nvPr/>
        </p:nvSpPr>
        <p:spPr bwMode="auto">
          <a:xfrm>
            <a:off x="-34925" y="5716588"/>
            <a:ext cx="8569325" cy="525463"/>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这种存取元素的方法被称为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随机存取法</a:t>
            </a:r>
          </a:p>
        </p:txBody>
      </p:sp>
      <p:sp>
        <p:nvSpPr>
          <p:cNvPr id="6" name="矩形 5"/>
          <p:cNvSpPr/>
          <p:nvPr/>
        </p:nvSpPr>
        <p:spPr>
          <a:xfrm>
            <a:off x="2205038" y="1557338"/>
            <a:ext cx="6938963" cy="1677988"/>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 name="等腰三角形 5"/>
          <p:cNvSpPr/>
          <p:nvPr/>
        </p:nvSpPr>
        <p:spPr>
          <a:xfrm rot="5400000">
            <a:off x="142081" y="1397794"/>
            <a:ext cx="1677988" cy="1997075"/>
          </a:xfrm>
          <a:custGeom>
            <a:avLst/>
            <a:gdLst/>
            <a:ahLst/>
            <a:cxnLst/>
            <a:rect l="l" t="t" r="r" b="b"/>
            <a:pathLst>
              <a:path w="1450218" h="1860602">
                <a:moveTo>
                  <a:pt x="0" y="1860602"/>
                </a:moveTo>
                <a:lnTo>
                  <a:pt x="0" y="132410"/>
                </a:lnTo>
                <a:lnTo>
                  <a:pt x="582757" y="132410"/>
                </a:lnTo>
                <a:lnTo>
                  <a:pt x="725109" y="0"/>
                </a:lnTo>
                <a:lnTo>
                  <a:pt x="867461" y="132410"/>
                </a:lnTo>
                <a:lnTo>
                  <a:pt x="1450218" y="132410"/>
                </a:lnTo>
                <a:lnTo>
                  <a:pt x="1450218" y="1860602"/>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17462" y="3494088"/>
            <a:ext cx="7432675" cy="1685925"/>
          </a:xfrm>
          <a:prstGeom prst="rect">
            <a:avLst/>
          </a:prstGeom>
          <a:solidFill>
            <a:srgbClr val="B8D4E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1" name="等腰三角形 30"/>
          <p:cNvSpPr/>
          <p:nvPr/>
        </p:nvSpPr>
        <p:spPr>
          <a:xfrm rot="16200000" flipH="1">
            <a:off x="7527131" y="3563144"/>
            <a:ext cx="1685925" cy="1547813"/>
          </a:xfrm>
          <a:custGeom>
            <a:avLst/>
            <a:gdLst/>
            <a:ahLst/>
            <a:cxnLst/>
            <a:rect l="l" t="t" r="r" b="b"/>
            <a:pathLst>
              <a:path w="1450218" h="1860602">
                <a:moveTo>
                  <a:pt x="0" y="132410"/>
                </a:moveTo>
                <a:lnTo>
                  <a:pt x="0" y="1860602"/>
                </a:lnTo>
                <a:lnTo>
                  <a:pt x="1450218" y="1860602"/>
                </a:lnTo>
                <a:lnTo>
                  <a:pt x="1450218" y="132410"/>
                </a:lnTo>
                <a:lnTo>
                  <a:pt x="867461" y="132410"/>
                </a:lnTo>
                <a:lnTo>
                  <a:pt x="725109" y="0"/>
                </a:lnTo>
                <a:lnTo>
                  <a:pt x="582757" y="132410"/>
                </a:lnTo>
                <a:close/>
              </a:path>
            </a:pathLst>
          </a:custGeom>
          <a:solidFill>
            <a:srgbClr val="B8D4E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3730" name="Rectangle 4"/>
          <p:cNvSpPr>
            <a:spLocks noChangeArrowheads="1"/>
          </p:cNvSpPr>
          <p:nvPr/>
        </p:nvSpPr>
        <p:spPr bwMode="auto">
          <a:xfrm>
            <a:off x="2484438" y="1630363"/>
            <a:ext cx="655161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利用数据元素的存储位置表示线性表中相邻数据元素之间的前后关系，即线性表的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逻辑结构与存储结构一致</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79239" name="Rectangle 7"/>
          <p:cNvSpPr>
            <a:spLocks noChangeArrowheads="1"/>
          </p:cNvSpPr>
          <p:nvPr/>
        </p:nvSpPr>
        <p:spPr bwMode="auto">
          <a:xfrm>
            <a:off x="174625" y="3570288"/>
            <a:ext cx="7134225"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在访问线性表时，可以快速地计算出任何一个数据元素的存储地址。因此可以粗略地认为，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访问每个元素所花时间相等</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4" name="Rectangle 4"/>
          <p:cNvSpPr>
            <a:spLocks noChangeArrowheads="1"/>
          </p:cNvSpPr>
          <p:nvPr/>
        </p:nvSpPr>
        <p:spPr bwMode="auto">
          <a:xfrm>
            <a:off x="206375" y="1997075"/>
            <a:ext cx="14430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32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1</a:t>
            </a:r>
            <a:r>
              <a:rPr kumimoji="0" lang="zh-CN" altLang="en-US" sz="32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a:t>
            </a:r>
          </a:p>
        </p:txBody>
      </p:sp>
      <p:sp>
        <p:nvSpPr>
          <p:cNvPr id="15" name="Rectangle 7"/>
          <p:cNvSpPr>
            <a:spLocks noChangeArrowheads="1"/>
          </p:cNvSpPr>
          <p:nvPr/>
        </p:nvSpPr>
        <p:spPr bwMode="auto">
          <a:xfrm>
            <a:off x="7843838" y="4002088"/>
            <a:ext cx="13001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79239"/>
                                        </p:tgtEl>
                                        <p:attrNameLst>
                                          <p:attrName>style.visibility</p:attrName>
                                        </p:attrNameLst>
                                      </p:cBhvr>
                                      <p:to>
                                        <p:strVal val="visible"/>
                                      </p:to>
                                    </p:set>
                                    <p:animEffect transition="in" filter="box(in)">
                                      <p:cBhvr>
                                        <p:cTn id="12" dur="500"/>
                                        <p:tgtEl>
                                          <p:spTgt spid="47923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9238"/>
                                        </p:tgtEl>
                                        <p:attrNameLst>
                                          <p:attrName>style.visibility</p:attrName>
                                        </p:attrNameLst>
                                      </p:cBhvr>
                                      <p:to>
                                        <p:strVal val="visible"/>
                                      </p:to>
                                    </p:set>
                                    <p:anim calcmode="lin" valueType="num">
                                      <p:cBhvr additive="base">
                                        <p:cTn id="17" dur="500" fill="hold"/>
                                        <p:tgtEl>
                                          <p:spTgt spid="479238"/>
                                        </p:tgtEl>
                                        <p:attrNameLst>
                                          <p:attrName>ppt_x</p:attrName>
                                        </p:attrNameLst>
                                      </p:cBhvr>
                                      <p:tavLst>
                                        <p:tav tm="0">
                                          <p:val>
                                            <p:strVal val="#ppt_x"/>
                                          </p:val>
                                        </p:tav>
                                        <p:tav tm="100000">
                                          <p:val>
                                            <p:strVal val="#ppt_x"/>
                                          </p:val>
                                        </p:tav>
                                      </p:tavLst>
                                    </p:anim>
                                    <p:anim calcmode="lin" valueType="num">
                                      <p:cBhvr additive="base">
                                        <p:cTn id="18" dur="500" fill="hold"/>
                                        <p:tgtEl>
                                          <p:spTgt spid="4792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8" grpId="0"/>
      <p:bldP spid="479239" grpId="0"/>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900113" y="230188"/>
            <a:ext cx="470535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Times New Roman" panose="02020603050405020304"/>
                <a:ea typeface="微软雅黑" panose="020B0503020204020204" pitchFamily="34" charset="-122"/>
                <a:cs typeface="+mn-ea"/>
                <a:sym typeface="+mn-lt"/>
              </a:rPr>
              <a:t>顺序表的优缺点 </a:t>
            </a:r>
          </a:p>
        </p:txBody>
      </p:sp>
      <p:grpSp>
        <p:nvGrpSpPr>
          <p:cNvPr id="3" name="Group 13"/>
          <p:cNvGrpSpPr/>
          <p:nvPr/>
        </p:nvGrpSpPr>
        <p:grpSpPr>
          <a:xfrm>
            <a:off x="1974850" y="6075363"/>
            <a:ext cx="4824413" cy="573087"/>
            <a:chOff x="344" y="2957"/>
            <a:chExt cx="3665" cy="361"/>
          </a:xfrm>
        </p:grpSpPr>
        <p:grpSp>
          <p:nvGrpSpPr>
            <p:cNvPr id="11275" name="Group 10"/>
            <p:cNvGrpSpPr/>
            <p:nvPr/>
          </p:nvGrpSpPr>
          <p:grpSpPr>
            <a:xfrm>
              <a:off x="2417" y="2957"/>
              <a:ext cx="1592" cy="361"/>
              <a:chOff x="901" y="2247"/>
              <a:chExt cx="1592" cy="361"/>
            </a:xfrm>
          </p:grpSpPr>
          <p:sp>
            <p:nvSpPr>
              <p:cNvPr id="6" name="Rectangle 5"/>
              <p:cNvSpPr>
                <a:spLocks noChangeArrowheads="1"/>
              </p:cNvSpPr>
              <p:nvPr/>
            </p:nvSpPr>
            <p:spPr bwMode="auto">
              <a:xfrm>
                <a:off x="1746" y="2247"/>
                <a:ext cx="747" cy="361"/>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a:ea typeface="微软雅黑" panose="020B0503020204020204" pitchFamily="34" charset="-122"/>
                    <a:cs typeface="+mn-ea"/>
                    <a:sym typeface="+mn-lt"/>
                  </a:rPr>
                  <a:t>链表</a:t>
                </a:r>
              </a:p>
            </p:txBody>
          </p:sp>
          <p:sp>
            <p:nvSpPr>
              <p:cNvPr id="7" name="AutoShape 7"/>
              <p:cNvSpPr>
                <a:spLocks noChangeArrowheads="1"/>
              </p:cNvSpPr>
              <p:nvPr/>
            </p:nvSpPr>
            <p:spPr bwMode="auto">
              <a:xfrm>
                <a:off x="901" y="2328"/>
                <a:ext cx="632" cy="199"/>
              </a:xfrm>
              <a:prstGeom prst="notchedRightArrow">
                <a:avLst>
                  <a:gd name="adj1" fmla="val 50000"/>
                  <a:gd name="adj2" fmla="val 58714"/>
                </a:avLst>
              </a:prstGeom>
              <a:solidFill>
                <a:schemeClr val="accent1"/>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a:ea typeface="微软雅黑" panose="020B0503020204020204" pitchFamily="34" charset="-122"/>
                  <a:cs typeface="+mn-ea"/>
                  <a:sym typeface="+mn-lt"/>
                </a:endParaRPr>
              </a:p>
            </p:txBody>
          </p:sp>
        </p:grpSp>
        <p:sp>
          <p:nvSpPr>
            <p:cNvPr id="5" name="Rectangle 12"/>
            <p:cNvSpPr>
              <a:spLocks noChangeArrowheads="1"/>
            </p:cNvSpPr>
            <p:nvPr/>
          </p:nvSpPr>
          <p:spPr bwMode="auto">
            <a:xfrm>
              <a:off x="344" y="2957"/>
              <a:ext cx="1860" cy="361"/>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为克服这一缺点</a:t>
              </a:r>
            </a:p>
          </p:txBody>
        </p:sp>
      </p:grpSp>
      <p:sp>
        <p:nvSpPr>
          <p:cNvPr id="8" name="Rectangle 2"/>
          <p:cNvSpPr>
            <a:spLocks noChangeArrowheads="1"/>
          </p:cNvSpPr>
          <p:nvPr/>
        </p:nvSpPr>
        <p:spPr bwMode="auto">
          <a:xfrm>
            <a:off x="1974850" y="1988403"/>
            <a:ext cx="6675438" cy="1775935"/>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57200" marR="0" lvl="1" indent="0" algn="l" defTabSz="914400" rtl="0" eaLnBrk="0" fontAlgn="base" latinLnBrk="0" hangingPunct="0">
              <a:lnSpc>
                <a:spcPct val="130000"/>
              </a:lnSpc>
              <a:spcBef>
                <a:spcPct val="20000"/>
              </a:spcBef>
              <a:spcAft>
                <a:spcPct val="0"/>
              </a:spcAft>
              <a:buClr>
                <a:srgbClr val="6C4C8F"/>
              </a:buClr>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时间：可以</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a:ea typeface="微软雅黑" panose="020B0503020204020204" pitchFamily="34" charset="-122"/>
                <a:cs typeface="+mn-ea"/>
                <a:sym typeface="+mn-lt"/>
              </a:rPr>
              <a:t>随机存取</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表中任一元素</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endParaRPr>
          </a:p>
          <a:p>
            <a:pPr marL="457200" marR="0" lvl="1" indent="0" algn="l" defTabSz="914400" rtl="0" eaLnBrk="0" fontAlgn="base" latinLnBrk="0" hangingPunct="0">
              <a:lnSpc>
                <a:spcPct val="130000"/>
              </a:lnSpc>
              <a:spcBef>
                <a:spcPct val="20000"/>
              </a:spcBef>
              <a:spcAft>
                <a:spcPct val="0"/>
              </a:spcAft>
              <a:buClr>
                <a:srgbClr val="6C4C8F"/>
              </a:buClr>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空间：</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a:ea typeface="微软雅黑" panose="020B0503020204020204" pitchFamily="34" charset="-122"/>
                <a:cs typeface="+mn-ea"/>
                <a:sym typeface="+mn-lt"/>
              </a:rPr>
              <a:t>存储密度大</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（结点本身所占存储量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rPr>
              <a:t>结点结构所占存储量）</a:t>
            </a:r>
          </a:p>
          <a:p>
            <a:pPr marL="457200" marR="0" lvl="1" indent="0" algn="l" defTabSz="914400" rtl="0" eaLnBrk="0" fontAlgn="base" latinLnBrk="0" hangingPunct="0">
              <a:lnSpc>
                <a:spcPct val="130000"/>
              </a:lnSpc>
              <a:spcBef>
                <a:spcPct val="20000"/>
              </a:spcBef>
              <a:spcAft>
                <a:spcPct val="0"/>
              </a:spcAft>
              <a:buClr>
                <a:srgbClr val="6C4C8F"/>
              </a:buClr>
              <a:buSzTx/>
              <a:buFont typeface="Wingdings" panose="05000000000000000000" pitchFamily="2" charset="2"/>
              <a:buChar char="ü"/>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endParaRPr>
          </a:p>
        </p:txBody>
      </p:sp>
      <p:sp>
        <p:nvSpPr>
          <p:cNvPr id="9" name="圆角矩形 14"/>
          <p:cNvSpPr/>
          <p:nvPr/>
        </p:nvSpPr>
        <p:spPr>
          <a:xfrm>
            <a:off x="2917825" y="1196975"/>
            <a:ext cx="1468438" cy="557213"/>
          </a:xfrm>
          <a:custGeom>
            <a:avLst/>
            <a:gdLst/>
            <a:ahLst/>
            <a:cxnLst/>
            <a:rect l="l" t="t" r="r" b="b"/>
            <a:pathLst>
              <a:path w="3960440" h="648072">
                <a:moveTo>
                  <a:pt x="0" y="0"/>
                </a:moveTo>
                <a:lnTo>
                  <a:pt x="3636404" y="0"/>
                </a:lnTo>
                <a:cubicBezTo>
                  <a:pt x="3815364" y="0"/>
                  <a:pt x="3960440" y="145076"/>
                  <a:pt x="3960440" y="324036"/>
                </a:cubicBezTo>
                <a:cubicBezTo>
                  <a:pt x="3960440" y="502996"/>
                  <a:pt x="3815364" y="648072"/>
                  <a:pt x="3636404" y="648072"/>
                </a:cubicBezTo>
                <a:lnTo>
                  <a:pt x="0" y="648072"/>
                </a:lnTo>
                <a:close/>
              </a:path>
            </a:pathLst>
          </a:custGeom>
          <a:solidFill>
            <a:srgbClr val="9476B6"/>
          </a:solid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600" b="0" i="0" u="none" strike="noStrike" kern="0" cap="none" spc="0" normalizeH="0" baseline="0" noProof="0" dirty="0">
                <a:ln>
                  <a:noFill/>
                </a:ln>
                <a:solidFill>
                  <a:srgbClr val="FEFFFF"/>
                </a:solidFill>
                <a:effectLst/>
                <a:uLnTx/>
                <a:uFillTx/>
                <a:latin typeface="微软雅黑" panose="020B0503020204020204" pitchFamily="34" charset="-122"/>
                <a:ea typeface="微软雅黑" panose="020B0503020204020204" pitchFamily="34" charset="-122"/>
                <a:cs typeface="+mn-cs"/>
              </a:rPr>
              <a:t>优点：</a:t>
            </a:r>
          </a:p>
        </p:txBody>
      </p:sp>
      <p:sp>
        <p:nvSpPr>
          <p:cNvPr id="10" name="圆角矩形 14"/>
          <p:cNvSpPr/>
          <p:nvPr/>
        </p:nvSpPr>
        <p:spPr>
          <a:xfrm>
            <a:off x="2917825" y="3662288"/>
            <a:ext cx="1468438" cy="558800"/>
          </a:xfrm>
          <a:custGeom>
            <a:avLst/>
            <a:gdLst/>
            <a:ahLst/>
            <a:cxnLst/>
            <a:rect l="l" t="t" r="r" b="b"/>
            <a:pathLst>
              <a:path w="3960440" h="648072">
                <a:moveTo>
                  <a:pt x="0" y="0"/>
                </a:moveTo>
                <a:lnTo>
                  <a:pt x="3636404" y="0"/>
                </a:lnTo>
                <a:cubicBezTo>
                  <a:pt x="3815364" y="0"/>
                  <a:pt x="3960440" y="145076"/>
                  <a:pt x="3960440" y="324036"/>
                </a:cubicBezTo>
                <a:cubicBezTo>
                  <a:pt x="3960440" y="502996"/>
                  <a:pt x="3815364" y="648072"/>
                  <a:pt x="3636404" y="648072"/>
                </a:cubicBezTo>
                <a:lnTo>
                  <a:pt x="0" y="648072"/>
                </a:lnTo>
                <a:close/>
              </a:path>
            </a:pathLst>
          </a:custGeom>
          <a:solidFill>
            <a:srgbClr val="9476B6"/>
          </a:solid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600" b="1" i="0" u="none" strike="noStrike" kern="0" cap="none" spc="0" normalizeH="0" baseline="0" noProof="0" dirty="0">
              <a:ln>
                <a:noFill/>
              </a:ln>
              <a:solidFill>
                <a:srgbClr val="FEFFFF"/>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273016" y="1260706"/>
            <a:ext cx="1997887" cy="3207451"/>
            <a:chOff x="392408" y="1348060"/>
            <a:chExt cx="3047748" cy="4140735"/>
          </a:xfrm>
          <a:solidFill>
            <a:srgbClr val="9476B6"/>
          </a:solidFill>
        </p:grpSpPr>
        <p:sp>
          <p:nvSpPr>
            <p:cNvPr id="12" name="椭圆 1"/>
            <p:cNvSpPr/>
            <p:nvPr/>
          </p:nvSpPr>
          <p:spPr>
            <a:xfrm>
              <a:off x="1854808" y="1536822"/>
              <a:ext cx="1585348" cy="1426363"/>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grp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600" b="1" i="0" u="none" strike="noStrike" kern="0" cap="none" spc="0" normalizeH="0" baseline="0" noProof="0">
                <a:ln>
                  <a:noFill/>
                </a:ln>
                <a:solidFill>
                  <a:srgbClr val="FEFFFF"/>
                </a:solidFill>
                <a:effectLst/>
                <a:uLnTx/>
                <a:uFillTx/>
                <a:latin typeface="微软雅黑" panose="020B0503020204020204" pitchFamily="34" charset="-122"/>
                <a:ea typeface="微软雅黑" panose="020B0503020204020204" pitchFamily="34" charset="-122"/>
                <a:cs typeface="+mn-cs"/>
              </a:endParaRPr>
            </a:p>
          </p:txBody>
        </p:sp>
        <p:sp>
          <p:nvSpPr>
            <p:cNvPr id="13" name="椭圆 1"/>
            <p:cNvSpPr/>
            <p:nvPr/>
          </p:nvSpPr>
          <p:spPr>
            <a:xfrm>
              <a:off x="1708351" y="2794782"/>
              <a:ext cx="796444" cy="1426363"/>
            </a:xfrm>
            <a:custGeom>
              <a:avLst/>
              <a:gdLst/>
              <a:ahLst/>
              <a:cxnLst/>
              <a:rect l="l" t="t" r="r" b="b"/>
              <a:pathLst>
                <a:path w="828092" h="1656184">
                  <a:moveTo>
                    <a:pt x="828092" y="0"/>
                  </a:moveTo>
                  <a:lnTo>
                    <a:pt x="828092" y="180020"/>
                  </a:lnTo>
                  <a:cubicBezTo>
                    <a:pt x="470172" y="180020"/>
                    <a:pt x="180020" y="470172"/>
                    <a:pt x="180020" y="828092"/>
                  </a:cubicBezTo>
                  <a:cubicBezTo>
                    <a:pt x="180020" y="1186012"/>
                    <a:pt x="470172" y="1476164"/>
                    <a:pt x="828092" y="1476164"/>
                  </a:cubicBezTo>
                  <a:lnTo>
                    <a:pt x="828092" y="1656184"/>
                  </a:lnTo>
                  <a:cubicBezTo>
                    <a:pt x="370749" y="1656184"/>
                    <a:pt x="0" y="1285435"/>
                    <a:pt x="0" y="828092"/>
                  </a:cubicBezTo>
                  <a:cubicBezTo>
                    <a:pt x="0" y="370749"/>
                    <a:pt x="370749" y="0"/>
                    <a:pt x="828092" y="0"/>
                  </a:cubicBezTo>
                  <a:close/>
                </a:path>
              </a:pathLst>
            </a:custGeom>
            <a:grp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0" cap="none" spc="0" normalizeH="0" baseline="0" noProof="0">
                <a:ln>
                  <a:noFill/>
                </a:ln>
                <a:solidFill>
                  <a:srgbClr val="FEFFFF"/>
                </a:solidFill>
                <a:effectLst/>
                <a:uLnTx/>
                <a:uFillTx/>
                <a:latin typeface="Times New Roman" panose="02020603050405020304" pitchFamily="18" charset="0"/>
                <a:ea typeface="仿宋_GB2312" pitchFamily="49" charset="-122"/>
                <a:cs typeface="+mn-cs"/>
              </a:endParaRPr>
            </a:p>
          </p:txBody>
        </p:sp>
        <p:sp>
          <p:nvSpPr>
            <p:cNvPr id="14" name="椭圆 1"/>
            <p:cNvSpPr/>
            <p:nvPr/>
          </p:nvSpPr>
          <p:spPr>
            <a:xfrm rot="5400000">
              <a:off x="1683348" y="3982544"/>
              <a:ext cx="1419613" cy="1592889"/>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grp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600" b="1" i="0" u="none" strike="noStrike" kern="0" cap="none" spc="0" normalizeH="0" baseline="0" noProof="0">
                <a:ln>
                  <a:noFill/>
                </a:ln>
                <a:solidFill>
                  <a:srgbClr val="FEFFFF"/>
                </a:solidFill>
                <a:effectLst/>
                <a:uLnTx/>
                <a:uFillTx/>
                <a:latin typeface="微软雅黑" panose="020B0503020204020204" pitchFamily="34" charset="-122"/>
                <a:ea typeface="微软雅黑" panose="020B0503020204020204" pitchFamily="34" charset="-122"/>
                <a:cs typeface="+mn-cs"/>
              </a:endParaRPr>
            </a:p>
          </p:txBody>
        </p:sp>
        <p:sp>
          <p:nvSpPr>
            <p:cNvPr id="15" name="椭圆 1"/>
            <p:cNvSpPr/>
            <p:nvPr/>
          </p:nvSpPr>
          <p:spPr>
            <a:xfrm rot="10800000">
              <a:off x="432687" y="1348060"/>
              <a:ext cx="1585348" cy="1426363"/>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grp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0" cap="none" spc="0" normalizeH="0" baseline="0" noProof="0">
                <a:ln>
                  <a:noFill/>
                </a:ln>
                <a:solidFill>
                  <a:srgbClr val="FEFFFF"/>
                </a:solidFill>
                <a:effectLst/>
                <a:uLnTx/>
                <a:uFillTx/>
                <a:latin typeface="Times New Roman" panose="02020603050405020304" pitchFamily="18" charset="0"/>
                <a:ea typeface="仿宋_GB2312" pitchFamily="49" charset="-122"/>
                <a:cs typeface="+mn-cs"/>
              </a:endParaRPr>
            </a:p>
          </p:txBody>
        </p:sp>
        <p:sp>
          <p:nvSpPr>
            <p:cNvPr id="16" name="椭圆 1"/>
            <p:cNvSpPr/>
            <p:nvPr/>
          </p:nvSpPr>
          <p:spPr>
            <a:xfrm rot="6199008">
              <a:off x="786184" y="3432670"/>
              <a:ext cx="713181" cy="1500734"/>
            </a:xfrm>
            <a:custGeom>
              <a:avLst/>
              <a:gdLst/>
              <a:ahLst/>
              <a:cxnLst/>
              <a:rect l="l" t="t" r="r" b="b"/>
              <a:pathLst>
                <a:path w="828092" h="1560369">
                  <a:moveTo>
                    <a:pt x="16824" y="994982"/>
                  </a:moveTo>
                  <a:cubicBezTo>
                    <a:pt x="5793" y="941075"/>
                    <a:pt x="0" y="885260"/>
                    <a:pt x="0" y="828092"/>
                  </a:cubicBezTo>
                  <a:cubicBezTo>
                    <a:pt x="0" y="370749"/>
                    <a:pt x="370749" y="0"/>
                    <a:pt x="828092" y="0"/>
                  </a:cubicBezTo>
                  <a:lnTo>
                    <a:pt x="828092" y="180020"/>
                  </a:lnTo>
                  <a:cubicBezTo>
                    <a:pt x="470172" y="180020"/>
                    <a:pt x="180020" y="470172"/>
                    <a:pt x="180020" y="828092"/>
                  </a:cubicBezTo>
                  <a:cubicBezTo>
                    <a:pt x="180020" y="1180557"/>
                    <a:pt x="461395" y="1467304"/>
                    <a:pt x="811810" y="1474523"/>
                  </a:cubicBezTo>
                  <a:lnTo>
                    <a:pt x="449129" y="1560369"/>
                  </a:lnTo>
                  <a:cubicBezTo>
                    <a:pt x="229080" y="1450469"/>
                    <a:pt x="67556" y="1242904"/>
                    <a:pt x="16824" y="994982"/>
                  </a:cubicBezTo>
                  <a:close/>
                </a:path>
              </a:pathLst>
            </a:custGeom>
            <a:grp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0" cap="none" spc="0" normalizeH="0" baseline="0" noProof="0">
                <a:ln>
                  <a:noFill/>
                </a:ln>
                <a:solidFill>
                  <a:srgbClr val="FEFFFF"/>
                </a:solidFill>
                <a:effectLst/>
                <a:uLnTx/>
                <a:uFillTx/>
                <a:latin typeface="Times New Roman" panose="02020603050405020304" pitchFamily="18" charset="0"/>
                <a:ea typeface="仿宋_GB2312" pitchFamily="49" charset="-122"/>
                <a:cs typeface="+mn-cs"/>
              </a:endParaRPr>
            </a:p>
          </p:txBody>
        </p:sp>
      </p:grpSp>
      <p:sp>
        <p:nvSpPr>
          <p:cNvPr id="17" name="Rectangle 11"/>
          <p:cNvSpPr>
            <a:spLocks noChangeArrowheads="1"/>
          </p:cNvSpPr>
          <p:nvPr/>
        </p:nvSpPr>
        <p:spPr bwMode="auto">
          <a:xfrm>
            <a:off x="2407208" y="4170363"/>
            <a:ext cx="6570105" cy="1315040"/>
          </a:xfrm>
          <a:prstGeom prst="rect">
            <a:avLst/>
          </a:prstGeom>
          <a:noFill/>
          <a:ln>
            <a:noFill/>
          </a:ln>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
                <a:srgbClr val="6C4C8F"/>
              </a:buClr>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ea"/>
                <a:sym typeface="+mn-lt"/>
              </a:rPr>
              <a:t>时间：在插入、删除某一元素时，需要移动大量元素</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ea"/>
              <a:sym typeface="+mn-lt"/>
            </a:endParaRPr>
          </a:p>
          <a:p>
            <a:pPr marL="342900" marR="0" lvl="0" indent="-342900" algn="l" defTabSz="914400" rtl="0" eaLnBrk="0" fontAlgn="base" latinLnBrk="0" hangingPunct="0">
              <a:lnSpc>
                <a:spcPct val="130000"/>
              </a:lnSpc>
              <a:spcBef>
                <a:spcPct val="20000"/>
              </a:spcBef>
              <a:spcAft>
                <a:spcPct val="0"/>
              </a:spcAft>
              <a:buClr>
                <a:srgbClr val="6C4C8F"/>
              </a:buClr>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ea"/>
                <a:sym typeface="+mn-lt"/>
              </a:rPr>
              <a:t>空间：浪费存储空间，属于静态存储形式，数据元素的个数不能自由扩充</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a:ea typeface="微软雅黑" panose="020B0503020204020204" pitchFamily="34" charset="-122"/>
              <a:cs typeface="+mn-ea"/>
              <a:sym typeface="+mn-lt"/>
            </a:endParaRPr>
          </a:p>
        </p:txBody>
      </p:sp>
      <p:sp>
        <p:nvSpPr>
          <p:cNvPr id="18" name="Rectangle 11"/>
          <p:cNvSpPr>
            <a:spLocks noChangeArrowheads="1"/>
          </p:cNvSpPr>
          <p:nvPr/>
        </p:nvSpPr>
        <p:spPr bwMode="auto">
          <a:xfrm>
            <a:off x="3049588" y="3575992"/>
            <a:ext cx="1328738" cy="573088"/>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EFFFF"/>
                </a:solidFill>
                <a:effectLst/>
                <a:uLnTx/>
                <a:uFillTx/>
                <a:latin typeface="Times New Roman" panose="02020603050405020304"/>
                <a:ea typeface="微软雅黑" panose="020B0503020204020204" pitchFamily="34" charset="-122"/>
                <a:cs typeface="+mn-ea"/>
                <a:sym typeface="+mn-lt"/>
              </a:rPr>
              <a:t>缺点：</a:t>
            </a:r>
          </a:p>
        </p:txBody>
      </p:sp>
      <p:cxnSp>
        <p:nvCxnSpPr>
          <p:cNvPr id="11274" name="直接连接符 4"/>
          <p:cNvCxnSpPr/>
          <p:nvPr/>
        </p:nvCxnSpPr>
        <p:spPr>
          <a:xfrm>
            <a:off x="0" y="5867400"/>
            <a:ext cx="9144000" cy="0"/>
          </a:xfrm>
          <a:prstGeom prst="line">
            <a:avLst/>
          </a:prstGeom>
          <a:ln w="57150" cap="flat" cmpd="sng">
            <a:solidFill>
              <a:srgbClr val="8585E0"/>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box(in)">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7">
                                            <p:txEl>
                                              <p:pRg st="1" end="1"/>
                                            </p:txEl>
                                          </p:spTgt>
                                        </p:tgtEl>
                                        <p:attrNameLst>
                                          <p:attrName>style.visibility</p:attrName>
                                        </p:attrNameLst>
                                      </p:cBhvr>
                                      <p:to>
                                        <p:strVal val="visible"/>
                                      </p:to>
                                    </p:set>
                                    <p:animEffect transition="in" filter="box(in)">
                                      <p:cBhvr>
                                        <p:cTn id="17" dur="500"/>
                                        <p:tgtEl>
                                          <p:spTgt spid="1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a:ea typeface="Microsoft Yahei"/>
                <a:sym typeface="Microsoft Yahei"/>
              </a:rPr>
              <a:t>For a sequentially stored linear list of length N, the time complexities for query the</a:t>
            </a:r>
            <a:r>
              <a:rPr lang="zh-CN" altLang="en-US" sz="2600" dirty="0">
                <a:solidFill>
                  <a:srgbClr val="000000"/>
                </a:solidFill>
                <a:latin typeface="Microsoft Yahei"/>
                <a:ea typeface="Microsoft Yahei"/>
                <a:sym typeface="Microsoft Yahei"/>
              </a:rPr>
              <a:t> </a:t>
            </a:r>
            <a:r>
              <a:rPr lang="en-US" altLang="zh-CN" sz="2600" dirty="0" err="1">
                <a:solidFill>
                  <a:srgbClr val="000000"/>
                </a:solidFill>
                <a:latin typeface="Microsoft Yahei"/>
                <a:ea typeface="Microsoft Yahei"/>
                <a:sym typeface="Microsoft Yahei"/>
              </a:rPr>
              <a:t>i-th</a:t>
            </a:r>
            <a:r>
              <a:rPr lang="zh-CN" altLang="en-US" sz="2600" dirty="0">
                <a:solidFill>
                  <a:srgbClr val="000000"/>
                </a:solidFill>
                <a:latin typeface="Microsoft Yahei"/>
                <a:ea typeface="Microsoft Yahei"/>
                <a:sym typeface="Microsoft Yahei"/>
              </a:rPr>
              <a:t> </a:t>
            </a:r>
            <a:r>
              <a:rPr lang="en-US" altLang="zh-CN" sz="2600" dirty="0">
                <a:solidFill>
                  <a:srgbClr val="000000"/>
                </a:solidFill>
                <a:latin typeface="Microsoft Yahei"/>
                <a:ea typeface="Microsoft Yahei"/>
                <a:sym typeface="Microsoft Yahei"/>
              </a:rPr>
              <a:t>element</a:t>
            </a:r>
            <a:r>
              <a:rPr lang="zh-CN" altLang="en-US" sz="2600" dirty="0">
                <a:solidFill>
                  <a:srgbClr val="000000"/>
                </a:solidFill>
                <a:latin typeface="Microsoft Yahei"/>
                <a:ea typeface="Microsoft Yahei"/>
                <a:sym typeface="Microsoft Yahei"/>
              </a:rPr>
              <a:t> </a:t>
            </a:r>
            <a:r>
              <a:rPr lang="en-US" altLang="zh-CN" sz="2600" dirty="0">
                <a:solidFill>
                  <a:srgbClr val="000000"/>
                </a:solidFill>
                <a:latin typeface="Microsoft Yahei"/>
                <a:ea typeface="Microsoft Yahei"/>
                <a:sym typeface="Microsoft Yahei"/>
              </a:rPr>
              <a:t>and insertion are O(1) and O(N), respectively.</a:t>
            </a:r>
          </a:p>
        </p:txBody>
      </p:sp>
      <p:sp>
        <p:nvSpPr>
          <p:cNvPr id="4" name="TextBox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True</a:t>
            </a:r>
            <a:endParaRPr lang="zh-CN" altLang="en-US" sz="2600" dirty="0">
              <a:solidFill>
                <a:srgbClr val="000000"/>
              </a:solidFill>
              <a:latin typeface="Microsoft Yahei"/>
              <a:ea typeface="Microsoft Yahei"/>
              <a:sym typeface="Microsoft Yahei"/>
            </a:endParaRPr>
          </a:p>
        </p:txBody>
      </p:sp>
      <p:sp>
        <p:nvSpPr>
          <p:cNvPr id="5" name="TextBox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False</a:t>
            </a:r>
            <a:endParaRPr lang="zh-CN" altLang="en-US" sz="2600" dirty="0">
              <a:solidFill>
                <a:srgbClr val="000000"/>
              </a:solidFill>
              <a:latin typeface="Microsoft Yahei"/>
              <a:ea typeface="Microsoft Yahei"/>
              <a:sym typeface="Microsoft Yahei"/>
            </a:endParaRPr>
          </a:p>
        </p:txBody>
      </p:sp>
      <p:sp>
        <p:nvSpPr>
          <p:cNvPr id="6" name="TextBox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endParaRPr lang="zh-CN" altLang="en-US" sz="2600" dirty="0">
              <a:solidFill>
                <a:srgbClr val="000000"/>
              </a:solidFill>
              <a:latin typeface="Microsoft Yahei"/>
              <a:ea typeface="Microsoft Yahei"/>
              <a:sym typeface="Microsoft Yahei"/>
            </a:endParaRPr>
          </a:p>
        </p:txBody>
      </p:sp>
      <p:sp>
        <p:nvSpPr>
          <p:cNvPr id="8" name="椭圆 7"/>
          <p:cNvSpPr>
            <a:spLocks noChangeAspect="1"/>
          </p:cNvSpPr>
          <p:nvPr>
            <p:custDataLst>
              <p:tags r:id="rId6"/>
            </p:custDataLst>
          </p:nvPr>
        </p:nvSpPr>
        <p:spPr bwMode="auto">
          <a:xfrm>
            <a:off x="1114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A</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9" name="椭圆 8"/>
          <p:cNvSpPr>
            <a:spLocks noChangeAspect="1"/>
          </p:cNvSpPr>
          <p:nvPr>
            <p:custDataLst>
              <p:tags r:id="rId7"/>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B</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2" name="圆角矩形 11"/>
          <p:cNvSpPr/>
          <p:nvPr>
            <p:custDataLst>
              <p:tags r:id="rId8"/>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342900" marR="0" indent="-342900" algn="l" defTabSz="914400" rtl="0" eaLnBrk="0" fontAlgn="base" latinLnBrk="0" hangingPunct="0">
              <a:lnSpc>
                <a:spcPct val="100000"/>
              </a:lnSpc>
              <a:spcBef>
                <a:spcPct val="20000"/>
              </a:spcBef>
              <a:spcAft>
                <a:spcPct val="0"/>
              </a:spcAft>
              <a:buClrTx/>
              <a:buSzTx/>
              <a:buFontTx/>
              <a:buNone/>
            </a:pPr>
            <a:r>
              <a:rPr kumimoji="1" lang="zh-CN" altLang="en-US" sz="1600" b="0" i="0" u="none" strike="noStrike" cap="none" normalizeH="0" baseline="0">
                <a:ln>
                  <a:noFill/>
                </a:ln>
                <a:solidFill>
                  <a:srgbClr val="FFFFFF"/>
                </a:solidFill>
                <a:effectLst/>
                <a:latin typeface="Microsoft Yahei"/>
                <a:ea typeface="Microsoft Yahei"/>
                <a:sym typeface="Microsoft Yahei"/>
              </a:rPr>
              <a:t>提交</a:t>
            </a:r>
          </a:p>
        </p:txBody>
      </p:sp>
      <p:grpSp>
        <p:nvGrpSpPr>
          <p:cNvPr id="17" name="组合 16"/>
          <p:cNvGrpSpPr/>
          <p:nvPr>
            <p:custDataLst>
              <p:tags r:id="rId9"/>
            </p:custDataLst>
          </p:nvPr>
        </p:nvGrpSpPr>
        <p:grpSpPr>
          <a:xfrm>
            <a:off x="0" y="0"/>
            <a:ext cx="9144000" cy="635000"/>
            <a:chOff x="0" y="0"/>
            <a:chExt cx="9144000" cy="635000"/>
          </a:xfrm>
        </p:grpSpPr>
        <p:sp>
          <p:nvSpPr>
            <p:cNvPr id="13"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4"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5"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Microsoft Yahei"/>
                  <a:ea typeface="Microsoft Yahei"/>
                  <a:sym typeface="Microsoft Yahei"/>
                </a:rPr>
                <a:t>单选题</a:t>
              </a:r>
            </a:p>
          </p:txBody>
        </p:sp>
        <p:sp>
          <p:nvSpPr>
            <p:cNvPr id="16"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0"/>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47517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2"/>
            </p:custDataLst>
          </p:nvPr>
        </p:nvSpPr>
        <p:spPr>
          <a:xfrm>
            <a:off x="990600" y="1268760"/>
            <a:ext cx="73152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a:ea typeface="Microsoft Yahei"/>
                <a:sym typeface="Microsoft Yahei"/>
              </a:rPr>
              <a:t>If a linear list is represented by a 1-dimensional array, the addresses of the elements in the memory must be consecutive.</a:t>
            </a:r>
          </a:p>
        </p:txBody>
      </p:sp>
      <p:sp>
        <p:nvSpPr>
          <p:cNvPr id="4" name="TextBox 3"/>
          <p:cNvSpPr txBox="1"/>
          <p:nvPr>
            <p:custDataLst>
              <p:tags r:id="rId3"/>
            </p:custDataLst>
          </p:nvPr>
        </p:nvSpPr>
        <p:spPr>
          <a:xfrm>
            <a:off x="1828800" y="3873028"/>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True</a:t>
            </a:r>
            <a:endParaRPr lang="zh-CN" altLang="en-US" sz="2600" dirty="0">
              <a:solidFill>
                <a:srgbClr val="000000"/>
              </a:solidFill>
              <a:latin typeface="Microsoft Yahei"/>
              <a:ea typeface="Microsoft Yahei"/>
              <a:sym typeface="Microsoft Yahei"/>
            </a:endParaRPr>
          </a:p>
        </p:txBody>
      </p:sp>
      <p:sp>
        <p:nvSpPr>
          <p:cNvPr id="5" name="TextBox 4"/>
          <p:cNvSpPr txBox="1"/>
          <p:nvPr>
            <p:custDataLst>
              <p:tags r:id="rId4"/>
            </p:custDataLst>
          </p:nvPr>
        </p:nvSpPr>
        <p:spPr>
          <a:xfrm>
            <a:off x="1828800" y="4730278"/>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False</a:t>
            </a:r>
            <a:endParaRPr lang="zh-CN" altLang="en-US" sz="2600" dirty="0">
              <a:solidFill>
                <a:srgbClr val="000000"/>
              </a:solidFill>
              <a:latin typeface="Microsoft Yahei"/>
              <a:ea typeface="Microsoft Yahei"/>
              <a:sym typeface="Microsoft Yahei"/>
            </a:endParaRPr>
          </a:p>
        </p:txBody>
      </p:sp>
      <p:sp>
        <p:nvSpPr>
          <p:cNvPr id="8" name="椭圆 7"/>
          <p:cNvSpPr>
            <a:spLocks noChangeAspect="1"/>
          </p:cNvSpPr>
          <p:nvPr>
            <p:custDataLst>
              <p:tags r:id="rId5"/>
            </p:custDataLst>
          </p:nvPr>
        </p:nvSpPr>
        <p:spPr bwMode="auto">
          <a:xfrm>
            <a:off x="1114425" y="3937321"/>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A</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9" name="椭圆 8"/>
          <p:cNvSpPr>
            <a:spLocks noChangeAspect="1"/>
          </p:cNvSpPr>
          <p:nvPr>
            <p:custDataLst>
              <p:tags r:id="rId6"/>
            </p:custDataLst>
          </p:nvPr>
        </p:nvSpPr>
        <p:spPr bwMode="auto">
          <a:xfrm>
            <a:off x="1114425" y="4794571"/>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B</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2" name="圆角矩形 11"/>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342900" marR="0" indent="-342900" algn="l" defTabSz="914400" rtl="0" eaLnBrk="0" fontAlgn="base" latinLnBrk="0" hangingPunct="0">
              <a:lnSpc>
                <a:spcPct val="100000"/>
              </a:lnSpc>
              <a:spcBef>
                <a:spcPct val="20000"/>
              </a:spcBef>
              <a:spcAft>
                <a:spcPct val="0"/>
              </a:spcAft>
              <a:buClrTx/>
              <a:buSzTx/>
              <a:buFontTx/>
              <a:buNone/>
            </a:pPr>
            <a:r>
              <a:rPr kumimoji="1" lang="zh-CN" altLang="en-US" sz="1600" b="0" i="0" u="none" strike="noStrike" cap="none" normalizeH="0" baseline="0">
                <a:ln>
                  <a:noFill/>
                </a:ln>
                <a:solidFill>
                  <a:srgbClr val="FFFFFF"/>
                </a:solidFill>
                <a:effectLst/>
                <a:latin typeface="Microsoft Yahei"/>
                <a:ea typeface="Microsoft Yahei"/>
                <a:sym typeface="Microsoft Yahei"/>
              </a:rPr>
              <a:t>提交</a:t>
            </a:r>
          </a:p>
        </p:txBody>
      </p:sp>
      <p:grpSp>
        <p:nvGrpSpPr>
          <p:cNvPr id="17" name="组合 16"/>
          <p:cNvGrpSpPr/>
          <p:nvPr>
            <p:custDataLst>
              <p:tags r:id="rId8"/>
            </p:custDataLst>
          </p:nvPr>
        </p:nvGrpSpPr>
        <p:grpSpPr>
          <a:xfrm>
            <a:off x="0" y="0"/>
            <a:ext cx="9144000" cy="635000"/>
            <a:chOff x="0" y="0"/>
            <a:chExt cx="9144000" cy="635000"/>
          </a:xfrm>
        </p:grpSpPr>
        <p:sp>
          <p:nvSpPr>
            <p:cNvPr id="13" name="TitleBackground"/>
            <p:cNvSpPr/>
            <p:nvPr>
              <p:custDataLst>
                <p:tags r:id="rId10"/>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4" name="ColorBlock"/>
            <p:cNvSpPr/>
            <p:nvPr>
              <p:custDataLst>
                <p:tags r:id="rId11"/>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endParaRPr lang="zh-CN" altLang="en-US" sz="2600" dirty="0">
                <a:solidFill>
                  <a:srgbClr val="000000"/>
                </a:solidFill>
                <a:latin typeface="Microsoft Yahei"/>
                <a:ea typeface="Microsoft Yahei"/>
                <a:sym typeface="Microsoft Yahei"/>
              </a:endParaRPr>
            </a:p>
          </p:txBody>
        </p:sp>
        <p:sp>
          <p:nvSpPr>
            <p:cNvPr id="16"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2781542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a:solidFill>
                  <a:srgbClr val="000000"/>
                </a:solidFill>
                <a:latin typeface="Microsoft Yahei"/>
                <a:ea typeface="Microsoft Yahei"/>
                <a:sym typeface="Microsoft Yahei"/>
              </a:rPr>
              <a:t>Among the following operations for a sorted </a:t>
            </a:r>
            <a:r>
              <a:rPr lang="en-US" altLang="zh-CN" sz="2600" dirty="0" err="1">
                <a:solidFill>
                  <a:srgbClr val="000000"/>
                </a:solidFill>
                <a:latin typeface="Microsoft Yahei"/>
                <a:ea typeface="Microsoft Yahei"/>
                <a:sym typeface="Microsoft Yahei"/>
              </a:rPr>
              <a:t>sequencial</a:t>
            </a:r>
            <a:r>
              <a:rPr lang="en-US" altLang="zh-CN" sz="2600" dirty="0">
                <a:solidFill>
                  <a:srgbClr val="000000"/>
                </a:solidFill>
                <a:latin typeface="Microsoft Yahei"/>
                <a:ea typeface="Microsoft Yahei"/>
                <a:sym typeface="Microsoft Yahei"/>
              </a:rPr>
              <a:t> list (of length n), which one has the average time complexity of O(1)?</a:t>
            </a:r>
          </a:p>
        </p:txBody>
      </p:sp>
      <p:sp>
        <p:nvSpPr>
          <p:cNvPr id="4" name="TextBox 3"/>
          <p:cNvSpPr txBox="1"/>
          <p:nvPr>
            <p:custDataLst>
              <p:tags r:id="rId3"/>
            </p:custDataLst>
          </p:nvPr>
        </p:nvSpPr>
        <p:spPr>
          <a:xfrm>
            <a:off x="1828800" y="2786063"/>
            <a:ext cx="6919664"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Find the element with a given key value</a:t>
            </a:r>
            <a:endParaRPr lang="zh-CN" altLang="en-US" sz="2600" dirty="0">
              <a:solidFill>
                <a:srgbClr val="000000"/>
              </a:solidFill>
              <a:latin typeface="Microsoft Yahei"/>
              <a:ea typeface="Microsoft Yahei"/>
              <a:sym typeface="Microsoft Yahei"/>
            </a:endParaRPr>
          </a:p>
        </p:txBody>
      </p:sp>
      <p:sp>
        <p:nvSpPr>
          <p:cNvPr id="5" name="TextBox 4"/>
          <p:cNvSpPr txBox="1"/>
          <p:nvPr>
            <p:custDataLst>
              <p:tags r:id="rId4"/>
            </p:custDataLst>
          </p:nvPr>
        </p:nvSpPr>
        <p:spPr>
          <a:xfrm>
            <a:off x="1828800" y="3643313"/>
            <a:ext cx="706368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Insert the element with a given key value</a:t>
            </a:r>
            <a:endParaRPr lang="zh-CN" altLang="en-US" sz="2600" dirty="0">
              <a:solidFill>
                <a:srgbClr val="000000"/>
              </a:solidFill>
              <a:latin typeface="Microsoft Yahei"/>
              <a:ea typeface="Microsoft Yahei"/>
              <a:sym typeface="Microsoft Yahei"/>
            </a:endParaRPr>
          </a:p>
        </p:txBody>
      </p:sp>
      <p:sp>
        <p:nvSpPr>
          <p:cNvPr id="6" name="TextBox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Delete the i-</a:t>
            </a:r>
            <a:r>
              <a:rPr lang="en-US" altLang="zh-CN" sz="2600" dirty="0" err="1">
                <a:solidFill>
                  <a:srgbClr val="000000"/>
                </a:solidFill>
                <a:latin typeface="Microsoft Yahei"/>
                <a:ea typeface="Microsoft Yahei"/>
                <a:sym typeface="Microsoft Yahei"/>
              </a:rPr>
              <a:t>th</a:t>
            </a:r>
            <a:r>
              <a:rPr lang="zh-CN" altLang="en-US" sz="2600" dirty="0">
                <a:solidFill>
                  <a:srgbClr val="000000"/>
                </a:solidFill>
                <a:latin typeface="Microsoft Yahei"/>
                <a:ea typeface="Microsoft Yahei"/>
                <a:sym typeface="Microsoft Yahei"/>
              </a:rPr>
              <a:t>（</a:t>
            </a:r>
            <a:r>
              <a:rPr lang="en-US" altLang="zh-CN" sz="2600" dirty="0">
                <a:solidFill>
                  <a:srgbClr val="000000"/>
                </a:solidFill>
                <a:latin typeface="Microsoft Yahei"/>
                <a:ea typeface="Microsoft Yahei"/>
                <a:sym typeface="Microsoft Yahei"/>
              </a:rPr>
              <a:t>1≤i≤n</a:t>
            </a:r>
            <a:r>
              <a:rPr lang="zh-CN" altLang="en-US" sz="2600" dirty="0">
                <a:solidFill>
                  <a:srgbClr val="000000"/>
                </a:solidFill>
                <a:latin typeface="Microsoft Yahei"/>
                <a:ea typeface="Microsoft Yahei"/>
                <a:sym typeface="Microsoft Yahei"/>
              </a:rPr>
              <a:t>）</a:t>
            </a:r>
            <a:r>
              <a:rPr lang="en-US" altLang="zh-CN" sz="2600" dirty="0">
                <a:solidFill>
                  <a:srgbClr val="000000"/>
                </a:solidFill>
                <a:latin typeface="Microsoft Yahei"/>
                <a:ea typeface="Microsoft Yahei"/>
                <a:sym typeface="Microsoft Yahei"/>
              </a:rPr>
              <a:t>element</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Visit the i-</a:t>
            </a:r>
            <a:r>
              <a:rPr lang="en-US" altLang="zh-CN" sz="2600" dirty="0" err="1">
                <a:solidFill>
                  <a:srgbClr val="000000"/>
                </a:solidFill>
                <a:latin typeface="Microsoft Yahei"/>
                <a:ea typeface="Microsoft Yahei"/>
                <a:sym typeface="Microsoft Yahei"/>
              </a:rPr>
              <a:t>th</a:t>
            </a:r>
            <a:r>
              <a:rPr lang="zh-CN" altLang="en-US" sz="2600" dirty="0">
                <a:solidFill>
                  <a:srgbClr val="000000"/>
                </a:solidFill>
                <a:latin typeface="Microsoft Yahei"/>
                <a:ea typeface="Microsoft Yahei"/>
                <a:sym typeface="Microsoft Yahei"/>
              </a:rPr>
              <a:t>（</a:t>
            </a:r>
            <a:r>
              <a:rPr lang="en-US" altLang="zh-CN" sz="2600" dirty="0">
                <a:solidFill>
                  <a:srgbClr val="000000"/>
                </a:solidFill>
                <a:latin typeface="Microsoft Yahei"/>
                <a:ea typeface="Microsoft Yahei"/>
                <a:sym typeface="Microsoft Yahei"/>
              </a:rPr>
              <a:t>1≤i≤n</a:t>
            </a:r>
            <a:r>
              <a:rPr lang="zh-CN" altLang="en-US" sz="2600" dirty="0">
                <a:solidFill>
                  <a:srgbClr val="000000"/>
                </a:solidFill>
                <a:latin typeface="Microsoft Yahei"/>
                <a:ea typeface="Microsoft Yahei"/>
                <a:sym typeface="Microsoft Yahei"/>
              </a:rPr>
              <a:t>）</a:t>
            </a:r>
            <a:r>
              <a:rPr lang="en-US" altLang="zh-CN" sz="2600" dirty="0">
                <a:solidFill>
                  <a:srgbClr val="000000"/>
                </a:solidFill>
                <a:latin typeface="Microsoft Yahei"/>
                <a:ea typeface="Microsoft Yahei"/>
                <a:sym typeface="Microsoft Yahei"/>
              </a:rPr>
              <a:t>element</a:t>
            </a:r>
            <a:endParaRPr lang="zh-CN" altLang="en-US" sz="2600" dirty="0">
              <a:solidFill>
                <a:srgbClr val="000000"/>
              </a:solidFill>
              <a:latin typeface="Microsoft Yahei"/>
              <a:ea typeface="Microsoft Yahei"/>
              <a:sym typeface="Microsoft Yahei"/>
            </a:endParaRPr>
          </a:p>
        </p:txBody>
      </p:sp>
      <p:sp>
        <p:nvSpPr>
          <p:cNvPr id="8" name="椭圆 7"/>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A</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9" name="椭圆 8"/>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B</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0" name="椭圆 9"/>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C</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1" name="椭圆 10"/>
          <p:cNvSpPr>
            <a:spLocks noChangeAspect="1"/>
          </p:cNvSpPr>
          <p:nvPr>
            <p:custDataLst>
              <p:tags r:id="rId10"/>
            </p:custDataLst>
          </p:nvPr>
        </p:nvSpPr>
        <p:spPr bwMode="auto">
          <a:xfrm>
            <a:off x="1114425" y="5422106"/>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D</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2" name="圆角矩形 11"/>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342900" marR="0" indent="-342900" algn="l" defTabSz="914400" rtl="0" eaLnBrk="0" fontAlgn="base" latinLnBrk="0" hangingPunct="0">
              <a:lnSpc>
                <a:spcPct val="100000"/>
              </a:lnSpc>
              <a:spcBef>
                <a:spcPct val="20000"/>
              </a:spcBef>
              <a:spcAft>
                <a:spcPct val="0"/>
              </a:spcAft>
              <a:buClrTx/>
              <a:buSzTx/>
              <a:buFontTx/>
              <a:buNone/>
            </a:pPr>
            <a:r>
              <a:rPr kumimoji="1" lang="zh-CN" altLang="en-US" sz="1600" b="0" i="0" u="none" strike="noStrike" cap="none" normalizeH="0" baseline="0">
                <a:ln>
                  <a:noFill/>
                </a:ln>
                <a:solidFill>
                  <a:srgbClr val="FFFFFF"/>
                </a:solidFill>
                <a:effectLst/>
                <a:latin typeface="Microsoft Yahei"/>
                <a:ea typeface="Microsoft Yahei"/>
                <a:sym typeface="Microsoft Yahei"/>
              </a:rPr>
              <a:t>提交</a:t>
            </a: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4"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91657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424751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424751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bg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p:cNvSpPr>
            <a:spLocks noChangeArrowheads="1"/>
          </p:cNvSpPr>
          <p:nvPr/>
        </p:nvSpPr>
        <p:spPr bwMode="auto">
          <a:xfrm>
            <a:off x="836613" y="166688"/>
            <a:ext cx="78501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线性表的链式表示和实现</a:t>
            </a:r>
          </a:p>
        </p:txBody>
      </p:sp>
      <p:sp>
        <p:nvSpPr>
          <p:cNvPr id="377876" name="Rectangle 20"/>
          <p:cNvSpPr>
            <a:spLocks noChangeArrowheads="1"/>
          </p:cNvSpPr>
          <p:nvPr/>
        </p:nvSpPr>
        <p:spPr bwMode="auto">
          <a:xfrm>
            <a:off x="484188" y="1484313"/>
            <a:ext cx="4176713" cy="22780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accent2"/>
                </a:solidFill>
                <a:effectLst/>
                <a:uLnTx/>
                <a:uFillTx/>
                <a:latin typeface="+mn-lt"/>
                <a:ea typeface="+mn-ea"/>
                <a:cs typeface="+mn-ea"/>
                <a:sym typeface="+mn-lt"/>
              </a:rPr>
              <a:t>链式存储结构</a:t>
            </a: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结点在存储器中的位置是</a:t>
            </a: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任意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的，即</a:t>
            </a: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逻辑上相邻的数据元素在物理上不一定相邻</a:t>
            </a:r>
          </a:p>
        </p:txBody>
      </p:sp>
      <p:sp>
        <p:nvSpPr>
          <p:cNvPr id="75782" name="Rectangle 24"/>
          <p:cNvSpPr>
            <a:spLocks noChangeArrowheads="1"/>
          </p:cNvSpPr>
          <p:nvPr/>
        </p:nvSpPr>
        <p:spPr bwMode="auto">
          <a:xfrm>
            <a:off x="500063" y="4464050"/>
            <a:ext cx="843597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线性表的链式表示又称为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非顺序映像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链式映像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2" name="组合 1"/>
          <p:cNvGrpSpPr/>
          <p:nvPr/>
        </p:nvGrpSpPr>
        <p:grpSpPr>
          <a:xfrm>
            <a:off x="5372714" y="1855793"/>
            <a:ext cx="2859642" cy="1759359"/>
            <a:chOff x="4355193" y="1865313"/>
            <a:chExt cx="7044229" cy="4333876"/>
          </a:xfrm>
          <a:solidFill>
            <a:schemeClr val="bg2">
              <a:lumMod val="20000"/>
              <a:lumOff val="80000"/>
            </a:schemeClr>
          </a:solidFill>
        </p:grpSpPr>
        <p:sp>
          <p:nvSpPr>
            <p:cNvPr id="7" name="Freeform 5"/>
            <p:cNvSpPr/>
            <p:nvPr/>
          </p:nvSpPr>
          <p:spPr bwMode="auto">
            <a:xfrm>
              <a:off x="4355193" y="1865313"/>
              <a:ext cx="2087061" cy="4318000"/>
            </a:xfrm>
            <a:custGeom>
              <a:avLst/>
              <a:gdLst>
                <a:gd name="T0" fmla="*/ 113 w 131"/>
                <a:gd name="T1" fmla="*/ 246 h 270"/>
                <a:gd name="T2" fmla="*/ 105 w 131"/>
                <a:gd name="T3" fmla="*/ 246 h 270"/>
                <a:gd name="T4" fmla="*/ 105 w 131"/>
                <a:gd name="T5" fmla="*/ 246 h 270"/>
                <a:gd name="T6" fmla="*/ 105 w 131"/>
                <a:gd name="T7" fmla="*/ 17 h 270"/>
                <a:gd name="T8" fmla="*/ 87 w 131"/>
                <a:gd name="T9" fmla="*/ 0 h 270"/>
                <a:gd name="T10" fmla="*/ 43 w 131"/>
                <a:gd name="T11" fmla="*/ 0 h 270"/>
                <a:gd name="T12" fmla="*/ 26 w 131"/>
                <a:gd name="T13" fmla="*/ 17 h 270"/>
                <a:gd name="T14" fmla="*/ 26 w 131"/>
                <a:gd name="T15" fmla="*/ 246 h 270"/>
                <a:gd name="T16" fmla="*/ 26 w 131"/>
                <a:gd name="T17" fmla="*/ 246 h 270"/>
                <a:gd name="T18" fmla="*/ 17 w 131"/>
                <a:gd name="T19" fmla="*/ 246 h 270"/>
                <a:gd name="T20" fmla="*/ 0 w 131"/>
                <a:gd name="T21" fmla="*/ 264 h 270"/>
                <a:gd name="T22" fmla="*/ 0 w 131"/>
                <a:gd name="T23" fmla="*/ 270 h 270"/>
                <a:gd name="T24" fmla="*/ 131 w 131"/>
                <a:gd name="T25" fmla="*/ 270 h 270"/>
                <a:gd name="T26" fmla="*/ 131 w 131"/>
                <a:gd name="T27" fmla="*/ 264 h 270"/>
                <a:gd name="T28" fmla="*/ 113 w 131"/>
                <a:gd name="T29" fmla="*/ 24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1" h="270">
                  <a:moveTo>
                    <a:pt x="113" y="246"/>
                  </a:moveTo>
                  <a:cubicBezTo>
                    <a:pt x="105" y="246"/>
                    <a:pt x="105" y="246"/>
                    <a:pt x="105" y="246"/>
                  </a:cubicBezTo>
                  <a:cubicBezTo>
                    <a:pt x="105" y="246"/>
                    <a:pt x="105" y="246"/>
                    <a:pt x="105" y="246"/>
                  </a:cubicBezTo>
                  <a:cubicBezTo>
                    <a:pt x="105" y="17"/>
                    <a:pt x="105" y="17"/>
                    <a:pt x="105" y="17"/>
                  </a:cubicBezTo>
                  <a:cubicBezTo>
                    <a:pt x="105" y="8"/>
                    <a:pt x="97" y="0"/>
                    <a:pt x="87" y="0"/>
                  </a:cubicBezTo>
                  <a:cubicBezTo>
                    <a:pt x="43" y="0"/>
                    <a:pt x="43" y="0"/>
                    <a:pt x="43" y="0"/>
                  </a:cubicBezTo>
                  <a:cubicBezTo>
                    <a:pt x="34" y="0"/>
                    <a:pt x="26" y="8"/>
                    <a:pt x="26" y="17"/>
                  </a:cubicBezTo>
                  <a:cubicBezTo>
                    <a:pt x="26" y="246"/>
                    <a:pt x="26" y="246"/>
                    <a:pt x="26" y="246"/>
                  </a:cubicBezTo>
                  <a:cubicBezTo>
                    <a:pt x="26" y="246"/>
                    <a:pt x="26" y="246"/>
                    <a:pt x="26" y="246"/>
                  </a:cubicBezTo>
                  <a:cubicBezTo>
                    <a:pt x="17" y="246"/>
                    <a:pt x="17" y="246"/>
                    <a:pt x="17" y="246"/>
                  </a:cubicBezTo>
                  <a:cubicBezTo>
                    <a:pt x="8" y="246"/>
                    <a:pt x="0" y="254"/>
                    <a:pt x="0" y="264"/>
                  </a:cubicBezTo>
                  <a:cubicBezTo>
                    <a:pt x="0" y="270"/>
                    <a:pt x="0" y="270"/>
                    <a:pt x="0" y="270"/>
                  </a:cubicBezTo>
                  <a:cubicBezTo>
                    <a:pt x="131" y="270"/>
                    <a:pt x="131" y="270"/>
                    <a:pt x="131" y="270"/>
                  </a:cubicBezTo>
                  <a:cubicBezTo>
                    <a:pt x="131" y="264"/>
                    <a:pt x="131" y="264"/>
                    <a:pt x="131" y="264"/>
                  </a:cubicBezTo>
                  <a:cubicBezTo>
                    <a:pt x="131" y="254"/>
                    <a:pt x="123" y="246"/>
                    <a:pt x="113" y="246"/>
                  </a:cubicBezTo>
                  <a:close/>
                </a:path>
              </a:pathLst>
            </a:cu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8" name="Freeform 7"/>
            <p:cNvSpPr/>
            <p:nvPr/>
          </p:nvSpPr>
          <p:spPr bwMode="auto">
            <a:xfrm>
              <a:off x="5533731" y="2136776"/>
              <a:ext cx="15883" cy="15875"/>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1" y="1"/>
                    <a:pt x="1" y="1"/>
                    <a:pt x="1" y="1"/>
                  </a:cubicBezTo>
                  <a:cubicBezTo>
                    <a:pt x="1"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9" name="Freeform 9"/>
            <p:cNvSpPr/>
            <p:nvPr/>
          </p:nvSpPr>
          <p:spPr bwMode="auto">
            <a:xfrm>
              <a:off x="6840925" y="2713039"/>
              <a:ext cx="2087061" cy="3470275"/>
            </a:xfrm>
            <a:custGeom>
              <a:avLst/>
              <a:gdLst>
                <a:gd name="T0" fmla="*/ 113 w 131"/>
                <a:gd name="T1" fmla="*/ 193 h 217"/>
                <a:gd name="T2" fmla="*/ 105 w 131"/>
                <a:gd name="T3" fmla="*/ 193 h 217"/>
                <a:gd name="T4" fmla="*/ 105 w 131"/>
                <a:gd name="T5" fmla="*/ 17 h 217"/>
                <a:gd name="T6" fmla="*/ 88 w 131"/>
                <a:gd name="T7" fmla="*/ 0 h 217"/>
                <a:gd name="T8" fmla="*/ 44 w 131"/>
                <a:gd name="T9" fmla="*/ 0 h 217"/>
                <a:gd name="T10" fmla="*/ 26 w 131"/>
                <a:gd name="T11" fmla="*/ 17 h 217"/>
                <a:gd name="T12" fmla="*/ 26 w 131"/>
                <a:gd name="T13" fmla="*/ 193 h 217"/>
                <a:gd name="T14" fmla="*/ 17 w 131"/>
                <a:gd name="T15" fmla="*/ 193 h 217"/>
                <a:gd name="T16" fmla="*/ 0 w 131"/>
                <a:gd name="T17" fmla="*/ 211 h 217"/>
                <a:gd name="T18" fmla="*/ 0 w 131"/>
                <a:gd name="T19" fmla="*/ 217 h 217"/>
                <a:gd name="T20" fmla="*/ 131 w 131"/>
                <a:gd name="T21" fmla="*/ 217 h 217"/>
                <a:gd name="T22" fmla="*/ 131 w 131"/>
                <a:gd name="T23" fmla="*/ 211 h 217"/>
                <a:gd name="T24" fmla="*/ 113 w 131"/>
                <a:gd name="T25" fmla="*/ 193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217">
                  <a:moveTo>
                    <a:pt x="113" y="193"/>
                  </a:moveTo>
                  <a:cubicBezTo>
                    <a:pt x="105" y="193"/>
                    <a:pt x="105" y="193"/>
                    <a:pt x="105" y="193"/>
                  </a:cubicBezTo>
                  <a:cubicBezTo>
                    <a:pt x="105" y="17"/>
                    <a:pt x="105" y="17"/>
                    <a:pt x="105" y="17"/>
                  </a:cubicBezTo>
                  <a:cubicBezTo>
                    <a:pt x="105" y="8"/>
                    <a:pt x="98" y="0"/>
                    <a:pt x="88" y="0"/>
                  </a:cubicBezTo>
                  <a:cubicBezTo>
                    <a:pt x="44" y="0"/>
                    <a:pt x="44" y="0"/>
                    <a:pt x="44" y="0"/>
                  </a:cubicBezTo>
                  <a:cubicBezTo>
                    <a:pt x="34" y="0"/>
                    <a:pt x="26" y="8"/>
                    <a:pt x="26" y="17"/>
                  </a:cubicBezTo>
                  <a:cubicBezTo>
                    <a:pt x="26" y="193"/>
                    <a:pt x="26" y="193"/>
                    <a:pt x="26" y="193"/>
                  </a:cubicBezTo>
                  <a:cubicBezTo>
                    <a:pt x="17" y="193"/>
                    <a:pt x="17" y="193"/>
                    <a:pt x="17" y="193"/>
                  </a:cubicBezTo>
                  <a:cubicBezTo>
                    <a:pt x="8" y="193"/>
                    <a:pt x="0" y="201"/>
                    <a:pt x="0" y="211"/>
                  </a:cubicBezTo>
                  <a:cubicBezTo>
                    <a:pt x="0" y="217"/>
                    <a:pt x="0" y="217"/>
                    <a:pt x="0" y="217"/>
                  </a:cubicBezTo>
                  <a:cubicBezTo>
                    <a:pt x="131" y="217"/>
                    <a:pt x="131" y="217"/>
                    <a:pt x="131" y="217"/>
                  </a:cubicBezTo>
                  <a:cubicBezTo>
                    <a:pt x="131" y="211"/>
                    <a:pt x="131" y="211"/>
                    <a:pt x="131" y="211"/>
                  </a:cubicBezTo>
                  <a:cubicBezTo>
                    <a:pt x="131" y="201"/>
                    <a:pt x="123" y="193"/>
                    <a:pt x="113" y="193"/>
                  </a:cubicBezTo>
                  <a:close/>
                </a:path>
              </a:pathLst>
            </a:cu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 name="Oval 10"/>
            <p:cNvSpPr>
              <a:spLocks noChangeArrowheads="1"/>
            </p:cNvSpPr>
            <p:nvPr/>
          </p:nvSpPr>
          <p:spPr bwMode="auto">
            <a:xfrm>
              <a:off x="7797097" y="2824163"/>
              <a:ext cx="190599" cy="1920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 name="Freeform 11"/>
            <p:cNvSpPr/>
            <p:nvPr/>
          </p:nvSpPr>
          <p:spPr bwMode="auto">
            <a:xfrm>
              <a:off x="8035346" y="3032125"/>
              <a:ext cx="17472"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 name="Freeform 12"/>
            <p:cNvSpPr/>
            <p:nvPr/>
          </p:nvSpPr>
          <p:spPr bwMode="auto">
            <a:xfrm>
              <a:off x="7638265" y="3032125"/>
              <a:ext cx="493970" cy="927100"/>
            </a:xfrm>
            <a:custGeom>
              <a:avLst/>
              <a:gdLst>
                <a:gd name="T0" fmla="*/ 31 w 31"/>
                <a:gd name="T1" fmla="*/ 2 h 58"/>
                <a:gd name="T2" fmla="*/ 27 w 31"/>
                <a:gd name="T3" fmla="*/ 0 h 58"/>
                <a:gd name="T4" fmla="*/ 26 w 31"/>
                <a:gd name="T5" fmla="*/ 0 h 58"/>
                <a:gd name="T6" fmla="*/ 25 w 31"/>
                <a:gd name="T7" fmla="*/ 0 h 58"/>
                <a:gd name="T8" fmla="*/ 25 w 31"/>
                <a:gd name="T9" fmla="*/ 0 h 58"/>
                <a:gd name="T10" fmla="*/ 23 w 31"/>
                <a:gd name="T11" fmla="*/ 0 h 58"/>
                <a:gd name="T12" fmla="*/ 7 w 31"/>
                <a:gd name="T13" fmla="*/ 0 h 58"/>
                <a:gd name="T14" fmla="*/ 7 w 31"/>
                <a:gd name="T15" fmla="*/ 0 h 58"/>
                <a:gd name="T16" fmla="*/ 7 w 31"/>
                <a:gd name="T17" fmla="*/ 0 h 58"/>
                <a:gd name="T18" fmla="*/ 7 w 31"/>
                <a:gd name="T19" fmla="*/ 0 h 58"/>
                <a:gd name="T20" fmla="*/ 4 w 31"/>
                <a:gd name="T21" fmla="*/ 0 h 58"/>
                <a:gd name="T22" fmla="*/ 0 w 31"/>
                <a:gd name="T23" fmla="*/ 5 h 58"/>
                <a:gd name="T24" fmla="*/ 0 w 31"/>
                <a:gd name="T25" fmla="*/ 5 h 58"/>
                <a:gd name="T26" fmla="*/ 0 w 31"/>
                <a:gd name="T27" fmla="*/ 5 h 58"/>
                <a:gd name="T28" fmla="*/ 0 w 31"/>
                <a:gd name="T29" fmla="*/ 23 h 58"/>
                <a:gd name="T30" fmla="*/ 3 w 31"/>
                <a:gd name="T31" fmla="*/ 26 h 58"/>
                <a:gd name="T32" fmla="*/ 6 w 31"/>
                <a:gd name="T33" fmla="*/ 23 h 58"/>
                <a:gd name="T34" fmla="*/ 6 w 31"/>
                <a:gd name="T35" fmla="*/ 6 h 58"/>
                <a:gd name="T36" fmla="*/ 7 w 31"/>
                <a:gd name="T37" fmla="*/ 6 h 58"/>
                <a:gd name="T38" fmla="*/ 7 w 31"/>
                <a:gd name="T39" fmla="*/ 29 h 58"/>
                <a:gd name="T40" fmla="*/ 7 w 31"/>
                <a:gd name="T41" fmla="*/ 29 h 58"/>
                <a:gd name="T42" fmla="*/ 7 w 31"/>
                <a:gd name="T43" fmla="*/ 29 h 58"/>
                <a:gd name="T44" fmla="*/ 7 w 31"/>
                <a:gd name="T45" fmla="*/ 54 h 58"/>
                <a:gd name="T46" fmla="*/ 10 w 31"/>
                <a:gd name="T47" fmla="*/ 58 h 58"/>
                <a:gd name="T48" fmla="*/ 14 w 31"/>
                <a:gd name="T49" fmla="*/ 54 h 58"/>
                <a:gd name="T50" fmla="*/ 14 w 31"/>
                <a:gd name="T51" fmla="*/ 29 h 58"/>
                <a:gd name="T52" fmla="*/ 14 w 31"/>
                <a:gd name="T53" fmla="*/ 29 h 58"/>
                <a:gd name="T54" fmla="*/ 14 w 31"/>
                <a:gd name="T55" fmla="*/ 29 h 58"/>
                <a:gd name="T56" fmla="*/ 14 w 31"/>
                <a:gd name="T57" fmla="*/ 29 h 58"/>
                <a:gd name="T58" fmla="*/ 16 w 31"/>
                <a:gd name="T59" fmla="*/ 27 h 58"/>
                <a:gd name="T60" fmla="*/ 18 w 31"/>
                <a:gd name="T61" fmla="*/ 29 h 58"/>
                <a:gd name="T62" fmla="*/ 18 w 31"/>
                <a:gd name="T63" fmla="*/ 29 h 58"/>
                <a:gd name="T64" fmla="*/ 18 w 31"/>
                <a:gd name="T65" fmla="*/ 29 h 58"/>
                <a:gd name="T66" fmla="*/ 18 w 31"/>
                <a:gd name="T67" fmla="*/ 29 h 58"/>
                <a:gd name="T68" fmla="*/ 18 w 31"/>
                <a:gd name="T69" fmla="*/ 54 h 58"/>
                <a:gd name="T70" fmla="*/ 21 w 31"/>
                <a:gd name="T71" fmla="*/ 58 h 58"/>
                <a:gd name="T72" fmla="*/ 25 w 31"/>
                <a:gd name="T73" fmla="*/ 54 h 58"/>
                <a:gd name="T74" fmla="*/ 25 w 31"/>
                <a:gd name="T75" fmla="*/ 29 h 58"/>
                <a:gd name="T76" fmla="*/ 25 w 31"/>
                <a:gd name="T77" fmla="*/ 29 h 58"/>
                <a:gd name="T78" fmla="*/ 25 w 31"/>
                <a:gd name="T79" fmla="*/ 29 h 58"/>
                <a:gd name="T80" fmla="*/ 25 w 31"/>
                <a:gd name="T81" fmla="*/ 6 h 58"/>
                <a:gd name="T82" fmla="*/ 26 w 31"/>
                <a:gd name="T83" fmla="*/ 6 h 58"/>
                <a:gd name="T84" fmla="*/ 26 w 31"/>
                <a:gd name="T85" fmla="*/ 23 h 58"/>
                <a:gd name="T86" fmla="*/ 28 w 31"/>
                <a:gd name="T87" fmla="*/ 26 h 58"/>
                <a:gd name="T88" fmla="*/ 31 w 31"/>
                <a:gd name="T89" fmla="*/ 23 h 58"/>
                <a:gd name="T90" fmla="*/ 31 w 31"/>
                <a:gd name="T91" fmla="*/ 5 h 58"/>
                <a:gd name="T92" fmla="*/ 31 w 31"/>
                <a:gd name="T93"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 h="58">
                  <a:moveTo>
                    <a:pt x="31" y="2"/>
                  </a:moveTo>
                  <a:cubicBezTo>
                    <a:pt x="30" y="1"/>
                    <a:pt x="29" y="1"/>
                    <a:pt x="27" y="0"/>
                  </a:cubicBezTo>
                  <a:cubicBezTo>
                    <a:pt x="27" y="0"/>
                    <a:pt x="26" y="0"/>
                    <a:pt x="26" y="0"/>
                  </a:cubicBezTo>
                  <a:cubicBezTo>
                    <a:pt x="25" y="0"/>
                    <a:pt x="25" y="0"/>
                    <a:pt x="25" y="0"/>
                  </a:cubicBezTo>
                  <a:cubicBezTo>
                    <a:pt x="25" y="0"/>
                    <a:pt x="25" y="0"/>
                    <a:pt x="25" y="0"/>
                  </a:cubicBezTo>
                  <a:cubicBezTo>
                    <a:pt x="23" y="0"/>
                    <a:pt x="23" y="0"/>
                    <a:pt x="23" y="0"/>
                  </a:cubicBezTo>
                  <a:cubicBezTo>
                    <a:pt x="7" y="0"/>
                    <a:pt x="7" y="0"/>
                    <a:pt x="7" y="0"/>
                  </a:cubicBezTo>
                  <a:cubicBezTo>
                    <a:pt x="7" y="0"/>
                    <a:pt x="7" y="0"/>
                    <a:pt x="7" y="0"/>
                  </a:cubicBezTo>
                  <a:cubicBezTo>
                    <a:pt x="7" y="0"/>
                    <a:pt x="7" y="0"/>
                    <a:pt x="7" y="0"/>
                  </a:cubicBezTo>
                  <a:cubicBezTo>
                    <a:pt x="7" y="0"/>
                    <a:pt x="7" y="0"/>
                    <a:pt x="7" y="0"/>
                  </a:cubicBezTo>
                  <a:cubicBezTo>
                    <a:pt x="6" y="0"/>
                    <a:pt x="5" y="0"/>
                    <a:pt x="4" y="0"/>
                  </a:cubicBezTo>
                  <a:cubicBezTo>
                    <a:pt x="3" y="1"/>
                    <a:pt x="0" y="2"/>
                    <a:pt x="0" y="5"/>
                  </a:cubicBezTo>
                  <a:cubicBezTo>
                    <a:pt x="0" y="5"/>
                    <a:pt x="0" y="5"/>
                    <a:pt x="0" y="5"/>
                  </a:cubicBezTo>
                  <a:cubicBezTo>
                    <a:pt x="0" y="5"/>
                    <a:pt x="0" y="5"/>
                    <a:pt x="0" y="5"/>
                  </a:cubicBezTo>
                  <a:cubicBezTo>
                    <a:pt x="0" y="23"/>
                    <a:pt x="0" y="23"/>
                    <a:pt x="0" y="23"/>
                  </a:cubicBezTo>
                  <a:cubicBezTo>
                    <a:pt x="0" y="25"/>
                    <a:pt x="2" y="26"/>
                    <a:pt x="3" y="26"/>
                  </a:cubicBezTo>
                  <a:cubicBezTo>
                    <a:pt x="5" y="26"/>
                    <a:pt x="6" y="25"/>
                    <a:pt x="6" y="23"/>
                  </a:cubicBezTo>
                  <a:cubicBezTo>
                    <a:pt x="6" y="6"/>
                    <a:pt x="6" y="6"/>
                    <a:pt x="6" y="6"/>
                  </a:cubicBezTo>
                  <a:cubicBezTo>
                    <a:pt x="7" y="6"/>
                    <a:pt x="7" y="6"/>
                    <a:pt x="7" y="6"/>
                  </a:cubicBezTo>
                  <a:cubicBezTo>
                    <a:pt x="7" y="29"/>
                    <a:pt x="7" y="29"/>
                    <a:pt x="7" y="29"/>
                  </a:cubicBezTo>
                  <a:cubicBezTo>
                    <a:pt x="7" y="29"/>
                    <a:pt x="7" y="29"/>
                    <a:pt x="7" y="29"/>
                  </a:cubicBezTo>
                  <a:cubicBezTo>
                    <a:pt x="7" y="29"/>
                    <a:pt x="7" y="29"/>
                    <a:pt x="7" y="29"/>
                  </a:cubicBezTo>
                  <a:cubicBezTo>
                    <a:pt x="7" y="54"/>
                    <a:pt x="7" y="54"/>
                    <a:pt x="7" y="54"/>
                  </a:cubicBezTo>
                  <a:cubicBezTo>
                    <a:pt x="7" y="56"/>
                    <a:pt x="8" y="58"/>
                    <a:pt x="10" y="58"/>
                  </a:cubicBezTo>
                  <a:cubicBezTo>
                    <a:pt x="12" y="58"/>
                    <a:pt x="14" y="56"/>
                    <a:pt x="14" y="54"/>
                  </a:cubicBezTo>
                  <a:cubicBezTo>
                    <a:pt x="14" y="29"/>
                    <a:pt x="14" y="29"/>
                    <a:pt x="14" y="29"/>
                  </a:cubicBezTo>
                  <a:cubicBezTo>
                    <a:pt x="14" y="29"/>
                    <a:pt x="14" y="29"/>
                    <a:pt x="14" y="29"/>
                  </a:cubicBezTo>
                  <a:cubicBezTo>
                    <a:pt x="14" y="29"/>
                    <a:pt x="14" y="29"/>
                    <a:pt x="14" y="29"/>
                  </a:cubicBezTo>
                  <a:cubicBezTo>
                    <a:pt x="14" y="29"/>
                    <a:pt x="14" y="29"/>
                    <a:pt x="14" y="29"/>
                  </a:cubicBezTo>
                  <a:cubicBezTo>
                    <a:pt x="14" y="28"/>
                    <a:pt x="15" y="27"/>
                    <a:pt x="16" y="27"/>
                  </a:cubicBezTo>
                  <a:cubicBezTo>
                    <a:pt x="17" y="27"/>
                    <a:pt x="18" y="28"/>
                    <a:pt x="18" y="29"/>
                  </a:cubicBezTo>
                  <a:cubicBezTo>
                    <a:pt x="18" y="29"/>
                    <a:pt x="18" y="29"/>
                    <a:pt x="18" y="29"/>
                  </a:cubicBezTo>
                  <a:cubicBezTo>
                    <a:pt x="18" y="29"/>
                    <a:pt x="18" y="29"/>
                    <a:pt x="18" y="29"/>
                  </a:cubicBezTo>
                  <a:cubicBezTo>
                    <a:pt x="18" y="29"/>
                    <a:pt x="18" y="29"/>
                    <a:pt x="18" y="29"/>
                  </a:cubicBezTo>
                  <a:cubicBezTo>
                    <a:pt x="18" y="54"/>
                    <a:pt x="18" y="54"/>
                    <a:pt x="18" y="54"/>
                  </a:cubicBezTo>
                  <a:cubicBezTo>
                    <a:pt x="18" y="56"/>
                    <a:pt x="19" y="58"/>
                    <a:pt x="21" y="58"/>
                  </a:cubicBezTo>
                  <a:cubicBezTo>
                    <a:pt x="23" y="58"/>
                    <a:pt x="25" y="56"/>
                    <a:pt x="25" y="54"/>
                  </a:cubicBezTo>
                  <a:cubicBezTo>
                    <a:pt x="25" y="29"/>
                    <a:pt x="25" y="29"/>
                    <a:pt x="25" y="29"/>
                  </a:cubicBezTo>
                  <a:cubicBezTo>
                    <a:pt x="25" y="29"/>
                    <a:pt x="25" y="29"/>
                    <a:pt x="25" y="29"/>
                  </a:cubicBezTo>
                  <a:cubicBezTo>
                    <a:pt x="25" y="29"/>
                    <a:pt x="25" y="29"/>
                    <a:pt x="25" y="29"/>
                  </a:cubicBezTo>
                  <a:cubicBezTo>
                    <a:pt x="25" y="6"/>
                    <a:pt x="25" y="6"/>
                    <a:pt x="25" y="6"/>
                  </a:cubicBezTo>
                  <a:cubicBezTo>
                    <a:pt x="26" y="6"/>
                    <a:pt x="26" y="6"/>
                    <a:pt x="26" y="6"/>
                  </a:cubicBezTo>
                  <a:cubicBezTo>
                    <a:pt x="26" y="23"/>
                    <a:pt x="26" y="23"/>
                    <a:pt x="26" y="23"/>
                  </a:cubicBezTo>
                  <a:cubicBezTo>
                    <a:pt x="26" y="25"/>
                    <a:pt x="27" y="26"/>
                    <a:pt x="28" y="26"/>
                  </a:cubicBezTo>
                  <a:cubicBezTo>
                    <a:pt x="30" y="26"/>
                    <a:pt x="31" y="25"/>
                    <a:pt x="31" y="23"/>
                  </a:cubicBezTo>
                  <a:cubicBezTo>
                    <a:pt x="31" y="5"/>
                    <a:pt x="31" y="5"/>
                    <a:pt x="31" y="5"/>
                  </a:cubicBezTo>
                  <a:cubicBezTo>
                    <a:pt x="31" y="4"/>
                    <a:pt x="31" y="3"/>
                    <a:pt x="31" y="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 name="Freeform 13"/>
            <p:cNvSpPr/>
            <p:nvPr/>
          </p:nvSpPr>
          <p:spPr bwMode="auto">
            <a:xfrm>
              <a:off x="9326655" y="3095626"/>
              <a:ext cx="2072767" cy="3103563"/>
            </a:xfrm>
            <a:custGeom>
              <a:avLst/>
              <a:gdLst>
                <a:gd name="T0" fmla="*/ 113 w 130"/>
                <a:gd name="T1" fmla="*/ 170 h 194"/>
                <a:gd name="T2" fmla="*/ 105 w 130"/>
                <a:gd name="T3" fmla="*/ 170 h 194"/>
                <a:gd name="T4" fmla="*/ 105 w 130"/>
                <a:gd name="T5" fmla="*/ 163 h 194"/>
                <a:gd name="T6" fmla="*/ 105 w 130"/>
                <a:gd name="T7" fmla="*/ 154 h 194"/>
                <a:gd name="T8" fmla="*/ 105 w 130"/>
                <a:gd name="T9" fmla="*/ 141 h 194"/>
                <a:gd name="T10" fmla="*/ 105 w 130"/>
                <a:gd name="T11" fmla="*/ 134 h 194"/>
                <a:gd name="T12" fmla="*/ 105 w 130"/>
                <a:gd name="T13" fmla="*/ 17 h 194"/>
                <a:gd name="T14" fmla="*/ 87 w 130"/>
                <a:gd name="T15" fmla="*/ 0 h 194"/>
                <a:gd name="T16" fmla="*/ 43 w 130"/>
                <a:gd name="T17" fmla="*/ 0 h 194"/>
                <a:gd name="T18" fmla="*/ 25 w 130"/>
                <a:gd name="T19" fmla="*/ 17 h 194"/>
                <a:gd name="T20" fmla="*/ 25 w 130"/>
                <a:gd name="T21" fmla="*/ 134 h 194"/>
                <a:gd name="T22" fmla="*/ 25 w 130"/>
                <a:gd name="T23" fmla="*/ 142 h 194"/>
                <a:gd name="T24" fmla="*/ 25 w 130"/>
                <a:gd name="T25" fmla="*/ 154 h 194"/>
                <a:gd name="T26" fmla="*/ 25 w 130"/>
                <a:gd name="T27" fmla="*/ 163 h 194"/>
                <a:gd name="T28" fmla="*/ 25 w 130"/>
                <a:gd name="T29" fmla="*/ 170 h 194"/>
                <a:gd name="T30" fmla="*/ 17 w 130"/>
                <a:gd name="T31" fmla="*/ 170 h 194"/>
                <a:gd name="T32" fmla="*/ 0 w 130"/>
                <a:gd name="T33" fmla="*/ 187 h 194"/>
                <a:gd name="T34" fmla="*/ 0 w 130"/>
                <a:gd name="T35" fmla="*/ 194 h 194"/>
                <a:gd name="T36" fmla="*/ 130 w 130"/>
                <a:gd name="T37" fmla="*/ 194 h 194"/>
                <a:gd name="T38" fmla="*/ 130 w 130"/>
                <a:gd name="T39" fmla="*/ 187 h 194"/>
                <a:gd name="T40" fmla="*/ 113 w 130"/>
                <a:gd name="T41" fmla="*/ 17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0" h="194">
                  <a:moveTo>
                    <a:pt x="113" y="170"/>
                  </a:moveTo>
                  <a:cubicBezTo>
                    <a:pt x="105" y="170"/>
                    <a:pt x="105" y="170"/>
                    <a:pt x="105" y="170"/>
                  </a:cubicBezTo>
                  <a:cubicBezTo>
                    <a:pt x="105" y="163"/>
                    <a:pt x="105" y="163"/>
                    <a:pt x="105" y="163"/>
                  </a:cubicBezTo>
                  <a:cubicBezTo>
                    <a:pt x="105" y="154"/>
                    <a:pt x="105" y="154"/>
                    <a:pt x="105" y="154"/>
                  </a:cubicBezTo>
                  <a:cubicBezTo>
                    <a:pt x="105" y="141"/>
                    <a:pt x="105" y="141"/>
                    <a:pt x="105" y="141"/>
                  </a:cubicBezTo>
                  <a:cubicBezTo>
                    <a:pt x="105" y="134"/>
                    <a:pt x="105" y="134"/>
                    <a:pt x="105" y="134"/>
                  </a:cubicBezTo>
                  <a:cubicBezTo>
                    <a:pt x="105" y="17"/>
                    <a:pt x="105" y="17"/>
                    <a:pt x="105" y="17"/>
                  </a:cubicBezTo>
                  <a:cubicBezTo>
                    <a:pt x="105" y="7"/>
                    <a:pt x="97" y="0"/>
                    <a:pt x="87" y="0"/>
                  </a:cubicBezTo>
                  <a:cubicBezTo>
                    <a:pt x="43" y="0"/>
                    <a:pt x="43" y="0"/>
                    <a:pt x="43" y="0"/>
                  </a:cubicBezTo>
                  <a:cubicBezTo>
                    <a:pt x="33" y="0"/>
                    <a:pt x="25" y="7"/>
                    <a:pt x="25" y="17"/>
                  </a:cubicBezTo>
                  <a:cubicBezTo>
                    <a:pt x="25" y="134"/>
                    <a:pt x="25" y="134"/>
                    <a:pt x="25" y="134"/>
                  </a:cubicBezTo>
                  <a:cubicBezTo>
                    <a:pt x="25" y="142"/>
                    <a:pt x="25" y="142"/>
                    <a:pt x="25" y="142"/>
                  </a:cubicBezTo>
                  <a:cubicBezTo>
                    <a:pt x="25" y="154"/>
                    <a:pt x="25" y="154"/>
                    <a:pt x="25" y="154"/>
                  </a:cubicBezTo>
                  <a:cubicBezTo>
                    <a:pt x="25" y="163"/>
                    <a:pt x="25" y="163"/>
                    <a:pt x="25" y="163"/>
                  </a:cubicBezTo>
                  <a:cubicBezTo>
                    <a:pt x="25" y="170"/>
                    <a:pt x="25" y="170"/>
                    <a:pt x="25" y="170"/>
                  </a:cubicBezTo>
                  <a:cubicBezTo>
                    <a:pt x="17" y="170"/>
                    <a:pt x="17" y="170"/>
                    <a:pt x="17" y="170"/>
                  </a:cubicBezTo>
                  <a:cubicBezTo>
                    <a:pt x="7" y="170"/>
                    <a:pt x="0" y="177"/>
                    <a:pt x="0" y="187"/>
                  </a:cubicBezTo>
                  <a:cubicBezTo>
                    <a:pt x="0" y="194"/>
                    <a:pt x="0" y="194"/>
                    <a:pt x="0" y="194"/>
                  </a:cubicBezTo>
                  <a:cubicBezTo>
                    <a:pt x="130" y="194"/>
                    <a:pt x="130" y="194"/>
                    <a:pt x="130" y="194"/>
                  </a:cubicBezTo>
                  <a:cubicBezTo>
                    <a:pt x="130" y="187"/>
                    <a:pt x="130" y="187"/>
                    <a:pt x="130" y="187"/>
                  </a:cubicBezTo>
                  <a:cubicBezTo>
                    <a:pt x="130" y="177"/>
                    <a:pt x="123" y="170"/>
                    <a:pt x="113" y="170"/>
                  </a:cubicBezTo>
                  <a:close/>
                </a:path>
              </a:pathLst>
            </a:custGeom>
            <a:solidFill>
              <a:schemeClr val="bg2">
                <a:lumMod val="20000"/>
                <a:lumOff val="80000"/>
              </a:schemeClr>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 name="Oval 14"/>
            <p:cNvSpPr>
              <a:spLocks noChangeArrowheads="1"/>
            </p:cNvSpPr>
            <p:nvPr/>
          </p:nvSpPr>
          <p:spPr bwMode="auto">
            <a:xfrm>
              <a:off x="10298711" y="3176588"/>
              <a:ext cx="192188" cy="1920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 name="Freeform 15"/>
            <p:cNvSpPr/>
            <p:nvPr/>
          </p:nvSpPr>
          <p:spPr bwMode="auto">
            <a:xfrm>
              <a:off x="10538550" y="3384550"/>
              <a:ext cx="15883"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 name="Freeform 16"/>
            <p:cNvSpPr/>
            <p:nvPr/>
          </p:nvSpPr>
          <p:spPr bwMode="auto">
            <a:xfrm>
              <a:off x="10155762" y="3384550"/>
              <a:ext cx="478087" cy="927100"/>
            </a:xfrm>
            <a:custGeom>
              <a:avLst/>
              <a:gdLst>
                <a:gd name="T0" fmla="*/ 30 w 30"/>
                <a:gd name="T1" fmla="*/ 2 h 58"/>
                <a:gd name="T2" fmla="*/ 26 w 30"/>
                <a:gd name="T3" fmla="*/ 0 h 58"/>
                <a:gd name="T4" fmla="*/ 25 w 30"/>
                <a:gd name="T5" fmla="*/ 0 h 58"/>
                <a:gd name="T6" fmla="*/ 24 w 30"/>
                <a:gd name="T7" fmla="*/ 0 h 58"/>
                <a:gd name="T8" fmla="*/ 24 w 30"/>
                <a:gd name="T9" fmla="*/ 0 h 58"/>
                <a:gd name="T10" fmla="*/ 22 w 30"/>
                <a:gd name="T11" fmla="*/ 0 h 58"/>
                <a:gd name="T12" fmla="*/ 6 w 30"/>
                <a:gd name="T13" fmla="*/ 0 h 58"/>
                <a:gd name="T14" fmla="*/ 6 w 30"/>
                <a:gd name="T15" fmla="*/ 0 h 58"/>
                <a:gd name="T16" fmla="*/ 6 w 30"/>
                <a:gd name="T17" fmla="*/ 0 h 58"/>
                <a:gd name="T18" fmla="*/ 6 w 30"/>
                <a:gd name="T19" fmla="*/ 0 h 58"/>
                <a:gd name="T20" fmla="*/ 3 w 30"/>
                <a:gd name="T21" fmla="*/ 0 h 58"/>
                <a:gd name="T22" fmla="*/ 0 w 30"/>
                <a:gd name="T23" fmla="*/ 5 h 58"/>
                <a:gd name="T24" fmla="*/ 0 w 30"/>
                <a:gd name="T25" fmla="*/ 5 h 58"/>
                <a:gd name="T26" fmla="*/ 0 w 30"/>
                <a:gd name="T27" fmla="*/ 5 h 58"/>
                <a:gd name="T28" fmla="*/ 0 w 30"/>
                <a:gd name="T29" fmla="*/ 24 h 58"/>
                <a:gd name="T30" fmla="*/ 2 w 30"/>
                <a:gd name="T31" fmla="*/ 26 h 58"/>
                <a:gd name="T32" fmla="*/ 5 w 30"/>
                <a:gd name="T33" fmla="*/ 24 h 58"/>
                <a:gd name="T34" fmla="*/ 5 w 30"/>
                <a:gd name="T35" fmla="*/ 6 h 58"/>
                <a:gd name="T36" fmla="*/ 6 w 30"/>
                <a:gd name="T37" fmla="*/ 6 h 58"/>
                <a:gd name="T38" fmla="*/ 6 w 30"/>
                <a:gd name="T39" fmla="*/ 29 h 58"/>
                <a:gd name="T40" fmla="*/ 6 w 30"/>
                <a:gd name="T41" fmla="*/ 29 h 58"/>
                <a:gd name="T42" fmla="*/ 6 w 30"/>
                <a:gd name="T43" fmla="*/ 29 h 58"/>
                <a:gd name="T44" fmla="*/ 6 w 30"/>
                <a:gd name="T45" fmla="*/ 54 h 58"/>
                <a:gd name="T46" fmla="*/ 9 w 30"/>
                <a:gd name="T47" fmla="*/ 58 h 58"/>
                <a:gd name="T48" fmla="*/ 13 w 30"/>
                <a:gd name="T49" fmla="*/ 54 h 58"/>
                <a:gd name="T50" fmla="*/ 13 w 30"/>
                <a:gd name="T51" fmla="*/ 29 h 58"/>
                <a:gd name="T52" fmla="*/ 13 w 30"/>
                <a:gd name="T53" fmla="*/ 29 h 58"/>
                <a:gd name="T54" fmla="*/ 13 w 30"/>
                <a:gd name="T55" fmla="*/ 29 h 58"/>
                <a:gd name="T56" fmla="*/ 13 w 30"/>
                <a:gd name="T57" fmla="*/ 29 h 58"/>
                <a:gd name="T58" fmla="*/ 15 w 30"/>
                <a:gd name="T59" fmla="*/ 27 h 58"/>
                <a:gd name="T60" fmla="*/ 17 w 30"/>
                <a:gd name="T61" fmla="*/ 29 h 58"/>
                <a:gd name="T62" fmla="*/ 17 w 30"/>
                <a:gd name="T63" fmla="*/ 29 h 58"/>
                <a:gd name="T64" fmla="*/ 17 w 30"/>
                <a:gd name="T65" fmla="*/ 29 h 58"/>
                <a:gd name="T66" fmla="*/ 17 w 30"/>
                <a:gd name="T67" fmla="*/ 29 h 58"/>
                <a:gd name="T68" fmla="*/ 17 w 30"/>
                <a:gd name="T69" fmla="*/ 54 h 58"/>
                <a:gd name="T70" fmla="*/ 20 w 30"/>
                <a:gd name="T71" fmla="*/ 58 h 58"/>
                <a:gd name="T72" fmla="*/ 24 w 30"/>
                <a:gd name="T73" fmla="*/ 54 h 58"/>
                <a:gd name="T74" fmla="*/ 24 w 30"/>
                <a:gd name="T75" fmla="*/ 29 h 58"/>
                <a:gd name="T76" fmla="*/ 24 w 30"/>
                <a:gd name="T77" fmla="*/ 29 h 58"/>
                <a:gd name="T78" fmla="*/ 24 w 30"/>
                <a:gd name="T79" fmla="*/ 29 h 58"/>
                <a:gd name="T80" fmla="*/ 24 w 30"/>
                <a:gd name="T81" fmla="*/ 6 h 58"/>
                <a:gd name="T82" fmla="*/ 25 w 30"/>
                <a:gd name="T83" fmla="*/ 6 h 58"/>
                <a:gd name="T84" fmla="*/ 25 w 30"/>
                <a:gd name="T85" fmla="*/ 24 h 58"/>
                <a:gd name="T86" fmla="*/ 27 w 30"/>
                <a:gd name="T87" fmla="*/ 26 h 58"/>
                <a:gd name="T88" fmla="*/ 30 w 30"/>
                <a:gd name="T89" fmla="*/ 24 h 58"/>
                <a:gd name="T90" fmla="*/ 30 w 30"/>
                <a:gd name="T91" fmla="*/ 5 h 58"/>
                <a:gd name="T92" fmla="*/ 30 w 30"/>
                <a:gd name="T93"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 h="58">
                  <a:moveTo>
                    <a:pt x="30" y="2"/>
                  </a:moveTo>
                  <a:cubicBezTo>
                    <a:pt x="29" y="1"/>
                    <a:pt x="28" y="1"/>
                    <a:pt x="26" y="0"/>
                  </a:cubicBezTo>
                  <a:cubicBezTo>
                    <a:pt x="26" y="0"/>
                    <a:pt x="25" y="0"/>
                    <a:pt x="25" y="0"/>
                  </a:cubicBezTo>
                  <a:cubicBezTo>
                    <a:pt x="24" y="0"/>
                    <a:pt x="24" y="0"/>
                    <a:pt x="24" y="0"/>
                  </a:cubicBezTo>
                  <a:cubicBezTo>
                    <a:pt x="24" y="0"/>
                    <a:pt x="24" y="0"/>
                    <a:pt x="24" y="0"/>
                  </a:cubicBezTo>
                  <a:cubicBezTo>
                    <a:pt x="22" y="0"/>
                    <a:pt x="22" y="0"/>
                    <a:pt x="22" y="0"/>
                  </a:cubicBezTo>
                  <a:cubicBezTo>
                    <a:pt x="6" y="0"/>
                    <a:pt x="6" y="0"/>
                    <a:pt x="6" y="0"/>
                  </a:cubicBezTo>
                  <a:cubicBezTo>
                    <a:pt x="6" y="0"/>
                    <a:pt x="6" y="0"/>
                    <a:pt x="6" y="0"/>
                  </a:cubicBezTo>
                  <a:cubicBezTo>
                    <a:pt x="6" y="0"/>
                    <a:pt x="6" y="0"/>
                    <a:pt x="6" y="0"/>
                  </a:cubicBezTo>
                  <a:cubicBezTo>
                    <a:pt x="6" y="0"/>
                    <a:pt x="6" y="0"/>
                    <a:pt x="6" y="0"/>
                  </a:cubicBezTo>
                  <a:cubicBezTo>
                    <a:pt x="5" y="0"/>
                    <a:pt x="4" y="0"/>
                    <a:pt x="3" y="0"/>
                  </a:cubicBezTo>
                  <a:cubicBezTo>
                    <a:pt x="2" y="1"/>
                    <a:pt x="0" y="2"/>
                    <a:pt x="0" y="5"/>
                  </a:cubicBezTo>
                  <a:cubicBezTo>
                    <a:pt x="0" y="5"/>
                    <a:pt x="0" y="5"/>
                    <a:pt x="0" y="5"/>
                  </a:cubicBezTo>
                  <a:cubicBezTo>
                    <a:pt x="0" y="5"/>
                    <a:pt x="0" y="5"/>
                    <a:pt x="0" y="5"/>
                  </a:cubicBezTo>
                  <a:cubicBezTo>
                    <a:pt x="0" y="24"/>
                    <a:pt x="0" y="24"/>
                    <a:pt x="0" y="24"/>
                  </a:cubicBezTo>
                  <a:cubicBezTo>
                    <a:pt x="0" y="25"/>
                    <a:pt x="1" y="26"/>
                    <a:pt x="2" y="26"/>
                  </a:cubicBezTo>
                  <a:cubicBezTo>
                    <a:pt x="4" y="26"/>
                    <a:pt x="5" y="25"/>
                    <a:pt x="5" y="24"/>
                  </a:cubicBezTo>
                  <a:cubicBezTo>
                    <a:pt x="5" y="6"/>
                    <a:pt x="5" y="6"/>
                    <a:pt x="5" y="6"/>
                  </a:cubicBezTo>
                  <a:cubicBezTo>
                    <a:pt x="6" y="6"/>
                    <a:pt x="6" y="6"/>
                    <a:pt x="6" y="6"/>
                  </a:cubicBezTo>
                  <a:cubicBezTo>
                    <a:pt x="6" y="29"/>
                    <a:pt x="6" y="29"/>
                    <a:pt x="6" y="29"/>
                  </a:cubicBezTo>
                  <a:cubicBezTo>
                    <a:pt x="6" y="29"/>
                    <a:pt x="6" y="29"/>
                    <a:pt x="6" y="29"/>
                  </a:cubicBezTo>
                  <a:cubicBezTo>
                    <a:pt x="6" y="29"/>
                    <a:pt x="6" y="29"/>
                    <a:pt x="6" y="29"/>
                  </a:cubicBezTo>
                  <a:cubicBezTo>
                    <a:pt x="6" y="54"/>
                    <a:pt x="6" y="54"/>
                    <a:pt x="6" y="54"/>
                  </a:cubicBezTo>
                  <a:cubicBezTo>
                    <a:pt x="6" y="56"/>
                    <a:pt x="8" y="58"/>
                    <a:pt x="9" y="58"/>
                  </a:cubicBezTo>
                  <a:cubicBezTo>
                    <a:pt x="11" y="58"/>
                    <a:pt x="13" y="56"/>
                    <a:pt x="13" y="54"/>
                  </a:cubicBezTo>
                  <a:cubicBezTo>
                    <a:pt x="13" y="29"/>
                    <a:pt x="13" y="29"/>
                    <a:pt x="13" y="29"/>
                  </a:cubicBezTo>
                  <a:cubicBezTo>
                    <a:pt x="13" y="29"/>
                    <a:pt x="13" y="29"/>
                    <a:pt x="13" y="29"/>
                  </a:cubicBezTo>
                  <a:cubicBezTo>
                    <a:pt x="13" y="29"/>
                    <a:pt x="13" y="29"/>
                    <a:pt x="13" y="29"/>
                  </a:cubicBezTo>
                  <a:cubicBezTo>
                    <a:pt x="13" y="29"/>
                    <a:pt x="13" y="29"/>
                    <a:pt x="13" y="29"/>
                  </a:cubicBezTo>
                  <a:cubicBezTo>
                    <a:pt x="13" y="28"/>
                    <a:pt x="14" y="27"/>
                    <a:pt x="15" y="27"/>
                  </a:cubicBezTo>
                  <a:cubicBezTo>
                    <a:pt x="16" y="27"/>
                    <a:pt x="17" y="28"/>
                    <a:pt x="17" y="29"/>
                  </a:cubicBezTo>
                  <a:cubicBezTo>
                    <a:pt x="17" y="29"/>
                    <a:pt x="17" y="29"/>
                    <a:pt x="17" y="29"/>
                  </a:cubicBezTo>
                  <a:cubicBezTo>
                    <a:pt x="17" y="29"/>
                    <a:pt x="17" y="29"/>
                    <a:pt x="17" y="29"/>
                  </a:cubicBezTo>
                  <a:cubicBezTo>
                    <a:pt x="17" y="29"/>
                    <a:pt x="17" y="29"/>
                    <a:pt x="17" y="29"/>
                  </a:cubicBezTo>
                  <a:cubicBezTo>
                    <a:pt x="17" y="54"/>
                    <a:pt x="17" y="54"/>
                    <a:pt x="17" y="54"/>
                  </a:cubicBezTo>
                  <a:cubicBezTo>
                    <a:pt x="17" y="56"/>
                    <a:pt x="18" y="58"/>
                    <a:pt x="20" y="58"/>
                  </a:cubicBezTo>
                  <a:cubicBezTo>
                    <a:pt x="22" y="58"/>
                    <a:pt x="24" y="56"/>
                    <a:pt x="24" y="54"/>
                  </a:cubicBezTo>
                  <a:cubicBezTo>
                    <a:pt x="24" y="29"/>
                    <a:pt x="24" y="29"/>
                    <a:pt x="24" y="29"/>
                  </a:cubicBezTo>
                  <a:cubicBezTo>
                    <a:pt x="24" y="29"/>
                    <a:pt x="24" y="29"/>
                    <a:pt x="24" y="29"/>
                  </a:cubicBezTo>
                  <a:cubicBezTo>
                    <a:pt x="24" y="29"/>
                    <a:pt x="24" y="29"/>
                    <a:pt x="24" y="29"/>
                  </a:cubicBezTo>
                  <a:cubicBezTo>
                    <a:pt x="24" y="6"/>
                    <a:pt x="24" y="6"/>
                    <a:pt x="24" y="6"/>
                  </a:cubicBezTo>
                  <a:cubicBezTo>
                    <a:pt x="25" y="6"/>
                    <a:pt x="25" y="6"/>
                    <a:pt x="25" y="6"/>
                  </a:cubicBezTo>
                  <a:cubicBezTo>
                    <a:pt x="25" y="24"/>
                    <a:pt x="25" y="24"/>
                    <a:pt x="25" y="24"/>
                  </a:cubicBezTo>
                  <a:cubicBezTo>
                    <a:pt x="25" y="25"/>
                    <a:pt x="26" y="26"/>
                    <a:pt x="27" y="26"/>
                  </a:cubicBezTo>
                  <a:cubicBezTo>
                    <a:pt x="29" y="26"/>
                    <a:pt x="30" y="25"/>
                    <a:pt x="30" y="24"/>
                  </a:cubicBezTo>
                  <a:cubicBezTo>
                    <a:pt x="30" y="5"/>
                    <a:pt x="30" y="5"/>
                    <a:pt x="30" y="5"/>
                  </a:cubicBezTo>
                  <a:cubicBezTo>
                    <a:pt x="30" y="4"/>
                    <a:pt x="30" y="3"/>
                    <a:pt x="30" y="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 name="Freeform 17"/>
            <p:cNvSpPr/>
            <p:nvPr/>
          </p:nvSpPr>
          <p:spPr bwMode="auto">
            <a:xfrm>
              <a:off x="8530904" y="4311650"/>
              <a:ext cx="763986" cy="560388"/>
            </a:xfrm>
            <a:custGeom>
              <a:avLst/>
              <a:gdLst>
                <a:gd name="T0" fmla="*/ 18 w 48"/>
                <a:gd name="T1" fmla="*/ 9 h 35"/>
                <a:gd name="T2" fmla="*/ 18 w 48"/>
                <a:gd name="T3" fmla="*/ 0 h 35"/>
                <a:gd name="T4" fmla="*/ 0 w 48"/>
                <a:gd name="T5" fmla="*/ 18 h 35"/>
                <a:gd name="T6" fmla="*/ 18 w 48"/>
                <a:gd name="T7" fmla="*/ 35 h 35"/>
                <a:gd name="T8" fmla="*/ 18 w 48"/>
                <a:gd name="T9" fmla="*/ 27 h 35"/>
                <a:gd name="T10" fmla="*/ 39 w 48"/>
                <a:gd name="T11" fmla="*/ 27 h 35"/>
                <a:gd name="T12" fmla="*/ 39 w 48"/>
                <a:gd name="T13" fmla="*/ 27 h 35"/>
                <a:gd name="T14" fmla="*/ 48 w 48"/>
                <a:gd name="T15" fmla="*/ 18 h 35"/>
                <a:gd name="T16" fmla="*/ 39 w 48"/>
                <a:gd name="T17" fmla="*/ 9 h 35"/>
                <a:gd name="T18" fmla="*/ 39 w 48"/>
                <a:gd name="T19" fmla="*/ 9 h 35"/>
                <a:gd name="T20" fmla="*/ 39 w 48"/>
                <a:gd name="T21" fmla="*/ 9 h 35"/>
                <a:gd name="T22" fmla="*/ 18 w 48"/>
                <a:gd name="T23" fmla="*/ 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 h="35">
                  <a:moveTo>
                    <a:pt x="18" y="9"/>
                  </a:moveTo>
                  <a:cubicBezTo>
                    <a:pt x="18" y="0"/>
                    <a:pt x="18" y="0"/>
                    <a:pt x="18" y="0"/>
                  </a:cubicBezTo>
                  <a:cubicBezTo>
                    <a:pt x="0" y="18"/>
                    <a:pt x="0" y="18"/>
                    <a:pt x="0" y="18"/>
                  </a:cubicBezTo>
                  <a:cubicBezTo>
                    <a:pt x="18" y="35"/>
                    <a:pt x="18" y="35"/>
                    <a:pt x="18" y="35"/>
                  </a:cubicBezTo>
                  <a:cubicBezTo>
                    <a:pt x="18" y="27"/>
                    <a:pt x="18" y="27"/>
                    <a:pt x="18" y="27"/>
                  </a:cubicBezTo>
                  <a:cubicBezTo>
                    <a:pt x="39" y="27"/>
                    <a:pt x="39" y="27"/>
                    <a:pt x="39" y="27"/>
                  </a:cubicBezTo>
                  <a:cubicBezTo>
                    <a:pt x="39" y="27"/>
                    <a:pt x="39" y="27"/>
                    <a:pt x="39" y="27"/>
                  </a:cubicBezTo>
                  <a:cubicBezTo>
                    <a:pt x="44" y="27"/>
                    <a:pt x="48" y="23"/>
                    <a:pt x="48" y="18"/>
                  </a:cubicBezTo>
                  <a:cubicBezTo>
                    <a:pt x="48" y="13"/>
                    <a:pt x="44" y="9"/>
                    <a:pt x="39" y="9"/>
                  </a:cubicBezTo>
                  <a:cubicBezTo>
                    <a:pt x="39" y="9"/>
                    <a:pt x="39" y="9"/>
                    <a:pt x="39" y="9"/>
                  </a:cubicBezTo>
                  <a:cubicBezTo>
                    <a:pt x="39" y="9"/>
                    <a:pt x="39" y="9"/>
                    <a:pt x="39" y="9"/>
                  </a:cubicBezTo>
                  <a:lnTo>
                    <a:pt x="18" y="9"/>
                  </a:lnTo>
                  <a:close/>
                </a:path>
              </a:pathLst>
            </a:cu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8" name="Freeform 18"/>
            <p:cNvSpPr/>
            <p:nvPr/>
          </p:nvSpPr>
          <p:spPr bwMode="auto">
            <a:xfrm>
              <a:off x="8927986" y="4151313"/>
              <a:ext cx="749690" cy="560388"/>
            </a:xfrm>
            <a:custGeom>
              <a:avLst/>
              <a:gdLst>
                <a:gd name="T0" fmla="*/ 14 w 47"/>
                <a:gd name="T1" fmla="*/ 15 h 35"/>
                <a:gd name="T2" fmla="*/ 0 w 47"/>
                <a:gd name="T3" fmla="*/ 15 h 35"/>
                <a:gd name="T4" fmla="*/ 8 w 47"/>
                <a:gd name="T5" fmla="*/ 9 h 35"/>
                <a:gd name="T6" fmla="*/ 30 w 47"/>
                <a:gd name="T7" fmla="*/ 9 h 35"/>
                <a:gd name="T8" fmla="*/ 30 w 47"/>
                <a:gd name="T9" fmla="*/ 0 h 35"/>
                <a:gd name="T10" fmla="*/ 47 w 47"/>
                <a:gd name="T11" fmla="*/ 18 h 35"/>
                <a:gd name="T12" fmla="*/ 30 w 47"/>
                <a:gd name="T13" fmla="*/ 35 h 35"/>
                <a:gd name="T14" fmla="*/ 30 w 47"/>
                <a:gd name="T15" fmla="*/ 26 h 35"/>
                <a:gd name="T16" fmla="*/ 27 w 47"/>
                <a:gd name="T17" fmla="*/ 26 h 35"/>
                <a:gd name="T18" fmla="*/ 14 w 47"/>
                <a:gd name="T19" fmla="*/ 1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35">
                  <a:moveTo>
                    <a:pt x="14" y="15"/>
                  </a:moveTo>
                  <a:cubicBezTo>
                    <a:pt x="0" y="15"/>
                    <a:pt x="0" y="15"/>
                    <a:pt x="0" y="15"/>
                  </a:cubicBezTo>
                  <a:cubicBezTo>
                    <a:pt x="1" y="11"/>
                    <a:pt x="4" y="9"/>
                    <a:pt x="8" y="9"/>
                  </a:cubicBezTo>
                  <a:cubicBezTo>
                    <a:pt x="30" y="9"/>
                    <a:pt x="30" y="9"/>
                    <a:pt x="30" y="9"/>
                  </a:cubicBezTo>
                  <a:cubicBezTo>
                    <a:pt x="30" y="0"/>
                    <a:pt x="30" y="0"/>
                    <a:pt x="30" y="0"/>
                  </a:cubicBezTo>
                  <a:cubicBezTo>
                    <a:pt x="47" y="18"/>
                    <a:pt x="47" y="18"/>
                    <a:pt x="47" y="18"/>
                  </a:cubicBezTo>
                  <a:cubicBezTo>
                    <a:pt x="30" y="35"/>
                    <a:pt x="30" y="35"/>
                    <a:pt x="30" y="35"/>
                  </a:cubicBezTo>
                  <a:cubicBezTo>
                    <a:pt x="30" y="26"/>
                    <a:pt x="30" y="26"/>
                    <a:pt x="30" y="26"/>
                  </a:cubicBezTo>
                  <a:cubicBezTo>
                    <a:pt x="27" y="26"/>
                    <a:pt x="27" y="26"/>
                    <a:pt x="27" y="26"/>
                  </a:cubicBezTo>
                  <a:cubicBezTo>
                    <a:pt x="26" y="20"/>
                    <a:pt x="21" y="15"/>
                    <a:pt x="14" y="15"/>
                  </a:cubicBezTo>
                  <a:close/>
                </a:path>
              </a:pathLst>
            </a:cu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9" name="Freeform 19"/>
            <p:cNvSpPr/>
            <p:nvPr/>
          </p:nvSpPr>
          <p:spPr bwMode="auto">
            <a:xfrm>
              <a:off x="6091234" y="4311650"/>
              <a:ext cx="749690" cy="560388"/>
            </a:xfrm>
            <a:custGeom>
              <a:avLst/>
              <a:gdLst>
                <a:gd name="T0" fmla="*/ 17 w 47"/>
                <a:gd name="T1" fmla="*/ 9 h 35"/>
                <a:gd name="T2" fmla="*/ 17 w 47"/>
                <a:gd name="T3" fmla="*/ 0 h 35"/>
                <a:gd name="T4" fmla="*/ 0 w 47"/>
                <a:gd name="T5" fmla="*/ 18 h 35"/>
                <a:gd name="T6" fmla="*/ 17 w 47"/>
                <a:gd name="T7" fmla="*/ 35 h 35"/>
                <a:gd name="T8" fmla="*/ 17 w 47"/>
                <a:gd name="T9" fmla="*/ 27 h 35"/>
                <a:gd name="T10" fmla="*/ 38 w 47"/>
                <a:gd name="T11" fmla="*/ 27 h 35"/>
                <a:gd name="T12" fmla="*/ 38 w 47"/>
                <a:gd name="T13" fmla="*/ 27 h 35"/>
                <a:gd name="T14" fmla="*/ 47 w 47"/>
                <a:gd name="T15" fmla="*/ 18 h 35"/>
                <a:gd name="T16" fmla="*/ 38 w 47"/>
                <a:gd name="T17" fmla="*/ 9 h 35"/>
                <a:gd name="T18" fmla="*/ 38 w 47"/>
                <a:gd name="T19" fmla="*/ 9 h 35"/>
                <a:gd name="T20" fmla="*/ 38 w 47"/>
                <a:gd name="T21" fmla="*/ 9 h 35"/>
                <a:gd name="T22" fmla="*/ 17 w 47"/>
                <a:gd name="T23" fmla="*/ 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35">
                  <a:moveTo>
                    <a:pt x="17" y="9"/>
                  </a:moveTo>
                  <a:cubicBezTo>
                    <a:pt x="17" y="0"/>
                    <a:pt x="17" y="0"/>
                    <a:pt x="17" y="0"/>
                  </a:cubicBezTo>
                  <a:cubicBezTo>
                    <a:pt x="0" y="18"/>
                    <a:pt x="0" y="18"/>
                    <a:pt x="0" y="18"/>
                  </a:cubicBezTo>
                  <a:cubicBezTo>
                    <a:pt x="17" y="35"/>
                    <a:pt x="17" y="35"/>
                    <a:pt x="17" y="35"/>
                  </a:cubicBezTo>
                  <a:cubicBezTo>
                    <a:pt x="17" y="27"/>
                    <a:pt x="17" y="27"/>
                    <a:pt x="17" y="27"/>
                  </a:cubicBezTo>
                  <a:cubicBezTo>
                    <a:pt x="38" y="27"/>
                    <a:pt x="38" y="27"/>
                    <a:pt x="38" y="27"/>
                  </a:cubicBezTo>
                  <a:cubicBezTo>
                    <a:pt x="38" y="27"/>
                    <a:pt x="38" y="27"/>
                    <a:pt x="38" y="27"/>
                  </a:cubicBezTo>
                  <a:cubicBezTo>
                    <a:pt x="43" y="27"/>
                    <a:pt x="47" y="23"/>
                    <a:pt x="47" y="18"/>
                  </a:cubicBezTo>
                  <a:cubicBezTo>
                    <a:pt x="47" y="13"/>
                    <a:pt x="43" y="9"/>
                    <a:pt x="38" y="9"/>
                  </a:cubicBezTo>
                  <a:cubicBezTo>
                    <a:pt x="38" y="9"/>
                    <a:pt x="38" y="9"/>
                    <a:pt x="38" y="9"/>
                  </a:cubicBezTo>
                  <a:cubicBezTo>
                    <a:pt x="38" y="9"/>
                    <a:pt x="38" y="9"/>
                    <a:pt x="38" y="9"/>
                  </a:cubicBezTo>
                  <a:lnTo>
                    <a:pt x="17" y="9"/>
                  </a:lnTo>
                  <a:close/>
                </a:path>
              </a:pathLst>
            </a:cu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 name="Freeform 20"/>
            <p:cNvSpPr/>
            <p:nvPr/>
          </p:nvSpPr>
          <p:spPr bwMode="auto">
            <a:xfrm>
              <a:off x="6474020" y="4151313"/>
              <a:ext cx="749690" cy="560388"/>
            </a:xfrm>
            <a:custGeom>
              <a:avLst/>
              <a:gdLst>
                <a:gd name="T0" fmla="*/ 15 w 47"/>
                <a:gd name="T1" fmla="*/ 15 h 35"/>
                <a:gd name="T2" fmla="*/ 0 w 47"/>
                <a:gd name="T3" fmla="*/ 15 h 35"/>
                <a:gd name="T4" fmla="*/ 9 w 47"/>
                <a:gd name="T5" fmla="*/ 9 h 35"/>
                <a:gd name="T6" fmla="*/ 30 w 47"/>
                <a:gd name="T7" fmla="*/ 9 h 35"/>
                <a:gd name="T8" fmla="*/ 30 w 47"/>
                <a:gd name="T9" fmla="*/ 0 h 35"/>
                <a:gd name="T10" fmla="*/ 47 w 47"/>
                <a:gd name="T11" fmla="*/ 18 h 35"/>
                <a:gd name="T12" fmla="*/ 30 w 47"/>
                <a:gd name="T13" fmla="*/ 35 h 35"/>
                <a:gd name="T14" fmla="*/ 30 w 47"/>
                <a:gd name="T15" fmla="*/ 26 h 35"/>
                <a:gd name="T16" fmla="*/ 27 w 47"/>
                <a:gd name="T17" fmla="*/ 26 h 35"/>
                <a:gd name="T18" fmla="*/ 15 w 47"/>
                <a:gd name="T19" fmla="*/ 1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35">
                  <a:moveTo>
                    <a:pt x="15" y="15"/>
                  </a:moveTo>
                  <a:cubicBezTo>
                    <a:pt x="0" y="15"/>
                    <a:pt x="0" y="15"/>
                    <a:pt x="0" y="15"/>
                  </a:cubicBezTo>
                  <a:cubicBezTo>
                    <a:pt x="1" y="11"/>
                    <a:pt x="5" y="9"/>
                    <a:pt x="9" y="9"/>
                  </a:cubicBezTo>
                  <a:cubicBezTo>
                    <a:pt x="30" y="9"/>
                    <a:pt x="30" y="9"/>
                    <a:pt x="30" y="9"/>
                  </a:cubicBezTo>
                  <a:cubicBezTo>
                    <a:pt x="30" y="0"/>
                    <a:pt x="30" y="0"/>
                    <a:pt x="30" y="0"/>
                  </a:cubicBezTo>
                  <a:cubicBezTo>
                    <a:pt x="47" y="18"/>
                    <a:pt x="47" y="18"/>
                    <a:pt x="47" y="18"/>
                  </a:cubicBezTo>
                  <a:cubicBezTo>
                    <a:pt x="30" y="35"/>
                    <a:pt x="30" y="35"/>
                    <a:pt x="30" y="35"/>
                  </a:cubicBezTo>
                  <a:cubicBezTo>
                    <a:pt x="30" y="26"/>
                    <a:pt x="30" y="26"/>
                    <a:pt x="30" y="26"/>
                  </a:cubicBezTo>
                  <a:cubicBezTo>
                    <a:pt x="27" y="26"/>
                    <a:pt x="27" y="26"/>
                    <a:pt x="27" y="26"/>
                  </a:cubicBezTo>
                  <a:cubicBezTo>
                    <a:pt x="26" y="20"/>
                    <a:pt x="21" y="15"/>
                    <a:pt x="15" y="15"/>
                  </a:cubicBezTo>
                  <a:close/>
                </a:path>
              </a:pathLst>
            </a:custGeom>
            <a:gr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1" name="Oval 10"/>
            <p:cNvSpPr>
              <a:spLocks noChangeArrowheads="1"/>
            </p:cNvSpPr>
            <p:nvPr/>
          </p:nvSpPr>
          <p:spPr bwMode="auto">
            <a:xfrm>
              <a:off x="5310572" y="1985963"/>
              <a:ext cx="190599" cy="1920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2" name="Freeform 12"/>
            <p:cNvSpPr/>
            <p:nvPr/>
          </p:nvSpPr>
          <p:spPr bwMode="auto">
            <a:xfrm>
              <a:off x="5151739" y="2193925"/>
              <a:ext cx="493970" cy="927100"/>
            </a:xfrm>
            <a:custGeom>
              <a:avLst/>
              <a:gdLst>
                <a:gd name="T0" fmla="*/ 31 w 31"/>
                <a:gd name="T1" fmla="*/ 2 h 58"/>
                <a:gd name="T2" fmla="*/ 27 w 31"/>
                <a:gd name="T3" fmla="*/ 0 h 58"/>
                <a:gd name="T4" fmla="*/ 26 w 31"/>
                <a:gd name="T5" fmla="*/ 0 h 58"/>
                <a:gd name="T6" fmla="*/ 25 w 31"/>
                <a:gd name="T7" fmla="*/ 0 h 58"/>
                <a:gd name="T8" fmla="*/ 25 w 31"/>
                <a:gd name="T9" fmla="*/ 0 h 58"/>
                <a:gd name="T10" fmla="*/ 23 w 31"/>
                <a:gd name="T11" fmla="*/ 0 h 58"/>
                <a:gd name="T12" fmla="*/ 7 w 31"/>
                <a:gd name="T13" fmla="*/ 0 h 58"/>
                <a:gd name="T14" fmla="*/ 7 w 31"/>
                <a:gd name="T15" fmla="*/ 0 h 58"/>
                <a:gd name="T16" fmla="*/ 7 w 31"/>
                <a:gd name="T17" fmla="*/ 0 h 58"/>
                <a:gd name="T18" fmla="*/ 7 w 31"/>
                <a:gd name="T19" fmla="*/ 0 h 58"/>
                <a:gd name="T20" fmla="*/ 4 w 31"/>
                <a:gd name="T21" fmla="*/ 0 h 58"/>
                <a:gd name="T22" fmla="*/ 0 w 31"/>
                <a:gd name="T23" fmla="*/ 5 h 58"/>
                <a:gd name="T24" fmla="*/ 0 w 31"/>
                <a:gd name="T25" fmla="*/ 5 h 58"/>
                <a:gd name="T26" fmla="*/ 0 w 31"/>
                <a:gd name="T27" fmla="*/ 5 h 58"/>
                <a:gd name="T28" fmla="*/ 0 w 31"/>
                <a:gd name="T29" fmla="*/ 23 h 58"/>
                <a:gd name="T30" fmla="*/ 3 w 31"/>
                <a:gd name="T31" fmla="*/ 26 h 58"/>
                <a:gd name="T32" fmla="*/ 6 w 31"/>
                <a:gd name="T33" fmla="*/ 23 h 58"/>
                <a:gd name="T34" fmla="*/ 6 w 31"/>
                <a:gd name="T35" fmla="*/ 6 h 58"/>
                <a:gd name="T36" fmla="*/ 7 w 31"/>
                <a:gd name="T37" fmla="*/ 6 h 58"/>
                <a:gd name="T38" fmla="*/ 7 w 31"/>
                <a:gd name="T39" fmla="*/ 29 h 58"/>
                <a:gd name="T40" fmla="*/ 7 w 31"/>
                <a:gd name="T41" fmla="*/ 29 h 58"/>
                <a:gd name="T42" fmla="*/ 7 w 31"/>
                <a:gd name="T43" fmla="*/ 29 h 58"/>
                <a:gd name="T44" fmla="*/ 7 w 31"/>
                <a:gd name="T45" fmla="*/ 54 h 58"/>
                <a:gd name="T46" fmla="*/ 10 w 31"/>
                <a:gd name="T47" fmla="*/ 58 h 58"/>
                <a:gd name="T48" fmla="*/ 14 w 31"/>
                <a:gd name="T49" fmla="*/ 54 h 58"/>
                <a:gd name="T50" fmla="*/ 14 w 31"/>
                <a:gd name="T51" fmla="*/ 29 h 58"/>
                <a:gd name="T52" fmla="*/ 14 w 31"/>
                <a:gd name="T53" fmla="*/ 29 h 58"/>
                <a:gd name="T54" fmla="*/ 14 w 31"/>
                <a:gd name="T55" fmla="*/ 29 h 58"/>
                <a:gd name="T56" fmla="*/ 14 w 31"/>
                <a:gd name="T57" fmla="*/ 29 h 58"/>
                <a:gd name="T58" fmla="*/ 16 w 31"/>
                <a:gd name="T59" fmla="*/ 27 h 58"/>
                <a:gd name="T60" fmla="*/ 18 w 31"/>
                <a:gd name="T61" fmla="*/ 29 h 58"/>
                <a:gd name="T62" fmla="*/ 18 w 31"/>
                <a:gd name="T63" fmla="*/ 29 h 58"/>
                <a:gd name="T64" fmla="*/ 18 w 31"/>
                <a:gd name="T65" fmla="*/ 29 h 58"/>
                <a:gd name="T66" fmla="*/ 18 w 31"/>
                <a:gd name="T67" fmla="*/ 29 h 58"/>
                <a:gd name="T68" fmla="*/ 18 w 31"/>
                <a:gd name="T69" fmla="*/ 54 h 58"/>
                <a:gd name="T70" fmla="*/ 21 w 31"/>
                <a:gd name="T71" fmla="*/ 58 h 58"/>
                <a:gd name="T72" fmla="*/ 25 w 31"/>
                <a:gd name="T73" fmla="*/ 54 h 58"/>
                <a:gd name="T74" fmla="*/ 25 w 31"/>
                <a:gd name="T75" fmla="*/ 29 h 58"/>
                <a:gd name="T76" fmla="*/ 25 w 31"/>
                <a:gd name="T77" fmla="*/ 29 h 58"/>
                <a:gd name="T78" fmla="*/ 25 w 31"/>
                <a:gd name="T79" fmla="*/ 29 h 58"/>
                <a:gd name="T80" fmla="*/ 25 w 31"/>
                <a:gd name="T81" fmla="*/ 6 h 58"/>
                <a:gd name="T82" fmla="*/ 26 w 31"/>
                <a:gd name="T83" fmla="*/ 6 h 58"/>
                <a:gd name="T84" fmla="*/ 26 w 31"/>
                <a:gd name="T85" fmla="*/ 23 h 58"/>
                <a:gd name="T86" fmla="*/ 28 w 31"/>
                <a:gd name="T87" fmla="*/ 26 h 58"/>
                <a:gd name="T88" fmla="*/ 31 w 31"/>
                <a:gd name="T89" fmla="*/ 23 h 58"/>
                <a:gd name="T90" fmla="*/ 31 w 31"/>
                <a:gd name="T91" fmla="*/ 5 h 58"/>
                <a:gd name="T92" fmla="*/ 31 w 31"/>
                <a:gd name="T93"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 h="58">
                  <a:moveTo>
                    <a:pt x="31" y="2"/>
                  </a:moveTo>
                  <a:cubicBezTo>
                    <a:pt x="30" y="1"/>
                    <a:pt x="29" y="1"/>
                    <a:pt x="27" y="0"/>
                  </a:cubicBezTo>
                  <a:cubicBezTo>
                    <a:pt x="27" y="0"/>
                    <a:pt x="26" y="0"/>
                    <a:pt x="26" y="0"/>
                  </a:cubicBezTo>
                  <a:cubicBezTo>
                    <a:pt x="25" y="0"/>
                    <a:pt x="25" y="0"/>
                    <a:pt x="25" y="0"/>
                  </a:cubicBezTo>
                  <a:cubicBezTo>
                    <a:pt x="25" y="0"/>
                    <a:pt x="25" y="0"/>
                    <a:pt x="25" y="0"/>
                  </a:cubicBezTo>
                  <a:cubicBezTo>
                    <a:pt x="23" y="0"/>
                    <a:pt x="23" y="0"/>
                    <a:pt x="23" y="0"/>
                  </a:cubicBezTo>
                  <a:cubicBezTo>
                    <a:pt x="7" y="0"/>
                    <a:pt x="7" y="0"/>
                    <a:pt x="7" y="0"/>
                  </a:cubicBezTo>
                  <a:cubicBezTo>
                    <a:pt x="7" y="0"/>
                    <a:pt x="7" y="0"/>
                    <a:pt x="7" y="0"/>
                  </a:cubicBezTo>
                  <a:cubicBezTo>
                    <a:pt x="7" y="0"/>
                    <a:pt x="7" y="0"/>
                    <a:pt x="7" y="0"/>
                  </a:cubicBezTo>
                  <a:cubicBezTo>
                    <a:pt x="7" y="0"/>
                    <a:pt x="7" y="0"/>
                    <a:pt x="7" y="0"/>
                  </a:cubicBezTo>
                  <a:cubicBezTo>
                    <a:pt x="6" y="0"/>
                    <a:pt x="5" y="0"/>
                    <a:pt x="4" y="0"/>
                  </a:cubicBezTo>
                  <a:cubicBezTo>
                    <a:pt x="3" y="1"/>
                    <a:pt x="0" y="2"/>
                    <a:pt x="0" y="5"/>
                  </a:cubicBezTo>
                  <a:cubicBezTo>
                    <a:pt x="0" y="5"/>
                    <a:pt x="0" y="5"/>
                    <a:pt x="0" y="5"/>
                  </a:cubicBezTo>
                  <a:cubicBezTo>
                    <a:pt x="0" y="5"/>
                    <a:pt x="0" y="5"/>
                    <a:pt x="0" y="5"/>
                  </a:cubicBezTo>
                  <a:cubicBezTo>
                    <a:pt x="0" y="23"/>
                    <a:pt x="0" y="23"/>
                    <a:pt x="0" y="23"/>
                  </a:cubicBezTo>
                  <a:cubicBezTo>
                    <a:pt x="0" y="25"/>
                    <a:pt x="2" y="26"/>
                    <a:pt x="3" y="26"/>
                  </a:cubicBezTo>
                  <a:cubicBezTo>
                    <a:pt x="5" y="26"/>
                    <a:pt x="6" y="25"/>
                    <a:pt x="6" y="23"/>
                  </a:cubicBezTo>
                  <a:cubicBezTo>
                    <a:pt x="6" y="6"/>
                    <a:pt x="6" y="6"/>
                    <a:pt x="6" y="6"/>
                  </a:cubicBezTo>
                  <a:cubicBezTo>
                    <a:pt x="7" y="6"/>
                    <a:pt x="7" y="6"/>
                    <a:pt x="7" y="6"/>
                  </a:cubicBezTo>
                  <a:cubicBezTo>
                    <a:pt x="7" y="29"/>
                    <a:pt x="7" y="29"/>
                    <a:pt x="7" y="29"/>
                  </a:cubicBezTo>
                  <a:cubicBezTo>
                    <a:pt x="7" y="29"/>
                    <a:pt x="7" y="29"/>
                    <a:pt x="7" y="29"/>
                  </a:cubicBezTo>
                  <a:cubicBezTo>
                    <a:pt x="7" y="29"/>
                    <a:pt x="7" y="29"/>
                    <a:pt x="7" y="29"/>
                  </a:cubicBezTo>
                  <a:cubicBezTo>
                    <a:pt x="7" y="54"/>
                    <a:pt x="7" y="54"/>
                    <a:pt x="7" y="54"/>
                  </a:cubicBezTo>
                  <a:cubicBezTo>
                    <a:pt x="7" y="56"/>
                    <a:pt x="8" y="58"/>
                    <a:pt x="10" y="58"/>
                  </a:cubicBezTo>
                  <a:cubicBezTo>
                    <a:pt x="12" y="58"/>
                    <a:pt x="14" y="56"/>
                    <a:pt x="14" y="54"/>
                  </a:cubicBezTo>
                  <a:cubicBezTo>
                    <a:pt x="14" y="29"/>
                    <a:pt x="14" y="29"/>
                    <a:pt x="14" y="29"/>
                  </a:cubicBezTo>
                  <a:cubicBezTo>
                    <a:pt x="14" y="29"/>
                    <a:pt x="14" y="29"/>
                    <a:pt x="14" y="29"/>
                  </a:cubicBezTo>
                  <a:cubicBezTo>
                    <a:pt x="14" y="29"/>
                    <a:pt x="14" y="29"/>
                    <a:pt x="14" y="29"/>
                  </a:cubicBezTo>
                  <a:cubicBezTo>
                    <a:pt x="14" y="29"/>
                    <a:pt x="14" y="29"/>
                    <a:pt x="14" y="29"/>
                  </a:cubicBezTo>
                  <a:cubicBezTo>
                    <a:pt x="14" y="28"/>
                    <a:pt x="15" y="27"/>
                    <a:pt x="16" y="27"/>
                  </a:cubicBezTo>
                  <a:cubicBezTo>
                    <a:pt x="17" y="27"/>
                    <a:pt x="18" y="28"/>
                    <a:pt x="18" y="29"/>
                  </a:cubicBezTo>
                  <a:cubicBezTo>
                    <a:pt x="18" y="29"/>
                    <a:pt x="18" y="29"/>
                    <a:pt x="18" y="29"/>
                  </a:cubicBezTo>
                  <a:cubicBezTo>
                    <a:pt x="18" y="29"/>
                    <a:pt x="18" y="29"/>
                    <a:pt x="18" y="29"/>
                  </a:cubicBezTo>
                  <a:cubicBezTo>
                    <a:pt x="18" y="29"/>
                    <a:pt x="18" y="29"/>
                    <a:pt x="18" y="29"/>
                  </a:cubicBezTo>
                  <a:cubicBezTo>
                    <a:pt x="18" y="54"/>
                    <a:pt x="18" y="54"/>
                    <a:pt x="18" y="54"/>
                  </a:cubicBezTo>
                  <a:cubicBezTo>
                    <a:pt x="18" y="56"/>
                    <a:pt x="19" y="58"/>
                    <a:pt x="21" y="58"/>
                  </a:cubicBezTo>
                  <a:cubicBezTo>
                    <a:pt x="23" y="58"/>
                    <a:pt x="25" y="56"/>
                    <a:pt x="25" y="54"/>
                  </a:cubicBezTo>
                  <a:cubicBezTo>
                    <a:pt x="25" y="29"/>
                    <a:pt x="25" y="29"/>
                    <a:pt x="25" y="29"/>
                  </a:cubicBezTo>
                  <a:cubicBezTo>
                    <a:pt x="25" y="29"/>
                    <a:pt x="25" y="29"/>
                    <a:pt x="25" y="29"/>
                  </a:cubicBezTo>
                  <a:cubicBezTo>
                    <a:pt x="25" y="29"/>
                    <a:pt x="25" y="29"/>
                    <a:pt x="25" y="29"/>
                  </a:cubicBezTo>
                  <a:cubicBezTo>
                    <a:pt x="25" y="6"/>
                    <a:pt x="25" y="6"/>
                    <a:pt x="25" y="6"/>
                  </a:cubicBezTo>
                  <a:cubicBezTo>
                    <a:pt x="26" y="6"/>
                    <a:pt x="26" y="6"/>
                    <a:pt x="26" y="6"/>
                  </a:cubicBezTo>
                  <a:cubicBezTo>
                    <a:pt x="26" y="23"/>
                    <a:pt x="26" y="23"/>
                    <a:pt x="26" y="23"/>
                  </a:cubicBezTo>
                  <a:cubicBezTo>
                    <a:pt x="26" y="25"/>
                    <a:pt x="27" y="26"/>
                    <a:pt x="28" y="26"/>
                  </a:cubicBezTo>
                  <a:cubicBezTo>
                    <a:pt x="30" y="26"/>
                    <a:pt x="31" y="25"/>
                    <a:pt x="31" y="23"/>
                  </a:cubicBezTo>
                  <a:cubicBezTo>
                    <a:pt x="31" y="5"/>
                    <a:pt x="31" y="5"/>
                    <a:pt x="31" y="5"/>
                  </a:cubicBezTo>
                  <a:cubicBezTo>
                    <a:pt x="31" y="4"/>
                    <a:pt x="31" y="3"/>
                    <a:pt x="31" y="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cxnSp>
        <p:nvCxnSpPr>
          <p:cNvPr id="4" name="直接连接符 3"/>
          <p:cNvCxnSpPr/>
          <p:nvPr/>
        </p:nvCxnSpPr>
        <p:spPr bwMode="auto">
          <a:xfrm>
            <a:off x="500063" y="3916363"/>
            <a:ext cx="8202613"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sp>
        <p:nvSpPr>
          <p:cNvPr id="26"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par>
                                <p:cTn id="8" presetID="4"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par>
                          <p:cTn id="11" fill="hold">
                            <p:stCondLst>
                              <p:cond delay="500"/>
                            </p:stCondLst>
                            <p:childTnLst>
                              <p:par>
                                <p:cTn id="12" presetID="4" presetClass="entr" presetSubtype="16" fill="hold" grpId="0" nodeType="afterEffect">
                                  <p:stCondLst>
                                    <p:cond delay="0"/>
                                  </p:stCondLst>
                                  <p:childTnLst>
                                    <p:set>
                                      <p:cBhvr>
                                        <p:cTn id="13" dur="1" fill="hold">
                                          <p:stCondLst>
                                            <p:cond delay="0"/>
                                          </p:stCondLst>
                                        </p:cTn>
                                        <p:tgtEl>
                                          <p:spTgt spid="377876"/>
                                        </p:tgtEl>
                                        <p:attrNameLst>
                                          <p:attrName>style.visibility</p:attrName>
                                        </p:attrNameLst>
                                      </p:cBhvr>
                                      <p:to>
                                        <p:strVal val="visible"/>
                                      </p:to>
                                    </p:set>
                                    <p:animEffect transition="in" filter="box(in)">
                                      <p:cBhvr>
                                        <p:cTn id="14" dur="500"/>
                                        <p:tgtEl>
                                          <p:spTgt spid="377876"/>
                                        </p:tgtEl>
                                      </p:cBhvr>
                                    </p:animEffect>
                                  </p:childTnLst>
                                </p:cTn>
                              </p:par>
                              <p:par>
                                <p:cTn id="15" presetID="42"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7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8" name="Rectangle 4"/>
          <p:cNvSpPr>
            <a:spLocks noChangeArrowheads="1"/>
          </p:cNvSpPr>
          <p:nvPr/>
        </p:nvSpPr>
        <p:spPr bwMode="auto">
          <a:xfrm>
            <a:off x="944563" y="1193800"/>
            <a:ext cx="2841625"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如何实现？</a:t>
            </a:r>
          </a:p>
        </p:txBody>
      </p:sp>
      <p:sp>
        <p:nvSpPr>
          <p:cNvPr id="472069" name="Rectangle 5"/>
          <p:cNvSpPr>
            <a:spLocks noChangeArrowheads="1"/>
          </p:cNvSpPr>
          <p:nvPr/>
        </p:nvSpPr>
        <p:spPr bwMode="auto">
          <a:xfrm>
            <a:off x="3783013" y="1185863"/>
            <a:ext cx="3652838" cy="460375"/>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通过</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指针</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来实现</a:t>
            </a:r>
          </a:p>
        </p:txBody>
      </p:sp>
      <p:sp>
        <p:nvSpPr>
          <p:cNvPr id="472072" name="Text Box 8"/>
          <p:cNvSpPr txBox="1">
            <a:spLocks noChangeArrowheads="1"/>
          </p:cNvSpPr>
          <p:nvPr/>
        </p:nvSpPr>
        <p:spPr bwMode="auto">
          <a:xfrm>
            <a:off x="938213" y="1852613"/>
            <a:ext cx="2690813" cy="482600"/>
          </a:xfrm>
          <a:prstGeom prst="rect">
            <a:avLst/>
          </a:prstGeom>
          <a:noFill/>
          <a:ln w="9525">
            <a:noFill/>
            <a:miter lim="800000"/>
          </a:ln>
        </p:spPr>
        <p:txBody>
          <a:bodyPr wrap="none" lIns="112947" tIns="56473" rIns="112947" bIns="56473">
            <a:spAutoFit/>
          </a:bodyPr>
          <a:lstStyle/>
          <a:p>
            <a:pPr marR="0" defTabSz="1128395" eaLnBrk="1" hangingPunct="1">
              <a:buClrTx/>
              <a:buSzTx/>
              <a:buFontTx/>
              <a:buNone/>
              <a:defRPr/>
            </a:pPr>
            <a:r>
              <a:rPr kumimoji="1" lang="zh-CN" altLang="en-US" sz="2400" kern="1200" cap="none" spc="0" normalizeH="0" baseline="0" noProof="0" dirty="0">
                <a:solidFill>
                  <a:schemeClr val="hlink"/>
                </a:solidFill>
                <a:latin typeface="+mn-lt"/>
                <a:ea typeface="+mn-ea"/>
                <a:cs typeface="+mn-ea"/>
                <a:sym typeface="+mn-lt"/>
              </a:rPr>
              <a:t>单链表的存储映像</a:t>
            </a:r>
            <a:endParaRPr kumimoji="1" lang="zh-CN" altLang="en-US" sz="2400" kern="1200" cap="none" spc="0" normalizeH="0" baseline="0" noProof="0" dirty="0">
              <a:latin typeface="+mn-lt"/>
              <a:ea typeface="+mn-ea"/>
              <a:cs typeface="+mn-ea"/>
              <a:sym typeface="+mn-lt"/>
            </a:endParaRPr>
          </a:p>
        </p:txBody>
      </p:sp>
      <p:sp>
        <p:nvSpPr>
          <p:cNvPr id="76805" name="Rectangle 9"/>
          <p:cNvSpPr>
            <a:spLocks noChangeArrowheads="1"/>
          </p:cNvSpPr>
          <p:nvPr/>
        </p:nvSpPr>
        <p:spPr bwMode="auto">
          <a:xfrm>
            <a:off x="989013" y="2427288"/>
            <a:ext cx="7543800" cy="609600"/>
          </a:xfrm>
          <a:prstGeom prst="rect">
            <a:avLst/>
          </a:prstGeom>
          <a:solidFill>
            <a:srgbClr val="B8D4EC"/>
          </a:solidFill>
          <a:ln w="9525">
            <a:no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06" name="Line 10"/>
          <p:cNvSpPr>
            <a:spLocks noChangeShapeType="1"/>
          </p:cNvSpPr>
          <p:nvPr/>
        </p:nvSpPr>
        <p:spPr bwMode="auto">
          <a:xfrm flipV="1">
            <a:off x="1065213" y="3189288"/>
            <a:ext cx="0" cy="381000"/>
          </a:xfrm>
          <a:prstGeom prst="line">
            <a:avLst/>
          </a:prstGeom>
          <a:noFill/>
          <a:ln w="38100">
            <a:solidFill>
              <a:srgbClr val="CC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07" name="Text Box 11"/>
          <p:cNvSpPr txBox="1">
            <a:spLocks noChangeArrowheads="1"/>
          </p:cNvSpPr>
          <p:nvPr/>
        </p:nvSpPr>
        <p:spPr bwMode="auto">
          <a:xfrm>
            <a:off x="889000" y="3494088"/>
            <a:ext cx="661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CC3300"/>
                </a:solidFill>
                <a:effectLst/>
                <a:uLnTx/>
                <a:uFillTx/>
                <a:latin typeface="+mn-lt"/>
                <a:ea typeface="+mn-ea"/>
                <a:cs typeface="+mn-ea"/>
                <a:sym typeface="+mn-lt"/>
              </a:rPr>
              <a:t>free</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08" name="Text Box 12"/>
          <p:cNvSpPr txBox="1">
            <a:spLocks noChangeArrowheads="1"/>
          </p:cNvSpPr>
          <p:nvPr/>
        </p:nvSpPr>
        <p:spPr bwMode="auto">
          <a:xfrm>
            <a:off x="2622550" y="3419475"/>
            <a:ext cx="2757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(a) </a:t>
            </a:r>
            <a:r>
              <a:rPr kumimoji="0" lang="zh-CN" altLang="zh-CN" sz="2400" b="0" i="0" u="none" strike="noStrike" kern="1200" cap="none" spc="0" normalizeH="0" baseline="0" noProof="0" dirty="0">
                <a:ln>
                  <a:noFill/>
                </a:ln>
                <a:solidFill>
                  <a:schemeClr val="accent2"/>
                </a:solidFill>
                <a:effectLst/>
                <a:uLnTx/>
                <a:uFillTx/>
                <a:latin typeface="+mn-lt"/>
                <a:ea typeface="+mn-ea"/>
                <a:cs typeface="+mn-ea"/>
                <a:sym typeface="+mn-lt"/>
              </a:rPr>
              <a:t>可利用存储空间</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6809" name="Rectangle 13"/>
          <p:cNvSpPr>
            <a:spLocks noChangeArrowheads="1"/>
          </p:cNvSpPr>
          <p:nvPr/>
        </p:nvSpPr>
        <p:spPr bwMode="auto">
          <a:xfrm>
            <a:off x="989013" y="4103688"/>
            <a:ext cx="7543800" cy="609600"/>
          </a:xfrm>
          <a:prstGeom prst="rect">
            <a:avLst/>
          </a:prstGeom>
          <a:solidFill>
            <a:srgbClr val="B8D4EC"/>
          </a:solidFill>
          <a:ln w="9525">
            <a:no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0" name="Rectangle 14"/>
          <p:cNvSpPr>
            <a:spLocks noChangeArrowheads="1"/>
          </p:cNvSpPr>
          <p:nvPr/>
        </p:nvSpPr>
        <p:spPr bwMode="auto">
          <a:xfrm>
            <a:off x="1674813" y="4103688"/>
            <a:ext cx="685800" cy="609600"/>
          </a:xfrm>
          <a:prstGeom prst="rect">
            <a:avLst/>
          </a:prstGeom>
          <a:solidFill>
            <a:schemeClr val="bg2">
              <a:lumMod val="20000"/>
              <a:lumOff val="80000"/>
            </a:schemeClr>
          </a:solidFill>
          <a:ln w="6350">
            <a:solidFill>
              <a:srgbClr val="C0504D"/>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1" name="Rectangle 15"/>
          <p:cNvSpPr>
            <a:spLocks noChangeArrowheads="1"/>
          </p:cNvSpPr>
          <p:nvPr/>
        </p:nvSpPr>
        <p:spPr bwMode="auto">
          <a:xfrm>
            <a:off x="6018213" y="4103688"/>
            <a:ext cx="685800" cy="609600"/>
          </a:xfrm>
          <a:prstGeom prst="rect">
            <a:avLst/>
          </a:prstGeom>
          <a:solidFill>
            <a:schemeClr val="bg2">
              <a:lumMod val="20000"/>
              <a:lumOff val="80000"/>
            </a:schemeClr>
          </a:solidFill>
          <a:ln w="6350">
            <a:solidFill>
              <a:srgbClr val="C0504D"/>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2" name="Rectangle 16"/>
          <p:cNvSpPr>
            <a:spLocks noChangeArrowheads="1"/>
          </p:cNvSpPr>
          <p:nvPr/>
        </p:nvSpPr>
        <p:spPr bwMode="auto">
          <a:xfrm>
            <a:off x="4722813" y="4103688"/>
            <a:ext cx="685800" cy="609600"/>
          </a:xfrm>
          <a:prstGeom prst="rect">
            <a:avLst/>
          </a:prstGeom>
          <a:solidFill>
            <a:schemeClr val="bg2">
              <a:lumMod val="20000"/>
              <a:lumOff val="80000"/>
            </a:schemeClr>
          </a:solidFill>
          <a:ln w="6350">
            <a:solidFill>
              <a:srgbClr val="C0504D"/>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3" name="Rectangle 17"/>
          <p:cNvSpPr>
            <a:spLocks noChangeArrowheads="1"/>
          </p:cNvSpPr>
          <p:nvPr/>
        </p:nvSpPr>
        <p:spPr bwMode="auto">
          <a:xfrm>
            <a:off x="2970213" y="4103688"/>
            <a:ext cx="685800" cy="609600"/>
          </a:xfrm>
          <a:prstGeom prst="rect">
            <a:avLst/>
          </a:prstGeom>
          <a:solidFill>
            <a:schemeClr val="bg2">
              <a:lumMod val="20000"/>
              <a:lumOff val="80000"/>
            </a:schemeClr>
          </a:solidFill>
          <a:ln w="6350">
            <a:solidFill>
              <a:srgbClr val="C0504D"/>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4" name="Line 18"/>
          <p:cNvSpPr>
            <a:spLocks noChangeShapeType="1"/>
          </p:cNvSpPr>
          <p:nvPr/>
        </p:nvSpPr>
        <p:spPr bwMode="auto">
          <a:xfrm>
            <a:off x="2132013" y="4103688"/>
            <a:ext cx="0" cy="609600"/>
          </a:xfrm>
          <a:prstGeom prst="line">
            <a:avLst/>
          </a:prstGeom>
          <a:noFill/>
          <a:ln w="9525">
            <a:solidFill>
              <a:srgbClr val="C0504D"/>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15" name="Text Box 19"/>
          <p:cNvSpPr txBox="1">
            <a:spLocks noChangeArrowheads="1"/>
          </p:cNvSpPr>
          <p:nvPr/>
        </p:nvSpPr>
        <p:spPr bwMode="auto">
          <a:xfrm>
            <a:off x="1712913" y="4108450"/>
            <a:ext cx="482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a:ln>
                  <a:noFill/>
                </a:ln>
                <a:solidFill>
                  <a:srgbClr val="FF5050"/>
                </a:solidFill>
                <a:effectLst/>
                <a:uLnTx/>
                <a:uFillTx/>
                <a:latin typeface="+mn-lt"/>
                <a:ea typeface="+mn-ea"/>
                <a:cs typeface="+mn-ea"/>
                <a:sym typeface="+mn-lt"/>
              </a:rPr>
              <a:t>a</a:t>
            </a:r>
            <a:r>
              <a:rPr kumimoji="0" lang="en-US" altLang="zh-CN" sz="2400" b="0" i="0" u="none" strike="noStrike" kern="1200" cap="none" spc="0" normalizeH="0" baseline="-25000" noProof="0" dirty="0">
                <a:ln>
                  <a:noFill/>
                </a:ln>
                <a:solidFill>
                  <a:srgbClr val="FF5050"/>
                </a:solidFill>
                <a:effectLst/>
                <a:uLnTx/>
                <a:uFillTx/>
                <a:latin typeface="+mn-lt"/>
                <a:ea typeface="+mn-ea"/>
                <a:cs typeface="+mn-ea"/>
                <a:sym typeface="+mn-lt"/>
              </a:rPr>
              <a:t>0</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6816" name="Text Box 20"/>
          <p:cNvSpPr txBox="1">
            <a:spLocks noChangeArrowheads="1"/>
          </p:cNvSpPr>
          <p:nvPr/>
        </p:nvSpPr>
        <p:spPr bwMode="auto">
          <a:xfrm>
            <a:off x="2995613" y="4113213"/>
            <a:ext cx="48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a:ln>
                  <a:noFill/>
                </a:ln>
                <a:solidFill>
                  <a:srgbClr val="FF5050"/>
                </a:solidFill>
                <a:effectLst/>
                <a:uLnTx/>
                <a:uFillTx/>
                <a:latin typeface="+mn-lt"/>
                <a:ea typeface="+mn-ea"/>
                <a:cs typeface="+mn-ea"/>
                <a:sym typeface="+mn-lt"/>
              </a:rPr>
              <a:t>a</a:t>
            </a:r>
            <a:r>
              <a:rPr kumimoji="0" lang="en-US" altLang="zh-CN" sz="2400" b="0" i="0" u="none" strike="noStrike" kern="1200" cap="none" spc="0" normalizeH="0" baseline="-25000" noProof="0" dirty="0">
                <a:ln>
                  <a:noFill/>
                </a:ln>
                <a:solidFill>
                  <a:srgbClr val="FF5050"/>
                </a:solidFill>
                <a:effectLst/>
                <a:uLnTx/>
                <a:uFillTx/>
                <a:latin typeface="+mn-lt"/>
                <a:ea typeface="+mn-ea"/>
                <a:cs typeface="+mn-ea"/>
                <a:sym typeface="+mn-lt"/>
              </a:rPr>
              <a:t>2</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6817" name="Text Box 21"/>
          <p:cNvSpPr txBox="1">
            <a:spLocks noChangeArrowheads="1"/>
          </p:cNvSpPr>
          <p:nvPr/>
        </p:nvSpPr>
        <p:spPr bwMode="auto">
          <a:xfrm>
            <a:off x="4757738" y="4103688"/>
            <a:ext cx="48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a:ln>
                  <a:noFill/>
                </a:ln>
                <a:solidFill>
                  <a:srgbClr val="FF5050"/>
                </a:solidFill>
                <a:effectLst/>
                <a:uLnTx/>
                <a:uFillTx/>
                <a:latin typeface="+mn-lt"/>
                <a:ea typeface="+mn-ea"/>
                <a:cs typeface="+mn-ea"/>
                <a:sym typeface="+mn-lt"/>
              </a:rPr>
              <a:t>a</a:t>
            </a:r>
            <a:r>
              <a:rPr kumimoji="0" lang="en-US" altLang="zh-CN" sz="2400" b="0" i="0" u="none" strike="noStrike" kern="1200" cap="none" spc="0" normalizeH="0" baseline="-25000" noProof="0" dirty="0">
                <a:ln>
                  <a:noFill/>
                </a:ln>
                <a:solidFill>
                  <a:srgbClr val="FF5050"/>
                </a:solidFill>
                <a:effectLst/>
                <a:uLnTx/>
                <a:uFillTx/>
                <a:latin typeface="+mn-lt"/>
                <a:ea typeface="+mn-ea"/>
                <a:cs typeface="+mn-ea"/>
                <a:sym typeface="+mn-lt"/>
              </a:rPr>
              <a:t>1</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6818" name="Text Box 22"/>
          <p:cNvSpPr txBox="1">
            <a:spLocks noChangeArrowheads="1"/>
          </p:cNvSpPr>
          <p:nvPr/>
        </p:nvSpPr>
        <p:spPr bwMode="auto">
          <a:xfrm>
            <a:off x="6018213" y="4094163"/>
            <a:ext cx="48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a:ln>
                  <a:noFill/>
                </a:ln>
                <a:solidFill>
                  <a:srgbClr val="FF5050"/>
                </a:solidFill>
                <a:effectLst/>
                <a:uLnTx/>
                <a:uFillTx/>
                <a:latin typeface="+mn-lt"/>
                <a:ea typeface="+mn-ea"/>
                <a:cs typeface="+mn-ea"/>
                <a:sym typeface="+mn-lt"/>
              </a:rPr>
              <a:t>a</a:t>
            </a:r>
            <a:r>
              <a:rPr kumimoji="0" lang="en-US" altLang="zh-CN" sz="2400" b="0" i="0" u="none" strike="noStrike" kern="1200" cap="none" spc="0" normalizeH="0" baseline="-25000" noProof="0" dirty="0">
                <a:ln>
                  <a:noFill/>
                </a:ln>
                <a:solidFill>
                  <a:srgbClr val="FF5050"/>
                </a:solidFill>
                <a:effectLst/>
                <a:uLnTx/>
                <a:uFillTx/>
                <a:latin typeface="+mn-lt"/>
                <a:ea typeface="+mn-ea"/>
                <a:cs typeface="+mn-ea"/>
                <a:sym typeface="+mn-lt"/>
              </a:rPr>
              <a:t>3</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6819" name="Line 23"/>
          <p:cNvSpPr>
            <a:spLocks noChangeShapeType="1"/>
          </p:cNvSpPr>
          <p:nvPr/>
        </p:nvSpPr>
        <p:spPr bwMode="auto">
          <a:xfrm>
            <a:off x="3427413" y="4103688"/>
            <a:ext cx="0" cy="609600"/>
          </a:xfrm>
          <a:prstGeom prst="line">
            <a:avLst/>
          </a:prstGeom>
          <a:noFill/>
          <a:ln w="9525">
            <a:solidFill>
              <a:srgbClr val="C0504D"/>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0" name="Line 24"/>
          <p:cNvSpPr>
            <a:spLocks noChangeShapeType="1"/>
          </p:cNvSpPr>
          <p:nvPr/>
        </p:nvSpPr>
        <p:spPr bwMode="auto">
          <a:xfrm>
            <a:off x="5180013" y="4103688"/>
            <a:ext cx="0" cy="609600"/>
          </a:xfrm>
          <a:prstGeom prst="line">
            <a:avLst/>
          </a:prstGeom>
          <a:noFill/>
          <a:ln w="9525">
            <a:solidFill>
              <a:srgbClr val="C0504D"/>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1" name="Line 25"/>
          <p:cNvSpPr>
            <a:spLocks noChangeShapeType="1"/>
          </p:cNvSpPr>
          <p:nvPr/>
        </p:nvSpPr>
        <p:spPr bwMode="auto">
          <a:xfrm>
            <a:off x="6475413" y="4103688"/>
            <a:ext cx="0" cy="609600"/>
          </a:xfrm>
          <a:prstGeom prst="line">
            <a:avLst/>
          </a:prstGeom>
          <a:noFill/>
          <a:ln w="9525">
            <a:solidFill>
              <a:srgbClr val="C0504D"/>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2" name="Text Box 26"/>
          <p:cNvSpPr txBox="1">
            <a:spLocks noChangeArrowheads="1"/>
          </p:cNvSpPr>
          <p:nvPr/>
        </p:nvSpPr>
        <p:spPr bwMode="auto">
          <a:xfrm>
            <a:off x="6399213" y="417988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C00000"/>
                </a:solidFill>
                <a:effectLst/>
                <a:uLnTx/>
                <a:uFillTx/>
                <a:latin typeface="+mn-lt"/>
                <a:ea typeface="+mn-ea"/>
                <a:cs typeface="+mn-ea"/>
                <a:sym typeface="+mn-lt"/>
              </a:rPr>
              <a:t></a:t>
            </a:r>
          </a:p>
        </p:txBody>
      </p:sp>
      <p:sp>
        <p:nvSpPr>
          <p:cNvPr id="76823" name="Line 27"/>
          <p:cNvSpPr>
            <a:spLocks noChangeShapeType="1"/>
          </p:cNvSpPr>
          <p:nvPr/>
        </p:nvSpPr>
        <p:spPr bwMode="auto">
          <a:xfrm flipV="1">
            <a:off x="1751013" y="4789488"/>
            <a:ext cx="0" cy="6096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4" name="Line 28"/>
          <p:cNvSpPr>
            <a:spLocks noChangeShapeType="1"/>
          </p:cNvSpPr>
          <p:nvPr/>
        </p:nvSpPr>
        <p:spPr bwMode="auto">
          <a:xfrm flipV="1">
            <a:off x="6780213" y="4789488"/>
            <a:ext cx="0" cy="381000"/>
          </a:xfrm>
          <a:prstGeom prst="line">
            <a:avLst/>
          </a:prstGeom>
          <a:noFill/>
          <a:ln w="38100">
            <a:solidFill>
              <a:srgbClr val="CC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5" name="Text Box 29"/>
          <p:cNvSpPr txBox="1">
            <a:spLocks noChangeArrowheads="1"/>
          </p:cNvSpPr>
          <p:nvPr/>
        </p:nvSpPr>
        <p:spPr bwMode="auto">
          <a:xfrm>
            <a:off x="6604000" y="5094288"/>
            <a:ext cx="661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CC3300"/>
                </a:solidFill>
                <a:effectLst/>
                <a:uLnTx/>
                <a:uFillTx/>
                <a:latin typeface="+mn-lt"/>
                <a:ea typeface="+mn-ea"/>
                <a:cs typeface="+mn-ea"/>
                <a:sym typeface="+mn-lt"/>
              </a:rPr>
              <a:t>free</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6" name="Text Box 30"/>
          <p:cNvSpPr txBox="1">
            <a:spLocks noChangeArrowheads="1"/>
          </p:cNvSpPr>
          <p:nvPr/>
        </p:nvSpPr>
        <p:spPr bwMode="auto">
          <a:xfrm>
            <a:off x="1125538" y="5246688"/>
            <a:ext cx="679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5050"/>
                </a:solidFill>
                <a:effectLst/>
                <a:uLnTx/>
                <a:uFillTx/>
                <a:latin typeface="+mn-lt"/>
                <a:ea typeface="+mn-ea"/>
                <a:cs typeface="+mn-ea"/>
                <a:sym typeface="+mn-lt"/>
              </a:rPr>
              <a:t>first</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7" name="Line 31"/>
          <p:cNvSpPr>
            <a:spLocks noChangeShapeType="1"/>
          </p:cNvSpPr>
          <p:nvPr/>
        </p:nvSpPr>
        <p:spPr bwMode="auto">
          <a:xfrm>
            <a:off x="2284413" y="4408488"/>
            <a:ext cx="0" cy="68580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8" name="Line 32"/>
          <p:cNvSpPr>
            <a:spLocks noChangeShapeType="1"/>
          </p:cNvSpPr>
          <p:nvPr/>
        </p:nvSpPr>
        <p:spPr bwMode="auto">
          <a:xfrm flipV="1">
            <a:off x="4799013" y="4789488"/>
            <a:ext cx="0" cy="3048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29" name="Line 33"/>
          <p:cNvSpPr>
            <a:spLocks noChangeShapeType="1"/>
          </p:cNvSpPr>
          <p:nvPr/>
        </p:nvSpPr>
        <p:spPr bwMode="auto">
          <a:xfrm flipH="1">
            <a:off x="2284413" y="5094288"/>
            <a:ext cx="251460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0" name="Line 34"/>
          <p:cNvSpPr>
            <a:spLocks noChangeShapeType="1"/>
          </p:cNvSpPr>
          <p:nvPr/>
        </p:nvSpPr>
        <p:spPr bwMode="auto">
          <a:xfrm>
            <a:off x="5332413" y="4408488"/>
            <a:ext cx="0" cy="9144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1" name="Line 35"/>
          <p:cNvSpPr>
            <a:spLocks noChangeShapeType="1"/>
          </p:cNvSpPr>
          <p:nvPr/>
        </p:nvSpPr>
        <p:spPr bwMode="auto">
          <a:xfrm flipH="1">
            <a:off x="3046413" y="5322888"/>
            <a:ext cx="2286000" cy="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2" name="Line 36"/>
          <p:cNvSpPr>
            <a:spLocks noChangeShapeType="1"/>
          </p:cNvSpPr>
          <p:nvPr/>
        </p:nvSpPr>
        <p:spPr bwMode="auto">
          <a:xfrm flipV="1">
            <a:off x="3046413" y="4789488"/>
            <a:ext cx="0" cy="5334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3" name="Line 37"/>
          <p:cNvSpPr>
            <a:spLocks noChangeShapeType="1"/>
          </p:cNvSpPr>
          <p:nvPr/>
        </p:nvSpPr>
        <p:spPr bwMode="auto">
          <a:xfrm>
            <a:off x="3579813" y="4408488"/>
            <a:ext cx="0" cy="11430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4" name="Line 38"/>
          <p:cNvSpPr>
            <a:spLocks noChangeShapeType="1"/>
          </p:cNvSpPr>
          <p:nvPr/>
        </p:nvSpPr>
        <p:spPr bwMode="auto">
          <a:xfrm>
            <a:off x="3579813" y="5551488"/>
            <a:ext cx="2514600" cy="0"/>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5" name="Line 39"/>
          <p:cNvSpPr>
            <a:spLocks noChangeShapeType="1"/>
          </p:cNvSpPr>
          <p:nvPr/>
        </p:nvSpPr>
        <p:spPr bwMode="auto">
          <a:xfrm flipV="1">
            <a:off x="6094413" y="4789488"/>
            <a:ext cx="0" cy="7620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836" name="Text Box 40"/>
          <p:cNvSpPr txBox="1">
            <a:spLocks noChangeArrowheads="1"/>
          </p:cNvSpPr>
          <p:nvPr/>
        </p:nvSpPr>
        <p:spPr bwMode="auto">
          <a:xfrm>
            <a:off x="2054225" y="5934075"/>
            <a:ext cx="4621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(b) </a:t>
            </a:r>
            <a:r>
              <a:rPr kumimoji="0" lang="zh-CN" altLang="zh-CN" sz="2400" b="0" i="0" u="none" strike="noStrike" kern="1200" cap="none" spc="0" normalizeH="0" baseline="0" noProof="0" dirty="0">
                <a:ln>
                  <a:noFill/>
                </a:ln>
                <a:solidFill>
                  <a:schemeClr val="accent2"/>
                </a:solidFill>
                <a:effectLst/>
                <a:uLnTx/>
                <a:uFillTx/>
                <a:latin typeface="+mn-lt"/>
                <a:ea typeface="+mn-ea"/>
                <a:cs typeface="+mn-ea"/>
                <a:sym typeface="+mn-lt"/>
              </a:rPr>
              <a:t>经过一段运行后的单链表结构</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7" name="Rectangle 4"/>
          <p:cNvSpPr>
            <a:spLocks noChangeArrowheads="1"/>
          </p:cNvSpPr>
          <p:nvPr/>
        </p:nvSpPr>
        <p:spPr bwMode="auto">
          <a:xfrm>
            <a:off x="836613" y="166688"/>
            <a:ext cx="78501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线性表的链式表示和实现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2068"/>
                                        </p:tgtEl>
                                        <p:attrNameLst>
                                          <p:attrName>style.visibility</p:attrName>
                                        </p:attrNameLst>
                                      </p:cBhvr>
                                      <p:to>
                                        <p:strVal val="visible"/>
                                      </p:to>
                                    </p:set>
                                  </p:childTnLst>
                                </p:cTn>
                              </p:par>
                            </p:childTnLst>
                          </p:cTn>
                        </p:par>
                        <p:par>
                          <p:cTn id="7" fill="hold">
                            <p:stCondLst>
                              <p:cond delay="500"/>
                            </p:stCondLst>
                            <p:childTnLst>
                              <p:par>
                                <p:cTn id="8" presetID="16" presetClass="entr" presetSubtype="37" fill="hold" grpId="0" nodeType="afterEffect">
                                  <p:stCondLst>
                                    <p:cond delay="1000"/>
                                  </p:stCondLst>
                                  <p:childTnLst>
                                    <p:set>
                                      <p:cBhvr>
                                        <p:cTn id="9" dur="1" fill="hold">
                                          <p:stCondLst>
                                            <p:cond delay="0"/>
                                          </p:stCondLst>
                                        </p:cTn>
                                        <p:tgtEl>
                                          <p:spTgt spid="472069"/>
                                        </p:tgtEl>
                                        <p:attrNameLst>
                                          <p:attrName>style.visibility</p:attrName>
                                        </p:attrNameLst>
                                      </p:cBhvr>
                                      <p:to>
                                        <p:strVal val="visible"/>
                                      </p:to>
                                    </p:set>
                                    <p:animEffect transition="in" filter="barn(outVertical)">
                                      <p:cBhvr>
                                        <p:cTn id="10" dur="500"/>
                                        <p:tgtEl>
                                          <p:spTgt spid="472069"/>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1" nodeType="clickEffect">
                                  <p:stCondLst>
                                    <p:cond delay="0"/>
                                  </p:stCondLst>
                                  <p:childTnLst>
                                    <p:set>
                                      <p:cBhvr>
                                        <p:cTn id="14" dur="1" fill="hold">
                                          <p:stCondLst>
                                            <p:cond delay="0"/>
                                          </p:stCondLst>
                                        </p:cTn>
                                        <p:tgtEl>
                                          <p:spTgt spid="472069"/>
                                        </p:tgtEl>
                                        <p:attrNameLst>
                                          <p:attrName>style.visibility</p:attrName>
                                        </p:attrNameLst>
                                      </p:cBhvr>
                                      <p:to>
                                        <p:strVal val="visible"/>
                                      </p:to>
                                    </p:set>
                                    <p:anim calcmode="lin" valueType="num">
                                      <p:cBhvr additive="base">
                                        <p:cTn id="15" dur="500" fill="hold"/>
                                        <p:tgtEl>
                                          <p:spTgt spid="472069"/>
                                        </p:tgtEl>
                                        <p:attrNameLst>
                                          <p:attrName>ppt_x</p:attrName>
                                        </p:attrNameLst>
                                      </p:cBhvr>
                                      <p:tavLst>
                                        <p:tav tm="0">
                                          <p:val>
                                            <p:strVal val="#ppt_x"/>
                                          </p:val>
                                        </p:tav>
                                        <p:tav tm="100000">
                                          <p:val>
                                            <p:strVal val="#ppt_x"/>
                                          </p:val>
                                        </p:tav>
                                      </p:tavLst>
                                    </p:anim>
                                    <p:anim calcmode="lin" valueType="num">
                                      <p:cBhvr additive="base">
                                        <p:cTn id="16" dur="500" fill="hold"/>
                                        <p:tgtEl>
                                          <p:spTgt spid="4720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8" grpId="0"/>
      <p:bldP spid="472069" grpId="0"/>
      <p:bldP spid="472069"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3"/>
          <p:cNvSpPr/>
          <p:nvPr/>
        </p:nvSpPr>
        <p:spPr>
          <a:xfrm>
            <a:off x="0" y="2501900"/>
            <a:ext cx="9144000" cy="4148138"/>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7826" name="Rectangle 4"/>
          <p:cNvSpPr>
            <a:spLocks noChangeArrowheads="1"/>
          </p:cNvSpPr>
          <p:nvPr/>
        </p:nvSpPr>
        <p:spPr bwMode="auto">
          <a:xfrm>
            <a:off x="790575" y="87313"/>
            <a:ext cx="8716963"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例    画出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26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个英文字母表的链式存储结构</a:t>
            </a:r>
          </a:p>
        </p:txBody>
      </p:sp>
      <p:sp>
        <p:nvSpPr>
          <p:cNvPr id="465925" name="Rectangle 5"/>
          <p:cNvSpPr>
            <a:spLocks noChangeArrowheads="1"/>
          </p:cNvSpPr>
          <p:nvPr/>
        </p:nvSpPr>
        <p:spPr bwMode="auto">
          <a:xfrm>
            <a:off x="220663" y="1836738"/>
            <a:ext cx="8059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链式存储结构： </a:t>
            </a:r>
          </a:p>
        </p:txBody>
      </p:sp>
      <p:grpSp>
        <p:nvGrpSpPr>
          <p:cNvPr id="2" name="Group 6"/>
          <p:cNvGrpSpPr/>
          <p:nvPr/>
        </p:nvGrpSpPr>
        <p:grpSpPr>
          <a:xfrm>
            <a:off x="762000" y="3859213"/>
            <a:ext cx="6754813" cy="1730375"/>
            <a:chOff x="0" y="1563"/>
            <a:chExt cx="5248" cy="948"/>
          </a:xfrm>
        </p:grpSpPr>
        <p:pic>
          <p:nvPicPr>
            <p:cNvPr id="77868" name="Picture 7" descr="2-1字母链式存储图"/>
            <p:cNvPicPr>
              <a:picLocks noChangeAspect="1" noChangeArrowheads="1"/>
            </p:cNvPicPr>
            <p:nvPr/>
          </p:nvPicPr>
          <p:blipFill>
            <a:blip r:embed="rId2">
              <a:clrChange>
                <a:clrFrom>
                  <a:srgbClr val="FFFFFF"/>
                </a:clrFrom>
                <a:clrTo>
                  <a:srgbClr val="FFFFFF">
                    <a:alpha val="0"/>
                  </a:srgbClr>
                </a:clrTo>
              </a:clrChange>
              <a:duotone>
                <a:prstClr val="black"/>
                <a:srgbClr val="EAEAEA">
                  <a:tint val="45000"/>
                  <a:satMod val="400000"/>
                </a:srgbClr>
              </a:duotone>
              <a:extLst>
                <a:ext uri="{28A0092B-C50C-407E-A947-70E740481C1C}">
                  <a14:useLocalDpi xmlns:a14="http://schemas.microsoft.com/office/drawing/2010/main" val="0"/>
                </a:ext>
              </a:extLst>
            </a:blip>
            <a:srcRect r="29062"/>
            <a:stretch>
              <a:fillRect/>
            </a:stretch>
          </p:blipFill>
          <p:spPr bwMode="auto">
            <a:xfrm>
              <a:off x="0" y="1563"/>
              <a:ext cx="5248" cy="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9" name="Line 8"/>
            <p:cNvSpPr>
              <a:spLocks noChangeShapeType="1"/>
            </p:cNvSpPr>
            <p:nvPr/>
          </p:nvSpPr>
          <p:spPr bwMode="auto">
            <a:xfrm>
              <a:off x="3321" y="1805"/>
              <a:ext cx="0" cy="25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70" name="Line 9"/>
            <p:cNvSpPr>
              <a:spLocks noChangeShapeType="1"/>
            </p:cNvSpPr>
            <p:nvPr/>
          </p:nvSpPr>
          <p:spPr bwMode="auto">
            <a:xfrm>
              <a:off x="4443" y="1805"/>
              <a:ext cx="0" cy="25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71" name="Line 10"/>
            <p:cNvSpPr>
              <a:spLocks noChangeShapeType="1"/>
            </p:cNvSpPr>
            <p:nvPr/>
          </p:nvSpPr>
          <p:spPr bwMode="auto">
            <a:xfrm>
              <a:off x="1191" y="1795"/>
              <a:ext cx="0" cy="25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72" name="AutoShape 11"/>
            <p:cNvSpPr>
              <a:spLocks noChangeArrowheads="1"/>
            </p:cNvSpPr>
            <p:nvPr/>
          </p:nvSpPr>
          <p:spPr bwMode="auto">
            <a:xfrm>
              <a:off x="4646" y="2064"/>
              <a:ext cx="213" cy="236"/>
            </a:xfrm>
            <a:prstGeom prst="downArrow">
              <a:avLst>
                <a:gd name="adj1" fmla="val 50000"/>
                <a:gd name="adj2" fmla="val 63202"/>
              </a:avLst>
            </a:prstGeom>
            <a:solidFill>
              <a:schemeClr val="accent1"/>
            </a:solidFill>
            <a:ln w="9525">
              <a:no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65932" name="Rectangle 12"/>
          <p:cNvSpPr>
            <a:spLocks noChangeArrowheads="1"/>
          </p:cNvSpPr>
          <p:nvPr/>
        </p:nvSpPr>
        <p:spPr bwMode="auto">
          <a:xfrm>
            <a:off x="230188" y="1125538"/>
            <a:ext cx="8745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逻辑结构：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 b,  … ,y, z</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3" name="Group 13"/>
          <p:cNvGrpSpPr/>
          <p:nvPr/>
        </p:nvGrpSpPr>
        <p:grpSpPr>
          <a:xfrm>
            <a:off x="239713" y="2890838"/>
            <a:ext cx="8088312" cy="534987"/>
            <a:chOff x="50" y="1438"/>
            <a:chExt cx="5095" cy="337"/>
          </a:xfrm>
        </p:grpSpPr>
        <p:sp>
          <p:nvSpPr>
            <p:cNvPr id="77831" name="Rectangle 14"/>
            <p:cNvSpPr>
              <a:spLocks noChangeArrowheads="1"/>
            </p:cNvSpPr>
            <p:nvPr/>
          </p:nvSpPr>
          <p:spPr bwMode="auto">
            <a:xfrm>
              <a:off x="1598" y="1444"/>
              <a:ext cx="13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2" name="Rectangle 15"/>
            <p:cNvSpPr>
              <a:spLocks noChangeArrowheads="1"/>
            </p:cNvSpPr>
            <p:nvPr/>
          </p:nvSpPr>
          <p:spPr bwMode="auto">
            <a:xfrm>
              <a:off x="921" y="1444"/>
              <a:ext cx="67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a</a:t>
              </a:r>
            </a:p>
          </p:txBody>
        </p:sp>
        <p:sp>
          <p:nvSpPr>
            <p:cNvPr id="77833" name="Line 16"/>
            <p:cNvSpPr>
              <a:spLocks noChangeShapeType="1"/>
            </p:cNvSpPr>
            <p:nvPr/>
          </p:nvSpPr>
          <p:spPr bwMode="auto">
            <a:xfrm>
              <a:off x="921" y="1444"/>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4" name="Line 17"/>
            <p:cNvSpPr>
              <a:spLocks noChangeShapeType="1"/>
            </p:cNvSpPr>
            <p:nvPr/>
          </p:nvSpPr>
          <p:spPr bwMode="auto">
            <a:xfrm>
              <a:off x="921" y="1774"/>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5" name="Line 18"/>
            <p:cNvSpPr>
              <a:spLocks noChangeShapeType="1"/>
            </p:cNvSpPr>
            <p:nvPr/>
          </p:nvSpPr>
          <p:spPr bwMode="auto">
            <a:xfrm>
              <a:off x="921" y="144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6" name="Line 19"/>
            <p:cNvSpPr>
              <a:spLocks noChangeShapeType="1"/>
            </p:cNvSpPr>
            <p:nvPr/>
          </p:nvSpPr>
          <p:spPr bwMode="auto">
            <a:xfrm>
              <a:off x="1598" y="1444"/>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7" name="Line 20"/>
            <p:cNvSpPr>
              <a:spLocks noChangeShapeType="1"/>
            </p:cNvSpPr>
            <p:nvPr/>
          </p:nvSpPr>
          <p:spPr bwMode="auto">
            <a:xfrm>
              <a:off x="1737" y="144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38" name="Rectangle 21"/>
            <p:cNvSpPr>
              <a:spLocks noChangeArrowheads="1"/>
            </p:cNvSpPr>
            <p:nvPr/>
          </p:nvSpPr>
          <p:spPr bwMode="auto">
            <a:xfrm>
              <a:off x="50" y="1488"/>
              <a:ext cx="55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head</a:t>
              </a:r>
            </a:p>
          </p:txBody>
        </p:sp>
        <p:sp>
          <p:nvSpPr>
            <p:cNvPr id="77839" name="Line 22"/>
            <p:cNvSpPr>
              <a:spLocks noChangeShapeType="1"/>
            </p:cNvSpPr>
            <p:nvPr/>
          </p:nvSpPr>
          <p:spPr bwMode="auto">
            <a:xfrm>
              <a:off x="50" y="1488"/>
              <a:ext cx="55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0" name="Line 23"/>
            <p:cNvSpPr>
              <a:spLocks noChangeShapeType="1"/>
            </p:cNvSpPr>
            <p:nvPr/>
          </p:nvSpPr>
          <p:spPr bwMode="auto">
            <a:xfrm>
              <a:off x="50" y="1775"/>
              <a:ext cx="55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1" name="Line 24"/>
            <p:cNvSpPr>
              <a:spLocks noChangeShapeType="1"/>
            </p:cNvSpPr>
            <p:nvPr/>
          </p:nvSpPr>
          <p:spPr bwMode="auto">
            <a:xfrm>
              <a:off x="50" y="1488"/>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2" name="Line 25"/>
            <p:cNvSpPr>
              <a:spLocks noChangeShapeType="1"/>
            </p:cNvSpPr>
            <p:nvPr/>
          </p:nvSpPr>
          <p:spPr bwMode="auto">
            <a:xfrm>
              <a:off x="602" y="1488"/>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3" name="Line 26"/>
            <p:cNvSpPr>
              <a:spLocks noChangeShapeType="1"/>
            </p:cNvSpPr>
            <p:nvPr/>
          </p:nvSpPr>
          <p:spPr bwMode="auto">
            <a:xfrm>
              <a:off x="585" y="1630"/>
              <a:ext cx="28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4" name="Rectangle 27"/>
            <p:cNvSpPr>
              <a:spLocks noChangeArrowheads="1"/>
            </p:cNvSpPr>
            <p:nvPr/>
          </p:nvSpPr>
          <p:spPr bwMode="auto">
            <a:xfrm>
              <a:off x="2678" y="1438"/>
              <a:ext cx="16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5" name="Rectangle 28"/>
            <p:cNvSpPr>
              <a:spLocks noChangeArrowheads="1"/>
            </p:cNvSpPr>
            <p:nvPr/>
          </p:nvSpPr>
          <p:spPr bwMode="auto">
            <a:xfrm>
              <a:off x="2025" y="1438"/>
              <a:ext cx="65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b</a:t>
              </a:r>
            </a:p>
          </p:txBody>
        </p:sp>
        <p:sp>
          <p:nvSpPr>
            <p:cNvPr id="77846" name="Line 29"/>
            <p:cNvSpPr>
              <a:spLocks noChangeShapeType="1"/>
            </p:cNvSpPr>
            <p:nvPr/>
          </p:nvSpPr>
          <p:spPr bwMode="auto">
            <a:xfrm>
              <a:off x="2025" y="1438"/>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7" name="Line 30"/>
            <p:cNvSpPr>
              <a:spLocks noChangeShapeType="1"/>
            </p:cNvSpPr>
            <p:nvPr/>
          </p:nvSpPr>
          <p:spPr bwMode="auto">
            <a:xfrm>
              <a:off x="2025" y="1764"/>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8" name="Line 31"/>
            <p:cNvSpPr>
              <a:spLocks noChangeShapeType="1"/>
            </p:cNvSpPr>
            <p:nvPr/>
          </p:nvSpPr>
          <p:spPr bwMode="auto">
            <a:xfrm>
              <a:off x="2025" y="143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49" name="Line 32"/>
            <p:cNvSpPr>
              <a:spLocks noChangeShapeType="1"/>
            </p:cNvSpPr>
            <p:nvPr/>
          </p:nvSpPr>
          <p:spPr bwMode="auto">
            <a:xfrm>
              <a:off x="2678" y="1438"/>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0" name="Line 33"/>
            <p:cNvSpPr>
              <a:spLocks noChangeShapeType="1"/>
            </p:cNvSpPr>
            <p:nvPr/>
          </p:nvSpPr>
          <p:spPr bwMode="auto">
            <a:xfrm>
              <a:off x="2841" y="143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1" name="Rectangle 34"/>
            <p:cNvSpPr>
              <a:spLocks noChangeArrowheads="1"/>
            </p:cNvSpPr>
            <p:nvPr/>
          </p:nvSpPr>
          <p:spPr bwMode="auto">
            <a:xfrm>
              <a:off x="4877" y="1438"/>
              <a:ext cx="2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77852" name="Rectangle 35"/>
            <p:cNvSpPr>
              <a:spLocks noChangeArrowheads="1"/>
            </p:cNvSpPr>
            <p:nvPr/>
          </p:nvSpPr>
          <p:spPr bwMode="auto">
            <a:xfrm>
              <a:off x="4185" y="1438"/>
              <a:ext cx="6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z</a:t>
              </a:r>
            </a:p>
          </p:txBody>
        </p:sp>
        <p:sp>
          <p:nvSpPr>
            <p:cNvPr id="77853" name="Line 36"/>
            <p:cNvSpPr>
              <a:spLocks noChangeShapeType="1"/>
            </p:cNvSpPr>
            <p:nvPr/>
          </p:nvSpPr>
          <p:spPr bwMode="auto">
            <a:xfrm>
              <a:off x="4185" y="1438"/>
              <a:ext cx="96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4" name="Line 37"/>
            <p:cNvSpPr>
              <a:spLocks noChangeShapeType="1"/>
            </p:cNvSpPr>
            <p:nvPr/>
          </p:nvSpPr>
          <p:spPr bwMode="auto">
            <a:xfrm>
              <a:off x="4185" y="1768"/>
              <a:ext cx="96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5" name="Line 38"/>
            <p:cNvSpPr>
              <a:spLocks noChangeShapeType="1"/>
            </p:cNvSpPr>
            <p:nvPr/>
          </p:nvSpPr>
          <p:spPr bwMode="auto">
            <a:xfrm>
              <a:off x="4185" y="143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6" name="Line 39"/>
            <p:cNvSpPr>
              <a:spLocks noChangeShapeType="1"/>
            </p:cNvSpPr>
            <p:nvPr/>
          </p:nvSpPr>
          <p:spPr bwMode="auto">
            <a:xfrm>
              <a:off x="4877" y="1438"/>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7" name="Line 40"/>
            <p:cNvSpPr>
              <a:spLocks noChangeShapeType="1"/>
            </p:cNvSpPr>
            <p:nvPr/>
          </p:nvSpPr>
          <p:spPr bwMode="auto">
            <a:xfrm>
              <a:off x="5145" y="143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8" name="Rectangle 41"/>
            <p:cNvSpPr>
              <a:spLocks noChangeArrowheads="1"/>
            </p:cNvSpPr>
            <p:nvPr/>
          </p:nvSpPr>
          <p:spPr bwMode="auto">
            <a:xfrm>
              <a:off x="3734" y="1438"/>
              <a:ext cx="1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59" name="Rectangle 42"/>
            <p:cNvSpPr>
              <a:spLocks noChangeArrowheads="1"/>
            </p:cNvSpPr>
            <p:nvPr/>
          </p:nvSpPr>
          <p:spPr bwMode="auto">
            <a:xfrm>
              <a:off x="3129" y="1438"/>
              <a:ext cx="60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77860" name="Line 43"/>
            <p:cNvSpPr>
              <a:spLocks noChangeShapeType="1"/>
            </p:cNvSpPr>
            <p:nvPr/>
          </p:nvSpPr>
          <p:spPr bwMode="auto">
            <a:xfrm>
              <a:off x="3129" y="1438"/>
              <a:ext cx="76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1" name="Line 44"/>
            <p:cNvSpPr>
              <a:spLocks noChangeShapeType="1"/>
            </p:cNvSpPr>
            <p:nvPr/>
          </p:nvSpPr>
          <p:spPr bwMode="auto">
            <a:xfrm>
              <a:off x="3129" y="1768"/>
              <a:ext cx="76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2" name="Line 45"/>
            <p:cNvSpPr>
              <a:spLocks noChangeShapeType="1"/>
            </p:cNvSpPr>
            <p:nvPr/>
          </p:nvSpPr>
          <p:spPr bwMode="auto">
            <a:xfrm>
              <a:off x="3129" y="143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3" name="Line 46"/>
            <p:cNvSpPr>
              <a:spLocks noChangeShapeType="1"/>
            </p:cNvSpPr>
            <p:nvPr/>
          </p:nvSpPr>
          <p:spPr bwMode="auto">
            <a:xfrm>
              <a:off x="3734" y="1438"/>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4" name="Line 47"/>
            <p:cNvSpPr>
              <a:spLocks noChangeShapeType="1"/>
            </p:cNvSpPr>
            <p:nvPr/>
          </p:nvSpPr>
          <p:spPr bwMode="auto">
            <a:xfrm>
              <a:off x="3897" y="143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5" name="Line 48"/>
            <p:cNvSpPr>
              <a:spLocks noChangeShapeType="1"/>
            </p:cNvSpPr>
            <p:nvPr/>
          </p:nvSpPr>
          <p:spPr bwMode="auto">
            <a:xfrm>
              <a:off x="1641" y="1582"/>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6" name="Line 49"/>
            <p:cNvSpPr>
              <a:spLocks noChangeShapeType="1"/>
            </p:cNvSpPr>
            <p:nvPr/>
          </p:nvSpPr>
          <p:spPr bwMode="auto">
            <a:xfrm>
              <a:off x="2745" y="1582"/>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867" name="Line 50"/>
            <p:cNvSpPr>
              <a:spLocks noChangeShapeType="1"/>
            </p:cNvSpPr>
            <p:nvPr/>
          </p:nvSpPr>
          <p:spPr bwMode="auto">
            <a:xfrm>
              <a:off x="3801" y="1582"/>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593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1000"/>
                                  </p:stCondLst>
                                  <p:childTnLst>
                                    <p:set>
                                      <p:cBhvr>
                                        <p:cTn id="9" dur="1" fill="hold">
                                          <p:stCondLst>
                                            <p:cond delay="499"/>
                                          </p:stCondLst>
                                        </p:cTn>
                                        <p:tgtEl>
                                          <p:spTgt spid="4659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out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out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5" grpId="0"/>
      <p:bldP spid="46593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8" name="Text Box 4"/>
          <p:cNvSpPr txBox="1">
            <a:spLocks noChangeArrowheads="1"/>
          </p:cNvSpPr>
          <p:nvPr/>
        </p:nvSpPr>
        <p:spPr bwMode="auto">
          <a:xfrm>
            <a:off x="525463" y="4822825"/>
            <a:ext cx="84296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各结点由两个域组成：</a:t>
            </a: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数据域：</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存储元素数值数据</a:t>
            </a: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指针域：</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存储直接后继结点的存储位置</a:t>
            </a:r>
          </a:p>
        </p:txBody>
      </p:sp>
      <p:grpSp>
        <p:nvGrpSpPr>
          <p:cNvPr id="2" name="Group 30"/>
          <p:cNvGrpSpPr/>
          <p:nvPr/>
        </p:nvGrpSpPr>
        <p:grpSpPr>
          <a:xfrm>
            <a:off x="5624513" y="5013325"/>
            <a:ext cx="1905000" cy="523875"/>
            <a:chOff x="946" y="3233"/>
            <a:chExt cx="1200" cy="330"/>
          </a:xfrm>
        </p:grpSpPr>
        <p:sp>
          <p:nvSpPr>
            <p:cNvPr id="78858" name="Rectangle 6"/>
            <p:cNvSpPr>
              <a:spLocks noChangeArrowheads="1"/>
            </p:cNvSpPr>
            <p:nvPr/>
          </p:nvSpPr>
          <p:spPr bwMode="auto">
            <a:xfrm>
              <a:off x="1546" y="3233"/>
              <a:ext cx="6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ea"/>
                  <a:sym typeface="+mn-lt"/>
                </a:rPr>
                <a:t>指针</a:t>
              </a:r>
            </a:p>
          </p:txBody>
        </p:sp>
        <p:sp>
          <p:nvSpPr>
            <p:cNvPr id="78859" name="Rectangle 7"/>
            <p:cNvSpPr>
              <a:spLocks noChangeArrowheads="1"/>
            </p:cNvSpPr>
            <p:nvPr/>
          </p:nvSpPr>
          <p:spPr bwMode="auto">
            <a:xfrm>
              <a:off x="946" y="3233"/>
              <a:ext cx="6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数据</a:t>
              </a:r>
            </a:p>
          </p:txBody>
        </p:sp>
        <p:sp>
          <p:nvSpPr>
            <p:cNvPr id="78860" name="Line 8"/>
            <p:cNvSpPr>
              <a:spLocks noChangeShapeType="1"/>
            </p:cNvSpPr>
            <p:nvPr/>
          </p:nvSpPr>
          <p:spPr bwMode="auto">
            <a:xfrm>
              <a:off x="946" y="3233"/>
              <a:ext cx="120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8861" name="Line 9"/>
            <p:cNvSpPr>
              <a:spLocks noChangeShapeType="1"/>
            </p:cNvSpPr>
            <p:nvPr/>
          </p:nvSpPr>
          <p:spPr bwMode="auto">
            <a:xfrm>
              <a:off x="946" y="3563"/>
              <a:ext cx="120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8862" name="Line 10"/>
            <p:cNvSpPr>
              <a:spLocks noChangeShapeType="1"/>
            </p:cNvSpPr>
            <p:nvPr/>
          </p:nvSpPr>
          <p:spPr bwMode="auto">
            <a:xfrm>
              <a:off x="946" y="3233"/>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8863" name="Line 11"/>
            <p:cNvSpPr>
              <a:spLocks noChangeShapeType="1"/>
            </p:cNvSpPr>
            <p:nvPr/>
          </p:nvSpPr>
          <p:spPr bwMode="auto">
            <a:xfrm>
              <a:off x="1546" y="3233"/>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8864" name="Line 12"/>
            <p:cNvSpPr>
              <a:spLocks noChangeShapeType="1"/>
            </p:cNvSpPr>
            <p:nvPr/>
          </p:nvSpPr>
          <p:spPr bwMode="auto">
            <a:xfrm>
              <a:off x="2146" y="3233"/>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82948" name="Group 24"/>
          <p:cNvGrpSpPr/>
          <p:nvPr/>
        </p:nvGrpSpPr>
        <p:grpSpPr>
          <a:xfrm>
            <a:off x="465138" y="1460500"/>
            <a:ext cx="8266112" cy="2416175"/>
            <a:chOff x="0" y="1563"/>
            <a:chExt cx="5248" cy="948"/>
          </a:xfrm>
        </p:grpSpPr>
        <p:pic>
          <p:nvPicPr>
            <p:cNvPr id="78853" name="Picture 25" descr="2-1字母链式存储图"/>
            <p:cNvPicPr>
              <a:picLocks noChangeAspect="1" noChangeArrowheads="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r="29062"/>
            <a:stretch>
              <a:fillRect/>
            </a:stretch>
          </p:blipFill>
          <p:spPr bwMode="auto">
            <a:xfrm>
              <a:off x="0" y="1563"/>
              <a:ext cx="5248" cy="948"/>
            </a:xfrm>
            <a:prstGeom prst="round2DiagRect">
              <a:avLst>
                <a:gd name="adj1" fmla="val 16667"/>
                <a:gd name="adj2" fmla="val 0"/>
              </a:avLst>
            </a:prstGeom>
          </p:spPr>
          <p:style>
            <a:lnRef idx="1">
              <a:schemeClr val="accent3"/>
            </a:lnRef>
            <a:fillRef idx="2">
              <a:schemeClr val="accent3"/>
            </a:fillRef>
            <a:effectRef idx="1">
              <a:schemeClr val="accent3"/>
            </a:effectRef>
            <a:fontRef idx="minor">
              <a:schemeClr val="dk1"/>
            </a:fontRef>
          </p:style>
        </p:pic>
        <p:sp>
          <p:nvSpPr>
            <p:cNvPr id="78854" name="Line 26"/>
            <p:cNvSpPr>
              <a:spLocks noChangeShapeType="1"/>
            </p:cNvSpPr>
            <p:nvPr/>
          </p:nvSpPr>
          <p:spPr bwMode="auto">
            <a:xfrm>
              <a:off x="3321" y="1795"/>
              <a:ext cx="0" cy="239"/>
            </a:xfrm>
            <a:prstGeom prst="line">
              <a:avLst/>
            </a:prstGeom>
            <a:ln>
              <a:solidFill>
                <a:schemeClr val="tx1">
                  <a:lumMod val="95000"/>
                  <a:lumOff val="5000"/>
                </a:schemeClr>
              </a:solidFill>
            </a:ln>
          </p:spPr>
          <p:style>
            <a:lnRef idx="1">
              <a:schemeClr val="accent3"/>
            </a:lnRef>
            <a:fillRef idx="2">
              <a:schemeClr val="accent3"/>
            </a:fillRef>
            <a:effectRef idx="1">
              <a:schemeClr val="accent3"/>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78855" name="Line 27"/>
            <p:cNvSpPr>
              <a:spLocks noChangeShapeType="1"/>
            </p:cNvSpPr>
            <p:nvPr/>
          </p:nvSpPr>
          <p:spPr bwMode="auto">
            <a:xfrm>
              <a:off x="4443" y="1805"/>
              <a:ext cx="0" cy="239"/>
            </a:xfrm>
            <a:prstGeom prst="line">
              <a:avLst/>
            </a:prstGeom>
            <a:ln>
              <a:solidFill>
                <a:schemeClr val="tx1">
                  <a:lumMod val="95000"/>
                  <a:lumOff val="5000"/>
                </a:schemeClr>
              </a:solidFill>
            </a:ln>
          </p:spPr>
          <p:style>
            <a:lnRef idx="1">
              <a:schemeClr val="accent3"/>
            </a:lnRef>
            <a:fillRef idx="2">
              <a:schemeClr val="accent3"/>
            </a:fillRef>
            <a:effectRef idx="1">
              <a:schemeClr val="accent3"/>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78856" name="Line 28"/>
            <p:cNvSpPr>
              <a:spLocks noChangeShapeType="1"/>
            </p:cNvSpPr>
            <p:nvPr/>
          </p:nvSpPr>
          <p:spPr bwMode="auto">
            <a:xfrm>
              <a:off x="1191" y="1785"/>
              <a:ext cx="0" cy="259"/>
            </a:xfrm>
            <a:prstGeom prst="line">
              <a:avLst/>
            </a:prstGeom>
            <a:ln>
              <a:solidFill>
                <a:schemeClr val="tx1">
                  <a:lumMod val="95000"/>
                  <a:lumOff val="5000"/>
                </a:schemeClr>
              </a:solidFill>
            </a:ln>
          </p:spPr>
          <p:style>
            <a:lnRef idx="1">
              <a:schemeClr val="accent3"/>
            </a:lnRef>
            <a:fillRef idx="2">
              <a:schemeClr val="accent3"/>
            </a:fillRef>
            <a:effectRef idx="1">
              <a:schemeClr val="accent3"/>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78857" name="AutoShape 29"/>
            <p:cNvSpPr>
              <a:spLocks noChangeArrowheads="1"/>
            </p:cNvSpPr>
            <p:nvPr/>
          </p:nvSpPr>
          <p:spPr bwMode="auto">
            <a:xfrm>
              <a:off x="4646" y="2064"/>
              <a:ext cx="212" cy="216"/>
            </a:xfrm>
            <a:prstGeom prst="downArrow">
              <a:avLst>
                <a:gd name="adj1" fmla="val 50000"/>
                <a:gd name="adj2" fmla="val 32771"/>
              </a:avLst>
            </a:prstGeom>
            <a:solidFill>
              <a:srgbClr val="FF0000"/>
            </a:solidFill>
          </p:spPr>
          <p:style>
            <a:lnRef idx="1">
              <a:schemeClr val="accent3"/>
            </a:lnRef>
            <a:fillRef idx="2">
              <a:schemeClr val="accent3"/>
            </a:fillRef>
            <a:effectRef idx="1">
              <a:schemeClr val="accent3"/>
            </a:effectRef>
            <a:fontRef idx="minor">
              <a:schemeClr val="dk1"/>
            </a:fontRef>
          </p:style>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7" name="Rectangle 4"/>
          <p:cNvSpPr>
            <a:spLocks noChangeArrowheads="1"/>
          </p:cNvSpPr>
          <p:nvPr/>
        </p:nvSpPr>
        <p:spPr bwMode="auto">
          <a:xfrm>
            <a:off x="790575" y="87313"/>
            <a:ext cx="8716963"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例    画出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26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个英文字母表的链式存储结构</a:t>
            </a:r>
          </a:p>
        </p:txBody>
      </p:sp>
      <p:cxnSp>
        <p:nvCxnSpPr>
          <p:cNvPr id="82950" name="直接连接符 17"/>
          <p:cNvCxnSpPr/>
          <p:nvPr/>
        </p:nvCxnSpPr>
        <p:spPr>
          <a:xfrm>
            <a:off x="461963" y="4437063"/>
            <a:ext cx="8202612" cy="0"/>
          </a:xfrm>
          <a:prstGeom prst="line">
            <a:avLst/>
          </a:prstGeom>
          <a:ln w="9525" cap="flat" cmpd="sng">
            <a:solidFill>
              <a:srgbClr val="CAB5EA"/>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69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69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69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ox(i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mph" presetSubtype="0" fill="hold" nodeType="clickEffect">
                                  <p:stCondLst>
                                    <p:cond delay="0"/>
                                  </p:stCondLst>
                                  <p:childTnLst>
                                    <p:animScale>
                                      <p:cBhvr>
                                        <p:cTn id="23"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6"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sp>
        <p:nvSpPr>
          <p:cNvPr id="468997" name="Text Box 5"/>
          <p:cNvSpPr txBox="1">
            <a:spLocks noChangeArrowheads="1"/>
          </p:cNvSpPr>
          <p:nvPr/>
        </p:nvSpPr>
        <p:spPr bwMode="auto">
          <a:xfrm>
            <a:off x="387350" y="2166938"/>
            <a:ext cx="53943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9755" indent="-579755">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579755" marR="0" lvl="0" indent="-579755"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、结点：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数据元素的存储映像。由数据域和指针域两部分组成</a:t>
            </a:r>
          </a:p>
          <a:p>
            <a:pPr marL="579755" marR="0" lvl="0" indent="-579755" algn="l" defTabSz="914400" rtl="0" eaLnBrk="1" fontAlgn="base" latinLnBrk="0" hangingPunct="1">
              <a:lnSpc>
                <a:spcPct val="13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、链表：</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个结点由</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指针链</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组成一个链表。它是线性表的链式存储映像，称为线性表的链式存储结构</a:t>
            </a:r>
          </a:p>
        </p:txBody>
      </p:sp>
      <p:grpSp>
        <p:nvGrpSpPr>
          <p:cNvPr id="35" name="组合 34"/>
          <p:cNvGrpSpPr/>
          <p:nvPr/>
        </p:nvGrpSpPr>
        <p:grpSpPr>
          <a:xfrm>
            <a:off x="0" y="6380163"/>
            <a:ext cx="9144000" cy="431800"/>
            <a:chOff x="0" y="6379908"/>
            <a:chExt cx="9144000" cy="432048"/>
          </a:xfrm>
        </p:grpSpPr>
        <p:grpSp>
          <p:nvGrpSpPr>
            <p:cNvPr id="83974" name="组合 5"/>
            <p:cNvGrpSpPr/>
            <p:nvPr/>
          </p:nvGrpSpPr>
          <p:grpSpPr>
            <a:xfrm>
              <a:off x="0" y="6379908"/>
              <a:ext cx="9144000" cy="432048"/>
              <a:chOff x="0" y="6165304"/>
              <a:chExt cx="9144000" cy="432048"/>
            </a:xfrm>
          </p:grpSpPr>
          <p:cxnSp>
            <p:nvCxnSpPr>
              <p:cNvPr id="83976"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39" name="直接连接符 38"/>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83978"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37"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89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8997">
                                            <p:txEl>
                                              <p:pRg st="1" end="1"/>
                                            </p:txEl>
                                          </p:spTgt>
                                        </p:tgtEl>
                                        <p:attrNameLst>
                                          <p:attrName>style.visibility</p:attrName>
                                        </p:attrNameLst>
                                      </p:cBhvr>
                                      <p:to>
                                        <p:strVal val="visible"/>
                                      </p:to>
                                    </p:se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35"/>
                                        </p:tgtEl>
                                        <p:attrNameLst>
                                          <p:attrName>style.visibility</p:attrName>
                                        </p:attrNameLst>
                                      </p:cBhvr>
                                      <p:to>
                                        <p:strVal val="visible"/>
                                      </p:to>
                                    </p:set>
                                    <p:anim calcmode="lin" valueType="num">
                                      <p:cBhvr additive="base">
                                        <p:cTn id="14" dur="500" fill="hold"/>
                                        <p:tgtEl>
                                          <p:spTgt spid="35"/>
                                        </p:tgtEl>
                                        <p:attrNameLst>
                                          <p:attrName>ppt_x</p:attrName>
                                        </p:attrNameLst>
                                      </p:cBhvr>
                                      <p:tavLst>
                                        <p:tav tm="0">
                                          <p:val>
                                            <p:strVal val="#ppt_x"/>
                                          </p:val>
                                        </p:tav>
                                        <p:tav tm="100000">
                                          <p:val>
                                            <p:strVal val="#ppt_x"/>
                                          </p:val>
                                        </p:tav>
                                      </p:tavLst>
                                    </p:anim>
                                    <p:anim calcmode="lin" valueType="num">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7"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0" y="4437063"/>
            <a:ext cx="9144000" cy="221297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2" name="Group 4"/>
          <p:cNvGrpSpPr/>
          <p:nvPr/>
        </p:nvGrpSpPr>
        <p:grpSpPr>
          <a:xfrm>
            <a:off x="500063" y="5013325"/>
            <a:ext cx="7967662" cy="1268413"/>
            <a:chOff x="293" y="3166"/>
            <a:chExt cx="5206" cy="595"/>
          </a:xfrm>
        </p:grpSpPr>
        <p:sp>
          <p:nvSpPr>
            <p:cNvPr id="80901" name="Rectangle 5"/>
            <p:cNvSpPr>
              <a:spLocks noChangeArrowheads="1"/>
            </p:cNvSpPr>
            <p:nvPr/>
          </p:nvSpPr>
          <p:spPr bwMode="auto">
            <a:xfrm>
              <a:off x="1841" y="3179"/>
              <a:ext cx="13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2" name="Rectangle 6"/>
            <p:cNvSpPr>
              <a:spLocks noChangeArrowheads="1"/>
            </p:cNvSpPr>
            <p:nvPr/>
          </p:nvSpPr>
          <p:spPr bwMode="auto">
            <a:xfrm>
              <a:off x="1164" y="3179"/>
              <a:ext cx="67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400" b="0" i="0" u="none" strike="noStrike" kern="1200" cap="none" spc="0" normalizeH="0" baseline="-8000" noProof="0" dirty="0">
                  <a:ln>
                    <a:noFill/>
                  </a:ln>
                  <a:solidFill>
                    <a:srgbClr val="FF0000"/>
                  </a:solidFill>
                  <a:effectLst/>
                  <a:uLnTx/>
                  <a:uFillTx/>
                  <a:latin typeface="+mn-lt"/>
                  <a:ea typeface="+mn-ea"/>
                  <a:cs typeface="+mn-ea"/>
                  <a:sym typeface="+mn-lt"/>
                </a:rPr>
                <a:t>1</a:t>
              </a:r>
            </a:p>
          </p:txBody>
        </p:sp>
        <p:sp>
          <p:nvSpPr>
            <p:cNvPr id="80903" name="Line 7"/>
            <p:cNvSpPr>
              <a:spLocks noChangeShapeType="1"/>
            </p:cNvSpPr>
            <p:nvPr/>
          </p:nvSpPr>
          <p:spPr bwMode="auto">
            <a:xfrm>
              <a:off x="1164" y="3179"/>
              <a:ext cx="813"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4" name="Line 8"/>
            <p:cNvSpPr>
              <a:spLocks noChangeShapeType="1"/>
            </p:cNvSpPr>
            <p:nvPr/>
          </p:nvSpPr>
          <p:spPr bwMode="auto">
            <a:xfrm>
              <a:off x="1164" y="3509"/>
              <a:ext cx="813"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5" name="Line 9"/>
            <p:cNvSpPr>
              <a:spLocks noChangeShapeType="1"/>
            </p:cNvSpPr>
            <p:nvPr/>
          </p:nvSpPr>
          <p:spPr bwMode="auto">
            <a:xfrm>
              <a:off x="1164" y="3179"/>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6" name="Line 10"/>
            <p:cNvSpPr>
              <a:spLocks noChangeShapeType="1"/>
            </p:cNvSpPr>
            <p:nvPr/>
          </p:nvSpPr>
          <p:spPr bwMode="auto">
            <a:xfrm>
              <a:off x="1841" y="3179"/>
              <a:ext cx="0" cy="331"/>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7" name="Line 11"/>
            <p:cNvSpPr>
              <a:spLocks noChangeShapeType="1"/>
            </p:cNvSpPr>
            <p:nvPr/>
          </p:nvSpPr>
          <p:spPr bwMode="auto">
            <a:xfrm>
              <a:off x="1980" y="3179"/>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08" name="Rectangle 12"/>
            <p:cNvSpPr>
              <a:spLocks noChangeArrowheads="1"/>
            </p:cNvSpPr>
            <p:nvPr/>
          </p:nvSpPr>
          <p:spPr bwMode="auto">
            <a:xfrm>
              <a:off x="293" y="3223"/>
              <a:ext cx="55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head</a:t>
              </a:r>
            </a:p>
          </p:txBody>
        </p:sp>
        <p:sp>
          <p:nvSpPr>
            <p:cNvPr id="80909" name="Line 13"/>
            <p:cNvSpPr>
              <a:spLocks noChangeShapeType="1"/>
            </p:cNvSpPr>
            <p:nvPr/>
          </p:nvSpPr>
          <p:spPr bwMode="auto">
            <a:xfrm>
              <a:off x="293" y="3179"/>
              <a:ext cx="55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0" name="Line 14"/>
            <p:cNvSpPr>
              <a:spLocks noChangeShapeType="1"/>
            </p:cNvSpPr>
            <p:nvPr/>
          </p:nvSpPr>
          <p:spPr bwMode="auto">
            <a:xfrm>
              <a:off x="293" y="3466"/>
              <a:ext cx="55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1" name="Line 15"/>
            <p:cNvSpPr>
              <a:spLocks noChangeShapeType="1"/>
            </p:cNvSpPr>
            <p:nvPr/>
          </p:nvSpPr>
          <p:spPr bwMode="auto">
            <a:xfrm>
              <a:off x="293" y="3179"/>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2" name="Line 16"/>
            <p:cNvSpPr>
              <a:spLocks noChangeShapeType="1"/>
            </p:cNvSpPr>
            <p:nvPr/>
          </p:nvSpPr>
          <p:spPr bwMode="auto">
            <a:xfrm>
              <a:off x="845" y="3179"/>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3" name="Line 17"/>
            <p:cNvSpPr>
              <a:spLocks noChangeShapeType="1"/>
            </p:cNvSpPr>
            <p:nvPr/>
          </p:nvSpPr>
          <p:spPr bwMode="auto">
            <a:xfrm>
              <a:off x="877" y="3321"/>
              <a:ext cx="28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4" name="Rectangle 18"/>
            <p:cNvSpPr>
              <a:spLocks noChangeArrowheads="1"/>
            </p:cNvSpPr>
            <p:nvPr/>
          </p:nvSpPr>
          <p:spPr bwMode="auto">
            <a:xfrm>
              <a:off x="2921" y="3173"/>
              <a:ext cx="16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5" name="Rectangle 19"/>
            <p:cNvSpPr>
              <a:spLocks noChangeArrowheads="1"/>
            </p:cNvSpPr>
            <p:nvPr/>
          </p:nvSpPr>
          <p:spPr bwMode="auto">
            <a:xfrm>
              <a:off x="2268" y="3173"/>
              <a:ext cx="65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400" b="0" i="0" u="none" strike="noStrike" kern="1200" cap="none" spc="0" normalizeH="0" baseline="-8000" noProof="0" dirty="0">
                  <a:ln>
                    <a:noFill/>
                  </a:ln>
                  <a:solidFill>
                    <a:srgbClr val="FF0000"/>
                  </a:solidFill>
                  <a:effectLst/>
                  <a:uLnTx/>
                  <a:uFillTx/>
                  <a:latin typeface="+mn-lt"/>
                  <a:ea typeface="+mn-ea"/>
                  <a:cs typeface="+mn-ea"/>
                  <a:sym typeface="+mn-lt"/>
                </a:rPr>
                <a:t>2</a:t>
              </a:r>
            </a:p>
          </p:txBody>
        </p:sp>
        <p:sp>
          <p:nvSpPr>
            <p:cNvPr id="80916" name="Line 20"/>
            <p:cNvSpPr>
              <a:spLocks noChangeShapeType="1"/>
            </p:cNvSpPr>
            <p:nvPr/>
          </p:nvSpPr>
          <p:spPr bwMode="auto">
            <a:xfrm>
              <a:off x="2268" y="3173"/>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7" name="Line 21"/>
            <p:cNvSpPr>
              <a:spLocks noChangeShapeType="1"/>
            </p:cNvSpPr>
            <p:nvPr/>
          </p:nvSpPr>
          <p:spPr bwMode="auto">
            <a:xfrm>
              <a:off x="2268" y="3499"/>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8" name="Line 22"/>
            <p:cNvSpPr>
              <a:spLocks noChangeShapeType="1"/>
            </p:cNvSpPr>
            <p:nvPr/>
          </p:nvSpPr>
          <p:spPr bwMode="auto">
            <a:xfrm>
              <a:off x="2268" y="3173"/>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19" name="Line 23"/>
            <p:cNvSpPr>
              <a:spLocks noChangeShapeType="1"/>
            </p:cNvSpPr>
            <p:nvPr/>
          </p:nvSpPr>
          <p:spPr bwMode="auto">
            <a:xfrm>
              <a:off x="2921" y="3173"/>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0" name="Line 24"/>
            <p:cNvSpPr>
              <a:spLocks noChangeShapeType="1"/>
            </p:cNvSpPr>
            <p:nvPr/>
          </p:nvSpPr>
          <p:spPr bwMode="auto">
            <a:xfrm>
              <a:off x="3084" y="3173"/>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1" name="Rectangle 25"/>
            <p:cNvSpPr>
              <a:spLocks noChangeArrowheads="1"/>
            </p:cNvSpPr>
            <p:nvPr/>
          </p:nvSpPr>
          <p:spPr bwMode="auto">
            <a:xfrm>
              <a:off x="4428" y="3169"/>
              <a:ext cx="5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400" b="0" i="0" u="none" strike="noStrike" kern="1200" cap="none" spc="0" normalizeH="0" baseline="-8000" noProof="0" dirty="0">
                  <a:ln>
                    <a:noFill/>
                  </a:ln>
                  <a:solidFill>
                    <a:srgbClr val="FF0000"/>
                  </a:solidFill>
                  <a:effectLst/>
                  <a:uLnTx/>
                  <a:uFillTx/>
                  <a:latin typeface="+mn-lt"/>
                  <a:ea typeface="+mn-ea"/>
                  <a:cs typeface="+mn-ea"/>
                  <a:sym typeface="+mn-lt"/>
                </a:rPr>
                <a:t>n</a:t>
              </a:r>
            </a:p>
          </p:txBody>
        </p:sp>
        <p:sp>
          <p:nvSpPr>
            <p:cNvPr id="80922" name="Line 26"/>
            <p:cNvSpPr>
              <a:spLocks noChangeShapeType="1"/>
            </p:cNvSpPr>
            <p:nvPr/>
          </p:nvSpPr>
          <p:spPr bwMode="auto">
            <a:xfrm>
              <a:off x="4428" y="3173"/>
              <a:ext cx="1071" cy="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3" name="Line 27"/>
            <p:cNvSpPr>
              <a:spLocks noChangeShapeType="1"/>
            </p:cNvSpPr>
            <p:nvPr/>
          </p:nvSpPr>
          <p:spPr bwMode="auto">
            <a:xfrm>
              <a:off x="4428" y="3497"/>
              <a:ext cx="1071" cy="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4" name="Line 28"/>
            <p:cNvSpPr>
              <a:spLocks noChangeShapeType="1"/>
            </p:cNvSpPr>
            <p:nvPr/>
          </p:nvSpPr>
          <p:spPr bwMode="auto">
            <a:xfrm>
              <a:off x="4428" y="3173"/>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5" name="Line 29"/>
            <p:cNvSpPr>
              <a:spLocks noChangeShapeType="1"/>
            </p:cNvSpPr>
            <p:nvPr/>
          </p:nvSpPr>
          <p:spPr bwMode="auto">
            <a:xfrm>
              <a:off x="4947" y="3180"/>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6" name="Line 30"/>
            <p:cNvSpPr>
              <a:spLocks noChangeShapeType="1"/>
            </p:cNvSpPr>
            <p:nvPr/>
          </p:nvSpPr>
          <p:spPr bwMode="auto">
            <a:xfrm>
              <a:off x="5499" y="3180"/>
              <a:ext cx="0" cy="312"/>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7" name="Rectangle 31"/>
            <p:cNvSpPr>
              <a:spLocks noChangeArrowheads="1"/>
            </p:cNvSpPr>
            <p:nvPr/>
          </p:nvSpPr>
          <p:spPr bwMode="auto">
            <a:xfrm>
              <a:off x="3977" y="3173"/>
              <a:ext cx="163"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28" name="Rectangle 32"/>
            <p:cNvSpPr>
              <a:spLocks noChangeArrowheads="1"/>
            </p:cNvSpPr>
            <p:nvPr/>
          </p:nvSpPr>
          <p:spPr bwMode="auto">
            <a:xfrm>
              <a:off x="3372" y="3166"/>
              <a:ext cx="61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80929" name="Line 33"/>
            <p:cNvSpPr>
              <a:spLocks noChangeShapeType="1"/>
            </p:cNvSpPr>
            <p:nvPr/>
          </p:nvSpPr>
          <p:spPr bwMode="auto">
            <a:xfrm>
              <a:off x="3372" y="3173"/>
              <a:ext cx="774"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0" name="Line 34"/>
            <p:cNvSpPr>
              <a:spLocks noChangeShapeType="1"/>
            </p:cNvSpPr>
            <p:nvPr/>
          </p:nvSpPr>
          <p:spPr bwMode="auto">
            <a:xfrm>
              <a:off x="3372" y="3503"/>
              <a:ext cx="774"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1" name="Line 35"/>
            <p:cNvSpPr>
              <a:spLocks noChangeShapeType="1"/>
            </p:cNvSpPr>
            <p:nvPr/>
          </p:nvSpPr>
          <p:spPr bwMode="auto">
            <a:xfrm>
              <a:off x="3372" y="3173"/>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2" name="Line 36"/>
            <p:cNvSpPr>
              <a:spLocks noChangeShapeType="1"/>
            </p:cNvSpPr>
            <p:nvPr/>
          </p:nvSpPr>
          <p:spPr bwMode="auto">
            <a:xfrm>
              <a:off x="3977" y="3173"/>
              <a:ext cx="0" cy="331"/>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3" name="Line 37"/>
            <p:cNvSpPr>
              <a:spLocks noChangeShapeType="1"/>
            </p:cNvSpPr>
            <p:nvPr/>
          </p:nvSpPr>
          <p:spPr bwMode="auto">
            <a:xfrm>
              <a:off x="4140" y="3173"/>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4" name="Line 38"/>
            <p:cNvSpPr>
              <a:spLocks noChangeShapeType="1"/>
            </p:cNvSpPr>
            <p:nvPr/>
          </p:nvSpPr>
          <p:spPr bwMode="auto">
            <a:xfrm>
              <a:off x="1884" y="3317"/>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5" name="Line 39"/>
            <p:cNvSpPr>
              <a:spLocks noChangeShapeType="1"/>
            </p:cNvSpPr>
            <p:nvPr/>
          </p:nvSpPr>
          <p:spPr bwMode="auto">
            <a:xfrm>
              <a:off x="2988" y="3317"/>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6" name="Line 40"/>
            <p:cNvSpPr>
              <a:spLocks noChangeShapeType="1"/>
            </p:cNvSpPr>
            <p:nvPr/>
          </p:nvSpPr>
          <p:spPr bwMode="auto">
            <a:xfrm>
              <a:off x="4044" y="3317"/>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7" name="Rectangle 41"/>
            <p:cNvSpPr>
              <a:spLocks noChangeArrowheads="1"/>
            </p:cNvSpPr>
            <p:nvPr/>
          </p:nvSpPr>
          <p:spPr bwMode="auto">
            <a:xfrm>
              <a:off x="4947" y="3180"/>
              <a:ext cx="55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head</a:t>
              </a:r>
            </a:p>
          </p:txBody>
        </p:sp>
        <p:sp>
          <p:nvSpPr>
            <p:cNvPr id="80938" name="Line 42"/>
            <p:cNvSpPr>
              <a:spLocks noChangeShapeType="1"/>
            </p:cNvSpPr>
            <p:nvPr/>
          </p:nvSpPr>
          <p:spPr bwMode="auto">
            <a:xfrm>
              <a:off x="5367" y="3510"/>
              <a:ext cx="0" cy="25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39" name="Line 43"/>
            <p:cNvSpPr>
              <a:spLocks noChangeShapeType="1"/>
            </p:cNvSpPr>
            <p:nvPr/>
          </p:nvSpPr>
          <p:spPr bwMode="auto">
            <a:xfrm flipH="1">
              <a:off x="979" y="3761"/>
              <a:ext cx="439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0940" name="Line 44"/>
            <p:cNvSpPr>
              <a:spLocks noChangeShapeType="1"/>
            </p:cNvSpPr>
            <p:nvPr/>
          </p:nvSpPr>
          <p:spPr bwMode="auto">
            <a:xfrm flipV="1">
              <a:off x="979" y="3365"/>
              <a:ext cx="0" cy="3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70061" name="Rectangle 45"/>
          <p:cNvSpPr>
            <a:spLocks noChangeArrowheads="1"/>
          </p:cNvSpPr>
          <p:nvPr/>
        </p:nvSpPr>
        <p:spPr bwMode="auto">
          <a:xfrm>
            <a:off x="311150" y="3805238"/>
            <a:ext cx="2820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循环链表示意图：</a:t>
            </a:r>
          </a:p>
        </p:txBody>
      </p:sp>
      <p:sp>
        <p:nvSpPr>
          <p:cNvPr id="470062" name="Text Box 46"/>
          <p:cNvSpPr txBox="1">
            <a:spLocks noChangeArrowheads="1"/>
          </p:cNvSpPr>
          <p:nvPr/>
        </p:nvSpPr>
        <p:spPr bwMode="auto">
          <a:xfrm>
            <a:off x="311150" y="1287463"/>
            <a:ext cx="8685213" cy="2012950"/>
          </a:xfrm>
          <a:prstGeom prst="rect">
            <a:avLst/>
          </a:prstGeom>
          <a:noFill/>
          <a:ln>
            <a:noFill/>
          </a:ln>
        </p:spPr>
        <p:txBody>
          <a:bodyPr>
            <a:spAutoFit/>
          </a:bodyPr>
          <a:lstStyle>
            <a:lvl1pPr marL="579755" indent="-579755">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579755" marR="0" lvl="0" indent="-579755" algn="l" defTabSz="914400" rtl="0" eaLnBrk="1" fontAlgn="base" latinLnBrk="0" hangingPunct="1">
              <a:lnSpc>
                <a:spcPct val="13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、单链表、双链表、循环链表：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结点只有一个指针域的链表，称为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单链表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线性链表</a:t>
            </a: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有两个指针域的链表，称为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双链表</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首尾相接的链表称为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循环链表</a:t>
            </a:r>
          </a:p>
        </p:txBody>
      </p:sp>
      <p:sp>
        <p:nvSpPr>
          <p:cNvPr id="46"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sp>
        <p:nvSpPr>
          <p:cNvPr id="47" name="Freeform 34"/>
          <p:cNvSpPr/>
          <p:nvPr/>
        </p:nvSpPr>
        <p:spPr>
          <a:xfrm>
            <a:off x="422275" y="1968500"/>
            <a:ext cx="220663" cy="139700"/>
          </a:xfrm>
          <a:custGeom>
            <a:avLst/>
            <a:gdLst/>
            <a:ahLst/>
            <a:cxnLst>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Lst>
            <a:rect l="0" t="0" r="0" b="0"/>
            <a:pathLst>
              <a:path w="122" h="53">
                <a:moveTo>
                  <a:pt x="122" y="27"/>
                </a:moveTo>
                <a:cubicBezTo>
                  <a:pt x="81" y="0"/>
                  <a:pt x="81" y="0"/>
                  <a:pt x="81" y="0"/>
                </a:cubicBezTo>
                <a:cubicBezTo>
                  <a:pt x="7" y="0"/>
                  <a:pt x="7" y="0"/>
                  <a:pt x="7" y="0"/>
                </a:cubicBezTo>
                <a:cubicBezTo>
                  <a:pt x="3" y="0"/>
                  <a:pt x="0" y="2"/>
                  <a:pt x="0" y="4"/>
                </a:cubicBezTo>
                <a:cubicBezTo>
                  <a:pt x="0" y="49"/>
                  <a:pt x="0" y="49"/>
                  <a:pt x="0" y="49"/>
                </a:cubicBezTo>
                <a:cubicBezTo>
                  <a:pt x="0" y="51"/>
                  <a:pt x="3" y="53"/>
                  <a:pt x="7" y="53"/>
                </a:cubicBezTo>
                <a:cubicBezTo>
                  <a:pt x="83" y="53"/>
                  <a:pt x="83" y="53"/>
                  <a:pt x="83" y="53"/>
                </a:cubicBezTo>
                <a:lnTo>
                  <a:pt x="122" y="27"/>
                </a:lnTo>
                <a:close/>
              </a:path>
            </a:pathLst>
          </a:custGeom>
          <a:solidFill>
            <a:srgbClr val="F83003">
              <a:alpha val="100000"/>
            </a:srgbClr>
          </a:solidFill>
          <a:ln w="9525">
            <a:noFill/>
          </a:ln>
        </p:spPr>
        <p:txBody>
          <a:bodyPr/>
          <a:lstStyle/>
          <a:p>
            <a:endParaRPr lang="zh-CN" altLang="en-US"/>
          </a:p>
        </p:txBody>
      </p:sp>
      <p:sp>
        <p:nvSpPr>
          <p:cNvPr id="48" name="Freeform 34"/>
          <p:cNvSpPr/>
          <p:nvPr/>
        </p:nvSpPr>
        <p:spPr>
          <a:xfrm>
            <a:off x="422275" y="2455863"/>
            <a:ext cx="220663" cy="139700"/>
          </a:xfrm>
          <a:custGeom>
            <a:avLst/>
            <a:gdLst/>
            <a:ahLst/>
            <a:cxnLst>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Lst>
            <a:rect l="0" t="0" r="0" b="0"/>
            <a:pathLst>
              <a:path w="122" h="53">
                <a:moveTo>
                  <a:pt x="122" y="27"/>
                </a:moveTo>
                <a:cubicBezTo>
                  <a:pt x="81" y="0"/>
                  <a:pt x="81" y="0"/>
                  <a:pt x="81" y="0"/>
                </a:cubicBezTo>
                <a:cubicBezTo>
                  <a:pt x="7" y="0"/>
                  <a:pt x="7" y="0"/>
                  <a:pt x="7" y="0"/>
                </a:cubicBezTo>
                <a:cubicBezTo>
                  <a:pt x="3" y="0"/>
                  <a:pt x="0" y="2"/>
                  <a:pt x="0" y="4"/>
                </a:cubicBezTo>
                <a:cubicBezTo>
                  <a:pt x="0" y="49"/>
                  <a:pt x="0" y="49"/>
                  <a:pt x="0" y="49"/>
                </a:cubicBezTo>
                <a:cubicBezTo>
                  <a:pt x="0" y="51"/>
                  <a:pt x="3" y="53"/>
                  <a:pt x="7" y="53"/>
                </a:cubicBezTo>
                <a:cubicBezTo>
                  <a:pt x="83" y="53"/>
                  <a:pt x="83" y="53"/>
                  <a:pt x="83" y="53"/>
                </a:cubicBezTo>
                <a:lnTo>
                  <a:pt x="122" y="27"/>
                </a:lnTo>
                <a:close/>
              </a:path>
            </a:pathLst>
          </a:custGeom>
          <a:solidFill>
            <a:srgbClr val="F83003">
              <a:alpha val="100000"/>
            </a:srgbClr>
          </a:solidFill>
          <a:ln w="9525">
            <a:noFill/>
          </a:ln>
        </p:spPr>
        <p:txBody>
          <a:bodyPr/>
          <a:lstStyle/>
          <a:p>
            <a:endParaRPr lang="zh-CN" altLang="en-US"/>
          </a:p>
        </p:txBody>
      </p:sp>
      <p:sp>
        <p:nvSpPr>
          <p:cNvPr id="49" name="Freeform 34"/>
          <p:cNvSpPr/>
          <p:nvPr/>
        </p:nvSpPr>
        <p:spPr>
          <a:xfrm>
            <a:off x="422275" y="2944813"/>
            <a:ext cx="220663" cy="138112"/>
          </a:xfrm>
          <a:custGeom>
            <a:avLst/>
            <a:gdLst/>
            <a:ahLst/>
            <a:cxnLst>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Lst>
            <a:rect l="0" t="0" r="0" b="0"/>
            <a:pathLst>
              <a:path w="122" h="53">
                <a:moveTo>
                  <a:pt x="122" y="27"/>
                </a:moveTo>
                <a:cubicBezTo>
                  <a:pt x="81" y="0"/>
                  <a:pt x="81" y="0"/>
                  <a:pt x="81" y="0"/>
                </a:cubicBezTo>
                <a:cubicBezTo>
                  <a:pt x="7" y="0"/>
                  <a:pt x="7" y="0"/>
                  <a:pt x="7" y="0"/>
                </a:cubicBezTo>
                <a:cubicBezTo>
                  <a:pt x="3" y="0"/>
                  <a:pt x="0" y="2"/>
                  <a:pt x="0" y="4"/>
                </a:cubicBezTo>
                <a:cubicBezTo>
                  <a:pt x="0" y="49"/>
                  <a:pt x="0" y="49"/>
                  <a:pt x="0" y="49"/>
                </a:cubicBezTo>
                <a:cubicBezTo>
                  <a:pt x="0" y="51"/>
                  <a:pt x="3" y="53"/>
                  <a:pt x="7" y="53"/>
                </a:cubicBezTo>
                <a:cubicBezTo>
                  <a:pt x="83" y="53"/>
                  <a:pt x="83" y="53"/>
                  <a:pt x="83" y="53"/>
                </a:cubicBezTo>
                <a:lnTo>
                  <a:pt x="122" y="27"/>
                </a:lnTo>
                <a:close/>
              </a:path>
            </a:pathLst>
          </a:custGeom>
          <a:solidFill>
            <a:srgbClr val="F83003">
              <a:alpha val="100000"/>
            </a:srgbClr>
          </a:solidFill>
          <a:ln w="9525">
            <a:noFill/>
          </a:ln>
        </p:spPr>
        <p:txBody>
          <a:bodyPr/>
          <a:lstStyle/>
          <a:p>
            <a:endParaRPr lang="zh-CN" altLang="en-US"/>
          </a:p>
        </p:txBody>
      </p:sp>
      <p:cxnSp>
        <p:nvCxnSpPr>
          <p:cNvPr id="4" name="直接连接符 3"/>
          <p:cNvCxnSpPr/>
          <p:nvPr/>
        </p:nvCxnSpPr>
        <p:spPr>
          <a:xfrm>
            <a:off x="360363" y="3573463"/>
            <a:ext cx="8582025" cy="0"/>
          </a:xfrm>
          <a:prstGeom prst="line">
            <a:avLst/>
          </a:prstGeom>
          <a:ln w="9525" cap="flat" cmpd="sng">
            <a:solidFill>
              <a:srgbClr val="8585E0"/>
            </a:solidFill>
            <a:prstDash val="solid"/>
            <a:headEnd type="none" w="med" len="med"/>
            <a:tailEnd type="none" w="med" len="med"/>
          </a:ln>
        </p:spPr>
      </p:cxnSp>
      <p:cxnSp>
        <p:nvCxnSpPr>
          <p:cNvPr id="52" name="直接连接符 51"/>
          <p:cNvCxnSpPr/>
          <p:nvPr/>
        </p:nvCxnSpPr>
        <p:spPr>
          <a:xfrm>
            <a:off x="360363" y="1125538"/>
            <a:ext cx="8582025" cy="0"/>
          </a:xfrm>
          <a:prstGeom prst="line">
            <a:avLst/>
          </a:prstGeom>
          <a:ln w="9525" cap="flat" cmpd="sng">
            <a:solidFill>
              <a:srgbClr val="8585E0"/>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7006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499"/>
                                          </p:stCondLst>
                                        </p:cTn>
                                        <p:tgtEl>
                                          <p:spTgt spid="470062">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499"/>
                                          </p:stCondLst>
                                        </p:cTn>
                                        <p:tgtEl>
                                          <p:spTgt spid="47006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499"/>
                                          </p:stCondLst>
                                        </p:cTn>
                                        <p:tgtEl>
                                          <p:spTgt spid="470062">
                                            <p:txEl>
                                              <p:pRg st="3" end="3"/>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47006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500"/>
                                        <p:tgtEl>
                                          <p:spTgt spid="45"/>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barn(outVertical)">
                                      <p:cBhvr>
                                        <p:cTn id="4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70061" grpId="0"/>
      <p:bldP spid="470062"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4" name="Rectangle 4"/>
          <p:cNvSpPr>
            <a:spLocks noChangeArrowheads="1"/>
          </p:cNvSpPr>
          <p:nvPr/>
        </p:nvSpPr>
        <p:spPr bwMode="auto">
          <a:xfrm>
            <a:off x="382588" y="1166813"/>
            <a:ext cx="66738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、头指针、头结点和首元结点 </a:t>
            </a:r>
          </a:p>
        </p:txBody>
      </p:sp>
      <p:sp>
        <p:nvSpPr>
          <p:cNvPr id="471097" name="Text Box 57"/>
          <p:cNvSpPr txBox="1">
            <a:spLocks noChangeArrowheads="1"/>
          </p:cNvSpPr>
          <p:nvPr/>
        </p:nvSpPr>
        <p:spPr bwMode="auto">
          <a:xfrm>
            <a:off x="0" y="3927475"/>
            <a:ext cx="9144000" cy="2381250"/>
          </a:xfrm>
          <a:prstGeom prst="rect">
            <a:avLst/>
          </a:prstGeom>
          <a:solidFill>
            <a:schemeClr val="bg2">
              <a:lumMod val="20000"/>
              <a:lumOff val="80000"/>
            </a:schemeClr>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3180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头指针</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是指向链表中第一个结点的指针</a:t>
            </a:r>
          </a:p>
          <a:p>
            <a:pPr marL="43180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首元结点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是指链表中存储第一个数据元素</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的结点</a:t>
            </a:r>
          </a:p>
          <a:p>
            <a:pPr marL="43180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头结点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是在链表的首元结点之前附设的一个结点；数据域内只放空表标志和表长等信息</a:t>
            </a:r>
          </a:p>
        </p:txBody>
      </p:sp>
      <p:sp>
        <p:nvSpPr>
          <p:cNvPr id="56"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grpSp>
        <p:nvGrpSpPr>
          <p:cNvPr id="86021" name="组合 1"/>
          <p:cNvGrpSpPr/>
          <p:nvPr/>
        </p:nvGrpSpPr>
        <p:grpSpPr>
          <a:xfrm>
            <a:off x="431800" y="1933575"/>
            <a:ext cx="8383588" cy="1609725"/>
            <a:chOff x="467544" y="1569492"/>
            <a:chExt cx="8382967" cy="1609886"/>
          </a:xfrm>
        </p:grpSpPr>
        <p:sp>
          <p:nvSpPr>
            <p:cNvPr id="81925" name="Line 6"/>
            <p:cNvSpPr>
              <a:spLocks noChangeShapeType="1"/>
            </p:cNvSpPr>
            <p:nvPr/>
          </p:nvSpPr>
          <p:spPr bwMode="auto">
            <a:xfrm flipV="1">
              <a:off x="1012017" y="2349033"/>
              <a:ext cx="0" cy="287366"/>
            </a:xfrm>
            <a:prstGeom prst="line">
              <a:avLst/>
            </a:prstGeom>
            <a:noFill/>
            <a:ln w="25400">
              <a:solidFill>
                <a:schemeClr val="accent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26" name="Rectangle 7"/>
            <p:cNvSpPr>
              <a:spLocks noChangeArrowheads="1"/>
            </p:cNvSpPr>
            <p:nvPr/>
          </p:nvSpPr>
          <p:spPr bwMode="auto">
            <a:xfrm>
              <a:off x="467544" y="2636399"/>
              <a:ext cx="1049260" cy="54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头指针</a:t>
              </a:r>
            </a:p>
          </p:txBody>
        </p:sp>
        <p:sp>
          <p:nvSpPr>
            <p:cNvPr id="81927" name="Rectangle 8"/>
            <p:cNvSpPr>
              <a:spLocks noChangeArrowheads="1"/>
            </p:cNvSpPr>
            <p:nvPr/>
          </p:nvSpPr>
          <p:spPr bwMode="auto">
            <a:xfrm>
              <a:off x="1927936" y="2636399"/>
              <a:ext cx="1049260" cy="54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头结点</a:t>
              </a:r>
            </a:p>
          </p:txBody>
        </p:sp>
        <p:sp>
          <p:nvSpPr>
            <p:cNvPr id="81929" name="Rectangle 10"/>
            <p:cNvSpPr>
              <a:spLocks noChangeArrowheads="1"/>
            </p:cNvSpPr>
            <p:nvPr/>
          </p:nvSpPr>
          <p:spPr bwMode="auto">
            <a:xfrm>
              <a:off x="3410551" y="2636399"/>
              <a:ext cx="1339751" cy="54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首元结点</a:t>
              </a:r>
            </a:p>
          </p:txBody>
        </p:sp>
        <p:sp>
          <p:nvSpPr>
            <p:cNvPr id="81932" name="Rectangle 13"/>
            <p:cNvSpPr>
              <a:spLocks noChangeArrowheads="1"/>
            </p:cNvSpPr>
            <p:nvPr/>
          </p:nvSpPr>
          <p:spPr bwMode="auto">
            <a:xfrm>
              <a:off x="2880365" y="1698093"/>
              <a:ext cx="209534" cy="4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33" name="Rectangle 14"/>
            <p:cNvSpPr>
              <a:spLocks noChangeArrowheads="1"/>
            </p:cNvSpPr>
            <p:nvPr/>
          </p:nvSpPr>
          <p:spPr bwMode="auto">
            <a:xfrm>
              <a:off x="3559765" y="1632998"/>
              <a:ext cx="757182" cy="431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2400" b="0" i="0" u="none" strike="noStrike" kern="1200" cap="none" spc="0" normalizeH="0" baseline="-8000" noProof="0">
                  <a:ln>
                    <a:noFill/>
                  </a:ln>
                  <a:solidFill>
                    <a:schemeClr val="accent1"/>
                  </a:solidFill>
                  <a:effectLst/>
                  <a:uLnTx/>
                  <a:uFillTx/>
                  <a:latin typeface="+mn-lt"/>
                  <a:ea typeface="+mn-ea"/>
                  <a:cs typeface="+mn-ea"/>
                  <a:sym typeface="+mn-lt"/>
                </a:rPr>
                <a:t>1</a:t>
              </a:r>
            </a:p>
          </p:txBody>
        </p:sp>
        <p:sp>
          <p:nvSpPr>
            <p:cNvPr id="81934" name="Line 15"/>
            <p:cNvSpPr>
              <a:spLocks noChangeShapeType="1"/>
            </p:cNvSpPr>
            <p:nvPr/>
          </p:nvSpPr>
          <p:spPr bwMode="auto">
            <a:xfrm>
              <a:off x="1862854" y="2193442"/>
              <a:ext cx="122704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35" name="Line 16"/>
            <p:cNvSpPr>
              <a:spLocks noChangeShapeType="1"/>
            </p:cNvSpPr>
            <p:nvPr/>
          </p:nvSpPr>
          <p:spPr bwMode="auto">
            <a:xfrm>
              <a:off x="1862854" y="1701268"/>
              <a:ext cx="122704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36" name="Line 17"/>
            <p:cNvSpPr>
              <a:spLocks noChangeShapeType="1"/>
            </p:cNvSpPr>
            <p:nvPr/>
          </p:nvSpPr>
          <p:spPr bwMode="auto">
            <a:xfrm>
              <a:off x="1862854" y="1698093"/>
              <a:ext cx="0" cy="49535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37" name="Line 18"/>
            <p:cNvSpPr>
              <a:spLocks noChangeShapeType="1"/>
            </p:cNvSpPr>
            <p:nvPr/>
          </p:nvSpPr>
          <p:spPr bwMode="auto">
            <a:xfrm>
              <a:off x="2699404" y="1698093"/>
              <a:ext cx="0" cy="49535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38" name="Line 19"/>
            <p:cNvSpPr>
              <a:spLocks noChangeShapeType="1"/>
            </p:cNvSpPr>
            <p:nvPr/>
          </p:nvSpPr>
          <p:spPr bwMode="auto">
            <a:xfrm>
              <a:off x="3089900" y="1698093"/>
              <a:ext cx="0" cy="49535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39" name="Rectangle 20"/>
            <p:cNvSpPr>
              <a:spLocks noChangeArrowheads="1"/>
            </p:cNvSpPr>
            <p:nvPr/>
          </p:nvSpPr>
          <p:spPr bwMode="auto">
            <a:xfrm>
              <a:off x="554851" y="1634587"/>
              <a:ext cx="828614" cy="43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head</a:t>
              </a:r>
            </a:p>
          </p:txBody>
        </p:sp>
        <p:sp>
          <p:nvSpPr>
            <p:cNvPr id="81940" name="Line 21"/>
            <p:cNvSpPr>
              <a:spLocks noChangeShapeType="1"/>
            </p:cNvSpPr>
            <p:nvPr/>
          </p:nvSpPr>
          <p:spPr bwMode="auto">
            <a:xfrm>
              <a:off x="554851" y="2193442"/>
              <a:ext cx="828614"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1" name="Line 22"/>
            <p:cNvSpPr>
              <a:spLocks noChangeShapeType="1"/>
            </p:cNvSpPr>
            <p:nvPr/>
          </p:nvSpPr>
          <p:spPr bwMode="auto">
            <a:xfrm>
              <a:off x="558025" y="1701268"/>
              <a:ext cx="83020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2" name="Line 23"/>
            <p:cNvSpPr>
              <a:spLocks noChangeShapeType="1"/>
            </p:cNvSpPr>
            <p:nvPr/>
          </p:nvSpPr>
          <p:spPr bwMode="auto">
            <a:xfrm flipH="1">
              <a:off x="554851" y="1706031"/>
              <a:ext cx="3175" cy="487412"/>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3" name="Line 24"/>
            <p:cNvSpPr>
              <a:spLocks noChangeShapeType="1"/>
            </p:cNvSpPr>
            <p:nvPr/>
          </p:nvSpPr>
          <p:spPr bwMode="auto">
            <a:xfrm>
              <a:off x="1383464" y="1706031"/>
              <a:ext cx="0" cy="487412"/>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4" name="Line 25"/>
            <p:cNvSpPr>
              <a:spLocks noChangeShapeType="1"/>
            </p:cNvSpPr>
            <p:nvPr/>
          </p:nvSpPr>
          <p:spPr bwMode="auto">
            <a:xfrm>
              <a:off x="1358066" y="1929891"/>
              <a:ext cx="433355"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5" name="Rectangle 26"/>
            <p:cNvSpPr>
              <a:spLocks noChangeArrowheads="1"/>
            </p:cNvSpPr>
            <p:nvPr/>
          </p:nvSpPr>
          <p:spPr bwMode="auto">
            <a:xfrm>
              <a:off x="4502670" y="1704443"/>
              <a:ext cx="246045" cy="48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6" name="Rectangle 27"/>
            <p:cNvSpPr>
              <a:spLocks noChangeArrowheads="1"/>
            </p:cNvSpPr>
            <p:nvPr/>
          </p:nvSpPr>
          <p:spPr bwMode="auto">
            <a:xfrm>
              <a:off x="5070953" y="1601245"/>
              <a:ext cx="600031" cy="48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2400" b="0" i="0" u="none" strike="noStrike" kern="1200" cap="none" spc="0" normalizeH="0" baseline="-8000" noProof="0">
                  <a:ln>
                    <a:noFill/>
                  </a:ln>
                  <a:solidFill>
                    <a:schemeClr val="accent1"/>
                  </a:solidFill>
                  <a:effectLst/>
                  <a:uLnTx/>
                  <a:uFillTx/>
                  <a:latin typeface="+mn-lt"/>
                  <a:ea typeface="+mn-ea"/>
                  <a:cs typeface="+mn-ea"/>
                  <a:sym typeface="+mn-lt"/>
                </a:rPr>
                <a:t>2</a:t>
              </a:r>
            </a:p>
          </p:txBody>
        </p:sp>
        <p:sp>
          <p:nvSpPr>
            <p:cNvPr id="81947" name="Line 28"/>
            <p:cNvSpPr>
              <a:spLocks noChangeShapeType="1"/>
            </p:cNvSpPr>
            <p:nvPr/>
          </p:nvSpPr>
          <p:spPr bwMode="auto">
            <a:xfrm>
              <a:off x="3521668" y="2193442"/>
              <a:ext cx="98100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8" name="Line 29"/>
            <p:cNvSpPr>
              <a:spLocks noChangeShapeType="1"/>
            </p:cNvSpPr>
            <p:nvPr/>
          </p:nvSpPr>
          <p:spPr bwMode="auto">
            <a:xfrm>
              <a:off x="3521668" y="1701268"/>
              <a:ext cx="981002" cy="4762"/>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49" name="Line 30"/>
            <p:cNvSpPr>
              <a:spLocks noChangeShapeType="1"/>
            </p:cNvSpPr>
            <p:nvPr/>
          </p:nvSpPr>
          <p:spPr bwMode="auto">
            <a:xfrm>
              <a:off x="3521668" y="1704443"/>
              <a:ext cx="0" cy="488999"/>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0" name="Line 31"/>
            <p:cNvSpPr>
              <a:spLocks noChangeShapeType="1"/>
            </p:cNvSpPr>
            <p:nvPr/>
          </p:nvSpPr>
          <p:spPr bwMode="auto">
            <a:xfrm>
              <a:off x="4278850" y="1704443"/>
              <a:ext cx="0" cy="488999"/>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1" name="Line 32"/>
            <p:cNvSpPr>
              <a:spLocks noChangeShapeType="1"/>
            </p:cNvSpPr>
            <p:nvPr/>
          </p:nvSpPr>
          <p:spPr bwMode="auto">
            <a:xfrm>
              <a:off x="4502670" y="1704443"/>
              <a:ext cx="0" cy="488999"/>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2" name="Line 33"/>
            <p:cNvSpPr>
              <a:spLocks noChangeShapeType="1"/>
            </p:cNvSpPr>
            <p:nvPr/>
          </p:nvSpPr>
          <p:spPr bwMode="auto">
            <a:xfrm>
              <a:off x="6482136" y="2185504"/>
              <a:ext cx="1009575" cy="7939"/>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3" name="Line 34"/>
            <p:cNvSpPr>
              <a:spLocks noChangeShapeType="1"/>
            </p:cNvSpPr>
            <p:nvPr/>
          </p:nvSpPr>
          <p:spPr bwMode="auto">
            <a:xfrm>
              <a:off x="6482136" y="1698093"/>
              <a:ext cx="1009575" cy="3175"/>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4" name="Line 35"/>
            <p:cNvSpPr>
              <a:spLocks noChangeShapeType="1"/>
            </p:cNvSpPr>
            <p:nvPr/>
          </p:nvSpPr>
          <p:spPr bwMode="auto">
            <a:xfrm>
              <a:off x="6482136" y="1698093"/>
              <a:ext cx="0" cy="49535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5" name="Line 36"/>
            <p:cNvSpPr>
              <a:spLocks noChangeShapeType="1"/>
            </p:cNvSpPr>
            <p:nvPr/>
          </p:nvSpPr>
          <p:spPr bwMode="auto">
            <a:xfrm>
              <a:off x="7182172" y="1698093"/>
              <a:ext cx="0" cy="49535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6" name="Line 37"/>
            <p:cNvSpPr>
              <a:spLocks noChangeShapeType="1"/>
            </p:cNvSpPr>
            <p:nvPr/>
          </p:nvSpPr>
          <p:spPr bwMode="auto">
            <a:xfrm>
              <a:off x="7491712" y="1723495"/>
              <a:ext cx="0" cy="46994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7" name="Rectangle 38"/>
            <p:cNvSpPr>
              <a:spLocks noChangeArrowheads="1"/>
            </p:cNvSpPr>
            <p:nvPr/>
          </p:nvSpPr>
          <p:spPr bwMode="auto">
            <a:xfrm>
              <a:off x="5955125" y="1698093"/>
              <a:ext cx="244457" cy="4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58" name="Rectangle 39"/>
            <p:cNvSpPr>
              <a:spLocks noChangeArrowheads="1"/>
            </p:cNvSpPr>
            <p:nvPr/>
          </p:nvSpPr>
          <p:spPr bwMode="auto">
            <a:xfrm>
              <a:off x="6507535" y="1569492"/>
              <a:ext cx="700035" cy="4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1959" name="Line 40"/>
            <p:cNvSpPr>
              <a:spLocks noChangeShapeType="1"/>
            </p:cNvSpPr>
            <p:nvPr/>
          </p:nvSpPr>
          <p:spPr bwMode="auto">
            <a:xfrm>
              <a:off x="5045555" y="2193442"/>
              <a:ext cx="909571"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0" name="Line 41"/>
            <p:cNvSpPr>
              <a:spLocks noChangeShapeType="1"/>
            </p:cNvSpPr>
            <p:nvPr/>
          </p:nvSpPr>
          <p:spPr bwMode="auto">
            <a:xfrm flipV="1">
              <a:off x="5045555" y="1701268"/>
              <a:ext cx="909571" cy="15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1" name="Line 42"/>
            <p:cNvSpPr>
              <a:spLocks noChangeShapeType="1"/>
            </p:cNvSpPr>
            <p:nvPr/>
          </p:nvSpPr>
          <p:spPr bwMode="auto">
            <a:xfrm>
              <a:off x="5045555" y="1698093"/>
              <a:ext cx="0" cy="49535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2" name="Line 43"/>
            <p:cNvSpPr>
              <a:spLocks noChangeShapeType="1"/>
            </p:cNvSpPr>
            <p:nvPr/>
          </p:nvSpPr>
          <p:spPr bwMode="auto">
            <a:xfrm>
              <a:off x="5645585" y="1698093"/>
              <a:ext cx="0" cy="49535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3" name="Line 44"/>
            <p:cNvSpPr>
              <a:spLocks noChangeShapeType="1"/>
            </p:cNvSpPr>
            <p:nvPr/>
          </p:nvSpPr>
          <p:spPr bwMode="auto">
            <a:xfrm>
              <a:off x="5955125" y="1698093"/>
              <a:ext cx="0" cy="49535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4" name="Line 45"/>
            <p:cNvSpPr>
              <a:spLocks noChangeShapeType="1"/>
            </p:cNvSpPr>
            <p:nvPr/>
          </p:nvSpPr>
          <p:spPr bwMode="auto">
            <a:xfrm>
              <a:off x="2945448" y="1929891"/>
              <a:ext cx="576219"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5" name="Line 46"/>
            <p:cNvSpPr>
              <a:spLocks noChangeShapeType="1"/>
            </p:cNvSpPr>
            <p:nvPr/>
          </p:nvSpPr>
          <p:spPr bwMode="auto">
            <a:xfrm>
              <a:off x="4459811" y="1929891"/>
              <a:ext cx="576219"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6" name="Line 47"/>
            <p:cNvSpPr>
              <a:spLocks noChangeShapeType="1"/>
            </p:cNvSpPr>
            <p:nvPr/>
          </p:nvSpPr>
          <p:spPr bwMode="auto">
            <a:xfrm>
              <a:off x="5845596" y="1929891"/>
              <a:ext cx="57622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67" name="Rectangle 48"/>
            <p:cNvSpPr>
              <a:spLocks noChangeArrowheads="1"/>
            </p:cNvSpPr>
            <p:nvPr/>
          </p:nvSpPr>
          <p:spPr bwMode="auto">
            <a:xfrm>
              <a:off x="1862854" y="1645700"/>
              <a:ext cx="803215" cy="4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info</a:t>
              </a:r>
            </a:p>
          </p:txBody>
        </p:sp>
        <p:sp>
          <p:nvSpPr>
            <p:cNvPr id="81968" name="Rectangle 49"/>
            <p:cNvSpPr>
              <a:spLocks noChangeArrowheads="1"/>
            </p:cNvSpPr>
            <p:nvPr/>
          </p:nvSpPr>
          <p:spPr bwMode="auto">
            <a:xfrm>
              <a:off x="7840936" y="1588544"/>
              <a:ext cx="479389" cy="48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mn-lt"/>
                  <a:ea typeface="+mn-ea"/>
                  <a:cs typeface="+mn-ea"/>
                  <a:sym typeface="+mn-lt"/>
                </a:rPr>
                <a:t>a</a:t>
              </a:r>
              <a:r>
                <a:rPr kumimoji="0" lang="en-US" altLang="zh-CN" sz="2400" b="0" i="0" u="none" strike="noStrike" kern="1200" cap="none" spc="0" normalizeH="0" baseline="-8000" noProof="0">
                  <a:ln>
                    <a:noFill/>
                  </a:ln>
                  <a:solidFill>
                    <a:schemeClr val="accent1"/>
                  </a:solidFill>
                  <a:effectLst/>
                  <a:uLnTx/>
                  <a:uFillTx/>
                  <a:latin typeface="+mn-lt"/>
                  <a:ea typeface="+mn-ea"/>
                  <a:cs typeface="+mn-ea"/>
                  <a:sym typeface="+mn-lt"/>
                </a:rPr>
                <a:t>n</a:t>
              </a:r>
            </a:p>
          </p:txBody>
        </p:sp>
        <p:sp>
          <p:nvSpPr>
            <p:cNvPr id="81969" name="Rectangle 50"/>
            <p:cNvSpPr>
              <a:spLocks noChangeArrowheads="1"/>
            </p:cNvSpPr>
            <p:nvPr/>
          </p:nvSpPr>
          <p:spPr bwMode="auto">
            <a:xfrm>
              <a:off x="8409219" y="1698093"/>
              <a:ext cx="441292" cy="4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81970" name="Line 51"/>
            <p:cNvSpPr>
              <a:spLocks noChangeShapeType="1"/>
            </p:cNvSpPr>
            <p:nvPr/>
          </p:nvSpPr>
          <p:spPr bwMode="auto">
            <a:xfrm flipV="1">
              <a:off x="7779027" y="2183916"/>
              <a:ext cx="1001639" cy="95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1" name="Line 52"/>
            <p:cNvSpPr>
              <a:spLocks noChangeShapeType="1"/>
            </p:cNvSpPr>
            <p:nvPr/>
          </p:nvSpPr>
          <p:spPr bwMode="auto">
            <a:xfrm>
              <a:off x="7780615" y="1688567"/>
              <a:ext cx="979414"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2" name="Line 53"/>
            <p:cNvSpPr>
              <a:spLocks noChangeShapeType="1"/>
            </p:cNvSpPr>
            <p:nvPr/>
          </p:nvSpPr>
          <p:spPr bwMode="auto">
            <a:xfrm>
              <a:off x="7779027" y="1696505"/>
              <a:ext cx="0" cy="496938"/>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3" name="Line 54"/>
            <p:cNvSpPr>
              <a:spLocks noChangeShapeType="1"/>
            </p:cNvSpPr>
            <p:nvPr/>
          </p:nvSpPr>
          <p:spPr bwMode="auto">
            <a:xfrm>
              <a:off x="8407631" y="1698093"/>
              <a:ext cx="1588" cy="49535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4" name="Line 55"/>
            <p:cNvSpPr>
              <a:spLocks noChangeShapeType="1"/>
            </p:cNvSpPr>
            <p:nvPr/>
          </p:nvSpPr>
          <p:spPr bwMode="auto">
            <a:xfrm>
              <a:off x="8780666" y="1698093"/>
              <a:ext cx="0" cy="49535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975" name="Line 56"/>
            <p:cNvSpPr>
              <a:spLocks noChangeShapeType="1"/>
            </p:cNvSpPr>
            <p:nvPr/>
          </p:nvSpPr>
          <p:spPr bwMode="auto">
            <a:xfrm>
              <a:off x="7202808" y="1929891"/>
              <a:ext cx="577807" cy="1587"/>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 name="Line 6"/>
            <p:cNvSpPr>
              <a:spLocks noChangeShapeType="1"/>
            </p:cNvSpPr>
            <p:nvPr/>
          </p:nvSpPr>
          <p:spPr bwMode="auto">
            <a:xfrm flipV="1">
              <a:off x="2412088" y="2349033"/>
              <a:ext cx="0" cy="287366"/>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8" name="Line 6"/>
            <p:cNvSpPr>
              <a:spLocks noChangeShapeType="1"/>
            </p:cNvSpPr>
            <p:nvPr/>
          </p:nvSpPr>
          <p:spPr bwMode="auto">
            <a:xfrm flipV="1">
              <a:off x="3996296" y="2349033"/>
              <a:ext cx="0" cy="287366"/>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71097">
                                            <p:bg/>
                                          </p:spTgt>
                                        </p:tgtEl>
                                        <p:attrNameLst>
                                          <p:attrName>style.visibility</p:attrName>
                                        </p:attrNameLst>
                                      </p:cBhvr>
                                      <p:to>
                                        <p:strVal val="visible"/>
                                      </p:to>
                                    </p:set>
                                    <p:animEffect transition="in" filter="strips(downRight)">
                                      <p:cBhvr>
                                        <p:cTn id="7" dur="500"/>
                                        <p:tgtEl>
                                          <p:spTgt spid="471097">
                                            <p:bg/>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71097">
                                            <p:txEl>
                                              <p:pRg st="0" end="0"/>
                                            </p:txEl>
                                          </p:spTgt>
                                        </p:tgtEl>
                                        <p:attrNameLst>
                                          <p:attrName>style.visibility</p:attrName>
                                        </p:attrNameLst>
                                      </p:cBhvr>
                                      <p:to>
                                        <p:strVal val="visible"/>
                                      </p:to>
                                    </p:set>
                                    <p:animEffect transition="in" filter="strips(downRight)">
                                      <p:cBhvr>
                                        <p:cTn id="12" dur="500"/>
                                        <p:tgtEl>
                                          <p:spTgt spid="4710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71097">
                                            <p:txEl>
                                              <p:pRg st="1" end="1"/>
                                            </p:txEl>
                                          </p:spTgt>
                                        </p:tgtEl>
                                        <p:attrNameLst>
                                          <p:attrName>style.visibility</p:attrName>
                                        </p:attrNameLst>
                                      </p:cBhvr>
                                      <p:to>
                                        <p:strVal val="visible"/>
                                      </p:to>
                                    </p:set>
                                    <p:animEffect transition="in" filter="strips(downRight)">
                                      <p:cBhvr>
                                        <p:cTn id="17" dur="500"/>
                                        <p:tgtEl>
                                          <p:spTgt spid="47109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71097">
                                            <p:txEl>
                                              <p:pRg st="2" end="2"/>
                                            </p:txEl>
                                          </p:spTgt>
                                        </p:tgtEl>
                                        <p:attrNameLst>
                                          <p:attrName>style.visibility</p:attrName>
                                        </p:attrNameLst>
                                      </p:cBhvr>
                                      <p:to>
                                        <p:strVal val="visible"/>
                                      </p:to>
                                    </p:set>
                                    <p:animEffect transition="in" filter="strips(downRight)">
                                      <p:cBhvr>
                                        <p:cTn id="22" dur="500"/>
                                        <p:tgtEl>
                                          <p:spTgt spid="4710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7" grpId="0" build="p"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ChangeArrowheads="1"/>
          </p:cNvSpPr>
          <p:nvPr/>
        </p:nvSpPr>
        <p:spPr bwMode="auto">
          <a:xfrm>
            <a:off x="266700" y="990600"/>
            <a:ext cx="8534400" cy="511175"/>
          </a:xfrm>
          <a:prstGeom prst="roundRect">
            <a:avLst/>
          </a:prstGeom>
          <a:solidFill>
            <a:srgbClr val="9476B6"/>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上例链表的逻辑结构示意图有以下</a:t>
            </a:r>
            <a:r>
              <a:rPr kumimoji="0" lang="zh-CN" altLang="en-US" sz="2400" b="0" i="0" u="none" strike="noStrike" kern="1200" cap="none" spc="0" normalizeH="0" baseline="0" noProof="0" dirty="0">
                <a:ln>
                  <a:noFill/>
                </a:ln>
                <a:solidFill>
                  <a:srgbClr val="FFFF00"/>
                </a:solidFill>
                <a:effectLst/>
                <a:uLnTx/>
                <a:uFillTx/>
                <a:latin typeface="+mn-lt"/>
                <a:ea typeface="+mn-ea"/>
                <a:cs typeface="+mn-ea"/>
                <a:sym typeface="+mn-lt"/>
              </a:rPr>
              <a:t>两种形式：</a:t>
            </a:r>
          </a:p>
        </p:txBody>
      </p:sp>
      <p:sp>
        <p:nvSpPr>
          <p:cNvPr id="474117" name="Rectangle 5"/>
          <p:cNvSpPr>
            <a:spLocks noChangeArrowheads="1"/>
          </p:cNvSpPr>
          <p:nvPr/>
        </p:nvSpPr>
        <p:spPr bwMode="auto">
          <a:xfrm>
            <a:off x="265113" y="178752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FF"/>
                </a:solidFill>
                <a:effectLst/>
                <a:uLnTx/>
                <a:uFillTx/>
                <a:latin typeface="+mn-lt"/>
                <a:ea typeface="+mn-ea"/>
                <a:cs typeface="+mn-ea"/>
                <a:sym typeface="+mn-lt"/>
              </a:rPr>
              <a:t>①</a:t>
            </a:r>
          </a:p>
        </p:txBody>
      </p:sp>
      <p:grpSp>
        <p:nvGrpSpPr>
          <p:cNvPr id="2" name="Group 6"/>
          <p:cNvGrpSpPr/>
          <p:nvPr/>
        </p:nvGrpSpPr>
        <p:grpSpPr>
          <a:xfrm>
            <a:off x="893763" y="1800225"/>
            <a:ext cx="7316787" cy="1733550"/>
            <a:chOff x="336" y="480"/>
            <a:chExt cx="5040" cy="1194"/>
          </a:xfrm>
        </p:grpSpPr>
        <p:sp>
          <p:nvSpPr>
            <p:cNvPr id="83035" name="Rectangle 7"/>
            <p:cNvSpPr>
              <a:spLocks noChangeArrowheads="1"/>
            </p:cNvSpPr>
            <p:nvPr/>
          </p:nvSpPr>
          <p:spPr bwMode="auto">
            <a:xfrm>
              <a:off x="1756" y="774"/>
              <a:ext cx="1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6" name="Rectangle 8"/>
            <p:cNvSpPr>
              <a:spLocks noChangeArrowheads="1"/>
            </p:cNvSpPr>
            <p:nvPr/>
          </p:nvSpPr>
          <p:spPr bwMode="auto">
            <a:xfrm>
              <a:off x="1104" y="774"/>
              <a:ext cx="6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ZHAO</a:t>
              </a:r>
            </a:p>
          </p:txBody>
        </p:sp>
        <p:sp>
          <p:nvSpPr>
            <p:cNvPr id="83037" name="Line 9"/>
            <p:cNvSpPr>
              <a:spLocks noChangeShapeType="1"/>
            </p:cNvSpPr>
            <p:nvPr/>
          </p:nvSpPr>
          <p:spPr bwMode="auto">
            <a:xfrm>
              <a:off x="1104" y="774"/>
              <a:ext cx="817"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8" name="Line 10"/>
            <p:cNvSpPr>
              <a:spLocks noChangeShapeType="1"/>
            </p:cNvSpPr>
            <p:nvPr/>
          </p:nvSpPr>
          <p:spPr bwMode="auto">
            <a:xfrm>
              <a:off x="1104" y="1104"/>
              <a:ext cx="817"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9" name="Line 11"/>
            <p:cNvSpPr>
              <a:spLocks noChangeShapeType="1"/>
            </p:cNvSpPr>
            <p:nvPr/>
          </p:nvSpPr>
          <p:spPr bwMode="auto">
            <a:xfrm>
              <a:off x="1104" y="77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0" name="Line 12"/>
            <p:cNvSpPr>
              <a:spLocks noChangeShapeType="1"/>
            </p:cNvSpPr>
            <p:nvPr/>
          </p:nvSpPr>
          <p:spPr bwMode="auto">
            <a:xfrm>
              <a:off x="1756" y="774"/>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1" name="Line 13"/>
            <p:cNvSpPr>
              <a:spLocks noChangeShapeType="1"/>
            </p:cNvSpPr>
            <p:nvPr/>
          </p:nvSpPr>
          <p:spPr bwMode="auto">
            <a:xfrm>
              <a:off x="1920" y="77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2" name="Rectangle 14"/>
            <p:cNvSpPr>
              <a:spLocks noChangeArrowheads="1"/>
            </p:cNvSpPr>
            <p:nvPr/>
          </p:nvSpPr>
          <p:spPr bwMode="auto">
            <a:xfrm>
              <a:off x="624" y="528"/>
              <a:ext cx="291"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3" name="Line 15"/>
            <p:cNvSpPr>
              <a:spLocks noChangeShapeType="1"/>
            </p:cNvSpPr>
            <p:nvPr/>
          </p:nvSpPr>
          <p:spPr bwMode="auto">
            <a:xfrm>
              <a:off x="624" y="528"/>
              <a:ext cx="291"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4" name="Line 16"/>
            <p:cNvSpPr>
              <a:spLocks noChangeShapeType="1"/>
            </p:cNvSpPr>
            <p:nvPr/>
          </p:nvSpPr>
          <p:spPr bwMode="auto">
            <a:xfrm>
              <a:off x="624" y="815"/>
              <a:ext cx="291"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5" name="Line 17"/>
            <p:cNvSpPr>
              <a:spLocks noChangeShapeType="1"/>
            </p:cNvSpPr>
            <p:nvPr/>
          </p:nvSpPr>
          <p:spPr bwMode="auto">
            <a:xfrm>
              <a:off x="624" y="528"/>
              <a:ext cx="0" cy="285"/>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6" name="Line 18"/>
            <p:cNvSpPr>
              <a:spLocks noChangeShapeType="1"/>
            </p:cNvSpPr>
            <p:nvPr/>
          </p:nvSpPr>
          <p:spPr bwMode="auto">
            <a:xfrm>
              <a:off x="912" y="528"/>
              <a:ext cx="0" cy="285"/>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7" name="Line 19"/>
            <p:cNvSpPr>
              <a:spLocks noChangeShapeType="1"/>
            </p:cNvSpPr>
            <p:nvPr/>
          </p:nvSpPr>
          <p:spPr bwMode="auto">
            <a:xfrm>
              <a:off x="768" y="678"/>
              <a:ext cx="0" cy="28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8" name="Line 20"/>
            <p:cNvSpPr>
              <a:spLocks noChangeShapeType="1"/>
            </p:cNvSpPr>
            <p:nvPr/>
          </p:nvSpPr>
          <p:spPr bwMode="auto">
            <a:xfrm>
              <a:off x="768" y="960"/>
              <a:ext cx="288"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49" name="Rectangle 21"/>
            <p:cNvSpPr>
              <a:spLocks noChangeArrowheads="1"/>
            </p:cNvSpPr>
            <p:nvPr/>
          </p:nvSpPr>
          <p:spPr bwMode="auto">
            <a:xfrm>
              <a:off x="2861" y="768"/>
              <a:ext cx="1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0" name="Rectangle 22"/>
            <p:cNvSpPr>
              <a:spLocks noChangeArrowheads="1"/>
            </p:cNvSpPr>
            <p:nvPr/>
          </p:nvSpPr>
          <p:spPr bwMode="auto">
            <a:xfrm>
              <a:off x="2208" y="768"/>
              <a:ext cx="6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QIAN</a:t>
              </a:r>
            </a:p>
          </p:txBody>
        </p:sp>
        <p:sp>
          <p:nvSpPr>
            <p:cNvPr id="83051" name="Line 23"/>
            <p:cNvSpPr>
              <a:spLocks noChangeShapeType="1"/>
            </p:cNvSpPr>
            <p:nvPr/>
          </p:nvSpPr>
          <p:spPr bwMode="auto">
            <a:xfrm>
              <a:off x="2208" y="768"/>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2" name="Line 24"/>
            <p:cNvSpPr>
              <a:spLocks noChangeShapeType="1"/>
            </p:cNvSpPr>
            <p:nvPr/>
          </p:nvSpPr>
          <p:spPr bwMode="auto">
            <a:xfrm>
              <a:off x="2208" y="1094"/>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3" name="Line 25"/>
            <p:cNvSpPr>
              <a:spLocks noChangeShapeType="1"/>
            </p:cNvSpPr>
            <p:nvPr/>
          </p:nvSpPr>
          <p:spPr bwMode="auto">
            <a:xfrm>
              <a:off x="2208" y="768"/>
              <a:ext cx="0" cy="32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4" name="Line 26"/>
            <p:cNvSpPr>
              <a:spLocks noChangeShapeType="1"/>
            </p:cNvSpPr>
            <p:nvPr/>
          </p:nvSpPr>
          <p:spPr bwMode="auto">
            <a:xfrm>
              <a:off x="2861" y="768"/>
              <a:ext cx="0" cy="327"/>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5" name="Line 27"/>
            <p:cNvSpPr>
              <a:spLocks noChangeShapeType="1"/>
            </p:cNvSpPr>
            <p:nvPr/>
          </p:nvSpPr>
          <p:spPr bwMode="auto">
            <a:xfrm>
              <a:off x="3024" y="768"/>
              <a:ext cx="0" cy="32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6" name="Rectangle 28"/>
            <p:cNvSpPr>
              <a:spLocks noChangeArrowheads="1"/>
            </p:cNvSpPr>
            <p:nvPr/>
          </p:nvSpPr>
          <p:spPr bwMode="auto">
            <a:xfrm>
              <a:off x="5021" y="768"/>
              <a:ext cx="1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7" name="Rectangle 29"/>
            <p:cNvSpPr>
              <a:spLocks noChangeArrowheads="1"/>
            </p:cNvSpPr>
            <p:nvPr/>
          </p:nvSpPr>
          <p:spPr bwMode="auto">
            <a:xfrm>
              <a:off x="4368" y="768"/>
              <a:ext cx="6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LI</a:t>
              </a:r>
            </a:p>
          </p:txBody>
        </p:sp>
        <p:sp>
          <p:nvSpPr>
            <p:cNvPr id="83058" name="Line 30"/>
            <p:cNvSpPr>
              <a:spLocks noChangeShapeType="1"/>
            </p:cNvSpPr>
            <p:nvPr/>
          </p:nvSpPr>
          <p:spPr bwMode="auto">
            <a:xfrm>
              <a:off x="4368" y="768"/>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59" name="Line 31"/>
            <p:cNvSpPr>
              <a:spLocks noChangeShapeType="1"/>
            </p:cNvSpPr>
            <p:nvPr/>
          </p:nvSpPr>
          <p:spPr bwMode="auto">
            <a:xfrm>
              <a:off x="4368" y="1098"/>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0" name="Line 32"/>
            <p:cNvSpPr>
              <a:spLocks noChangeShapeType="1"/>
            </p:cNvSpPr>
            <p:nvPr/>
          </p:nvSpPr>
          <p:spPr bwMode="auto">
            <a:xfrm>
              <a:off x="4368" y="76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1" name="Line 33"/>
            <p:cNvSpPr>
              <a:spLocks noChangeShapeType="1"/>
            </p:cNvSpPr>
            <p:nvPr/>
          </p:nvSpPr>
          <p:spPr bwMode="auto">
            <a:xfrm>
              <a:off x="5021" y="768"/>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2" name="Line 34"/>
            <p:cNvSpPr>
              <a:spLocks noChangeShapeType="1"/>
            </p:cNvSpPr>
            <p:nvPr/>
          </p:nvSpPr>
          <p:spPr bwMode="auto">
            <a:xfrm>
              <a:off x="5184" y="76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3" name="Rectangle 35"/>
            <p:cNvSpPr>
              <a:spLocks noChangeArrowheads="1"/>
            </p:cNvSpPr>
            <p:nvPr/>
          </p:nvSpPr>
          <p:spPr bwMode="auto">
            <a:xfrm>
              <a:off x="3917" y="768"/>
              <a:ext cx="1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4" name="Rectangle 36"/>
            <p:cNvSpPr>
              <a:spLocks noChangeArrowheads="1"/>
            </p:cNvSpPr>
            <p:nvPr/>
          </p:nvSpPr>
          <p:spPr bwMode="auto">
            <a:xfrm>
              <a:off x="3313" y="768"/>
              <a:ext cx="60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SUN</a:t>
              </a:r>
            </a:p>
          </p:txBody>
        </p:sp>
        <p:sp>
          <p:nvSpPr>
            <p:cNvPr id="83065" name="Line 37"/>
            <p:cNvSpPr>
              <a:spLocks noChangeShapeType="1"/>
            </p:cNvSpPr>
            <p:nvPr/>
          </p:nvSpPr>
          <p:spPr bwMode="auto">
            <a:xfrm>
              <a:off x="3313" y="768"/>
              <a:ext cx="771"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6" name="Line 38"/>
            <p:cNvSpPr>
              <a:spLocks noChangeShapeType="1"/>
            </p:cNvSpPr>
            <p:nvPr/>
          </p:nvSpPr>
          <p:spPr bwMode="auto">
            <a:xfrm>
              <a:off x="3313" y="1098"/>
              <a:ext cx="771"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7" name="Line 39"/>
            <p:cNvSpPr>
              <a:spLocks noChangeShapeType="1"/>
            </p:cNvSpPr>
            <p:nvPr/>
          </p:nvSpPr>
          <p:spPr bwMode="auto">
            <a:xfrm>
              <a:off x="3313" y="76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8" name="Line 40"/>
            <p:cNvSpPr>
              <a:spLocks noChangeShapeType="1"/>
            </p:cNvSpPr>
            <p:nvPr/>
          </p:nvSpPr>
          <p:spPr bwMode="auto">
            <a:xfrm>
              <a:off x="3917" y="768"/>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69" name="Line 41"/>
            <p:cNvSpPr>
              <a:spLocks noChangeShapeType="1"/>
            </p:cNvSpPr>
            <p:nvPr/>
          </p:nvSpPr>
          <p:spPr bwMode="auto">
            <a:xfrm>
              <a:off x="4080" y="768"/>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0" name="Rectangle 42"/>
            <p:cNvSpPr>
              <a:spLocks noChangeArrowheads="1"/>
            </p:cNvSpPr>
            <p:nvPr/>
          </p:nvSpPr>
          <p:spPr bwMode="auto">
            <a:xfrm>
              <a:off x="1278" y="1348"/>
              <a:ext cx="11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1" name="Rectangle 43"/>
            <p:cNvSpPr>
              <a:spLocks noChangeArrowheads="1"/>
            </p:cNvSpPr>
            <p:nvPr/>
          </p:nvSpPr>
          <p:spPr bwMode="auto">
            <a:xfrm>
              <a:off x="575" y="1348"/>
              <a:ext cx="70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ZHOU</a:t>
              </a:r>
            </a:p>
          </p:txBody>
        </p:sp>
        <p:sp>
          <p:nvSpPr>
            <p:cNvPr id="83072" name="Line 44"/>
            <p:cNvSpPr>
              <a:spLocks noChangeShapeType="1"/>
            </p:cNvSpPr>
            <p:nvPr/>
          </p:nvSpPr>
          <p:spPr bwMode="auto">
            <a:xfrm>
              <a:off x="575" y="1348"/>
              <a:ext cx="81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3" name="Line 45"/>
            <p:cNvSpPr>
              <a:spLocks noChangeShapeType="1"/>
            </p:cNvSpPr>
            <p:nvPr/>
          </p:nvSpPr>
          <p:spPr bwMode="auto">
            <a:xfrm>
              <a:off x="575" y="1674"/>
              <a:ext cx="81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4" name="Line 46"/>
            <p:cNvSpPr>
              <a:spLocks noChangeShapeType="1"/>
            </p:cNvSpPr>
            <p:nvPr/>
          </p:nvSpPr>
          <p:spPr bwMode="auto">
            <a:xfrm>
              <a:off x="575" y="134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5" name="Line 47"/>
            <p:cNvSpPr>
              <a:spLocks noChangeShapeType="1"/>
            </p:cNvSpPr>
            <p:nvPr/>
          </p:nvSpPr>
          <p:spPr bwMode="auto">
            <a:xfrm>
              <a:off x="1278" y="1348"/>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6" name="Line 48"/>
            <p:cNvSpPr>
              <a:spLocks noChangeShapeType="1"/>
            </p:cNvSpPr>
            <p:nvPr/>
          </p:nvSpPr>
          <p:spPr bwMode="auto">
            <a:xfrm>
              <a:off x="1393" y="134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7" name="Rectangle 49"/>
            <p:cNvSpPr>
              <a:spLocks noChangeArrowheads="1"/>
            </p:cNvSpPr>
            <p:nvPr/>
          </p:nvSpPr>
          <p:spPr bwMode="auto">
            <a:xfrm>
              <a:off x="2381" y="1348"/>
              <a:ext cx="16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78" name="Rectangle 50"/>
            <p:cNvSpPr>
              <a:spLocks noChangeArrowheads="1"/>
            </p:cNvSpPr>
            <p:nvPr/>
          </p:nvSpPr>
          <p:spPr bwMode="auto">
            <a:xfrm>
              <a:off x="1728" y="1348"/>
              <a:ext cx="65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WU</a:t>
              </a:r>
            </a:p>
          </p:txBody>
        </p:sp>
        <p:sp>
          <p:nvSpPr>
            <p:cNvPr id="83079" name="Line 51"/>
            <p:cNvSpPr>
              <a:spLocks noChangeShapeType="1"/>
            </p:cNvSpPr>
            <p:nvPr/>
          </p:nvSpPr>
          <p:spPr bwMode="auto">
            <a:xfrm>
              <a:off x="1728" y="1348"/>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0" name="Line 52"/>
            <p:cNvSpPr>
              <a:spLocks noChangeShapeType="1"/>
            </p:cNvSpPr>
            <p:nvPr/>
          </p:nvSpPr>
          <p:spPr bwMode="auto">
            <a:xfrm>
              <a:off x="1728" y="1674"/>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1" name="Line 53"/>
            <p:cNvSpPr>
              <a:spLocks noChangeShapeType="1"/>
            </p:cNvSpPr>
            <p:nvPr/>
          </p:nvSpPr>
          <p:spPr bwMode="auto">
            <a:xfrm>
              <a:off x="1728" y="134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2" name="Line 54"/>
            <p:cNvSpPr>
              <a:spLocks noChangeShapeType="1"/>
            </p:cNvSpPr>
            <p:nvPr/>
          </p:nvSpPr>
          <p:spPr bwMode="auto">
            <a:xfrm>
              <a:off x="2381" y="1348"/>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3" name="Line 55"/>
            <p:cNvSpPr>
              <a:spLocks noChangeShapeType="1"/>
            </p:cNvSpPr>
            <p:nvPr/>
          </p:nvSpPr>
          <p:spPr bwMode="auto">
            <a:xfrm>
              <a:off x="2544" y="134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4" name="Rectangle 56"/>
            <p:cNvSpPr>
              <a:spLocks noChangeArrowheads="1"/>
            </p:cNvSpPr>
            <p:nvPr/>
          </p:nvSpPr>
          <p:spPr bwMode="auto">
            <a:xfrm>
              <a:off x="3715" y="1338"/>
              <a:ext cx="22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5" name="Rectangle 57"/>
            <p:cNvSpPr>
              <a:spLocks noChangeArrowheads="1"/>
            </p:cNvSpPr>
            <p:nvPr/>
          </p:nvSpPr>
          <p:spPr bwMode="auto">
            <a:xfrm>
              <a:off x="2832" y="1338"/>
              <a:ext cx="87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ZHENG</a:t>
              </a:r>
            </a:p>
          </p:txBody>
        </p:sp>
        <p:sp>
          <p:nvSpPr>
            <p:cNvPr id="83086" name="Line 58"/>
            <p:cNvSpPr>
              <a:spLocks noChangeShapeType="1"/>
            </p:cNvSpPr>
            <p:nvPr/>
          </p:nvSpPr>
          <p:spPr bwMode="auto">
            <a:xfrm>
              <a:off x="2832" y="1338"/>
              <a:ext cx="1099"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7" name="Line 59"/>
            <p:cNvSpPr>
              <a:spLocks noChangeShapeType="1"/>
            </p:cNvSpPr>
            <p:nvPr/>
          </p:nvSpPr>
          <p:spPr bwMode="auto">
            <a:xfrm>
              <a:off x="2832" y="1664"/>
              <a:ext cx="1099"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8" name="Line 60"/>
            <p:cNvSpPr>
              <a:spLocks noChangeShapeType="1"/>
            </p:cNvSpPr>
            <p:nvPr/>
          </p:nvSpPr>
          <p:spPr bwMode="auto">
            <a:xfrm>
              <a:off x="2832" y="133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89" name="Line 61"/>
            <p:cNvSpPr>
              <a:spLocks noChangeShapeType="1"/>
            </p:cNvSpPr>
            <p:nvPr/>
          </p:nvSpPr>
          <p:spPr bwMode="auto">
            <a:xfrm>
              <a:off x="3715" y="1338"/>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0" name="Line 62"/>
            <p:cNvSpPr>
              <a:spLocks noChangeShapeType="1"/>
            </p:cNvSpPr>
            <p:nvPr/>
          </p:nvSpPr>
          <p:spPr bwMode="auto">
            <a:xfrm>
              <a:off x="3936" y="133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1" name="Rectangle 63"/>
            <p:cNvSpPr>
              <a:spLocks noChangeArrowheads="1"/>
            </p:cNvSpPr>
            <p:nvPr/>
          </p:nvSpPr>
          <p:spPr bwMode="auto">
            <a:xfrm>
              <a:off x="5098" y="1344"/>
              <a:ext cx="27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3092" name="Rectangle 64"/>
            <p:cNvSpPr>
              <a:spLocks noChangeArrowheads="1"/>
            </p:cNvSpPr>
            <p:nvPr/>
          </p:nvSpPr>
          <p:spPr bwMode="auto">
            <a:xfrm>
              <a:off x="4320" y="1344"/>
              <a:ext cx="78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WANG</a:t>
              </a:r>
            </a:p>
          </p:txBody>
        </p:sp>
        <p:sp>
          <p:nvSpPr>
            <p:cNvPr id="83093" name="Line 65"/>
            <p:cNvSpPr>
              <a:spLocks noChangeShapeType="1"/>
            </p:cNvSpPr>
            <p:nvPr/>
          </p:nvSpPr>
          <p:spPr bwMode="auto">
            <a:xfrm>
              <a:off x="4320" y="1344"/>
              <a:ext cx="105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4" name="Line 66"/>
            <p:cNvSpPr>
              <a:spLocks noChangeShapeType="1"/>
            </p:cNvSpPr>
            <p:nvPr/>
          </p:nvSpPr>
          <p:spPr bwMode="auto">
            <a:xfrm>
              <a:off x="4320" y="1631"/>
              <a:ext cx="105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5" name="Line 67"/>
            <p:cNvSpPr>
              <a:spLocks noChangeShapeType="1"/>
            </p:cNvSpPr>
            <p:nvPr/>
          </p:nvSpPr>
          <p:spPr bwMode="auto">
            <a:xfrm>
              <a:off x="4320" y="1344"/>
              <a:ext cx="0" cy="29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6" name="Line 68"/>
            <p:cNvSpPr>
              <a:spLocks noChangeShapeType="1"/>
            </p:cNvSpPr>
            <p:nvPr/>
          </p:nvSpPr>
          <p:spPr bwMode="auto">
            <a:xfrm>
              <a:off x="5098" y="1344"/>
              <a:ext cx="0" cy="29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7" name="Line 69"/>
            <p:cNvSpPr>
              <a:spLocks noChangeShapeType="1"/>
            </p:cNvSpPr>
            <p:nvPr/>
          </p:nvSpPr>
          <p:spPr bwMode="auto">
            <a:xfrm>
              <a:off x="5376" y="1344"/>
              <a:ext cx="0" cy="29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8" name="Line 70"/>
            <p:cNvSpPr>
              <a:spLocks noChangeShapeType="1"/>
            </p:cNvSpPr>
            <p:nvPr/>
          </p:nvSpPr>
          <p:spPr bwMode="auto">
            <a:xfrm>
              <a:off x="1824" y="912"/>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99" name="Line 71"/>
            <p:cNvSpPr>
              <a:spLocks noChangeShapeType="1"/>
            </p:cNvSpPr>
            <p:nvPr/>
          </p:nvSpPr>
          <p:spPr bwMode="auto">
            <a:xfrm>
              <a:off x="2928" y="912"/>
              <a:ext cx="385"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0" name="Line 72"/>
            <p:cNvSpPr>
              <a:spLocks noChangeShapeType="1"/>
            </p:cNvSpPr>
            <p:nvPr/>
          </p:nvSpPr>
          <p:spPr bwMode="auto">
            <a:xfrm>
              <a:off x="3984" y="912"/>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1" name="Line 73"/>
            <p:cNvSpPr>
              <a:spLocks noChangeShapeType="1"/>
            </p:cNvSpPr>
            <p:nvPr/>
          </p:nvSpPr>
          <p:spPr bwMode="auto">
            <a:xfrm>
              <a:off x="5088" y="960"/>
              <a:ext cx="235"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2" name="Line 74"/>
            <p:cNvSpPr>
              <a:spLocks noChangeShapeType="1"/>
            </p:cNvSpPr>
            <p:nvPr/>
          </p:nvSpPr>
          <p:spPr bwMode="auto">
            <a:xfrm flipH="1">
              <a:off x="5328" y="96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3" name="Line 75"/>
            <p:cNvSpPr>
              <a:spLocks noChangeShapeType="1"/>
            </p:cNvSpPr>
            <p:nvPr/>
          </p:nvSpPr>
          <p:spPr bwMode="auto">
            <a:xfrm flipH="1" flipV="1">
              <a:off x="336" y="1152"/>
              <a:ext cx="4992"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4" name="Line 76"/>
            <p:cNvSpPr>
              <a:spLocks noChangeShapeType="1"/>
            </p:cNvSpPr>
            <p:nvPr/>
          </p:nvSpPr>
          <p:spPr bwMode="auto">
            <a:xfrm>
              <a:off x="336" y="1152"/>
              <a:ext cx="0" cy="38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5" name="Line 77"/>
            <p:cNvSpPr>
              <a:spLocks noChangeShapeType="1"/>
            </p:cNvSpPr>
            <p:nvPr/>
          </p:nvSpPr>
          <p:spPr bwMode="auto">
            <a:xfrm flipV="1">
              <a:off x="336" y="1536"/>
              <a:ext cx="19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6" name="Line 78"/>
            <p:cNvSpPr>
              <a:spLocks noChangeShapeType="1"/>
            </p:cNvSpPr>
            <p:nvPr/>
          </p:nvSpPr>
          <p:spPr bwMode="auto">
            <a:xfrm>
              <a:off x="1344" y="1482"/>
              <a:ext cx="33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7" name="Line 79"/>
            <p:cNvSpPr>
              <a:spLocks noChangeShapeType="1"/>
            </p:cNvSpPr>
            <p:nvPr/>
          </p:nvSpPr>
          <p:spPr bwMode="auto">
            <a:xfrm>
              <a:off x="2448" y="1482"/>
              <a:ext cx="385"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8" name="Line 80"/>
            <p:cNvSpPr>
              <a:spLocks noChangeShapeType="1"/>
            </p:cNvSpPr>
            <p:nvPr/>
          </p:nvSpPr>
          <p:spPr bwMode="auto">
            <a:xfrm>
              <a:off x="3888" y="1482"/>
              <a:ext cx="384" cy="11"/>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109" name="Rectangle 81"/>
            <p:cNvSpPr>
              <a:spLocks noChangeArrowheads="1"/>
            </p:cNvSpPr>
            <p:nvPr/>
          </p:nvSpPr>
          <p:spPr bwMode="auto">
            <a:xfrm>
              <a:off x="912" y="480"/>
              <a:ext cx="25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accent1"/>
                  </a:solidFill>
                  <a:effectLst/>
                  <a:uLnTx/>
                  <a:uFillTx/>
                  <a:latin typeface="+mn-lt"/>
                  <a:ea typeface="+mn-ea"/>
                  <a:cs typeface="+mn-ea"/>
                  <a:sym typeface="+mn-lt"/>
                </a:rPr>
                <a:t>H</a:t>
              </a:r>
            </a:p>
          </p:txBody>
        </p:sp>
        <p:sp>
          <p:nvSpPr>
            <p:cNvPr id="83110" name="Oval 82"/>
            <p:cNvSpPr>
              <a:spLocks noChangeAspect="1" noChangeArrowheads="1"/>
            </p:cNvSpPr>
            <p:nvPr/>
          </p:nvSpPr>
          <p:spPr bwMode="auto">
            <a:xfrm>
              <a:off x="720" y="610"/>
              <a:ext cx="68" cy="68"/>
            </a:xfrm>
            <a:prstGeom prst="ellipse">
              <a:avLst/>
            </a:prstGeom>
            <a:solidFill>
              <a:schemeClr val="tx1"/>
            </a:solidFill>
            <a:ln w="9525">
              <a:solidFill>
                <a:schemeClr val="tx1"/>
              </a:solidFill>
              <a:round/>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74195" name="Rectangle 83"/>
          <p:cNvSpPr>
            <a:spLocks noChangeArrowheads="1"/>
          </p:cNvSpPr>
          <p:nvPr/>
        </p:nvSpPr>
        <p:spPr bwMode="auto">
          <a:xfrm>
            <a:off x="298450" y="4011613"/>
            <a:ext cx="542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FF"/>
                </a:solidFill>
                <a:effectLst/>
                <a:uLnTx/>
                <a:uFillTx/>
                <a:latin typeface="+mn-lt"/>
                <a:ea typeface="+mn-ea"/>
                <a:cs typeface="+mn-ea"/>
                <a:sym typeface="+mn-lt"/>
              </a:rPr>
              <a:t>②</a:t>
            </a:r>
          </a:p>
        </p:txBody>
      </p:sp>
      <p:grpSp>
        <p:nvGrpSpPr>
          <p:cNvPr id="3" name="Group 84"/>
          <p:cNvGrpSpPr/>
          <p:nvPr/>
        </p:nvGrpSpPr>
        <p:grpSpPr>
          <a:xfrm>
            <a:off x="1112838" y="3873500"/>
            <a:ext cx="7026275" cy="1981200"/>
            <a:chOff x="480" y="1920"/>
            <a:chExt cx="5088" cy="1434"/>
          </a:xfrm>
        </p:grpSpPr>
        <p:sp>
          <p:nvSpPr>
            <p:cNvPr id="82952" name="Rectangle 85"/>
            <p:cNvSpPr>
              <a:spLocks noChangeArrowheads="1"/>
            </p:cNvSpPr>
            <p:nvPr/>
          </p:nvSpPr>
          <p:spPr bwMode="auto">
            <a:xfrm>
              <a:off x="912" y="2304"/>
              <a:ext cx="336" cy="337"/>
            </a:xfrm>
            <a:prstGeom prst="rect">
              <a:avLst/>
            </a:prstGeom>
            <a:solidFill>
              <a:srgbClr val="0000FF"/>
            </a:solidFill>
            <a:ln w="12700">
              <a:solidFill>
                <a:schemeClr val="hlink"/>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82953" name="Rectangle 86"/>
            <p:cNvSpPr>
              <a:spLocks noChangeArrowheads="1"/>
            </p:cNvSpPr>
            <p:nvPr/>
          </p:nvSpPr>
          <p:spPr bwMode="auto">
            <a:xfrm>
              <a:off x="1248" y="2304"/>
              <a:ext cx="14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54" name="Line 87"/>
            <p:cNvSpPr>
              <a:spLocks noChangeShapeType="1"/>
            </p:cNvSpPr>
            <p:nvPr/>
          </p:nvSpPr>
          <p:spPr bwMode="auto">
            <a:xfrm>
              <a:off x="1248" y="2304"/>
              <a:ext cx="144" cy="0"/>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55" name="Line 88"/>
            <p:cNvSpPr>
              <a:spLocks noChangeShapeType="1"/>
            </p:cNvSpPr>
            <p:nvPr/>
          </p:nvSpPr>
          <p:spPr bwMode="auto">
            <a:xfrm>
              <a:off x="1248" y="2640"/>
              <a:ext cx="144" cy="0"/>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56" name="Line 89"/>
            <p:cNvSpPr>
              <a:spLocks noChangeShapeType="1"/>
            </p:cNvSpPr>
            <p:nvPr/>
          </p:nvSpPr>
          <p:spPr bwMode="auto">
            <a:xfrm>
              <a:off x="1248" y="2304"/>
              <a:ext cx="0" cy="337"/>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57" name="Line 90"/>
            <p:cNvSpPr>
              <a:spLocks noChangeShapeType="1"/>
            </p:cNvSpPr>
            <p:nvPr/>
          </p:nvSpPr>
          <p:spPr bwMode="auto">
            <a:xfrm>
              <a:off x="1392" y="2304"/>
              <a:ext cx="0" cy="337"/>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58" name="Rectangle 91"/>
            <p:cNvSpPr>
              <a:spLocks noChangeArrowheads="1"/>
            </p:cNvSpPr>
            <p:nvPr/>
          </p:nvSpPr>
          <p:spPr bwMode="auto">
            <a:xfrm>
              <a:off x="2320" y="2310"/>
              <a:ext cx="16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59" name="Rectangle 92"/>
            <p:cNvSpPr>
              <a:spLocks noChangeArrowheads="1"/>
            </p:cNvSpPr>
            <p:nvPr/>
          </p:nvSpPr>
          <p:spPr bwMode="auto">
            <a:xfrm>
              <a:off x="1668" y="2310"/>
              <a:ext cx="653"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ZHAO</a:t>
              </a:r>
            </a:p>
          </p:txBody>
        </p:sp>
        <p:sp>
          <p:nvSpPr>
            <p:cNvPr id="82960" name="Line 93"/>
            <p:cNvSpPr>
              <a:spLocks noChangeShapeType="1"/>
            </p:cNvSpPr>
            <p:nvPr/>
          </p:nvSpPr>
          <p:spPr bwMode="auto">
            <a:xfrm>
              <a:off x="1668" y="2310"/>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1" name="Line 94"/>
            <p:cNvSpPr>
              <a:spLocks noChangeShapeType="1"/>
            </p:cNvSpPr>
            <p:nvPr/>
          </p:nvSpPr>
          <p:spPr bwMode="auto">
            <a:xfrm>
              <a:off x="1668" y="2640"/>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2" name="Line 95"/>
            <p:cNvSpPr>
              <a:spLocks noChangeShapeType="1"/>
            </p:cNvSpPr>
            <p:nvPr/>
          </p:nvSpPr>
          <p:spPr bwMode="auto">
            <a:xfrm>
              <a:off x="1668" y="2310"/>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3" name="Line 96"/>
            <p:cNvSpPr>
              <a:spLocks noChangeShapeType="1"/>
            </p:cNvSpPr>
            <p:nvPr/>
          </p:nvSpPr>
          <p:spPr bwMode="auto">
            <a:xfrm>
              <a:off x="2320" y="2310"/>
              <a:ext cx="0" cy="331"/>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4" name="Line 97"/>
            <p:cNvSpPr>
              <a:spLocks noChangeShapeType="1"/>
            </p:cNvSpPr>
            <p:nvPr/>
          </p:nvSpPr>
          <p:spPr bwMode="auto">
            <a:xfrm>
              <a:off x="2484" y="2310"/>
              <a:ext cx="0" cy="331"/>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5" name="Line 98"/>
            <p:cNvSpPr>
              <a:spLocks noChangeShapeType="1"/>
            </p:cNvSpPr>
            <p:nvPr/>
          </p:nvSpPr>
          <p:spPr bwMode="auto">
            <a:xfrm>
              <a:off x="1332" y="2449"/>
              <a:ext cx="29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6" name="Rectangle 99"/>
            <p:cNvSpPr>
              <a:spLocks noChangeArrowheads="1"/>
            </p:cNvSpPr>
            <p:nvPr/>
          </p:nvSpPr>
          <p:spPr bwMode="auto">
            <a:xfrm>
              <a:off x="3425" y="2304"/>
              <a:ext cx="16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7" name="Rectangle 100"/>
            <p:cNvSpPr>
              <a:spLocks noChangeArrowheads="1"/>
            </p:cNvSpPr>
            <p:nvPr/>
          </p:nvSpPr>
          <p:spPr bwMode="auto">
            <a:xfrm>
              <a:off x="2772" y="2304"/>
              <a:ext cx="65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QIAN</a:t>
              </a:r>
            </a:p>
          </p:txBody>
        </p:sp>
        <p:sp>
          <p:nvSpPr>
            <p:cNvPr id="82968" name="Line 101"/>
            <p:cNvSpPr>
              <a:spLocks noChangeShapeType="1"/>
            </p:cNvSpPr>
            <p:nvPr/>
          </p:nvSpPr>
          <p:spPr bwMode="auto">
            <a:xfrm>
              <a:off x="2772" y="2304"/>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69" name="Line 102"/>
            <p:cNvSpPr>
              <a:spLocks noChangeShapeType="1"/>
            </p:cNvSpPr>
            <p:nvPr/>
          </p:nvSpPr>
          <p:spPr bwMode="auto">
            <a:xfrm>
              <a:off x="2772" y="2630"/>
              <a:ext cx="81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0" name="Line 103"/>
            <p:cNvSpPr>
              <a:spLocks noChangeShapeType="1"/>
            </p:cNvSpPr>
            <p:nvPr/>
          </p:nvSpPr>
          <p:spPr bwMode="auto">
            <a:xfrm>
              <a:off x="2772" y="2304"/>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1" name="Line 104"/>
            <p:cNvSpPr>
              <a:spLocks noChangeShapeType="1"/>
            </p:cNvSpPr>
            <p:nvPr/>
          </p:nvSpPr>
          <p:spPr bwMode="auto">
            <a:xfrm>
              <a:off x="3425" y="2304"/>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2" name="Line 105"/>
            <p:cNvSpPr>
              <a:spLocks noChangeShapeType="1"/>
            </p:cNvSpPr>
            <p:nvPr/>
          </p:nvSpPr>
          <p:spPr bwMode="auto">
            <a:xfrm>
              <a:off x="3588" y="2304"/>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3" name="Rectangle 106"/>
            <p:cNvSpPr>
              <a:spLocks noChangeArrowheads="1"/>
            </p:cNvSpPr>
            <p:nvPr/>
          </p:nvSpPr>
          <p:spPr bwMode="auto">
            <a:xfrm>
              <a:off x="5309" y="2304"/>
              <a:ext cx="11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4" name="Rectangle 107"/>
            <p:cNvSpPr>
              <a:spLocks noChangeArrowheads="1"/>
            </p:cNvSpPr>
            <p:nvPr/>
          </p:nvSpPr>
          <p:spPr bwMode="auto">
            <a:xfrm>
              <a:off x="4932" y="2304"/>
              <a:ext cx="37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LI</a:t>
              </a:r>
            </a:p>
          </p:txBody>
        </p:sp>
        <p:sp>
          <p:nvSpPr>
            <p:cNvPr id="82975" name="Line 108"/>
            <p:cNvSpPr>
              <a:spLocks noChangeShapeType="1"/>
            </p:cNvSpPr>
            <p:nvPr/>
          </p:nvSpPr>
          <p:spPr bwMode="auto">
            <a:xfrm>
              <a:off x="4932" y="2304"/>
              <a:ext cx="49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6" name="Line 109"/>
            <p:cNvSpPr>
              <a:spLocks noChangeShapeType="1"/>
            </p:cNvSpPr>
            <p:nvPr/>
          </p:nvSpPr>
          <p:spPr bwMode="auto">
            <a:xfrm>
              <a:off x="4932" y="2634"/>
              <a:ext cx="492"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7" name="Line 110"/>
            <p:cNvSpPr>
              <a:spLocks noChangeShapeType="1"/>
            </p:cNvSpPr>
            <p:nvPr/>
          </p:nvSpPr>
          <p:spPr bwMode="auto">
            <a:xfrm>
              <a:off x="4932" y="230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8" name="Line 111"/>
            <p:cNvSpPr>
              <a:spLocks noChangeShapeType="1"/>
            </p:cNvSpPr>
            <p:nvPr/>
          </p:nvSpPr>
          <p:spPr bwMode="auto">
            <a:xfrm>
              <a:off x="5309" y="2304"/>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79" name="Line 112"/>
            <p:cNvSpPr>
              <a:spLocks noChangeShapeType="1"/>
            </p:cNvSpPr>
            <p:nvPr/>
          </p:nvSpPr>
          <p:spPr bwMode="auto">
            <a:xfrm>
              <a:off x="5424" y="230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0" name="Rectangle 113"/>
            <p:cNvSpPr>
              <a:spLocks noChangeArrowheads="1"/>
            </p:cNvSpPr>
            <p:nvPr/>
          </p:nvSpPr>
          <p:spPr bwMode="auto">
            <a:xfrm>
              <a:off x="4444" y="2304"/>
              <a:ext cx="1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1" name="Rectangle 114"/>
            <p:cNvSpPr>
              <a:spLocks noChangeArrowheads="1"/>
            </p:cNvSpPr>
            <p:nvPr/>
          </p:nvSpPr>
          <p:spPr bwMode="auto">
            <a:xfrm>
              <a:off x="3876" y="2304"/>
              <a:ext cx="5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SUN</a:t>
              </a:r>
            </a:p>
          </p:txBody>
        </p:sp>
        <p:sp>
          <p:nvSpPr>
            <p:cNvPr id="82982" name="Line 115"/>
            <p:cNvSpPr>
              <a:spLocks noChangeShapeType="1"/>
            </p:cNvSpPr>
            <p:nvPr/>
          </p:nvSpPr>
          <p:spPr bwMode="auto">
            <a:xfrm>
              <a:off x="3876" y="2304"/>
              <a:ext cx="72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3" name="Line 116"/>
            <p:cNvSpPr>
              <a:spLocks noChangeShapeType="1"/>
            </p:cNvSpPr>
            <p:nvPr/>
          </p:nvSpPr>
          <p:spPr bwMode="auto">
            <a:xfrm>
              <a:off x="3876" y="2634"/>
              <a:ext cx="72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4" name="Line 117"/>
            <p:cNvSpPr>
              <a:spLocks noChangeShapeType="1"/>
            </p:cNvSpPr>
            <p:nvPr/>
          </p:nvSpPr>
          <p:spPr bwMode="auto">
            <a:xfrm>
              <a:off x="3876" y="230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5" name="Line 118"/>
            <p:cNvSpPr>
              <a:spLocks noChangeShapeType="1"/>
            </p:cNvSpPr>
            <p:nvPr/>
          </p:nvSpPr>
          <p:spPr bwMode="auto">
            <a:xfrm>
              <a:off x="4444" y="2304"/>
              <a:ext cx="0" cy="33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6" name="Line 119"/>
            <p:cNvSpPr>
              <a:spLocks noChangeShapeType="1"/>
            </p:cNvSpPr>
            <p:nvPr/>
          </p:nvSpPr>
          <p:spPr bwMode="auto">
            <a:xfrm>
              <a:off x="4595" y="2304"/>
              <a:ext cx="0" cy="33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7" name="Rectangle 120"/>
            <p:cNvSpPr>
              <a:spLocks noChangeArrowheads="1"/>
            </p:cNvSpPr>
            <p:nvPr/>
          </p:nvSpPr>
          <p:spPr bwMode="auto">
            <a:xfrm>
              <a:off x="1566" y="3028"/>
              <a:ext cx="11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88" name="Rectangle 121"/>
            <p:cNvSpPr>
              <a:spLocks noChangeArrowheads="1"/>
            </p:cNvSpPr>
            <p:nvPr/>
          </p:nvSpPr>
          <p:spPr bwMode="auto">
            <a:xfrm>
              <a:off x="864" y="3028"/>
              <a:ext cx="70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ZHOU</a:t>
              </a:r>
            </a:p>
          </p:txBody>
        </p:sp>
        <p:sp>
          <p:nvSpPr>
            <p:cNvPr id="82989" name="Line 122"/>
            <p:cNvSpPr>
              <a:spLocks noChangeShapeType="1"/>
            </p:cNvSpPr>
            <p:nvPr/>
          </p:nvSpPr>
          <p:spPr bwMode="auto">
            <a:xfrm>
              <a:off x="864" y="3028"/>
              <a:ext cx="817"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0" name="Line 123"/>
            <p:cNvSpPr>
              <a:spLocks noChangeShapeType="1"/>
            </p:cNvSpPr>
            <p:nvPr/>
          </p:nvSpPr>
          <p:spPr bwMode="auto">
            <a:xfrm>
              <a:off x="864" y="3354"/>
              <a:ext cx="817"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1" name="Line 124"/>
            <p:cNvSpPr>
              <a:spLocks noChangeShapeType="1"/>
            </p:cNvSpPr>
            <p:nvPr/>
          </p:nvSpPr>
          <p:spPr bwMode="auto">
            <a:xfrm>
              <a:off x="864" y="302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2" name="Line 125"/>
            <p:cNvSpPr>
              <a:spLocks noChangeShapeType="1"/>
            </p:cNvSpPr>
            <p:nvPr/>
          </p:nvSpPr>
          <p:spPr bwMode="auto">
            <a:xfrm>
              <a:off x="1566" y="3028"/>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3" name="Line 126"/>
            <p:cNvSpPr>
              <a:spLocks noChangeShapeType="1"/>
            </p:cNvSpPr>
            <p:nvPr/>
          </p:nvSpPr>
          <p:spPr bwMode="auto">
            <a:xfrm>
              <a:off x="1681" y="302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4" name="Rectangle 127"/>
            <p:cNvSpPr>
              <a:spLocks noChangeArrowheads="1"/>
            </p:cNvSpPr>
            <p:nvPr/>
          </p:nvSpPr>
          <p:spPr bwMode="auto">
            <a:xfrm>
              <a:off x="2489" y="3028"/>
              <a:ext cx="11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5" name="Rectangle 128"/>
            <p:cNvSpPr>
              <a:spLocks noChangeArrowheads="1"/>
            </p:cNvSpPr>
            <p:nvPr/>
          </p:nvSpPr>
          <p:spPr bwMode="auto">
            <a:xfrm>
              <a:off x="2016" y="3028"/>
              <a:ext cx="47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WU</a:t>
              </a:r>
            </a:p>
          </p:txBody>
        </p:sp>
        <p:sp>
          <p:nvSpPr>
            <p:cNvPr id="82996" name="Line 129"/>
            <p:cNvSpPr>
              <a:spLocks noChangeShapeType="1"/>
            </p:cNvSpPr>
            <p:nvPr/>
          </p:nvSpPr>
          <p:spPr bwMode="auto">
            <a:xfrm>
              <a:off x="2016" y="3028"/>
              <a:ext cx="59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7" name="Line 130"/>
            <p:cNvSpPr>
              <a:spLocks noChangeShapeType="1"/>
            </p:cNvSpPr>
            <p:nvPr/>
          </p:nvSpPr>
          <p:spPr bwMode="auto">
            <a:xfrm>
              <a:off x="2016" y="3354"/>
              <a:ext cx="59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8" name="Line 131"/>
            <p:cNvSpPr>
              <a:spLocks noChangeShapeType="1"/>
            </p:cNvSpPr>
            <p:nvPr/>
          </p:nvSpPr>
          <p:spPr bwMode="auto">
            <a:xfrm>
              <a:off x="2016" y="302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999" name="Line 132"/>
            <p:cNvSpPr>
              <a:spLocks noChangeShapeType="1"/>
            </p:cNvSpPr>
            <p:nvPr/>
          </p:nvSpPr>
          <p:spPr bwMode="auto">
            <a:xfrm>
              <a:off x="2489" y="3028"/>
              <a:ext cx="0" cy="326"/>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0" name="Line 133"/>
            <p:cNvSpPr>
              <a:spLocks noChangeShapeType="1"/>
            </p:cNvSpPr>
            <p:nvPr/>
          </p:nvSpPr>
          <p:spPr bwMode="auto">
            <a:xfrm>
              <a:off x="2606" y="3028"/>
              <a:ext cx="0" cy="326"/>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1" name="Rectangle 134"/>
            <p:cNvSpPr>
              <a:spLocks noChangeArrowheads="1"/>
            </p:cNvSpPr>
            <p:nvPr/>
          </p:nvSpPr>
          <p:spPr bwMode="auto">
            <a:xfrm>
              <a:off x="3648" y="3018"/>
              <a:ext cx="19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2" name="Rectangle 135"/>
            <p:cNvSpPr>
              <a:spLocks noChangeArrowheads="1"/>
            </p:cNvSpPr>
            <p:nvPr/>
          </p:nvSpPr>
          <p:spPr bwMode="auto">
            <a:xfrm>
              <a:off x="2880" y="3018"/>
              <a:ext cx="7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ZHENG</a:t>
              </a:r>
            </a:p>
          </p:txBody>
        </p:sp>
        <p:sp>
          <p:nvSpPr>
            <p:cNvPr id="83003" name="Line 136"/>
            <p:cNvSpPr>
              <a:spLocks noChangeShapeType="1"/>
            </p:cNvSpPr>
            <p:nvPr/>
          </p:nvSpPr>
          <p:spPr bwMode="auto">
            <a:xfrm>
              <a:off x="2880" y="3018"/>
              <a:ext cx="96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4" name="Line 137"/>
            <p:cNvSpPr>
              <a:spLocks noChangeShapeType="1"/>
            </p:cNvSpPr>
            <p:nvPr/>
          </p:nvSpPr>
          <p:spPr bwMode="auto">
            <a:xfrm>
              <a:off x="2880" y="3344"/>
              <a:ext cx="960"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5" name="Line 138"/>
            <p:cNvSpPr>
              <a:spLocks noChangeShapeType="1"/>
            </p:cNvSpPr>
            <p:nvPr/>
          </p:nvSpPr>
          <p:spPr bwMode="auto">
            <a:xfrm>
              <a:off x="2880" y="3018"/>
              <a:ext cx="0" cy="324"/>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6" name="Line 139"/>
            <p:cNvSpPr>
              <a:spLocks noChangeShapeType="1"/>
            </p:cNvSpPr>
            <p:nvPr/>
          </p:nvSpPr>
          <p:spPr bwMode="auto">
            <a:xfrm>
              <a:off x="3648" y="3018"/>
              <a:ext cx="0" cy="324"/>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7" name="Line 140"/>
            <p:cNvSpPr>
              <a:spLocks noChangeShapeType="1"/>
            </p:cNvSpPr>
            <p:nvPr/>
          </p:nvSpPr>
          <p:spPr bwMode="auto">
            <a:xfrm>
              <a:off x="3840" y="3018"/>
              <a:ext cx="0" cy="324"/>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08" name="Rectangle 141"/>
            <p:cNvSpPr>
              <a:spLocks noChangeArrowheads="1"/>
            </p:cNvSpPr>
            <p:nvPr/>
          </p:nvSpPr>
          <p:spPr bwMode="auto">
            <a:xfrm>
              <a:off x="4906" y="3024"/>
              <a:ext cx="27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3009" name="Rectangle 142"/>
            <p:cNvSpPr>
              <a:spLocks noChangeArrowheads="1"/>
            </p:cNvSpPr>
            <p:nvPr/>
          </p:nvSpPr>
          <p:spPr bwMode="auto">
            <a:xfrm>
              <a:off x="4128" y="3024"/>
              <a:ext cx="77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mn-lt"/>
                  <a:ea typeface="+mn-ea"/>
                  <a:cs typeface="+mn-ea"/>
                  <a:sym typeface="+mn-lt"/>
                </a:rPr>
                <a:t>WANG</a:t>
              </a:r>
            </a:p>
          </p:txBody>
        </p:sp>
        <p:sp>
          <p:nvSpPr>
            <p:cNvPr id="83010" name="Line 143"/>
            <p:cNvSpPr>
              <a:spLocks noChangeShapeType="1"/>
            </p:cNvSpPr>
            <p:nvPr/>
          </p:nvSpPr>
          <p:spPr bwMode="auto">
            <a:xfrm>
              <a:off x="4128" y="3024"/>
              <a:ext cx="105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1" name="Line 144"/>
            <p:cNvSpPr>
              <a:spLocks noChangeShapeType="1"/>
            </p:cNvSpPr>
            <p:nvPr/>
          </p:nvSpPr>
          <p:spPr bwMode="auto">
            <a:xfrm>
              <a:off x="4128" y="3311"/>
              <a:ext cx="1056"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2" name="Line 145"/>
            <p:cNvSpPr>
              <a:spLocks noChangeShapeType="1"/>
            </p:cNvSpPr>
            <p:nvPr/>
          </p:nvSpPr>
          <p:spPr bwMode="auto">
            <a:xfrm>
              <a:off x="4128" y="3024"/>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3" name="Line 146"/>
            <p:cNvSpPr>
              <a:spLocks noChangeShapeType="1"/>
            </p:cNvSpPr>
            <p:nvPr/>
          </p:nvSpPr>
          <p:spPr bwMode="auto">
            <a:xfrm>
              <a:off x="4906" y="3024"/>
              <a:ext cx="0" cy="287"/>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4" name="Line 147"/>
            <p:cNvSpPr>
              <a:spLocks noChangeShapeType="1"/>
            </p:cNvSpPr>
            <p:nvPr/>
          </p:nvSpPr>
          <p:spPr bwMode="auto">
            <a:xfrm>
              <a:off x="5184" y="3024"/>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5" name="Line 148"/>
            <p:cNvSpPr>
              <a:spLocks noChangeShapeType="1"/>
            </p:cNvSpPr>
            <p:nvPr/>
          </p:nvSpPr>
          <p:spPr bwMode="auto">
            <a:xfrm>
              <a:off x="2388" y="2449"/>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6" name="Line 149"/>
            <p:cNvSpPr>
              <a:spLocks noChangeShapeType="1"/>
            </p:cNvSpPr>
            <p:nvPr/>
          </p:nvSpPr>
          <p:spPr bwMode="auto">
            <a:xfrm>
              <a:off x="3492" y="2449"/>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7" name="Line 150"/>
            <p:cNvSpPr>
              <a:spLocks noChangeShapeType="1"/>
            </p:cNvSpPr>
            <p:nvPr/>
          </p:nvSpPr>
          <p:spPr bwMode="auto">
            <a:xfrm>
              <a:off x="4548" y="2449"/>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8" name="Line 151"/>
            <p:cNvSpPr>
              <a:spLocks noChangeShapeType="1"/>
            </p:cNvSpPr>
            <p:nvPr/>
          </p:nvSpPr>
          <p:spPr bwMode="auto">
            <a:xfrm>
              <a:off x="5328" y="2449"/>
              <a:ext cx="24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19" name="Line 152"/>
            <p:cNvSpPr>
              <a:spLocks noChangeShapeType="1"/>
            </p:cNvSpPr>
            <p:nvPr/>
          </p:nvSpPr>
          <p:spPr bwMode="auto">
            <a:xfrm flipH="1">
              <a:off x="5568" y="2449"/>
              <a:ext cx="0" cy="385"/>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0" name="Line 153"/>
            <p:cNvSpPr>
              <a:spLocks noChangeShapeType="1"/>
            </p:cNvSpPr>
            <p:nvPr/>
          </p:nvSpPr>
          <p:spPr bwMode="auto">
            <a:xfrm flipH="1">
              <a:off x="624" y="2825"/>
              <a:ext cx="4944" cy="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1" name="Line 154"/>
            <p:cNvSpPr>
              <a:spLocks noChangeShapeType="1"/>
            </p:cNvSpPr>
            <p:nvPr/>
          </p:nvSpPr>
          <p:spPr bwMode="auto">
            <a:xfrm>
              <a:off x="624" y="2832"/>
              <a:ext cx="0" cy="38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2" name="Line 155"/>
            <p:cNvSpPr>
              <a:spLocks noChangeShapeType="1"/>
            </p:cNvSpPr>
            <p:nvPr/>
          </p:nvSpPr>
          <p:spPr bwMode="auto">
            <a:xfrm flipV="1">
              <a:off x="624" y="3216"/>
              <a:ext cx="19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3" name="Line 156"/>
            <p:cNvSpPr>
              <a:spLocks noChangeShapeType="1"/>
            </p:cNvSpPr>
            <p:nvPr/>
          </p:nvSpPr>
          <p:spPr bwMode="auto">
            <a:xfrm>
              <a:off x="1632" y="3162"/>
              <a:ext cx="33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4" name="Line 157"/>
            <p:cNvSpPr>
              <a:spLocks noChangeShapeType="1"/>
            </p:cNvSpPr>
            <p:nvPr/>
          </p:nvSpPr>
          <p:spPr bwMode="auto">
            <a:xfrm>
              <a:off x="2543" y="3162"/>
              <a:ext cx="384"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5" name="Line 158"/>
            <p:cNvSpPr>
              <a:spLocks noChangeShapeType="1"/>
            </p:cNvSpPr>
            <p:nvPr/>
          </p:nvSpPr>
          <p:spPr bwMode="auto">
            <a:xfrm>
              <a:off x="3744" y="3162"/>
              <a:ext cx="384" cy="6"/>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6" name="Rectangle 159"/>
            <p:cNvSpPr>
              <a:spLocks noChangeArrowheads="1"/>
            </p:cNvSpPr>
            <p:nvPr/>
          </p:nvSpPr>
          <p:spPr bwMode="auto">
            <a:xfrm>
              <a:off x="480" y="2064"/>
              <a:ext cx="28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7" name="Line 160"/>
            <p:cNvSpPr>
              <a:spLocks noChangeShapeType="1"/>
            </p:cNvSpPr>
            <p:nvPr/>
          </p:nvSpPr>
          <p:spPr bwMode="auto">
            <a:xfrm>
              <a:off x="480" y="2064"/>
              <a:ext cx="289"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8" name="Line 161"/>
            <p:cNvSpPr>
              <a:spLocks noChangeShapeType="1"/>
            </p:cNvSpPr>
            <p:nvPr/>
          </p:nvSpPr>
          <p:spPr bwMode="auto">
            <a:xfrm>
              <a:off x="480" y="2351"/>
              <a:ext cx="289"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29" name="Line 162"/>
            <p:cNvSpPr>
              <a:spLocks noChangeShapeType="1"/>
            </p:cNvSpPr>
            <p:nvPr/>
          </p:nvSpPr>
          <p:spPr bwMode="auto">
            <a:xfrm>
              <a:off x="480" y="2064"/>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0" name="Line 163"/>
            <p:cNvSpPr>
              <a:spLocks noChangeShapeType="1"/>
            </p:cNvSpPr>
            <p:nvPr/>
          </p:nvSpPr>
          <p:spPr bwMode="auto">
            <a:xfrm>
              <a:off x="769" y="2064"/>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1" name="Line 164"/>
            <p:cNvSpPr>
              <a:spLocks noChangeShapeType="1"/>
            </p:cNvSpPr>
            <p:nvPr/>
          </p:nvSpPr>
          <p:spPr bwMode="auto">
            <a:xfrm>
              <a:off x="624" y="2214"/>
              <a:ext cx="0" cy="28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2" name="Line 165"/>
            <p:cNvSpPr>
              <a:spLocks noChangeShapeType="1"/>
            </p:cNvSpPr>
            <p:nvPr/>
          </p:nvSpPr>
          <p:spPr bwMode="auto">
            <a:xfrm>
              <a:off x="624" y="2496"/>
              <a:ext cx="291"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033" name="Rectangle 166"/>
            <p:cNvSpPr>
              <a:spLocks noChangeArrowheads="1"/>
            </p:cNvSpPr>
            <p:nvPr/>
          </p:nvSpPr>
          <p:spPr bwMode="auto">
            <a:xfrm>
              <a:off x="816" y="1920"/>
              <a:ext cx="2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accent1"/>
                  </a:solidFill>
                  <a:effectLst/>
                  <a:uLnTx/>
                  <a:uFillTx/>
                  <a:latin typeface="+mn-lt"/>
                  <a:ea typeface="+mn-ea"/>
                  <a:cs typeface="+mn-ea"/>
                  <a:sym typeface="+mn-lt"/>
                </a:rPr>
                <a:t>H</a:t>
              </a:r>
            </a:p>
          </p:txBody>
        </p:sp>
        <p:sp>
          <p:nvSpPr>
            <p:cNvPr id="83034" name="Oval 167"/>
            <p:cNvSpPr>
              <a:spLocks noChangeAspect="1" noChangeArrowheads="1"/>
            </p:cNvSpPr>
            <p:nvPr/>
          </p:nvSpPr>
          <p:spPr bwMode="auto">
            <a:xfrm>
              <a:off x="577" y="2146"/>
              <a:ext cx="69" cy="68"/>
            </a:xfrm>
            <a:prstGeom prst="ellipse">
              <a:avLst/>
            </a:prstGeom>
            <a:solidFill>
              <a:schemeClr val="tx1"/>
            </a:solidFill>
            <a:ln w="9525">
              <a:solidFill>
                <a:schemeClr val="tx1"/>
              </a:solidFill>
              <a:round/>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74280" name="Text Box 168"/>
          <p:cNvSpPr txBox="1">
            <a:spLocks noChangeArrowheads="1"/>
          </p:cNvSpPr>
          <p:nvPr/>
        </p:nvSpPr>
        <p:spPr bwMode="auto">
          <a:xfrm>
            <a:off x="219075" y="6219825"/>
            <a:ext cx="556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区别：</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①</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无头结点   </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 ② </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有头结点</a:t>
            </a:r>
          </a:p>
        </p:txBody>
      </p:sp>
      <p:sp>
        <p:nvSpPr>
          <p:cNvPr id="167"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sp>
        <p:nvSpPr>
          <p:cNvPr id="87049" name="矩形 4"/>
          <p:cNvSpPr/>
          <p:nvPr/>
        </p:nvSpPr>
        <p:spPr>
          <a:xfrm>
            <a:off x="266700" y="1700213"/>
            <a:ext cx="8534400" cy="4321175"/>
          </a:xfrm>
          <a:prstGeom prst="rect">
            <a:avLst/>
          </a:prstGeom>
          <a:noFill/>
          <a:ln w="38100" cap="flat" cmpd="sng">
            <a:solidFill>
              <a:srgbClr val="9476B6"/>
            </a:solidFill>
            <a:prstDash val="solid"/>
            <a:round/>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474117"/>
                                        </p:tgtEl>
                                        <p:attrNameLst>
                                          <p:attrName>style.visibility</p:attrName>
                                        </p:attrNameLst>
                                      </p:cBhvr>
                                      <p:to>
                                        <p:strVal val="visible"/>
                                      </p:to>
                                    </p:set>
                                  </p:childTnLst>
                                </p:cTn>
                              </p:par>
                            </p:childTnLst>
                          </p:cTn>
                        </p:par>
                        <p:par>
                          <p:cTn id="7" fill="hold">
                            <p:stCondLst>
                              <p:cond delay="1500"/>
                            </p:stCondLst>
                            <p:childTnLst>
                              <p:par>
                                <p:cTn id="8" presetID="16" presetClass="entr" presetSubtype="37"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animEffect transition="in" filter="barn(outVertical)">
                                      <p:cBhvr>
                                        <p:cTn id="10" dur="500"/>
                                        <p:tgtEl>
                                          <p:spTgt spid="2"/>
                                        </p:tgtEl>
                                      </p:cBhvr>
                                    </p:animEffect>
                                  </p:childTnLst>
                                </p:cTn>
                              </p:par>
                            </p:childTnLst>
                          </p:cTn>
                        </p:par>
                        <p:par>
                          <p:cTn id="11" fill="hold">
                            <p:stCondLst>
                              <p:cond delay="3000"/>
                            </p:stCondLst>
                            <p:childTnLst>
                              <p:par>
                                <p:cTn id="12" presetID="1" presetClass="entr" presetSubtype="0" fill="hold" grpId="0" nodeType="afterEffect">
                                  <p:stCondLst>
                                    <p:cond delay="1000"/>
                                  </p:stCondLst>
                                  <p:childTnLst>
                                    <p:set>
                                      <p:cBhvr>
                                        <p:cTn id="13" dur="1" fill="hold">
                                          <p:stCondLst>
                                            <p:cond delay="499"/>
                                          </p:stCondLst>
                                        </p:cTn>
                                        <p:tgtEl>
                                          <p:spTgt spid="474195"/>
                                        </p:tgtEl>
                                        <p:attrNameLst>
                                          <p:attrName>style.visibility</p:attrName>
                                        </p:attrNameLst>
                                      </p:cBhvr>
                                      <p:to>
                                        <p:strVal val="visible"/>
                                      </p:to>
                                    </p:set>
                                  </p:childTnLst>
                                </p:cTn>
                              </p:par>
                            </p:childTnLst>
                          </p:cTn>
                        </p:par>
                        <p:par>
                          <p:cTn id="14" fill="hold">
                            <p:stCondLst>
                              <p:cond delay="4500"/>
                            </p:stCondLst>
                            <p:childTnLst>
                              <p:par>
                                <p:cTn id="15" presetID="16" presetClass="entr" presetSubtype="37" fill="hold" nodeType="afterEffect">
                                  <p:stCondLst>
                                    <p:cond delay="1000"/>
                                  </p:stCondLst>
                                  <p:childTnLst>
                                    <p:set>
                                      <p:cBhvr>
                                        <p:cTn id="16" dur="1" fill="hold">
                                          <p:stCondLst>
                                            <p:cond delay="0"/>
                                          </p:stCondLst>
                                        </p:cTn>
                                        <p:tgtEl>
                                          <p:spTgt spid="3"/>
                                        </p:tgtEl>
                                        <p:attrNameLst>
                                          <p:attrName>style.visibility</p:attrName>
                                        </p:attrNameLst>
                                      </p:cBhvr>
                                      <p:to>
                                        <p:strVal val="visible"/>
                                      </p:to>
                                    </p:set>
                                    <p:animEffect transition="in" filter="barn(outVertical)">
                                      <p:cBhvr>
                                        <p:cTn id="17" dur="500"/>
                                        <p:tgtEl>
                                          <p:spTgt spid="3"/>
                                        </p:tgtEl>
                                      </p:cBhvr>
                                    </p:animEffect>
                                  </p:childTnLst>
                                </p:cTn>
                              </p:par>
                            </p:childTnLst>
                          </p:cTn>
                        </p:par>
                        <p:par>
                          <p:cTn id="18" fill="hold">
                            <p:stCondLst>
                              <p:cond delay="6000"/>
                            </p:stCondLst>
                            <p:childTnLst>
                              <p:par>
                                <p:cTn id="19" presetID="1" presetClass="entr" presetSubtype="0" fill="hold" grpId="0" nodeType="afterEffect">
                                  <p:stCondLst>
                                    <p:cond delay="1000"/>
                                  </p:stCondLst>
                                  <p:iterate type="wd">
                                    <p:tmAbs val="300"/>
                                  </p:iterate>
                                  <p:childTnLst>
                                    <p:set>
                                      <p:cBhvr>
                                        <p:cTn id="20" dur="1" fill="hold">
                                          <p:stCondLst>
                                            <p:cond delay="299"/>
                                          </p:stCondLst>
                                        </p:cTn>
                                        <p:tgtEl>
                                          <p:spTgt spid="474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7" grpId="0"/>
      <p:bldP spid="474195" grpId="0"/>
      <p:bldP spid="47428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2852738"/>
            <a:ext cx="9144000" cy="28082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83970" name="Rectangle 5"/>
          <p:cNvSpPr>
            <a:spLocks noChangeArrowheads="1"/>
          </p:cNvSpPr>
          <p:nvPr/>
        </p:nvSpPr>
        <p:spPr bwMode="auto">
          <a:xfrm>
            <a:off x="466725" y="1250950"/>
            <a:ext cx="4953000" cy="461963"/>
          </a:xfrm>
          <a:prstGeom prst="rect">
            <a:avLst/>
          </a:prstGeom>
          <a:noFill/>
          <a:ln w="9525">
            <a:no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讨论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如何表示</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空表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83971" name="Rectangle 7"/>
          <p:cNvSpPr>
            <a:spLocks noChangeArrowheads="1"/>
          </p:cNvSpPr>
          <p:nvPr/>
        </p:nvSpPr>
        <p:spPr bwMode="auto">
          <a:xfrm>
            <a:off x="477838" y="1998663"/>
            <a:ext cx="6831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15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有头结点时，</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当头结点的指针域为空</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时表示空表</a:t>
            </a:r>
          </a:p>
        </p:txBody>
      </p:sp>
      <p:sp>
        <p:nvSpPr>
          <p:cNvPr id="83980" name="Rectangle 10"/>
          <p:cNvSpPr>
            <a:spLocks noChangeArrowheads="1"/>
          </p:cNvSpPr>
          <p:nvPr/>
        </p:nvSpPr>
        <p:spPr bwMode="auto">
          <a:xfrm>
            <a:off x="7508875" y="3917950"/>
            <a:ext cx="381000" cy="533400"/>
          </a:xfrm>
          <a:prstGeom prst="rect">
            <a:avLst/>
          </a:prstGeom>
          <a:solidFill>
            <a:schemeClr val="bg2"/>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1" name="Rectangle 11"/>
          <p:cNvSpPr>
            <a:spLocks noChangeArrowheads="1"/>
          </p:cNvSpPr>
          <p:nvPr/>
        </p:nvSpPr>
        <p:spPr bwMode="auto">
          <a:xfrm>
            <a:off x="5070475" y="3917950"/>
            <a:ext cx="457200" cy="533400"/>
          </a:xfrm>
          <a:prstGeom prst="rect">
            <a:avLst/>
          </a:prstGeom>
          <a:solidFill>
            <a:srgbClr val="FFFFCC"/>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2" name="Rectangle 12"/>
          <p:cNvSpPr>
            <a:spLocks noChangeArrowheads="1"/>
          </p:cNvSpPr>
          <p:nvPr/>
        </p:nvSpPr>
        <p:spPr bwMode="auto">
          <a:xfrm>
            <a:off x="3165475" y="3917950"/>
            <a:ext cx="381000" cy="533400"/>
          </a:xfrm>
          <a:prstGeom prst="rect">
            <a:avLst/>
          </a:prstGeom>
          <a:solidFill>
            <a:srgbClr val="FFFFCC"/>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3" name="Rectangle 13"/>
          <p:cNvSpPr>
            <a:spLocks noChangeArrowheads="1"/>
          </p:cNvSpPr>
          <p:nvPr/>
        </p:nvSpPr>
        <p:spPr bwMode="auto">
          <a:xfrm>
            <a:off x="1946275" y="3917950"/>
            <a:ext cx="381000" cy="533400"/>
          </a:xfrm>
          <a:prstGeom prst="rect">
            <a:avLst/>
          </a:prstGeom>
          <a:solidFill>
            <a:schemeClr val="bg2"/>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6286" name="Text Box 14"/>
          <p:cNvSpPr txBox="1">
            <a:spLocks noChangeArrowheads="1"/>
          </p:cNvSpPr>
          <p:nvPr/>
        </p:nvSpPr>
        <p:spPr bwMode="auto">
          <a:xfrm>
            <a:off x="2962275" y="4611688"/>
            <a:ext cx="2676525" cy="482600"/>
          </a:xfrm>
          <a:prstGeom prst="rect">
            <a:avLst/>
          </a:prstGeom>
          <a:noFill/>
          <a:ln w="9525">
            <a:noFill/>
            <a:miter lim="800000"/>
          </a:ln>
        </p:spPr>
        <p:txBody>
          <a:bodyPr wrap="none" lIns="112947" tIns="56473" rIns="112947" bIns="56473">
            <a:spAutoFit/>
          </a:bodyPr>
          <a:lstStyle/>
          <a:p>
            <a:pPr marR="0" defTabSz="1128395" eaLnBrk="1" hangingPunct="1">
              <a:buClrTx/>
              <a:buSzTx/>
              <a:buFontTx/>
              <a:buNone/>
              <a:defRPr/>
            </a:pPr>
            <a:r>
              <a:rPr kumimoji="1" lang="zh-CN" altLang="en-US" sz="2400" kern="1200" cap="none" spc="0" normalizeH="0" baseline="0" noProof="0" dirty="0">
                <a:solidFill>
                  <a:srgbClr val="9900CC"/>
                </a:solidFill>
                <a:latin typeface="+mn-lt"/>
                <a:ea typeface="+mn-ea"/>
                <a:cs typeface="+mn-ea"/>
                <a:sym typeface="+mn-lt"/>
              </a:rPr>
              <a:t>非空表	         空表</a:t>
            </a:r>
            <a:endParaRPr kumimoji="1" lang="zh-CN" altLang="en-US" sz="2400" kern="1200" cap="none" spc="0" normalizeH="0" baseline="0" noProof="0" dirty="0">
              <a:latin typeface="+mn-lt"/>
              <a:ea typeface="+mn-ea"/>
              <a:cs typeface="+mn-ea"/>
              <a:sym typeface="+mn-lt"/>
            </a:endParaRPr>
          </a:p>
        </p:txBody>
      </p:sp>
      <p:sp>
        <p:nvSpPr>
          <p:cNvPr id="83985" name="Rectangle 15"/>
          <p:cNvSpPr>
            <a:spLocks noChangeArrowheads="1"/>
          </p:cNvSpPr>
          <p:nvPr/>
        </p:nvSpPr>
        <p:spPr bwMode="auto">
          <a:xfrm>
            <a:off x="3546475" y="3917950"/>
            <a:ext cx="304800" cy="533400"/>
          </a:xfrm>
          <a:prstGeom prst="rect">
            <a:avLst/>
          </a:prstGeom>
          <a:solidFill>
            <a:srgbClr val="FFFFCC"/>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6" name="Line 16"/>
          <p:cNvSpPr>
            <a:spLocks noChangeShapeType="1"/>
          </p:cNvSpPr>
          <p:nvPr/>
        </p:nvSpPr>
        <p:spPr bwMode="auto">
          <a:xfrm>
            <a:off x="3775075" y="4146550"/>
            <a:ext cx="457200" cy="0"/>
          </a:xfrm>
          <a:prstGeom prst="line">
            <a:avLst/>
          </a:prstGeom>
          <a:noFill/>
          <a:ln w="38100">
            <a:solidFill>
              <a:schemeClr val="tx2"/>
            </a:solidFill>
            <a:round/>
          </a:ln>
          <a:effectLst/>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7" name="Line 17"/>
          <p:cNvSpPr>
            <a:spLocks noChangeShapeType="1"/>
          </p:cNvSpPr>
          <p:nvPr/>
        </p:nvSpPr>
        <p:spPr bwMode="auto">
          <a:xfrm>
            <a:off x="4232275" y="4146550"/>
            <a:ext cx="457200" cy="0"/>
          </a:xfrm>
          <a:prstGeom prst="line">
            <a:avLst/>
          </a:prstGeom>
          <a:noFill/>
          <a:ln w="38100">
            <a:solidFill>
              <a:schemeClr val="tx2"/>
            </a:solidFill>
            <a:prstDash val="sysDot"/>
            <a:round/>
          </a:ln>
          <a:effectLst/>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8" name="Line 18"/>
          <p:cNvSpPr>
            <a:spLocks noChangeShapeType="1"/>
          </p:cNvSpPr>
          <p:nvPr/>
        </p:nvSpPr>
        <p:spPr bwMode="auto">
          <a:xfrm>
            <a:off x="4689475" y="4146550"/>
            <a:ext cx="38100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89" name="Rectangle 19"/>
          <p:cNvSpPr>
            <a:spLocks noChangeArrowheads="1"/>
          </p:cNvSpPr>
          <p:nvPr/>
        </p:nvSpPr>
        <p:spPr bwMode="auto">
          <a:xfrm>
            <a:off x="5527675" y="3917950"/>
            <a:ext cx="304800" cy="533400"/>
          </a:xfrm>
          <a:prstGeom prst="rect">
            <a:avLst/>
          </a:prstGeom>
          <a:solidFill>
            <a:srgbClr val="FFFFCC"/>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accent2"/>
                </a:solidFill>
                <a:effectLst/>
                <a:uLnTx/>
                <a:uFillTx/>
                <a:latin typeface="+mn-lt"/>
                <a:ea typeface="+mn-ea"/>
                <a:cs typeface="+mn-ea"/>
                <a:sym typeface="+mn-lt"/>
              </a:rPr>
              <a:t>0</a:t>
            </a:r>
            <a:endParaRPr kumimoji="1"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90" name="Text Box 20"/>
          <p:cNvSpPr txBox="1">
            <a:spLocks noChangeArrowheads="1"/>
          </p:cNvSpPr>
          <p:nvPr/>
        </p:nvSpPr>
        <p:spPr bwMode="auto">
          <a:xfrm>
            <a:off x="5070475" y="3856038"/>
            <a:ext cx="520700"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chemeClr val="accent2"/>
                </a:solidFill>
                <a:effectLst/>
                <a:uLnTx/>
                <a:uFillTx/>
                <a:latin typeface="+mn-lt"/>
                <a:ea typeface="+mn-ea"/>
                <a:cs typeface="+mn-ea"/>
                <a:sym typeface="+mn-lt"/>
              </a:rPr>
              <a:t>a</a:t>
            </a:r>
            <a:r>
              <a:rPr kumimoji="0" lang="en-US" altLang="zh-CN" sz="2400" b="0" i="1" u="none" strike="noStrike" kern="1200" cap="none" spc="0" normalizeH="0" baseline="-25000" noProof="0">
                <a:ln>
                  <a:noFill/>
                </a:ln>
                <a:solidFill>
                  <a:schemeClr val="accent2"/>
                </a:solidFill>
                <a:effectLst/>
                <a:uLnTx/>
                <a:uFillTx/>
                <a:latin typeface="+mn-lt"/>
                <a:ea typeface="+mn-ea"/>
                <a:cs typeface="+mn-ea"/>
                <a:sym typeface="+mn-lt"/>
              </a:rPr>
              <a:t>n</a:t>
            </a:r>
            <a:endParaRPr kumimoji="0" lang="en-US" altLang="zh-CN" sz="2400" b="0" i="0" u="none" strike="noStrike" kern="1200" cap="none" spc="0" normalizeH="0" baseline="0" noProof="0">
              <a:ln>
                <a:noFill/>
              </a:ln>
              <a:solidFill>
                <a:schemeClr val="accent2"/>
              </a:solidFill>
              <a:effectLst/>
              <a:uLnTx/>
              <a:uFillTx/>
              <a:latin typeface="+mn-lt"/>
              <a:ea typeface="+mn-ea"/>
              <a:cs typeface="+mn-ea"/>
              <a:sym typeface="+mn-lt"/>
            </a:endParaRPr>
          </a:p>
        </p:txBody>
      </p:sp>
      <p:sp>
        <p:nvSpPr>
          <p:cNvPr id="83991" name="Text Box 21"/>
          <p:cNvSpPr txBox="1">
            <a:spLocks noChangeArrowheads="1"/>
          </p:cNvSpPr>
          <p:nvPr/>
        </p:nvSpPr>
        <p:spPr bwMode="auto">
          <a:xfrm>
            <a:off x="3140075" y="3841750"/>
            <a:ext cx="558800"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chemeClr val="accent2"/>
                </a:solidFill>
                <a:effectLst/>
                <a:uLnTx/>
                <a:uFillTx/>
                <a:latin typeface="+mn-lt"/>
                <a:ea typeface="+mn-ea"/>
                <a:cs typeface="+mn-ea"/>
                <a:sym typeface="+mn-lt"/>
              </a:rPr>
              <a:t>a</a:t>
            </a:r>
            <a:r>
              <a:rPr kumimoji="0" lang="en-US" altLang="zh-CN" sz="2400" b="0" i="1" u="none" strike="noStrike" kern="1200" cap="none" spc="0" normalizeH="0" baseline="-25000" noProof="0">
                <a:ln>
                  <a:noFill/>
                </a:ln>
                <a:solidFill>
                  <a:schemeClr val="accent2"/>
                </a:solidFill>
                <a:effectLst/>
                <a:uLnTx/>
                <a:uFillTx/>
                <a:latin typeface="+mn-lt"/>
                <a:ea typeface="+mn-ea"/>
                <a:cs typeface="+mn-ea"/>
                <a:sym typeface="+mn-lt"/>
              </a:rPr>
              <a:t>0</a:t>
            </a:r>
            <a:endParaRPr kumimoji="0" lang="en-US" altLang="zh-CN" sz="2400" b="0" i="0" u="none" strike="noStrike" kern="1200" cap="none" spc="0" normalizeH="0" baseline="-25000" noProof="0">
              <a:ln>
                <a:noFill/>
              </a:ln>
              <a:solidFill>
                <a:schemeClr val="tx1"/>
              </a:solidFill>
              <a:effectLst/>
              <a:uLnTx/>
              <a:uFillTx/>
              <a:latin typeface="+mn-lt"/>
              <a:ea typeface="+mn-ea"/>
              <a:cs typeface="+mn-ea"/>
              <a:sym typeface="+mn-lt"/>
            </a:endParaRPr>
          </a:p>
        </p:txBody>
      </p:sp>
      <p:sp>
        <p:nvSpPr>
          <p:cNvPr id="83992" name="Rectangle 22"/>
          <p:cNvSpPr>
            <a:spLocks noChangeArrowheads="1"/>
          </p:cNvSpPr>
          <p:nvPr/>
        </p:nvSpPr>
        <p:spPr bwMode="auto">
          <a:xfrm>
            <a:off x="2327275" y="3917950"/>
            <a:ext cx="304800" cy="533400"/>
          </a:xfrm>
          <a:prstGeom prst="rect">
            <a:avLst/>
          </a:prstGeom>
          <a:solidFill>
            <a:srgbClr val="FFFFCC"/>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93" name="Line 23"/>
          <p:cNvSpPr>
            <a:spLocks noChangeShapeType="1"/>
          </p:cNvSpPr>
          <p:nvPr/>
        </p:nvSpPr>
        <p:spPr bwMode="auto">
          <a:xfrm>
            <a:off x="2479675" y="4146550"/>
            <a:ext cx="68580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94" name="Line 24"/>
          <p:cNvSpPr>
            <a:spLocks noChangeShapeType="1"/>
          </p:cNvSpPr>
          <p:nvPr/>
        </p:nvSpPr>
        <p:spPr bwMode="auto">
          <a:xfrm>
            <a:off x="1565275" y="4146550"/>
            <a:ext cx="381000" cy="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95" name="Text Box 25"/>
          <p:cNvSpPr txBox="1">
            <a:spLocks noChangeArrowheads="1"/>
          </p:cNvSpPr>
          <p:nvPr/>
        </p:nvSpPr>
        <p:spPr bwMode="auto">
          <a:xfrm>
            <a:off x="803275" y="3856038"/>
            <a:ext cx="765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FF3300"/>
                </a:solidFill>
                <a:effectLst/>
                <a:uLnTx/>
                <a:uFillTx/>
                <a:latin typeface="+mn-lt"/>
                <a:ea typeface="+mn-ea"/>
                <a:cs typeface="+mn-ea"/>
                <a:sym typeface="+mn-lt"/>
              </a:rPr>
              <a:t>head</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83996" name="Line 26"/>
          <p:cNvSpPr>
            <a:spLocks noChangeShapeType="1"/>
          </p:cNvSpPr>
          <p:nvPr/>
        </p:nvSpPr>
        <p:spPr bwMode="auto">
          <a:xfrm>
            <a:off x="7127875" y="4146550"/>
            <a:ext cx="381000" cy="0"/>
          </a:xfrm>
          <a:prstGeom prst="line">
            <a:avLst/>
          </a:prstGeom>
          <a:noFill/>
          <a:ln w="38100">
            <a:solidFill>
              <a:schemeClr val="tx2"/>
            </a:solidFill>
            <a:round/>
            <a:tailEnd type="triangle" w="sm" len="lg"/>
          </a:ln>
          <a:effectLst/>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97" name="Text Box 27"/>
          <p:cNvSpPr txBox="1">
            <a:spLocks noChangeArrowheads="1"/>
          </p:cNvSpPr>
          <p:nvPr/>
        </p:nvSpPr>
        <p:spPr bwMode="auto">
          <a:xfrm>
            <a:off x="6351588" y="3841750"/>
            <a:ext cx="765175"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3300"/>
                </a:solidFill>
                <a:effectLst/>
                <a:uLnTx/>
                <a:uFillTx/>
                <a:latin typeface="+mn-lt"/>
                <a:ea typeface="+mn-ea"/>
                <a:cs typeface="+mn-ea"/>
                <a:sym typeface="+mn-lt"/>
              </a:rPr>
              <a:t>head</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98" name="Rectangle 28"/>
          <p:cNvSpPr>
            <a:spLocks noChangeArrowheads="1"/>
          </p:cNvSpPr>
          <p:nvPr/>
        </p:nvSpPr>
        <p:spPr bwMode="auto">
          <a:xfrm>
            <a:off x="7889875" y="3917950"/>
            <a:ext cx="304800" cy="533400"/>
          </a:xfrm>
          <a:prstGeom prst="rect">
            <a:avLst/>
          </a:prstGeom>
          <a:solidFill>
            <a:srgbClr val="FFFFCC"/>
          </a:solidFill>
          <a:ln w="28575">
            <a:solidFill>
              <a:schemeClr val="tx1">
                <a:lumMod val="95000"/>
                <a:lumOff val="5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83999" name="AutoShape 29"/>
          <p:cNvSpPr/>
          <p:nvPr/>
        </p:nvSpPr>
        <p:spPr bwMode="auto">
          <a:xfrm>
            <a:off x="477838" y="4733925"/>
            <a:ext cx="1316038" cy="609600"/>
          </a:xfrm>
          <a:prstGeom prst="borderCallout2">
            <a:avLst>
              <a:gd name="adj1" fmla="val 18750"/>
              <a:gd name="adj2" fmla="val 108333"/>
              <a:gd name="adj3" fmla="val 18750"/>
              <a:gd name="adj4" fmla="val 116148"/>
              <a:gd name="adj5" fmla="val -40106"/>
              <a:gd name="adj6" fmla="val 124134"/>
            </a:avLst>
          </a:prstGeom>
          <a:solidFill>
            <a:schemeClr val="accent1"/>
          </a:solidFill>
          <a:ln w="38100">
            <a:noFill/>
            <a:miter lim="800000"/>
            <a:headEnd type="triangle" w="sm" len="med"/>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表头结点</a:t>
            </a:r>
          </a:p>
        </p:txBody>
      </p:sp>
      <p:sp>
        <p:nvSpPr>
          <p:cNvPr id="84000" name="AutoShape 30"/>
          <p:cNvSpPr/>
          <p:nvPr/>
        </p:nvSpPr>
        <p:spPr bwMode="auto">
          <a:xfrm>
            <a:off x="3765550" y="3087688"/>
            <a:ext cx="1682750" cy="569913"/>
          </a:xfrm>
          <a:prstGeom prst="borderCallout2">
            <a:avLst>
              <a:gd name="adj1" fmla="val 18750"/>
              <a:gd name="adj2" fmla="val -6639"/>
              <a:gd name="adj3" fmla="val 18750"/>
              <a:gd name="adj4" fmla="val -25032"/>
              <a:gd name="adj5" fmla="val 113023"/>
              <a:gd name="adj6" fmla="val -44259"/>
            </a:avLst>
          </a:prstGeom>
          <a:solidFill>
            <a:schemeClr val="accent1"/>
          </a:solidFill>
          <a:ln w="38100">
            <a:noFill/>
            <a:miter lim="800000"/>
            <a:headEnd type="triangle" w="sm" len="med"/>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第一个结点</a:t>
            </a:r>
          </a:p>
        </p:txBody>
      </p:sp>
      <p:sp>
        <p:nvSpPr>
          <p:cNvPr id="83978" name="Line 32"/>
          <p:cNvSpPr>
            <a:spLocks noChangeShapeType="1"/>
          </p:cNvSpPr>
          <p:nvPr/>
        </p:nvSpPr>
        <p:spPr bwMode="auto">
          <a:xfrm flipV="1">
            <a:off x="7699375" y="4667250"/>
            <a:ext cx="0" cy="427038"/>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976" name="Line 35"/>
          <p:cNvSpPr>
            <a:spLocks noChangeShapeType="1"/>
          </p:cNvSpPr>
          <p:nvPr/>
        </p:nvSpPr>
        <p:spPr bwMode="auto">
          <a:xfrm flipV="1">
            <a:off x="5700713" y="4667250"/>
            <a:ext cx="0" cy="427038"/>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3"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ChangeArrowheads="1"/>
          </p:cNvSpPr>
          <p:nvPr/>
        </p:nvSpPr>
        <p:spPr bwMode="auto">
          <a:xfrm>
            <a:off x="611188" y="1390650"/>
            <a:ext cx="7848600" cy="573088"/>
          </a:xfrm>
          <a:prstGeom prst="rect">
            <a:avLst/>
          </a:prstGeom>
          <a:solidFill>
            <a:srgbClr val="9476B6"/>
          </a:solidFill>
          <a:ln w="9525">
            <a:no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2.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在链表中设置</a:t>
            </a:r>
            <a:r>
              <a:rPr kumimoji="0" lang="zh-CN" altLang="en-US" sz="2400" b="0" i="0" u="none" strike="noStrike" kern="1200" cap="none" spc="0" normalizeH="0" baseline="0" noProof="0" dirty="0">
                <a:ln>
                  <a:noFill/>
                </a:ln>
                <a:solidFill>
                  <a:srgbClr val="FFFF00"/>
                </a:solidFill>
                <a:effectLst/>
                <a:uLnTx/>
                <a:uFillTx/>
                <a:latin typeface="+mn-lt"/>
                <a:ea typeface="+mn-ea"/>
                <a:cs typeface="+mn-ea"/>
                <a:sym typeface="+mn-lt"/>
              </a:rPr>
              <a:t>头结点</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有什么好处？</a:t>
            </a:r>
          </a:p>
        </p:txBody>
      </p:sp>
      <p:sp>
        <p:nvSpPr>
          <p:cNvPr id="567301" name="Rectangle 5"/>
          <p:cNvSpPr>
            <a:spLocks noChangeArrowheads="1"/>
          </p:cNvSpPr>
          <p:nvPr/>
        </p:nvSpPr>
        <p:spPr bwMode="auto">
          <a:xfrm>
            <a:off x="604838" y="2276475"/>
            <a:ext cx="8167688"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62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⒈</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便于</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首元结点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的处理</a:t>
            </a: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首元结点的地址保存在头结点的指针域中</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所以在链表的第一个位置上的操作和其它位置一致，无须进行特殊处理</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67302" name="Rectangle 6"/>
          <p:cNvSpPr>
            <a:spLocks noChangeArrowheads="1"/>
          </p:cNvSpPr>
          <p:nvPr/>
        </p:nvSpPr>
        <p:spPr bwMode="auto">
          <a:xfrm>
            <a:off x="611188" y="4005263"/>
            <a:ext cx="78486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62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⒉</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便于</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空表和非空表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的统一处理</a:t>
            </a:r>
          </a:p>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无论链表是否为空，头指针都是指向头结点的非空指针，因此空表和非空表的处理也就统一了。</a:t>
            </a:r>
          </a:p>
        </p:txBody>
      </p:sp>
      <p:sp>
        <p:nvSpPr>
          <p:cNvPr id="5"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grpSp>
        <p:nvGrpSpPr>
          <p:cNvPr id="10" name="组合 9"/>
          <p:cNvGrpSpPr/>
          <p:nvPr/>
        </p:nvGrpSpPr>
        <p:grpSpPr>
          <a:xfrm>
            <a:off x="0" y="6380163"/>
            <a:ext cx="9144000" cy="431800"/>
            <a:chOff x="0" y="6379908"/>
            <a:chExt cx="9144000" cy="432048"/>
          </a:xfrm>
        </p:grpSpPr>
        <p:grpSp>
          <p:nvGrpSpPr>
            <p:cNvPr id="89095" name="组合 5"/>
            <p:cNvGrpSpPr/>
            <p:nvPr/>
          </p:nvGrpSpPr>
          <p:grpSpPr>
            <a:xfrm>
              <a:off x="0" y="6379908"/>
              <a:ext cx="9144000" cy="432048"/>
              <a:chOff x="0" y="6165304"/>
              <a:chExt cx="9144000" cy="432048"/>
            </a:xfrm>
          </p:grpSpPr>
          <p:cxnSp>
            <p:nvCxnSpPr>
              <p:cNvPr id="89097"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4" name="直接连接符 13"/>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89099"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2"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73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67302"/>
                                        </p:tgtEl>
                                        <p:attrNameLst>
                                          <p:attrName>style.visibility</p:attrName>
                                        </p:attrNameLst>
                                      </p:cBhvr>
                                      <p:to>
                                        <p:strVal val="visible"/>
                                      </p:to>
                                    </p:se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1" grpId="0"/>
      <p:bldP spid="56730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4" name="Rectangle 4"/>
          <p:cNvSpPr>
            <a:spLocks noChangeArrowheads="1"/>
          </p:cNvSpPr>
          <p:nvPr/>
        </p:nvSpPr>
        <p:spPr bwMode="auto">
          <a:xfrm>
            <a:off x="482600" y="1360488"/>
            <a:ext cx="8337550" cy="609600"/>
          </a:xfrm>
          <a:prstGeom prst="roundRect">
            <a:avLst/>
          </a:prstGeom>
          <a:solidFill>
            <a:srgbClr val="9476B6"/>
          </a:solidFill>
          <a:ln w="9525">
            <a:noFill/>
            <a:miter lim="800000"/>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讨论</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3.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头结点的</a:t>
            </a:r>
            <a:r>
              <a:rPr kumimoji="0" lang="zh-CN" altLang="en-US" sz="2400" b="0" i="0" u="none" strike="noStrike" kern="1200" cap="none" spc="0" normalizeH="0" baseline="0" noProof="0" dirty="0">
                <a:ln>
                  <a:noFill/>
                </a:ln>
                <a:solidFill>
                  <a:srgbClr val="FFFF00"/>
                </a:solidFill>
                <a:effectLst/>
                <a:uLnTx/>
                <a:uFillTx/>
                <a:latin typeface="+mn-lt"/>
                <a:ea typeface="+mn-ea"/>
                <a:cs typeface="+mn-ea"/>
                <a:sym typeface="+mn-lt"/>
              </a:rPr>
              <a:t>数据域</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内装的是什么？</a:t>
            </a:r>
          </a:p>
        </p:txBody>
      </p:sp>
      <p:sp>
        <p:nvSpPr>
          <p:cNvPr id="476165" name="Rectangle 5"/>
          <p:cNvSpPr>
            <a:spLocks noChangeArrowheads="1"/>
          </p:cNvSpPr>
          <p:nvPr/>
        </p:nvSpPr>
        <p:spPr bwMode="auto">
          <a:xfrm>
            <a:off x="482600" y="2016125"/>
            <a:ext cx="8337550" cy="1165225"/>
          </a:xfrm>
          <a:prstGeom prst="roundRect">
            <a:avLst/>
          </a:prstGeom>
          <a:solidFill>
            <a:schemeClr val="bg2">
              <a:lumMod val="20000"/>
              <a:lumOff val="80000"/>
            </a:schemeClr>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头结点的</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数据域</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可以为空，也可存放线性表</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长度</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等附加信息，但此结点不能计入链表长度值。</a:t>
            </a:r>
          </a:p>
        </p:txBody>
      </p:sp>
      <p:sp>
        <p:nvSpPr>
          <p:cNvPr id="476167" name="AutoShape 7"/>
          <p:cNvSpPr>
            <a:spLocks noChangeArrowheads="1"/>
          </p:cNvSpPr>
          <p:nvPr/>
        </p:nvSpPr>
        <p:spPr bwMode="auto">
          <a:xfrm>
            <a:off x="1893888" y="4843463"/>
            <a:ext cx="2819400" cy="1201738"/>
          </a:xfrm>
          <a:prstGeom prst="cloudCallout">
            <a:avLst>
              <a:gd name="adj1" fmla="val 73311"/>
              <a:gd name="adj2" fmla="val -74091"/>
            </a:avLst>
          </a:prstGeom>
          <a:solidFill>
            <a:srgbClr val="EAEAEA"/>
          </a:solidFill>
          <a:ln w="38100">
            <a:solidFill>
              <a:schemeClr val="accent1">
                <a:lumMod val="60000"/>
                <a:lumOff val="40000"/>
              </a:schemeClr>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头结点的数据域</a:t>
            </a:r>
          </a:p>
        </p:txBody>
      </p:sp>
      <p:grpSp>
        <p:nvGrpSpPr>
          <p:cNvPr id="2" name="Group 8"/>
          <p:cNvGrpSpPr/>
          <p:nvPr/>
        </p:nvGrpSpPr>
        <p:grpSpPr>
          <a:xfrm>
            <a:off x="3492500" y="3679825"/>
            <a:ext cx="3355975" cy="609600"/>
            <a:chOff x="2158" y="1104"/>
            <a:chExt cx="2114" cy="384"/>
          </a:xfrm>
        </p:grpSpPr>
        <p:sp>
          <p:nvSpPr>
            <p:cNvPr id="86022" name="Rectangle 9"/>
            <p:cNvSpPr>
              <a:spLocks noChangeArrowheads="1"/>
            </p:cNvSpPr>
            <p:nvPr/>
          </p:nvSpPr>
          <p:spPr bwMode="auto">
            <a:xfrm>
              <a:off x="2496" y="1152"/>
              <a:ext cx="28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23" name="Line 10"/>
            <p:cNvSpPr>
              <a:spLocks noChangeShapeType="1"/>
            </p:cNvSpPr>
            <p:nvPr/>
          </p:nvSpPr>
          <p:spPr bwMode="auto">
            <a:xfrm>
              <a:off x="2496" y="1152"/>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24" name="Line 11"/>
            <p:cNvSpPr>
              <a:spLocks noChangeShapeType="1"/>
            </p:cNvSpPr>
            <p:nvPr/>
          </p:nvSpPr>
          <p:spPr bwMode="auto">
            <a:xfrm>
              <a:off x="2496" y="1439"/>
              <a:ext cx="288" cy="0"/>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25" name="Line 12"/>
            <p:cNvSpPr>
              <a:spLocks noChangeShapeType="1"/>
            </p:cNvSpPr>
            <p:nvPr/>
          </p:nvSpPr>
          <p:spPr bwMode="auto">
            <a:xfrm>
              <a:off x="2496" y="1152"/>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26" name="Line 13"/>
            <p:cNvSpPr>
              <a:spLocks noChangeShapeType="1"/>
            </p:cNvSpPr>
            <p:nvPr/>
          </p:nvSpPr>
          <p:spPr bwMode="auto">
            <a:xfrm>
              <a:off x="2784" y="1152"/>
              <a:ext cx="0" cy="287"/>
            </a:xfrm>
            <a:prstGeom prst="line">
              <a:avLst/>
            </a:prstGeom>
            <a:noFill/>
            <a:ln w="28575" cap="sq">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27" name="Oval 14"/>
            <p:cNvSpPr>
              <a:spLocks noChangeAspect="1" noChangeArrowheads="1"/>
            </p:cNvSpPr>
            <p:nvPr/>
          </p:nvSpPr>
          <p:spPr bwMode="auto">
            <a:xfrm>
              <a:off x="2620" y="1276"/>
              <a:ext cx="68" cy="68"/>
            </a:xfrm>
            <a:prstGeom prst="ellipse">
              <a:avLst/>
            </a:prstGeom>
            <a:solidFill>
              <a:schemeClr val="tx1"/>
            </a:solidFill>
            <a:ln w="9525">
              <a:solidFill>
                <a:schemeClr val="tx1"/>
              </a:solidFill>
              <a:round/>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28" name="Rectangle 15"/>
            <p:cNvSpPr>
              <a:spLocks noChangeArrowheads="1"/>
            </p:cNvSpPr>
            <p:nvPr/>
          </p:nvSpPr>
          <p:spPr bwMode="auto">
            <a:xfrm>
              <a:off x="3264" y="1152"/>
              <a:ext cx="336" cy="336"/>
            </a:xfrm>
            <a:prstGeom prst="rect">
              <a:avLst/>
            </a:prstGeom>
            <a:solidFill>
              <a:schemeClr val="accent1"/>
            </a:solidFill>
            <a:ln w="12700">
              <a:solidFill>
                <a:schemeClr val="hlink"/>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86029" name="Rectangle 16"/>
            <p:cNvSpPr>
              <a:spLocks noChangeArrowheads="1"/>
            </p:cNvSpPr>
            <p:nvPr/>
          </p:nvSpPr>
          <p:spPr bwMode="auto">
            <a:xfrm>
              <a:off x="3600" y="1152"/>
              <a:ext cx="2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30" name="Line 17"/>
            <p:cNvSpPr>
              <a:spLocks noChangeShapeType="1"/>
            </p:cNvSpPr>
            <p:nvPr/>
          </p:nvSpPr>
          <p:spPr bwMode="auto">
            <a:xfrm>
              <a:off x="3600" y="1152"/>
              <a:ext cx="240" cy="0"/>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31" name="Line 18"/>
            <p:cNvSpPr>
              <a:spLocks noChangeShapeType="1"/>
            </p:cNvSpPr>
            <p:nvPr/>
          </p:nvSpPr>
          <p:spPr bwMode="auto">
            <a:xfrm>
              <a:off x="3600" y="1488"/>
              <a:ext cx="240" cy="0"/>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32" name="Line 19"/>
            <p:cNvSpPr>
              <a:spLocks noChangeShapeType="1"/>
            </p:cNvSpPr>
            <p:nvPr/>
          </p:nvSpPr>
          <p:spPr bwMode="auto">
            <a:xfrm>
              <a:off x="3600" y="1152"/>
              <a:ext cx="0" cy="336"/>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33" name="Line 20"/>
            <p:cNvSpPr>
              <a:spLocks noChangeShapeType="1"/>
            </p:cNvSpPr>
            <p:nvPr/>
          </p:nvSpPr>
          <p:spPr bwMode="auto">
            <a:xfrm>
              <a:off x="3840" y="1152"/>
              <a:ext cx="0" cy="336"/>
            </a:xfrm>
            <a:prstGeom prst="line">
              <a:avLst/>
            </a:prstGeom>
            <a:noFill/>
            <a:ln w="12700" cap="sq">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34" name="Line 21"/>
            <p:cNvSpPr>
              <a:spLocks noChangeShapeType="1"/>
            </p:cNvSpPr>
            <p:nvPr/>
          </p:nvSpPr>
          <p:spPr bwMode="auto">
            <a:xfrm>
              <a:off x="2688" y="1296"/>
              <a:ext cx="57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6035" name="Rectangle 22"/>
            <p:cNvSpPr>
              <a:spLocks noChangeArrowheads="1"/>
            </p:cNvSpPr>
            <p:nvPr/>
          </p:nvSpPr>
          <p:spPr bwMode="auto">
            <a:xfrm>
              <a:off x="2158" y="1104"/>
              <a:ext cx="25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mn-lt"/>
                  <a:ea typeface="+mn-ea"/>
                  <a:cs typeface="+mn-ea"/>
                  <a:sym typeface="+mn-lt"/>
                </a:rPr>
                <a:t>H</a:t>
              </a:r>
            </a:p>
          </p:txBody>
        </p:sp>
        <p:sp>
          <p:nvSpPr>
            <p:cNvPr id="86036" name="Line 23"/>
            <p:cNvSpPr>
              <a:spLocks noChangeShapeType="1"/>
            </p:cNvSpPr>
            <p:nvPr/>
          </p:nvSpPr>
          <p:spPr bwMode="auto">
            <a:xfrm>
              <a:off x="3696" y="1296"/>
              <a:ext cx="576"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1" name="Rectangle 4"/>
          <p:cNvSpPr>
            <a:spLocks noChangeArrowheads="1"/>
          </p:cNvSpPr>
          <p:nvPr/>
        </p:nvSpPr>
        <p:spPr bwMode="auto">
          <a:xfrm>
            <a:off x="900113" y="63500"/>
            <a:ext cx="53340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与链式存储有关的术语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761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6165"/>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1000"/>
                                  </p:stCondLst>
                                  <p:childTnLst>
                                    <p:set>
                                      <p:cBhvr>
                                        <p:cTn id="13" dur="1" fill="hold">
                                          <p:stCondLst>
                                            <p:cond delay="499"/>
                                          </p:stCondLst>
                                        </p:cTn>
                                        <p:tgtEl>
                                          <p:spTgt spid="2"/>
                                        </p:tgtEl>
                                        <p:attrNameLst>
                                          <p:attrName>style.visibility</p:attrName>
                                        </p:attrNameLst>
                                      </p:cBhvr>
                                      <p:to>
                                        <p:strVal val="visible"/>
                                      </p:to>
                                    </p:set>
                                  </p:childTnLst>
                                </p:cTn>
                              </p:par>
                            </p:childTnLst>
                          </p:cTn>
                        </p:par>
                        <p:par>
                          <p:cTn id="14" fill="hold">
                            <p:stCondLst>
                              <p:cond delay="2000"/>
                            </p:stCondLst>
                            <p:childTnLst>
                              <p:par>
                                <p:cTn id="15" presetID="2" presetClass="entr" presetSubtype="8" fill="hold" grpId="0" nodeType="afterEffect">
                                  <p:stCondLst>
                                    <p:cond delay="1000"/>
                                  </p:stCondLst>
                                  <p:childTnLst>
                                    <p:set>
                                      <p:cBhvr>
                                        <p:cTn id="16" dur="1" fill="hold">
                                          <p:stCondLst>
                                            <p:cond delay="0"/>
                                          </p:stCondLst>
                                        </p:cTn>
                                        <p:tgtEl>
                                          <p:spTgt spid="476167"/>
                                        </p:tgtEl>
                                        <p:attrNameLst>
                                          <p:attrName>style.visibility</p:attrName>
                                        </p:attrNameLst>
                                      </p:cBhvr>
                                      <p:to>
                                        <p:strVal val="visible"/>
                                      </p:to>
                                    </p:set>
                                    <p:anim calcmode="lin" valueType="num">
                                      <p:cBhvr additive="base">
                                        <p:cTn id="17" dur="500" fill="hold"/>
                                        <p:tgtEl>
                                          <p:spTgt spid="476167"/>
                                        </p:tgtEl>
                                        <p:attrNameLst>
                                          <p:attrName>ppt_x</p:attrName>
                                        </p:attrNameLst>
                                      </p:cBhvr>
                                      <p:tavLst>
                                        <p:tav tm="0">
                                          <p:val>
                                            <p:strVal val="0-#ppt_w/2"/>
                                          </p:val>
                                        </p:tav>
                                        <p:tav tm="100000">
                                          <p:val>
                                            <p:strVal val="#ppt_x"/>
                                          </p:val>
                                        </p:tav>
                                      </p:tavLst>
                                    </p:anim>
                                    <p:anim calcmode="lin" valueType="num">
                                      <p:cBhvr additive="base">
                                        <p:cTn id="18" dur="500" fill="hold"/>
                                        <p:tgtEl>
                                          <p:spTgt spid="4761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4" grpId="0" animBg="1"/>
      <p:bldP spid="476165" grpId="0" animBg="1"/>
      <p:bldP spid="47616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ChangeArrowheads="1"/>
          </p:cNvSpPr>
          <p:nvPr/>
        </p:nvSpPr>
        <p:spPr bwMode="auto">
          <a:xfrm>
            <a:off x="884238" y="1614488"/>
            <a:ext cx="76866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结点在存储器中的位置是</a:t>
            </a: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任意</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的，即</a:t>
            </a:r>
            <a:r>
              <a:rPr kumimoji="0" lang="zh-CN" altLang="en-US" sz="2400" b="0" i="0" u="sng" strike="noStrike" kern="1200" cap="none" spc="0" normalizeH="0" baseline="0" noProof="0" dirty="0">
                <a:ln>
                  <a:noFill/>
                </a:ln>
                <a:solidFill>
                  <a:srgbClr val="FF0000"/>
                </a:solidFill>
                <a:effectLst/>
                <a:uLnTx/>
                <a:uFillTx/>
                <a:latin typeface="+mn-lt"/>
                <a:ea typeface="+mn-ea"/>
                <a:cs typeface="+mn-ea"/>
                <a:sym typeface="+mn-lt"/>
              </a:rPr>
              <a:t>逻辑上相邻的数据元素在物理上不一定相邻</a:t>
            </a:r>
          </a:p>
        </p:txBody>
      </p:sp>
      <p:sp>
        <p:nvSpPr>
          <p:cNvPr id="87043" name="Rectangle 6"/>
          <p:cNvSpPr>
            <a:spLocks noChangeArrowheads="1"/>
          </p:cNvSpPr>
          <p:nvPr/>
        </p:nvSpPr>
        <p:spPr bwMode="auto">
          <a:xfrm>
            <a:off x="900113" y="192088"/>
            <a:ext cx="6516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链表（链式存储结构）的特点</a:t>
            </a:r>
          </a:p>
        </p:txBody>
      </p:sp>
      <p:sp>
        <p:nvSpPr>
          <p:cNvPr id="478216" name="Rectangle 8"/>
          <p:cNvSpPr>
            <a:spLocks noChangeArrowheads="1"/>
          </p:cNvSpPr>
          <p:nvPr/>
        </p:nvSpPr>
        <p:spPr bwMode="auto">
          <a:xfrm>
            <a:off x="849313" y="2836863"/>
            <a:ext cx="775652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访问时只能通过头指针进入链表，并通过每个结点的指针域向后扫描其余结点，所以寻找第一个结点和最后一个结点所花费的时间不等</a:t>
            </a:r>
          </a:p>
        </p:txBody>
      </p:sp>
      <p:sp>
        <p:nvSpPr>
          <p:cNvPr id="478218" name="Rectangle 10"/>
          <p:cNvSpPr>
            <a:spLocks noChangeArrowheads="1"/>
          </p:cNvSpPr>
          <p:nvPr/>
        </p:nvSpPr>
        <p:spPr bwMode="auto">
          <a:xfrm>
            <a:off x="501650" y="4946650"/>
            <a:ext cx="7962900" cy="527050"/>
          </a:xfrm>
          <a:prstGeom prst="rect">
            <a:avLst/>
          </a:prstGeom>
          <a:solidFill>
            <a:srgbClr val="9476B6"/>
          </a:solidFill>
          <a:ln>
            <a:noFill/>
          </a:ln>
        </p:spPr>
        <p:txBody>
          <a:bodyPr anchor="ct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这种存取元素的方法被称为</a:t>
            </a:r>
            <a:r>
              <a:rPr kumimoji="0" lang="zh-CN" altLang="en-US" sz="2400" b="0" i="0" u="none" strike="noStrike" kern="1200" cap="none" spc="0" normalizeH="0" baseline="0" noProof="0" dirty="0">
                <a:ln>
                  <a:noFill/>
                </a:ln>
                <a:solidFill>
                  <a:srgbClr val="FFFF00"/>
                </a:solidFill>
                <a:effectLst/>
                <a:uLnTx/>
                <a:uFillTx/>
                <a:latin typeface="+mn-lt"/>
                <a:ea typeface="+mn-ea"/>
                <a:cs typeface="+mn-ea"/>
                <a:sym typeface="+mn-lt"/>
              </a:rPr>
              <a:t>顺序存取法</a:t>
            </a:r>
          </a:p>
        </p:txBody>
      </p:sp>
      <p:grpSp>
        <p:nvGrpSpPr>
          <p:cNvPr id="91142" name="组合 5"/>
          <p:cNvGrpSpPr/>
          <p:nvPr/>
        </p:nvGrpSpPr>
        <p:grpSpPr>
          <a:xfrm>
            <a:off x="501650" y="1657350"/>
            <a:ext cx="579438" cy="627063"/>
            <a:chOff x="6242320" y="1105727"/>
            <a:chExt cx="579005" cy="626656"/>
          </a:xfrm>
        </p:grpSpPr>
        <p:sp>
          <p:nvSpPr>
            <p:cNvPr id="91149" name="TextBox 6"/>
            <p:cNvSpPr txBox="1"/>
            <p:nvPr/>
          </p:nvSpPr>
          <p:spPr>
            <a:xfrm>
              <a:off x="6327224" y="1105727"/>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FFB850"/>
                  </a:solidFill>
                  <a:latin typeface="Impact" panose="020B0806030902050204" pitchFamily="34" charset="0"/>
                </a:rPr>
                <a:t>01</a:t>
              </a:r>
              <a:endParaRPr lang="zh-CN" altLang="en-US" sz="3200" dirty="0">
                <a:solidFill>
                  <a:srgbClr val="FFB850"/>
                </a:solidFill>
                <a:latin typeface="微软雅黑" panose="020B0503020204020204" pitchFamily="34" charset="-122"/>
              </a:endParaRPr>
            </a:p>
          </p:txBody>
        </p:sp>
        <p:sp>
          <p:nvSpPr>
            <p:cNvPr id="91150" name="文本框 7"/>
            <p:cNvSpPr txBox="1"/>
            <p:nvPr/>
          </p:nvSpPr>
          <p:spPr>
            <a:xfrm>
              <a:off x="6242320" y="1516939"/>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90119" name="组合 8"/>
          <p:cNvGrpSpPr/>
          <p:nvPr/>
        </p:nvGrpSpPr>
        <p:grpSpPr>
          <a:xfrm>
            <a:off x="490538" y="2935288"/>
            <a:ext cx="579437" cy="631825"/>
            <a:chOff x="6242320" y="2373233"/>
            <a:chExt cx="579005" cy="631762"/>
          </a:xfrm>
        </p:grpSpPr>
        <p:sp>
          <p:nvSpPr>
            <p:cNvPr id="91147" name="TextBox 6"/>
            <p:cNvSpPr txBox="1"/>
            <p:nvPr/>
          </p:nvSpPr>
          <p:spPr>
            <a:xfrm>
              <a:off x="6327224" y="2373233"/>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01ACBE"/>
                  </a:solidFill>
                  <a:latin typeface="Impact" panose="020B0806030902050204" pitchFamily="34" charset="0"/>
                </a:rPr>
                <a:t>02</a:t>
              </a:r>
              <a:endParaRPr lang="zh-CN" altLang="en-US" sz="3200" dirty="0">
                <a:solidFill>
                  <a:srgbClr val="01ACBE"/>
                </a:solidFill>
                <a:latin typeface="微软雅黑" panose="020B0503020204020204" pitchFamily="34" charset="-122"/>
              </a:endParaRPr>
            </a:p>
          </p:txBody>
        </p:sp>
        <p:sp>
          <p:nvSpPr>
            <p:cNvPr id="91148" name="文本框 10"/>
            <p:cNvSpPr txBox="1"/>
            <p:nvPr/>
          </p:nvSpPr>
          <p:spPr>
            <a:xfrm>
              <a:off x="6242320" y="2789551"/>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90120" name="组合 19"/>
          <p:cNvGrpSpPr/>
          <p:nvPr/>
        </p:nvGrpSpPr>
        <p:grpSpPr>
          <a:xfrm>
            <a:off x="501650" y="2711450"/>
            <a:ext cx="7858125" cy="1766888"/>
            <a:chOff x="6259947" y="1896619"/>
            <a:chExt cx="6224421" cy="1766062"/>
          </a:xfrm>
        </p:grpSpPr>
        <p:cxnSp>
          <p:nvCxnSpPr>
            <p:cNvPr id="21" name="直接连接符 20"/>
            <p:cNvCxnSpPr/>
            <p:nvPr/>
          </p:nvCxnSpPr>
          <p:spPr>
            <a:xfrm>
              <a:off x="6327850" y="1896619"/>
              <a:ext cx="6156518" cy="0"/>
            </a:xfrm>
            <a:prstGeom prst="line">
              <a:avLst/>
            </a:prstGeom>
            <a:ln w="12700">
              <a:solidFill>
                <a:schemeClr val="bg2">
                  <a:lumMod val="20000"/>
                  <a:lumOff val="8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6259947" y="3608731"/>
              <a:ext cx="6224421" cy="53950"/>
            </a:xfrm>
            <a:prstGeom prst="line">
              <a:avLst/>
            </a:prstGeom>
            <a:ln w="12700">
              <a:solidFill>
                <a:schemeClr val="bg2">
                  <a:lumMod val="20000"/>
                  <a:lumOff val="8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78216"/>
                                        </p:tgtEl>
                                        <p:attrNameLst>
                                          <p:attrName>style.visibility</p:attrName>
                                        </p:attrNameLst>
                                      </p:cBhvr>
                                      <p:to>
                                        <p:strVal val="visible"/>
                                      </p:to>
                                    </p:set>
                                    <p:animEffect transition="in" filter="box(in)">
                                      <p:cBhvr>
                                        <p:cTn id="7" dur="500"/>
                                        <p:tgtEl>
                                          <p:spTgt spid="478216"/>
                                        </p:tgtEl>
                                      </p:cBhvr>
                                    </p:animEffect>
                                  </p:childTnLst>
                                </p:cTn>
                              </p:par>
                              <p:par>
                                <p:cTn id="8" presetID="4" presetClass="entr" presetSubtype="16" fill="hold" nodeType="withEffect">
                                  <p:stCondLst>
                                    <p:cond delay="0"/>
                                  </p:stCondLst>
                                  <p:childTnLst>
                                    <p:set>
                                      <p:cBhvr>
                                        <p:cTn id="9" dur="1" fill="hold">
                                          <p:stCondLst>
                                            <p:cond delay="0"/>
                                          </p:stCondLst>
                                        </p:cTn>
                                        <p:tgtEl>
                                          <p:spTgt spid="90119"/>
                                        </p:tgtEl>
                                        <p:attrNameLst>
                                          <p:attrName>style.visibility</p:attrName>
                                        </p:attrNameLst>
                                      </p:cBhvr>
                                      <p:to>
                                        <p:strVal val="visible"/>
                                      </p:to>
                                    </p:set>
                                    <p:animEffect transition="in" filter="box(in)">
                                      <p:cBhvr>
                                        <p:cTn id="10" dur="500"/>
                                        <p:tgtEl>
                                          <p:spTgt spid="90119"/>
                                        </p:tgtEl>
                                      </p:cBhvr>
                                    </p:animEffect>
                                  </p:childTnLst>
                                </p:cTn>
                              </p:par>
                              <p:par>
                                <p:cTn id="11" presetID="4" presetClass="entr" presetSubtype="16" fill="hold" nodeType="withEffect">
                                  <p:stCondLst>
                                    <p:cond delay="0"/>
                                  </p:stCondLst>
                                  <p:childTnLst>
                                    <p:set>
                                      <p:cBhvr>
                                        <p:cTn id="12" dur="1" fill="hold">
                                          <p:stCondLst>
                                            <p:cond delay="0"/>
                                          </p:stCondLst>
                                        </p:cTn>
                                        <p:tgtEl>
                                          <p:spTgt spid="90120"/>
                                        </p:tgtEl>
                                        <p:attrNameLst>
                                          <p:attrName>style.visibility</p:attrName>
                                        </p:attrNameLst>
                                      </p:cBhvr>
                                      <p:to>
                                        <p:strVal val="visible"/>
                                      </p:to>
                                    </p:set>
                                    <p:animEffect transition="in" filter="box(in)">
                                      <p:cBhvr>
                                        <p:cTn id="13" dur="500"/>
                                        <p:tgtEl>
                                          <p:spTgt spid="9012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78218"/>
                                        </p:tgtEl>
                                        <p:attrNameLst>
                                          <p:attrName>style.visibility</p:attrName>
                                        </p:attrNameLst>
                                      </p:cBhvr>
                                      <p:to>
                                        <p:strVal val="visible"/>
                                      </p:to>
                                    </p:set>
                                    <p:anim calcmode="lin" valueType="num">
                                      <p:cBhvr additive="base">
                                        <p:cTn id="18" dur="500" fill="hold"/>
                                        <p:tgtEl>
                                          <p:spTgt spid="478218"/>
                                        </p:tgtEl>
                                        <p:attrNameLst>
                                          <p:attrName>ppt_x</p:attrName>
                                        </p:attrNameLst>
                                      </p:cBhvr>
                                      <p:tavLst>
                                        <p:tav tm="0">
                                          <p:val>
                                            <p:strVal val="#ppt_x"/>
                                          </p:val>
                                        </p:tav>
                                        <p:tav tm="100000">
                                          <p:val>
                                            <p:strVal val="#ppt_x"/>
                                          </p:val>
                                        </p:tav>
                                      </p:tavLst>
                                    </p:anim>
                                    <p:anim calcmode="lin" valueType="num">
                                      <p:cBhvr additive="base">
                                        <p:cTn id="19" dur="500" fill="hold"/>
                                        <p:tgtEl>
                                          <p:spTgt spid="4782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6" grpId="0"/>
      <p:bldP spid="47821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7"/>
          <p:cNvSpPr>
            <a:spLocks noChangeArrowheads="1"/>
          </p:cNvSpPr>
          <p:nvPr/>
        </p:nvSpPr>
        <p:spPr bwMode="auto">
          <a:xfrm>
            <a:off x="900113" y="163513"/>
            <a:ext cx="5219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链表的优缺点</a:t>
            </a:r>
          </a:p>
        </p:txBody>
      </p:sp>
      <p:sp>
        <p:nvSpPr>
          <p:cNvPr id="92163" name="椭圆 9"/>
          <p:cNvSpPr/>
          <p:nvPr/>
        </p:nvSpPr>
        <p:spPr>
          <a:xfrm>
            <a:off x="900113" y="2387600"/>
            <a:ext cx="96837"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2164" name="椭圆 3"/>
          <p:cNvSpPr/>
          <p:nvPr/>
        </p:nvSpPr>
        <p:spPr>
          <a:xfrm>
            <a:off x="1439863" y="5314950"/>
            <a:ext cx="95250" cy="157163"/>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2165" name="椭圆 4"/>
          <p:cNvSpPr/>
          <p:nvPr/>
        </p:nvSpPr>
        <p:spPr>
          <a:xfrm>
            <a:off x="901700" y="5303838"/>
            <a:ext cx="96838" cy="157162"/>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2166" name="椭圆 6"/>
          <p:cNvSpPr/>
          <p:nvPr/>
        </p:nvSpPr>
        <p:spPr>
          <a:xfrm>
            <a:off x="306388" y="5297488"/>
            <a:ext cx="95250"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2167" name="椭圆 8"/>
          <p:cNvSpPr/>
          <p:nvPr/>
        </p:nvSpPr>
        <p:spPr>
          <a:xfrm>
            <a:off x="1436688" y="2398713"/>
            <a:ext cx="95250" cy="157162"/>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2168" name="椭圆 11"/>
          <p:cNvSpPr/>
          <p:nvPr/>
        </p:nvSpPr>
        <p:spPr>
          <a:xfrm>
            <a:off x="301625" y="2386013"/>
            <a:ext cx="96838"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10" name="矩形 9"/>
          <p:cNvSpPr>
            <a:spLocks noChangeArrowheads="1"/>
          </p:cNvSpPr>
          <p:nvPr/>
        </p:nvSpPr>
        <p:spPr bwMode="auto">
          <a:xfrm>
            <a:off x="0" y="2497138"/>
            <a:ext cx="9144000" cy="2867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248000" rIns="252000" anchor="ctr"/>
          <a:lstStyle/>
          <a:p>
            <a:pPr marL="0" marR="0" lvl="0" indent="0" algn="just" defTabSz="914400" rtl="0" eaLnBrk="1" fontAlgn="base" latinLnBrk="0" hangingPunct="1">
              <a:lnSpc>
                <a:spcPct val="130000"/>
              </a:lnSpc>
              <a:spcBef>
                <a:spcPts val="600"/>
              </a:spcBef>
              <a:spcAft>
                <a:spcPts val="600"/>
              </a:spcAft>
              <a:buClrTx/>
              <a:buSzTx/>
              <a:buFontTx/>
              <a:buNone/>
              <a:defRPr/>
            </a:pPr>
            <a:endParaRPr kumimoji="0" lang="zh-CN" altLang="en-US" sz="28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cs"/>
            </a:endParaRPr>
          </a:p>
        </p:txBody>
      </p:sp>
      <p:sp>
        <p:nvSpPr>
          <p:cNvPr id="92170" name="圆角矩形 15"/>
          <p:cNvSpPr/>
          <p:nvPr/>
        </p:nvSpPr>
        <p:spPr>
          <a:xfrm>
            <a:off x="927100" y="2387600"/>
            <a:ext cx="493713" cy="3073400"/>
          </a:xfrm>
          <a:custGeom>
            <a:avLst/>
            <a:gdLst>
              <a:gd name="txL" fmla="*/ 0 w 738285"/>
              <a:gd name="txT" fmla="*/ 0 h 4248500"/>
              <a:gd name="txR" fmla="*/ 738285 w 738285"/>
              <a:gd name="txB" fmla="*/ 4248500 h 4248500"/>
            </a:gdLst>
            <a:ahLst/>
            <a:cxnLst>
              <a:cxn ang="0">
                <a:pos x="1614" y="5736"/>
              </a:cxn>
              <a:cxn ang="0">
                <a:pos x="223" y="1"/>
              </a:cxn>
              <a:cxn ang="0">
                <a:pos x="11273" y="1"/>
              </a:cxn>
              <a:cxn ang="0">
                <a:pos x="13205" y="4240"/>
              </a:cxn>
              <a:cxn ang="0">
                <a:pos x="13205" y="162511"/>
              </a:cxn>
              <a:cxn ang="0">
                <a:pos x="11273" y="166751"/>
              </a:cxn>
              <a:cxn ang="0">
                <a:pos x="649" y="166751"/>
              </a:cxn>
              <a:cxn ang="0">
                <a:pos x="1614" y="162511"/>
              </a:cxn>
              <a:cxn ang="0">
                <a:pos x="1614" y="5736"/>
              </a:cxn>
            </a:cxnLst>
            <a:rect l="txL" t="txT" r="txR" b="tx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FFC000">
              <a:alpha val="100000"/>
            </a:srgbClr>
          </a:solidFill>
          <a:ln w="9525">
            <a:noFill/>
          </a:ln>
        </p:spPr>
        <p:txBody>
          <a:bodyPr/>
          <a:lstStyle/>
          <a:p>
            <a:endParaRPr lang="zh-CN" altLang="en-US"/>
          </a:p>
        </p:txBody>
      </p:sp>
      <p:sp>
        <p:nvSpPr>
          <p:cNvPr id="92171" name="圆角矩形 15"/>
          <p:cNvSpPr/>
          <p:nvPr/>
        </p:nvSpPr>
        <p:spPr>
          <a:xfrm>
            <a:off x="331788" y="2382838"/>
            <a:ext cx="492125" cy="3073400"/>
          </a:xfrm>
          <a:custGeom>
            <a:avLst/>
            <a:gdLst>
              <a:gd name="txL" fmla="*/ 0 w 738285"/>
              <a:gd name="txT" fmla="*/ 0 h 4248500"/>
              <a:gd name="txR" fmla="*/ 738285 w 738285"/>
              <a:gd name="txB" fmla="*/ 4248500 h 4248500"/>
            </a:gdLst>
            <a:ahLst/>
            <a:cxnLst>
              <a:cxn ang="0">
                <a:pos x="1562" y="5736"/>
              </a:cxn>
              <a:cxn ang="0">
                <a:pos x="217" y="1"/>
              </a:cxn>
              <a:cxn ang="0">
                <a:pos x="10915" y="1"/>
              </a:cxn>
              <a:cxn ang="0">
                <a:pos x="12786" y="4240"/>
              </a:cxn>
              <a:cxn ang="0">
                <a:pos x="12786" y="162511"/>
              </a:cxn>
              <a:cxn ang="0">
                <a:pos x="10915" y="166751"/>
              </a:cxn>
              <a:cxn ang="0">
                <a:pos x="629" y="166751"/>
              </a:cxn>
              <a:cxn ang="0">
                <a:pos x="1562" y="162511"/>
              </a:cxn>
              <a:cxn ang="0">
                <a:pos x="1562" y="5736"/>
              </a:cxn>
            </a:cxnLst>
            <a:rect l="txL" t="txT" r="txR" b="tx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9476B6">
              <a:alpha val="100000"/>
            </a:srgbClr>
          </a:solidFill>
          <a:ln w="9525">
            <a:noFill/>
          </a:ln>
        </p:spPr>
        <p:txBody>
          <a:bodyPr/>
          <a:lstStyle/>
          <a:p>
            <a:endParaRPr lang="zh-CN" altLang="en-US"/>
          </a:p>
        </p:txBody>
      </p:sp>
      <p:sp>
        <p:nvSpPr>
          <p:cNvPr id="13" name="圆角矩形 15"/>
          <p:cNvSpPr>
            <a:spLocks noChangeArrowheads="1"/>
          </p:cNvSpPr>
          <p:nvPr/>
        </p:nvSpPr>
        <p:spPr bwMode="auto">
          <a:xfrm>
            <a:off x="1465263" y="2398713"/>
            <a:ext cx="492125" cy="3073400"/>
          </a:xfrm>
          <a:custGeom>
            <a:avLst/>
            <a:gdLst>
              <a:gd name="T0" fmla="*/ 26719 w 738285"/>
              <a:gd name="T1" fmla="*/ 55318 h 4248500"/>
              <a:gd name="T2" fmla="*/ 3700 w 738285"/>
              <a:gd name="T3" fmla="*/ 4 h 4248500"/>
              <a:gd name="T4" fmla="*/ 186673 w 738285"/>
              <a:gd name="T5" fmla="*/ 4 h 4248500"/>
              <a:gd name="T6" fmla="*/ 218664 w 738285"/>
              <a:gd name="T7" fmla="*/ 40895 h 4248500"/>
              <a:gd name="T8" fmla="*/ 218664 w 738285"/>
              <a:gd name="T9" fmla="*/ 1567472 h 4248500"/>
              <a:gd name="T10" fmla="*/ 186673 w 738285"/>
              <a:gd name="T11" fmla="*/ 1608364 h 4248500"/>
              <a:gd name="T12" fmla="*/ 10752 w 738285"/>
              <a:gd name="T13" fmla="*/ 1608364 h 4248500"/>
              <a:gd name="T14" fmla="*/ 26719 w 738285"/>
              <a:gd name="T15" fmla="*/ 1567472 h 4248500"/>
              <a:gd name="T16" fmla="*/ 26719 w 738285"/>
              <a:gd name="T17" fmla="*/ 55318 h 42485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8285"/>
              <a:gd name="T28" fmla="*/ 0 h 4248500"/>
              <a:gd name="T29" fmla="*/ 738285 w 738285"/>
              <a:gd name="T30" fmla="*/ 4248500 h 42485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2">
              <a:lumMod val="60000"/>
              <a:lumOff val="40000"/>
            </a:schemeClr>
          </a:solidFill>
          <a:ln>
            <a:noFill/>
          </a:ln>
        </p:spPr>
        <p:txBody>
          <a:bodyPr vert="eaVert" lIns="7200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64901" name="Rectangle 5"/>
          <p:cNvSpPr>
            <a:spLocks noChangeArrowheads="1"/>
          </p:cNvSpPr>
          <p:nvPr/>
        </p:nvSpPr>
        <p:spPr bwMode="auto">
          <a:xfrm>
            <a:off x="2154238" y="3000375"/>
            <a:ext cx="6784975"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优点</a:t>
            </a:r>
          </a:p>
          <a:p>
            <a:pPr marR="0" lvl="1" algn="l" defTabSz="914400" rtl="0" eaLnBrk="0" fontAlgn="base" latinLnBrk="0" hangingPunct="0">
              <a:lnSpc>
                <a:spcPct val="100000"/>
              </a:lnSpc>
              <a:spcBef>
                <a:spcPct val="2000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时间：插入、删除等操作不必移动数据，只需修改链接指针，</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修改效率较高</a:t>
            </a: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a:p>
            <a:pPr lvl="1">
              <a:buFont typeface="Wingdings" panose="05000000000000000000" pitchFamily="2" charset="2"/>
              <a:buChar char="l"/>
              <a:defRPr/>
            </a:pPr>
            <a:r>
              <a:rPr lang="zh-CN" altLang="en-US" sz="2400" dirty="0">
                <a:cs typeface="+mn-ea"/>
                <a:sym typeface="+mn-lt"/>
              </a:rPr>
              <a:t>空间：数据元素的个数可以</a:t>
            </a:r>
            <a:r>
              <a:rPr lang="zh-CN" altLang="en-US" sz="2400" dirty="0">
                <a:solidFill>
                  <a:srgbClr val="FF0000"/>
                </a:solidFill>
                <a:cs typeface="+mn-ea"/>
                <a:sym typeface="+mn-lt"/>
              </a:rPr>
              <a:t>自由扩充</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4901">
                                            <p:txEl>
                                              <p:pRg st="0" end="0"/>
                                            </p:txEl>
                                          </p:spTgt>
                                        </p:tgtEl>
                                        <p:attrNameLst>
                                          <p:attrName>style.visibility</p:attrName>
                                        </p:attrNameLst>
                                      </p:cBhvr>
                                      <p:to>
                                        <p:strVal val="visible"/>
                                      </p:to>
                                    </p:set>
                                    <p:anim calcmode="lin" valueType="num">
                                      <p:cBhvr additive="base">
                                        <p:cTn id="7" dur="500" fill="hold"/>
                                        <p:tgtEl>
                                          <p:spTgt spid="46490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6490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4901">
                                            <p:txEl>
                                              <p:pRg st="1" end="1"/>
                                            </p:txEl>
                                          </p:spTgt>
                                        </p:tgtEl>
                                        <p:attrNameLst>
                                          <p:attrName>style.visibility</p:attrName>
                                        </p:attrNameLst>
                                      </p:cBhvr>
                                      <p:to>
                                        <p:strVal val="visible"/>
                                      </p:to>
                                    </p:set>
                                    <p:anim calcmode="lin" valueType="num">
                                      <p:cBhvr additive="base">
                                        <p:cTn id="13" dur="500" fill="hold"/>
                                        <p:tgtEl>
                                          <p:spTgt spid="46490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6490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64901">
                                            <p:txEl>
                                              <p:pRg st="2" end="2"/>
                                            </p:txEl>
                                          </p:spTgt>
                                        </p:tgtEl>
                                        <p:attrNameLst>
                                          <p:attrName>style.visibility</p:attrName>
                                        </p:attrNameLst>
                                      </p:cBhvr>
                                      <p:to>
                                        <p:strVal val="visible"/>
                                      </p:to>
                                    </p:set>
                                    <p:anim calcmode="lin" valueType="num">
                                      <p:cBhvr additive="base">
                                        <p:cTn id="19" dur="500" fill="hold"/>
                                        <p:tgtEl>
                                          <p:spTgt spid="46490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6490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build="p" bldLvl="2"/>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椭圆 9"/>
          <p:cNvSpPr/>
          <p:nvPr/>
        </p:nvSpPr>
        <p:spPr>
          <a:xfrm>
            <a:off x="900113" y="1311275"/>
            <a:ext cx="96837"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3187" name="椭圆 3"/>
          <p:cNvSpPr/>
          <p:nvPr/>
        </p:nvSpPr>
        <p:spPr>
          <a:xfrm>
            <a:off x="1439863" y="4238625"/>
            <a:ext cx="95250" cy="157163"/>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3188" name="椭圆 4"/>
          <p:cNvSpPr/>
          <p:nvPr/>
        </p:nvSpPr>
        <p:spPr>
          <a:xfrm>
            <a:off x="901700" y="4227513"/>
            <a:ext cx="96838" cy="157162"/>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3189" name="椭圆 12"/>
          <p:cNvSpPr/>
          <p:nvPr/>
        </p:nvSpPr>
        <p:spPr>
          <a:xfrm>
            <a:off x="306388" y="4221163"/>
            <a:ext cx="95250"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3190" name="椭圆 8"/>
          <p:cNvSpPr/>
          <p:nvPr/>
        </p:nvSpPr>
        <p:spPr>
          <a:xfrm>
            <a:off x="1436688" y="1322388"/>
            <a:ext cx="95250" cy="157162"/>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93191" name="椭圆 11"/>
          <p:cNvSpPr/>
          <p:nvPr/>
        </p:nvSpPr>
        <p:spPr>
          <a:xfrm>
            <a:off x="301625" y="1309688"/>
            <a:ext cx="96838" cy="155575"/>
          </a:xfrm>
          <a:prstGeom prst="ellipse">
            <a:avLst/>
          </a:prstGeom>
          <a:solidFill>
            <a:srgbClr val="595959"/>
          </a:solid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pPr>
            <a:endParaRPr lang="zh-CN" altLang="en-US" sz="2800" dirty="0">
              <a:solidFill>
                <a:srgbClr val="FFFFFF"/>
              </a:solidFill>
              <a:latin typeface="Arial Narrow" panose="020B0606020202030204" pitchFamily="34" charset="0"/>
            </a:endParaRPr>
          </a:p>
        </p:txBody>
      </p:sp>
      <p:sp>
        <p:nvSpPr>
          <p:cNvPr id="16" name="矩形 15"/>
          <p:cNvSpPr>
            <a:spLocks noChangeArrowheads="1"/>
          </p:cNvSpPr>
          <p:nvPr/>
        </p:nvSpPr>
        <p:spPr bwMode="auto">
          <a:xfrm>
            <a:off x="0" y="1420813"/>
            <a:ext cx="9144000" cy="2867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248000" rIns="252000" anchor="ctr"/>
          <a:lstStyle/>
          <a:p>
            <a:pPr marL="0" marR="0" lvl="0" indent="0" algn="just" defTabSz="914400" rtl="0" eaLnBrk="1" fontAlgn="base" latinLnBrk="0" hangingPunct="1">
              <a:lnSpc>
                <a:spcPct val="130000"/>
              </a:lnSpc>
              <a:spcBef>
                <a:spcPts val="600"/>
              </a:spcBef>
              <a:spcAft>
                <a:spcPts val="600"/>
              </a:spcAft>
              <a:buClrTx/>
              <a:buSzTx/>
              <a:buFontTx/>
              <a:buNone/>
              <a:defRPr/>
            </a:pPr>
            <a:endParaRPr kumimoji="0" lang="zh-CN" altLang="en-US" sz="28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cs"/>
            </a:endParaRPr>
          </a:p>
        </p:txBody>
      </p:sp>
      <p:sp>
        <p:nvSpPr>
          <p:cNvPr id="93193" name="圆角矩形 15"/>
          <p:cNvSpPr/>
          <p:nvPr/>
        </p:nvSpPr>
        <p:spPr>
          <a:xfrm>
            <a:off x="927100" y="1311275"/>
            <a:ext cx="493713" cy="3073400"/>
          </a:xfrm>
          <a:custGeom>
            <a:avLst/>
            <a:gdLst>
              <a:gd name="txL" fmla="*/ 0 w 738285"/>
              <a:gd name="txT" fmla="*/ 0 h 4248500"/>
              <a:gd name="txR" fmla="*/ 738285 w 738285"/>
              <a:gd name="txB" fmla="*/ 4248500 h 4248500"/>
            </a:gdLst>
            <a:ahLst/>
            <a:cxnLst>
              <a:cxn ang="0">
                <a:pos x="1614" y="5736"/>
              </a:cxn>
              <a:cxn ang="0">
                <a:pos x="223" y="1"/>
              </a:cxn>
              <a:cxn ang="0">
                <a:pos x="11273" y="1"/>
              </a:cxn>
              <a:cxn ang="0">
                <a:pos x="13205" y="4240"/>
              </a:cxn>
              <a:cxn ang="0">
                <a:pos x="13205" y="162511"/>
              </a:cxn>
              <a:cxn ang="0">
                <a:pos x="11273" y="166751"/>
              </a:cxn>
              <a:cxn ang="0">
                <a:pos x="649" y="166751"/>
              </a:cxn>
              <a:cxn ang="0">
                <a:pos x="1614" y="162511"/>
              </a:cxn>
              <a:cxn ang="0">
                <a:pos x="1614" y="5736"/>
              </a:cxn>
            </a:cxnLst>
            <a:rect l="txL" t="txT" r="txR" b="tx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FFC000">
              <a:alpha val="100000"/>
            </a:srgbClr>
          </a:solidFill>
          <a:ln w="9525">
            <a:noFill/>
          </a:ln>
        </p:spPr>
        <p:txBody>
          <a:bodyPr/>
          <a:lstStyle/>
          <a:p>
            <a:endParaRPr lang="zh-CN" altLang="en-US"/>
          </a:p>
        </p:txBody>
      </p:sp>
      <p:sp>
        <p:nvSpPr>
          <p:cNvPr id="93194" name="圆角矩形 15"/>
          <p:cNvSpPr/>
          <p:nvPr/>
        </p:nvSpPr>
        <p:spPr>
          <a:xfrm>
            <a:off x="331788" y="1306513"/>
            <a:ext cx="492125" cy="3073400"/>
          </a:xfrm>
          <a:custGeom>
            <a:avLst/>
            <a:gdLst>
              <a:gd name="txL" fmla="*/ 0 w 738285"/>
              <a:gd name="txT" fmla="*/ 0 h 4248500"/>
              <a:gd name="txR" fmla="*/ 738285 w 738285"/>
              <a:gd name="txB" fmla="*/ 4248500 h 4248500"/>
            </a:gdLst>
            <a:ahLst/>
            <a:cxnLst>
              <a:cxn ang="0">
                <a:pos x="1562" y="5736"/>
              </a:cxn>
              <a:cxn ang="0">
                <a:pos x="217" y="1"/>
              </a:cxn>
              <a:cxn ang="0">
                <a:pos x="10915" y="1"/>
              </a:cxn>
              <a:cxn ang="0">
                <a:pos x="12786" y="4240"/>
              </a:cxn>
              <a:cxn ang="0">
                <a:pos x="12786" y="162511"/>
              </a:cxn>
              <a:cxn ang="0">
                <a:pos x="10915" y="166751"/>
              </a:cxn>
              <a:cxn ang="0">
                <a:pos x="629" y="166751"/>
              </a:cxn>
              <a:cxn ang="0">
                <a:pos x="1562" y="162511"/>
              </a:cxn>
              <a:cxn ang="0">
                <a:pos x="1562" y="5736"/>
              </a:cxn>
            </a:cxnLst>
            <a:rect l="txL" t="txT" r="txR" b="txB"/>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rgbClr val="9476B6">
              <a:alpha val="100000"/>
            </a:srgbClr>
          </a:solidFill>
          <a:ln w="9525">
            <a:noFill/>
          </a:ln>
        </p:spPr>
        <p:txBody>
          <a:bodyPr/>
          <a:lstStyle/>
          <a:p>
            <a:endParaRPr lang="zh-CN" altLang="en-US"/>
          </a:p>
        </p:txBody>
      </p:sp>
      <p:sp>
        <p:nvSpPr>
          <p:cNvPr id="19" name="圆角矩形 15"/>
          <p:cNvSpPr>
            <a:spLocks noChangeArrowheads="1"/>
          </p:cNvSpPr>
          <p:nvPr/>
        </p:nvSpPr>
        <p:spPr bwMode="auto">
          <a:xfrm>
            <a:off x="1465263" y="1322388"/>
            <a:ext cx="492125" cy="3073400"/>
          </a:xfrm>
          <a:custGeom>
            <a:avLst/>
            <a:gdLst>
              <a:gd name="T0" fmla="*/ 26719 w 738285"/>
              <a:gd name="T1" fmla="*/ 55318 h 4248500"/>
              <a:gd name="T2" fmla="*/ 3700 w 738285"/>
              <a:gd name="T3" fmla="*/ 4 h 4248500"/>
              <a:gd name="T4" fmla="*/ 186673 w 738285"/>
              <a:gd name="T5" fmla="*/ 4 h 4248500"/>
              <a:gd name="T6" fmla="*/ 218664 w 738285"/>
              <a:gd name="T7" fmla="*/ 40895 h 4248500"/>
              <a:gd name="T8" fmla="*/ 218664 w 738285"/>
              <a:gd name="T9" fmla="*/ 1567472 h 4248500"/>
              <a:gd name="T10" fmla="*/ 186673 w 738285"/>
              <a:gd name="T11" fmla="*/ 1608364 h 4248500"/>
              <a:gd name="T12" fmla="*/ 10752 w 738285"/>
              <a:gd name="T13" fmla="*/ 1608364 h 4248500"/>
              <a:gd name="T14" fmla="*/ 26719 w 738285"/>
              <a:gd name="T15" fmla="*/ 1567472 h 4248500"/>
              <a:gd name="T16" fmla="*/ 26719 w 738285"/>
              <a:gd name="T17" fmla="*/ 55318 h 42485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38285"/>
              <a:gd name="T28" fmla="*/ 0 h 4248500"/>
              <a:gd name="T29" fmla="*/ 738285 w 738285"/>
              <a:gd name="T30" fmla="*/ 4248500 h 42485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38285" h="4248500">
                <a:moveTo>
                  <a:pt x="90213" y="146124"/>
                </a:moveTo>
                <a:cubicBezTo>
                  <a:pt x="128313" y="-4018"/>
                  <a:pt x="-47164" y="10"/>
                  <a:pt x="12490" y="10"/>
                </a:cubicBezTo>
                <a:lnTo>
                  <a:pt x="630271" y="10"/>
                </a:lnTo>
                <a:cubicBezTo>
                  <a:pt x="689925" y="10"/>
                  <a:pt x="738285" y="48370"/>
                  <a:pt x="738285" y="108024"/>
                </a:cubicBezTo>
                <a:lnTo>
                  <a:pt x="738285" y="4140468"/>
                </a:lnTo>
                <a:cubicBezTo>
                  <a:pt x="738285" y="4200122"/>
                  <a:pt x="689925" y="4248482"/>
                  <a:pt x="630271" y="4248482"/>
                </a:cubicBezTo>
                <a:lnTo>
                  <a:pt x="36302" y="4248482"/>
                </a:lnTo>
                <a:cubicBezTo>
                  <a:pt x="-23352" y="4248482"/>
                  <a:pt x="94976" y="4252509"/>
                  <a:pt x="90213" y="4140468"/>
                </a:cubicBezTo>
                <a:lnTo>
                  <a:pt x="90213" y="146124"/>
                </a:lnTo>
                <a:close/>
              </a:path>
            </a:pathLst>
          </a:custGeom>
          <a:solidFill>
            <a:schemeClr val="bg2">
              <a:lumMod val="60000"/>
              <a:lumOff val="40000"/>
            </a:schemeClr>
          </a:solidFill>
          <a:ln>
            <a:noFill/>
          </a:ln>
        </p:spPr>
        <p:txBody>
          <a:bodyPr vert="eaVert" lIns="7200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82309" name="Rectangle 5"/>
          <p:cNvSpPr>
            <a:spLocks noChangeArrowheads="1"/>
          </p:cNvSpPr>
          <p:nvPr/>
        </p:nvSpPr>
        <p:spPr bwMode="auto">
          <a:xfrm>
            <a:off x="2241550" y="1565275"/>
            <a:ext cx="6434138" cy="292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缺点</a:t>
            </a:r>
          </a:p>
          <a:p>
            <a:pPr marL="800100" marR="0" lvl="1" indent="-342900" algn="l" defTabSz="914400" rtl="0" eaLnBrk="1" fontAlgn="base" latinLnBrk="0" hangingPunct="1">
              <a:lnSpc>
                <a:spcPct val="130000"/>
              </a:lnSpc>
              <a:spcBef>
                <a:spcPts val="0"/>
              </a:spcBef>
              <a:spcAft>
                <a:spcPct val="0"/>
              </a:spcAft>
              <a:buClr>
                <a:srgbClr val="FF3300"/>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时间：存取效率不高，必须采用</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顺序存取</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，即存取数据元素时，只能按链表的顺序进行访问</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（顺藤摸瓜）</a:t>
            </a: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a:p>
            <a:pPr marL="800100" lvl="1" indent="-342900" eaLnBrk="1" hangingPunct="1">
              <a:lnSpc>
                <a:spcPct val="130000"/>
              </a:lnSpc>
              <a:spcBef>
                <a:spcPts val="0"/>
              </a:spcBef>
              <a:buClr>
                <a:srgbClr val="FF3300"/>
              </a:buClr>
              <a:buFont typeface="Wingdings" panose="05000000000000000000" pitchFamily="2" charset="2"/>
              <a:buChar char="l"/>
              <a:defRPr/>
            </a:pPr>
            <a:r>
              <a:rPr lang="zh-CN" altLang="en-US" sz="2400" dirty="0">
                <a:cs typeface="+mn-ea"/>
                <a:sym typeface="+mn-lt"/>
              </a:rPr>
              <a:t>空间：存储密度小</a:t>
            </a:r>
          </a:p>
          <a:p>
            <a:pPr marL="800100" marR="0" lvl="1" indent="-342900" algn="l" defTabSz="914400" rtl="0" eaLnBrk="1" fontAlgn="base" latinLnBrk="0" hangingPunct="1">
              <a:lnSpc>
                <a:spcPct val="130000"/>
              </a:lnSpc>
              <a:spcBef>
                <a:spcPts val="0"/>
              </a:spcBef>
              <a:spcAft>
                <a:spcPct val="0"/>
              </a:spcAft>
              <a:buClr>
                <a:srgbClr val="FF3300"/>
              </a:buClr>
              <a:buSzTx/>
              <a:buFont typeface="Wingdings" panose="05000000000000000000" pitchFamily="2" charset="2"/>
              <a:buChar char="l"/>
              <a:defRPr/>
            </a:pP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p:txBody>
      </p:sp>
      <p:grpSp>
        <p:nvGrpSpPr>
          <p:cNvPr id="93197" name="Group 6"/>
          <p:cNvGrpSpPr/>
          <p:nvPr/>
        </p:nvGrpSpPr>
        <p:grpSpPr>
          <a:xfrm>
            <a:off x="301625" y="4784725"/>
            <a:ext cx="8567738" cy="1863725"/>
            <a:chOff x="0" y="1563"/>
            <a:chExt cx="5248" cy="948"/>
          </a:xfrm>
        </p:grpSpPr>
        <p:pic>
          <p:nvPicPr>
            <p:cNvPr id="93199" name="Picture 7" descr="2-1字母链式存储图"/>
            <p:cNvPicPr>
              <a:picLocks noChangeAspect="1"/>
            </p:cNvPicPr>
            <p:nvPr/>
          </p:nvPicPr>
          <p:blipFill>
            <a:blip r:embed="rId2"/>
            <a:srcRect r="29062"/>
            <a:stretch>
              <a:fillRect/>
            </a:stretch>
          </p:blipFill>
          <p:spPr>
            <a:xfrm>
              <a:off x="0" y="1563"/>
              <a:ext cx="5248" cy="948"/>
            </a:xfrm>
            <a:prstGeom prst="rect">
              <a:avLst/>
            </a:prstGeom>
            <a:noFill/>
            <a:ln w="9525">
              <a:noFill/>
            </a:ln>
          </p:spPr>
        </p:pic>
        <p:sp>
          <p:nvSpPr>
            <p:cNvPr id="89094" name="Line 8"/>
            <p:cNvSpPr>
              <a:spLocks noChangeShapeType="1"/>
            </p:cNvSpPr>
            <p:nvPr/>
          </p:nvSpPr>
          <p:spPr bwMode="auto">
            <a:xfrm>
              <a:off x="3321" y="1805"/>
              <a:ext cx="0" cy="2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9095" name="Line 9"/>
            <p:cNvSpPr>
              <a:spLocks noChangeShapeType="1"/>
            </p:cNvSpPr>
            <p:nvPr/>
          </p:nvSpPr>
          <p:spPr bwMode="auto">
            <a:xfrm>
              <a:off x="4443" y="1805"/>
              <a:ext cx="0" cy="2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9096" name="Line 10"/>
            <p:cNvSpPr>
              <a:spLocks noChangeShapeType="1"/>
            </p:cNvSpPr>
            <p:nvPr/>
          </p:nvSpPr>
          <p:spPr bwMode="auto">
            <a:xfrm>
              <a:off x="1191" y="1795"/>
              <a:ext cx="0" cy="24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9097" name="AutoShape 11"/>
            <p:cNvSpPr>
              <a:spLocks noChangeArrowheads="1"/>
            </p:cNvSpPr>
            <p:nvPr/>
          </p:nvSpPr>
          <p:spPr bwMode="auto">
            <a:xfrm>
              <a:off x="4692" y="2101"/>
              <a:ext cx="113" cy="182"/>
            </a:xfrm>
            <a:prstGeom prst="downArrow">
              <a:avLst>
                <a:gd name="adj1" fmla="val 50000"/>
                <a:gd name="adj2" fmla="val 32771"/>
              </a:avLst>
            </a:prstGeom>
            <a:solidFill>
              <a:schemeClr val="accent1"/>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89092" name="Rectangle 12"/>
          <p:cNvSpPr>
            <a:spLocks noChangeArrowheads="1"/>
          </p:cNvSpPr>
          <p:nvPr/>
        </p:nvSpPr>
        <p:spPr bwMode="auto">
          <a:xfrm>
            <a:off x="900113" y="128588"/>
            <a:ext cx="5219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链表的优缺点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2309">
                                            <p:txEl>
                                              <p:pRg st="0" end="0"/>
                                            </p:txEl>
                                          </p:spTgt>
                                        </p:tgtEl>
                                        <p:attrNameLst>
                                          <p:attrName>style.visibility</p:attrName>
                                        </p:attrNameLst>
                                      </p:cBhvr>
                                      <p:to>
                                        <p:strVal val="visible"/>
                                      </p:to>
                                    </p:set>
                                    <p:anim calcmode="lin" valueType="num">
                                      <p:cBhvr additive="base">
                                        <p:cTn id="7" dur="500" fill="hold"/>
                                        <p:tgtEl>
                                          <p:spTgt spid="4823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23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2309">
                                            <p:txEl>
                                              <p:pRg st="1" end="1"/>
                                            </p:txEl>
                                          </p:spTgt>
                                        </p:tgtEl>
                                        <p:attrNameLst>
                                          <p:attrName>style.visibility</p:attrName>
                                        </p:attrNameLst>
                                      </p:cBhvr>
                                      <p:to>
                                        <p:strVal val="visible"/>
                                      </p:to>
                                    </p:set>
                                    <p:anim calcmode="lin" valueType="num">
                                      <p:cBhvr additive="base">
                                        <p:cTn id="13" dur="500" fill="hold"/>
                                        <p:tgtEl>
                                          <p:spTgt spid="48230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230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2309">
                                            <p:txEl>
                                              <p:pRg st="2" end="2"/>
                                            </p:txEl>
                                          </p:spTgt>
                                        </p:tgtEl>
                                        <p:attrNameLst>
                                          <p:attrName>style.visibility</p:attrName>
                                        </p:attrNameLst>
                                      </p:cBhvr>
                                      <p:to>
                                        <p:strVal val="visible"/>
                                      </p:to>
                                    </p:set>
                                    <p:anim calcmode="lin" valueType="num">
                                      <p:cBhvr additive="base">
                                        <p:cTn id="19" dur="500" fill="hold"/>
                                        <p:tgtEl>
                                          <p:spTgt spid="48230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230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9" grpId="0" build="p" bldLvl="2"/>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a:spLocks noChangeArrowheads="1"/>
          </p:cNvSpPr>
          <p:nvPr/>
        </p:nvSpPr>
        <p:spPr bwMode="auto">
          <a:xfrm>
            <a:off x="900113" y="150813"/>
            <a:ext cx="2339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练习</a:t>
            </a:r>
          </a:p>
        </p:txBody>
      </p:sp>
      <p:sp>
        <p:nvSpPr>
          <p:cNvPr id="480261" name="Rectangle 5"/>
          <p:cNvSpPr>
            <a:spLocks noChangeArrowheads="1"/>
          </p:cNvSpPr>
          <p:nvPr/>
        </p:nvSpPr>
        <p:spPr bwMode="auto">
          <a:xfrm>
            <a:off x="909638" y="1196975"/>
            <a:ext cx="8016875"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55600" marR="0" lvl="0" indent="-3556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链表的每个结点中都恰好包含一个指针。  </a:t>
            </a:r>
          </a:p>
          <a:p>
            <a:pPr marL="355600" marR="0" lvl="0" indent="-3556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顺序表结构适宜于进行顺序存取，而链表适宜于进行随机存取。</a:t>
            </a:r>
          </a:p>
          <a:p>
            <a:pPr marL="355600" marR="0" lvl="0" indent="-3556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顺序存储方式的优点是存储密度大，且插入、删除运算效率高。</a:t>
            </a:r>
          </a:p>
          <a:p>
            <a:pPr marL="355600" marR="0" lvl="0" indent="-3556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线性表若采用链式存储时，结点之间和结点内部的存储空间都是可以不连续的。 </a:t>
            </a:r>
          </a:p>
          <a:p>
            <a:pPr marL="355600" marR="0" lvl="0" indent="-3556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5.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线性表的每个结点只能是一个简单类型，而链表的每个结点可以是一个复杂类型</a:t>
            </a:r>
          </a:p>
        </p:txBody>
      </p:sp>
      <p:sp>
        <p:nvSpPr>
          <p:cNvPr id="480264" name="Rectangle 8"/>
          <p:cNvSpPr>
            <a:spLocks noChangeArrowheads="1"/>
          </p:cNvSpPr>
          <p:nvPr/>
        </p:nvSpPr>
        <p:spPr bwMode="auto">
          <a:xfrm>
            <a:off x="-50800" y="1420813"/>
            <a:ext cx="95091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9600" b="1"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grpSp>
        <p:nvGrpSpPr>
          <p:cNvPr id="5" name="组合 4"/>
          <p:cNvGrpSpPr/>
          <p:nvPr/>
        </p:nvGrpSpPr>
        <p:grpSpPr>
          <a:xfrm>
            <a:off x="0" y="6380163"/>
            <a:ext cx="9144000" cy="431800"/>
            <a:chOff x="0" y="6379908"/>
            <a:chExt cx="9144000" cy="432048"/>
          </a:xfrm>
        </p:grpSpPr>
        <p:grpSp>
          <p:nvGrpSpPr>
            <p:cNvPr id="94214" name="组合 5"/>
            <p:cNvGrpSpPr/>
            <p:nvPr/>
          </p:nvGrpSpPr>
          <p:grpSpPr>
            <a:xfrm>
              <a:off x="0" y="6379908"/>
              <a:ext cx="9144000" cy="432048"/>
              <a:chOff x="0" y="6165304"/>
              <a:chExt cx="9144000" cy="432048"/>
            </a:xfrm>
          </p:grpSpPr>
          <p:cxnSp>
            <p:nvCxnSpPr>
              <p:cNvPr id="94216"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9" name="直接连接符 8"/>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94218"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7"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0261">
                                            <p:txEl>
                                              <p:pRg st="0" end="0"/>
                                            </p:txEl>
                                          </p:spTgt>
                                        </p:tgtEl>
                                        <p:attrNameLst>
                                          <p:attrName>style.visibility</p:attrName>
                                        </p:attrNameLst>
                                      </p:cBhvr>
                                      <p:to>
                                        <p:strVal val="visible"/>
                                      </p:to>
                                    </p:set>
                                    <p:anim calcmode="lin" valueType="num">
                                      <p:cBhvr additive="base">
                                        <p:cTn id="7" dur="1000" fill="hold"/>
                                        <p:tgtEl>
                                          <p:spTgt spid="480261">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4802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0261">
                                            <p:txEl>
                                              <p:pRg st="1" end="1"/>
                                            </p:txEl>
                                          </p:spTgt>
                                        </p:tgtEl>
                                        <p:attrNameLst>
                                          <p:attrName>style.visibility</p:attrName>
                                        </p:attrNameLst>
                                      </p:cBhvr>
                                      <p:to>
                                        <p:strVal val="visible"/>
                                      </p:to>
                                    </p:set>
                                    <p:anim calcmode="lin" valueType="num">
                                      <p:cBhvr additive="base">
                                        <p:cTn id="13" dur="1000" fill="hold"/>
                                        <p:tgtEl>
                                          <p:spTgt spid="480261">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4802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0261">
                                            <p:txEl>
                                              <p:pRg st="2" end="2"/>
                                            </p:txEl>
                                          </p:spTgt>
                                        </p:tgtEl>
                                        <p:attrNameLst>
                                          <p:attrName>style.visibility</p:attrName>
                                        </p:attrNameLst>
                                      </p:cBhvr>
                                      <p:to>
                                        <p:strVal val="visible"/>
                                      </p:to>
                                    </p:set>
                                    <p:anim calcmode="lin" valueType="num">
                                      <p:cBhvr additive="base">
                                        <p:cTn id="19" dur="1000" fill="hold"/>
                                        <p:tgtEl>
                                          <p:spTgt spid="480261">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4802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80261">
                                            <p:txEl>
                                              <p:pRg st="3" end="3"/>
                                            </p:txEl>
                                          </p:spTgt>
                                        </p:tgtEl>
                                        <p:attrNameLst>
                                          <p:attrName>style.visibility</p:attrName>
                                        </p:attrNameLst>
                                      </p:cBhvr>
                                      <p:to>
                                        <p:strVal val="visible"/>
                                      </p:to>
                                    </p:set>
                                    <p:anim calcmode="lin" valueType="num">
                                      <p:cBhvr additive="base">
                                        <p:cTn id="25" dur="1000" fill="hold"/>
                                        <p:tgtEl>
                                          <p:spTgt spid="480261">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48026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80261">
                                            <p:txEl>
                                              <p:pRg st="4" end="4"/>
                                            </p:txEl>
                                          </p:spTgt>
                                        </p:tgtEl>
                                        <p:attrNameLst>
                                          <p:attrName>style.visibility</p:attrName>
                                        </p:attrNameLst>
                                      </p:cBhvr>
                                      <p:to>
                                        <p:strVal val="visible"/>
                                      </p:to>
                                    </p:set>
                                    <p:anim calcmode="lin" valueType="num">
                                      <p:cBhvr additive="base">
                                        <p:cTn id="31" dur="1000" fill="hold"/>
                                        <p:tgtEl>
                                          <p:spTgt spid="480261">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48026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480264"/>
                                        </p:tgtEl>
                                        <p:attrNameLst>
                                          <p:attrName>style.visibility</p:attrName>
                                        </p:attrNameLst>
                                      </p:cBhvr>
                                      <p:to>
                                        <p:strVal val="visible"/>
                                      </p:to>
                                    </p:set>
                                    <p:animEffect transition="in" filter="barn(inVertical)">
                                      <p:cBhvr>
                                        <p:cTn id="37" dur="500"/>
                                        <p:tgtEl>
                                          <p:spTgt spid="480264"/>
                                        </p:tgtEl>
                                      </p:cBhvr>
                                    </p:animEffect>
                                  </p:child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1" grpId="0" build="p"/>
      <p:bldP spid="48026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矩形 1"/>
          <p:cNvSpPr/>
          <p:nvPr/>
        </p:nvSpPr>
        <p:spPr>
          <a:xfrm>
            <a:off x="0" y="3794125"/>
            <a:ext cx="9144000" cy="23749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91138" name="Rectangle 4"/>
          <p:cNvSpPr>
            <a:spLocks noChangeArrowheads="1"/>
          </p:cNvSpPr>
          <p:nvPr/>
        </p:nvSpPr>
        <p:spPr bwMode="auto">
          <a:xfrm>
            <a:off x="814388" y="155575"/>
            <a:ext cx="7165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单链表的定义和实现</a:t>
            </a:r>
          </a:p>
        </p:txBody>
      </p:sp>
      <p:graphicFrame>
        <p:nvGraphicFramePr>
          <p:cNvPr id="95236" name="Object 36"/>
          <p:cNvGraphicFramePr/>
          <p:nvPr/>
        </p:nvGraphicFramePr>
        <p:xfrm>
          <a:off x="1981200" y="1557338"/>
          <a:ext cx="6632575" cy="750887"/>
        </p:xfrm>
        <a:graphic>
          <a:graphicData uri="http://schemas.openxmlformats.org/presentationml/2006/ole">
            <mc:AlternateContent xmlns:mc="http://schemas.openxmlformats.org/markup-compatibility/2006">
              <mc:Choice xmlns:v="urn:schemas-microsoft-com:vml" Requires="v">
                <p:oleObj spid="_x0000_s3117" r:id="rId3" imgW="5256530" imgH="562610" progId="Visio.Drawing.11">
                  <p:embed/>
                </p:oleObj>
              </mc:Choice>
              <mc:Fallback>
                <p:oleObj r:id="rId3" imgW="5256530" imgH="562610" progId="Visio.Drawing.11">
                  <p:embed/>
                  <p:pic>
                    <p:nvPicPr>
                      <p:cNvPr id="0" name="图片 3078"/>
                      <p:cNvPicPr/>
                      <p:nvPr/>
                    </p:nvPicPr>
                    <p:blipFill>
                      <a:blip r:embed="rId4"/>
                      <a:stretch>
                        <a:fillRect/>
                      </a:stretch>
                    </p:blipFill>
                    <p:spPr>
                      <a:xfrm>
                        <a:off x="1981200" y="1557338"/>
                        <a:ext cx="6632575" cy="750887"/>
                      </a:xfrm>
                      <a:prstGeom prst="rect">
                        <a:avLst/>
                      </a:prstGeom>
                      <a:solidFill>
                        <a:srgbClr val="EAEAEA"/>
                      </a:solidFill>
                      <a:ln w="38100">
                        <a:noFill/>
                        <a:miter/>
                      </a:ln>
                    </p:spPr>
                  </p:pic>
                </p:oleObj>
              </mc:Fallback>
            </mc:AlternateContent>
          </a:graphicData>
        </a:graphic>
      </p:graphicFrame>
      <p:graphicFrame>
        <p:nvGraphicFramePr>
          <p:cNvPr id="95237" name="Object 37"/>
          <p:cNvGraphicFramePr/>
          <p:nvPr/>
        </p:nvGraphicFramePr>
        <p:xfrm>
          <a:off x="1981200" y="2576513"/>
          <a:ext cx="1752600" cy="533400"/>
        </p:xfrm>
        <a:graphic>
          <a:graphicData uri="http://schemas.openxmlformats.org/presentationml/2006/ole">
            <mc:AlternateContent xmlns:mc="http://schemas.openxmlformats.org/markup-compatibility/2006">
              <mc:Choice xmlns:v="urn:schemas-microsoft-com:vml" Requires="v">
                <p:oleObj spid="_x0000_s3118" r:id="rId5" imgW="1296670" imgH="397510" progId="Visio.Drawing.11">
                  <p:embed/>
                </p:oleObj>
              </mc:Choice>
              <mc:Fallback>
                <p:oleObj r:id="rId5" imgW="1296670" imgH="397510" progId="Visio.Drawing.11">
                  <p:embed/>
                  <p:pic>
                    <p:nvPicPr>
                      <p:cNvPr id="0" name="图片 3077"/>
                      <p:cNvPicPr/>
                      <p:nvPr/>
                    </p:nvPicPr>
                    <p:blipFill>
                      <a:blip r:embed="rId6"/>
                      <a:stretch>
                        <a:fillRect/>
                      </a:stretch>
                    </p:blipFill>
                    <p:spPr>
                      <a:xfrm>
                        <a:off x="1981200" y="2576513"/>
                        <a:ext cx="1752600" cy="533400"/>
                      </a:xfrm>
                      <a:prstGeom prst="rect">
                        <a:avLst/>
                      </a:prstGeom>
                      <a:solidFill>
                        <a:srgbClr val="EAEAEA"/>
                      </a:solidFill>
                      <a:ln w="38100">
                        <a:noFill/>
                        <a:miter/>
                      </a:ln>
                    </p:spPr>
                  </p:pic>
                </p:oleObj>
              </mc:Fallback>
            </mc:AlternateContent>
          </a:graphicData>
        </a:graphic>
      </p:graphicFrame>
      <p:sp>
        <p:nvSpPr>
          <p:cNvPr id="91143" name="Text Box 38"/>
          <p:cNvSpPr txBox="1">
            <a:spLocks noChangeArrowheads="1"/>
          </p:cNvSpPr>
          <p:nvPr/>
        </p:nvSpPr>
        <p:spPr bwMode="auto">
          <a:xfrm>
            <a:off x="609600" y="1657350"/>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非空表</a:t>
            </a:r>
          </a:p>
        </p:txBody>
      </p:sp>
      <p:sp>
        <p:nvSpPr>
          <p:cNvPr id="91144" name="Text Box 39"/>
          <p:cNvSpPr txBox="1">
            <a:spLocks noChangeArrowheads="1"/>
          </p:cNvSpPr>
          <p:nvPr/>
        </p:nvSpPr>
        <p:spPr bwMode="auto">
          <a:xfrm>
            <a:off x="762000" y="2611438"/>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空表</a:t>
            </a:r>
          </a:p>
        </p:txBody>
      </p:sp>
      <p:sp>
        <p:nvSpPr>
          <p:cNvPr id="91145" name="Rectangle 41"/>
          <p:cNvSpPr>
            <a:spLocks noChangeArrowheads="1"/>
          </p:cNvSpPr>
          <p:nvPr/>
        </p:nvSpPr>
        <p:spPr bwMode="auto">
          <a:xfrm>
            <a:off x="609600" y="4081463"/>
            <a:ext cx="8004175" cy="1717675"/>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1" fontAlgn="base" latinLnBrk="0" hangingPunct="1">
              <a:lnSpc>
                <a:spcPct val="130000"/>
              </a:lnSpc>
              <a:spcBef>
                <a:spcPct val="50000"/>
              </a:spcBef>
              <a:spcAft>
                <a:spcPct val="0"/>
              </a:spcAft>
              <a:buClr>
                <a:schemeClr val="bg1"/>
              </a:buClr>
              <a:buSzTx/>
              <a:buFont typeface="Wingdings" panose="05000000000000000000" pitchFamily="2" charset="2"/>
              <a:buChar char="u"/>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 单链表是由表头唯一确定，因此单链表可以用头指针的  </a:t>
            </a:r>
            <a:b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名字来命名</a:t>
            </a:r>
          </a:p>
          <a:p>
            <a:pPr marL="342900" marR="0" lvl="0" indent="-342900" algn="l" defTabSz="914400" rtl="0" eaLnBrk="1" fontAlgn="base" latinLnBrk="0" hangingPunct="1">
              <a:lnSpc>
                <a:spcPct val="130000"/>
              </a:lnSpc>
              <a:spcBef>
                <a:spcPct val="50000"/>
              </a:spcBef>
              <a:spcAft>
                <a:spcPct val="0"/>
              </a:spcAft>
              <a:buClr>
                <a:schemeClr val="bg1"/>
              </a:buClr>
              <a:buSzTx/>
              <a:buFont typeface="Wingdings" panose="05000000000000000000" pitchFamily="2" charset="2"/>
              <a:buChar char="u"/>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 若头指针名是</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，则把链表称为表</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L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4797425"/>
            <a:ext cx="9144000" cy="16652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92162" name="Rectangle 5"/>
          <p:cNvSpPr>
            <a:spLocks noChangeArrowheads="1"/>
          </p:cNvSpPr>
          <p:nvPr/>
        </p:nvSpPr>
        <p:spPr bwMode="auto">
          <a:xfrm>
            <a:off x="1043608" y="1139569"/>
            <a:ext cx="645795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LinkNode</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just"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data;       </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数据域</a:t>
            </a:r>
          </a:p>
          <a:p>
            <a:pPr marL="342900" marR="0" lvl="0" indent="-342900" algn="just"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LinkNode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*next;   </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指针域</a:t>
            </a:r>
          </a:p>
          <a:p>
            <a:pPr marL="342900" marR="0" lvl="0" indent="-342900" algn="just"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LNode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accent2"/>
                </a:solidFill>
                <a:effectLst/>
                <a:uLnTx/>
                <a:uFillTx/>
                <a:latin typeface="+mn-lt"/>
                <a:ea typeface="+mn-ea"/>
                <a:cs typeface="+mn-ea"/>
                <a:sym typeface="+mn-lt"/>
              </a:rPr>
              <a:t>LinkList</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为</a:t>
            </a:r>
            <a:r>
              <a:rPr kumimoji="0" lang="en-US" altLang="zh-CN" sz="2400" b="0" i="0" u="none" strike="noStrike" kern="1200" cap="none" spc="0" normalizeH="0" baseline="0" noProof="0" dirty="0" err="1">
                <a:ln>
                  <a:noFill/>
                </a:ln>
                <a:solidFill>
                  <a:schemeClr val="accent2"/>
                </a:solidFill>
                <a:effectLst/>
                <a:uLnTx/>
                <a:uFillTx/>
                <a:latin typeface="+mn-lt"/>
                <a:ea typeface="+mn-ea"/>
                <a:cs typeface="+mn-ea"/>
                <a:sym typeface="+mn-lt"/>
              </a:rPr>
              <a:t>LNode</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类型的指针</a:t>
            </a:r>
          </a:p>
          <a:p>
            <a:pPr marL="342900" marR="0" lvl="0" indent="-342900" algn="l" defTabSz="914400" rtl="0" eaLnBrk="0" fontAlgn="base" latinLnBrk="0" hangingPunct="0">
              <a:lnSpc>
                <a:spcPct val="13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92163" name="Rectangle 6"/>
          <p:cNvSpPr>
            <a:spLocks noChangeArrowheads="1"/>
          </p:cNvSpPr>
          <p:nvPr/>
        </p:nvSpPr>
        <p:spPr bwMode="auto">
          <a:xfrm>
            <a:off x="785813" y="157163"/>
            <a:ext cx="73088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单链表的存储结构定义</a:t>
            </a:r>
          </a:p>
        </p:txBody>
      </p:sp>
      <p:grpSp>
        <p:nvGrpSpPr>
          <p:cNvPr id="2" name="Group 10"/>
          <p:cNvGrpSpPr/>
          <p:nvPr/>
        </p:nvGrpSpPr>
        <p:grpSpPr>
          <a:xfrm>
            <a:off x="1727200" y="5372100"/>
            <a:ext cx="5159375" cy="461963"/>
            <a:chOff x="521" y="2841"/>
            <a:chExt cx="3250" cy="291"/>
          </a:xfrm>
        </p:grpSpPr>
        <p:sp>
          <p:nvSpPr>
            <p:cNvPr id="92165" name="Rectangle 7"/>
            <p:cNvSpPr>
              <a:spLocks noChangeArrowheads="1"/>
            </p:cNvSpPr>
            <p:nvPr/>
          </p:nvSpPr>
          <p:spPr bwMode="auto">
            <a:xfrm>
              <a:off x="521" y="2841"/>
              <a:ext cx="930" cy="291"/>
            </a:xfrm>
            <a:prstGeom prst="rect">
              <a:avLst/>
            </a:prstGeom>
            <a:solidFill>
              <a:schemeClr val="accent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LNode *p</a:t>
              </a:r>
            </a:p>
          </p:txBody>
        </p:sp>
        <p:sp>
          <p:nvSpPr>
            <p:cNvPr id="92166" name="Rectangle 8"/>
            <p:cNvSpPr>
              <a:spLocks noChangeArrowheads="1"/>
            </p:cNvSpPr>
            <p:nvPr/>
          </p:nvSpPr>
          <p:spPr bwMode="auto">
            <a:xfrm>
              <a:off x="2843" y="2841"/>
              <a:ext cx="928" cy="291"/>
            </a:xfrm>
            <a:prstGeom prst="rect">
              <a:avLst/>
            </a:prstGeom>
            <a:solidFill>
              <a:schemeClr val="accent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a:t>
              </a:r>
            </a:p>
          </p:txBody>
        </p:sp>
        <p:sp>
          <p:nvSpPr>
            <p:cNvPr id="92167" name="AutoShape 9"/>
            <p:cNvSpPr>
              <a:spLocks noChangeArrowheads="1"/>
            </p:cNvSpPr>
            <p:nvPr/>
          </p:nvSpPr>
          <p:spPr bwMode="auto">
            <a:xfrm>
              <a:off x="1957" y="2895"/>
              <a:ext cx="499" cy="182"/>
            </a:xfrm>
            <a:prstGeom prst="leftRightArrow">
              <a:avLst>
                <a:gd name="adj1" fmla="val 50000"/>
                <a:gd name="adj2" fmla="val 54810"/>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nodeType="clickEffect">
                                  <p:stCondLst>
                                    <p:cond delay="0"/>
                                  </p:stCondLst>
                                  <p:childTnLst>
                                    <p:animScale>
                                      <p:cBhvr>
                                        <p:cTn id="11"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30225" y="1927225"/>
            <a:ext cx="8040688" cy="143033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93186" name="Rectangle 6"/>
          <p:cNvSpPr>
            <a:spLocks noChangeArrowheads="1"/>
          </p:cNvSpPr>
          <p:nvPr/>
        </p:nvSpPr>
        <p:spPr bwMode="auto">
          <a:xfrm>
            <a:off x="5426075" y="2087563"/>
            <a:ext cx="1423988" cy="461963"/>
          </a:xfrm>
          <a:prstGeom prst="rect">
            <a:avLst/>
          </a:prstGeom>
          <a:noFill/>
          <a:ln>
            <a:noFill/>
          </a:ln>
        </p:spPr>
        <p:txBody>
          <a:bodyPr wrap="non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LNode</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*p</a:t>
            </a:r>
          </a:p>
        </p:txBody>
      </p:sp>
      <p:sp>
        <p:nvSpPr>
          <p:cNvPr id="93187" name="Rectangle 9"/>
          <p:cNvSpPr>
            <a:spLocks noChangeArrowheads="1"/>
          </p:cNvSpPr>
          <p:nvPr/>
        </p:nvSpPr>
        <p:spPr bwMode="auto">
          <a:xfrm>
            <a:off x="519113" y="1465263"/>
            <a:ext cx="8062913" cy="461963"/>
          </a:xfrm>
          <a:prstGeom prst="rect">
            <a:avLst/>
          </a:prstGeom>
          <a:solidFill>
            <a:srgbClr val="9476B6"/>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注意区分指针变量和结点变量两个不同的概念</a:t>
            </a:r>
          </a:p>
        </p:txBody>
      </p:sp>
      <p:grpSp>
        <p:nvGrpSpPr>
          <p:cNvPr id="2" name="Group 12"/>
          <p:cNvGrpSpPr/>
          <p:nvPr/>
        </p:nvGrpSpPr>
        <p:grpSpPr>
          <a:xfrm>
            <a:off x="508000" y="4005263"/>
            <a:ext cx="8096250" cy="1708150"/>
            <a:chOff x="329" y="1942"/>
            <a:chExt cx="5100" cy="1076"/>
          </a:xfrm>
        </p:grpSpPr>
        <p:sp>
          <p:nvSpPr>
            <p:cNvPr id="93189" name="Rectangle 10"/>
            <p:cNvSpPr>
              <a:spLocks noChangeArrowheads="1"/>
            </p:cNvSpPr>
            <p:nvPr/>
          </p:nvSpPr>
          <p:spPr bwMode="auto">
            <a:xfrm>
              <a:off x="329" y="2622"/>
              <a:ext cx="5093" cy="396"/>
            </a:xfrm>
            <a:prstGeom prst="rect">
              <a:avLst/>
            </a:prstGeom>
            <a:solidFill>
              <a:schemeClr val="bg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p-&gt;data=</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2500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p-&gt;next-&gt;data=a</a:t>
              </a:r>
              <a:r>
                <a:rPr kumimoji="0"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i+1</a:t>
              </a:r>
            </a:p>
          </p:txBody>
        </p:sp>
        <p:graphicFrame>
          <p:nvGraphicFramePr>
            <p:cNvPr id="97289" name="Object 11"/>
            <p:cNvGraphicFramePr/>
            <p:nvPr/>
          </p:nvGraphicFramePr>
          <p:xfrm>
            <a:off x="336" y="1942"/>
            <a:ext cx="5093" cy="609"/>
          </p:xfrm>
          <a:graphic>
            <a:graphicData uri="http://schemas.openxmlformats.org/presentationml/2006/ole">
              <mc:AlternateContent xmlns:mc="http://schemas.openxmlformats.org/markup-compatibility/2006">
                <mc:Choice xmlns:v="urn:schemas-microsoft-com:vml" Requires="v">
                  <p:oleObj spid="_x0000_s4119" r:id="rId3" imgW="5256530" imgH="562610" progId="Visio.Drawing.11">
                    <p:embed/>
                  </p:oleObj>
                </mc:Choice>
                <mc:Fallback>
                  <p:oleObj r:id="rId3" imgW="5256530" imgH="562610" progId="Visio.Drawing.11">
                    <p:embed/>
                    <p:pic>
                      <p:nvPicPr>
                        <p:cNvPr id="0" name="图片 3079"/>
                        <p:cNvPicPr/>
                        <p:nvPr/>
                      </p:nvPicPr>
                      <p:blipFill>
                        <a:blip r:embed="rId4"/>
                        <a:stretch>
                          <a:fillRect/>
                        </a:stretch>
                      </p:blipFill>
                      <p:spPr>
                        <a:xfrm>
                          <a:off x="336" y="1942"/>
                          <a:ext cx="5093" cy="609"/>
                        </a:xfrm>
                        <a:prstGeom prst="rect">
                          <a:avLst/>
                        </a:prstGeom>
                        <a:solidFill>
                          <a:schemeClr val="accent1"/>
                        </a:solidFill>
                        <a:ln w="38100">
                          <a:noFill/>
                          <a:miter/>
                        </a:ln>
                      </p:spPr>
                    </p:pic>
                  </p:oleObj>
                </mc:Fallback>
              </mc:AlternateContent>
            </a:graphicData>
          </a:graphic>
        </p:graphicFrame>
      </p:grpSp>
      <p:sp>
        <p:nvSpPr>
          <p:cNvPr id="7" name="Rectangle 6"/>
          <p:cNvSpPr>
            <a:spLocks noChangeArrowheads="1"/>
          </p:cNvSpPr>
          <p:nvPr/>
        </p:nvSpPr>
        <p:spPr bwMode="auto">
          <a:xfrm>
            <a:off x="785813" y="157163"/>
            <a:ext cx="73088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单链表的存储结构定义</a:t>
            </a:r>
          </a:p>
        </p:txBody>
      </p:sp>
      <p:sp>
        <p:nvSpPr>
          <p:cNvPr id="8" name="Rectangle 9"/>
          <p:cNvSpPr>
            <a:spLocks noChangeArrowheads="1"/>
          </p:cNvSpPr>
          <p:nvPr/>
        </p:nvSpPr>
        <p:spPr bwMode="auto">
          <a:xfrm>
            <a:off x="1106488" y="2087563"/>
            <a:ext cx="42703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指针变量</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：表示结点地址</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结点变量*</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：表示一个结点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8"/>
          <p:cNvSpPr>
            <a:spLocks noChangeArrowheads="1"/>
          </p:cNvSpPr>
          <p:nvPr/>
        </p:nvSpPr>
        <p:spPr bwMode="auto">
          <a:xfrm>
            <a:off x="827088" y="166688"/>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单链表基本操作的实现</a:t>
            </a:r>
          </a:p>
        </p:txBody>
      </p:sp>
      <p:sp>
        <p:nvSpPr>
          <p:cNvPr id="6" name="Rectangle 5"/>
          <p:cNvSpPr>
            <a:spLocks noRot="1" noChangeArrowheads="1"/>
          </p:cNvSpPr>
          <p:nvPr/>
        </p:nvSpPr>
        <p:spPr bwMode="auto">
          <a:xfrm>
            <a:off x="3949700" y="1303338"/>
            <a:ext cx="143351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初始化</a:t>
            </a:r>
          </a:p>
        </p:txBody>
      </p:sp>
      <p:grpSp>
        <p:nvGrpSpPr>
          <p:cNvPr id="98308" name="组合 6"/>
          <p:cNvGrpSpPr/>
          <p:nvPr/>
        </p:nvGrpSpPr>
        <p:grpSpPr>
          <a:xfrm>
            <a:off x="2368550" y="1871663"/>
            <a:ext cx="4125913" cy="3935412"/>
            <a:chOff x="2160837" y="1533022"/>
            <a:chExt cx="4126962" cy="3935794"/>
          </a:xfrm>
        </p:grpSpPr>
        <p:sp>
          <p:nvSpPr>
            <p:cNvPr id="98314" name="Freeform 7"/>
            <p:cNvSpPr/>
            <p:nvPr/>
          </p:nvSpPr>
          <p:spPr>
            <a:xfrm>
              <a:off x="3532259" y="1533022"/>
              <a:ext cx="1384120" cy="1221599"/>
            </a:xfrm>
            <a:custGeom>
              <a:avLst/>
              <a:gdLst>
                <a:gd name="txL" fmla="*/ 0 w 2684"/>
                <a:gd name="txT" fmla="*/ 0 h 2365"/>
                <a:gd name="txR" fmla="*/ 2684 w 2684"/>
                <a:gd name="txB" fmla="*/ 2365 h 2365"/>
              </a:gdLst>
              <a:ahLst/>
              <a:cxnLst>
                <a:cxn ang="0">
                  <a:pos x="2147483646" y="2147483646"/>
                </a:cxn>
                <a:cxn ang="0">
                  <a:pos x="2147483646" y="0"/>
                </a:cxn>
                <a:cxn ang="0">
                  <a:pos x="0" y="2147483646"/>
                </a:cxn>
                <a:cxn ang="0">
                  <a:pos x="2147483646" y="2147483646"/>
                </a:cxn>
              </a:cxnLst>
              <a:rect l="txL" t="txT" r="txR" b="txB"/>
              <a:pathLst>
                <a:path w="2684" h="2365">
                  <a:moveTo>
                    <a:pt x="2684" y="2365"/>
                  </a:moveTo>
                  <a:lnTo>
                    <a:pt x="1342" y="0"/>
                  </a:lnTo>
                  <a:lnTo>
                    <a:pt x="0" y="2365"/>
                  </a:lnTo>
                  <a:lnTo>
                    <a:pt x="2684" y="2365"/>
                  </a:lnTo>
                  <a:close/>
                </a:path>
              </a:pathLst>
            </a:custGeom>
            <a:solidFill>
              <a:schemeClr val="accent1">
                <a:alpha val="100000"/>
              </a:schemeClr>
            </a:solidFill>
            <a:ln w="9525">
              <a:noFill/>
            </a:ln>
          </p:spPr>
          <p:txBody>
            <a:bodyPr/>
            <a:lstStyle/>
            <a:p>
              <a:endParaRPr lang="zh-CN" altLang="en-US"/>
            </a:p>
          </p:txBody>
        </p:sp>
        <p:sp>
          <p:nvSpPr>
            <p:cNvPr id="98315" name="Freeform 8"/>
            <p:cNvSpPr/>
            <p:nvPr/>
          </p:nvSpPr>
          <p:spPr>
            <a:xfrm>
              <a:off x="2160837" y="2754620"/>
              <a:ext cx="1371421" cy="1321106"/>
            </a:xfrm>
            <a:custGeom>
              <a:avLst/>
              <a:gdLst>
                <a:gd name="txL" fmla="*/ 0 w 2664"/>
                <a:gd name="txT" fmla="*/ 0 h 2553"/>
                <a:gd name="txR" fmla="*/ 2664 w 2664"/>
                <a:gd name="txB" fmla="*/ 2553 h 2553"/>
              </a:gdLst>
              <a:ahLst/>
              <a:cxnLst>
                <a:cxn ang="0">
                  <a:pos x="2147483646" y="0"/>
                </a:cxn>
                <a:cxn ang="0">
                  <a:pos x="0" y="2147483646"/>
                </a:cxn>
                <a:cxn ang="0">
                  <a:pos x="2147483646" y="2147483646"/>
                </a:cxn>
                <a:cxn ang="0">
                  <a:pos x="2147483646" y="0"/>
                </a:cxn>
              </a:cxnLst>
              <a:rect l="txL" t="txT" r="txR" b="txB"/>
              <a:pathLst>
                <a:path w="2664" h="2553">
                  <a:moveTo>
                    <a:pt x="2664" y="0"/>
                  </a:moveTo>
                  <a:lnTo>
                    <a:pt x="0" y="546"/>
                  </a:lnTo>
                  <a:lnTo>
                    <a:pt x="1835" y="2553"/>
                  </a:lnTo>
                  <a:lnTo>
                    <a:pt x="2664" y="0"/>
                  </a:lnTo>
                  <a:close/>
                </a:path>
              </a:pathLst>
            </a:custGeom>
            <a:solidFill>
              <a:schemeClr val="accent1">
                <a:alpha val="100000"/>
              </a:schemeClr>
            </a:solidFill>
            <a:ln w="9525">
              <a:noFill/>
            </a:ln>
          </p:spPr>
          <p:txBody>
            <a:bodyPr/>
            <a:lstStyle/>
            <a:p>
              <a:endParaRPr lang="zh-CN" altLang="en-US"/>
            </a:p>
          </p:txBody>
        </p:sp>
        <p:sp>
          <p:nvSpPr>
            <p:cNvPr id="98316" name="Freeform 9"/>
            <p:cNvSpPr/>
            <p:nvPr/>
          </p:nvSpPr>
          <p:spPr>
            <a:xfrm>
              <a:off x="2948135" y="4075727"/>
              <a:ext cx="1274067" cy="1393089"/>
            </a:xfrm>
            <a:custGeom>
              <a:avLst/>
              <a:gdLst>
                <a:gd name="txL" fmla="*/ 0 w 2476"/>
                <a:gd name="txT" fmla="*/ 0 h 2702"/>
                <a:gd name="txR" fmla="*/ 2476 w 2476"/>
                <a:gd name="txB" fmla="*/ 2702 h 2702"/>
              </a:gdLst>
              <a:ahLst/>
              <a:cxnLst>
                <a:cxn ang="0">
                  <a:pos x="2147483646" y="0"/>
                </a:cxn>
                <a:cxn ang="0">
                  <a:pos x="0" y="2147483646"/>
                </a:cxn>
                <a:cxn ang="0">
                  <a:pos x="2147483646" y="2147483646"/>
                </a:cxn>
                <a:cxn ang="0">
                  <a:pos x="2147483646" y="0"/>
                </a:cxn>
              </a:cxnLst>
              <a:rect l="txL" t="txT" r="txR" b="txB"/>
              <a:pathLst>
                <a:path w="2476" h="2702">
                  <a:moveTo>
                    <a:pt x="305" y="0"/>
                  </a:moveTo>
                  <a:lnTo>
                    <a:pt x="0" y="2702"/>
                  </a:lnTo>
                  <a:lnTo>
                    <a:pt x="2476" y="1578"/>
                  </a:lnTo>
                  <a:lnTo>
                    <a:pt x="305" y="0"/>
                  </a:lnTo>
                  <a:close/>
                </a:path>
              </a:pathLst>
            </a:custGeom>
            <a:solidFill>
              <a:schemeClr val="accent1">
                <a:alpha val="100000"/>
              </a:schemeClr>
            </a:solidFill>
            <a:ln w="9525">
              <a:noFill/>
            </a:ln>
          </p:spPr>
          <p:txBody>
            <a:bodyPr/>
            <a:lstStyle/>
            <a:p>
              <a:endParaRPr lang="zh-CN" altLang="en-US"/>
            </a:p>
          </p:txBody>
        </p:sp>
        <p:sp>
          <p:nvSpPr>
            <p:cNvPr id="98317" name="Freeform 10"/>
            <p:cNvSpPr/>
            <p:nvPr/>
          </p:nvSpPr>
          <p:spPr>
            <a:xfrm>
              <a:off x="4222202" y="4075727"/>
              <a:ext cx="1278300" cy="1393089"/>
            </a:xfrm>
            <a:custGeom>
              <a:avLst/>
              <a:gdLst>
                <a:gd name="txL" fmla="*/ 0 w 2476"/>
                <a:gd name="txT" fmla="*/ 0 h 2702"/>
                <a:gd name="txR" fmla="*/ 2476 w 2476"/>
                <a:gd name="txB" fmla="*/ 2702 h 2702"/>
              </a:gdLst>
              <a:ahLst/>
              <a:cxnLst>
                <a:cxn ang="0">
                  <a:pos x="0" y="2147483646"/>
                </a:cxn>
                <a:cxn ang="0">
                  <a:pos x="2147483646" y="2147483646"/>
                </a:cxn>
                <a:cxn ang="0">
                  <a:pos x="2147483646" y="0"/>
                </a:cxn>
                <a:cxn ang="0">
                  <a:pos x="0" y="2147483646"/>
                </a:cxn>
              </a:cxnLst>
              <a:rect l="txL" t="txT" r="txR" b="txB"/>
              <a:pathLst>
                <a:path w="2476" h="2702">
                  <a:moveTo>
                    <a:pt x="0" y="1578"/>
                  </a:moveTo>
                  <a:lnTo>
                    <a:pt x="2476" y="2702"/>
                  </a:lnTo>
                  <a:lnTo>
                    <a:pt x="2172" y="0"/>
                  </a:lnTo>
                  <a:lnTo>
                    <a:pt x="0" y="1578"/>
                  </a:lnTo>
                  <a:close/>
                </a:path>
              </a:pathLst>
            </a:custGeom>
            <a:solidFill>
              <a:schemeClr val="accent1">
                <a:alpha val="100000"/>
              </a:schemeClr>
            </a:solidFill>
            <a:ln w="9525">
              <a:noFill/>
            </a:ln>
          </p:spPr>
          <p:txBody>
            <a:bodyPr/>
            <a:lstStyle/>
            <a:p>
              <a:endParaRPr lang="zh-CN" altLang="en-US"/>
            </a:p>
          </p:txBody>
        </p:sp>
        <p:sp>
          <p:nvSpPr>
            <p:cNvPr id="98318" name="Freeform 11"/>
            <p:cNvSpPr/>
            <p:nvPr/>
          </p:nvSpPr>
          <p:spPr>
            <a:xfrm>
              <a:off x="4916378" y="2754620"/>
              <a:ext cx="1371421" cy="1321106"/>
            </a:xfrm>
            <a:custGeom>
              <a:avLst/>
              <a:gdLst>
                <a:gd name="txL" fmla="*/ 0 w 2664"/>
                <a:gd name="txT" fmla="*/ 0 h 2553"/>
                <a:gd name="txR" fmla="*/ 2664 w 2664"/>
                <a:gd name="txB" fmla="*/ 2553 h 2553"/>
              </a:gdLst>
              <a:ahLst/>
              <a:cxnLst>
                <a:cxn ang="0">
                  <a:pos x="2147483646" y="2147483646"/>
                </a:cxn>
                <a:cxn ang="0">
                  <a:pos x="2147483646" y="2147483646"/>
                </a:cxn>
                <a:cxn ang="0">
                  <a:pos x="0" y="0"/>
                </a:cxn>
                <a:cxn ang="0">
                  <a:pos x="2147483646" y="2147483646"/>
                </a:cxn>
              </a:cxnLst>
              <a:rect l="txL" t="txT" r="txR" b="txB"/>
              <a:pathLst>
                <a:path w="2664" h="2553">
                  <a:moveTo>
                    <a:pt x="830" y="2553"/>
                  </a:moveTo>
                  <a:lnTo>
                    <a:pt x="2664" y="546"/>
                  </a:lnTo>
                  <a:lnTo>
                    <a:pt x="0" y="0"/>
                  </a:lnTo>
                  <a:lnTo>
                    <a:pt x="830" y="2553"/>
                  </a:lnTo>
                  <a:close/>
                </a:path>
              </a:pathLst>
            </a:custGeom>
            <a:solidFill>
              <a:schemeClr val="accent1">
                <a:alpha val="100000"/>
              </a:schemeClr>
            </a:solidFill>
            <a:ln w="9525">
              <a:noFill/>
            </a:ln>
          </p:spPr>
          <p:txBody>
            <a:bodyPr/>
            <a:lstStyle/>
            <a:p>
              <a:endParaRPr lang="zh-CN" altLang="en-US"/>
            </a:p>
          </p:txBody>
        </p:sp>
        <p:sp>
          <p:nvSpPr>
            <p:cNvPr id="98319" name="矩形 12"/>
            <p:cNvSpPr/>
            <p:nvPr/>
          </p:nvSpPr>
          <p:spPr>
            <a:xfrm>
              <a:off x="3983051" y="2091951"/>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01</a:t>
              </a:r>
              <a:endParaRPr lang="zh-CN" altLang="en-US" sz="3600" dirty="0">
                <a:solidFill>
                  <a:schemeClr val="bg1"/>
                </a:solidFill>
                <a:latin typeface="Swiss911 UCm BT"/>
                <a:ea typeface="仿宋_GB2312" pitchFamily="49" charset="-122"/>
                <a:sym typeface="Swiss911 UCm BT"/>
              </a:endParaRPr>
            </a:p>
          </p:txBody>
        </p:sp>
        <p:sp>
          <p:nvSpPr>
            <p:cNvPr id="98320" name="矩形 13"/>
            <p:cNvSpPr/>
            <p:nvPr/>
          </p:nvSpPr>
          <p:spPr>
            <a:xfrm>
              <a:off x="5263466" y="3004445"/>
              <a:ext cx="476189"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02</a:t>
              </a:r>
              <a:endParaRPr lang="zh-CN" altLang="en-US" sz="3600" dirty="0">
                <a:solidFill>
                  <a:schemeClr val="bg1"/>
                </a:solidFill>
                <a:latin typeface="Swiss911 UCm BT"/>
                <a:ea typeface="仿宋_GB2312" pitchFamily="49" charset="-122"/>
                <a:sym typeface="Swiss911 UCm BT"/>
              </a:endParaRPr>
            </a:p>
          </p:txBody>
        </p:sp>
        <p:sp>
          <p:nvSpPr>
            <p:cNvPr id="98321" name="矩形 14"/>
            <p:cNvSpPr/>
            <p:nvPr/>
          </p:nvSpPr>
          <p:spPr>
            <a:xfrm>
              <a:off x="4785161" y="4524563"/>
              <a:ext cx="476189"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03</a:t>
              </a:r>
              <a:endParaRPr lang="zh-CN" altLang="en-US" sz="3600" dirty="0">
                <a:solidFill>
                  <a:schemeClr val="bg1"/>
                </a:solidFill>
                <a:latin typeface="Swiss911 UCm BT"/>
                <a:ea typeface="仿宋_GB2312" pitchFamily="49" charset="-122"/>
                <a:sym typeface="Swiss911 UCm BT"/>
              </a:endParaRPr>
            </a:p>
          </p:txBody>
        </p:sp>
        <p:sp>
          <p:nvSpPr>
            <p:cNvPr id="98322" name="矩形 15"/>
            <p:cNvSpPr/>
            <p:nvPr/>
          </p:nvSpPr>
          <p:spPr>
            <a:xfrm>
              <a:off x="3106865" y="4543619"/>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04</a:t>
              </a:r>
              <a:endParaRPr lang="zh-CN" altLang="en-US" sz="3600" dirty="0">
                <a:solidFill>
                  <a:schemeClr val="bg1"/>
                </a:solidFill>
                <a:latin typeface="Swiss911 UCm BT"/>
                <a:ea typeface="仿宋_GB2312" pitchFamily="49" charset="-122"/>
                <a:sym typeface="Swiss911 UCm BT"/>
              </a:endParaRPr>
            </a:p>
          </p:txBody>
        </p:sp>
        <p:sp>
          <p:nvSpPr>
            <p:cNvPr id="98323" name="矩形 16"/>
            <p:cNvSpPr/>
            <p:nvPr/>
          </p:nvSpPr>
          <p:spPr>
            <a:xfrm>
              <a:off x="2708983" y="3017148"/>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05</a:t>
              </a:r>
              <a:endParaRPr lang="zh-CN" altLang="en-US" sz="3600" dirty="0">
                <a:solidFill>
                  <a:schemeClr val="bg1"/>
                </a:solidFill>
                <a:latin typeface="Swiss911 UCm BT"/>
                <a:ea typeface="仿宋_GB2312" pitchFamily="49" charset="-122"/>
                <a:sym typeface="Swiss911 UCm BT"/>
              </a:endParaRPr>
            </a:p>
          </p:txBody>
        </p:sp>
      </p:grpSp>
      <p:sp>
        <p:nvSpPr>
          <p:cNvPr id="18" name="Rectangle 5"/>
          <p:cNvSpPr>
            <a:spLocks noRot="1" noChangeArrowheads="1"/>
          </p:cNvSpPr>
          <p:nvPr/>
        </p:nvSpPr>
        <p:spPr bwMode="auto">
          <a:xfrm>
            <a:off x="6702425" y="3092450"/>
            <a:ext cx="9731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取值      </a:t>
            </a:r>
          </a:p>
        </p:txBody>
      </p:sp>
      <p:sp>
        <p:nvSpPr>
          <p:cNvPr id="19" name="Rectangle 5"/>
          <p:cNvSpPr>
            <a:spLocks noRot="1" noChangeArrowheads="1"/>
          </p:cNvSpPr>
          <p:nvPr/>
        </p:nvSpPr>
        <p:spPr bwMode="auto">
          <a:xfrm>
            <a:off x="5413375" y="5834063"/>
            <a:ext cx="106203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查找</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0" name="Rectangle 5"/>
          <p:cNvSpPr>
            <a:spLocks noRot="1" noChangeArrowheads="1"/>
          </p:cNvSpPr>
          <p:nvPr/>
        </p:nvSpPr>
        <p:spPr bwMode="auto">
          <a:xfrm>
            <a:off x="2314575" y="5807075"/>
            <a:ext cx="9255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1" name="Rectangle 5"/>
          <p:cNvSpPr>
            <a:spLocks noRot="1" noChangeArrowheads="1"/>
          </p:cNvSpPr>
          <p:nvPr/>
        </p:nvSpPr>
        <p:spPr bwMode="auto">
          <a:xfrm>
            <a:off x="1436688" y="3074988"/>
            <a:ext cx="9318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a:t>
            </a:r>
          </a:p>
        </p:txBody>
      </p:sp>
      <p:sp>
        <p:nvSpPr>
          <p:cNvPr id="22" name="Rectangle 8"/>
          <p:cNvSpPr>
            <a:spLocks noChangeArrowheads="1"/>
          </p:cNvSpPr>
          <p:nvPr/>
        </p:nvSpPr>
        <p:spPr bwMode="auto">
          <a:xfrm>
            <a:off x="3635375" y="3463925"/>
            <a:ext cx="1628775"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基本操作的实现</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a:spLocks noChangeArrowheads="1"/>
          </p:cNvSpPr>
          <p:nvPr/>
        </p:nvSpPr>
        <p:spPr bwMode="auto">
          <a:xfrm>
            <a:off x="357188" y="1119188"/>
            <a:ext cx="8534400" cy="487363"/>
          </a:xfrm>
          <a:prstGeom prst="rect">
            <a:avLst/>
          </a:prstGeom>
          <a:solidFill>
            <a:schemeClr val="accent1">
              <a:lumMod val="60000"/>
              <a:lumOff val="40000"/>
            </a:schemeClr>
          </a:solid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488454" name="Rectangle 6"/>
          <p:cNvSpPr>
            <a:spLocks noChangeArrowheads="1"/>
          </p:cNvSpPr>
          <p:nvPr/>
        </p:nvSpPr>
        <p:spPr bwMode="auto">
          <a:xfrm>
            <a:off x="325438" y="3181350"/>
            <a:ext cx="8534400" cy="554038"/>
          </a:xfrm>
          <a:prstGeom prst="rect">
            <a:avLst/>
          </a:prstGeom>
          <a:solidFill>
            <a:schemeClr val="accent1">
              <a:lumMod val="60000"/>
              <a:lumOff val="40000"/>
            </a:schemeClr>
          </a:solidFill>
          <a:ln w="57150">
            <a:noFill/>
            <a:miter lim="800000"/>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5" name="Rectangle 8"/>
          <p:cNvSpPr>
            <a:spLocks noChangeArrowheads="1"/>
          </p:cNvSpPr>
          <p:nvPr/>
        </p:nvSpPr>
        <p:spPr bwMode="auto">
          <a:xfrm>
            <a:off x="827088" y="166688"/>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初始化</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构造一个空表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6" name="Rectangle 6"/>
          <p:cNvSpPr>
            <a:spLocks noChangeArrowheads="1"/>
          </p:cNvSpPr>
          <p:nvPr/>
        </p:nvSpPr>
        <p:spPr bwMode="auto">
          <a:xfrm>
            <a:off x="325438" y="3811588"/>
            <a:ext cx="8534400" cy="2825750"/>
          </a:xfrm>
          <a:prstGeom prst="rect">
            <a:avLst/>
          </a:prstGeom>
          <a:solidFill>
            <a:schemeClr val="bg2">
              <a:lumMod val="20000"/>
              <a:lumOff val="80000"/>
            </a:schemeClr>
          </a:solidFill>
          <a:ln w="57150">
            <a:noFill/>
            <a:miter lim="800000"/>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InitList_L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&amp;L){ </a:t>
            </a:r>
          </a:p>
          <a:p>
            <a:pPr lvl="0">
              <a:spcBef>
                <a:spcPct val="20000"/>
              </a:spcBef>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L=(</a:t>
            </a:r>
            <a:r>
              <a:rPr lang="en-US" altLang="zh-CN" dirty="0" err="1">
                <a:cs typeface="+mn-ea"/>
                <a:sym typeface="+mn-lt"/>
              </a:rPr>
              <a:t>LinkList</a:t>
            </a:r>
            <a:r>
              <a:rPr lang="en-US" altLang="zh-CN" dirty="0">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malloc</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sizeof</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Lnode</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L-&gt;next=NULL;</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7" name="Rectangle 4"/>
          <p:cNvSpPr>
            <a:spLocks noChangeArrowheads="1"/>
          </p:cNvSpPr>
          <p:nvPr/>
        </p:nvSpPr>
        <p:spPr bwMode="auto">
          <a:xfrm>
            <a:off x="325438" y="1663700"/>
            <a:ext cx="8534400" cy="1177925"/>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）生成新结点作头结点，用头指针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指向头结点。</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）头结点的指针域置空。</a:t>
            </a:r>
          </a:p>
        </p:txBody>
      </p:sp>
      <p:graphicFrame>
        <p:nvGraphicFramePr>
          <p:cNvPr id="99335" name="Object 5"/>
          <p:cNvGraphicFramePr/>
          <p:nvPr/>
        </p:nvGraphicFramePr>
        <p:xfrm>
          <a:off x="7115175" y="2281238"/>
          <a:ext cx="1752600" cy="533400"/>
        </p:xfrm>
        <a:graphic>
          <a:graphicData uri="http://schemas.openxmlformats.org/presentationml/2006/ole">
            <mc:AlternateContent xmlns:mc="http://schemas.openxmlformats.org/markup-compatibility/2006">
              <mc:Choice xmlns:v="urn:schemas-microsoft-com:vml" Requires="v">
                <p:oleObj spid="_x0000_s5143" r:id="rId3" imgW="1296670" imgH="397510" progId="Visio.Drawing.11">
                  <p:embed/>
                </p:oleObj>
              </mc:Choice>
              <mc:Fallback>
                <p:oleObj r:id="rId3" imgW="1296670" imgH="397510" progId="Visio.Drawing.11">
                  <p:embed/>
                  <p:pic>
                    <p:nvPicPr>
                      <p:cNvPr id="0" name="图片 3080"/>
                      <p:cNvPicPr/>
                      <p:nvPr/>
                    </p:nvPicPr>
                    <p:blipFill>
                      <a:blip r:embed="rId4"/>
                      <a:stretch>
                        <a:fillRect/>
                      </a:stretch>
                    </p:blipFill>
                    <p:spPr>
                      <a:xfrm>
                        <a:off x="7115175" y="2281238"/>
                        <a:ext cx="1752600" cy="533400"/>
                      </a:xfrm>
                      <a:prstGeom prst="rect">
                        <a:avLst/>
                      </a:prstGeom>
                      <a:solidFill>
                        <a:srgbClr val="C4B3D7"/>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8454"/>
                                        </p:tgtEl>
                                        <p:attrNameLst>
                                          <p:attrName>style.visibility</p:attrName>
                                        </p:attrNameLst>
                                      </p:cBhvr>
                                      <p:to>
                                        <p:strVal val="visible"/>
                                      </p:to>
                                    </p:set>
                                    <p:anim calcmode="lin" valueType="num">
                                      <p:cBhvr additive="base">
                                        <p:cTn id="7" dur="500" fill="hold"/>
                                        <p:tgtEl>
                                          <p:spTgt spid="488454"/>
                                        </p:tgtEl>
                                        <p:attrNameLst>
                                          <p:attrName>ppt_x</p:attrName>
                                        </p:attrNameLst>
                                      </p:cBhvr>
                                      <p:tavLst>
                                        <p:tav tm="0">
                                          <p:val>
                                            <p:strVal val="#ppt_x"/>
                                          </p:val>
                                        </p:tav>
                                        <p:tav tm="100000">
                                          <p:val>
                                            <p:strVal val="#ppt_x"/>
                                          </p:val>
                                        </p:tav>
                                      </p:tavLst>
                                    </p:anim>
                                    <p:anim calcmode="lin" valueType="num">
                                      <p:cBhvr additive="base">
                                        <p:cTn id="8" dur="500" fill="hold"/>
                                        <p:tgtEl>
                                          <p:spTgt spid="4884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4" grpId="0" animBg="1"/>
      <p:bldP spid="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a:spLocks noChangeArrowheads="1"/>
          </p:cNvSpPr>
          <p:nvPr/>
        </p:nvSpPr>
        <p:spPr bwMode="auto">
          <a:xfrm>
            <a:off x="847725" y="1557338"/>
            <a:ext cx="7804150" cy="4824413"/>
          </a:xfrm>
          <a:prstGeom prst="rect">
            <a:avLst/>
          </a:prstGeom>
          <a:solidFill>
            <a:schemeClr val="bg2">
              <a:lumMod val="20000"/>
              <a:lumOff val="80000"/>
            </a:schemeClr>
          </a:solidFill>
          <a:ln w="28575">
            <a:solidFill>
              <a:srgbClr val="9476B6"/>
            </a:solidFill>
            <a:miter lim="800000"/>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DestroyList_L</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&amp;L)</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p;</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while(L)</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p=L;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L=L-&gt;next;</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free(p);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6259" name="Rectangle 6"/>
          <p:cNvSpPr>
            <a:spLocks noChangeArrowheads="1"/>
          </p:cNvSpPr>
          <p:nvPr/>
        </p:nvSpPr>
        <p:spPr bwMode="auto">
          <a:xfrm>
            <a:off x="873125" y="201613"/>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6" name="Rectangle 4"/>
          <p:cNvSpPr>
            <a:spLocks noChangeArrowheads="1"/>
          </p:cNvSpPr>
          <p:nvPr/>
        </p:nvSpPr>
        <p:spPr bwMode="auto">
          <a:xfrm>
            <a:off x="873125" y="981075"/>
            <a:ext cx="962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ea"/>
                <a:sym typeface="+mn-lt"/>
              </a:rPr>
              <a:t>销毁</a:t>
            </a:r>
          </a:p>
        </p:txBody>
      </p:sp>
      <p:grpSp>
        <p:nvGrpSpPr>
          <p:cNvPr id="100357" name="组合 6"/>
          <p:cNvGrpSpPr/>
          <p:nvPr/>
        </p:nvGrpSpPr>
        <p:grpSpPr>
          <a:xfrm flipH="1">
            <a:off x="5402263" y="5080000"/>
            <a:ext cx="3228975" cy="1301750"/>
            <a:chOff x="-8805" y="5407865"/>
            <a:chExt cx="3213509" cy="1301644"/>
          </a:xfrm>
        </p:grpSpPr>
        <p:sp>
          <p:nvSpPr>
            <p:cNvPr id="8" name="矩形 7"/>
            <p:cNvSpPr/>
            <p:nvPr/>
          </p:nvSpPr>
          <p:spPr>
            <a:xfrm>
              <a:off x="2015043" y="5522156"/>
              <a:ext cx="267002" cy="2873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367210" y="5522156"/>
              <a:ext cx="267003" cy="2873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8805" y="5666607"/>
              <a:ext cx="496087" cy="53335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2338921" y="6007891"/>
              <a:ext cx="267003" cy="28731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2015043" y="6422195"/>
              <a:ext cx="267002" cy="28731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2605924" y="5407865"/>
              <a:ext cx="107433" cy="1142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a:xfrm>
              <a:off x="1882331" y="5720578"/>
              <a:ext cx="267002" cy="28731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flipV="1">
              <a:off x="1172957" y="6007891"/>
              <a:ext cx="267003" cy="287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6" name="矩形 15"/>
            <p:cNvSpPr/>
            <p:nvPr/>
          </p:nvSpPr>
          <p:spPr>
            <a:xfrm>
              <a:off x="3048295" y="6292031"/>
              <a:ext cx="156409" cy="1365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ChangeArrowheads="1"/>
          </p:cNvSpPr>
          <p:nvPr/>
        </p:nvSpPr>
        <p:spPr bwMode="auto">
          <a:xfrm>
            <a:off x="827088" y="1773238"/>
            <a:ext cx="7561263" cy="4679950"/>
          </a:xfrm>
          <a:prstGeom prst="rect">
            <a:avLst/>
          </a:prstGeom>
          <a:solidFill>
            <a:schemeClr val="bg2">
              <a:lumMod val="20000"/>
              <a:lumOff val="80000"/>
            </a:schemeClr>
          </a:solidFill>
          <a:ln>
            <a:solidFill>
              <a:srgbClr val="9476B6"/>
            </a:solid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ClearList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 L){</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将</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重置为空表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p,q</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p=L-&gt;next;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指向</a:t>
            </a:r>
            <a:r>
              <a:rPr lang="zh-CN" altLang="en-US" dirty="0">
                <a:solidFill>
                  <a:schemeClr val="hlink"/>
                </a:solidFill>
                <a:latin typeface="+mn-lt"/>
                <a:ea typeface="+mn-ea"/>
                <a:cs typeface="+mn-ea"/>
                <a:sym typeface="+mn-lt"/>
              </a:rPr>
              <a:t>首元</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结点</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while(p)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没到表尾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q=p-&gt;next; free(p);     p=q;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L-&gt;next=NULL;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头结点指针域为空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7283" name="Rectangle 6"/>
          <p:cNvSpPr>
            <a:spLocks noChangeArrowheads="1"/>
          </p:cNvSpPr>
          <p:nvPr/>
        </p:nvSpPr>
        <p:spPr bwMode="auto">
          <a:xfrm>
            <a:off x="827088" y="204788"/>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grpSp>
        <p:nvGrpSpPr>
          <p:cNvPr id="101380" name="组合 3"/>
          <p:cNvGrpSpPr/>
          <p:nvPr/>
        </p:nvGrpSpPr>
        <p:grpSpPr>
          <a:xfrm flipH="1">
            <a:off x="5168900" y="5221288"/>
            <a:ext cx="3230563" cy="1301750"/>
            <a:chOff x="-8805" y="5407865"/>
            <a:chExt cx="3213509" cy="1301644"/>
          </a:xfrm>
        </p:grpSpPr>
        <p:sp>
          <p:nvSpPr>
            <p:cNvPr id="5" name="矩形 4"/>
            <p:cNvSpPr/>
            <p:nvPr/>
          </p:nvSpPr>
          <p:spPr>
            <a:xfrm>
              <a:off x="2015626" y="5522156"/>
              <a:ext cx="266872" cy="287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367025" y="5522156"/>
              <a:ext cx="266872" cy="28731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8805" y="5666606"/>
              <a:ext cx="495844" cy="53335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2339346" y="6007891"/>
              <a:ext cx="266871" cy="28731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a:off x="2015626" y="6422194"/>
              <a:ext cx="266872" cy="2873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2606217" y="5407865"/>
              <a:ext cx="107380" cy="1142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1882980" y="5720577"/>
              <a:ext cx="266872" cy="287315"/>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flipV="1">
              <a:off x="1173956" y="6007891"/>
              <a:ext cx="266871" cy="2873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3048371" y="6292030"/>
              <a:ext cx="156333" cy="1365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grpSp>
      <p:sp>
        <p:nvSpPr>
          <p:cNvPr id="14" name="Rectangle 4"/>
          <p:cNvSpPr>
            <a:spLocks noChangeArrowheads="1"/>
          </p:cNvSpPr>
          <p:nvPr/>
        </p:nvSpPr>
        <p:spPr bwMode="auto">
          <a:xfrm>
            <a:off x="827088" y="1171575"/>
            <a:ext cx="2592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hlink"/>
                </a:solidFill>
                <a:effectLst/>
                <a:uLnTx/>
                <a:uFillTx/>
                <a:latin typeface="Times New Roman" panose="02020603050405020304" pitchFamily="18" charset="0"/>
                <a:ea typeface="微软雅黑" panose="020B0503020204020204" pitchFamily="34" charset="-122"/>
                <a:cs typeface="+mn-ea"/>
                <a:sym typeface="+mn-lt"/>
              </a:rPr>
              <a:t>清空</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4"/>
          <p:cNvGrpSpPr/>
          <p:nvPr/>
        </p:nvGrpSpPr>
        <p:grpSpPr>
          <a:xfrm>
            <a:off x="5878513" y="4067175"/>
            <a:ext cx="1420812" cy="765175"/>
            <a:chOff x="3928" y="1757"/>
            <a:chExt cx="895" cy="482"/>
          </a:xfrm>
        </p:grpSpPr>
        <p:grpSp>
          <p:nvGrpSpPr>
            <p:cNvPr id="102446" name="Group 140"/>
            <p:cNvGrpSpPr/>
            <p:nvPr/>
          </p:nvGrpSpPr>
          <p:grpSpPr>
            <a:xfrm>
              <a:off x="4595" y="1757"/>
              <a:ext cx="228" cy="482"/>
              <a:chOff x="1790" y="1783"/>
              <a:chExt cx="228" cy="482"/>
            </a:xfrm>
          </p:grpSpPr>
          <p:sp>
            <p:nvSpPr>
              <p:cNvPr id="98352" name="Line 141"/>
              <p:cNvSpPr>
                <a:spLocks noChangeShapeType="1"/>
              </p:cNvSpPr>
              <p:nvPr/>
            </p:nvSpPr>
            <p:spPr bwMode="auto">
              <a:xfrm flipH="1" flipV="1">
                <a:off x="1872" y="1783"/>
                <a:ext cx="0" cy="197"/>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53" name="Text Box 142"/>
              <p:cNvSpPr txBox="1">
                <a:spLocks noChangeArrowheads="1"/>
              </p:cNvSpPr>
              <p:nvPr/>
            </p:nvSpPr>
            <p:spPr bwMode="auto">
              <a:xfrm>
                <a:off x="1790" y="1934"/>
                <a:ext cx="22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a:t>
                </a:r>
              </a:p>
            </p:txBody>
          </p:sp>
        </p:grpSp>
        <p:sp>
          <p:nvSpPr>
            <p:cNvPr id="98351" name="Rectangle 143"/>
            <p:cNvSpPr>
              <a:spLocks noChangeArrowheads="1"/>
            </p:cNvSpPr>
            <p:nvPr/>
          </p:nvSpPr>
          <p:spPr bwMode="auto">
            <a:xfrm>
              <a:off x="3928" y="1834"/>
              <a:ext cx="322" cy="331"/>
            </a:xfrm>
            <a:prstGeom prst="rect">
              <a:avLst/>
            </a:prstGeom>
            <a:solidFill>
              <a:schemeClr val="bg1"/>
            </a:solidFill>
            <a:ln w="38100">
              <a:solidFill>
                <a:schemeClr val="bg1"/>
              </a:solidFill>
              <a:miter lim="800000"/>
            </a:ln>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02403" name="Group 115"/>
          <p:cNvGrpSpPr/>
          <p:nvPr/>
        </p:nvGrpSpPr>
        <p:grpSpPr>
          <a:xfrm>
            <a:off x="539750" y="3535363"/>
            <a:ext cx="6297613" cy="654050"/>
            <a:chOff x="1793" y="55"/>
            <a:chExt cx="3967" cy="412"/>
          </a:xfrm>
        </p:grpSpPr>
        <p:sp>
          <p:nvSpPr>
            <p:cNvPr id="98333" name="Text Box 94"/>
            <p:cNvSpPr txBox="1">
              <a:spLocks noChangeArrowheads="1"/>
            </p:cNvSpPr>
            <p:nvPr/>
          </p:nvSpPr>
          <p:spPr bwMode="auto">
            <a:xfrm>
              <a:off x="1793" y="100"/>
              <a:ext cx="17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rgbClr val="000000"/>
                  </a:solidFill>
                  <a:effectLst/>
                  <a:uLnTx/>
                  <a:uFillTx/>
                  <a:latin typeface="+mn-lt"/>
                  <a:ea typeface="+mn-ea"/>
                  <a:cs typeface="+mn-ea"/>
                  <a:sym typeface="+mn-lt"/>
                </a:rPr>
                <a:t>L</a:t>
              </a:r>
            </a:p>
          </p:txBody>
        </p:sp>
        <p:sp>
          <p:nvSpPr>
            <p:cNvPr id="98334" name="Line 95"/>
            <p:cNvSpPr>
              <a:spLocks noChangeShapeType="1"/>
            </p:cNvSpPr>
            <p:nvPr/>
          </p:nvSpPr>
          <p:spPr bwMode="auto">
            <a:xfrm>
              <a:off x="1980" y="264"/>
              <a:ext cx="219"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35" name="Rectangle 96"/>
            <p:cNvSpPr>
              <a:spLocks noChangeArrowheads="1"/>
            </p:cNvSpPr>
            <p:nvPr/>
          </p:nvSpPr>
          <p:spPr bwMode="auto">
            <a:xfrm>
              <a:off x="2959" y="101"/>
              <a:ext cx="545" cy="33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36" name="Text Box 98"/>
            <p:cNvSpPr txBox="1">
              <a:spLocks noChangeArrowheads="1"/>
            </p:cNvSpPr>
            <p:nvPr/>
          </p:nvSpPr>
          <p:spPr bwMode="auto">
            <a:xfrm>
              <a:off x="2998" y="105"/>
              <a:ext cx="2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rgbClr val="000000"/>
                  </a:solidFill>
                  <a:effectLst/>
                  <a:uLnTx/>
                  <a:uFillTx/>
                  <a:latin typeface="+mn-lt"/>
                  <a:ea typeface="+mn-ea"/>
                  <a:cs typeface="+mn-ea"/>
                  <a:sym typeface="+mn-lt"/>
                </a:rPr>
                <a:t>a</a:t>
              </a:r>
              <a:r>
                <a:rPr kumimoji="0" lang="en-US" altLang="zh-CN" sz="1400" b="0" i="0" u="none" strike="noStrike" kern="1200" cap="none" spc="0" normalizeH="0" baseline="0" noProof="0">
                  <a:ln>
                    <a:noFill/>
                  </a:ln>
                  <a:solidFill>
                    <a:srgbClr val="000000"/>
                  </a:solidFill>
                  <a:effectLst/>
                  <a:uLnTx/>
                  <a:uFillTx/>
                  <a:latin typeface="+mn-lt"/>
                  <a:ea typeface="+mn-ea"/>
                  <a:cs typeface="+mn-ea"/>
                  <a:sym typeface="+mn-lt"/>
                </a:rPr>
                <a:t>1</a:t>
              </a:r>
              <a:endParaRPr kumimoji="0" lang="en-US" altLang="zh-CN"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98337" name="Rectangle 99"/>
            <p:cNvSpPr>
              <a:spLocks noChangeArrowheads="1"/>
            </p:cNvSpPr>
            <p:nvPr/>
          </p:nvSpPr>
          <p:spPr bwMode="auto">
            <a:xfrm>
              <a:off x="3756" y="108"/>
              <a:ext cx="545" cy="33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38" name="Text Box 101"/>
            <p:cNvSpPr txBox="1">
              <a:spLocks noChangeArrowheads="1"/>
            </p:cNvSpPr>
            <p:nvPr/>
          </p:nvSpPr>
          <p:spPr bwMode="auto">
            <a:xfrm>
              <a:off x="3793" y="112"/>
              <a:ext cx="2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rgbClr val="000000"/>
                  </a:solidFill>
                  <a:effectLst/>
                  <a:uLnTx/>
                  <a:uFillTx/>
                  <a:latin typeface="+mn-lt"/>
                  <a:ea typeface="+mn-ea"/>
                  <a:cs typeface="+mn-ea"/>
                  <a:sym typeface="+mn-lt"/>
                </a:rPr>
                <a:t>a</a:t>
              </a:r>
              <a:r>
                <a:rPr kumimoji="0" lang="en-US" altLang="zh-CN" sz="1400" b="0" i="0" u="none" strike="noStrike" kern="1200" cap="none" spc="0" normalizeH="0" baseline="0" noProof="0">
                  <a:ln>
                    <a:noFill/>
                  </a:ln>
                  <a:solidFill>
                    <a:srgbClr val="000000"/>
                  </a:solidFill>
                  <a:effectLst/>
                  <a:uLnTx/>
                  <a:uFillTx/>
                  <a:latin typeface="+mn-lt"/>
                  <a:ea typeface="+mn-ea"/>
                  <a:cs typeface="+mn-ea"/>
                  <a:sym typeface="+mn-lt"/>
                </a:rPr>
                <a:t>2</a:t>
              </a:r>
              <a:endParaRPr kumimoji="0" lang="en-US" altLang="zh-CN"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98339" name="Line 102"/>
            <p:cNvSpPr>
              <a:spLocks noChangeShapeType="1"/>
            </p:cNvSpPr>
            <p:nvPr/>
          </p:nvSpPr>
          <p:spPr bwMode="auto">
            <a:xfrm>
              <a:off x="2618" y="262"/>
              <a:ext cx="345"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0" name="Line 103"/>
            <p:cNvSpPr>
              <a:spLocks noChangeShapeType="1"/>
            </p:cNvSpPr>
            <p:nvPr/>
          </p:nvSpPr>
          <p:spPr bwMode="auto">
            <a:xfrm>
              <a:off x="3373" y="262"/>
              <a:ext cx="381"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1" name="Rectangle 104" descr="宽上对角线"/>
            <p:cNvSpPr>
              <a:spLocks noChangeArrowheads="1"/>
            </p:cNvSpPr>
            <p:nvPr/>
          </p:nvSpPr>
          <p:spPr bwMode="auto">
            <a:xfrm>
              <a:off x="2470" y="87"/>
              <a:ext cx="282" cy="33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2" name="Rectangle 105" descr="浅色上对角线"/>
            <p:cNvSpPr>
              <a:spLocks noChangeArrowheads="1"/>
            </p:cNvSpPr>
            <p:nvPr/>
          </p:nvSpPr>
          <p:spPr bwMode="auto">
            <a:xfrm>
              <a:off x="2187" y="86"/>
              <a:ext cx="282" cy="330"/>
            </a:xfrm>
            <a:prstGeom prst="rect">
              <a:avLst/>
            </a:prstGeom>
            <a:pattFill prst="ltUpDiag">
              <a:fgClr>
                <a:srgbClr val="000000"/>
              </a:fgClr>
              <a:bgClr>
                <a:srgbClr val="FFFFFF"/>
              </a:bgClr>
            </a:pattFill>
            <a:ln w="22225">
              <a:solidFill>
                <a:schemeClr val="tx1"/>
              </a:solid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3" name="Text Box 107"/>
            <p:cNvSpPr txBox="1">
              <a:spLocks noChangeArrowheads="1"/>
            </p:cNvSpPr>
            <p:nvPr/>
          </p:nvSpPr>
          <p:spPr bwMode="auto">
            <a:xfrm>
              <a:off x="4440" y="55"/>
              <a:ext cx="512" cy="33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rgbClr val="000000"/>
                  </a:solidFill>
                  <a:effectLst/>
                  <a:uLnTx/>
                  <a:uFillTx/>
                  <a:latin typeface="+mn-lt"/>
                  <a:ea typeface="+mn-ea"/>
                  <a:cs typeface="+mn-ea"/>
                  <a:sym typeface="+mn-lt"/>
                </a:rPr>
                <a:t>…...</a:t>
              </a:r>
            </a:p>
          </p:txBody>
        </p:sp>
        <p:sp>
          <p:nvSpPr>
            <p:cNvPr id="98344" name="Line 108"/>
            <p:cNvSpPr>
              <a:spLocks noChangeShapeType="1"/>
            </p:cNvSpPr>
            <p:nvPr/>
          </p:nvSpPr>
          <p:spPr bwMode="auto">
            <a:xfrm>
              <a:off x="4839" y="266"/>
              <a:ext cx="373"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5" name="Line 111"/>
            <p:cNvSpPr>
              <a:spLocks noChangeShapeType="1"/>
            </p:cNvSpPr>
            <p:nvPr/>
          </p:nvSpPr>
          <p:spPr bwMode="auto">
            <a:xfrm>
              <a:off x="4263" y="273"/>
              <a:ext cx="264"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6" name="Line 112"/>
            <p:cNvSpPr>
              <a:spLocks noChangeShapeType="1"/>
            </p:cNvSpPr>
            <p:nvPr/>
          </p:nvSpPr>
          <p:spPr bwMode="auto">
            <a:xfrm>
              <a:off x="3239" y="142"/>
              <a:ext cx="0" cy="24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7" name="Line 113"/>
            <p:cNvSpPr>
              <a:spLocks noChangeShapeType="1"/>
            </p:cNvSpPr>
            <p:nvPr/>
          </p:nvSpPr>
          <p:spPr bwMode="auto">
            <a:xfrm>
              <a:off x="4024" y="155"/>
              <a:ext cx="0" cy="24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8" name="Line 114"/>
            <p:cNvSpPr>
              <a:spLocks noChangeShapeType="1"/>
            </p:cNvSpPr>
            <p:nvPr/>
          </p:nvSpPr>
          <p:spPr bwMode="auto">
            <a:xfrm>
              <a:off x="5489" y="153"/>
              <a:ext cx="0" cy="240"/>
            </a:xfrm>
            <a:prstGeom prst="line">
              <a:avLst/>
            </a:prstGeom>
            <a:noFill/>
            <a:ln w="222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49" name="Rectangle 106"/>
            <p:cNvSpPr>
              <a:spLocks noChangeArrowheads="1"/>
            </p:cNvSpPr>
            <p:nvPr/>
          </p:nvSpPr>
          <p:spPr bwMode="auto">
            <a:xfrm>
              <a:off x="5215" y="137"/>
              <a:ext cx="545" cy="33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     ^</a:t>
              </a:r>
            </a:p>
          </p:txBody>
        </p:sp>
      </p:grpSp>
      <p:grpSp>
        <p:nvGrpSpPr>
          <p:cNvPr id="5" name="Group 119"/>
          <p:cNvGrpSpPr/>
          <p:nvPr/>
        </p:nvGrpSpPr>
        <p:grpSpPr>
          <a:xfrm>
            <a:off x="2470150" y="4067175"/>
            <a:ext cx="361950" cy="704850"/>
            <a:chOff x="1790" y="1821"/>
            <a:chExt cx="228" cy="444"/>
          </a:xfrm>
        </p:grpSpPr>
        <p:sp>
          <p:nvSpPr>
            <p:cNvPr id="98331" name="Line 117"/>
            <p:cNvSpPr>
              <a:spLocks noChangeShapeType="1"/>
            </p:cNvSpPr>
            <p:nvPr/>
          </p:nvSpPr>
          <p:spPr bwMode="auto">
            <a:xfrm flipH="1" flipV="1">
              <a:off x="1872" y="1821"/>
              <a:ext cx="8" cy="195"/>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32" name="Text Box 118"/>
            <p:cNvSpPr txBox="1">
              <a:spLocks noChangeArrowheads="1"/>
            </p:cNvSpPr>
            <p:nvPr/>
          </p:nvSpPr>
          <p:spPr bwMode="auto">
            <a:xfrm>
              <a:off x="1790" y="1934"/>
              <a:ext cx="22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p</a:t>
              </a:r>
            </a:p>
          </p:txBody>
        </p:sp>
      </p:grpSp>
      <p:grpSp>
        <p:nvGrpSpPr>
          <p:cNvPr id="6" name="Group 129"/>
          <p:cNvGrpSpPr/>
          <p:nvPr/>
        </p:nvGrpSpPr>
        <p:grpSpPr>
          <a:xfrm>
            <a:off x="708025" y="4168775"/>
            <a:ext cx="623888" cy="604838"/>
            <a:chOff x="663" y="2046"/>
            <a:chExt cx="393" cy="381"/>
          </a:xfrm>
        </p:grpSpPr>
        <p:sp>
          <p:nvSpPr>
            <p:cNvPr id="98329" name="Text Box 120"/>
            <p:cNvSpPr txBox="1">
              <a:spLocks noChangeArrowheads="1"/>
            </p:cNvSpPr>
            <p:nvPr/>
          </p:nvSpPr>
          <p:spPr bwMode="auto">
            <a:xfrm>
              <a:off x="663" y="2096"/>
              <a:ext cx="17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i</a:t>
              </a:r>
            </a:p>
          </p:txBody>
        </p:sp>
        <p:sp>
          <p:nvSpPr>
            <p:cNvPr id="98330" name="Rectangle 121"/>
            <p:cNvSpPr>
              <a:spLocks noChangeArrowheads="1"/>
            </p:cNvSpPr>
            <p:nvPr/>
          </p:nvSpPr>
          <p:spPr bwMode="auto">
            <a:xfrm>
              <a:off x="850" y="2046"/>
              <a:ext cx="206" cy="331"/>
            </a:xfrm>
            <a:prstGeom prst="rect">
              <a:avLst/>
            </a:prstGeom>
            <a:solidFill>
              <a:schemeClr val="bg1"/>
            </a:solidFill>
            <a:ln w="38100">
              <a:solidFill>
                <a:schemeClr val="tx1"/>
              </a:solidFill>
              <a:miter lim="800000"/>
            </a:ln>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0</a:t>
              </a:r>
            </a:p>
          </p:txBody>
        </p:sp>
      </p:grpSp>
      <p:sp>
        <p:nvSpPr>
          <p:cNvPr id="33" name="Text Box 123"/>
          <p:cNvSpPr txBox="1">
            <a:spLocks noChangeArrowheads="1"/>
          </p:cNvSpPr>
          <p:nvPr/>
        </p:nvSpPr>
        <p:spPr bwMode="auto">
          <a:xfrm>
            <a:off x="1017588" y="4222750"/>
            <a:ext cx="227013" cy="52546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1</a:t>
            </a:r>
          </a:p>
        </p:txBody>
      </p:sp>
      <p:grpSp>
        <p:nvGrpSpPr>
          <p:cNvPr id="7" name="Group 130"/>
          <p:cNvGrpSpPr/>
          <p:nvPr/>
        </p:nvGrpSpPr>
        <p:grpSpPr>
          <a:xfrm>
            <a:off x="2414588" y="4044950"/>
            <a:ext cx="1768475" cy="779463"/>
            <a:chOff x="1746" y="1807"/>
            <a:chExt cx="1114" cy="346"/>
          </a:xfrm>
        </p:grpSpPr>
        <p:grpSp>
          <p:nvGrpSpPr>
            <p:cNvPr id="102421" name="Group 125"/>
            <p:cNvGrpSpPr/>
            <p:nvPr/>
          </p:nvGrpSpPr>
          <p:grpSpPr>
            <a:xfrm>
              <a:off x="2632" y="1807"/>
              <a:ext cx="228" cy="346"/>
              <a:chOff x="1790" y="1821"/>
              <a:chExt cx="228" cy="346"/>
            </a:xfrm>
          </p:grpSpPr>
          <p:sp>
            <p:nvSpPr>
              <p:cNvPr id="98327" name="Line 126"/>
              <p:cNvSpPr>
                <a:spLocks noChangeShapeType="1"/>
              </p:cNvSpPr>
              <p:nvPr/>
            </p:nvSpPr>
            <p:spPr bwMode="auto">
              <a:xfrm flipH="1" flipV="1">
                <a:off x="1872" y="1821"/>
                <a:ext cx="8" cy="195"/>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28" name="Text Box 127"/>
              <p:cNvSpPr txBox="1">
                <a:spLocks noChangeArrowheads="1"/>
              </p:cNvSpPr>
              <p:nvPr/>
            </p:nvSpPr>
            <p:spPr bwMode="auto">
              <a:xfrm>
                <a:off x="1790" y="1934"/>
                <a:ext cx="2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p</a:t>
                </a:r>
              </a:p>
            </p:txBody>
          </p:sp>
        </p:grpSp>
        <p:sp>
          <p:nvSpPr>
            <p:cNvPr id="98326" name="Rectangle 128"/>
            <p:cNvSpPr>
              <a:spLocks noChangeArrowheads="1"/>
            </p:cNvSpPr>
            <p:nvPr/>
          </p:nvSpPr>
          <p:spPr bwMode="auto">
            <a:xfrm>
              <a:off x="1746" y="1886"/>
              <a:ext cx="322" cy="233"/>
            </a:xfrm>
            <a:prstGeom prst="rect">
              <a:avLst/>
            </a:prstGeom>
            <a:solidFill>
              <a:schemeClr val="bg1"/>
            </a:solidFill>
            <a:ln w="38100">
              <a:solidFill>
                <a:schemeClr val="bg1"/>
              </a:solidFill>
              <a:miter lim="800000"/>
            </a:ln>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9" name="Text Box 131"/>
          <p:cNvSpPr txBox="1">
            <a:spLocks noChangeArrowheads="1"/>
          </p:cNvSpPr>
          <p:nvPr/>
        </p:nvSpPr>
        <p:spPr bwMode="auto">
          <a:xfrm>
            <a:off x="1044575" y="4222750"/>
            <a:ext cx="227013" cy="52546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2</a:t>
            </a:r>
          </a:p>
        </p:txBody>
      </p:sp>
      <p:grpSp>
        <p:nvGrpSpPr>
          <p:cNvPr id="9" name="Group 137"/>
          <p:cNvGrpSpPr/>
          <p:nvPr/>
        </p:nvGrpSpPr>
        <p:grpSpPr>
          <a:xfrm>
            <a:off x="3830638" y="4062413"/>
            <a:ext cx="2576512" cy="773112"/>
            <a:chOff x="2638" y="1818"/>
            <a:chExt cx="1623" cy="351"/>
          </a:xfrm>
        </p:grpSpPr>
        <p:sp>
          <p:nvSpPr>
            <p:cNvPr id="98322" name="Rectangle 136"/>
            <p:cNvSpPr>
              <a:spLocks noChangeArrowheads="1"/>
            </p:cNvSpPr>
            <p:nvPr/>
          </p:nvSpPr>
          <p:spPr bwMode="auto">
            <a:xfrm>
              <a:off x="2638" y="1878"/>
              <a:ext cx="331" cy="276"/>
            </a:xfrm>
            <a:prstGeom prst="rect">
              <a:avLst/>
            </a:prstGeom>
            <a:solidFill>
              <a:schemeClr val="bg1"/>
            </a:solidFill>
            <a:ln w="38100">
              <a:solidFill>
                <a:schemeClr val="bg1"/>
              </a:solidFill>
              <a:miter lim="800000"/>
            </a:ln>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02418" name="Group 133"/>
            <p:cNvGrpSpPr/>
            <p:nvPr/>
          </p:nvGrpSpPr>
          <p:grpSpPr>
            <a:xfrm>
              <a:off x="4033" y="1818"/>
              <a:ext cx="228" cy="351"/>
              <a:chOff x="1790" y="1821"/>
              <a:chExt cx="228" cy="351"/>
            </a:xfrm>
          </p:grpSpPr>
          <p:sp>
            <p:nvSpPr>
              <p:cNvPr id="98323" name="Line 134"/>
              <p:cNvSpPr>
                <a:spLocks noChangeShapeType="1"/>
              </p:cNvSpPr>
              <p:nvPr/>
            </p:nvSpPr>
            <p:spPr bwMode="auto">
              <a:xfrm flipH="1" flipV="1">
                <a:off x="1872" y="1821"/>
                <a:ext cx="0" cy="156"/>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8324" name="Text Box 135"/>
              <p:cNvSpPr txBox="1">
                <a:spLocks noChangeArrowheads="1"/>
              </p:cNvSpPr>
              <p:nvPr/>
            </p:nvSpPr>
            <p:spPr bwMode="auto">
              <a:xfrm>
                <a:off x="1790" y="1934"/>
                <a:ext cx="22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a:t>
                </a:r>
              </a:p>
            </p:txBody>
          </p:sp>
        </p:grpSp>
      </p:grpSp>
      <p:sp>
        <p:nvSpPr>
          <p:cNvPr id="45" name="Text Box 138"/>
          <p:cNvSpPr txBox="1">
            <a:spLocks noChangeArrowheads="1"/>
          </p:cNvSpPr>
          <p:nvPr/>
        </p:nvSpPr>
        <p:spPr bwMode="auto">
          <a:xfrm>
            <a:off x="1028700" y="4148138"/>
            <a:ext cx="268288" cy="46355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n</a:t>
            </a:r>
          </a:p>
        </p:txBody>
      </p:sp>
      <p:sp>
        <p:nvSpPr>
          <p:cNvPr id="46" name="Text Box 145"/>
          <p:cNvSpPr txBox="1">
            <a:spLocks noChangeArrowheads="1"/>
          </p:cNvSpPr>
          <p:nvPr/>
        </p:nvSpPr>
        <p:spPr bwMode="auto">
          <a:xfrm>
            <a:off x="7123113" y="4308475"/>
            <a:ext cx="154463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NULL</a:t>
            </a:r>
          </a:p>
        </p:txBody>
      </p:sp>
      <p:sp>
        <p:nvSpPr>
          <p:cNvPr id="98316" name="Text Box 98"/>
          <p:cNvSpPr txBox="1">
            <a:spLocks noChangeArrowheads="1"/>
          </p:cNvSpPr>
          <p:nvPr/>
        </p:nvSpPr>
        <p:spPr bwMode="auto">
          <a:xfrm>
            <a:off x="5961063" y="3648075"/>
            <a:ext cx="441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a</a:t>
            </a:r>
            <a:r>
              <a:rPr kumimoji="0" lang="en-US" altLang="zh-CN" sz="1400" b="0" i="0" u="none" strike="noStrike" kern="1200" cap="none" spc="0" normalizeH="0" baseline="0" noProof="0" dirty="0">
                <a:ln>
                  <a:noFill/>
                </a:ln>
                <a:solidFill>
                  <a:srgbClr val="000000"/>
                </a:solidFill>
                <a:effectLst/>
                <a:uLnTx/>
                <a:uFillTx/>
                <a:latin typeface="+mn-lt"/>
                <a:ea typeface="+mn-ea"/>
                <a:cs typeface="+mn-ea"/>
                <a:sym typeface="+mn-lt"/>
              </a:rPr>
              <a:t>n</a:t>
            </a:r>
            <a:endPar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98317" name="矩形 48"/>
          <p:cNvSpPr>
            <a:spLocks noChangeArrowheads="1"/>
          </p:cNvSpPr>
          <p:nvPr/>
        </p:nvSpPr>
        <p:spPr bwMode="auto">
          <a:xfrm>
            <a:off x="787400" y="1119188"/>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求表长</a:t>
            </a:r>
          </a:p>
        </p:txBody>
      </p:sp>
      <p:sp>
        <p:nvSpPr>
          <p:cNvPr id="50" name="Rectangle 4"/>
          <p:cNvSpPr>
            <a:spLocks noChangeArrowheads="1"/>
          </p:cNvSpPr>
          <p:nvPr/>
        </p:nvSpPr>
        <p:spPr bwMode="auto">
          <a:xfrm>
            <a:off x="0" y="5067300"/>
            <a:ext cx="9144000" cy="1571625"/>
          </a:xfrm>
          <a:prstGeom prst="rect">
            <a:avLst/>
          </a:prstGeom>
          <a:solidFill>
            <a:srgbClr val="B8D4EC"/>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72009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p=L-&gt;next;  </a:t>
            </a: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a:p>
            <a:pPr marL="720090" marR="0" lvl="0" indent="-34290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             </a:t>
            </a:r>
          </a:p>
          <a:p>
            <a:pPr marL="720090" marR="0" lvl="0" indent="-34290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while(p)</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p=p-&gt;next;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en-US" altLang="zh-CN" sz="2800" b="0" i="0" u="none" strike="noStrike" kern="1200" cap="none" spc="0" normalizeH="0" baseline="0" noProof="0" dirty="0">
              <a:ln>
                <a:noFill/>
              </a:ln>
              <a:solidFill>
                <a:schemeClr val="accent1"/>
              </a:solidFill>
              <a:effectLst/>
              <a:uLnTx/>
              <a:uFillTx/>
              <a:latin typeface="+mn-lt"/>
              <a:ea typeface="+mn-ea"/>
              <a:cs typeface="+mn-ea"/>
              <a:sym typeface="+mn-lt"/>
            </a:endParaRPr>
          </a:p>
        </p:txBody>
      </p:sp>
      <p:sp>
        <p:nvSpPr>
          <p:cNvPr id="98319" name="Rectangle 6"/>
          <p:cNvSpPr>
            <a:spLocks noChangeArrowheads="1"/>
          </p:cNvSpPr>
          <p:nvPr/>
        </p:nvSpPr>
        <p:spPr bwMode="auto">
          <a:xfrm>
            <a:off x="768350" y="203200"/>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98320" name="Rectangle 12"/>
          <p:cNvSpPr>
            <a:spLocks noChangeArrowheads="1"/>
          </p:cNvSpPr>
          <p:nvPr/>
        </p:nvSpPr>
        <p:spPr bwMode="auto">
          <a:xfrm>
            <a:off x="4341813" y="1035050"/>
            <a:ext cx="4291013" cy="2071688"/>
          </a:xfrm>
          <a:prstGeom prst="rect">
            <a:avLst/>
          </a:prstGeom>
          <a:solidFill>
            <a:schemeClr val="bg2">
              <a:lumMod val="20000"/>
              <a:lumOff val="80000"/>
            </a:schemeClr>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“数”结点：</a:t>
            </a: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依次指向各个结点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从第一个元素开始“数”</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一直“数”到最后一个结点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box(in)">
                                      <p:cBhvr>
                                        <p:cTn id="4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9" grpId="0" animBg="1"/>
      <p:bldP spid="45" grpId="0" animBg="1"/>
      <p:bldP spid="46" grpId="0"/>
      <p:bldP spid="5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ChangeArrowheads="1"/>
          </p:cNvSpPr>
          <p:nvPr/>
        </p:nvSpPr>
        <p:spPr bwMode="auto">
          <a:xfrm>
            <a:off x="212725" y="1341438"/>
            <a:ext cx="4826000" cy="4895850"/>
          </a:xfrm>
          <a:prstGeom prst="rect">
            <a:avLst/>
          </a:prstGeom>
          <a:solidFill>
            <a:srgbClr val="EAEAEA"/>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求表长</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ListLength_L</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L){</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返回</a:t>
            </a:r>
            <a:r>
              <a:rPr kumimoji="0" lang="en-US" altLang="zh-CN" sz="22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中数据元素个数</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p;</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p=L-&gt;next;  </a:t>
            </a:r>
            <a:r>
              <a:rPr kumimoji="0" lang="en-US" altLang="zh-CN" sz="2200" b="0" i="0" u="none" strike="noStrike" kern="1200" cap="none" spc="0" normalizeH="0" baseline="0" noProof="0" dirty="0">
                <a:ln>
                  <a:noFill/>
                </a:ln>
                <a:solidFill>
                  <a:schemeClr val="hlink"/>
                </a:solidFill>
                <a:effectLst/>
                <a:uLnTx/>
                <a:uFillTx/>
                <a:latin typeface="+mn-lt"/>
                <a:ea typeface="+mn-ea"/>
                <a:cs typeface="+mn-ea"/>
                <a:sym typeface="+mn-lt"/>
              </a:rPr>
              <a:t>//p</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指向第一个结点</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while(p)</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遍历单链表</a:t>
            </a:r>
            <a:r>
              <a:rPr kumimoji="0" lang="en-US" altLang="zh-CN" sz="22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hlink"/>
                </a:solidFill>
                <a:effectLst/>
                <a:uLnTx/>
                <a:uFillTx/>
                <a:latin typeface="+mn-lt"/>
                <a:ea typeface="+mn-ea"/>
                <a:cs typeface="+mn-ea"/>
                <a:sym typeface="+mn-lt"/>
              </a:rPr>
              <a:t>统计结点数</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p=p-&gt;next;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accent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9331" name="Rectangle 12"/>
          <p:cNvSpPr>
            <a:spLocks noChangeArrowheads="1"/>
          </p:cNvSpPr>
          <p:nvPr/>
        </p:nvSpPr>
        <p:spPr bwMode="auto">
          <a:xfrm>
            <a:off x="5140325" y="1341438"/>
            <a:ext cx="3816350" cy="4895850"/>
          </a:xfrm>
          <a:prstGeom prst="rect">
            <a:avLst/>
          </a:prstGeom>
          <a:solidFill>
            <a:srgbClr val="CAB5EA"/>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200" b="0" i="0" u="none" strike="noStrike" kern="1200" cap="none" spc="0" normalizeH="0" baseline="0" noProof="0" dirty="0">
                <a:ln>
                  <a:noFill/>
                </a:ln>
                <a:solidFill>
                  <a:srgbClr val="0000FF"/>
                </a:solidFill>
                <a:effectLst/>
                <a:uLnTx/>
                <a:uFillTx/>
                <a:latin typeface="+mn-lt"/>
                <a:ea typeface="+mn-ea"/>
                <a:cs typeface="+mn-ea"/>
                <a:sym typeface="+mn-lt"/>
              </a:rPr>
              <a:t>“数”结点：</a:t>
            </a:r>
            <a:endParaRPr kumimoji="0" lang="en-US" altLang="zh-CN" sz="2200" b="0" i="0" u="none" strike="noStrike" kern="1200" cap="none" spc="0" normalizeH="0" baseline="0" noProof="0" dirty="0">
              <a:ln>
                <a:noFill/>
              </a:ln>
              <a:solidFill>
                <a:srgbClr val="0000FF"/>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指针</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依次指向各个结点</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从第一个元素开始“数”</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0"/>
              </a:spcBef>
              <a:spcAft>
                <a:spcPct val="0"/>
              </a:spcAft>
              <a:buClrTx/>
              <a:buSzTx/>
              <a:buFont typeface="Wingdings" panose="05000000000000000000" pitchFamily="2" charset="2"/>
              <a:buChar char="l"/>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一直“数”到最后一个结点</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 name="Rectangle 6"/>
          <p:cNvSpPr>
            <a:spLocks noChangeArrowheads="1"/>
          </p:cNvSpPr>
          <p:nvPr/>
        </p:nvSpPr>
        <p:spPr bwMode="auto">
          <a:xfrm>
            <a:off x="768350" y="203200"/>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103429" name="矩形 1"/>
          <p:cNvSpPr/>
          <p:nvPr/>
        </p:nvSpPr>
        <p:spPr>
          <a:xfrm>
            <a:off x="5151438" y="4221163"/>
            <a:ext cx="3816350"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0" name="矩形 5"/>
          <p:cNvSpPr/>
          <p:nvPr/>
        </p:nvSpPr>
        <p:spPr>
          <a:xfrm>
            <a:off x="5151438" y="4437063"/>
            <a:ext cx="3816350"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1" name="矩形 6"/>
          <p:cNvSpPr/>
          <p:nvPr/>
        </p:nvSpPr>
        <p:spPr>
          <a:xfrm>
            <a:off x="5151438" y="4652963"/>
            <a:ext cx="3816350"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2" name="矩形 7"/>
          <p:cNvSpPr/>
          <p:nvPr/>
        </p:nvSpPr>
        <p:spPr>
          <a:xfrm>
            <a:off x="5151438" y="4868863"/>
            <a:ext cx="3816350" cy="73025"/>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3" name="矩形 8"/>
          <p:cNvSpPr/>
          <p:nvPr/>
        </p:nvSpPr>
        <p:spPr>
          <a:xfrm>
            <a:off x="5151438" y="5121275"/>
            <a:ext cx="3816350" cy="714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4" name="矩形 9"/>
          <p:cNvSpPr/>
          <p:nvPr/>
        </p:nvSpPr>
        <p:spPr>
          <a:xfrm>
            <a:off x="5151438" y="5316538"/>
            <a:ext cx="3816350" cy="73025"/>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5" name="矩形 10"/>
          <p:cNvSpPr/>
          <p:nvPr/>
        </p:nvSpPr>
        <p:spPr>
          <a:xfrm>
            <a:off x="5151438" y="5522913"/>
            <a:ext cx="3816350"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6" name="矩形 11"/>
          <p:cNvSpPr/>
          <p:nvPr/>
        </p:nvSpPr>
        <p:spPr>
          <a:xfrm>
            <a:off x="5151438" y="5727700"/>
            <a:ext cx="3816350" cy="73025"/>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7" name="矩形 12"/>
          <p:cNvSpPr/>
          <p:nvPr/>
        </p:nvSpPr>
        <p:spPr>
          <a:xfrm>
            <a:off x="5151438" y="5954713"/>
            <a:ext cx="3816350"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700213"/>
            <a:ext cx="9144000" cy="432117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0354" name="Rectangle 4"/>
          <p:cNvSpPr>
            <a:spLocks noChangeArrowheads="1"/>
          </p:cNvSpPr>
          <p:nvPr/>
        </p:nvSpPr>
        <p:spPr bwMode="auto">
          <a:xfrm>
            <a:off x="768350" y="1052513"/>
            <a:ext cx="81248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判断表是否为空</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a:t>
            </a: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en-US" sz="2400" b="0" i="0" u="none" strike="noStrike" kern="1200" cap="none" spc="0" normalizeH="0" baseline="0" noProof="0" dirty="0" err="1">
                <a:ln>
                  <a:noFill/>
                </a:ln>
                <a:solidFill>
                  <a:schemeClr val="tx1"/>
                </a:solidFill>
                <a:effectLst/>
                <a:uLnTx/>
                <a:uFillTx/>
                <a:latin typeface="+mn-lt"/>
                <a:ea typeface="+mn-ea"/>
                <a:cs typeface="+mn-ea"/>
                <a:sym typeface="+mn-lt"/>
              </a:rPr>
              <a:t>ListEmpty</a:t>
            </a: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en-US"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L)</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hlink"/>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en-US" sz="2400" b="0" i="0" u="none" strike="noStrike" kern="1200" cap="none" spc="0" normalizeH="0" baseline="0" noProof="0" dirty="0">
                <a:ln>
                  <a:noFill/>
                </a:ln>
                <a:solidFill>
                  <a:schemeClr val="hlink"/>
                </a:solidFill>
                <a:effectLst/>
                <a:uLnTx/>
                <a:uFillTx/>
                <a:latin typeface="+mn-lt"/>
                <a:ea typeface="+mn-ea"/>
                <a:cs typeface="+mn-ea"/>
                <a:sym typeface="+mn-lt"/>
              </a:rPr>
              <a:t>若L为空表，则返回</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en-US" altLang="en-US" sz="2400" b="0" i="0" u="none" strike="noStrike" kern="1200" cap="none" spc="0" normalizeH="0" baseline="0" noProof="0" dirty="0">
                <a:ln>
                  <a:noFill/>
                </a:ln>
                <a:solidFill>
                  <a:schemeClr val="hlink"/>
                </a:solidFill>
                <a:effectLst/>
                <a:uLnTx/>
                <a:uFillTx/>
                <a:latin typeface="+mn-lt"/>
                <a:ea typeface="+mn-ea"/>
                <a:cs typeface="+mn-ea"/>
                <a:sym typeface="+mn-lt"/>
              </a:rPr>
              <a:t>，否则返回</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0</a:t>
            </a:r>
            <a:r>
              <a:rPr kumimoji="0" lang="en-US" altLang="en-US" sz="2400" b="0" i="0" u="none" strike="noStrike" kern="1200" cap="none" spc="0" normalizeH="0" baseline="0" noProof="0" dirty="0">
                <a:ln>
                  <a:noFill/>
                </a:ln>
                <a:solidFill>
                  <a:schemeClr val="hlink"/>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if(L-&gt;next)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en-US"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en-US" sz="2400" b="0" i="0" u="none" strike="noStrike" kern="1200" cap="none" spc="0" normalizeH="0" baseline="0" noProof="0" dirty="0" err="1">
                <a:ln>
                  <a:noFill/>
                </a:ln>
                <a:solidFill>
                  <a:schemeClr val="hlink"/>
                </a:solidFill>
                <a:effectLst/>
                <a:uLnTx/>
                <a:uFillTx/>
                <a:latin typeface="+mn-lt"/>
                <a:ea typeface="+mn-ea"/>
                <a:cs typeface="+mn-ea"/>
                <a:sym typeface="+mn-lt"/>
              </a:rPr>
              <a:t>非空</a:t>
            </a:r>
            <a:r>
              <a:rPr kumimoji="0" lang="en-US" altLang="en-US" sz="2400" b="0" i="0" u="none" strike="noStrike" kern="1200" cap="none" spc="0" normalizeH="0" baseline="0" noProof="0" dirty="0">
                <a:ln>
                  <a:noFill/>
                </a:ln>
                <a:solidFill>
                  <a:schemeClr val="hlink"/>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else</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en-US"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3" name="Rectangle 6"/>
          <p:cNvSpPr>
            <a:spLocks noChangeArrowheads="1"/>
          </p:cNvSpPr>
          <p:nvPr/>
        </p:nvSpPr>
        <p:spPr bwMode="auto">
          <a:xfrm>
            <a:off x="768350" y="203200"/>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grpSp>
        <p:nvGrpSpPr>
          <p:cNvPr id="4" name="组合 3"/>
          <p:cNvGrpSpPr/>
          <p:nvPr/>
        </p:nvGrpSpPr>
        <p:grpSpPr>
          <a:xfrm>
            <a:off x="0" y="6380163"/>
            <a:ext cx="9144000" cy="431800"/>
            <a:chOff x="0" y="6379908"/>
            <a:chExt cx="9144000" cy="432048"/>
          </a:xfrm>
        </p:grpSpPr>
        <p:grpSp>
          <p:nvGrpSpPr>
            <p:cNvPr id="104454" name="组合 4"/>
            <p:cNvGrpSpPr/>
            <p:nvPr/>
          </p:nvGrpSpPr>
          <p:grpSpPr>
            <a:xfrm>
              <a:off x="0" y="6379908"/>
              <a:ext cx="9144000" cy="432048"/>
              <a:chOff x="0" y="6165304"/>
              <a:chExt cx="9144000" cy="432048"/>
            </a:xfrm>
          </p:grpSpPr>
          <p:cxnSp>
            <p:nvCxnSpPr>
              <p:cNvPr id="104456"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8" name="直接连接符 7"/>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04458"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6"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 name="Rectangle 5"/>
          <p:cNvSpPr>
            <a:spLocks noRot="1" noChangeArrowheads="1"/>
          </p:cNvSpPr>
          <p:nvPr/>
        </p:nvSpPr>
        <p:spPr bwMode="auto">
          <a:xfrm>
            <a:off x="3708400" y="1131888"/>
            <a:ext cx="143351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初始化</a:t>
            </a:r>
          </a:p>
        </p:txBody>
      </p:sp>
      <p:grpSp>
        <p:nvGrpSpPr>
          <p:cNvPr id="105476" name="组合 4"/>
          <p:cNvGrpSpPr/>
          <p:nvPr/>
        </p:nvGrpSpPr>
        <p:grpSpPr>
          <a:xfrm>
            <a:off x="2127250" y="1700213"/>
            <a:ext cx="4125913" cy="3935412"/>
            <a:chOff x="2160837" y="1533022"/>
            <a:chExt cx="4126962" cy="3935794"/>
          </a:xfrm>
        </p:grpSpPr>
        <p:sp>
          <p:nvSpPr>
            <p:cNvPr id="105482" name="Freeform 7"/>
            <p:cNvSpPr/>
            <p:nvPr/>
          </p:nvSpPr>
          <p:spPr>
            <a:xfrm>
              <a:off x="3532259" y="1533022"/>
              <a:ext cx="1384120" cy="1221599"/>
            </a:xfrm>
            <a:custGeom>
              <a:avLst/>
              <a:gdLst>
                <a:gd name="txL" fmla="*/ 0 w 2684"/>
                <a:gd name="txT" fmla="*/ 0 h 2365"/>
                <a:gd name="txR" fmla="*/ 2684 w 2684"/>
                <a:gd name="txB" fmla="*/ 2365 h 2365"/>
              </a:gdLst>
              <a:ahLst/>
              <a:cxnLst>
                <a:cxn ang="0">
                  <a:pos x="2147483646" y="2147483646"/>
                </a:cxn>
                <a:cxn ang="0">
                  <a:pos x="2147483646" y="0"/>
                </a:cxn>
                <a:cxn ang="0">
                  <a:pos x="0" y="2147483646"/>
                </a:cxn>
                <a:cxn ang="0">
                  <a:pos x="2147483646" y="2147483646"/>
                </a:cxn>
              </a:cxnLst>
              <a:rect l="txL" t="txT" r="txR" b="txB"/>
              <a:pathLst>
                <a:path w="2684" h="2365">
                  <a:moveTo>
                    <a:pt x="2684" y="2365"/>
                  </a:moveTo>
                  <a:lnTo>
                    <a:pt x="1342" y="0"/>
                  </a:lnTo>
                  <a:lnTo>
                    <a:pt x="0" y="2365"/>
                  </a:lnTo>
                  <a:lnTo>
                    <a:pt x="2684" y="2365"/>
                  </a:lnTo>
                  <a:close/>
                </a:path>
              </a:pathLst>
            </a:custGeom>
            <a:solidFill>
              <a:schemeClr val="accent1">
                <a:alpha val="100000"/>
              </a:schemeClr>
            </a:solidFill>
            <a:ln w="9525">
              <a:noFill/>
            </a:ln>
          </p:spPr>
          <p:txBody>
            <a:bodyPr/>
            <a:lstStyle/>
            <a:p>
              <a:endParaRPr lang="zh-CN" altLang="en-US"/>
            </a:p>
          </p:txBody>
        </p:sp>
        <p:sp>
          <p:nvSpPr>
            <p:cNvPr id="105483" name="Freeform 8"/>
            <p:cNvSpPr/>
            <p:nvPr/>
          </p:nvSpPr>
          <p:spPr>
            <a:xfrm>
              <a:off x="2160837" y="2754620"/>
              <a:ext cx="1371421" cy="1321106"/>
            </a:xfrm>
            <a:custGeom>
              <a:avLst/>
              <a:gdLst>
                <a:gd name="txL" fmla="*/ 0 w 2664"/>
                <a:gd name="txT" fmla="*/ 0 h 2553"/>
                <a:gd name="txR" fmla="*/ 2664 w 2664"/>
                <a:gd name="txB" fmla="*/ 2553 h 2553"/>
              </a:gdLst>
              <a:ahLst/>
              <a:cxnLst>
                <a:cxn ang="0">
                  <a:pos x="2147483646" y="0"/>
                </a:cxn>
                <a:cxn ang="0">
                  <a:pos x="0" y="2147483646"/>
                </a:cxn>
                <a:cxn ang="0">
                  <a:pos x="2147483646" y="2147483646"/>
                </a:cxn>
                <a:cxn ang="0">
                  <a:pos x="2147483646" y="0"/>
                </a:cxn>
              </a:cxnLst>
              <a:rect l="txL" t="txT" r="txR" b="txB"/>
              <a:pathLst>
                <a:path w="2664" h="2553">
                  <a:moveTo>
                    <a:pt x="2664" y="0"/>
                  </a:moveTo>
                  <a:lnTo>
                    <a:pt x="0" y="546"/>
                  </a:lnTo>
                  <a:lnTo>
                    <a:pt x="1835" y="2553"/>
                  </a:lnTo>
                  <a:lnTo>
                    <a:pt x="2664" y="0"/>
                  </a:lnTo>
                  <a:close/>
                </a:path>
              </a:pathLst>
            </a:custGeom>
            <a:solidFill>
              <a:schemeClr val="accent1">
                <a:alpha val="100000"/>
              </a:schemeClr>
            </a:solidFill>
            <a:ln w="9525">
              <a:noFill/>
            </a:ln>
          </p:spPr>
          <p:txBody>
            <a:bodyPr/>
            <a:lstStyle/>
            <a:p>
              <a:endParaRPr lang="zh-CN" altLang="en-US"/>
            </a:p>
          </p:txBody>
        </p:sp>
        <p:sp>
          <p:nvSpPr>
            <p:cNvPr id="105484" name="Freeform 9"/>
            <p:cNvSpPr/>
            <p:nvPr/>
          </p:nvSpPr>
          <p:spPr>
            <a:xfrm>
              <a:off x="2948135" y="4075727"/>
              <a:ext cx="1274067" cy="1393089"/>
            </a:xfrm>
            <a:custGeom>
              <a:avLst/>
              <a:gdLst>
                <a:gd name="txL" fmla="*/ 0 w 2476"/>
                <a:gd name="txT" fmla="*/ 0 h 2702"/>
                <a:gd name="txR" fmla="*/ 2476 w 2476"/>
                <a:gd name="txB" fmla="*/ 2702 h 2702"/>
              </a:gdLst>
              <a:ahLst/>
              <a:cxnLst>
                <a:cxn ang="0">
                  <a:pos x="2147483646" y="0"/>
                </a:cxn>
                <a:cxn ang="0">
                  <a:pos x="0" y="2147483646"/>
                </a:cxn>
                <a:cxn ang="0">
                  <a:pos x="2147483646" y="2147483646"/>
                </a:cxn>
                <a:cxn ang="0">
                  <a:pos x="2147483646" y="0"/>
                </a:cxn>
              </a:cxnLst>
              <a:rect l="txL" t="txT" r="txR" b="txB"/>
              <a:pathLst>
                <a:path w="2476" h="2702">
                  <a:moveTo>
                    <a:pt x="305" y="0"/>
                  </a:moveTo>
                  <a:lnTo>
                    <a:pt x="0" y="2702"/>
                  </a:lnTo>
                  <a:lnTo>
                    <a:pt x="2476" y="1578"/>
                  </a:lnTo>
                  <a:lnTo>
                    <a:pt x="305" y="0"/>
                  </a:lnTo>
                  <a:close/>
                </a:path>
              </a:pathLst>
            </a:custGeom>
            <a:solidFill>
              <a:schemeClr val="accent1">
                <a:alpha val="100000"/>
              </a:schemeClr>
            </a:solidFill>
            <a:ln w="9525">
              <a:noFill/>
            </a:ln>
          </p:spPr>
          <p:txBody>
            <a:bodyPr/>
            <a:lstStyle/>
            <a:p>
              <a:endParaRPr lang="zh-CN" altLang="en-US"/>
            </a:p>
          </p:txBody>
        </p:sp>
        <p:sp>
          <p:nvSpPr>
            <p:cNvPr id="105485" name="Freeform 10"/>
            <p:cNvSpPr/>
            <p:nvPr/>
          </p:nvSpPr>
          <p:spPr>
            <a:xfrm>
              <a:off x="4222202" y="4075727"/>
              <a:ext cx="1278300" cy="1393089"/>
            </a:xfrm>
            <a:custGeom>
              <a:avLst/>
              <a:gdLst>
                <a:gd name="txL" fmla="*/ 0 w 2476"/>
                <a:gd name="txT" fmla="*/ 0 h 2702"/>
                <a:gd name="txR" fmla="*/ 2476 w 2476"/>
                <a:gd name="txB" fmla="*/ 2702 h 2702"/>
              </a:gdLst>
              <a:ahLst/>
              <a:cxnLst>
                <a:cxn ang="0">
                  <a:pos x="0" y="2147483646"/>
                </a:cxn>
                <a:cxn ang="0">
                  <a:pos x="2147483646" y="2147483646"/>
                </a:cxn>
                <a:cxn ang="0">
                  <a:pos x="2147483646" y="0"/>
                </a:cxn>
                <a:cxn ang="0">
                  <a:pos x="0" y="2147483646"/>
                </a:cxn>
              </a:cxnLst>
              <a:rect l="txL" t="txT" r="txR" b="txB"/>
              <a:pathLst>
                <a:path w="2476" h="2702">
                  <a:moveTo>
                    <a:pt x="0" y="1578"/>
                  </a:moveTo>
                  <a:lnTo>
                    <a:pt x="2476" y="2702"/>
                  </a:lnTo>
                  <a:lnTo>
                    <a:pt x="2172" y="0"/>
                  </a:lnTo>
                  <a:lnTo>
                    <a:pt x="0" y="1578"/>
                  </a:lnTo>
                  <a:close/>
                </a:path>
              </a:pathLst>
            </a:custGeom>
            <a:solidFill>
              <a:schemeClr val="accent1">
                <a:alpha val="100000"/>
              </a:schemeClr>
            </a:solidFill>
            <a:ln w="9525">
              <a:noFill/>
            </a:ln>
          </p:spPr>
          <p:txBody>
            <a:bodyPr/>
            <a:lstStyle/>
            <a:p>
              <a:endParaRPr lang="zh-CN" altLang="en-US"/>
            </a:p>
          </p:txBody>
        </p:sp>
        <p:sp>
          <p:nvSpPr>
            <p:cNvPr id="105486" name="Freeform 11"/>
            <p:cNvSpPr/>
            <p:nvPr/>
          </p:nvSpPr>
          <p:spPr>
            <a:xfrm>
              <a:off x="4916378" y="2754620"/>
              <a:ext cx="1371421" cy="1321106"/>
            </a:xfrm>
            <a:custGeom>
              <a:avLst/>
              <a:gdLst>
                <a:gd name="txL" fmla="*/ 0 w 2664"/>
                <a:gd name="txT" fmla="*/ 0 h 2553"/>
                <a:gd name="txR" fmla="*/ 2664 w 2664"/>
                <a:gd name="txB" fmla="*/ 2553 h 2553"/>
              </a:gdLst>
              <a:ahLst/>
              <a:cxnLst>
                <a:cxn ang="0">
                  <a:pos x="2147483646" y="2147483646"/>
                </a:cxn>
                <a:cxn ang="0">
                  <a:pos x="2147483646" y="2147483646"/>
                </a:cxn>
                <a:cxn ang="0">
                  <a:pos x="0" y="0"/>
                </a:cxn>
                <a:cxn ang="0">
                  <a:pos x="2147483646" y="2147483646"/>
                </a:cxn>
              </a:cxnLst>
              <a:rect l="txL" t="txT" r="txR" b="txB"/>
              <a:pathLst>
                <a:path w="2664" h="2553">
                  <a:moveTo>
                    <a:pt x="830" y="2553"/>
                  </a:moveTo>
                  <a:lnTo>
                    <a:pt x="2664" y="546"/>
                  </a:lnTo>
                  <a:lnTo>
                    <a:pt x="0" y="0"/>
                  </a:lnTo>
                  <a:lnTo>
                    <a:pt x="830" y="2553"/>
                  </a:lnTo>
                  <a:close/>
                </a:path>
              </a:pathLst>
            </a:custGeom>
            <a:solidFill>
              <a:schemeClr val="accent1">
                <a:alpha val="100000"/>
              </a:schemeClr>
            </a:solidFill>
            <a:ln w="9525">
              <a:noFill/>
            </a:ln>
          </p:spPr>
          <p:txBody>
            <a:bodyPr/>
            <a:lstStyle/>
            <a:p>
              <a:endParaRPr lang="zh-CN" altLang="en-US"/>
            </a:p>
          </p:txBody>
        </p:sp>
        <p:sp>
          <p:nvSpPr>
            <p:cNvPr id="105487" name="矩形 10"/>
            <p:cNvSpPr/>
            <p:nvPr/>
          </p:nvSpPr>
          <p:spPr>
            <a:xfrm>
              <a:off x="3983051" y="2091951"/>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01</a:t>
              </a:r>
              <a:endParaRPr lang="zh-CN" altLang="en-US" sz="3600" dirty="0">
                <a:solidFill>
                  <a:schemeClr val="bg1"/>
                </a:solidFill>
                <a:latin typeface="Swiss911 UCm BT"/>
                <a:ea typeface="仿宋_GB2312" pitchFamily="49" charset="-122"/>
                <a:sym typeface="Swiss911 UCm BT"/>
              </a:endParaRPr>
            </a:p>
          </p:txBody>
        </p:sp>
        <p:sp>
          <p:nvSpPr>
            <p:cNvPr id="105488" name="矩形 11"/>
            <p:cNvSpPr/>
            <p:nvPr/>
          </p:nvSpPr>
          <p:spPr>
            <a:xfrm>
              <a:off x="5263466" y="3004445"/>
              <a:ext cx="476189"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02</a:t>
              </a:r>
              <a:endParaRPr lang="zh-CN" altLang="en-US" sz="3600" dirty="0">
                <a:solidFill>
                  <a:schemeClr val="bg1"/>
                </a:solidFill>
                <a:latin typeface="Swiss911 UCm BT"/>
                <a:ea typeface="仿宋_GB2312" pitchFamily="49" charset="-122"/>
                <a:sym typeface="Swiss911 UCm BT"/>
              </a:endParaRPr>
            </a:p>
          </p:txBody>
        </p:sp>
        <p:sp>
          <p:nvSpPr>
            <p:cNvPr id="105489" name="矩形 12"/>
            <p:cNvSpPr/>
            <p:nvPr/>
          </p:nvSpPr>
          <p:spPr>
            <a:xfrm>
              <a:off x="4785161" y="4524563"/>
              <a:ext cx="476189"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03</a:t>
              </a:r>
              <a:endParaRPr lang="zh-CN" altLang="en-US" sz="3600" dirty="0">
                <a:solidFill>
                  <a:schemeClr val="bg1"/>
                </a:solidFill>
                <a:latin typeface="Swiss911 UCm BT"/>
                <a:ea typeface="仿宋_GB2312" pitchFamily="49" charset="-122"/>
                <a:sym typeface="Swiss911 UCm BT"/>
              </a:endParaRPr>
            </a:p>
          </p:txBody>
        </p:sp>
        <p:sp>
          <p:nvSpPr>
            <p:cNvPr id="105490" name="矩形 13"/>
            <p:cNvSpPr/>
            <p:nvPr/>
          </p:nvSpPr>
          <p:spPr>
            <a:xfrm>
              <a:off x="3106865" y="4543619"/>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04</a:t>
              </a:r>
              <a:endParaRPr lang="zh-CN" altLang="en-US" sz="3600" dirty="0">
                <a:solidFill>
                  <a:schemeClr val="bg1"/>
                </a:solidFill>
                <a:latin typeface="Swiss911 UCm BT"/>
                <a:ea typeface="仿宋_GB2312" pitchFamily="49" charset="-122"/>
                <a:sym typeface="Swiss911 UCm BT"/>
              </a:endParaRPr>
            </a:p>
          </p:txBody>
        </p:sp>
        <p:sp>
          <p:nvSpPr>
            <p:cNvPr id="105491" name="矩形 14"/>
            <p:cNvSpPr/>
            <p:nvPr/>
          </p:nvSpPr>
          <p:spPr>
            <a:xfrm>
              <a:off x="2708983" y="3017148"/>
              <a:ext cx="476187" cy="575867"/>
            </a:xfrm>
            <a:prstGeom prst="rect">
              <a:avLst/>
            </a:prstGeom>
            <a:noFill/>
            <a:ln w="9525">
              <a:noFill/>
            </a:ln>
          </p:spPr>
          <p:txBody>
            <a:bodyPr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pPr>
              <a:r>
                <a:rPr lang="en-US" altLang="zh-CN" sz="3600" dirty="0">
                  <a:solidFill>
                    <a:schemeClr val="bg1"/>
                  </a:solidFill>
                  <a:latin typeface="Swiss911 UCm BT"/>
                  <a:ea typeface="仿宋_GB2312" pitchFamily="49" charset="-122"/>
                  <a:sym typeface="Swiss911 UCm BT"/>
                </a:rPr>
                <a:t>05</a:t>
              </a:r>
              <a:endParaRPr lang="zh-CN" altLang="en-US" sz="3600" dirty="0">
                <a:solidFill>
                  <a:schemeClr val="bg1"/>
                </a:solidFill>
                <a:latin typeface="Swiss911 UCm BT"/>
                <a:ea typeface="仿宋_GB2312" pitchFamily="49" charset="-122"/>
                <a:sym typeface="Swiss911 UCm BT"/>
              </a:endParaRPr>
            </a:p>
          </p:txBody>
        </p:sp>
      </p:grpSp>
      <p:sp>
        <p:nvSpPr>
          <p:cNvPr id="16" name="Rectangle 5"/>
          <p:cNvSpPr>
            <a:spLocks noRot="1" noChangeArrowheads="1"/>
          </p:cNvSpPr>
          <p:nvPr/>
        </p:nvSpPr>
        <p:spPr bwMode="auto">
          <a:xfrm>
            <a:off x="6461125" y="2921000"/>
            <a:ext cx="97313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effectLst/>
                <a:uLnTx/>
                <a:uFillTx/>
                <a:latin typeface="+mn-lt"/>
                <a:ea typeface="+mn-ea"/>
                <a:cs typeface="+mn-ea"/>
                <a:sym typeface="+mn-lt"/>
              </a:rPr>
              <a:t>取值      </a:t>
            </a:r>
          </a:p>
        </p:txBody>
      </p:sp>
      <p:sp>
        <p:nvSpPr>
          <p:cNvPr id="17" name="Rectangle 5"/>
          <p:cNvSpPr>
            <a:spLocks noRot="1" noChangeArrowheads="1"/>
          </p:cNvSpPr>
          <p:nvPr/>
        </p:nvSpPr>
        <p:spPr bwMode="auto">
          <a:xfrm>
            <a:off x="5172075" y="5662613"/>
            <a:ext cx="106203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查找</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8" name="Rectangle 5"/>
          <p:cNvSpPr>
            <a:spLocks noRot="1" noChangeArrowheads="1"/>
          </p:cNvSpPr>
          <p:nvPr/>
        </p:nvSpPr>
        <p:spPr bwMode="auto">
          <a:xfrm>
            <a:off x="2073275" y="5635625"/>
            <a:ext cx="9255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9" name="Rectangle 5"/>
          <p:cNvSpPr>
            <a:spLocks noRot="1" noChangeArrowheads="1"/>
          </p:cNvSpPr>
          <p:nvPr/>
        </p:nvSpPr>
        <p:spPr bwMode="auto">
          <a:xfrm>
            <a:off x="1195388" y="2903538"/>
            <a:ext cx="9318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a:t>
            </a:r>
          </a:p>
        </p:txBody>
      </p:sp>
      <p:sp>
        <p:nvSpPr>
          <p:cNvPr id="20" name="Rectangle 8"/>
          <p:cNvSpPr>
            <a:spLocks noChangeArrowheads="1"/>
          </p:cNvSpPr>
          <p:nvPr/>
        </p:nvSpPr>
        <p:spPr bwMode="auto">
          <a:xfrm>
            <a:off x="3394075" y="3292475"/>
            <a:ext cx="1628775"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基本操作的实现</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3" name="Rectangle 5"/>
          <p:cNvSpPr>
            <a:spLocks noChangeArrowheads="1"/>
          </p:cNvSpPr>
          <p:nvPr/>
        </p:nvSpPr>
        <p:spPr bwMode="auto">
          <a:xfrm>
            <a:off x="3822700" y="2006600"/>
            <a:ext cx="5168900"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思考：顺序表里如何找到第</a:t>
            </a:r>
            <a:r>
              <a:rPr kumimoji="0" lang="en-US" altLang="zh-CN" sz="2400" b="0" i="0" u="none" strike="noStrike" kern="1200" cap="none" spc="0" normalizeH="0" baseline="0" noProof="0" dirty="0" err="1">
                <a:ln>
                  <a:noFill/>
                </a:ln>
                <a:solidFill>
                  <a:srgbClr val="0000FF"/>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个元素？</a:t>
            </a:r>
          </a:p>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链表的查找：要从链表的头指针出发，顺着链域</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next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逐个结点往下搜索，直至搜索到第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个结点为止。因此，链表不是随机存取结构</a:t>
            </a:r>
          </a:p>
        </p:txBody>
      </p:sp>
      <p:sp>
        <p:nvSpPr>
          <p:cNvPr id="4" name="Rectangle 6"/>
          <p:cNvSpPr>
            <a:spLocks noChangeArrowheads="1"/>
          </p:cNvSpPr>
          <p:nvPr/>
        </p:nvSpPr>
        <p:spPr bwMode="auto">
          <a:xfrm>
            <a:off x="935038" y="201613"/>
            <a:ext cx="80295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取值（根据位置</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获取相应位置数据元素的内容）</a:t>
            </a:r>
          </a:p>
        </p:txBody>
      </p:sp>
      <p:grpSp>
        <p:nvGrpSpPr>
          <p:cNvPr id="106500" name="组合 1"/>
          <p:cNvGrpSpPr/>
          <p:nvPr/>
        </p:nvGrpSpPr>
        <p:grpSpPr>
          <a:xfrm>
            <a:off x="373063" y="1979613"/>
            <a:ext cx="2981325" cy="2986087"/>
            <a:chOff x="403392" y="1494572"/>
            <a:chExt cx="3904228" cy="3913307"/>
          </a:xfrm>
        </p:grpSpPr>
        <p:sp>
          <p:nvSpPr>
            <p:cNvPr id="44" name="Freeform 10"/>
            <p:cNvSpPr/>
            <p:nvPr/>
          </p:nvSpPr>
          <p:spPr bwMode="auto">
            <a:xfrm>
              <a:off x="2349834" y="1497817"/>
              <a:ext cx="1948062" cy="2151021"/>
            </a:xfrm>
            <a:custGeom>
              <a:avLst/>
              <a:gdLst>
                <a:gd name="T0" fmla="*/ 1606 w 3207"/>
                <a:gd name="T1" fmla="*/ 3189 h 3541"/>
                <a:gd name="T2" fmla="*/ 2390 w 3207"/>
                <a:gd name="T3" fmla="*/ 3541 h 3541"/>
                <a:gd name="T4" fmla="*/ 3206 w 3207"/>
                <a:gd name="T5" fmla="*/ 2917 h 3541"/>
                <a:gd name="T6" fmla="*/ 3207 w 3207"/>
                <a:gd name="T7" fmla="*/ 2918 h 3541"/>
                <a:gd name="T8" fmla="*/ 6 w 3207"/>
                <a:gd name="T9" fmla="*/ 5 h 3541"/>
                <a:gd name="T10" fmla="*/ 3 w 3207"/>
                <a:gd name="T11" fmla="*/ 0 h 3541"/>
                <a:gd name="T12" fmla="*/ 6 w 3207"/>
                <a:gd name="T13" fmla="*/ 5 h 3541"/>
                <a:gd name="T14" fmla="*/ 598 w 3207"/>
                <a:gd name="T15" fmla="*/ 805 h 3541"/>
                <a:gd name="T16" fmla="*/ 230 w 3207"/>
                <a:gd name="T17" fmla="*/ 1621 h 3541"/>
                <a:gd name="T18" fmla="*/ 231 w 3207"/>
                <a:gd name="T19" fmla="*/ 1625 h 3541"/>
                <a:gd name="T20" fmla="*/ 1606 w 3207"/>
                <a:gd name="T21" fmla="*/ 3189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41">
                  <a:moveTo>
                    <a:pt x="1606" y="3189"/>
                  </a:moveTo>
                  <a:lnTo>
                    <a:pt x="2390" y="3541"/>
                  </a:lnTo>
                  <a:lnTo>
                    <a:pt x="3206" y="2917"/>
                  </a:lnTo>
                  <a:lnTo>
                    <a:pt x="3207" y="2918"/>
                  </a:lnTo>
                  <a:cubicBezTo>
                    <a:pt x="3055" y="1282"/>
                    <a:pt x="1679" y="0"/>
                    <a:pt x="6" y="5"/>
                  </a:cubicBezTo>
                  <a:lnTo>
                    <a:pt x="3" y="0"/>
                  </a:lnTo>
                  <a:cubicBezTo>
                    <a:pt x="2" y="0"/>
                    <a:pt x="0" y="0"/>
                    <a:pt x="6" y="5"/>
                  </a:cubicBezTo>
                  <a:lnTo>
                    <a:pt x="598" y="805"/>
                  </a:lnTo>
                  <a:lnTo>
                    <a:pt x="230" y="1621"/>
                  </a:lnTo>
                  <a:lnTo>
                    <a:pt x="231" y="1625"/>
                  </a:lnTo>
                  <a:cubicBezTo>
                    <a:pt x="1000" y="1734"/>
                    <a:pt x="1594" y="2388"/>
                    <a:pt x="1606" y="3189"/>
                  </a:cubicBezTo>
                  <a:close/>
                </a:path>
              </a:pathLst>
            </a:custGeom>
            <a:solidFill>
              <a:srgbClr val="01ACBE"/>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6" name="Freeform 7"/>
            <p:cNvSpPr/>
            <p:nvPr/>
          </p:nvSpPr>
          <p:spPr bwMode="auto">
            <a:xfrm>
              <a:off x="411483" y="1494572"/>
              <a:ext cx="2152268" cy="1948555"/>
            </a:xfrm>
            <a:custGeom>
              <a:avLst/>
              <a:gdLst>
                <a:gd name="T0" fmla="*/ 1625 w 3541"/>
                <a:gd name="T1" fmla="*/ 2978 h 3207"/>
                <a:gd name="T2" fmla="*/ 3189 w 3541"/>
                <a:gd name="T3" fmla="*/ 1591 h 3207"/>
                <a:gd name="T4" fmla="*/ 3541 w 3541"/>
                <a:gd name="T5" fmla="*/ 823 h 3207"/>
                <a:gd name="T6" fmla="*/ 2917 w 3541"/>
                <a:gd name="T7" fmla="*/ 7 h 3207"/>
                <a:gd name="T8" fmla="*/ 2916 w 3541"/>
                <a:gd name="T9" fmla="*/ 0 h 3207"/>
                <a:gd name="T10" fmla="*/ 5 w 3541"/>
                <a:gd name="T11" fmla="*/ 3207 h 3207"/>
                <a:gd name="T12" fmla="*/ 0 w 3541"/>
                <a:gd name="T13" fmla="*/ 3205 h 3207"/>
                <a:gd name="T14" fmla="*/ 5 w 3541"/>
                <a:gd name="T15" fmla="*/ 3207 h 3207"/>
                <a:gd name="T16" fmla="*/ 805 w 3541"/>
                <a:gd name="T17" fmla="*/ 2599 h 3207"/>
                <a:gd name="T18" fmla="*/ 1621 w 3541"/>
                <a:gd name="T19" fmla="*/ 2983 h 3207"/>
                <a:gd name="T20" fmla="*/ 1625 w 3541"/>
                <a:gd name="T21" fmla="*/ 2978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41" h="3207">
                  <a:moveTo>
                    <a:pt x="1625" y="2978"/>
                  </a:moveTo>
                  <a:cubicBezTo>
                    <a:pt x="1734" y="2207"/>
                    <a:pt x="2388" y="1612"/>
                    <a:pt x="3189" y="1591"/>
                  </a:cubicBezTo>
                  <a:lnTo>
                    <a:pt x="3541" y="823"/>
                  </a:lnTo>
                  <a:lnTo>
                    <a:pt x="2917" y="7"/>
                  </a:lnTo>
                  <a:lnTo>
                    <a:pt x="2916" y="0"/>
                  </a:lnTo>
                  <a:cubicBezTo>
                    <a:pt x="1281" y="152"/>
                    <a:pt x="0" y="1529"/>
                    <a:pt x="5" y="3207"/>
                  </a:cubicBezTo>
                  <a:lnTo>
                    <a:pt x="0" y="3205"/>
                  </a:lnTo>
                  <a:cubicBezTo>
                    <a:pt x="0" y="3206"/>
                    <a:pt x="0" y="3207"/>
                    <a:pt x="5" y="3207"/>
                  </a:cubicBezTo>
                  <a:lnTo>
                    <a:pt x="805" y="2599"/>
                  </a:lnTo>
                  <a:lnTo>
                    <a:pt x="1621" y="2983"/>
                  </a:lnTo>
                  <a:lnTo>
                    <a:pt x="1625" y="2978"/>
                  </a:lnTo>
                  <a:close/>
                </a:path>
              </a:pathLst>
            </a:custGeom>
            <a:solidFill>
              <a:srgbClr val="FFC000"/>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8" name="Freeform 8"/>
            <p:cNvSpPr/>
            <p:nvPr/>
          </p:nvSpPr>
          <p:spPr bwMode="auto">
            <a:xfrm>
              <a:off x="403392" y="3260096"/>
              <a:ext cx="1949683" cy="2147783"/>
            </a:xfrm>
            <a:custGeom>
              <a:avLst/>
              <a:gdLst>
                <a:gd name="T0" fmla="*/ 2976 w 3207"/>
                <a:gd name="T1" fmla="*/ 1912 h 3537"/>
                <a:gd name="T2" fmla="*/ 1591 w 3207"/>
                <a:gd name="T3" fmla="*/ 352 h 3537"/>
                <a:gd name="T4" fmla="*/ 823 w 3207"/>
                <a:gd name="T5" fmla="*/ 0 h 3537"/>
                <a:gd name="T6" fmla="*/ 7 w 3207"/>
                <a:gd name="T7" fmla="*/ 624 h 3537"/>
                <a:gd name="T8" fmla="*/ 0 w 3207"/>
                <a:gd name="T9" fmla="*/ 619 h 3537"/>
                <a:gd name="T10" fmla="*/ 3207 w 3207"/>
                <a:gd name="T11" fmla="*/ 3536 h 3537"/>
                <a:gd name="T12" fmla="*/ 3204 w 3207"/>
                <a:gd name="T13" fmla="*/ 3537 h 3537"/>
                <a:gd name="T14" fmla="*/ 3207 w 3207"/>
                <a:gd name="T15" fmla="*/ 3536 h 3537"/>
                <a:gd name="T16" fmla="*/ 2599 w 3207"/>
                <a:gd name="T17" fmla="*/ 2736 h 3537"/>
                <a:gd name="T18" fmla="*/ 2983 w 3207"/>
                <a:gd name="T19" fmla="*/ 1904 h 3537"/>
                <a:gd name="T20" fmla="*/ 2976 w 3207"/>
                <a:gd name="T21" fmla="*/ 1912 h 3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37">
                  <a:moveTo>
                    <a:pt x="2976" y="1912"/>
                  </a:moveTo>
                  <a:cubicBezTo>
                    <a:pt x="2207" y="1803"/>
                    <a:pt x="1613" y="1150"/>
                    <a:pt x="1591" y="352"/>
                  </a:cubicBezTo>
                  <a:lnTo>
                    <a:pt x="823" y="0"/>
                  </a:lnTo>
                  <a:lnTo>
                    <a:pt x="7" y="624"/>
                  </a:lnTo>
                  <a:lnTo>
                    <a:pt x="0" y="619"/>
                  </a:lnTo>
                  <a:cubicBezTo>
                    <a:pt x="152" y="2256"/>
                    <a:pt x="1528" y="3537"/>
                    <a:pt x="3207" y="3536"/>
                  </a:cubicBezTo>
                  <a:lnTo>
                    <a:pt x="3204" y="3537"/>
                  </a:lnTo>
                  <a:cubicBezTo>
                    <a:pt x="3205" y="3537"/>
                    <a:pt x="3206" y="3537"/>
                    <a:pt x="3207" y="3536"/>
                  </a:cubicBezTo>
                  <a:lnTo>
                    <a:pt x="2599" y="2736"/>
                  </a:lnTo>
                  <a:lnTo>
                    <a:pt x="2983" y="1904"/>
                  </a:lnTo>
                  <a:lnTo>
                    <a:pt x="2976" y="1912"/>
                  </a:lnTo>
                  <a:close/>
                </a:path>
              </a:pathLst>
            </a:custGeom>
            <a:solidFill>
              <a:srgbClr val="960096"/>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0" name="Freeform 12"/>
            <p:cNvSpPr/>
            <p:nvPr/>
          </p:nvSpPr>
          <p:spPr bwMode="auto">
            <a:xfrm>
              <a:off x="2158593" y="3451228"/>
              <a:ext cx="2149027" cy="1948555"/>
            </a:xfrm>
            <a:custGeom>
              <a:avLst/>
              <a:gdLst>
                <a:gd name="T0" fmla="*/ 1910 w 3536"/>
                <a:gd name="T1" fmla="*/ 230 h 3207"/>
                <a:gd name="T2" fmla="*/ 352 w 3536"/>
                <a:gd name="T3" fmla="*/ 1604 h 3207"/>
                <a:gd name="T4" fmla="*/ 0 w 3536"/>
                <a:gd name="T5" fmla="*/ 2388 h 3207"/>
                <a:gd name="T6" fmla="*/ 624 w 3536"/>
                <a:gd name="T7" fmla="*/ 3204 h 3207"/>
                <a:gd name="T8" fmla="*/ 618 w 3536"/>
                <a:gd name="T9" fmla="*/ 3207 h 3207"/>
                <a:gd name="T10" fmla="*/ 3536 w 3536"/>
                <a:gd name="T11" fmla="*/ 4 h 3207"/>
                <a:gd name="T12" fmla="*/ 3534 w 3536"/>
                <a:gd name="T13" fmla="*/ 2 h 3207"/>
                <a:gd name="T14" fmla="*/ 3536 w 3536"/>
                <a:gd name="T15" fmla="*/ 4 h 3207"/>
                <a:gd name="T16" fmla="*/ 2736 w 3536"/>
                <a:gd name="T17" fmla="*/ 596 h 3207"/>
                <a:gd name="T18" fmla="*/ 1904 w 3536"/>
                <a:gd name="T19" fmla="*/ 228 h 3207"/>
                <a:gd name="T20" fmla="*/ 1910 w 3536"/>
                <a:gd name="T21" fmla="*/ 230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36" h="3207">
                  <a:moveTo>
                    <a:pt x="1910" y="230"/>
                  </a:moveTo>
                  <a:cubicBezTo>
                    <a:pt x="1801" y="1000"/>
                    <a:pt x="1147" y="1595"/>
                    <a:pt x="352" y="1604"/>
                  </a:cubicBezTo>
                  <a:lnTo>
                    <a:pt x="0" y="2388"/>
                  </a:lnTo>
                  <a:lnTo>
                    <a:pt x="624" y="3204"/>
                  </a:lnTo>
                  <a:lnTo>
                    <a:pt x="618" y="3207"/>
                  </a:lnTo>
                  <a:cubicBezTo>
                    <a:pt x="2254" y="3055"/>
                    <a:pt x="3534" y="1678"/>
                    <a:pt x="3536" y="4"/>
                  </a:cubicBezTo>
                  <a:lnTo>
                    <a:pt x="3534" y="2"/>
                  </a:lnTo>
                  <a:cubicBezTo>
                    <a:pt x="3534" y="1"/>
                    <a:pt x="3534" y="0"/>
                    <a:pt x="3536" y="4"/>
                  </a:cubicBezTo>
                  <a:lnTo>
                    <a:pt x="2736" y="596"/>
                  </a:lnTo>
                  <a:lnTo>
                    <a:pt x="1904" y="228"/>
                  </a:lnTo>
                  <a:lnTo>
                    <a:pt x="1910" y="230"/>
                  </a:lnTo>
                  <a:close/>
                </a:path>
              </a:pathLst>
            </a:custGeom>
            <a:solidFill>
              <a:srgbClr val="C00000"/>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2" name="椭圆 51"/>
            <p:cNvSpPr/>
            <p:nvPr/>
          </p:nvSpPr>
          <p:spPr>
            <a:xfrm>
              <a:off x="1604059" y="2679937"/>
              <a:ext cx="1527186" cy="1526391"/>
            </a:xfrm>
            <a:prstGeom prst="ellipse">
              <a:avLst/>
            </a:prstGeom>
            <a:solidFill>
              <a:srgbClr val="F5F5F5"/>
            </a:solidFill>
            <a:ln w="22225" cap="flat" cmpd="sng" algn="ctr">
              <a:gradFill flip="none" rotWithShape="1">
                <a:gsLst>
                  <a:gs pos="39000">
                    <a:sysClr val="window" lastClr="FFFFFF"/>
                  </a:gs>
                  <a:gs pos="100000">
                    <a:sysClr val="window" lastClr="FFFFFF">
                      <a:lumMod val="85000"/>
                    </a:sysClr>
                  </a:gs>
                </a:gsLst>
                <a:lin ang="2700000" scaled="1"/>
                <a:tileRect/>
              </a:gradFill>
              <a:prstDash val="solid"/>
            </a:ln>
            <a:effectLst>
              <a:outerShdw blurRad="139700" dist="88900" dir="2700000" algn="tl" rotWithShape="0">
                <a:prstClr val="black">
                  <a:alpha val="1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3" name="任意多边形 52"/>
            <p:cNvSpPr/>
            <p:nvPr/>
          </p:nvSpPr>
          <p:spPr>
            <a:xfrm>
              <a:off x="1918930" y="3063224"/>
              <a:ext cx="898097" cy="659499"/>
            </a:xfrm>
            <a:custGeom>
              <a:avLst/>
              <a:gdLst/>
              <a:ahLst/>
              <a:cxnLst/>
              <a:rect l="l" t="t" r="r" b="b"/>
              <a:pathLst>
                <a:path w="898071" h="658586">
                  <a:moveTo>
                    <a:pt x="359228" y="0"/>
                  </a:moveTo>
                  <a:cubicBezTo>
                    <a:pt x="407874" y="0"/>
                    <a:pt x="452388" y="13565"/>
                    <a:pt x="492770" y="40694"/>
                  </a:cubicBezTo>
                  <a:cubicBezTo>
                    <a:pt x="533152" y="67824"/>
                    <a:pt x="562542" y="103840"/>
                    <a:pt x="580939" y="148744"/>
                  </a:cubicBezTo>
                  <a:cubicBezTo>
                    <a:pt x="603080" y="129410"/>
                    <a:pt x="628962" y="119743"/>
                    <a:pt x="658585" y="119743"/>
                  </a:cubicBezTo>
                  <a:cubicBezTo>
                    <a:pt x="691640" y="119743"/>
                    <a:pt x="719860" y="131437"/>
                    <a:pt x="743247" y="154824"/>
                  </a:cubicBezTo>
                  <a:cubicBezTo>
                    <a:pt x="766634" y="178212"/>
                    <a:pt x="778328" y="206432"/>
                    <a:pt x="778328" y="239486"/>
                  </a:cubicBezTo>
                  <a:cubicBezTo>
                    <a:pt x="778328" y="263185"/>
                    <a:pt x="771936" y="284702"/>
                    <a:pt x="759151" y="304035"/>
                  </a:cubicBezTo>
                  <a:cubicBezTo>
                    <a:pt x="799689" y="313702"/>
                    <a:pt x="832977" y="334828"/>
                    <a:pt x="859014" y="367415"/>
                  </a:cubicBezTo>
                  <a:cubicBezTo>
                    <a:pt x="885053" y="400001"/>
                    <a:pt x="898071" y="437186"/>
                    <a:pt x="898071" y="478972"/>
                  </a:cubicBezTo>
                  <a:cubicBezTo>
                    <a:pt x="898071" y="528553"/>
                    <a:pt x="880530" y="570884"/>
                    <a:pt x="845449" y="605965"/>
                  </a:cubicBezTo>
                  <a:cubicBezTo>
                    <a:pt x="810369" y="641046"/>
                    <a:pt x="768038" y="658586"/>
                    <a:pt x="718456" y="658586"/>
                  </a:cubicBezTo>
                  <a:lnTo>
                    <a:pt x="209550" y="658586"/>
                  </a:lnTo>
                  <a:cubicBezTo>
                    <a:pt x="151861" y="658586"/>
                    <a:pt x="102514" y="638083"/>
                    <a:pt x="61508" y="597078"/>
                  </a:cubicBezTo>
                  <a:cubicBezTo>
                    <a:pt x="20503" y="556072"/>
                    <a:pt x="0" y="506725"/>
                    <a:pt x="0" y="449036"/>
                  </a:cubicBezTo>
                  <a:cubicBezTo>
                    <a:pt x="0" y="408498"/>
                    <a:pt x="10914" y="371079"/>
                    <a:pt x="32742" y="336777"/>
                  </a:cubicBezTo>
                  <a:cubicBezTo>
                    <a:pt x="54570" y="302476"/>
                    <a:pt x="83882" y="276750"/>
                    <a:pt x="120678" y="259599"/>
                  </a:cubicBezTo>
                  <a:cubicBezTo>
                    <a:pt x="120055" y="250244"/>
                    <a:pt x="119742" y="243540"/>
                    <a:pt x="119742" y="239486"/>
                  </a:cubicBezTo>
                  <a:cubicBezTo>
                    <a:pt x="119742" y="173378"/>
                    <a:pt x="143129" y="116937"/>
                    <a:pt x="189904" y="70162"/>
                  </a:cubicBezTo>
                  <a:cubicBezTo>
                    <a:pt x="236679" y="23388"/>
                    <a:pt x="293121" y="0"/>
                    <a:pt x="359228" y="0"/>
                  </a:cubicBezTo>
                  <a:close/>
                  <a:moveTo>
                    <a:pt x="419100" y="164647"/>
                  </a:moveTo>
                  <a:cubicBezTo>
                    <a:pt x="414734" y="164647"/>
                    <a:pt x="411148" y="166050"/>
                    <a:pt x="408341" y="168857"/>
                  </a:cubicBezTo>
                  <a:lnTo>
                    <a:pt x="244163" y="333035"/>
                  </a:lnTo>
                  <a:cubicBezTo>
                    <a:pt x="241045" y="336777"/>
                    <a:pt x="239485" y="340519"/>
                    <a:pt x="239485" y="344261"/>
                  </a:cubicBezTo>
                  <a:cubicBezTo>
                    <a:pt x="239485" y="348627"/>
                    <a:pt x="240889" y="352213"/>
                    <a:pt x="243695" y="355019"/>
                  </a:cubicBezTo>
                  <a:cubicBezTo>
                    <a:pt x="246502" y="357826"/>
                    <a:pt x="250088" y="359229"/>
                    <a:pt x="254453" y="359229"/>
                  </a:cubicBezTo>
                  <a:lnTo>
                    <a:pt x="359228" y="359229"/>
                  </a:lnTo>
                  <a:lnTo>
                    <a:pt x="359228" y="523875"/>
                  </a:lnTo>
                  <a:cubicBezTo>
                    <a:pt x="359228" y="527929"/>
                    <a:pt x="360710" y="531437"/>
                    <a:pt x="363672" y="534400"/>
                  </a:cubicBezTo>
                  <a:cubicBezTo>
                    <a:pt x="366634" y="537362"/>
                    <a:pt x="370142" y="538843"/>
                    <a:pt x="374196" y="538843"/>
                  </a:cubicBezTo>
                  <a:lnTo>
                    <a:pt x="464003" y="538843"/>
                  </a:lnTo>
                  <a:cubicBezTo>
                    <a:pt x="468057" y="538843"/>
                    <a:pt x="471566" y="537362"/>
                    <a:pt x="474527" y="534400"/>
                  </a:cubicBezTo>
                  <a:cubicBezTo>
                    <a:pt x="477490" y="531437"/>
                    <a:pt x="478971" y="527929"/>
                    <a:pt x="478971" y="523875"/>
                  </a:cubicBezTo>
                  <a:lnTo>
                    <a:pt x="478971" y="359229"/>
                  </a:lnTo>
                  <a:lnTo>
                    <a:pt x="583746" y="359229"/>
                  </a:lnTo>
                  <a:cubicBezTo>
                    <a:pt x="587801" y="359229"/>
                    <a:pt x="591308" y="357748"/>
                    <a:pt x="594270" y="354785"/>
                  </a:cubicBezTo>
                  <a:cubicBezTo>
                    <a:pt x="597233" y="351823"/>
                    <a:pt x="598714" y="348315"/>
                    <a:pt x="598714" y="344261"/>
                  </a:cubicBezTo>
                  <a:cubicBezTo>
                    <a:pt x="598714" y="339896"/>
                    <a:pt x="597310" y="336309"/>
                    <a:pt x="594504" y="333503"/>
                  </a:cubicBezTo>
                  <a:lnTo>
                    <a:pt x="429858" y="168857"/>
                  </a:lnTo>
                  <a:cubicBezTo>
                    <a:pt x="427051" y="166050"/>
                    <a:pt x="423465" y="164647"/>
                    <a:pt x="419100" y="164647"/>
                  </a:cubicBezTo>
                  <a:close/>
                </a:path>
              </a:pathLst>
            </a:custGeom>
            <a:solidFill>
              <a:sysClr val="windowText" lastClr="000000">
                <a:lumMod val="50000"/>
                <a:lumOff val="50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05477" name="组合 74"/>
          <p:cNvGrpSpPr/>
          <p:nvPr/>
        </p:nvGrpSpPr>
        <p:grpSpPr>
          <a:xfrm>
            <a:off x="3765550" y="2713038"/>
            <a:ext cx="4983163" cy="2600325"/>
            <a:chOff x="6208125" y="1896619"/>
            <a:chExt cx="3946577" cy="2599844"/>
          </a:xfrm>
        </p:grpSpPr>
        <p:cxnSp>
          <p:nvCxnSpPr>
            <p:cNvPr id="106502" name="直接连接符 75"/>
            <p:cNvCxnSpPr/>
            <p:nvPr/>
          </p:nvCxnSpPr>
          <p:spPr>
            <a:xfrm>
              <a:off x="6327224" y="1896619"/>
              <a:ext cx="2624395" cy="0"/>
            </a:xfrm>
            <a:prstGeom prst="line">
              <a:avLst/>
            </a:prstGeom>
            <a:ln w="12700" cap="flat" cmpd="sng">
              <a:solidFill>
                <a:srgbClr val="A6A6A6"/>
              </a:solidFill>
              <a:prstDash val="solid"/>
              <a:headEnd type="none" w="med" len="med"/>
              <a:tailEnd type="none" w="med" len="med"/>
            </a:ln>
          </p:spPr>
        </p:cxnSp>
        <p:cxnSp>
          <p:nvCxnSpPr>
            <p:cNvPr id="77" name="直接连接符 76"/>
            <p:cNvCxnSpPr/>
            <p:nvPr/>
          </p:nvCxnSpPr>
          <p:spPr>
            <a:xfrm>
              <a:off x="6327566" y="1906142"/>
              <a:ext cx="3827136" cy="0"/>
            </a:xfrm>
            <a:prstGeom prst="line">
              <a:avLst/>
            </a:prstGeom>
            <a:noFill/>
            <a:ln w="12700" cap="flat" cmpd="sng" algn="ctr">
              <a:solidFill>
                <a:schemeClr val="bg2">
                  <a:lumMod val="60000"/>
                  <a:lumOff val="40000"/>
                </a:schemeClr>
              </a:solidFill>
              <a:prstDash val="solid"/>
              <a:headEnd type="none"/>
              <a:tailEnd type="none"/>
            </a:ln>
            <a:effectLst/>
          </p:spPr>
        </p:cxnSp>
        <p:cxnSp>
          <p:nvCxnSpPr>
            <p:cNvPr id="83" name="直接连接符 82"/>
            <p:cNvCxnSpPr/>
            <p:nvPr/>
          </p:nvCxnSpPr>
          <p:spPr>
            <a:xfrm>
              <a:off x="6208125" y="4496463"/>
              <a:ext cx="3946577" cy="0"/>
            </a:xfrm>
            <a:prstGeom prst="line">
              <a:avLst/>
            </a:prstGeom>
            <a:noFill/>
            <a:ln w="12700" cap="flat" cmpd="sng" algn="ctr">
              <a:solidFill>
                <a:schemeClr val="bg2">
                  <a:lumMod val="60000"/>
                  <a:lumOff val="40000"/>
                </a:schemeClr>
              </a:solidFill>
              <a:prstDash val="solid"/>
              <a:headEnd type="none"/>
              <a:tailEnd type="none"/>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75493">
                                            <p:txEl>
                                              <p:pRg st="0" end="0"/>
                                            </p:txEl>
                                          </p:spTgt>
                                        </p:tgtEl>
                                        <p:attrNameLst>
                                          <p:attrName>style.visibility</p:attrName>
                                        </p:attrNameLst>
                                      </p:cBhvr>
                                      <p:to>
                                        <p:strVal val="visible"/>
                                      </p:to>
                                    </p:set>
                                    <p:animEffect transition="in" filter="diamond(in)">
                                      <p:cBhvr>
                                        <p:cTn id="7" dur="2000"/>
                                        <p:tgtEl>
                                          <p:spTgt spid="575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05477"/>
                                        </p:tgtEl>
                                        <p:attrNameLst>
                                          <p:attrName>style.visibility</p:attrName>
                                        </p:attrNameLst>
                                      </p:cBhvr>
                                      <p:to>
                                        <p:strVal val="visible"/>
                                      </p:to>
                                    </p:set>
                                    <p:animEffect transition="in" filter="diamond(in)">
                                      <p:cBhvr>
                                        <p:cTn id="12" dur="2000"/>
                                        <p:tgtEl>
                                          <p:spTgt spid="105477"/>
                                        </p:tgtEl>
                                      </p:cBhvr>
                                    </p:animEffect>
                                  </p:childTnLst>
                                </p:cTn>
                              </p:par>
                            </p:childTnLst>
                          </p:cTn>
                        </p:par>
                        <p:par>
                          <p:cTn id="13" fill="hold">
                            <p:stCondLst>
                              <p:cond delay="2000"/>
                            </p:stCondLst>
                            <p:childTnLst>
                              <p:par>
                                <p:cTn id="14" presetID="8" presetClass="entr" presetSubtype="16" fill="hold" grpId="0" nodeType="afterEffect">
                                  <p:stCondLst>
                                    <p:cond delay="0"/>
                                  </p:stCondLst>
                                  <p:childTnLst>
                                    <p:set>
                                      <p:cBhvr>
                                        <p:cTn id="15" dur="1" fill="hold">
                                          <p:stCondLst>
                                            <p:cond delay="0"/>
                                          </p:stCondLst>
                                        </p:cTn>
                                        <p:tgtEl>
                                          <p:spTgt spid="575493">
                                            <p:txEl>
                                              <p:pRg st="2" end="2"/>
                                            </p:txEl>
                                          </p:spTgt>
                                        </p:tgtEl>
                                        <p:attrNameLst>
                                          <p:attrName>style.visibility</p:attrName>
                                        </p:attrNameLst>
                                      </p:cBhvr>
                                      <p:to>
                                        <p:strVal val="visible"/>
                                      </p:to>
                                    </p:set>
                                    <p:animEffect transition="in" filter="diamond(in)">
                                      <p:cBhvr>
                                        <p:cTn id="16" dur="2000"/>
                                        <p:tgtEl>
                                          <p:spTgt spid="5754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p:nvPr/>
        </p:nvGrpSpPr>
        <p:grpSpPr>
          <a:xfrm>
            <a:off x="179388" y="1557338"/>
            <a:ext cx="1098550" cy="1246187"/>
            <a:chOff x="172" y="2095"/>
            <a:chExt cx="692" cy="785"/>
          </a:xfrm>
        </p:grpSpPr>
        <p:sp>
          <p:nvSpPr>
            <p:cNvPr id="103492" name="Rectangle 8"/>
            <p:cNvSpPr>
              <a:spLocks noChangeArrowheads="1"/>
            </p:cNvSpPr>
            <p:nvPr/>
          </p:nvSpPr>
          <p:spPr bwMode="auto">
            <a:xfrm>
              <a:off x="433" y="2544"/>
              <a:ext cx="431"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93" name="Line 9"/>
            <p:cNvSpPr>
              <a:spLocks noChangeShapeType="1"/>
            </p:cNvSpPr>
            <p:nvPr/>
          </p:nvSpPr>
          <p:spPr bwMode="auto">
            <a:xfrm>
              <a:off x="672"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94" name="Text Box 10"/>
            <p:cNvSpPr txBox="1">
              <a:spLocks noChangeArrowheads="1"/>
            </p:cNvSpPr>
            <p:nvPr/>
          </p:nvSpPr>
          <p:spPr bwMode="auto">
            <a:xfrm>
              <a:off x="172" y="2095"/>
              <a:ext cx="23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0099"/>
                  </a:solidFill>
                  <a:effectLst/>
                  <a:uLnTx/>
                  <a:uFillTx/>
                  <a:latin typeface="+mn-lt"/>
                  <a:ea typeface="+mn-ea"/>
                  <a:cs typeface="+mn-ea"/>
                  <a:sym typeface="+mn-lt"/>
                </a:rPr>
                <a:t>L</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95" name="Arc 11"/>
            <p:cNvSpPr>
              <a:spLocks noChangeArrowheads="1"/>
            </p:cNvSpPr>
            <p:nvPr/>
          </p:nvSpPr>
          <p:spPr bwMode="auto">
            <a:xfrm rot="11140854">
              <a:off x="252" y="2432"/>
              <a:ext cx="330" cy="310"/>
            </a:xfrm>
            <a:custGeom>
              <a:avLst/>
              <a:gdLst>
                <a:gd name="T0" fmla="*/ 0 w 21600"/>
                <a:gd name="T1" fmla="*/ 0 h 20719"/>
                <a:gd name="T2" fmla="*/ 0 w 21600"/>
                <a:gd name="T3" fmla="*/ 0 h 20719"/>
                <a:gd name="T4" fmla="*/ 0 w 21600"/>
                <a:gd name="T5" fmla="*/ 0 h 20719"/>
                <a:gd name="T6" fmla="*/ 0 w 21600"/>
                <a:gd name="T7" fmla="*/ 0 h 20719"/>
                <a:gd name="T8" fmla="*/ 0 w 21600"/>
                <a:gd name="T9" fmla="*/ 0 h 20719"/>
                <a:gd name="T10" fmla="*/ 0 w 21600"/>
                <a:gd name="T11" fmla="*/ 0 h 20719"/>
                <a:gd name="T12" fmla="*/ 0 w 21600"/>
                <a:gd name="T13" fmla="*/ 0 h 207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0719" fill="none">
                  <a:moveTo>
                    <a:pt x="9627" y="0"/>
                  </a:moveTo>
                  <a:cubicBezTo>
                    <a:pt x="16963" y="3652"/>
                    <a:pt x="21600" y="11141"/>
                    <a:pt x="21600" y="19336"/>
                  </a:cubicBezTo>
                  <a:cubicBezTo>
                    <a:pt x="21600" y="19797"/>
                    <a:pt x="21585" y="20258"/>
                    <a:pt x="21555" y="20718"/>
                  </a:cubicBezTo>
                </a:path>
                <a:path w="21600" h="20719" stroke="0">
                  <a:moveTo>
                    <a:pt x="9627" y="0"/>
                  </a:moveTo>
                  <a:cubicBezTo>
                    <a:pt x="16963" y="3652"/>
                    <a:pt x="21600" y="11141"/>
                    <a:pt x="21600" y="19336"/>
                  </a:cubicBezTo>
                  <a:cubicBezTo>
                    <a:pt x="21600" y="19797"/>
                    <a:pt x="21585" y="20258"/>
                    <a:pt x="21555" y="20718"/>
                  </a:cubicBezTo>
                  <a:lnTo>
                    <a:pt x="0" y="19336"/>
                  </a:lnTo>
                  <a:lnTo>
                    <a:pt x="9627" y="0"/>
                  </a:lnTo>
                  <a:close/>
                </a:path>
              </a:pathLst>
            </a:custGeom>
            <a:noFill/>
            <a:ln w="31750">
              <a:solidFill>
                <a:srgbClr val="000099"/>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13"/>
          <p:cNvGrpSpPr/>
          <p:nvPr/>
        </p:nvGrpSpPr>
        <p:grpSpPr>
          <a:xfrm>
            <a:off x="1084263" y="2249488"/>
            <a:ext cx="1371600" cy="533400"/>
            <a:chOff x="768" y="2544"/>
            <a:chExt cx="864" cy="336"/>
          </a:xfrm>
        </p:grpSpPr>
        <p:sp>
          <p:nvSpPr>
            <p:cNvPr id="103489" name="Rectangle 14"/>
            <p:cNvSpPr>
              <a:spLocks noChangeArrowheads="1"/>
            </p:cNvSpPr>
            <p:nvPr/>
          </p:nvSpPr>
          <p:spPr bwMode="auto">
            <a:xfrm>
              <a:off x="1056" y="2544"/>
              <a:ext cx="576"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8080"/>
                  </a:solidFill>
                  <a:effectLst/>
                  <a:uLnTx/>
                  <a:uFillTx/>
                  <a:latin typeface="+mn-lt"/>
                  <a:ea typeface="+mn-ea"/>
                  <a:cs typeface="+mn-ea"/>
                  <a:sym typeface="+mn-lt"/>
                </a:rPr>
                <a:t> 21</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90" name="Line 15"/>
            <p:cNvSpPr>
              <a:spLocks noChangeShapeType="1"/>
            </p:cNvSpPr>
            <p:nvPr/>
          </p:nvSpPr>
          <p:spPr bwMode="auto">
            <a:xfrm>
              <a:off x="1440"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91" name="Line 16"/>
            <p:cNvSpPr>
              <a:spLocks noChangeShapeType="1"/>
            </p:cNvSpPr>
            <p:nvPr/>
          </p:nvSpPr>
          <p:spPr bwMode="auto">
            <a:xfrm>
              <a:off x="768" y="2736"/>
              <a:ext cx="288" cy="0"/>
            </a:xfrm>
            <a:prstGeom prst="line">
              <a:avLst/>
            </a:prstGeom>
            <a:noFill/>
            <a:ln w="25400">
              <a:solidFill>
                <a:srgbClr val="008080"/>
              </a:solidFill>
              <a:round/>
              <a:headEnd type="oval" w="sm" len="sm"/>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4" name="Group 17"/>
          <p:cNvGrpSpPr/>
          <p:nvPr/>
        </p:nvGrpSpPr>
        <p:grpSpPr>
          <a:xfrm>
            <a:off x="2303463" y="2249488"/>
            <a:ext cx="1371600" cy="533400"/>
            <a:chOff x="1536" y="2544"/>
            <a:chExt cx="864" cy="336"/>
          </a:xfrm>
        </p:grpSpPr>
        <p:sp>
          <p:nvSpPr>
            <p:cNvPr id="103486" name="Rectangle 18"/>
            <p:cNvSpPr>
              <a:spLocks noChangeArrowheads="1"/>
            </p:cNvSpPr>
            <p:nvPr/>
          </p:nvSpPr>
          <p:spPr bwMode="auto">
            <a:xfrm>
              <a:off x="1824" y="2544"/>
              <a:ext cx="576"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8080"/>
                  </a:solidFill>
                  <a:effectLst/>
                  <a:uLnTx/>
                  <a:uFillTx/>
                  <a:latin typeface="+mn-lt"/>
                  <a:ea typeface="+mn-ea"/>
                  <a:cs typeface="+mn-ea"/>
                  <a:sym typeface="+mn-lt"/>
                </a:rPr>
                <a:t> 18</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87" name="Line 19"/>
            <p:cNvSpPr>
              <a:spLocks noChangeShapeType="1"/>
            </p:cNvSpPr>
            <p:nvPr/>
          </p:nvSpPr>
          <p:spPr bwMode="auto">
            <a:xfrm>
              <a:off x="2208"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88" name="Line 20"/>
            <p:cNvSpPr>
              <a:spLocks noChangeShapeType="1"/>
            </p:cNvSpPr>
            <p:nvPr/>
          </p:nvSpPr>
          <p:spPr bwMode="auto">
            <a:xfrm>
              <a:off x="1536" y="2736"/>
              <a:ext cx="288" cy="0"/>
            </a:xfrm>
            <a:prstGeom prst="line">
              <a:avLst/>
            </a:prstGeom>
            <a:noFill/>
            <a:ln w="25400">
              <a:solidFill>
                <a:srgbClr val="008080"/>
              </a:solidFill>
              <a:round/>
              <a:headEnd type="oval" w="sm" len="sm"/>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5" name="Group 21"/>
          <p:cNvGrpSpPr/>
          <p:nvPr/>
        </p:nvGrpSpPr>
        <p:grpSpPr>
          <a:xfrm>
            <a:off x="3522663" y="2249488"/>
            <a:ext cx="1371600" cy="533400"/>
            <a:chOff x="2304" y="2544"/>
            <a:chExt cx="864" cy="336"/>
          </a:xfrm>
        </p:grpSpPr>
        <p:sp>
          <p:nvSpPr>
            <p:cNvPr id="103483" name="Rectangle 22"/>
            <p:cNvSpPr>
              <a:spLocks noChangeArrowheads="1"/>
            </p:cNvSpPr>
            <p:nvPr/>
          </p:nvSpPr>
          <p:spPr bwMode="auto">
            <a:xfrm>
              <a:off x="2592" y="2544"/>
              <a:ext cx="576"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30</a:t>
              </a:r>
            </a:p>
          </p:txBody>
        </p:sp>
        <p:sp>
          <p:nvSpPr>
            <p:cNvPr id="103484" name="Line 23"/>
            <p:cNvSpPr>
              <a:spLocks noChangeShapeType="1"/>
            </p:cNvSpPr>
            <p:nvPr/>
          </p:nvSpPr>
          <p:spPr bwMode="auto">
            <a:xfrm>
              <a:off x="2976"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85" name="Line 24"/>
            <p:cNvSpPr>
              <a:spLocks noChangeShapeType="1"/>
            </p:cNvSpPr>
            <p:nvPr/>
          </p:nvSpPr>
          <p:spPr bwMode="auto">
            <a:xfrm>
              <a:off x="2304" y="2736"/>
              <a:ext cx="288" cy="0"/>
            </a:xfrm>
            <a:prstGeom prst="line">
              <a:avLst/>
            </a:prstGeom>
            <a:noFill/>
            <a:ln w="25400">
              <a:solidFill>
                <a:srgbClr val="008080"/>
              </a:solidFill>
              <a:round/>
              <a:headEnd type="oval" w="sm" len="sm"/>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6" name="Group 25"/>
          <p:cNvGrpSpPr/>
          <p:nvPr/>
        </p:nvGrpSpPr>
        <p:grpSpPr>
          <a:xfrm>
            <a:off x="4741863" y="2249488"/>
            <a:ext cx="1371600" cy="533400"/>
            <a:chOff x="3072" y="2544"/>
            <a:chExt cx="864" cy="336"/>
          </a:xfrm>
        </p:grpSpPr>
        <p:sp>
          <p:nvSpPr>
            <p:cNvPr id="103480" name="Rectangle 26"/>
            <p:cNvSpPr>
              <a:spLocks noChangeArrowheads="1"/>
            </p:cNvSpPr>
            <p:nvPr/>
          </p:nvSpPr>
          <p:spPr bwMode="auto">
            <a:xfrm>
              <a:off x="3360" y="2544"/>
              <a:ext cx="576"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8080"/>
                  </a:solidFill>
                  <a:effectLst/>
                  <a:uLnTx/>
                  <a:uFillTx/>
                  <a:latin typeface="+mn-lt"/>
                  <a:ea typeface="+mn-ea"/>
                  <a:cs typeface="+mn-ea"/>
                  <a:sym typeface="+mn-lt"/>
                </a:rPr>
                <a:t> 75</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81" name="Line 27"/>
            <p:cNvSpPr>
              <a:spLocks noChangeShapeType="1"/>
            </p:cNvSpPr>
            <p:nvPr/>
          </p:nvSpPr>
          <p:spPr bwMode="auto">
            <a:xfrm>
              <a:off x="3744"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82" name="Line 28"/>
            <p:cNvSpPr>
              <a:spLocks noChangeShapeType="1"/>
            </p:cNvSpPr>
            <p:nvPr/>
          </p:nvSpPr>
          <p:spPr bwMode="auto">
            <a:xfrm>
              <a:off x="3072" y="2736"/>
              <a:ext cx="288" cy="0"/>
            </a:xfrm>
            <a:prstGeom prst="line">
              <a:avLst/>
            </a:prstGeom>
            <a:noFill/>
            <a:ln w="25400">
              <a:solidFill>
                <a:srgbClr val="008080"/>
              </a:solidFill>
              <a:round/>
              <a:headEnd type="oval" w="sm" len="sm"/>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7" name="Group 29"/>
          <p:cNvGrpSpPr/>
          <p:nvPr/>
        </p:nvGrpSpPr>
        <p:grpSpPr>
          <a:xfrm>
            <a:off x="5961063" y="2249488"/>
            <a:ext cx="1371600" cy="533400"/>
            <a:chOff x="3840" y="2544"/>
            <a:chExt cx="864" cy="336"/>
          </a:xfrm>
        </p:grpSpPr>
        <p:sp>
          <p:nvSpPr>
            <p:cNvPr id="103477" name="Rectangle 30"/>
            <p:cNvSpPr>
              <a:spLocks noChangeArrowheads="1"/>
            </p:cNvSpPr>
            <p:nvPr/>
          </p:nvSpPr>
          <p:spPr bwMode="auto">
            <a:xfrm>
              <a:off x="4128" y="2544"/>
              <a:ext cx="576"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8080"/>
                  </a:solidFill>
                  <a:effectLst/>
                  <a:uLnTx/>
                  <a:uFillTx/>
                  <a:latin typeface="+mn-lt"/>
                  <a:ea typeface="+mn-ea"/>
                  <a:cs typeface="+mn-ea"/>
                  <a:sym typeface="+mn-lt"/>
                </a:rPr>
                <a:t> 42</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78" name="Line 31"/>
            <p:cNvSpPr>
              <a:spLocks noChangeShapeType="1"/>
            </p:cNvSpPr>
            <p:nvPr/>
          </p:nvSpPr>
          <p:spPr bwMode="auto">
            <a:xfrm>
              <a:off x="4512"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79" name="Line 32"/>
            <p:cNvSpPr>
              <a:spLocks noChangeShapeType="1"/>
            </p:cNvSpPr>
            <p:nvPr/>
          </p:nvSpPr>
          <p:spPr bwMode="auto">
            <a:xfrm>
              <a:off x="3840" y="2736"/>
              <a:ext cx="288" cy="0"/>
            </a:xfrm>
            <a:prstGeom prst="line">
              <a:avLst/>
            </a:prstGeom>
            <a:noFill/>
            <a:ln w="25400">
              <a:solidFill>
                <a:srgbClr val="008080"/>
              </a:solidFill>
              <a:round/>
              <a:headEnd type="oval" w="sm" len="sm"/>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8" name="Group 33"/>
          <p:cNvGrpSpPr/>
          <p:nvPr/>
        </p:nvGrpSpPr>
        <p:grpSpPr>
          <a:xfrm>
            <a:off x="7180263" y="2227263"/>
            <a:ext cx="1371600" cy="573087"/>
            <a:chOff x="4608" y="2530"/>
            <a:chExt cx="864" cy="361"/>
          </a:xfrm>
        </p:grpSpPr>
        <p:sp>
          <p:nvSpPr>
            <p:cNvPr id="103473" name="Rectangle 34"/>
            <p:cNvSpPr>
              <a:spLocks noChangeArrowheads="1"/>
            </p:cNvSpPr>
            <p:nvPr/>
          </p:nvSpPr>
          <p:spPr bwMode="auto">
            <a:xfrm>
              <a:off x="4896" y="2544"/>
              <a:ext cx="576" cy="336"/>
            </a:xfrm>
            <a:prstGeom prst="rect">
              <a:avLst/>
            </a:prstGeom>
            <a:solidFill>
              <a:srgbClr val="CCFFFF">
                <a:alpha val="50195"/>
              </a:srgbClr>
            </a:solidFill>
            <a:ln w="25400">
              <a:solidFill>
                <a:srgbClr val="00808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8080"/>
                  </a:solidFill>
                  <a:effectLst/>
                  <a:uLnTx/>
                  <a:uFillTx/>
                  <a:latin typeface="+mn-lt"/>
                  <a:ea typeface="+mn-ea"/>
                  <a:cs typeface="+mn-ea"/>
                  <a:sym typeface="+mn-lt"/>
                </a:rPr>
                <a:t>56</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74" name="Line 35"/>
            <p:cNvSpPr>
              <a:spLocks noChangeShapeType="1"/>
            </p:cNvSpPr>
            <p:nvPr/>
          </p:nvSpPr>
          <p:spPr bwMode="auto">
            <a:xfrm>
              <a:off x="5204" y="2544"/>
              <a:ext cx="0" cy="336"/>
            </a:xfrm>
            <a:prstGeom prst="line">
              <a:avLst/>
            </a:prstGeom>
            <a:noFill/>
            <a:ln w="9525">
              <a:solidFill>
                <a:srgbClr val="00808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75" name="Text Box 36"/>
            <p:cNvSpPr txBox="1">
              <a:spLocks noChangeArrowheads="1"/>
            </p:cNvSpPr>
            <p:nvPr/>
          </p:nvSpPr>
          <p:spPr bwMode="auto">
            <a:xfrm flipH="1">
              <a:off x="5159" y="2530"/>
              <a:ext cx="23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008080"/>
                  </a:solidFill>
                  <a:effectLst/>
                  <a:uLnTx/>
                  <a:uFillTx/>
                  <a:latin typeface="+mn-lt"/>
                  <a:ea typeface="+mn-ea"/>
                  <a:cs typeface="+mn-ea"/>
                  <a:sym typeface="+mn-lt"/>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03476" name="Line 37"/>
            <p:cNvSpPr>
              <a:spLocks noChangeShapeType="1"/>
            </p:cNvSpPr>
            <p:nvPr/>
          </p:nvSpPr>
          <p:spPr bwMode="auto">
            <a:xfrm>
              <a:off x="4608" y="2736"/>
              <a:ext cx="288" cy="0"/>
            </a:xfrm>
            <a:prstGeom prst="line">
              <a:avLst/>
            </a:prstGeom>
            <a:noFill/>
            <a:ln w="25400">
              <a:solidFill>
                <a:srgbClr val="008080"/>
              </a:solidFill>
              <a:round/>
              <a:headEnd type="oval" w="sm" len="sm"/>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9" name="Group 38"/>
          <p:cNvGrpSpPr/>
          <p:nvPr/>
        </p:nvGrpSpPr>
        <p:grpSpPr>
          <a:xfrm>
            <a:off x="1789113" y="2859088"/>
            <a:ext cx="338137" cy="990600"/>
            <a:chOff x="1212" y="2880"/>
            <a:chExt cx="213" cy="624"/>
          </a:xfrm>
        </p:grpSpPr>
        <p:sp>
          <p:nvSpPr>
            <p:cNvPr id="103471" name="Line 39"/>
            <p:cNvSpPr>
              <a:spLocks noChangeShapeType="1"/>
            </p:cNvSpPr>
            <p:nvPr/>
          </p:nvSpPr>
          <p:spPr bwMode="auto">
            <a:xfrm>
              <a:off x="1248" y="2880"/>
              <a:ext cx="0" cy="624"/>
            </a:xfrm>
            <a:prstGeom prst="line">
              <a:avLst/>
            </a:prstGeom>
            <a:noFill/>
            <a:ln w="31750">
              <a:solidFill>
                <a:srgbClr val="990000"/>
              </a:solidFill>
              <a:round/>
              <a:head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72" name="Text Box 40"/>
            <p:cNvSpPr txBox="1">
              <a:spLocks noChangeArrowheads="1"/>
            </p:cNvSpPr>
            <p:nvPr/>
          </p:nvSpPr>
          <p:spPr bwMode="auto">
            <a:xfrm>
              <a:off x="1212" y="3052"/>
              <a:ext cx="21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99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0" name="Group 41"/>
          <p:cNvGrpSpPr/>
          <p:nvPr/>
        </p:nvGrpSpPr>
        <p:grpSpPr>
          <a:xfrm>
            <a:off x="2989263" y="2859088"/>
            <a:ext cx="338137" cy="990600"/>
            <a:chOff x="1212" y="2880"/>
            <a:chExt cx="213" cy="624"/>
          </a:xfrm>
        </p:grpSpPr>
        <p:sp>
          <p:nvSpPr>
            <p:cNvPr id="103469" name="Line 42"/>
            <p:cNvSpPr>
              <a:spLocks noChangeShapeType="1"/>
            </p:cNvSpPr>
            <p:nvPr/>
          </p:nvSpPr>
          <p:spPr bwMode="auto">
            <a:xfrm>
              <a:off x="1248" y="2880"/>
              <a:ext cx="0" cy="624"/>
            </a:xfrm>
            <a:prstGeom prst="line">
              <a:avLst/>
            </a:prstGeom>
            <a:noFill/>
            <a:ln w="31750">
              <a:solidFill>
                <a:srgbClr val="990000"/>
              </a:solidFill>
              <a:round/>
              <a:head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70" name="Text Box 43"/>
            <p:cNvSpPr txBox="1">
              <a:spLocks noChangeArrowheads="1"/>
            </p:cNvSpPr>
            <p:nvPr/>
          </p:nvSpPr>
          <p:spPr bwMode="auto">
            <a:xfrm>
              <a:off x="1212" y="3052"/>
              <a:ext cx="21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99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1" name="Group 44"/>
          <p:cNvGrpSpPr/>
          <p:nvPr/>
        </p:nvGrpSpPr>
        <p:grpSpPr>
          <a:xfrm>
            <a:off x="4227513" y="2859088"/>
            <a:ext cx="338137" cy="990600"/>
            <a:chOff x="1212" y="2880"/>
            <a:chExt cx="213" cy="624"/>
          </a:xfrm>
        </p:grpSpPr>
        <p:sp>
          <p:nvSpPr>
            <p:cNvPr id="103467" name="Line 45"/>
            <p:cNvSpPr>
              <a:spLocks noChangeShapeType="1"/>
            </p:cNvSpPr>
            <p:nvPr/>
          </p:nvSpPr>
          <p:spPr bwMode="auto">
            <a:xfrm>
              <a:off x="1248" y="2880"/>
              <a:ext cx="0" cy="624"/>
            </a:xfrm>
            <a:prstGeom prst="line">
              <a:avLst/>
            </a:prstGeom>
            <a:noFill/>
            <a:ln w="31750">
              <a:solidFill>
                <a:srgbClr val="990000"/>
              </a:solidFill>
              <a:round/>
              <a:head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68" name="Text Box 46"/>
            <p:cNvSpPr txBox="1">
              <a:spLocks noChangeArrowheads="1"/>
            </p:cNvSpPr>
            <p:nvPr/>
          </p:nvSpPr>
          <p:spPr bwMode="auto">
            <a:xfrm>
              <a:off x="1212" y="3052"/>
              <a:ext cx="21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99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6" name="Text Box 47"/>
          <p:cNvSpPr txBox="1">
            <a:spLocks noChangeArrowheads="1"/>
          </p:cNvSpPr>
          <p:nvPr/>
        </p:nvSpPr>
        <p:spPr bwMode="auto">
          <a:xfrm>
            <a:off x="549275" y="3098800"/>
            <a:ext cx="2698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j</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 name="Text Box 48"/>
          <p:cNvSpPr txBox="1">
            <a:spLocks noChangeArrowheads="1"/>
          </p:cNvSpPr>
          <p:nvPr/>
        </p:nvSpPr>
        <p:spPr bwMode="auto">
          <a:xfrm>
            <a:off x="1036638" y="3106738"/>
            <a:ext cx="641350" cy="571500"/>
          </a:xfrm>
          <a:prstGeom prst="rect">
            <a:avLst/>
          </a:prstGeom>
          <a:solidFill>
            <a:srgbClr val="FFFF99">
              <a:alpha val="50195"/>
            </a:srgbClr>
          </a:solidFill>
          <a:ln w="9525">
            <a:solidFill>
              <a:srgbClr val="9900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660033"/>
                </a:solidFill>
                <a:effectLst/>
                <a:uLnTx/>
                <a:uFillTx/>
                <a:latin typeface="+mn-lt"/>
                <a:ea typeface="+mn-ea"/>
                <a:cs typeface="+mn-ea"/>
                <a:sym typeface="+mn-lt"/>
              </a:rPr>
              <a:t>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 name="Text Box 49"/>
          <p:cNvSpPr txBox="1">
            <a:spLocks noChangeArrowheads="1"/>
          </p:cNvSpPr>
          <p:nvPr/>
        </p:nvSpPr>
        <p:spPr bwMode="auto">
          <a:xfrm>
            <a:off x="1036638" y="3106738"/>
            <a:ext cx="641350" cy="571500"/>
          </a:xfrm>
          <a:prstGeom prst="rect">
            <a:avLst/>
          </a:prstGeom>
          <a:solidFill>
            <a:srgbClr val="FFFF99"/>
          </a:solidFill>
          <a:ln w="9525">
            <a:solidFill>
              <a:srgbClr val="9900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660033"/>
                </a:solidFill>
                <a:effectLst/>
                <a:uLnTx/>
                <a:uFillTx/>
                <a:latin typeface="+mn-lt"/>
                <a:ea typeface="+mn-ea"/>
                <a:cs typeface="+mn-ea"/>
                <a:sym typeface="+mn-lt"/>
              </a:rPr>
              <a:t>2</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 name="Text Box 50"/>
          <p:cNvSpPr txBox="1">
            <a:spLocks noChangeArrowheads="1"/>
          </p:cNvSpPr>
          <p:nvPr/>
        </p:nvSpPr>
        <p:spPr bwMode="auto">
          <a:xfrm>
            <a:off x="1036638" y="3106738"/>
            <a:ext cx="641350" cy="571500"/>
          </a:xfrm>
          <a:prstGeom prst="rect">
            <a:avLst/>
          </a:prstGeom>
          <a:solidFill>
            <a:srgbClr val="FFFF99"/>
          </a:solidFill>
          <a:ln w="9525">
            <a:solidFill>
              <a:srgbClr val="9900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660033"/>
                </a:solidFill>
                <a:effectLst/>
                <a:uLnTx/>
                <a:uFillTx/>
                <a:latin typeface="+mn-lt"/>
                <a:ea typeface="+mn-ea"/>
                <a:cs typeface="+mn-ea"/>
                <a:sym typeface="+mn-lt"/>
              </a:rPr>
              <a:t>3</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50" name="Rectangle 51"/>
          <p:cNvSpPr>
            <a:spLocks noChangeArrowheads="1"/>
          </p:cNvSpPr>
          <p:nvPr/>
        </p:nvSpPr>
        <p:spPr bwMode="auto">
          <a:xfrm>
            <a:off x="1811338" y="2851150"/>
            <a:ext cx="457200" cy="125095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51" name="Rectangle 52"/>
          <p:cNvSpPr>
            <a:spLocks noChangeArrowheads="1"/>
          </p:cNvSpPr>
          <p:nvPr/>
        </p:nvSpPr>
        <p:spPr bwMode="auto">
          <a:xfrm>
            <a:off x="2979738" y="2859088"/>
            <a:ext cx="457200" cy="1143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2" name="Group 64"/>
          <p:cNvGrpSpPr/>
          <p:nvPr/>
        </p:nvGrpSpPr>
        <p:grpSpPr>
          <a:xfrm>
            <a:off x="1746250" y="2835275"/>
            <a:ext cx="2843213" cy="1014413"/>
            <a:chOff x="1098" y="2666"/>
            <a:chExt cx="1791" cy="639"/>
          </a:xfrm>
        </p:grpSpPr>
        <p:grpSp>
          <p:nvGrpSpPr>
            <p:cNvPr id="107558" name="Group 59"/>
            <p:cNvGrpSpPr/>
            <p:nvPr/>
          </p:nvGrpSpPr>
          <p:grpSpPr>
            <a:xfrm>
              <a:off x="1098" y="2666"/>
              <a:ext cx="213" cy="624"/>
              <a:chOff x="1212" y="2880"/>
              <a:chExt cx="213" cy="624"/>
            </a:xfrm>
          </p:grpSpPr>
          <p:sp>
            <p:nvSpPr>
              <p:cNvPr id="103465" name="Line 60"/>
              <p:cNvSpPr>
                <a:spLocks noChangeShapeType="1"/>
              </p:cNvSpPr>
              <p:nvPr/>
            </p:nvSpPr>
            <p:spPr bwMode="auto">
              <a:xfrm>
                <a:off x="1248" y="2880"/>
                <a:ext cx="0" cy="624"/>
              </a:xfrm>
              <a:prstGeom prst="line">
                <a:avLst/>
              </a:prstGeom>
              <a:noFill/>
              <a:ln w="31750">
                <a:solidFill>
                  <a:srgbClr val="990000"/>
                </a:solidFill>
                <a:round/>
                <a:head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66" name="Text Box 61"/>
              <p:cNvSpPr txBox="1">
                <a:spLocks noChangeArrowheads="1"/>
              </p:cNvSpPr>
              <p:nvPr/>
            </p:nvSpPr>
            <p:spPr bwMode="auto">
              <a:xfrm>
                <a:off x="1212" y="3052"/>
                <a:ext cx="21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99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03464" name="Rectangle 63"/>
            <p:cNvSpPr>
              <a:spLocks noChangeArrowheads="1"/>
            </p:cNvSpPr>
            <p:nvPr/>
          </p:nvSpPr>
          <p:spPr bwMode="auto">
            <a:xfrm>
              <a:off x="2642" y="2701"/>
              <a:ext cx="247" cy="604"/>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5" name="Text Box 72"/>
          <p:cNvSpPr txBox="1">
            <a:spLocks noChangeArrowheads="1"/>
          </p:cNvSpPr>
          <p:nvPr/>
        </p:nvSpPr>
        <p:spPr bwMode="auto">
          <a:xfrm>
            <a:off x="1041400" y="3124200"/>
            <a:ext cx="641350" cy="571500"/>
          </a:xfrm>
          <a:prstGeom prst="rect">
            <a:avLst/>
          </a:prstGeom>
          <a:solidFill>
            <a:srgbClr val="FFFF99"/>
          </a:solidFill>
          <a:ln w="9525">
            <a:solidFill>
              <a:srgbClr val="9900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660033"/>
                </a:solidFill>
                <a:effectLst/>
                <a:uLnTx/>
                <a:uFillTx/>
                <a:latin typeface="+mn-lt"/>
                <a:ea typeface="+mn-ea"/>
                <a:cs typeface="+mn-ea"/>
                <a:sym typeface="+mn-lt"/>
              </a:rPr>
              <a:t>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6" name="Rectangle 73"/>
          <p:cNvSpPr>
            <a:spLocks noChangeArrowheads="1"/>
          </p:cNvSpPr>
          <p:nvPr/>
        </p:nvSpPr>
        <p:spPr bwMode="auto">
          <a:xfrm>
            <a:off x="4041775" y="1679575"/>
            <a:ext cx="59372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i=3</a:t>
            </a:r>
          </a:p>
        </p:txBody>
      </p:sp>
      <p:sp>
        <p:nvSpPr>
          <p:cNvPr id="67" name="Rectangle 74"/>
          <p:cNvSpPr>
            <a:spLocks noChangeArrowheads="1"/>
          </p:cNvSpPr>
          <p:nvPr/>
        </p:nvSpPr>
        <p:spPr bwMode="auto">
          <a:xfrm>
            <a:off x="6369050" y="1638300"/>
            <a:ext cx="74771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i=15</a:t>
            </a:r>
          </a:p>
        </p:txBody>
      </p:sp>
      <p:sp>
        <p:nvSpPr>
          <p:cNvPr id="68" name="Text Box 76"/>
          <p:cNvSpPr txBox="1">
            <a:spLocks noChangeArrowheads="1"/>
          </p:cNvSpPr>
          <p:nvPr/>
        </p:nvSpPr>
        <p:spPr bwMode="auto">
          <a:xfrm>
            <a:off x="1019175" y="3114675"/>
            <a:ext cx="641350" cy="571500"/>
          </a:xfrm>
          <a:prstGeom prst="rect">
            <a:avLst/>
          </a:prstGeom>
          <a:solidFill>
            <a:srgbClr val="FFFF99"/>
          </a:solidFill>
          <a:ln w="9525">
            <a:solidFill>
              <a:srgbClr val="9900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660033"/>
                </a:solidFill>
                <a:effectLst/>
                <a:uLnTx/>
                <a:uFillTx/>
                <a:latin typeface="+mn-lt"/>
                <a:ea typeface="+mn-ea"/>
                <a:cs typeface="+mn-ea"/>
                <a:sym typeface="+mn-lt"/>
              </a:rPr>
              <a:t>6</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 name="Group 83"/>
          <p:cNvGrpSpPr/>
          <p:nvPr/>
        </p:nvGrpSpPr>
        <p:grpSpPr>
          <a:xfrm>
            <a:off x="7594600" y="2779713"/>
            <a:ext cx="1397000" cy="1046162"/>
            <a:chOff x="4817" y="2622"/>
            <a:chExt cx="880" cy="659"/>
          </a:xfrm>
        </p:grpSpPr>
        <p:grpSp>
          <p:nvGrpSpPr>
            <p:cNvPr id="107554" name="Group 79"/>
            <p:cNvGrpSpPr/>
            <p:nvPr/>
          </p:nvGrpSpPr>
          <p:grpSpPr>
            <a:xfrm>
              <a:off x="5484" y="2622"/>
              <a:ext cx="213" cy="624"/>
              <a:chOff x="1212" y="2880"/>
              <a:chExt cx="213" cy="624"/>
            </a:xfrm>
          </p:grpSpPr>
          <p:sp>
            <p:nvSpPr>
              <p:cNvPr id="103457" name="Line 80"/>
              <p:cNvSpPr>
                <a:spLocks noChangeShapeType="1"/>
              </p:cNvSpPr>
              <p:nvPr/>
            </p:nvSpPr>
            <p:spPr bwMode="auto">
              <a:xfrm>
                <a:off x="1248" y="2880"/>
                <a:ext cx="0" cy="624"/>
              </a:xfrm>
              <a:prstGeom prst="line">
                <a:avLst/>
              </a:prstGeom>
              <a:noFill/>
              <a:ln w="31750">
                <a:solidFill>
                  <a:srgbClr val="990000"/>
                </a:solidFill>
                <a:round/>
                <a:head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58" name="Text Box 81"/>
              <p:cNvSpPr txBox="1">
                <a:spLocks noChangeArrowheads="1"/>
              </p:cNvSpPr>
              <p:nvPr/>
            </p:nvSpPr>
            <p:spPr bwMode="auto">
              <a:xfrm>
                <a:off x="1212" y="3052"/>
                <a:ext cx="21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990000"/>
                    </a:solidFill>
                    <a:effectLst/>
                    <a:uLnTx/>
                    <a:uFillTx/>
                    <a:latin typeface="+mn-lt"/>
                    <a:ea typeface="+mn-ea"/>
                    <a:cs typeface="+mn-ea"/>
                    <a:sym typeface="+mn-lt"/>
                  </a:rPr>
                  <a:t>p</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03456" name="Rectangle 82"/>
            <p:cNvSpPr>
              <a:spLocks noChangeArrowheads="1"/>
            </p:cNvSpPr>
            <p:nvPr/>
          </p:nvSpPr>
          <p:spPr bwMode="auto">
            <a:xfrm>
              <a:off x="4817" y="2658"/>
              <a:ext cx="287" cy="62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4" name="Text Box 84"/>
          <p:cNvSpPr txBox="1">
            <a:spLocks noChangeArrowheads="1"/>
          </p:cNvSpPr>
          <p:nvPr/>
        </p:nvSpPr>
        <p:spPr bwMode="auto">
          <a:xfrm>
            <a:off x="1022350" y="3106738"/>
            <a:ext cx="641350" cy="571500"/>
          </a:xfrm>
          <a:prstGeom prst="rect">
            <a:avLst/>
          </a:prstGeom>
          <a:solidFill>
            <a:srgbClr val="FFFF99"/>
          </a:solidFill>
          <a:ln w="9525">
            <a:solidFill>
              <a:srgbClr val="9900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660033"/>
                </a:solidFill>
                <a:effectLst/>
                <a:uLnTx/>
                <a:uFillTx/>
                <a:latin typeface="+mn-lt"/>
                <a:ea typeface="+mn-ea"/>
                <a:cs typeface="+mn-ea"/>
                <a:sym typeface="+mn-lt"/>
              </a:rPr>
              <a:t>7</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3452" name="Text Box 55"/>
          <p:cNvSpPr txBox="1">
            <a:spLocks noChangeArrowheads="1"/>
          </p:cNvSpPr>
          <p:nvPr/>
        </p:nvSpPr>
        <p:spPr bwMode="auto">
          <a:xfrm>
            <a:off x="134938" y="965200"/>
            <a:ext cx="8761413" cy="635000"/>
          </a:xfrm>
          <a:prstGeom prst="roundRect">
            <a:avLst/>
          </a:prstGeom>
          <a:solidFill>
            <a:schemeClr val="accent1">
              <a:lumMod val="60000"/>
              <a:lumOff val="40000"/>
            </a:schemeClr>
          </a:solidFill>
          <a:ln>
            <a:noFill/>
          </a:ln>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例：分别取出表中</a:t>
            </a:r>
            <a:r>
              <a:rPr kumimoji="0" lang="en-US" altLang="zh-CN" sz="24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和</a:t>
            </a:r>
            <a:r>
              <a:rPr kumimoji="0" lang="en-US" altLang="zh-CN" sz="24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=15</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的元素</a:t>
            </a:r>
            <a:endPar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77" name="Rectangle 4"/>
          <p:cNvSpPr>
            <a:spLocks noChangeArrowheads="1"/>
          </p:cNvSpPr>
          <p:nvPr/>
        </p:nvSpPr>
        <p:spPr bwMode="auto">
          <a:xfrm>
            <a:off x="149225" y="4464050"/>
            <a:ext cx="8747125" cy="2278063"/>
          </a:xfrm>
          <a:prstGeom prst="rect">
            <a:avLst/>
          </a:prstGeom>
          <a:solidFill>
            <a:srgbClr val="EAEAEA"/>
          </a:solidFill>
          <a:ln>
            <a:noFill/>
          </a:ln>
        </p:spPr>
        <p:txBody>
          <a:bodyPr anchor="ctr">
            <a:spAutoFit/>
          </a:bodyPr>
          <a:lstStyle>
            <a:lvl1pPr indent="25908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259080" algn="l"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从第</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个结点（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L-&gt;next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）顺链扫描，用指针</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指向当前扫描到的结点，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初值</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 = L-&gt;next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59080" algn="l"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en-US" altLang="zh-CN" sz="2000" b="0" i="1"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做计数器，累计当前扫描过的结点数，</a:t>
            </a:r>
            <a:r>
              <a:rPr kumimoji="0" lang="en-US" altLang="zh-CN" sz="2000" b="0" i="1"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初值为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59080" algn="l"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当</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指向扫描到的下一结点时，计数器</a:t>
            </a:r>
            <a:r>
              <a:rPr kumimoji="0" lang="en-US" altLang="zh-CN" sz="2000" b="0" i="1" u="none" strike="noStrike" kern="1200" cap="none" spc="0" normalizeH="0" baseline="0" noProof="0" dirty="0">
                <a:ln>
                  <a:noFill/>
                </a:ln>
                <a:solidFill>
                  <a:schemeClr val="tx1"/>
                </a:solidFill>
                <a:effectLst/>
                <a:uLnTx/>
                <a:uFillTx/>
                <a:latin typeface="+mn-lt"/>
                <a:ea typeface="+mn-ea"/>
                <a:cs typeface="+mn-ea"/>
                <a:sym typeface="+mn-lt"/>
              </a:rPr>
              <a:t>j</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加</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59080" algn="l"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当</a:t>
            </a:r>
            <a:r>
              <a:rPr kumimoji="0" lang="en-US" altLang="zh-CN" sz="2000" b="0" i="1" u="none" strike="noStrike" kern="1200" cap="none" spc="0" normalizeH="0" baseline="0" noProof="0" dirty="0">
                <a:ln>
                  <a:noFill/>
                </a:ln>
                <a:solidFill>
                  <a:schemeClr val="tx1"/>
                </a:solidFill>
                <a:effectLst/>
                <a:uLnTx/>
                <a:uFillTx/>
                <a:latin typeface="+mn-lt"/>
                <a:ea typeface="+mn-ea"/>
                <a:cs typeface="+mn-ea"/>
                <a:sym typeface="+mn-lt"/>
              </a:rPr>
              <a:t>j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时，</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所指的结点就是要找的第</a:t>
            </a:r>
            <a:r>
              <a:rPr kumimoji="0" lang="en-US" altLang="zh-CN" sz="20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个结点。</a:t>
            </a:r>
          </a:p>
        </p:txBody>
      </p:sp>
      <p:sp>
        <p:nvSpPr>
          <p:cNvPr id="78" name="Rectangle 5"/>
          <p:cNvSpPr>
            <a:spLocks noChangeArrowheads="1"/>
          </p:cNvSpPr>
          <p:nvPr/>
        </p:nvSpPr>
        <p:spPr bwMode="auto">
          <a:xfrm>
            <a:off x="138113" y="3860800"/>
            <a:ext cx="8758238" cy="547688"/>
          </a:xfrm>
          <a:prstGeom prst="roundRect">
            <a:avLst/>
          </a:prstGeom>
          <a:solidFill>
            <a:schemeClr val="accent1">
              <a:lumMod val="60000"/>
              <a:lumOff val="40000"/>
            </a:schemeClr>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72"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grpSp>
        <p:nvGrpSpPr>
          <p:cNvPr id="71" name="Group 77"/>
          <p:cNvGrpSpPr/>
          <p:nvPr/>
        </p:nvGrpSpPr>
        <p:grpSpPr>
          <a:xfrm>
            <a:off x="1728788" y="2827338"/>
            <a:ext cx="6416675" cy="998537"/>
            <a:chOff x="1079" y="2652"/>
            <a:chExt cx="4042" cy="629"/>
          </a:xfrm>
        </p:grpSpPr>
        <p:grpSp>
          <p:nvGrpSpPr>
            <p:cNvPr id="107550" name="Group 66"/>
            <p:cNvGrpSpPr/>
            <p:nvPr/>
          </p:nvGrpSpPr>
          <p:grpSpPr>
            <a:xfrm>
              <a:off x="4908" y="2652"/>
              <a:ext cx="213" cy="624"/>
              <a:chOff x="1212" y="2880"/>
              <a:chExt cx="213" cy="624"/>
            </a:xfrm>
          </p:grpSpPr>
          <p:sp>
            <p:nvSpPr>
              <p:cNvPr id="76" name="Line 67"/>
              <p:cNvSpPr>
                <a:spLocks noChangeShapeType="1"/>
              </p:cNvSpPr>
              <p:nvPr/>
            </p:nvSpPr>
            <p:spPr bwMode="auto">
              <a:xfrm>
                <a:off x="1248" y="2880"/>
                <a:ext cx="0" cy="624"/>
              </a:xfrm>
              <a:prstGeom prst="line">
                <a:avLst/>
              </a:prstGeom>
              <a:noFill/>
              <a:ln w="31750">
                <a:solidFill>
                  <a:srgbClr val="990000"/>
                </a:solidFill>
                <a:round/>
                <a:head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9" name="Text Box 68"/>
              <p:cNvSpPr txBox="1">
                <a:spLocks noChangeArrowheads="1"/>
              </p:cNvSpPr>
              <p:nvPr/>
            </p:nvSpPr>
            <p:spPr bwMode="auto">
              <a:xfrm>
                <a:off x="1212" y="3052"/>
                <a:ext cx="21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99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5" name="Rectangle 69"/>
            <p:cNvSpPr>
              <a:spLocks noChangeArrowheads="1"/>
            </p:cNvSpPr>
            <p:nvPr/>
          </p:nvSpPr>
          <p:spPr bwMode="auto">
            <a:xfrm>
              <a:off x="1079" y="2657"/>
              <a:ext cx="251" cy="624"/>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6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wipe(left)">
                                      <p:cBhvr>
                                        <p:cTn id="45" dur="500"/>
                                        <p:tgtEl>
                                          <p:spTgt spid="46"/>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wipe(left)">
                                      <p:cBhvr>
                                        <p:cTn id="49" dur="500"/>
                                        <p:tgtEl>
                                          <p:spTgt spid="4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wipe(left)">
                                      <p:cBhvr>
                                        <p:cTn id="54" dur="500"/>
                                        <p:tgtEl>
                                          <p:spTgt spid="50"/>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par>
                          <p:cTn id="59" fill="hold">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wipe(left)">
                                      <p:cBhvr>
                                        <p:cTn id="62" dur="500"/>
                                        <p:tgtEl>
                                          <p:spTgt spid="4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wipe(left)">
                                      <p:cBhvr>
                                        <p:cTn id="67" dur="500"/>
                                        <p:tgtEl>
                                          <p:spTgt spid="51"/>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wipe(left)">
                                      <p:cBhvr>
                                        <p:cTn id="71" dur="500"/>
                                        <p:tgtEl>
                                          <p:spTgt spid="11"/>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wipe(left)">
                                      <p:cBhvr>
                                        <p:cTn id="75" dur="500"/>
                                        <p:tgtEl>
                                          <p:spTgt spid="49"/>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6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499"/>
                                          </p:stCondLst>
                                        </p:cTn>
                                        <p:tgtEl>
                                          <p:spTgt spid="12"/>
                                        </p:tgtEl>
                                        <p:attrNameLst>
                                          <p:attrName>style.visibility</p:attrName>
                                        </p:attrNameLst>
                                      </p:cBhvr>
                                      <p:to>
                                        <p:strVal val="visible"/>
                                      </p:to>
                                    </p:se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65"/>
                                        </p:tgtEl>
                                        <p:attrNameLst>
                                          <p:attrName>style.visibility</p:attrName>
                                        </p:attrNameLst>
                                      </p:cBhvr>
                                      <p:to>
                                        <p:strVal val="visible"/>
                                      </p:to>
                                    </p:set>
                                    <p:animEffect transition="in" filter="wipe(left)">
                                      <p:cBhvr>
                                        <p:cTn id="87" dur="500"/>
                                        <p:tgtEl>
                                          <p:spTgt spid="65"/>
                                        </p:tgtEl>
                                      </p:cBhvr>
                                    </p:animEffect>
                                  </p:childTnLst>
                                </p:cTn>
                              </p:par>
                            </p:childTnLst>
                          </p:cTn>
                        </p:par>
                        <p:par>
                          <p:cTn id="88" fill="hold">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left)">
                                      <p:cBhvr>
                                        <p:cTn id="91" dur="500"/>
                                        <p:tgtEl>
                                          <p:spTgt spid="6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16"/>
                                        </p:tgtEl>
                                        <p:attrNameLst>
                                          <p:attrName>style.visibility</p:attrName>
                                        </p:attrNameLst>
                                      </p:cBhvr>
                                      <p:to>
                                        <p:strVal val="visible"/>
                                      </p:to>
                                    </p:set>
                                    <p:animEffect transition="in" filter="wipe(left)">
                                      <p:cBhvr>
                                        <p:cTn id="96" dur="500"/>
                                        <p:tgtEl>
                                          <p:spTgt spid="16"/>
                                        </p:tgtEl>
                                      </p:cBhvr>
                                    </p:animEffec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wipe(left)">
                                      <p:cBhvr>
                                        <p:cTn id="100" dur="500"/>
                                        <p:tgtEl>
                                          <p:spTgt spid="74"/>
                                        </p:tgtEl>
                                      </p:cBhvr>
                                    </p:animEffect>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78"/>
                                        </p:tgtEl>
                                        <p:attrNameLst>
                                          <p:attrName>style.visibility</p:attrName>
                                        </p:attrNameLst>
                                      </p:cBhvr>
                                      <p:to>
                                        <p:strVal val="visible"/>
                                      </p:to>
                                    </p:set>
                                    <p:anim calcmode="lin" valueType="num">
                                      <p:cBhvr additive="base">
                                        <p:cTn id="105" dur="500" fill="hold"/>
                                        <p:tgtEl>
                                          <p:spTgt spid="78"/>
                                        </p:tgtEl>
                                        <p:attrNameLst>
                                          <p:attrName>ppt_x</p:attrName>
                                        </p:attrNameLst>
                                      </p:cBhvr>
                                      <p:tavLst>
                                        <p:tav tm="0">
                                          <p:val>
                                            <p:strVal val="#ppt_x"/>
                                          </p:val>
                                        </p:tav>
                                        <p:tav tm="100000">
                                          <p:val>
                                            <p:strVal val="#ppt_x"/>
                                          </p:val>
                                        </p:tav>
                                      </p:tavLst>
                                    </p:anim>
                                    <p:anim calcmode="lin" valueType="num">
                                      <p:cBhvr additive="base">
                                        <p:cTn id="106"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77">
                                            <p:bg/>
                                          </p:spTgt>
                                        </p:tgtEl>
                                        <p:attrNameLst>
                                          <p:attrName>style.visibility</p:attrName>
                                        </p:attrNameLst>
                                      </p:cBhvr>
                                      <p:to>
                                        <p:strVal val="visible"/>
                                      </p:to>
                                    </p:set>
                                    <p:anim calcmode="lin" valueType="num">
                                      <p:cBhvr additive="base">
                                        <p:cTn id="111" dur="500" fill="hold"/>
                                        <p:tgtEl>
                                          <p:spTgt spid="77">
                                            <p:bg/>
                                          </p:spTgt>
                                        </p:tgtEl>
                                        <p:attrNameLst>
                                          <p:attrName>ppt_x</p:attrName>
                                        </p:attrNameLst>
                                      </p:cBhvr>
                                      <p:tavLst>
                                        <p:tav tm="0">
                                          <p:val>
                                            <p:strVal val="#ppt_x"/>
                                          </p:val>
                                        </p:tav>
                                        <p:tav tm="100000">
                                          <p:val>
                                            <p:strVal val="#ppt_x"/>
                                          </p:val>
                                        </p:tav>
                                      </p:tavLst>
                                    </p:anim>
                                    <p:anim calcmode="lin" valueType="num">
                                      <p:cBhvr additive="base">
                                        <p:cTn id="112" dur="500" fill="hold"/>
                                        <p:tgtEl>
                                          <p:spTgt spid="77">
                                            <p:bg/>
                                          </p:spTgt>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7">
                                            <p:txEl>
                                              <p:pRg st="0" end="0"/>
                                            </p:txEl>
                                          </p:spTgt>
                                        </p:tgtEl>
                                        <p:attrNameLst>
                                          <p:attrName>style.visibility</p:attrName>
                                        </p:attrNameLst>
                                      </p:cBhvr>
                                      <p:to>
                                        <p:strVal val="visible"/>
                                      </p:to>
                                    </p:set>
                                    <p:anim calcmode="lin" valueType="num">
                                      <p:cBhvr additive="base">
                                        <p:cTn id="117" dur="500" fill="hold"/>
                                        <p:tgtEl>
                                          <p:spTgt spid="77">
                                            <p:txEl>
                                              <p:pRg st="0" end="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77">
                                            <p:txEl>
                                              <p:pRg st="1" end="1"/>
                                            </p:txEl>
                                          </p:spTgt>
                                        </p:tgtEl>
                                        <p:attrNameLst>
                                          <p:attrName>style.visibility</p:attrName>
                                        </p:attrNameLst>
                                      </p:cBhvr>
                                      <p:to>
                                        <p:strVal val="visible"/>
                                      </p:to>
                                    </p:set>
                                    <p:anim calcmode="lin" valueType="num">
                                      <p:cBhvr additive="base">
                                        <p:cTn id="123" dur="500" fill="hold"/>
                                        <p:tgtEl>
                                          <p:spTgt spid="77">
                                            <p:txEl>
                                              <p:pRg st="1" end="1"/>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77">
                                            <p:txEl>
                                              <p:pRg st="2" end="2"/>
                                            </p:txEl>
                                          </p:spTgt>
                                        </p:tgtEl>
                                        <p:attrNameLst>
                                          <p:attrName>style.visibility</p:attrName>
                                        </p:attrNameLst>
                                      </p:cBhvr>
                                      <p:to>
                                        <p:strVal val="visible"/>
                                      </p:to>
                                    </p:set>
                                    <p:anim calcmode="lin" valueType="num">
                                      <p:cBhvr additive="base">
                                        <p:cTn id="129" dur="500" fill="hold"/>
                                        <p:tgtEl>
                                          <p:spTgt spid="77">
                                            <p:txEl>
                                              <p:pRg st="2" end="2"/>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7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grpId="0" nodeType="clickEffect">
                                  <p:stCondLst>
                                    <p:cond delay="0"/>
                                  </p:stCondLst>
                                  <p:childTnLst>
                                    <p:set>
                                      <p:cBhvr>
                                        <p:cTn id="134" dur="1" fill="hold">
                                          <p:stCondLst>
                                            <p:cond delay="0"/>
                                          </p:stCondLst>
                                        </p:cTn>
                                        <p:tgtEl>
                                          <p:spTgt spid="77">
                                            <p:txEl>
                                              <p:pRg st="3" end="3"/>
                                            </p:txEl>
                                          </p:spTgt>
                                        </p:tgtEl>
                                        <p:attrNameLst>
                                          <p:attrName>style.visibility</p:attrName>
                                        </p:attrNameLst>
                                      </p:cBhvr>
                                      <p:to>
                                        <p:strVal val="visible"/>
                                      </p:to>
                                    </p:set>
                                    <p:anim calcmode="lin" valueType="num">
                                      <p:cBhvr additive="base">
                                        <p:cTn id="135" dur="500" fill="hold"/>
                                        <p:tgtEl>
                                          <p:spTgt spid="77">
                                            <p:txEl>
                                              <p:pRg st="3" end="3"/>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7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499"/>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8" grpId="0" animBg="1"/>
      <p:bldP spid="49" grpId="0" animBg="1"/>
      <p:bldP spid="50" grpId="0" animBg="1"/>
      <p:bldP spid="51" grpId="0" animBg="1"/>
      <p:bldP spid="65" grpId="0" animBg="1"/>
      <p:bldP spid="66" grpId="0"/>
      <p:bldP spid="67" grpId="0"/>
      <p:bldP spid="68" grpId="0" animBg="1"/>
      <p:bldP spid="74" grpId="0" animBg="1"/>
      <p:bldP spid="77" grpId="0" build="p" animBg="1"/>
      <p:bldP spid="7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0" y="1557338"/>
            <a:ext cx="9144000" cy="500856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4450" name="Rectangle 4"/>
          <p:cNvSpPr>
            <a:spLocks noChangeArrowheads="1"/>
          </p:cNvSpPr>
          <p:nvPr/>
        </p:nvSpPr>
        <p:spPr bwMode="auto">
          <a:xfrm>
            <a:off x="609600" y="981075"/>
            <a:ext cx="8534400"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获取线性表</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中的某个数据元素的内容</a:t>
            </a: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GetElem_L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&amp;e){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p=L-&gt;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next;j</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初始化</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while(p&amp;&amp;j&lt;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向后扫描，直到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个元素或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为空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p=p-&gt;next; ++j;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if(!p || j&gt;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ERROR;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个元素不存在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e=p-&gt;data;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取第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个元素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GetElem_L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5" name="Rectangle 6"/>
          <p:cNvSpPr>
            <a:spLocks noChangeArrowheads="1"/>
          </p:cNvSpPr>
          <p:nvPr/>
        </p:nvSpPr>
        <p:spPr bwMode="auto">
          <a:xfrm>
            <a:off x="935038" y="201613"/>
            <a:ext cx="80676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取值（根据位置</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获取相应位置数据元素的内容）</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3933825"/>
            <a:ext cx="9144000" cy="275272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7" name="Rectangle 6"/>
          <p:cNvSpPr>
            <a:spLocks noChangeArrowheads="1"/>
          </p:cNvSpPr>
          <p:nvPr/>
        </p:nvSpPr>
        <p:spPr bwMode="auto">
          <a:xfrm>
            <a:off x="935038" y="201613"/>
            <a:ext cx="8054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查找（根据指定数据获取数据所在的位置） </a:t>
            </a:r>
          </a:p>
        </p:txBody>
      </p:sp>
      <p:grpSp>
        <p:nvGrpSpPr>
          <p:cNvPr id="124" name="Group 6"/>
          <p:cNvGrpSpPr/>
          <p:nvPr/>
        </p:nvGrpSpPr>
        <p:grpSpPr>
          <a:xfrm>
            <a:off x="15875" y="836613"/>
            <a:ext cx="1204913" cy="1354137"/>
            <a:chOff x="105" y="2027"/>
            <a:chExt cx="759" cy="853"/>
          </a:xfrm>
        </p:grpSpPr>
        <p:sp>
          <p:nvSpPr>
            <p:cNvPr id="110646" name="Rectangle 7"/>
            <p:cNvSpPr/>
            <p:nvPr/>
          </p:nvSpPr>
          <p:spPr>
            <a:xfrm>
              <a:off x="288" y="2544"/>
              <a:ext cx="576" cy="336"/>
            </a:xfrm>
            <a:prstGeom prst="rect">
              <a:avLst/>
            </a:prstGeom>
            <a:solidFill>
              <a:srgbClr val="B8D4EC">
                <a:alpha val="50195"/>
              </a:srgbClr>
            </a:solidFill>
            <a:ln w="25400" cap="flat" cmpd="sng">
              <a:solidFill>
                <a:srgbClr val="008080"/>
              </a:solidFill>
              <a:prstDash val="solid"/>
              <a:miter/>
              <a:headEnd type="none" w="med" len="med"/>
              <a:tailEnd type="none" w="med" len="med"/>
            </a:ln>
          </p:spPr>
          <p:txBody>
            <a:bodyPr wrap="none"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zh-CN" sz="3600" dirty="0">
                <a:ea typeface="宋体" panose="02010600030101010101" pitchFamily="2" charset="-122"/>
              </a:endParaRPr>
            </a:p>
          </p:txBody>
        </p:sp>
        <p:sp>
          <p:nvSpPr>
            <p:cNvPr id="110647" name="Line 8"/>
            <p:cNvSpPr/>
            <p:nvPr/>
          </p:nvSpPr>
          <p:spPr>
            <a:xfrm>
              <a:off x="672" y="2544"/>
              <a:ext cx="0" cy="336"/>
            </a:xfrm>
            <a:prstGeom prst="line">
              <a:avLst/>
            </a:prstGeom>
            <a:ln w="9525" cap="flat" cmpd="sng">
              <a:solidFill>
                <a:srgbClr val="008080"/>
              </a:solidFill>
              <a:prstDash val="solid"/>
              <a:headEnd type="none" w="med" len="med"/>
              <a:tailEnd type="none" w="med" len="med"/>
            </a:ln>
          </p:spPr>
          <p:txBody>
            <a:bodyPr/>
            <a:lstStyle/>
            <a:p>
              <a:endParaRPr lang="zh-CN" altLang="en-US"/>
            </a:p>
          </p:txBody>
        </p:sp>
        <p:sp>
          <p:nvSpPr>
            <p:cNvPr id="110648" name="Text Box 9"/>
            <p:cNvSpPr txBox="1"/>
            <p:nvPr/>
          </p:nvSpPr>
          <p:spPr>
            <a:xfrm>
              <a:off x="105" y="2027"/>
              <a:ext cx="234" cy="291"/>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dirty="0">
                  <a:solidFill>
                    <a:srgbClr val="000099"/>
                  </a:solidFill>
                  <a:ea typeface="宋体" panose="02010600030101010101" pitchFamily="2" charset="-122"/>
                </a:rPr>
                <a:t>L</a:t>
              </a:r>
              <a:endParaRPr lang="en-US" altLang="zh-CN" dirty="0">
                <a:ea typeface="宋体" panose="02010600030101010101" pitchFamily="2" charset="-122"/>
              </a:endParaRPr>
            </a:p>
          </p:txBody>
        </p:sp>
        <p:sp>
          <p:nvSpPr>
            <p:cNvPr id="110649" name="Arc 10"/>
            <p:cNvSpPr/>
            <p:nvPr/>
          </p:nvSpPr>
          <p:spPr>
            <a:xfrm rot="-9533463">
              <a:off x="128" y="2347"/>
              <a:ext cx="394" cy="375"/>
            </a:xfrm>
            <a:custGeom>
              <a:avLst/>
              <a:gdLst/>
              <a:ahLst/>
              <a:cxnLst>
                <a:cxn ang="0">
                  <a:pos x="0" y="0"/>
                </a:cxn>
                <a:cxn ang="0">
                  <a:pos x="0" y="0"/>
                </a:cxn>
                <a:cxn ang="0">
                  <a:pos x="0" y="0"/>
                </a:cxn>
                <a:cxn ang="0">
                  <a:pos x="0" y="0"/>
                </a:cxn>
                <a:cxn ang="0">
                  <a:pos x="0" y="0"/>
                </a:cxn>
                <a:cxn ang="0">
                  <a:pos x="0" y="0"/>
                </a:cxn>
                <a:cxn ang="0">
                  <a:pos x="0" y="0"/>
                </a:cxn>
              </a:cxnLst>
              <a:rect l="0" t="0" r="0" b="0"/>
              <a:pathLst>
                <a:path w="21600" h="20719" fill="none">
                  <a:moveTo>
                    <a:pt x="9627" y="0"/>
                  </a:moveTo>
                  <a:cubicBezTo>
                    <a:pt x="16963" y="3652"/>
                    <a:pt x="21600" y="11141"/>
                    <a:pt x="21600" y="19336"/>
                  </a:cubicBezTo>
                  <a:cubicBezTo>
                    <a:pt x="21600" y="19797"/>
                    <a:pt x="21585" y="20258"/>
                    <a:pt x="21555" y="20718"/>
                  </a:cubicBezTo>
                </a:path>
                <a:path w="21600" h="20719" stroke="0">
                  <a:moveTo>
                    <a:pt x="9627" y="0"/>
                  </a:moveTo>
                  <a:cubicBezTo>
                    <a:pt x="16963" y="3652"/>
                    <a:pt x="21600" y="11141"/>
                    <a:pt x="21600" y="19336"/>
                  </a:cubicBezTo>
                  <a:cubicBezTo>
                    <a:pt x="21600" y="19797"/>
                    <a:pt x="21585" y="20258"/>
                    <a:pt x="21555" y="20718"/>
                  </a:cubicBezTo>
                  <a:lnTo>
                    <a:pt x="0" y="19336"/>
                  </a:lnTo>
                  <a:lnTo>
                    <a:pt x="9627" y="0"/>
                  </a:lnTo>
                  <a:close/>
                </a:path>
              </a:pathLst>
            </a:custGeom>
            <a:noFill/>
            <a:ln w="31750" cap="flat" cmpd="sng">
              <a:solidFill>
                <a:srgbClr val="000099">
                  <a:alpha val="100000"/>
                </a:srgbClr>
              </a:solidFill>
              <a:prstDash val="solid"/>
              <a:round/>
              <a:headEnd type="triangle" w="med" len="med"/>
              <a:tailEnd type="none" w="med" len="lg"/>
            </a:ln>
          </p:spPr>
          <p:txBody>
            <a:bodyPr/>
            <a:lstStyle/>
            <a:p>
              <a:endParaRPr lang="zh-CN" altLang="en-US"/>
            </a:p>
          </p:txBody>
        </p:sp>
      </p:grpSp>
      <p:grpSp>
        <p:nvGrpSpPr>
          <p:cNvPr id="130" name="Group 11"/>
          <p:cNvGrpSpPr/>
          <p:nvPr/>
        </p:nvGrpSpPr>
        <p:grpSpPr bwMode="auto">
          <a:xfrm>
            <a:off x="1068388" y="1657448"/>
            <a:ext cx="1371600" cy="533400"/>
            <a:chOff x="768" y="2544"/>
            <a:chExt cx="864" cy="336"/>
          </a:xfrm>
          <a:solidFill>
            <a:srgbClr val="B8D4EC"/>
          </a:solidFill>
        </p:grpSpPr>
        <p:sp>
          <p:nvSpPr>
            <p:cNvPr id="131" name="Rectangle 12"/>
            <p:cNvSpPr>
              <a:spLocks noChangeArrowheads="1"/>
            </p:cNvSpPr>
            <p:nvPr/>
          </p:nvSpPr>
          <p:spPr bwMode="auto">
            <a:xfrm>
              <a:off x="1056" y="2544"/>
              <a:ext cx="576" cy="336"/>
            </a:xfrm>
            <a:prstGeom prst="rect">
              <a:avLst/>
            </a:prstGeom>
            <a:grpFill/>
            <a:ln w="25400">
              <a:solidFill>
                <a:srgbClr val="008080"/>
              </a:solidFill>
              <a:miter lim="800000"/>
            </a:ln>
          </p:spPr>
          <p:txBody>
            <a:bodyPr wrap="none" anchor="ct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rPr>
                <a:t>21</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2" name="Line 13"/>
            <p:cNvSpPr>
              <a:spLocks noChangeShapeType="1"/>
            </p:cNvSpPr>
            <p:nvPr/>
          </p:nvSpPr>
          <p:spPr bwMode="auto">
            <a:xfrm>
              <a:off x="1440" y="2544"/>
              <a:ext cx="0" cy="336"/>
            </a:xfrm>
            <a:prstGeom prst="line">
              <a:avLst/>
            </a:prstGeom>
            <a:grpFill/>
            <a:ln w="9525">
              <a:solidFill>
                <a:srgbClr val="00808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7" name="Line 14"/>
            <p:cNvSpPr>
              <a:spLocks noChangeShapeType="1"/>
            </p:cNvSpPr>
            <p:nvPr/>
          </p:nvSpPr>
          <p:spPr bwMode="auto">
            <a:xfrm>
              <a:off x="768" y="2736"/>
              <a:ext cx="288" cy="0"/>
            </a:xfrm>
            <a:prstGeom prst="line">
              <a:avLst/>
            </a:prstGeom>
            <a:grpFill/>
            <a:ln w="25400">
              <a:solidFill>
                <a:srgbClr val="008080"/>
              </a:solidFill>
              <a:round/>
              <a:headEnd type="oval" w="sm" len="sm"/>
              <a:tailEnd type="triangle"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38" name="Group 15"/>
          <p:cNvGrpSpPr/>
          <p:nvPr/>
        </p:nvGrpSpPr>
        <p:grpSpPr bwMode="auto">
          <a:xfrm>
            <a:off x="2287588" y="1657448"/>
            <a:ext cx="1371600" cy="533400"/>
            <a:chOff x="1536" y="2544"/>
            <a:chExt cx="864" cy="336"/>
          </a:xfrm>
          <a:solidFill>
            <a:srgbClr val="B8D4EC"/>
          </a:solidFill>
        </p:grpSpPr>
        <p:sp>
          <p:nvSpPr>
            <p:cNvPr id="139" name="Rectangle 16"/>
            <p:cNvSpPr>
              <a:spLocks noChangeArrowheads="1"/>
            </p:cNvSpPr>
            <p:nvPr/>
          </p:nvSpPr>
          <p:spPr bwMode="auto">
            <a:xfrm>
              <a:off x="1824" y="2544"/>
              <a:ext cx="576" cy="336"/>
            </a:xfrm>
            <a:prstGeom prst="rect">
              <a:avLst/>
            </a:prstGeom>
            <a:grpFill/>
            <a:ln w="25400">
              <a:solidFill>
                <a:srgbClr val="008080"/>
              </a:solidFill>
              <a:miter lim="800000"/>
            </a:ln>
          </p:spPr>
          <p:txBody>
            <a:bodyPr wrap="none" anchor="ct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18</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0" name="Line 17"/>
            <p:cNvSpPr>
              <a:spLocks noChangeShapeType="1"/>
            </p:cNvSpPr>
            <p:nvPr/>
          </p:nvSpPr>
          <p:spPr bwMode="auto">
            <a:xfrm>
              <a:off x="2208" y="2544"/>
              <a:ext cx="0" cy="336"/>
            </a:xfrm>
            <a:prstGeom prst="line">
              <a:avLst/>
            </a:prstGeom>
            <a:grpFill/>
            <a:ln w="9525">
              <a:solidFill>
                <a:srgbClr val="00808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1" name="Line 18"/>
            <p:cNvSpPr>
              <a:spLocks noChangeShapeType="1"/>
            </p:cNvSpPr>
            <p:nvPr/>
          </p:nvSpPr>
          <p:spPr bwMode="auto">
            <a:xfrm>
              <a:off x="1536" y="2736"/>
              <a:ext cx="288" cy="0"/>
            </a:xfrm>
            <a:prstGeom prst="line">
              <a:avLst/>
            </a:prstGeom>
            <a:grpFill/>
            <a:ln w="25400">
              <a:solidFill>
                <a:srgbClr val="008080"/>
              </a:solidFill>
              <a:round/>
              <a:headEnd type="oval" w="sm" len="sm"/>
              <a:tailEnd type="triangle"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43" name="Group 19"/>
          <p:cNvGrpSpPr/>
          <p:nvPr/>
        </p:nvGrpSpPr>
        <p:grpSpPr bwMode="auto">
          <a:xfrm>
            <a:off x="3506788" y="1657448"/>
            <a:ext cx="1371600" cy="533400"/>
            <a:chOff x="2304" y="2544"/>
            <a:chExt cx="864" cy="336"/>
          </a:xfrm>
          <a:solidFill>
            <a:srgbClr val="B8D4EC"/>
          </a:solidFill>
        </p:grpSpPr>
        <p:sp>
          <p:nvSpPr>
            <p:cNvPr id="144" name="Rectangle 20"/>
            <p:cNvSpPr>
              <a:spLocks noChangeArrowheads="1"/>
            </p:cNvSpPr>
            <p:nvPr/>
          </p:nvSpPr>
          <p:spPr bwMode="auto">
            <a:xfrm>
              <a:off x="2592" y="2544"/>
              <a:ext cx="576" cy="336"/>
            </a:xfrm>
            <a:prstGeom prst="rect">
              <a:avLst/>
            </a:prstGeom>
            <a:grpFill/>
            <a:ln w="25400">
              <a:solidFill>
                <a:srgbClr val="008080"/>
              </a:solidFill>
              <a:miter lim="800000"/>
            </a:ln>
          </p:spPr>
          <p:txBody>
            <a:bodyPr wrap="none" anchor="ct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30</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5" name="Line 21"/>
            <p:cNvSpPr>
              <a:spLocks noChangeShapeType="1"/>
            </p:cNvSpPr>
            <p:nvPr/>
          </p:nvSpPr>
          <p:spPr bwMode="auto">
            <a:xfrm>
              <a:off x="2976" y="2544"/>
              <a:ext cx="0" cy="336"/>
            </a:xfrm>
            <a:prstGeom prst="line">
              <a:avLst/>
            </a:prstGeom>
            <a:grpFill/>
            <a:ln w="9525">
              <a:solidFill>
                <a:srgbClr val="00808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6" name="Line 22"/>
            <p:cNvSpPr>
              <a:spLocks noChangeShapeType="1"/>
            </p:cNvSpPr>
            <p:nvPr/>
          </p:nvSpPr>
          <p:spPr bwMode="auto">
            <a:xfrm>
              <a:off x="2304" y="2736"/>
              <a:ext cx="288" cy="0"/>
            </a:xfrm>
            <a:prstGeom prst="line">
              <a:avLst/>
            </a:prstGeom>
            <a:grpFill/>
            <a:ln w="25400">
              <a:solidFill>
                <a:srgbClr val="008080"/>
              </a:solidFill>
              <a:round/>
              <a:headEnd type="oval" w="sm" len="sm"/>
              <a:tailEnd type="triangle"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47" name="Group 23"/>
          <p:cNvGrpSpPr/>
          <p:nvPr/>
        </p:nvGrpSpPr>
        <p:grpSpPr bwMode="auto">
          <a:xfrm>
            <a:off x="4725988" y="1657448"/>
            <a:ext cx="1371600" cy="533400"/>
            <a:chOff x="3072" y="2544"/>
            <a:chExt cx="864" cy="336"/>
          </a:xfrm>
          <a:solidFill>
            <a:srgbClr val="B8D4EC"/>
          </a:solidFill>
        </p:grpSpPr>
        <p:sp>
          <p:nvSpPr>
            <p:cNvPr id="149" name="Rectangle 24"/>
            <p:cNvSpPr>
              <a:spLocks noChangeArrowheads="1"/>
            </p:cNvSpPr>
            <p:nvPr/>
          </p:nvSpPr>
          <p:spPr bwMode="auto">
            <a:xfrm>
              <a:off x="3360" y="2544"/>
              <a:ext cx="576" cy="336"/>
            </a:xfrm>
            <a:prstGeom prst="rect">
              <a:avLst/>
            </a:prstGeom>
            <a:grpFill/>
            <a:ln w="25400">
              <a:solidFill>
                <a:srgbClr val="008080"/>
              </a:solidFill>
              <a:miter lim="800000"/>
            </a:ln>
          </p:spPr>
          <p:txBody>
            <a:bodyPr wrap="none" anchor="ct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75</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0" name="Line 25"/>
            <p:cNvSpPr>
              <a:spLocks noChangeShapeType="1"/>
            </p:cNvSpPr>
            <p:nvPr/>
          </p:nvSpPr>
          <p:spPr bwMode="auto">
            <a:xfrm>
              <a:off x="3744" y="2544"/>
              <a:ext cx="0" cy="336"/>
            </a:xfrm>
            <a:prstGeom prst="line">
              <a:avLst/>
            </a:prstGeom>
            <a:grpFill/>
            <a:ln w="9525">
              <a:solidFill>
                <a:srgbClr val="00808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1" name="Line 26"/>
            <p:cNvSpPr>
              <a:spLocks noChangeShapeType="1"/>
            </p:cNvSpPr>
            <p:nvPr/>
          </p:nvSpPr>
          <p:spPr bwMode="auto">
            <a:xfrm>
              <a:off x="3072" y="2736"/>
              <a:ext cx="288" cy="0"/>
            </a:xfrm>
            <a:prstGeom prst="line">
              <a:avLst/>
            </a:prstGeom>
            <a:grpFill/>
            <a:ln w="25400">
              <a:solidFill>
                <a:srgbClr val="008080"/>
              </a:solidFill>
              <a:round/>
              <a:headEnd type="oval" w="sm" len="sm"/>
              <a:tailEnd type="triangle"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52" name="Group 27"/>
          <p:cNvGrpSpPr/>
          <p:nvPr/>
        </p:nvGrpSpPr>
        <p:grpSpPr bwMode="auto">
          <a:xfrm>
            <a:off x="5945188" y="1657448"/>
            <a:ext cx="1371600" cy="533400"/>
            <a:chOff x="3840" y="2544"/>
            <a:chExt cx="864" cy="336"/>
          </a:xfrm>
          <a:solidFill>
            <a:srgbClr val="B8D4EC"/>
          </a:solidFill>
        </p:grpSpPr>
        <p:sp>
          <p:nvSpPr>
            <p:cNvPr id="153" name="Rectangle 28"/>
            <p:cNvSpPr>
              <a:spLocks noChangeArrowheads="1"/>
            </p:cNvSpPr>
            <p:nvPr/>
          </p:nvSpPr>
          <p:spPr bwMode="auto">
            <a:xfrm>
              <a:off x="4128" y="2544"/>
              <a:ext cx="576" cy="336"/>
            </a:xfrm>
            <a:prstGeom prst="rect">
              <a:avLst/>
            </a:prstGeom>
            <a:grpFill/>
            <a:ln w="25400">
              <a:solidFill>
                <a:srgbClr val="008080"/>
              </a:solidFill>
              <a:miter lim="800000"/>
            </a:ln>
          </p:spPr>
          <p:txBody>
            <a:bodyPr wrap="none" anchor="ct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30</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6" name="Line 29"/>
            <p:cNvSpPr>
              <a:spLocks noChangeShapeType="1"/>
            </p:cNvSpPr>
            <p:nvPr/>
          </p:nvSpPr>
          <p:spPr bwMode="auto">
            <a:xfrm>
              <a:off x="4512" y="2544"/>
              <a:ext cx="0" cy="336"/>
            </a:xfrm>
            <a:prstGeom prst="line">
              <a:avLst/>
            </a:prstGeom>
            <a:grpFill/>
            <a:ln w="9525">
              <a:solidFill>
                <a:srgbClr val="00808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7" name="Line 30"/>
            <p:cNvSpPr>
              <a:spLocks noChangeShapeType="1"/>
            </p:cNvSpPr>
            <p:nvPr/>
          </p:nvSpPr>
          <p:spPr bwMode="auto">
            <a:xfrm>
              <a:off x="3840" y="2736"/>
              <a:ext cx="288" cy="0"/>
            </a:xfrm>
            <a:prstGeom prst="line">
              <a:avLst/>
            </a:prstGeom>
            <a:grpFill/>
            <a:ln w="25400">
              <a:solidFill>
                <a:srgbClr val="008080"/>
              </a:solidFill>
              <a:round/>
              <a:headEnd type="oval" w="sm" len="sm"/>
              <a:tailEnd type="triangle"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58" name="Group 31"/>
          <p:cNvGrpSpPr/>
          <p:nvPr/>
        </p:nvGrpSpPr>
        <p:grpSpPr bwMode="auto">
          <a:xfrm>
            <a:off x="7164388" y="1657448"/>
            <a:ext cx="1474787" cy="533400"/>
            <a:chOff x="4608" y="2544"/>
            <a:chExt cx="929" cy="336"/>
          </a:xfrm>
          <a:solidFill>
            <a:srgbClr val="B8D4EC"/>
          </a:solidFill>
        </p:grpSpPr>
        <p:sp>
          <p:nvSpPr>
            <p:cNvPr id="159" name="Rectangle 32"/>
            <p:cNvSpPr>
              <a:spLocks noChangeArrowheads="1"/>
            </p:cNvSpPr>
            <p:nvPr/>
          </p:nvSpPr>
          <p:spPr bwMode="auto">
            <a:xfrm>
              <a:off x="4896" y="2544"/>
              <a:ext cx="576" cy="336"/>
            </a:xfrm>
            <a:prstGeom prst="rect">
              <a:avLst/>
            </a:prstGeom>
            <a:grpFill/>
            <a:ln w="25400">
              <a:solidFill>
                <a:srgbClr val="008080"/>
              </a:solidFill>
              <a:miter lim="800000"/>
            </a:ln>
          </p:spPr>
          <p:txBody>
            <a:bodyPr wrap="none" anchor="ct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56</a:t>
              </a: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0" name="Line 33"/>
            <p:cNvSpPr>
              <a:spLocks noChangeShapeType="1"/>
            </p:cNvSpPr>
            <p:nvPr/>
          </p:nvSpPr>
          <p:spPr bwMode="auto">
            <a:xfrm>
              <a:off x="5280" y="2544"/>
              <a:ext cx="0" cy="336"/>
            </a:xfrm>
            <a:prstGeom prst="line">
              <a:avLst/>
            </a:prstGeom>
            <a:grpFill/>
            <a:ln w="9525">
              <a:solidFill>
                <a:srgbClr val="00808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61" name="Text Box 34"/>
            <p:cNvSpPr txBox="1">
              <a:spLocks noChangeArrowheads="1"/>
            </p:cNvSpPr>
            <p:nvPr/>
          </p:nvSpPr>
          <p:spPr bwMode="auto">
            <a:xfrm>
              <a:off x="5226" y="2553"/>
              <a:ext cx="311" cy="29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2" name="Line 35"/>
            <p:cNvSpPr>
              <a:spLocks noChangeShapeType="1"/>
            </p:cNvSpPr>
            <p:nvPr/>
          </p:nvSpPr>
          <p:spPr bwMode="auto">
            <a:xfrm>
              <a:off x="4608" y="2736"/>
              <a:ext cx="288" cy="0"/>
            </a:xfrm>
            <a:prstGeom prst="line">
              <a:avLst/>
            </a:prstGeom>
            <a:grpFill/>
            <a:ln w="25400">
              <a:solidFill>
                <a:srgbClr val="008080"/>
              </a:solidFill>
              <a:round/>
              <a:headEnd type="oval" w="sm" len="sm"/>
              <a:tailEnd type="triangle"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grpSp>
        <p:nvGrpSpPr>
          <p:cNvPr id="163" name="Group 36"/>
          <p:cNvGrpSpPr/>
          <p:nvPr/>
        </p:nvGrpSpPr>
        <p:grpSpPr>
          <a:xfrm>
            <a:off x="695325" y="2220913"/>
            <a:ext cx="1497013" cy="874712"/>
            <a:chOff x="4817" y="2622"/>
            <a:chExt cx="943" cy="654"/>
          </a:xfrm>
        </p:grpSpPr>
        <p:grpSp>
          <p:nvGrpSpPr>
            <p:cNvPr id="110642" name="Group 37"/>
            <p:cNvGrpSpPr/>
            <p:nvPr/>
          </p:nvGrpSpPr>
          <p:grpSpPr>
            <a:xfrm>
              <a:off x="5484" y="2622"/>
              <a:ext cx="276" cy="624"/>
              <a:chOff x="1212" y="2880"/>
              <a:chExt cx="276" cy="624"/>
            </a:xfrm>
          </p:grpSpPr>
          <p:sp>
            <p:nvSpPr>
              <p:cNvPr id="110644" name="Line 38"/>
              <p:cNvSpPr/>
              <p:nvPr/>
            </p:nvSpPr>
            <p:spPr>
              <a:xfrm>
                <a:off x="1248" y="2880"/>
                <a:ext cx="0" cy="624"/>
              </a:xfrm>
              <a:prstGeom prst="line">
                <a:avLst/>
              </a:prstGeom>
              <a:ln w="31750" cap="flat" cmpd="sng">
                <a:solidFill>
                  <a:srgbClr val="990000"/>
                </a:solidFill>
                <a:prstDash val="solid"/>
                <a:headEnd type="triangle" w="med" len="lg"/>
                <a:tailEnd type="none" w="med" len="med"/>
              </a:ln>
            </p:spPr>
            <p:txBody>
              <a:bodyPr/>
              <a:lstStyle/>
              <a:p>
                <a:endParaRPr lang="zh-CN" altLang="en-US"/>
              </a:p>
            </p:txBody>
          </p:sp>
          <p:sp>
            <p:nvSpPr>
              <p:cNvPr id="110645" name="Text Box 39"/>
              <p:cNvSpPr txBox="1"/>
              <p:nvPr/>
            </p:nvSpPr>
            <p:spPr>
              <a:xfrm>
                <a:off x="1212" y="3052"/>
                <a:ext cx="276" cy="40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sz="3600" b="1" dirty="0">
                    <a:solidFill>
                      <a:srgbClr val="990000"/>
                    </a:solidFill>
                    <a:ea typeface="宋体" panose="02010600030101010101" pitchFamily="2" charset="-122"/>
                  </a:rPr>
                  <a:t>p</a:t>
                </a:r>
                <a:endParaRPr lang="en-US" altLang="zh-CN" sz="3600" dirty="0">
                  <a:ea typeface="宋体" panose="02010600030101010101" pitchFamily="2" charset="-122"/>
                </a:endParaRPr>
              </a:p>
            </p:txBody>
          </p:sp>
        </p:grpSp>
        <p:sp>
          <p:nvSpPr>
            <p:cNvPr id="110643" name="Rectangle 40"/>
            <p:cNvSpPr/>
            <p:nvPr/>
          </p:nvSpPr>
          <p:spPr>
            <a:xfrm>
              <a:off x="4817" y="2658"/>
              <a:ext cx="424" cy="618"/>
            </a:xfrm>
            <a:prstGeom prst="rect">
              <a:avLst/>
            </a:prstGeom>
            <a:solidFill>
              <a:schemeClr val="bg1"/>
            </a:solidFill>
            <a:ln w="38100">
              <a:noFill/>
            </a:ln>
          </p:spPr>
          <p:txBody>
            <a:bodyPr wrap="none"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sp>
        <p:nvSpPr>
          <p:cNvPr id="169" name="Text Box 42"/>
          <p:cNvSpPr txBox="1"/>
          <p:nvPr/>
        </p:nvSpPr>
        <p:spPr>
          <a:xfrm>
            <a:off x="534988" y="3195638"/>
            <a:ext cx="287337" cy="461962"/>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b="1" dirty="0">
                <a:solidFill>
                  <a:srgbClr val="FF0000"/>
                </a:solidFill>
                <a:ea typeface="宋体" panose="02010600030101010101" pitchFamily="2" charset="-122"/>
              </a:rPr>
              <a:t>j</a:t>
            </a:r>
            <a:endParaRPr lang="en-US" altLang="zh-CN" dirty="0">
              <a:ea typeface="宋体" panose="02010600030101010101" pitchFamily="2" charset="-122"/>
            </a:endParaRPr>
          </a:p>
        </p:txBody>
      </p:sp>
      <p:sp>
        <p:nvSpPr>
          <p:cNvPr id="170" name="Text Box 43"/>
          <p:cNvSpPr txBox="1"/>
          <p:nvPr/>
        </p:nvSpPr>
        <p:spPr>
          <a:xfrm>
            <a:off x="939800" y="3190875"/>
            <a:ext cx="641350" cy="461963"/>
          </a:xfrm>
          <a:prstGeom prst="rect">
            <a:avLst/>
          </a:prstGeom>
          <a:solidFill>
            <a:srgbClr val="B8D4EC"/>
          </a:solid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spcBef>
                <a:spcPct val="20000"/>
              </a:spcBef>
            </a:pPr>
            <a:r>
              <a:rPr lang="en-US" altLang="zh-CN" b="1" dirty="0">
                <a:solidFill>
                  <a:srgbClr val="660033"/>
                </a:solidFill>
                <a:ea typeface="宋体" panose="02010600030101010101" pitchFamily="2" charset="-122"/>
              </a:rPr>
              <a:t>1</a:t>
            </a:r>
            <a:endParaRPr lang="en-US" altLang="zh-CN" dirty="0">
              <a:ea typeface="宋体" panose="02010600030101010101" pitchFamily="2" charset="-122"/>
            </a:endParaRPr>
          </a:p>
        </p:txBody>
      </p:sp>
      <p:sp>
        <p:nvSpPr>
          <p:cNvPr id="171" name="Text Box 44"/>
          <p:cNvSpPr txBox="1"/>
          <p:nvPr/>
        </p:nvSpPr>
        <p:spPr>
          <a:xfrm>
            <a:off x="3554413" y="1003300"/>
            <a:ext cx="819150" cy="465138"/>
          </a:xfrm>
          <a:prstGeom prst="rect">
            <a:avLst/>
          </a:prstGeom>
          <a:noFill/>
          <a:ln w="38100">
            <a:noFill/>
          </a:ln>
        </p:spPr>
        <p:txBody>
          <a:bodyPr wrap="none" lIns="90000" tIns="46800" rIns="90000" bIns="4680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b="1" dirty="0">
                <a:ea typeface="仿宋_GB2312" pitchFamily="49" charset="-122"/>
              </a:rPr>
              <a:t>x=30</a:t>
            </a:r>
          </a:p>
        </p:txBody>
      </p:sp>
      <p:grpSp>
        <p:nvGrpSpPr>
          <p:cNvPr id="172" name="Group 50"/>
          <p:cNvGrpSpPr/>
          <p:nvPr/>
        </p:nvGrpSpPr>
        <p:grpSpPr>
          <a:xfrm>
            <a:off x="1735138" y="2189163"/>
            <a:ext cx="1765300" cy="930275"/>
            <a:chOff x="1093" y="2623"/>
            <a:chExt cx="1112" cy="646"/>
          </a:xfrm>
        </p:grpSpPr>
        <p:grpSp>
          <p:nvGrpSpPr>
            <p:cNvPr id="110638" name="Group 46"/>
            <p:cNvGrpSpPr/>
            <p:nvPr/>
          </p:nvGrpSpPr>
          <p:grpSpPr>
            <a:xfrm>
              <a:off x="1929" y="2623"/>
              <a:ext cx="276" cy="624"/>
              <a:chOff x="1212" y="2880"/>
              <a:chExt cx="276" cy="624"/>
            </a:xfrm>
          </p:grpSpPr>
          <p:sp>
            <p:nvSpPr>
              <p:cNvPr id="110640" name="Line 47"/>
              <p:cNvSpPr/>
              <p:nvPr/>
            </p:nvSpPr>
            <p:spPr>
              <a:xfrm>
                <a:off x="1248" y="2880"/>
                <a:ext cx="0" cy="624"/>
              </a:xfrm>
              <a:prstGeom prst="line">
                <a:avLst/>
              </a:prstGeom>
              <a:ln w="31750" cap="flat" cmpd="sng">
                <a:solidFill>
                  <a:srgbClr val="990000"/>
                </a:solidFill>
                <a:prstDash val="solid"/>
                <a:headEnd type="triangle" w="med" len="lg"/>
                <a:tailEnd type="none" w="med" len="med"/>
              </a:ln>
            </p:spPr>
            <p:txBody>
              <a:bodyPr/>
              <a:lstStyle/>
              <a:p>
                <a:endParaRPr lang="zh-CN" altLang="en-US"/>
              </a:p>
            </p:txBody>
          </p:sp>
          <p:sp>
            <p:nvSpPr>
              <p:cNvPr id="110641" name="Text Box 48"/>
              <p:cNvSpPr txBox="1"/>
              <p:nvPr/>
            </p:nvSpPr>
            <p:spPr>
              <a:xfrm>
                <a:off x="1212" y="3052"/>
                <a:ext cx="276" cy="40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sz="3600" b="1" dirty="0">
                    <a:solidFill>
                      <a:srgbClr val="990000"/>
                    </a:solidFill>
                    <a:ea typeface="宋体" panose="02010600030101010101" pitchFamily="2" charset="-122"/>
                  </a:rPr>
                  <a:t>p</a:t>
                </a:r>
                <a:endParaRPr lang="en-US" altLang="zh-CN" sz="3600" dirty="0">
                  <a:ea typeface="宋体" panose="02010600030101010101" pitchFamily="2" charset="-122"/>
                </a:endParaRPr>
              </a:p>
            </p:txBody>
          </p:sp>
        </p:grpSp>
        <p:sp>
          <p:nvSpPr>
            <p:cNvPr id="110639" name="Rectangle 49"/>
            <p:cNvSpPr/>
            <p:nvPr/>
          </p:nvSpPr>
          <p:spPr>
            <a:xfrm>
              <a:off x="1093" y="2651"/>
              <a:ext cx="424" cy="618"/>
            </a:xfrm>
            <a:prstGeom prst="rect">
              <a:avLst/>
            </a:prstGeom>
            <a:solidFill>
              <a:schemeClr val="bg1"/>
            </a:solidFill>
            <a:ln w="38100">
              <a:noFill/>
            </a:ln>
          </p:spPr>
          <p:txBody>
            <a:bodyPr wrap="none"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sp>
        <p:nvSpPr>
          <p:cNvPr id="177" name="Text Box 51"/>
          <p:cNvSpPr txBox="1"/>
          <p:nvPr/>
        </p:nvSpPr>
        <p:spPr>
          <a:xfrm>
            <a:off x="944563" y="3195638"/>
            <a:ext cx="641350" cy="461962"/>
          </a:xfrm>
          <a:prstGeom prst="rect">
            <a:avLst/>
          </a:prstGeom>
          <a:solidFill>
            <a:srgbClr val="B8D4EC"/>
          </a:solid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spcBef>
                <a:spcPct val="20000"/>
              </a:spcBef>
            </a:pPr>
            <a:r>
              <a:rPr lang="en-US" altLang="zh-CN" b="1" dirty="0">
                <a:solidFill>
                  <a:srgbClr val="660033"/>
                </a:solidFill>
                <a:ea typeface="宋体" panose="02010600030101010101" pitchFamily="2" charset="-122"/>
              </a:rPr>
              <a:t>2</a:t>
            </a:r>
            <a:endParaRPr lang="en-US" altLang="zh-CN" dirty="0">
              <a:ea typeface="宋体" panose="02010600030101010101" pitchFamily="2" charset="-122"/>
            </a:endParaRPr>
          </a:p>
        </p:txBody>
      </p:sp>
      <p:grpSp>
        <p:nvGrpSpPr>
          <p:cNvPr id="178" name="Group 52"/>
          <p:cNvGrpSpPr/>
          <p:nvPr/>
        </p:nvGrpSpPr>
        <p:grpSpPr>
          <a:xfrm>
            <a:off x="2963863" y="2179638"/>
            <a:ext cx="1765300" cy="866775"/>
            <a:chOff x="1093" y="2623"/>
            <a:chExt cx="1112" cy="646"/>
          </a:xfrm>
        </p:grpSpPr>
        <p:grpSp>
          <p:nvGrpSpPr>
            <p:cNvPr id="110634" name="Group 53"/>
            <p:cNvGrpSpPr/>
            <p:nvPr/>
          </p:nvGrpSpPr>
          <p:grpSpPr>
            <a:xfrm>
              <a:off x="1929" y="2623"/>
              <a:ext cx="276" cy="624"/>
              <a:chOff x="1212" y="2880"/>
              <a:chExt cx="276" cy="624"/>
            </a:xfrm>
          </p:grpSpPr>
          <p:sp>
            <p:nvSpPr>
              <p:cNvPr id="110636" name="Line 54"/>
              <p:cNvSpPr/>
              <p:nvPr/>
            </p:nvSpPr>
            <p:spPr>
              <a:xfrm>
                <a:off x="1248" y="2880"/>
                <a:ext cx="0" cy="624"/>
              </a:xfrm>
              <a:prstGeom prst="line">
                <a:avLst/>
              </a:prstGeom>
              <a:ln w="31750" cap="flat" cmpd="sng">
                <a:solidFill>
                  <a:srgbClr val="990000"/>
                </a:solidFill>
                <a:prstDash val="solid"/>
                <a:headEnd type="triangle" w="med" len="lg"/>
                <a:tailEnd type="none" w="med" len="med"/>
              </a:ln>
            </p:spPr>
            <p:txBody>
              <a:bodyPr/>
              <a:lstStyle/>
              <a:p>
                <a:endParaRPr lang="zh-CN" altLang="en-US"/>
              </a:p>
            </p:txBody>
          </p:sp>
          <p:sp>
            <p:nvSpPr>
              <p:cNvPr id="110637" name="Text Box 55"/>
              <p:cNvSpPr txBox="1"/>
              <p:nvPr/>
            </p:nvSpPr>
            <p:spPr>
              <a:xfrm>
                <a:off x="1212" y="3052"/>
                <a:ext cx="276" cy="40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sz="3600" b="1" dirty="0">
                    <a:solidFill>
                      <a:srgbClr val="990000"/>
                    </a:solidFill>
                    <a:ea typeface="宋体" panose="02010600030101010101" pitchFamily="2" charset="-122"/>
                  </a:rPr>
                  <a:t>p</a:t>
                </a:r>
                <a:endParaRPr lang="en-US" altLang="zh-CN" sz="3600" dirty="0">
                  <a:ea typeface="宋体" panose="02010600030101010101" pitchFamily="2" charset="-122"/>
                </a:endParaRPr>
              </a:p>
            </p:txBody>
          </p:sp>
        </p:grpSp>
        <p:sp>
          <p:nvSpPr>
            <p:cNvPr id="110635" name="Rectangle 56"/>
            <p:cNvSpPr/>
            <p:nvPr/>
          </p:nvSpPr>
          <p:spPr>
            <a:xfrm>
              <a:off x="1093" y="2651"/>
              <a:ext cx="424" cy="618"/>
            </a:xfrm>
            <a:prstGeom prst="rect">
              <a:avLst/>
            </a:prstGeom>
            <a:solidFill>
              <a:schemeClr val="bg1"/>
            </a:solidFill>
            <a:ln w="38100">
              <a:noFill/>
            </a:ln>
          </p:spPr>
          <p:txBody>
            <a:bodyPr wrap="none"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sp>
        <p:nvSpPr>
          <p:cNvPr id="183" name="Text Box 57"/>
          <p:cNvSpPr txBox="1"/>
          <p:nvPr/>
        </p:nvSpPr>
        <p:spPr>
          <a:xfrm>
            <a:off x="935038" y="3200400"/>
            <a:ext cx="641350" cy="461963"/>
          </a:xfrm>
          <a:prstGeom prst="rect">
            <a:avLst/>
          </a:prstGeom>
          <a:solidFill>
            <a:srgbClr val="B8D4EC"/>
          </a:solid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spcBef>
                <a:spcPct val="20000"/>
              </a:spcBef>
            </a:pPr>
            <a:r>
              <a:rPr lang="en-US" altLang="zh-CN" b="1" dirty="0">
                <a:solidFill>
                  <a:srgbClr val="660033"/>
                </a:solidFill>
                <a:ea typeface="宋体" panose="02010600030101010101" pitchFamily="2" charset="-122"/>
              </a:rPr>
              <a:t>3</a:t>
            </a:r>
            <a:endParaRPr lang="en-US" altLang="zh-CN" dirty="0">
              <a:ea typeface="宋体" panose="02010600030101010101" pitchFamily="2" charset="-122"/>
            </a:endParaRPr>
          </a:p>
        </p:txBody>
      </p:sp>
      <p:sp>
        <p:nvSpPr>
          <p:cNvPr id="184" name="Text Box 58"/>
          <p:cNvSpPr txBox="1"/>
          <p:nvPr/>
        </p:nvSpPr>
        <p:spPr>
          <a:xfrm>
            <a:off x="2262188" y="3151188"/>
            <a:ext cx="2146300" cy="519112"/>
          </a:xfrm>
          <a:prstGeom prst="rect">
            <a:avLst/>
          </a:prstGeom>
          <a:solidFill>
            <a:srgbClr val="FFFF99"/>
          </a:solidFill>
          <a:ln w="38100">
            <a:noFill/>
          </a:ln>
        </p:spPr>
        <p:txBody>
          <a:bodyPr wrap="none" lIns="90000" tIns="46800" rIns="90000" bIns="4680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zh-CN" altLang="en-US" sz="2800" b="1" dirty="0">
                <a:latin typeface="隶书" panose="02010509060101010101" pitchFamily="49" charset="-122"/>
                <a:ea typeface="仿宋_GB2312" pitchFamily="49" charset="-122"/>
              </a:rPr>
              <a:t>找到，返回</a:t>
            </a:r>
            <a:r>
              <a:rPr lang="en-US" altLang="zh-CN" sz="2800" b="1" dirty="0">
                <a:latin typeface="隶书" panose="02010509060101010101" pitchFamily="49" charset="-122"/>
                <a:ea typeface="仿宋_GB2312" pitchFamily="49" charset="-122"/>
              </a:rPr>
              <a:t>i</a:t>
            </a:r>
          </a:p>
        </p:txBody>
      </p:sp>
      <p:sp>
        <p:nvSpPr>
          <p:cNvPr id="185" name="Text Box 59"/>
          <p:cNvSpPr txBox="1"/>
          <p:nvPr/>
        </p:nvSpPr>
        <p:spPr>
          <a:xfrm>
            <a:off x="4872038" y="963613"/>
            <a:ext cx="819150" cy="465137"/>
          </a:xfrm>
          <a:prstGeom prst="rect">
            <a:avLst/>
          </a:prstGeom>
          <a:noFill/>
          <a:ln w="38100">
            <a:noFill/>
          </a:ln>
        </p:spPr>
        <p:txBody>
          <a:bodyPr wrap="none" lIns="90000" tIns="46800" rIns="90000" bIns="4680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b="1" dirty="0">
                <a:ea typeface="仿宋_GB2312" pitchFamily="49" charset="-122"/>
              </a:rPr>
              <a:t>x=51</a:t>
            </a:r>
          </a:p>
        </p:txBody>
      </p:sp>
      <p:sp>
        <p:nvSpPr>
          <p:cNvPr id="186" name="Rectangle 60"/>
          <p:cNvSpPr/>
          <p:nvPr/>
        </p:nvSpPr>
        <p:spPr>
          <a:xfrm>
            <a:off x="2165350" y="3027363"/>
            <a:ext cx="2568575" cy="833437"/>
          </a:xfrm>
          <a:prstGeom prst="rect">
            <a:avLst/>
          </a:prstGeom>
          <a:solidFill>
            <a:srgbClr val="FFFFFF"/>
          </a:solidFill>
          <a:ln w="38100">
            <a:noFill/>
          </a:ln>
        </p:spPr>
        <p:txBody>
          <a:bodyPr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nvGrpSpPr>
          <p:cNvPr id="187" name="Group 66"/>
          <p:cNvGrpSpPr/>
          <p:nvPr/>
        </p:nvGrpSpPr>
        <p:grpSpPr>
          <a:xfrm>
            <a:off x="1674813" y="2201863"/>
            <a:ext cx="3070225" cy="833437"/>
            <a:chOff x="1055" y="2631"/>
            <a:chExt cx="1934" cy="638"/>
          </a:xfrm>
        </p:grpSpPr>
        <p:grpSp>
          <p:nvGrpSpPr>
            <p:cNvPr id="110630" name="Group 62"/>
            <p:cNvGrpSpPr/>
            <p:nvPr/>
          </p:nvGrpSpPr>
          <p:grpSpPr>
            <a:xfrm>
              <a:off x="1055" y="2645"/>
              <a:ext cx="276" cy="624"/>
              <a:chOff x="1212" y="2880"/>
              <a:chExt cx="276" cy="624"/>
            </a:xfrm>
          </p:grpSpPr>
          <p:sp>
            <p:nvSpPr>
              <p:cNvPr id="110632" name="Line 63"/>
              <p:cNvSpPr/>
              <p:nvPr/>
            </p:nvSpPr>
            <p:spPr>
              <a:xfrm>
                <a:off x="1248" y="2880"/>
                <a:ext cx="0" cy="624"/>
              </a:xfrm>
              <a:prstGeom prst="line">
                <a:avLst/>
              </a:prstGeom>
              <a:ln w="31750" cap="flat" cmpd="sng">
                <a:solidFill>
                  <a:srgbClr val="990000"/>
                </a:solidFill>
                <a:prstDash val="solid"/>
                <a:headEnd type="triangle" w="med" len="lg"/>
                <a:tailEnd type="none" w="med" len="med"/>
              </a:ln>
            </p:spPr>
            <p:txBody>
              <a:bodyPr/>
              <a:lstStyle/>
              <a:p>
                <a:endParaRPr lang="zh-CN" altLang="en-US"/>
              </a:p>
            </p:txBody>
          </p:sp>
          <p:sp>
            <p:nvSpPr>
              <p:cNvPr id="110633" name="Text Box 64"/>
              <p:cNvSpPr txBox="1"/>
              <p:nvPr/>
            </p:nvSpPr>
            <p:spPr>
              <a:xfrm>
                <a:off x="1212" y="3052"/>
                <a:ext cx="276" cy="40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sz="3600" b="1" dirty="0">
                    <a:solidFill>
                      <a:srgbClr val="990000"/>
                    </a:solidFill>
                    <a:ea typeface="宋体" panose="02010600030101010101" pitchFamily="2" charset="-122"/>
                  </a:rPr>
                  <a:t>p</a:t>
                </a:r>
                <a:endParaRPr lang="en-US" altLang="zh-CN" sz="3600" dirty="0">
                  <a:ea typeface="宋体" panose="02010600030101010101" pitchFamily="2" charset="-122"/>
                </a:endParaRPr>
              </a:p>
            </p:txBody>
          </p:sp>
        </p:grpSp>
        <p:sp>
          <p:nvSpPr>
            <p:cNvPr id="110631" name="Rectangle 65"/>
            <p:cNvSpPr/>
            <p:nvPr/>
          </p:nvSpPr>
          <p:spPr>
            <a:xfrm>
              <a:off x="2565" y="2631"/>
              <a:ext cx="424" cy="618"/>
            </a:xfrm>
            <a:prstGeom prst="rect">
              <a:avLst/>
            </a:prstGeom>
            <a:solidFill>
              <a:schemeClr val="bg1"/>
            </a:solidFill>
            <a:ln w="38100">
              <a:noFill/>
            </a:ln>
          </p:spPr>
          <p:txBody>
            <a:bodyPr wrap="none"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sp>
        <p:nvSpPr>
          <p:cNvPr id="192" name="Text Box 67"/>
          <p:cNvSpPr txBox="1"/>
          <p:nvPr/>
        </p:nvSpPr>
        <p:spPr>
          <a:xfrm>
            <a:off x="939800" y="3205163"/>
            <a:ext cx="641350" cy="461962"/>
          </a:xfrm>
          <a:prstGeom prst="rect">
            <a:avLst/>
          </a:prstGeom>
          <a:solidFill>
            <a:srgbClr val="B8D4EC"/>
          </a:solid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spcBef>
                <a:spcPct val="20000"/>
              </a:spcBef>
            </a:pPr>
            <a:r>
              <a:rPr lang="en-US" altLang="zh-CN" b="1" dirty="0">
                <a:solidFill>
                  <a:srgbClr val="660033"/>
                </a:solidFill>
                <a:ea typeface="宋体" panose="02010600030101010101" pitchFamily="2" charset="-122"/>
              </a:rPr>
              <a:t>1</a:t>
            </a:r>
            <a:endParaRPr lang="en-US" altLang="zh-CN" dirty="0">
              <a:ea typeface="宋体" panose="02010600030101010101" pitchFamily="2" charset="-122"/>
            </a:endParaRPr>
          </a:p>
        </p:txBody>
      </p:sp>
      <p:grpSp>
        <p:nvGrpSpPr>
          <p:cNvPr id="193" name="Group 73"/>
          <p:cNvGrpSpPr/>
          <p:nvPr/>
        </p:nvGrpSpPr>
        <p:grpSpPr>
          <a:xfrm>
            <a:off x="1643063" y="2187575"/>
            <a:ext cx="6713537" cy="898525"/>
            <a:chOff x="1035" y="2622"/>
            <a:chExt cx="4229" cy="639"/>
          </a:xfrm>
        </p:grpSpPr>
        <p:grpSp>
          <p:nvGrpSpPr>
            <p:cNvPr id="110626" name="Group 69"/>
            <p:cNvGrpSpPr/>
            <p:nvPr/>
          </p:nvGrpSpPr>
          <p:grpSpPr>
            <a:xfrm>
              <a:off x="4988" y="2622"/>
              <a:ext cx="276" cy="624"/>
              <a:chOff x="1212" y="2880"/>
              <a:chExt cx="276" cy="624"/>
            </a:xfrm>
          </p:grpSpPr>
          <p:sp>
            <p:nvSpPr>
              <p:cNvPr id="110628" name="Line 70"/>
              <p:cNvSpPr/>
              <p:nvPr/>
            </p:nvSpPr>
            <p:spPr>
              <a:xfrm>
                <a:off x="1248" y="2880"/>
                <a:ext cx="0" cy="624"/>
              </a:xfrm>
              <a:prstGeom prst="line">
                <a:avLst/>
              </a:prstGeom>
              <a:ln w="31750" cap="flat" cmpd="sng">
                <a:solidFill>
                  <a:srgbClr val="990000"/>
                </a:solidFill>
                <a:prstDash val="solid"/>
                <a:headEnd type="triangle" w="med" len="lg"/>
                <a:tailEnd type="none" w="med" len="med"/>
              </a:ln>
            </p:spPr>
            <p:txBody>
              <a:bodyPr/>
              <a:lstStyle/>
              <a:p>
                <a:endParaRPr lang="zh-CN" altLang="en-US"/>
              </a:p>
            </p:txBody>
          </p:sp>
          <p:sp>
            <p:nvSpPr>
              <p:cNvPr id="110629" name="Text Box 71"/>
              <p:cNvSpPr txBox="1"/>
              <p:nvPr/>
            </p:nvSpPr>
            <p:spPr>
              <a:xfrm>
                <a:off x="1212" y="3052"/>
                <a:ext cx="276" cy="40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sz="3600" b="1" dirty="0">
                    <a:solidFill>
                      <a:srgbClr val="990000"/>
                    </a:solidFill>
                    <a:ea typeface="宋体" panose="02010600030101010101" pitchFamily="2" charset="-122"/>
                  </a:rPr>
                  <a:t>p</a:t>
                </a:r>
                <a:endParaRPr lang="en-US" altLang="zh-CN" sz="3600" dirty="0">
                  <a:ea typeface="宋体" panose="02010600030101010101" pitchFamily="2" charset="-122"/>
                </a:endParaRPr>
              </a:p>
            </p:txBody>
          </p:sp>
        </p:grpSp>
        <p:sp>
          <p:nvSpPr>
            <p:cNvPr id="110627" name="Rectangle 72"/>
            <p:cNvSpPr/>
            <p:nvPr/>
          </p:nvSpPr>
          <p:spPr>
            <a:xfrm>
              <a:off x="1035" y="2643"/>
              <a:ext cx="424" cy="618"/>
            </a:xfrm>
            <a:prstGeom prst="rect">
              <a:avLst/>
            </a:prstGeom>
            <a:solidFill>
              <a:schemeClr val="bg1"/>
            </a:solidFill>
            <a:ln w="38100">
              <a:noFill/>
            </a:ln>
          </p:spPr>
          <p:txBody>
            <a:bodyPr wrap="none"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sp>
        <p:nvSpPr>
          <p:cNvPr id="198" name="Text Box 74"/>
          <p:cNvSpPr txBox="1"/>
          <p:nvPr/>
        </p:nvSpPr>
        <p:spPr>
          <a:xfrm>
            <a:off x="957263" y="3197225"/>
            <a:ext cx="641350" cy="461963"/>
          </a:xfrm>
          <a:prstGeom prst="rect">
            <a:avLst/>
          </a:prstGeom>
          <a:solidFill>
            <a:srgbClr val="B8D4EC"/>
          </a:solid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spcBef>
                <a:spcPct val="20000"/>
              </a:spcBef>
            </a:pPr>
            <a:r>
              <a:rPr lang="en-US" altLang="zh-CN" b="1" dirty="0">
                <a:solidFill>
                  <a:srgbClr val="660033"/>
                </a:solidFill>
                <a:ea typeface="宋体" panose="02010600030101010101" pitchFamily="2" charset="-122"/>
              </a:rPr>
              <a:t>6</a:t>
            </a:r>
            <a:endParaRPr lang="en-US" altLang="zh-CN" dirty="0">
              <a:ea typeface="宋体" panose="02010600030101010101" pitchFamily="2" charset="-122"/>
            </a:endParaRPr>
          </a:p>
        </p:txBody>
      </p:sp>
      <p:grpSp>
        <p:nvGrpSpPr>
          <p:cNvPr id="199" name="Group 80"/>
          <p:cNvGrpSpPr/>
          <p:nvPr/>
        </p:nvGrpSpPr>
        <p:grpSpPr>
          <a:xfrm>
            <a:off x="7753350" y="2149475"/>
            <a:ext cx="1438275" cy="1039813"/>
            <a:chOff x="4884" y="2598"/>
            <a:chExt cx="906" cy="655"/>
          </a:xfrm>
        </p:grpSpPr>
        <p:grpSp>
          <p:nvGrpSpPr>
            <p:cNvPr id="110622" name="Group 76"/>
            <p:cNvGrpSpPr/>
            <p:nvPr/>
          </p:nvGrpSpPr>
          <p:grpSpPr>
            <a:xfrm>
              <a:off x="5514" y="2598"/>
              <a:ext cx="276" cy="576"/>
              <a:chOff x="1242" y="2880"/>
              <a:chExt cx="276" cy="576"/>
            </a:xfrm>
          </p:grpSpPr>
          <p:sp>
            <p:nvSpPr>
              <p:cNvPr id="110624" name="Line 77"/>
              <p:cNvSpPr/>
              <p:nvPr/>
            </p:nvSpPr>
            <p:spPr>
              <a:xfrm>
                <a:off x="1248" y="2880"/>
                <a:ext cx="0" cy="535"/>
              </a:xfrm>
              <a:prstGeom prst="line">
                <a:avLst/>
              </a:prstGeom>
              <a:ln w="31750" cap="flat" cmpd="sng">
                <a:solidFill>
                  <a:srgbClr val="990000"/>
                </a:solidFill>
                <a:prstDash val="solid"/>
                <a:headEnd type="triangle" w="med" len="lg"/>
                <a:tailEnd type="none" w="med" len="med"/>
              </a:ln>
            </p:spPr>
            <p:txBody>
              <a:bodyPr/>
              <a:lstStyle/>
              <a:p>
                <a:endParaRPr lang="zh-CN" altLang="en-US"/>
              </a:p>
            </p:txBody>
          </p:sp>
          <p:sp>
            <p:nvSpPr>
              <p:cNvPr id="110625" name="Text Box 78"/>
              <p:cNvSpPr txBox="1"/>
              <p:nvPr/>
            </p:nvSpPr>
            <p:spPr>
              <a:xfrm>
                <a:off x="1242" y="3052"/>
                <a:ext cx="276" cy="40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r>
                  <a:rPr lang="en-US" altLang="zh-CN" sz="3600" b="1" dirty="0">
                    <a:solidFill>
                      <a:srgbClr val="990000"/>
                    </a:solidFill>
                    <a:ea typeface="宋体" panose="02010600030101010101" pitchFamily="2" charset="-122"/>
                  </a:rPr>
                  <a:t>p</a:t>
                </a:r>
                <a:endParaRPr lang="en-US" altLang="zh-CN" sz="3600" dirty="0">
                  <a:ea typeface="宋体" panose="02010600030101010101" pitchFamily="2" charset="-122"/>
                </a:endParaRPr>
              </a:p>
            </p:txBody>
          </p:sp>
        </p:grpSp>
        <p:sp>
          <p:nvSpPr>
            <p:cNvPr id="110623" name="Rectangle 79"/>
            <p:cNvSpPr/>
            <p:nvPr/>
          </p:nvSpPr>
          <p:spPr>
            <a:xfrm>
              <a:off x="4884" y="2635"/>
              <a:ext cx="424" cy="618"/>
            </a:xfrm>
            <a:prstGeom prst="rect">
              <a:avLst/>
            </a:prstGeom>
            <a:solidFill>
              <a:schemeClr val="bg1"/>
            </a:solidFill>
            <a:ln w="38100">
              <a:noFill/>
            </a:ln>
          </p:spPr>
          <p:txBody>
            <a:bodyPr wrap="none" lIns="90000" tIns="46800" rIns="90000" bIns="4680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grpSp>
      <p:sp>
        <p:nvSpPr>
          <p:cNvPr id="204" name="Text Box 81"/>
          <p:cNvSpPr txBox="1"/>
          <p:nvPr/>
        </p:nvSpPr>
        <p:spPr>
          <a:xfrm>
            <a:off x="949325" y="3200400"/>
            <a:ext cx="641350" cy="461963"/>
          </a:xfrm>
          <a:prstGeom prst="rect">
            <a:avLst/>
          </a:prstGeom>
          <a:solidFill>
            <a:srgbClr val="B8D4EC"/>
          </a:solid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a:lnSpc>
                <a:spcPct val="100000"/>
              </a:lnSpc>
              <a:spcBef>
                <a:spcPct val="20000"/>
              </a:spcBef>
            </a:pPr>
            <a:r>
              <a:rPr lang="en-US" altLang="zh-CN" b="1" dirty="0">
                <a:solidFill>
                  <a:srgbClr val="660033"/>
                </a:solidFill>
                <a:ea typeface="宋体" panose="02010600030101010101" pitchFamily="2" charset="-122"/>
              </a:rPr>
              <a:t>7</a:t>
            </a:r>
            <a:endParaRPr lang="en-US" altLang="zh-CN" dirty="0">
              <a:ea typeface="宋体" panose="02010600030101010101" pitchFamily="2" charset="-122"/>
            </a:endParaRPr>
          </a:p>
        </p:txBody>
      </p:sp>
      <p:sp>
        <p:nvSpPr>
          <p:cNvPr id="205" name="Text Box 83"/>
          <p:cNvSpPr txBox="1">
            <a:spLocks noChangeArrowheads="1"/>
          </p:cNvSpPr>
          <p:nvPr/>
        </p:nvSpPr>
        <p:spPr bwMode="auto">
          <a:xfrm>
            <a:off x="2141538" y="3167063"/>
            <a:ext cx="2773363" cy="525463"/>
          </a:xfrm>
          <a:prstGeom prst="rect">
            <a:avLst/>
          </a:prstGeom>
          <a:solidFill>
            <a:srgbClr val="B8D4EC"/>
          </a:solidFill>
          <a:ln>
            <a:noFill/>
          </a:ln>
        </p:spPr>
        <p:txBody>
          <a:bodyPr lIns="90000" tIns="46800" rIns="90000" bIns="46800">
            <a:spAutoFit/>
          </a:bodyPr>
          <a:lstStyle>
            <a:lvl1pPr>
              <a:defRPr sz="2800">
                <a:solidFill>
                  <a:schemeClr val="tx1"/>
                </a:solidFill>
                <a:latin typeface="Times New Roman" panose="02020603050405020304" pitchFamily="18" charset="0"/>
                <a:ea typeface="仿宋_GB2312" pitchFamily="49" charset="-122"/>
              </a:defRPr>
            </a:lvl1pPr>
            <a:lvl2pPr>
              <a:defRPr sz="2800">
                <a:solidFill>
                  <a:schemeClr val="tx1"/>
                </a:solidFill>
                <a:latin typeface="Times New Roman" panose="02020603050405020304" pitchFamily="18" charset="0"/>
                <a:ea typeface="仿宋_GB2312" pitchFamily="49" charset="-122"/>
              </a:defRPr>
            </a:lvl2pPr>
            <a:lvl3pPr>
              <a:defRPr sz="2800">
                <a:solidFill>
                  <a:schemeClr val="tx1"/>
                </a:solidFill>
                <a:latin typeface="Times New Roman" panose="02020603050405020304" pitchFamily="18" charset="0"/>
                <a:ea typeface="仿宋_GB2312" pitchFamily="49" charset="-122"/>
              </a:defRPr>
            </a:lvl3pPr>
            <a:lvl4pPr>
              <a:defRPr sz="2800">
                <a:solidFill>
                  <a:schemeClr val="tx1"/>
                </a:solidFill>
                <a:latin typeface="Times New Roman" panose="02020603050405020304" pitchFamily="18" charset="0"/>
                <a:ea typeface="仿宋_GB2312" pitchFamily="49" charset="-122"/>
              </a:defRPr>
            </a:lvl4pPr>
            <a:lvl5pPr>
              <a:defRPr sz="2800">
                <a:solidFill>
                  <a:schemeClr val="tx1"/>
                </a:solidFill>
                <a:latin typeface="Times New Roman" panose="02020603050405020304" pitchFamily="18" charset="0"/>
                <a:ea typeface="仿宋_GB2312" pitchFamily="49" charset="-122"/>
              </a:defRPr>
            </a:lvl5pPr>
            <a:lvl6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fontAlgn="base">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cs"/>
              </a:rPr>
              <a:t>未找到，返回</a:t>
            </a:r>
            <a:r>
              <a:rPr kumimoji="0" lang="en-US" altLang="zh-CN" sz="2800" b="0" i="0" u="none" strike="noStrike" kern="1200" cap="none" spc="0" normalizeH="0" baseline="0" noProof="0" dirty="0">
                <a:ln>
                  <a:noFill/>
                </a:ln>
                <a:solidFill>
                  <a:schemeClr val="tx1"/>
                </a:solidFill>
                <a:effectLst/>
                <a:uLnTx/>
                <a:uFillTx/>
                <a:latin typeface="+mn-ea"/>
                <a:ea typeface="+mn-ea"/>
                <a:cs typeface="+mn-cs"/>
              </a:rPr>
              <a:t>0</a:t>
            </a:r>
          </a:p>
        </p:txBody>
      </p:sp>
      <p:sp>
        <p:nvSpPr>
          <p:cNvPr id="206" name="Rectangle 4"/>
          <p:cNvSpPr>
            <a:spLocks noChangeArrowheads="1"/>
          </p:cNvSpPr>
          <p:nvPr/>
        </p:nvSpPr>
        <p:spPr bwMode="auto">
          <a:xfrm>
            <a:off x="496888" y="3997325"/>
            <a:ext cx="8353425"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908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259080" algn="just"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从第一个结点起，依次和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相比较。</a:t>
            </a:r>
          </a:p>
          <a:p>
            <a:pPr marL="0" marR="0" lvl="0" indent="259080" algn="just"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如果找到一个其值与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相等的数据元素，则返回其在链表中</a:t>
            </a:r>
            <a:b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的“位置”或地址；</a:t>
            </a:r>
          </a:p>
          <a:p>
            <a:pPr marL="0" marR="0" lvl="0" indent="259080" algn="just" defTabSz="914400" rtl="0" eaLnBrk="0" fontAlgn="base" latinLnBrk="0" hangingPunct="0">
              <a:lnSpc>
                <a:spcPct val="130000"/>
              </a:lnSpc>
              <a:spcBef>
                <a:spcPct val="2000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如果查遍整个链表都没有找到其值和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相等的元素，则返回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b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NULL”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left)">
                                      <p:cBhvr>
                                        <p:cTn id="7" dur="500"/>
                                        <p:tgtEl>
                                          <p:spTgt spid="1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0"/>
                                        </p:tgtEl>
                                        <p:attrNameLst>
                                          <p:attrName>style.visibility</p:attrName>
                                        </p:attrNameLst>
                                      </p:cBhvr>
                                      <p:to>
                                        <p:strVal val="visible"/>
                                      </p:to>
                                    </p:set>
                                    <p:animEffect transition="in" filter="wipe(left)">
                                      <p:cBhvr>
                                        <p:cTn id="11" dur="500"/>
                                        <p:tgtEl>
                                          <p:spTgt spid="13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38"/>
                                        </p:tgtEl>
                                        <p:attrNameLst>
                                          <p:attrName>style.visibility</p:attrName>
                                        </p:attrNameLst>
                                      </p:cBhvr>
                                      <p:to>
                                        <p:strVal val="visible"/>
                                      </p:to>
                                    </p:set>
                                    <p:animEffect transition="in" filter="wipe(left)">
                                      <p:cBhvr>
                                        <p:cTn id="15" dur="500"/>
                                        <p:tgtEl>
                                          <p:spTgt spid="13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43"/>
                                        </p:tgtEl>
                                        <p:attrNameLst>
                                          <p:attrName>style.visibility</p:attrName>
                                        </p:attrNameLst>
                                      </p:cBhvr>
                                      <p:to>
                                        <p:strVal val="visible"/>
                                      </p:to>
                                    </p:set>
                                    <p:animEffect transition="in" filter="wipe(left)">
                                      <p:cBhvr>
                                        <p:cTn id="19" dur="500"/>
                                        <p:tgtEl>
                                          <p:spTgt spid="14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47"/>
                                        </p:tgtEl>
                                        <p:attrNameLst>
                                          <p:attrName>style.visibility</p:attrName>
                                        </p:attrNameLst>
                                      </p:cBhvr>
                                      <p:to>
                                        <p:strVal val="visible"/>
                                      </p:to>
                                    </p:set>
                                    <p:animEffect transition="in" filter="wipe(left)">
                                      <p:cBhvr>
                                        <p:cTn id="23" dur="500"/>
                                        <p:tgtEl>
                                          <p:spTgt spid="147"/>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52"/>
                                        </p:tgtEl>
                                        <p:attrNameLst>
                                          <p:attrName>style.visibility</p:attrName>
                                        </p:attrNameLst>
                                      </p:cBhvr>
                                      <p:to>
                                        <p:strVal val="visible"/>
                                      </p:to>
                                    </p:set>
                                    <p:animEffect transition="in" filter="wipe(left)">
                                      <p:cBhvr>
                                        <p:cTn id="27" dur="500"/>
                                        <p:tgtEl>
                                          <p:spTgt spid="152"/>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58"/>
                                        </p:tgtEl>
                                        <p:attrNameLst>
                                          <p:attrName>style.visibility</p:attrName>
                                        </p:attrNameLst>
                                      </p:cBhvr>
                                      <p:to>
                                        <p:strVal val="visible"/>
                                      </p:to>
                                    </p:set>
                                    <p:animEffect transition="in" filter="wipe(left)">
                                      <p:cBhvr>
                                        <p:cTn id="31" dur="500"/>
                                        <p:tgtEl>
                                          <p:spTgt spid="15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7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63"/>
                                        </p:tgtEl>
                                        <p:attrNameLst>
                                          <p:attrName>style.visibility</p:attrName>
                                        </p:attrNameLst>
                                      </p:cBhvr>
                                      <p:to>
                                        <p:strVal val="visible"/>
                                      </p:to>
                                    </p:set>
                                    <p:animEffect transition="in" filter="wipe(left)">
                                      <p:cBhvr>
                                        <p:cTn id="40" dur="500"/>
                                        <p:tgtEl>
                                          <p:spTgt spid="16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9"/>
                                        </p:tgtEl>
                                        <p:attrNameLst>
                                          <p:attrName>style.visibility</p:attrName>
                                        </p:attrNameLst>
                                      </p:cBhvr>
                                      <p:to>
                                        <p:strVal val="visible"/>
                                      </p:to>
                                    </p:set>
                                    <p:animEffect transition="in" filter="wipe(left)">
                                      <p:cBhvr>
                                        <p:cTn id="45" dur="500"/>
                                        <p:tgtEl>
                                          <p:spTgt spid="169"/>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70"/>
                                        </p:tgtEl>
                                        <p:attrNameLst>
                                          <p:attrName>style.visibility</p:attrName>
                                        </p:attrNameLst>
                                      </p:cBhvr>
                                      <p:to>
                                        <p:strVal val="visible"/>
                                      </p:to>
                                    </p:set>
                                    <p:animEffect transition="in" filter="wipe(left)">
                                      <p:cBhvr>
                                        <p:cTn id="49" dur="500"/>
                                        <p:tgtEl>
                                          <p:spTgt spid="17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72"/>
                                        </p:tgtEl>
                                        <p:attrNameLst>
                                          <p:attrName>style.visibility</p:attrName>
                                        </p:attrNameLst>
                                      </p:cBhvr>
                                      <p:to>
                                        <p:strVal val="visible"/>
                                      </p:to>
                                    </p:set>
                                    <p:animEffect transition="in" filter="wipe(left)">
                                      <p:cBhvr>
                                        <p:cTn id="54" dur="500"/>
                                        <p:tgtEl>
                                          <p:spTgt spid="172"/>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177"/>
                                        </p:tgtEl>
                                        <p:attrNameLst>
                                          <p:attrName>style.visibility</p:attrName>
                                        </p:attrNameLst>
                                      </p:cBhvr>
                                      <p:to>
                                        <p:strVal val="visible"/>
                                      </p:to>
                                    </p:set>
                                    <p:animEffect transition="in" filter="wipe(left)">
                                      <p:cBhvr>
                                        <p:cTn id="58" dur="500"/>
                                        <p:tgtEl>
                                          <p:spTgt spid="17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78"/>
                                        </p:tgtEl>
                                        <p:attrNameLst>
                                          <p:attrName>style.visibility</p:attrName>
                                        </p:attrNameLst>
                                      </p:cBhvr>
                                      <p:to>
                                        <p:strVal val="visible"/>
                                      </p:to>
                                    </p:set>
                                    <p:animEffect transition="in" filter="wipe(left)">
                                      <p:cBhvr>
                                        <p:cTn id="63" dur="500"/>
                                        <p:tgtEl>
                                          <p:spTgt spid="178"/>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83"/>
                                        </p:tgtEl>
                                        <p:attrNameLst>
                                          <p:attrName>style.visibility</p:attrName>
                                        </p:attrNameLst>
                                      </p:cBhvr>
                                      <p:to>
                                        <p:strVal val="visible"/>
                                      </p:to>
                                    </p:set>
                                    <p:animEffect transition="in" filter="wipe(left)">
                                      <p:cBhvr>
                                        <p:cTn id="67" dur="500"/>
                                        <p:tgtEl>
                                          <p:spTgt spid="183"/>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8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85"/>
                                        </p:tgtEl>
                                        <p:attrNameLst>
                                          <p:attrName>style.visibility</p:attrName>
                                        </p:attrNameLst>
                                      </p:cBhvr>
                                      <p:to>
                                        <p:strVal val="visible"/>
                                      </p:to>
                                    </p:set>
                                    <p:animEffect transition="in" filter="wipe(left)">
                                      <p:cBhvr>
                                        <p:cTn id="76" dur="500"/>
                                        <p:tgtEl>
                                          <p:spTgt spid="185"/>
                                        </p:tgtEl>
                                      </p:cBhvr>
                                    </p:animEffect>
                                  </p:childTnLst>
                                </p:cTn>
                              </p:par>
                            </p:childTnLst>
                          </p:cTn>
                        </p:par>
                        <p:par>
                          <p:cTn id="77" fill="hold">
                            <p:stCondLst>
                              <p:cond delay="500"/>
                            </p:stCondLst>
                            <p:childTnLst>
                              <p:par>
                                <p:cTn id="78" presetID="1" presetClass="entr" presetSubtype="0" fill="hold" grpId="0" nodeType="afterEffect">
                                  <p:stCondLst>
                                    <p:cond delay="0"/>
                                  </p:stCondLst>
                                  <p:childTnLst>
                                    <p:set>
                                      <p:cBhvr>
                                        <p:cTn id="79" dur="1" fill="hold">
                                          <p:stCondLst>
                                            <p:cond delay="499"/>
                                          </p:stCondLst>
                                        </p:cTn>
                                        <p:tgtEl>
                                          <p:spTgt spid="186"/>
                                        </p:tgtEl>
                                        <p:attrNameLst>
                                          <p:attrName>style.visibility</p:attrName>
                                        </p:attrNameLst>
                                      </p:cBhvr>
                                      <p:to>
                                        <p:strVal val="visible"/>
                                      </p:to>
                                    </p:set>
                                  </p:childTnLst>
                                </p:cTn>
                              </p:par>
                            </p:childTnLst>
                          </p:cTn>
                        </p:par>
                        <p:par>
                          <p:cTn id="80" fill="hold">
                            <p:stCondLst>
                              <p:cond delay="1000"/>
                            </p:stCondLst>
                            <p:childTnLst>
                              <p:par>
                                <p:cTn id="81" presetID="1" presetClass="entr" presetSubtype="0" fill="hold" nodeType="afterEffect">
                                  <p:stCondLst>
                                    <p:cond delay="0"/>
                                  </p:stCondLst>
                                  <p:childTnLst>
                                    <p:set>
                                      <p:cBhvr>
                                        <p:cTn id="82" dur="1" fill="hold">
                                          <p:stCondLst>
                                            <p:cond delay="499"/>
                                          </p:stCondLst>
                                        </p:cTn>
                                        <p:tgtEl>
                                          <p:spTgt spid="187"/>
                                        </p:tgtEl>
                                        <p:attrNameLst>
                                          <p:attrName>style.visibility</p:attrName>
                                        </p:attrNameLst>
                                      </p:cBhvr>
                                      <p:to>
                                        <p:strVal val="visible"/>
                                      </p:to>
                                    </p:set>
                                  </p:childTnLst>
                                </p:cTn>
                              </p:par>
                            </p:childTnLst>
                          </p:cTn>
                        </p:par>
                        <p:par>
                          <p:cTn id="83" fill="hold">
                            <p:stCondLst>
                              <p:cond delay="1500"/>
                            </p:stCondLst>
                            <p:childTnLst>
                              <p:par>
                                <p:cTn id="84" presetID="22" presetClass="entr" presetSubtype="8" fill="hold" grpId="0" nodeType="afterEffect">
                                  <p:stCondLst>
                                    <p:cond delay="0"/>
                                  </p:stCondLst>
                                  <p:childTnLst>
                                    <p:set>
                                      <p:cBhvr>
                                        <p:cTn id="85" dur="1" fill="hold">
                                          <p:stCondLst>
                                            <p:cond delay="0"/>
                                          </p:stCondLst>
                                        </p:cTn>
                                        <p:tgtEl>
                                          <p:spTgt spid="192"/>
                                        </p:tgtEl>
                                        <p:attrNameLst>
                                          <p:attrName>style.visibility</p:attrName>
                                        </p:attrNameLst>
                                      </p:cBhvr>
                                      <p:to>
                                        <p:strVal val="visible"/>
                                      </p:to>
                                    </p:set>
                                    <p:animEffect transition="in" filter="wipe(left)">
                                      <p:cBhvr>
                                        <p:cTn id="86" dur="500"/>
                                        <p:tgtEl>
                                          <p:spTgt spid="19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93"/>
                                        </p:tgtEl>
                                        <p:attrNameLst>
                                          <p:attrName>style.visibility</p:attrName>
                                        </p:attrNameLst>
                                      </p:cBhvr>
                                      <p:to>
                                        <p:strVal val="visible"/>
                                      </p:to>
                                    </p:set>
                                    <p:animEffect transition="in" filter="wipe(left)">
                                      <p:cBhvr>
                                        <p:cTn id="91" dur="500"/>
                                        <p:tgtEl>
                                          <p:spTgt spid="193"/>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198"/>
                                        </p:tgtEl>
                                        <p:attrNameLst>
                                          <p:attrName>style.visibility</p:attrName>
                                        </p:attrNameLst>
                                      </p:cBhvr>
                                      <p:to>
                                        <p:strVal val="visible"/>
                                      </p:to>
                                    </p:set>
                                    <p:animEffect transition="in" filter="wipe(left)">
                                      <p:cBhvr>
                                        <p:cTn id="95" dur="500"/>
                                        <p:tgtEl>
                                          <p:spTgt spid="198"/>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199"/>
                                        </p:tgtEl>
                                        <p:attrNameLst>
                                          <p:attrName>style.visibility</p:attrName>
                                        </p:attrNameLst>
                                      </p:cBhvr>
                                      <p:to>
                                        <p:strVal val="visible"/>
                                      </p:to>
                                    </p:set>
                                    <p:animEffect transition="in" filter="wipe(left)">
                                      <p:cBhvr>
                                        <p:cTn id="100" dur="500"/>
                                        <p:tgtEl>
                                          <p:spTgt spid="199"/>
                                        </p:tgtEl>
                                      </p:cBhvr>
                                    </p:animEffect>
                                  </p:childTnLst>
                                </p:cTn>
                              </p:par>
                            </p:childTnLst>
                          </p:cTn>
                        </p:par>
                        <p:par>
                          <p:cTn id="101" fill="hold">
                            <p:stCondLst>
                              <p:cond delay="500"/>
                            </p:stCondLst>
                            <p:childTnLst>
                              <p:par>
                                <p:cTn id="102" presetID="22" presetClass="entr" presetSubtype="8" fill="hold" grpId="0" nodeType="afterEffect">
                                  <p:stCondLst>
                                    <p:cond delay="0"/>
                                  </p:stCondLst>
                                  <p:childTnLst>
                                    <p:set>
                                      <p:cBhvr>
                                        <p:cTn id="103" dur="1" fill="hold">
                                          <p:stCondLst>
                                            <p:cond delay="0"/>
                                          </p:stCondLst>
                                        </p:cTn>
                                        <p:tgtEl>
                                          <p:spTgt spid="204"/>
                                        </p:tgtEl>
                                        <p:attrNameLst>
                                          <p:attrName>style.visibility</p:attrName>
                                        </p:attrNameLst>
                                      </p:cBhvr>
                                      <p:to>
                                        <p:strVal val="visible"/>
                                      </p:to>
                                    </p:set>
                                    <p:animEffect transition="in" filter="wipe(left)">
                                      <p:cBhvr>
                                        <p:cTn id="104" dur="500"/>
                                        <p:tgtEl>
                                          <p:spTgt spid="204"/>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20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10"/>
                                        </p:tgtEl>
                                        <p:attrNameLst>
                                          <p:attrName>style.visibility</p:attrName>
                                        </p:attrNameLst>
                                      </p:cBhvr>
                                      <p:to>
                                        <p:strVal val="visible"/>
                                      </p:to>
                                    </p:set>
                                    <p:animEffect transition="in" filter="fade">
                                      <p:cBhvr>
                                        <p:cTn id="113" dur="500"/>
                                        <p:tgtEl>
                                          <p:spTgt spid="10"/>
                                        </p:tgtEl>
                                      </p:cBhvr>
                                    </p:animEffect>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206">
                                            <p:txEl>
                                              <p:pRg st="0" end="0"/>
                                            </p:txEl>
                                          </p:spTgt>
                                        </p:tgtEl>
                                        <p:attrNameLst>
                                          <p:attrName>style.visibility</p:attrName>
                                        </p:attrNameLst>
                                      </p:cBhvr>
                                      <p:to>
                                        <p:strVal val="visible"/>
                                      </p:to>
                                    </p:set>
                                    <p:anim calcmode="lin" valueType="num">
                                      <p:cBhvr additive="base">
                                        <p:cTn id="118" dur="500" fill="hold"/>
                                        <p:tgtEl>
                                          <p:spTgt spid="206">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206">
                                            <p:txEl>
                                              <p:pRg st="1" end="1"/>
                                            </p:txEl>
                                          </p:spTgt>
                                        </p:tgtEl>
                                        <p:attrNameLst>
                                          <p:attrName>style.visibility</p:attrName>
                                        </p:attrNameLst>
                                      </p:cBhvr>
                                      <p:to>
                                        <p:strVal val="visible"/>
                                      </p:to>
                                    </p:set>
                                    <p:anim calcmode="lin" valueType="num">
                                      <p:cBhvr additive="base">
                                        <p:cTn id="124" dur="500" fill="hold"/>
                                        <p:tgtEl>
                                          <p:spTgt spid="206">
                                            <p:txEl>
                                              <p:pRg st="1" end="1"/>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2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206">
                                            <p:txEl>
                                              <p:pRg st="2" end="2"/>
                                            </p:txEl>
                                          </p:spTgt>
                                        </p:tgtEl>
                                        <p:attrNameLst>
                                          <p:attrName>style.visibility</p:attrName>
                                        </p:attrNameLst>
                                      </p:cBhvr>
                                      <p:to>
                                        <p:strVal val="visible"/>
                                      </p:to>
                                    </p:set>
                                    <p:anim calcmode="lin" valueType="num">
                                      <p:cBhvr additive="base">
                                        <p:cTn id="130" dur="500" fill="hold"/>
                                        <p:tgtEl>
                                          <p:spTgt spid="206">
                                            <p:txEl>
                                              <p:pRg st="2" end="2"/>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20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9" grpId="0"/>
      <p:bldP spid="170" grpId="0" animBg="1"/>
      <p:bldP spid="171" grpId="0"/>
      <p:bldP spid="177" grpId="0" animBg="1"/>
      <p:bldP spid="183" grpId="0" animBg="1"/>
      <p:bldP spid="184" grpId="0" animBg="1"/>
      <p:bldP spid="185" grpId="0"/>
      <p:bldP spid="186" grpId="0" animBg="1"/>
      <p:bldP spid="192" grpId="0" animBg="1"/>
      <p:bldP spid="198" grpId="0" animBg="1"/>
      <p:bldP spid="204" grpId="0" animBg="1"/>
      <p:bldP spid="205" grpId="0" animBg="1"/>
      <p:bldP spid="20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2098675"/>
            <a:ext cx="9144000" cy="446563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6498" name="Rectangle 4"/>
          <p:cNvSpPr>
            <a:spLocks noChangeArrowheads="1"/>
          </p:cNvSpPr>
          <p:nvPr/>
        </p:nvSpPr>
        <p:spPr bwMode="auto">
          <a:xfrm>
            <a:off x="179388" y="2098675"/>
            <a:ext cx="8856663"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在线性表</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中查找值为</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的数据元素</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LNode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LocateELem_L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的数据元素的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地址</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，查找失败返回</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NULL</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p=L-&gt;next;</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while(p &amp;&amp;p-&gt;data!=e)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p=p-&gt;next;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p;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06499" name="Rectangle 7"/>
          <p:cNvSpPr>
            <a:spLocks noChangeArrowheads="1"/>
          </p:cNvSpPr>
          <p:nvPr/>
        </p:nvSpPr>
        <p:spPr bwMode="auto">
          <a:xfrm>
            <a:off x="0" y="1268413"/>
            <a:ext cx="3775075" cy="606425"/>
          </a:xfrm>
          <a:prstGeom prst="rect">
            <a:avLst/>
          </a:prstGeom>
          <a:solidFill>
            <a:srgbClr val="9476B6"/>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4"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矩形 1"/>
          <p:cNvSpPr/>
          <p:nvPr/>
        </p:nvSpPr>
        <p:spPr>
          <a:xfrm>
            <a:off x="0" y="1800225"/>
            <a:ext cx="9144000" cy="4941888"/>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7522" name="Rectangle 4"/>
          <p:cNvSpPr>
            <a:spLocks noChangeArrowheads="1"/>
          </p:cNvSpPr>
          <p:nvPr/>
        </p:nvSpPr>
        <p:spPr bwMode="auto">
          <a:xfrm>
            <a:off x="179388" y="1800225"/>
            <a:ext cx="8534400"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在线性表</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中查找值为</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的数据元素</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LocateELem_L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的数据元素的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位置序号</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，查找失败返回</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0</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p=L-&gt;next; j=1;</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while(p &amp;&amp;p-&gt;data!=e)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{p=p-&gt;next;  j++;}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if(p) return j; </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else return 0;</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07523" name="Rectangle 7"/>
          <p:cNvSpPr>
            <a:spLocks noChangeArrowheads="1"/>
          </p:cNvSpPr>
          <p:nvPr/>
        </p:nvSpPr>
        <p:spPr bwMode="auto">
          <a:xfrm>
            <a:off x="4763" y="1052513"/>
            <a:ext cx="3775075" cy="606425"/>
          </a:xfrm>
          <a:prstGeom prst="rect">
            <a:avLst/>
          </a:prstGeom>
          <a:solidFill>
            <a:srgbClr val="9476B6"/>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4"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4"/>
          <p:cNvPicPr>
            <a:picLocks noChangeAspect="1"/>
          </p:cNvPicPr>
          <p:nvPr/>
        </p:nvPicPr>
        <p:blipFill>
          <a:blip r:embed="rId3"/>
          <a:stretch>
            <a:fillRect/>
          </a:stretch>
        </p:blipFill>
        <p:spPr>
          <a:xfrm>
            <a:off x="0" y="2071688"/>
            <a:ext cx="9144000" cy="3168650"/>
          </a:xfrm>
          <a:prstGeom prst="rect">
            <a:avLst/>
          </a:prstGeom>
          <a:noFill/>
          <a:ln w="9525">
            <a:noFill/>
          </a:ln>
        </p:spPr>
      </p:pic>
      <p:sp>
        <p:nvSpPr>
          <p:cNvPr id="108547" name="Rectangle 5"/>
          <p:cNvSpPr>
            <a:spLocks noChangeArrowheads="1"/>
          </p:cNvSpPr>
          <p:nvPr/>
        </p:nvSpPr>
        <p:spPr bwMode="auto">
          <a:xfrm>
            <a:off x="420688" y="901700"/>
            <a:ext cx="8688388"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的新结点插入到表的第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个结点的位置上，即插入到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i-1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与</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之间</a:t>
            </a:r>
          </a:p>
        </p:txBody>
      </p:sp>
      <p:sp>
        <p:nvSpPr>
          <p:cNvPr id="652295" name="Text Box 7"/>
          <p:cNvSpPr txBox="1">
            <a:spLocks noChangeArrowheads="1"/>
          </p:cNvSpPr>
          <p:nvPr/>
        </p:nvSpPr>
        <p:spPr bwMode="auto">
          <a:xfrm>
            <a:off x="0" y="5240338"/>
            <a:ext cx="9144000" cy="573088"/>
          </a:xfrm>
          <a:prstGeom prst="rect">
            <a:avLst/>
          </a:prstGeom>
          <a:solidFill>
            <a:srgbClr val="EBEBEB"/>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s-&gt;next=p-&gt;next;      p-&gt;next=s</a:t>
            </a:r>
          </a:p>
        </p:txBody>
      </p:sp>
      <p:sp>
        <p:nvSpPr>
          <p:cNvPr id="652296" name="Text Box 8"/>
          <p:cNvSpPr txBox="1">
            <a:spLocks noChangeArrowheads="1"/>
          </p:cNvSpPr>
          <p:nvPr/>
        </p:nvSpPr>
        <p:spPr bwMode="auto">
          <a:xfrm>
            <a:off x="201613" y="6037263"/>
            <a:ext cx="45720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思考：步骤</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能互换么？</a:t>
            </a:r>
          </a:p>
        </p:txBody>
      </p:sp>
      <p:sp>
        <p:nvSpPr>
          <p:cNvPr id="7"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插入（插在第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个结点之前）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2295">
                                            <p:bg/>
                                          </p:spTgt>
                                        </p:tgtEl>
                                        <p:attrNameLst>
                                          <p:attrName>style.visibility</p:attrName>
                                        </p:attrNameLst>
                                      </p:cBhvr>
                                      <p:to>
                                        <p:strVal val="visible"/>
                                      </p:to>
                                    </p:set>
                                    <p:anim calcmode="lin" valueType="num">
                                      <p:cBhvr additive="base">
                                        <p:cTn id="7" dur="500" fill="hold"/>
                                        <p:tgtEl>
                                          <p:spTgt spid="652295">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652295">
                                            <p:bg/>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52295">
                                            <p:txEl>
                                              <p:pRg st="0" end="0"/>
                                            </p:txEl>
                                          </p:spTgt>
                                        </p:tgtEl>
                                        <p:attrNameLst>
                                          <p:attrName>style.visibility</p:attrName>
                                        </p:attrNameLst>
                                      </p:cBhvr>
                                      <p:to>
                                        <p:strVal val="visible"/>
                                      </p:to>
                                    </p:set>
                                    <p:anim calcmode="lin" valueType="num">
                                      <p:cBhvr additive="base">
                                        <p:cTn id="13" dur="500" fill="hold"/>
                                        <p:tgtEl>
                                          <p:spTgt spid="65229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522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par>
                          <p:cTn id="15" fill="hold">
                            <p:stCondLst>
                              <p:cond delay="500"/>
                            </p:stCondLst>
                            <p:childTnLst>
                              <p:par>
                                <p:cTn id="16" presetID="15" presetClass="entr" presetSubtype="0" fill="hold" grpId="0" nodeType="afterEffect">
                                  <p:stCondLst>
                                    <p:cond delay="2000"/>
                                  </p:stCondLst>
                                  <p:childTnLst>
                                    <p:set>
                                      <p:cBhvr>
                                        <p:cTn id="17" dur="1" fill="hold">
                                          <p:stCondLst>
                                            <p:cond delay="0"/>
                                          </p:stCondLst>
                                        </p:cTn>
                                        <p:tgtEl>
                                          <p:spTgt spid="652296"/>
                                        </p:tgtEl>
                                        <p:attrNameLst>
                                          <p:attrName>style.visibility</p:attrName>
                                        </p:attrNameLst>
                                      </p:cBhvr>
                                      <p:to>
                                        <p:strVal val="visible"/>
                                      </p:to>
                                    </p:set>
                                    <p:anim calcmode="lin" valueType="num">
                                      <p:cBhvr>
                                        <p:cTn id="18" dur="1000" fill="hold"/>
                                        <p:tgtEl>
                                          <p:spTgt spid="652296"/>
                                        </p:tgtEl>
                                        <p:attrNameLst>
                                          <p:attrName>ppt_w</p:attrName>
                                        </p:attrNameLst>
                                      </p:cBhvr>
                                      <p:tavLst>
                                        <p:tav tm="0">
                                          <p:val>
                                            <p:fltVal val="0"/>
                                          </p:val>
                                        </p:tav>
                                        <p:tav tm="100000">
                                          <p:val>
                                            <p:strVal val="#ppt_w"/>
                                          </p:val>
                                        </p:tav>
                                      </p:tavLst>
                                    </p:anim>
                                    <p:anim calcmode="lin" valueType="num">
                                      <p:cBhvr>
                                        <p:cTn id="19" dur="1000" fill="hold"/>
                                        <p:tgtEl>
                                          <p:spTgt spid="652296"/>
                                        </p:tgtEl>
                                        <p:attrNameLst>
                                          <p:attrName>ppt_h</p:attrName>
                                        </p:attrNameLst>
                                      </p:cBhvr>
                                      <p:tavLst>
                                        <p:tav tm="0">
                                          <p:val>
                                            <p:fltVal val="0"/>
                                          </p:val>
                                        </p:tav>
                                        <p:tav tm="100000">
                                          <p:val>
                                            <p:strVal val="#ppt_h"/>
                                          </p:val>
                                        </p:tav>
                                      </p:tavLst>
                                    </p:anim>
                                    <p:anim calcmode="lin" valueType="num">
                                      <p:cBhvr>
                                        <p:cTn id="20" dur="1000" fill="hold"/>
                                        <p:tgtEl>
                                          <p:spTgt spid="652296"/>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65229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5" grpId="0" build="p" animBg="1"/>
      <p:bldP spid="65229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1"/>
          <p:cNvSpPr txBox="1">
            <a:spLocks noGrp="1" noChangeArrowheads="1"/>
          </p:cNvSpPr>
          <p:nvPr>
            <p:ph type="dt" sz="half" idx="4294967295"/>
          </p:nvPr>
        </p:nvSpPr>
        <p:spPr bwMode="auto">
          <a:xfrm>
            <a:off x="4868863" y="7264400"/>
            <a:ext cx="4419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a:t>
            </a:r>
            <a:fld id="{6F39C6BE-45EE-4D72-A744-59B4E23822C8}" type="datetime10">
              <a:rPr kumimoji="0" lang="zh-CN" altLang="en-US" sz="2400" b="0" i="0" u="none" strike="noStrike" kern="1200" cap="none" spc="0" normalizeH="0" baseline="0" noProof="0" smtClean="0">
                <a:ln>
                  <a:noFill/>
                </a:ln>
                <a:solidFill>
                  <a:schemeClr val="tx1"/>
                </a:solidFill>
                <a:effectLst/>
                <a:uLnTx/>
                <a:uFillTx/>
                <a:latin typeface="+mn-lt"/>
                <a:ea typeface="+mn-ea"/>
                <a:cs typeface="+mn-ea"/>
                <a:sym typeface="+mn-lt"/>
              </a:rPr>
              <a:t>09:50</a:t>
            </a:fld>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109571" name="Rectangle 5"/>
          <p:cNvSpPr>
            <a:spLocks noChangeArrowheads="1"/>
          </p:cNvSpPr>
          <p:nvPr/>
        </p:nvSpPr>
        <p:spPr bwMode="auto">
          <a:xfrm>
            <a:off x="-4762" y="981075"/>
            <a:ext cx="3775075" cy="503238"/>
          </a:xfrm>
          <a:prstGeom prst="rect">
            <a:avLst/>
          </a:prstGeom>
          <a:solidFill>
            <a:srgbClr val="9476B6"/>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09572" name="Rectangle 7"/>
          <p:cNvSpPr>
            <a:spLocks noChangeArrowheads="1"/>
          </p:cNvSpPr>
          <p:nvPr/>
        </p:nvSpPr>
        <p:spPr bwMode="auto">
          <a:xfrm>
            <a:off x="949325" y="1697038"/>
            <a:ext cx="2820988"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找到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i-1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存储位置</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p>
        </p:txBody>
      </p:sp>
      <p:pic>
        <p:nvPicPr>
          <p:cNvPr id="114693" name="Picture 8"/>
          <p:cNvPicPr>
            <a:picLocks noChangeAspect="1"/>
          </p:cNvPicPr>
          <p:nvPr/>
        </p:nvPicPr>
        <p:blipFill>
          <a:blip r:embed="rId2"/>
          <a:stretch>
            <a:fillRect/>
          </a:stretch>
        </p:blipFill>
        <p:spPr>
          <a:xfrm>
            <a:off x="-4762" y="3932238"/>
            <a:ext cx="9144000" cy="2873375"/>
          </a:xfrm>
          <a:prstGeom prst="rect">
            <a:avLst/>
          </a:prstGeom>
          <a:noFill/>
          <a:ln w="9525">
            <a:noFill/>
          </a:ln>
        </p:spPr>
      </p:pic>
      <p:sp>
        <p:nvSpPr>
          <p:cNvPr id="6"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grpSp>
        <p:nvGrpSpPr>
          <p:cNvPr id="114695" name="组合 6"/>
          <p:cNvGrpSpPr/>
          <p:nvPr/>
        </p:nvGrpSpPr>
        <p:grpSpPr>
          <a:xfrm>
            <a:off x="211138" y="1706563"/>
            <a:ext cx="579437" cy="627062"/>
            <a:chOff x="6242320" y="1105727"/>
            <a:chExt cx="579005" cy="626656"/>
          </a:xfrm>
        </p:grpSpPr>
        <p:sp>
          <p:nvSpPr>
            <p:cNvPr id="114711" name="TextBox 6"/>
            <p:cNvSpPr txBox="1"/>
            <p:nvPr/>
          </p:nvSpPr>
          <p:spPr>
            <a:xfrm>
              <a:off x="6327224" y="1105727"/>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FFB850"/>
                  </a:solidFill>
                  <a:latin typeface="Impact" panose="020B0806030902050204" pitchFamily="34" charset="0"/>
                </a:rPr>
                <a:t>01</a:t>
              </a:r>
              <a:endParaRPr lang="zh-CN" altLang="en-US" sz="3200" dirty="0">
                <a:solidFill>
                  <a:srgbClr val="FFB850"/>
                </a:solidFill>
                <a:latin typeface="微软雅黑" panose="020B0503020204020204" pitchFamily="34" charset="-122"/>
              </a:endParaRPr>
            </a:p>
          </p:txBody>
        </p:sp>
        <p:sp>
          <p:nvSpPr>
            <p:cNvPr id="114712" name="文本框 8"/>
            <p:cNvSpPr txBox="1"/>
            <p:nvPr/>
          </p:nvSpPr>
          <p:spPr>
            <a:xfrm>
              <a:off x="6242320" y="1516939"/>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114696" name="组合 9"/>
          <p:cNvGrpSpPr/>
          <p:nvPr/>
        </p:nvGrpSpPr>
        <p:grpSpPr>
          <a:xfrm>
            <a:off x="211138" y="2393950"/>
            <a:ext cx="579437" cy="631825"/>
            <a:chOff x="6242320" y="2373233"/>
            <a:chExt cx="579005" cy="631762"/>
          </a:xfrm>
        </p:grpSpPr>
        <p:sp>
          <p:nvSpPr>
            <p:cNvPr id="114709" name="TextBox 6"/>
            <p:cNvSpPr txBox="1"/>
            <p:nvPr/>
          </p:nvSpPr>
          <p:spPr>
            <a:xfrm>
              <a:off x="6327224" y="2373233"/>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01ACBE"/>
                  </a:solidFill>
                  <a:latin typeface="Impact" panose="020B0806030902050204" pitchFamily="34" charset="0"/>
                </a:rPr>
                <a:t>02</a:t>
              </a:r>
              <a:endParaRPr lang="zh-CN" altLang="en-US" sz="3200" dirty="0">
                <a:solidFill>
                  <a:srgbClr val="01ACBE"/>
                </a:solidFill>
                <a:latin typeface="微软雅黑" panose="020B0503020204020204" pitchFamily="34" charset="-122"/>
              </a:endParaRPr>
            </a:p>
          </p:txBody>
        </p:sp>
        <p:sp>
          <p:nvSpPr>
            <p:cNvPr id="114710" name="文本框 11"/>
            <p:cNvSpPr txBox="1"/>
            <p:nvPr/>
          </p:nvSpPr>
          <p:spPr>
            <a:xfrm>
              <a:off x="6242320" y="2789551"/>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114697" name="组合 12"/>
          <p:cNvGrpSpPr/>
          <p:nvPr/>
        </p:nvGrpSpPr>
        <p:grpSpPr>
          <a:xfrm>
            <a:off x="211138" y="3078163"/>
            <a:ext cx="579437" cy="625475"/>
            <a:chOff x="6242320" y="1105727"/>
            <a:chExt cx="579005" cy="626656"/>
          </a:xfrm>
        </p:grpSpPr>
        <p:sp>
          <p:nvSpPr>
            <p:cNvPr id="114707" name="TextBox 6"/>
            <p:cNvSpPr txBox="1"/>
            <p:nvPr/>
          </p:nvSpPr>
          <p:spPr>
            <a:xfrm>
              <a:off x="6327224" y="1105727"/>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FFB850"/>
                  </a:solidFill>
                  <a:latin typeface="Impact" panose="020B0806030902050204" pitchFamily="34" charset="0"/>
                </a:rPr>
                <a:t>03</a:t>
              </a:r>
              <a:endParaRPr lang="zh-CN" altLang="en-US" sz="3200" dirty="0">
                <a:solidFill>
                  <a:srgbClr val="FFB850"/>
                </a:solidFill>
                <a:latin typeface="微软雅黑" panose="020B0503020204020204" pitchFamily="34" charset="-122"/>
              </a:endParaRPr>
            </a:p>
          </p:txBody>
        </p:sp>
        <p:sp>
          <p:nvSpPr>
            <p:cNvPr id="114708" name="文本框 14"/>
            <p:cNvSpPr txBox="1"/>
            <p:nvPr/>
          </p:nvSpPr>
          <p:spPr>
            <a:xfrm>
              <a:off x="6242320" y="1516939"/>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sp>
        <p:nvSpPr>
          <p:cNvPr id="16" name="Rectangle 7"/>
          <p:cNvSpPr>
            <a:spLocks noChangeArrowheads="1"/>
          </p:cNvSpPr>
          <p:nvPr/>
        </p:nvSpPr>
        <p:spPr bwMode="auto">
          <a:xfrm>
            <a:off x="5580063" y="1657350"/>
            <a:ext cx="334962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的指针域指向结点</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err="1">
                <a:ln>
                  <a:noFill/>
                </a:ln>
                <a:solidFill>
                  <a:schemeClr val="tx1"/>
                </a:solidFill>
                <a:effectLst/>
                <a:uLnTx/>
                <a:uFillTx/>
                <a:latin typeface="+mn-lt"/>
                <a:ea typeface="+mn-ea"/>
                <a:cs typeface="+mn-ea"/>
                <a:sym typeface="+mn-lt"/>
              </a:rPr>
              <a:t>i</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令结点*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的指针域指向新结点*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p>
        </p:txBody>
      </p:sp>
      <p:sp>
        <p:nvSpPr>
          <p:cNvPr id="17" name="Rectangle 7"/>
          <p:cNvSpPr>
            <a:spLocks noChangeArrowheads="1"/>
          </p:cNvSpPr>
          <p:nvPr/>
        </p:nvSpPr>
        <p:spPr bwMode="auto">
          <a:xfrm>
            <a:off x="982663" y="3043238"/>
            <a:ext cx="39195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的数据域置为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x</a:t>
            </a:r>
          </a:p>
        </p:txBody>
      </p:sp>
      <p:sp>
        <p:nvSpPr>
          <p:cNvPr id="18" name="Rectangle 7"/>
          <p:cNvSpPr>
            <a:spLocks noChangeArrowheads="1"/>
          </p:cNvSpPr>
          <p:nvPr/>
        </p:nvSpPr>
        <p:spPr bwMode="auto">
          <a:xfrm>
            <a:off x="982663" y="2319338"/>
            <a:ext cx="277495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生成一个新结点*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p>
        </p:txBody>
      </p:sp>
      <p:grpSp>
        <p:nvGrpSpPr>
          <p:cNvPr id="114701" name="组合 18"/>
          <p:cNvGrpSpPr/>
          <p:nvPr/>
        </p:nvGrpSpPr>
        <p:grpSpPr>
          <a:xfrm>
            <a:off x="4929188" y="1716088"/>
            <a:ext cx="579437" cy="625475"/>
            <a:chOff x="6242320" y="1105727"/>
            <a:chExt cx="579005" cy="626656"/>
          </a:xfrm>
        </p:grpSpPr>
        <p:sp>
          <p:nvSpPr>
            <p:cNvPr id="114705" name="TextBox 6"/>
            <p:cNvSpPr txBox="1"/>
            <p:nvPr/>
          </p:nvSpPr>
          <p:spPr>
            <a:xfrm>
              <a:off x="6327224" y="1105727"/>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FFB850"/>
                  </a:solidFill>
                  <a:latin typeface="Impact" panose="020B0806030902050204" pitchFamily="34" charset="0"/>
                </a:rPr>
                <a:t>04</a:t>
              </a:r>
              <a:endParaRPr lang="zh-CN" altLang="en-US" sz="3200" dirty="0">
                <a:solidFill>
                  <a:srgbClr val="FFB850"/>
                </a:solidFill>
                <a:latin typeface="微软雅黑" panose="020B0503020204020204" pitchFamily="34" charset="-122"/>
              </a:endParaRPr>
            </a:p>
          </p:txBody>
        </p:sp>
        <p:sp>
          <p:nvSpPr>
            <p:cNvPr id="114706" name="文本框 20"/>
            <p:cNvSpPr txBox="1"/>
            <p:nvPr/>
          </p:nvSpPr>
          <p:spPr>
            <a:xfrm>
              <a:off x="6242320" y="1516939"/>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114702" name="组合 21"/>
          <p:cNvGrpSpPr/>
          <p:nvPr/>
        </p:nvGrpSpPr>
        <p:grpSpPr>
          <a:xfrm>
            <a:off x="4929188" y="2801938"/>
            <a:ext cx="579437" cy="631825"/>
            <a:chOff x="6242320" y="2373233"/>
            <a:chExt cx="579005" cy="631762"/>
          </a:xfrm>
        </p:grpSpPr>
        <p:sp>
          <p:nvSpPr>
            <p:cNvPr id="114703" name="TextBox 6"/>
            <p:cNvSpPr txBox="1"/>
            <p:nvPr/>
          </p:nvSpPr>
          <p:spPr>
            <a:xfrm>
              <a:off x="6327224" y="2373233"/>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01ACBE"/>
                  </a:solidFill>
                  <a:latin typeface="Impact" panose="020B0806030902050204" pitchFamily="34" charset="0"/>
                </a:rPr>
                <a:t>05</a:t>
              </a:r>
              <a:endParaRPr lang="zh-CN" altLang="en-US" sz="3200" dirty="0">
                <a:solidFill>
                  <a:srgbClr val="01ACBE"/>
                </a:solidFill>
                <a:latin typeface="微软雅黑" panose="020B0503020204020204" pitchFamily="34" charset="-122"/>
              </a:endParaRPr>
            </a:p>
          </p:txBody>
        </p:sp>
        <p:sp>
          <p:nvSpPr>
            <p:cNvPr id="114704" name="文本框 23"/>
            <p:cNvSpPr txBox="1"/>
            <p:nvPr/>
          </p:nvSpPr>
          <p:spPr>
            <a:xfrm>
              <a:off x="6242320" y="2789551"/>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矩形 4"/>
          <p:cNvSpPr/>
          <p:nvPr/>
        </p:nvSpPr>
        <p:spPr>
          <a:xfrm>
            <a:off x="0" y="1685925"/>
            <a:ext cx="9144000" cy="5043488"/>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10594" name="Rectangle 4"/>
          <p:cNvSpPr>
            <a:spLocks noChangeArrowheads="1"/>
          </p:cNvSpPr>
          <p:nvPr/>
        </p:nvSpPr>
        <p:spPr bwMode="auto">
          <a:xfrm>
            <a:off x="107950" y="1725613"/>
            <a:ext cx="8839200"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在</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中第</a:t>
            </a:r>
            <a:r>
              <a:rPr kumimoji="0" lang="en-US" altLang="zh-CN" sz="2400" b="0" i="0" u="none" strike="noStrike" kern="1200" cap="none" spc="0" normalizeH="0" baseline="0" noProof="0" dirty="0" err="1">
                <a:ln>
                  <a:noFill/>
                </a:ln>
                <a:solidFill>
                  <a:schemeClr val="hlink"/>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个元素之前插入数据元素</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e</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ListInsert_L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L;j</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while(p&amp;&amp;j&lt;i−1){p=p-&gt;next;++j;}</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寻找第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if(!p||j&gt;i−1)return ERROR;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大于表长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或者小于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malloc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sizeof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Lnode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s-&gt;data=e;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的数据域置为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s-&gt;next=p-&gt;next;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p-&gt;next=s;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OK;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ListInsert_L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10595" name="Rectangle 6"/>
          <p:cNvSpPr>
            <a:spLocks noChangeArrowheads="1"/>
          </p:cNvSpPr>
          <p:nvPr/>
        </p:nvSpPr>
        <p:spPr bwMode="auto">
          <a:xfrm>
            <a:off x="0" y="933450"/>
            <a:ext cx="3775075" cy="606425"/>
          </a:xfrm>
          <a:prstGeom prst="rect">
            <a:avLst/>
          </a:prstGeom>
          <a:solidFill>
            <a:srgbClr val="9476B6"/>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4"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4"/>
          <p:cNvSpPr>
            <a:spLocks noChangeArrowheads="1"/>
          </p:cNvSpPr>
          <p:nvPr/>
        </p:nvSpPr>
        <p:spPr bwMode="auto">
          <a:xfrm>
            <a:off x="3409950" y="3233738"/>
            <a:ext cx="537845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）找到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i-1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存储位置</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）保存要删除的结点的值</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）令</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next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的直接后继结点</a:t>
            </a:r>
          </a:p>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）释放结点</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的空间</a:t>
            </a:r>
          </a:p>
          <a:p>
            <a:pPr marL="342900" marR="0" lvl="0" indent="-342900" algn="l" defTabSz="914400" rtl="0" eaLnBrk="0" fontAlgn="base" latinLnBrk="0" hangingPunct="0">
              <a:lnSpc>
                <a:spcPct val="130000"/>
              </a:lnSpc>
              <a:spcBef>
                <a:spcPct val="20000"/>
              </a:spcBef>
              <a:spcAft>
                <a:spcPct val="0"/>
              </a:spcAft>
              <a:buClrTx/>
              <a:buSzTx/>
              <a:buFontTx/>
              <a:buNone/>
              <a:defRPr/>
            </a:pP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p:txBody>
      </p:sp>
      <p:sp>
        <p:nvSpPr>
          <p:cNvPr id="4"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 </a:t>
            </a:r>
          </a:p>
        </p:txBody>
      </p:sp>
      <p:grpSp>
        <p:nvGrpSpPr>
          <p:cNvPr id="2" name="组合 1"/>
          <p:cNvGrpSpPr/>
          <p:nvPr/>
        </p:nvGrpSpPr>
        <p:grpSpPr>
          <a:xfrm>
            <a:off x="221021" y="2987754"/>
            <a:ext cx="2910819" cy="2814420"/>
            <a:chOff x="271263" y="1850932"/>
            <a:chExt cx="4128251" cy="3672408"/>
          </a:xfrm>
          <a:solidFill>
            <a:schemeClr val="accent1">
              <a:lumMod val="40000"/>
              <a:lumOff val="60000"/>
            </a:schemeClr>
          </a:solidFill>
        </p:grpSpPr>
        <p:sp>
          <p:nvSpPr>
            <p:cNvPr id="9" name="流程图: 决策 8"/>
            <p:cNvSpPr/>
            <p:nvPr/>
          </p:nvSpPr>
          <p:spPr>
            <a:xfrm>
              <a:off x="2134175" y="1850932"/>
              <a:ext cx="1650178" cy="1543264"/>
            </a:xfrm>
            <a:prstGeom prst="flowChartDecisi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100" b="0" i="0" u="none" strike="noStrike" kern="1200" cap="none" spc="0" normalizeH="0" baseline="0" noProof="0" dirty="0">
                <a:ln>
                  <a:noFill/>
                </a:ln>
                <a:solidFill>
                  <a:schemeClr val="lt1"/>
                </a:solidFill>
                <a:effectLst/>
                <a:uLnTx/>
                <a:uFillTx/>
                <a:latin typeface="Pirulen" pitchFamily="2" charset="0"/>
                <a:ea typeface="+mn-ea"/>
                <a:cs typeface="+mn-cs"/>
              </a:endParaRPr>
            </a:p>
          </p:txBody>
        </p:sp>
        <p:sp>
          <p:nvSpPr>
            <p:cNvPr id="10" name="流程图: 决策 9"/>
            <p:cNvSpPr/>
            <p:nvPr/>
          </p:nvSpPr>
          <p:spPr>
            <a:xfrm>
              <a:off x="1924116" y="3570848"/>
              <a:ext cx="2004253" cy="1952492"/>
            </a:xfrm>
            <a:prstGeom prst="flowChartDecisi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schemeClr val="lt1"/>
                </a:solidFill>
                <a:effectLst/>
                <a:uLnTx/>
                <a:uFillTx/>
                <a:latin typeface="Pirulen" pitchFamily="2" charset="0"/>
                <a:ea typeface="+mn-ea"/>
                <a:cs typeface="+mn-cs"/>
              </a:endParaRPr>
            </a:p>
          </p:txBody>
        </p:sp>
        <p:sp>
          <p:nvSpPr>
            <p:cNvPr id="11" name="流程图: 决策 10"/>
            <p:cNvSpPr/>
            <p:nvPr/>
          </p:nvSpPr>
          <p:spPr>
            <a:xfrm>
              <a:off x="271263" y="2238700"/>
              <a:ext cx="2516969" cy="2451967"/>
            </a:xfrm>
            <a:prstGeom prst="flowChartDecisi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dirty="0">
                <a:ln>
                  <a:noFill/>
                </a:ln>
                <a:solidFill>
                  <a:schemeClr val="lt1"/>
                </a:solidFill>
                <a:effectLst/>
                <a:uLnTx/>
                <a:uFillTx/>
                <a:latin typeface="Pirulen" pitchFamily="2" charset="0"/>
                <a:ea typeface="+mn-ea"/>
                <a:cs typeface="+mn-cs"/>
              </a:endParaRPr>
            </a:p>
          </p:txBody>
        </p:sp>
        <p:sp>
          <p:nvSpPr>
            <p:cNvPr id="12" name="流程图: 决策 11"/>
            <p:cNvSpPr/>
            <p:nvPr/>
          </p:nvSpPr>
          <p:spPr>
            <a:xfrm>
              <a:off x="3051853" y="2870232"/>
              <a:ext cx="1347661" cy="1260347"/>
            </a:xfrm>
            <a:prstGeom prst="flowChartDecisi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schemeClr val="lt1"/>
                </a:solidFill>
                <a:effectLst/>
                <a:uLnTx/>
                <a:uFillTx/>
                <a:latin typeface="Pirulen" pitchFamily="2" charset="0"/>
                <a:ea typeface="+mn-ea"/>
                <a:cs typeface="+mn-cs"/>
              </a:endParaRPr>
            </a:p>
          </p:txBody>
        </p:sp>
      </p:grpSp>
      <p:sp>
        <p:nvSpPr>
          <p:cNvPr id="22" name="Rectangle 4"/>
          <p:cNvSpPr>
            <a:spLocks noChangeArrowheads="1"/>
          </p:cNvSpPr>
          <p:nvPr/>
        </p:nvSpPr>
        <p:spPr bwMode="auto">
          <a:xfrm>
            <a:off x="555625" y="1235075"/>
            <a:ext cx="8240713" cy="1157288"/>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57200" marR="0" lvl="0" indent="-457200" algn="l" defTabSz="914400" rtl="0" eaLnBrk="0" fontAlgn="base" latinLnBrk="0" hangingPunct="0">
              <a:lnSpc>
                <a:spcPct val="130000"/>
              </a:lnSpc>
              <a:spcBef>
                <a:spcPct val="20000"/>
              </a:spcBef>
              <a:spcAft>
                <a:spcPct val="0"/>
              </a:spcAft>
              <a:buClrTx/>
              <a:buSzTx/>
              <a:buFont typeface="+mj-lt"/>
              <a:buAutoNum type="arabicPeriod"/>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将表的第</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个结点删去</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0" indent="-457200" algn="l" defTabSz="914400" rtl="0" eaLnBrk="0" fontAlgn="base" latinLnBrk="0" hangingPunct="0">
              <a:lnSpc>
                <a:spcPct val="130000"/>
              </a:lnSpc>
              <a:spcBef>
                <a:spcPct val="20000"/>
              </a:spcBef>
              <a:spcAft>
                <a:spcPct val="0"/>
              </a:spcAft>
              <a:buClrTx/>
              <a:buSzTx/>
              <a:buFont typeface="+mj-lt"/>
              <a:buAutoNum type="arabicPeriod"/>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步骤：</a:t>
            </a:r>
          </a:p>
        </p:txBody>
      </p:sp>
      <p:cxnSp>
        <p:nvCxnSpPr>
          <p:cNvPr id="21" name="直接连接符 20"/>
          <p:cNvCxnSpPr/>
          <p:nvPr/>
        </p:nvCxnSpPr>
        <p:spPr bwMode="auto">
          <a:xfrm>
            <a:off x="555625" y="2636838"/>
            <a:ext cx="8240713" cy="65088"/>
          </a:xfrm>
          <a:prstGeom prst="line">
            <a:avLst/>
          </a:prstGeom>
          <a:solidFill>
            <a:schemeClr val="accent1"/>
          </a:solidFill>
          <a:ln w="9525" cap="flat" cmpd="sng" algn="ctr">
            <a:solidFill>
              <a:schemeClr val="bg2">
                <a:lumMod val="60000"/>
                <a:lumOff val="40000"/>
              </a:schemeClr>
            </a:solidFill>
            <a:prstDash val="solid"/>
            <a:round/>
            <a:headEnd type="none" w="med" len="med"/>
            <a:tailEnd type="none" w="med" len="med"/>
          </a:ln>
        </p:spPr>
      </p:cxnSp>
      <p:grpSp>
        <p:nvGrpSpPr>
          <p:cNvPr id="26" name="组合 25"/>
          <p:cNvGrpSpPr/>
          <p:nvPr/>
        </p:nvGrpSpPr>
        <p:grpSpPr>
          <a:xfrm>
            <a:off x="0" y="6380163"/>
            <a:ext cx="9144000" cy="431800"/>
            <a:chOff x="0" y="6379908"/>
            <a:chExt cx="9144000" cy="432048"/>
          </a:xfrm>
        </p:grpSpPr>
        <p:grpSp>
          <p:nvGrpSpPr>
            <p:cNvPr id="116744" name="组合 26"/>
            <p:cNvGrpSpPr/>
            <p:nvPr/>
          </p:nvGrpSpPr>
          <p:grpSpPr>
            <a:xfrm>
              <a:off x="0" y="6379908"/>
              <a:ext cx="9144000" cy="432048"/>
              <a:chOff x="0" y="6165304"/>
              <a:chExt cx="9144000" cy="432048"/>
            </a:xfrm>
          </p:grpSpPr>
          <p:cxnSp>
            <p:nvCxnSpPr>
              <p:cNvPr id="116746" name="直接连接符 28"/>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30" name="直接连接符 29"/>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16748" name="直接连接符 30"/>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28"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矩形 1"/>
          <p:cNvSpPr/>
          <p:nvPr/>
        </p:nvSpPr>
        <p:spPr>
          <a:xfrm>
            <a:off x="0" y="5092700"/>
            <a:ext cx="9144000" cy="1765300"/>
          </a:xfrm>
          <a:prstGeom prst="rect">
            <a:avLst/>
          </a:prstGeom>
          <a:solidFill>
            <a:srgbClr val="D2D2F4"/>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519195" name="Text Box 27"/>
          <p:cNvSpPr txBox="1">
            <a:spLocks noChangeArrowheads="1"/>
          </p:cNvSpPr>
          <p:nvPr/>
        </p:nvSpPr>
        <p:spPr bwMode="auto">
          <a:xfrm>
            <a:off x="1465263" y="5548313"/>
            <a:ext cx="7004050" cy="701675"/>
          </a:xfrm>
          <a:prstGeom prst="rect">
            <a:avLst/>
          </a:prstGeom>
          <a:solidFill>
            <a:schemeClr val="accent6">
              <a:lumMod val="20000"/>
              <a:lumOff val="80000"/>
            </a:schemeClr>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0" dirty="0">
                <a:ln>
                  <a:noFill/>
                </a:ln>
                <a:solidFill>
                  <a:schemeClr val="tx1"/>
                </a:solidFill>
                <a:effectLst/>
                <a:uLnTx/>
                <a:uFillTx/>
                <a:latin typeface="+mn-lt"/>
                <a:ea typeface="+mn-ea"/>
                <a:cs typeface="+mn-ea"/>
                <a:sym typeface="+mn-lt"/>
              </a:rPr>
              <a:t>p-&gt;next = p-&gt;next-&gt;next  ???</a:t>
            </a:r>
          </a:p>
        </p:txBody>
      </p:sp>
      <p:sp>
        <p:nvSpPr>
          <p:cNvPr id="113668" name="Line 30"/>
          <p:cNvSpPr>
            <a:spLocks noChangeShapeType="1"/>
          </p:cNvSpPr>
          <p:nvPr/>
        </p:nvSpPr>
        <p:spPr bwMode="auto">
          <a:xfrm>
            <a:off x="1584325" y="1830388"/>
            <a:ext cx="4572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69" name="Rectangle 31"/>
          <p:cNvSpPr>
            <a:spLocks noChangeArrowheads="1"/>
          </p:cNvSpPr>
          <p:nvPr/>
        </p:nvSpPr>
        <p:spPr bwMode="auto">
          <a:xfrm>
            <a:off x="2041525" y="1525588"/>
            <a:ext cx="990600" cy="533400"/>
          </a:xfrm>
          <a:prstGeom prst="rect">
            <a:avLst/>
          </a:prstGeom>
          <a:solidFill>
            <a:srgbClr val="FFFFCC"/>
          </a:solidFill>
          <a:ln w="9525">
            <a:solidFill>
              <a:schemeClr val="bg1">
                <a:lumMod val="10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0" name="Line 32"/>
          <p:cNvSpPr>
            <a:spLocks noChangeShapeType="1"/>
          </p:cNvSpPr>
          <p:nvPr/>
        </p:nvSpPr>
        <p:spPr bwMode="auto">
          <a:xfrm>
            <a:off x="2727325" y="1525588"/>
            <a:ext cx="0" cy="533400"/>
          </a:xfrm>
          <a:prstGeom prst="line">
            <a:avLst/>
          </a:prstGeom>
          <a:noFill/>
          <a:ln w="19050">
            <a:solidFill>
              <a:schemeClr val="bg1">
                <a:lumMod val="10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1" name="Line 33"/>
          <p:cNvSpPr>
            <a:spLocks noChangeShapeType="1"/>
          </p:cNvSpPr>
          <p:nvPr/>
        </p:nvSpPr>
        <p:spPr bwMode="auto">
          <a:xfrm>
            <a:off x="2879725" y="1830388"/>
            <a:ext cx="9906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2" name="Rectangle 34"/>
          <p:cNvSpPr>
            <a:spLocks noChangeArrowheads="1"/>
          </p:cNvSpPr>
          <p:nvPr/>
        </p:nvSpPr>
        <p:spPr bwMode="auto">
          <a:xfrm>
            <a:off x="3870325" y="1525588"/>
            <a:ext cx="990600" cy="533400"/>
          </a:xfrm>
          <a:prstGeom prst="rect">
            <a:avLst/>
          </a:prstGeom>
          <a:solidFill>
            <a:srgbClr val="FFFFCC"/>
          </a:solidFill>
          <a:ln w="9525">
            <a:solidFill>
              <a:schemeClr val="bg1">
                <a:lumMod val="10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3" name="Line 35"/>
          <p:cNvSpPr>
            <a:spLocks noChangeShapeType="1"/>
          </p:cNvSpPr>
          <p:nvPr/>
        </p:nvSpPr>
        <p:spPr bwMode="auto">
          <a:xfrm>
            <a:off x="4556125" y="1525588"/>
            <a:ext cx="0" cy="533400"/>
          </a:xfrm>
          <a:prstGeom prst="line">
            <a:avLst/>
          </a:prstGeom>
          <a:noFill/>
          <a:ln w="19050">
            <a:solidFill>
              <a:schemeClr val="bg1">
                <a:lumMod val="10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4" name="Line 36"/>
          <p:cNvSpPr>
            <a:spLocks noChangeShapeType="1"/>
          </p:cNvSpPr>
          <p:nvPr/>
        </p:nvSpPr>
        <p:spPr bwMode="auto">
          <a:xfrm>
            <a:off x="4708525" y="1830388"/>
            <a:ext cx="9906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5" name="Rectangle 37"/>
          <p:cNvSpPr>
            <a:spLocks noChangeArrowheads="1"/>
          </p:cNvSpPr>
          <p:nvPr/>
        </p:nvSpPr>
        <p:spPr bwMode="auto">
          <a:xfrm>
            <a:off x="5699125" y="1525588"/>
            <a:ext cx="990600" cy="533400"/>
          </a:xfrm>
          <a:prstGeom prst="rect">
            <a:avLst/>
          </a:prstGeom>
          <a:solidFill>
            <a:srgbClr val="FFFFCC"/>
          </a:solidFill>
          <a:ln w="9525">
            <a:solidFill>
              <a:schemeClr val="bg1">
                <a:lumMod val="10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6" name="Line 38"/>
          <p:cNvSpPr>
            <a:spLocks noChangeShapeType="1"/>
          </p:cNvSpPr>
          <p:nvPr/>
        </p:nvSpPr>
        <p:spPr bwMode="auto">
          <a:xfrm>
            <a:off x="6384925" y="1525588"/>
            <a:ext cx="0" cy="533400"/>
          </a:xfrm>
          <a:prstGeom prst="line">
            <a:avLst/>
          </a:prstGeom>
          <a:noFill/>
          <a:ln w="19050">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7" name="Line 39"/>
          <p:cNvSpPr>
            <a:spLocks noChangeShapeType="1"/>
          </p:cNvSpPr>
          <p:nvPr/>
        </p:nvSpPr>
        <p:spPr bwMode="auto">
          <a:xfrm>
            <a:off x="6537325" y="1830388"/>
            <a:ext cx="6096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8" name="Text Box 40"/>
          <p:cNvSpPr txBox="1">
            <a:spLocks noChangeArrowheads="1"/>
          </p:cNvSpPr>
          <p:nvPr/>
        </p:nvSpPr>
        <p:spPr bwMode="auto">
          <a:xfrm>
            <a:off x="1198563" y="160337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13679" name="Text Box 41"/>
          <p:cNvSpPr txBox="1">
            <a:spLocks noChangeArrowheads="1"/>
          </p:cNvSpPr>
          <p:nvPr/>
        </p:nvSpPr>
        <p:spPr bwMode="auto">
          <a:xfrm>
            <a:off x="7104063" y="16033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13680" name="Line 42"/>
          <p:cNvSpPr>
            <a:spLocks noChangeShapeType="1"/>
          </p:cNvSpPr>
          <p:nvPr/>
        </p:nvSpPr>
        <p:spPr bwMode="auto">
          <a:xfrm>
            <a:off x="1584325" y="3278188"/>
            <a:ext cx="4572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1" name="Rectangle 43"/>
          <p:cNvSpPr>
            <a:spLocks noChangeArrowheads="1"/>
          </p:cNvSpPr>
          <p:nvPr/>
        </p:nvSpPr>
        <p:spPr bwMode="auto">
          <a:xfrm>
            <a:off x="2041525" y="2973388"/>
            <a:ext cx="990600" cy="533400"/>
          </a:xfrm>
          <a:prstGeom prst="rect">
            <a:avLst/>
          </a:prstGeom>
          <a:solidFill>
            <a:srgbClr val="FFFFCC"/>
          </a:solidFill>
          <a:ln w="9525">
            <a:solidFill>
              <a:schemeClr val="bg1">
                <a:lumMod val="10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2" name="Line 44"/>
          <p:cNvSpPr>
            <a:spLocks noChangeShapeType="1"/>
          </p:cNvSpPr>
          <p:nvPr/>
        </p:nvSpPr>
        <p:spPr bwMode="auto">
          <a:xfrm>
            <a:off x="2727325" y="2973388"/>
            <a:ext cx="0" cy="533400"/>
          </a:xfrm>
          <a:prstGeom prst="line">
            <a:avLst/>
          </a:prstGeom>
          <a:noFill/>
          <a:ln w="19050">
            <a:solidFill>
              <a:schemeClr val="bg1">
                <a:lumMod val="10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3" name="Line 45"/>
          <p:cNvSpPr>
            <a:spLocks noChangeShapeType="1"/>
          </p:cNvSpPr>
          <p:nvPr/>
        </p:nvSpPr>
        <p:spPr bwMode="auto">
          <a:xfrm>
            <a:off x="2879725" y="3278188"/>
            <a:ext cx="9906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4" name="Rectangle 46"/>
          <p:cNvSpPr>
            <a:spLocks noChangeArrowheads="1"/>
          </p:cNvSpPr>
          <p:nvPr/>
        </p:nvSpPr>
        <p:spPr bwMode="auto">
          <a:xfrm>
            <a:off x="3870325" y="2973388"/>
            <a:ext cx="990600" cy="533400"/>
          </a:xfrm>
          <a:prstGeom prst="rect">
            <a:avLst/>
          </a:prstGeom>
          <a:solidFill>
            <a:srgbClr val="9476B6"/>
          </a:solidFill>
          <a:ln w="9525">
            <a:solidFill>
              <a:schemeClr val="bg1">
                <a:lumMod val="10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5" name="Line 47"/>
          <p:cNvSpPr>
            <a:spLocks noChangeShapeType="1"/>
          </p:cNvSpPr>
          <p:nvPr/>
        </p:nvSpPr>
        <p:spPr bwMode="auto">
          <a:xfrm>
            <a:off x="4556125" y="2973388"/>
            <a:ext cx="0" cy="533400"/>
          </a:xfrm>
          <a:prstGeom prst="line">
            <a:avLst/>
          </a:prstGeom>
          <a:noFill/>
          <a:ln w="19050">
            <a:solidFill>
              <a:schemeClr val="bg1">
                <a:lumMod val="10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6" name="Line 48"/>
          <p:cNvSpPr>
            <a:spLocks noChangeShapeType="1"/>
          </p:cNvSpPr>
          <p:nvPr/>
        </p:nvSpPr>
        <p:spPr bwMode="auto">
          <a:xfrm>
            <a:off x="4708525" y="3278188"/>
            <a:ext cx="9906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7" name="Rectangle 49"/>
          <p:cNvSpPr>
            <a:spLocks noChangeArrowheads="1"/>
          </p:cNvSpPr>
          <p:nvPr/>
        </p:nvSpPr>
        <p:spPr bwMode="auto">
          <a:xfrm>
            <a:off x="5699125" y="2973388"/>
            <a:ext cx="990600" cy="533400"/>
          </a:xfrm>
          <a:prstGeom prst="rect">
            <a:avLst/>
          </a:prstGeom>
          <a:solidFill>
            <a:srgbClr val="FFFFCC"/>
          </a:solidFill>
          <a:ln w="9525">
            <a:solidFill>
              <a:schemeClr val="bg1">
                <a:lumMod val="10000"/>
              </a:schemeClr>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8" name="Line 50"/>
          <p:cNvSpPr>
            <a:spLocks noChangeShapeType="1"/>
          </p:cNvSpPr>
          <p:nvPr/>
        </p:nvSpPr>
        <p:spPr bwMode="auto">
          <a:xfrm>
            <a:off x="6384925" y="2973388"/>
            <a:ext cx="0" cy="533400"/>
          </a:xfrm>
          <a:prstGeom prst="line">
            <a:avLst/>
          </a:prstGeom>
          <a:noFill/>
          <a:ln w="19050">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9" name="Line 51"/>
          <p:cNvSpPr>
            <a:spLocks noChangeShapeType="1"/>
          </p:cNvSpPr>
          <p:nvPr/>
        </p:nvSpPr>
        <p:spPr bwMode="auto">
          <a:xfrm>
            <a:off x="6537325" y="3278188"/>
            <a:ext cx="609600" cy="0"/>
          </a:xfrm>
          <a:prstGeom prst="line">
            <a:avLst/>
          </a:prstGeom>
          <a:noFill/>
          <a:ln w="28575">
            <a:solidFill>
              <a:schemeClr val="bg1">
                <a:lumMod val="10000"/>
              </a:schemeClr>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0" name="Text Box 52"/>
          <p:cNvSpPr txBox="1">
            <a:spLocks noChangeArrowheads="1"/>
          </p:cNvSpPr>
          <p:nvPr/>
        </p:nvSpPr>
        <p:spPr bwMode="auto">
          <a:xfrm>
            <a:off x="1198563" y="305117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13691" name="Text Box 53"/>
          <p:cNvSpPr txBox="1">
            <a:spLocks noChangeArrowheads="1"/>
          </p:cNvSpPr>
          <p:nvPr/>
        </p:nvSpPr>
        <p:spPr bwMode="auto">
          <a:xfrm>
            <a:off x="7104063" y="30511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13692" name="Text Box 54"/>
          <p:cNvSpPr txBox="1">
            <a:spLocks noChangeArrowheads="1"/>
          </p:cNvSpPr>
          <p:nvPr/>
        </p:nvSpPr>
        <p:spPr bwMode="auto">
          <a:xfrm>
            <a:off x="2112963" y="1495425"/>
            <a:ext cx="5667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chemeClr val="tx2"/>
                </a:solidFill>
                <a:effectLst/>
                <a:uLnTx/>
                <a:uFillTx/>
                <a:latin typeface="+mn-lt"/>
                <a:ea typeface="+mn-ea"/>
                <a:cs typeface="+mn-ea"/>
                <a:sym typeface="+mn-lt"/>
              </a:rPr>
              <a:t>a</a:t>
            </a:r>
            <a:r>
              <a:rPr kumimoji="0" lang="en-US" altLang="zh-CN" sz="2400" b="0" i="0" u="none" strike="noStrike" kern="1200" cap="none" spc="0" normalizeH="0" baseline="-25000" noProof="0">
                <a:ln>
                  <a:noFill/>
                </a:ln>
                <a:solidFill>
                  <a:schemeClr val="tx2"/>
                </a:solidFill>
                <a:effectLst/>
                <a:uLnTx/>
                <a:uFillTx/>
                <a:latin typeface="+mn-lt"/>
                <a:ea typeface="+mn-ea"/>
                <a:cs typeface="+mn-ea"/>
                <a:sym typeface="+mn-lt"/>
              </a:rPr>
              <a:t>i-1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3" name="Text Box 55"/>
          <p:cNvSpPr txBox="1">
            <a:spLocks noChangeArrowheads="1"/>
          </p:cNvSpPr>
          <p:nvPr/>
        </p:nvSpPr>
        <p:spPr bwMode="auto">
          <a:xfrm>
            <a:off x="2111375" y="2943225"/>
            <a:ext cx="5667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a:ln>
                  <a:noFill/>
                </a:ln>
                <a:solidFill>
                  <a:schemeClr val="tx2"/>
                </a:solidFill>
                <a:effectLst/>
                <a:uLnTx/>
                <a:uFillTx/>
                <a:latin typeface="+mn-lt"/>
                <a:ea typeface="+mn-ea"/>
                <a:cs typeface="+mn-ea"/>
                <a:sym typeface="+mn-lt"/>
              </a:rPr>
              <a:t>a</a:t>
            </a:r>
            <a:r>
              <a:rPr kumimoji="0" lang="en-US" altLang="zh-CN" sz="2400" b="0" i="0" u="none" strike="noStrike" kern="1200" cap="none" spc="0" normalizeH="0" baseline="-25000" noProof="0" dirty="0">
                <a:ln>
                  <a:noFill/>
                </a:ln>
                <a:solidFill>
                  <a:schemeClr val="tx2"/>
                </a:solidFill>
                <a:effectLst/>
                <a:uLnTx/>
                <a:uFillTx/>
                <a:latin typeface="+mn-lt"/>
                <a:ea typeface="+mn-ea"/>
                <a:cs typeface="+mn-ea"/>
                <a:sym typeface="+mn-lt"/>
              </a:rPr>
              <a:t>i-1</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3694" name="Text Box 56"/>
          <p:cNvSpPr txBox="1">
            <a:spLocks noChangeArrowheads="1"/>
          </p:cNvSpPr>
          <p:nvPr/>
        </p:nvSpPr>
        <p:spPr bwMode="auto">
          <a:xfrm>
            <a:off x="4087813" y="1541463"/>
            <a:ext cx="3952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chemeClr val="tx2"/>
                </a:solidFill>
                <a:effectLst/>
                <a:uLnTx/>
                <a:uFillTx/>
                <a:latin typeface="+mn-lt"/>
                <a:ea typeface="+mn-ea"/>
                <a:cs typeface="+mn-ea"/>
                <a:sym typeface="+mn-lt"/>
              </a:rPr>
              <a:t>a</a:t>
            </a:r>
            <a:r>
              <a:rPr kumimoji="0" lang="en-US" altLang="zh-CN" sz="2400" b="0" i="0" u="none" strike="noStrike" kern="1200" cap="none" spc="0" normalizeH="0" baseline="-25000" noProof="0">
                <a:ln>
                  <a:noFill/>
                </a:ln>
                <a:solidFill>
                  <a:schemeClr val="tx2"/>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5" name="Text Box 57"/>
          <p:cNvSpPr txBox="1">
            <a:spLocks noChangeArrowheads="1"/>
          </p:cNvSpPr>
          <p:nvPr/>
        </p:nvSpPr>
        <p:spPr bwMode="auto">
          <a:xfrm>
            <a:off x="4092575" y="2943225"/>
            <a:ext cx="3952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dirty="0" err="1">
                <a:ln>
                  <a:noFill/>
                </a:ln>
                <a:solidFill>
                  <a:schemeClr val="bg1"/>
                </a:solidFill>
                <a:effectLst/>
                <a:uLnTx/>
                <a:uFillTx/>
                <a:latin typeface="+mn-lt"/>
                <a:ea typeface="+mn-ea"/>
                <a:cs typeface="+mn-ea"/>
                <a:sym typeface="+mn-lt"/>
              </a:rPr>
              <a:t>a</a:t>
            </a:r>
            <a:r>
              <a:rPr kumimoji="0" lang="en-US" altLang="zh-CN" sz="2400" b="0" i="0" u="none" strike="noStrike" kern="1200" cap="none" spc="0" normalizeH="0" baseline="-25000" noProof="0" dirty="0" err="1">
                <a:ln>
                  <a:noFill/>
                </a:ln>
                <a:solidFill>
                  <a:schemeClr val="bg1"/>
                </a:solidFill>
                <a:effectLst/>
                <a:uLnTx/>
                <a:uFillTx/>
                <a:latin typeface="+mn-lt"/>
                <a:ea typeface="+mn-ea"/>
                <a:cs typeface="+mn-ea"/>
                <a:sym typeface="+mn-lt"/>
              </a:rPr>
              <a:t>i</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3696" name="Text Box 58"/>
          <p:cNvSpPr txBox="1">
            <a:spLocks noChangeArrowheads="1"/>
          </p:cNvSpPr>
          <p:nvPr/>
        </p:nvSpPr>
        <p:spPr bwMode="auto">
          <a:xfrm>
            <a:off x="5764213" y="1541463"/>
            <a:ext cx="615950" cy="46037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chemeClr val="tx2"/>
                </a:solidFill>
                <a:effectLst/>
                <a:uLnTx/>
                <a:uFillTx/>
                <a:latin typeface="+mn-lt"/>
                <a:ea typeface="+mn-ea"/>
                <a:cs typeface="+mn-ea"/>
                <a:sym typeface="+mn-lt"/>
              </a:rPr>
              <a:t>a</a:t>
            </a:r>
            <a:r>
              <a:rPr kumimoji="0" lang="en-US" altLang="zh-CN" sz="2400" b="0" i="0" u="none" strike="noStrike" kern="1200" cap="none" spc="0" normalizeH="0" baseline="-25000" noProof="0">
                <a:ln>
                  <a:noFill/>
                </a:ln>
                <a:solidFill>
                  <a:schemeClr val="tx2"/>
                </a:solidFill>
                <a:effectLst/>
                <a:uLnTx/>
                <a:uFillTx/>
                <a:latin typeface="+mn-lt"/>
                <a:ea typeface="+mn-ea"/>
                <a:cs typeface="+mn-ea"/>
                <a:sym typeface="+mn-lt"/>
              </a:rPr>
              <a:t>i+1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7" name="Text Box 59"/>
          <p:cNvSpPr txBox="1">
            <a:spLocks noChangeArrowheads="1"/>
          </p:cNvSpPr>
          <p:nvPr/>
        </p:nvSpPr>
        <p:spPr bwMode="auto">
          <a:xfrm>
            <a:off x="5783263" y="2943225"/>
            <a:ext cx="615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chemeClr val="tx2"/>
                </a:solidFill>
                <a:effectLst/>
                <a:uLnTx/>
                <a:uFillTx/>
                <a:latin typeface="+mn-lt"/>
                <a:ea typeface="+mn-ea"/>
                <a:cs typeface="+mn-ea"/>
                <a:sym typeface="+mn-lt"/>
              </a:rPr>
              <a:t>a</a:t>
            </a:r>
            <a:r>
              <a:rPr kumimoji="0" lang="en-US" altLang="zh-CN" sz="2400" b="0" i="0" u="none" strike="noStrike" kern="1200" cap="none" spc="0" normalizeH="0" baseline="-25000" noProof="0">
                <a:ln>
                  <a:noFill/>
                </a:ln>
                <a:solidFill>
                  <a:schemeClr val="tx2"/>
                </a:solidFill>
                <a:effectLst/>
                <a:uLnTx/>
                <a:uFillTx/>
                <a:latin typeface="+mn-lt"/>
                <a:ea typeface="+mn-ea"/>
                <a:cs typeface="+mn-ea"/>
                <a:sym typeface="+mn-lt"/>
              </a:rPr>
              <a:t>i+1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8" name="Line 60"/>
          <p:cNvSpPr>
            <a:spLocks noChangeShapeType="1"/>
          </p:cNvSpPr>
          <p:nvPr/>
        </p:nvSpPr>
        <p:spPr bwMode="auto">
          <a:xfrm flipV="1">
            <a:off x="2346325" y="3582988"/>
            <a:ext cx="0" cy="4572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9" name="Line 61"/>
          <p:cNvSpPr>
            <a:spLocks noChangeShapeType="1"/>
          </p:cNvSpPr>
          <p:nvPr/>
        </p:nvSpPr>
        <p:spPr bwMode="auto">
          <a:xfrm flipV="1">
            <a:off x="4175125" y="3582988"/>
            <a:ext cx="0" cy="457200"/>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0" name="Text Box 62"/>
          <p:cNvSpPr txBox="1">
            <a:spLocks noChangeArrowheads="1"/>
          </p:cNvSpPr>
          <p:nvPr/>
        </p:nvSpPr>
        <p:spPr bwMode="auto">
          <a:xfrm>
            <a:off x="2346325" y="35829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2"/>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1" name="Text Box 63"/>
          <p:cNvSpPr txBox="1">
            <a:spLocks noChangeArrowheads="1"/>
          </p:cNvSpPr>
          <p:nvPr/>
        </p:nvSpPr>
        <p:spPr bwMode="auto">
          <a:xfrm>
            <a:off x="4222750" y="35829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2"/>
                </a:solidFill>
                <a:effectLst/>
                <a:uLnTx/>
                <a:uFillTx/>
                <a:latin typeface="+mn-lt"/>
                <a:ea typeface="+mn-ea"/>
                <a:cs typeface="+mn-ea"/>
                <a:sym typeface="+mn-lt"/>
              </a:rPr>
              <a:t>q</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2" name="Line 64"/>
          <p:cNvSpPr>
            <a:spLocks noChangeShapeType="1"/>
          </p:cNvSpPr>
          <p:nvPr/>
        </p:nvSpPr>
        <p:spPr bwMode="auto">
          <a:xfrm flipV="1">
            <a:off x="2914650" y="2568575"/>
            <a:ext cx="381000" cy="38100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3" name="Line 65"/>
          <p:cNvSpPr>
            <a:spLocks noChangeShapeType="1"/>
          </p:cNvSpPr>
          <p:nvPr/>
        </p:nvSpPr>
        <p:spPr bwMode="auto">
          <a:xfrm>
            <a:off x="5435600" y="2582863"/>
            <a:ext cx="304800" cy="228600"/>
          </a:xfrm>
          <a:prstGeom prst="line">
            <a:avLst/>
          </a:prstGeom>
          <a:noFill/>
          <a:ln w="57150">
            <a:solidFill>
              <a:srgbClr val="FF0000"/>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4" name="Line 66"/>
          <p:cNvSpPr>
            <a:spLocks noChangeShapeType="1"/>
          </p:cNvSpPr>
          <p:nvPr/>
        </p:nvSpPr>
        <p:spPr bwMode="auto">
          <a:xfrm flipH="1">
            <a:off x="3281363" y="2568575"/>
            <a:ext cx="2133600"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5" name="Text Box 67"/>
          <p:cNvSpPr txBox="1">
            <a:spLocks noChangeArrowheads="1"/>
          </p:cNvSpPr>
          <p:nvPr/>
        </p:nvSpPr>
        <p:spPr bwMode="auto">
          <a:xfrm>
            <a:off x="3859213" y="2055813"/>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删除前</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3706" name="Text Box 68"/>
          <p:cNvSpPr txBox="1">
            <a:spLocks noChangeArrowheads="1"/>
          </p:cNvSpPr>
          <p:nvPr/>
        </p:nvSpPr>
        <p:spPr bwMode="auto">
          <a:xfrm>
            <a:off x="3717925" y="4040188"/>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删除后</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18827" name="Group 69"/>
          <p:cNvGrpSpPr/>
          <p:nvPr/>
        </p:nvGrpSpPr>
        <p:grpSpPr>
          <a:xfrm>
            <a:off x="3203575" y="3030538"/>
            <a:ext cx="361950" cy="438150"/>
            <a:chOff x="2928" y="684"/>
            <a:chExt cx="312" cy="420"/>
          </a:xfrm>
        </p:grpSpPr>
        <p:sp>
          <p:nvSpPr>
            <p:cNvPr id="113711" name="Line 70"/>
            <p:cNvSpPr>
              <a:spLocks noChangeShapeType="1"/>
            </p:cNvSpPr>
            <p:nvPr/>
          </p:nvSpPr>
          <p:spPr bwMode="auto">
            <a:xfrm>
              <a:off x="2964" y="708"/>
              <a:ext cx="276" cy="396"/>
            </a:xfrm>
            <a:prstGeom prst="line">
              <a:avLst/>
            </a:prstGeom>
            <a:noFill/>
            <a:ln w="762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2" name="Line 71"/>
            <p:cNvSpPr>
              <a:spLocks noChangeShapeType="1"/>
            </p:cNvSpPr>
            <p:nvPr/>
          </p:nvSpPr>
          <p:spPr bwMode="auto">
            <a:xfrm flipH="1">
              <a:off x="2928" y="684"/>
              <a:ext cx="312" cy="420"/>
            </a:xfrm>
            <a:prstGeom prst="line">
              <a:avLst/>
            </a:prstGeom>
            <a:noFill/>
            <a:ln w="762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18828" name="Group 72"/>
          <p:cNvGrpSpPr/>
          <p:nvPr/>
        </p:nvGrpSpPr>
        <p:grpSpPr>
          <a:xfrm>
            <a:off x="5127625" y="3106738"/>
            <a:ext cx="361950" cy="438150"/>
            <a:chOff x="2928" y="684"/>
            <a:chExt cx="312" cy="420"/>
          </a:xfrm>
        </p:grpSpPr>
        <p:sp>
          <p:nvSpPr>
            <p:cNvPr id="113709" name="Line 73"/>
            <p:cNvSpPr>
              <a:spLocks noChangeShapeType="1"/>
            </p:cNvSpPr>
            <p:nvPr/>
          </p:nvSpPr>
          <p:spPr bwMode="auto">
            <a:xfrm>
              <a:off x="2964" y="708"/>
              <a:ext cx="276" cy="396"/>
            </a:xfrm>
            <a:prstGeom prst="line">
              <a:avLst/>
            </a:prstGeom>
            <a:noFill/>
            <a:ln w="762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0" name="Line 74"/>
            <p:cNvSpPr>
              <a:spLocks noChangeShapeType="1"/>
            </p:cNvSpPr>
            <p:nvPr/>
          </p:nvSpPr>
          <p:spPr bwMode="auto">
            <a:xfrm flipH="1">
              <a:off x="2928" y="684"/>
              <a:ext cx="312" cy="420"/>
            </a:xfrm>
            <a:prstGeom prst="line">
              <a:avLst/>
            </a:prstGeom>
            <a:noFill/>
            <a:ln w="762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9"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9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9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4"/>
          <p:cNvSpPr>
            <a:spLocks noChangeArrowheads="1"/>
          </p:cNvSpPr>
          <p:nvPr/>
        </p:nvSpPr>
        <p:spPr bwMode="auto">
          <a:xfrm>
            <a:off x="0" y="974725"/>
            <a:ext cx="3775075" cy="514350"/>
          </a:xfrm>
          <a:prstGeom prst="rect">
            <a:avLst/>
          </a:prstGeom>
          <a:solidFill>
            <a:srgbClr val="9476B6"/>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14691" name="Rectangle 5"/>
          <p:cNvSpPr>
            <a:spLocks noChangeArrowheads="1"/>
          </p:cNvSpPr>
          <p:nvPr/>
        </p:nvSpPr>
        <p:spPr bwMode="auto">
          <a:xfrm>
            <a:off x="165100" y="1628775"/>
            <a:ext cx="8569325"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）找到</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200" b="0" i="0" u="none" strike="noStrike" kern="1200" cap="none" spc="0" normalizeH="0" baseline="-30000" noProof="0" dirty="0">
                <a:ln>
                  <a:noFill/>
                </a:ln>
                <a:solidFill>
                  <a:schemeClr val="tx1"/>
                </a:solidFill>
                <a:effectLst/>
                <a:uLnTx/>
                <a:uFillTx/>
                <a:latin typeface="+mn-lt"/>
                <a:ea typeface="+mn-ea"/>
                <a:cs typeface="+mn-ea"/>
                <a:sym typeface="+mn-lt"/>
              </a:rPr>
              <a:t>i-1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存储位置</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）临时保存结点</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2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的地址在</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中，以备释放</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）令</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p-&gt;next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2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的直接后继结点</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）将</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2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的值保留在</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中</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）释放</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a</a:t>
            </a:r>
            <a:r>
              <a:rPr kumimoji="0" lang="en-US" altLang="zh-CN" sz="2200" b="0" i="0" u="none" strike="noStrike" kern="1200" cap="none" spc="0" normalizeH="0" baseline="-30000" noProof="0" dirty="0" err="1">
                <a:ln>
                  <a:noFill/>
                </a:ln>
                <a:solidFill>
                  <a:schemeClr val="tx1"/>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的空间</a:t>
            </a:r>
          </a:p>
        </p:txBody>
      </p:sp>
      <p:sp>
        <p:nvSpPr>
          <p:cNvPr id="5"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 </a:t>
            </a:r>
          </a:p>
        </p:txBody>
      </p:sp>
      <p:grpSp>
        <p:nvGrpSpPr>
          <p:cNvPr id="3" name="组合 2"/>
          <p:cNvGrpSpPr/>
          <p:nvPr/>
        </p:nvGrpSpPr>
        <p:grpSpPr>
          <a:xfrm>
            <a:off x="0" y="4149725"/>
            <a:ext cx="9144000" cy="2713038"/>
            <a:chOff x="0" y="4149725"/>
            <a:chExt cx="9144000" cy="2713038"/>
          </a:xfrm>
        </p:grpSpPr>
        <p:pic>
          <p:nvPicPr>
            <p:cNvPr id="119812" name="Picture 7"/>
            <p:cNvPicPr>
              <a:picLocks noChangeAspect="1"/>
            </p:cNvPicPr>
            <p:nvPr/>
          </p:nvPicPr>
          <p:blipFill>
            <a:blip r:embed="rId2"/>
            <a:srcRect t="7373"/>
            <a:stretch>
              <a:fillRect/>
            </a:stretch>
          </p:blipFill>
          <p:spPr>
            <a:xfrm>
              <a:off x="0" y="4149725"/>
              <a:ext cx="9144000" cy="2713038"/>
            </a:xfrm>
            <a:prstGeom prst="rect">
              <a:avLst/>
            </a:prstGeom>
            <a:noFill/>
            <a:ln w="9525">
              <a:noFill/>
            </a:ln>
          </p:spPr>
        </p:pic>
        <p:sp>
          <p:nvSpPr>
            <p:cNvPr id="2" name="文本框 1"/>
            <p:cNvSpPr txBox="1"/>
            <p:nvPr/>
          </p:nvSpPr>
          <p:spPr>
            <a:xfrm>
              <a:off x="4428132" y="5733256"/>
              <a:ext cx="287735" cy="400110"/>
            </a:xfrm>
            <a:prstGeom prst="rect">
              <a:avLst/>
            </a:prstGeom>
            <a:noFill/>
          </p:spPr>
          <p:txBody>
            <a:bodyPr wrap="square" rtlCol="0">
              <a:spAutoFit/>
            </a:bodyPr>
            <a:lstStyle/>
            <a:p>
              <a:r>
                <a:rPr lang="en-US" altLang="zh-CN" sz="2000" dirty="0"/>
                <a:t>q</a:t>
              </a:r>
              <a:endParaRPr lang="zh-CN" altLang="en-US" sz="2000" dirty="0"/>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4"/>
          <p:cNvSpPr>
            <a:spLocks noChangeArrowheads="1"/>
          </p:cNvSpPr>
          <p:nvPr/>
        </p:nvSpPr>
        <p:spPr bwMode="auto">
          <a:xfrm>
            <a:off x="161925" y="1700213"/>
            <a:ext cx="8820150" cy="4968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hlink"/>
                </a:solidFill>
                <a:effectLst/>
                <a:uLnTx/>
                <a:uFillTx/>
                <a:latin typeface="+mn-lt"/>
                <a:ea typeface="+mn-ea"/>
                <a:cs typeface="+mn-ea"/>
                <a:sym typeface="+mn-lt"/>
              </a:rPr>
              <a:t>将线性表</a:t>
            </a:r>
            <a:r>
              <a:rPr kumimoji="0" lang="en-US" altLang="zh-CN" sz="2000" b="0" i="0" u="none" strike="noStrike" kern="1200" cap="none" spc="0" normalizeH="0" baseline="0" noProof="0" dirty="0">
                <a:ln>
                  <a:noFill/>
                </a:ln>
                <a:solidFill>
                  <a:schemeClr val="hlink"/>
                </a:solidFill>
                <a:effectLst/>
                <a:uLnTx/>
                <a:uFillTx/>
                <a:latin typeface="+mn-lt"/>
                <a:ea typeface="+mn-ea"/>
                <a:cs typeface="+mn-ea"/>
                <a:sym typeface="+mn-lt"/>
              </a:rPr>
              <a:t>L</a:t>
            </a:r>
            <a:r>
              <a:rPr kumimoji="0" lang="zh-CN" altLang="en-US" sz="2000" b="0" i="0" u="none" strike="noStrike" kern="1200" cap="none" spc="0" normalizeH="0" baseline="0" noProof="0" dirty="0">
                <a:ln>
                  <a:noFill/>
                </a:ln>
                <a:solidFill>
                  <a:schemeClr val="hlink"/>
                </a:solidFill>
                <a:effectLst/>
                <a:uLnTx/>
                <a:uFillTx/>
                <a:latin typeface="+mn-lt"/>
                <a:ea typeface="+mn-ea"/>
                <a:cs typeface="+mn-ea"/>
                <a:sym typeface="+mn-lt"/>
              </a:rPr>
              <a:t>中第</a:t>
            </a:r>
            <a:r>
              <a:rPr kumimoji="0" lang="en-US" altLang="zh-CN" sz="2000" b="0" i="0" u="none" strike="noStrike" kern="1200" cap="none" spc="0" normalizeH="0" baseline="0" noProof="0" dirty="0" err="1">
                <a:ln>
                  <a:noFill/>
                </a:ln>
                <a:solidFill>
                  <a:schemeClr val="hlink"/>
                </a:solidFill>
                <a:effectLst/>
                <a:uLnTx/>
                <a:uFillTx/>
                <a:latin typeface="+mn-lt"/>
                <a:ea typeface="+mn-ea"/>
                <a:cs typeface="+mn-ea"/>
                <a:sym typeface="+mn-lt"/>
              </a:rPr>
              <a:t>i</a:t>
            </a:r>
            <a:r>
              <a:rPr kumimoji="0" lang="zh-CN" altLang="en-US" sz="2000" b="0" i="0" u="none" strike="noStrike" kern="1200" cap="none" spc="0" normalizeH="0" baseline="0" noProof="0" dirty="0">
                <a:ln>
                  <a:noFill/>
                </a:ln>
                <a:solidFill>
                  <a:schemeClr val="hlink"/>
                </a:solidFill>
                <a:effectLst/>
                <a:uLnTx/>
                <a:uFillTx/>
                <a:latin typeface="+mn-lt"/>
                <a:ea typeface="+mn-ea"/>
                <a:cs typeface="+mn-ea"/>
                <a:sym typeface="+mn-lt"/>
              </a:rPr>
              <a:t>个数据元素删除</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ListDelete_L</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i,ElemType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&amp;e){</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L;j</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while(p-&gt;next &amp;&amp;j&lt;i-1){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寻找第</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个结点，并令</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指向其前驱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p=p-&gt;next; ++j;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if(!(p-&gt;next)||j&gt;i-1) return ERROR;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删除位置不合理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q=p-&gt;next;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临时保存被删结点的地址以备释放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p-&gt;next=q-&gt;next;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改变删除结点前驱结点的指针域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e=q-&gt;data;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保存删除结点的数据域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free(q);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释放删除结点的空间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ListDelete_L</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15715" name="Rectangle 6"/>
          <p:cNvSpPr>
            <a:spLocks noChangeArrowheads="1"/>
          </p:cNvSpPr>
          <p:nvPr/>
        </p:nvSpPr>
        <p:spPr bwMode="auto">
          <a:xfrm>
            <a:off x="0" y="1052513"/>
            <a:ext cx="3775075" cy="466725"/>
          </a:xfrm>
          <a:prstGeom prst="rect">
            <a:avLst/>
          </a:prstGeom>
          <a:solidFill>
            <a:srgbClr val="9476B6"/>
          </a:solid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120836" name="组合 4"/>
          <p:cNvGrpSpPr/>
          <p:nvPr/>
        </p:nvGrpSpPr>
        <p:grpSpPr>
          <a:xfrm>
            <a:off x="0" y="6380163"/>
            <a:ext cx="9144000" cy="431800"/>
            <a:chOff x="0" y="6165304"/>
            <a:chExt cx="9144000" cy="432048"/>
          </a:xfrm>
        </p:grpSpPr>
        <p:cxnSp>
          <p:nvCxnSpPr>
            <p:cNvPr id="120838"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8" name="直接连接符 7"/>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20840"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0" name="Rectangle 6"/>
          <p:cNvSpPr>
            <a:spLocks noChangeArrowheads="1"/>
          </p:cNvSpPr>
          <p:nvPr/>
        </p:nvSpPr>
        <p:spPr bwMode="auto">
          <a:xfrm>
            <a:off x="935038" y="201613"/>
            <a:ext cx="507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个结点）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25" name="Rectangle 9"/>
          <p:cNvSpPr>
            <a:spLocks noChangeArrowheads="1"/>
          </p:cNvSpPr>
          <p:nvPr/>
        </p:nvSpPr>
        <p:spPr bwMode="auto">
          <a:xfrm>
            <a:off x="920750" y="5040313"/>
            <a:ext cx="765175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但是，如果要在单链表中进行前插或删除操作，由于要从头查找前驱结点，所耗时间复杂度为 </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O(n) </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a:t>
            </a:r>
          </a:p>
        </p:txBody>
      </p:sp>
      <p:sp>
        <p:nvSpPr>
          <p:cNvPr id="116741" name="Rectangle 10"/>
          <p:cNvSpPr>
            <a:spLocks noChangeArrowheads="1"/>
          </p:cNvSpPr>
          <p:nvPr/>
        </p:nvSpPr>
        <p:spPr bwMode="auto">
          <a:xfrm>
            <a:off x="858838" y="249238"/>
            <a:ext cx="70516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链表的运算时间效率分析</a:t>
            </a:r>
          </a:p>
        </p:txBody>
      </p:sp>
      <p:grpSp>
        <p:nvGrpSpPr>
          <p:cNvPr id="2" name="组合 1"/>
          <p:cNvGrpSpPr/>
          <p:nvPr/>
        </p:nvGrpSpPr>
        <p:grpSpPr>
          <a:xfrm>
            <a:off x="920750" y="1355725"/>
            <a:ext cx="3497263" cy="3036888"/>
            <a:chOff x="920750" y="1355725"/>
            <a:chExt cx="3497263" cy="3036888"/>
          </a:xfrm>
        </p:grpSpPr>
        <p:sp>
          <p:nvSpPr>
            <p:cNvPr id="521221" name="Rectangle 5"/>
            <p:cNvSpPr>
              <a:spLocks noRot="1" noChangeArrowheads="1"/>
            </p:cNvSpPr>
            <p:nvPr/>
          </p:nvSpPr>
          <p:spPr bwMode="auto">
            <a:xfrm>
              <a:off x="1222375" y="1860550"/>
              <a:ext cx="31242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因线性链表只能顺序存取，即在查找时要从头指针找起，查找的时间复杂度为</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O(n)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0" name="AutoShape 5"/>
            <p:cNvSpPr/>
            <p:nvPr/>
          </p:nvSpPr>
          <p:spPr bwMode="auto">
            <a:xfrm>
              <a:off x="1025525" y="1784350"/>
              <a:ext cx="3392488" cy="2608263"/>
            </a:xfrm>
            <a:prstGeom prst="roundRect">
              <a:avLst>
                <a:gd name="adj" fmla="val 5000"/>
              </a:avLst>
            </a:prstGeom>
            <a:noFill/>
            <a:ln w="12700">
              <a:solidFill>
                <a:schemeClr val="accent1">
                  <a:alpha val="59999"/>
                </a:schemeClr>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100" b="0" i="0" u="none" strike="noStrike" kern="1200" cap="none" spc="0" normalizeH="0" baseline="0" noProof="0">
                <a:ln>
                  <a:noFill/>
                </a:ln>
                <a:solidFill>
                  <a:srgbClr val="000000"/>
                </a:solidFill>
                <a:effectLst/>
                <a:uLnTx/>
                <a:uFillTx/>
                <a:latin typeface="+mn-lt"/>
                <a:ea typeface="+mn-ea"/>
                <a:cs typeface="+mn-ea"/>
                <a:sym typeface="+mn-lt"/>
              </a:endParaRPr>
            </a:p>
          </p:txBody>
        </p:sp>
        <p:grpSp>
          <p:nvGrpSpPr>
            <p:cNvPr id="121871" name="Group 6"/>
            <p:cNvGrpSpPr/>
            <p:nvPr/>
          </p:nvGrpSpPr>
          <p:grpSpPr>
            <a:xfrm>
              <a:off x="920750" y="1355725"/>
              <a:ext cx="609600" cy="611188"/>
              <a:chOff x="0" y="0"/>
              <a:chExt cx="1024" cy="1024"/>
            </a:xfrm>
          </p:grpSpPr>
          <p:sp>
            <p:nvSpPr>
              <p:cNvPr id="12" name="AutoShape 7"/>
              <p:cNvSpPr/>
              <p:nvPr/>
            </p:nvSpPr>
            <p:spPr bwMode="auto">
              <a:xfrm>
                <a:off x="0" y="0"/>
                <a:ext cx="1024" cy="1024"/>
              </a:xfrm>
              <a:prstGeom prst="roundRect">
                <a:avLst>
                  <a:gd name="adj" fmla="val 11718"/>
                </a:avLst>
              </a:prstGeom>
              <a:solidFill>
                <a:srgbClr val="9476B6"/>
              </a:solidFill>
              <a:ln w="12700">
                <a:solidFill>
                  <a:srgbClr val="646E78"/>
                </a:solidFill>
                <a:miter lim="800000"/>
              </a:ln>
            </p:spPr>
            <p:txBody>
              <a:bodyPr lIns="0" tIns="0" rIns="0" bIns="0"/>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100" b="0" i="0" u="none" strike="noStrike" kern="1200" cap="none" spc="0" normalizeH="0" baseline="0" noProof="0">
                  <a:ln>
                    <a:noFill/>
                  </a:ln>
                  <a:solidFill>
                    <a:srgbClr val="000000"/>
                  </a:solidFill>
                  <a:effectLst/>
                  <a:uLnTx/>
                  <a:uFillTx/>
                  <a:latin typeface="+mn-lt"/>
                  <a:ea typeface="+mn-ea"/>
                  <a:cs typeface="+mn-ea"/>
                  <a:sym typeface="+mn-lt"/>
                </a:endParaRPr>
              </a:p>
            </p:txBody>
          </p:sp>
          <p:pic>
            <p:nvPicPr>
              <p:cNvPr id="121873" name="Picture 8"/>
              <p:cNvPicPr>
                <a:picLocks noChangeAspect="1"/>
              </p:cNvPicPr>
              <p:nvPr/>
            </p:nvPicPr>
            <p:blipFill>
              <a:blip r:embed="rId2"/>
              <a:stretch>
                <a:fillRect/>
              </a:stretch>
            </p:blipFill>
            <p:spPr>
              <a:xfrm>
                <a:off x="251" y="208"/>
                <a:ext cx="537" cy="544"/>
              </a:xfrm>
              <a:prstGeom prst="rect">
                <a:avLst/>
              </a:prstGeom>
              <a:noFill/>
              <a:ln w="12700">
                <a:noFill/>
              </a:ln>
            </p:spPr>
          </p:pic>
        </p:grpSp>
      </p:grpSp>
      <p:sp>
        <p:nvSpPr>
          <p:cNvPr id="20" name="Line 41"/>
          <p:cNvSpPr>
            <a:spLocks noChangeShapeType="1"/>
          </p:cNvSpPr>
          <p:nvPr/>
        </p:nvSpPr>
        <p:spPr bwMode="auto">
          <a:xfrm flipV="1">
            <a:off x="1025525" y="4864100"/>
            <a:ext cx="7361238" cy="4763"/>
          </a:xfrm>
          <a:prstGeom prst="line">
            <a:avLst/>
          </a:prstGeom>
          <a:noFill/>
          <a:ln w="12700" cap="rnd">
            <a:solidFill>
              <a:srgbClr val="1E2832"/>
            </a:solidFill>
            <a:prstDash val="sysDot"/>
            <a:miter lim="800000"/>
          </a:ln>
          <a:extLst>
            <a:ext uri="{909E8E84-426E-40DD-AFC4-6F175D3DCCD1}">
              <a14:hiddenFill xmlns:a14="http://schemas.microsoft.com/office/drawing/2010/main">
                <a:noFill/>
              </a14:hiddenFill>
            </a:ext>
          </a:extLst>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ea"/>
              <a:sym typeface="+mn-lt"/>
            </a:endParaRPr>
          </a:p>
        </p:txBody>
      </p:sp>
      <p:grpSp>
        <p:nvGrpSpPr>
          <p:cNvPr id="3" name="组合 2"/>
          <p:cNvGrpSpPr/>
          <p:nvPr/>
        </p:nvGrpSpPr>
        <p:grpSpPr>
          <a:xfrm>
            <a:off x="4727575" y="1344613"/>
            <a:ext cx="3659188" cy="3189287"/>
            <a:chOff x="4727575" y="1344613"/>
            <a:chExt cx="3659188" cy="3189287"/>
          </a:xfrm>
        </p:grpSpPr>
        <p:sp>
          <p:nvSpPr>
            <p:cNvPr id="521223" name="Rectangle 7"/>
            <p:cNvSpPr>
              <a:spLocks noRot="1" noChangeArrowheads="1"/>
            </p:cNvSpPr>
            <p:nvPr/>
          </p:nvSpPr>
          <p:spPr bwMode="auto">
            <a:xfrm>
              <a:off x="5195888" y="1873250"/>
              <a:ext cx="3094037" cy="242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2. </a:t>
              </a: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插入和删除</a:t>
              </a:r>
              <a:r>
                <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因线性链表不需要移动元素，只要修改指针，一般情况下时间复杂度为</a:t>
              </a:r>
              <a:r>
                <a:rPr kumimoji="0" lang="zh-CN" altLang="en-US" sz="2400" b="0" i="0" u="none" strike="noStrike" kern="1200" cap="none" spc="0" normalizeH="0" baseline="0" noProof="0" dirty="0">
                  <a:ln>
                    <a:noFill/>
                  </a:ln>
                  <a:solidFill>
                    <a:schemeClr val="accent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O(1)</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a:t>
              </a:r>
            </a:p>
          </p:txBody>
        </p:sp>
        <p:sp>
          <p:nvSpPr>
            <p:cNvPr id="7" name="AutoShape 2"/>
            <p:cNvSpPr/>
            <p:nvPr/>
          </p:nvSpPr>
          <p:spPr bwMode="auto">
            <a:xfrm>
              <a:off x="4832350" y="1773238"/>
              <a:ext cx="3554413" cy="2628900"/>
            </a:xfrm>
            <a:prstGeom prst="roundRect">
              <a:avLst>
                <a:gd name="adj" fmla="val 5000"/>
              </a:avLst>
            </a:prstGeom>
            <a:noFill/>
            <a:ln w="12700">
              <a:solidFill>
                <a:srgbClr val="FF0000">
                  <a:alpha val="59999"/>
                </a:srgbClr>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100" b="0" i="0" u="none" strike="noStrike" kern="1200" cap="none" spc="0" normalizeH="0" baseline="0" noProof="0">
                <a:ln>
                  <a:noFill/>
                </a:ln>
                <a:solidFill>
                  <a:srgbClr val="000000"/>
                </a:solidFill>
                <a:effectLst/>
                <a:uLnTx/>
                <a:uFillTx/>
                <a:latin typeface="+mn-lt"/>
                <a:ea typeface="+mn-ea"/>
                <a:cs typeface="+mn-ea"/>
                <a:sym typeface="+mn-lt"/>
              </a:endParaRPr>
            </a:p>
          </p:txBody>
        </p:sp>
        <p:grpSp>
          <p:nvGrpSpPr>
            <p:cNvPr id="121865" name="Group 15"/>
            <p:cNvGrpSpPr/>
            <p:nvPr/>
          </p:nvGrpSpPr>
          <p:grpSpPr>
            <a:xfrm>
              <a:off x="4727575" y="1344613"/>
              <a:ext cx="609600" cy="611187"/>
              <a:chOff x="0" y="0"/>
              <a:chExt cx="1024" cy="1024"/>
            </a:xfrm>
          </p:grpSpPr>
          <p:sp>
            <p:nvSpPr>
              <p:cNvPr id="18" name="AutoShape 16"/>
              <p:cNvSpPr/>
              <p:nvPr/>
            </p:nvSpPr>
            <p:spPr bwMode="auto">
              <a:xfrm>
                <a:off x="0" y="0"/>
                <a:ext cx="1024" cy="1024"/>
              </a:xfrm>
              <a:prstGeom prst="roundRect">
                <a:avLst>
                  <a:gd name="adj" fmla="val 11718"/>
                </a:avLst>
              </a:prstGeom>
              <a:solidFill>
                <a:srgbClr val="B8D4EC"/>
              </a:solidFill>
              <a:ln w="12700">
                <a:solidFill>
                  <a:srgbClr val="646E78"/>
                </a:solidFill>
                <a:miter lim="800000"/>
              </a:ln>
            </p:spPr>
            <p:txBody>
              <a:bodyPr lIns="0" tIns="0" rIns="0" bIns="0"/>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100" b="0" i="0" u="none" strike="noStrike" kern="1200" cap="none" spc="0" normalizeH="0" baseline="0" noProof="0">
                  <a:ln>
                    <a:noFill/>
                  </a:ln>
                  <a:solidFill>
                    <a:srgbClr val="000000"/>
                  </a:solidFill>
                  <a:effectLst/>
                  <a:uLnTx/>
                  <a:uFillTx/>
                  <a:latin typeface="+mn-lt"/>
                  <a:ea typeface="+mn-ea"/>
                  <a:cs typeface="+mn-ea"/>
                  <a:sym typeface="+mn-lt"/>
                </a:endParaRPr>
              </a:p>
            </p:txBody>
          </p:sp>
          <p:pic>
            <p:nvPicPr>
              <p:cNvPr id="121868" name="Picture 17"/>
              <p:cNvPicPr>
                <a:picLocks noChangeAspect="1"/>
              </p:cNvPicPr>
              <p:nvPr/>
            </p:nvPicPr>
            <p:blipFill>
              <a:blip r:embed="rId3"/>
              <a:stretch>
                <a:fillRect/>
              </a:stretch>
            </p:blipFill>
            <p:spPr>
              <a:xfrm>
                <a:off x="248" y="208"/>
                <a:ext cx="537" cy="537"/>
              </a:xfrm>
              <a:prstGeom prst="rect">
                <a:avLst/>
              </a:prstGeom>
              <a:noFill/>
              <a:ln w="12700">
                <a:noFill/>
              </a:ln>
            </p:spPr>
          </p:pic>
        </p:grpSp>
        <p:cxnSp>
          <p:nvCxnSpPr>
            <p:cNvPr id="121866" name="直接连接符 2"/>
            <p:cNvCxnSpPr/>
            <p:nvPr/>
          </p:nvCxnSpPr>
          <p:spPr>
            <a:xfrm flipV="1">
              <a:off x="5651500" y="4521200"/>
              <a:ext cx="25400" cy="12700"/>
            </a:xfrm>
            <a:prstGeom prst="line">
              <a:avLst/>
            </a:prstGeom>
            <a:ln w="9525">
              <a:noFill/>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521225"/>
                                        </p:tgtEl>
                                        <p:attrNameLst>
                                          <p:attrName>style.visibility</p:attrName>
                                        </p:attrNameLst>
                                      </p:cBhvr>
                                      <p:to>
                                        <p:strVal val="visible"/>
                                      </p:to>
                                    </p:set>
                                    <p:animEffect transition="in" filter="fade">
                                      <p:cBhvr>
                                        <p:cTn id="21" dur="500"/>
                                        <p:tgtEl>
                                          <p:spTgt spid="521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3284538"/>
            <a:ext cx="9144000" cy="345757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7762" name="Rectangle 4"/>
          <p:cNvSpPr>
            <a:spLocks noRot="1" noChangeArrowheads="1"/>
          </p:cNvSpPr>
          <p:nvPr/>
        </p:nvSpPr>
        <p:spPr bwMode="auto">
          <a:xfrm>
            <a:off x="358775" y="1238250"/>
            <a:ext cx="84963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10000"/>
              </a:spcBef>
              <a:spcAft>
                <a:spcPct val="0"/>
              </a:spcAft>
              <a:buClr>
                <a:srgbClr val="FF7C80"/>
              </a:buClr>
              <a:buSzPct val="50000"/>
              <a:buFont typeface="Wingdings" panose="05000000000000000000" pitchFamily="2" charset="2"/>
              <a:buChar char="n"/>
              <a:defRPr/>
            </a:pPr>
            <a:r>
              <a:rPr kumimoji="0" lang="zh-CN" altLang="en-US" sz="2400" b="0" i="0" u="none" strike="noStrike" kern="1200" cap="none" spc="0" normalizeH="0" baseline="0" noProof="0" dirty="0">
                <a:ln>
                  <a:noFill/>
                </a:ln>
                <a:solidFill>
                  <a:srgbClr val="0000CC"/>
                </a:solidFill>
                <a:effectLst/>
                <a:uLnTx/>
                <a:uFillTx/>
                <a:latin typeface="+mn-lt"/>
                <a:ea typeface="+mn-ea"/>
                <a:cs typeface="+mn-ea"/>
                <a:sym typeface="+mn-lt"/>
              </a:rPr>
              <a:t>从一个空表开始，重复读入数据：</a:t>
            </a:r>
          </a:p>
          <a:p>
            <a:pPr marL="742950" marR="0" lvl="1" indent="-285750" algn="l" defTabSz="914400" rtl="0" eaLnBrk="0" fontAlgn="base" latinLnBrk="0" hangingPunct="0">
              <a:lnSpc>
                <a:spcPct val="100000"/>
              </a:lnSpc>
              <a:spcBef>
                <a:spcPct val="10000"/>
              </a:spcBef>
              <a:spcAft>
                <a:spcPct val="0"/>
              </a:spcAft>
              <a:buClr>
                <a:srgbClr val="990033"/>
              </a:buClr>
              <a:buSzPct val="50000"/>
              <a:buFont typeface="Wingdings" panose="05000000000000000000" pitchFamily="2" charset="2"/>
              <a:buChar char="u"/>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生成新结点</a:t>
            </a:r>
          </a:p>
          <a:p>
            <a:pPr marL="742950" marR="0" lvl="1" indent="-285750" algn="l" defTabSz="914400" rtl="0" eaLnBrk="0" fontAlgn="base" latinLnBrk="0" hangingPunct="0">
              <a:lnSpc>
                <a:spcPct val="100000"/>
              </a:lnSpc>
              <a:spcBef>
                <a:spcPct val="10000"/>
              </a:spcBef>
              <a:spcAft>
                <a:spcPct val="0"/>
              </a:spcAft>
              <a:buClr>
                <a:srgbClr val="990033"/>
              </a:buClr>
              <a:buSzPct val="50000"/>
              <a:buFont typeface="Wingdings" panose="05000000000000000000" pitchFamily="2" charset="2"/>
              <a:buChar char="u"/>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将读入数据存放到新结点的数据域中</a:t>
            </a:r>
          </a:p>
          <a:p>
            <a:pPr marL="742950" marR="0" lvl="1" indent="-285750" algn="l" defTabSz="914400" rtl="0" eaLnBrk="0" fontAlgn="base" latinLnBrk="0" hangingPunct="0">
              <a:lnSpc>
                <a:spcPct val="100000"/>
              </a:lnSpc>
              <a:spcBef>
                <a:spcPct val="10000"/>
              </a:spcBef>
              <a:spcAft>
                <a:spcPct val="0"/>
              </a:spcAft>
              <a:buClr>
                <a:srgbClr val="990033"/>
              </a:buClr>
              <a:buSzPct val="50000"/>
              <a:buFont typeface="Wingdings" panose="05000000000000000000" pitchFamily="2" charset="2"/>
              <a:buChar char="u"/>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将该新结点插入到链表的前端</a:t>
            </a:r>
          </a:p>
        </p:txBody>
      </p:sp>
      <p:sp>
        <p:nvSpPr>
          <p:cNvPr id="633861" name="Rectangle 5"/>
          <p:cNvSpPr>
            <a:spLocks noChangeArrowheads="1"/>
          </p:cNvSpPr>
          <p:nvPr/>
        </p:nvSpPr>
        <p:spPr bwMode="auto">
          <a:xfrm>
            <a:off x="827088" y="188913"/>
            <a:ext cx="52927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单链表的建立（前插法）</a:t>
            </a:r>
          </a:p>
        </p:txBody>
      </p:sp>
      <p:graphicFrame>
        <p:nvGraphicFramePr>
          <p:cNvPr id="122885" name="Object 6"/>
          <p:cNvGraphicFramePr/>
          <p:nvPr/>
        </p:nvGraphicFramePr>
        <p:xfrm>
          <a:off x="684213" y="3502025"/>
          <a:ext cx="7991475" cy="3022600"/>
        </p:xfrm>
        <a:graphic>
          <a:graphicData uri="http://schemas.openxmlformats.org/presentationml/2006/ole">
            <mc:AlternateContent xmlns:mc="http://schemas.openxmlformats.org/markup-compatibility/2006">
              <mc:Choice xmlns:v="urn:schemas-microsoft-com:vml" Requires="v">
                <p:oleObj spid="_x0000_s6167" r:id="rId3" imgW="4641850" imgH="1751330" progId="Word.Picture.8">
                  <p:embed/>
                </p:oleObj>
              </mc:Choice>
              <mc:Fallback>
                <p:oleObj r:id="rId3" imgW="4641850" imgH="1751330" progId="Word.Picture.8">
                  <p:embed/>
                  <p:pic>
                    <p:nvPicPr>
                      <p:cNvPr id="0" name="图片 3081"/>
                      <p:cNvPicPr/>
                      <p:nvPr/>
                    </p:nvPicPr>
                    <p:blipFill>
                      <a:blip r:embed="rId4"/>
                      <a:stretch>
                        <a:fillRect/>
                      </a:stretch>
                    </p:blipFill>
                    <p:spPr>
                      <a:xfrm>
                        <a:off x="684213" y="3502025"/>
                        <a:ext cx="7991475" cy="3022600"/>
                      </a:xfrm>
                      <a:prstGeom prst="rect">
                        <a:avLst/>
                      </a:prstGeom>
                      <a:noFill/>
                      <a:ln w="38100">
                        <a:noFill/>
                        <a:miter/>
                      </a:ln>
                    </p:spPr>
                  </p:pic>
                </p:oleObj>
              </mc:Fallback>
            </mc:AlternateContent>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906" name="Object 5"/>
          <p:cNvGraphicFramePr/>
          <p:nvPr/>
        </p:nvGraphicFramePr>
        <p:xfrm>
          <a:off x="436563" y="1368425"/>
          <a:ext cx="2667000" cy="504825"/>
        </p:xfrm>
        <a:graphic>
          <a:graphicData uri="http://schemas.openxmlformats.org/presentationml/2006/ole">
            <mc:AlternateContent xmlns:mc="http://schemas.openxmlformats.org/markup-compatibility/2006">
              <mc:Choice xmlns:v="urn:schemas-microsoft-com:vml" Requires="v">
                <p:oleObj spid="_x0000_s7235" r:id="rId3" imgW="1836420" imgH="504190" progId="Visio.Drawing.11">
                  <p:embed/>
                </p:oleObj>
              </mc:Choice>
              <mc:Fallback>
                <p:oleObj r:id="rId3" imgW="1836420" imgH="504190" progId="Visio.Drawing.11">
                  <p:embed/>
                  <p:pic>
                    <p:nvPicPr>
                      <p:cNvPr id="0" name="图片 3084"/>
                      <p:cNvPicPr/>
                      <p:nvPr/>
                    </p:nvPicPr>
                    <p:blipFill>
                      <a:blip r:embed="rId4"/>
                      <a:stretch>
                        <a:fillRect/>
                      </a:stretch>
                    </p:blipFill>
                    <p:spPr>
                      <a:xfrm>
                        <a:off x="436563" y="1368425"/>
                        <a:ext cx="2667000" cy="504825"/>
                      </a:xfrm>
                      <a:prstGeom prst="rect">
                        <a:avLst/>
                      </a:prstGeom>
                      <a:noFill/>
                      <a:ln w="38100">
                        <a:noFill/>
                        <a:miter/>
                      </a:ln>
                    </p:spPr>
                  </p:pic>
                </p:oleObj>
              </mc:Fallback>
            </mc:AlternateContent>
          </a:graphicData>
        </a:graphic>
      </p:graphicFrame>
      <p:grpSp>
        <p:nvGrpSpPr>
          <p:cNvPr id="3" name="Group 24"/>
          <p:cNvGrpSpPr/>
          <p:nvPr/>
        </p:nvGrpSpPr>
        <p:grpSpPr>
          <a:xfrm>
            <a:off x="360363" y="1933575"/>
            <a:ext cx="6019800" cy="2025650"/>
            <a:chOff x="336" y="824"/>
            <a:chExt cx="3792" cy="1276"/>
          </a:xfrm>
        </p:grpSpPr>
        <p:graphicFrame>
          <p:nvGraphicFramePr>
            <p:cNvPr id="123922" name="Object 6"/>
            <p:cNvGraphicFramePr/>
            <p:nvPr/>
          </p:nvGraphicFramePr>
          <p:xfrm>
            <a:off x="336" y="1236"/>
            <a:ext cx="3792" cy="864"/>
          </p:xfrm>
          <a:graphic>
            <a:graphicData uri="http://schemas.openxmlformats.org/presentationml/2006/ole">
              <mc:AlternateContent xmlns:mc="http://schemas.openxmlformats.org/markup-compatibility/2006">
                <mc:Choice xmlns:v="urn:schemas-microsoft-com:vml" Requires="v">
                  <p:oleObj spid="_x0000_s7236" r:id="rId5" imgW="4267200" imgH="1197610" progId="Visio.Drawing.11">
                    <p:embed/>
                  </p:oleObj>
                </mc:Choice>
                <mc:Fallback>
                  <p:oleObj r:id="rId5" imgW="4267200" imgH="1197610" progId="Visio.Drawing.11">
                    <p:embed/>
                    <p:pic>
                      <p:nvPicPr>
                        <p:cNvPr id="0" name="图片 3082"/>
                        <p:cNvPicPr/>
                        <p:nvPr/>
                      </p:nvPicPr>
                      <p:blipFill>
                        <a:blip r:embed="rId6"/>
                        <a:stretch>
                          <a:fillRect/>
                        </a:stretch>
                      </p:blipFill>
                      <p:spPr>
                        <a:xfrm>
                          <a:off x="336" y="1236"/>
                          <a:ext cx="3792" cy="864"/>
                        </a:xfrm>
                        <a:prstGeom prst="rect">
                          <a:avLst/>
                        </a:prstGeom>
                        <a:noFill/>
                        <a:ln w="38100">
                          <a:noFill/>
                          <a:miter/>
                        </a:ln>
                      </p:spPr>
                    </p:pic>
                  </p:oleObj>
                </mc:Fallback>
              </mc:AlternateContent>
            </a:graphicData>
          </a:graphic>
        </p:graphicFrame>
        <p:sp>
          <p:nvSpPr>
            <p:cNvPr id="118801" name="Line 7"/>
            <p:cNvSpPr>
              <a:spLocks noChangeShapeType="1"/>
            </p:cNvSpPr>
            <p:nvPr/>
          </p:nvSpPr>
          <p:spPr bwMode="auto">
            <a:xfrm>
              <a:off x="1200" y="852"/>
              <a:ext cx="0" cy="288"/>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9120" name="Rectangle 16"/>
            <p:cNvSpPr>
              <a:spLocks noChangeArrowheads="1"/>
            </p:cNvSpPr>
            <p:nvPr/>
          </p:nvSpPr>
          <p:spPr bwMode="auto">
            <a:xfrm>
              <a:off x="2057" y="824"/>
              <a:ext cx="1135" cy="398"/>
            </a:xfrm>
            <a:prstGeom prst="rect">
              <a:avLst/>
            </a:prstGeom>
            <a:solidFill>
              <a:schemeClr val="bg2">
                <a:lumMod val="20000"/>
                <a:lumOff val="80000"/>
              </a:schemeClr>
            </a:solid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p-&gt;data=a</a:t>
              </a:r>
              <a:r>
                <a:rPr kumimoji="1"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n</a:t>
              </a:r>
            </a:p>
          </p:txBody>
        </p:sp>
      </p:grpSp>
      <p:grpSp>
        <p:nvGrpSpPr>
          <p:cNvPr id="5" name="Group 27"/>
          <p:cNvGrpSpPr/>
          <p:nvPr/>
        </p:nvGrpSpPr>
        <p:grpSpPr>
          <a:xfrm>
            <a:off x="284163" y="2579688"/>
            <a:ext cx="7543800" cy="3776662"/>
            <a:chOff x="288" y="1236"/>
            <a:chExt cx="4752" cy="2379"/>
          </a:xfrm>
        </p:grpSpPr>
        <p:sp>
          <p:nvSpPr>
            <p:cNvPr id="118795" name="Line 8"/>
            <p:cNvSpPr>
              <a:spLocks noChangeShapeType="1"/>
            </p:cNvSpPr>
            <p:nvPr/>
          </p:nvSpPr>
          <p:spPr bwMode="auto">
            <a:xfrm>
              <a:off x="1152" y="2100"/>
              <a:ext cx="0" cy="336"/>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23918" name="Group 26"/>
            <p:cNvGrpSpPr/>
            <p:nvPr/>
          </p:nvGrpSpPr>
          <p:grpSpPr>
            <a:xfrm>
              <a:off x="288" y="1236"/>
              <a:ext cx="4752" cy="2379"/>
              <a:chOff x="288" y="1236"/>
              <a:chExt cx="4752" cy="2379"/>
            </a:xfrm>
          </p:grpSpPr>
          <p:graphicFrame>
            <p:nvGraphicFramePr>
              <p:cNvPr id="123919" name="Object 9"/>
              <p:cNvGraphicFramePr/>
              <p:nvPr/>
            </p:nvGraphicFramePr>
            <p:xfrm>
              <a:off x="288" y="2484"/>
              <a:ext cx="4752" cy="1131"/>
            </p:xfrm>
            <a:graphic>
              <a:graphicData uri="http://schemas.openxmlformats.org/presentationml/2006/ole">
                <mc:AlternateContent xmlns:mc="http://schemas.openxmlformats.org/markup-compatibility/2006">
                  <mc:Choice xmlns:v="urn:schemas-microsoft-com:vml" Requires="v">
                    <p:oleObj spid="_x0000_s7237" r:id="rId7" imgW="5652770" imgH="1795145" progId="Visio.Drawing.11">
                      <p:embed/>
                    </p:oleObj>
                  </mc:Choice>
                  <mc:Fallback>
                    <p:oleObj r:id="rId7" imgW="5652770" imgH="1795145" progId="Visio.Drawing.11">
                      <p:embed/>
                      <p:pic>
                        <p:nvPicPr>
                          <p:cNvPr id="0" name="图片 3083"/>
                          <p:cNvPicPr/>
                          <p:nvPr/>
                        </p:nvPicPr>
                        <p:blipFill>
                          <a:blip r:embed="rId8"/>
                          <a:stretch>
                            <a:fillRect/>
                          </a:stretch>
                        </p:blipFill>
                        <p:spPr>
                          <a:xfrm>
                            <a:off x="288" y="2484"/>
                            <a:ext cx="4752" cy="1131"/>
                          </a:xfrm>
                          <a:prstGeom prst="rect">
                            <a:avLst/>
                          </a:prstGeom>
                          <a:noFill/>
                          <a:ln w="38100">
                            <a:noFill/>
                            <a:miter/>
                          </a:ln>
                        </p:spPr>
                      </p:pic>
                    </p:oleObj>
                  </mc:Fallback>
                </mc:AlternateContent>
              </a:graphicData>
            </a:graphic>
          </p:graphicFrame>
          <p:sp>
            <p:nvSpPr>
              <p:cNvPr id="559122" name="Rectangle 18"/>
              <p:cNvSpPr>
                <a:spLocks noChangeArrowheads="1"/>
              </p:cNvSpPr>
              <p:nvPr/>
            </p:nvSpPr>
            <p:spPr bwMode="auto">
              <a:xfrm>
                <a:off x="2604" y="2704"/>
                <a:ext cx="1136" cy="398"/>
              </a:xfrm>
              <a:prstGeom prst="rect">
                <a:avLst/>
              </a:prstGeom>
              <a:solidFill>
                <a:schemeClr val="bg2">
                  <a:lumMod val="20000"/>
                  <a:lumOff val="80000"/>
                </a:schemeClr>
              </a:solid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mn-lt"/>
                    <a:ea typeface="+mn-ea"/>
                    <a:cs typeface="+mn-ea"/>
                    <a:sym typeface="+mn-lt"/>
                  </a:rPr>
                  <a:t>p-&gt;</a:t>
                </a: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data=a</a:t>
                </a:r>
                <a:r>
                  <a:rPr kumimoji="1" lang="en-US" altLang="zh-CN" sz="2400" b="0" i="0" u="none" strike="noStrike" kern="1200" cap="none" spc="0" normalizeH="0" baseline="-25000" noProof="0" dirty="0">
                    <a:ln>
                      <a:noFill/>
                    </a:ln>
                    <a:solidFill>
                      <a:schemeClr val="tx1"/>
                    </a:solidFill>
                    <a:effectLst/>
                    <a:uLnTx/>
                    <a:uFillTx/>
                    <a:latin typeface="+mn-lt"/>
                    <a:ea typeface="+mn-ea"/>
                    <a:cs typeface="+mn-ea"/>
                    <a:sym typeface="+mn-lt"/>
                  </a:rPr>
                  <a:t>n-1</a:t>
                </a:r>
              </a:p>
            </p:txBody>
          </p:sp>
          <p:sp>
            <p:nvSpPr>
              <p:cNvPr id="118799" name="AutoShape 21"/>
              <p:cNvSpPr>
                <a:spLocks noChangeArrowheads="1"/>
              </p:cNvSpPr>
              <p:nvPr/>
            </p:nvSpPr>
            <p:spPr bwMode="auto">
              <a:xfrm>
                <a:off x="4785" y="1236"/>
                <a:ext cx="208" cy="1200"/>
              </a:xfrm>
              <a:prstGeom prst="upArrow">
                <a:avLst>
                  <a:gd name="adj1" fmla="val 50000"/>
                  <a:gd name="adj2" fmla="val 117603"/>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grpSp>
        <p:nvGrpSpPr>
          <p:cNvPr id="7" name="Group 28"/>
          <p:cNvGrpSpPr/>
          <p:nvPr/>
        </p:nvGrpSpPr>
        <p:grpSpPr>
          <a:xfrm>
            <a:off x="5505450" y="1477963"/>
            <a:ext cx="2882900" cy="2130425"/>
            <a:chOff x="3577" y="537"/>
            <a:chExt cx="1816" cy="1342"/>
          </a:xfrm>
        </p:grpSpPr>
        <p:sp>
          <p:nvSpPr>
            <p:cNvPr id="559119" name="Rectangle 15"/>
            <p:cNvSpPr>
              <a:spLocks noChangeArrowheads="1"/>
            </p:cNvSpPr>
            <p:nvPr/>
          </p:nvSpPr>
          <p:spPr bwMode="auto">
            <a:xfrm>
              <a:off x="3577" y="890"/>
              <a:ext cx="1816" cy="317"/>
            </a:xfrm>
            <a:prstGeom prst="rect">
              <a:avLst/>
            </a:prstGeom>
            <a:solidFill>
              <a:schemeClr val="bg2">
                <a:lumMod val="20000"/>
                <a:lumOff val="80000"/>
              </a:schemeClr>
            </a:solid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L-&gt;next=p</a:t>
              </a:r>
            </a:p>
          </p:txBody>
        </p:sp>
        <p:grpSp>
          <p:nvGrpSpPr>
            <p:cNvPr id="123914" name="Group 25"/>
            <p:cNvGrpSpPr/>
            <p:nvPr/>
          </p:nvGrpSpPr>
          <p:grpSpPr>
            <a:xfrm>
              <a:off x="3583" y="537"/>
              <a:ext cx="1810" cy="1342"/>
              <a:chOff x="3583" y="537"/>
              <a:chExt cx="1810" cy="1342"/>
            </a:xfrm>
          </p:grpSpPr>
          <p:sp>
            <p:nvSpPr>
              <p:cNvPr id="559121" name="Rectangle 17"/>
              <p:cNvSpPr>
                <a:spLocks noChangeArrowheads="1"/>
              </p:cNvSpPr>
              <p:nvPr/>
            </p:nvSpPr>
            <p:spPr bwMode="auto">
              <a:xfrm>
                <a:off x="3583" y="537"/>
                <a:ext cx="1810" cy="363"/>
              </a:xfrm>
              <a:prstGeom prst="rect">
                <a:avLst/>
              </a:prstGeom>
              <a:solidFill>
                <a:schemeClr val="bg2">
                  <a:lumMod val="20000"/>
                  <a:lumOff val="80000"/>
                </a:schemeClr>
              </a:solid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mn-lt"/>
                    <a:ea typeface="+mn-ea"/>
                    <a:cs typeface="+mn-ea"/>
                    <a:sym typeface="+mn-lt"/>
                  </a:rPr>
                  <a:t>p-&gt;next= L-&gt;next</a:t>
                </a:r>
              </a:p>
            </p:txBody>
          </p:sp>
          <p:sp>
            <p:nvSpPr>
              <p:cNvPr id="118794" name="AutoShape 23"/>
              <p:cNvSpPr>
                <a:spLocks noChangeArrowheads="1"/>
              </p:cNvSpPr>
              <p:nvPr/>
            </p:nvSpPr>
            <p:spPr bwMode="auto">
              <a:xfrm>
                <a:off x="4128" y="1207"/>
                <a:ext cx="314" cy="6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sp>
        <p:nvSpPr>
          <p:cNvPr id="559133" name="Rectangle 29"/>
          <p:cNvSpPr>
            <a:spLocks noChangeArrowheads="1"/>
          </p:cNvSpPr>
          <p:nvPr/>
        </p:nvSpPr>
        <p:spPr bwMode="auto">
          <a:xfrm>
            <a:off x="755650" y="188913"/>
            <a:ext cx="52927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单链表的建立（前插法）</a:t>
            </a:r>
          </a:p>
        </p:txBody>
      </p:sp>
      <p:sp>
        <p:nvSpPr>
          <p:cNvPr id="123911" name="矩形 3"/>
          <p:cNvSpPr/>
          <p:nvPr/>
        </p:nvSpPr>
        <p:spPr>
          <a:xfrm>
            <a:off x="0" y="1268413"/>
            <a:ext cx="179388" cy="50879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3912" name="矩形 19"/>
          <p:cNvSpPr/>
          <p:nvPr/>
        </p:nvSpPr>
        <p:spPr>
          <a:xfrm>
            <a:off x="8980488" y="1268413"/>
            <a:ext cx="180975" cy="50879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p:cNvSpPr>
            <a:spLocks noChangeArrowheads="1"/>
          </p:cNvSpPr>
          <p:nvPr/>
        </p:nvSpPr>
        <p:spPr bwMode="auto">
          <a:xfrm>
            <a:off x="25400" y="2205038"/>
            <a:ext cx="9118600" cy="4392613"/>
          </a:xfrm>
          <a:prstGeom prst="rect">
            <a:avLst/>
          </a:prstGeom>
          <a:solidFill>
            <a:srgbClr val="B8D4EC"/>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CreateList_F</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n){ </a:t>
            </a:r>
          </a:p>
          <a:p>
            <a:pPr lvl="0">
              <a:lnSpc>
                <a:spcPct val="100000"/>
              </a:lnSpc>
              <a:spcBef>
                <a:spcPct val="20000"/>
              </a:spcBef>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L</a:t>
            </a:r>
            <a:r>
              <a:rPr lang="en-US" altLang="zh-CN" sz="2600" dirty="0">
                <a:cs typeface="+mn-ea"/>
                <a:sym typeface="+mn-lt"/>
              </a:rPr>
              <a:t> =(</a:t>
            </a:r>
            <a:r>
              <a:rPr lang="en-US" altLang="zh-CN" sz="2600" dirty="0" err="1">
                <a:cs typeface="+mn-ea"/>
                <a:sym typeface="+mn-lt"/>
              </a:rPr>
              <a:t>LinkList</a:t>
            </a:r>
            <a:r>
              <a:rPr lang="en-US" altLang="zh-CN" sz="2600" dirty="0">
                <a:cs typeface="+mn-ea"/>
                <a:sym typeface="+mn-lt"/>
              </a:rPr>
              <a:t>)</a:t>
            </a:r>
            <a:r>
              <a:rPr lang="en-US" altLang="zh-CN" sz="2600" dirty="0" err="1">
                <a:cs typeface="+mn-ea"/>
                <a:sym typeface="+mn-lt"/>
              </a:rPr>
              <a:t>malloc</a:t>
            </a:r>
            <a:r>
              <a:rPr lang="en-US" altLang="zh-CN" sz="2600" dirty="0">
                <a:cs typeface="+mn-ea"/>
                <a:sym typeface="+mn-lt"/>
              </a:rPr>
              <a:t>(</a:t>
            </a:r>
            <a:r>
              <a:rPr lang="en-US" altLang="zh-CN" sz="2600" dirty="0" err="1">
                <a:cs typeface="+mn-ea"/>
                <a:sym typeface="+mn-lt"/>
              </a:rPr>
              <a:t>sizeof</a:t>
            </a:r>
            <a:r>
              <a:rPr lang="en-US" altLang="zh-CN" sz="2600" dirty="0">
                <a:cs typeface="+mn-ea"/>
                <a:sym typeface="+mn-lt"/>
              </a:rPr>
              <a:t>(</a:t>
            </a:r>
            <a:r>
              <a:rPr lang="en-US" altLang="zh-CN" sz="2600" dirty="0" err="1">
                <a:cs typeface="+mn-ea"/>
                <a:sym typeface="+mn-lt"/>
              </a:rPr>
              <a:t>Lnode</a:t>
            </a:r>
            <a:r>
              <a:rPr lang="en-US" altLang="zh-CN" sz="2600" dirty="0">
                <a:cs typeface="+mn-ea"/>
                <a:sym typeface="+mn-lt"/>
              </a:rPr>
              <a: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L-&gt;next=NULL;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先建立一个带头结点的单链表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for(</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n;i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&gt;0;--</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malloc</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sizeof</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Lnode</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生成新结点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&gt;&gt;p-&gt;data;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输入元素值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p-&gt;next=L-&gt;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next;L</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-&gt;next=p;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插入到表头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CreateList_F</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19811" name="Rectangle 6"/>
          <p:cNvSpPr>
            <a:spLocks noChangeArrowheads="1"/>
          </p:cNvSpPr>
          <p:nvPr/>
        </p:nvSpPr>
        <p:spPr bwMode="auto">
          <a:xfrm>
            <a:off x="0" y="1284288"/>
            <a:ext cx="3775075" cy="606425"/>
          </a:xfrm>
          <a:prstGeom prst="rect">
            <a:avLst/>
          </a:prstGeom>
          <a:solidFill>
            <a:srgbClr val="9476B6"/>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a:ln>
                  <a:noFill/>
                </a:ln>
                <a:solidFill>
                  <a:schemeClr val="bg1"/>
                </a:solidFill>
                <a:effectLst/>
                <a:uLnTx/>
                <a:uFillTx/>
                <a:latin typeface="+mn-lt"/>
                <a:ea typeface="+mn-ea"/>
                <a:cs typeface="+mn-ea"/>
                <a:sym typeface="+mn-lt"/>
              </a:rPr>
              <a:t>算法描述</a:t>
            </a:r>
            <a:r>
              <a:rPr kumimoji="0" lang="en-US" altLang="zh-CN" sz="24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4" name="Rectangle 29"/>
          <p:cNvSpPr>
            <a:spLocks noChangeArrowheads="1"/>
          </p:cNvSpPr>
          <p:nvPr/>
        </p:nvSpPr>
        <p:spPr bwMode="auto">
          <a:xfrm>
            <a:off x="755650" y="188913"/>
            <a:ext cx="52927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单链表的建立（前插法）</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0" y="981075"/>
            <a:ext cx="9144000" cy="21605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0834" name="Rectangle 4"/>
          <p:cNvSpPr>
            <a:spLocks noRot="1" noChangeArrowheads="1"/>
          </p:cNvSpPr>
          <p:nvPr/>
        </p:nvSpPr>
        <p:spPr bwMode="auto">
          <a:xfrm>
            <a:off x="323850" y="1003300"/>
            <a:ext cx="8569325" cy="213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10000"/>
              </a:spcBef>
              <a:spcAft>
                <a:spcPct val="0"/>
              </a:spcAft>
              <a:buClrTx/>
              <a:buSzPct val="50000"/>
              <a:buFont typeface="Wingdings" panose="05000000000000000000" pitchFamily="2" charset="2"/>
              <a:buChar char="n"/>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从一个空表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开始，将新结点逐个插入到链表的尾部，尾指针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指向链表的尾结点。</a:t>
            </a:r>
          </a:p>
          <a:p>
            <a:pPr marL="342900" marR="0" lvl="0" indent="-342900" algn="l" defTabSz="914400" rtl="0" eaLnBrk="0" fontAlgn="base" latinLnBrk="0" hangingPunct="0">
              <a:lnSpc>
                <a:spcPct val="130000"/>
              </a:lnSpc>
              <a:spcBef>
                <a:spcPct val="10000"/>
              </a:spcBef>
              <a:spcAft>
                <a:spcPct val="0"/>
              </a:spcAft>
              <a:buClrTx/>
              <a:buSzPct val="50000"/>
              <a:buFont typeface="Wingdings" panose="05000000000000000000" pitchFamily="2" charset="2"/>
              <a:buChar char="n"/>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初始时，</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均指向头结点。每读入一个数据元素则申请一个新结点，将新结点插入到尾结点后，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指向新结点。</a:t>
            </a:r>
          </a:p>
        </p:txBody>
      </p:sp>
      <p:sp>
        <p:nvSpPr>
          <p:cNvPr id="656389" name="Rectangle 5"/>
          <p:cNvSpPr>
            <a:spLocks noChangeArrowheads="1"/>
          </p:cNvSpPr>
          <p:nvPr/>
        </p:nvSpPr>
        <p:spPr bwMode="auto">
          <a:xfrm>
            <a:off x="755650" y="177800"/>
            <a:ext cx="70516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单链表的建立（尾插法）</a:t>
            </a:r>
          </a:p>
        </p:txBody>
      </p:sp>
      <p:sp>
        <p:nvSpPr>
          <p:cNvPr id="120836" name="Rectangle 8"/>
          <p:cNvSpPr>
            <a:spLocks noChangeArrowheads="1"/>
          </p:cNvSpPr>
          <p:nvPr/>
        </p:nvSpPr>
        <p:spPr bwMode="auto">
          <a:xfrm>
            <a:off x="0" y="2271713"/>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125958" name="Object 7"/>
          <p:cNvGraphicFramePr/>
          <p:nvPr/>
        </p:nvGraphicFramePr>
        <p:xfrm>
          <a:off x="612775" y="3429000"/>
          <a:ext cx="7989888" cy="3167063"/>
        </p:xfrm>
        <a:graphic>
          <a:graphicData uri="http://schemas.openxmlformats.org/presentationml/2006/ole">
            <mc:AlternateContent xmlns:mc="http://schemas.openxmlformats.org/markup-compatibility/2006">
              <mc:Choice xmlns:v="urn:schemas-microsoft-com:vml" Requires="v">
                <p:oleObj spid="_x0000_s8215" r:id="rId3" imgW="5690235" imgH="1979295" progId="Word.Picture.8">
                  <p:embed/>
                </p:oleObj>
              </mc:Choice>
              <mc:Fallback>
                <p:oleObj r:id="rId3" imgW="5690235" imgH="1979295" progId="Word.Picture.8">
                  <p:embed/>
                  <p:pic>
                    <p:nvPicPr>
                      <p:cNvPr id="0" name="图片 3085"/>
                      <p:cNvPicPr/>
                      <p:nvPr/>
                    </p:nvPicPr>
                    <p:blipFill>
                      <a:blip r:embed="rId4"/>
                      <a:srcRect l="3918" t="6793" r="5023" b="2919"/>
                      <a:stretch>
                        <a:fillRect/>
                      </a:stretch>
                    </p:blipFill>
                    <p:spPr>
                      <a:xfrm>
                        <a:off x="612775" y="3429000"/>
                        <a:ext cx="7989888" cy="3167063"/>
                      </a:xfrm>
                      <a:prstGeom prst="rect">
                        <a:avLst/>
                      </a:prstGeom>
                      <a:noFill/>
                      <a:ln w="38100">
                        <a:noFill/>
                        <a:miter/>
                      </a:ln>
                    </p:spPr>
                  </p:pic>
                </p:oleObj>
              </mc:Fallback>
            </mc:AlternateContent>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0" y="981075"/>
            <a:ext cx="9144000" cy="21605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0834" name="Rectangle 4"/>
          <p:cNvSpPr>
            <a:spLocks noRot="1" noChangeArrowheads="1"/>
          </p:cNvSpPr>
          <p:nvPr/>
        </p:nvSpPr>
        <p:spPr bwMode="auto">
          <a:xfrm>
            <a:off x="323850" y="1003300"/>
            <a:ext cx="5256213" cy="2138363"/>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10000"/>
              </a:spcBef>
              <a:spcAft>
                <a:spcPct val="0"/>
              </a:spcAft>
              <a:buClrTx/>
              <a:buSzPct val="50000"/>
              <a:buFont typeface="Wingdings" panose="05000000000000000000" pitchFamily="2" charset="2"/>
              <a:buChar char="n"/>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从空表</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开始，将新结点逐个插入到链表的尾部，</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尾指针</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指向链表的尾结点。</a:t>
            </a:r>
          </a:p>
          <a:p>
            <a:pPr marL="342900" marR="0" lvl="0" indent="-342900" algn="l" defTabSz="914400" rtl="0" eaLnBrk="0" fontAlgn="base" latinLnBrk="0" hangingPunct="0">
              <a:lnSpc>
                <a:spcPct val="130000"/>
              </a:lnSpc>
              <a:spcBef>
                <a:spcPct val="10000"/>
              </a:spcBef>
              <a:spcAft>
                <a:spcPct val="0"/>
              </a:spcAft>
              <a:buClrTx/>
              <a:buSzPct val="50000"/>
              <a:buFont typeface="Wingdings" panose="05000000000000000000" pitchFamily="2" charset="2"/>
              <a:buChar char="n"/>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初始时，</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r</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同</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L</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均指向头结点</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10000"/>
              </a:spcBef>
              <a:spcAft>
                <a:spcPct val="0"/>
              </a:spcAft>
              <a:buClrTx/>
              <a:buSzPct val="50000"/>
              <a:buFont typeface="Wingdings" panose="05000000000000000000" pitchFamily="2" charset="2"/>
              <a:buChar char="n"/>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每读入一个数据元素则申请一个新结点，将新结点插入到尾结点后，</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r</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指向新结点</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56389" name="Rectangle 5"/>
          <p:cNvSpPr>
            <a:spLocks noChangeArrowheads="1"/>
          </p:cNvSpPr>
          <p:nvPr/>
        </p:nvSpPr>
        <p:spPr bwMode="auto">
          <a:xfrm>
            <a:off x="755650" y="177800"/>
            <a:ext cx="7051675"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单链表的建立（尾插法）</a:t>
            </a:r>
          </a:p>
        </p:txBody>
      </p:sp>
      <p:sp>
        <p:nvSpPr>
          <p:cNvPr id="120836" name="Rectangle 8"/>
          <p:cNvSpPr>
            <a:spLocks noChangeArrowheads="1"/>
          </p:cNvSpPr>
          <p:nvPr/>
        </p:nvSpPr>
        <p:spPr bwMode="auto">
          <a:xfrm>
            <a:off x="0" y="2271713"/>
            <a:ext cx="184150" cy="523875"/>
          </a:xfrm>
          <a:prstGeom prst="rect">
            <a:avLst/>
          </a:prstGeom>
          <a:noFill/>
          <a:ln>
            <a:noFill/>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26630" name="Object 7"/>
          <p:cNvGraphicFramePr/>
          <p:nvPr/>
        </p:nvGraphicFramePr>
        <p:xfrm>
          <a:off x="612775" y="3429000"/>
          <a:ext cx="7989888" cy="3167063"/>
        </p:xfrm>
        <a:graphic>
          <a:graphicData uri="http://schemas.openxmlformats.org/presentationml/2006/ole">
            <mc:AlternateContent xmlns:mc="http://schemas.openxmlformats.org/markup-compatibility/2006">
              <mc:Choice xmlns:v="urn:schemas-microsoft-com:vml" Requires="v">
                <p:oleObj spid="_x0000_s9239" r:id="rId3" imgW="5690235" imgH="1979295" progId="Word.Picture.8">
                  <p:embed/>
                </p:oleObj>
              </mc:Choice>
              <mc:Fallback>
                <p:oleObj r:id="rId3" imgW="5690235" imgH="1979295" progId="Word.Picture.8">
                  <p:embed/>
                  <p:pic>
                    <p:nvPicPr>
                      <p:cNvPr id="0" name="图片 3080"/>
                      <p:cNvPicPr/>
                      <p:nvPr/>
                    </p:nvPicPr>
                    <p:blipFill>
                      <a:blip r:embed="rId4"/>
                      <a:srcRect l="3918" t="6793" r="5023" b="2919"/>
                      <a:stretch>
                        <a:fillRect/>
                      </a:stretch>
                    </p:blipFill>
                    <p:spPr>
                      <a:xfrm>
                        <a:off x="612775" y="3429000"/>
                        <a:ext cx="7989888" cy="3167063"/>
                      </a:xfrm>
                      <a:prstGeom prst="rect">
                        <a:avLst/>
                      </a:prstGeom>
                      <a:noFill/>
                      <a:ln w="38100">
                        <a:noFill/>
                        <a:miter/>
                      </a:ln>
                    </p:spPr>
                  </p:pic>
                </p:oleObj>
              </mc:Fallback>
            </mc:AlternateContent>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p:cNvSpPr>
            <a:spLocks noChangeArrowheads="1"/>
          </p:cNvSpPr>
          <p:nvPr/>
        </p:nvSpPr>
        <p:spPr bwMode="auto">
          <a:xfrm>
            <a:off x="-12700" y="1773238"/>
            <a:ext cx="9156700" cy="4943475"/>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CreateList_L</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L,int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n){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正位序输入</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个元素的值，建立带表头结点的单链表</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L </a:t>
            </a:r>
          </a:p>
          <a:p>
            <a:pPr lvl="0">
              <a:lnSpc>
                <a:spcPct val="100000"/>
              </a:lnSpc>
              <a:spcBef>
                <a:spcPct val="20000"/>
              </a:spcBef>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L</a:t>
            </a:r>
            <a:r>
              <a:rPr lang="en-US" altLang="zh-CN" sz="2000" dirty="0">
                <a:cs typeface="+mn-ea"/>
                <a:sym typeface="+mn-lt"/>
              </a:rPr>
              <a:t> =(</a:t>
            </a:r>
            <a:r>
              <a:rPr lang="en-US" altLang="zh-CN" sz="2000" dirty="0" err="1">
                <a:cs typeface="+mn-ea"/>
                <a:sym typeface="+mn-lt"/>
              </a:rPr>
              <a:t>LinkList</a:t>
            </a:r>
            <a:r>
              <a:rPr lang="en-US" altLang="zh-CN" sz="2000" dirty="0">
                <a:cs typeface="+mn-ea"/>
                <a:sym typeface="+mn-lt"/>
              </a:rPr>
              <a:t>)</a:t>
            </a:r>
            <a:r>
              <a:rPr lang="en-US" altLang="zh-CN" sz="2000" dirty="0" err="1">
                <a:cs typeface="+mn-ea"/>
                <a:sym typeface="+mn-lt"/>
              </a:rPr>
              <a:t>malloc</a:t>
            </a:r>
            <a:r>
              <a:rPr lang="en-US" altLang="zh-CN" sz="2000" dirty="0">
                <a:cs typeface="+mn-ea"/>
                <a:sym typeface="+mn-lt"/>
              </a:rPr>
              <a:t>(</a:t>
            </a:r>
            <a:r>
              <a:rPr lang="en-US" altLang="zh-CN" sz="2000" dirty="0" err="1">
                <a:cs typeface="+mn-ea"/>
                <a:sym typeface="+mn-lt"/>
              </a:rPr>
              <a:t>sizeof</a:t>
            </a:r>
            <a:r>
              <a:rPr lang="en-US" altLang="zh-CN" sz="2000" dirty="0">
                <a:cs typeface="+mn-ea"/>
                <a:sym typeface="+mn-lt"/>
              </a:rPr>
              <a:t>(</a:t>
            </a:r>
            <a:r>
              <a:rPr lang="en-US" altLang="zh-CN" sz="2000" dirty="0" err="1">
                <a:cs typeface="+mn-ea"/>
                <a:sym typeface="+mn-lt"/>
              </a:rPr>
              <a:t>Lnode</a:t>
            </a:r>
            <a:r>
              <a:rPr lang="en-US" altLang="zh-CN" sz="2000" dirty="0">
                <a:cs typeface="+mn-ea"/>
                <a:sym typeface="+mn-lt"/>
              </a:rPr>
              <a:t>));</a:t>
            </a:r>
          </a:p>
          <a:p>
            <a:pPr lvl="0">
              <a:lnSpc>
                <a:spcPct val="100000"/>
              </a:lnSpc>
              <a:spcBef>
                <a:spcPct val="20000"/>
              </a:spcBef>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L-&gt;next=NULL;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 r=L;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尾指针</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r</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指向头结点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for(</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=0;i&lt;n;++</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lvl="0">
              <a:lnSpc>
                <a:spcPct val="100000"/>
              </a:lnSpc>
              <a:spcBef>
                <a:spcPct val="20000"/>
              </a:spcBef>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p</a:t>
            </a:r>
            <a:r>
              <a:rPr lang="en-US" altLang="zh-CN" sz="2000" dirty="0">
                <a:cs typeface="+mn-ea"/>
                <a:sym typeface="+mn-lt"/>
              </a:rPr>
              <a:t> =(</a:t>
            </a:r>
            <a:r>
              <a:rPr lang="en-US" altLang="zh-CN" sz="2000" dirty="0" err="1">
                <a:cs typeface="+mn-ea"/>
                <a:sym typeface="+mn-lt"/>
              </a:rPr>
              <a:t>LinkList</a:t>
            </a:r>
            <a:r>
              <a:rPr lang="en-US" altLang="zh-CN" sz="2000" dirty="0">
                <a:cs typeface="+mn-ea"/>
                <a:sym typeface="+mn-lt"/>
              </a:rPr>
              <a:t>)</a:t>
            </a:r>
            <a:r>
              <a:rPr lang="en-US" altLang="zh-CN" sz="2000" dirty="0" err="1">
                <a:cs typeface="+mn-ea"/>
                <a:sym typeface="+mn-lt"/>
              </a:rPr>
              <a:t>malloc</a:t>
            </a:r>
            <a:r>
              <a:rPr lang="en-US" altLang="zh-CN" sz="2000" dirty="0">
                <a:cs typeface="+mn-ea"/>
                <a:sym typeface="+mn-lt"/>
              </a:rPr>
              <a:t>(</a:t>
            </a:r>
            <a:r>
              <a:rPr lang="en-US" altLang="zh-CN" sz="2000" dirty="0" err="1">
                <a:cs typeface="+mn-ea"/>
                <a:sym typeface="+mn-lt"/>
              </a:rPr>
              <a:t>sizeof</a:t>
            </a:r>
            <a:r>
              <a:rPr lang="en-US" altLang="zh-CN" sz="2000" dirty="0">
                <a:cs typeface="+mn-ea"/>
                <a:sym typeface="+mn-lt"/>
              </a:rPr>
              <a:t>(</a:t>
            </a:r>
            <a:r>
              <a:rPr lang="en-US" altLang="zh-CN" sz="2000" dirty="0" err="1">
                <a:cs typeface="+mn-ea"/>
                <a:sym typeface="+mn-lt"/>
              </a:rPr>
              <a:t>Lnode</a:t>
            </a:r>
            <a:r>
              <a:rPr lang="en-US" altLang="zh-CN" sz="2000" dirty="0">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生成新结点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&gt;&gt;p-&gt;data;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输入元素值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p-&gt;next=NULL; r-&gt;next=p;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插入到表尾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r=p;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指向新的尾结点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CreateList_L</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21859" name="Rectangle 5"/>
          <p:cNvSpPr>
            <a:spLocks noChangeArrowheads="1"/>
          </p:cNvSpPr>
          <p:nvPr/>
        </p:nvSpPr>
        <p:spPr bwMode="auto">
          <a:xfrm>
            <a:off x="0" y="1022350"/>
            <a:ext cx="3775075" cy="606425"/>
          </a:xfrm>
          <a:prstGeom prst="rect">
            <a:avLst/>
          </a:prstGeom>
          <a:solidFill>
            <a:srgbClr val="B8D4EC"/>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算法描述</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4" name="Rectangle 5"/>
          <p:cNvSpPr>
            <a:spLocks noChangeArrowheads="1"/>
          </p:cNvSpPr>
          <p:nvPr/>
        </p:nvSpPr>
        <p:spPr bwMode="auto">
          <a:xfrm>
            <a:off x="827584" y="191638"/>
            <a:ext cx="70516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单链表的建立（尾插法）</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2"/>
            </p:custDataLst>
          </p:nvPr>
        </p:nvSpPr>
        <p:spPr>
          <a:xfrm>
            <a:off x="190500" y="908720"/>
            <a:ext cx="8826500" cy="1869405"/>
          </a:xfrm>
          <a:prstGeom prst="rect">
            <a:avLst/>
          </a:prstGeom>
          <a:noFill/>
        </p:spPr>
        <p:txBody>
          <a:bodyPr vert="horz" wrap="square" rtlCol="0" anchor="ctr" anchorCtr="0">
            <a:noAutofit/>
          </a:bodyPr>
          <a:lstStyle/>
          <a:p>
            <a:pPr lvl="0"/>
            <a:r>
              <a:rPr lang="en-US" altLang="zh-CN" sz="2400" kern="0" dirty="0">
                <a:solidFill>
                  <a:schemeClr val="accent1">
                    <a:lumMod val="75000"/>
                  </a:schemeClr>
                </a:solidFill>
                <a:ea typeface="方正书宋简体" panose="02010601030101010101" pitchFamily="2" charset="-122"/>
                <a:sym typeface="+mn-ea"/>
              </a:rPr>
              <a:t>【2024</a:t>
            </a:r>
            <a:r>
              <a:rPr lang="zh-CN" altLang="en-US" sz="2400" kern="0" dirty="0">
                <a:solidFill>
                  <a:schemeClr val="accent1">
                    <a:lumMod val="75000"/>
                  </a:schemeClr>
                </a:solidFill>
                <a:ea typeface="方正书宋简体" panose="02010601030101010101" pitchFamily="2" charset="-122"/>
                <a:sym typeface="+mn-ea"/>
              </a:rPr>
              <a:t>年第</a:t>
            </a:r>
            <a:r>
              <a:rPr lang="en-US" altLang="zh-CN" sz="2400" kern="0" dirty="0">
                <a:solidFill>
                  <a:schemeClr val="accent1">
                    <a:lumMod val="75000"/>
                  </a:schemeClr>
                </a:solidFill>
                <a:ea typeface="方正书宋简体" panose="02010601030101010101" pitchFamily="2" charset="-122"/>
                <a:sym typeface="+mn-ea"/>
              </a:rPr>
              <a:t>1</a:t>
            </a:r>
            <a:r>
              <a:rPr lang="zh-CN" altLang="en-US" sz="2400" kern="0" dirty="0">
                <a:solidFill>
                  <a:schemeClr val="accent1">
                    <a:lumMod val="75000"/>
                  </a:schemeClr>
                </a:solidFill>
                <a:ea typeface="方正书宋简体" panose="02010601030101010101" pitchFamily="2" charset="-122"/>
                <a:sym typeface="+mn-ea"/>
              </a:rPr>
              <a:t>题</a:t>
            </a:r>
            <a:r>
              <a:rPr lang="en-US" altLang="zh-CN" sz="2400" kern="0" dirty="0">
                <a:solidFill>
                  <a:schemeClr val="accent1">
                    <a:lumMod val="75000"/>
                  </a:schemeClr>
                </a:solidFill>
                <a:ea typeface="方正书宋简体" panose="02010601030101010101" pitchFamily="2" charset="-122"/>
                <a:sym typeface="+mn-ea"/>
              </a:rPr>
              <a:t>】</a:t>
            </a:r>
            <a:r>
              <a:rPr lang="zh-CN" altLang="en-US" sz="2400" kern="0" dirty="0">
                <a:solidFill>
                  <a:schemeClr val="accent1">
                    <a:lumMod val="75000"/>
                  </a:schemeClr>
                </a:solidFill>
                <a:ea typeface="方正书宋简体" panose="02010601030101010101" pitchFamily="2" charset="-122"/>
                <a:sym typeface="+mn-ea"/>
              </a:rPr>
              <a:t>一个带头结点的链表</a:t>
            </a:r>
            <a:r>
              <a:rPr lang="en-US" altLang="zh-CN" sz="2400" kern="0" dirty="0">
                <a:solidFill>
                  <a:schemeClr val="accent1">
                    <a:lumMod val="75000"/>
                  </a:schemeClr>
                </a:solidFill>
                <a:ea typeface="方正书宋简体" panose="02010601030101010101" pitchFamily="2" charset="-122"/>
                <a:sym typeface="+mn-ea"/>
              </a:rPr>
              <a:t>L</a:t>
            </a:r>
            <a:r>
              <a:rPr lang="zh-CN" altLang="en-US" sz="2400" kern="0" dirty="0">
                <a:solidFill>
                  <a:schemeClr val="accent1">
                    <a:lumMod val="75000"/>
                  </a:schemeClr>
                </a:solidFill>
                <a:ea typeface="方正书宋简体" panose="02010601030101010101" pitchFamily="2" charset="-122"/>
                <a:sym typeface="+mn-ea"/>
              </a:rPr>
              <a:t>，指针</a:t>
            </a:r>
            <a:r>
              <a:rPr lang="en-US" altLang="zh-CN" sz="2400" kern="0" dirty="0">
                <a:solidFill>
                  <a:schemeClr val="accent1">
                    <a:lumMod val="75000"/>
                  </a:schemeClr>
                </a:solidFill>
                <a:ea typeface="方正书宋简体" panose="02010601030101010101" pitchFamily="2" charset="-122"/>
                <a:sym typeface="+mn-ea"/>
              </a:rPr>
              <a:t>p</a:t>
            </a:r>
            <a:r>
              <a:rPr lang="zh-CN" altLang="en-US" sz="2400" kern="0" dirty="0">
                <a:solidFill>
                  <a:schemeClr val="accent1">
                    <a:lumMod val="75000"/>
                  </a:schemeClr>
                </a:solidFill>
                <a:ea typeface="方正书宋简体" panose="02010601030101010101" pitchFamily="2" charset="-122"/>
                <a:sym typeface="+mn-ea"/>
              </a:rPr>
              <a:t>指向链表</a:t>
            </a:r>
            <a:r>
              <a:rPr lang="en-US" altLang="zh-CN" sz="2400" kern="0" dirty="0">
                <a:solidFill>
                  <a:schemeClr val="accent1">
                    <a:lumMod val="75000"/>
                  </a:schemeClr>
                </a:solidFill>
                <a:ea typeface="方正书宋简体" panose="02010601030101010101" pitchFamily="2" charset="-122"/>
                <a:sym typeface="+mn-ea"/>
              </a:rPr>
              <a:t>L</a:t>
            </a:r>
            <a:r>
              <a:rPr lang="zh-CN" altLang="en-US" sz="2400" kern="0" dirty="0">
                <a:solidFill>
                  <a:schemeClr val="accent1">
                    <a:lumMod val="75000"/>
                  </a:schemeClr>
                </a:solidFill>
                <a:ea typeface="方正书宋简体" panose="02010601030101010101" pitchFamily="2" charset="-122"/>
                <a:sym typeface="+mn-ea"/>
              </a:rPr>
              <a:t>中间的某个结点（非首尾结点）。下面的代码功能是（  </a:t>
            </a:r>
            <a:r>
              <a:rPr lang="en-US" altLang="zh-CN" sz="2400" kern="0" dirty="0">
                <a:solidFill>
                  <a:schemeClr val="accent1">
                    <a:lumMod val="75000"/>
                  </a:schemeClr>
                </a:solidFill>
                <a:ea typeface="方正书宋简体" panose="02010601030101010101" pitchFamily="2" charset="-122"/>
                <a:sym typeface="+mn-ea"/>
              </a:rPr>
              <a:t>          </a:t>
            </a:r>
            <a:r>
              <a:rPr lang="zh-CN" altLang="en-US" sz="2400" kern="0" dirty="0">
                <a:solidFill>
                  <a:schemeClr val="accent1">
                    <a:lumMod val="75000"/>
                  </a:schemeClr>
                </a:solidFill>
                <a:ea typeface="方正书宋简体" panose="02010601030101010101" pitchFamily="2" charset="-122"/>
                <a:sym typeface="+mn-ea"/>
              </a:rPr>
              <a:t>  ）。</a:t>
            </a:r>
            <a:endParaRPr lang="en-US" altLang="zh-CN" sz="2400" kern="0" dirty="0">
              <a:solidFill>
                <a:schemeClr val="accent1">
                  <a:lumMod val="75000"/>
                </a:schemeClr>
              </a:solidFill>
              <a:ea typeface="方正书宋简体" panose="02010601030101010101" pitchFamily="2" charset="-122"/>
              <a:sym typeface="+mn-ea"/>
            </a:endParaRPr>
          </a:p>
          <a:p>
            <a:r>
              <a:rPr lang="en-US" altLang="zh-CN" sz="2400" kern="0" dirty="0">
                <a:solidFill>
                  <a:srgbClr val="FF0000"/>
                </a:solidFill>
                <a:ea typeface="方正书宋简体" panose="02010601030101010101" pitchFamily="2" charset="-122"/>
                <a:sym typeface="+mn-ea"/>
              </a:rPr>
              <a:t> q=p-&gt;next; p-&gt;next=q-&gt;next; q-&gt;next=L-&gt;next; L-&gt;next=q;</a:t>
            </a:r>
          </a:p>
          <a:p>
            <a:pPr lvl="0"/>
            <a:endParaRPr lang="en-US" altLang="zh-CN" sz="2400" kern="0" dirty="0">
              <a:solidFill>
                <a:schemeClr val="accent1">
                  <a:lumMod val="75000"/>
                </a:schemeClr>
              </a:solidFill>
              <a:ea typeface="方正书宋简体" panose="02010601030101010101" pitchFamily="2" charset="-122"/>
              <a:sym typeface="+mn-ea"/>
            </a:endParaRPr>
          </a:p>
        </p:txBody>
      </p:sp>
      <p:sp>
        <p:nvSpPr>
          <p:cNvPr id="4" name="TextBox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lvl="0" algn="just">
              <a:lnSpc>
                <a:spcPct val="150000"/>
              </a:lnSpc>
              <a:defRPr/>
            </a:pPr>
            <a:r>
              <a:rPr lang="zh-CN" altLang="en-US" sz="2400" kern="0" dirty="0">
                <a:solidFill>
                  <a:schemeClr val="accent1">
                    <a:lumMod val="75000"/>
                  </a:schemeClr>
                </a:solidFill>
                <a:ea typeface="方正书宋简体" panose="02010601030101010101" pitchFamily="2" charset="-122"/>
                <a:sym typeface="+mn-ea"/>
              </a:rPr>
              <a:t>将</a:t>
            </a:r>
            <a:r>
              <a:rPr lang="en-US" altLang="zh-CN" sz="2400" kern="0" dirty="0">
                <a:solidFill>
                  <a:schemeClr val="accent1">
                    <a:lumMod val="75000"/>
                  </a:schemeClr>
                </a:solidFill>
                <a:ea typeface="方正书宋简体" panose="02010601030101010101" pitchFamily="2" charset="-122"/>
                <a:sym typeface="+mn-ea"/>
              </a:rPr>
              <a:t>p</a:t>
            </a:r>
            <a:r>
              <a:rPr lang="zh-CN" altLang="en-US" sz="2400" kern="0" dirty="0">
                <a:solidFill>
                  <a:schemeClr val="accent1">
                    <a:lumMod val="75000"/>
                  </a:schemeClr>
                </a:solidFill>
                <a:ea typeface="方正书宋简体" panose="02010601030101010101" pitchFamily="2" charset="-122"/>
                <a:sym typeface="+mn-ea"/>
              </a:rPr>
              <a:t>指向结点移到</a:t>
            </a:r>
            <a:r>
              <a:rPr lang="en-US" altLang="zh-CN" sz="2400" kern="0" dirty="0">
                <a:solidFill>
                  <a:schemeClr val="accent1">
                    <a:lumMod val="75000"/>
                  </a:schemeClr>
                </a:solidFill>
                <a:ea typeface="方正书宋简体" panose="02010601030101010101" pitchFamily="2" charset="-122"/>
                <a:sym typeface="+mn-ea"/>
              </a:rPr>
              <a:t>q</a:t>
            </a:r>
            <a:r>
              <a:rPr lang="zh-CN" altLang="en-US" sz="2400" kern="0" dirty="0">
                <a:solidFill>
                  <a:schemeClr val="accent1">
                    <a:lumMod val="75000"/>
                  </a:schemeClr>
                </a:solidFill>
                <a:ea typeface="方正书宋简体" panose="02010601030101010101" pitchFamily="2" charset="-122"/>
                <a:sym typeface="+mn-ea"/>
              </a:rPr>
              <a:t>指向结点后    </a:t>
            </a:r>
            <a:endParaRPr lang="en-US" altLang="zh-CN" sz="2400" kern="0" dirty="0">
              <a:solidFill>
                <a:schemeClr val="accent1">
                  <a:lumMod val="75000"/>
                </a:schemeClr>
              </a:solidFill>
              <a:ea typeface="方正书宋简体" panose="02010601030101010101" pitchFamily="2" charset="-122"/>
              <a:sym typeface="+mn-ea"/>
            </a:endParaRPr>
          </a:p>
        </p:txBody>
      </p:sp>
      <p:sp>
        <p:nvSpPr>
          <p:cNvPr id="5" name="TextBox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lvl="0" algn="just">
              <a:lnSpc>
                <a:spcPct val="150000"/>
              </a:lnSpc>
              <a:defRPr/>
            </a:pPr>
            <a:r>
              <a:rPr lang="zh-CN" altLang="en-US" sz="2400" kern="0" dirty="0">
                <a:solidFill>
                  <a:schemeClr val="accent1">
                    <a:lumMod val="75000"/>
                  </a:schemeClr>
                </a:solidFill>
                <a:ea typeface="方正书宋简体" panose="02010601030101010101" pitchFamily="2" charset="-122"/>
                <a:sym typeface="+mn-ea"/>
              </a:rPr>
              <a:t>将</a:t>
            </a:r>
            <a:r>
              <a:rPr lang="en-US" altLang="zh-CN" sz="2400" kern="0" dirty="0">
                <a:solidFill>
                  <a:schemeClr val="accent1">
                    <a:lumMod val="75000"/>
                  </a:schemeClr>
                </a:solidFill>
                <a:ea typeface="方正书宋简体" panose="02010601030101010101" pitchFamily="2" charset="-122"/>
                <a:sym typeface="+mn-ea"/>
              </a:rPr>
              <a:t>q</a:t>
            </a:r>
            <a:r>
              <a:rPr lang="zh-CN" altLang="en-US" sz="2400" kern="0" dirty="0">
                <a:solidFill>
                  <a:schemeClr val="accent1">
                    <a:lumMod val="75000"/>
                  </a:schemeClr>
                </a:solidFill>
                <a:ea typeface="方正书宋简体" panose="02010601030101010101" pitchFamily="2" charset="-122"/>
                <a:sym typeface="+mn-ea"/>
              </a:rPr>
              <a:t>指向结点移到</a:t>
            </a:r>
            <a:r>
              <a:rPr lang="en-US" altLang="zh-CN" sz="2400" kern="0" dirty="0">
                <a:solidFill>
                  <a:schemeClr val="accent1">
                    <a:lumMod val="75000"/>
                  </a:schemeClr>
                </a:solidFill>
                <a:ea typeface="方正书宋简体" panose="02010601030101010101" pitchFamily="2" charset="-122"/>
                <a:sym typeface="+mn-ea"/>
              </a:rPr>
              <a:t>p</a:t>
            </a:r>
            <a:r>
              <a:rPr lang="zh-CN" altLang="en-US" sz="2400" kern="0" dirty="0">
                <a:solidFill>
                  <a:schemeClr val="accent1">
                    <a:lumMod val="75000"/>
                  </a:schemeClr>
                </a:solidFill>
                <a:ea typeface="方正书宋简体" panose="02010601030101010101" pitchFamily="2" charset="-122"/>
                <a:sym typeface="+mn-ea"/>
              </a:rPr>
              <a:t>指向结点后</a:t>
            </a:r>
          </a:p>
        </p:txBody>
      </p:sp>
      <p:sp>
        <p:nvSpPr>
          <p:cNvPr id="6" name="TextBox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254000" lvl="0" indent="-254000" algn="just">
              <a:lnSpc>
                <a:spcPct val="150000"/>
              </a:lnSpc>
              <a:defRPr/>
            </a:pPr>
            <a:r>
              <a:rPr lang="zh-CN" altLang="en-US" sz="2400" kern="0" dirty="0">
                <a:solidFill>
                  <a:schemeClr val="accent1">
                    <a:lumMod val="75000"/>
                  </a:schemeClr>
                </a:solidFill>
                <a:ea typeface="方正书宋简体" panose="02010601030101010101" pitchFamily="2" charset="-122"/>
                <a:sym typeface="+mn-ea"/>
              </a:rPr>
              <a:t>将</a:t>
            </a:r>
            <a:r>
              <a:rPr lang="en-US" altLang="zh-CN" sz="2400" kern="0" dirty="0">
                <a:solidFill>
                  <a:schemeClr val="accent1">
                    <a:lumMod val="75000"/>
                  </a:schemeClr>
                </a:solidFill>
                <a:ea typeface="方正书宋简体" panose="02010601030101010101" pitchFamily="2" charset="-122"/>
                <a:sym typeface="+mn-ea"/>
              </a:rPr>
              <a:t>p</a:t>
            </a:r>
            <a:r>
              <a:rPr lang="zh-CN" altLang="en-US" sz="2400" kern="0" dirty="0">
                <a:solidFill>
                  <a:schemeClr val="accent1">
                    <a:lumMod val="75000"/>
                  </a:schemeClr>
                </a:solidFill>
                <a:ea typeface="方正书宋简体" panose="02010601030101010101" pitchFamily="2" charset="-122"/>
                <a:sym typeface="+mn-ea"/>
              </a:rPr>
              <a:t>指向结点插入头结点后          </a:t>
            </a:r>
            <a:endParaRPr lang="en-US" altLang="zh-CN" sz="2400" kern="0" dirty="0">
              <a:solidFill>
                <a:schemeClr val="accent1">
                  <a:lumMod val="75000"/>
                </a:schemeClr>
              </a:solidFill>
              <a:ea typeface="方正书宋简体" panose="02010601030101010101" pitchFamily="2" charset="-122"/>
              <a:sym typeface="+mn-ea"/>
            </a:endParaRPr>
          </a:p>
        </p:txBody>
      </p:sp>
      <p:sp>
        <p:nvSpPr>
          <p:cNvPr id="7" name="TextBox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254000" lvl="0" indent="-254000" algn="just">
              <a:lnSpc>
                <a:spcPct val="150000"/>
              </a:lnSpc>
              <a:defRPr/>
            </a:pPr>
            <a:r>
              <a:rPr lang="zh-CN" altLang="en-US" sz="2400" kern="0" dirty="0">
                <a:solidFill>
                  <a:schemeClr val="accent1">
                    <a:lumMod val="75000"/>
                  </a:schemeClr>
                </a:solidFill>
                <a:ea typeface="方正书宋简体" panose="02010601030101010101" pitchFamily="2" charset="-122"/>
                <a:sym typeface="+mn-ea"/>
              </a:rPr>
              <a:t>将</a:t>
            </a:r>
            <a:r>
              <a:rPr lang="en-US" altLang="zh-CN" sz="2400" kern="0" dirty="0">
                <a:solidFill>
                  <a:schemeClr val="accent1">
                    <a:lumMod val="75000"/>
                  </a:schemeClr>
                </a:solidFill>
                <a:ea typeface="方正书宋简体" panose="02010601030101010101" pitchFamily="2" charset="-122"/>
                <a:sym typeface="+mn-ea"/>
              </a:rPr>
              <a:t>q</a:t>
            </a:r>
            <a:r>
              <a:rPr lang="zh-CN" altLang="en-US" sz="2400" kern="0" dirty="0">
                <a:solidFill>
                  <a:schemeClr val="accent1">
                    <a:lumMod val="75000"/>
                  </a:schemeClr>
                </a:solidFill>
                <a:ea typeface="方正书宋简体" panose="02010601030101010101" pitchFamily="2" charset="-122"/>
                <a:sym typeface="+mn-ea"/>
              </a:rPr>
              <a:t>指向结点插入头结点后</a:t>
            </a:r>
            <a:endParaRPr lang="en-US" altLang="zh-CN" sz="2400" kern="0" dirty="0">
              <a:ea typeface="方正书宋简体" panose="02010601030101010101" pitchFamily="2" charset="-122"/>
              <a:sym typeface="+mn-ea"/>
            </a:endParaRPr>
          </a:p>
        </p:txBody>
      </p:sp>
      <p:sp>
        <p:nvSpPr>
          <p:cNvPr id="8" name="椭圆 7"/>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A</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9" name="椭圆 8"/>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B</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0" name="椭圆 9"/>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C</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1" name="椭圆 10"/>
          <p:cNvSpPr>
            <a:spLocks noChangeAspect="1"/>
          </p:cNvSpPr>
          <p:nvPr>
            <p:custDataLst>
              <p:tags r:id="rId10"/>
            </p:custDataLst>
          </p:nvPr>
        </p:nvSpPr>
        <p:spPr bwMode="auto">
          <a:xfrm>
            <a:off x="1114425" y="5422106"/>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a:ln>
                  <a:noFill/>
                </a:ln>
                <a:solidFill>
                  <a:srgbClr val="FFFFFF"/>
                </a:solidFill>
                <a:effectLst/>
                <a:latin typeface="Microsoft Yahei"/>
                <a:ea typeface="Microsoft Yahei"/>
                <a:sym typeface="Microsoft Yahei"/>
              </a:rPr>
              <a:t>D</a:t>
            </a:r>
            <a:endParaRPr kumimoji="1" lang="zh-CN" altLang="en-US" sz="1600" b="0" i="0" u="none" strike="noStrike" cap="none" normalizeH="0" baseline="0">
              <a:ln>
                <a:noFill/>
              </a:ln>
              <a:solidFill>
                <a:srgbClr val="FFFFFF"/>
              </a:solidFill>
              <a:effectLst/>
              <a:latin typeface="Microsoft Yahei"/>
              <a:ea typeface="Microsoft Yahei"/>
              <a:sym typeface="Microsoft Yahei"/>
            </a:endParaRPr>
          </a:p>
        </p:txBody>
      </p:sp>
      <p:sp>
        <p:nvSpPr>
          <p:cNvPr id="12" name="圆角矩形 11"/>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342900" marR="0" indent="-342900" algn="l" defTabSz="914400" rtl="0" eaLnBrk="0" fontAlgn="base" latinLnBrk="0" hangingPunct="0">
              <a:lnSpc>
                <a:spcPct val="100000"/>
              </a:lnSpc>
              <a:spcBef>
                <a:spcPct val="20000"/>
              </a:spcBef>
              <a:spcAft>
                <a:spcPct val="0"/>
              </a:spcAft>
              <a:buClrTx/>
              <a:buSzTx/>
              <a:buFontTx/>
              <a:buNone/>
            </a:pPr>
            <a:r>
              <a:rPr kumimoji="1" lang="zh-CN" altLang="en-US" sz="1600" b="0" i="0" u="none" strike="noStrike" cap="none" normalizeH="0" baseline="0">
                <a:ln>
                  <a:noFill/>
                </a:ln>
                <a:solidFill>
                  <a:srgbClr val="FFFFFF"/>
                </a:solidFill>
                <a:effectLst/>
                <a:latin typeface="Microsoft Yahei"/>
                <a:ea typeface="Microsoft Yahei"/>
                <a:sym typeface="Microsoft Yahei"/>
              </a:rPr>
              <a:t>提交</a:t>
            </a: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4"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0971086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矩形 2"/>
          <p:cNvSpPr/>
          <p:nvPr/>
        </p:nvSpPr>
        <p:spPr>
          <a:xfrm>
            <a:off x="0" y="1557338"/>
            <a:ext cx="9144000" cy="3887787"/>
          </a:xfrm>
          <a:prstGeom prst="rect">
            <a:avLst/>
          </a:prstGeom>
          <a:solidFill>
            <a:srgbClr val="D2D2F4"/>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2882" name="Rectangle 4"/>
          <p:cNvSpPr>
            <a:spLocks noChangeArrowheads="1"/>
          </p:cNvSpPr>
          <p:nvPr/>
        </p:nvSpPr>
        <p:spPr bwMode="auto">
          <a:xfrm>
            <a:off x="889000" y="139700"/>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循环链表</a:t>
            </a:r>
          </a:p>
        </p:txBody>
      </p:sp>
      <p:grpSp>
        <p:nvGrpSpPr>
          <p:cNvPr id="2" name="Group 7"/>
          <p:cNvGrpSpPr/>
          <p:nvPr/>
        </p:nvGrpSpPr>
        <p:grpSpPr>
          <a:xfrm>
            <a:off x="4068763" y="4254500"/>
            <a:ext cx="4456112" cy="850900"/>
            <a:chOff x="2329" y="3312"/>
            <a:chExt cx="2807" cy="536"/>
          </a:xfrm>
        </p:grpSpPr>
        <p:sp>
          <p:nvSpPr>
            <p:cNvPr id="122896" name="Text Box 8"/>
            <p:cNvSpPr txBox="1">
              <a:spLocks noChangeArrowheads="1"/>
            </p:cNvSpPr>
            <p:nvPr/>
          </p:nvSpPr>
          <p:spPr bwMode="auto">
            <a:xfrm>
              <a:off x="3024" y="3312"/>
              <a:ext cx="2112" cy="536"/>
            </a:xfrm>
            <a:prstGeom prst="roundRect">
              <a:avLst/>
            </a:prstGeom>
            <a:solidFill>
              <a:schemeClr val="bg2">
                <a:lumMod val="20000"/>
                <a:lumOff val="80000"/>
              </a:schemeClr>
            </a:solidFill>
            <a:ln w="9525">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1200" cap="none" spc="0" normalizeH="0" baseline="0" noProof="0" dirty="0">
                  <a:ln>
                    <a:noFill/>
                  </a:ln>
                  <a:solidFill>
                    <a:schemeClr val="tx1"/>
                  </a:solidFill>
                  <a:effectLst/>
                  <a:uLnTx/>
                  <a:uFillTx/>
                  <a:latin typeface="+mn-lt"/>
                  <a:ea typeface="+mn-ea"/>
                  <a:cs typeface="+mn-ea"/>
                  <a:sym typeface="+mn-lt"/>
                </a:rPr>
                <a:t>L-&gt;next=L</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2897" name="Line 9"/>
            <p:cNvSpPr>
              <a:spLocks noChangeShapeType="1"/>
            </p:cNvSpPr>
            <p:nvPr/>
          </p:nvSpPr>
          <p:spPr bwMode="auto">
            <a:xfrm flipH="1" flipV="1">
              <a:off x="2329" y="3327"/>
              <a:ext cx="641" cy="268"/>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28005" name="Group 10"/>
          <p:cNvGrpSpPr/>
          <p:nvPr/>
        </p:nvGrpSpPr>
        <p:grpSpPr>
          <a:xfrm>
            <a:off x="903288" y="1789113"/>
            <a:ext cx="7620000" cy="1508125"/>
            <a:chOff x="432" y="436"/>
            <a:chExt cx="4800" cy="950"/>
          </a:xfrm>
        </p:grpSpPr>
        <p:grpSp>
          <p:nvGrpSpPr>
            <p:cNvPr id="128017" name="Group 11"/>
            <p:cNvGrpSpPr/>
            <p:nvPr/>
          </p:nvGrpSpPr>
          <p:grpSpPr>
            <a:xfrm>
              <a:off x="432" y="436"/>
              <a:ext cx="4800" cy="950"/>
              <a:chOff x="432" y="1248"/>
              <a:chExt cx="4800" cy="950"/>
            </a:xfrm>
          </p:grpSpPr>
          <p:graphicFrame>
            <p:nvGraphicFramePr>
              <p:cNvPr id="128019" name="Object 12"/>
              <p:cNvGraphicFramePr/>
              <p:nvPr/>
            </p:nvGraphicFramePr>
            <p:xfrm>
              <a:off x="432" y="1248"/>
              <a:ext cx="4800" cy="561"/>
            </p:xfrm>
            <a:graphic>
              <a:graphicData uri="http://schemas.openxmlformats.org/presentationml/2006/ole">
                <mc:AlternateContent xmlns:mc="http://schemas.openxmlformats.org/markup-compatibility/2006">
                  <mc:Choice xmlns:v="urn:schemas-microsoft-com:vml" Requires="v">
                    <p:oleObj spid="_x0000_s10285" r:id="rId3" imgW="5096510" imgH="595630" progId="Visio.Drawing.11">
                      <p:embed/>
                    </p:oleObj>
                  </mc:Choice>
                  <mc:Fallback>
                    <p:oleObj r:id="rId3" imgW="5096510" imgH="595630" progId="Visio.Drawing.11">
                      <p:embed/>
                      <p:pic>
                        <p:nvPicPr>
                          <p:cNvPr id="0" name="图片 3087"/>
                          <p:cNvPicPr/>
                          <p:nvPr/>
                        </p:nvPicPr>
                        <p:blipFill>
                          <a:blip r:embed="rId4"/>
                          <a:stretch>
                            <a:fillRect/>
                          </a:stretch>
                        </p:blipFill>
                        <p:spPr>
                          <a:xfrm>
                            <a:off x="432" y="1248"/>
                            <a:ext cx="4800" cy="561"/>
                          </a:xfrm>
                          <a:prstGeom prst="rect">
                            <a:avLst/>
                          </a:prstGeom>
                          <a:solidFill>
                            <a:srgbClr val="D2D2F4"/>
                          </a:solidFill>
                          <a:ln w="38100">
                            <a:noFill/>
                            <a:miter/>
                          </a:ln>
                        </p:spPr>
                      </p:pic>
                    </p:oleObj>
                  </mc:Fallback>
                </mc:AlternateContent>
              </a:graphicData>
            </a:graphic>
          </p:graphicFrame>
          <p:sp>
            <p:nvSpPr>
              <p:cNvPr id="122895" name="Text Box 13"/>
              <p:cNvSpPr txBox="1">
                <a:spLocks noChangeArrowheads="1"/>
              </p:cNvSpPr>
              <p:nvPr/>
            </p:nvSpPr>
            <p:spPr bwMode="auto">
              <a:xfrm>
                <a:off x="432" y="1907"/>
                <a:ext cx="17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非空单循环链表</a:t>
                </a:r>
              </a:p>
            </p:txBody>
          </p:sp>
        </p:grpSp>
        <p:sp>
          <p:nvSpPr>
            <p:cNvPr id="122893" name="Text Box 14"/>
            <p:cNvSpPr txBox="1">
              <a:spLocks noChangeArrowheads="1"/>
            </p:cNvSpPr>
            <p:nvPr/>
          </p:nvSpPr>
          <p:spPr bwMode="auto">
            <a:xfrm>
              <a:off x="475" y="602"/>
              <a:ext cx="182" cy="288"/>
            </a:xfrm>
            <a:prstGeom prst="rect">
              <a:avLst/>
            </a:prstGeom>
            <a:solidFill>
              <a:srgbClr val="D2D2F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L</a:t>
              </a:r>
            </a:p>
          </p:txBody>
        </p:sp>
      </p:grpSp>
      <p:grpSp>
        <p:nvGrpSpPr>
          <p:cNvPr id="128006" name="Group 15"/>
          <p:cNvGrpSpPr/>
          <p:nvPr/>
        </p:nvGrpSpPr>
        <p:grpSpPr>
          <a:xfrm>
            <a:off x="903288" y="3536950"/>
            <a:ext cx="2998787" cy="1508125"/>
            <a:chOff x="432" y="1537"/>
            <a:chExt cx="1889" cy="950"/>
          </a:xfrm>
        </p:grpSpPr>
        <p:grpSp>
          <p:nvGrpSpPr>
            <p:cNvPr id="128013" name="Group 16"/>
            <p:cNvGrpSpPr/>
            <p:nvPr/>
          </p:nvGrpSpPr>
          <p:grpSpPr>
            <a:xfrm>
              <a:off x="432" y="1537"/>
              <a:ext cx="1889" cy="950"/>
              <a:chOff x="432" y="2640"/>
              <a:chExt cx="1889" cy="950"/>
            </a:xfrm>
          </p:grpSpPr>
          <p:graphicFrame>
            <p:nvGraphicFramePr>
              <p:cNvPr id="128015" name="Object 17"/>
              <p:cNvGraphicFramePr/>
              <p:nvPr/>
            </p:nvGraphicFramePr>
            <p:xfrm>
              <a:off x="432" y="2640"/>
              <a:ext cx="1889" cy="606"/>
            </p:xfrm>
            <a:graphic>
              <a:graphicData uri="http://schemas.openxmlformats.org/presentationml/2006/ole">
                <mc:AlternateContent xmlns:mc="http://schemas.openxmlformats.org/markup-compatibility/2006">
                  <mc:Choice xmlns:v="urn:schemas-microsoft-com:vml" Requires="v">
                    <p:oleObj spid="_x0000_s10286" r:id="rId5" imgW="1856105" imgH="595630" progId="Visio.Drawing.11">
                      <p:embed/>
                    </p:oleObj>
                  </mc:Choice>
                  <mc:Fallback>
                    <p:oleObj r:id="rId5" imgW="1856105" imgH="595630" progId="Visio.Drawing.11">
                      <p:embed/>
                      <p:pic>
                        <p:nvPicPr>
                          <p:cNvPr id="0" name="图片 3086"/>
                          <p:cNvPicPr/>
                          <p:nvPr/>
                        </p:nvPicPr>
                        <p:blipFill>
                          <a:blip r:embed="rId6"/>
                          <a:stretch>
                            <a:fillRect/>
                          </a:stretch>
                        </p:blipFill>
                        <p:spPr>
                          <a:xfrm>
                            <a:off x="432" y="2640"/>
                            <a:ext cx="1889" cy="606"/>
                          </a:xfrm>
                          <a:prstGeom prst="rect">
                            <a:avLst/>
                          </a:prstGeom>
                          <a:solidFill>
                            <a:srgbClr val="D2D2F4"/>
                          </a:solidFill>
                          <a:ln w="38100">
                            <a:noFill/>
                            <a:miter/>
                          </a:ln>
                        </p:spPr>
                      </p:pic>
                    </p:oleObj>
                  </mc:Fallback>
                </mc:AlternateContent>
              </a:graphicData>
            </a:graphic>
          </p:graphicFrame>
          <p:sp>
            <p:nvSpPr>
              <p:cNvPr id="122891" name="Text Box 18"/>
              <p:cNvSpPr txBox="1">
                <a:spLocks noChangeArrowheads="1"/>
              </p:cNvSpPr>
              <p:nvPr/>
            </p:nvSpPr>
            <p:spPr bwMode="auto">
              <a:xfrm>
                <a:off x="432" y="3299"/>
                <a:ext cx="79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空表</a:t>
                </a:r>
              </a:p>
            </p:txBody>
          </p:sp>
        </p:grpSp>
        <p:sp>
          <p:nvSpPr>
            <p:cNvPr id="122889" name="Text Box 19"/>
            <p:cNvSpPr txBox="1">
              <a:spLocks noChangeArrowheads="1"/>
            </p:cNvSpPr>
            <p:nvPr/>
          </p:nvSpPr>
          <p:spPr bwMode="auto">
            <a:xfrm>
              <a:off x="521" y="1733"/>
              <a:ext cx="182" cy="288"/>
            </a:xfrm>
            <a:prstGeom prst="rect">
              <a:avLst/>
            </a:prstGeom>
            <a:solidFill>
              <a:srgbClr val="D2D2F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L</a:t>
              </a:r>
            </a:p>
          </p:txBody>
        </p:sp>
      </p:grpSp>
      <p:grpSp>
        <p:nvGrpSpPr>
          <p:cNvPr id="18" name="组合 17"/>
          <p:cNvGrpSpPr/>
          <p:nvPr/>
        </p:nvGrpSpPr>
        <p:grpSpPr>
          <a:xfrm>
            <a:off x="0" y="6380163"/>
            <a:ext cx="9144000" cy="431800"/>
            <a:chOff x="0" y="6379908"/>
            <a:chExt cx="9144000" cy="432048"/>
          </a:xfrm>
        </p:grpSpPr>
        <p:grpSp>
          <p:nvGrpSpPr>
            <p:cNvPr id="128008" name="组合 5"/>
            <p:cNvGrpSpPr/>
            <p:nvPr/>
          </p:nvGrpSpPr>
          <p:grpSpPr>
            <a:xfrm>
              <a:off x="0" y="6379908"/>
              <a:ext cx="9144000" cy="432048"/>
              <a:chOff x="0" y="6165304"/>
              <a:chExt cx="9144000" cy="432048"/>
            </a:xfrm>
          </p:grpSpPr>
          <p:cxnSp>
            <p:nvCxnSpPr>
              <p:cNvPr id="128010"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22" name="直接连接符 21"/>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28012"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20"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2" presetClass="entr" presetSubtype="4" fill="hold" nodeType="after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500" fill="hold"/>
                                        <p:tgtEl>
                                          <p:spTgt spid="18"/>
                                        </p:tgtEl>
                                        <p:attrNameLst>
                                          <p:attrName>ppt_x</p:attrName>
                                        </p:attrNameLst>
                                      </p:cBhvr>
                                      <p:tavLst>
                                        <p:tav tm="0">
                                          <p:val>
                                            <p:strVal val="#ppt_x"/>
                                          </p:val>
                                        </p:tav>
                                        <p:tav tm="100000">
                                          <p:val>
                                            <p:strVal val="#ppt_x"/>
                                          </p:val>
                                        </p:tav>
                                      </p:tavLst>
                                    </p:anim>
                                    <p:anim calcmode="lin" valueType="num">
                                      <p:cBhvr additive="base">
                                        <p:cTn id="1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0" y="3933825"/>
            <a:ext cx="9144000" cy="2687638"/>
          </a:xfrm>
          <a:prstGeom prst="rect">
            <a:avLst/>
          </a:prstGeom>
          <a:solidFill>
            <a:schemeClr val="bg2">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9027" name="矩形 2"/>
          <p:cNvSpPr/>
          <p:nvPr/>
        </p:nvSpPr>
        <p:spPr>
          <a:xfrm>
            <a:off x="0" y="981075"/>
            <a:ext cx="9144000" cy="2592388"/>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3907" name="Text Box 6"/>
          <p:cNvSpPr txBox="1">
            <a:spLocks noChangeArrowheads="1"/>
          </p:cNvSpPr>
          <p:nvPr/>
        </p:nvSpPr>
        <p:spPr bwMode="auto">
          <a:xfrm>
            <a:off x="377825" y="2519363"/>
            <a:ext cx="1152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sng" strike="noStrike" kern="1200" cap="none" spc="0" normalizeH="0" baseline="0" noProof="0" dirty="0">
                <a:ln>
                  <a:noFill/>
                </a:ln>
                <a:solidFill>
                  <a:srgbClr val="7030A0"/>
                </a:solidFill>
                <a:effectLst/>
                <a:uLnTx/>
                <a:uFillTx/>
                <a:latin typeface="+mn-lt"/>
                <a:ea typeface="+mn-ea"/>
                <a:cs typeface="+mn-ea"/>
                <a:sym typeface="+mn-lt"/>
              </a:rPr>
              <a:t>说明</a:t>
            </a:r>
          </a:p>
        </p:txBody>
      </p:sp>
      <p:sp>
        <p:nvSpPr>
          <p:cNvPr id="123908" name="Text Box 2"/>
          <p:cNvSpPr txBox="1">
            <a:spLocks noChangeArrowheads="1"/>
          </p:cNvSpPr>
          <p:nvPr/>
        </p:nvSpPr>
        <p:spPr bwMode="auto">
          <a:xfrm>
            <a:off x="1763713" y="2303463"/>
            <a:ext cx="67437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从循环链表中的任何一个结点的位置都可以找到其他所有结点，而单链表做不到；</a:t>
            </a:r>
          </a:p>
        </p:txBody>
      </p:sp>
      <p:graphicFrame>
        <p:nvGraphicFramePr>
          <p:cNvPr id="79" name="Object 2"/>
          <p:cNvGraphicFramePr/>
          <p:nvPr/>
        </p:nvGraphicFramePr>
        <p:xfrm>
          <a:off x="579438" y="4170363"/>
          <a:ext cx="720725" cy="708025"/>
        </p:xfrm>
        <a:graphic>
          <a:graphicData uri="http://schemas.openxmlformats.org/presentationml/2006/ole">
            <mc:AlternateContent xmlns:mc="http://schemas.openxmlformats.org/markup-compatibility/2006">
              <mc:Choice xmlns:v="urn:schemas-microsoft-com:vml" Requires="v">
                <p:oleObj spid="_x0000_s11309" r:id="rId3" imgW="861060" imgH="845185" progId="">
                  <p:embed/>
                </p:oleObj>
              </mc:Choice>
              <mc:Fallback>
                <p:oleObj r:id="rId3" imgW="861060" imgH="845185" progId="">
                  <p:embed/>
                  <p:pic>
                    <p:nvPicPr>
                      <p:cNvPr id="0" name="图片 3088"/>
                      <p:cNvPicPr/>
                      <p:nvPr/>
                    </p:nvPicPr>
                    <p:blipFill>
                      <a:blip r:embed="rId4"/>
                      <a:stretch>
                        <a:fillRect/>
                      </a:stretch>
                    </p:blipFill>
                    <p:spPr>
                      <a:xfrm>
                        <a:off x="579438" y="4170363"/>
                        <a:ext cx="720725" cy="708025"/>
                      </a:xfrm>
                      <a:prstGeom prst="rect">
                        <a:avLst/>
                      </a:prstGeom>
                      <a:noFill/>
                      <a:ln w="38100">
                        <a:noFill/>
                        <a:miter/>
                      </a:ln>
                    </p:spPr>
                  </p:pic>
                </p:oleObj>
              </mc:Fallback>
            </mc:AlternateContent>
          </a:graphicData>
        </a:graphic>
      </p:graphicFrame>
      <p:sp>
        <p:nvSpPr>
          <p:cNvPr id="80" name="Text Box 73"/>
          <p:cNvSpPr txBox="1">
            <a:spLocks noChangeArrowheads="1"/>
          </p:cNvSpPr>
          <p:nvPr/>
        </p:nvSpPr>
        <p:spPr bwMode="auto">
          <a:xfrm>
            <a:off x="1173163" y="5414963"/>
            <a:ext cx="7924800" cy="1117600"/>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Pct val="85000"/>
              <a:buFontTx/>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循环条件：</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p!=</a:t>
            </a:r>
            <a:r>
              <a:rPr kumimoji="0" lang="en-US" altLang="zh-CN" sz="2800" b="0" i="0" u="none" strike="noStrike" kern="1200" cap="none" spc="0" normalizeH="0" baseline="0" noProof="0" dirty="0" err="1">
                <a:ln>
                  <a:noFill/>
                </a:ln>
                <a:solidFill>
                  <a:schemeClr val="tx2"/>
                </a:solidFill>
                <a:effectLst/>
                <a:uLnTx/>
                <a:uFillTx/>
                <a:latin typeface="+mn-lt"/>
                <a:ea typeface="+mn-ea"/>
                <a:cs typeface="+mn-ea"/>
                <a:sym typeface="+mn-lt"/>
              </a:rPr>
              <a:t>NULLp</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!=L</a:t>
            </a:r>
          </a:p>
          <a:p>
            <a:pPr marL="0" marR="0" lvl="0" indent="0" algn="l" defTabSz="914400" rtl="0" eaLnBrk="1" fontAlgn="base" latinLnBrk="0" hangingPunct="1">
              <a:lnSpc>
                <a:spcPct val="120000"/>
              </a:lnSpc>
              <a:spcBef>
                <a:spcPct val="0"/>
              </a:spcBef>
              <a:spcAft>
                <a:spcPct val="0"/>
              </a:spcAft>
              <a:buClrTx/>
              <a:buSzPct val="85000"/>
              <a:buFontTx/>
              <a:buNone/>
              <a:defRPr/>
            </a:pP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                    p-&gt;next!=</a:t>
            </a:r>
            <a:r>
              <a:rPr kumimoji="0" lang="en-US" altLang="zh-CN" sz="2800" b="0" i="0" u="none" strike="noStrike" kern="1200" cap="none" spc="0" normalizeH="0" baseline="0" noProof="0" dirty="0" err="1">
                <a:ln>
                  <a:noFill/>
                </a:ln>
                <a:solidFill>
                  <a:schemeClr val="tx2"/>
                </a:solidFill>
                <a:effectLst/>
                <a:uLnTx/>
                <a:uFillTx/>
                <a:latin typeface="+mn-lt"/>
                <a:ea typeface="+mn-ea"/>
                <a:cs typeface="+mn-ea"/>
                <a:sym typeface="+mn-lt"/>
              </a:rPr>
              <a:t>NULLp</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-&gt;next!=L</a:t>
            </a:r>
            <a:endPar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endParaRPr>
          </a:p>
        </p:txBody>
      </p:sp>
      <p:grpSp>
        <p:nvGrpSpPr>
          <p:cNvPr id="3" name="Group 75"/>
          <p:cNvGrpSpPr/>
          <p:nvPr/>
        </p:nvGrpSpPr>
        <p:grpSpPr>
          <a:xfrm>
            <a:off x="1444625" y="4241800"/>
            <a:ext cx="6886575" cy="1173163"/>
            <a:chOff x="1202" y="1570"/>
            <a:chExt cx="4338" cy="739"/>
          </a:xfrm>
        </p:grpSpPr>
        <p:sp>
          <p:nvSpPr>
            <p:cNvPr id="123913" name="Rectangle 69"/>
            <p:cNvSpPr>
              <a:spLocks noChangeArrowheads="1"/>
            </p:cNvSpPr>
            <p:nvPr/>
          </p:nvSpPr>
          <p:spPr bwMode="auto">
            <a:xfrm>
              <a:off x="1202" y="1570"/>
              <a:ext cx="2957" cy="330"/>
            </a:xfrm>
            <a:prstGeom prst="rect">
              <a:avLst/>
            </a:prstGeom>
            <a:solidFill>
              <a:srgbClr val="FFFFFF"/>
            </a:solidFill>
            <a:ln w="28575">
              <a:solidFill>
                <a:schemeClr val="accent1"/>
              </a:solidFill>
              <a:miter lim="800000"/>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循环链表中没有明显的尾端 </a:t>
              </a:r>
            </a:p>
          </p:txBody>
        </p:sp>
        <p:sp>
          <p:nvSpPr>
            <p:cNvPr id="123914" name="Rectangle 71"/>
            <p:cNvSpPr>
              <a:spLocks noChangeArrowheads="1"/>
            </p:cNvSpPr>
            <p:nvPr/>
          </p:nvSpPr>
          <p:spPr bwMode="auto">
            <a:xfrm>
              <a:off x="3833" y="1979"/>
              <a:ext cx="1707" cy="330"/>
            </a:xfrm>
            <a:prstGeom prst="rect">
              <a:avLst/>
            </a:prstGeom>
            <a:solidFill>
              <a:srgbClr val="FFFFFF"/>
            </a:solidFill>
            <a:ln w="28575">
              <a:solidFill>
                <a:schemeClr val="accent1"/>
              </a:solidFill>
              <a:miter lim="800000"/>
            </a:ln>
          </p:spPr>
          <p:txBody>
            <a:bodyPr wrap="non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如何避免死循环</a:t>
              </a:r>
            </a:p>
          </p:txBody>
        </p:sp>
        <p:sp>
          <p:nvSpPr>
            <p:cNvPr id="123915" name="AutoShape 74"/>
            <p:cNvSpPr>
              <a:spLocks noChangeArrowheads="1"/>
            </p:cNvSpPr>
            <p:nvPr/>
          </p:nvSpPr>
          <p:spPr bwMode="auto">
            <a:xfrm rot="5400000">
              <a:off x="4171" y="1590"/>
              <a:ext cx="363" cy="40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3300"/>
            </a:solidFill>
            <a:ln w="12700" cap="sq">
              <a:solidFill>
                <a:srgbClr val="FF3300"/>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aphicFrame>
        <p:nvGraphicFramePr>
          <p:cNvPr id="129033" name="Object 12"/>
          <p:cNvGraphicFramePr/>
          <p:nvPr/>
        </p:nvGraphicFramePr>
        <p:xfrm>
          <a:off x="579438" y="1169988"/>
          <a:ext cx="7620000" cy="890587"/>
        </p:xfrm>
        <a:graphic>
          <a:graphicData uri="http://schemas.openxmlformats.org/presentationml/2006/ole">
            <mc:AlternateContent xmlns:mc="http://schemas.openxmlformats.org/markup-compatibility/2006">
              <mc:Choice xmlns:v="urn:schemas-microsoft-com:vml" Requires="v">
                <p:oleObj spid="_x0000_s11310" r:id="rId5" imgW="5096510" imgH="595630" progId="Visio.Drawing.11">
                  <p:embed/>
                </p:oleObj>
              </mc:Choice>
              <mc:Fallback>
                <p:oleObj r:id="rId5" imgW="5096510" imgH="595630" progId="Visio.Drawing.11">
                  <p:embed/>
                  <p:pic>
                    <p:nvPicPr>
                      <p:cNvPr id="0" name="图片 3089"/>
                      <p:cNvPicPr/>
                      <p:nvPr/>
                    </p:nvPicPr>
                    <p:blipFill>
                      <a:blip r:embed="rId6"/>
                      <a:stretch>
                        <a:fillRect/>
                      </a:stretch>
                    </p:blipFill>
                    <p:spPr>
                      <a:xfrm>
                        <a:off x="579438" y="1169988"/>
                        <a:ext cx="7620000" cy="890587"/>
                      </a:xfrm>
                      <a:prstGeom prst="rect">
                        <a:avLst/>
                      </a:prstGeom>
                      <a:noFill/>
                      <a:ln w="38100">
                        <a:noFill/>
                        <a:miter/>
                      </a:ln>
                    </p:spPr>
                  </p:pic>
                </p:oleObj>
              </mc:Fallback>
            </mc:AlternateContent>
          </a:graphicData>
        </a:graphic>
      </p:graphicFrame>
      <p:sp>
        <p:nvSpPr>
          <p:cNvPr id="13" name="Rectangle 4"/>
          <p:cNvSpPr>
            <a:spLocks noChangeArrowheads="1"/>
          </p:cNvSpPr>
          <p:nvPr/>
        </p:nvSpPr>
        <p:spPr bwMode="auto">
          <a:xfrm>
            <a:off x="889000" y="139700"/>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循环链表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ntr" presetSubtype="16" fill="hold" grpId="0" nodeType="click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diamond(in)">
                                      <p:cBhvr>
                                        <p:cTn id="11" dur="20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0" y="996950"/>
            <a:ext cx="9144000" cy="3359150"/>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4930" name="Text Box 6"/>
          <p:cNvSpPr txBox="1">
            <a:spLocks noChangeArrowheads="1"/>
          </p:cNvSpPr>
          <p:nvPr/>
        </p:nvSpPr>
        <p:spPr bwMode="auto">
          <a:xfrm>
            <a:off x="1785938" y="1271588"/>
            <a:ext cx="6769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对循环链表，有时不给出头指针，而给出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尾指针</a:t>
            </a: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anose="05000000000000000000" pitchFamily="2" charset="2"/>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可以更方便的找到</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第一个和最后一个</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结点</a:t>
            </a:r>
          </a:p>
        </p:txBody>
      </p:sp>
      <p:grpSp>
        <p:nvGrpSpPr>
          <p:cNvPr id="130052" name="Group 43"/>
          <p:cNvGrpSpPr/>
          <p:nvPr/>
        </p:nvGrpSpPr>
        <p:grpSpPr>
          <a:xfrm>
            <a:off x="557213" y="2654300"/>
            <a:ext cx="8108950" cy="1703388"/>
            <a:chOff x="404" y="2789"/>
            <a:chExt cx="5108" cy="1073"/>
          </a:xfrm>
        </p:grpSpPr>
        <p:sp>
          <p:nvSpPr>
            <p:cNvPr id="124938" name="Line 44"/>
            <p:cNvSpPr>
              <a:spLocks noChangeShapeType="1"/>
            </p:cNvSpPr>
            <p:nvPr/>
          </p:nvSpPr>
          <p:spPr bwMode="auto">
            <a:xfrm flipV="1">
              <a:off x="4998" y="3265"/>
              <a:ext cx="1" cy="32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39" name="Text Box 45"/>
            <p:cNvSpPr txBox="1">
              <a:spLocks noChangeArrowheads="1"/>
            </p:cNvSpPr>
            <p:nvPr/>
          </p:nvSpPr>
          <p:spPr bwMode="auto">
            <a:xfrm>
              <a:off x="4772" y="3570"/>
              <a:ext cx="48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rear</a:t>
              </a:r>
            </a:p>
          </p:txBody>
        </p:sp>
        <p:sp>
          <p:nvSpPr>
            <p:cNvPr id="124940" name="Line 46"/>
            <p:cNvSpPr>
              <a:spLocks noChangeShapeType="1"/>
            </p:cNvSpPr>
            <p:nvPr/>
          </p:nvSpPr>
          <p:spPr bwMode="auto">
            <a:xfrm>
              <a:off x="4390" y="3161"/>
              <a:ext cx="199" cy="0"/>
            </a:xfrm>
            <a:prstGeom prst="line">
              <a:avLst/>
            </a:prstGeom>
            <a:noFill/>
            <a:ln w="28575">
              <a:solidFill>
                <a:schemeClr val="tx1">
                  <a:lumMod val="95000"/>
                  <a:lumOff val="5000"/>
                </a:schemeClr>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41" name="Text Box 47"/>
            <p:cNvSpPr txBox="1">
              <a:spLocks noChangeArrowheads="1"/>
            </p:cNvSpPr>
            <p:nvPr/>
          </p:nvSpPr>
          <p:spPr bwMode="auto">
            <a:xfrm>
              <a:off x="1481" y="2979"/>
              <a:ext cx="567" cy="272"/>
            </a:xfrm>
            <a:prstGeom prst="rect">
              <a:avLst/>
            </a:prstGeom>
            <a:solidFill>
              <a:srgbClr val="D2D2F4"/>
            </a:solidFill>
            <a:ln w="28575">
              <a:solidFill>
                <a:schemeClr val="tx1">
                  <a:lumMod val="95000"/>
                  <a:lumOff val="5000"/>
                </a:schemeClr>
              </a:solidFill>
              <a:miter lim="800000"/>
            </a:ln>
          </p:spPr>
          <p:txBody>
            <a:bodyPr tIns="0" rIns="0" bIns="72000"/>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1" i="1"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400" b="1" i="0" u="none" strike="noStrike" kern="1200" cap="none" spc="0" normalizeH="0" baseline="-25000" noProof="0" dirty="0">
                  <a:ln>
                    <a:noFill/>
                  </a:ln>
                  <a:solidFill>
                    <a:srgbClr val="FF0000"/>
                  </a:solidFill>
                  <a:effectLst/>
                  <a:uLnTx/>
                  <a:uFillTx/>
                  <a:latin typeface="+mn-lt"/>
                  <a:ea typeface="+mn-ea"/>
                  <a:cs typeface="+mn-ea"/>
                  <a:sym typeface="+mn-lt"/>
                </a:rPr>
                <a:t>1</a:t>
              </a:r>
            </a:p>
          </p:txBody>
        </p:sp>
        <p:sp>
          <p:nvSpPr>
            <p:cNvPr id="124942" name="Line 48"/>
            <p:cNvSpPr>
              <a:spLocks noChangeShapeType="1"/>
            </p:cNvSpPr>
            <p:nvPr/>
          </p:nvSpPr>
          <p:spPr bwMode="auto">
            <a:xfrm>
              <a:off x="1792" y="2979"/>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43" name="Text Box 49"/>
            <p:cNvSpPr txBox="1">
              <a:spLocks noChangeArrowheads="1"/>
            </p:cNvSpPr>
            <p:nvPr/>
          </p:nvSpPr>
          <p:spPr bwMode="auto">
            <a:xfrm>
              <a:off x="646" y="2988"/>
              <a:ext cx="567" cy="272"/>
            </a:xfrm>
            <a:prstGeom prst="rect">
              <a:avLst/>
            </a:prstGeom>
            <a:solidFill>
              <a:srgbClr val="D2D2F4"/>
            </a:solidFill>
            <a:ln w="28575">
              <a:solidFill>
                <a:schemeClr val="tx1">
                  <a:lumMod val="95000"/>
                  <a:lumOff val="5000"/>
                </a:schemeClr>
              </a:solidFill>
              <a:miter lim="800000"/>
            </a:ln>
          </p:spPr>
          <p:txBody>
            <a:bodyPr tIns="0" rIns="0" bIns="72000"/>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90000"/>
                </a:lnSpc>
                <a:spcBef>
                  <a:spcPct val="0"/>
                </a:spcBef>
                <a:spcAft>
                  <a:spcPct val="0"/>
                </a:spcAft>
                <a:buClrTx/>
                <a:buSzTx/>
                <a:buFontTx/>
                <a:buNone/>
                <a:defRPr/>
              </a:pPr>
              <a:endParaRPr kumimoji="0" lang="en-US" altLang="zh-CN" sz="2400" b="1" i="0" u="none" strike="noStrike" kern="1200" cap="none" spc="0" normalizeH="0" baseline="-25000" noProof="0">
                <a:ln>
                  <a:noFill/>
                </a:ln>
                <a:solidFill>
                  <a:schemeClr val="tx2"/>
                </a:solidFill>
                <a:effectLst/>
                <a:uLnTx/>
                <a:uFillTx/>
                <a:latin typeface="+mn-lt"/>
                <a:ea typeface="+mn-ea"/>
                <a:cs typeface="+mn-ea"/>
                <a:sym typeface="+mn-lt"/>
              </a:endParaRPr>
            </a:p>
          </p:txBody>
        </p:sp>
        <p:sp>
          <p:nvSpPr>
            <p:cNvPr id="124944" name="Line 50"/>
            <p:cNvSpPr>
              <a:spLocks noChangeShapeType="1"/>
            </p:cNvSpPr>
            <p:nvPr/>
          </p:nvSpPr>
          <p:spPr bwMode="auto">
            <a:xfrm>
              <a:off x="957" y="2988"/>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45" name="Text Box 51" descr="宽上对角线"/>
            <p:cNvSpPr txBox="1">
              <a:spLocks noChangeArrowheads="1"/>
            </p:cNvSpPr>
            <p:nvPr/>
          </p:nvSpPr>
          <p:spPr bwMode="auto">
            <a:xfrm>
              <a:off x="656" y="2996"/>
              <a:ext cx="275" cy="291"/>
            </a:xfrm>
            <a:prstGeom prst="rect">
              <a:avLst/>
            </a:prstGeom>
            <a:solidFill>
              <a:srgbClr val="D2D2F4"/>
            </a:solid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mn-lt"/>
                <a:ea typeface="+mn-ea"/>
                <a:cs typeface="+mn-ea"/>
                <a:sym typeface="+mn-lt"/>
              </a:endParaRPr>
            </a:p>
          </p:txBody>
        </p:sp>
        <p:sp>
          <p:nvSpPr>
            <p:cNvPr id="124946" name="Line 52"/>
            <p:cNvSpPr>
              <a:spLocks noChangeShapeType="1"/>
            </p:cNvSpPr>
            <p:nvPr/>
          </p:nvSpPr>
          <p:spPr bwMode="auto">
            <a:xfrm>
              <a:off x="1131" y="3163"/>
              <a:ext cx="340"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47" name="Text Box 53"/>
            <p:cNvSpPr txBox="1">
              <a:spLocks noChangeArrowheads="1"/>
            </p:cNvSpPr>
            <p:nvPr/>
          </p:nvSpPr>
          <p:spPr bwMode="auto">
            <a:xfrm>
              <a:off x="2763" y="2978"/>
              <a:ext cx="567" cy="272"/>
            </a:xfrm>
            <a:prstGeom prst="rect">
              <a:avLst/>
            </a:prstGeom>
            <a:solidFill>
              <a:srgbClr val="D2D2F4"/>
            </a:solidFill>
            <a:ln w="28575">
              <a:solidFill>
                <a:schemeClr val="tx1">
                  <a:lumMod val="95000"/>
                  <a:lumOff val="5000"/>
                </a:schemeClr>
              </a:solidFill>
              <a:miter lim="800000"/>
            </a:ln>
          </p:spPr>
          <p:txBody>
            <a:bodyPr lIns="18000" tIns="0" rIns="0" bIns="72000"/>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1" i="1"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400" b="1" i="1" u="none" strike="noStrike" kern="1200" cap="none" spc="0" normalizeH="0" baseline="-25000" noProof="0" dirty="0">
                  <a:ln>
                    <a:noFill/>
                  </a:ln>
                  <a:solidFill>
                    <a:srgbClr val="FF0000"/>
                  </a:solidFill>
                  <a:effectLst/>
                  <a:uLnTx/>
                  <a:uFillTx/>
                  <a:latin typeface="+mn-lt"/>
                  <a:ea typeface="+mn-ea"/>
                  <a:cs typeface="+mn-ea"/>
                  <a:sym typeface="+mn-lt"/>
                </a:rPr>
                <a:t>i</a:t>
              </a:r>
              <a:r>
                <a:rPr kumimoji="0" lang="en-US" altLang="zh-CN" sz="2400" b="1" i="0" u="none" strike="noStrike" kern="1200" cap="none" spc="0" normalizeH="0" baseline="-25000" noProof="0" dirty="0">
                  <a:ln>
                    <a:noFill/>
                  </a:ln>
                  <a:solidFill>
                    <a:srgbClr val="FF0000"/>
                  </a:solidFill>
                  <a:effectLst/>
                  <a:uLnTx/>
                  <a:uFillTx/>
                  <a:latin typeface="+mn-lt"/>
                  <a:ea typeface="+mn-ea"/>
                  <a:cs typeface="+mn-ea"/>
                  <a:sym typeface="+mn-lt"/>
                </a:rPr>
                <a:t>-1</a:t>
              </a:r>
            </a:p>
          </p:txBody>
        </p:sp>
        <p:sp>
          <p:nvSpPr>
            <p:cNvPr id="124948" name="Line 54"/>
            <p:cNvSpPr>
              <a:spLocks noChangeShapeType="1"/>
            </p:cNvSpPr>
            <p:nvPr/>
          </p:nvSpPr>
          <p:spPr bwMode="auto">
            <a:xfrm>
              <a:off x="3074" y="2978"/>
              <a:ext cx="0" cy="272"/>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49" name="Text Box 55"/>
            <p:cNvSpPr txBox="1">
              <a:spLocks noChangeArrowheads="1"/>
            </p:cNvSpPr>
            <p:nvPr/>
          </p:nvSpPr>
          <p:spPr bwMode="auto">
            <a:xfrm>
              <a:off x="4817" y="2978"/>
              <a:ext cx="567" cy="272"/>
            </a:xfrm>
            <a:prstGeom prst="rect">
              <a:avLst/>
            </a:prstGeom>
            <a:solidFill>
              <a:srgbClr val="D2D2F4"/>
            </a:solidFill>
            <a:ln w="28575">
              <a:solidFill>
                <a:schemeClr val="tx1">
                  <a:lumMod val="95000"/>
                  <a:lumOff val="5000"/>
                </a:schemeClr>
              </a:solidFill>
              <a:miter lim="800000"/>
            </a:ln>
          </p:spPr>
          <p:txBody>
            <a:bodyPr lIns="72000" tIns="0" rIns="0" bIns="72000"/>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1" i="1"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400" b="1" i="1" u="none" strike="noStrike" kern="1200" cap="none" spc="0" normalizeH="0" baseline="-25000" noProof="0" dirty="0">
                  <a:ln>
                    <a:noFill/>
                  </a:ln>
                  <a:solidFill>
                    <a:srgbClr val="FF0000"/>
                  </a:solidFill>
                  <a:effectLst/>
                  <a:uLnTx/>
                  <a:uFillTx/>
                  <a:latin typeface="+mn-lt"/>
                  <a:ea typeface="+mn-ea"/>
                  <a:cs typeface="+mn-ea"/>
                  <a:sym typeface="+mn-lt"/>
                </a:rPr>
                <a:t>n</a:t>
              </a:r>
            </a:p>
          </p:txBody>
        </p:sp>
        <p:sp>
          <p:nvSpPr>
            <p:cNvPr id="124950" name="Line 56"/>
            <p:cNvSpPr>
              <a:spLocks noChangeShapeType="1"/>
            </p:cNvSpPr>
            <p:nvPr/>
          </p:nvSpPr>
          <p:spPr bwMode="auto">
            <a:xfrm>
              <a:off x="5128" y="2978"/>
              <a:ext cx="0" cy="272"/>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1" name="Text Box 57"/>
            <p:cNvSpPr txBox="1">
              <a:spLocks noChangeArrowheads="1"/>
            </p:cNvSpPr>
            <p:nvPr/>
          </p:nvSpPr>
          <p:spPr bwMode="auto">
            <a:xfrm>
              <a:off x="3602" y="2978"/>
              <a:ext cx="567" cy="272"/>
            </a:xfrm>
            <a:prstGeom prst="rect">
              <a:avLst/>
            </a:prstGeom>
            <a:solidFill>
              <a:srgbClr val="D2D2F4"/>
            </a:solidFill>
            <a:ln w="28575">
              <a:solidFill>
                <a:schemeClr val="tx1">
                  <a:lumMod val="95000"/>
                  <a:lumOff val="5000"/>
                </a:schemeClr>
              </a:solidFill>
              <a:miter lim="800000"/>
            </a:ln>
          </p:spPr>
          <p:txBody>
            <a:bodyPr lIns="72000" tIns="0" rIns="0" bIns="72000"/>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1" i="1" u="none" strike="noStrike" kern="1200" cap="none" spc="0" normalizeH="0" baseline="0" noProof="0" dirty="0" err="1">
                  <a:ln>
                    <a:noFill/>
                  </a:ln>
                  <a:solidFill>
                    <a:srgbClr val="FF0000"/>
                  </a:solidFill>
                  <a:effectLst/>
                  <a:uLnTx/>
                  <a:uFillTx/>
                  <a:latin typeface="+mn-lt"/>
                  <a:ea typeface="+mn-ea"/>
                  <a:cs typeface="+mn-ea"/>
                  <a:sym typeface="+mn-lt"/>
                </a:rPr>
                <a:t>a</a:t>
              </a:r>
              <a:r>
                <a:rPr kumimoji="0" lang="en-US" altLang="zh-CN" sz="2400" b="1" i="1" u="none" strike="noStrike" kern="1200" cap="none" spc="0" normalizeH="0" baseline="-25000" noProof="0" dirty="0" err="1">
                  <a:ln>
                    <a:noFill/>
                  </a:ln>
                  <a:solidFill>
                    <a:srgbClr val="FF0000"/>
                  </a:solidFill>
                  <a:effectLst/>
                  <a:uLnTx/>
                  <a:uFillTx/>
                  <a:latin typeface="+mn-lt"/>
                  <a:ea typeface="+mn-ea"/>
                  <a:cs typeface="+mn-ea"/>
                  <a:sym typeface="+mn-lt"/>
                </a:rPr>
                <a:t>i</a:t>
              </a:r>
              <a:endParaRPr kumimoji="0" lang="en-US" altLang="zh-CN" sz="2400" b="1" i="1" u="none" strike="noStrike" kern="1200" cap="none" spc="0" normalizeH="0" baseline="-25000" noProof="0" dirty="0">
                <a:ln>
                  <a:noFill/>
                </a:ln>
                <a:solidFill>
                  <a:srgbClr val="FF0000"/>
                </a:solidFill>
                <a:effectLst/>
                <a:uLnTx/>
                <a:uFillTx/>
                <a:latin typeface="+mn-lt"/>
                <a:ea typeface="+mn-ea"/>
                <a:cs typeface="+mn-ea"/>
                <a:sym typeface="+mn-lt"/>
              </a:endParaRPr>
            </a:p>
          </p:txBody>
        </p:sp>
        <p:sp>
          <p:nvSpPr>
            <p:cNvPr id="124952" name="Line 58"/>
            <p:cNvSpPr>
              <a:spLocks noChangeShapeType="1"/>
            </p:cNvSpPr>
            <p:nvPr/>
          </p:nvSpPr>
          <p:spPr bwMode="auto">
            <a:xfrm>
              <a:off x="3913" y="2978"/>
              <a:ext cx="0" cy="272"/>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3" name="Line 59"/>
            <p:cNvSpPr>
              <a:spLocks noChangeShapeType="1"/>
            </p:cNvSpPr>
            <p:nvPr/>
          </p:nvSpPr>
          <p:spPr bwMode="auto">
            <a:xfrm>
              <a:off x="4119" y="3162"/>
              <a:ext cx="212"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4" name="Line 60"/>
            <p:cNvSpPr>
              <a:spLocks noChangeShapeType="1"/>
            </p:cNvSpPr>
            <p:nvPr/>
          </p:nvSpPr>
          <p:spPr bwMode="auto">
            <a:xfrm flipV="1">
              <a:off x="4623" y="3162"/>
              <a:ext cx="181"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5" name="Line 61"/>
            <p:cNvSpPr>
              <a:spLocks noChangeShapeType="1"/>
            </p:cNvSpPr>
            <p:nvPr/>
          </p:nvSpPr>
          <p:spPr bwMode="auto">
            <a:xfrm>
              <a:off x="3241" y="3153"/>
              <a:ext cx="340"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6" name="Line 62"/>
            <p:cNvSpPr>
              <a:spLocks noChangeShapeType="1"/>
            </p:cNvSpPr>
            <p:nvPr/>
          </p:nvSpPr>
          <p:spPr bwMode="auto">
            <a:xfrm>
              <a:off x="2279" y="3161"/>
              <a:ext cx="199" cy="0"/>
            </a:xfrm>
            <a:prstGeom prst="line">
              <a:avLst/>
            </a:prstGeom>
            <a:noFill/>
            <a:ln w="28575">
              <a:solidFill>
                <a:schemeClr val="tx1">
                  <a:lumMod val="95000"/>
                  <a:lumOff val="5000"/>
                </a:schemeClr>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7" name="Line 63"/>
            <p:cNvSpPr>
              <a:spLocks noChangeShapeType="1"/>
            </p:cNvSpPr>
            <p:nvPr/>
          </p:nvSpPr>
          <p:spPr bwMode="auto">
            <a:xfrm>
              <a:off x="1971" y="3162"/>
              <a:ext cx="258"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58" name="Line 64"/>
            <p:cNvSpPr>
              <a:spLocks noChangeShapeType="1"/>
            </p:cNvSpPr>
            <p:nvPr/>
          </p:nvSpPr>
          <p:spPr bwMode="auto">
            <a:xfrm flipV="1">
              <a:off x="2539" y="3162"/>
              <a:ext cx="227"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30080" name="Group 65"/>
            <p:cNvGrpSpPr/>
            <p:nvPr/>
          </p:nvGrpSpPr>
          <p:grpSpPr>
            <a:xfrm flipV="1">
              <a:off x="404" y="2789"/>
              <a:ext cx="5108" cy="490"/>
              <a:chOff x="439" y="1434"/>
              <a:chExt cx="5108" cy="490"/>
            </a:xfrm>
          </p:grpSpPr>
          <p:sp>
            <p:nvSpPr>
              <p:cNvPr id="124960" name="Line 66"/>
              <p:cNvSpPr>
                <a:spLocks noChangeShapeType="1"/>
              </p:cNvSpPr>
              <p:nvPr/>
            </p:nvSpPr>
            <p:spPr bwMode="auto">
              <a:xfrm flipH="1">
                <a:off x="5392" y="1558"/>
                <a:ext cx="155" cy="0"/>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61" name="Line 67"/>
              <p:cNvSpPr>
                <a:spLocks noChangeShapeType="1"/>
              </p:cNvSpPr>
              <p:nvPr/>
            </p:nvSpPr>
            <p:spPr bwMode="auto">
              <a:xfrm flipH="1" flipV="1">
                <a:off x="5540" y="1549"/>
                <a:ext cx="0" cy="357"/>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62" name="Line 68"/>
              <p:cNvSpPr>
                <a:spLocks noChangeShapeType="1"/>
              </p:cNvSpPr>
              <p:nvPr/>
            </p:nvSpPr>
            <p:spPr bwMode="auto">
              <a:xfrm>
                <a:off x="439" y="1915"/>
                <a:ext cx="5101" cy="0"/>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63" name="Line 69"/>
              <p:cNvSpPr>
                <a:spLocks noChangeShapeType="1"/>
              </p:cNvSpPr>
              <p:nvPr/>
            </p:nvSpPr>
            <p:spPr bwMode="auto">
              <a:xfrm flipV="1">
                <a:off x="450" y="1613"/>
                <a:ext cx="0" cy="311"/>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4964" name="Line 70"/>
              <p:cNvSpPr>
                <a:spLocks noChangeShapeType="1"/>
              </p:cNvSpPr>
              <p:nvPr/>
            </p:nvSpPr>
            <p:spPr bwMode="auto">
              <a:xfrm>
                <a:off x="448" y="1618"/>
                <a:ext cx="210" cy="0"/>
              </a:xfrm>
              <a:prstGeom prst="line">
                <a:avLst/>
              </a:prstGeom>
              <a:noFill/>
              <a:ln w="28575">
                <a:solidFill>
                  <a:schemeClr val="tx1">
                    <a:lumMod val="95000"/>
                    <a:lumOff val="5000"/>
                  </a:schemeClr>
                </a:solidFill>
                <a:round/>
                <a:tailEnd type="stealth" w="lg"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1" name="Line 66"/>
              <p:cNvSpPr>
                <a:spLocks noChangeShapeType="1"/>
              </p:cNvSpPr>
              <p:nvPr/>
            </p:nvSpPr>
            <p:spPr bwMode="auto">
              <a:xfrm flipH="1">
                <a:off x="675" y="1434"/>
                <a:ext cx="573" cy="0"/>
              </a:xfrm>
              <a:prstGeom prst="line">
                <a:avLst/>
              </a:prstGeom>
              <a:noFill/>
              <a:ln w="28575">
                <a:solidFill>
                  <a:schemeClr val="tx1">
                    <a:lumMod val="95000"/>
                    <a:lumOff val="5000"/>
                  </a:schemeClr>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grpSp>
        <p:nvGrpSpPr>
          <p:cNvPr id="4" name="Group 71"/>
          <p:cNvGrpSpPr/>
          <p:nvPr/>
        </p:nvGrpSpPr>
        <p:grpSpPr>
          <a:xfrm>
            <a:off x="554038" y="4586288"/>
            <a:ext cx="6516687" cy="598487"/>
            <a:chOff x="0" y="2159"/>
            <a:chExt cx="4105" cy="377"/>
          </a:xfrm>
        </p:grpSpPr>
        <p:graphicFrame>
          <p:nvGraphicFramePr>
            <p:cNvPr id="130057" name="Object 2"/>
            <p:cNvGraphicFramePr/>
            <p:nvPr/>
          </p:nvGraphicFramePr>
          <p:xfrm>
            <a:off x="0" y="2159"/>
            <a:ext cx="398" cy="377"/>
          </p:xfrm>
          <a:graphic>
            <a:graphicData uri="http://schemas.openxmlformats.org/presentationml/2006/ole">
              <mc:AlternateContent xmlns:mc="http://schemas.openxmlformats.org/markup-compatibility/2006">
                <mc:Choice xmlns:v="urn:schemas-microsoft-com:vml" Requires="v">
                  <p:oleObj spid="_x0000_s12311" r:id="rId3" imgW="861060" imgH="845185" progId="">
                    <p:embed/>
                  </p:oleObj>
                </mc:Choice>
                <mc:Fallback>
                  <p:oleObj r:id="rId3" imgW="861060" imgH="845185" progId="">
                    <p:embed/>
                    <p:pic>
                      <p:nvPicPr>
                        <p:cNvPr id="0" name="图片 3090"/>
                        <p:cNvPicPr/>
                        <p:nvPr/>
                      </p:nvPicPr>
                      <p:blipFill>
                        <a:blip r:embed="rId4"/>
                        <a:stretch>
                          <a:fillRect/>
                        </a:stretch>
                      </p:blipFill>
                      <p:spPr>
                        <a:xfrm>
                          <a:off x="0" y="2159"/>
                          <a:ext cx="398" cy="377"/>
                        </a:xfrm>
                        <a:prstGeom prst="rect">
                          <a:avLst/>
                        </a:prstGeom>
                        <a:noFill/>
                        <a:ln w="38100">
                          <a:noFill/>
                          <a:miter/>
                        </a:ln>
                      </p:spPr>
                    </p:pic>
                  </p:oleObj>
                </mc:Fallback>
              </mc:AlternateContent>
            </a:graphicData>
          </a:graphic>
        </p:graphicFrame>
        <p:sp>
          <p:nvSpPr>
            <p:cNvPr id="124937" name="Text Box 73"/>
            <p:cNvSpPr txBox="1">
              <a:spLocks noChangeArrowheads="1"/>
            </p:cNvSpPr>
            <p:nvPr/>
          </p:nvSpPr>
          <p:spPr bwMode="auto">
            <a:xfrm>
              <a:off x="448" y="2208"/>
              <a:ext cx="36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如何查找开始结点和终端结点？</a:t>
              </a:r>
            </a:p>
          </p:txBody>
        </p:sp>
      </p:grpSp>
      <p:sp>
        <p:nvSpPr>
          <p:cNvPr id="38" name="Text Box 74"/>
          <p:cNvSpPr txBox="1">
            <a:spLocks noChangeArrowheads="1"/>
          </p:cNvSpPr>
          <p:nvPr/>
        </p:nvSpPr>
        <p:spPr bwMode="auto">
          <a:xfrm>
            <a:off x="0" y="5356225"/>
            <a:ext cx="9144000" cy="1160463"/>
          </a:xfrm>
          <a:prstGeom prst="rect">
            <a:avLst/>
          </a:prstGeom>
          <a:solidFill>
            <a:srgbClr val="D2D2F4"/>
          </a:solidFill>
          <a:ln w="38100">
            <a:no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                  开始结点：</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rear-&gt;next-&gt;next</a:t>
            </a: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                  终端结点：</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rear</a:t>
            </a:r>
          </a:p>
        </p:txBody>
      </p:sp>
      <p:sp>
        <p:nvSpPr>
          <p:cNvPr id="124935" name="Text Box 6"/>
          <p:cNvSpPr txBox="1">
            <a:spLocks noChangeArrowheads="1"/>
          </p:cNvSpPr>
          <p:nvPr/>
        </p:nvSpPr>
        <p:spPr bwMode="auto">
          <a:xfrm>
            <a:off x="414338" y="1357313"/>
            <a:ext cx="11525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rgbClr val="7030A0"/>
                </a:solidFill>
                <a:effectLst/>
                <a:uLnTx/>
                <a:uFillTx/>
                <a:latin typeface="+mn-lt"/>
                <a:ea typeface="+mn-ea"/>
                <a:cs typeface="+mn-ea"/>
                <a:sym typeface="+mn-lt"/>
              </a:rPr>
              <a:t>说明</a:t>
            </a:r>
          </a:p>
        </p:txBody>
      </p:sp>
      <p:sp>
        <p:nvSpPr>
          <p:cNvPr id="37" name="Rectangle 4"/>
          <p:cNvSpPr>
            <a:spLocks noChangeArrowheads="1"/>
          </p:cNvSpPr>
          <p:nvPr/>
        </p:nvSpPr>
        <p:spPr bwMode="auto">
          <a:xfrm>
            <a:off x="889000" y="139700"/>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循环链表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矩形 2"/>
          <p:cNvSpPr/>
          <p:nvPr/>
        </p:nvSpPr>
        <p:spPr>
          <a:xfrm>
            <a:off x="0" y="4335463"/>
            <a:ext cx="9144000" cy="2417762"/>
          </a:xfrm>
          <a:prstGeom prst="rect">
            <a:avLst/>
          </a:prstGeom>
          <a:solidFill>
            <a:srgbClr val="EBEBEB"/>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131075" name="Group 125"/>
          <p:cNvGrpSpPr/>
          <p:nvPr/>
        </p:nvGrpSpPr>
        <p:grpSpPr>
          <a:xfrm>
            <a:off x="1670050" y="4584700"/>
            <a:ext cx="7129463" cy="2111375"/>
            <a:chOff x="644" y="2341"/>
            <a:chExt cx="4491" cy="1446"/>
          </a:xfrm>
        </p:grpSpPr>
        <p:sp>
          <p:nvSpPr>
            <p:cNvPr id="126016" name="Rectangle 63"/>
            <p:cNvSpPr>
              <a:spLocks noChangeArrowheads="1"/>
            </p:cNvSpPr>
            <p:nvPr/>
          </p:nvSpPr>
          <p:spPr bwMode="auto">
            <a:xfrm>
              <a:off x="644" y="2341"/>
              <a:ext cx="4491" cy="1316"/>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rgbClr val="FF0000"/>
                </a:solidFill>
                <a:effectLst/>
                <a:uLnTx/>
                <a:uFillTx/>
                <a:latin typeface="+mn-lt"/>
                <a:ea typeface="+mn-ea"/>
                <a:cs typeface="+mn-ea"/>
                <a:sym typeface="+mn-lt"/>
              </a:endParaRPr>
            </a:p>
          </p:txBody>
        </p:sp>
        <p:grpSp>
          <p:nvGrpSpPr>
            <p:cNvPr id="131138" name="Group 64"/>
            <p:cNvGrpSpPr/>
            <p:nvPr/>
          </p:nvGrpSpPr>
          <p:grpSpPr>
            <a:xfrm>
              <a:off x="851" y="2341"/>
              <a:ext cx="4132" cy="1446"/>
              <a:chOff x="851" y="981"/>
              <a:chExt cx="4132" cy="1446"/>
            </a:xfrm>
          </p:grpSpPr>
          <p:sp>
            <p:nvSpPr>
              <p:cNvPr id="126018" name="Rectangle 65"/>
              <p:cNvSpPr>
                <a:spLocks noChangeArrowheads="1"/>
              </p:cNvSpPr>
              <p:nvPr/>
            </p:nvSpPr>
            <p:spPr bwMode="auto">
              <a:xfrm>
                <a:off x="2496" y="1125"/>
                <a:ext cx="499" cy="324"/>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grpSp>
            <p:nvGrpSpPr>
              <p:cNvPr id="131140" name="Group 66"/>
              <p:cNvGrpSpPr/>
              <p:nvPr/>
            </p:nvGrpSpPr>
            <p:grpSpPr>
              <a:xfrm flipH="1">
                <a:off x="4078" y="1346"/>
                <a:ext cx="528" cy="96"/>
                <a:chOff x="610" y="1588"/>
                <a:chExt cx="625" cy="96"/>
              </a:xfrm>
            </p:grpSpPr>
            <p:sp>
              <p:nvSpPr>
                <p:cNvPr id="126075" name="Line 67"/>
                <p:cNvSpPr>
                  <a:spLocks noChangeShapeType="1"/>
                </p:cNvSpPr>
                <p:nvPr/>
              </p:nvSpPr>
              <p:spPr bwMode="auto">
                <a:xfrm>
                  <a:off x="610" y="1588"/>
                  <a:ext cx="336"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76" name="Freeform 68"/>
                <p:cNvSpPr>
                  <a:spLocks noChangeArrowheads="1"/>
                </p:cNvSpPr>
                <p:nvPr/>
              </p:nvSpPr>
              <p:spPr bwMode="auto">
                <a:xfrm rot="2794506">
                  <a:off x="888" y="1546"/>
                  <a:ext cx="3" cy="179"/>
                </a:xfrm>
                <a:custGeom>
                  <a:avLst/>
                  <a:gdLst>
                    <a:gd name="T0" fmla="*/ 3 w 3"/>
                    <a:gd name="T1" fmla="*/ 0 h 177"/>
                    <a:gd name="T2" fmla="*/ 0 w 3"/>
                    <a:gd name="T3" fmla="*/ 177 h 177"/>
                    <a:gd name="T4" fmla="*/ 0 60000 65536"/>
                    <a:gd name="T5" fmla="*/ 0 60000 65536"/>
                  </a:gdLst>
                  <a:ahLst/>
                  <a:cxnLst>
                    <a:cxn ang="T4">
                      <a:pos x="T0" y="T1"/>
                    </a:cxn>
                    <a:cxn ang="T5">
                      <a:pos x="T2" y="T3"/>
                    </a:cxn>
                  </a:cxnLst>
                  <a:rect l="0" t="0" r="r" b="b"/>
                  <a:pathLst>
                    <a:path w="3" h="177">
                      <a:moveTo>
                        <a:pt x="3" y="0"/>
                      </a:moveTo>
                      <a:cubicBezTo>
                        <a:pt x="3" y="29"/>
                        <a:pt x="1" y="140"/>
                        <a:pt x="0" y="177"/>
                      </a:cubicBezTo>
                    </a:path>
                  </a:pathLst>
                </a:custGeom>
                <a:noFill/>
                <a:ln w="38100" cap="rnd">
                  <a:solidFill>
                    <a:srgbClr val="FF33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77" name="Line 69"/>
                <p:cNvSpPr>
                  <a:spLocks noChangeShapeType="1"/>
                </p:cNvSpPr>
                <p:nvPr/>
              </p:nvSpPr>
              <p:spPr bwMode="auto">
                <a:xfrm>
                  <a:off x="851" y="1684"/>
                  <a:ext cx="384"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26020" name="Text Box 70"/>
              <p:cNvSpPr txBox="1">
                <a:spLocks noChangeArrowheads="1"/>
              </p:cNvSpPr>
              <p:nvPr/>
            </p:nvSpPr>
            <p:spPr bwMode="auto">
              <a:xfrm>
                <a:off x="4551" y="1192"/>
                <a:ext cx="43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Ta</a:t>
                </a:r>
              </a:p>
            </p:txBody>
          </p:sp>
          <p:sp>
            <p:nvSpPr>
              <p:cNvPr id="126021" name="Rectangle 71"/>
              <p:cNvSpPr>
                <a:spLocks noChangeArrowheads="1"/>
              </p:cNvSpPr>
              <p:nvPr/>
            </p:nvSpPr>
            <p:spPr bwMode="auto">
              <a:xfrm>
                <a:off x="3523" y="1125"/>
                <a:ext cx="500" cy="324"/>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022" name="Line 72"/>
              <p:cNvSpPr>
                <a:spLocks noChangeShapeType="1"/>
              </p:cNvSpPr>
              <p:nvPr/>
            </p:nvSpPr>
            <p:spPr bwMode="auto">
              <a:xfrm>
                <a:off x="3773" y="1125"/>
                <a:ext cx="1" cy="336"/>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23" name="Line 73"/>
              <p:cNvSpPr>
                <a:spLocks noChangeShapeType="1"/>
              </p:cNvSpPr>
              <p:nvPr/>
            </p:nvSpPr>
            <p:spPr bwMode="auto">
              <a:xfrm>
                <a:off x="2727" y="1125"/>
                <a:ext cx="0" cy="324"/>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24" name="Line 74"/>
              <p:cNvSpPr>
                <a:spLocks noChangeShapeType="1"/>
              </p:cNvSpPr>
              <p:nvPr/>
            </p:nvSpPr>
            <p:spPr bwMode="auto">
              <a:xfrm>
                <a:off x="2889" y="1317"/>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25" name="Rectangle 75"/>
              <p:cNvSpPr>
                <a:spLocks noChangeArrowheads="1"/>
              </p:cNvSpPr>
              <p:nvPr/>
            </p:nvSpPr>
            <p:spPr bwMode="auto">
              <a:xfrm>
                <a:off x="1854" y="1125"/>
                <a:ext cx="499" cy="324"/>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026" name="Line 76"/>
              <p:cNvSpPr>
                <a:spLocks noChangeShapeType="1"/>
              </p:cNvSpPr>
              <p:nvPr/>
            </p:nvSpPr>
            <p:spPr bwMode="auto">
              <a:xfrm>
                <a:off x="2104" y="1125"/>
                <a:ext cx="0" cy="324"/>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27" name="Line 77"/>
              <p:cNvSpPr>
                <a:spLocks noChangeShapeType="1"/>
              </p:cNvSpPr>
              <p:nvPr/>
            </p:nvSpPr>
            <p:spPr bwMode="auto">
              <a:xfrm>
                <a:off x="2246" y="1317"/>
                <a:ext cx="250"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28" name="Line 78"/>
              <p:cNvSpPr>
                <a:spLocks noChangeShapeType="1"/>
              </p:cNvSpPr>
              <p:nvPr/>
            </p:nvSpPr>
            <p:spPr bwMode="auto">
              <a:xfrm>
                <a:off x="3345" y="1317"/>
                <a:ext cx="178" cy="1"/>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29" name="Line 79"/>
              <p:cNvSpPr>
                <a:spLocks noChangeShapeType="1"/>
              </p:cNvSpPr>
              <p:nvPr/>
            </p:nvSpPr>
            <p:spPr bwMode="auto">
              <a:xfrm>
                <a:off x="3175" y="1317"/>
                <a:ext cx="141"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30" name="Rectangle 80"/>
              <p:cNvSpPr>
                <a:spLocks noChangeArrowheads="1"/>
              </p:cNvSpPr>
              <p:nvPr/>
            </p:nvSpPr>
            <p:spPr bwMode="auto">
              <a:xfrm>
                <a:off x="1187" y="1125"/>
                <a:ext cx="499" cy="324"/>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031" name="Line 81"/>
              <p:cNvSpPr>
                <a:spLocks noChangeShapeType="1"/>
              </p:cNvSpPr>
              <p:nvPr/>
            </p:nvSpPr>
            <p:spPr bwMode="auto">
              <a:xfrm>
                <a:off x="1436" y="1125"/>
                <a:ext cx="0" cy="324"/>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32" name="Line 82"/>
              <p:cNvSpPr>
                <a:spLocks noChangeShapeType="1"/>
              </p:cNvSpPr>
              <p:nvPr/>
            </p:nvSpPr>
            <p:spPr bwMode="auto">
              <a:xfrm>
                <a:off x="1579" y="1317"/>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33" name="Line 83"/>
              <p:cNvSpPr>
                <a:spLocks noChangeShapeType="1"/>
              </p:cNvSpPr>
              <p:nvPr/>
            </p:nvSpPr>
            <p:spPr bwMode="auto">
              <a:xfrm flipH="1">
                <a:off x="1187" y="1125"/>
                <a:ext cx="125" cy="192"/>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34" name="Line 84"/>
              <p:cNvSpPr>
                <a:spLocks noChangeShapeType="1"/>
              </p:cNvSpPr>
              <p:nvPr/>
            </p:nvSpPr>
            <p:spPr bwMode="auto">
              <a:xfrm flipH="1">
                <a:off x="1228" y="1125"/>
                <a:ext cx="209" cy="33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35" name="Line 85"/>
              <p:cNvSpPr>
                <a:spLocks noChangeShapeType="1"/>
              </p:cNvSpPr>
              <p:nvPr/>
            </p:nvSpPr>
            <p:spPr bwMode="auto">
              <a:xfrm flipH="1">
                <a:off x="1312" y="1317"/>
                <a:ext cx="125" cy="144"/>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36" name="Line 86"/>
              <p:cNvSpPr>
                <a:spLocks noChangeShapeType="1"/>
              </p:cNvSpPr>
              <p:nvPr/>
            </p:nvSpPr>
            <p:spPr bwMode="auto">
              <a:xfrm>
                <a:off x="855" y="981"/>
                <a:ext cx="3401"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31158" name="Group 87"/>
              <p:cNvGrpSpPr/>
              <p:nvPr/>
            </p:nvGrpSpPr>
            <p:grpSpPr>
              <a:xfrm>
                <a:off x="851" y="1769"/>
                <a:ext cx="336" cy="240"/>
                <a:chOff x="668" y="4095"/>
                <a:chExt cx="336" cy="240"/>
              </a:xfrm>
            </p:grpSpPr>
            <p:sp>
              <p:nvSpPr>
                <p:cNvPr id="126073" name="Line 88"/>
                <p:cNvSpPr>
                  <a:spLocks noChangeShapeType="1"/>
                </p:cNvSpPr>
                <p:nvPr/>
              </p:nvSpPr>
              <p:spPr bwMode="auto">
                <a:xfrm>
                  <a:off x="668" y="4341"/>
                  <a:ext cx="336"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74" name="Line 89"/>
                <p:cNvSpPr>
                  <a:spLocks noChangeShapeType="1"/>
                </p:cNvSpPr>
                <p:nvPr/>
              </p:nvSpPr>
              <p:spPr bwMode="auto">
                <a:xfrm>
                  <a:off x="668" y="4095"/>
                  <a:ext cx="0" cy="24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31159" name="Group 90"/>
              <p:cNvGrpSpPr/>
              <p:nvPr/>
            </p:nvGrpSpPr>
            <p:grpSpPr>
              <a:xfrm>
                <a:off x="3927" y="981"/>
                <a:ext cx="336" cy="288"/>
                <a:chOff x="3744" y="2496"/>
                <a:chExt cx="336" cy="288"/>
              </a:xfrm>
            </p:grpSpPr>
            <p:sp>
              <p:nvSpPr>
                <p:cNvPr id="126071" name="Line 91"/>
                <p:cNvSpPr>
                  <a:spLocks noChangeShapeType="1"/>
                </p:cNvSpPr>
                <p:nvPr/>
              </p:nvSpPr>
              <p:spPr bwMode="auto">
                <a:xfrm>
                  <a:off x="4069" y="2496"/>
                  <a:ext cx="0" cy="288"/>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72" name="Line 92"/>
                <p:cNvSpPr>
                  <a:spLocks noChangeShapeType="1"/>
                </p:cNvSpPr>
                <p:nvPr/>
              </p:nvSpPr>
              <p:spPr bwMode="auto">
                <a:xfrm>
                  <a:off x="3744" y="2784"/>
                  <a:ext cx="336"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26039" name="Text Box 93"/>
              <p:cNvSpPr txBox="1">
                <a:spLocks noChangeArrowheads="1"/>
              </p:cNvSpPr>
              <p:nvPr/>
            </p:nvSpPr>
            <p:spPr bwMode="auto">
              <a:xfrm>
                <a:off x="1863" y="1125"/>
                <a:ext cx="288"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1</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6040" name="Text Box 94"/>
              <p:cNvSpPr txBox="1">
                <a:spLocks noChangeArrowheads="1"/>
              </p:cNvSpPr>
              <p:nvPr/>
            </p:nvSpPr>
            <p:spPr bwMode="auto">
              <a:xfrm>
                <a:off x="3495" y="1125"/>
                <a:ext cx="288"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n</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6041" name="Rectangle 95"/>
              <p:cNvSpPr>
                <a:spLocks noChangeArrowheads="1"/>
              </p:cNvSpPr>
              <p:nvPr/>
            </p:nvSpPr>
            <p:spPr bwMode="auto">
              <a:xfrm>
                <a:off x="2496" y="1942"/>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grpSp>
            <p:nvGrpSpPr>
              <p:cNvPr id="131163" name="Group 96"/>
              <p:cNvGrpSpPr/>
              <p:nvPr/>
            </p:nvGrpSpPr>
            <p:grpSpPr>
              <a:xfrm flipH="1">
                <a:off x="4004" y="2138"/>
                <a:ext cx="528" cy="96"/>
                <a:chOff x="697" y="1563"/>
                <a:chExt cx="624" cy="96"/>
              </a:xfrm>
            </p:grpSpPr>
            <p:sp>
              <p:nvSpPr>
                <p:cNvPr id="126068" name="Line 97"/>
                <p:cNvSpPr>
                  <a:spLocks noChangeShapeType="1"/>
                </p:cNvSpPr>
                <p:nvPr/>
              </p:nvSpPr>
              <p:spPr bwMode="auto">
                <a:xfrm>
                  <a:off x="697" y="1563"/>
                  <a:ext cx="336"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69" name="Freeform 98"/>
                <p:cNvSpPr>
                  <a:spLocks noChangeArrowheads="1"/>
                </p:cNvSpPr>
                <p:nvPr/>
              </p:nvSpPr>
              <p:spPr bwMode="auto">
                <a:xfrm rot="2794506">
                  <a:off x="975" y="1519"/>
                  <a:ext cx="2" cy="177"/>
                </a:xfrm>
                <a:custGeom>
                  <a:avLst/>
                  <a:gdLst>
                    <a:gd name="T0" fmla="*/ 3 w 3"/>
                    <a:gd name="T1" fmla="*/ 0 h 177"/>
                    <a:gd name="T2" fmla="*/ 0 w 3"/>
                    <a:gd name="T3" fmla="*/ 177 h 177"/>
                    <a:gd name="T4" fmla="*/ 0 60000 65536"/>
                    <a:gd name="T5" fmla="*/ 0 60000 65536"/>
                  </a:gdLst>
                  <a:ahLst/>
                  <a:cxnLst>
                    <a:cxn ang="T4">
                      <a:pos x="T0" y="T1"/>
                    </a:cxn>
                    <a:cxn ang="T5">
                      <a:pos x="T2" y="T3"/>
                    </a:cxn>
                  </a:cxnLst>
                  <a:rect l="0" t="0" r="r" b="b"/>
                  <a:pathLst>
                    <a:path w="3" h="177">
                      <a:moveTo>
                        <a:pt x="3" y="0"/>
                      </a:moveTo>
                      <a:cubicBezTo>
                        <a:pt x="3" y="29"/>
                        <a:pt x="1" y="140"/>
                        <a:pt x="0" y="177"/>
                      </a:cubicBezTo>
                    </a:path>
                  </a:pathLst>
                </a:custGeom>
                <a:noFill/>
                <a:ln w="38100" cap="rnd">
                  <a:solidFill>
                    <a:srgbClr val="FF33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70" name="Line 99"/>
                <p:cNvSpPr>
                  <a:spLocks noChangeShapeType="1"/>
                </p:cNvSpPr>
                <p:nvPr/>
              </p:nvSpPr>
              <p:spPr bwMode="auto">
                <a:xfrm>
                  <a:off x="937" y="1653"/>
                  <a:ext cx="384"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26043" name="Text Box 100"/>
              <p:cNvSpPr txBox="1">
                <a:spLocks noChangeArrowheads="1"/>
              </p:cNvSpPr>
              <p:nvPr/>
            </p:nvSpPr>
            <p:spPr bwMode="auto">
              <a:xfrm>
                <a:off x="4551" y="2010"/>
                <a:ext cx="43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Tb</a:t>
                </a:r>
              </a:p>
            </p:txBody>
          </p:sp>
          <p:sp>
            <p:nvSpPr>
              <p:cNvPr id="126044" name="Rectangle 101"/>
              <p:cNvSpPr>
                <a:spLocks noChangeArrowheads="1"/>
              </p:cNvSpPr>
              <p:nvPr/>
            </p:nvSpPr>
            <p:spPr bwMode="auto">
              <a:xfrm>
                <a:off x="3523" y="1942"/>
                <a:ext cx="500"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045" name="Line 102"/>
              <p:cNvSpPr>
                <a:spLocks noChangeShapeType="1"/>
              </p:cNvSpPr>
              <p:nvPr/>
            </p:nvSpPr>
            <p:spPr bwMode="auto">
              <a:xfrm>
                <a:off x="3773" y="1942"/>
                <a:ext cx="1" cy="336"/>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46" name="Line 103"/>
              <p:cNvSpPr>
                <a:spLocks noChangeShapeType="1"/>
              </p:cNvSpPr>
              <p:nvPr/>
            </p:nvSpPr>
            <p:spPr bwMode="auto">
              <a:xfrm>
                <a:off x="2727" y="1942"/>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47" name="Line 104"/>
              <p:cNvSpPr>
                <a:spLocks noChangeShapeType="1"/>
              </p:cNvSpPr>
              <p:nvPr/>
            </p:nvSpPr>
            <p:spPr bwMode="auto">
              <a:xfrm>
                <a:off x="2889" y="2135"/>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48" name="Rectangle 105"/>
              <p:cNvSpPr>
                <a:spLocks noChangeArrowheads="1"/>
              </p:cNvSpPr>
              <p:nvPr/>
            </p:nvSpPr>
            <p:spPr bwMode="auto">
              <a:xfrm>
                <a:off x="1854" y="1942"/>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049" name="Line 106"/>
              <p:cNvSpPr>
                <a:spLocks noChangeShapeType="1"/>
              </p:cNvSpPr>
              <p:nvPr/>
            </p:nvSpPr>
            <p:spPr bwMode="auto">
              <a:xfrm>
                <a:off x="2104" y="1942"/>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0" name="Line 107"/>
              <p:cNvSpPr>
                <a:spLocks noChangeShapeType="1"/>
              </p:cNvSpPr>
              <p:nvPr/>
            </p:nvSpPr>
            <p:spPr bwMode="auto">
              <a:xfrm>
                <a:off x="2246" y="2135"/>
                <a:ext cx="250"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1" name="Line 108"/>
              <p:cNvSpPr>
                <a:spLocks noChangeShapeType="1"/>
              </p:cNvSpPr>
              <p:nvPr/>
            </p:nvSpPr>
            <p:spPr bwMode="auto">
              <a:xfrm>
                <a:off x="3345" y="2135"/>
                <a:ext cx="178"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2" name="Line 109"/>
              <p:cNvSpPr>
                <a:spLocks noChangeShapeType="1"/>
              </p:cNvSpPr>
              <p:nvPr/>
            </p:nvSpPr>
            <p:spPr bwMode="auto">
              <a:xfrm>
                <a:off x="3175" y="2135"/>
                <a:ext cx="141"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3" name="Rectangle 110"/>
              <p:cNvSpPr>
                <a:spLocks noChangeArrowheads="1"/>
              </p:cNvSpPr>
              <p:nvPr/>
            </p:nvSpPr>
            <p:spPr bwMode="auto">
              <a:xfrm>
                <a:off x="1187" y="1942"/>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054" name="Line 111"/>
              <p:cNvSpPr>
                <a:spLocks noChangeShapeType="1"/>
              </p:cNvSpPr>
              <p:nvPr/>
            </p:nvSpPr>
            <p:spPr bwMode="auto">
              <a:xfrm>
                <a:off x="1436" y="1942"/>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5" name="Line 112"/>
              <p:cNvSpPr>
                <a:spLocks noChangeShapeType="1"/>
              </p:cNvSpPr>
              <p:nvPr/>
            </p:nvSpPr>
            <p:spPr bwMode="auto">
              <a:xfrm>
                <a:off x="1579" y="2135"/>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6" name="Line 113"/>
              <p:cNvSpPr>
                <a:spLocks noChangeShapeType="1"/>
              </p:cNvSpPr>
              <p:nvPr/>
            </p:nvSpPr>
            <p:spPr bwMode="auto">
              <a:xfrm flipH="1">
                <a:off x="1187" y="1942"/>
                <a:ext cx="125" cy="192"/>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7" name="Line 114"/>
              <p:cNvSpPr>
                <a:spLocks noChangeShapeType="1"/>
              </p:cNvSpPr>
              <p:nvPr/>
            </p:nvSpPr>
            <p:spPr bwMode="auto">
              <a:xfrm flipH="1">
                <a:off x="1228" y="1942"/>
                <a:ext cx="209" cy="33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8" name="Line 115"/>
              <p:cNvSpPr>
                <a:spLocks noChangeShapeType="1"/>
              </p:cNvSpPr>
              <p:nvPr/>
            </p:nvSpPr>
            <p:spPr bwMode="auto">
              <a:xfrm flipH="1">
                <a:off x="1312" y="2135"/>
                <a:ext cx="125" cy="149"/>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59" name="Line 116"/>
              <p:cNvSpPr>
                <a:spLocks noChangeShapeType="1"/>
              </p:cNvSpPr>
              <p:nvPr/>
            </p:nvSpPr>
            <p:spPr bwMode="auto">
              <a:xfrm>
                <a:off x="855" y="1798"/>
                <a:ext cx="3401"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31181" name="Group 117"/>
              <p:cNvGrpSpPr/>
              <p:nvPr/>
            </p:nvGrpSpPr>
            <p:grpSpPr>
              <a:xfrm>
                <a:off x="855" y="987"/>
                <a:ext cx="336" cy="240"/>
                <a:chOff x="672" y="2496"/>
                <a:chExt cx="336" cy="240"/>
              </a:xfrm>
            </p:grpSpPr>
            <p:sp>
              <p:nvSpPr>
                <p:cNvPr id="126066" name="Line 118"/>
                <p:cNvSpPr>
                  <a:spLocks noChangeShapeType="1"/>
                </p:cNvSpPr>
                <p:nvPr/>
              </p:nvSpPr>
              <p:spPr bwMode="auto">
                <a:xfrm>
                  <a:off x="672" y="2736"/>
                  <a:ext cx="336"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67" name="Line 119"/>
                <p:cNvSpPr>
                  <a:spLocks noChangeShapeType="1"/>
                </p:cNvSpPr>
                <p:nvPr/>
              </p:nvSpPr>
              <p:spPr bwMode="auto">
                <a:xfrm>
                  <a:off x="672" y="2502"/>
                  <a:ext cx="0" cy="234"/>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31182" name="Group 120"/>
              <p:cNvGrpSpPr/>
              <p:nvPr/>
            </p:nvGrpSpPr>
            <p:grpSpPr>
              <a:xfrm>
                <a:off x="3927" y="1798"/>
                <a:ext cx="336" cy="288"/>
                <a:chOff x="3744" y="2496"/>
                <a:chExt cx="336" cy="288"/>
              </a:xfrm>
            </p:grpSpPr>
            <p:sp>
              <p:nvSpPr>
                <p:cNvPr id="126064" name="Line 121"/>
                <p:cNvSpPr>
                  <a:spLocks noChangeShapeType="1"/>
                </p:cNvSpPr>
                <p:nvPr/>
              </p:nvSpPr>
              <p:spPr bwMode="auto">
                <a:xfrm>
                  <a:off x="4069" y="2496"/>
                  <a:ext cx="0" cy="288"/>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65" name="Line 122"/>
                <p:cNvSpPr>
                  <a:spLocks noChangeShapeType="1"/>
                </p:cNvSpPr>
                <p:nvPr/>
              </p:nvSpPr>
              <p:spPr bwMode="auto">
                <a:xfrm>
                  <a:off x="3744" y="2784"/>
                  <a:ext cx="336"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26062" name="Text Box 123"/>
              <p:cNvSpPr txBox="1">
                <a:spLocks noChangeArrowheads="1"/>
              </p:cNvSpPr>
              <p:nvPr/>
            </p:nvSpPr>
            <p:spPr bwMode="auto">
              <a:xfrm>
                <a:off x="1863" y="1942"/>
                <a:ext cx="288"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1</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6063" name="Text Box 124"/>
              <p:cNvSpPr txBox="1">
                <a:spLocks noChangeArrowheads="1"/>
              </p:cNvSpPr>
              <p:nvPr/>
            </p:nvSpPr>
            <p:spPr bwMode="auto">
              <a:xfrm>
                <a:off x="3495" y="1942"/>
                <a:ext cx="288"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n</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grpSp>
      </p:grpSp>
      <p:sp>
        <p:nvSpPr>
          <p:cNvPr id="134" name="Rectangle 58"/>
          <p:cNvSpPr>
            <a:spLocks noChangeArrowheads="1"/>
          </p:cNvSpPr>
          <p:nvPr/>
        </p:nvSpPr>
        <p:spPr bwMode="auto">
          <a:xfrm>
            <a:off x="822325" y="866775"/>
            <a:ext cx="3635375" cy="515938"/>
          </a:xfrm>
          <a:prstGeom prst="rect">
            <a:avLst/>
          </a:prstGeom>
          <a:no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循环链表的合并</a:t>
            </a:r>
            <a:endParaRPr kumimoji="1"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mn-lt"/>
              <a:ea typeface="+mn-ea"/>
              <a:cs typeface="+mn-ea"/>
              <a:sym typeface="+mn-lt"/>
            </a:endParaRPr>
          </a:p>
        </p:txBody>
      </p:sp>
      <p:grpSp>
        <p:nvGrpSpPr>
          <p:cNvPr id="10" name="组合 137"/>
          <p:cNvGrpSpPr/>
          <p:nvPr/>
        </p:nvGrpSpPr>
        <p:grpSpPr>
          <a:xfrm>
            <a:off x="1893888" y="1628775"/>
            <a:ext cx="6924675" cy="2611438"/>
            <a:chOff x="1968500" y="419125"/>
            <a:chExt cx="6924675" cy="2611438"/>
          </a:xfrm>
        </p:grpSpPr>
        <p:grpSp>
          <p:nvGrpSpPr>
            <p:cNvPr id="131081" name="Group 126"/>
            <p:cNvGrpSpPr/>
            <p:nvPr/>
          </p:nvGrpSpPr>
          <p:grpSpPr>
            <a:xfrm>
              <a:off x="1968500" y="419125"/>
              <a:ext cx="6924675" cy="2611438"/>
              <a:chOff x="612" y="28"/>
              <a:chExt cx="4362" cy="1645"/>
            </a:xfrm>
          </p:grpSpPr>
          <p:sp>
            <p:nvSpPr>
              <p:cNvPr id="125967" name="Rectangle 5"/>
              <p:cNvSpPr>
                <a:spLocks noChangeArrowheads="1"/>
              </p:cNvSpPr>
              <p:nvPr/>
            </p:nvSpPr>
            <p:spPr bwMode="auto">
              <a:xfrm>
                <a:off x="2496" y="308"/>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68" name="Rectangle 6"/>
              <p:cNvSpPr>
                <a:spLocks noChangeArrowheads="1"/>
              </p:cNvSpPr>
              <p:nvPr/>
            </p:nvSpPr>
            <p:spPr bwMode="auto">
              <a:xfrm>
                <a:off x="3523" y="308"/>
                <a:ext cx="500"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69" name="Line 7"/>
              <p:cNvSpPr>
                <a:spLocks noChangeShapeType="1"/>
              </p:cNvSpPr>
              <p:nvPr/>
            </p:nvSpPr>
            <p:spPr bwMode="auto">
              <a:xfrm>
                <a:off x="3773" y="308"/>
                <a:ext cx="1" cy="336"/>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0" name="Line 8"/>
              <p:cNvSpPr>
                <a:spLocks noChangeShapeType="1"/>
              </p:cNvSpPr>
              <p:nvPr/>
            </p:nvSpPr>
            <p:spPr bwMode="auto">
              <a:xfrm>
                <a:off x="2727" y="308"/>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1" name="Line 9"/>
              <p:cNvSpPr>
                <a:spLocks noChangeShapeType="1"/>
              </p:cNvSpPr>
              <p:nvPr/>
            </p:nvSpPr>
            <p:spPr bwMode="auto">
              <a:xfrm>
                <a:off x="2889" y="500"/>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2" name="Rectangle 10"/>
              <p:cNvSpPr>
                <a:spLocks noChangeArrowheads="1"/>
              </p:cNvSpPr>
              <p:nvPr/>
            </p:nvSpPr>
            <p:spPr bwMode="auto">
              <a:xfrm>
                <a:off x="1854" y="308"/>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73" name="Line 11"/>
              <p:cNvSpPr>
                <a:spLocks noChangeShapeType="1"/>
              </p:cNvSpPr>
              <p:nvPr/>
            </p:nvSpPr>
            <p:spPr bwMode="auto">
              <a:xfrm>
                <a:off x="2104" y="308"/>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4" name="Line 12"/>
              <p:cNvSpPr>
                <a:spLocks noChangeShapeType="1"/>
              </p:cNvSpPr>
              <p:nvPr/>
            </p:nvSpPr>
            <p:spPr bwMode="auto">
              <a:xfrm>
                <a:off x="2246" y="500"/>
                <a:ext cx="250"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5" name="Line 13"/>
              <p:cNvSpPr>
                <a:spLocks noChangeShapeType="1"/>
              </p:cNvSpPr>
              <p:nvPr/>
            </p:nvSpPr>
            <p:spPr bwMode="auto">
              <a:xfrm>
                <a:off x="3345" y="500"/>
                <a:ext cx="178" cy="1"/>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6" name="Line 14"/>
              <p:cNvSpPr>
                <a:spLocks noChangeShapeType="1"/>
              </p:cNvSpPr>
              <p:nvPr/>
            </p:nvSpPr>
            <p:spPr bwMode="auto">
              <a:xfrm>
                <a:off x="3175" y="500"/>
                <a:ext cx="141"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7" name="Rectangle 15"/>
              <p:cNvSpPr>
                <a:spLocks noChangeArrowheads="1"/>
              </p:cNvSpPr>
              <p:nvPr/>
            </p:nvSpPr>
            <p:spPr bwMode="auto">
              <a:xfrm>
                <a:off x="1187" y="308"/>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78" name="Line 16"/>
              <p:cNvSpPr>
                <a:spLocks noChangeShapeType="1"/>
              </p:cNvSpPr>
              <p:nvPr/>
            </p:nvSpPr>
            <p:spPr bwMode="auto">
              <a:xfrm>
                <a:off x="1436" y="308"/>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79" name="Line 17"/>
              <p:cNvSpPr>
                <a:spLocks noChangeShapeType="1"/>
              </p:cNvSpPr>
              <p:nvPr/>
            </p:nvSpPr>
            <p:spPr bwMode="auto">
              <a:xfrm>
                <a:off x="1579" y="500"/>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0" name="Line 18"/>
              <p:cNvSpPr>
                <a:spLocks noChangeShapeType="1"/>
              </p:cNvSpPr>
              <p:nvPr/>
            </p:nvSpPr>
            <p:spPr bwMode="auto">
              <a:xfrm flipH="1">
                <a:off x="1187" y="308"/>
                <a:ext cx="125" cy="192"/>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1" name="Line 19"/>
              <p:cNvSpPr>
                <a:spLocks noChangeShapeType="1"/>
              </p:cNvSpPr>
              <p:nvPr/>
            </p:nvSpPr>
            <p:spPr bwMode="auto">
              <a:xfrm flipH="1">
                <a:off x="1228" y="308"/>
                <a:ext cx="209" cy="33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2" name="Line 20"/>
              <p:cNvSpPr>
                <a:spLocks noChangeShapeType="1"/>
              </p:cNvSpPr>
              <p:nvPr/>
            </p:nvSpPr>
            <p:spPr bwMode="auto">
              <a:xfrm flipH="1">
                <a:off x="1312" y="500"/>
                <a:ext cx="125" cy="144"/>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3" name="Line 21"/>
              <p:cNvSpPr>
                <a:spLocks noChangeShapeType="1"/>
              </p:cNvSpPr>
              <p:nvPr/>
            </p:nvSpPr>
            <p:spPr bwMode="auto">
              <a:xfrm>
                <a:off x="1943" y="754"/>
                <a:ext cx="2178" cy="0"/>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4" name="Text Box 22"/>
              <p:cNvSpPr txBox="1">
                <a:spLocks noChangeArrowheads="1"/>
              </p:cNvSpPr>
              <p:nvPr/>
            </p:nvSpPr>
            <p:spPr bwMode="auto">
              <a:xfrm>
                <a:off x="1863" y="308"/>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1</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85" name="Text Box 23"/>
              <p:cNvSpPr txBox="1">
                <a:spLocks noChangeArrowheads="1"/>
              </p:cNvSpPr>
              <p:nvPr/>
            </p:nvSpPr>
            <p:spPr bwMode="auto">
              <a:xfrm>
                <a:off x="3495" y="308"/>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n</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86" name="Rectangle 24"/>
              <p:cNvSpPr>
                <a:spLocks noChangeArrowheads="1"/>
              </p:cNvSpPr>
              <p:nvPr/>
            </p:nvSpPr>
            <p:spPr bwMode="auto">
              <a:xfrm>
                <a:off x="2496" y="1079"/>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87" name="Rectangle 25"/>
              <p:cNvSpPr>
                <a:spLocks noChangeArrowheads="1"/>
              </p:cNvSpPr>
              <p:nvPr/>
            </p:nvSpPr>
            <p:spPr bwMode="auto">
              <a:xfrm>
                <a:off x="3523" y="1079"/>
                <a:ext cx="500"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88" name="Line 26"/>
              <p:cNvSpPr>
                <a:spLocks noChangeShapeType="1"/>
              </p:cNvSpPr>
              <p:nvPr/>
            </p:nvSpPr>
            <p:spPr bwMode="auto">
              <a:xfrm>
                <a:off x="3773" y="1079"/>
                <a:ext cx="1" cy="336"/>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89" name="Line 27"/>
              <p:cNvSpPr>
                <a:spLocks noChangeShapeType="1"/>
              </p:cNvSpPr>
              <p:nvPr/>
            </p:nvSpPr>
            <p:spPr bwMode="auto">
              <a:xfrm>
                <a:off x="2727" y="1079"/>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0" name="Line 28"/>
              <p:cNvSpPr>
                <a:spLocks noChangeShapeType="1"/>
              </p:cNvSpPr>
              <p:nvPr/>
            </p:nvSpPr>
            <p:spPr bwMode="auto">
              <a:xfrm>
                <a:off x="2889" y="1271"/>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1" name="Rectangle 29"/>
              <p:cNvSpPr>
                <a:spLocks noChangeArrowheads="1"/>
              </p:cNvSpPr>
              <p:nvPr/>
            </p:nvSpPr>
            <p:spPr bwMode="auto">
              <a:xfrm>
                <a:off x="1854" y="1079"/>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92" name="Line 30"/>
              <p:cNvSpPr>
                <a:spLocks noChangeShapeType="1"/>
              </p:cNvSpPr>
              <p:nvPr/>
            </p:nvSpPr>
            <p:spPr bwMode="auto">
              <a:xfrm>
                <a:off x="2104" y="1079"/>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3" name="Line 31"/>
              <p:cNvSpPr>
                <a:spLocks noChangeShapeType="1"/>
              </p:cNvSpPr>
              <p:nvPr/>
            </p:nvSpPr>
            <p:spPr bwMode="auto">
              <a:xfrm>
                <a:off x="2246" y="1271"/>
                <a:ext cx="250"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4" name="Line 32"/>
              <p:cNvSpPr>
                <a:spLocks noChangeShapeType="1"/>
              </p:cNvSpPr>
              <p:nvPr/>
            </p:nvSpPr>
            <p:spPr bwMode="auto">
              <a:xfrm>
                <a:off x="3345" y="1271"/>
                <a:ext cx="178" cy="1"/>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5" name="Line 33"/>
              <p:cNvSpPr>
                <a:spLocks noChangeShapeType="1"/>
              </p:cNvSpPr>
              <p:nvPr/>
            </p:nvSpPr>
            <p:spPr bwMode="auto">
              <a:xfrm>
                <a:off x="3175" y="1271"/>
                <a:ext cx="141"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6" name="Rectangle 34"/>
              <p:cNvSpPr>
                <a:spLocks noChangeArrowheads="1"/>
              </p:cNvSpPr>
              <p:nvPr/>
            </p:nvSpPr>
            <p:spPr bwMode="auto">
              <a:xfrm>
                <a:off x="1187" y="1079"/>
                <a:ext cx="499" cy="323"/>
              </a:xfrm>
              <a:prstGeom prst="rect">
                <a:avLst/>
              </a:prstGeom>
              <a:solidFill>
                <a:schemeClr val="tx2"/>
              </a:solidFill>
              <a:ln w="12700">
                <a:solidFill>
                  <a:schemeClr val="bg1"/>
                </a:solidFill>
                <a:prstDash val="dash"/>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5997" name="Line 35"/>
              <p:cNvSpPr>
                <a:spLocks noChangeShapeType="1"/>
              </p:cNvSpPr>
              <p:nvPr/>
            </p:nvSpPr>
            <p:spPr bwMode="auto">
              <a:xfrm>
                <a:off x="1445" y="1071"/>
                <a:ext cx="0" cy="323"/>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8" name="Line 36"/>
              <p:cNvSpPr>
                <a:spLocks noChangeShapeType="1"/>
              </p:cNvSpPr>
              <p:nvPr/>
            </p:nvSpPr>
            <p:spPr bwMode="auto">
              <a:xfrm flipH="1">
                <a:off x="1187" y="1079"/>
                <a:ext cx="125" cy="192"/>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99" name="Line 37"/>
              <p:cNvSpPr>
                <a:spLocks noChangeShapeType="1"/>
              </p:cNvSpPr>
              <p:nvPr/>
            </p:nvSpPr>
            <p:spPr bwMode="auto">
              <a:xfrm flipH="1">
                <a:off x="1228" y="1079"/>
                <a:ext cx="209" cy="336"/>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0" name="Line 38"/>
              <p:cNvSpPr>
                <a:spLocks noChangeShapeType="1"/>
              </p:cNvSpPr>
              <p:nvPr/>
            </p:nvSpPr>
            <p:spPr bwMode="auto">
              <a:xfrm flipH="1">
                <a:off x="1312" y="1271"/>
                <a:ext cx="125" cy="144"/>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1" name="Text Box 39"/>
              <p:cNvSpPr txBox="1">
                <a:spLocks noChangeArrowheads="1"/>
              </p:cNvSpPr>
              <p:nvPr/>
            </p:nvSpPr>
            <p:spPr bwMode="auto">
              <a:xfrm>
                <a:off x="1863" y="1079"/>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1</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6002" name="Text Box 40"/>
              <p:cNvSpPr txBox="1">
                <a:spLocks noChangeArrowheads="1"/>
              </p:cNvSpPr>
              <p:nvPr/>
            </p:nvSpPr>
            <p:spPr bwMode="auto">
              <a:xfrm>
                <a:off x="3495" y="1079"/>
                <a:ext cx="28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n</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6003" name="Freeform 41"/>
              <p:cNvSpPr>
                <a:spLocks noChangeArrowheads="1"/>
              </p:cNvSpPr>
              <p:nvPr/>
            </p:nvSpPr>
            <p:spPr bwMode="auto">
              <a:xfrm>
                <a:off x="1702" y="754"/>
                <a:ext cx="241" cy="453"/>
              </a:xfrm>
              <a:custGeom>
                <a:avLst/>
                <a:gdLst>
                  <a:gd name="T0" fmla="*/ 241 w 241"/>
                  <a:gd name="T1" fmla="*/ 0 h 453"/>
                  <a:gd name="T2" fmla="*/ 60 w 241"/>
                  <a:gd name="T3" fmla="*/ 90 h 453"/>
                  <a:gd name="T4" fmla="*/ 15 w 241"/>
                  <a:gd name="T5" fmla="*/ 272 h 453"/>
                  <a:gd name="T6" fmla="*/ 151 w 241"/>
                  <a:gd name="T7" fmla="*/ 453 h 4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 h="453">
                    <a:moveTo>
                      <a:pt x="241" y="0"/>
                    </a:moveTo>
                    <a:cubicBezTo>
                      <a:pt x="169" y="22"/>
                      <a:pt x="98" y="45"/>
                      <a:pt x="60" y="90"/>
                    </a:cubicBezTo>
                    <a:cubicBezTo>
                      <a:pt x="22" y="135"/>
                      <a:pt x="0" y="212"/>
                      <a:pt x="15" y="272"/>
                    </a:cubicBezTo>
                    <a:cubicBezTo>
                      <a:pt x="30" y="332"/>
                      <a:pt x="90" y="392"/>
                      <a:pt x="151" y="453"/>
                    </a:cubicBezTo>
                  </a:path>
                </a:pathLst>
              </a:custGeom>
              <a:noFill/>
              <a:ln w="38100" cap="sq">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4" name="Freeform 42"/>
              <p:cNvSpPr>
                <a:spLocks noChangeArrowheads="1"/>
              </p:cNvSpPr>
              <p:nvPr/>
            </p:nvSpPr>
            <p:spPr bwMode="auto">
              <a:xfrm>
                <a:off x="3894" y="413"/>
                <a:ext cx="423" cy="341"/>
              </a:xfrm>
              <a:custGeom>
                <a:avLst/>
                <a:gdLst>
                  <a:gd name="T0" fmla="*/ 0 w 423"/>
                  <a:gd name="T1" fmla="*/ 23 h 341"/>
                  <a:gd name="T2" fmla="*/ 272 w 423"/>
                  <a:gd name="T3" fmla="*/ 23 h 341"/>
                  <a:gd name="T4" fmla="*/ 408 w 423"/>
                  <a:gd name="T5" fmla="*/ 159 h 341"/>
                  <a:gd name="T6" fmla="*/ 363 w 423"/>
                  <a:gd name="T7" fmla="*/ 250 h 341"/>
                  <a:gd name="T8" fmla="*/ 227 w 423"/>
                  <a:gd name="T9" fmla="*/ 341 h 3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3" h="341">
                    <a:moveTo>
                      <a:pt x="0" y="23"/>
                    </a:moveTo>
                    <a:cubicBezTo>
                      <a:pt x="102" y="11"/>
                      <a:pt x="204" y="0"/>
                      <a:pt x="272" y="23"/>
                    </a:cubicBezTo>
                    <a:cubicBezTo>
                      <a:pt x="340" y="46"/>
                      <a:pt x="393" y="121"/>
                      <a:pt x="408" y="159"/>
                    </a:cubicBezTo>
                    <a:cubicBezTo>
                      <a:pt x="423" y="197"/>
                      <a:pt x="393" y="220"/>
                      <a:pt x="363" y="250"/>
                    </a:cubicBezTo>
                    <a:cubicBezTo>
                      <a:pt x="333" y="280"/>
                      <a:pt x="280" y="310"/>
                      <a:pt x="227" y="341"/>
                    </a:cubicBezTo>
                  </a:path>
                </a:pathLst>
              </a:custGeom>
              <a:noFill/>
              <a:ln w="38100" cap="sq">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5" name="Line 43"/>
              <p:cNvSpPr>
                <a:spLocks noChangeShapeType="1"/>
              </p:cNvSpPr>
              <p:nvPr/>
            </p:nvSpPr>
            <p:spPr bwMode="auto">
              <a:xfrm>
                <a:off x="1082" y="1525"/>
                <a:ext cx="3039" cy="0"/>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6" name="Freeform 44"/>
              <p:cNvSpPr>
                <a:spLocks noChangeArrowheads="1"/>
              </p:cNvSpPr>
              <p:nvPr/>
            </p:nvSpPr>
            <p:spPr bwMode="auto">
              <a:xfrm>
                <a:off x="3894" y="1238"/>
                <a:ext cx="462" cy="287"/>
              </a:xfrm>
              <a:custGeom>
                <a:avLst/>
                <a:gdLst>
                  <a:gd name="T0" fmla="*/ 0 w 462"/>
                  <a:gd name="T1" fmla="*/ 15 h 287"/>
                  <a:gd name="T2" fmla="*/ 317 w 462"/>
                  <a:gd name="T3" fmla="*/ 15 h 287"/>
                  <a:gd name="T4" fmla="*/ 454 w 462"/>
                  <a:gd name="T5" fmla="*/ 105 h 287"/>
                  <a:gd name="T6" fmla="*/ 363 w 462"/>
                  <a:gd name="T7" fmla="*/ 241 h 287"/>
                  <a:gd name="T8" fmla="*/ 181 w 462"/>
                  <a:gd name="T9" fmla="*/ 287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 h="287">
                    <a:moveTo>
                      <a:pt x="0" y="15"/>
                    </a:moveTo>
                    <a:cubicBezTo>
                      <a:pt x="121" y="7"/>
                      <a:pt x="242" y="0"/>
                      <a:pt x="317" y="15"/>
                    </a:cubicBezTo>
                    <a:cubicBezTo>
                      <a:pt x="392" y="30"/>
                      <a:pt x="446" y="67"/>
                      <a:pt x="454" y="105"/>
                    </a:cubicBezTo>
                    <a:cubicBezTo>
                      <a:pt x="462" y="143"/>
                      <a:pt x="409" y="211"/>
                      <a:pt x="363" y="241"/>
                    </a:cubicBezTo>
                    <a:cubicBezTo>
                      <a:pt x="317" y="271"/>
                      <a:pt x="249" y="279"/>
                      <a:pt x="181" y="287"/>
                    </a:cubicBezTo>
                  </a:path>
                </a:pathLst>
              </a:custGeom>
              <a:noFill/>
              <a:ln w="38100" cap="sq">
                <a:solidFill>
                  <a:schemeClr val="hlink"/>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7" name="Freeform 45"/>
              <p:cNvSpPr>
                <a:spLocks noChangeArrowheads="1"/>
              </p:cNvSpPr>
              <p:nvPr/>
            </p:nvSpPr>
            <p:spPr bwMode="auto">
              <a:xfrm>
                <a:off x="748" y="474"/>
                <a:ext cx="424" cy="1051"/>
              </a:xfrm>
              <a:custGeom>
                <a:avLst/>
                <a:gdLst>
                  <a:gd name="T0" fmla="*/ 334 w 424"/>
                  <a:gd name="T1" fmla="*/ 1051 h 1051"/>
                  <a:gd name="T2" fmla="*/ 198 w 424"/>
                  <a:gd name="T3" fmla="*/ 1005 h 1051"/>
                  <a:gd name="T4" fmla="*/ 61 w 424"/>
                  <a:gd name="T5" fmla="*/ 869 h 1051"/>
                  <a:gd name="T6" fmla="*/ 61 w 424"/>
                  <a:gd name="T7" fmla="*/ 144 h 1051"/>
                  <a:gd name="T8" fmla="*/ 424 w 424"/>
                  <a:gd name="T9" fmla="*/ 7 h 10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4" h="1051">
                    <a:moveTo>
                      <a:pt x="334" y="1051"/>
                    </a:moveTo>
                    <a:cubicBezTo>
                      <a:pt x="289" y="1043"/>
                      <a:pt x="244" y="1035"/>
                      <a:pt x="198" y="1005"/>
                    </a:cubicBezTo>
                    <a:cubicBezTo>
                      <a:pt x="152" y="975"/>
                      <a:pt x="84" y="1012"/>
                      <a:pt x="61" y="869"/>
                    </a:cubicBezTo>
                    <a:cubicBezTo>
                      <a:pt x="38" y="726"/>
                      <a:pt x="0" y="288"/>
                      <a:pt x="61" y="144"/>
                    </a:cubicBezTo>
                    <a:cubicBezTo>
                      <a:pt x="122" y="0"/>
                      <a:pt x="273" y="3"/>
                      <a:pt x="424" y="7"/>
                    </a:cubicBezTo>
                  </a:path>
                </a:pathLst>
              </a:custGeom>
              <a:noFill/>
              <a:ln w="38100" cap="sq">
                <a:solidFill>
                  <a:schemeClr val="hlink"/>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08" name="Text Box 46"/>
              <p:cNvSpPr txBox="1">
                <a:spLocks noChangeArrowheads="1"/>
              </p:cNvSpPr>
              <p:nvPr/>
            </p:nvSpPr>
            <p:spPr bwMode="auto">
              <a:xfrm>
                <a:off x="884" y="28"/>
                <a:ext cx="2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①</a:t>
                </a:r>
              </a:p>
            </p:txBody>
          </p:sp>
          <p:sp>
            <p:nvSpPr>
              <p:cNvPr id="126009" name="Line 47"/>
              <p:cNvSpPr>
                <a:spLocks noChangeShapeType="1"/>
              </p:cNvSpPr>
              <p:nvPr/>
            </p:nvSpPr>
            <p:spPr bwMode="auto">
              <a:xfrm>
                <a:off x="793" y="345"/>
                <a:ext cx="363" cy="0"/>
              </a:xfrm>
              <a:prstGeom prst="line">
                <a:avLst/>
              </a:prstGeom>
              <a:noFill/>
              <a:ln w="38100" cap="sq">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010" name="Text Box 48"/>
              <p:cNvSpPr txBox="1">
                <a:spLocks noChangeArrowheads="1"/>
              </p:cNvSpPr>
              <p:nvPr/>
            </p:nvSpPr>
            <p:spPr bwMode="auto">
              <a:xfrm>
                <a:off x="612" y="73"/>
                <a:ext cx="27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p</a:t>
                </a:r>
              </a:p>
            </p:txBody>
          </p:sp>
          <p:sp>
            <p:nvSpPr>
              <p:cNvPr id="126011" name="Text Box 49"/>
              <p:cNvSpPr txBox="1">
                <a:spLocks noChangeArrowheads="1"/>
              </p:cNvSpPr>
              <p:nvPr/>
            </p:nvSpPr>
            <p:spPr bwMode="auto">
              <a:xfrm>
                <a:off x="4306" y="482"/>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②</a:t>
                </a:r>
              </a:p>
            </p:txBody>
          </p:sp>
          <p:sp>
            <p:nvSpPr>
              <p:cNvPr id="126012" name="Text Box 50"/>
              <p:cNvSpPr txBox="1">
                <a:spLocks noChangeArrowheads="1"/>
              </p:cNvSpPr>
              <p:nvPr/>
            </p:nvSpPr>
            <p:spPr bwMode="auto">
              <a:xfrm>
                <a:off x="1020" y="844"/>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③</a:t>
                </a:r>
              </a:p>
            </p:txBody>
          </p:sp>
          <p:sp>
            <p:nvSpPr>
              <p:cNvPr id="126013" name="Text Box 51"/>
              <p:cNvSpPr txBox="1">
                <a:spLocks noChangeArrowheads="1"/>
              </p:cNvSpPr>
              <p:nvPr/>
            </p:nvSpPr>
            <p:spPr bwMode="auto">
              <a:xfrm>
                <a:off x="4261" y="1343"/>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④</a:t>
                </a:r>
              </a:p>
            </p:txBody>
          </p:sp>
          <p:sp>
            <p:nvSpPr>
              <p:cNvPr id="126014" name="Text Box 56"/>
              <p:cNvSpPr txBox="1">
                <a:spLocks noChangeArrowheads="1"/>
              </p:cNvSpPr>
              <p:nvPr/>
            </p:nvSpPr>
            <p:spPr bwMode="auto">
              <a:xfrm>
                <a:off x="4542" y="16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Ta</a:t>
                </a:r>
              </a:p>
            </p:txBody>
          </p:sp>
          <p:sp>
            <p:nvSpPr>
              <p:cNvPr id="126015" name="Text Box 61"/>
              <p:cNvSpPr txBox="1">
                <a:spLocks noChangeArrowheads="1"/>
              </p:cNvSpPr>
              <p:nvPr/>
            </p:nvSpPr>
            <p:spPr bwMode="auto">
              <a:xfrm>
                <a:off x="4542" y="935"/>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Tb</a:t>
                </a:r>
              </a:p>
            </p:txBody>
          </p:sp>
        </p:grpSp>
        <p:sp>
          <p:nvSpPr>
            <p:cNvPr id="125960" name="Line 67"/>
            <p:cNvSpPr>
              <a:spLocks noChangeShapeType="1"/>
            </p:cNvSpPr>
            <p:nvPr/>
          </p:nvSpPr>
          <p:spPr bwMode="auto">
            <a:xfrm flipH="1">
              <a:off x="7845425" y="790600"/>
              <a:ext cx="452437"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1" name="Freeform 68"/>
            <p:cNvSpPr>
              <a:spLocks noChangeArrowheads="1"/>
            </p:cNvSpPr>
            <p:nvPr/>
          </p:nvSpPr>
          <p:spPr bwMode="auto">
            <a:xfrm rot="18805494" flipH="1">
              <a:off x="7918450" y="750913"/>
              <a:ext cx="4763" cy="236538"/>
            </a:xfrm>
            <a:custGeom>
              <a:avLst/>
              <a:gdLst>
                <a:gd name="T0" fmla="*/ 2147483646 w 3"/>
                <a:gd name="T1" fmla="*/ 0 h 177"/>
                <a:gd name="T2" fmla="*/ 0 w 3"/>
                <a:gd name="T3" fmla="*/ 2147483646 h 177"/>
                <a:gd name="T4" fmla="*/ 0 60000 65536"/>
                <a:gd name="T5" fmla="*/ 0 60000 65536"/>
              </a:gdLst>
              <a:ahLst/>
              <a:cxnLst>
                <a:cxn ang="T4">
                  <a:pos x="T0" y="T1"/>
                </a:cxn>
                <a:cxn ang="T5">
                  <a:pos x="T2" y="T3"/>
                </a:cxn>
              </a:cxnLst>
              <a:rect l="0" t="0" r="r" b="b"/>
              <a:pathLst>
                <a:path w="3" h="177">
                  <a:moveTo>
                    <a:pt x="3" y="0"/>
                  </a:moveTo>
                  <a:cubicBezTo>
                    <a:pt x="3" y="29"/>
                    <a:pt x="1" y="140"/>
                    <a:pt x="0" y="177"/>
                  </a:cubicBezTo>
                </a:path>
              </a:pathLst>
            </a:custGeom>
            <a:noFill/>
            <a:ln w="38100" cap="rnd">
              <a:solidFill>
                <a:srgbClr val="FF33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2" name="Line 69"/>
            <p:cNvSpPr>
              <a:spLocks noChangeShapeType="1"/>
            </p:cNvSpPr>
            <p:nvPr/>
          </p:nvSpPr>
          <p:spPr bwMode="auto">
            <a:xfrm flipH="1">
              <a:off x="7459662" y="943000"/>
              <a:ext cx="515938"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3" name="Line 67"/>
            <p:cNvSpPr>
              <a:spLocks noChangeShapeType="1"/>
            </p:cNvSpPr>
            <p:nvPr/>
          </p:nvSpPr>
          <p:spPr bwMode="auto">
            <a:xfrm flipH="1">
              <a:off x="7750175" y="2009800"/>
              <a:ext cx="450850"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4" name="Freeform 68"/>
            <p:cNvSpPr>
              <a:spLocks noChangeArrowheads="1"/>
            </p:cNvSpPr>
            <p:nvPr/>
          </p:nvSpPr>
          <p:spPr bwMode="auto">
            <a:xfrm rot="18805494" flipH="1">
              <a:off x="7821612" y="1970113"/>
              <a:ext cx="4763" cy="236537"/>
            </a:xfrm>
            <a:custGeom>
              <a:avLst/>
              <a:gdLst>
                <a:gd name="T0" fmla="*/ 2147483646 w 3"/>
                <a:gd name="T1" fmla="*/ 0 h 177"/>
                <a:gd name="T2" fmla="*/ 0 w 3"/>
                <a:gd name="T3" fmla="*/ 2147483646 h 177"/>
                <a:gd name="T4" fmla="*/ 0 60000 65536"/>
                <a:gd name="T5" fmla="*/ 0 60000 65536"/>
              </a:gdLst>
              <a:ahLst/>
              <a:cxnLst>
                <a:cxn ang="T4">
                  <a:pos x="T0" y="T1"/>
                </a:cxn>
                <a:cxn ang="T5">
                  <a:pos x="T2" y="T3"/>
                </a:cxn>
              </a:cxnLst>
              <a:rect l="0" t="0" r="r" b="b"/>
              <a:pathLst>
                <a:path w="3" h="177">
                  <a:moveTo>
                    <a:pt x="3" y="0"/>
                  </a:moveTo>
                  <a:cubicBezTo>
                    <a:pt x="3" y="29"/>
                    <a:pt x="1" y="140"/>
                    <a:pt x="0" y="177"/>
                  </a:cubicBezTo>
                </a:path>
              </a:pathLst>
            </a:custGeom>
            <a:noFill/>
            <a:ln w="38100" cap="rnd">
              <a:solidFill>
                <a:srgbClr val="FF33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5965" name="Line 69"/>
            <p:cNvSpPr>
              <a:spLocks noChangeShapeType="1"/>
            </p:cNvSpPr>
            <p:nvPr/>
          </p:nvSpPr>
          <p:spPr bwMode="auto">
            <a:xfrm flipH="1">
              <a:off x="7362825" y="2162200"/>
              <a:ext cx="515937"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25958" name="Text Box 6"/>
          <p:cNvSpPr txBox="1">
            <a:spLocks noChangeArrowheads="1"/>
          </p:cNvSpPr>
          <p:nvPr/>
        </p:nvSpPr>
        <p:spPr bwMode="auto">
          <a:xfrm>
            <a:off x="463550" y="2012950"/>
            <a:ext cx="11525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示例</a:t>
            </a:r>
          </a:p>
        </p:txBody>
      </p:sp>
      <p:sp>
        <p:nvSpPr>
          <p:cNvPr id="126" name="Rectangle 4"/>
          <p:cNvSpPr>
            <a:spLocks noChangeArrowheads="1"/>
          </p:cNvSpPr>
          <p:nvPr/>
        </p:nvSpPr>
        <p:spPr bwMode="auto">
          <a:xfrm>
            <a:off x="889000" y="139700"/>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循环链表</a:t>
            </a:r>
          </a:p>
        </p:txBody>
      </p:sp>
      <p:sp>
        <p:nvSpPr>
          <p:cNvPr id="2" name="下弧形箭头 1"/>
          <p:cNvSpPr/>
          <p:nvPr/>
        </p:nvSpPr>
        <p:spPr>
          <a:xfrm rot="-5400000" flipV="1">
            <a:off x="1588" y="3810000"/>
            <a:ext cx="2222500" cy="825500"/>
          </a:xfrm>
          <a:prstGeom prst="curvedUpArrow">
            <a:avLst>
              <a:gd name="adj1" fmla="val 25003"/>
              <a:gd name="adj2" fmla="val 50031"/>
              <a:gd name="adj3" fmla="val 25000"/>
            </a:avLst>
          </a:prstGeom>
          <a:solidFill>
            <a:srgbClr val="FF0000"/>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矩形 1"/>
          <p:cNvSpPr/>
          <p:nvPr/>
        </p:nvSpPr>
        <p:spPr>
          <a:xfrm>
            <a:off x="0" y="3681413"/>
            <a:ext cx="9144000" cy="3176587"/>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132099" name="Group 2"/>
          <p:cNvGrpSpPr/>
          <p:nvPr/>
        </p:nvGrpSpPr>
        <p:grpSpPr>
          <a:xfrm>
            <a:off x="1752600" y="881063"/>
            <a:ext cx="6924675" cy="2611437"/>
            <a:chOff x="612" y="28"/>
            <a:chExt cx="4362" cy="1645"/>
          </a:xfrm>
        </p:grpSpPr>
        <p:sp>
          <p:nvSpPr>
            <p:cNvPr id="126992" name="Rectangle 3"/>
            <p:cNvSpPr>
              <a:spLocks noChangeArrowheads="1"/>
            </p:cNvSpPr>
            <p:nvPr/>
          </p:nvSpPr>
          <p:spPr bwMode="auto">
            <a:xfrm>
              <a:off x="2496" y="308"/>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993" name="Rectangle 4"/>
            <p:cNvSpPr>
              <a:spLocks noChangeArrowheads="1"/>
            </p:cNvSpPr>
            <p:nvPr/>
          </p:nvSpPr>
          <p:spPr bwMode="auto">
            <a:xfrm>
              <a:off x="3523" y="308"/>
              <a:ext cx="500"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994" name="Line 5"/>
            <p:cNvSpPr>
              <a:spLocks noChangeShapeType="1"/>
            </p:cNvSpPr>
            <p:nvPr/>
          </p:nvSpPr>
          <p:spPr bwMode="auto">
            <a:xfrm>
              <a:off x="3773" y="308"/>
              <a:ext cx="1" cy="336"/>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95" name="Line 6"/>
            <p:cNvSpPr>
              <a:spLocks noChangeShapeType="1"/>
            </p:cNvSpPr>
            <p:nvPr/>
          </p:nvSpPr>
          <p:spPr bwMode="auto">
            <a:xfrm>
              <a:off x="2727" y="308"/>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96" name="Line 7"/>
            <p:cNvSpPr>
              <a:spLocks noChangeShapeType="1"/>
            </p:cNvSpPr>
            <p:nvPr/>
          </p:nvSpPr>
          <p:spPr bwMode="auto">
            <a:xfrm>
              <a:off x="2889" y="500"/>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97" name="Rectangle 8"/>
            <p:cNvSpPr>
              <a:spLocks noChangeArrowheads="1"/>
            </p:cNvSpPr>
            <p:nvPr/>
          </p:nvSpPr>
          <p:spPr bwMode="auto">
            <a:xfrm>
              <a:off x="1854" y="308"/>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6998" name="Line 9"/>
            <p:cNvSpPr>
              <a:spLocks noChangeShapeType="1"/>
            </p:cNvSpPr>
            <p:nvPr/>
          </p:nvSpPr>
          <p:spPr bwMode="auto">
            <a:xfrm>
              <a:off x="2104" y="308"/>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99" name="Line 10"/>
            <p:cNvSpPr>
              <a:spLocks noChangeShapeType="1"/>
            </p:cNvSpPr>
            <p:nvPr/>
          </p:nvSpPr>
          <p:spPr bwMode="auto">
            <a:xfrm>
              <a:off x="2246" y="500"/>
              <a:ext cx="250"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0" name="Line 11"/>
            <p:cNvSpPr>
              <a:spLocks noChangeShapeType="1"/>
            </p:cNvSpPr>
            <p:nvPr/>
          </p:nvSpPr>
          <p:spPr bwMode="auto">
            <a:xfrm>
              <a:off x="3345" y="500"/>
              <a:ext cx="178" cy="1"/>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1" name="Line 12"/>
            <p:cNvSpPr>
              <a:spLocks noChangeShapeType="1"/>
            </p:cNvSpPr>
            <p:nvPr/>
          </p:nvSpPr>
          <p:spPr bwMode="auto">
            <a:xfrm>
              <a:off x="3175" y="500"/>
              <a:ext cx="141"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2" name="Rectangle 13"/>
            <p:cNvSpPr>
              <a:spLocks noChangeArrowheads="1"/>
            </p:cNvSpPr>
            <p:nvPr/>
          </p:nvSpPr>
          <p:spPr bwMode="auto">
            <a:xfrm>
              <a:off x="1187" y="308"/>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7003" name="Line 14"/>
            <p:cNvSpPr>
              <a:spLocks noChangeShapeType="1"/>
            </p:cNvSpPr>
            <p:nvPr/>
          </p:nvSpPr>
          <p:spPr bwMode="auto">
            <a:xfrm>
              <a:off x="1436" y="308"/>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4" name="Line 15"/>
            <p:cNvSpPr>
              <a:spLocks noChangeShapeType="1"/>
            </p:cNvSpPr>
            <p:nvPr/>
          </p:nvSpPr>
          <p:spPr bwMode="auto">
            <a:xfrm>
              <a:off x="1579" y="500"/>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5" name="Line 16"/>
            <p:cNvSpPr>
              <a:spLocks noChangeShapeType="1"/>
            </p:cNvSpPr>
            <p:nvPr/>
          </p:nvSpPr>
          <p:spPr bwMode="auto">
            <a:xfrm flipH="1">
              <a:off x="1187" y="308"/>
              <a:ext cx="125" cy="192"/>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6" name="Line 17"/>
            <p:cNvSpPr>
              <a:spLocks noChangeShapeType="1"/>
            </p:cNvSpPr>
            <p:nvPr/>
          </p:nvSpPr>
          <p:spPr bwMode="auto">
            <a:xfrm flipH="1">
              <a:off x="1228" y="308"/>
              <a:ext cx="209" cy="336"/>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7" name="Line 18"/>
            <p:cNvSpPr>
              <a:spLocks noChangeShapeType="1"/>
            </p:cNvSpPr>
            <p:nvPr/>
          </p:nvSpPr>
          <p:spPr bwMode="auto">
            <a:xfrm flipH="1">
              <a:off x="1312" y="500"/>
              <a:ext cx="125" cy="144"/>
            </a:xfrm>
            <a:prstGeom prst="line">
              <a:avLst/>
            </a:prstGeom>
            <a:noFill/>
            <a:ln w="127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8" name="Line 19"/>
            <p:cNvSpPr>
              <a:spLocks noChangeShapeType="1"/>
            </p:cNvSpPr>
            <p:nvPr/>
          </p:nvSpPr>
          <p:spPr bwMode="auto">
            <a:xfrm>
              <a:off x="1943" y="754"/>
              <a:ext cx="2178" cy="0"/>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09" name="Text Box 20"/>
            <p:cNvSpPr txBox="1">
              <a:spLocks noChangeArrowheads="1"/>
            </p:cNvSpPr>
            <p:nvPr/>
          </p:nvSpPr>
          <p:spPr bwMode="auto">
            <a:xfrm>
              <a:off x="1863" y="308"/>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1</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7010" name="Text Box 21"/>
            <p:cNvSpPr txBox="1">
              <a:spLocks noChangeArrowheads="1"/>
            </p:cNvSpPr>
            <p:nvPr/>
          </p:nvSpPr>
          <p:spPr bwMode="auto">
            <a:xfrm>
              <a:off x="3495" y="308"/>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n</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7011" name="Rectangle 22"/>
            <p:cNvSpPr>
              <a:spLocks noChangeArrowheads="1"/>
            </p:cNvSpPr>
            <p:nvPr/>
          </p:nvSpPr>
          <p:spPr bwMode="auto">
            <a:xfrm>
              <a:off x="2496" y="1079"/>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7012" name="Rectangle 23"/>
            <p:cNvSpPr>
              <a:spLocks noChangeArrowheads="1"/>
            </p:cNvSpPr>
            <p:nvPr/>
          </p:nvSpPr>
          <p:spPr bwMode="auto">
            <a:xfrm>
              <a:off x="3523" y="1079"/>
              <a:ext cx="500"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7013" name="Line 24"/>
            <p:cNvSpPr>
              <a:spLocks noChangeShapeType="1"/>
            </p:cNvSpPr>
            <p:nvPr/>
          </p:nvSpPr>
          <p:spPr bwMode="auto">
            <a:xfrm>
              <a:off x="3773" y="1079"/>
              <a:ext cx="1" cy="336"/>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14" name="Line 25"/>
            <p:cNvSpPr>
              <a:spLocks noChangeShapeType="1"/>
            </p:cNvSpPr>
            <p:nvPr/>
          </p:nvSpPr>
          <p:spPr bwMode="auto">
            <a:xfrm>
              <a:off x="2727" y="1079"/>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15" name="Line 26"/>
            <p:cNvSpPr>
              <a:spLocks noChangeShapeType="1"/>
            </p:cNvSpPr>
            <p:nvPr/>
          </p:nvSpPr>
          <p:spPr bwMode="auto">
            <a:xfrm>
              <a:off x="2889" y="1271"/>
              <a:ext cx="249"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16" name="Rectangle 27"/>
            <p:cNvSpPr>
              <a:spLocks noChangeArrowheads="1"/>
            </p:cNvSpPr>
            <p:nvPr/>
          </p:nvSpPr>
          <p:spPr bwMode="auto">
            <a:xfrm>
              <a:off x="1854" y="1079"/>
              <a:ext cx="499" cy="323"/>
            </a:xfrm>
            <a:prstGeom prst="rect">
              <a:avLst/>
            </a:prstGeom>
            <a:solidFill>
              <a:srgbClr val="B8D4EC"/>
            </a:solidFill>
            <a:ln w="12700" cap="rnd">
              <a:solidFill>
                <a:schemeClr val="bg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7017" name="Line 28"/>
            <p:cNvSpPr>
              <a:spLocks noChangeShapeType="1"/>
            </p:cNvSpPr>
            <p:nvPr/>
          </p:nvSpPr>
          <p:spPr bwMode="auto">
            <a:xfrm>
              <a:off x="2104" y="1079"/>
              <a:ext cx="0" cy="323"/>
            </a:xfrm>
            <a:prstGeom prst="line">
              <a:avLst/>
            </a:prstGeom>
            <a:noFill/>
            <a:ln w="12700" cap="rnd">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18" name="Line 29"/>
            <p:cNvSpPr>
              <a:spLocks noChangeShapeType="1"/>
            </p:cNvSpPr>
            <p:nvPr/>
          </p:nvSpPr>
          <p:spPr bwMode="auto">
            <a:xfrm>
              <a:off x="2246" y="1271"/>
              <a:ext cx="250"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19" name="Line 30"/>
            <p:cNvSpPr>
              <a:spLocks noChangeShapeType="1"/>
            </p:cNvSpPr>
            <p:nvPr/>
          </p:nvSpPr>
          <p:spPr bwMode="auto">
            <a:xfrm>
              <a:off x="3345" y="1271"/>
              <a:ext cx="178" cy="1"/>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0" name="Line 31"/>
            <p:cNvSpPr>
              <a:spLocks noChangeShapeType="1"/>
            </p:cNvSpPr>
            <p:nvPr/>
          </p:nvSpPr>
          <p:spPr bwMode="auto">
            <a:xfrm>
              <a:off x="3175" y="1271"/>
              <a:ext cx="141"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1" name="Rectangle 32"/>
            <p:cNvSpPr>
              <a:spLocks noChangeArrowheads="1"/>
            </p:cNvSpPr>
            <p:nvPr/>
          </p:nvSpPr>
          <p:spPr bwMode="auto">
            <a:xfrm>
              <a:off x="1187" y="1079"/>
              <a:ext cx="499" cy="323"/>
            </a:xfrm>
            <a:prstGeom prst="rect">
              <a:avLst/>
            </a:prstGeom>
            <a:solidFill>
              <a:schemeClr val="tx2"/>
            </a:solidFill>
            <a:ln w="12700">
              <a:solidFill>
                <a:schemeClr val="bg1"/>
              </a:solidFill>
              <a:prstDash val="dash"/>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rgbClr val="010000"/>
                </a:solidFill>
                <a:effectLst/>
                <a:uLnTx/>
                <a:uFillTx/>
                <a:latin typeface="+mn-lt"/>
                <a:ea typeface="+mn-ea"/>
                <a:cs typeface="+mn-ea"/>
                <a:sym typeface="+mn-lt"/>
              </a:endParaRPr>
            </a:p>
          </p:txBody>
        </p:sp>
        <p:sp>
          <p:nvSpPr>
            <p:cNvPr id="127022" name="Line 33"/>
            <p:cNvSpPr>
              <a:spLocks noChangeShapeType="1"/>
            </p:cNvSpPr>
            <p:nvPr/>
          </p:nvSpPr>
          <p:spPr bwMode="auto">
            <a:xfrm>
              <a:off x="1445" y="1071"/>
              <a:ext cx="0" cy="323"/>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3" name="Line 34"/>
            <p:cNvSpPr>
              <a:spLocks noChangeShapeType="1"/>
            </p:cNvSpPr>
            <p:nvPr/>
          </p:nvSpPr>
          <p:spPr bwMode="auto">
            <a:xfrm flipH="1">
              <a:off x="1187" y="1079"/>
              <a:ext cx="125" cy="192"/>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4" name="Line 35"/>
            <p:cNvSpPr>
              <a:spLocks noChangeShapeType="1"/>
            </p:cNvSpPr>
            <p:nvPr/>
          </p:nvSpPr>
          <p:spPr bwMode="auto">
            <a:xfrm flipH="1">
              <a:off x="1228" y="1079"/>
              <a:ext cx="209" cy="336"/>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5" name="Line 36"/>
            <p:cNvSpPr>
              <a:spLocks noChangeShapeType="1"/>
            </p:cNvSpPr>
            <p:nvPr/>
          </p:nvSpPr>
          <p:spPr bwMode="auto">
            <a:xfrm flipH="1">
              <a:off x="1312" y="1271"/>
              <a:ext cx="125" cy="144"/>
            </a:xfrm>
            <a:prstGeom prst="line">
              <a:avLst/>
            </a:prstGeom>
            <a:noFill/>
            <a:ln w="12700">
              <a:solidFill>
                <a:schemeClr val="bg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6" name="Text Box 37"/>
            <p:cNvSpPr txBox="1">
              <a:spLocks noChangeArrowheads="1"/>
            </p:cNvSpPr>
            <p:nvPr/>
          </p:nvSpPr>
          <p:spPr bwMode="auto">
            <a:xfrm>
              <a:off x="1863" y="1079"/>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1</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7027" name="Text Box 38"/>
            <p:cNvSpPr txBox="1">
              <a:spLocks noChangeArrowheads="1"/>
            </p:cNvSpPr>
            <p:nvPr/>
          </p:nvSpPr>
          <p:spPr bwMode="auto">
            <a:xfrm>
              <a:off x="3495" y="1079"/>
              <a:ext cx="28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t>
              </a:r>
              <a:r>
                <a:rPr kumimoji="0" lang="en-US" altLang="zh-CN" sz="1600" b="1" i="0" u="none" strike="noStrike" kern="1200" cap="none" spc="0" normalizeH="0" baseline="0" noProof="0">
                  <a:ln>
                    <a:noFill/>
                  </a:ln>
                  <a:solidFill>
                    <a:srgbClr val="FF0000"/>
                  </a:solidFill>
                  <a:effectLst/>
                  <a:uLnTx/>
                  <a:uFillTx/>
                  <a:latin typeface="+mn-lt"/>
                  <a:ea typeface="+mn-ea"/>
                  <a:cs typeface="+mn-ea"/>
                  <a:sym typeface="+mn-lt"/>
                </a:rPr>
                <a:t>n</a:t>
              </a:r>
              <a:endParaRPr kumimoji="0" lang="zh-CN" altLang="en-US" sz="16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127028" name="Freeform 39"/>
            <p:cNvSpPr>
              <a:spLocks noChangeArrowheads="1"/>
            </p:cNvSpPr>
            <p:nvPr/>
          </p:nvSpPr>
          <p:spPr bwMode="auto">
            <a:xfrm>
              <a:off x="1702" y="754"/>
              <a:ext cx="241" cy="453"/>
            </a:xfrm>
            <a:custGeom>
              <a:avLst/>
              <a:gdLst>
                <a:gd name="T0" fmla="*/ 241 w 241"/>
                <a:gd name="T1" fmla="*/ 0 h 453"/>
                <a:gd name="T2" fmla="*/ 60 w 241"/>
                <a:gd name="T3" fmla="*/ 90 h 453"/>
                <a:gd name="T4" fmla="*/ 15 w 241"/>
                <a:gd name="T5" fmla="*/ 272 h 453"/>
                <a:gd name="T6" fmla="*/ 151 w 241"/>
                <a:gd name="T7" fmla="*/ 453 h 4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 h="453">
                  <a:moveTo>
                    <a:pt x="241" y="0"/>
                  </a:moveTo>
                  <a:cubicBezTo>
                    <a:pt x="169" y="22"/>
                    <a:pt x="98" y="45"/>
                    <a:pt x="60" y="90"/>
                  </a:cubicBezTo>
                  <a:cubicBezTo>
                    <a:pt x="22" y="135"/>
                    <a:pt x="0" y="212"/>
                    <a:pt x="15" y="272"/>
                  </a:cubicBezTo>
                  <a:cubicBezTo>
                    <a:pt x="30" y="332"/>
                    <a:pt x="90" y="392"/>
                    <a:pt x="151" y="453"/>
                  </a:cubicBezTo>
                </a:path>
              </a:pathLst>
            </a:custGeom>
            <a:noFill/>
            <a:ln w="38100" cap="sq">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29" name="Freeform 40"/>
            <p:cNvSpPr>
              <a:spLocks noChangeArrowheads="1"/>
            </p:cNvSpPr>
            <p:nvPr/>
          </p:nvSpPr>
          <p:spPr bwMode="auto">
            <a:xfrm>
              <a:off x="3894" y="413"/>
              <a:ext cx="423" cy="341"/>
            </a:xfrm>
            <a:custGeom>
              <a:avLst/>
              <a:gdLst>
                <a:gd name="T0" fmla="*/ 0 w 423"/>
                <a:gd name="T1" fmla="*/ 23 h 341"/>
                <a:gd name="T2" fmla="*/ 272 w 423"/>
                <a:gd name="T3" fmla="*/ 23 h 341"/>
                <a:gd name="T4" fmla="*/ 408 w 423"/>
                <a:gd name="T5" fmla="*/ 159 h 341"/>
                <a:gd name="T6" fmla="*/ 363 w 423"/>
                <a:gd name="T7" fmla="*/ 250 h 341"/>
                <a:gd name="T8" fmla="*/ 227 w 423"/>
                <a:gd name="T9" fmla="*/ 341 h 3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3" h="341">
                  <a:moveTo>
                    <a:pt x="0" y="23"/>
                  </a:moveTo>
                  <a:cubicBezTo>
                    <a:pt x="102" y="11"/>
                    <a:pt x="204" y="0"/>
                    <a:pt x="272" y="23"/>
                  </a:cubicBezTo>
                  <a:cubicBezTo>
                    <a:pt x="340" y="46"/>
                    <a:pt x="393" y="121"/>
                    <a:pt x="408" y="159"/>
                  </a:cubicBezTo>
                  <a:cubicBezTo>
                    <a:pt x="423" y="197"/>
                    <a:pt x="393" y="220"/>
                    <a:pt x="363" y="250"/>
                  </a:cubicBezTo>
                  <a:cubicBezTo>
                    <a:pt x="333" y="280"/>
                    <a:pt x="280" y="310"/>
                    <a:pt x="227" y="341"/>
                  </a:cubicBezTo>
                </a:path>
              </a:pathLst>
            </a:custGeom>
            <a:noFill/>
            <a:ln w="38100" cap="sq">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30" name="Line 41"/>
            <p:cNvSpPr>
              <a:spLocks noChangeShapeType="1"/>
            </p:cNvSpPr>
            <p:nvPr/>
          </p:nvSpPr>
          <p:spPr bwMode="auto">
            <a:xfrm>
              <a:off x="1082" y="1525"/>
              <a:ext cx="3039" cy="0"/>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31" name="Freeform 42"/>
            <p:cNvSpPr>
              <a:spLocks noChangeArrowheads="1"/>
            </p:cNvSpPr>
            <p:nvPr/>
          </p:nvSpPr>
          <p:spPr bwMode="auto">
            <a:xfrm>
              <a:off x="3894" y="1238"/>
              <a:ext cx="462" cy="287"/>
            </a:xfrm>
            <a:custGeom>
              <a:avLst/>
              <a:gdLst>
                <a:gd name="T0" fmla="*/ 0 w 462"/>
                <a:gd name="T1" fmla="*/ 15 h 287"/>
                <a:gd name="T2" fmla="*/ 317 w 462"/>
                <a:gd name="T3" fmla="*/ 15 h 287"/>
                <a:gd name="T4" fmla="*/ 454 w 462"/>
                <a:gd name="T5" fmla="*/ 105 h 287"/>
                <a:gd name="T6" fmla="*/ 363 w 462"/>
                <a:gd name="T7" fmla="*/ 241 h 287"/>
                <a:gd name="T8" fmla="*/ 181 w 462"/>
                <a:gd name="T9" fmla="*/ 287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 h="287">
                  <a:moveTo>
                    <a:pt x="0" y="15"/>
                  </a:moveTo>
                  <a:cubicBezTo>
                    <a:pt x="121" y="7"/>
                    <a:pt x="242" y="0"/>
                    <a:pt x="317" y="15"/>
                  </a:cubicBezTo>
                  <a:cubicBezTo>
                    <a:pt x="392" y="30"/>
                    <a:pt x="446" y="67"/>
                    <a:pt x="454" y="105"/>
                  </a:cubicBezTo>
                  <a:cubicBezTo>
                    <a:pt x="462" y="143"/>
                    <a:pt x="409" y="211"/>
                    <a:pt x="363" y="241"/>
                  </a:cubicBezTo>
                  <a:cubicBezTo>
                    <a:pt x="317" y="271"/>
                    <a:pt x="249" y="279"/>
                    <a:pt x="181" y="287"/>
                  </a:cubicBezTo>
                </a:path>
              </a:pathLst>
            </a:custGeom>
            <a:noFill/>
            <a:ln w="38100" cap="sq">
              <a:solidFill>
                <a:schemeClr val="hlink"/>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32" name="Freeform 43"/>
            <p:cNvSpPr>
              <a:spLocks noChangeArrowheads="1"/>
            </p:cNvSpPr>
            <p:nvPr/>
          </p:nvSpPr>
          <p:spPr bwMode="auto">
            <a:xfrm>
              <a:off x="748" y="474"/>
              <a:ext cx="424" cy="1051"/>
            </a:xfrm>
            <a:custGeom>
              <a:avLst/>
              <a:gdLst>
                <a:gd name="T0" fmla="*/ 334 w 424"/>
                <a:gd name="T1" fmla="*/ 1051 h 1051"/>
                <a:gd name="T2" fmla="*/ 198 w 424"/>
                <a:gd name="T3" fmla="*/ 1005 h 1051"/>
                <a:gd name="T4" fmla="*/ 61 w 424"/>
                <a:gd name="T5" fmla="*/ 869 h 1051"/>
                <a:gd name="T6" fmla="*/ 61 w 424"/>
                <a:gd name="T7" fmla="*/ 144 h 1051"/>
                <a:gd name="T8" fmla="*/ 424 w 424"/>
                <a:gd name="T9" fmla="*/ 7 h 10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4" h="1051">
                  <a:moveTo>
                    <a:pt x="334" y="1051"/>
                  </a:moveTo>
                  <a:cubicBezTo>
                    <a:pt x="289" y="1043"/>
                    <a:pt x="244" y="1035"/>
                    <a:pt x="198" y="1005"/>
                  </a:cubicBezTo>
                  <a:cubicBezTo>
                    <a:pt x="152" y="975"/>
                    <a:pt x="84" y="1012"/>
                    <a:pt x="61" y="869"/>
                  </a:cubicBezTo>
                  <a:cubicBezTo>
                    <a:pt x="38" y="726"/>
                    <a:pt x="0" y="288"/>
                    <a:pt x="61" y="144"/>
                  </a:cubicBezTo>
                  <a:cubicBezTo>
                    <a:pt x="122" y="0"/>
                    <a:pt x="273" y="3"/>
                    <a:pt x="424" y="7"/>
                  </a:cubicBezTo>
                </a:path>
              </a:pathLst>
            </a:custGeom>
            <a:noFill/>
            <a:ln w="38100" cap="sq">
              <a:solidFill>
                <a:schemeClr val="hlink"/>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33" name="Text Box 44"/>
            <p:cNvSpPr txBox="1">
              <a:spLocks noChangeArrowheads="1"/>
            </p:cNvSpPr>
            <p:nvPr/>
          </p:nvSpPr>
          <p:spPr bwMode="auto">
            <a:xfrm>
              <a:off x="884" y="28"/>
              <a:ext cx="2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000000"/>
                  </a:solidFill>
                  <a:effectLst/>
                  <a:uLnTx/>
                  <a:uFillTx/>
                  <a:latin typeface="+mn-lt"/>
                  <a:ea typeface="+mn-ea"/>
                  <a:cs typeface="+mn-ea"/>
                  <a:sym typeface="+mn-lt"/>
                </a:rPr>
                <a:t>①</a:t>
              </a:r>
            </a:p>
          </p:txBody>
        </p:sp>
        <p:sp>
          <p:nvSpPr>
            <p:cNvPr id="127034" name="Line 45"/>
            <p:cNvSpPr>
              <a:spLocks noChangeShapeType="1"/>
            </p:cNvSpPr>
            <p:nvPr/>
          </p:nvSpPr>
          <p:spPr bwMode="auto">
            <a:xfrm>
              <a:off x="793" y="345"/>
              <a:ext cx="363" cy="0"/>
            </a:xfrm>
            <a:prstGeom prst="line">
              <a:avLst/>
            </a:prstGeom>
            <a:noFill/>
            <a:ln w="38100" cap="sq">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7035" name="Text Box 46"/>
            <p:cNvSpPr txBox="1">
              <a:spLocks noChangeArrowheads="1"/>
            </p:cNvSpPr>
            <p:nvPr/>
          </p:nvSpPr>
          <p:spPr bwMode="auto">
            <a:xfrm>
              <a:off x="612" y="73"/>
              <a:ext cx="27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p</a:t>
              </a:r>
            </a:p>
          </p:txBody>
        </p:sp>
        <p:sp>
          <p:nvSpPr>
            <p:cNvPr id="127036" name="Text Box 47"/>
            <p:cNvSpPr txBox="1">
              <a:spLocks noChangeArrowheads="1"/>
            </p:cNvSpPr>
            <p:nvPr/>
          </p:nvSpPr>
          <p:spPr bwMode="auto">
            <a:xfrm>
              <a:off x="4306" y="482"/>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000000"/>
                  </a:solidFill>
                  <a:effectLst/>
                  <a:uLnTx/>
                  <a:uFillTx/>
                  <a:latin typeface="+mn-lt"/>
                  <a:ea typeface="+mn-ea"/>
                  <a:cs typeface="+mn-ea"/>
                  <a:sym typeface="+mn-lt"/>
                </a:rPr>
                <a:t>②</a:t>
              </a:r>
            </a:p>
          </p:txBody>
        </p:sp>
        <p:sp>
          <p:nvSpPr>
            <p:cNvPr id="127037" name="Text Box 48"/>
            <p:cNvSpPr txBox="1">
              <a:spLocks noChangeArrowheads="1"/>
            </p:cNvSpPr>
            <p:nvPr/>
          </p:nvSpPr>
          <p:spPr bwMode="auto">
            <a:xfrm>
              <a:off x="1020" y="844"/>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000000"/>
                  </a:solidFill>
                  <a:effectLst/>
                  <a:uLnTx/>
                  <a:uFillTx/>
                  <a:latin typeface="+mn-lt"/>
                  <a:ea typeface="+mn-ea"/>
                  <a:cs typeface="+mn-ea"/>
                  <a:sym typeface="+mn-lt"/>
                </a:rPr>
                <a:t>③</a:t>
              </a:r>
            </a:p>
          </p:txBody>
        </p:sp>
        <p:sp>
          <p:nvSpPr>
            <p:cNvPr id="127038" name="Text Box 49"/>
            <p:cNvSpPr txBox="1">
              <a:spLocks noChangeArrowheads="1"/>
            </p:cNvSpPr>
            <p:nvPr/>
          </p:nvSpPr>
          <p:spPr bwMode="auto">
            <a:xfrm>
              <a:off x="4261" y="1343"/>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1200" cap="none" spc="0" normalizeH="0" baseline="0" noProof="0">
                  <a:ln>
                    <a:noFill/>
                  </a:ln>
                  <a:solidFill>
                    <a:srgbClr val="000000"/>
                  </a:solidFill>
                  <a:effectLst/>
                  <a:uLnTx/>
                  <a:uFillTx/>
                  <a:latin typeface="+mn-lt"/>
                  <a:ea typeface="+mn-ea"/>
                  <a:cs typeface="+mn-ea"/>
                  <a:sym typeface="+mn-lt"/>
                </a:rPr>
                <a:t>④</a:t>
              </a:r>
            </a:p>
          </p:txBody>
        </p:sp>
        <p:sp>
          <p:nvSpPr>
            <p:cNvPr id="127039" name="Text Box 54"/>
            <p:cNvSpPr txBox="1">
              <a:spLocks noChangeArrowheads="1"/>
            </p:cNvSpPr>
            <p:nvPr/>
          </p:nvSpPr>
          <p:spPr bwMode="auto">
            <a:xfrm>
              <a:off x="4542" y="16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Ta</a:t>
              </a:r>
            </a:p>
          </p:txBody>
        </p:sp>
        <p:sp>
          <p:nvSpPr>
            <p:cNvPr id="127040" name="Text Box 59"/>
            <p:cNvSpPr txBox="1">
              <a:spLocks noChangeArrowheads="1"/>
            </p:cNvSpPr>
            <p:nvPr/>
          </p:nvSpPr>
          <p:spPr bwMode="auto">
            <a:xfrm>
              <a:off x="4542" y="935"/>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Tb</a:t>
              </a:r>
            </a:p>
          </p:txBody>
        </p:sp>
      </p:grpSp>
      <p:sp>
        <p:nvSpPr>
          <p:cNvPr id="126979" name="Text Box 60"/>
          <p:cNvSpPr txBox="1">
            <a:spLocks noChangeArrowheads="1"/>
          </p:cNvSpPr>
          <p:nvPr/>
        </p:nvSpPr>
        <p:spPr bwMode="auto">
          <a:xfrm>
            <a:off x="669925" y="3819525"/>
            <a:ext cx="8183563" cy="2986088"/>
          </a:xfrm>
          <a:prstGeom prst="rect">
            <a:avLst/>
          </a:prstGeom>
          <a:solidFill>
            <a:schemeClr val="bg2">
              <a:lumMod val="20000"/>
              <a:lumOff val="80000"/>
            </a:schemeClr>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err="1">
                <a:ln>
                  <a:noFill/>
                </a:ln>
                <a:solidFill>
                  <a:srgbClr val="000000"/>
                </a:solidFill>
                <a:effectLst/>
                <a:uLnTx/>
                <a:uFillTx/>
                <a:latin typeface="+mn-lt"/>
                <a:ea typeface="+mn-ea"/>
                <a:cs typeface="+mn-ea"/>
                <a:sym typeface="+mn-lt"/>
              </a:rPr>
              <a:t>LinkList</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Connect(</a:t>
            </a:r>
            <a:r>
              <a:rPr kumimoji="0" lang="en-US" altLang="zh-CN" sz="2000" b="0" i="0" u="none" strike="noStrike" kern="1200" cap="none" spc="0" normalizeH="0" baseline="0" noProof="0" dirty="0" err="1">
                <a:ln>
                  <a:noFill/>
                </a:ln>
                <a:solidFill>
                  <a:srgbClr val="000000"/>
                </a:solidFill>
                <a:effectLst/>
                <a:uLnTx/>
                <a:uFillTx/>
                <a:latin typeface="+mn-lt"/>
                <a:ea typeface="+mn-ea"/>
                <a:cs typeface="+mn-ea"/>
                <a:sym typeface="+mn-lt"/>
              </a:rPr>
              <a:t>LinkList</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rgbClr val="000000"/>
                </a:solidFill>
                <a:effectLst/>
                <a:uLnTx/>
                <a:uFillTx/>
                <a:latin typeface="+mn-lt"/>
                <a:ea typeface="+mn-ea"/>
                <a:cs typeface="+mn-ea"/>
                <a:sym typeface="+mn-lt"/>
              </a:rPr>
              <a:t>Ta,LinkList</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Tb)</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假设</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Ta</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Tb</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都是非空的单循环链表</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//①p</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存表头结点</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//②Tb</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表头连结</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Ta</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表尾</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//③</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释放</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Tb</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表头结点</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//④</a:t>
            </a:r>
            <a:r>
              <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rPr>
              <a:t>修改指针</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             return  Tb;</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a:t>
            </a:r>
          </a:p>
        </p:txBody>
      </p:sp>
      <p:sp>
        <p:nvSpPr>
          <p:cNvPr id="64" name="Text Box 125"/>
          <p:cNvSpPr txBox="1">
            <a:spLocks noChangeArrowheads="1"/>
          </p:cNvSpPr>
          <p:nvPr/>
        </p:nvSpPr>
        <p:spPr bwMode="auto">
          <a:xfrm>
            <a:off x="1603375" y="4565650"/>
            <a:ext cx="1450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p=Ta-&gt;next;</a:t>
            </a:r>
          </a:p>
        </p:txBody>
      </p:sp>
      <p:sp>
        <p:nvSpPr>
          <p:cNvPr id="65" name="Text Box 126"/>
          <p:cNvSpPr txBox="1">
            <a:spLocks noChangeArrowheads="1"/>
          </p:cNvSpPr>
          <p:nvPr/>
        </p:nvSpPr>
        <p:spPr bwMode="auto">
          <a:xfrm>
            <a:off x="1566863" y="4957763"/>
            <a:ext cx="2947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Ta-&gt;next=Tb-&gt;next-&gt;next;</a:t>
            </a:r>
          </a:p>
        </p:txBody>
      </p:sp>
      <p:sp>
        <p:nvSpPr>
          <p:cNvPr id="66" name="Rectangle 127"/>
          <p:cNvSpPr>
            <a:spLocks noChangeArrowheads="1"/>
          </p:cNvSpPr>
          <p:nvPr/>
        </p:nvSpPr>
        <p:spPr bwMode="auto">
          <a:xfrm>
            <a:off x="1592263" y="5280025"/>
            <a:ext cx="18208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err="1">
                <a:ln>
                  <a:noFill/>
                </a:ln>
                <a:solidFill>
                  <a:srgbClr val="000000"/>
                </a:solidFill>
                <a:effectLst/>
                <a:uLnTx/>
                <a:uFillTx/>
                <a:latin typeface="+mn-lt"/>
                <a:ea typeface="+mn-ea"/>
                <a:cs typeface="+mn-ea"/>
                <a:sym typeface="+mn-lt"/>
              </a:rPr>
              <a:t>deleteTb</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-&gt;next;</a:t>
            </a:r>
            <a:endParaRPr kumimoji="0" lang="zh-CN" altLang="en-US" sz="2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67" name="Rectangle 128"/>
          <p:cNvSpPr>
            <a:spLocks noChangeArrowheads="1"/>
          </p:cNvSpPr>
          <p:nvPr/>
        </p:nvSpPr>
        <p:spPr bwMode="auto">
          <a:xfrm>
            <a:off x="1554163" y="5657850"/>
            <a:ext cx="1606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rgbClr val="000000"/>
                </a:solidFill>
                <a:effectLst/>
                <a:uLnTx/>
                <a:uFillTx/>
                <a:latin typeface="+mn-lt"/>
                <a:ea typeface="+mn-ea"/>
                <a:cs typeface="+mn-ea"/>
                <a:sym typeface="+mn-lt"/>
              </a:rPr>
              <a:t>Tb-&gt;next=p;</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6984" name="Line 67"/>
          <p:cNvSpPr>
            <a:spLocks noChangeShapeType="1"/>
          </p:cNvSpPr>
          <p:nvPr/>
        </p:nvSpPr>
        <p:spPr bwMode="auto">
          <a:xfrm flipH="1">
            <a:off x="7534275" y="2555875"/>
            <a:ext cx="450850"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85" name="Freeform 68"/>
          <p:cNvSpPr>
            <a:spLocks noChangeArrowheads="1"/>
          </p:cNvSpPr>
          <p:nvPr/>
        </p:nvSpPr>
        <p:spPr bwMode="auto">
          <a:xfrm rot="18805494" flipH="1">
            <a:off x="7605713" y="2516188"/>
            <a:ext cx="4763" cy="236538"/>
          </a:xfrm>
          <a:custGeom>
            <a:avLst/>
            <a:gdLst>
              <a:gd name="T0" fmla="*/ 2147483646 w 3"/>
              <a:gd name="T1" fmla="*/ 0 h 177"/>
              <a:gd name="T2" fmla="*/ 0 w 3"/>
              <a:gd name="T3" fmla="*/ 2147483646 h 177"/>
              <a:gd name="T4" fmla="*/ 0 60000 65536"/>
              <a:gd name="T5" fmla="*/ 0 60000 65536"/>
            </a:gdLst>
            <a:ahLst/>
            <a:cxnLst>
              <a:cxn ang="T4">
                <a:pos x="T0" y="T1"/>
              </a:cxn>
              <a:cxn ang="T5">
                <a:pos x="T2" y="T3"/>
              </a:cxn>
            </a:cxnLst>
            <a:rect l="0" t="0" r="r" b="b"/>
            <a:pathLst>
              <a:path w="3" h="177">
                <a:moveTo>
                  <a:pt x="3" y="0"/>
                </a:moveTo>
                <a:cubicBezTo>
                  <a:pt x="3" y="29"/>
                  <a:pt x="1" y="140"/>
                  <a:pt x="0" y="177"/>
                </a:cubicBezTo>
              </a:path>
            </a:pathLst>
          </a:custGeom>
          <a:noFill/>
          <a:ln w="38100" cap="rnd">
            <a:solidFill>
              <a:srgbClr val="FF33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86" name="Line 69"/>
          <p:cNvSpPr>
            <a:spLocks noChangeShapeType="1"/>
          </p:cNvSpPr>
          <p:nvPr/>
        </p:nvSpPr>
        <p:spPr bwMode="auto">
          <a:xfrm flipH="1">
            <a:off x="7146925" y="2708275"/>
            <a:ext cx="515938"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87" name="Line 67"/>
          <p:cNvSpPr>
            <a:spLocks noChangeShapeType="1"/>
          </p:cNvSpPr>
          <p:nvPr/>
        </p:nvSpPr>
        <p:spPr bwMode="auto">
          <a:xfrm flipH="1">
            <a:off x="7499350" y="1246188"/>
            <a:ext cx="452438" cy="0"/>
          </a:xfrm>
          <a:prstGeom prst="line">
            <a:avLst/>
          </a:prstGeom>
          <a:noFill/>
          <a:ln w="38100" cap="rnd">
            <a:solidFill>
              <a:srgbClr val="FF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88" name="Freeform 68"/>
          <p:cNvSpPr>
            <a:spLocks noChangeArrowheads="1"/>
          </p:cNvSpPr>
          <p:nvPr/>
        </p:nvSpPr>
        <p:spPr bwMode="auto">
          <a:xfrm rot="18805494" flipH="1">
            <a:off x="7572375" y="1206500"/>
            <a:ext cx="4763" cy="236538"/>
          </a:xfrm>
          <a:custGeom>
            <a:avLst/>
            <a:gdLst>
              <a:gd name="T0" fmla="*/ 2147483646 w 3"/>
              <a:gd name="T1" fmla="*/ 0 h 177"/>
              <a:gd name="T2" fmla="*/ 0 w 3"/>
              <a:gd name="T3" fmla="*/ 2147483646 h 177"/>
              <a:gd name="T4" fmla="*/ 0 60000 65536"/>
              <a:gd name="T5" fmla="*/ 0 60000 65536"/>
            </a:gdLst>
            <a:ahLst/>
            <a:cxnLst>
              <a:cxn ang="T4">
                <a:pos x="T0" y="T1"/>
              </a:cxn>
              <a:cxn ang="T5">
                <a:pos x="T2" y="T3"/>
              </a:cxn>
            </a:cxnLst>
            <a:rect l="0" t="0" r="r" b="b"/>
            <a:pathLst>
              <a:path w="3" h="177">
                <a:moveTo>
                  <a:pt x="3" y="0"/>
                </a:moveTo>
                <a:cubicBezTo>
                  <a:pt x="3" y="29"/>
                  <a:pt x="1" y="140"/>
                  <a:pt x="0" y="177"/>
                </a:cubicBezTo>
              </a:path>
            </a:pathLst>
          </a:custGeom>
          <a:noFill/>
          <a:ln w="38100" cap="rnd">
            <a:solidFill>
              <a:srgbClr val="FF33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89" name="Line 69"/>
          <p:cNvSpPr>
            <a:spLocks noChangeShapeType="1"/>
          </p:cNvSpPr>
          <p:nvPr/>
        </p:nvSpPr>
        <p:spPr bwMode="auto">
          <a:xfrm flipH="1">
            <a:off x="7113588" y="1398588"/>
            <a:ext cx="515938" cy="0"/>
          </a:xfrm>
          <a:prstGeom prst="line">
            <a:avLst/>
          </a:prstGeom>
          <a:noFill/>
          <a:ln w="38100" cap="rnd">
            <a:solidFill>
              <a:srgbClr val="FF33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6991" name="Text Box 6"/>
          <p:cNvSpPr txBox="1">
            <a:spLocks noChangeArrowheads="1"/>
          </p:cNvSpPr>
          <p:nvPr/>
        </p:nvSpPr>
        <p:spPr bwMode="auto">
          <a:xfrm>
            <a:off x="463550" y="1911350"/>
            <a:ext cx="11525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示例</a:t>
            </a:r>
          </a:p>
        </p:txBody>
      </p:sp>
      <p:sp>
        <p:nvSpPr>
          <p:cNvPr id="68" name="Rectangle 4"/>
          <p:cNvSpPr>
            <a:spLocks noChangeArrowheads="1"/>
          </p:cNvSpPr>
          <p:nvPr/>
        </p:nvSpPr>
        <p:spPr bwMode="auto">
          <a:xfrm>
            <a:off x="889000" y="139700"/>
            <a:ext cx="71643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循环链表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wipe(left)">
                                      <p:cBhvr>
                                        <p:cTn id="2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431800" y="258763"/>
            <a:ext cx="77771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 name="Rectangle 3"/>
          <p:cNvSpPr txBox="1">
            <a:spLocks noChangeArrowheads="1"/>
          </p:cNvSpPr>
          <p:nvPr/>
        </p:nvSpPr>
        <p:spPr bwMode="auto">
          <a:xfrm>
            <a:off x="0" y="979488"/>
            <a:ext cx="9144000" cy="504825"/>
          </a:xfrm>
          <a:prstGeom prst="rect">
            <a:avLst/>
          </a:prstGeom>
          <a:solidFill>
            <a:srgbClr val="9476B6"/>
          </a:solidFill>
          <a:ln>
            <a:noFill/>
          </a:ln>
        </p:spPr>
        <p:txBody>
          <a:bodyPr anchor="ctr"/>
          <a:lstStyle>
            <a:lvl1pPr marL="269875">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269875" marR="0" lvl="0" indent="0" algn="l" defTabSz="914400" rtl="0" eaLnBrk="0" fontAlgn="base" latinLnBrk="0" hangingPunct="0">
              <a:lnSpc>
                <a:spcPct val="125000"/>
              </a:lnSpc>
              <a:spcBef>
                <a:spcPct val="20000"/>
              </a:spcBef>
              <a:spcAft>
                <a:spcPct val="0"/>
              </a:spcAft>
              <a:buClrTx/>
              <a:buSzTx/>
              <a:buFontTx/>
              <a:buNone/>
              <a:defRPr/>
            </a:pPr>
            <a:r>
              <a:rPr kumimoji="0" lang="zh-CN" altLang="zh-CN" sz="2200" b="0" i="0" u="none" strike="noStrike" kern="1200" cap="none" spc="0" normalizeH="0" baseline="0" noProof="0" dirty="0">
                <a:ln>
                  <a:noFill/>
                </a:ln>
                <a:solidFill>
                  <a:schemeClr val="bg1"/>
                </a:solidFill>
                <a:effectLst/>
                <a:uLnTx/>
                <a:uFillTx/>
                <a:latin typeface="+mn-lt"/>
                <a:ea typeface="+mn-ea"/>
                <a:cs typeface="+mn-ea"/>
                <a:sym typeface="+mn-lt"/>
              </a:rPr>
              <a:t>著名犹太历史学家</a:t>
            </a:r>
            <a:r>
              <a:rPr kumimoji="0" lang="en-US" altLang="zh-CN" sz="22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en-US" altLang="zh-CN" sz="2200" b="0" i="0" u="none" strike="noStrike" kern="1200" cap="none" spc="0" normalizeH="0" baseline="0" noProof="0" dirty="0">
                <a:ln>
                  <a:noFill/>
                </a:ln>
                <a:solidFill>
                  <a:srgbClr val="FFFF00"/>
                </a:solidFill>
                <a:effectLst/>
                <a:uLnTx/>
                <a:uFillTx/>
                <a:latin typeface="+mn-lt"/>
                <a:ea typeface="+mn-ea"/>
                <a:cs typeface="+mn-ea"/>
                <a:sym typeface="+mn-lt"/>
              </a:rPr>
              <a:t>Josephus</a:t>
            </a:r>
          </a:p>
        </p:txBody>
      </p:sp>
      <p:sp>
        <p:nvSpPr>
          <p:cNvPr id="133124" name="Text Box 6"/>
          <p:cNvSpPr txBox="1"/>
          <p:nvPr/>
        </p:nvSpPr>
        <p:spPr>
          <a:xfrm>
            <a:off x="798513" y="230188"/>
            <a:ext cx="2428875" cy="522287"/>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zh-CN" sz="2800" dirty="0">
                <a:solidFill>
                  <a:schemeClr val="bg1"/>
                </a:solidFill>
                <a:sym typeface="+mn-lt"/>
              </a:rPr>
              <a:t>约瑟夫问题</a:t>
            </a:r>
          </a:p>
        </p:txBody>
      </p:sp>
      <p:sp>
        <p:nvSpPr>
          <p:cNvPr id="7" name="Rectangle 3"/>
          <p:cNvSpPr txBox="1">
            <a:spLocks noChangeArrowheads="1"/>
          </p:cNvSpPr>
          <p:nvPr/>
        </p:nvSpPr>
        <p:spPr bwMode="auto">
          <a:xfrm>
            <a:off x="0" y="1557338"/>
            <a:ext cx="5403850" cy="5157788"/>
          </a:xfrm>
          <a:prstGeom prst="rect">
            <a:avLst/>
          </a:prstGeom>
          <a:solidFill>
            <a:srgbClr val="EAEAEA"/>
          </a:solidFill>
          <a:ln>
            <a:noFill/>
          </a:ln>
        </p:spPr>
        <p:txBody>
          <a:bodyPr anchor="ctr"/>
          <a:lstStyle>
            <a:lvl1pPr marL="269875">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269875" marR="0" lvl="0" indent="0" algn="l" defTabSz="914400" rtl="0" eaLnBrk="0" fontAlgn="base" latinLnBrk="0" hangingPunct="0">
              <a:lnSpc>
                <a:spcPct val="125000"/>
              </a:lnSpc>
              <a:spcBef>
                <a:spcPct val="20000"/>
              </a:spcBef>
              <a:spcAft>
                <a:spcPct val="0"/>
              </a:spcAft>
              <a:buClrTx/>
              <a:buSzTx/>
              <a:buFontTx/>
              <a:buNone/>
              <a:defRPr/>
            </a:pP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在罗马人占领乔塔帕特后</a:t>
            </a:r>
            <a:endPar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endParaRPr>
          </a:p>
          <a:p>
            <a:pPr marL="269875" marR="0" lvl="0" indent="0" algn="l" defTabSz="914400" rtl="0" eaLnBrk="0" fontAlgn="base" latinLnBrk="0" hangingPunct="0">
              <a:lnSpc>
                <a:spcPct val="125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rPr>
              <a:t>39 </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个犹太人与</a:t>
            </a:r>
            <a:r>
              <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rPr>
              <a:t>Josephus</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及他的朋友躲到一个洞中</a:t>
            </a:r>
            <a:endPar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endParaRPr>
          </a:p>
          <a:p>
            <a:pPr marL="269875" marR="0" lvl="0" indent="0" algn="l" defTabSz="914400" rtl="0" eaLnBrk="0" fontAlgn="base" latinLnBrk="0" hangingPunct="0">
              <a:lnSpc>
                <a:spcPct val="125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rPr>
              <a:t>39</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个犹太人决定宁愿死也不要被敌人抓到，于是决定了一个自杀方式</a:t>
            </a:r>
            <a:endPar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endParaRPr>
          </a:p>
          <a:p>
            <a:pPr marL="269875" marR="0" lvl="0" indent="0" algn="l" defTabSz="914400" rtl="0" eaLnBrk="0" fontAlgn="base" latinLnBrk="0" hangingPunct="0">
              <a:lnSpc>
                <a:spcPct val="125000"/>
              </a:lnSpc>
              <a:spcBef>
                <a:spcPct val="20000"/>
              </a:spcBef>
              <a:spcAft>
                <a:spcPct val="0"/>
              </a:spcAft>
              <a:buClrTx/>
              <a:buSzTx/>
              <a:buFontTx/>
              <a:buNone/>
              <a:defRPr/>
            </a:pP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41</a:t>
            </a:r>
            <a:r>
              <a:rPr kumimoji="0" lang="zh-CN" altLang="zh-CN" sz="2000" b="0" i="0" u="none" strike="noStrike" kern="1200" cap="none" spc="0" normalizeH="0" baseline="0" noProof="0" dirty="0">
                <a:ln>
                  <a:noFill/>
                </a:ln>
                <a:solidFill>
                  <a:srgbClr val="FF0000"/>
                </a:solidFill>
                <a:effectLst/>
                <a:uLnTx/>
                <a:uFillTx/>
                <a:latin typeface="+mn-lt"/>
                <a:ea typeface="+mn-ea"/>
                <a:cs typeface="+mn-ea"/>
                <a:sym typeface="+mn-lt"/>
              </a:rPr>
              <a:t>个人</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排成一个圆圈，由第</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1</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个人开始报数，每报数到第</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3</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人该人就必须自杀，然后再由下一个重新报数，直到所有人都自杀身亡为止</a:t>
            </a:r>
            <a:endPar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endParaRPr>
          </a:p>
          <a:p>
            <a:pPr marL="269875" marR="0" lvl="0" indent="0" algn="l" defTabSz="914400" rtl="0" eaLnBrk="0" fontAlgn="base" latinLnBrk="0" hangingPunct="0">
              <a:lnSpc>
                <a:spcPct val="125000"/>
              </a:lnSpc>
              <a:spcBef>
                <a:spcPct val="20000"/>
              </a:spcBef>
              <a:spcAft>
                <a:spcPct val="0"/>
              </a:spcAft>
              <a:buClrTx/>
              <a:buSzTx/>
              <a:buFontTx/>
              <a:buNone/>
              <a:defRPr/>
            </a:pP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然而</a:t>
            </a:r>
            <a:r>
              <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rPr>
              <a:t>Josephus </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和他的朋友并不想遵从，</a:t>
            </a:r>
            <a:r>
              <a:rPr kumimoji="0" lang="en-US" altLang="zh-CN" sz="2000" b="0" i="0" u="none" strike="noStrike" kern="1200" cap="none" spc="0" normalizeH="0" baseline="0" noProof="0" dirty="0">
                <a:ln>
                  <a:noFill/>
                </a:ln>
                <a:solidFill>
                  <a:srgbClr val="002060"/>
                </a:solidFill>
                <a:effectLst/>
                <a:uLnTx/>
                <a:uFillTx/>
                <a:latin typeface="+mn-lt"/>
                <a:ea typeface="+mn-ea"/>
                <a:cs typeface="+mn-ea"/>
                <a:sym typeface="+mn-lt"/>
              </a:rPr>
              <a:t>Josephus</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要他的朋友先假装遵从，他将朋友与自己安排在第</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16</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个与第</a:t>
            </a:r>
            <a:r>
              <a:rPr kumimoji="0" lang="en-US" altLang="zh-CN" sz="2000" b="0" i="0" u="none" strike="noStrike" kern="1200" cap="none" spc="0" normalizeH="0" baseline="0" noProof="0" dirty="0">
                <a:ln>
                  <a:noFill/>
                </a:ln>
                <a:solidFill>
                  <a:srgbClr val="FF0000"/>
                </a:solidFill>
                <a:effectLst/>
                <a:uLnTx/>
                <a:uFillTx/>
                <a:latin typeface="+mn-lt"/>
                <a:ea typeface="+mn-ea"/>
                <a:cs typeface="+mn-ea"/>
                <a:sym typeface="+mn-lt"/>
              </a:rPr>
              <a:t>31</a:t>
            </a:r>
            <a:r>
              <a:rPr kumimoji="0" lang="zh-CN" altLang="zh-CN" sz="2000" b="0" i="0" u="none" strike="noStrike" kern="1200" cap="none" spc="0" normalizeH="0" baseline="0" noProof="0" dirty="0">
                <a:ln>
                  <a:noFill/>
                </a:ln>
                <a:solidFill>
                  <a:srgbClr val="002060"/>
                </a:solidFill>
                <a:effectLst/>
                <a:uLnTx/>
                <a:uFillTx/>
                <a:latin typeface="+mn-lt"/>
                <a:ea typeface="+mn-ea"/>
                <a:cs typeface="+mn-ea"/>
                <a:sym typeface="+mn-lt"/>
              </a:rPr>
              <a:t>个位置，于是逃过了这场死亡游戏 </a:t>
            </a:r>
            <a:endParaRPr kumimoji="0" lang="zh-CN" altLang="en-US" sz="2000" b="0" i="0" u="none" strike="noStrike" kern="1200" cap="none" spc="0" normalizeH="0" baseline="0" noProof="0" dirty="0">
              <a:ln>
                <a:noFill/>
              </a:ln>
              <a:solidFill>
                <a:srgbClr val="002060"/>
              </a:solidFill>
              <a:effectLst/>
              <a:uLnTx/>
              <a:uFillTx/>
              <a:latin typeface="+mn-lt"/>
              <a:ea typeface="+mn-ea"/>
              <a:cs typeface="+mn-ea"/>
              <a:sym typeface="+mn-lt"/>
            </a:endParaRPr>
          </a:p>
        </p:txBody>
      </p:sp>
      <p:pic>
        <p:nvPicPr>
          <p:cNvPr id="132098" name="Picture 2" descr="http://t3.baidu.com/it/u=3734063827,1396026635&amp;fm=21&amp;gp=0.jpg"/>
          <p:cNvPicPr>
            <a:picLocks noChangeAspect="1" noChangeArrowheads="1"/>
          </p:cNvPicPr>
          <p:nvPr/>
        </p:nvPicPr>
        <p:blipFill>
          <a:blip r:embed="rId2">
            <a:duotone>
              <a:prstClr val="black"/>
              <a:srgbClr val="D2D2F4">
                <a:tint val="45000"/>
                <a:satMod val="400000"/>
              </a:srgbClr>
            </a:duotone>
            <a:extLst>
              <a:ext uri="{28A0092B-C50C-407E-A947-70E740481C1C}">
                <a14:useLocalDpi xmlns:a14="http://schemas.microsoft.com/office/drawing/2010/main" val="0"/>
              </a:ext>
            </a:extLst>
          </a:blip>
          <a:srcRect/>
          <a:stretch>
            <a:fillRect/>
          </a:stretch>
        </p:blipFill>
        <p:spPr bwMode="auto">
          <a:xfrm>
            <a:off x="5619800" y="1556792"/>
            <a:ext cx="3524200" cy="3284352"/>
          </a:xfrm>
          <a:prstGeom prst="rect">
            <a:avLst/>
          </a:prstGeom>
          <a:solidFill>
            <a:srgbClr val="B8D4EC"/>
          </a:solidFill>
          <a:ln>
            <a:noFill/>
          </a:ln>
        </p:spPr>
      </p:pic>
      <p:sp>
        <p:nvSpPr>
          <p:cNvPr id="133127" name="矩形 1"/>
          <p:cNvSpPr/>
          <p:nvPr/>
        </p:nvSpPr>
        <p:spPr>
          <a:xfrm>
            <a:off x="5619750" y="4941888"/>
            <a:ext cx="3524250" cy="7143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28" name="矩形 8"/>
          <p:cNvSpPr/>
          <p:nvPr/>
        </p:nvSpPr>
        <p:spPr>
          <a:xfrm>
            <a:off x="5619750" y="5076825"/>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29" name="矩形 9"/>
          <p:cNvSpPr/>
          <p:nvPr/>
        </p:nvSpPr>
        <p:spPr>
          <a:xfrm>
            <a:off x="5619750" y="5219700"/>
            <a:ext cx="3524250" cy="71438"/>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0" name="矩形 10"/>
          <p:cNvSpPr/>
          <p:nvPr/>
        </p:nvSpPr>
        <p:spPr>
          <a:xfrm>
            <a:off x="5619750" y="5360988"/>
            <a:ext cx="3524250" cy="7143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1" name="矩形 11"/>
          <p:cNvSpPr/>
          <p:nvPr/>
        </p:nvSpPr>
        <p:spPr>
          <a:xfrm>
            <a:off x="5619750" y="5495925"/>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2" name="矩形 14"/>
          <p:cNvSpPr/>
          <p:nvPr/>
        </p:nvSpPr>
        <p:spPr>
          <a:xfrm>
            <a:off x="5619750" y="5618163"/>
            <a:ext cx="3524250" cy="7143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3" name="矩形 15"/>
          <p:cNvSpPr/>
          <p:nvPr/>
        </p:nvSpPr>
        <p:spPr>
          <a:xfrm>
            <a:off x="5619750" y="5773738"/>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4" name="矩形 16"/>
          <p:cNvSpPr/>
          <p:nvPr/>
        </p:nvSpPr>
        <p:spPr>
          <a:xfrm>
            <a:off x="5619750" y="5930900"/>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5" name="矩形 17"/>
          <p:cNvSpPr/>
          <p:nvPr/>
        </p:nvSpPr>
        <p:spPr>
          <a:xfrm>
            <a:off x="5619750" y="6107113"/>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6" name="矩形 18"/>
          <p:cNvSpPr/>
          <p:nvPr/>
        </p:nvSpPr>
        <p:spPr>
          <a:xfrm>
            <a:off x="5619750" y="6272213"/>
            <a:ext cx="3524250" cy="7143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7" name="矩形 19"/>
          <p:cNvSpPr/>
          <p:nvPr/>
        </p:nvSpPr>
        <p:spPr>
          <a:xfrm>
            <a:off x="5619750" y="6429375"/>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3138" name="矩形 20"/>
          <p:cNvSpPr/>
          <p:nvPr/>
        </p:nvSpPr>
        <p:spPr>
          <a:xfrm>
            <a:off x="5619750" y="6605588"/>
            <a:ext cx="3524250" cy="730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delay="0"/>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bg/>
                                          </p:spTgt>
                                        </p:tgtEl>
                                        <p:attrNameLst>
                                          <p:attrName>style.visibility</p:attrName>
                                        </p:attrNameLst>
                                      </p:cBhvr>
                                      <p:to>
                                        <p:strVal val="visible"/>
                                      </p:to>
                                    </p:set>
                                    <p:animEffect transition="in" filter="fade">
                                      <p:cBhvr>
                                        <p:cTn id="14" dur="2000"/>
                                        <p:tgtEl>
                                          <p:spTgt spid="6">
                                            <p:bg/>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2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bg/>
                                          </p:spTgt>
                                        </p:tgtEl>
                                        <p:attrNameLst>
                                          <p:attrName>style.visibility</p:attrName>
                                        </p:attrNameLst>
                                      </p:cBhvr>
                                      <p:to>
                                        <p:strVal val="visible"/>
                                      </p:to>
                                    </p:set>
                                    <p:animEffect transition="in" filter="fade">
                                      <p:cBhvr>
                                        <p:cTn id="22" dur="2000"/>
                                        <p:tgtEl>
                                          <p:spTgt spid="7">
                                            <p:bg/>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2000"/>
                                        <p:tgtEl>
                                          <p:spTgt spid="7">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fade">
                                      <p:cBhvr>
                                        <p:cTn id="28" dur="2000"/>
                                        <p:tgtEl>
                                          <p:spTgt spid="7">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fade">
                                      <p:cBhvr>
                                        <p:cTn id="31" dur="2000"/>
                                        <p:tgtEl>
                                          <p:spTgt spid="7">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xEl>
                                              <p:pRg st="3" end="3"/>
                                            </p:txEl>
                                          </p:spTgt>
                                        </p:tgtEl>
                                        <p:attrNameLst>
                                          <p:attrName>style.visibility</p:attrName>
                                        </p:attrNameLst>
                                      </p:cBhvr>
                                      <p:to>
                                        <p:strVal val="visible"/>
                                      </p:to>
                                    </p:set>
                                    <p:animEffect transition="in" filter="fade">
                                      <p:cBhvr>
                                        <p:cTn id="34" dur="2000"/>
                                        <p:tgtEl>
                                          <p:spTgt spid="7">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fade">
                                      <p:cBhvr>
                                        <p:cTn id="37" dur="2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allAtOnce" animBg="1"/>
      <p:bldP spid="7" grpId="0" build="allAtOnce"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矩形 1"/>
          <p:cNvSpPr/>
          <p:nvPr/>
        </p:nvSpPr>
        <p:spPr>
          <a:xfrm>
            <a:off x="0" y="1711325"/>
            <a:ext cx="179388" cy="48736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585730" name="Rectangle 2"/>
          <p:cNvSpPr>
            <a:spLocks noGrp="1" noChangeArrowheads="1"/>
          </p:cNvSpPr>
          <p:nvPr>
            <p:ph idx="1"/>
          </p:nvPr>
        </p:nvSpPr>
        <p:spPr>
          <a:xfrm>
            <a:off x="114300" y="889000"/>
            <a:ext cx="6096000" cy="685800"/>
          </a:xfrm>
        </p:spPr>
        <p:txBody>
          <a:bodyPr vert="horz" wrap="square" lIns="91440" tIns="45720" rIns="91440" bIns="45720" numCol="1" anchor="ctr" anchorCtr="0" compatLnSpc="1"/>
          <a:lstStyle/>
          <a:p>
            <a:pPr marL="0" marR="0" lvl="0" indent="538480" algn="l" defTabSz="914400" rtl="0" eaLnBrk="0" fontAlgn="base" latinLnBrk="0" hangingPunct="0">
              <a:lnSpc>
                <a:spcPct val="90000"/>
              </a:lnSpc>
              <a:spcBef>
                <a:spcPct val="0"/>
              </a:spcBef>
              <a:spcAft>
                <a:spcPct val="0"/>
              </a:spcAft>
              <a:buClrTx/>
              <a:buSzTx/>
              <a:buFontTx/>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ea"/>
                <a:sym typeface="+mn-lt"/>
              </a:rPr>
              <a:t>例如  </a:t>
            </a:r>
            <a:r>
              <a:rPr kumimoji="1" lang="en-US" altLang="zh-CN" sz="2400" b="0" i="1" u="none" strike="noStrike" kern="0" cap="none" spc="0" normalizeH="0" baseline="0" noProof="0" dirty="0">
                <a:ln>
                  <a:noFill/>
                </a:ln>
                <a:solidFill>
                  <a:srgbClr val="0000CC"/>
                </a:solidFill>
                <a:effectLst/>
                <a:uLnTx/>
                <a:uFillTx/>
                <a:latin typeface="+mn-lt"/>
                <a:ea typeface="+mn-ea"/>
                <a:cs typeface="+mn-ea"/>
                <a:sym typeface="+mn-lt"/>
              </a:rPr>
              <a:t>n </a:t>
            </a:r>
            <a:r>
              <a:rPr kumimoji="1" lang="en-US" altLang="zh-CN" sz="2400" b="0" i="0" u="none" strike="noStrike" kern="0" cap="none" spc="0" normalizeH="0" baseline="0" noProof="0" dirty="0">
                <a:ln>
                  <a:noFill/>
                </a:ln>
                <a:solidFill>
                  <a:srgbClr val="0000CC"/>
                </a:solidFill>
                <a:effectLst/>
                <a:uLnTx/>
                <a:uFillTx/>
                <a:latin typeface="+mn-lt"/>
                <a:ea typeface="+mn-ea"/>
                <a:cs typeface="+mn-ea"/>
                <a:sym typeface="+mn-lt"/>
              </a:rPr>
              <a:t>= 8   </a:t>
            </a:r>
            <a:r>
              <a:rPr kumimoji="1" lang="en-US" altLang="zh-CN" sz="2400" b="0" i="1" u="none" strike="noStrike" kern="0" cap="none" spc="0" normalizeH="0" baseline="0" noProof="0" dirty="0">
                <a:ln>
                  <a:noFill/>
                </a:ln>
                <a:solidFill>
                  <a:srgbClr val="0000CC"/>
                </a:solidFill>
                <a:effectLst/>
                <a:uLnTx/>
                <a:uFillTx/>
                <a:latin typeface="+mn-lt"/>
                <a:ea typeface="+mn-ea"/>
                <a:cs typeface="+mn-ea"/>
                <a:sym typeface="+mn-lt"/>
              </a:rPr>
              <a:t>m</a:t>
            </a:r>
            <a:r>
              <a:rPr kumimoji="1" lang="en-US" altLang="zh-CN" sz="2400" b="0" i="0" u="none" strike="noStrike" kern="0" cap="none" spc="0" normalizeH="0" baseline="0" noProof="0" dirty="0">
                <a:ln>
                  <a:noFill/>
                </a:ln>
                <a:solidFill>
                  <a:srgbClr val="0000CC"/>
                </a:solidFill>
                <a:effectLst/>
                <a:uLnTx/>
                <a:uFillTx/>
                <a:latin typeface="+mn-lt"/>
                <a:ea typeface="+mn-ea"/>
                <a:cs typeface="+mn-ea"/>
                <a:sym typeface="+mn-lt"/>
              </a:rPr>
              <a:t> = 3</a:t>
            </a:r>
          </a:p>
        </p:txBody>
      </p:sp>
      <p:pic>
        <p:nvPicPr>
          <p:cNvPr id="134148" name="Picture 3"/>
          <p:cNvPicPr>
            <a:picLocks noChangeAspect="1"/>
          </p:cNvPicPr>
          <p:nvPr/>
        </p:nvPicPr>
        <p:blipFill>
          <a:blip r:embed="rId2"/>
          <a:srcRect r="43996"/>
          <a:stretch>
            <a:fillRect/>
          </a:stretch>
        </p:blipFill>
        <p:spPr>
          <a:xfrm>
            <a:off x="179388" y="1711325"/>
            <a:ext cx="8748712" cy="2590800"/>
          </a:xfrm>
          <a:prstGeom prst="rect">
            <a:avLst/>
          </a:prstGeom>
          <a:noFill/>
          <a:ln w="9525">
            <a:noFill/>
          </a:ln>
        </p:spPr>
      </p:pic>
      <p:pic>
        <p:nvPicPr>
          <p:cNvPr id="134149" name="Picture 4"/>
          <p:cNvPicPr>
            <a:picLocks noChangeAspect="1"/>
          </p:cNvPicPr>
          <p:nvPr/>
        </p:nvPicPr>
        <p:blipFill>
          <a:blip r:embed="rId2"/>
          <a:srcRect l="56342"/>
          <a:stretch>
            <a:fillRect/>
          </a:stretch>
        </p:blipFill>
        <p:spPr>
          <a:xfrm>
            <a:off x="841375" y="3821113"/>
            <a:ext cx="7186613" cy="2763837"/>
          </a:xfrm>
          <a:prstGeom prst="rect">
            <a:avLst/>
          </a:prstGeom>
          <a:noFill/>
          <a:ln w="9525">
            <a:noFill/>
          </a:ln>
        </p:spPr>
      </p:pic>
      <p:sp>
        <p:nvSpPr>
          <p:cNvPr id="134150" name="Text Box 6"/>
          <p:cNvSpPr txBox="1"/>
          <p:nvPr/>
        </p:nvSpPr>
        <p:spPr>
          <a:xfrm>
            <a:off x="798513" y="230188"/>
            <a:ext cx="2428875" cy="522287"/>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zh-CN" sz="2800" dirty="0">
                <a:solidFill>
                  <a:schemeClr val="bg1"/>
                </a:solidFill>
                <a:sym typeface="+mn-lt"/>
              </a:rPr>
              <a:t>约瑟夫问题</a:t>
            </a:r>
          </a:p>
        </p:txBody>
      </p:sp>
      <p:sp>
        <p:nvSpPr>
          <p:cNvPr id="134151" name="矩形 11"/>
          <p:cNvSpPr/>
          <p:nvPr/>
        </p:nvSpPr>
        <p:spPr>
          <a:xfrm>
            <a:off x="8999538" y="1711325"/>
            <a:ext cx="180975" cy="48736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ransition>
    <p:split orient="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矩形 2"/>
          <p:cNvSpPr/>
          <p:nvPr/>
        </p:nvSpPr>
        <p:spPr>
          <a:xfrm>
            <a:off x="0" y="1916113"/>
            <a:ext cx="9144000" cy="3203575"/>
          </a:xfrm>
          <a:prstGeom prst="rect">
            <a:avLst/>
          </a:prstGeom>
          <a:solidFill>
            <a:srgbClr val="D2D2F4"/>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aphicFrame>
        <p:nvGraphicFramePr>
          <p:cNvPr id="662531" name="Object 3"/>
          <p:cNvGraphicFramePr/>
          <p:nvPr/>
        </p:nvGraphicFramePr>
        <p:xfrm>
          <a:off x="5435600" y="3678238"/>
          <a:ext cx="3378200" cy="1130300"/>
        </p:xfrm>
        <a:graphic>
          <a:graphicData uri="http://schemas.openxmlformats.org/presentationml/2006/ole">
            <mc:AlternateContent xmlns:mc="http://schemas.openxmlformats.org/markup-compatibility/2006">
              <mc:Choice xmlns:v="urn:schemas-microsoft-com:vml" Requires="v">
                <p:oleObj spid="_x0000_s13357" r:id="rId3" imgW="1744980" imgH="589280" progId="Visio.Drawing.11">
                  <p:embed/>
                </p:oleObj>
              </mc:Choice>
              <mc:Fallback>
                <p:oleObj r:id="rId3" imgW="1744980" imgH="589280" progId="Visio.Drawing.11">
                  <p:embed/>
                  <p:pic>
                    <p:nvPicPr>
                      <p:cNvPr id="0" name="图片 3092"/>
                      <p:cNvPicPr/>
                      <p:nvPr/>
                    </p:nvPicPr>
                    <p:blipFill>
                      <a:blip r:embed="rId4"/>
                      <a:stretch>
                        <a:fillRect/>
                      </a:stretch>
                    </p:blipFill>
                    <p:spPr>
                      <a:xfrm>
                        <a:off x="5435600" y="3678238"/>
                        <a:ext cx="3378200" cy="1130300"/>
                      </a:xfrm>
                      <a:prstGeom prst="rect">
                        <a:avLst/>
                      </a:prstGeom>
                      <a:noFill/>
                      <a:ln w="38100">
                        <a:noFill/>
                        <a:miter/>
                      </a:ln>
                    </p:spPr>
                  </p:pic>
                </p:oleObj>
              </mc:Fallback>
            </mc:AlternateContent>
          </a:graphicData>
        </a:graphic>
      </p:graphicFrame>
      <p:graphicFrame>
        <p:nvGraphicFramePr>
          <p:cNvPr id="662532" name="Object 4"/>
          <p:cNvGraphicFramePr/>
          <p:nvPr/>
        </p:nvGraphicFramePr>
        <p:xfrm>
          <a:off x="6332538" y="2574925"/>
          <a:ext cx="2476500" cy="1082675"/>
        </p:xfrm>
        <a:graphic>
          <a:graphicData uri="http://schemas.openxmlformats.org/presentationml/2006/ole">
            <mc:AlternateContent xmlns:mc="http://schemas.openxmlformats.org/markup-compatibility/2006">
              <mc:Choice xmlns:v="urn:schemas-microsoft-com:vml" Requires="v">
                <p:oleObj spid="_x0000_s13358" r:id="rId5" imgW="1242060" imgH="589280" progId="Visio.Drawing.11">
                  <p:embed/>
                </p:oleObj>
              </mc:Choice>
              <mc:Fallback>
                <p:oleObj r:id="rId5" imgW="1242060" imgH="589280" progId="Visio.Drawing.11">
                  <p:embed/>
                  <p:pic>
                    <p:nvPicPr>
                      <p:cNvPr id="0" name="图片 3091"/>
                      <p:cNvPicPr/>
                      <p:nvPr/>
                    </p:nvPicPr>
                    <p:blipFill>
                      <a:blip r:embed="rId6"/>
                      <a:stretch>
                        <a:fillRect/>
                      </a:stretch>
                    </p:blipFill>
                    <p:spPr>
                      <a:xfrm>
                        <a:off x="6332538" y="2574925"/>
                        <a:ext cx="2476500" cy="1082675"/>
                      </a:xfrm>
                      <a:prstGeom prst="rect">
                        <a:avLst/>
                      </a:prstGeom>
                      <a:noFill/>
                      <a:ln w="38100">
                        <a:noFill/>
                        <a:miter/>
                      </a:ln>
                    </p:spPr>
                  </p:pic>
                </p:oleObj>
              </mc:Fallback>
            </mc:AlternateContent>
          </a:graphicData>
        </a:graphic>
      </p:graphicFrame>
      <p:grpSp>
        <p:nvGrpSpPr>
          <p:cNvPr id="4" name="Group 5"/>
          <p:cNvGrpSpPr/>
          <p:nvPr/>
        </p:nvGrpSpPr>
        <p:grpSpPr bwMode="auto">
          <a:xfrm>
            <a:off x="344860" y="2071761"/>
            <a:ext cx="5029200" cy="2892425"/>
            <a:chOff x="144" y="1440"/>
            <a:chExt cx="3168" cy="1822"/>
          </a:xfrm>
          <a:solidFill>
            <a:srgbClr val="D2D2F4"/>
          </a:solidFill>
        </p:grpSpPr>
        <p:sp>
          <p:nvSpPr>
            <p:cNvPr id="131080" name="Text Box 6"/>
            <p:cNvSpPr txBox="1">
              <a:spLocks noChangeArrowheads="1"/>
            </p:cNvSpPr>
            <p:nvPr/>
          </p:nvSpPr>
          <p:spPr bwMode="auto">
            <a:xfrm>
              <a:off x="144" y="1440"/>
              <a:ext cx="2555" cy="1822"/>
            </a:xfrm>
            <a:prstGeom prst="rect">
              <a:avLst/>
            </a:prstGeom>
            <a:solidFill>
              <a:srgbClr val="D2D2F4"/>
            </a:solidFill>
            <a:ln w="9525">
              <a:solidFill>
                <a:schemeClr val="bg2">
                  <a:lumMod val="60000"/>
                  <a:lumOff val="40000"/>
                </a:schemeClr>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DuLNode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data;              </a:t>
              </a:r>
            </a:p>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DuLNode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*prior;  </a:t>
              </a:r>
            </a:p>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DuLNode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*next;  </a:t>
              </a:r>
            </a:p>
            <a:p>
              <a:pPr marL="0" marR="0" lvl="0" indent="0" algn="l" defTabSz="914400" rtl="0" eaLnBrk="1" fontAlgn="base" latinLnBrk="0" hangingPunct="1">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DuLNode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DuLinkList</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1081" name="Line 7"/>
            <p:cNvSpPr>
              <a:spLocks noChangeShapeType="1"/>
            </p:cNvSpPr>
            <p:nvPr/>
          </p:nvSpPr>
          <p:spPr bwMode="auto">
            <a:xfrm flipH="1" flipV="1">
              <a:off x="2880" y="2684"/>
              <a:ext cx="432" cy="288"/>
            </a:xfrm>
            <a:prstGeom prst="line">
              <a:avLst/>
            </a:prstGeom>
            <a:grpFill/>
            <a:ln w="76200">
              <a:solidFill>
                <a:srgbClr val="FF0000"/>
              </a:solidFill>
              <a:round/>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31077" name="Rectangle 8"/>
          <p:cNvSpPr>
            <a:spLocks noChangeArrowheads="1"/>
          </p:cNvSpPr>
          <p:nvPr/>
        </p:nvSpPr>
        <p:spPr bwMode="auto">
          <a:xfrm>
            <a:off x="836613" y="166688"/>
            <a:ext cx="7165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a:t>
            </a:r>
          </a:p>
        </p:txBody>
      </p:sp>
      <p:grpSp>
        <p:nvGrpSpPr>
          <p:cNvPr id="11" name="组合 10"/>
          <p:cNvGrpSpPr/>
          <p:nvPr/>
        </p:nvGrpSpPr>
        <p:grpSpPr>
          <a:xfrm>
            <a:off x="0" y="6380163"/>
            <a:ext cx="9144000" cy="431800"/>
            <a:chOff x="0" y="6379908"/>
            <a:chExt cx="9144000" cy="432048"/>
          </a:xfrm>
        </p:grpSpPr>
        <p:grpSp>
          <p:nvGrpSpPr>
            <p:cNvPr id="136200" name="组合 5"/>
            <p:cNvGrpSpPr/>
            <p:nvPr/>
          </p:nvGrpSpPr>
          <p:grpSpPr>
            <a:xfrm>
              <a:off x="0" y="6379908"/>
              <a:ext cx="9144000" cy="432048"/>
              <a:chOff x="0" y="6165304"/>
              <a:chExt cx="9144000" cy="432048"/>
            </a:xfrm>
          </p:grpSpPr>
          <p:cxnSp>
            <p:nvCxnSpPr>
              <p:cNvPr id="136202"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5" name="直接连接符 14"/>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36204"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3"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62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62531"/>
                                        </p:tgtEl>
                                        <p:attrNameLst>
                                          <p:attrName>style.visibility</p:attrName>
                                        </p:attrNameLst>
                                      </p:cBhvr>
                                      <p:to>
                                        <p:strVal val="visible"/>
                                      </p:to>
                                    </p:se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矩形 4"/>
          <p:cNvSpPr/>
          <p:nvPr/>
        </p:nvSpPr>
        <p:spPr>
          <a:xfrm>
            <a:off x="0" y="5438775"/>
            <a:ext cx="9144000" cy="1357313"/>
          </a:xfrm>
          <a:prstGeom prst="rect">
            <a:avLst/>
          </a:prstGeom>
          <a:solidFill>
            <a:srgbClr val="D2D2F4"/>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2" name="Group 2"/>
          <p:cNvGrpSpPr/>
          <p:nvPr/>
        </p:nvGrpSpPr>
        <p:grpSpPr>
          <a:xfrm>
            <a:off x="92075" y="1300163"/>
            <a:ext cx="3201988" cy="1468437"/>
            <a:chOff x="143" y="624"/>
            <a:chExt cx="2017" cy="925"/>
          </a:xfrm>
        </p:grpSpPr>
        <p:graphicFrame>
          <p:nvGraphicFramePr>
            <p:cNvPr id="137228" name="Object 3"/>
            <p:cNvGraphicFramePr/>
            <p:nvPr/>
          </p:nvGraphicFramePr>
          <p:xfrm>
            <a:off x="192" y="624"/>
            <a:ext cx="1968" cy="545"/>
          </p:xfrm>
          <a:graphic>
            <a:graphicData uri="http://schemas.openxmlformats.org/presentationml/2006/ole">
              <mc:AlternateContent xmlns:mc="http://schemas.openxmlformats.org/markup-compatibility/2006">
                <mc:Choice xmlns:v="urn:schemas-microsoft-com:vml" Requires="v">
                  <p:oleObj spid="_x0000_s14381" r:id="rId3" imgW="2025650" imgH="562610" progId="Visio.Drawing.11">
                    <p:embed/>
                  </p:oleObj>
                </mc:Choice>
                <mc:Fallback>
                  <p:oleObj r:id="rId3" imgW="2025650" imgH="562610" progId="Visio.Drawing.11">
                    <p:embed/>
                    <p:pic>
                      <p:nvPicPr>
                        <p:cNvPr id="0" name="图片 3093"/>
                        <p:cNvPicPr/>
                        <p:nvPr/>
                      </p:nvPicPr>
                      <p:blipFill>
                        <a:blip r:embed="rId4"/>
                        <a:stretch>
                          <a:fillRect/>
                        </a:stretch>
                      </p:blipFill>
                      <p:spPr>
                        <a:xfrm>
                          <a:off x="192" y="624"/>
                          <a:ext cx="1968" cy="545"/>
                        </a:xfrm>
                        <a:prstGeom prst="rect">
                          <a:avLst/>
                        </a:prstGeom>
                        <a:solidFill>
                          <a:srgbClr val="D2D2F4"/>
                        </a:solidFill>
                        <a:ln w="38100">
                          <a:noFill/>
                          <a:miter/>
                        </a:ln>
                      </p:spPr>
                    </p:pic>
                  </p:oleObj>
                </mc:Fallback>
              </mc:AlternateContent>
            </a:graphicData>
          </a:graphic>
        </p:graphicFrame>
        <p:sp>
          <p:nvSpPr>
            <p:cNvPr id="132107" name="Text Box 4"/>
            <p:cNvSpPr txBox="1">
              <a:spLocks noChangeArrowheads="1"/>
            </p:cNvSpPr>
            <p:nvPr/>
          </p:nvSpPr>
          <p:spPr bwMode="auto">
            <a:xfrm>
              <a:off x="143" y="1258"/>
              <a:ext cx="185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空双向循环链表</a:t>
              </a:r>
            </a:p>
          </p:txBody>
        </p:sp>
      </p:grpSp>
      <p:grpSp>
        <p:nvGrpSpPr>
          <p:cNvPr id="4" name="Group 5"/>
          <p:cNvGrpSpPr/>
          <p:nvPr/>
        </p:nvGrpSpPr>
        <p:grpSpPr>
          <a:xfrm>
            <a:off x="161925" y="3082925"/>
            <a:ext cx="8928100" cy="2016125"/>
            <a:chOff x="136" y="1744"/>
            <a:chExt cx="5624" cy="1270"/>
          </a:xfrm>
        </p:grpSpPr>
        <p:graphicFrame>
          <p:nvGraphicFramePr>
            <p:cNvPr id="137226" name="Object 6"/>
            <p:cNvGraphicFramePr/>
            <p:nvPr/>
          </p:nvGraphicFramePr>
          <p:xfrm>
            <a:off x="136" y="1744"/>
            <a:ext cx="5624" cy="866"/>
          </p:xfrm>
          <a:graphic>
            <a:graphicData uri="http://schemas.openxmlformats.org/presentationml/2006/ole">
              <mc:AlternateContent xmlns:mc="http://schemas.openxmlformats.org/markup-compatibility/2006">
                <mc:Choice xmlns:v="urn:schemas-microsoft-com:vml" Requires="v">
                  <p:oleObj spid="_x0000_s14382" r:id="rId5" imgW="6336665" imgH="976630" progId="Visio.Drawing.11">
                    <p:embed/>
                  </p:oleObj>
                </mc:Choice>
                <mc:Fallback>
                  <p:oleObj r:id="rId5" imgW="6336665" imgH="976630" progId="Visio.Drawing.11">
                    <p:embed/>
                    <p:pic>
                      <p:nvPicPr>
                        <p:cNvPr id="0" name="图片 3094"/>
                        <p:cNvPicPr/>
                        <p:nvPr/>
                      </p:nvPicPr>
                      <p:blipFill>
                        <a:blip r:embed="rId6"/>
                        <a:stretch>
                          <a:fillRect/>
                        </a:stretch>
                      </p:blipFill>
                      <p:spPr>
                        <a:xfrm>
                          <a:off x="136" y="1744"/>
                          <a:ext cx="5624" cy="866"/>
                        </a:xfrm>
                        <a:prstGeom prst="rect">
                          <a:avLst/>
                        </a:prstGeom>
                        <a:solidFill>
                          <a:srgbClr val="D2D2F4"/>
                        </a:solidFill>
                        <a:ln w="38100">
                          <a:noFill/>
                          <a:miter/>
                        </a:ln>
                      </p:spPr>
                    </p:pic>
                  </p:oleObj>
                </mc:Fallback>
              </mc:AlternateContent>
            </a:graphicData>
          </a:graphic>
        </p:graphicFrame>
        <p:sp>
          <p:nvSpPr>
            <p:cNvPr id="132105" name="Text Box 7"/>
            <p:cNvSpPr txBox="1">
              <a:spLocks noChangeArrowheads="1"/>
            </p:cNvSpPr>
            <p:nvPr/>
          </p:nvSpPr>
          <p:spPr bwMode="auto">
            <a:xfrm>
              <a:off x="192" y="2723"/>
              <a:ext cx="15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双向循环链表</a:t>
              </a:r>
            </a:p>
          </p:txBody>
        </p:sp>
      </p:grpSp>
      <p:sp>
        <p:nvSpPr>
          <p:cNvPr id="663560" name="Text Box 8"/>
          <p:cNvSpPr txBox="1">
            <a:spLocks noChangeArrowheads="1"/>
          </p:cNvSpPr>
          <p:nvPr/>
        </p:nvSpPr>
        <p:spPr bwMode="auto">
          <a:xfrm>
            <a:off x="434975" y="5765800"/>
            <a:ext cx="8382000" cy="711200"/>
          </a:xfrm>
          <a:prstGeom prst="rect">
            <a:avLst/>
          </a:prstGeom>
          <a:noFill/>
          <a:ln w="9525">
            <a:no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0" dirty="0">
                <a:ln>
                  <a:noFill/>
                </a:ln>
                <a:solidFill>
                  <a:schemeClr val="tx1"/>
                </a:solidFill>
                <a:effectLst/>
                <a:uLnTx/>
                <a:uFillTx/>
                <a:latin typeface="+mn-lt"/>
                <a:ea typeface="+mn-ea"/>
                <a:cs typeface="+mn-ea"/>
                <a:sym typeface="+mn-lt"/>
              </a:rPr>
              <a:t>d-&gt;next-&gt;prior = d-&gt;prior-&gt;next = d</a:t>
            </a:r>
          </a:p>
        </p:txBody>
      </p:sp>
      <p:grpSp>
        <p:nvGrpSpPr>
          <p:cNvPr id="6" name="Group 9"/>
          <p:cNvGrpSpPr/>
          <p:nvPr/>
        </p:nvGrpSpPr>
        <p:grpSpPr>
          <a:xfrm>
            <a:off x="3482975" y="1423988"/>
            <a:ext cx="4545013" cy="677862"/>
            <a:chOff x="2458" y="3015"/>
            <a:chExt cx="2863" cy="427"/>
          </a:xfrm>
        </p:grpSpPr>
        <p:sp>
          <p:nvSpPr>
            <p:cNvPr id="132102" name="Text Box 10"/>
            <p:cNvSpPr txBox="1">
              <a:spLocks noChangeArrowheads="1"/>
            </p:cNvSpPr>
            <p:nvPr/>
          </p:nvSpPr>
          <p:spPr bwMode="auto">
            <a:xfrm>
              <a:off x="3209" y="3015"/>
              <a:ext cx="2112" cy="427"/>
            </a:xfrm>
            <a:prstGeom prst="rect">
              <a:avLst/>
            </a:prstGeom>
            <a:solidFill>
              <a:srgbClr val="D2D2F4"/>
            </a:solidFill>
            <a:ln w="9525">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800" b="0" i="0" u="none" strike="noStrike" kern="1200" cap="none" spc="0" normalizeH="0" baseline="0" noProof="0" dirty="0">
                  <a:ln>
                    <a:noFill/>
                  </a:ln>
                  <a:solidFill>
                    <a:schemeClr val="tx1"/>
                  </a:solidFill>
                  <a:effectLst/>
                  <a:uLnTx/>
                  <a:uFillTx/>
                  <a:latin typeface="+mn-lt"/>
                  <a:ea typeface="+mn-ea"/>
                  <a:cs typeface="+mn-ea"/>
                  <a:sym typeface="+mn-lt"/>
                </a:rPr>
                <a:t>L-&gt;next=L</a:t>
              </a:r>
            </a:p>
          </p:txBody>
        </p:sp>
        <p:sp>
          <p:nvSpPr>
            <p:cNvPr id="132103" name="Line 11"/>
            <p:cNvSpPr>
              <a:spLocks noChangeShapeType="1"/>
            </p:cNvSpPr>
            <p:nvPr/>
          </p:nvSpPr>
          <p:spPr bwMode="auto">
            <a:xfrm flipH="1" flipV="1">
              <a:off x="2458" y="3234"/>
              <a:ext cx="650" cy="6"/>
            </a:xfrm>
            <a:prstGeom prst="line">
              <a:avLst/>
            </a:prstGeom>
            <a:noFill/>
            <a:ln w="76200">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2" name="Rectangle 8"/>
          <p:cNvSpPr>
            <a:spLocks noChangeArrowheads="1"/>
          </p:cNvSpPr>
          <p:nvPr/>
        </p:nvSpPr>
        <p:spPr bwMode="auto">
          <a:xfrm>
            <a:off x="836613" y="166688"/>
            <a:ext cx="7165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635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6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矩形 1"/>
          <p:cNvSpPr/>
          <p:nvPr/>
        </p:nvSpPr>
        <p:spPr>
          <a:xfrm>
            <a:off x="0" y="1960563"/>
            <a:ext cx="9144000" cy="3025775"/>
          </a:xfrm>
          <a:prstGeom prst="rect">
            <a:avLst/>
          </a:prstGeom>
          <a:solidFill>
            <a:srgbClr val="D2D2F4"/>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aphicFrame>
        <p:nvGraphicFramePr>
          <p:cNvPr id="138243" name="Object 2"/>
          <p:cNvGraphicFramePr/>
          <p:nvPr/>
        </p:nvGraphicFramePr>
        <p:xfrm>
          <a:off x="750888" y="2292350"/>
          <a:ext cx="7467600" cy="2362200"/>
        </p:xfrm>
        <a:graphic>
          <a:graphicData uri="http://schemas.openxmlformats.org/presentationml/2006/ole">
            <mc:AlternateContent xmlns:mc="http://schemas.openxmlformats.org/markup-compatibility/2006">
              <mc:Choice xmlns:v="urn:schemas-microsoft-com:vml" Requires="v">
                <p:oleObj spid="_x0000_s15405" r:id="rId3" imgW="4599305" imgH="1606550" progId="Visio.Drawing.11">
                  <p:embed/>
                </p:oleObj>
              </mc:Choice>
              <mc:Fallback>
                <p:oleObj r:id="rId3" imgW="4599305" imgH="1606550" progId="Visio.Drawing.11">
                  <p:embed/>
                  <p:pic>
                    <p:nvPicPr>
                      <p:cNvPr id="0" name="图片 3095"/>
                      <p:cNvPicPr/>
                      <p:nvPr/>
                    </p:nvPicPr>
                    <p:blipFill>
                      <a:blip r:embed="rId4"/>
                      <a:stretch>
                        <a:fillRect/>
                      </a:stretch>
                    </p:blipFill>
                    <p:spPr>
                      <a:xfrm>
                        <a:off x="750888" y="2292350"/>
                        <a:ext cx="7467600" cy="2362200"/>
                      </a:xfrm>
                      <a:prstGeom prst="rect">
                        <a:avLst/>
                      </a:prstGeom>
                      <a:solidFill>
                        <a:srgbClr val="D2D2F4"/>
                      </a:solidFill>
                      <a:ln w="38100">
                        <a:noFill/>
                        <a:miter/>
                      </a:ln>
                    </p:spPr>
                  </p:pic>
                </p:oleObj>
              </mc:Fallback>
            </mc:AlternateContent>
          </a:graphicData>
        </a:graphic>
      </p:graphicFrame>
      <p:graphicFrame>
        <p:nvGraphicFramePr>
          <p:cNvPr id="138244" name="Object 3"/>
          <p:cNvGraphicFramePr/>
          <p:nvPr/>
        </p:nvGraphicFramePr>
        <p:xfrm>
          <a:off x="3417888" y="4044950"/>
          <a:ext cx="2822575" cy="608013"/>
        </p:xfrm>
        <a:graphic>
          <a:graphicData uri="http://schemas.openxmlformats.org/presentationml/2006/ole">
            <mc:AlternateContent xmlns:mc="http://schemas.openxmlformats.org/markup-compatibility/2006">
              <mc:Choice xmlns:v="urn:schemas-microsoft-com:vml" Requires="v">
                <p:oleObj spid="_x0000_s15406" r:id="rId5" imgW="1836420" imgH="396240" progId="Visio.Drawing.11">
                  <p:embed/>
                </p:oleObj>
              </mc:Choice>
              <mc:Fallback>
                <p:oleObj r:id="rId5" imgW="1836420" imgH="396240" progId="Visio.Drawing.11">
                  <p:embed/>
                  <p:pic>
                    <p:nvPicPr>
                      <p:cNvPr id="0" name="图片 3096"/>
                      <p:cNvPicPr/>
                      <p:nvPr/>
                    </p:nvPicPr>
                    <p:blipFill>
                      <a:blip r:embed="rId6"/>
                      <a:stretch>
                        <a:fillRect/>
                      </a:stretch>
                    </p:blipFill>
                    <p:spPr>
                      <a:xfrm>
                        <a:off x="3417888" y="4044950"/>
                        <a:ext cx="2822575" cy="608013"/>
                      </a:xfrm>
                      <a:prstGeom prst="rect">
                        <a:avLst/>
                      </a:prstGeom>
                      <a:noFill/>
                      <a:ln w="38100">
                        <a:noFill/>
                        <a:miter/>
                      </a:ln>
                    </p:spPr>
                  </p:pic>
                </p:oleObj>
              </mc:Fallback>
            </mc:AlternateContent>
          </a:graphicData>
        </a:graphic>
      </p:graphicFrame>
      <p:sp>
        <p:nvSpPr>
          <p:cNvPr id="664580" name="Rectangle 4"/>
          <p:cNvSpPr>
            <a:spLocks noChangeArrowheads="1"/>
          </p:cNvSpPr>
          <p:nvPr/>
        </p:nvSpPr>
        <p:spPr bwMode="auto">
          <a:xfrm>
            <a:off x="785813" y="18891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双向链表的插入</a:t>
            </a:r>
          </a:p>
        </p:txBody>
      </p:sp>
      <p:grpSp>
        <p:nvGrpSpPr>
          <p:cNvPr id="6" name="组合 5"/>
          <p:cNvGrpSpPr/>
          <p:nvPr/>
        </p:nvGrpSpPr>
        <p:grpSpPr>
          <a:xfrm>
            <a:off x="0" y="6380163"/>
            <a:ext cx="9144000" cy="431800"/>
            <a:chOff x="0" y="6379908"/>
            <a:chExt cx="9144000" cy="432048"/>
          </a:xfrm>
        </p:grpSpPr>
        <p:grpSp>
          <p:nvGrpSpPr>
            <p:cNvPr id="138247" name="组合 5"/>
            <p:cNvGrpSpPr/>
            <p:nvPr/>
          </p:nvGrpSpPr>
          <p:grpSpPr>
            <a:xfrm>
              <a:off x="0" y="6379908"/>
              <a:ext cx="9144000" cy="432048"/>
              <a:chOff x="0" y="6165304"/>
              <a:chExt cx="9144000" cy="432048"/>
            </a:xfrm>
          </p:grpSpPr>
          <p:cxnSp>
            <p:nvCxnSpPr>
              <p:cNvPr id="138249"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0" name="直接连接符 9"/>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38251"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8"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4"/>
          <p:cNvSpPr>
            <a:spLocks noChangeArrowheads="1"/>
          </p:cNvSpPr>
          <p:nvPr/>
        </p:nvSpPr>
        <p:spPr bwMode="auto">
          <a:xfrm>
            <a:off x="785813" y="18891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双向链表的插入</a:t>
            </a:r>
          </a:p>
        </p:txBody>
      </p:sp>
      <p:sp>
        <p:nvSpPr>
          <p:cNvPr id="139267" name="矩形 64"/>
          <p:cNvSpPr/>
          <p:nvPr/>
        </p:nvSpPr>
        <p:spPr>
          <a:xfrm>
            <a:off x="0" y="1285875"/>
            <a:ext cx="9144000" cy="302577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9268" name="Rectangle 5"/>
          <p:cNvSpPr/>
          <p:nvPr/>
        </p:nvSpPr>
        <p:spPr>
          <a:xfrm>
            <a:off x="2476500" y="1812925"/>
            <a:ext cx="584200" cy="530225"/>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69" name="Rectangle 6"/>
          <p:cNvSpPr/>
          <p:nvPr/>
        </p:nvSpPr>
        <p:spPr>
          <a:xfrm>
            <a:off x="2674938" y="1889125"/>
            <a:ext cx="171450"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a</a:t>
            </a:r>
            <a:endParaRPr lang="en-US" altLang="zh-CN" sz="2800" b="1" dirty="0">
              <a:ea typeface="仿宋_GB2312" pitchFamily="49" charset="-122"/>
            </a:endParaRPr>
          </a:p>
        </p:txBody>
      </p:sp>
      <p:sp>
        <p:nvSpPr>
          <p:cNvPr id="139270" name="Rectangle 7"/>
          <p:cNvSpPr/>
          <p:nvPr/>
        </p:nvSpPr>
        <p:spPr>
          <a:xfrm>
            <a:off x="1892300" y="1812925"/>
            <a:ext cx="584200" cy="530225"/>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1" name="Rectangle 8"/>
          <p:cNvSpPr/>
          <p:nvPr/>
        </p:nvSpPr>
        <p:spPr>
          <a:xfrm>
            <a:off x="3060700" y="1812925"/>
            <a:ext cx="584200" cy="530225"/>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2" name="Rectangle 9"/>
          <p:cNvSpPr/>
          <p:nvPr/>
        </p:nvSpPr>
        <p:spPr>
          <a:xfrm>
            <a:off x="4522788" y="1812925"/>
            <a:ext cx="584200" cy="530225"/>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3" name="Rectangle 10"/>
          <p:cNvSpPr/>
          <p:nvPr/>
        </p:nvSpPr>
        <p:spPr>
          <a:xfrm>
            <a:off x="5106988" y="1812925"/>
            <a:ext cx="584200" cy="530225"/>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4" name="Rectangle 11"/>
          <p:cNvSpPr/>
          <p:nvPr/>
        </p:nvSpPr>
        <p:spPr>
          <a:xfrm>
            <a:off x="5305425" y="1889125"/>
            <a:ext cx="171450"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b</a:t>
            </a:r>
            <a:endParaRPr lang="en-US" altLang="zh-CN" sz="2800" b="1" dirty="0">
              <a:ea typeface="仿宋_GB2312" pitchFamily="49" charset="-122"/>
            </a:endParaRPr>
          </a:p>
        </p:txBody>
      </p:sp>
      <p:sp>
        <p:nvSpPr>
          <p:cNvPr id="139275" name="Rectangle 12"/>
          <p:cNvSpPr/>
          <p:nvPr/>
        </p:nvSpPr>
        <p:spPr>
          <a:xfrm>
            <a:off x="5691188" y="1812925"/>
            <a:ext cx="584200" cy="530225"/>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6" name="Rectangle 13"/>
          <p:cNvSpPr/>
          <p:nvPr/>
        </p:nvSpPr>
        <p:spPr>
          <a:xfrm>
            <a:off x="3352800" y="3136900"/>
            <a:ext cx="584200" cy="528638"/>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7" name="Rectangle 14"/>
          <p:cNvSpPr/>
          <p:nvPr/>
        </p:nvSpPr>
        <p:spPr>
          <a:xfrm>
            <a:off x="3937000" y="3136900"/>
            <a:ext cx="585788" cy="528638"/>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78" name="Rectangle 15"/>
          <p:cNvSpPr/>
          <p:nvPr/>
        </p:nvSpPr>
        <p:spPr>
          <a:xfrm>
            <a:off x="4137025" y="3213100"/>
            <a:ext cx="171450"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x</a:t>
            </a:r>
            <a:endParaRPr lang="en-US" altLang="zh-CN" sz="2800" b="1" dirty="0">
              <a:ea typeface="仿宋_GB2312" pitchFamily="49" charset="-122"/>
            </a:endParaRPr>
          </a:p>
        </p:txBody>
      </p:sp>
      <p:sp>
        <p:nvSpPr>
          <p:cNvPr id="139279" name="Rectangle 16"/>
          <p:cNvSpPr/>
          <p:nvPr/>
        </p:nvSpPr>
        <p:spPr>
          <a:xfrm>
            <a:off x="4522788" y="3136900"/>
            <a:ext cx="584200" cy="528638"/>
          </a:xfrm>
          <a:prstGeom prst="rect">
            <a:avLst/>
          </a:prstGeom>
          <a:solidFill>
            <a:srgbClr val="FFFFFF"/>
          </a:solidFill>
          <a:ln w="14288" cap="flat" cmpd="sng">
            <a:solidFill>
              <a:srgbClr val="000000"/>
            </a:solidFill>
            <a:prstDash val="solid"/>
            <a:miter/>
            <a:headEnd type="none" w="med" len="med"/>
            <a:tailEnd type="none" w="med" len="med"/>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spcBef>
                <a:spcPct val="20000"/>
              </a:spcBef>
            </a:pPr>
            <a:endParaRPr lang="zh-CN" altLang="en-US" sz="2800" dirty="0">
              <a:ea typeface="仿宋_GB2312" pitchFamily="49" charset="-122"/>
            </a:endParaRPr>
          </a:p>
        </p:txBody>
      </p:sp>
      <p:sp>
        <p:nvSpPr>
          <p:cNvPr id="139280" name="Line 17"/>
          <p:cNvSpPr/>
          <p:nvPr/>
        </p:nvSpPr>
        <p:spPr>
          <a:xfrm>
            <a:off x="1452563" y="1944688"/>
            <a:ext cx="338137" cy="1587"/>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281" name="Freeform 18"/>
          <p:cNvSpPr/>
          <p:nvPr/>
        </p:nvSpPr>
        <p:spPr>
          <a:xfrm>
            <a:off x="1758950" y="1884363"/>
            <a:ext cx="133350" cy="120650"/>
          </a:xfrm>
          <a:custGeom>
            <a:avLst/>
            <a:gdLst/>
            <a:ahLst/>
            <a:cxnLst>
              <a:cxn ang="0">
                <a:pos x="2147483646" y="2147483646"/>
              </a:cxn>
              <a:cxn ang="0">
                <a:pos x="0" y="2147483646"/>
              </a:cxn>
              <a:cxn ang="0">
                <a:pos x="2147483646" y="2147483646"/>
              </a:cxn>
              <a:cxn ang="0">
                <a:pos x="2147483646" y="2147483646"/>
              </a:cxn>
              <a:cxn ang="0">
                <a:pos x="2147483646" y="2147483646"/>
              </a:cxn>
              <a:cxn ang="0">
                <a:pos x="0" y="0"/>
              </a:cxn>
              <a:cxn ang="0">
                <a:pos x="2147483646" y="2147483646"/>
              </a:cxn>
            </a:cxnLst>
            <a:rect l="0" t="0" r="0" b="0"/>
            <a:pathLst>
              <a:path w="84" h="76">
                <a:moveTo>
                  <a:pt x="84" y="38"/>
                </a:moveTo>
                <a:lnTo>
                  <a:pt x="0" y="76"/>
                </a:lnTo>
                <a:lnTo>
                  <a:pt x="6" y="58"/>
                </a:lnTo>
                <a:lnTo>
                  <a:pt x="9" y="38"/>
                </a:lnTo>
                <a:lnTo>
                  <a:pt x="6" y="19"/>
                </a:lnTo>
                <a:lnTo>
                  <a:pt x="0" y="0"/>
                </a:lnTo>
                <a:lnTo>
                  <a:pt x="84" y="38"/>
                </a:lnTo>
                <a:close/>
              </a:path>
            </a:pathLst>
          </a:custGeom>
          <a:solidFill>
            <a:srgbClr val="000000">
              <a:alpha val="100000"/>
            </a:srgbClr>
          </a:solidFill>
          <a:ln w="9525">
            <a:noFill/>
          </a:ln>
        </p:spPr>
        <p:txBody>
          <a:bodyPr/>
          <a:lstStyle/>
          <a:p>
            <a:endParaRPr lang="zh-CN" altLang="en-US"/>
          </a:p>
        </p:txBody>
      </p:sp>
      <p:sp>
        <p:nvSpPr>
          <p:cNvPr id="139282" name="Line 19"/>
          <p:cNvSpPr/>
          <p:nvPr/>
        </p:nvSpPr>
        <p:spPr>
          <a:xfrm>
            <a:off x="1554163" y="2211388"/>
            <a:ext cx="630237" cy="1587"/>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283" name="Freeform 20"/>
          <p:cNvSpPr/>
          <p:nvPr/>
        </p:nvSpPr>
        <p:spPr>
          <a:xfrm>
            <a:off x="1452563" y="2151063"/>
            <a:ext cx="133350" cy="120650"/>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0"/>
              </a:cxn>
              <a:cxn ang="0">
                <a:pos x="0" y="2147483646"/>
              </a:cxn>
            </a:cxnLst>
            <a:rect l="0" t="0" r="0" b="0"/>
            <a:pathLst>
              <a:path w="84" h="76">
                <a:moveTo>
                  <a:pt x="0" y="38"/>
                </a:moveTo>
                <a:lnTo>
                  <a:pt x="84" y="76"/>
                </a:lnTo>
                <a:lnTo>
                  <a:pt x="78" y="56"/>
                </a:lnTo>
                <a:lnTo>
                  <a:pt x="75" y="38"/>
                </a:lnTo>
                <a:lnTo>
                  <a:pt x="78" y="18"/>
                </a:lnTo>
                <a:lnTo>
                  <a:pt x="84" y="0"/>
                </a:lnTo>
                <a:lnTo>
                  <a:pt x="0" y="38"/>
                </a:lnTo>
                <a:close/>
              </a:path>
            </a:pathLst>
          </a:custGeom>
          <a:solidFill>
            <a:srgbClr val="000000">
              <a:alpha val="100000"/>
            </a:srgbClr>
          </a:solidFill>
          <a:ln w="9525">
            <a:noFill/>
          </a:ln>
        </p:spPr>
        <p:txBody>
          <a:bodyPr/>
          <a:lstStyle/>
          <a:p>
            <a:endParaRPr lang="zh-CN" altLang="en-US"/>
          </a:p>
        </p:txBody>
      </p:sp>
      <p:sp>
        <p:nvSpPr>
          <p:cNvPr id="139284" name="Line 21"/>
          <p:cNvSpPr/>
          <p:nvPr/>
        </p:nvSpPr>
        <p:spPr>
          <a:xfrm>
            <a:off x="3498850" y="1944688"/>
            <a:ext cx="922338" cy="1587"/>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285" name="Freeform 22"/>
          <p:cNvSpPr/>
          <p:nvPr/>
        </p:nvSpPr>
        <p:spPr>
          <a:xfrm>
            <a:off x="4389438" y="1884363"/>
            <a:ext cx="133350" cy="120650"/>
          </a:xfrm>
          <a:custGeom>
            <a:avLst/>
            <a:gdLst/>
            <a:ahLst/>
            <a:cxnLst>
              <a:cxn ang="0">
                <a:pos x="2147483646" y="2147483646"/>
              </a:cxn>
              <a:cxn ang="0">
                <a:pos x="0" y="2147483646"/>
              </a:cxn>
              <a:cxn ang="0">
                <a:pos x="2147483646" y="2147483646"/>
              </a:cxn>
              <a:cxn ang="0">
                <a:pos x="2147483646" y="2147483646"/>
              </a:cxn>
              <a:cxn ang="0">
                <a:pos x="2147483646" y="2147483646"/>
              </a:cxn>
              <a:cxn ang="0">
                <a:pos x="0" y="0"/>
              </a:cxn>
              <a:cxn ang="0">
                <a:pos x="2147483646" y="2147483646"/>
              </a:cxn>
            </a:cxnLst>
            <a:rect l="0" t="0" r="0" b="0"/>
            <a:pathLst>
              <a:path w="84" h="76">
                <a:moveTo>
                  <a:pt x="84" y="38"/>
                </a:moveTo>
                <a:lnTo>
                  <a:pt x="0" y="76"/>
                </a:lnTo>
                <a:lnTo>
                  <a:pt x="6" y="58"/>
                </a:lnTo>
                <a:lnTo>
                  <a:pt x="9" y="38"/>
                </a:lnTo>
                <a:lnTo>
                  <a:pt x="6" y="19"/>
                </a:lnTo>
                <a:lnTo>
                  <a:pt x="0" y="0"/>
                </a:lnTo>
                <a:lnTo>
                  <a:pt x="84" y="38"/>
                </a:lnTo>
                <a:close/>
              </a:path>
            </a:pathLst>
          </a:custGeom>
          <a:solidFill>
            <a:srgbClr val="000000">
              <a:alpha val="100000"/>
            </a:srgbClr>
          </a:solidFill>
          <a:ln w="9525">
            <a:noFill/>
          </a:ln>
        </p:spPr>
        <p:txBody>
          <a:bodyPr/>
          <a:lstStyle/>
          <a:p>
            <a:endParaRPr lang="zh-CN" altLang="en-US"/>
          </a:p>
        </p:txBody>
      </p:sp>
      <p:sp>
        <p:nvSpPr>
          <p:cNvPr id="139286" name="Line 23"/>
          <p:cNvSpPr/>
          <p:nvPr/>
        </p:nvSpPr>
        <p:spPr>
          <a:xfrm>
            <a:off x="3746500" y="2211388"/>
            <a:ext cx="922338" cy="1587"/>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287" name="Freeform 24"/>
          <p:cNvSpPr/>
          <p:nvPr/>
        </p:nvSpPr>
        <p:spPr>
          <a:xfrm>
            <a:off x="3644900" y="2151063"/>
            <a:ext cx="133350" cy="120650"/>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0"/>
              </a:cxn>
              <a:cxn ang="0">
                <a:pos x="0" y="2147483646"/>
              </a:cxn>
            </a:cxnLst>
            <a:rect l="0" t="0" r="0" b="0"/>
            <a:pathLst>
              <a:path w="84" h="76">
                <a:moveTo>
                  <a:pt x="0" y="38"/>
                </a:moveTo>
                <a:lnTo>
                  <a:pt x="84" y="76"/>
                </a:lnTo>
                <a:lnTo>
                  <a:pt x="78" y="56"/>
                </a:lnTo>
                <a:lnTo>
                  <a:pt x="75" y="38"/>
                </a:lnTo>
                <a:lnTo>
                  <a:pt x="78" y="18"/>
                </a:lnTo>
                <a:lnTo>
                  <a:pt x="84" y="0"/>
                </a:lnTo>
                <a:lnTo>
                  <a:pt x="0" y="38"/>
                </a:lnTo>
                <a:close/>
              </a:path>
            </a:pathLst>
          </a:custGeom>
          <a:solidFill>
            <a:srgbClr val="000000">
              <a:alpha val="100000"/>
            </a:srgbClr>
          </a:solidFill>
          <a:ln w="9525">
            <a:noFill/>
          </a:ln>
        </p:spPr>
        <p:txBody>
          <a:bodyPr/>
          <a:lstStyle/>
          <a:p>
            <a:endParaRPr lang="zh-CN" altLang="en-US"/>
          </a:p>
        </p:txBody>
      </p:sp>
      <p:sp>
        <p:nvSpPr>
          <p:cNvPr id="139288" name="Line 25"/>
          <p:cNvSpPr/>
          <p:nvPr/>
        </p:nvSpPr>
        <p:spPr>
          <a:xfrm>
            <a:off x="6129338" y="1944688"/>
            <a:ext cx="922337" cy="1587"/>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289" name="Freeform 26"/>
          <p:cNvSpPr/>
          <p:nvPr/>
        </p:nvSpPr>
        <p:spPr>
          <a:xfrm>
            <a:off x="7019925" y="1884363"/>
            <a:ext cx="133350" cy="120650"/>
          </a:xfrm>
          <a:custGeom>
            <a:avLst/>
            <a:gdLst/>
            <a:ahLst/>
            <a:cxnLst>
              <a:cxn ang="0">
                <a:pos x="2147483646" y="2147483646"/>
              </a:cxn>
              <a:cxn ang="0">
                <a:pos x="0" y="2147483646"/>
              </a:cxn>
              <a:cxn ang="0">
                <a:pos x="2147483646" y="2147483646"/>
              </a:cxn>
              <a:cxn ang="0">
                <a:pos x="2147483646" y="2147483646"/>
              </a:cxn>
              <a:cxn ang="0">
                <a:pos x="2147483646" y="2147483646"/>
              </a:cxn>
              <a:cxn ang="0">
                <a:pos x="0" y="0"/>
              </a:cxn>
              <a:cxn ang="0">
                <a:pos x="2147483646" y="2147483646"/>
              </a:cxn>
            </a:cxnLst>
            <a:rect l="0" t="0" r="0" b="0"/>
            <a:pathLst>
              <a:path w="84" h="76">
                <a:moveTo>
                  <a:pt x="84" y="38"/>
                </a:moveTo>
                <a:lnTo>
                  <a:pt x="0" y="76"/>
                </a:lnTo>
                <a:lnTo>
                  <a:pt x="6" y="58"/>
                </a:lnTo>
                <a:lnTo>
                  <a:pt x="9" y="38"/>
                </a:lnTo>
                <a:lnTo>
                  <a:pt x="6" y="19"/>
                </a:lnTo>
                <a:lnTo>
                  <a:pt x="0" y="0"/>
                </a:lnTo>
                <a:lnTo>
                  <a:pt x="84" y="38"/>
                </a:lnTo>
                <a:close/>
              </a:path>
            </a:pathLst>
          </a:custGeom>
          <a:solidFill>
            <a:srgbClr val="000000">
              <a:alpha val="100000"/>
            </a:srgbClr>
          </a:solidFill>
          <a:ln w="9525">
            <a:noFill/>
          </a:ln>
        </p:spPr>
        <p:txBody>
          <a:bodyPr/>
          <a:lstStyle/>
          <a:p>
            <a:endParaRPr lang="zh-CN" altLang="en-US"/>
          </a:p>
        </p:txBody>
      </p:sp>
      <p:sp>
        <p:nvSpPr>
          <p:cNvPr id="139290" name="Line 27"/>
          <p:cNvSpPr/>
          <p:nvPr/>
        </p:nvSpPr>
        <p:spPr>
          <a:xfrm>
            <a:off x="6376988" y="2211388"/>
            <a:ext cx="922337" cy="1587"/>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291" name="Freeform 28"/>
          <p:cNvSpPr/>
          <p:nvPr/>
        </p:nvSpPr>
        <p:spPr>
          <a:xfrm>
            <a:off x="6275388" y="2151063"/>
            <a:ext cx="133350" cy="120650"/>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0"/>
              </a:cxn>
              <a:cxn ang="0">
                <a:pos x="0" y="2147483646"/>
              </a:cxn>
            </a:cxnLst>
            <a:rect l="0" t="0" r="0" b="0"/>
            <a:pathLst>
              <a:path w="84" h="76">
                <a:moveTo>
                  <a:pt x="0" y="38"/>
                </a:moveTo>
                <a:lnTo>
                  <a:pt x="84" y="76"/>
                </a:lnTo>
                <a:lnTo>
                  <a:pt x="78" y="56"/>
                </a:lnTo>
                <a:lnTo>
                  <a:pt x="74" y="38"/>
                </a:lnTo>
                <a:lnTo>
                  <a:pt x="78" y="18"/>
                </a:lnTo>
                <a:lnTo>
                  <a:pt x="84" y="0"/>
                </a:lnTo>
                <a:lnTo>
                  <a:pt x="0" y="38"/>
                </a:lnTo>
                <a:close/>
              </a:path>
            </a:pathLst>
          </a:custGeom>
          <a:solidFill>
            <a:srgbClr val="000000">
              <a:alpha val="100000"/>
            </a:srgbClr>
          </a:solidFill>
          <a:ln w="9525">
            <a:noFill/>
          </a:ln>
        </p:spPr>
        <p:txBody>
          <a:bodyPr/>
          <a:lstStyle/>
          <a:p>
            <a:endParaRPr lang="zh-CN" altLang="en-US"/>
          </a:p>
        </p:txBody>
      </p:sp>
      <p:sp>
        <p:nvSpPr>
          <p:cNvPr id="139292" name="Rectangle 29"/>
          <p:cNvSpPr/>
          <p:nvPr/>
        </p:nvSpPr>
        <p:spPr>
          <a:xfrm>
            <a:off x="7458075" y="1812925"/>
            <a:ext cx="519113"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a:t>
            </a:r>
            <a:endParaRPr lang="en-US" altLang="zh-CN" sz="2800" b="1" dirty="0">
              <a:ea typeface="仿宋_GB2312" pitchFamily="49" charset="-122"/>
            </a:endParaRPr>
          </a:p>
        </p:txBody>
      </p:sp>
      <p:sp>
        <p:nvSpPr>
          <p:cNvPr id="139293" name="Rectangle 30"/>
          <p:cNvSpPr/>
          <p:nvPr/>
        </p:nvSpPr>
        <p:spPr>
          <a:xfrm>
            <a:off x="898525" y="1812925"/>
            <a:ext cx="519113"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a:t>
            </a:r>
            <a:endParaRPr lang="en-US" altLang="zh-CN" sz="2800" b="1" dirty="0">
              <a:ea typeface="仿宋_GB2312" pitchFamily="49" charset="-122"/>
            </a:endParaRPr>
          </a:p>
        </p:txBody>
      </p:sp>
      <p:sp>
        <p:nvSpPr>
          <p:cNvPr id="139294" name="Line 31"/>
          <p:cNvSpPr/>
          <p:nvPr/>
        </p:nvSpPr>
        <p:spPr>
          <a:xfrm flipH="1">
            <a:off x="3525838" y="3400425"/>
            <a:ext cx="119062" cy="1588"/>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295" name="Line 32"/>
          <p:cNvSpPr/>
          <p:nvPr/>
        </p:nvSpPr>
        <p:spPr>
          <a:xfrm flipH="1">
            <a:off x="3332163" y="3400425"/>
            <a:ext cx="119062" cy="1588"/>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296" name="Line 33"/>
          <p:cNvSpPr/>
          <p:nvPr/>
        </p:nvSpPr>
        <p:spPr>
          <a:xfrm flipH="1">
            <a:off x="3140075" y="3400425"/>
            <a:ext cx="119063" cy="1588"/>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297" name="Line 34"/>
          <p:cNvSpPr/>
          <p:nvPr/>
        </p:nvSpPr>
        <p:spPr>
          <a:xfrm flipH="1">
            <a:off x="2946400" y="3400425"/>
            <a:ext cx="119063" cy="1588"/>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298" name="Freeform 35"/>
          <p:cNvSpPr/>
          <p:nvPr/>
        </p:nvSpPr>
        <p:spPr>
          <a:xfrm>
            <a:off x="2768600" y="3387725"/>
            <a:ext cx="103188" cy="12700"/>
          </a:xfrm>
          <a:custGeom>
            <a:avLst/>
            <a:gdLst/>
            <a:ahLst/>
            <a:cxnLst>
              <a:cxn ang="0">
                <a:pos x="2147483646" y="2147483646"/>
              </a:cxn>
              <a:cxn ang="0">
                <a:pos x="0" y="2147483646"/>
              </a:cxn>
              <a:cxn ang="0">
                <a:pos x="0" y="0"/>
              </a:cxn>
            </a:cxnLst>
            <a:rect l="0" t="0" r="0" b="0"/>
            <a:pathLst>
              <a:path w="42" h="6">
                <a:moveTo>
                  <a:pt x="42" y="6"/>
                </a:moveTo>
                <a:lnTo>
                  <a:pt x="0" y="6"/>
                </a:lnTo>
                <a:lnTo>
                  <a:pt x="0" y="0"/>
                </a:lnTo>
              </a:path>
            </a:pathLst>
          </a:custGeom>
          <a:noFill/>
          <a:ln w="14288" cap="flat" cmpd="sng">
            <a:solidFill>
              <a:srgbClr val="00FFFF">
                <a:alpha val="100000"/>
              </a:srgbClr>
            </a:solidFill>
            <a:prstDash val="solid"/>
            <a:round/>
            <a:headEnd type="none" w="med" len="med"/>
            <a:tailEnd type="none" w="med" len="med"/>
          </a:ln>
        </p:spPr>
        <p:txBody>
          <a:bodyPr/>
          <a:lstStyle/>
          <a:p>
            <a:endParaRPr lang="zh-CN" altLang="en-US"/>
          </a:p>
        </p:txBody>
      </p:sp>
      <p:sp>
        <p:nvSpPr>
          <p:cNvPr id="139299" name="Line 36"/>
          <p:cNvSpPr/>
          <p:nvPr/>
        </p:nvSpPr>
        <p:spPr>
          <a:xfrm flipV="1">
            <a:off x="2768600" y="3213100"/>
            <a:ext cx="1588" cy="107950"/>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300" name="Line 37"/>
          <p:cNvSpPr/>
          <p:nvPr/>
        </p:nvSpPr>
        <p:spPr>
          <a:xfrm flipV="1">
            <a:off x="2768600" y="3038475"/>
            <a:ext cx="1588" cy="107950"/>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301" name="Line 38"/>
          <p:cNvSpPr/>
          <p:nvPr/>
        </p:nvSpPr>
        <p:spPr>
          <a:xfrm flipV="1">
            <a:off x="2768600" y="2863850"/>
            <a:ext cx="1588" cy="106363"/>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302" name="Line 39"/>
          <p:cNvSpPr/>
          <p:nvPr/>
        </p:nvSpPr>
        <p:spPr>
          <a:xfrm flipV="1">
            <a:off x="2768600" y="2689225"/>
            <a:ext cx="1588" cy="106363"/>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303" name="Line 40"/>
          <p:cNvSpPr/>
          <p:nvPr/>
        </p:nvSpPr>
        <p:spPr>
          <a:xfrm flipV="1">
            <a:off x="2768600" y="2513013"/>
            <a:ext cx="1588" cy="107950"/>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304" name="Line 41"/>
          <p:cNvSpPr/>
          <p:nvPr/>
        </p:nvSpPr>
        <p:spPr>
          <a:xfrm flipV="1">
            <a:off x="2768600" y="2433638"/>
            <a:ext cx="1588" cy="12700"/>
          </a:xfrm>
          <a:prstGeom prst="line">
            <a:avLst/>
          </a:prstGeom>
          <a:ln w="14288" cap="flat" cmpd="sng">
            <a:solidFill>
              <a:srgbClr val="00FFFF"/>
            </a:solidFill>
            <a:prstDash val="solid"/>
            <a:headEnd type="none" w="med" len="med"/>
            <a:tailEnd type="none" w="med" len="med"/>
          </a:ln>
        </p:spPr>
        <p:txBody>
          <a:bodyPr/>
          <a:lstStyle/>
          <a:p>
            <a:endParaRPr lang="zh-CN" altLang="en-US"/>
          </a:p>
        </p:txBody>
      </p:sp>
      <p:sp>
        <p:nvSpPr>
          <p:cNvPr id="139305" name="Freeform 42"/>
          <p:cNvSpPr/>
          <p:nvPr/>
        </p:nvSpPr>
        <p:spPr>
          <a:xfrm>
            <a:off x="2701925" y="2343150"/>
            <a:ext cx="133350" cy="120650"/>
          </a:xfrm>
          <a:custGeom>
            <a:avLst/>
            <a:gdLst/>
            <a:ahLst/>
            <a:cxnLst>
              <a:cxn ang="0">
                <a:pos x="2147483646" y="0"/>
              </a:cxn>
              <a:cxn ang="0">
                <a:pos x="2147483646" y="2147483646"/>
              </a:cxn>
              <a:cxn ang="0">
                <a:pos x="2147483646" y="2147483646"/>
              </a:cxn>
              <a:cxn ang="0">
                <a:pos x="2147483646" y="2147483646"/>
              </a:cxn>
              <a:cxn ang="0">
                <a:pos x="2147483646" y="2147483646"/>
              </a:cxn>
              <a:cxn ang="0">
                <a:pos x="0" y="2147483646"/>
              </a:cxn>
              <a:cxn ang="0">
                <a:pos x="2147483646" y="0"/>
              </a:cxn>
            </a:cxnLst>
            <a:rect l="0" t="0" r="0" b="0"/>
            <a:pathLst>
              <a:path w="84" h="76">
                <a:moveTo>
                  <a:pt x="42" y="0"/>
                </a:moveTo>
                <a:lnTo>
                  <a:pt x="84" y="76"/>
                </a:lnTo>
                <a:lnTo>
                  <a:pt x="64" y="69"/>
                </a:lnTo>
                <a:lnTo>
                  <a:pt x="42" y="66"/>
                </a:lnTo>
                <a:lnTo>
                  <a:pt x="20" y="69"/>
                </a:lnTo>
                <a:lnTo>
                  <a:pt x="0" y="76"/>
                </a:lnTo>
                <a:lnTo>
                  <a:pt x="42" y="0"/>
                </a:lnTo>
                <a:close/>
              </a:path>
            </a:pathLst>
          </a:custGeom>
          <a:solidFill>
            <a:srgbClr val="00FFFF">
              <a:alpha val="100000"/>
            </a:srgbClr>
          </a:solidFill>
          <a:ln w="9525">
            <a:noFill/>
          </a:ln>
        </p:spPr>
        <p:txBody>
          <a:bodyPr/>
          <a:lstStyle/>
          <a:p>
            <a:endParaRPr lang="zh-CN" altLang="en-US"/>
          </a:p>
        </p:txBody>
      </p:sp>
      <p:sp>
        <p:nvSpPr>
          <p:cNvPr id="139306" name="Freeform 43"/>
          <p:cNvSpPr/>
          <p:nvPr/>
        </p:nvSpPr>
        <p:spPr>
          <a:xfrm>
            <a:off x="2417763" y="2500313"/>
            <a:ext cx="263525" cy="239712"/>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0" t="0" r="0" b="0"/>
            <a:pathLst>
              <a:path w="166" h="151">
                <a:moveTo>
                  <a:pt x="0" y="76"/>
                </a:moveTo>
                <a:lnTo>
                  <a:pt x="3" y="56"/>
                </a:lnTo>
                <a:lnTo>
                  <a:pt x="11" y="38"/>
                </a:lnTo>
                <a:lnTo>
                  <a:pt x="25" y="23"/>
                </a:lnTo>
                <a:lnTo>
                  <a:pt x="42" y="11"/>
                </a:lnTo>
                <a:lnTo>
                  <a:pt x="62" y="3"/>
                </a:lnTo>
                <a:lnTo>
                  <a:pt x="82" y="0"/>
                </a:lnTo>
                <a:lnTo>
                  <a:pt x="104" y="3"/>
                </a:lnTo>
                <a:lnTo>
                  <a:pt x="124" y="11"/>
                </a:lnTo>
                <a:lnTo>
                  <a:pt x="142" y="23"/>
                </a:lnTo>
                <a:lnTo>
                  <a:pt x="154" y="38"/>
                </a:lnTo>
                <a:lnTo>
                  <a:pt x="163" y="56"/>
                </a:lnTo>
                <a:lnTo>
                  <a:pt x="166" y="76"/>
                </a:lnTo>
                <a:lnTo>
                  <a:pt x="163" y="95"/>
                </a:lnTo>
                <a:lnTo>
                  <a:pt x="154" y="113"/>
                </a:lnTo>
                <a:lnTo>
                  <a:pt x="142" y="128"/>
                </a:lnTo>
                <a:lnTo>
                  <a:pt x="124" y="141"/>
                </a:lnTo>
                <a:lnTo>
                  <a:pt x="104" y="148"/>
                </a:lnTo>
                <a:lnTo>
                  <a:pt x="82" y="151"/>
                </a:lnTo>
                <a:lnTo>
                  <a:pt x="62" y="148"/>
                </a:lnTo>
                <a:lnTo>
                  <a:pt x="42" y="141"/>
                </a:lnTo>
                <a:lnTo>
                  <a:pt x="25" y="128"/>
                </a:lnTo>
                <a:lnTo>
                  <a:pt x="11" y="113"/>
                </a:lnTo>
                <a:lnTo>
                  <a:pt x="3" y="95"/>
                </a:lnTo>
                <a:lnTo>
                  <a:pt x="0" y="76"/>
                </a:lnTo>
                <a:close/>
              </a:path>
            </a:pathLst>
          </a:custGeom>
          <a:solidFill>
            <a:srgbClr val="00FFFF">
              <a:alpha val="100000"/>
            </a:srgbClr>
          </a:solidFill>
          <a:ln w="142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139307" name="Rectangle 44"/>
          <p:cNvSpPr/>
          <p:nvPr/>
        </p:nvSpPr>
        <p:spPr>
          <a:xfrm>
            <a:off x="2501900" y="2527300"/>
            <a:ext cx="82550" cy="198438"/>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1300" b="1" dirty="0">
                <a:solidFill>
                  <a:srgbClr val="000000"/>
                </a:solidFill>
                <a:latin typeface="宋体" panose="02010600030101010101" pitchFamily="2" charset="-122"/>
                <a:ea typeface="宋体" panose="02010600030101010101" pitchFamily="2" charset="-122"/>
              </a:rPr>
              <a:t>1</a:t>
            </a:r>
            <a:endParaRPr lang="en-US" altLang="zh-CN" sz="2800" b="1" dirty="0">
              <a:ea typeface="仿宋_GB2312" pitchFamily="49" charset="-122"/>
            </a:endParaRPr>
          </a:p>
        </p:txBody>
      </p:sp>
      <p:sp>
        <p:nvSpPr>
          <p:cNvPr id="139308" name="Line 45"/>
          <p:cNvSpPr/>
          <p:nvPr/>
        </p:nvSpPr>
        <p:spPr>
          <a:xfrm>
            <a:off x="5399088" y="1416050"/>
            <a:ext cx="1587" cy="304800"/>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309" name="Freeform 46"/>
          <p:cNvSpPr/>
          <p:nvPr/>
        </p:nvSpPr>
        <p:spPr>
          <a:xfrm>
            <a:off x="5332413" y="1690688"/>
            <a:ext cx="133350" cy="122237"/>
          </a:xfrm>
          <a:custGeom>
            <a:avLst/>
            <a:gdLst/>
            <a:ahLst/>
            <a:cxnLst>
              <a:cxn ang="0">
                <a:pos x="2147483646" y="2147483646"/>
              </a:cxn>
              <a:cxn ang="0">
                <a:pos x="0" y="0"/>
              </a:cxn>
              <a:cxn ang="0">
                <a:pos x="2147483646" y="2147483646"/>
              </a:cxn>
              <a:cxn ang="0">
                <a:pos x="2147483646" y="2147483646"/>
              </a:cxn>
              <a:cxn ang="0">
                <a:pos x="2147483646" y="2147483646"/>
              </a:cxn>
              <a:cxn ang="0">
                <a:pos x="2147483646" y="0"/>
              </a:cxn>
              <a:cxn ang="0">
                <a:pos x="2147483646" y="2147483646"/>
              </a:cxn>
            </a:cxnLst>
            <a:rect l="0" t="0" r="0" b="0"/>
            <a:pathLst>
              <a:path w="84" h="77">
                <a:moveTo>
                  <a:pt x="42" y="77"/>
                </a:moveTo>
                <a:lnTo>
                  <a:pt x="0" y="0"/>
                </a:lnTo>
                <a:lnTo>
                  <a:pt x="20" y="7"/>
                </a:lnTo>
                <a:lnTo>
                  <a:pt x="42" y="10"/>
                </a:lnTo>
                <a:lnTo>
                  <a:pt x="64" y="7"/>
                </a:lnTo>
                <a:lnTo>
                  <a:pt x="84" y="0"/>
                </a:lnTo>
                <a:lnTo>
                  <a:pt x="42" y="77"/>
                </a:lnTo>
                <a:close/>
              </a:path>
            </a:pathLst>
          </a:custGeom>
          <a:solidFill>
            <a:srgbClr val="000000">
              <a:alpha val="100000"/>
            </a:srgbClr>
          </a:solidFill>
          <a:ln w="9525">
            <a:noFill/>
          </a:ln>
        </p:spPr>
        <p:txBody>
          <a:bodyPr/>
          <a:lstStyle/>
          <a:p>
            <a:endParaRPr lang="zh-CN" altLang="en-US"/>
          </a:p>
        </p:txBody>
      </p:sp>
      <p:sp>
        <p:nvSpPr>
          <p:cNvPr id="139310" name="Rectangle 47"/>
          <p:cNvSpPr/>
          <p:nvPr/>
        </p:nvSpPr>
        <p:spPr>
          <a:xfrm>
            <a:off x="5013325" y="1308100"/>
            <a:ext cx="171450"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p</a:t>
            </a:r>
            <a:endParaRPr lang="en-US" altLang="zh-CN" sz="2800" b="1" dirty="0">
              <a:ea typeface="仿宋_GB2312" pitchFamily="49" charset="-122"/>
            </a:endParaRPr>
          </a:p>
        </p:txBody>
      </p:sp>
      <p:sp>
        <p:nvSpPr>
          <p:cNvPr id="139311" name="Line 48"/>
          <p:cNvSpPr/>
          <p:nvPr/>
        </p:nvSpPr>
        <p:spPr>
          <a:xfrm>
            <a:off x="5208588" y="3533775"/>
            <a:ext cx="890587" cy="1588"/>
          </a:xfrm>
          <a:prstGeom prst="line">
            <a:avLst/>
          </a:prstGeom>
          <a:ln w="14288" cap="flat" cmpd="sng">
            <a:solidFill>
              <a:srgbClr val="000000"/>
            </a:solidFill>
            <a:prstDash val="solid"/>
            <a:headEnd type="none" w="med" len="med"/>
            <a:tailEnd type="none" w="med" len="med"/>
          </a:ln>
        </p:spPr>
        <p:txBody>
          <a:bodyPr/>
          <a:lstStyle/>
          <a:p>
            <a:endParaRPr lang="zh-CN" altLang="en-US"/>
          </a:p>
        </p:txBody>
      </p:sp>
      <p:sp>
        <p:nvSpPr>
          <p:cNvPr id="139312" name="Freeform 49"/>
          <p:cNvSpPr/>
          <p:nvPr/>
        </p:nvSpPr>
        <p:spPr>
          <a:xfrm>
            <a:off x="5106988" y="3473450"/>
            <a:ext cx="133350" cy="120650"/>
          </a:xfrm>
          <a:custGeom>
            <a:avLst/>
            <a:gdLst/>
            <a:ahLst/>
            <a:cxnLst>
              <a:cxn ang="0">
                <a:pos x="0" y="2147483646"/>
              </a:cxn>
              <a:cxn ang="0">
                <a:pos x="2147483646" y="0"/>
              </a:cxn>
              <a:cxn ang="0">
                <a:pos x="2147483646" y="2147483646"/>
              </a:cxn>
              <a:cxn ang="0">
                <a:pos x="2147483646" y="2147483646"/>
              </a:cxn>
              <a:cxn ang="0">
                <a:pos x="2147483646" y="2147483646"/>
              </a:cxn>
              <a:cxn ang="0">
                <a:pos x="2147483646" y="2147483646"/>
              </a:cxn>
              <a:cxn ang="0">
                <a:pos x="0" y="2147483646"/>
              </a:cxn>
            </a:cxnLst>
            <a:rect l="0" t="0" r="0" b="0"/>
            <a:pathLst>
              <a:path w="84" h="76">
                <a:moveTo>
                  <a:pt x="0" y="38"/>
                </a:moveTo>
                <a:lnTo>
                  <a:pt x="84" y="0"/>
                </a:lnTo>
                <a:lnTo>
                  <a:pt x="76" y="18"/>
                </a:lnTo>
                <a:lnTo>
                  <a:pt x="73" y="38"/>
                </a:lnTo>
                <a:lnTo>
                  <a:pt x="76" y="58"/>
                </a:lnTo>
                <a:lnTo>
                  <a:pt x="84" y="76"/>
                </a:lnTo>
                <a:lnTo>
                  <a:pt x="0" y="38"/>
                </a:lnTo>
                <a:close/>
              </a:path>
            </a:pathLst>
          </a:custGeom>
          <a:solidFill>
            <a:srgbClr val="000000">
              <a:alpha val="100000"/>
            </a:srgbClr>
          </a:solidFill>
          <a:ln w="9525">
            <a:noFill/>
          </a:ln>
        </p:spPr>
        <p:txBody>
          <a:bodyPr/>
          <a:lstStyle/>
          <a:p>
            <a:endParaRPr lang="zh-CN" altLang="en-US"/>
          </a:p>
        </p:txBody>
      </p:sp>
      <p:sp>
        <p:nvSpPr>
          <p:cNvPr id="139313" name="Rectangle 50"/>
          <p:cNvSpPr/>
          <p:nvPr/>
        </p:nvSpPr>
        <p:spPr>
          <a:xfrm>
            <a:off x="5888038" y="3162300"/>
            <a:ext cx="171450" cy="411163"/>
          </a:xfrm>
          <a:prstGeom prst="rect">
            <a:avLst/>
          </a:prstGeom>
          <a:noFill/>
          <a:ln w="9525">
            <a:noFill/>
          </a:ln>
        </p:spPr>
        <p:txBody>
          <a:bodyPr wrap="none" lIns="0" tIns="0" rIns="0" bIns="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r>
              <a:rPr lang="en-US" altLang="zh-CN" sz="2700" b="1" dirty="0">
                <a:solidFill>
                  <a:srgbClr val="000000"/>
                </a:solidFill>
                <a:latin typeface="宋体" panose="02010600030101010101" pitchFamily="2" charset="-122"/>
                <a:ea typeface="宋体" panose="02010600030101010101" pitchFamily="2" charset="-122"/>
              </a:rPr>
              <a:t>s</a:t>
            </a:r>
            <a:endParaRPr lang="en-US" altLang="zh-CN" sz="2800" b="1" dirty="0">
              <a:ea typeface="仿宋_GB2312" pitchFamily="49" charset="-122"/>
            </a:endParaRPr>
          </a:p>
        </p:txBody>
      </p:sp>
      <p:sp>
        <p:nvSpPr>
          <p:cNvPr id="99" name="Rectangle 2"/>
          <p:cNvSpPr>
            <a:spLocks noChangeArrowheads="1"/>
          </p:cNvSpPr>
          <p:nvPr/>
        </p:nvSpPr>
        <p:spPr bwMode="auto">
          <a:xfrm>
            <a:off x="754063" y="4673600"/>
            <a:ext cx="4343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lt"/>
                <a:ea typeface="+mn-ea"/>
                <a:cs typeface="+mn-ea"/>
                <a:sym typeface="+mn-lt"/>
              </a:rPr>
              <a:t>1. s-&gt;prior=p-&gt;prior;</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矩形 64"/>
          <p:cNvSpPr/>
          <p:nvPr/>
        </p:nvSpPr>
        <p:spPr>
          <a:xfrm>
            <a:off x="0" y="1285875"/>
            <a:ext cx="9144000" cy="302577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66628" name="Rectangle 4"/>
          <p:cNvSpPr>
            <a:spLocks noChangeArrowheads="1"/>
          </p:cNvSpPr>
          <p:nvPr/>
        </p:nvSpPr>
        <p:spPr bwMode="auto">
          <a:xfrm>
            <a:off x="781050" y="5295900"/>
            <a:ext cx="4187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9476B6"/>
                </a:solidFill>
                <a:effectLst/>
                <a:uLnTx/>
                <a:uFillTx/>
                <a:latin typeface="+mn-lt"/>
                <a:ea typeface="+mn-ea"/>
                <a:cs typeface="+mn-ea"/>
                <a:sym typeface="+mn-lt"/>
              </a:rPr>
              <a:t>2. p-&gt;prior-&gt;next=s;</a:t>
            </a:r>
          </a:p>
        </p:txBody>
      </p:sp>
      <p:sp>
        <p:nvSpPr>
          <p:cNvPr id="135173" name="AutoShape 5"/>
          <p:cNvSpPr>
            <a:spLocks noChangeAspect="1" noChangeArrowheads="1" noTextEdit="1"/>
          </p:cNvSpPr>
          <p:nvPr/>
        </p:nvSpPr>
        <p:spPr bwMode="auto">
          <a:xfrm>
            <a:off x="895350" y="1528763"/>
            <a:ext cx="7467600" cy="2362200"/>
          </a:xfrm>
          <a:prstGeom prst="rect">
            <a:avLst/>
          </a:prstGeom>
          <a:solidFill>
            <a:srgbClr val="EAEAEA"/>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74" name="Rectangle 6"/>
          <p:cNvSpPr>
            <a:spLocks noChangeArrowheads="1"/>
          </p:cNvSpPr>
          <p:nvPr/>
        </p:nvSpPr>
        <p:spPr bwMode="auto">
          <a:xfrm>
            <a:off x="2582863" y="2011363"/>
            <a:ext cx="584200" cy="530225"/>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75" name="Rectangle 7"/>
          <p:cNvSpPr>
            <a:spLocks noChangeArrowheads="1"/>
          </p:cNvSpPr>
          <p:nvPr/>
        </p:nvSpPr>
        <p:spPr bwMode="auto">
          <a:xfrm>
            <a:off x="2781300" y="2087563"/>
            <a:ext cx="1539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a</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76" name="Rectangle 8"/>
          <p:cNvSpPr>
            <a:spLocks noChangeArrowheads="1"/>
          </p:cNvSpPr>
          <p:nvPr/>
        </p:nvSpPr>
        <p:spPr bwMode="auto">
          <a:xfrm>
            <a:off x="1998663" y="2011363"/>
            <a:ext cx="584200" cy="530225"/>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77" name="Rectangle 9"/>
          <p:cNvSpPr>
            <a:spLocks noChangeArrowheads="1"/>
          </p:cNvSpPr>
          <p:nvPr/>
        </p:nvSpPr>
        <p:spPr bwMode="auto">
          <a:xfrm>
            <a:off x="3167063" y="2011363"/>
            <a:ext cx="584200" cy="530225"/>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78" name="Rectangle 10"/>
          <p:cNvSpPr>
            <a:spLocks noChangeArrowheads="1"/>
          </p:cNvSpPr>
          <p:nvPr/>
        </p:nvSpPr>
        <p:spPr bwMode="auto">
          <a:xfrm>
            <a:off x="4629150" y="2011363"/>
            <a:ext cx="584200" cy="530225"/>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79" name="Rectangle 11"/>
          <p:cNvSpPr>
            <a:spLocks noChangeArrowheads="1"/>
          </p:cNvSpPr>
          <p:nvPr/>
        </p:nvSpPr>
        <p:spPr bwMode="auto">
          <a:xfrm>
            <a:off x="5213350" y="2011363"/>
            <a:ext cx="584200" cy="530225"/>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0" name="Rectangle 12"/>
          <p:cNvSpPr>
            <a:spLocks noChangeArrowheads="1"/>
          </p:cNvSpPr>
          <p:nvPr/>
        </p:nvSpPr>
        <p:spPr bwMode="auto">
          <a:xfrm>
            <a:off x="5411788" y="2087563"/>
            <a:ext cx="1730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b</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1" name="Rectangle 13"/>
          <p:cNvSpPr>
            <a:spLocks noChangeArrowheads="1"/>
          </p:cNvSpPr>
          <p:nvPr/>
        </p:nvSpPr>
        <p:spPr bwMode="auto">
          <a:xfrm>
            <a:off x="5797550" y="2011363"/>
            <a:ext cx="584200" cy="530225"/>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2" name="Rectangle 14"/>
          <p:cNvSpPr>
            <a:spLocks noChangeArrowheads="1"/>
          </p:cNvSpPr>
          <p:nvPr/>
        </p:nvSpPr>
        <p:spPr bwMode="auto">
          <a:xfrm>
            <a:off x="3459163" y="3335338"/>
            <a:ext cx="584200" cy="528638"/>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3" name="Rectangle 15"/>
          <p:cNvSpPr>
            <a:spLocks noChangeArrowheads="1"/>
          </p:cNvSpPr>
          <p:nvPr/>
        </p:nvSpPr>
        <p:spPr bwMode="auto">
          <a:xfrm>
            <a:off x="4043363" y="3335338"/>
            <a:ext cx="585788" cy="528638"/>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4" name="Rectangle 16"/>
          <p:cNvSpPr>
            <a:spLocks noChangeArrowheads="1"/>
          </p:cNvSpPr>
          <p:nvPr/>
        </p:nvSpPr>
        <p:spPr bwMode="auto">
          <a:xfrm>
            <a:off x="4243388" y="3411538"/>
            <a:ext cx="1730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x</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5" name="Rectangle 17"/>
          <p:cNvSpPr>
            <a:spLocks noChangeArrowheads="1"/>
          </p:cNvSpPr>
          <p:nvPr/>
        </p:nvSpPr>
        <p:spPr bwMode="auto">
          <a:xfrm>
            <a:off x="4629150" y="3335338"/>
            <a:ext cx="584200" cy="528638"/>
          </a:xfrm>
          <a:prstGeom prst="rect">
            <a:avLst/>
          </a:prstGeom>
          <a:solidFill>
            <a:srgbClr val="FFFFFF"/>
          </a:solid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6" name="Line 18"/>
          <p:cNvSpPr>
            <a:spLocks noChangeShapeType="1"/>
          </p:cNvSpPr>
          <p:nvPr/>
        </p:nvSpPr>
        <p:spPr bwMode="auto">
          <a:xfrm>
            <a:off x="1558925" y="2143125"/>
            <a:ext cx="3381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7" name="Freeform 19"/>
          <p:cNvSpPr>
            <a:spLocks noChangeArrowheads="1"/>
          </p:cNvSpPr>
          <p:nvPr/>
        </p:nvSpPr>
        <p:spPr bwMode="auto">
          <a:xfrm>
            <a:off x="1865313" y="2082800"/>
            <a:ext cx="133350" cy="120650"/>
          </a:xfrm>
          <a:custGeom>
            <a:avLst/>
            <a:gdLst>
              <a:gd name="T0" fmla="*/ 2147483646 w 84"/>
              <a:gd name="T1" fmla="*/ 2147483646 h 76"/>
              <a:gd name="T2" fmla="*/ 0 w 84"/>
              <a:gd name="T3" fmla="*/ 2147483646 h 76"/>
              <a:gd name="T4" fmla="*/ 2147483646 w 84"/>
              <a:gd name="T5" fmla="*/ 2147483646 h 76"/>
              <a:gd name="T6" fmla="*/ 2147483646 w 84"/>
              <a:gd name="T7" fmla="*/ 2147483646 h 76"/>
              <a:gd name="T8" fmla="*/ 2147483646 w 84"/>
              <a:gd name="T9" fmla="*/ 2147483646 h 76"/>
              <a:gd name="T10" fmla="*/ 0 w 84"/>
              <a:gd name="T11" fmla="*/ 0 h 76"/>
              <a:gd name="T12" fmla="*/ 2147483646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84" y="38"/>
                </a:moveTo>
                <a:lnTo>
                  <a:pt x="0" y="76"/>
                </a:lnTo>
                <a:lnTo>
                  <a:pt x="6" y="58"/>
                </a:lnTo>
                <a:lnTo>
                  <a:pt x="9" y="38"/>
                </a:lnTo>
                <a:lnTo>
                  <a:pt x="6" y="19"/>
                </a:lnTo>
                <a:lnTo>
                  <a:pt x="0" y="0"/>
                </a:lnTo>
                <a:lnTo>
                  <a:pt x="84"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8" name="Line 20"/>
          <p:cNvSpPr>
            <a:spLocks noChangeShapeType="1"/>
          </p:cNvSpPr>
          <p:nvPr/>
        </p:nvSpPr>
        <p:spPr bwMode="auto">
          <a:xfrm>
            <a:off x="1660525" y="2409825"/>
            <a:ext cx="6302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89" name="Freeform 21"/>
          <p:cNvSpPr>
            <a:spLocks noChangeArrowheads="1"/>
          </p:cNvSpPr>
          <p:nvPr/>
        </p:nvSpPr>
        <p:spPr bwMode="auto">
          <a:xfrm>
            <a:off x="1558925" y="2349500"/>
            <a:ext cx="133350" cy="120650"/>
          </a:xfrm>
          <a:custGeom>
            <a:avLst/>
            <a:gdLst>
              <a:gd name="T0" fmla="*/ 0 w 84"/>
              <a:gd name="T1" fmla="*/ 2147483646 h 76"/>
              <a:gd name="T2" fmla="*/ 2147483646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0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76"/>
                </a:lnTo>
                <a:lnTo>
                  <a:pt x="78" y="56"/>
                </a:lnTo>
                <a:lnTo>
                  <a:pt x="75" y="38"/>
                </a:lnTo>
                <a:lnTo>
                  <a:pt x="78" y="18"/>
                </a:lnTo>
                <a:lnTo>
                  <a:pt x="84" y="0"/>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0" name="Line 22"/>
          <p:cNvSpPr>
            <a:spLocks noChangeShapeType="1"/>
          </p:cNvSpPr>
          <p:nvPr/>
        </p:nvSpPr>
        <p:spPr bwMode="auto">
          <a:xfrm>
            <a:off x="3605213" y="2143125"/>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1" name="Freeform 23"/>
          <p:cNvSpPr>
            <a:spLocks noChangeArrowheads="1"/>
          </p:cNvSpPr>
          <p:nvPr/>
        </p:nvSpPr>
        <p:spPr bwMode="auto">
          <a:xfrm>
            <a:off x="4495800" y="2082800"/>
            <a:ext cx="133350" cy="120650"/>
          </a:xfrm>
          <a:custGeom>
            <a:avLst/>
            <a:gdLst>
              <a:gd name="T0" fmla="*/ 2147483646 w 84"/>
              <a:gd name="T1" fmla="*/ 2147483646 h 76"/>
              <a:gd name="T2" fmla="*/ 0 w 84"/>
              <a:gd name="T3" fmla="*/ 2147483646 h 76"/>
              <a:gd name="T4" fmla="*/ 2147483646 w 84"/>
              <a:gd name="T5" fmla="*/ 2147483646 h 76"/>
              <a:gd name="T6" fmla="*/ 2147483646 w 84"/>
              <a:gd name="T7" fmla="*/ 2147483646 h 76"/>
              <a:gd name="T8" fmla="*/ 2147483646 w 84"/>
              <a:gd name="T9" fmla="*/ 2147483646 h 76"/>
              <a:gd name="T10" fmla="*/ 0 w 84"/>
              <a:gd name="T11" fmla="*/ 0 h 76"/>
              <a:gd name="T12" fmla="*/ 2147483646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84" y="38"/>
                </a:moveTo>
                <a:lnTo>
                  <a:pt x="0" y="76"/>
                </a:lnTo>
                <a:lnTo>
                  <a:pt x="6" y="58"/>
                </a:lnTo>
                <a:lnTo>
                  <a:pt x="9" y="38"/>
                </a:lnTo>
                <a:lnTo>
                  <a:pt x="6" y="19"/>
                </a:lnTo>
                <a:lnTo>
                  <a:pt x="0" y="0"/>
                </a:lnTo>
                <a:lnTo>
                  <a:pt x="84"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2" name="Line 24"/>
          <p:cNvSpPr>
            <a:spLocks noChangeShapeType="1"/>
          </p:cNvSpPr>
          <p:nvPr/>
        </p:nvSpPr>
        <p:spPr bwMode="auto">
          <a:xfrm>
            <a:off x="3852863" y="2409825"/>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3" name="Freeform 25"/>
          <p:cNvSpPr>
            <a:spLocks noChangeArrowheads="1"/>
          </p:cNvSpPr>
          <p:nvPr/>
        </p:nvSpPr>
        <p:spPr bwMode="auto">
          <a:xfrm>
            <a:off x="3751263" y="2349500"/>
            <a:ext cx="133350" cy="120650"/>
          </a:xfrm>
          <a:custGeom>
            <a:avLst/>
            <a:gdLst>
              <a:gd name="T0" fmla="*/ 0 w 84"/>
              <a:gd name="T1" fmla="*/ 2147483646 h 76"/>
              <a:gd name="T2" fmla="*/ 2147483646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0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76"/>
                </a:lnTo>
                <a:lnTo>
                  <a:pt x="78" y="56"/>
                </a:lnTo>
                <a:lnTo>
                  <a:pt x="75" y="38"/>
                </a:lnTo>
                <a:lnTo>
                  <a:pt x="78" y="18"/>
                </a:lnTo>
                <a:lnTo>
                  <a:pt x="84" y="0"/>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4" name="Line 26"/>
          <p:cNvSpPr>
            <a:spLocks noChangeShapeType="1"/>
          </p:cNvSpPr>
          <p:nvPr/>
        </p:nvSpPr>
        <p:spPr bwMode="auto">
          <a:xfrm>
            <a:off x="6235700" y="2143125"/>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5" name="Freeform 27"/>
          <p:cNvSpPr>
            <a:spLocks noChangeArrowheads="1"/>
          </p:cNvSpPr>
          <p:nvPr/>
        </p:nvSpPr>
        <p:spPr bwMode="auto">
          <a:xfrm>
            <a:off x="7126288" y="2082800"/>
            <a:ext cx="133350" cy="120650"/>
          </a:xfrm>
          <a:custGeom>
            <a:avLst/>
            <a:gdLst>
              <a:gd name="T0" fmla="*/ 2147483646 w 84"/>
              <a:gd name="T1" fmla="*/ 2147483646 h 76"/>
              <a:gd name="T2" fmla="*/ 0 w 84"/>
              <a:gd name="T3" fmla="*/ 2147483646 h 76"/>
              <a:gd name="T4" fmla="*/ 2147483646 w 84"/>
              <a:gd name="T5" fmla="*/ 2147483646 h 76"/>
              <a:gd name="T6" fmla="*/ 2147483646 w 84"/>
              <a:gd name="T7" fmla="*/ 2147483646 h 76"/>
              <a:gd name="T8" fmla="*/ 2147483646 w 84"/>
              <a:gd name="T9" fmla="*/ 2147483646 h 76"/>
              <a:gd name="T10" fmla="*/ 0 w 84"/>
              <a:gd name="T11" fmla="*/ 0 h 76"/>
              <a:gd name="T12" fmla="*/ 2147483646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84" y="38"/>
                </a:moveTo>
                <a:lnTo>
                  <a:pt x="0" y="76"/>
                </a:lnTo>
                <a:lnTo>
                  <a:pt x="6" y="58"/>
                </a:lnTo>
                <a:lnTo>
                  <a:pt x="9" y="38"/>
                </a:lnTo>
                <a:lnTo>
                  <a:pt x="6" y="19"/>
                </a:lnTo>
                <a:lnTo>
                  <a:pt x="0" y="0"/>
                </a:lnTo>
                <a:lnTo>
                  <a:pt x="84"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6" name="Line 28"/>
          <p:cNvSpPr>
            <a:spLocks noChangeShapeType="1"/>
          </p:cNvSpPr>
          <p:nvPr/>
        </p:nvSpPr>
        <p:spPr bwMode="auto">
          <a:xfrm>
            <a:off x="6483350" y="2409825"/>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7" name="Freeform 29"/>
          <p:cNvSpPr>
            <a:spLocks noChangeArrowheads="1"/>
          </p:cNvSpPr>
          <p:nvPr/>
        </p:nvSpPr>
        <p:spPr bwMode="auto">
          <a:xfrm>
            <a:off x="6381750" y="2349500"/>
            <a:ext cx="133350" cy="120650"/>
          </a:xfrm>
          <a:custGeom>
            <a:avLst/>
            <a:gdLst>
              <a:gd name="T0" fmla="*/ 0 w 84"/>
              <a:gd name="T1" fmla="*/ 2147483646 h 76"/>
              <a:gd name="T2" fmla="*/ 2147483646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0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76"/>
                </a:lnTo>
                <a:lnTo>
                  <a:pt x="78" y="56"/>
                </a:lnTo>
                <a:lnTo>
                  <a:pt x="74" y="38"/>
                </a:lnTo>
                <a:lnTo>
                  <a:pt x="78" y="18"/>
                </a:lnTo>
                <a:lnTo>
                  <a:pt x="84" y="0"/>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8" name="Rectangle 30"/>
          <p:cNvSpPr>
            <a:spLocks noChangeArrowheads="1"/>
          </p:cNvSpPr>
          <p:nvPr/>
        </p:nvSpPr>
        <p:spPr bwMode="auto">
          <a:xfrm>
            <a:off x="7564438" y="2011363"/>
            <a:ext cx="2603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199" name="Rectangle 31"/>
          <p:cNvSpPr>
            <a:spLocks noChangeArrowheads="1"/>
          </p:cNvSpPr>
          <p:nvPr/>
        </p:nvSpPr>
        <p:spPr bwMode="auto">
          <a:xfrm>
            <a:off x="1004888" y="2011363"/>
            <a:ext cx="2603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0" name="Line 32"/>
          <p:cNvSpPr>
            <a:spLocks noChangeShapeType="1"/>
          </p:cNvSpPr>
          <p:nvPr/>
        </p:nvSpPr>
        <p:spPr bwMode="auto">
          <a:xfrm flipH="1">
            <a:off x="3632200" y="3598863"/>
            <a:ext cx="119063" cy="1588"/>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1" name="Line 33"/>
          <p:cNvSpPr>
            <a:spLocks noChangeShapeType="1"/>
          </p:cNvSpPr>
          <p:nvPr/>
        </p:nvSpPr>
        <p:spPr bwMode="auto">
          <a:xfrm flipH="1">
            <a:off x="3438525" y="3598863"/>
            <a:ext cx="119063" cy="1588"/>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2" name="Line 34"/>
          <p:cNvSpPr>
            <a:spLocks noChangeShapeType="1"/>
          </p:cNvSpPr>
          <p:nvPr/>
        </p:nvSpPr>
        <p:spPr bwMode="auto">
          <a:xfrm flipH="1">
            <a:off x="3246438" y="3598863"/>
            <a:ext cx="119063" cy="1588"/>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3" name="Line 35"/>
          <p:cNvSpPr>
            <a:spLocks noChangeShapeType="1"/>
          </p:cNvSpPr>
          <p:nvPr/>
        </p:nvSpPr>
        <p:spPr bwMode="auto">
          <a:xfrm flipH="1">
            <a:off x="3052763" y="3598863"/>
            <a:ext cx="119063" cy="1588"/>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4" name="Freeform 36"/>
          <p:cNvSpPr>
            <a:spLocks noChangeArrowheads="1"/>
          </p:cNvSpPr>
          <p:nvPr/>
        </p:nvSpPr>
        <p:spPr bwMode="auto">
          <a:xfrm>
            <a:off x="2874963" y="3586163"/>
            <a:ext cx="103188" cy="12700"/>
          </a:xfrm>
          <a:custGeom>
            <a:avLst/>
            <a:gdLst>
              <a:gd name="T0" fmla="*/ 2147483646 w 42"/>
              <a:gd name="T1" fmla="*/ 2147483646 h 6"/>
              <a:gd name="T2" fmla="*/ 0 w 42"/>
              <a:gd name="T3" fmla="*/ 2147483646 h 6"/>
              <a:gd name="T4" fmla="*/ 0 w 42"/>
              <a:gd name="T5" fmla="*/ 0 h 6"/>
              <a:gd name="T6" fmla="*/ 0 60000 65536"/>
              <a:gd name="T7" fmla="*/ 0 60000 65536"/>
              <a:gd name="T8" fmla="*/ 0 60000 65536"/>
            </a:gdLst>
            <a:ahLst/>
            <a:cxnLst>
              <a:cxn ang="T6">
                <a:pos x="T0" y="T1"/>
              </a:cxn>
              <a:cxn ang="T7">
                <a:pos x="T2" y="T3"/>
              </a:cxn>
              <a:cxn ang="T8">
                <a:pos x="T4" y="T5"/>
              </a:cxn>
            </a:cxnLst>
            <a:rect l="0" t="0" r="r" b="b"/>
            <a:pathLst>
              <a:path w="42" h="6">
                <a:moveTo>
                  <a:pt x="42" y="6"/>
                </a:moveTo>
                <a:lnTo>
                  <a:pt x="0" y="6"/>
                </a:lnTo>
                <a:lnTo>
                  <a:pt x="0" y="0"/>
                </a:lnTo>
              </a:path>
            </a:pathLst>
          </a:custGeom>
          <a:solidFill>
            <a:srgbClr val="FF0000"/>
          </a:solidFill>
          <a:ln w="14288">
            <a:solidFill>
              <a:srgbClr val="FF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5" name="Line 37"/>
          <p:cNvSpPr>
            <a:spLocks noChangeShapeType="1"/>
          </p:cNvSpPr>
          <p:nvPr/>
        </p:nvSpPr>
        <p:spPr bwMode="auto">
          <a:xfrm flipV="1">
            <a:off x="2874963" y="3411538"/>
            <a:ext cx="1588" cy="107950"/>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6" name="Line 38"/>
          <p:cNvSpPr>
            <a:spLocks noChangeShapeType="1"/>
          </p:cNvSpPr>
          <p:nvPr/>
        </p:nvSpPr>
        <p:spPr bwMode="auto">
          <a:xfrm flipV="1">
            <a:off x="2874963" y="3236913"/>
            <a:ext cx="1588" cy="107950"/>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7" name="Line 39"/>
          <p:cNvSpPr>
            <a:spLocks noChangeShapeType="1"/>
          </p:cNvSpPr>
          <p:nvPr/>
        </p:nvSpPr>
        <p:spPr bwMode="auto">
          <a:xfrm flipV="1">
            <a:off x="2874963" y="3062288"/>
            <a:ext cx="1588" cy="106363"/>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8" name="Line 40"/>
          <p:cNvSpPr>
            <a:spLocks noChangeShapeType="1"/>
          </p:cNvSpPr>
          <p:nvPr/>
        </p:nvSpPr>
        <p:spPr bwMode="auto">
          <a:xfrm flipV="1">
            <a:off x="2874963" y="2887663"/>
            <a:ext cx="1588" cy="106363"/>
          </a:xfrm>
          <a:prstGeom prst="line">
            <a:avLst/>
          </a:prstGeom>
          <a:noFill/>
          <a:ln w="14288">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09" name="Line 41"/>
          <p:cNvSpPr>
            <a:spLocks noChangeShapeType="1"/>
          </p:cNvSpPr>
          <p:nvPr/>
        </p:nvSpPr>
        <p:spPr bwMode="auto">
          <a:xfrm flipV="1">
            <a:off x="2874963" y="2711450"/>
            <a:ext cx="1588" cy="107950"/>
          </a:xfrm>
          <a:prstGeom prst="line">
            <a:avLst/>
          </a:prstGeom>
          <a:noFill/>
          <a:ln w="14351">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0" name="Line 42"/>
          <p:cNvSpPr>
            <a:spLocks noChangeShapeType="1"/>
          </p:cNvSpPr>
          <p:nvPr/>
        </p:nvSpPr>
        <p:spPr bwMode="auto">
          <a:xfrm flipV="1">
            <a:off x="2874963" y="2632075"/>
            <a:ext cx="1588" cy="12700"/>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1" name="Freeform 43"/>
          <p:cNvSpPr>
            <a:spLocks noChangeArrowheads="1"/>
          </p:cNvSpPr>
          <p:nvPr/>
        </p:nvSpPr>
        <p:spPr bwMode="auto">
          <a:xfrm>
            <a:off x="2808288" y="2541588"/>
            <a:ext cx="133350" cy="120650"/>
          </a:xfrm>
          <a:custGeom>
            <a:avLst/>
            <a:gdLst>
              <a:gd name="T0" fmla="*/ 2147483646 w 84"/>
              <a:gd name="T1" fmla="*/ 0 h 76"/>
              <a:gd name="T2" fmla="*/ 2147483646 w 84"/>
              <a:gd name="T3" fmla="*/ 2147483646 h 76"/>
              <a:gd name="T4" fmla="*/ 2147483646 w 84"/>
              <a:gd name="T5" fmla="*/ 2147483646 h 76"/>
              <a:gd name="T6" fmla="*/ 2147483646 w 84"/>
              <a:gd name="T7" fmla="*/ 2147483646 h 76"/>
              <a:gd name="T8" fmla="*/ 2147483646 w 84"/>
              <a:gd name="T9" fmla="*/ 2147483646 h 76"/>
              <a:gd name="T10" fmla="*/ 0 w 84"/>
              <a:gd name="T11" fmla="*/ 2147483646 h 76"/>
              <a:gd name="T12" fmla="*/ 2147483646 w 84"/>
              <a:gd name="T13" fmla="*/ 0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42" y="0"/>
                </a:moveTo>
                <a:lnTo>
                  <a:pt x="84" y="76"/>
                </a:lnTo>
                <a:lnTo>
                  <a:pt x="64" y="69"/>
                </a:lnTo>
                <a:lnTo>
                  <a:pt x="42" y="66"/>
                </a:lnTo>
                <a:lnTo>
                  <a:pt x="20" y="69"/>
                </a:lnTo>
                <a:lnTo>
                  <a:pt x="0" y="76"/>
                </a:lnTo>
                <a:lnTo>
                  <a:pt x="42" y="0"/>
                </a:lnTo>
                <a:close/>
              </a:path>
            </a:pathLst>
          </a:custGeom>
          <a:solidFill>
            <a:srgbClr val="FF0000"/>
          </a:solidFill>
          <a:ln w="9525">
            <a:solidFill>
              <a:srgbClr val="00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2" name="Freeform 44"/>
          <p:cNvSpPr>
            <a:spLocks noChangeArrowheads="1"/>
          </p:cNvSpPr>
          <p:nvPr/>
        </p:nvSpPr>
        <p:spPr bwMode="auto">
          <a:xfrm>
            <a:off x="2524125" y="2698750"/>
            <a:ext cx="263525" cy="239713"/>
          </a:xfrm>
          <a:custGeom>
            <a:avLst/>
            <a:gdLst>
              <a:gd name="T0" fmla="*/ 0 w 166"/>
              <a:gd name="T1" fmla="*/ 2147483646 h 151"/>
              <a:gd name="T2" fmla="*/ 2147483646 w 166"/>
              <a:gd name="T3" fmla="*/ 2147483646 h 151"/>
              <a:gd name="T4" fmla="*/ 2147483646 w 166"/>
              <a:gd name="T5" fmla="*/ 2147483646 h 151"/>
              <a:gd name="T6" fmla="*/ 2147483646 w 166"/>
              <a:gd name="T7" fmla="*/ 2147483646 h 151"/>
              <a:gd name="T8" fmla="*/ 2147483646 w 166"/>
              <a:gd name="T9" fmla="*/ 2147483646 h 151"/>
              <a:gd name="T10" fmla="*/ 2147483646 w 166"/>
              <a:gd name="T11" fmla="*/ 2147483646 h 151"/>
              <a:gd name="T12" fmla="*/ 2147483646 w 166"/>
              <a:gd name="T13" fmla="*/ 0 h 151"/>
              <a:gd name="T14" fmla="*/ 2147483646 w 166"/>
              <a:gd name="T15" fmla="*/ 2147483646 h 151"/>
              <a:gd name="T16" fmla="*/ 2147483646 w 166"/>
              <a:gd name="T17" fmla="*/ 2147483646 h 151"/>
              <a:gd name="T18" fmla="*/ 2147483646 w 166"/>
              <a:gd name="T19" fmla="*/ 2147483646 h 151"/>
              <a:gd name="T20" fmla="*/ 2147483646 w 166"/>
              <a:gd name="T21" fmla="*/ 2147483646 h 151"/>
              <a:gd name="T22" fmla="*/ 2147483646 w 166"/>
              <a:gd name="T23" fmla="*/ 2147483646 h 151"/>
              <a:gd name="T24" fmla="*/ 2147483646 w 166"/>
              <a:gd name="T25" fmla="*/ 2147483646 h 151"/>
              <a:gd name="T26" fmla="*/ 2147483646 w 166"/>
              <a:gd name="T27" fmla="*/ 2147483646 h 151"/>
              <a:gd name="T28" fmla="*/ 2147483646 w 166"/>
              <a:gd name="T29" fmla="*/ 2147483646 h 151"/>
              <a:gd name="T30" fmla="*/ 2147483646 w 166"/>
              <a:gd name="T31" fmla="*/ 2147483646 h 151"/>
              <a:gd name="T32" fmla="*/ 2147483646 w 166"/>
              <a:gd name="T33" fmla="*/ 2147483646 h 151"/>
              <a:gd name="T34" fmla="*/ 2147483646 w 166"/>
              <a:gd name="T35" fmla="*/ 2147483646 h 151"/>
              <a:gd name="T36" fmla="*/ 2147483646 w 166"/>
              <a:gd name="T37" fmla="*/ 2147483646 h 151"/>
              <a:gd name="T38" fmla="*/ 2147483646 w 166"/>
              <a:gd name="T39" fmla="*/ 2147483646 h 151"/>
              <a:gd name="T40" fmla="*/ 2147483646 w 166"/>
              <a:gd name="T41" fmla="*/ 2147483646 h 151"/>
              <a:gd name="T42" fmla="*/ 2147483646 w 166"/>
              <a:gd name="T43" fmla="*/ 2147483646 h 151"/>
              <a:gd name="T44" fmla="*/ 2147483646 w 166"/>
              <a:gd name="T45" fmla="*/ 2147483646 h 151"/>
              <a:gd name="T46" fmla="*/ 2147483646 w 166"/>
              <a:gd name="T47" fmla="*/ 2147483646 h 151"/>
              <a:gd name="T48" fmla="*/ 0 w 166"/>
              <a:gd name="T49" fmla="*/ 2147483646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151">
                <a:moveTo>
                  <a:pt x="0" y="76"/>
                </a:moveTo>
                <a:lnTo>
                  <a:pt x="3" y="56"/>
                </a:lnTo>
                <a:lnTo>
                  <a:pt x="11" y="38"/>
                </a:lnTo>
                <a:lnTo>
                  <a:pt x="25" y="23"/>
                </a:lnTo>
                <a:lnTo>
                  <a:pt x="42" y="11"/>
                </a:lnTo>
                <a:lnTo>
                  <a:pt x="62" y="3"/>
                </a:lnTo>
                <a:lnTo>
                  <a:pt x="82" y="0"/>
                </a:lnTo>
                <a:lnTo>
                  <a:pt x="104" y="3"/>
                </a:lnTo>
                <a:lnTo>
                  <a:pt x="124" y="11"/>
                </a:lnTo>
                <a:lnTo>
                  <a:pt x="142" y="23"/>
                </a:lnTo>
                <a:lnTo>
                  <a:pt x="154" y="38"/>
                </a:lnTo>
                <a:lnTo>
                  <a:pt x="163" y="56"/>
                </a:lnTo>
                <a:lnTo>
                  <a:pt x="166" y="76"/>
                </a:lnTo>
                <a:lnTo>
                  <a:pt x="163" y="95"/>
                </a:lnTo>
                <a:lnTo>
                  <a:pt x="154" y="113"/>
                </a:lnTo>
                <a:lnTo>
                  <a:pt x="142" y="128"/>
                </a:lnTo>
                <a:lnTo>
                  <a:pt x="124" y="141"/>
                </a:lnTo>
                <a:lnTo>
                  <a:pt x="104" y="148"/>
                </a:lnTo>
                <a:lnTo>
                  <a:pt x="82" y="151"/>
                </a:lnTo>
                <a:lnTo>
                  <a:pt x="62" y="148"/>
                </a:lnTo>
                <a:lnTo>
                  <a:pt x="42" y="141"/>
                </a:lnTo>
                <a:lnTo>
                  <a:pt x="25" y="128"/>
                </a:lnTo>
                <a:lnTo>
                  <a:pt x="11" y="113"/>
                </a:lnTo>
                <a:lnTo>
                  <a:pt x="3" y="95"/>
                </a:lnTo>
                <a:lnTo>
                  <a:pt x="0" y="76"/>
                </a:lnTo>
                <a:close/>
              </a:path>
            </a:pathLst>
          </a:custGeom>
          <a:solidFill>
            <a:srgbClr val="FF0000"/>
          </a:solidFill>
          <a:ln w="14288">
            <a:solidFill>
              <a:srgbClr val="FF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3" name="Rectangle 45"/>
          <p:cNvSpPr>
            <a:spLocks noChangeArrowheads="1"/>
          </p:cNvSpPr>
          <p:nvPr/>
        </p:nvSpPr>
        <p:spPr bwMode="auto">
          <a:xfrm>
            <a:off x="2608263" y="2725738"/>
            <a:ext cx="841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1300" b="0" i="0" u="none" strike="noStrike" kern="1200" cap="none" spc="0" normalizeH="0" baseline="0" noProof="0" dirty="0">
                <a:ln>
                  <a:noFill/>
                </a:ln>
                <a:solidFill>
                  <a:schemeClr val="bg1"/>
                </a:solidFill>
                <a:effectLst/>
                <a:uLnTx/>
                <a:uFillTx/>
                <a:latin typeface="+mn-lt"/>
                <a:ea typeface="+mn-ea"/>
                <a:cs typeface="+mn-ea"/>
                <a:sym typeface="+mn-lt"/>
              </a:rPr>
              <a:t>1</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35214" name="Freeform 46"/>
          <p:cNvSpPr>
            <a:spLocks noChangeArrowheads="1"/>
          </p:cNvSpPr>
          <p:nvPr/>
        </p:nvSpPr>
        <p:spPr bwMode="auto">
          <a:xfrm>
            <a:off x="3352800" y="2251075"/>
            <a:ext cx="106363" cy="41275"/>
          </a:xfrm>
          <a:custGeom>
            <a:avLst/>
            <a:gdLst>
              <a:gd name="T0" fmla="*/ 2147483646 w 43"/>
              <a:gd name="T1" fmla="*/ 0 h 19"/>
              <a:gd name="T2" fmla="*/ 2147483646 w 43"/>
              <a:gd name="T3" fmla="*/ 2147483646 h 19"/>
              <a:gd name="T4" fmla="*/ 2147483646 w 43"/>
              <a:gd name="T5" fmla="*/ 2147483646 h 19"/>
              <a:gd name="T6" fmla="*/ 2147483646 w 43"/>
              <a:gd name="T7" fmla="*/ 2147483646 h 19"/>
              <a:gd name="T8" fmla="*/ 0 w 43"/>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3" y="0"/>
                </a:moveTo>
                <a:lnTo>
                  <a:pt x="30" y="1"/>
                </a:lnTo>
                <a:lnTo>
                  <a:pt x="16" y="7"/>
                </a:lnTo>
                <a:lnTo>
                  <a:pt x="3" y="16"/>
                </a:lnTo>
                <a:lnTo>
                  <a:pt x="0" y="19"/>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5" name="Freeform 47"/>
          <p:cNvSpPr>
            <a:spLocks noChangeArrowheads="1"/>
          </p:cNvSpPr>
          <p:nvPr/>
        </p:nvSpPr>
        <p:spPr bwMode="auto">
          <a:xfrm>
            <a:off x="3246438" y="2341563"/>
            <a:ext cx="57150" cy="95250"/>
          </a:xfrm>
          <a:custGeom>
            <a:avLst/>
            <a:gdLst>
              <a:gd name="T0" fmla="*/ 2147483646 w 23"/>
              <a:gd name="T1" fmla="*/ 0 h 42"/>
              <a:gd name="T2" fmla="*/ 2147483646 w 23"/>
              <a:gd name="T3" fmla="*/ 2147483646 h 42"/>
              <a:gd name="T4" fmla="*/ 2147483646 w 23"/>
              <a:gd name="T5" fmla="*/ 2147483646 h 42"/>
              <a:gd name="T6" fmla="*/ 0 w 23"/>
              <a:gd name="T7" fmla="*/ 2147483646 h 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42">
                <a:moveTo>
                  <a:pt x="23" y="0"/>
                </a:moveTo>
                <a:lnTo>
                  <a:pt x="21" y="3"/>
                </a:lnTo>
                <a:lnTo>
                  <a:pt x="10" y="22"/>
                </a:lnTo>
                <a:lnTo>
                  <a:pt x="0" y="42"/>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6" name="Freeform 48"/>
          <p:cNvSpPr>
            <a:spLocks noChangeArrowheads="1"/>
          </p:cNvSpPr>
          <p:nvPr/>
        </p:nvSpPr>
        <p:spPr bwMode="auto">
          <a:xfrm>
            <a:off x="3186113" y="2498725"/>
            <a:ext cx="33338" cy="103188"/>
          </a:xfrm>
          <a:custGeom>
            <a:avLst/>
            <a:gdLst>
              <a:gd name="T0" fmla="*/ 2147483646 w 13"/>
              <a:gd name="T1" fmla="*/ 0 h 46"/>
              <a:gd name="T2" fmla="*/ 2147483646 w 13"/>
              <a:gd name="T3" fmla="*/ 2147483646 h 46"/>
              <a:gd name="T4" fmla="*/ 0 w 13"/>
              <a:gd name="T5" fmla="*/ 2147483646 h 46"/>
              <a:gd name="T6" fmla="*/ 0 60000 65536"/>
              <a:gd name="T7" fmla="*/ 0 60000 65536"/>
              <a:gd name="T8" fmla="*/ 0 60000 65536"/>
            </a:gdLst>
            <a:ahLst/>
            <a:cxnLst>
              <a:cxn ang="T6">
                <a:pos x="T0" y="T1"/>
              </a:cxn>
              <a:cxn ang="T7">
                <a:pos x="T2" y="T3"/>
              </a:cxn>
              <a:cxn ang="T8">
                <a:pos x="T4" y="T5"/>
              </a:cxn>
            </a:cxnLst>
            <a:rect l="0" t="0" r="r" b="b"/>
            <a:pathLst>
              <a:path w="13" h="46">
                <a:moveTo>
                  <a:pt x="13" y="0"/>
                </a:moveTo>
                <a:lnTo>
                  <a:pt x="5" y="25"/>
                </a:lnTo>
                <a:lnTo>
                  <a:pt x="0" y="46"/>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7" name="Freeform 49"/>
          <p:cNvSpPr>
            <a:spLocks noChangeArrowheads="1"/>
          </p:cNvSpPr>
          <p:nvPr/>
        </p:nvSpPr>
        <p:spPr bwMode="auto">
          <a:xfrm>
            <a:off x="3152775" y="2667000"/>
            <a:ext cx="15875" cy="107950"/>
          </a:xfrm>
          <a:custGeom>
            <a:avLst/>
            <a:gdLst>
              <a:gd name="T0" fmla="*/ 2147483646 w 7"/>
              <a:gd name="T1" fmla="*/ 0 h 48"/>
              <a:gd name="T2" fmla="*/ 2147483646 w 7"/>
              <a:gd name="T3" fmla="*/ 2147483646 h 48"/>
              <a:gd name="T4" fmla="*/ 2147483646 w 7"/>
              <a:gd name="T5" fmla="*/ 2147483646 h 48"/>
              <a:gd name="T6" fmla="*/ 0 w 7"/>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48">
                <a:moveTo>
                  <a:pt x="7" y="0"/>
                </a:moveTo>
                <a:lnTo>
                  <a:pt x="5" y="10"/>
                </a:lnTo>
                <a:lnTo>
                  <a:pt x="1" y="42"/>
                </a:lnTo>
                <a:lnTo>
                  <a:pt x="0" y="48"/>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8" name="Freeform 50"/>
          <p:cNvSpPr>
            <a:spLocks noChangeArrowheads="1"/>
          </p:cNvSpPr>
          <p:nvPr/>
        </p:nvSpPr>
        <p:spPr bwMode="auto">
          <a:xfrm>
            <a:off x="3140075" y="2841625"/>
            <a:ext cx="4763" cy="107950"/>
          </a:xfrm>
          <a:custGeom>
            <a:avLst/>
            <a:gdLst>
              <a:gd name="T0" fmla="*/ 2147483646 w 2"/>
              <a:gd name="T1" fmla="*/ 0 h 48"/>
              <a:gd name="T2" fmla="*/ 0 w 2"/>
              <a:gd name="T3" fmla="*/ 2147483646 h 48"/>
              <a:gd name="T4" fmla="*/ 0 w 2"/>
              <a:gd name="T5" fmla="*/ 2147483646 h 48"/>
              <a:gd name="T6" fmla="*/ 0 60000 65536"/>
              <a:gd name="T7" fmla="*/ 0 60000 65536"/>
              <a:gd name="T8" fmla="*/ 0 60000 65536"/>
            </a:gdLst>
            <a:ahLst/>
            <a:cxnLst>
              <a:cxn ang="T6">
                <a:pos x="T0" y="T1"/>
              </a:cxn>
              <a:cxn ang="T7">
                <a:pos x="T2" y="T3"/>
              </a:cxn>
              <a:cxn ang="T8">
                <a:pos x="T4" y="T5"/>
              </a:cxn>
            </a:cxnLst>
            <a:rect l="0" t="0" r="r" b="b"/>
            <a:pathLst>
              <a:path w="2" h="48">
                <a:moveTo>
                  <a:pt x="2" y="0"/>
                </a:moveTo>
                <a:lnTo>
                  <a:pt x="0" y="32"/>
                </a:lnTo>
                <a:lnTo>
                  <a:pt x="0" y="48"/>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19" name="Freeform 51"/>
          <p:cNvSpPr>
            <a:spLocks noChangeArrowheads="1"/>
          </p:cNvSpPr>
          <p:nvPr/>
        </p:nvSpPr>
        <p:spPr bwMode="auto">
          <a:xfrm>
            <a:off x="3136900" y="2989263"/>
            <a:ext cx="7938" cy="107950"/>
          </a:xfrm>
          <a:custGeom>
            <a:avLst/>
            <a:gdLst>
              <a:gd name="T0" fmla="*/ 0 w 3"/>
              <a:gd name="T1" fmla="*/ 0 h 48"/>
              <a:gd name="T2" fmla="*/ 2147483646 w 3"/>
              <a:gd name="T3" fmla="*/ 2147483646 h 48"/>
              <a:gd name="T4" fmla="*/ 2147483646 w 3"/>
              <a:gd name="T5" fmla="*/ 2147483646 h 48"/>
              <a:gd name="T6" fmla="*/ 0 60000 65536"/>
              <a:gd name="T7" fmla="*/ 0 60000 65536"/>
              <a:gd name="T8" fmla="*/ 0 60000 65536"/>
            </a:gdLst>
            <a:ahLst/>
            <a:cxnLst>
              <a:cxn ang="T6">
                <a:pos x="T0" y="T1"/>
              </a:cxn>
              <a:cxn ang="T7">
                <a:pos x="T2" y="T3"/>
              </a:cxn>
              <a:cxn ang="T8">
                <a:pos x="T4" y="T5"/>
              </a:cxn>
            </a:cxnLst>
            <a:rect l="0" t="0" r="r" b="b"/>
            <a:pathLst>
              <a:path w="3" h="48">
                <a:moveTo>
                  <a:pt x="0" y="0"/>
                </a:moveTo>
                <a:lnTo>
                  <a:pt x="1" y="32"/>
                </a:lnTo>
                <a:lnTo>
                  <a:pt x="3" y="48"/>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0" name="Freeform 52"/>
          <p:cNvSpPr>
            <a:spLocks noChangeArrowheads="1"/>
          </p:cNvSpPr>
          <p:nvPr/>
        </p:nvSpPr>
        <p:spPr bwMode="auto">
          <a:xfrm>
            <a:off x="3154363" y="3165475"/>
            <a:ext cx="26988" cy="104775"/>
          </a:xfrm>
          <a:custGeom>
            <a:avLst/>
            <a:gdLst>
              <a:gd name="T0" fmla="*/ 0 w 11"/>
              <a:gd name="T1" fmla="*/ 0 h 47"/>
              <a:gd name="T2" fmla="*/ 2147483646 w 11"/>
              <a:gd name="T3" fmla="*/ 2147483646 h 47"/>
              <a:gd name="T4" fmla="*/ 2147483646 w 11"/>
              <a:gd name="T5" fmla="*/ 2147483646 h 47"/>
              <a:gd name="T6" fmla="*/ 2147483646 w 11"/>
              <a:gd name="T7" fmla="*/ 2147483646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47">
                <a:moveTo>
                  <a:pt x="0" y="0"/>
                </a:moveTo>
                <a:lnTo>
                  <a:pt x="2" y="14"/>
                </a:lnTo>
                <a:lnTo>
                  <a:pt x="10" y="43"/>
                </a:lnTo>
                <a:lnTo>
                  <a:pt x="11" y="47"/>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1" name="Freeform 53"/>
          <p:cNvSpPr>
            <a:spLocks noChangeArrowheads="1"/>
          </p:cNvSpPr>
          <p:nvPr/>
        </p:nvSpPr>
        <p:spPr bwMode="auto">
          <a:xfrm>
            <a:off x="3206750" y="3332163"/>
            <a:ext cx="53975" cy="95250"/>
          </a:xfrm>
          <a:custGeom>
            <a:avLst/>
            <a:gdLst>
              <a:gd name="T0" fmla="*/ 0 w 22"/>
              <a:gd name="T1" fmla="*/ 0 h 42"/>
              <a:gd name="T2" fmla="*/ 2147483646 w 22"/>
              <a:gd name="T3" fmla="*/ 2147483646 h 42"/>
              <a:gd name="T4" fmla="*/ 2147483646 w 22"/>
              <a:gd name="T5" fmla="*/ 2147483646 h 42"/>
              <a:gd name="T6" fmla="*/ 2147483646 w 22"/>
              <a:gd name="T7" fmla="*/ 2147483646 h 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42">
                <a:moveTo>
                  <a:pt x="0" y="0"/>
                </a:moveTo>
                <a:lnTo>
                  <a:pt x="8" y="18"/>
                </a:lnTo>
                <a:lnTo>
                  <a:pt x="20" y="39"/>
                </a:lnTo>
                <a:lnTo>
                  <a:pt x="22" y="42"/>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2" name="Freeform 54"/>
          <p:cNvSpPr>
            <a:spLocks noChangeArrowheads="1"/>
          </p:cNvSpPr>
          <p:nvPr/>
        </p:nvSpPr>
        <p:spPr bwMode="auto">
          <a:xfrm>
            <a:off x="3305175" y="3478213"/>
            <a:ext cx="57150" cy="42863"/>
          </a:xfrm>
          <a:custGeom>
            <a:avLst/>
            <a:gdLst>
              <a:gd name="T0" fmla="*/ 0 w 23"/>
              <a:gd name="T1" fmla="*/ 0 h 19"/>
              <a:gd name="T2" fmla="*/ 2147483646 w 23"/>
              <a:gd name="T3" fmla="*/ 2147483646 h 19"/>
              <a:gd name="T4" fmla="*/ 2147483646 w 23"/>
              <a:gd name="T5" fmla="*/ 2147483646 h 19"/>
              <a:gd name="T6" fmla="*/ 0 60000 65536"/>
              <a:gd name="T7" fmla="*/ 0 60000 65536"/>
              <a:gd name="T8" fmla="*/ 0 60000 65536"/>
            </a:gdLst>
            <a:ahLst/>
            <a:cxnLst>
              <a:cxn ang="T6">
                <a:pos x="T0" y="T1"/>
              </a:cxn>
              <a:cxn ang="T7">
                <a:pos x="T2" y="T3"/>
              </a:cxn>
              <a:cxn ang="T8">
                <a:pos x="T4" y="T5"/>
              </a:cxn>
            </a:cxnLst>
            <a:rect l="0" t="0" r="r" b="b"/>
            <a:pathLst>
              <a:path w="23" h="19">
                <a:moveTo>
                  <a:pt x="0" y="0"/>
                </a:moveTo>
                <a:lnTo>
                  <a:pt x="8" y="8"/>
                </a:lnTo>
                <a:lnTo>
                  <a:pt x="23" y="19"/>
                </a:lnTo>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3" name="Freeform 55"/>
          <p:cNvSpPr>
            <a:spLocks noChangeArrowheads="1"/>
          </p:cNvSpPr>
          <p:nvPr/>
        </p:nvSpPr>
        <p:spPr bwMode="auto">
          <a:xfrm>
            <a:off x="3313113" y="3454400"/>
            <a:ext cx="146050" cy="115888"/>
          </a:xfrm>
          <a:custGeom>
            <a:avLst/>
            <a:gdLst>
              <a:gd name="T0" fmla="*/ 2147483646 w 92"/>
              <a:gd name="T1" fmla="*/ 2147483646 h 73"/>
              <a:gd name="T2" fmla="*/ 0 w 92"/>
              <a:gd name="T3" fmla="*/ 2147483646 h 73"/>
              <a:gd name="T4" fmla="*/ 2147483646 w 92"/>
              <a:gd name="T5" fmla="*/ 2147483646 h 73"/>
              <a:gd name="T6" fmla="*/ 2147483646 w 92"/>
              <a:gd name="T7" fmla="*/ 2147483646 h 73"/>
              <a:gd name="T8" fmla="*/ 2147483646 w 92"/>
              <a:gd name="T9" fmla="*/ 2147483646 h 73"/>
              <a:gd name="T10" fmla="*/ 2147483646 w 92"/>
              <a:gd name="T11" fmla="*/ 0 h 73"/>
              <a:gd name="T12" fmla="*/ 2147483646 w 92"/>
              <a:gd name="T13" fmla="*/ 2147483646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73">
                <a:moveTo>
                  <a:pt x="92" y="58"/>
                </a:moveTo>
                <a:lnTo>
                  <a:pt x="0" y="73"/>
                </a:lnTo>
                <a:lnTo>
                  <a:pt x="12" y="58"/>
                </a:lnTo>
                <a:lnTo>
                  <a:pt x="22" y="39"/>
                </a:lnTo>
                <a:lnTo>
                  <a:pt x="25" y="19"/>
                </a:lnTo>
                <a:lnTo>
                  <a:pt x="23" y="0"/>
                </a:lnTo>
                <a:lnTo>
                  <a:pt x="92" y="58"/>
                </a:lnTo>
                <a:close/>
              </a:path>
            </a:pathLst>
          </a:custGeom>
          <a:solidFill>
            <a:schemeClr val="accent1">
              <a:lumMod val="60000"/>
              <a:lumOff val="40000"/>
            </a:schemeClr>
          </a:solidFill>
          <a:ln>
            <a:solidFill>
              <a:schemeClr val="accent1">
                <a:lumMod val="75000"/>
              </a:schemeClr>
            </a:solid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4" name="Freeform 56"/>
          <p:cNvSpPr>
            <a:spLocks noChangeArrowheads="1"/>
          </p:cNvSpPr>
          <p:nvPr/>
        </p:nvSpPr>
        <p:spPr bwMode="auto">
          <a:xfrm>
            <a:off x="3255963" y="2673350"/>
            <a:ext cx="261938" cy="238125"/>
          </a:xfrm>
          <a:custGeom>
            <a:avLst/>
            <a:gdLst>
              <a:gd name="T0" fmla="*/ 0 w 165"/>
              <a:gd name="T1" fmla="*/ 2147483646 h 150"/>
              <a:gd name="T2" fmla="*/ 2147483646 w 165"/>
              <a:gd name="T3" fmla="*/ 2147483646 h 150"/>
              <a:gd name="T4" fmla="*/ 2147483646 w 165"/>
              <a:gd name="T5" fmla="*/ 2147483646 h 150"/>
              <a:gd name="T6" fmla="*/ 2147483646 w 165"/>
              <a:gd name="T7" fmla="*/ 2147483646 h 150"/>
              <a:gd name="T8" fmla="*/ 2147483646 w 165"/>
              <a:gd name="T9" fmla="*/ 2147483646 h 150"/>
              <a:gd name="T10" fmla="*/ 2147483646 w 165"/>
              <a:gd name="T11" fmla="*/ 2147483646 h 150"/>
              <a:gd name="T12" fmla="*/ 2147483646 w 165"/>
              <a:gd name="T13" fmla="*/ 0 h 150"/>
              <a:gd name="T14" fmla="*/ 2147483646 w 165"/>
              <a:gd name="T15" fmla="*/ 2147483646 h 150"/>
              <a:gd name="T16" fmla="*/ 2147483646 w 165"/>
              <a:gd name="T17" fmla="*/ 2147483646 h 150"/>
              <a:gd name="T18" fmla="*/ 2147483646 w 165"/>
              <a:gd name="T19" fmla="*/ 2147483646 h 150"/>
              <a:gd name="T20" fmla="*/ 2147483646 w 165"/>
              <a:gd name="T21" fmla="*/ 2147483646 h 150"/>
              <a:gd name="T22" fmla="*/ 2147483646 w 165"/>
              <a:gd name="T23" fmla="*/ 2147483646 h 150"/>
              <a:gd name="T24" fmla="*/ 2147483646 w 165"/>
              <a:gd name="T25" fmla="*/ 2147483646 h 150"/>
              <a:gd name="T26" fmla="*/ 2147483646 w 165"/>
              <a:gd name="T27" fmla="*/ 2147483646 h 150"/>
              <a:gd name="T28" fmla="*/ 2147483646 w 165"/>
              <a:gd name="T29" fmla="*/ 2147483646 h 150"/>
              <a:gd name="T30" fmla="*/ 2147483646 w 165"/>
              <a:gd name="T31" fmla="*/ 2147483646 h 150"/>
              <a:gd name="T32" fmla="*/ 2147483646 w 165"/>
              <a:gd name="T33" fmla="*/ 2147483646 h 150"/>
              <a:gd name="T34" fmla="*/ 2147483646 w 165"/>
              <a:gd name="T35" fmla="*/ 2147483646 h 150"/>
              <a:gd name="T36" fmla="*/ 2147483646 w 165"/>
              <a:gd name="T37" fmla="*/ 2147483646 h 150"/>
              <a:gd name="T38" fmla="*/ 2147483646 w 165"/>
              <a:gd name="T39" fmla="*/ 2147483646 h 150"/>
              <a:gd name="T40" fmla="*/ 2147483646 w 165"/>
              <a:gd name="T41" fmla="*/ 2147483646 h 150"/>
              <a:gd name="T42" fmla="*/ 2147483646 w 165"/>
              <a:gd name="T43" fmla="*/ 2147483646 h 150"/>
              <a:gd name="T44" fmla="*/ 2147483646 w 165"/>
              <a:gd name="T45" fmla="*/ 2147483646 h 150"/>
              <a:gd name="T46" fmla="*/ 2147483646 w 165"/>
              <a:gd name="T47" fmla="*/ 2147483646 h 150"/>
              <a:gd name="T48" fmla="*/ 0 w 165"/>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150">
                <a:moveTo>
                  <a:pt x="0" y="75"/>
                </a:moveTo>
                <a:lnTo>
                  <a:pt x="2" y="55"/>
                </a:lnTo>
                <a:lnTo>
                  <a:pt x="11" y="37"/>
                </a:lnTo>
                <a:lnTo>
                  <a:pt x="23" y="22"/>
                </a:lnTo>
                <a:lnTo>
                  <a:pt x="41" y="10"/>
                </a:lnTo>
                <a:lnTo>
                  <a:pt x="61" y="2"/>
                </a:lnTo>
                <a:lnTo>
                  <a:pt x="83" y="0"/>
                </a:lnTo>
                <a:lnTo>
                  <a:pt x="103" y="2"/>
                </a:lnTo>
                <a:lnTo>
                  <a:pt x="123" y="10"/>
                </a:lnTo>
                <a:lnTo>
                  <a:pt x="140" y="22"/>
                </a:lnTo>
                <a:lnTo>
                  <a:pt x="154" y="37"/>
                </a:lnTo>
                <a:lnTo>
                  <a:pt x="162" y="55"/>
                </a:lnTo>
                <a:lnTo>
                  <a:pt x="165" y="75"/>
                </a:lnTo>
                <a:lnTo>
                  <a:pt x="162" y="95"/>
                </a:lnTo>
                <a:lnTo>
                  <a:pt x="154" y="112"/>
                </a:lnTo>
                <a:lnTo>
                  <a:pt x="140" y="127"/>
                </a:lnTo>
                <a:lnTo>
                  <a:pt x="123" y="140"/>
                </a:lnTo>
                <a:lnTo>
                  <a:pt x="103" y="147"/>
                </a:lnTo>
                <a:lnTo>
                  <a:pt x="83" y="150"/>
                </a:lnTo>
                <a:lnTo>
                  <a:pt x="61" y="147"/>
                </a:lnTo>
                <a:lnTo>
                  <a:pt x="41" y="140"/>
                </a:lnTo>
                <a:lnTo>
                  <a:pt x="23" y="127"/>
                </a:lnTo>
                <a:lnTo>
                  <a:pt x="11" y="112"/>
                </a:lnTo>
                <a:lnTo>
                  <a:pt x="2" y="95"/>
                </a:lnTo>
                <a:lnTo>
                  <a:pt x="0" y="75"/>
                </a:lnTo>
                <a:close/>
              </a:path>
            </a:pathLst>
          </a:custGeom>
          <a:solidFill>
            <a:schemeClr val="accent1">
              <a:lumMod val="60000"/>
              <a:lumOff val="40000"/>
            </a:schemeClr>
          </a:solidFill>
          <a:ln w="14288">
            <a:solidFill>
              <a:schemeClr val="accent1">
                <a:lumMod val="75000"/>
              </a:schemeClr>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5" name="Rectangle 57"/>
          <p:cNvSpPr>
            <a:spLocks noChangeArrowheads="1"/>
          </p:cNvSpPr>
          <p:nvPr/>
        </p:nvSpPr>
        <p:spPr bwMode="auto">
          <a:xfrm>
            <a:off x="3336925" y="2698750"/>
            <a:ext cx="841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1300" b="0" i="0" u="none" strike="noStrike" kern="1200" cap="none" spc="0" normalizeH="0" baseline="0" noProof="0" dirty="0">
                <a:ln>
                  <a:noFill/>
                </a:ln>
                <a:solidFill>
                  <a:schemeClr val="bg1"/>
                </a:solidFill>
                <a:effectLst/>
                <a:uLnTx/>
                <a:uFillTx/>
                <a:latin typeface="+mn-lt"/>
                <a:ea typeface="+mn-ea"/>
                <a:cs typeface="+mn-ea"/>
                <a:sym typeface="+mn-lt"/>
              </a:rPr>
              <a:t>2</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35226" name="Line 58"/>
          <p:cNvSpPr>
            <a:spLocks noChangeShapeType="1"/>
          </p:cNvSpPr>
          <p:nvPr/>
        </p:nvSpPr>
        <p:spPr bwMode="auto">
          <a:xfrm>
            <a:off x="5505450" y="1614488"/>
            <a:ext cx="1588" cy="30480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7" name="Freeform 59"/>
          <p:cNvSpPr>
            <a:spLocks noChangeArrowheads="1"/>
          </p:cNvSpPr>
          <p:nvPr/>
        </p:nvSpPr>
        <p:spPr bwMode="auto">
          <a:xfrm>
            <a:off x="5438775" y="1889125"/>
            <a:ext cx="133350" cy="122238"/>
          </a:xfrm>
          <a:custGeom>
            <a:avLst/>
            <a:gdLst>
              <a:gd name="T0" fmla="*/ 2147483646 w 84"/>
              <a:gd name="T1" fmla="*/ 2147483646 h 77"/>
              <a:gd name="T2" fmla="*/ 0 w 84"/>
              <a:gd name="T3" fmla="*/ 0 h 77"/>
              <a:gd name="T4" fmla="*/ 2147483646 w 84"/>
              <a:gd name="T5" fmla="*/ 2147483646 h 77"/>
              <a:gd name="T6" fmla="*/ 2147483646 w 84"/>
              <a:gd name="T7" fmla="*/ 2147483646 h 77"/>
              <a:gd name="T8" fmla="*/ 2147483646 w 84"/>
              <a:gd name="T9" fmla="*/ 2147483646 h 77"/>
              <a:gd name="T10" fmla="*/ 2147483646 w 84"/>
              <a:gd name="T11" fmla="*/ 0 h 77"/>
              <a:gd name="T12" fmla="*/ 2147483646 w 84"/>
              <a:gd name="T13" fmla="*/ 2147483646 h 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7">
                <a:moveTo>
                  <a:pt x="42" y="77"/>
                </a:moveTo>
                <a:lnTo>
                  <a:pt x="0" y="0"/>
                </a:lnTo>
                <a:lnTo>
                  <a:pt x="20" y="7"/>
                </a:lnTo>
                <a:lnTo>
                  <a:pt x="42" y="10"/>
                </a:lnTo>
                <a:lnTo>
                  <a:pt x="64" y="7"/>
                </a:lnTo>
                <a:lnTo>
                  <a:pt x="84" y="0"/>
                </a:lnTo>
                <a:lnTo>
                  <a:pt x="42" y="7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8" name="Rectangle 60"/>
          <p:cNvSpPr>
            <a:spLocks noChangeArrowheads="1"/>
          </p:cNvSpPr>
          <p:nvPr/>
        </p:nvSpPr>
        <p:spPr bwMode="auto">
          <a:xfrm>
            <a:off x="5119688" y="1506538"/>
            <a:ext cx="1730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p</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29" name="Line 61"/>
          <p:cNvSpPr>
            <a:spLocks noChangeShapeType="1"/>
          </p:cNvSpPr>
          <p:nvPr/>
        </p:nvSpPr>
        <p:spPr bwMode="auto">
          <a:xfrm>
            <a:off x="5314950" y="3732213"/>
            <a:ext cx="89058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30" name="Freeform 62"/>
          <p:cNvSpPr>
            <a:spLocks noChangeArrowheads="1"/>
          </p:cNvSpPr>
          <p:nvPr/>
        </p:nvSpPr>
        <p:spPr bwMode="auto">
          <a:xfrm>
            <a:off x="5213350" y="3671888"/>
            <a:ext cx="133350" cy="120650"/>
          </a:xfrm>
          <a:custGeom>
            <a:avLst/>
            <a:gdLst>
              <a:gd name="T0" fmla="*/ 0 w 84"/>
              <a:gd name="T1" fmla="*/ 2147483646 h 76"/>
              <a:gd name="T2" fmla="*/ 2147483646 w 84"/>
              <a:gd name="T3" fmla="*/ 0 h 76"/>
              <a:gd name="T4" fmla="*/ 2147483646 w 84"/>
              <a:gd name="T5" fmla="*/ 2147483646 h 76"/>
              <a:gd name="T6" fmla="*/ 2147483646 w 84"/>
              <a:gd name="T7" fmla="*/ 2147483646 h 76"/>
              <a:gd name="T8" fmla="*/ 2147483646 w 84"/>
              <a:gd name="T9" fmla="*/ 2147483646 h 76"/>
              <a:gd name="T10" fmla="*/ 2147483646 w 84"/>
              <a:gd name="T11" fmla="*/ 2147483646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0"/>
                </a:lnTo>
                <a:lnTo>
                  <a:pt x="76" y="18"/>
                </a:lnTo>
                <a:lnTo>
                  <a:pt x="73" y="38"/>
                </a:lnTo>
                <a:lnTo>
                  <a:pt x="76" y="58"/>
                </a:lnTo>
                <a:lnTo>
                  <a:pt x="84" y="76"/>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5231" name="Rectangle 63"/>
          <p:cNvSpPr>
            <a:spLocks noChangeArrowheads="1"/>
          </p:cNvSpPr>
          <p:nvPr/>
        </p:nvSpPr>
        <p:spPr bwMode="auto">
          <a:xfrm>
            <a:off x="5994400" y="3360738"/>
            <a:ext cx="1349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s</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 name="Rectangle 4"/>
          <p:cNvSpPr>
            <a:spLocks noChangeArrowheads="1"/>
          </p:cNvSpPr>
          <p:nvPr/>
        </p:nvSpPr>
        <p:spPr bwMode="auto">
          <a:xfrm>
            <a:off x="785813" y="18891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双向链表的插入</a:t>
            </a:r>
          </a:p>
        </p:txBody>
      </p:sp>
      <p:sp>
        <p:nvSpPr>
          <p:cNvPr id="73" name="Rectangle 2"/>
          <p:cNvSpPr>
            <a:spLocks noChangeArrowheads="1"/>
          </p:cNvSpPr>
          <p:nvPr/>
        </p:nvSpPr>
        <p:spPr bwMode="auto">
          <a:xfrm>
            <a:off x="754063" y="4673600"/>
            <a:ext cx="4343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lt"/>
                <a:ea typeface="+mn-ea"/>
                <a:cs typeface="+mn-ea"/>
                <a:sym typeface="+mn-lt"/>
              </a:rPr>
              <a:t>1. s-&gt;prior=p-&gt;prior;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66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8"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矩形 7"/>
          <p:cNvSpPr/>
          <p:nvPr/>
        </p:nvSpPr>
        <p:spPr>
          <a:xfrm>
            <a:off x="0" y="1077913"/>
            <a:ext cx="9144000" cy="3024187"/>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aphicFrame>
        <p:nvGraphicFramePr>
          <p:cNvPr id="141315" name="Object 3"/>
          <p:cNvGraphicFramePr/>
          <p:nvPr/>
        </p:nvGraphicFramePr>
        <p:xfrm>
          <a:off x="971550" y="1217613"/>
          <a:ext cx="7467600" cy="2362200"/>
        </p:xfrm>
        <a:graphic>
          <a:graphicData uri="http://schemas.openxmlformats.org/presentationml/2006/ole">
            <mc:AlternateContent xmlns:mc="http://schemas.openxmlformats.org/markup-compatibility/2006">
              <mc:Choice xmlns:v="urn:schemas-microsoft-com:vml" Requires="v">
                <p:oleObj spid="_x0000_s16407" r:id="rId3" imgW="4599305" imgH="1606550" progId="Visio.Drawing.11">
                  <p:embed/>
                </p:oleObj>
              </mc:Choice>
              <mc:Fallback>
                <p:oleObj r:id="rId3" imgW="4599305" imgH="1606550" progId="Visio.Drawing.11">
                  <p:embed/>
                  <p:pic>
                    <p:nvPicPr>
                      <p:cNvPr id="0" name="图片 3097"/>
                      <p:cNvPicPr/>
                      <p:nvPr/>
                    </p:nvPicPr>
                    <p:blipFill>
                      <a:blip r:embed="rId4"/>
                      <a:stretch>
                        <a:fillRect/>
                      </a:stretch>
                    </p:blipFill>
                    <p:spPr>
                      <a:xfrm>
                        <a:off x="971550" y="1217613"/>
                        <a:ext cx="7467600" cy="2362200"/>
                      </a:xfrm>
                      <a:prstGeom prst="rect">
                        <a:avLst/>
                      </a:prstGeom>
                      <a:solidFill>
                        <a:srgbClr val="EAEAEA"/>
                      </a:solidFill>
                      <a:ln w="38100">
                        <a:noFill/>
                        <a:miter/>
                      </a:ln>
                    </p:spPr>
                  </p:pic>
                </p:oleObj>
              </mc:Fallback>
            </mc:AlternateContent>
          </a:graphicData>
        </a:graphic>
      </p:graphicFrame>
      <p:sp>
        <p:nvSpPr>
          <p:cNvPr id="7" name="Rectangle 4"/>
          <p:cNvSpPr>
            <a:spLocks noChangeArrowheads="1"/>
          </p:cNvSpPr>
          <p:nvPr/>
        </p:nvSpPr>
        <p:spPr bwMode="auto">
          <a:xfrm>
            <a:off x="785813" y="18891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双向链表的插入</a:t>
            </a:r>
          </a:p>
        </p:txBody>
      </p:sp>
      <p:sp>
        <p:nvSpPr>
          <p:cNvPr id="50" name="Rectangle 25"/>
          <p:cNvSpPr/>
          <p:nvPr/>
        </p:nvSpPr>
        <p:spPr bwMode="auto">
          <a:xfrm>
            <a:off x="711200" y="5915025"/>
            <a:ext cx="4111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03</a:t>
            </a:r>
          </a:p>
        </p:txBody>
      </p:sp>
      <p:grpSp>
        <p:nvGrpSpPr>
          <p:cNvPr id="141318" name="组合 50"/>
          <p:cNvGrpSpPr/>
          <p:nvPr/>
        </p:nvGrpSpPr>
        <p:grpSpPr>
          <a:xfrm>
            <a:off x="0" y="6380163"/>
            <a:ext cx="9144000" cy="431800"/>
            <a:chOff x="0" y="6379908"/>
            <a:chExt cx="9144000" cy="432048"/>
          </a:xfrm>
        </p:grpSpPr>
        <p:grpSp>
          <p:nvGrpSpPr>
            <p:cNvPr id="141322" name="组合 5"/>
            <p:cNvGrpSpPr/>
            <p:nvPr/>
          </p:nvGrpSpPr>
          <p:grpSpPr>
            <a:xfrm>
              <a:off x="0" y="6379908"/>
              <a:ext cx="9144000" cy="432048"/>
              <a:chOff x="0" y="6165304"/>
              <a:chExt cx="9144000" cy="432048"/>
            </a:xfrm>
          </p:grpSpPr>
          <p:cxnSp>
            <p:nvCxnSpPr>
              <p:cNvPr id="141324"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55" name="直接连接符 54"/>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41326"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53"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
        <p:nvSpPr>
          <p:cNvPr id="26" name="Rectangle 4"/>
          <p:cNvSpPr>
            <a:spLocks noChangeArrowheads="1"/>
          </p:cNvSpPr>
          <p:nvPr/>
        </p:nvSpPr>
        <p:spPr bwMode="auto">
          <a:xfrm>
            <a:off x="781050" y="4940300"/>
            <a:ext cx="4187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9476B6"/>
                </a:solidFill>
                <a:effectLst/>
                <a:uLnTx/>
                <a:uFillTx/>
                <a:latin typeface="+mn-lt"/>
                <a:ea typeface="+mn-ea"/>
                <a:cs typeface="+mn-ea"/>
                <a:sym typeface="+mn-lt"/>
              </a:rPr>
              <a:t>2. p-&gt;prior-&gt;next=s;</a:t>
            </a:r>
          </a:p>
        </p:txBody>
      </p:sp>
      <p:sp>
        <p:nvSpPr>
          <p:cNvPr id="27" name="Rectangle 2"/>
          <p:cNvSpPr>
            <a:spLocks noChangeArrowheads="1"/>
          </p:cNvSpPr>
          <p:nvPr/>
        </p:nvSpPr>
        <p:spPr bwMode="auto">
          <a:xfrm>
            <a:off x="754063" y="4318000"/>
            <a:ext cx="4343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lt"/>
                <a:ea typeface="+mn-ea"/>
                <a:cs typeface="+mn-ea"/>
                <a:sym typeface="+mn-lt"/>
              </a:rPr>
              <a:t>1. s-&gt;prior=p-&gt;prior;</a:t>
            </a:r>
          </a:p>
        </p:txBody>
      </p:sp>
      <p:sp>
        <p:nvSpPr>
          <p:cNvPr id="28" name="Rectangle 26"/>
          <p:cNvSpPr/>
          <p:nvPr/>
        </p:nvSpPr>
        <p:spPr bwMode="auto">
          <a:xfrm>
            <a:off x="884238" y="5562600"/>
            <a:ext cx="45783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00B050"/>
                </a:solidFill>
                <a:effectLst/>
                <a:uLnTx/>
                <a:uFillTx/>
                <a:latin typeface="Gill Sans"/>
                <a:ea typeface="ヒラギノ角ゴ ProN W3"/>
                <a:cs typeface="+mn-ea"/>
                <a:sym typeface="+mn-lt"/>
              </a:rPr>
              <a:t>3. </a:t>
            </a:r>
            <a:r>
              <a:rPr kumimoji="0" lang="en-US" altLang="zh-CN" sz="3600" b="0" i="0" u="none" strike="noStrike" kern="1200" cap="none" spc="0" normalizeH="0" baseline="0" noProof="0" dirty="0">
                <a:ln>
                  <a:noFill/>
                </a:ln>
                <a:solidFill>
                  <a:srgbClr val="00B050"/>
                </a:solidFill>
                <a:effectLst/>
                <a:uLnTx/>
                <a:uFillTx/>
                <a:latin typeface="+mn-lt"/>
                <a:ea typeface="+mn-ea"/>
                <a:cs typeface="+mn-ea"/>
                <a:sym typeface="+mn-lt"/>
              </a:rPr>
              <a:t>s-&gt;next=p;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矩形 100"/>
          <p:cNvSpPr/>
          <p:nvPr/>
        </p:nvSpPr>
        <p:spPr>
          <a:xfrm>
            <a:off x="0" y="1285875"/>
            <a:ext cx="9144000" cy="302577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68675" name="Rectangle 3"/>
          <p:cNvSpPr>
            <a:spLocks noChangeArrowheads="1"/>
          </p:cNvSpPr>
          <p:nvPr/>
        </p:nvSpPr>
        <p:spPr bwMode="auto">
          <a:xfrm>
            <a:off x="785813" y="6057900"/>
            <a:ext cx="27559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ea"/>
                <a:sym typeface="+mn-lt"/>
              </a:rPr>
              <a:t>4. </a:t>
            </a:r>
            <a:r>
              <a:rPr kumimoji="0" lang="en-US" altLang="zh-CN" sz="3600" b="0" i="0" u="none" strike="noStrike" kern="1200" cap="none" spc="0" normalizeH="0" baseline="0" noProof="0" dirty="0">
                <a:ln>
                  <a:noFill/>
                </a:ln>
                <a:solidFill>
                  <a:srgbClr val="C00000"/>
                </a:solidFill>
                <a:effectLst/>
                <a:uLnTx/>
                <a:uFillTx/>
                <a:latin typeface="+mn-lt"/>
                <a:ea typeface="+mn-ea"/>
                <a:cs typeface="+mn-ea"/>
                <a:sym typeface="+mn-lt"/>
              </a:rPr>
              <a:t>p-&gt;prior=s;</a:t>
            </a:r>
          </a:p>
        </p:txBody>
      </p:sp>
      <p:sp>
        <p:nvSpPr>
          <p:cNvPr id="137220" name="AutoShape 4"/>
          <p:cNvSpPr>
            <a:spLocks noChangeAspect="1" noChangeArrowheads="1" noTextEdit="1"/>
          </p:cNvSpPr>
          <p:nvPr/>
        </p:nvSpPr>
        <p:spPr bwMode="auto">
          <a:xfrm>
            <a:off x="820738" y="1316038"/>
            <a:ext cx="74676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1" name="Rectangle 5"/>
          <p:cNvSpPr>
            <a:spLocks noChangeArrowheads="1"/>
          </p:cNvSpPr>
          <p:nvPr/>
        </p:nvSpPr>
        <p:spPr bwMode="auto">
          <a:xfrm>
            <a:off x="2582863" y="1760538"/>
            <a:ext cx="584200" cy="530225"/>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2" name="Rectangle 6"/>
          <p:cNvSpPr>
            <a:spLocks noChangeArrowheads="1"/>
          </p:cNvSpPr>
          <p:nvPr/>
        </p:nvSpPr>
        <p:spPr bwMode="auto">
          <a:xfrm>
            <a:off x="2781300" y="1836738"/>
            <a:ext cx="1539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ea"/>
                <a:sym typeface="+mn-lt"/>
              </a:rPr>
              <a:t>a</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7223" name="Rectangle 7"/>
          <p:cNvSpPr>
            <a:spLocks noChangeArrowheads="1"/>
          </p:cNvSpPr>
          <p:nvPr/>
        </p:nvSpPr>
        <p:spPr bwMode="auto">
          <a:xfrm>
            <a:off x="1998663" y="1760538"/>
            <a:ext cx="584200" cy="530225"/>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4" name="Rectangle 8"/>
          <p:cNvSpPr>
            <a:spLocks noChangeArrowheads="1"/>
          </p:cNvSpPr>
          <p:nvPr/>
        </p:nvSpPr>
        <p:spPr bwMode="auto">
          <a:xfrm>
            <a:off x="3167063" y="1760538"/>
            <a:ext cx="584200" cy="530225"/>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5" name="Rectangle 9"/>
          <p:cNvSpPr>
            <a:spLocks noChangeArrowheads="1"/>
          </p:cNvSpPr>
          <p:nvPr/>
        </p:nvSpPr>
        <p:spPr bwMode="auto">
          <a:xfrm>
            <a:off x="4629150" y="1760538"/>
            <a:ext cx="584200" cy="530225"/>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6" name="Rectangle 10"/>
          <p:cNvSpPr>
            <a:spLocks noChangeArrowheads="1"/>
          </p:cNvSpPr>
          <p:nvPr/>
        </p:nvSpPr>
        <p:spPr bwMode="auto">
          <a:xfrm>
            <a:off x="5213350" y="1760538"/>
            <a:ext cx="584200" cy="530225"/>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7" name="Rectangle 11"/>
          <p:cNvSpPr>
            <a:spLocks noChangeArrowheads="1"/>
          </p:cNvSpPr>
          <p:nvPr/>
        </p:nvSpPr>
        <p:spPr bwMode="auto">
          <a:xfrm>
            <a:off x="5411788" y="1836738"/>
            <a:ext cx="1730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ea"/>
                <a:sym typeface="+mn-lt"/>
              </a:rPr>
              <a:t>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7228" name="Rectangle 12"/>
          <p:cNvSpPr>
            <a:spLocks noChangeArrowheads="1"/>
          </p:cNvSpPr>
          <p:nvPr/>
        </p:nvSpPr>
        <p:spPr bwMode="auto">
          <a:xfrm>
            <a:off x="5797550" y="1760538"/>
            <a:ext cx="584200" cy="530225"/>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29" name="Rectangle 13"/>
          <p:cNvSpPr>
            <a:spLocks noChangeArrowheads="1"/>
          </p:cNvSpPr>
          <p:nvPr/>
        </p:nvSpPr>
        <p:spPr bwMode="auto">
          <a:xfrm>
            <a:off x="3459163" y="3084513"/>
            <a:ext cx="584200" cy="528638"/>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0" name="Rectangle 14"/>
          <p:cNvSpPr>
            <a:spLocks noChangeArrowheads="1"/>
          </p:cNvSpPr>
          <p:nvPr/>
        </p:nvSpPr>
        <p:spPr bwMode="auto">
          <a:xfrm>
            <a:off x="4043363" y="3084513"/>
            <a:ext cx="585788" cy="528638"/>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1" name="Rectangle 15"/>
          <p:cNvSpPr>
            <a:spLocks noChangeArrowheads="1"/>
          </p:cNvSpPr>
          <p:nvPr/>
        </p:nvSpPr>
        <p:spPr bwMode="auto">
          <a:xfrm>
            <a:off x="4243388" y="3160713"/>
            <a:ext cx="1730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ea"/>
                <a:sym typeface="+mn-lt"/>
              </a:rPr>
              <a:t>x</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7232" name="Rectangle 16"/>
          <p:cNvSpPr>
            <a:spLocks noChangeArrowheads="1"/>
          </p:cNvSpPr>
          <p:nvPr/>
        </p:nvSpPr>
        <p:spPr bwMode="auto">
          <a:xfrm>
            <a:off x="4629150" y="3084513"/>
            <a:ext cx="584200" cy="528638"/>
          </a:xfrm>
          <a:prstGeom prst="rect">
            <a:avLst/>
          </a:prstGeom>
          <a:noFill/>
          <a:ln w="14288">
            <a:solidFill>
              <a:srgbClr val="000000"/>
            </a:solidFill>
            <a:miter lim="800000"/>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3" name="Line 17"/>
          <p:cNvSpPr>
            <a:spLocks noChangeShapeType="1"/>
          </p:cNvSpPr>
          <p:nvPr/>
        </p:nvSpPr>
        <p:spPr bwMode="auto">
          <a:xfrm>
            <a:off x="1558925" y="1892300"/>
            <a:ext cx="3381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4" name="Freeform 18"/>
          <p:cNvSpPr>
            <a:spLocks noChangeArrowheads="1"/>
          </p:cNvSpPr>
          <p:nvPr/>
        </p:nvSpPr>
        <p:spPr bwMode="auto">
          <a:xfrm>
            <a:off x="1865313" y="1831975"/>
            <a:ext cx="133350" cy="120650"/>
          </a:xfrm>
          <a:custGeom>
            <a:avLst/>
            <a:gdLst>
              <a:gd name="T0" fmla="*/ 2147483646 w 84"/>
              <a:gd name="T1" fmla="*/ 2147483646 h 76"/>
              <a:gd name="T2" fmla="*/ 0 w 84"/>
              <a:gd name="T3" fmla="*/ 2147483646 h 76"/>
              <a:gd name="T4" fmla="*/ 2147483646 w 84"/>
              <a:gd name="T5" fmla="*/ 2147483646 h 76"/>
              <a:gd name="T6" fmla="*/ 2147483646 w 84"/>
              <a:gd name="T7" fmla="*/ 2147483646 h 76"/>
              <a:gd name="T8" fmla="*/ 2147483646 w 84"/>
              <a:gd name="T9" fmla="*/ 2147483646 h 76"/>
              <a:gd name="T10" fmla="*/ 0 w 84"/>
              <a:gd name="T11" fmla="*/ 0 h 76"/>
              <a:gd name="T12" fmla="*/ 2147483646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84" y="38"/>
                </a:moveTo>
                <a:lnTo>
                  <a:pt x="0" y="76"/>
                </a:lnTo>
                <a:lnTo>
                  <a:pt x="6" y="58"/>
                </a:lnTo>
                <a:lnTo>
                  <a:pt x="9" y="38"/>
                </a:lnTo>
                <a:lnTo>
                  <a:pt x="6" y="19"/>
                </a:lnTo>
                <a:lnTo>
                  <a:pt x="0" y="0"/>
                </a:lnTo>
                <a:lnTo>
                  <a:pt x="84"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5" name="Line 19"/>
          <p:cNvSpPr>
            <a:spLocks noChangeShapeType="1"/>
          </p:cNvSpPr>
          <p:nvPr/>
        </p:nvSpPr>
        <p:spPr bwMode="auto">
          <a:xfrm>
            <a:off x="1660525" y="2159000"/>
            <a:ext cx="6302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6" name="Freeform 20"/>
          <p:cNvSpPr>
            <a:spLocks noChangeArrowheads="1"/>
          </p:cNvSpPr>
          <p:nvPr/>
        </p:nvSpPr>
        <p:spPr bwMode="auto">
          <a:xfrm>
            <a:off x="1558925" y="2098675"/>
            <a:ext cx="133350" cy="120650"/>
          </a:xfrm>
          <a:custGeom>
            <a:avLst/>
            <a:gdLst>
              <a:gd name="T0" fmla="*/ 0 w 84"/>
              <a:gd name="T1" fmla="*/ 2147483646 h 76"/>
              <a:gd name="T2" fmla="*/ 2147483646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0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76"/>
                </a:lnTo>
                <a:lnTo>
                  <a:pt x="78" y="56"/>
                </a:lnTo>
                <a:lnTo>
                  <a:pt x="75" y="38"/>
                </a:lnTo>
                <a:lnTo>
                  <a:pt x="78" y="18"/>
                </a:lnTo>
                <a:lnTo>
                  <a:pt x="84" y="0"/>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7" name="Line 21"/>
          <p:cNvSpPr>
            <a:spLocks noChangeShapeType="1"/>
          </p:cNvSpPr>
          <p:nvPr/>
        </p:nvSpPr>
        <p:spPr bwMode="auto">
          <a:xfrm>
            <a:off x="3605213" y="1892300"/>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8" name="Freeform 22"/>
          <p:cNvSpPr>
            <a:spLocks noChangeArrowheads="1"/>
          </p:cNvSpPr>
          <p:nvPr/>
        </p:nvSpPr>
        <p:spPr bwMode="auto">
          <a:xfrm>
            <a:off x="4495800" y="1831975"/>
            <a:ext cx="133350" cy="120650"/>
          </a:xfrm>
          <a:custGeom>
            <a:avLst/>
            <a:gdLst>
              <a:gd name="T0" fmla="*/ 2147483646 w 84"/>
              <a:gd name="T1" fmla="*/ 2147483646 h 76"/>
              <a:gd name="T2" fmla="*/ 0 w 84"/>
              <a:gd name="T3" fmla="*/ 2147483646 h 76"/>
              <a:gd name="T4" fmla="*/ 2147483646 w 84"/>
              <a:gd name="T5" fmla="*/ 2147483646 h 76"/>
              <a:gd name="T6" fmla="*/ 2147483646 w 84"/>
              <a:gd name="T7" fmla="*/ 2147483646 h 76"/>
              <a:gd name="T8" fmla="*/ 2147483646 w 84"/>
              <a:gd name="T9" fmla="*/ 2147483646 h 76"/>
              <a:gd name="T10" fmla="*/ 0 w 84"/>
              <a:gd name="T11" fmla="*/ 0 h 76"/>
              <a:gd name="T12" fmla="*/ 2147483646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84" y="38"/>
                </a:moveTo>
                <a:lnTo>
                  <a:pt x="0" y="76"/>
                </a:lnTo>
                <a:lnTo>
                  <a:pt x="6" y="58"/>
                </a:lnTo>
                <a:lnTo>
                  <a:pt x="9" y="38"/>
                </a:lnTo>
                <a:lnTo>
                  <a:pt x="6" y="19"/>
                </a:lnTo>
                <a:lnTo>
                  <a:pt x="0" y="0"/>
                </a:lnTo>
                <a:lnTo>
                  <a:pt x="84"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39" name="Line 23"/>
          <p:cNvSpPr>
            <a:spLocks noChangeShapeType="1"/>
          </p:cNvSpPr>
          <p:nvPr/>
        </p:nvSpPr>
        <p:spPr bwMode="auto">
          <a:xfrm>
            <a:off x="3852863" y="2159000"/>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0" name="Freeform 24"/>
          <p:cNvSpPr>
            <a:spLocks noChangeArrowheads="1"/>
          </p:cNvSpPr>
          <p:nvPr/>
        </p:nvSpPr>
        <p:spPr bwMode="auto">
          <a:xfrm>
            <a:off x="3751263" y="2098675"/>
            <a:ext cx="133350" cy="120650"/>
          </a:xfrm>
          <a:custGeom>
            <a:avLst/>
            <a:gdLst>
              <a:gd name="T0" fmla="*/ 0 w 84"/>
              <a:gd name="T1" fmla="*/ 2147483646 h 76"/>
              <a:gd name="T2" fmla="*/ 2147483646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0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76"/>
                </a:lnTo>
                <a:lnTo>
                  <a:pt x="78" y="56"/>
                </a:lnTo>
                <a:lnTo>
                  <a:pt x="75" y="38"/>
                </a:lnTo>
                <a:lnTo>
                  <a:pt x="78" y="18"/>
                </a:lnTo>
                <a:lnTo>
                  <a:pt x="84" y="0"/>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1" name="Line 25"/>
          <p:cNvSpPr>
            <a:spLocks noChangeShapeType="1"/>
          </p:cNvSpPr>
          <p:nvPr/>
        </p:nvSpPr>
        <p:spPr bwMode="auto">
          <a:xfrm>
            <a:off x="6235700" y="1892300"/>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2" name="Freeform 26"/>
          <p:cNvSpPr>
            <a:spLocks noChangeArrowheads="1"/>
          </p:cNvSpPr>
          <p:nvPr/>
        </p:nvSpPr>
        <p:spPr bwMode="auto">
          <a:xfrm>
            <a:off x="7126288" y="1831975"/>
            <a:ext cx="133350" cy="120650"/>
          </a:xfrm>
          <a:custGeom>
            <a:avLst/>
            <a:gdLst>
              <a:gd name="T0" fmla="*/ 2147483646 w 84"/>
              <a:gd name="T1" fmla="*/ 2147483646 h 76"/>
              <a:gd name="T2" fmla="*/ 0 w 84"/>
              <a:gd name="T3" fmla="*/ 2147483646 h 76"/>
              <a:gd name="T4" fmla="*/ 2147483646 w 84"/>
              <a:gd name="T5" fmla="*/ 2147483646 h 76"/>
              <a:gd name="T6" fmla="*/ 2147483646 w 84"/>
              <a:gd name="T7" fmla="*/ 2147483646 h 76"/>
              <a:gd name="T8" fmla="*/ 2147483646 w 84"/>
              <a:gd name="T9" fmla="*/ 2147483646 h 76"/>
              <a:gd name="T10" fmla="*/ 0 w 84"/>
              <a:gd name="T11" fmla="*/ 0 h 76"/>
              <a:gd name="T12" fmla="*/ 2147483646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84" y="38"/>
                </a:moveTo>
                <a:lnTo>
                  <a:pt x="0" y="76"/>
                </a:lnTo>
                <a:lnTo>
                  <a:pt x="6" y="58"/>
                </a:lnTo>
                <a:lnTo>
                  <a:pt x="9" y="38"/>
                </a:lnTo>
                <a:lnTo>
                  <a:pt x="6" y="19"/>
                </a:lnTo>
                <a:lnTo>
                  <a:pt x="0" y="0"/>
                </a:lnTo>
                <a:lnTo>
                  <a:pt x="84"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3" name="Line 27"/>
          <p:cNvSpPr>
            <a:spLocks noChangeShapeType="1"/>
          </p:cNvSpPr>
          <p:nvPr/>
        </p:nvSpPr>
        <p:spPr bwMode="auto">
          <a:xfrm>
            <a:off x="6483350" y="2159000"/>
            <a:ext cx="9223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4" name="Freeform 28"/>
          <p:cNvSpPr>
            <a:spLocks noChangeArrowheads="1"/>
          </p:cNvSpPr>
          <p:nvPr/>
        </p:nvSpPr>
        <p:spPr bwMode="auto">
          <a:xfrm>
            <a:off x="6381750" y="2098675"/>
            <a:ext cx="133350" cy="120650"/>
          </a:xfrm>
          <a:custGeom>
            <a:avLst/>
            <a:gdLst>
              <a:gd name="T0" fmla="*/ 0 w 84"/>
              <a:gd name="T1" fmla="*/ 2147483646 h 76"/>
              <a:gd name="T2" fmla="*/ 2147483646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0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76"/>
                </a:lnTo>
                <a:lnTo>
                  <a:pt x="78" y="56"/>
                </a:lnTo>
                <a:lnTo>
                  <a:pt x="74" y="38"/>
                </a:lnTo>
                <a:lnTo>
                  <a:pt x="78" y="18"/>
                </a:lnTo>
                <a:lnTo>
                  <a:pt x="84" y="0"/>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5" name="Rectangle 29"/>
          <p:cNvSpPr>
            <a:spLocks noChangeArrowheads="1"/>
          </p:cNvSpPr>
          <p:nvPr/>
        </p:nvSpPr>
        <p:spPr bwMode="auto">
          <a:xfrm>
            <a:off x="7564438" y="1760538"/>
            <a:ext cx="2603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6" name="Rectangle 30"/>
          <p:cNvSpPr>
            <a:spLocks noChangeArrowheads="1"/>
          </p:cNvSpPr>
          <p:nvPr/>
        </p:nvSpPr>
        <p:spPr bwMode="auto">
          <a:xfrm>
            <a:off x="1004888" y="1760538"/>
            <a:ext cx="2603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7" name="Line 31"/>
          <p:cNvSpPr>
            <a:spLocks noChangeShapeType="1"/>
          </p:cNvSpPr>
          <p:nvPr/>
        </p:nvSpPr>
        <p:spPr bwMode="auto">
          <a:xfrm flipH="1">
            <a:off x="3632200" y="3348038"/>
            <a:ext cx="119063" cy="1588"/>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8" name="Line 32"/>
          <p:cNvSpPr>
            <a:spLocks noChangeShapeType="1"/>
          </p:cNvSpPr>
          <p:nvPr/>
        </p:nvSpPr>
        <p:spPr bwMode="auto">
          <a:xfrm flipH="1">
            <a:off x="3438525" y="3348038"/>
            <a:ext cx="119063" cy="1588"/>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49" name="Line 33"/>
          <p:cNvSpPr>
            <a:spLocks noChangeShapeType="1"/>
          </p:cNvSpPr>
          <p:nvPr/>
        </p:nvSpPr>
        <p:spPr bwMode="auto">
          <a:xfrm flipH="1">
            <a:off x="3246438" y="3348038"/>
            <a:ext cx="119063" cy="1588"/>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0" name="Line 34"/>
          <p:cNvSpPr>
            <a:spLocks noChangeShapeType="1"/>
          </p:cNvSpPr>
          <p:nvPr/>
        </p:nvSpPr>
        <p:spPr bwMode="auto">
          <a:xfrm flipH="1">
            <a:off x="3052763" y="3348038"/>
            <a:ext cx="119063" cy="1588"/>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1" name="Freeform 35"/>
          <p:cNvSpPr>
            <a:spLocks noChangeArrowheads="1"/>
          </p:cNvSpPr>
          <p:nvPr/>
        </p:nvSpPr>
        <p:spPr bwMode="auto">
          <a:xfrm>
            <a:off x="2874963" y="3335338"/>
            <a:ext cx="103188" cy="12700"/>
          </a:xfrm>
          <a:custGeom>
            <a:avLst/>
            <a:gdLst>
              <a:gd name="T0" fmla="*/ 2147483646 w 42"/>
              <a:gd name="T1" fmla="*/ 2147483646 h 6"/>
              <a:gd name="T2" fmla="*/ 0 w 42"/>
              <a:gd name="T3" fmla="*/ 2147483646 h 6"/>
              <a:gd name="T4" fmla="*/ 0 w 42"/>
              <a:gd name="T5" fmla="*/ 0 h 6"/>
              <a:gd name="T6" fmla="*/ 0 60000 65536"/>
              <a:gd name="T7" fmla="*/ 0 60000 65536"/>
              <a:gd name="T8" fmla="*/ 0 60000 65536"/>
            </a:gdLst>
            <a:ahLst/>
            <a:cxnLst>
              <a:cxn ang="T6">
                <a:pos x="T0" y="T1"/>
              </a:cxn>
              <a:cxn ang="T7">
                <a:pos x="T2" y="T3"/>
              </a:cxn>
              <a:cxn ang="T8">
                <a:pos x="T4" y="T5"/>
              </a:cxn>
            </a:cxnLst>
            <a:rect l="0" t="0" r="r" b="b"/>
            <a:pathLst>
              <a:path w="42" h="6">
                <a:moveTo>
                  <a:pt x="42" y="6"/>
                </a:moveTo>
                <a:lnTo>
                  <a:pt x="0" y="6"/>
                </a:lnTo>
                <a:lnTo>
                  <a:pt x="0" y="0"/>
                </a:lnTo>
              </a:path>
            </a:pathLst>
          </a:custGeom>
          <a:noFill/>
          <a:ln w="14288">
            <a:solidFill>
              <a:srgbClr val="00FFFF"/>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2" name="Line 36"/>
          <p:cNvSpPr>
            <a:spLocks noChangeShapeType="1"/>
          </p:cNvSpPr>
          <p:nvPr/>
        </p:nvSpPr>
        <p:spPr bwMode="auto">
          <a:xfrm flipV="1">
            <a:off x="2874963" y="3160713"/>
            <a:ext cx="1588" cy="107950"/>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3" name="Line 37"/>
          <p:cNvSpPr>
            <a:spLocks noChangeShapeType="1"/>
          </p:cNvSpPr>
          <p:nvPr/>
        </p:nvSpPr>
        <p:spPr bwMode="auto">
          <a:xfrm flipV="1">
            <a:off x="2874963" y="2986088"/>
            <a:ext cx="1588" cy="107950"/>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4" name="Line 38"/>
          <p:cNvSpPr>
            <a:spLocks noChangeShapeType="1"/>
          </p:cNvSpPr>
          <p:nvPr/>
        </p:nvSpPr>
        <p:spPr bwMode="auto">
          <a:xfrm flipV="1">
            <a:off x="2874963" y="2811463"/>
            <a:ext cx="1588" cy="106363"/>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5" name="Line 39"/>
          <p:cNvSpPr>
            <a:spLocks noChangeShapeType="1"/>
          </p:cNvSpPr>
          <p:nvPr/>
        </p:nvSpPr>
        <p:spPr bwMode="auto">
          <a:xfrm flipV="1">
            <a:off x="2874963" y="2636838"/>
            <a:ext cx="1588" cy="106363"/>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6" name="Line 40"/>
          <p:cNvSpPr>
            <a:spLocks noChangeShapeType="1"/>
          </p:cNvSpPr>
          <p:nvPr/>
        </p:nvSpPr>
        <p:spPr bwMode="auto">
          <a:xfrm flipV="1">
            <a:off x="2874963" y="2460625"/>
            <a:ext cx="1588" cy="107950"/>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7" name="Line 41"/>
          <p:cNvSpPr>
            <a:spLocks noChangeShapeType="1"/>
          </p:cNvSpPr>
          <p:nvPr/>
        </p:nvSpPr>
        <p:spPr bwMode="auto">
          <a:xfrm flipV="1">
            <a:off x="2874963" y="2381250"/>
            <a:ext cx="1588" cy="12700"/>
          </a:xfrm>
          <a:prstGeom prst="line">
            <a:avLst/>
          </a:prstGeom>
          <a:noFill/>
          <a:ln w="14288">
            <a:solidFill>
              <a:srgbClr val="00FFFF"/>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8" name="Freeform 42"/>
          <p:cNvSpPr>
            <a:spLocks noChangeArrowheads="1"/>
          </p:cNvSpPr>
          <p:nvPr/>
        </p:nvSpPr>
        <p:spPr bwMode="auto">
          <a:xfrm>
            <a:off x="2808288" y="2290763"/>
            <a:ext cx="133350" cy="120650"/>
          </a:xfrm>
          <a:custGeom>
            <a:avLst/>
            <a:gdLst>
              <a:gd name="T0" fmla="*/ 2147483646 w 84"/>
              <a:gd name="T1" fmla="*/ 0 h 76"/>
              <a:gd name="T2" fmla="*/ 2147483646 w 84"/>
              <a:gd name="T3" fmla="*/ 2147483646 h 76"/>
              <a:gd name="T4" fmla="*/ 2147483646 w 84"/>
              <a:gd name="T5" fmla="*/ 2147483646 h 76"/>
              <a:gd name="T6" fmla="*/ 2147483646 w 84"/>
              <a:gd name="T7" fmla="*/ 2147483646 h 76"/>
              <a:gd name="T8" fmla="*/ 2147483646 w 84"/>
              <a:gd name="T9" fmla="*/ 2147483646 h 76"/>
              <a:gd name="T10" fmla="*/ 0 w 84"/>
              <a:gd name="T11" fmla="*/ 2147483646 h 76"/>
              <a:gd name="T12" fmla="*/ 2147483646 w 84"/>
              <a:gd name="T13" fmla="*/ 0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42" y="0"/>
                </a:moveTo>
                <a:lnTo>
                  <a:pt x="84" y="76"/>
                </a:lnTo>
                <a:lnTo>
                  <a:pt x="64" y="69"/>
                </a:lnTo>
                <a:lnTo>
                  <a:pt x="42" y="66"/>
                </a:lnTo>
                <a:lnTo>
                  <a:pt x="20" y="69"/>
                </a:lnTo>
                <a:lnTo>
                  <a:pt x="0" y="76"/>
                </a:lnTo>
                <a:lnTo>
                  <a:pt x="42" y="0"/>
                </a:lnTo>
                <a:close/>
              </a:path>
            </a:pathLst>
          </a:custGeom>
          <a:solidFill>
            <a:srgbClr val="00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59" name="Freeform 43"/>
          <p:cNvSpPr>
            <a:spLocks noChangeArrowheads="1"/>
          </p:cNvSpPr>
          <p:nvPr/>
        </p:nvSpPr>
        <p:spPr bwMode="auto">
          <a:xfrm>
            <a:off x="2524125" y="2447925"/>
            <a:ext cx="263525" cy="239713"/>
          </a:xfrm>
          <a:custGeom>
            <a:avLst/>
            <a:gdLst>
              <a:gd name="T0" fmla="*/ 0 w 166"/>
              <a:gd name="T1" fmla="*/ 2147483646 h 151"/>
              <a:gd name="T2" fmla="*/ 2147483646 w 166"/>
              <a:gd name="T3" fmla="*/ 2147483646 h 151"/>
              <a:gd name="T4" fmla="*/ 2147483646 w 166"/>
              <a:gd name="T5" fmla="*/ 2147483646 h 151"/>
              <a:gd name="T6" fmla="*/ 2147483646 w 166"/>
              <a:gd name="T7" fmla="*/ 2147483646 h 151"/>
              <a:gd name="T8" fmla="*/ 2147483646 w 166"/>
              <a:gd name="T9" fmla="*/ 2147483646 h 151"/>
              <a:gd name="T10" fmla="*/ 2147483646 w 166"/>
              <a:gd name="T11" fmla="*/ 2147483646 h 151"/>
              <a:gd name="T12" fmla="*/ 2147483646 w 166"/>
              <a:gd name="T13" fmla="*/ 0 h 151"/>
              <a:gd name="T14" fmla="*/ 2147483646 w 166"/>
              <a:gd name="T15" fmla="*/ 2147483646 h 151"/>
              <a:gd name="T16" fmla="*/ 2147483646 w 166"/>
              <a:gd name="T17" fmla="*/ 2147483646 h 151"/>
              <a:gd name="T18" fmla="*/ 2147483646 w 166"/>
              <a:gd name="T19" fmla="*/ 2147483646 h 151"/>
              <a:gd name="T20" fmla="*/ 2147483646 w 166"/>
              <a:gd name="T21" fmla="*/ 2147483646 h 151"/>
              <a:gd name="T22" fmla="*/ 2147483646 w 166"/>
              <a:gd name="T23" fmla="*/ 2147483646 h 151"/>
              <a:gd name="T24" fmla="*/ 2147483646 w 166"/>
              <a:gd name="T25" fmla="*/ 2147483646 h 151"/>
              <a:gd name="T26" fmla="*/ 2147483646 w 166"/>
              <a:gd name="T27" fmla="*/ 2147483646 h 151"/>
              <a:gd name="T28" fmla="*/ 2147483646 w 166"/>
              <a:gd name="T29" fmla="*/ 2147483646 h 151"/>
              <a:gd name="T30" fmla="*/ 2147483646 w 166"/>
              <a:gd name="T31" fmla="*/ 2147483646 h 151"/>
              <a:gd name="T32" fmla="*/ 2147483646 w 166"/>
              <a:gd name="T33" fmla="*/ 2147483646 h 151"/>
              <a:gd name="T34" fmla="*/ 2147483646 w 166"/>
              <a:gd name="T35" fmla="*/ 2147483646 h 151"/>
              <a:gd name="T36" fmla="*/ 2147483646 w 166"/>
              <a:gd name="T37" fmla="*/ 2147483646 h 151"/>
              <a:gd name="T38" fmla="*/ 2147483646 w 166"/>
              <a:gd name="T39" fmla="*/ 2147483646 h 151"/>
              <a:gd name="T40" fmla="*/ 2147483646 w 166"/>
              <a:gd name="T41" fmla="*/ 2147483646 h 151"/>
              <a:gd name="T42" fmla="*/ 2147483646 w 166"/>
              <a:gd name="T43" fmla="*/ 2147483646 h 151"/>
              <a:gd name="T44" fmla="*/ 2147483646 w 166"/>
              <a:gd name="T45" fmla="*/ 2147483646 h 151"/>
              <a:gd name="T46" fmla="*/ 2147483646 w 166"/>
              <a:gd name="T47" fmla="*/ 2147483646 h 151"/>
              <a:gd name="T48" fmla="*/ 0 w 166"/>
              <a:gd name="T49" fmla="*/ 2147483646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151">
                <a:moveTo>
                  <a:pt x="0" y="76"/>
                </a:moveTo>
                <a:lnTo>
                  <a:pt x="3" y="56"/>
                </a:lnTo>
                <a:lnTo>
                  <a:pt x="11" y="38"/>
                </a:lnTo>
                <a:lnTo>
                  <a:pt x="25" y="23"/>
                </a:lnTo>
                <a:lnTo>
                  <a:pt x="42" y="11"/>
                </a:lnTo>
                <a:lnTo>
                  <a:pt x="62" y="3"/>
                </a:lnTo>
                <a:lnTo>
                  <a:pt x="82" y="0"/>
                </a:lnTo>
                <a:lnTo>
                  <a:pt x="104" y="3"/>
                </a:lnTo>
                <a:lnTo>
                  <a:pt x="124" y="11"/>
                </a:lnTo>
                <a:lnTo>
                  <a:pt x="142" y="23"/>
                </a:lnTo>
                <a:lnTo>
                  <a:pt x="154" y="38"/>
                </a:lnTo>
                <a:lnTo>
                  <a:pt x="163" y="56"/>
                </a:lnTo>
                <a:lnTo>
                  <a:pt x="166" y="76"/>
                </a:lnTo>
                <a:lnTo>
                  <a:pt x="163" y="95"/>
                </a:lnTo>
                <a:lnTo>
                  <a:pt x="154" y="113"/>
                </a:lnTo>
                <a:lnTo>
                  <a:pt x="142" y="128"/>
                </a:lnTo>
                <a:lnTo>
                  <a:pt x="124" y="141"/>
                </a:lnTo>
                <a:lnTo>
                  <a:pt x="104" y="148"/>
                </a:lnTo>
                <a:lnTo>
                  <a:pt x="82" y="151"/>
                </a:lnTo>
                <a:lnTo>
                  <a:pt x="62" y="148"/>
                </a:lnTo>
                <a:lnTo>
                  <a:pt x="42" y="141"/>
                </a:lnTo>
                <a:lnTo>
                  <a:pt x="25" y="128"/>
                </a:lnTo>
                <a:lnTo>
                  <a:pt x="11" y="113"/>
                </a:lnTo>
                <a:lnTo>
                  <a:pt x="3" y="95"/>
                </a:lnTo>
                <a:lnTo>
                  <a:pt x="0" y="76"/>
                </a:lnTo>
                <a:close/>
              </a:path>
            </a:pathLst>
          </a:custGeom>
          <a:solidFill>
            <a:srgbClr val="00FFFF"/>
          </a:solidFill>
          <a:ln w="14288">
            <a:solidFill>
              <a:srgbClr val="00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0" name="Rectangle 44"/>
          <p:cNvSpPr>
            <a:spLocks noChangeArrowheads="1"/>
          </p:cNvSpPr>
          <p:nvPr/>
        </p:nvSpPr>
        <p:spPr bwMode="auto">
          <a:xfrm>
            <a:off x="2608263" y="2474913"/>
            <a:ext cx="841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1300" b="0" i="0" u="none" strike="noStrike" kern="1200" cap="none" spc="0" normalizeH="0" baseline="0" noProof="0">
                <a:ln>
                  <a:noFill/>
                </a:ln>
                <a:solidFill>
                  <a:srgbClr val="000000"/>
                </a:solidFill>
                <a:effectLst/>
                <a:uLnTx/>
                <a:uFillTx/>
                <a:latin typeface="+mn-lt"/>
                <a:ea typeface="+mn-ea"/>
                <a:cs typeface="+mn-ea"/>
                <a:sym typeface="+mn-lt"/>
              </a:rPr>
              <a:t>1</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1" name="Freeform 45"/>
          <p:cNvSpPr>
            <a:spLocks noChangeArrowheads="1"/>
          </p:cNvSpPr>
          <p:nvPr/>
        </p:nvSpPr>
        <p:spPr bwMode="auto">
          <a:xfrm>
            <a:off x="3352800" y="2000250"/>
            <a:ext cx="106363" cy="41275"/>
          </a:xfrm>
          <a:custGeom>
            <a:avLst/>
            <a:gdLst>
              <a:gd name="T0" fmla="*/ 2147483646 w 43"/>
              <a:gd name="T1" fmla="*/ 0 h 19"/>
              <a:gd name="T2" fmla="*/ 2147483646 w 43"/>
              <a:gd name="T3" fmla="*/ 2147483646 h 19"/>
              <a:gd name="T4" fmla="*/ 2147483646 w 43"/>
              <a:gd name="T5" fmla="*/ 2147483646 h 19"/>
              <a:gd name="T6" fmla="*/ 2147483646 w 43"/>
              <a:gd name="T7" fmla="*/ 2147483646 h 19"/>
              <a:gd name="T8" fmla="*/ 0 w 43"/>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3" y="0"/>
                </a:moveTo>
                <a:lnTo>
                  <a:pt x="30" y="1"/>
                </a:lnTo>
                <a:lnTo>
                  <a:pt x="16" y="7"/>
                </a:lnTo>
                <a:lnTo>
                  <a:pt x="3" y="16"/>
                </a:lnTo>
                <a:lnTo>
                  <a:pt x="0" y="19"/>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2" name="Freeform 46"/>
          <p:cNvSpPr>
            <a:spLocks noChangeArrowheads="1"/>
          </p:cNvSpPr>
          <p:nvPr/>
        </p:nvSpPr>
        <p:spPr bwMode="auto">
          <a:xfrm>
            <a:off x="3246438" y="2090738"/>
            <a:ext cx="57150" cy="95250"/>
          </a:xfrm>
          <a:custGeom>
            <a:avLst/>
            <a:gdLst>
              <a:gd name="T0" fmla="*/ 2147483646 w 23"/>
              <a:gd name="T1" fmla="*/ 0 h 42"/>
              <a:gd name="T2" fmla="*/ 2147483646 w 23"/>
              <a:gd name="T3" fmla="*/ 2147483646 h 42"/>
              <a:gd name="T4" fmla="*/ 2147483646 w 23"/>
              <a:gd name="T5" fmla="*/ 2147483646 h 42"/>
              <a:gd name="T6" fmla="*/ 0 w 23"/>
              <a:gd name="T7" fmla="*/ 2147483646 h 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42">
                <a:moveTo>
                  <a:pt x="23" y="0"/>
                </a:moveTo>
                <a:lnTo>
                  <a:pt x="21" y="3"/>
                </a:lnTo>
                <a:lnTo>
                  <a:pt x="10" y="22"/>
                </a:lnTo>
                <a:lnTo>
                  <a:pt x="0" y="42"/>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3" name="Freeform 47"/>
          <p:cNvSpPr>
            <a:spLocks noChangeArrowheads="1"/>
          </p:cNvSpPr>
          <p:nvPr/>
        </p:nvSpPr>
        <p:spPr bwMode="auto">
          <a:xfrm>
            <a:off x="3186113" y="2247900"/>
            <a:ext cx="33338" cy="103188"/>
          </a:xfrm>
          <a:custGeom>
            <a:avLst/>
            <a:gdLst>
              <a:gd name="T0" fmla="*/ 2147483646 w 13"/>
              <a:gd name="T1" fmla="*/ 0 h 46"/>
              <a:gd name="T2" fmla="*/ 2147483646 w 13"/>
              <a:gd name="T3" fmla="*/ 2147483646 h 46"/>
              <a:gd name="T4" fmla="*/ 0 w 13"/>
              <a:gd name="T5" fmla="*/ 2147483646 h 46"/>
              <a:gd name="T6" fmla="*/ 0 60000 65536"/>
              <a:gd name="T7" fmla="*/ 0 60000 65536"/>
              <a:gd name="T8" fmla="*/ 0 60000 65536"/>
            </a:gdLst>
            <a:ahLst/>
            <a:cxnLst>
              <a:cxn ang="T6">
                <a:pos x="T0" y="T1"/>
              </a:cxn>
              <a:cxn ang="T7">
                <a:pos x="T2" y="T3"/>
              </a:cxn>
              <a:cxn ang="T8">
                <a:pos x="T4" y="T5"/>
              </a:cxn>
            </a:cxnLst>
            <a:rect l="0" t="0" r="r" b="b"/>
            <a:pathLst>
              <a:path w="13" h="46">
                <a:moveTo>
                  <a:pt x="13" y="0"/>
                </a:moveTo>
                <a:lnTo>
                  <a:pt x="5" y="25"/>
                </a:lnTo>
                <a:lnTo>
                  <a:pt x="0" y="46"/>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4" name="Freeform 48"/>
          <p:cNvSpPr>
            <a:spLocks noChangeArrowheads="1"/>
          </p:cNvSpPr>
          <p:nvPr/>
        </p:nvSpPr>
        <p:spPr bwMode="auto">
          <a:xfrm>
            <a:off x="3152775" y="2416175"/>
            <a:ext cx="15875" cy="107950"/>
          </a:xfrm>
          <a:custGeom>
            <a:avLst/>
            <a:gdLst>
              <a:gd name="T0" fmla="*/ 2147483646 w 7"/>
              <a:gd name="T1" fmla="*/ 0 h 48"/>
              <a:gd name="T2" fmla="*/ 2147483646 w 7"/>
              <a:gd name="T3" fmla="*/ 2147483646 h 48"/>
              <a:gd name="T4" fmla="*/ 2147483646 w 7"/>
              <a:gd name="T5" fmla="*/ 2147483646 h 48"/>
              <a:gd name="T6" fmla="*/ 0 w 7"/>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48">
                <a:moveTo>
                  <a:pt x="7" y="0"/>
                </a:moveTo>
                <a:lnTo>
                  <a:pt x="5" y="10"/>
                </a:lnTo>
                <a:lnTo>
                  <a:pt x="1" y="42"/>
                </a:lnTo>
                <a:lnTo>
                  <a:pt x="0" y="48"/>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5" name="Freeform 49"/>
          <p:cNvSpPr>
            <a:spLocks noChangeArrowheads="1"/>
          </p:cNvSpPr>
          <p:nvPr/>
        </p:nvSpPr>
        <p:spPr bwMode="auto">
          <a:xfrm>
            <a:off x="3140075" y="2590800"/>
            <a:ext cx="4763" cy="107950"/>
          </a:xfrm>
          <a:custGeom>
            <a:avLst/>
            <a:gdLst>
              <a:gd name="T0" fmla="*/ 2147483646 w 2"/>
              <a:gd name="T1" fmla="*/ 0 h 48"/>
              <a:gd name="T2" fmla="*/ 0 w 2"/>
              <a:gd name="T3" fmla="*/ 2147483646 h 48"/>
              <a:gd name="T4" fmla="*/ 0 w 2"/>
              <a:gd name="T5" fmla="*/ 2147483646 h 48"/>
              <a:gd name="T6" fmla="*/ 0 60000 65536"/>
              <a:gd name="T7" fmla="*/ 0 60000 65536"/>
              <a:gd name="T8" fmla="*/ 0 60000 65536"/>
            </a:gdLst>
            <a:ahLst/>
            <a:cxnLst>
              <a:cxn ang="T6">
                <a:pos x="T0" y="T1"/>
              </a:cxn>
              <a:cxn ang="T7">
                <a:pos x="T2" y="T3"/>
              </a:cxn>
              <a:cxn ang="T8">
                <a:pos x="T4" y="T5"/>
              </a:cxn>
            </a:cxnLst>
            <a:rect l="0" t="0" r="r" b="b"/>
            <a:pathLst>
              <a:path w="2" h="48">
                <a:moveTo>
                  <a:pt x="2" y="0"/>
                </a:moveTo>
                <a:lnTo>
                  <a:pt x="0" y="32"/>
                </a:lnTo>
                <a:lnTo>
                  <a:pt x="0" y="48"/>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6" name="Freeform 50"/>
          <p:cNvSpPr>
            <a:spLocks noChangeArrowheads="1"/>
          </p:cNvSpPr>
          <p:nvPr/>
        </p:nvSpPr>
        <p:spPr bwMode="auto">
          <a:xfrm>
            <a:off x="3136900" y="2738438"/>
            <a:ext cx="7938" cy="107950"/>
          </a:xfrm>
          <a:custGeom>
            <a:avLst/>
            <a:gdLst>
              <a:gd name="T0" fmla="*/ 0 w 3"/>
              <a:gd name="T1" fmla="*/ 0 h 48"/>
              <a:gd name="T2" fmla="*/ 2147483646 w 3"/>
              <a:gd name="T3" fmla="*/ 2147483646 h 48"/>
              <a:gd name="T4" fmla="*/ 2147483646 w 3"/>
              <a:gd name="T5" fmla="*/ 2147483646 h 48"/>
              <a:gd name="T6" fmla="*/ 0 60000 65536"/>
              <a:gd name="T7" fmla="*/ 0 60000 65536"/>
              <a:gd name="T8" fmla="*/ 0 60000 65536"/>
            </a:gdLst>
            <a:ahLst/>
            <a:cxnLst>
              <a:cxn ang="T6">
                <a:pos x="T0" y="T1"/>
              </a:cxn>
              <a:cxn ang="T7">
                <a:pos x="T2" y="T3"/>
              </a:cxn>
              <a:cxn ang="T8">
                <a:pos x="T4" y="T5"/>
              </a:cxn>
            </a:cxnLst>
            <a:rect l="0" t="0" r="r" b="b"/>
            <a:pathLst>
              <a:path w="3" h="48">
                <a:moveTo>
                  <a:pt x="0" y="0"/>
                </a:moveTo>
                <a:lnTo>
                  <a:pt x="1" y="32"/>
                </a:lnTo>
                <a:lnTo>
                  <a:pt x="3" y="48"/>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7" name="Freeform 51"/>
          <p:cNvSpPr>
            <a:spLocks noChangeArrowheads="1"/>
          </p:cNvSpPr>
          <p:nvPr/>
        </p:nvSpPr>
        <p:spPr bwMode="auto">
          <a:xfrm>
            <a:off x="3154363" y="2914650"/>
            <a:ext cx="26988" cy="104775"/>
          </a:xfrm>
          <a:custGeom>
            <a:avLst/>
            <a:gdLst>
              <a:gd name="T0" fmla="*/ 0 w 11"/>
              <a:gd name="T1" fmla="*/ 0 h 47"/>
              <a:gd name="T2" fmla="*/ 2147483646 w 11"/>
              <a:gd name="T3" fmla="*/ 2147483646 h 47"/>
              <a:gd name="T4" fmla="*/ 2147483646 w 11"/>
              <a:gd name="T5" fmla="*/ 2147483646 h 47"/>
              <a:gd name="T6" fmla="*/ 2147483646 w 11"/>
              <a:gd name="T7" fmla="*/ 2147483646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47">
                <a:moveTo>
                  <a:pt x="0" y="0"/>
                </a:moveTo>
                <a:lnTo>
                  <a:pt x="2" y="14"/>
                </a:lnTo>
                <a:lnTo>
                  <a:pt x="10" y="43"/>
                </a:lnTo>
                <a:lnTo>
                  <a:pt x="11" y="47"/>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8" name="Freeform 52"/>
          <p:cNvSpPr>
            <a:spLocks noChangeArrowheads="1"/>
          </p:cNvSpPr>
          <p:nvPr/>
        </p:nvSpPr>
        <p:spPr bwMode="auto">
          <a:xfrm>
            <a:off x="3206750" y="3081338"/>
            <a:ext cx="53975" cy="95250"/>
          </a:xfrm>
          <a:custGeom>
            <a:avLst/>
            <a:gdLst>
              <a:gd name="T0" fmla="*/ 0 w 22"/>
              <a:gd name="T1" fmla="*/ 0 h 42"/>
              <a:gd name="T2" fmla="*/ 2147483646 w 22"/>
              <a:gd name="T3" fmla="*/ 2147483646 h 42"/>
              <a:gd name="T4" fmla="*/ 2147483646 w 22"/>
              <a:gd name="T5" fmla="*/ 2147483646 h 42"/>
              <a:gd name="T6" fmla="*/ 2147483646 w 22"/>
              <a:gd name="T7" fmla="*/ 2147483646 h 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42">
                <a:moveTo>
                  <a:pt x="0" y="0"/>
                </a:moveTo>
                <a:lnTo>
                  <a:pt x="8" y="18"/>
                </a:lnTo>
                <a:lnTo>
                  <a:pt x="20" y="39"/>
                </a:lnTo>
                <a:lnTo>
                  <a:pt x="22" y="42"/>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69" name="Freeform 53"/>
          <p:cNvSpPr>
            <a:spLocks noChangeArrowheads="1"/>
          </p:cNvSpPr>
          <p:nvPr/>
        </p:nvSpPr>
        <p:spPr bwMode="auto">
          <a:xfrm>
            <a:off x="3305175" y="3227388"/>
            <a:ext cx="57150" cy="42863"/>
          </a:xfrm>
          <a:custGeom>
            <a:avLst/>
            <a:gdLst>
              <a:gd name="T0" fmla="*/ 0 w 23"/>
              <a:gd name="T1" fmla="*/ 0 h 19"/>
              <a:gd name="T2" fmla="*/ 2147483646 w 23"/>
              <a:gd name="T3" fmla="*/ 2147483646 h 19"/>
              <a:gd name="T4" fmla="*/ 2147483646 w 23"/>
              <a:gd name="T5" fmla="*/ 2147483646 h 19"/>
              <a:gd name="T6" fmla="*/ 0 60000 65536"/>
              <a:gd name="T7" fmla="*/ 0 60000 65536"/>
              <a:gd name="T8" fmla="*/ 0 60000 65536"/>
            </a:gdLst>
            <a:ahLst/>
            <a:cxnLst>
              <a:cxn ang="T6">
                <a:pos x="T0" y="T1"/>
              </a:cxn>
              <a:cxn ang="T7">
                <a:pos x="T2" y="T3"/>
              </a:cxn>
              <a:cxn ang="T8">
                <a:pos x="T4" y="T5"/>
              </a:cxn>
            </a:cxnLst>
            <a:rect l="0" t="0" r="r" b="b"/>
            <a:pathLst>
              <a:path w="23" h="19">
                <a:moveTo>
                  <a:pt x="0" y="0"/>
                </a:moveTo>
                <a:lnTo>
                  <a:pt x="8" y="8"/>
                </a:lnTo>
                <a:lnTo>
                  <a:pt x="23" y="19"/>
                </a:lnTo>
              </a:path>
            </a:pathLst>
          </a:custGeom>
          <a:noFill/>
          <a:ln w="14288">
            <a:solidFill>
              <a:srgbClr val="FF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0" name="Freeform 54"/>
          <p:cNvSpPr>
            <a:spLocks noChangeArrowheads="1"/>
          </p:cNvSpPr>
          <p:nvPr/>
        </p:nvSpPr>
        <p:spPr bwMode="auto">
          <a:xfrm>
            <a:off x="3313113" y="3203575"/>
            <a:ext cx="146050" cy="115888"/>
          </a:xfrm>
          <a:custGeom>
            <a:avLst/>
            <a:gdLst>
              <a:gd name="T0" fmla="*/ 2147483646 w 92"/>
              <a:gd name="T1" fmla="*/ 2147483646 h 73"/>
              <a:gd name="T2" fmla="*/ 0 w 92"/>
              <a:gd name="T3" fmla="*/ 2147483646 h 73"/>
              <a:gd name="T4" fmla="*/ 2147483646 w 92"/>
              <a:gd name="T5" fmla="*/ 2147483646 h 73"/>
              <a:gd name="T6" fmla="*/ 2147483646 w 92"/>
              <a:gd name="T7" fmla="*/ 2147483646 h 73"/>
              <a:gd name="T8" fmla="*/ 2147483646 w 92"/>
              <a:gd name="T9" fmla="*/ 2147483646 h 73"/>
              <a:gd name="T10" fmla="*/ 2147483646 w 92"/>
              <a:gd name="T11" fmla="*/ 0 h 73"/>
              <a:gd name="T12" fmla="*/ 2147483646 w 92"/>
              <a:gd name="T13" fmla="*/ 2147483646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73">
                <a:moveTo>
                  <a:pt x="92" y="58"/>
                </a:moveTo>
                <a:lnTo>
                  <a:pt x="0" y="73"/>
                </a:lnTo>
                <a:lnTo>
                  <a:pt x="12" y="58"/>
                </a:lnTo>
                <a:lnTo>
                  <a:pt x="22" y="39"/>
                </a:lnTo>
                <a:lnTo>
                  <a:pt x="25" y="19"/>
                </a:lnTo>
                <a:lnTo>
                  <a:pt x="23" y="0"/>
                </a:lnTo>
                <a:lnTo>
                  <a:pt x="92" y="58"/>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1" name="Freeform 55"/>
          <p:cNvSpPr>
            <a:spLocks noChangeArrowheads="1"/>
          </p:cNvSpPr>
          <p:nvPr/>
        </p:nvSpPr>
        <p:spPr bwMode="auto">
          <a:xfrm>
            <a:off x="3255963" y="2422525"/>
            <a:ext cx="261938" cy="238125"/>
          </a:xfrm>
          <a:custGeom>
            <a:avLst/>
            <a:gdLst>
              <a:gd name="T0" fmla="*/ 0 w 165"/>
              <a:gd name="T1" fmla="*/ 2147483646 h 150"/>
              <a:gd name="T2" fmla="*/ 2147483646 w 165"/>
              <a:gd name="T3" fmla="*/ 2147483646 h 150"/>
              <a:gd name="T4" fmla="*/ 2147483646 w 165"/>
              <a:gd name="T5" fmla="*/ 2147483646 h 150"/>
              <a:gd name="T6" fmla="*/ 2147483646 w 165"/>
              <a:gd name="T7" fmla="*/ 2147483646 h 150"/>
              <a:gd name="T8" fmla="*/ 2147483646 w 165"/>
              <a:gd name="T9" fmla="*/ 2147483646 h 150"/>
              <a:gd name="T10" fmla="*/ 2147483646 w 165"/>
              <a:gd name="T11" fmla="*/ 2147483646 h 150"/>
              <a:gd name="T12" fmla="*/ 2147483646 w 165"/>
              <a:gd name="T13" fmla="*/ 0 h 150"/>
              <a:gd name="T14" fmla="*/ 2147483646 w 165"/>
              <a:gd name="T15" fmla="*/ 2147483646 h 150"/>
              <a:gd name="T16" fmla="*/ 2147483646 w 165"/>
              <a:gd name="T17" fmla="*/ 2147483646 h 150"/>
              <a:gd name="T18" fmla="*/ 2147483646 w 165"/>
              <a:gd name="T19" fmla="*/ 2147483646 h 150"/>
              <a:gd name="T20" fmla="*/ 2147483646 w 165"/>
              <a:gd name="T21" fmla="*/ 2147483646 h 150"/>
              <a:gd name="T22" fmla="*/ 2147483646 w 165"/>
              <a:gd name="T23" fmla="*/ 2147483646 h 150"/>
              <a:gd name="T24" fmla="*/ 2147483646 w 165"/>
              <a:gd name="T25" fmla="*/ 2147483646 h 150"/>
              <a:gd name="T26" fmla="*/ 2147483646 w 165"/>
              <a:gd name="T27" fmla="*/ 2147483646 h 150"/>
              <a:gd name="T28" fmla="*/ 2147483646 w 165"/>
              <a:gd name="T29" fmla="*/ 2147483646 h 150"/>
              <a:gd name="T30" fmla="*/ 2147483646 w 165"/>
              <a:gd name="T31" fmla="*/ 2147483646 h 150"/>
              <a:gd name="T32" fmla="*/ 2147483646 w 165"/>
              <a:gd name="T33" fmla="*/ 2147483646 h 150"/>
              <a:gd name="T34" fmla="*/ 2147483646 w 165"/>
              <a:gd name="T35" fmla="*/ 2147483646 h 150"/>
              <a:gd name="T36" fmla="*/ 2147483646 w 165"/>
              <a:gd name="T37" fmla="*/ 2147483646 h 150"/>
              <a:gd name="T38" fmla="*/ 2147483646 w 165"/>
              <a:gd name="T39" fmla="*/ 2147483646 h 150"/>
              <a:gd name="T40" fmla="*/ 2147483646 w 165"/>
              <a:gd name="T41" fmla="*/ 2147483646 h 150"/>
              <a:gd name="T42" fmla="*/ 2147483646 w 165"/>
              <a:gd name="T43" fmla="*/ 2147483646 h 150"/>
              <a:gd name="T44" fmla="*/ 2147483646 w 165"/>
              <a:gd name="T45" fmla="*/ 2147483646 h 150"/>
              <a:gd name="T46" fmla="*/ 2147483646 w 165"/>
              <a:gd name="T47" fmla="*/ 2147483646 h 150"/>
              <a:gd name="T48" fmla="*/ 0 w 165"/>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150">
                <a:moveTo>
                  <a:pt x="0" y="75"/>
                </a:moveTo>
                <a:lnTo>
                  <a:pt x="2" y="55"/>
                </a:lnTo>
                <a:lnTo>
                  <a:pt x="11" y="37"/>
                </a:lnTo>
                <a:lnTo>
                  <a:pt x="23" y="22"/>
                </a:lnTo>
                <a:lnTo>
                  <a:pt x="41" y="10"/>
                </a:lnTo>
                <a:lnTo>
                  <a:pt x="61" y="2"/>
                </a:lnTo>
                <a:lnTo>
                  <a:pt x="83" y="0"/>
                </a:lnTo>
                <a:lnTo>
                  <a:pt x="103" y="2"/>
                </a:lnTo>
                <a:lnTo>
                  <a:pt x="123" y="10"/>
                </a:lnTo>
                <a:lnTo>
                  <a:pt x="140" y="22"/>
                </a:lnTo>
                <a:lnTo>
                  <a:pt x="154" y="37"/>
                </a:lnTo>
                <a:lnTo>
                  <a:pt x="162" y="55"/>
                </a:lnTo>
                <a:lnTo>
                  <a:pt x="165" y="75"/>
                </a:lnTo>
                <a:lnTo>
                  <a:pt x="162" y="95"/>
                </a:lnTo>
                <a:lnTo>
                  <a:pt x="154" y="112"/>
                </a:lnTo>
                <a:lnTo>
                  <a:pt x="140" y="127"/>
                </a:lnTo>
                <a:lnTo>
                  <a:pt x="123" y="140"/>
                </a:lnTo>
                <a:lnTo>
                  <a:pt x="103" y="147"/>
                </a:lnTo>
                <a:lnTo>
                  <a:pt x="83" y="150"/>
                </a:lnTo>
                <a:lnTo>
                  <a:pt x="61" y="147"/>
                </a:lnTo>
                <a:lnTo>
                  <a:pt x="41" y="140"/>
                </a:lnTo>
                <a:lnTo>
                  <a:pt x="23" y="127"/>
                </a:lnTo>
                <a:lnTo>
                  <a:pt x="11" y="112"/>
                </a:lnTo>
                <a:lnTo>
                  <a:pt x="2" y="95"/>
                </a:lnTo>
                <a:lnTo>
                  <a:pt x="0" y="75"/>
                </a:lnTo>
                <a:close/>
              </a:path>
            </a:pathLst>
          </a:custGeom>
          <a:solidFill>
            <a:srgbClr val="FF0000"/>
          </a:solidFill>
          <a:ln w="14288">
            <a:solidFill>
              <a:srgbClr val="00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2" name="Rectangle 56"/>
          <p:cNvSpPr>
            <a:spLocks noChangeArrowheads="1"/>
          </p:cNvSpPr>
          <p:nvPr/>
        </p:nvSpPr>
        <p:spPr bwMode="auto">
          <a:xfrm>
            <a:off x="3336925" y="2447925"/>
            <a:ext cx="841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1300" b="0" i="0" u="none" strike="noStrike" kern="1200" cap="none" spc="0" normalizeH="0" baseline="0" noProof="0">
                <a:ln>
                  <a:noFill/>
                </a:ln>
                <a:solidFill>
                  <a:srgbClr val="000000"/>
                </a:solidFill>
                <a:effectLst/>
                <a:uLnTx/>
                <a:uFillTx/>
                <a:latin typeface="+mn-lt"/>
                <a:ea typeface="+mn-ea"/>
                <a:cs typeface="+mn-ea"/>
                <a:sym typeface="+mn-lt"/>
              </a:rPr>
              <a:t>2</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3" name="Line 57"/>
          <p:cNvSpPr>
            <a:spLocks noChangeShapeType="1"/>
          </p:cNvSpPr>
          <p:nvPr/>
        </p:nvSpPr>
        <p:spPr bwMode="auto">
          <a:xfrm>
            <a:off x="4921250" y="3348038"/>
            <a:ext cx="119063" cy="1588"/>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4" name="Line 58"/>
          <p:cNvSpPr>
            <a:spLocks noChangeShapeType="1"/>
          </p:cNvSpPr>
          <p:nvPr/>
        </p:nvSpPr>
        <p:spPr bwMode="auto">
          <a:xfrm>
            <a:off x="5114925" y="3348038"/>
            <a:ext cx="117475" cy="1588"/>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5" name="Line 59"/>
          <p:cNvSpPr>
            <a:spLocks noChangeShapeType="1"/>
          </p:cNvSpPr>
          <p:nvPr/>
        </p:nvSpPr>
        <p:spPr bwMode="auto">
          <a:xfrm>
            <a:off x="5307013" y="3348038"/>
            <a:ext cx="119063" cy="1588"/>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6" name="Freeform 60"/>
          <p:cNvSpPr>
            <a:spLocks noChangeArrowheads="1"/>
          </p:cNvSpPr>
          <p:nvPr/>
        </p:nvSpPr>
        <p:spPr bwMode="auto">
          <a:xfrm>
            <a:off x="5500688" y="3246438"/>
            <a:ext cx="4763" cy="101600"/>
          </a:xfrm>
          <a:custGeom>
            <a:avLst/>
            <a:gdLst>
              <a:gd name="T0" fmla="*/ 0 w 2"/>
              <a:gd name="T1" fmla="*/ 2147483646 h 46"/>
              <a:gd name="T2" fmla="*/ 2147483646 w 2"/>
              <a:gd name="T3" fmla="*/ 2147483646 h 46"/>
              <a:gd name="T4" fmla="*/ 2147483646 w 2"/>
              <a:gd name="T5" fmla="*/ 0 h 46"/>
              <a:gd name="T6" fmla="*/ 0 60000 65536"/>
              <a:gd name="T7" fmla="*/ 0 60000 65536"/>
              <a:gd name="T8" fmla="*/ 0 60000 65536"/>
            </a:gdLst>
            <a:ahLst/>
            <a:cxnLst>
              <a:cxn ang="T6">
                <a:pos x="T0" y="T1"/>
              </a:cxn>
              <a:cxn ang="T7">
                <a:pos x="T2" y="T3"/>
              </a:cxn>
              <a:cxn ang="T8">
                <a:pos x="T4" y="T5"/>
              </a:cxn>
            </a:cxnLst>
            <a:rect l="0" t="0" r="r" b="b"/>
            <a:pathLst>
              <a:path w="2" h="46">
                <a:moveTo>
                  <a:pt x="0" y="46"/>
                </a:moveTo>
                <a:lnTo>
                  <a:pt x="2" y="46"/>
                </a:lnTo>
                <a:lnTo>
                  <a:pt x="2" y="0"/>
                </a:lnTo>
              </a:path>
            </a:pathLst>
          </a:custGeom>
          <a:noFill/>
          <a:ln w="14288">
            <a:solidFill>
              <a:srgbClr val="00FF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7" name="Line 61"/>
          <p:cNvSpPr>
            <a:spLocks noChangeShapeType="1"/>
          </p:cNvSpPr>
          <p:nvPr/>
        </p:nvSpPr>
        <p:spPr bwMode="auto">
          <a:xfrm flipV="1">
            <a:off x="5505450" y="3070225"/>
            <a:ext cx="1588" cy="107950"/>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8" name="Line 62"/>
          <p:cNvSpPr>
            <a:spLocks noChangeShapeType="1"/>
          </p:cNvSpPr>
          <p:nvPr/>
        </p:nvSpPr>
        <p:spPr bwMode="auto">
          <a:xfrm flipV="1">
            <a:off x="5505450" y="2895600"/>
            <a:ext cx="1588" cy="107950"/>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79" name="Line 63"/>
          <p:cNvSpPr>
            <a:spLocks noChangeShapeType="1"/>
          </p:cNvSpPr>
          <p:nvPr/>
        </p:nvSpPr>
        <p:spPr bwMode="auto">
          <a:xfrm flipV="1">
            <a:off x="5505450" y="2720975"/>
            <a:ext cx="1588" cy="107950"/>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0" name="Line 64"/>
          <p:cNvSpPr>
            <a:spLocks noChangeShapeType="1"/>
          </p:cNvSpPr>
          <p:nvPr/>
        </p:nvSpPr>
        <p:spPr bwMode="auto">
          <a:xfrm flipV="1">
            <a:off x="5505450" y="2546350"/>
            <a:ext cx="1588" cy="107950"/>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1" name="Line 65"/>
          <p:cNvSpPr>
            <a:spLocks noChangeShapeType="1"/>
          </p:cNvSpPr>
          <p:nvPr/>
        </p:nvSpPr>
        <p:spPr bwMode="auto">
          <a:xfrm flipV="1">
            <a:off x="5505450" y="2381250"/>
            <a:ext cx="1588" cy="98425"/>
          </a:xfrm>
          <a:prstGeom prst="line">
            <a:avLst/>
          </a:prstGeom>
          <a:noFill/>
          <a:ln w="14288">
            <a:solidFill>
              <a:srgbClr val="00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2" name="Freeform 66"/>
          <p:cNvSpPr>
            <a:spLocks noChangeArrowheads="1"/>
          </p:cNvSpPr>
          <p:nvPr/>
        </p:nvSpPr>
        <p:spPr bwMode="auto">
          <a:xfrm>
            <a:off x="5438775" y="2290763"/>
            <a:ext cx="133350" cy="120650"/>
          </a:xfrm>
          <a:custGeom>
            <a:avLst/>
            <a:gdLst>
              <a:gd name="T0" fmla="*/ 2147483646 w 84"/>
              <a:gd name="T1" fmla="*/ 0 h 76"/>
              <a:gd name="T2" fmla="*/ 0 w 84"/>
              <a:gd name="T3" fmla="*/ 2147483646 h 76"/>
              <a:gd name="T4" fmla="*/ 2147483646 w 84"/>
              <a:gd name="T5" fmla="*/ 2147483646 h 76"/>
              <a:gd name="T6" fmla="*/ 2147483646 w 84"/>
              <a:gd name="T7" fmla="*/ 2147483646 h 76"/>
              <a:gd name="T8" fmla="*/ 2147483646 w 84"/>
              <a:gd name="T9" fmla="*/ 2147483646 h 76"/>
              <a:gd name="T10" fmla="*/ 2147483646 w 84"/>
              <a:gd name="T11" fmla="*/ 2147483646 h 76"/>
              <a:gd name="T12" fmla="*/ 2147483646 w 84"/>
              <a:gd name="T13" fmla="*/ 0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42" y="0"/>
                </a:moveTo>
                <a:lnTo>
                  <a:pt x="0" y="76"/>
                </a:lnTo>
                <a:lnTo>
                  <a:pt x="20" y="69"/>
                </a:lnTo>
                <a:lnTo>
                  <a:pt x="42" y="66"/>
                </a:lnTo>
                <a:lnTo>
                  <a:pt x="64" y="69"/>
                </a:lnTo>
                <a:lnTo>
                  <a:pt x="84" y="76"/>
                </a:lnTo>
                <a:lnTo>
                  <a:pt x="42" y="0"/>
                </a:lnTo>
                <a:close/>
              </a:path>
            </a:pathLst>
          </a:cu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3" name="Freeform 67"/>
          <p:cNvSpPr>
            <a:spLocks noChangeArrowheads="1"/>
          </p:cNvSpPr>
          <p:nvPr/>
        </p:nvSpPr>
        <p:spPr bwMode="auto">
          <a:xfrm>
            <a:off x="5535613" y="2422525"/>
            <a:ext cx="261938" cy="238125"/>
          </a:xfrm>
          <a:custGeom>
            <a:avLst/>
            <a:gdLst>
              <a:gd name="T0" fmla="*/ 0 w 165"/>
              <a:gd name="T1" fmla="*/ 2147483646 h 150"/>
              <a:gd name="T2" fmla="*/ 2147483646 w 165"/>
              <a:gd name="T3" fmla="*/ 2147483646 h 150"/>
              <a:gd name="T4" fmla="*/ 2147483646 w 165"/>
              <a:gd name="T5" fmla="*/ 2147483646 h 150"/>
              <a:gd name="T6" fmla="*/ 2147483646 w 165"/>
              <a:gd name="T7" fmla="*/ 2147483646 h 150"/>
              <a:gd name="T8" fmla="*/ 2147483646 w 165"/>
              <a:gd name="T9" fmla="*/ 2147483646 h 150"/>
              <a:gd name="T10" fmla="*/ 2147483646 w 165"/>
              <a:gd name="T11" fmla="*/ 2147483646 h 150"/>
              <a:gd name="T12" fmla="*/ 2147483646 w 165"/>
              <a:gd name="T13" fmla="*/ 0 h 150"/>
              <a:gd name="T14" fmla="*/ 2147483646 w 165"/>
              <a:gd name="T15" fmla="*/ 2147483646 h 150"/>
              <a:gd name="T16" fmla="*/ 2147483646 w 165"/>
              <a:gd name="T17" fmla="*/ 2147483646 h 150"/>
              <a:gd name="T18" fmla="*/ 2147483646 w 165"/>
              <a:gd name="T19" fmla="*/ 2147483646 h 150"/>
              <a:gd name="T20" fmla="*/ 2147483646 w 165"/>
              <a:gd name="T21" fmla="*/ 2147483646 h 150"/>
              <a:gd name="T22" fmla="*/ 2147483646 w 165"/>
              <a:gd name="T23" fmla="*/ 2147483646 h 150"/>
              <a:gd name="T24" fmla="*/ 2147483646 w 165"/>
              <a:gd name="T25" fmla="*/ 2147483646 h 150"/>
              <a:gd name="T26" fmla="*/ 2147483646 w 165"/>
              <a:gd name="T27" fmla="*/ 2147483646 h 150"/>
              <a:gd name="T28" fmla="*/ 2147483646 w 165"/>
              <a:gd name="T29" fmla="*/ 2147483646 h 150"/>
              <a:gd name="T30" fmla="*/ 2147483646 w 165"/>
              <a:gd name="T31" fmla="*/ 2147483646 h 150"/>
              <a:gd name="T32" fmla="*/ 2147483646 w 165"/>
              <a:gd name="T33" fmla="*/ 2147483646 h 150"/>
              <a:gd name="T34" fmla="*/ 2147483646 w 165"/>
              <a:gd name="T35" fmla="*/ 2147483646 h 150"/>
              <a:gd name="T36" fmla="*/ 2147483646 w 165"/>
              <a:gd name="T37" fmla="*/ 2147483646 h 150"/>
              <a:gd name="T38" fmla="*/ 2147483646 w 165"/>
              <a:gd name="T39" fmla="*/ 2147483646 h 150"/>
              <a:gd name="T40" fmla="*/ 2147483646 w 165"/>
              <a:gd name="T41" fmla="*/ 2147483646 h 150"/>
              <a:gd name="T42" fmla="*/ 2147483646 w 165"/>
              <a:gd name="T43" fmla="*/ 2147483646 h 150"/>
              <a:gd name="T44" fmla="*/ 2147483646 w 165"/>
              <a:gd name="T45" fmla="*/ 2147483646 h 150"/>
              <a:gd name="T46" fmla="*/ 2147483646 w 165"/>
              <a:gd name="T47" fmla="*/ 2147483646 h 150"/>
              <a:gd name="T48" fmla="*/ 0 w 165"/>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150">
                <a:moveTo>
                  <a:pt x="0" y="75"/>
                </a:moveTo>
                <a:lnTo>
                  <a:pt x="3" y="55"/>
                </a:lnTo>
                <a:lnTo>
                  <a:pt x="10" y="37"/>
                </a:lnTo>
                <a:lnTo>
                  <a:pt x="23" y="22"/>
                </a:lnTo>
                <a:lnTo>
                  <a:pt x="40" y="10"/>
                </a:lnTo>
                <a:lnTo>
                  <a:pt x="60" y="2"/>
                </a:lnTo>
                <a:lnTo>
                  <a:pt x="82" y="0"/>
                </a:lnTo>
                <a:lnTo>
                  <a:pt x="104" y="2"/>
                </a:lnTo>
                <a:lnTo>
                  <a:pt x="123" y="10"/>
                </a:lnTo>
                <a:lnTo>
                  <a:pt x="140" y="22"/>
                </a:lnTo>
                <a:lnTo>
                  <a:pt x="154" y="37"/>
                </a:lnTo>
                <a:lnTo>
                  <a:pt x="162" y="55"/>
                </a:lnTo>
                <a:lnTo>
                  <a:pt x="165" y="75"/>
                </a:lnTo>
                <a:lnTo>
                  <a:pt x="162" y="95"/>
                </a:lnTo>
                <a:lnTo>
                  <a:pt x="154" y="112"/>
                </a:lnTo>
                <a:lnTo>
                  <a:pt x="140" y="127"/>
                </a:lnTo>
                <a:lnTo>
                  <a:pt x="123" y="140"/>
                </a:lnTo>
                <a:lnTo>
                  <a:pt x="104" y="147"/>
                </a:lnTo>
                <a:lnTo>
                  <a:pt x="82" y="150"/>
                </a:lnTo>
                <a:lnTo>
                  <a:pt x="60" y="147"/>
                </a:lnTo>
                <a:lnTo>
                  <a:pt x="40" y="140"/>
                </a:lnTo>
                <a:lnTo>
                  <a:pt x="23" y="127"/>
                </a:lnTo>
                <a:lnTo>
                  <a:pt x="10" y="112"/>
                </a:lnTo>
                <a:lnTo>
                  <a:pt x="3" y="95"/>
                </a:lnTo>
                <a:lnTo>
                  <a:pt x="0" y="75"/>
                </a:lnTo>
                <a:close/>
              </a:path>
            </a:pathLst>
          </a:custGeom>
          <a:solidFill>
            <a:srgbClr val="00FF00"/>
          </a:solidFill>
          <a:ln w="14288">
            <a:solidFill>
              <a:srgbClr val="00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4" name="Rectangle 68"/>
          <p:cNvSpPr>
            <a:spLocks noChangeArrowheads="1"/>
          </p:cNvSpPr>
          <p:nvPr/>
        </p:nvSpPr>
        <p:spPr bwMode="auto">
          <a:xfrm>
            <a:off x="5619750" y="2447925"/>
            <a:ext cx="841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1300" b="0" i="0" u="none" strike="noStrike" kern="1200" cap="none" spc="0" normalizeH="0" baseline="0" noProof="0">
                <a:ln>
                  <a:noFill/>
                </a:ln>
                <a:solidFill>
                  <a:srgbClr val="000000"/>
                </a:solidFill>
                <a:effectLst/>
                <a:uLnTx/>
                <a:uFillTx/>
                <a:latin typeface="+mn-lt"/>
                <a:ea typeface="+mn-ea"/>
                <a:cs typeface="+mn-ea"/>
                <a:sym typeface="+mn-lt"/>
              </a:rPr>
              <a:t>3</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5" name="Freeform 69"/>
          <p:cNvSpPr>
            <a:spLocks noChangeArrowheads="1"/>
          </p:cNvSpPr>
          <p:nvPr/>
        </p:nvSpPr>
        <p:spPr bwMode="auto">
          <a:xfrm>
            <a:off x="5213350" y="3138488"/>
            <a:ext cx="19050" cy="104775"/>
          </a:xfrm>
          <a:custGeom>
            <a:avLst/>
            <a:gdLst>
              <a:gd name="T0" fmla="*/ 0 w 8"/>
              <a:gd name="T1" fmla="*/ 2147483646 h 47"/>
              <a:gd name="T2" fmla="*/ 2147483646 w 8"/>
              <a:gd name="T3" fmla="*/ 2147483646 h 47"/>
              <a:gd name="T4" fmla="*/ 2147483646 w 8"/>
              <a:gd name="T5" fmla="*/ 0 h 47"/>
              <a:gd name="T6" fmla="*/ 0 60000 65536"/>
              <a:gd name="T7" fmla="*/ 0 60000 65536"/>
              <a:gd name="T8" fmla="*/ 0 60000 65536"/>
            </a:gdLst>
            <a:ahLst/>
            <a:cxnLst>
              <a:cxn ang="T6">
                <a:pos x="T0" y="T1"/>
              </a:cxn>
              <a:cxn ang="T7">
                <a:pos x="T2" y="T3"/>
              </a:cxn>
              <a:cxn ang="T8">
                <a:pos x="T4" y="T5"/>
              </a:cxn>
            </a:cxnLst>
            <a:rect l="0" t="0" r="r" b="b"/>
            <a:pathLst>
              <a:path w="8" h="47">
                <a:moveTo>
                  <a:pt x="0" y="47"/>
                </a:moveTo>
                <a:lnTo>
                  <a:pt x="8" y="2"/>
                </a:lnTo>
                <a:lnTo>
                  <a:pt x="8" y="0"/>
                </a:lnTo>
              </a:path>
            </a:pathLst>
          </a:custGeom>
          <a:noFill/>
          <a:ln w="14351">
            <a:solidFill>
              <a:srgbClr val="80008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6" name="Freeform 70"/>
          <p:cNvSpPr>
            <a:spLocks noChangeArrowheads="1"/>
          </p:cNvSpPr>
          <p:nvPr/>
        </p:nvSpPr>
        <p:spPr bwMode="auto">
          <a:xfrm>
            <a:off x="5243513" y="2963863"/>
            <a:ext cx="14288" cy="106363"/>
          </a:xfrm>
          <a:custGeom>
            <a:avLst/>
            <a:gdLst>
              <a:gd name="T0" fmla="*/ 0 w 6"/>
              <a:gd name="T1" fmla="*/ 2147483646 h 48"/>
              <a:gd name="T2" fmla="*/ 2147483646 w 6"/>
              <a:gd name="T3" fmla="*/ 2147483646 h 48"/>
              <a:gd name="T4" fmla="*/ 2147483646 w 6"/>
              <a:gd name="T5" fmla="*/ 0 h 48"/>
              <a:gd name="T6" fmla="*/ 0 60000 65536"/>
              <a:gd name="T7" fmla="*/ 0 60000 65536"/>
              <a:gd name="T8" fmla="*/ 0 60000 65536"/>
            </a:gdLst>
            <a:ahLst/>
            <a:cxnLst>
              <a:cxn ang="T6">
                <a:pos x="T0" y="T1"/>
              </a:cxn>
              <a:cxn ang="T7">
                <a:pos x="T2" y="T3"/>
              </a:cxn>
              <a:cxn ang="T8">
                <a:pos x="T4" y="T5"/>
              </a:cxn>
            </a:cxnLst>
            <a:rect l="0" t="0" r="r" b="b"/>
            <a:pathLst>
              <a:path w="6" h="48">
                <a:moveTo>
                  <a:pt x="0" y="48"/>
                </a:moveTo>
                <a:lnTo>
                  <a:pt x="2" y="36"/>
                </a:lnTo>
                <a:lnTo>
                  <a:pt x="6" y="0"/>
                </a:lnTo>
              </a:path>
            </a:pathLst>
          </a:custGeom>
          <a:noFill/>
          <a:ln w="73025">
            <a:solidFill>
              <a:srgbClr val="993366"/>
            </a:solidFill>
            <a:round/>
            <a:head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7" name="Freeform 71"/>
          <p:cNvSpPr>
            <a:spLocks noChangeArrowheads="1"/>
          </p:cNvSpPr>
          <p:nvPr/>
        </p:nvSpPr>
        <p:spPr bwMode="auto">
          <a:xfrm>
            <a:off x="5262563" y="2789238"/>
            <a:ext cx="4763" cy="106363"/>
          </a:xfrm>
          <a:custGeom>
            <a:avLst/>
            <a:gdLst>
              <a:gd name="T0" fmla="*/ 0 w 2"/>
              <a:gd name="T1" fmla="*/ 2147483646 h 48"/>
              <a:gd name="T2" fmla="*/ 2147483646 w 2"/>
              <a:gd name="T3" fmla="*/ 2147483646 h 48"/>
              <a:gd name="T4" fmla="*/ 2147483646 w 2"/>
              <a:gd name="T5" fmla="*/ 0 h 48"/>
              <a:gd name="T6" fmla="*/ 0 60000 65536"/>
              <a:gd name="T7" fmla="*/ 0 60000 65536"/>
              <a:gd name="T8" fmla="*/ 0 60000 65536"/>
            </a:gdLst>
            <a:ahLst/>
            <a:cxnLst>
              <a:cxn ang="T6">
                <a:pos x="T0" y="T1"/>
              </a:cxn>
              <a:cxn ang="T7">
                <a:pos x="T2" y="T3"/>
              </a:cxn>
              <a:cxn ang="T8">
                <a:pos x="T4" y="T5"/>
              </a:cxn>
            </a:cxnLst>
            <a:rect l="0" t="0" r="r" b="b"/>
            <a:pathLst>
              <a:path w="2" h="48">
                <a:moveTo>
                  <a:pt x="0" y="48"/>
                </a:moveTo>
                <a:lnTo>
                  <a:pt x="1" y="29"/>
                </a:lnTo>
                <a:lnTo>
                  <a:pt x="2" y="0"/>
                </a:lnTo>
              </a:path>
            </a:pathLst>
          </a:custGeom>
          <a:noFill/>
          <a:ln w="73025">
            <a:solidFill>
              <a:srgbClr val="993366"/>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8" name="Freeform 72"/>
          <p:cNvSpPr>
            <a:spLocks noChangeArrowheads="1"/>
          </p:cNvSpPr>
          <p:nvPr/>
        </p:nvSpPr>
        <p:spPr bwMode="auto">
          <a:xfrm>
            <a:off x="5257800" y="2613025"/>
            <a:ext cx="7938" cy="107950"/>
          </a:xfrm>
          <a:custGeom>
            <a:avLst/>
            <a:gdLst>
              <a:gd name="T0" fmla="*/ 2147483646 w 3"/>
              <a:gd name="T1" fmla="*/ 2147483646 h 48"/>
              <a:gd name="T2" fmla="*/ 2147483646 w 3"/>
              <a:gd name="T3" fmla="*/ 2147483646 h 48"/>
              <a:gd name="T4" fmla="*/ 0 w 3"/>
              <a:gd name="T5" fmla="*/ 0 h 48"/>
              <a:gd name="T6" fmla="*/ 0 60000 65536"/>
              <a:gd name="T7" fmla="*/ 0 60000 65536"/>
              <a:gd name="T8" fmla="*/ 0 60000 65536"/>
            </a:gdLst>
            <a:ahLst/>
            <a:cxnLst>
              <a:cxn ang="T6">
                <a:pos x="T0" y="T1"/>
              </a:cxn>
              <a:cxn ang="T7">
                <a:pos x="T2" y="T3"/>
              </a:cxn>
              <a:cxn ang="T8">
                <a:pos x="T4" y="T5"/>
              </a:cxn>
            </a:cxnLst>
            <a:rect l="0" t="0" r="r" b="b"/>
            <a:pathLst>
              <a:path w="3" h="48">
                <a:moveTo>
                  <a:pt x="3" y="48"/>
                </a:moveTo>
                <a:lnTo>
                  <a:pt x="2" y="27"/>
                </a:lnTo>
                <a:lnTo>
                  <a:pt x="0" y="0"/>
                </a:lnTo>
              </a:path>
            </a:pathLst>
          </a:custGeom>
          <a:noFill/>
          <a:ln w="73025">
            <a:solidFill>
              <a:srgbClr val="993366"/>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89" name="Freeform 73"/>
          <p:cNvSpPr>
            <a:spLocks noChangeArrowheads="1"/>
          </p:cNvSpPr>
          <p:nvPr/>
        </p:nvSpPr>
        <p:spPr bwMode="auto">
          <a:xfrm>
            <a:off x="5226050" y="2441575"/>
            <a:ext cx="22225" cy="104775"/>
          </a:xfrm>
          <a:custGeom>
            <a:avLst/>
            <a:gdLst>
              <a:gd name="T0" fmla="*/ 2147483646 w 9"/>
              <a:gd name="T1" fmla="*/ 2147483646 h 47"/>
              <a:gd name="T2" fmla="*/ 2147483646 w 9"/>
              <a:gd name="T3" fmla="*/ 2147483646 h 47"/>
              <a:gd name="T4" fmla="*/ 0 w 9"/>
              <a:gd name="T5" fmla="*/ 0 h 47"/>
              <a:gd name="T6" fmla="*/ 0 60000 65536"/>
              <a:gd name="T7" fmla="*/ 0 60000 65536"/>
              <a:gd name="T8" fmla="*/ 0 60000 65536"/>
            </a:gdLst>
            <a:ahLst/>
            <a:cxnLst>
              <a:cxn ang="T6">
                <a:pos x="T0" y="T1"/>
              </a:cxn>
              <a:cxn ang="T7">
                <a:pos x="T2" y="T3"/>
              </a:cxn>
              <a:cxn ang="T8">
                <a:pos x="T4" y="T5"/>
              </a:cxn>
            </a:cxnLst>
            <a:rect l="0" t="0" r="r" b="b"/>
            <a:pathLst>
              <a:path w="9" h="47">
                <a:moveTo>
                  <a:pt x="9" y="47"/>
                </a:moveTo>
                <a:lnTo>
                  <a:pt x="7" y="32"/>
                </a:lnTo>
                <a:lnTo>
                  <a:pt x="0" y="0"/>
                </a:lnTo>
              </a:path>
            </a:pathLst>
          </a:custGeom>
          <a:noFill/>
          <a:ln w="73025">
            <a:solidFill>
              <a:srgbClr val="993366"/>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0" name="Freeform 74"/>
          <p:cNvSpPr>
            <a:spLocks noChangeArrowheads="1"/>
          </p:cNvSpPr>
          <p:nvPr/>
        </p:nvSpPr>
        <p:spPr bwMode="auto">
          <a:xfrm>
            <a:off x="5159375" y="2278063"/>
            <a:ext cx="46038" cy="98425"/>
          </a:xfrm>
          <a:custGeom>
            <a:avLst/>
            <a:gdLst>
              <a:gd name="T0" fmla="*/ 2147483646 w 19"/>
              <a:gd name="T1" fmla="*/ 2147483646 h 44"/>
              <a:gd name="T2" fmla="*/ 2147483646 w 19"/>
              <a:gd name="T3" fmla="*/ 2147483646 h 44"/>
              <a:gd name="T4" fmla="*/ 2147483646 w 19"/>
              <a:gd name="T5" fmla="*/ 2147483646 h 44"/>
              <a:gd name="T6" fmla="*/ 0 w 19"/>
              <a:gd name="T7" fmla="*/ 0 h 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44">
                <a:moveTo>
                  <a:pt x="19" y="44"/>
                </a:moveTo>
                <a:lnTo>
                  <a:pt x="18" y="42"/>
                </a:lnTo>
                <a:lnTo>
                  <a:pt x="7" y="15"/>
                </a:lnTo>
                <a:lnTo>
                  <a:pt x="0" y="0"/>
                </a:lnTo>
              </a:path>
            </a:pathLst>
          </a:custGeom>
          <a:noFill/>
          <a:ln w="14288">
            <a:solidFill>
              <a:srgbClr val="FFFF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1" name="Freeform 75"/>
          <p:cNvSpPr>
            <a:spLocks noChangeArrowheads="1"/>
          </p:cNvSpPr>
          <p:nvPr/>
        </p:nvSpPr>
        <p:spPr bwMode="auto">
          <a:xfrm>
            <a:off x="5040313" y="2141538"/>
            <a:ext cx="80963" cy="77788"/>
          </a:xfrm>
          <a:custGeom>
            <a:avLst/>
            <a:gdLst>
              <a:gd name="T0" fmla="*/ 2147483646 w 33"/>
              <a:gd name="T1" fmla="*/ 2147483646 h 35"/>
              <a:gd name="T2" fmla="*/ 2147483646 w 33"/>
              <a:gd name="T3" fmla="*/ 2147483646 h 35"/>
              <a:gd name="T4" fmla="*/ 2147483646 w 33"/>
              <a:gd name="T5" fmla="*/ 2147483646 h 35"/>
              <a:gd name="T6" fmla="*/ 0 w 33"/>
              <a:gd name="T7" fmla="*/ 0 h 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 h="35">
                <a:moveTo>
                  <a:pt x="33" y="35"/>
                </a:moveTo>
                <a:lnTo>
                  <a:pt x="29" y="30"/>
                </a:lnTo>
                <a:lnTo>
                  <a:pt x="13" y="11"/>
                </a:lnTo>
                <a:lnTo>
                  <a:pt x="0" y="0"/>
                </a:lnTo>
              </a:path>
            </a:pathLst>
          </a:custGeom>
          <a:noFill/>
          <a:ln w="73025">
            <a:solidFill>
              <a:srgbClr val="993366"/>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2" name="Freeform 76"/>
          <p:cNvSpPr>
            <a:spLocks noChangeArrowheads="1"/>
          </p:cNvSpPr>
          <p:nvPr/>
        </p:nvSpPr>
        <p:spPr bwMode="auto">
          <a:xfrm>
            <a:off x="4864100" y="2076450"/>
            <a:ext cx="114300" cy="26988"/>
          </a:xfrm>
          <a:custGeom>
            <a:avLst/>
            <a:gdLst>
              <a:gd name="T0" fmla="*/ 2147483646 w 46"/>
              <a:gd name="T1" fmla="*/ 2147483646 h 12"/>
              <a:gd name="T2" fmla="*/ 2147483646 w 46"/>
              <a:gd name="T3" fmla="*/ 2147483646 h 12"/>
              <a:gd name="T4" fmla="*/ 2147483646 w 46"/>
              <a:gd name="T5" fmla="*/ 0 h 12"/>
              <a:gd name="T6" fmla="*/ 0 w 46"/>
              <a:gd name="T7" fmla="*/ 0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 h="12">
                <a:moveTo>
                  <a:pt x="46" y="12"/>
                </a:moveTo>
                <a:lnTo>
                  <a:pt x="29" y="5"/>
                </a:lnTo>
                <a:lnTo>
                  <a:pt x="8" y="0"/>
                </a:lnTo>
                <a:lnTo>
                  <a:pt x="0" y="0"/>
                </a:lnTo>
              </a:path>
            </a:pathLst>
          </a:custGeom>
          <a:noFill/>
          <a:ln w="14288">
            <a:solidFill>
              <a:srgbClr val="FFFF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3" name="Line 77"/>
          <p:cNvSpPr>
            <a:spLocks noChangeShapeType="1"/>
          </p:cNvSpPr>
          <p:nvPr/>
        </p:nvSpPr>
        <p:spPr bwMode="auto">
          <a:xfrm flipH="1">
            <a:off x="4775200" y="2076450"/>
            <a:ext cx="14288" cy="1588"/>
          </a:xfrm>
          <a:prstGeom prst="line">
            <a:avLst/>
          </a:prstGeom>
          <a:noFill/>
          <a:ln w="14288">
            <a:solidFill>
              <a:srgbClr val="FFFF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4" name="Freeform 78"/>
          <p:cNvSpPr>
            <a:spLocks noChangeArrowheads="1"/>
          </p:cNvSpPr>
          <p:nvPr/>
        </p:nvSpPr>
        <p:spPr bwMode="auto">
          <a:xfrm>
            <a:off x="4862513" y="2436813"/>
            <a:ext cx="261938" cy="238125"/>
          </a:xfrm>
          <a:custGeom>
            <a:avLst/>
            <a:gdLst>
              <a:gd name="T0" fmla="*/ 0 w 165"/>
              <a:gd name="T1" fmla="*/ 2147483646 h 150"/>
              <a:gd name="T2" fmla="*/ 2147483646 w 165"/>
              <a:gd name="T3" fmla="*/ 2147483646 h 150"/>
              <a:gd name="T4" fmla="*/ 2147483646 w 165"/>
              <a:gd name="T5" fmla="*/ 2147483646 h 150"/>
              <a:gd name="T6" fmla="*/ 2147483646 w 165"/>
              <a:gd name="T7" fmla="*/ 2147483646 h 150"/>
              <a:gd name="T8" fmla="*/ 2147483646 w 165"/>
              <a:gd name="T9" fmla="*/ 2147483646 h 150"/>
              <a:gd name="T10" fmla="*/ 2147483646 w 165"/>
              <a:gd name="T11" fmla="*/ 2147483646 h 150"/>
              <a:gd name="T12" fmla="*/ 2147483646 w 165"/>
              <a:gd name="T13" fmla="*/ 0 h 150"/>
              <a:gd name="T14" fmla="*/ 2147483646 w 165"/>
              <a:gd name="T15" fmla="*/ 2147483646 h 150"/>
              <a:gd name="T16" fmla="*/ 2147483646 w 165"/>
              <a:gd name="T17" fmla="*/ 2147483646 h 150"/>
              <a:gd name="T18" fmla="*/ 2147483646 w 165"/>
              <a:gd name="T19" fmla="*/ 2147483646 h 150"/>
              <a:gd name="T20" fmla="*/ 2147483646 w 165"/>
              <a:gd name="T21" fmla="*/ 2147483646 h 150"/>
              <a:gd name="T22" fmla="*/ 2147483646 w 165"/>
              <a:gd name="T23" fmla="*/ 2147483646 h 150"/>
              <a:gd name="T24" fmla="*/ 2147483646 w 165"/>
              <a:gd name="T25" fmla="*/ 2147483646 h 150"/>
              <a:gd name="T26" fmla="*/ 2147483646 w 165"/>
              <a:gd name="T27" fmla="*/ 2147483646 h 150"/>
              <a:gd name="T28" fmla="*/ 2147483646 w 165"/>
              <a:gd name="T29" fmla="*/ 2147483646 h 150"/>
              <a:gd name="T30" fmla="*/ 2147483646 w 165"/>
              <a:gd name="T31" fmla="*/ 2147483646 h 150"/>
              <a:gd name="T32" fmla="*/ 2147483646 w 165"/>
              <a:gd name="T33" fmla="*/ 2147483646 h 150"/>
              <a:gd name="T34" fmla="*/ 2147483646 w 165"/>
              <a:gd name="T35" fmla="*/ 2147483646 h 150"/>
              <a:gd name="T36" fmla="*/ 2147483646 w 165"/>
              <a:gd name="T37" fmla="*/ 2147483646 h 150"/>
              <a:gd name="T38" fmla="*/ 2147483646 w 165"/>
              <a:gd name="T39" fmla="*/ 2147483646 h 150"/>
              <a:gd name="T40" fmla="*/ 2147483646 w 165"/>
              <a:gd name="T41" fmla="*/ 2147483646 h 150"/>
              <a:gd name="T42" fmla="*/ 2147483646 w 165"/>
              <a:gd name="T43" fmla="*/ 2147483646 h 150"/>
              <a:gd name="T44" fmla="*/ 2147483646 w 165"/>
              <a:gd name="T45" fmla="*/ 2147483646 h 150"/>
              <a:gd name="T46" fmla="*/ 2147483646 w 165"/>
              <a:gd name="T47" fmla="*/ 2147483646 h 150"/>
              <a:gd name="T48" fmla="*/ 0 w 165"/>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150">
                <a:moveTo>
                  <a:pt x="0" y="75"/>
                </a:moveTo>
                <a:lnTo>
                  <a:pt x="3" y="55"/>
                </a:lnTo>
                <a:lnTo>
                  <a:pt x="11" y="37"/>
                </a:lnTo>
                <a:lnTo>
                  <a:pt x="25" y="21"/>
                </a:lnTo>
                <a:lnTo>
                  <a:pt x="42" y="10"/>
                </a:lnTo>
                <a:lnTo>
                  <a:pt x="62" y="1"/>
                </a:lnTo>
                <a:lnTo>
                  <a:pt x="82" y="0"/>
                </a:lnTo>
                <a:lnTo>
                  <a:pt x="104" y="1"/>
                </a:lnTo>
                <a:lnTo>
                  <a:pt x="124" y="10"/>
                </a:lnTo>
                <a:lnTo>
                  <a:pt x="141" y="21"/>
                </a:lnTo>
                <a:lnTo>
                  <a:pt x="154" y="37"/>
                </a:lnTo>
                <a:lnTo>
                  <a:pt x="163" y="55"/>
                </a:lnTo>
                <a:lnTo>
                  <a:pt x="165" y="75"/>
                </a:lnTo>
                <a:lnTo>
                  <a:pt x="163" y="93"/>
                </a:lnTo>
                <a:lnTo>
                  <a:pt x="154" y="111"/>
                </a:lnTo>
                <a:lnTo>
                  <a:pt x="141" y="127"/>
                </a:lnTo>
                <a:lnTo>
                  <a:pt x="124" y="140"/>
                </a:lnTo>
                <a:lnTo>
                  <a:pt x="104" y="147"/>
                </a:lnTo>
                <a:lnTo>
                  <a:pt x="82" y="150"/>
                </a:lnTo>
                <a:lnTo>
                  <a:pt x="62" y="147"/>
                </a:lnTo>
                <a:lnTo>
                  <a:pt x="42" y="140"/>
                </a:lnTo>
                <a:lnTo>
                  <a:pt x="25" y="127"/>
                </a:lnTo>
                <a:lnTo>
                  <a:pt x="11" y="111"/>
                </a:lnTo>
                <a:lnTo>
                  <a:pt x="3" y="93"/>
                </a:lnTo>
                <a:lnTo>
                  <a:pt x="0" y="75"/>
                </a:lnTo>
                <a:close/>
              </a:path>
            </a:pathLst>
          </a:custGeom>
          <a:solidFill>
            <a:srgbClr val="FFFF00"/>
          </a:solidFill>
          <a:ln w="14288">
            <a:solidFill>
              <a:srgbClr val="00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5" name="Rectangle 79"/>
          <p:cNvSpPr>
            <a:spLocks noChangeArrowheads="1"/>
          </p:cNvSpPr>
          <p:nvPr/>
        </p:nvSpPr>
        <p:spPr bwMode="auto">
          <a:xfrm>
            <a:off x="4946650" y="2462213"/>
            <a:ext cx="841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1300" b="0" i="0" u="none" strike="noStrike" kern="1200" cap="none" spc="0" normalizeH="0" baseline="0" noProof="0">
                <a:ln>
                  <a:noFill/>
                </a:ln>
                <a:solidFill>
                  <a:srgbClr val="000000"/>
                </a:solidFill>
                <a:effectLst/>
                <a:uLnTx/>
                <a:uFillTx/>
                <a:latin typeface="+mn-lt"/>
                <a:ea typeface="+mn-ea"/>
                <a:cs typeface="+mn-ea"/>
                <a:sym typeface="+mn-lt"/>
              </a:rPr>
              <a:t>4</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6" name="Line 80"/>
          <p:cNvSpPr>
            <a:spLocks noChangeShapeType="1"/>
          </p:cNvSpPr>
          <p:nvPr/>
        </p:nvSpPr>
        <p:spPr bwMode="auto">
          <a:xfrm>
            <a:off x="5505450" y="1363663"/>
            <a:ext cx="1588" cy="30480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7" name="Freeform 81"/>
          <p:cNvSpPr>
            <a:spLocks noChangeArrowheads="1"/>
          </p:cNvSpPr>
          <p:nvPr/>
        </p:nvSpPr>
        <p:spPr bwMode="auto">
          <a:xfrm>
            <a:off x="5438775" y="1638300"/>
            <a:ext cx="133350" cy="122238"/>
          </a:xfrm>
          <a:custGeom>
            <a:avLst/>
            <a:gdLst>
              <a:gd name="T0" fmla="*/ 2147483646 w 84"/>
              <a:gd name="T1" fmla="*/ 2147483646 h 77"/>
              <a:gd name="T2" fmla="*/ 0 w 84"/>
              <a:gd name="T3" fmla="*/ 0 h 77"/>
              <a:gd name="T4" fmla="*/ 2147483646 w 84"/>
              <a:gd name="T5" fmla="*/ 2147483646 h 77"/>
              <a:gd name="T6" fmla="*/ 2147483646 w 84"/>
              <a:gd name="T7" fmla="*/ 2147483646 h 77"/>
              <a:gd name="T8" fmla="*/ 2147483646 w 84"/>
              <a:gd name="T9" fmla="*/ 2147483646 h 77"/>
              <a:gd name="T10" fmla="*/ 2147483646 w 84"/>
              <a:gd name="T11" fmla="*/ 0 h 77"/>
              <a:gd name="T12" fmla="*/ 2147483646 w 84"/>
              <a:gd name="T13" fmla="*/ 2147483646 h 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7">
                <a:moveTo>
                  <a:pt x="42" y="77"/>
                </a:moveTo>
                <a:lnTo>
                  <a:pt x="0" y="0"/>
                </a:lnTo>
                <a:lnTo>
                  <a:pt x="20" y="7"/>
                </a:lnTo>
                <a:lnTo>
                  <a:pt x="42" y="10"/>
                </a:lnTo>
                <a:lnTo>
                  <a:pt x="64" y="7"/>
                </a:lnTo>
                <a:lnTo>
                  <a:pt x="84" y="0"/>
                </a:lnTo>
                <a:lnTo>
                  <a:pt x="42" y="7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298" name="Rectangle 82"/>
          <p:cNvSpPr>
            <a:spLocks noChangeArrowheads="1"/>
          </p:cNvSpPr>
          <p:nvPr/>
        </p:nvSpPr>
        <p:spPr bwMode="auto">
          <a:xfrm>
            <a:off x="5119688" y="1255713"/>
            <a:ext cx="1730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ea"/>
                <a:sym typeface="+mn-lt"/>
              </a:rPr>
              <a:t>p</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37299" name="Line 83"/>
          <p:cNvSpPr>
            <a:spLocks noChangeShapeType="1"/>
          </p:cNvSpPr>
          <p:nvPr/>
        </p:nvSpPr>
        <p:spPr bwMode="auto">
          <a:xfrm>
            <a:off x="5314950" y="3481388"/>
            <a:ext cx="89058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300" name="Freeform 84"/>
          <p:cNvSpPr>
            <a:spLocks noChangeArrowheads="1"/>
          </p:cNvSpPr>
          <p:nvPr/>
        </p:nvSpPr>
        <p:spPr bwMode="auto">
          <a:xfrm>
            <a:off x="5213350" y="3421063"/>
            <a:ext cx="133350" cy="120650"/>
          </a:xfrm>
          <a:custGeom>
            <a:avLst/>
            <a:gdLst>
              <a:gd name="T0" fmla="*/ 0 w 84"/>
              <a:gd name="T1" fmla="*/ 2147483646 h 76"/>
              <a:gd name="T2" fmla="*/ 2147483646 w 84"/>
              <a:gd name="T3" fmla="*/ 0 h 76"/>
              <a:gd name="T4" fmla="*/ 2147483646 w 84"/>
              <a:gd name="T5" fmla="*/ 2147483646 h 76"/>
              <a:gd name="T6" fmla="*/ 2147483646 w 84"/>
              <a:gd name="T7" fmla="*/ 2147483646 h 76"/>
              <a:gd name="T8" fmla="*/ 2147483646 w 84"/>
              <a:gd name="T9" fmla="*/ 2147483646 h 76"/>
              <a:gd name="T10" fmla="*/ 2147483646 w 84"/>
              <a:gd name="T11" fmla="*/ 2147483646 h 76"/>
              <a:gd name="T12" fmla="*/ 0 w 84"/>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76">
                <a:moveTo>
                  <a:pt x="0" y="38"/>
                </a:moveTo>
                <a:lnTo>
                  <a:pt x="84" y="0"/>
                </a:lnTo>
                <a:lnTo>
                  <a:pt x="76" y="18"/>
                </a:lnTo>
                <a:lnTo>
                  <a:pt x="73" y="38"/>
                </a:lnTo>
                <a:lnTo>
                  <a:pt x="76" y="58"/>
                </a:lnTo>
                <a:lnTo>
                  <a:pt x="84" y="76"/>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7301" name="Rectangle 85"/>
          <p:cNvSpPr>
            <a:spLocks noChangeArrowheads="1"/>
          </p:cNvSpPr>
          <p:nvPr/>
        </p:nvSpPr>
        <p:spPr bwMode="auto">
          <a:xfrm>
            <a:off x="5994400" y="3109913"/>
            <a:ext cx="1349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700" b="0" i="0" u="none" strike="noStrike" kern="1200" cap="none" spc="0" normalizeH="0" baseline="0" noProof="0" dirty="0">
                <a:ln>
                  <a:noFill/>
                </a:ln>
                <a:solidFill>
                  <a:schemeClr val="tx1"/>
                </a:solidFill>
                <a:effectLst/>
                <a:uLnTx/>
                <a:uFillTx/>
                <a:latin typeface="+mn-lt"/>
                <a:ea typeface="+mn-ea"/>
                <a:cs typeface="+mn-ea"/>
                <a:sym typeface="+mn-lt"/>
              </a:rPr>
              <a:t>s</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89" name="Rectangle 4"/>
          <p:cNvSpPr>
            <a:spLocks noChangeArrowheads="1"/>
          </p:cNvSpPr>
          <p:nvPr/>
        </p:nvSpPr>
        <p:spPr bwMode="auto">
          <a:xfrm>
            <a:off x="785813" y="18891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双向链表的插入</a:t>
            </a:r>
          </a:p>
        </p:txBody>
      </p:sp>
      <p:sp>
        <p:nvSpPr>
          <p:cNvPr id="95" name="Rectangle 4"/>
          <p:cNvSpPr>
            <a:spLocks noChangeArrowheads="1"/>
          </p:cNvSpPr>
          <p:nvPr/>
        </p:nvSpPr>
        <p:spPr bwMode="auto">
          <a:xfrm>
            <a:off x="781050" y="4940300"/>
            <a:ext cx="4187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9476B6"/>
                </a:solidFill>
                <a:effectLst/>
                <a:uLnTx/>
                <a:uFillTx/>
                <a:latin typeface="+mn-lt"/>
                <a:ea typeface="+mn-ea"/>
                <a:cs typeface="+mn-ea"/>
                <a:sym typeface="+mn-lt"/>
              </a:rPr>
              <a:t>2. p-&gt;prior-&gt;next=s;</a:t>
            </a:r>
          </a:p>
        </p:txBody>
      </p:sp>
      <p:sp>
        <p:nvSpPr>
          <p:cNvPr id="96" name="Rectangle 2"/>
          <p:cNvSpPr>
            <a:spLocks noChangeArrowheads="1"/>
          </p:cNvSpPr>
          <p:nvPr/>
        </p:nvSpPr>
        <p:spPr bwMode="auto">
          <a:xfrm>
            <a:off x="754063" y="4318000"/>
            <a:ext cx="4343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lt"/>
                <a:ea typeface="+mn-ea"/>
                <a:cs typeface="+mn-ea"/>
                <a:sym typeface="+mn-lt"/>
              </a:rPr>
              <a:t>1. s-&gt;prior=p-&gt;prior;</a:t>
            </a:r>
          </a:p>
        </p:txBody>
      </p:sp>
      <p:sp>
        <p:nvSpPr>
          <p:cNvPr id="97" name="Rectangle 26"/>
          <p:cNvSpPr/>
          <p:nvPr/>
        </p:nvSpPr>
        <p:spPr bwMode="auto">
          <a:xfrm>
            <a:off x="865188" y="5562600"/>
            <a:ext cx="45783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00B050"/>
                </a:solidFill>
                <a:effectLst/>
                <a:uLnTx/>
                <a:uFillTx/>
                <a:latin typeface="Gill Sans"/>
                <a:ea typeface="ヒラギノ角ゴ ProN W3"/>
                <a:cs typeface="+mn-ea"/>
                <a:sym typeface="+mn-lt"/>
              </a:rPr>
              <a:t>3. </a:t>
            </a:r>
            <a:r>
              <a:rPr kumimoji="0" lang="en-US" altLang="zh-CN" sz="3600" b="0" i="0" u="none" strike="noStrike" kern="1200" cap="none" spc="0" normalizeH="0" baseline="0" noProof="0" dirty="0">
                <a:ln>
                  <a:noFill/>
                </a:ln>
                <a:solidFill>
                  <a:srgbClr val="00B050"/>
                </a:solidFill>
                <a:effectLst/>
                <a:uLnTx/>
                <a:uFillTx/>
                <a:latin typeface="+mn-lt"/>
                <a:ea typeface="+mn-ea"/>
                <a:cs typeface="+mn-ea"/>
                <a:sym typeface="+mn-lt"/>
              </a:rPr>
              <a:t>s-&gt;next=p;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86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5"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矩形 5"/>
          <p:cNvSpPr/>
          <p:nvPr/>
        </p:nvSpPr>
        <p:spPr>
          <a:xfrm>
            <a:off x="0" y="1196975"/>
            <a:ext cx="9144000" cy="5184775"/>
          </a:xfrm>
          <a:prstGeom prst="rect">
            <a:avLst/>
          </a:prstGeom>
          <a:solidFill>
            <a:srgbClr val="D2D2F4"/>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69698" name="Rectangle 2"/>
          <p:cNvSpPr>
            <a:spLocks noChangeArrowheads="1"/>
          </p:cNvSpPr>
          <p:nvPr/>
        </p:nvSpPr>
        <p:spPr bwMode="auto">
          <a:xfrm>
            <a:off x="685800" y="1196975"/>
            <a:ext cx="77724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folHlink"/>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folHlink"/>
                </a:solidFill>
                <a:effectLst/>
                <a:uLnTx/>
                <a:uFillTx/>
                <a:latin typeface="+mn-lt"/>
                <a:ea typeface="+mn-ea"/>
                <a:cs typeface="+mn-ea"/>
                <a:sym typeface="+mn-lt"/>
              </a:rPr>
              <a:t>ListInsert_DuL</a:t>
            </a:r>
            <a:r>
              <a:rPr kumimoji="0" lang="en-US" altLang="zh-CN" sz="2400" b="0" i="0" u="none" strike="noStrike" kern="1200" cap="none" spc="0" normalizeH="0" baseline="0" noProof="0" dirty="0">
                <a:ln>
                  <a:noFill/>
                </a:ln>
                <a:solidFill>
                  <a:schemeClr val="folHlink"/>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folHlink"/>
                </a:solidFill>
                <a:effectLst/>
                <a:uLnTx/>
                <a:uFillTx/>
                <a:latin typeface="+mn-lt"/>
                <a:ea typeface="+mn-ea"/>
                <a:cs typeface="+mn-ea"/>
                <a:sym typeface="+mn-lt"/>
              </a:rPr>
              <a:t>DuLinkList</a:t>
            </a:r>
            <a:r>
              <a:rPr kumimoji="0" lang="en-US" altLang="zh-CN" sz="2400" b="0" i="0" u="none" strike="noStrike" kern="1200" cap="none" spc="0" normalizeH="0" baseline="0" noProof="0" dirty="0">
                <a:ln>
                  <a:noFill/>
                </a:ln>
                <a:solidFill>
                  <a:schemeClr val="folHlink"/>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folHlink"/>
                </a:solidFill>
                <a:effectLst/>
                <a:uLnTx/>
                <a:uFillTx/>
                <a:latin typeface="+mn-lt"/>
                <a:ea typeface="+mn-ea"/>
                <a:cs typeface="+mn-ea"/>
                <a:sym typeface="+mn-lt"/>
              </a:rPr>
              <a:t>L,int</a:t>
            </a:r>
            <a:r>
              <a:rPr kumimoji="0" lang="en-US" altLang="zh-CN" sz="2400" b="0" i="0" u="none" strike="noStrike" kern="1200" cap="none" spc="0" normalizeH="0" baseline="0" noProof="0" dirty="0">
                <a:ln>
                  <a:noFill/>
                </a:ln>
                <a:solidFill>
                  <a:schemeClr val="folHlink"/>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folHlink"/>
                </a:solidFill>
                <a:effectLst/>
                <a:uLnTx/>
                <a:uFillTx/>
                <a:latin typeface="+mn-lt"/>
                <a:ea typeface="+mn-ea"/>
                <a:cs typeface="+mn-ea"/>
                <a:sym typeface="+mn-lt"/>
              </a:rPr>
              <a:t>i,ElemType</a:t>
            </a:r>
            <a:r>
              <a:rPr kumimoji="0" lang="en-US" altLang="zh-CN" sz="2400" b="0" i="0" u="none" strike="noStrike" kern="1200" cap="none" spc="0" normalizeH="0" baseline="0" noProof="0" dirty="0">
                <a:ln>
                  <a:noFill/>
                </a:ln>
                <a:solidFill>
                  <a:schemeClr val="folHlink"/>
                </a:solidFill>
                <a:effectLst/>
                <a:uLnTx/>
                <a:uFillTx/>
                <a:latin typeface="+mn-lt"/>
                <a:ea typeface="+mn-ea"/>
                <a:cs typeface="+mn-ea"/>
                <a:sym typeface="+mn-lt"/>
              </a:rPr>
              <a:t> e){</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GetElemP_DuL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ERROR;</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DuLinkList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malloc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sizeof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DuLNode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s-&gt;data=e;</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s-&gt;prior=p-&gt;prior;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p-&gt;prior-&gt;next=s;</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s-&gt;next=p;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p-&gt;prior=s;</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38243" name="Rectangle 3"/>
          <p:cNvSpPr>
            <a:spLocks noChangeArrowheads="1"/>
          </p:cNvSpPr>
          <p:nvPr/>
        </p:nvSpPr>
        <p:spPr bwMode="auto">
          <a:xfrm>
            <a:off x="971550" y="233363"/>
            <a:ext cx="561181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双向链表的插入</a:t>
            </a:r>
          </a:p>
        </p:txBody>
      </p:sp>
      <p:grpSp>
        <p:nvGrpSpPr>
          <p:cNvPr id="143365" name="组合 11"/>
          <p:cNvGrpSpPr/>
          <p:nvPr/>
        </p:nvGrpSpPr>
        <p:grpSpPr>
          <a:xfrm>
            <a:off x="7789863" y="5389563"/>
            <a:ext cx="642937" cy="717550"/>
            <a:chOff x="5330826" y="2798763"/>
            <a:chExt cx="1390650" cy="1555750"/>
          </a:xfrm>
        </p:grpSpPr>
        <p:sp>
          <p:nvSpPr>
            <p:cNvPr id="143366" name="Freeform 57"/>
            <p:cNvSpPr/>
            <p:nvPr/>
          </p:nvSpPr>
          <p:spPr>
            <a:xfrm>
              <a:off x="5614988" y="2798763"/>
              <a:ext cx="1106488" cy="987425"/>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376" h="336">
                  <a:moveTo>
                    <a:pt x="376" y="0"/>
                  </a:moveTo>
                  <a:cubicBezTo>
                    <a:pt x="313" y="5"/>
                    <a:pt x="258" y="16"/>
                    <a:pt x="213" y="37"/>
                  </a:cubicBezTo>
                  <a:cubicBezTo>
                    <a:pt x="202" y="99"/>
                    <a:pt x="202" y="99"/>
                    <a:pt x="202" y="99"/>
                  </a:cubicBezTo>
                  <a:cubicBezTo>
                    <a:pt x="202" y="40"/>
                    <a:pt x="202" y="40"/>
                    <a:pt x="202" y="40"/>
                  </a:cubicBezTo>
                  <a:cubicBezTo>
                    <a:pt x="170" y="53"/>
                    <a:pt x="137" y="70"/>
                    <a:pt x="112" y="94"/>
                  </a:cubicBezTo>
                  <a:cubicBezTo>
                    <a:pt x="111" y="159"/>
                    <a:pt x="111" y="159"/>
                    <a:pt x="111" y="159"/>
                  </a:cubicBezTo>
                  <a:cubicBezTo>
                    <a:pt x="102" y="101"/>
                    <a:pt x="102" y="101"/>
                    <a:pt x="102" y="101"/>
                  </a:cubicBezTo>
                  <a:cubicBezTo>
                    <a:pt x="0" y="171"/>
                    <a:pt x="8" y="276"/>
                    <a:pt x="15" y="321"/>
                  </a:cubicBezTo>
                  <a:cubicBezTo>
                    <a:pt x="75" y="236"/>
                    <a:pt x="191" y="121"/>
                    <a:pt x="291" y="67"/>
                  </a:cubicBezTo>
                  <a:cubicBezTo>
                    <a:pt x="291" y="67"/>
                    <a:pt x="125" y="188"/>
                    <a:pt x="13" y="332"/>
                  </a:cubicBezTo>
                  <a:cubicBezTo>
                    <a:pt x="150" y="336"/>
                    <a:pt x="236" y="286"/>
                    <a:pt x="289" y="223"/>
                  </a:cubicBezTo>
                  <a:cubicBezTo>
                    <a:pt x="189" y="204"/>
                    <a:pt x="189" y="204"/>
                    <a:pt x="189" y="204"/>
                  </a:cubicBezTo>
                  <a:cubicBezTo>
                    <a:pt x="295" y="214"/>
                    <a:pt x="295" y="214"/>
                    <a:pt x="295" y="214"/>
                  </a:cubicBezTo>
                  <a:cubicBezTo>
                    <a:pt x="317" y="189"/>
                    <a:pt x="335" y="154"/>
                    <a:pt x="344" y="131"/>
                  </a:cubicBezTo>
                  <a:cubicBezTo>
                    <a:pt x="255" y="141"/>
                    <a:pt x="255" y="141"/>
                    <a:pt x="255" y="141"/>
                  </a:cubicBezTo>
                  <a:cubicBezTo>
                    <a:pt x="348" y="119"/>
                    <a:pt x="348" y="119"/>
                    <a:pt x="348" y="119"/>
                  </a:cubicBezTo>
                  <a:cubicBezTo>
                    <a:pt x="372" y="64"/>
                    <a:pt x="376" y="0"/>
                    <a:pt x="376" y="0"/>
                  </a:cubicBezTo>
                  <a:close/>
                </a:path>
              </a:pathLst>
            </a:custGeom>
            <a:solidFill>
              <a:srgbClr val="23A3D4">
                <a:alpha val="100000"/>
              </a:srgbClr>
            </a:solidFill>
            <a:ln w="9525">
              <a:noFill/>
            </a:ln>
          </p:spPr>
          <p:txBody>
            <a:bodyPr/>
            <a:lstStyle/>
            <a:p>
              <a:endParaRPr lang="zh-CN" altLang="en-US"/>
            </a:p>
          </p:txBody>
        </p:sp>
        <p:sp>
          <p:nvSpPr>
            <p:cNvPr id="143367" name="Freeform 58"/>
            <p:cNvSpPr/>
            <p:nvPr/>
          </p:nvSpPr>
          <p:spPr>
            <a:xfrm>
              <a:off x="5330826" y="3706813"/>
              <a:ext cx="422275" cy="547688"/>
            </a:xfrm>
            <a:custGeom>
              <a:avLst/>
              <a:gdLst/>
              <a:ahLst/>
              <a:cxnLst>
                <a:cxn ang="0">
                  <a:pos x="2147483646" y="0"/>
                </a:cxn>
                <a:cxn ang="0">
                  <a:pos x="0" y="2147483646"/>
                </a:cxn>
                <a:cxn ang="0">
                  <a:pos x="2147483646" y="2147483646"/>
                </a:cxn>
                <a:cxn ang="0">
                  <a:pos x="2147483646" y="2147483646"/>
                </a:cxn>
                <a:cxn ang="0">
                  <a:pos x="2147483646" y="0"/>
                </a:cxn>
              </a:cxnLst>
              <a:rect l="0" t="0" r="0" b="0"/>
              <a:pathLst>
                <a:path w="144" h="187">
                  <a:moveTo>
                    <a:pt x="129" y="0"/>
                  </a:moveTo>
                  <a:cubicBezTo>
                    <a:pt x="48" y="99"/>
                    <a:pt x="0" y="187"/>
                    <a:pt x="0" y="187"/>
                  </a:cubicBezTo>
                  <a:cubicBezTo>
                    <a:pt x="45" y="121"/>
                    <a:pt x="95" y="60"/>
                    <a:pt x="144" y="7"/>
                  </a:cubicBezTo>
                  <a:cubicBezTo>
                    <a:pt x="139" y="6"/>
                    <a:pt x="133" y="6"/>
                    <a:pt x="128" y="5"/>
                  </a:cubicBezTo>
                  <a:cubicBezTo>
                    <a:pt x="128" y="5"/>
                    <a:pt x="128" y="3"/>
                    <a:pt x="129" y="0"/>
                  </a:cubicBezTo>
                  <a:close/>
                </a:path>
              </a:pathLst>
            </a:custGeom>
            <a:solidFill>
              <a:srgbClr val="23A3D4">
                <a:alpha val="100000"/>
              </a:srgbClr>
            </a:solidFill>
            <a:ln w="9525">
              <a:noFill/>
            </a:ln>
          </p:spPr>
          <p:txBody>
            <a:bodyPr/>
            <a:lstStyle/>
            <a:p>
              <a:endParaRPr lang="zh-CN" altLang="en-US"/>
            </a:p>
          </p:txBody>
        </p:sp>
        <p:sp>
          <p:nvSpPr>
            <p:cNvPr id="143368" name="Freeform 59"/>
            <p:cNvSpPr/>
            <p:nvPr/>
          </p:nvSpPr>
          <p:spPr>
            <a:xfrm>
              <a:off x="5330826" y="4143375"/>
              <a:ext cx="1271588" cy="2111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433" h="72">
                  <a:moveTo>
                    <a:pt x="206" y="45"/>
                  </a:moveTo>
                  <a:cubicBezTo>
                    <a:pt x="167" y="26"/>
                    <a:pt x="134" y="20"/>
                    <a:pt x="107" y="20"/>
                  </a:cubicBezTo>
                  <a:cubicBezTo>
                    <a:pt x="107" y="20"/>
                    <a:pt x="107" y="20"/>
                    <a:pt x="107" y="20"/>
                  </a:cubicBezTo>
                  <a:cubicBezTo>
                    <a:pt x="51" y="20"/>
                    <a:pt x="8" y="55"/>
                    <a:pt x="4" y="51"/>
                  </a:cubicBezTo>
                  <a:cubicBezTo>
                    <a:pt x="4" y="51"/>
                    <a:pt x="4" y="51"/>
                    <a:pt x="4" y="51"/>
                  </a:cubicBezTo>
                  <a:cubicBezTo>
                    <a:pt x="0" y="47"/>
                    <a:pt x="39" y="0"/>
                    <a:pt x="107" y="0"/>
                  </a:cubicBezTo>
                  <a:cubicBezTo>
                    <a:pt x="107" y="0"/>
                    <a:pt x="107" y="0"/>
                    <a:pt x="107" y="0"/>
                  </a:cubicBezTo>
                  <a:cubicBezTo>
                    <a:pt x="137" y="0"/>
                    <a:pt x="173" y="7"/>
                    <a:pt x="215" y="27"/>
                  </a:cubicBezTo>
                  <a:cubicBezTo>
                    <a:pt x="215" y="27"/>
                    <a:pt x="215" y="27"/>
                    <a:pt x="215" y="27"/>
                  </a:cubicBezTo>
                  <a:cubicBezTo>
                    <a:pt x="255" y="46"/>
                    <a:pt x="289" y="52"/>
                    <a:pt x="316" y="52"/>
                  </a:cubicBezTo>
                  <a:cubicBezTo>
                    <a:pt x="316" y="52"/>
                    <a:pt x="316" y="52"/>
                    <a:pt x="316" y="52"/>
                  </a:cubicBezTo>
                  <a:cubicBezTo>
                    <a:pt x="380" y="52"/>
                    <a:pt x="410" y="16"/>
                    <a:pt x="413" y="12"/>
                  </a:cubicBezTo>
                  <a:cubicBezTo>
                    <a:pt x="413" y="12"/>
                    <a:pt x="413" y="12"/>
                    <a:pt x="413" y="12"/>
                  </a:cubicBezTo>
                  <a:cubicBezTo>
                    <a:pt x="413" y="12"/>
                    <a:pt x="413" y="12"/>
                    <a:pt x="413" y="12"/>
                  </a:cubicBezTo>
                  <a:cubicBezTo>
                    <a:pt x="413" y="12"/>
                    <a:pt x="413" y="12"/>
                    <a:pt x="413" y="12"/>
                  </a:cubicBezTo>
                  <a:cubicBezTo>
                    <a:pt x="417" y="8"/>
                    <a:pt x="423" y="7"/>
                    <a:pt x="428" y="10"/>
                  </a:cubicBezTo>
                  <a:cubicBezTo>
                    <a:pt x="428" y="10"/>
                    <a:pt x="428" y="10"/>
                    <a:pt x="428" y="10"/>
                  </a:cubicBezTo>
                  <a:cubicBezTo>
                    <a:pt x="432" y="14"/>
                    <a:pt x="433" y="20"/>
                    <a:pt x="430" y="24"/>
                  </a:cubicBezTo>
                  <a:cubicBezTo>
                    <a:pt x="430" y="24"/>
                    <a:pt x="430" y="24"/>
                    <a:pt x="430" y="24"/>
                  </a:cubicBezTo>
                  <a:cubicBezTo>
                    <a:pt x="429" y="26"/>
                    <a:pt x="393" y="72"/>
                    <a:pt x="316" y="72"/>
                  </a:cubicBezTo>
                  <a:cubicBezTo>
                    <a:pt x="316" y="72"/>
                    <a:pt x="316" y="72"/>
                    <a:pt x="316" y="72"/>
                  </a:cubicBezTo>
                  <a:cubicBezTo>
                    <a:pt x="286" y="72"/>
                    <a:pt x="249" y="65"/>
                    <a:pt x="206" y="45"/>
                  </a:cubicBezTo>
                  <a:close/>
                </a:path>
              </a:pathLst>
            </a:custGeom>
            <a:solidFill>
              <a:srgbClr val="3B4449">
                <a:alpha val="100000"/>
              </a:srgbClr>
            </a:solidFill>
            <a:ln w="9525">
              <a:noFill/>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96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696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696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696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696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696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696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696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696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6969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698"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386" name="Object 2"/>
          <p:cNvGraphicFramePr/>
          <p:nvPr/>
        </p:nvGraphicFramePr>
        <p:xfrm>
          <a:off x="263525" y="1116013"/>
          <a:ext cx="8628063" cy="2247900"/>
        </p:xfrm>
        <a:graphic>
          <a:graphicData uri="http://schemas.openxmlformats.org/presentationml/2006/ole">
            <mc:AlternateContent xmlns:mc="http://schemas.openxmlformats.org/markup-compatibility/2006">
              <mc:Choice xmlns:v="urn:schemas-microsoft-com:vml" Requires="v">
                <p:oleObj spid="_x0000_s17453" r:id="rId3" imgW="5977255" imgH="1557655" progId="Visio.Drawing.11">
                  <p:embed/>
                </p:oleObj>
              </mc:Choice>
              <mc:Fallback>
                <p:oleObj r:id="rId3" imgW="5977255" imgH="1557655" progId="Visio.Drawing.11">
                  <p:embed/>
                  <p:pic>
                    <p:nvPicPr>
                      <p:cNvPr id="0" name="图片 3098"/>
                      <p:cNvPicPr/>
                      <p:nvPr/>
                    </p:nvPicPr>
                    <p:blipFill>
                      <a:blip r:embed="rId4"/>
                      <a:stretch>
                        <a:fillRect/>
                      </a:stretch>
                    </p:blipFill>
                    <p:spPr>
                      <a:xfrm>
                        <a:off x="263525" y="1116013"/>
                        <a:ext cx="8628063" cy="2247900"/>
                      </a:xfrm>
                      <a:prstGeom prst="rect">
                        <a:avLst/>
                      </a:prstGeom>
                      <a:solidFill>
                        <a:srgbClr val="B8D4EC"/>
                      </a:solidFill>
                      <a:ln w="38100">
                        <a:noFill/>
                        <a:miter/>
                      </a:ln>
                    </p:spPr>
                  </p:pic>
                </p:oleObj>
              </mc:Fallback>
            </mc:AlternateContent>
          </a:graphicData>
        </a:graphic>
      </p:graphicFrame>
      <p:sp>
        <p:nvSpPr>
          <p:cNvPr id="670723" name="Rectangle 3"/>
          <p:cNvSpPr>
            <a:spLocks noChangeArrowheads="1"/>
          </p:cNvSpPr>
          <p:nvPr/>
        </p:nvSpPr>
        <p:spPr bwMode="auto">
          <a:xfrm>
            <a:off x="900113" y="17621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双向链表的删除</a:t>
            </a:r>
          </a:p>
        </p:txBody>
      </p:sp>
      <p:graphicFrame>
        <p:nvGraphicFramePr>
          <p:cNvPr id="144388" name="Object 2"/>
          <p:cNvGraphicFramePr/>
          <p:nvPr/>
        </p:nvGraphicFramePr>
        <p:xfrm>
          <a:off x="263525" y="3460750"/>
          <a:ext cx="8628063" cy="2247900"/>
        </p:xfrm>
        <a:graphic>
          <a:graphicData uri="http://schemas.openxmlformats.org/presentationml/2006/ole">
            <mc:AlternateContent xmlns:mc="http://schemas.openxmlformats.org/markup-compatibility/2006">
              <mc:Choice xmlns:v="urn:schemas-microsoft-com:vml" Requires="v">
                <p:oleObj spid="_x0000_s17454" r:id="rId5" imgW="5977255" imgH="1557655" progId="Visio.Drawing.11">
                  <p:embed/>
                </p:oleObj>
              </mc:Choice>
              <mc:Fallback>
                <p:oleObj r:id="rId5" imgW="5977255" imgH="1557655" progId="Visio.Drawing.11">
                  <p:embed/>
                  <p:pic>
                    <p:nvPicPr>
                      <p:cNvPr id="0" name="图片 3100"/>
                      <p:cNvPicPr/>
                      <p:nvPr/>
                    </p:nvPicPr>
                    <p:blipFill>
                      <a:blip r:embed="rId6"/>
                      <a:stretch>
                        <a:fillRect/>
                      </a:stretch>
                    </p:blipFill>
                    <p:spPr>
                      <a:xfrm>
                        <a:off x="263525" y="3460750"/>
                        <a:ext cx="8628063" cy="2247900"/>
                      </a:xfrm>
                      <a:prstGeom prst="rect">
                        <a:avLst/>
                      </a:prstGeom>
                      <a:solidFill>
                        <a:srgbClr val="EAEAEA"/>
                      </a:solidFill>
                      <a:ln w="38100">
                        <a:noFill/>
                        <a:miter/>
                      </a:ln>
                    </p:spPr>
                  </p:pic>
                </p:oleObj>
              </mc:Fallback>
            </mc:AlternateContent>
          </a:graphicData>
        </a:graphic>
      </p:graphicFrame>
      <p:sp>
        <p:nvSpPr>
          <p:cNvPr id="5" name="Rectangle 3"/>
          <p:cNvSpPr>
            <a:spLocks noChangeArrowheads="1"/>
          </p:cNvSpPr>
          <p:nvPr/>
        </p:nvSpPr>
        <p:spPr bwMode="auto">
          <a:xfrm>
            <a:off x="1833563" y="5805488"/>
            <a:ext cx="54895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0" i="0" u="none" strike="noStrike" kern="1200" cap="none" spc="0" normalizeH="0" baseline="0" noProof="0" dirty="0">
                <a:ln>
                  <a:noFill/>
                </a:ln>
                <a:solidFill>
                  <a:srgbClr val="FF0000"/>
                </a:solidFill>
                <a:effectLst/>
                <a:uLnTx/>
                <a:uFillTx/>
                <a:latin typeface="+mn-lt"/>
                <a:ea typeface="+mn-ea"/>
                <a:cs typeface="+mn-ea"/>
                <a:sym typeface="+mn-lt"/>
              </a:rPr>
              <a:t>1. p-&gt;prior-&gt;next=p-&gt;next;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矩形 145407"/>
          <p:cNvSpPr/>
          <p:nvPr/>
        </p:nvSpPr>
        <p:spPr>
          <a:xfrm>
            <a:off x="287338" y="3729038"/>
            <a:ext cx="8628062" cy="2314575"/>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72770" name="Rectangle 2"/>
          <p:cNvSpPr>
            <a:spLocks noChangeArrowheads="1"/>
          </p:cNvSpPr>
          <p:nvPr/>
        </p:nvSpPr>
        <p:spPr bwMode="auto">
          <a:xfrm>
            <a:off x="900113" y="207963"/>
            <a:ext cx="3595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双向链表的删除</a:t>
            </a:r>
          </a:p>
        </p:txBody>
      </p:sp>
      <p:graphicFrame>
        <p:nvGraphicFramePr>
          <p:cNvPr id="145412" name="Object 3"/>
          <p:cNvGraphicFramePr/>
          <p:nvPr/>
        </p:nvGraphicFramePr>
        <p:xfrm>
          <a:off x="287338" y="1196975"/>
          <a:ext cx="8628062" cy="2247900"/>
        </p:xfrm>
        <a:graphic>
          <a:graphicData uri="http://schemas.openxmlformats.org/presentationml/2006/ole">
            <mc:AlternateContent xmlns:mc="http://schemas.openxmlformats.org/markup-compatibility/2006">
              <mc:Choice xmlns:v="urn:schemas-microsoft-com:vml" Requires="v">
                <p:oleObj spid="_x0000_s18455" r:id="rId3" imgW="5977255" imgH="1560830" progId="Visio.Drawing.11">
                  <p:embed/>
                </p:oleObj>
              </mc:Choice>
              <mc:Fallback>
                <p:oleObj r:id="rId3" imgW="5977255" imgH="1560830" progId="Visio.Drawing.11">
                  <p:embed/>
                  <p:pic>
                    <p:nvPicPr>
                      <p:cNvPr id="0" name="图片 3099"/>
                      <p:cNvPicPr/>
                      <p:nvPr/>
                    </p:nvPicPr>
                    <p:blipFill>
                      <a:blip r:embed="rId4"/>
                      <a:stretch>
                        <a:fillRect/>
                      </a:stretch>
                    </p:blipFill>
                    <p:spPr>
                      <a:xfrm>
                        <a:off x="287338" y="1196975"/>
                        <a:ext cx="8628062" cy="2247900"/>
                      </a:xfrm>
                      <a:prstGeom prst="rect">
                        <a:avLst/>
                      </a:prstGeom>
                      <a:solidFill>
                        <a:srgbClr val="EAEAEA"/>
                      </a:solidFill>
                      <a:ln w="38100">
                        <a:noFill/>
                        <a:miter/>
                      </a:ln>
                    </p:spPr>
                  </p:pic>
                </p:oleObj>
              </mc:Fallback>
            </mc:AlternateContent>
          </a:graphicData>
        </a:graphic>
      </p:graphicFrame>
      <p:sp>
        <p:nvSpPr>
          <p:cNvPr id="141316" name="Rectangle 4"/>
          <p:cNvSpPr>
            <a:spLocks noChangeArrowheads="1"/>
          </p:cNvSpPr>
          <p:nvPr/>
        </p:nvSpPr>
        <p:spPr bwMode="auto">
          <a:xfrm>
            <a:off x="1368425" y="3995738"/>
            <a:ext cx="548798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1. p-&gt;prior-&gt;next=p-&gt;next;</a:t>
            </a:r>
          </a:p>
        </p:txBody>
      </p:sp>
      <p:sp>
        <p:nvSpPr>
          <p:cNvPr id="672773" name="Rectangle 5"/>
          <p:cNvSpPr>
            <a:spLocks noChangeArrowheads="1"/>
          </p:cNvSpPr>
          <p:nvPr/>
        </p:nvSpPr>
        <p:spPr bwMode="auto">
          <a:xfrm>
            <a:off x="1368425" y="5011738"/>
            <a:ext cx="56054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2. p-&gt;next-&gt;prior=p-&gt;prior;</a:t>
            </a:r>
          </a:p>
        </p:txBody>
      </p:sp>
      <p:cxnSp>
        <p:nvCxnSpPr>
          <p:cNvPr id="145415" name="肘形连接符 10"/>
          <p:cNvCxnSpPr/>
          <p:nvPr/>
        </p:nvCxnSpPr>
        <p:spPr>
          <a:xfrm>
            <a:off x="1192213" y="5178425"/>
            <a:ext cx="914400" cy="914400"/>
          </a:xfrm>
          <a:prstGeom prst="bentConnector3">
            <a:avLst>
              <a:gd name="adj1" fmla="val 50000"/>
            </a:avLst>
          </a:prstGeom>
          <a:ln w="9525">
            <a:noFill/>
          </a:ln>
        </p:spPr>
      </p:cxnSp>
      <p:cxnSp>
        <p:nvCxnSpPr>
          <p:cNvPr id="21" name="直接箭头连接符 20"/>
          <p:cNvCxnSpPr/>
          <p:nvPr/>
        </p:nvCxnSpPr>
        <p:spPr bwMode="auto">
          <a:xfrm flipH="1" flipV="1">
            <a:off x="2112963" y="2786063"/>
            <a:ext cx="150813" cy="249238"/>
          </a:xfrm>
          <a:prstGeom prst="straightConnector1">
            <a:avLst/>
          </a:prstGeom>
          <a:solidFill>
            <a:schemeClr val="accent1"/>
          </a:solidFill>
          <a:ln w="28575" cap="flat" cmpd="sng" algn="ctr">
            <a:solidFill>
              <a:schemeClr val="accent1">
                <a:lumMod val="60000"/>
                <a:lumOff val="40000"/>
              </a:schemeClr>
            </a:solidFill>
            <a:prstDash val="dash"/>
            <a:round/>
            <a:headEnd type="none" w="med" len="med"/>
            <a:tailEnd type="triangle"/>
          </a:ln>
        </p:spPr>
      </p:cxnSp>
      <p:cxnSp>
        <p:nvCxnSpPr>
          <p:cNvPr id="23" name="直接连接符 22"/>
          <p:cNvCxnSpPr/>
          <p:nvPr/>
        </p:nvCxnSpPr>
        <p:spPr bwMode="auto">
          <a:xfrm>
            <a:off x="2290763" y="3035300"/>
            <a:ext cx="3721100" cy="0"/>
          </a:xfrm>
          <a:prstGeom prst="line">
            <a:avLst/>
          </a:prstGeom>
          <a:solidFill>
            <a:schemeClr val="accent1"/>
          </a:solidFill>
          <a:ln w="19050" cap="flat" cmpd="sng" algn="ctr">
            <a:solidFill>
              <a:schemeClr val="accent1">
                <a:lumMod val="60000"/>
                <a:lumOff val="40000"/>
              </a:schemeClr>
            </a:solidFill>
            <a:prstDash val="dash"/>
            <a:round/>
            <a:headEnd type="none" w="med" len="med"/>
            <a:tailEnd type="none" w="med" len="med"/>
          </a:ln>
        </p:spPr>
      </p:cxnSp>
      <p:cxnSp>
        <p:nvCxnSpPr>
          <p:cNvPr id="32" name="直接连接符 31"/>
          <p:cNvCxnSpPr/>
          <p:nvPr/>
        </p:nvCxnSpPr>
        <p:spPr bwMode="auto">
          <a:xfrm flipV="1">
            <a:off x="6084888" y="2636838"/>
            <a:ext cx="71438" cy="406400"/>
          </a:xfrm>
          <a:prstGeom prst="line">
            <a:avLst/>
          </a:prstGeom>
          <a:solidFill>
            <a:schemeClr val="accent1"/>
          </a:solidFill>
          <a:ln w="19050" cap="flat" cmpd="sng" algn="ctr">
            <a:solidFill>
              <a:schemeClr val="accent1">
                <a:lumMod val="60000"/>
                <a:lumOff val="40000"/>
              </a:schemeClr>
            </a:solidFill>
            <a:prstDash val="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277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矩形 1"/>
          <p:cNvSpPr/>
          <p:nvPr/>
        </p:nvSpPr>
        <p:spPr>
          <a:xfrm>
            <a:off x="0" y="1125538"/>
            <a:ext cx="9144000" cy="5040312"/>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73794" name="Rectangle 2"/>
          <p:cNvSpPr>
            <a:spLocks noChangeArrowheads="1"/>
          </p:cNvSpPr>
          <p:nvPr/>
        </p:nvSpPr>
        <p:spPr bwMode="auto">
          <a:xfrm>
            <a:off x="228600" y="1136650"/>
            <a:ext cx="8534400" cy="517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bg1">
                    <a:lumMod val="10000"/>
                  </a:schemeClr>
                </a:solidFill>
                <a:effectLst/>
                <a:uLnTx/>
                <a:uFillTx/>
                <a:latin typeface="+mn-lt"/>
                <a:ea typeface="+mn-ea"/>
                <a:cs typeface="+mn-ea"/>
                <a:sym typeface="+mn-lt"/>
              </a:rPr>
              <a:t>Status </a:t>
            </a:r>
            <a:r>
              <a:rPr kumimoji="0" lang="en-US" altLang="zh-CN" sz="2600" b="0" i="0" u="none" strike="noStrike" kern="1200" cap="none" spc="0" normalizeH="0" baseline="0" noProof="0" dirty="0" err="1">
                <a:ln>
                  <a:noFill/>
                </a:ln>
                <a:solidFill>
                  <a:schemeClr val="bg1">
                    <a:lumMod val="10000"/>
                  </a:schemeClr>
                </a:solidFill>
                <a:effectLst/>
                <a:uLnTx/>
                <a:uFillTx/>
                <a:latin typeface="+mn-lt"/>
                <a:ea typeface="+mn-ea"/>
                <a:cs typeface="+mn-ea"/>
                <a:sym typeface="+mn-lt"/>
              </a:rPr>
              <a:t>ListDelete_DuL</a:t>
            </a:r>
            <a:r>
              <a:rPr kumimoji="0" lang="en-US" altLang="zh-CN" sz="2600" b="0" i="0" u="none" strike="noStrike" kern="1200" cap="none" spc="0" normalizeH="0" baseline="0" noProof="0" dirty="0">
                <a:ln>
                  <a:noFill/>
                </a:ln>
                <a:solidFill>
                  <a:schemeClr val="bg1">
                    <a:lumMod val="10000"/>
                  </a:schemeClr>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bg1">
                    <a:lumMod val="10000"/>
                  </a:schemeClr>
                </a:solidFill>
                <a:effectLst/>
                <a:uLnTx/>
                <a:uFillTx/>
                <a:latin typeface="+mn-lt"/>
                <a:ea typeface="+mn-ea"/>
                <a:cs typeface="+mn-ea"/>
                <a:sym typeface="+mn-lt"/>
              </a:rPr>
              <a:t>DuLinkList</a:t>
            </a:r>
            <a:r>
              <a:rPr kumimoji="0" lang="en-US" altLang="zh-CN" sz="2600" b="0" i="0" u="none" strike="noStrike" kern="1200" cap="none" spc="0" normalizeH="0" baseline="0" noProof="0" dirty="0">
                <a:ln>
                  <a:noFill/>
                </a:ln>
                <a:solidFill>
                  <a:schemeClr val="bg1">
                    <a:lumMod val="10000"/>
                  </a:schemeClr>
                </a:solidFill>
                <a:effectLst/>
                <a:uLnTx/>
                <a:uFillTx/>
                <a:latin typeface="+mn-lt"/>
                <a:ea typeface="+mn-ea"/>
                <a:cs typeface="+mn-ea"/>
                <a:sym typeface="+mn-lt"/>
              </a:rPr>
              <a:t> &amp;</a:t>
            </a:r>
            <a:r>
              <a:rPr kumimoji="0" lang="en-US" altLang="zh-CN" sz="2600" b="0" i="0" u="none" strike="noStrike" kern="1200" cap="none" spc="0" normalizeH="0" baseline="0" noProof="0" dirty="0" err="1">
                <a:ln>
                  <a:noFill/>
                </a:ln>
                <a:solidFill>
                  <a:schemeClr val="bg1">
                    <a:lumMod val="10000"/>
                  </a:schemeClr>
                </a:solidFill>
                <a:effectLst/>
                <a:uLnTx/>
                <a:uFillTx/>
                <a:latin typeface="+mn-lt"/>
                <a:ea typeface="+mn-ea"/>
                <a:cs typeface="+mn-ea"/>
                <a:sym typeface="+mn-lt"/>
              </a:rPr>
              <a:t>L,int</a:t>
            </a:r>
            <a:r>
              <a:rPr kumimoji="0" lang="en-US" altLang="zh-CN" sz="2600" b="0" i="0" u="none" strike="noStrike" kern="1200" cap="none" spc="0" normalizeH="0" baseline="0" noProof="0" dirty="0">
                <a:ln>
                  <a:noFill/>
                </a:ln>
                <a:solidFill>
                  <a:schemeClr val="bg1">
                    <a:lumMod val="10000"/>
                  </a:schemeClr>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bg1">
                    <a:lumMod val="10000"/>
                  </a:schemeClr>
                </a:solidFill>
                <a:effectLst/>
                <a:uLnTx/>
                <a:uFillTx/>
                <a:latin typeface="+mn-lt"/>
                <a:ea typeface="+mn-ea"/>
                <a:cs typeface="+mn-ea"/>
                <a:sym typeface="+mn-lt"/>
              </a:rPr>
              <a:t>i,ElemType</a:t>
            </a:r>
            <a:r>
              <a:rPr kumimoji="0" lang="en-US" altLang="zh-CN" sz="2600" b="0" i="0" u="none" strike="noStrike" kern="1200" cap="none" spc="0" normalizeH="0" baseline="0" noProof="0" dirty="0">
                <a:ln>
                  <a:noFill/>
                </a:ln>
                <a:solidFill>
                  <a:schemeClr val="bg1">
                    <a:lumMod val="10000"/>
                  </a:schemeClr>
                </a:solidFill>
                <a:effectLst/>
                <a:uLnTx/>
                <a:uFillTx/>
                <a:latin typeface="+mn-lt"/>
                <a:ea typeface="+mn-ea"/>
                <a:cs typeface="+mn-ea"/>
                <a:sym typeface="+mn-lt"/>
              </a:rPr>
              <a:t> &amp;e)</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if(!(p=</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GetElemP_DuL</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return ERROR;</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e=p-&gt;data;</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p-&gt;prior-&gt;next=p-&gt;next;</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   p-&gt;next-&gt;prior=p-&gt;prior;</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free(p);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00000"/>
              </a:lnSpc>
              <a:spcBef>
                <a:spcPct val="20000"/>
              </a:spcBef>
              <a:spcAft>
                <a:spcPct val="0"/>
              </a:spcAft>
              <a:buClrTx/>
              <a:buSzTx/>
              <a:buFontTx/>
              <a:buNone/>
              <a:defRPr/>
            </a:pPr>
            <a:endParaRPr kumimoji="0" lang="en-US" altLang="zh-CN" sz="2600" b="0" i="0" u="none" strike="noStrike" kern="1200" cap="none" spc="0" normalizeH="0" baseline="0" noProof="0" dirty="0">
              <a:ln>
                <a:noFill/>
              </a:ln>
              <a:solidFill>
                <a:schemeClr val="accent1"/>
              </a:solidFill>
              <a:effectLst/>
              <a:uLnTx/>
              <a:uFillTx/>
              <a:latin typeface="+mn-lt"/>
              <a:ea typeface="+mn-ea"/>
              <a:cs typeface="+mn-ea"/>
              <a:sym typeface="+mn-lt"/>
            </a:endParaRPr>
          </a:p>
          <a:p>
            <a:pPr marL="342900" marR="0" lvl="0" indent="-342900" algn="just" defTabSz="914400" rtl="0" eaLnBrk="0" fontAlgn="base" latinLnBrk="0" hangingPunct="0">
              <a:lnSpc>
                <a:spcPct val="120000"/>
              </a:lnSpc>
              <a:spcBef>
                <a:spcPct val="20000"/>
              </a:spcBef>
              <a:spcAft>
                <a:spcPct val="0"/>
              </a:spcAft>
              <a:buClrTx/>
              <a:buSzTx/>
              <a:buFontTx/>
              <a:buNone/>
              <a:defRPr/>
            </a:pPr>
            <a:endPar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42339" name="Rectangle 3"/>
          <p:cNvSpPr>
            <a:spLocks noChangeArrowheads="1"/>
          </p:cNvSpPr>
          <p:nvPr/>
        </p:nvSpPr>
        <p:spPr bwMode="auto">
          <a:xfrm>
            <a:off x="904875" y="188913"/>
            <a:ext cx="561181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双向链表的删除</a:t>
            </a:r>
          </a:p>
        </p:txBody>
      </p:sp>
      <p:grpSp>
        <p:nvGrpSpPr>
          <p:cNvPr id="4" name="组合 3"/>
          <p:cNvGrpSpPr/>
          <p:nvPr/>
        </p:nvGrpSpPr>
        <p:grpSpPr>
          <a:xfrm>
            <a:off x="0" y="6380163"/>
            <a:ext cx="9144000" cy="431800"/>
            <a:chOff x="0" y="6379908"/>
            <a:chExt cx="9144000" cy="432048"/>
          </a:xfrm>
        </p:grpSpPr>
        <p:grpSp>
          <p:nvGrpSpPr>
            <p:cNvPr id="146438" name="组合 5"/>
            <p:cNvGrpSpPr/>
            <p:nvPr/>
          </p:nvGrpSpPr>
          <p:grpSpPr>
            <a:xfrm>
              <a:off x="0" y="6379908"/>
              <a:ext cx="9144000" cy="432048"/>
              <a:chOff x="0" y="6165304"/>
              <a:chExt cx="9144000" cy="432048"/>
            </a:xfrm>
          </p:grpSpPr>
          <p:cxnSp>
            <p:nvCxnSpPr>
              <p:cNvPr id="146440" name="直接连接符 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8" name="直接连接符 7"/>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46442" name="直接连接符 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6"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37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737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737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737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737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737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7379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7379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73794">
                                            <p:txEl>
                                              <p:pRg st="8" end="8"/>
                                            </p:txEl>
                                          </p:spTgt>
                                        </p:tgtEl>
                                        <p:attrNameLst>
                                          <p:attrName>style.visibility</p:attrName>
                                        </p:attrNameLst>
                                      </p:cBhvr>
                                      <p:to>
                                        <p:strVal val="visible"/>
                                      </p:to>
                                    </p:set>
                                  </p:childTnLst>
                                </p:cTn>
                              </p:par>
                            </p:childTnLst>
                          </p:cTn>
                        </p:par>
                        <p:par>
                          <p:cTn id="39" fill="hold">
                            <p:stCondLst>
                              <p:cond delay="500"/>
                            </p:stCondLst>
                            <p:childTnLst>
                              <p:par>
                                <p:cTn id="40" presetID="2" presetClass="entr" presetSubtype="4" fill="hold" nodeType="after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4"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474980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474980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4"/>
          <p:cNvSpPr>
            <a:spLocks noChangeArrowheads="1"/>
          </p:cNvSpPr>
          <p:nvPr/>
        </p:nvSpPr>
        <p:spPr bwMode="auto">
          <a:xfrm>
            <a:off x="936625" y="112713"/>
            <a:ext cx="78501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顺序表和链表的比较</a:t>
            </a:r>
          </a:p>
        </p:txBody>
      </p:sp>
      <p:graphicFrame>
        <p:nvGraphicFramePr>
          <p:cNvPr id="6" name="表格 5"/>
          <p:cNvGraphicFramePr>
            <a:graphicFrameLocks noGrp="1"/>
          </p:cNvGraphicFramePr>
          <p:nvPr/>
        </p:nvGraphicFramePr>
        <p:xfrm>
          <a:off x="285750" y="946150"/>
          <a:ext cx="8572500" cy="5751513"/>
        </p:xfrm>
        <a:graphic>
          <a:graphicData uri="http://schemas.openxmlformats.org/drawingml/2006/table">
            <a:tbl>
              <a:tblPr>
                <a:tableStyleId>{16D9F66E-5EB9-4882-86FB-DCBF35E3C3E4}</a:tableStyleId>
              </a:tblPr>
              <a:tblGrid>
                <a:gridCol w="794380">
                  <a:extLst>
                    <a:ext uri="{9D8B030D-6E8A-4147-A177-3AD203B41FA5}">
                      <a16:colId xmlns:a16="http://schemas.microsoft.com/office/drawing/2014/main" val="20000"/>
                    </a:ext>
                  </a:extLst>
                </a:gridCol>
                <a:gridCol w="1763678">
                  <a:extLst>
                    <a:ext uri="{9D8B030D-6E8A-4147-A177-3AD203B41FA5}">
                      <a16:colId xmlns:a16="http://schemas.microsoft.com/office/drawing/2014/main" val="20001"/>
                    </a:ext>
                  </a:extLst>
                </a:gridCol>
                <a:gridCol w="2952328">
                  <a:extLst>
                    <a:ext uri="{9D8B030D-6E8A-4147-A177-3AD203B41FA5}">
                      <a16:colId xmlns:a16="http://schemas.microsoft.com/office/drawing/2014/main" val="20002"/>
                    </a:ext>
                  </a:extLst>
                </a:gridCol>
                <a:gridCol w="3062114">
                  <a:extLst>
                    <a:ext uri="{9D8B030D-6E8A-4147-A177-3AD203B41FA5}">
                      <a16:colId xmlns:a16="http://schemas.microsoft.com/office/drawing/2014/main" val="20003"/>
                    </a:ext>
                  </a:extLst>
                </a:gridCol>
              </a:tblGrid>
              <a:tr h="873759">
                <a:tc gridSpan="2">
                  <a:txBody>
                    <a:bodyPr/>
                    <a:lstStyle/>
                    <a:p>
                      <a:pPr indent="430530" algn="just">
                        <a:spcBef>
                          <a:spcPts val="120"/>
                        </a:spcBef>
                        <a:spcAft>
                          <a:spcPts val="120"/>
                        </a:spcAft>
                      </a:pPr>
                      <a:r>
                        <a:rPr lang="en-US" altLang="zh-CN" sz="1800" kern="100" baseline="0" dirty="0">
                          <a:solidFill>
                            <a:schemeClr val="bg1"/>
                          </a:solidFill>
                          <a:sym typeface="+mn-lt"/>
                        </a:rPr>
                        <a:t>           </a:t>
                      </a:r>
                      <a:r>
                        <a:rPr lang="zh-CN" sz="1800" kern="100" dirty="0">
                          <a:solidFill>
                            <a:schemeClr val="bg1"/>
                          </a:solidFill>
                          <a:sym typeface="+mn-lt"/>
                        </a:rPr>
                        <a:t>存储结构</a:t>
                      </a:r>
                      <a:endParaRPr lang="zh-CN" sz="1800" kern="1000" dirty="0">
                        <a:solidFill>
                          <a:schemeClr val="bg1"/>
                        </a:solidFill>
                        <a:sym typeface="+mn-lt"/>
                      </a:endParaRPr>
                    </a:p>
                    <a:p>
                      <a:pPr algn="just">
                        <a:spcBef>
                          <a:spcPts val="120"/>
                        </a:spcBef>
                        <a:spcAft>
                          <a:spcPts val="120"/>
                        </a:spcAft>
                      </a:pPr>
                      <a:r>
                        <a:rPr lang="en-US" altLang="zh-CN" sz="1800" kern="100" dirty="0">
                          <a:solidFill>
                            <a:schemeClr val="bg1"/>
                          </a:solidFill>
                          <a:sym typeface="+mn-lt"/>
                        </a:rPr>
                        <a:t>    </a:t>
                      </a:r>
                    </a:p>
                    <a:p>
                      <a:pPr algn="just">
                        <a:spcBef>
                          <a:spcPts val="120"/>
                        </a:spcBef>
                        <a:spcAft>
                          <a:spcPts val="120"/>
                        </a:spcAft>
                      </a:pPr>
                      <a:r>
                        <a:rPr lang="en-US" altLang="zh-CN" sz="1800" kern="100" dirty="0">
                          <a:solidFill>
                            <a:schemeClr val="bg1"/>
                          </a:solidFill>
                          <a:sym typeface="+mn-lt"/>
                        </a:rPr>
                        <a:t>       </a:t>
                      </a:r>
                      <a:r>
                        <a:rPr lang="zh-CN" sz="1800" kern="100" dirty="0">
                          <a:solidFill>
                            <a:schemeClr val="bg1"/>
                          </a:solidFill>
                          <a:sym typeface="+mn-lt"/>
                        </a:rPr>
                        <a:t>比较项目</a:t>
                      </a:r>
                      <a:endParaRPr lang="zh-CN" sz="1800" kern="1000" dirty="0">
                        <a:solidFill>
                          <a:schemeClr val="bg1"/>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476B6"/>
                    </a:solidFill>
                  </a:tcPr>
                </a:tc>
                <a:tc hMerge="1">
                  <a:txBody>
                    <a:bodyPr/>
                    <a:lstStyle/>
                    <a:p>
                      <a:endParaRPr lang="zh-CN"/>
                    </a:p>
                  </a:txBody>
                  <a:tcPr/>
                </a:tc>
                <a:tc>
                  <a:txBody>
                    <a:bodyPr/>
                    <a:lstStyle/>
                    <a:p>
                      <a:pPr algn="ctr">
                        <a:spcBef>
                          <a:spcPts val="120"/>
                        </a:spcBef>
                        <a:spcAft>
                          <a:spcPts val="120"/>
                        </a:spcAft>
                      </a:pPr>
                      <a:r>
                        <a:rPr lang="zh-CN" sz="1800" kern="100" dirty="0">
                          <a:solidFill>
                            <a:schemeClr val="bg1"/>
                          </a:solidFill>
                          <a:sym typeface="+mn-lt"/>
                        </a:rPr>
                        <a:t>顺序表</a:t>
                      </a:r>
                      <a:endParaRPr lang="zh-CN" sz="1800" kern="1000" dirty="0">
                        <a:solidFill>
                          <a:schemeClr val="bg1"/>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476B6"/>
                    </a:solidFill>
                  </a:tcPr>
                </a:tc>
                <a:tc>
                  <a:txBody>
                    <a:bodyPr/>
                    <a:lstStyle/>
                    <a:p>
                      <a:pPr algn="ctr">
                        <a:spcBef>
                          <a:spcPts val="120"/>
                        </a:spcBef>
                        <a:spcAft>
                          <a:spcPts val="120"/>
                        </a:spcAft>
                      </a:pPr>
                      <a:r>
                        <a:rPr lang="zh-CN" sz="1800" kern="100" dirty="0">
                          <a:solidFill>
                            <a:schemeClr val="bg1"/>
                          </a:solidFill>
                          <a:sym typeface="+mn-lt"/>
                        </a:rPr>
                        <a:t>链表</a:t>
                      </a:r>
                      <a:endParaRPr lang="zh-CN" sz="1800" kern="1000" dirty="0">
                        <a:solidFill>
                          <a:schemeClr val="bg1"/>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476B6"/>
                    </a:solidFill>
                  </a:tcPr>
                </a:tc>
                <a:extLst>
                  <a:ext uri="{0D108BD9-81ED-4DB2-BD59-A6C34878D82A}">
                    <a16:rowId xmlns:a16="http://schemas.microsoft.com/office/drawing/2014/main" val="10000"/>
                  </a:ext>
                </a:extLst>
              </a:tr>
              <a:tr h="654412">
                <a:tc rowSpan="2">
                  <a:txBody>
                    <a:bodyPr/>
                    <a:lstStyle/>
                    <a:p>
                      <a:pPr algn="ctr">
                        <a:spcBef>
                          <a:spcPts val="240"/>
                        </a:spcBef>
                        <a:spcAft>
                          <a:spcPts val="240"/>
                        </a:spcAft>
                      </a:pPr>
                      <a:r>
                        <a:rPr lang="zh-CN" sz="1800" kern="100" dirty="0">
                          <a:sym typeface="+mn-lt"/>
                        </a:rPr>
                        <a:t>空间</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Bef>
                          <a:spcPts val="240"/>
                        </a:spcBef>
                        <a:spcAft>
                          <a:spcPts val="240"/>
                        </a:spcAft>
                      </a:pPr>
                      <a:r>
                        <a:rPr lang="zh-CN" sz="1800" kern="100">
                          <a:sym typeface="+mn-lt"/>
                        </a:rPr>
                        <a:t>存储空间</a:t>
                      </a:r>
                      <a:endParaRPr lang="zh-CN" sz="1800" kern="100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dirty="0">
                          <a:sym typeface="+mn-lt"/>
                        </a:rPr>
                        <a:t>预先分配，会导致空间闲置或溢出现象</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a:sym typeface="+mn-lt"/>
                        </a:rPr>
                        <a:t>动态分配，不会出现存储空间闲置或溢出现象</a:t>
                      </a:r>
                      <a:endParaRPr lang="zh-CN" sz="1800" kern="100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81621">
                <a:tc vMerge="1">
                  <a:txBody>
                    <a:bodyPr/>
                    <a:lstStyle/>
                    <a:p>
                      <a:endParaRPr lang="zh-CN"/>
                    </a:p>
                  </a:txBody>
                  <a:tcPr/>
                </a:tc>
                <a:tc>
                  <a:txBody>
                    <a:bodyPr/>
                    <a:lstStyle/>
                    <a:p>
                      <a:pPr algn="ctr">
                        <a:spcBef>
                          <a:spcPts val="240"/>
                        </a:spcBef>
                        <a:spcAft>
                          <a:spcPts val="240"/>
                        </a:spcAft>
                      </a:pPr>
                      <a:r>
                        <a:rPr lang="zh-CN" sz="1800" kern="100" dirty="0">
                          <a:sym typeface="+mn-lt"/>
                        </a:rPr>
                        <a:t>存储密度</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dirty="0">
                          <a:sym typeface="+mn-lt"/>
                        </a:rPr>
                        <a:t>不用为表示结点间的逻辑关系而增加额外的存储开销，存储密度等于</a:t>
                      </a:r>
                      <a:r>
                        <a:rPr lang="en-US" sz="1800" kern="100" dirty="0">
                          <a:sym typeface="+mn-lt"/>
                        </a:rPr>
                        <a:t>1</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dirty="0">
                          <a:sym typeface="+mn-lt"/>
                        </a:rPr>
                        <a:t>需要借助指针来体现元素间的逻辑关系，存储密度小于</a:t>
                      </a:r>
                      <a:r>
                        <a:rPr lang="en-US" sz="1800" kern="100" dirty="0">
                          <a:sym typeface="+mn-lt"/>
                        </a:rPr>
                        <a:t>1</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54412">
                <a:tc rowSpan="2">
                  <a:txBody>
                    <a:bodyPr/>
                    <a:lstStyle/>
                    <a:p>
                      <a:pPr algn="ctr">
                        <a:spcBef>
                          <a:spcPts val="240"/>
                        </a:spcBef>
                        <a:spcAft>
                          <a:spcPts val="240"/>
                        </a:spcAft>
                      </a:pPr>
                      <a:r>
                        <a:rPr lang="zh-CN" sz="1800" kern="100">
                          <a:sym typeface="+mn-lt"/>
                        </a:rPr>
                        <a:t>时间</a:t>
                      </a:r>
                      <a:endParaRPr lang="zh-CN" sz="1800" kern="100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Bef>
                          <a:spcPts val="240"/>
                        </a:spcBef>
                        <a:spcAft>
                          <a:spcPts val="240"/>
                        </a:spcAft>
                      </a:pPr>
                      <a:r>
                        <a:rPr lang="zh-CN" sz="1800" kern="100" dirty="0">
                          <a:sym typeface="+mn-lt"/>
                        </a:rPr>
                        <a:t>存取元素</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dirty="0">
                          <a:sym typeface="+mn-lt"/>
                        </a:rPr>
                        <a:t>随机存取，按位置访问元素的时间复杂度为</a:t>
                      </a:r>
                      <a:r>
                        <a:rPr lang="en-US" sz="1800" kern="100" dirty="0">
                          <a:sym typeface="+mn-lt"/>
                        </a:rPr>
                        <a:t>O(1)</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a:sym typeface="+mn-lt"/>
                        </a:rPr>
                        <a:t>顺序存取，按位置访问元素时间复杂度为</a:t>
                      </a:r>
                      <a:r>
                        <a:rPr lang="en-US" sz="1800" kern="100">
                          <a:sym typeface="+mn-lt"/>
                        </a:rPr>
                        <a:t>O(n)</a:t>
                      </a:r>
                      <a:endParaRPr lang="zh-CN" sz="1800" kern="100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22959">
                <a:tc vMerge="1">
                  <a:txBody>
                    <a:bodyPr/>
                    <a:lstStyle/>
                    <a:p>
                      <a:endParaRPr lang="zh-CN"/>
                    </a:p>
                  </a:txBody>
                  <a:tcPr/>
                </a:tc>
                <a:tc>
                  <a:txBody>
                    <a:bodyPr/>
                    <a:lstStyle/>
                    <a:p>
                      <a:pPr algn="ctr">
                        <a:spcBef>
                          <a:spcPts val="240"/>
                        </a:spcBef>
                        <a:spcAft>
                          <a:spcPts val="240"/>
                        </a:spcAft>
                      </a:pPr>
                      <a:r>
                        <a:rPr lang="zh-CN" sz="1800" kern="100" dirty="0">
                          <a:sym typeface="+mn-lt"/>
                        </a:rPr>
                        <a:t>插入、删除</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dirty="0">
                          <a:sym typeface="+mn-lt"/>
                        </a:rPr>
                        <a:t>平均移动约表中一半元素，时间复杂度为</a:t>
                      </a:r>
                      <a:r>
                        <a:rPr lang="en-US" sz="1800" kern="100" dirty="0">
                          <a:sym typeface="+mn-lt"/>
                        </a:rPr>
                        <a:t>O(n)</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a:sym typeface="+mn-lt"/>
                        </a:rPr>
                        <a:t>不需移动元素，确定插入、删除位置后，时间复杂度为</a:t>
                      </a:r>
                      <a:r>
                        <a:rPr lang="en-US" sz="1800" kern="100">
                          <a:sym typeface="+mn-lt"/>
                        </a:rPr>
                        <a:t>O(1)</a:t>
                      </a:r>
                      <a:endParaRPr lang="zh-CN" sz="1800" kern="100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764348">
                <a:tc gridSpan="2">
                  <a:txBody>
                    <a:bodyPr/>
                    <a:lstStyle/>
                    <a:p>
                      <a:pPr algn="ctr">
                        <a:spcBef>
                          <a:spcPts val="240"/>
                        </a:spcBef>
                        <a:spcAft>
                          <a:spcPts val="240"/>
                        </a:spcAft>
                      </a:pPr>
                      <a:r>
                        <a:rPr lang="zh-CN" sz="1800" kern="100">
                          <a:sym typeface="+mn-lt"/>
                        </a:rPr>
                        <a:t>适用情况</a:t>
                      </a:r>
                      <a:endParaRPr lang="zh-CN" sz="1800" kern="100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p>
                  </a:txBody>
                  <a:tcPr/>
                </a:tc>
                <a:tc>
                  <a:txBody>
                    <a:bodyPr/>
                    <a:lstStyle/>
                    <a:p>
                      <a:pPr algn="just">
                        <a:spcBef>
                          <a:spcPts val="240"/>
                        </a:spcBef>
                        <a:spcAft>
                          <a:spcPts val="240"/>
                        </a:spcAft>
                      </a:pPr>
                      <a:r>
                        <a:rPr lang="zh-CN" sz="1800" kern="100" dirty="0">
                          <a:sym typeface="+mn-lt"/>
                        </a:rPr>
                        <a:t>① 表长变化不大，且能事先确定变化的范围</a:t>
                      </a:r>
                      <a:endParaRPr lang="zh-CN" sz="1800" kern="1000" dirty="0">
                        <a:sym typeface="+mn-lt"/>
                      </a:endParaRPr>
                    </a:p>
                    <a:p>
                      <a:pPr algn="just">
                        <a:spcBef>
                          <a:spcPts val="240"/>
                        </a:spcBef>
                        <a:spcAft>
                          <a:spcPts val="240"/>
                        </a:spcAft>
                      </a:pPr>
                      <a:r>
                        <a:rPr lang="zh-CN" sz="1800" kern="100" dirty="0">
                          <a:sym typeface="+mn-lt"/>
                        </a:rPr>
                        <a:t>② 很少进行插入或删除操作，经常按元素位置序号访问数据元素</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240"/>
                        </a:spcBef>
                        <a:spcAft>
                          <a:spcPts val="240"/>
                        </a:spcAft>
                      </a:pPr>
                      <a:r>
                        <a:rPr lang="zh-CN" sz="1800" kern="100" dirty="0">
                          <a:sym typeface="+mn-lt"/>
                        </a:rPr>
                        <a:t>① 长度变化较大</a:t>
                      </a:r>
                      <a:endParaRPr lang="zh-CN" sz="1800" kern="1000" dirty="0">
                        <a:sym typeface="+mn-lt"/>
                      </a:endParaRPr>
                    </a:p>
                    <a:p>
                      <a:pPr algn="just">
                        <a:spcBef>
                          <a:spcPts val="240"/>
                        </a:spcBef>
                        <a:spcAft>
                          <a:spcPts val="240"/>
                        </a:spcAft>
                      </a:pPr>
                      <a:r>
                        <a:rPr lang="zh-CN" sz="1800" kern="100" dirty="0">
                          <a:sym typeface="+mn-lt"/>
                        </a:rPr>
                        <a:t>② 频繁进行插入或删除操作</a:t>
                      </a:r>
                      <a:endParaRPr lang="zh-CN" sz="18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43396" name="Line 1"/>
          <p:cNvSpPr>
            <a:spLocks noChangeShapeType="1"/>
          </p:cNvSpPr>
          <p:nvPr/>
        </p:nvSpPr>
        <p:spPr bwMode="auto">
          <a:xfrm>
            <a:off x="285750" y="946150"/>
            <a:ext cx="2546350" cy="80803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525208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525208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2.7</a:t>
            </a:r>
          </a:p>
          <a:p>
            <a:pPr marR="0" defTabSz="914400">
              <a:lnSpc>
                <a:spcPct val="150000"/>
              </a:lnSpc>
              <a:buClrTx/>
              <a:buSzTx/>
              <a:buFontTx/>
              <a:buNone/>
              <a:defRPr/>
            </a:pPr>
            <a:endParaRPr kumimoji="0" lang="en-US" altLang="zh-CN" sz="2200" kern="1200" cap="none" spc="0" normalizeH="0" baseline="0" noProof="0" dirty="0">
              <a:solidFill>
                <a:schemeClr val="tx1">
                  <a:lumMod val="95000"/>
                  <a:lumOff val="5000"/>
                </a:schemeClr>
              </a:solidFill>
              <a:latin typeface="+mn-lt"/>
              <a:ea typeface="+mn-ea"/>
              <a:cs typeface="+mn-ea"/>
              <a:sym typeface="+mn-lt"/>
            </a:endParaRP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4"/>
          <p:cNvSpPr>
            <a:spLocks noChangeArrowheads="1"/>
          </p:cNvSpPr>
          <p:nvPr/>
        </p:nvSpPr>
        <p:spPr bwMode="auto">
          <a:xfrm>
            <a:off x="811213" y="134938"/>
            <a:ext cx="78501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线性表的应用</a:t>
            </a:r>
          </a:p>
        </p:txBody>
      </p:sp>
      <p:grpSp>
        <p:nvGrpSpPr>
          <p:cNvPr id="52" name="组合 51"/>
          <p:cNvGrpSpPr/>
          <p:nvPr/>
        </p:nvGrpSpPr>
        <p:grpSpPr>
          <a:xfrm>
            <a:off x="4811713" y="3127375"/>
            <a:ext cx="2711450" cy="2270125"/>
            <a:chOff x="4561682" y="2200808"/>
            <a:chExt cx="3219450" cy="2697163"/>
          </a:xfrm>
        </p:grpSpPr>
        <p:sp>
          <p:nvSpPr>
            <p:cNvPr id="150539" name="i$liḋe-Oval 12"/>
            <p:cNvSpPr/>
            <p:nvPr/>
          </p:nvSpPr>
          <p:spPr>
            <a:xfrm>
              <a:off x="4996764" y="2200808"/>
              <a:ext cx="2284976" cy="2283619"/>
            </a:xfrm>
            <a:prstGeom prst="ellipse">
              <a:avLst/>
            </a:prstGeom>
            <a:solidFill>
              <a:schemeClr val="accent1"/>
            </a:solidFill>
            <a:ln w="50800" cap="flat" cmpd="sng">
              <a:solidFill>
                <a:schemeClr val="tx1">
                  <a:alpha val="0"/>
                </a:schemeClr>
              </a:solidFill>
              <a:prstDash val="solid"/>
              <a:miter/>
              <a:headEnd type="none" w="med" len="med"/>
              <a:tailEnd type="none" w="med" len="med"/>
            </a:ln>
          </p:spPr>
          <p:txBody>
            <a:bodyPr wrap="none" lIns="0" tIns="0" rIns="0" bIns="0"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gn="ctr" eaLnBrk="1" hangingPunct="1">
                <a:lnSpc>
                  <a:spcPct val="100000"/>
                </a:lnSpc>
                <a:spcBef>
                  <a:spcPct val="20000"/>
                </a:spcBef>
              </a:pPr>
              <a:r>
                <a:rPr lang="zh-CN" altLang="en-US" b="1" dirty="0">
                  <a:solidFill>
                    <a:schemeClr val="bg1"/>
                  </a:solidFill>
                  <a:latin typeface="Arial" panose="020B0604020202020204" pitchFamily="34" charset="0"/>
                  <a:sym typeface="Arial" panose="020B0604020202020204" pitchFamily="34" charset="0"/>
                </a:rPr>
                <a:t>有序表</a:t>
              </a:r>
              <a:endParaRPr lang="en-US" altLang="zh-CN" b="1" dirty="0">
                <a:solidFill>
                  <a:schemeClr val="bg1"/>
                </a:solidFill>
                <a:latin typeface="Arial" panose="020B0604020202020204" pitchFamily="34" charset="0"/>
                <a:sym typeface="Arial" panose="020B0604020202020204" pitchFamily="34" charset="0"/>
              </a:endParaRPr>
            </a:p>
            <a:p>
              <a:pPr lvl="0" indent="0" algn="ctr" eaLnBrk="1" hangingPunct="1">
                <a:lnSpc>
                  <a:spcPct val="100000"/>
                </a:lnSpc>
                <a:spcBef>
                  <a:spcPct val="20000"/>
                </a:spcBef>
              </a:pPr>
              <a:r>
                <a:rPr lang="zh-CN" altLang="en-US" b="1" dirty="0">
                  <a:solidFill>
                    <a:schemeClr val="bg1"/>
                  </a:solidFill>
                  <a:latin typeface="Arial" panose="020B0604020202020204" pitchFamily="34" charset="0"/>
                  <a:sym typeface="Arial" panose="020B0604020202020204" pitchFamily="34" charset="0"/>
                </a:rPr>
                <a:t>的合并</a:t>
              </a:r>
            </a:p>
          </p:txBody>
        </p:sp>
        <p:sp>
          <p:nvSpPr>
            <p:cNvPr id="54" name="i$liḋe-Oval 14"/>
            <p:cNvSpPr/>
            <p:nvPr/>
          </p:nvSpPr>
          <p:spPr bwMode="auto">
            <a:xfrm>
              <a:off x="4561682" y="3047680"/>
              <a:ext cx="326091" cy="326300"/>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5" name="i$liḋe-Oval 15"/>
            <p:cNvSpPr/>
            <p:nvPr/>
          </p:nvSpPr>
          <p:spPr bwMode="auto">
            <a:xfrm>
              <a:off x="5877359" y="4354766"/>
              <a:ext cx="544742" cy="543205"/>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6" name="i$liḋe-Oval 16"/>
            <p:cNvSpPr/>
            <p:nvPr/>
          </p:nvSpPr>
          <p:spPr bwMode="auto">
            <a:xfrm>
              <a:off x="6857519" y="2221556"/>
              <a:ext cx="173413" cy="175409"/>
            </a:xfrm>
            <a:prstGeom prst="ellipse">
              <a:avLst/>
            </a:prstGeom>
            <a:solidFill>
              <a:schemeClr val="accent1">
                <a:lumMod val="40000"/>
                <a:lumOff val="60000"/>
                <a:alpha val="20000"/>
              </a:schemeClr>
            </a:solidFill>
            <a:ln w="50800">
              <a:no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7" name="i$liḋe-Oval 17"/>
            <p:cNvSpPr/>
            <p:nvPr/>
          </p:nvSpPr>
          <p:spPr bwMode="auto">
            <a:xfrm>
              <a:off x="7117639" y="3907754"/>
              <a:ext cx="403374" cy="403631"/>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58" name="i$liḋe-Oval 18"/>
            <p:cNvSpPr/>
            <p:nvPr/>
          </p:nvSpPr>
          <p:spPr bwMode="auto">
            <a:xfrm>
              <a:off x="7292936" y="2940170"/>
              <a:ext cx="488196" cy="488508"/>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59" name="组合 58"/>
          <p:cNvGrpSpPr/>
          <p:nvPr/>
        </p:nvGrpSpPr>
        <p:grpSpPr>
          <a:xfrm>
            <a:off x="1576388" y="1730375"/>
            <a:ext cx="3000375" cy="2557463"/>
            <a:chOff x="755650" y="1929345"/>
            <a:chExt cx="3562350" cy="3037682"/>
          </a:xfrm>
        </p:grpSpPr>
        <p:sp>
          <p:nvSpPr>
            <p:cNvPr id="60" name="i$liḋe-Oval 4"/>
            <p:cNvSpPr/>
            <p:nvPr/>
          </p:nvSpPr>
          <p:spPr bwMode="auto">
            <a:xfrm>
              <a:off x="1560477" y="2263095"/>
              <a:ext cx="2222228" cy="2223107"/>
            </a:xfrm>
            <a:prstGeom prst="ellipse">
              <a:avLst/>
            </a:prstGeom>
            <a:solidFill>
              <a:schemeClr val="tx1">
                <a:lumMod val="65000"/>
                <a:lumOff val="35000"/>
              </a:schemeClr>
            </a:solidFill>
            <a:ln w="50800" cap="flat">
              <a:solidFill>
                <a:schemeClr val="tx1">
                  <a:alpha val="0"/>
                </a:schemeClr>
              </a:solidFill>
              <a:prstDash val="solid"/>
              <a:miter lim="800000"/>
              <a:headEnd type="none" w="med" len="med"/>
              <a:tailEnd type="none" w="med" len="med"/>
            </a:ln>
          </p:spPr>
          <p:txBody>
            <a:bodyPr wrap="none" lIns="0" tIns="0" rIns="0" bIns="0" anchor="ctr">
              <a:normAutofit/>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线性表</a:t>
              </a:r>
              <a:endPar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的合并</a:t>
              </a:r>
            </a:p>
          </p:txBody>
        </p:sp>
        <p:sp>
          <p:nvSpPr>
            <p:cNvPr id="61" name="i$liḋe-Oval 6"/>
            <p:cNvSpPr/>
            <p:nvPr/>
          </p:nvSpPr>
          <p:spPr bwMode="auto">
            <a:xfrm>
              <a:off x="3967420" y="3601862"/>
              <a:ext cx="350580" cy="348833"/>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2" name="i$liḋe-Oval 7"/>
            <p:cNvSpPr/>
            <p:nvPr/>
          </p:nvSpPr>
          <p:spPr bwMode="auto">
            <a:xfrm>
              <a:off x="1524665" y="3835675"/>
              <a:ext cx="348695" cy="348833"/>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3" name="i$liḋe-Oval 8"/>
            <p:cNvSpPr/>
            <p:nvPr/>
          </p:nvSpPr>
          <p:spPr bwMode="auto">
            <a:xfrm>
              <a:off x="2010954" y="4363639"/>
              <a:ext cx="603149" cy="603388"/>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4" name="i$liḋe-Oval 9"/>
            <p:cNvSpPr/>
            <p:nvPr/>
          </p:nvSpPr>
          <p:spPr bwMode="auto">
            <a:xfrm>
              <a:off x="2485934" y="1929345"/>
              <a:ext cx="201677" cy="201758"/>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5" name="i$liḋe-Oval 10"/>
            <p:cNvSpPr/>
            <p:nvPr/>
          </p:nvSpPr>
          <p:spPr bwMode="auto">
            <a:xfrm>
              <a:off x="755650" y="3109723"/>
              <a:ext cx="433513" cy="435571"/>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8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up)">
                                      <p:cBhvr>
                                        <p:cTn id="7" dur="500"/>
                                        <p:tgtEl>
                                          <p:spTgt spid="5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wipe(up)">
                                      <p:cBhvr>
                                        <p:cTn id="1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4"/>
          <p:cNvSpPr>
            <a:spLocks noChangeArrowheads="1"/>
          </p:cNvSpPr>
          <p:nvPr/>
        </p:nvSpPr>
        <p:spPr bwMode="auto">
          <a:xfrm>
            <a:off x="874713" y="115888"/>
            <a:ext cx="78501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线性表的合并</a:t>
            </a:r>
          </a:p>
        </p:txBody>
      </p:sp>
      <p:sp>
        <p:nvSpPr>
          <p:cNvPr id="145413" name="Rectangle 10"/>
          <p:cNvSpPr>
            <a:spLocks noChangeArrowheads="1"/>
          </p:cNvSpPr>
          <p:nvPr/>
        </p:nvSpPr>
        <p:spPr bwMode="auto">
          <a:xfrm>
            <a:off x="384175" y="1125538"/>
            <a:ext cx="8339138" cy="2879725"/>
          </a:xfrm>
          <a:prstGeom prst="roundRect">
            <a:avLst>
              <a:gd name="adj" fmla="val 6085"/>
            </a:avLst>
          </a:prstGeom>
          <a:solidFill>
            <a:srgbClr val="B8D4EC"/>
          </a:solid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问题描述：   </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假设利用两个线性表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分别表示两个集合       </a:t>
            </a:r>
            <a:b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b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现要求一个新的集合</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A=A</a:t>
            </a:r>
            <a:r>
              <a:rPr kumimoji="0" lang="en-US" altLang="zh-CN" sz="2800" b="0" i="0" u="none" strike="noStrike" kern="1200" cap="none" spc="0" normalizeH="0" baseline="0" noProof="0" dirty="0">
                <a:ln>
                  <a:noFill/>
                </a:ln>
                <a:solidFill>
                  <a:schemeClr val="tx2"/>
                </a:solidFill>
                <a:effectLst/>
                <a:uLnTx/>
                <a:uFillTx/>
                <a:latin typeface="Times New Roman"/>
                <a:ea typeface="+mn-ea"/>
                <a:cs typeface="Times New Roman"/>
                <a:sym typeface="+mn-lt"/>
              </a:rPr>
              <a:t>U</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74827" name="Rectangle 11"/>
          <p:cNvSpPr>
            <a:spLocks noChangeArrowheads="1"/>
          </p:cNvSpPr>
          <p:nvPr/>
        </p:nvSpPr>
        <p:spPr bwMode="auto">
          <a:xfrm>
            <a:off x="384175" y="4292600"/>
            <a:ext cx="8340725" cy="2016125"/>
          </a:xfrm>
          <a:prstGeom prst="roundRect">
            <a:avLst>
              <a:gd name="adj" fmla="val 7311"/>
            </a:avLst>
          </a:prstGeom>
          <a:solidFill>
            <a:srgbClr val="D2D2F4"/>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L</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5,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11)</a:t>
            </a: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en-US" sz="3200" b="0" i="0" u="none" strike="noStrike" kern="1200" cap="none" spc="0" normalizeH="0" baseline="0" noProof="0" dirty="0" err="1">
                <a:ln>
                  <a:noFill/>
                </a:ln>
                <a:solidFill>
                  <a:schemeClr val="tx1"/>
                </a:solidFill>
                <a:effectLst/>
                <a:uLnTx/>
                <a:uFillTx/>
                <a:latin typeface="+mn-lt"/>
                <a:ea typeface="+mn-ea"/>
                <a:cs typeface="+mn-ea"/>
                <a:sym typeface="+mn-lt"/>
              </a:rPr>
              <a:t>L</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b</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=(2, 6,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La=(7, 5, 3, 11, 2, 6)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48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7"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5"/>
          <p:cNvSpPr txBox="1">
            <a:spLocks noChangeArrowheads="1"/>
          </p:cNvSpPr>
          <p:nvPr/>
        </p:nvSpPr>
        <p:spPr bwMode="auto">
          <a:xfrm>
            <a:off x="811213" y="1906588"/>
            <a:ext cx="7137400" cy="673100"/>
          </a:xfrm>
          <a:prstGeom prst="roundRect">
            <a:avLst/>
          </a:prstGeom>
          <a:solidFill>
            <a:srgbClr val="9476B6"/>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依次取出</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Lb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中的每个元素，执行以下操作：</a:t>
            </a:r>
          </a:p>
        </p:txBody>
      </p:sp>
      <p:sp>
        <p:nvSpPr>
          <p:cNvPr id="146435" name="Rectangle 8"/>
          <p:cNvSpPr>
            <a:spLocks noChangeArrowheads="1"/>
          </p:cNvSpPr>
          <p:nvPr/>
        </p:nvSpPr>
        <p:spPr bwMode="auto">
          <a:xfrm>
            <a:off x="611188" y="158750"/>
            <a:ext cx="37750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5" name="AutoShape 3"/>
          <p:cNvSpPr>
            <a:spLocks noChangeArrowheads="1"/>
          </p:cNvSpPr>
          <p:nvPr/>
        </p:nvSpPr>
        <p:spPr bwMode="auto">
          <a:xfrm>
            <a:off x="811213" y="3181350"/>
            <a:ext cx="7137400" cy="666750"/>
          </a:xfrm>
          <a:prstGeom prst="roundRect">
            <a:avLst>
              <a:gd name="adj" fmla="val 16667"/>
            </a:avLst>
          </a:prstGeom>
          <a:solidFill>
            <a:srgbClr val="B8D4EC"/>
          </a:solidFill>
          <a:ln w="9525">
            <a:solidFill>
              <a:schemeClr val="bg2"/>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 name="AutoShape 5"/>
          <p:cNvSpPr>
            <a:spLocks noChangeArrowheads="1"/>
          </p:cNvSpPr>
          <p:nvPr/>
        </p:nvSpPr>
        <p:spPr bwMode="auto">
          <a:xfrm>
            <a:off x="811213" y="4295775"/>
            <a:ext cx="7137400" cy="666750"/>
          </a:xfrm>
          <a:prstGeom prst="roundRect">
            <a:avLst>
              <a:gd name="adj" fmla="val 16667"/>
            </a:avLst>
          </a:prstGeom>
          <a:solidFill>
            <a:srgbClr val="EAEAEA"/>
          </a:solidFill>
          <a:ln w="9525">
            <a:solidFill>
              <a:schemeClr val="bg2"/>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4" name="Text Box 5"/>
          <p:cNvSpPr txBox="1">
            <a:spLocks noChangeArrowheads="1"/>
          </p:cNvSpPr>
          <p:nvPr/>
        </p:nvSpPr>
        <p:spPr bwMode="auto">
          <a:xfrm>
            <a:off x="828675" y="3214688"/>
            <a:ext cx="68389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中查找该元素</a:t>
            </a:r>
          </a:p>
        </p:txBody>
      </p:sp>
      <p:sp>
        <p:nvSpPr>
          <p:cNvPr id="23" name="Text Box 5"/>
          <p:cNvSpPr txBox="1">
            <a:spLocks noChangeArrowheads="1"/>
          </p:cNvSpPr>
          <p:nvPr/>
        </p:nvSpPr>
        <p:spPr bwMode="auto">
          <a:xfrm>
            <a:off x="811213" y="4319588"/>
            <a:ext cx="685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如果找不到，则将其插入</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的最后</a:t>
            </a:r>
          </a:p>
        </p:txBody>
      </p:sp>
      <p:grpSp>
        <p:nvGrpSpPr>
          <p:cNvPr id="24" name="组合 23"/>
          <p:cNvGrpSpPr/>
          <p:nvPr/>
        </p:nvGrpSpPr>
        <p:grpSpPr>
          <a:xfrm>
            <a:off x="0" y="6380163"/>
            <a:ext cx="9144000" cy="431800"/>
            <a:chOff x="0" y="6379908"/>
            <a:chExt cx="9144000" cy="432048"/>
          </a:xfrm>
        </p:grpSpPr>
        <p:grpSp>
          <p:nvGrpSpPr>
            <p:cNvPr id="152585" name="组合 5"/>
            <p:cNvGrpSpPr/>
            <p:nvPr/>
          </p:nvGrpSpPr>
          <p:grpSpPr>
            <a:xfrm>
              <a:off x="0" y="6379908"/>
              <a:ext cx="9144000" cy="432048"/>
              <a:chOff x="0" y="6165304"/>
              <a:chExt cx="9144000" cy="432048"/>
            </a:xfrm>
          </p:grpSpPr>
          <p:cxnSp>
            <p:nvCxnSpPr>
              <p:cNvPr id="152587" name="直接连接符 2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28" name="直接连接符 27"/>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52589" name="直接连接符 2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26"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矩形 1"/>
          <p:cNvSpPr/>
          <p:nvPr/>
        </p:nvSpPr>
        <p:spPr>
          <a:xfrm>
            <a:off x="0" y="981075"/>
            <a:ext cx="9144000" cy="4940300"/>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7458" name="Rectangle 4"/>
          <p:cNvSpPr>
            <a:spLocks noChangeArrowheads="1"/>
          </p:cNvSpPr>
          <p:nvPr/>
        </p:nvSpPr>
        <p:spPr bwMode="auto">
          <a:xfrm>
            <a:off x="593725" y="981075"/>
            <a:ext cx="7499350"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rPr>
              <a:t>void union(List &amp;La, List </a:t>
            </a:r>
            <a:r>
              <a:rPr kumimoji="0" lang="en-US" altLang="zh-CN" sz="2600" b="0" i="0" u="none" strike="noStrike" kern="1200" cap="none" spc="0" normalizeH="0" baseline="0" noProof="0" dirty="0" err="1">
                <a:ln>
                  <a:noFill/>
                </a:ln>
                <a:solidFill>
                  <a:schemeClr val="tx2"/>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rPr>
              <a:t>){</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La_len</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folHlink"/>
                </a:solidFill>
                <a:effectLst/>
                <a:uLnTx/>
                <a:uFillTx/>
                <a:latin typeface="+mn-lt"/>
                <a:ea typeface="+mn-ea"/>
                <a:cs typeface="+mn-ea"/>
                <a:sym typeface="+mn-lt"/>
              </a:rPr>
              <a:t>ListLength</a:t>
            </a: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(La);</a:t>
            </a:r>
            <a:endPar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Lb_len</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folHlink"/>
                </a:solidFill>
                <a:effectLst/>
                <a:uLnTx/>
                <a:uFillTx/>
                <a:latin typeface="+mn-lt"/>
                <a:ea typeface="+mn-ea"/>
                <a:cs typeface="+mn-ea"/>
                <a:sym typeface="+mn-lt"/>
              </a:rPr>
              <a:t>ListLength</a:t>
            </a: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folHlink"/>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for(</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=1;i&lt;=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Lb_len;i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folHlink"/>
                </a:solidFill>
                <a:effectLst/>
                <a:uLnTx/>
                <a:uFillTx/>
                <a:latin typeface="+mn-lt"/>
                <a:ea typeface="+mn-ea"/>
                <a:cs typeface="+mn-ea"/>
                <a:sym typeface="+mn-lt"/>
              </a:rPr>
              <a:t>GetElem</a:t>
            </a: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folHlink"/>
                </a:solidFill>
                <a:effectLst/>
                <a:uLnTx/>
                <a:uFillTx/>
                <a:latin typeface="+mn-lt"/>
                <a:ea typeface="+mn-ea"/>
                <a:cs typeface="+mn-ea"/>
                <a:sym typeface="+mn-lt"/>
              </a:rPr>
              <a:t>Lb,i,e</a:t>
            </a: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if(!</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LocateElem</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La,e</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folHlink"/>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ListInsert</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(&amp;La,++</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La_len,e</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endParaRPr>
          </a:p>
        </p:txBody>
      </p:sp>
      <p:graphicFrame>
        <p:nvGraphicFramePr>
          <p:cNvPr id="564230" name="Object 6"/>
          <p:cNvGraphicFramePr/>
          <p:nvPr/>
        </p:nvGraphicFramePr>
        <p:xfrm>
          <a:off x="1604963" y="6091238"/>
          <a:ext cx="7507287" cy="650875"/>
        </p:xfrm>
        <a:graphic>
          <a:graphicData uri="http://schemas.openxmlformats.org/presentationml/2006/ole">
            <mc:AlternateContent xmlns:mc="http://schemas.openxmlformats.org/markup-compatibility/2006">
              <mc:Choice xmlns:v="urn:schemas-microsoft-com:vml" Requires="v">
                <p:oleObj spid="_x0000_s19479" r:id="rId3" imgW="2296795" imgH="203200" progId="Equation.3">
                  <p:embed/>
                </p:oleObj>
              </mc:Choice>
              <mc:Fallback>
                <p:oleObj r:id="rId3" imgW="2296795" imgH="203200" progId="Equation.3">
                  <p:embed/>
                  <p:pic>
                    <p:nvPicPr>
                      <p:cNvPr id="0" name="图片 3101"/>
                      <p:cNvPicPr/>
                      <p:nvPr/>
                    </p:nvPicPr>
                    <p:blipFill>
                      <a:blip r:embed="rId4"/>
                      <a:stretch>
                        <a:fillRect/>
                      </a:stretch>
                    </p:blipFill>
                    <p:spPr>
                      <a:xfrm>
                        <a:off x="1604963" y="6091238"/>
                        <a:ext cx="7507287" cy="650875"/>
                      </a:xfrm>
                      <a:prstGeom prst="rect">
                        <a:avLst/>
                      </a:prstGeom>
                      <a:solidFill>
                        <a:srgbClr val="FFFFFF"/>
                      </a:solidFill>
                      <a:ln w="38100">
                        <a:noFill/>
                        <a:miter/>
                      </a:ln>
                    </p:spPr>
                  </p:pic>
                </p:oleObj>
              </mc:Fallback>
            </mc:AlternateContent>
          </a:graphicData>
        </a:graphic>
      </p:graphicFrame>
      <p:sp>
        <p:nvSpPr>
          <p:cNvPr id="147460" name="Rectangle 7"/>
          <p:cNvSpPr>
            <a:spLocks noChangeArrowheads="1"/>
          </p:cNvSpPr>
          <p:nvPr/>
        </p:nvSpPr>
        <p:spPr bwMode="auto">
          <a:xfrm>
            <a:off x="568325" y="174625"/>
            <a:ext cx="37750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64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4"/>
          <p:cNvSpPr>
            <a:spLocks noChangeArrowheads="1"/>
          </p:cNvSpPr>
          <p:nvPr/>
        </p:nvSpPr>
        <p:spPr bwMode="auto">
          <a:xfrm>
            <a:off x="381000" y="1819275"/>
            <a:ext cx="8455025" cy="523875"/>
          </a:xfrm>
          <a:prstGeom prst="roundRect">
            <a:avLst/>
          </a:prstGeom>
          <a:solidFill>
            <a:srgbClr val="9476B6"/>
          </a:solid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565253" name="Rectangle 5"/>
          <p:cNvSpPr>
            <a:spLocks noChangeArrowheads="1"/>
          </p:cNvSpPr>
          <p:nvPr/>
        </p:nvSpPr>
        <p:spPr bwMode="auto">
          <a:xfrm>
            <a:off x="4932363" y="2554288"/>
            <a:ext cx="3903663" cy="3224213"/>
          </a:xfrm>
          <a:prstGeom prst="roundRect">
            <a:avLst>
              <a:gd name="adj" fmla="val 3857"/>
            </a:avLst>
          </a:prstGeom>
          <a:solidFill>
            <a:srgbClr val="EAEAEA"/>
          </a:solidFill>
          <a:ln>
            <a:noFill/>
          </a:ln>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8)</a:t>
            </a: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en-US" sz="3200" b="0" i="0" u="none" strike="noStrike" kern="1200" cap="none" spc="0" normalizeH="0" baseline="0" noProof="0" dirty="0" err="1">
                <a:ln>
                  <a:noFill/>
                </a:ln>
                <a:solidFill>
                  <a:schemeClr val="tx1"/>
                </a:solidFill>
                <a:effectLst/>
                <a:uLnTx/>
                <a:uFillTx/>
                <a:latin typeface="+mn-lt"/>
                <a:ea typeface="+mn-ea"/>
                <a:cs typeface="+mn-ea"/>
                <a:sym typeface="+mn-lt"/>
              </a:rPr>
              <a:t>L</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b</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4</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6</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8</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1</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11</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2</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4, 6, 7 </a:t>
            </a:r>
            <a:r>
              <a:rPr kumimoji="0" lang="en-US" altLang="en-US"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8, 8, 10, 11) </a:t>
            </a:r>
          </a:p>
        </p:txBody>
      </p:sp>
      <p:sp>
        <p:nvSpPr>
          <p:cNvPr id="148484" name="Rectangle 7"/>
          <p:cNvSpPr>
            <a:spLocks noChangeArrowheads="1"/>
          </p:cNvSpPr>
          <p:nvPr/>
        </p:nvSpPr>
        <p:spPr bwMode="auto">
          <a:xfrm>
            <a:off x="760413" y="152400"/>
            <a:ext cx="78501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有序表的合并</a:t>
            </a:r>
          </a:p>
        </p:txBody>
      </p:sp>
      <p:sp>
        <p:nvSpPr>
          <p:cNvPr id="7" name="Rectangle 4"/>
          <p:cNvSpPr>
            <a:spLocks noChangeArrowheads="1"/>
          </p:cNvSpPr>
          <p:nvPr/>
        </p:nvSpPr>
        <p:spPr bwMode="auto">
          <a:xfrm>
            <a:off x="395288" y="2554288"/>
            <a:ext cx="4414838" cy="3251200"/>
          </a:xfrm>
          <a:prstGeom prst="roundRect">
            <a:avLst>
              <a:gd name="adj" fmla="val 7562"/>
            </a:avLst>
          </a:prstGeom>
          <a:solidFill>
            <a:srgbClr val="EAEAEA"/>
          </a:solid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0" algn="l" defTabSz="914400" rtl="0" eaLnBrk="0" fontAlgn="base" latinLnBrk="0" hangingPunct="0">
              <a:lnSpc>
                <a:spcPct val="120000"/>
              </a:lnSpc>
              <a:spcBef>
                <a:spcPct val="2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已知线性表</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La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Lb</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中的数据元素按值</a:t>
            </a:r>
            <a:r>
              <a:rPr kumimoji="0" lang="zh-CN" altLang="en-US" sz="2600" b="0" i="0" u="none" strike="noStrike" kern="1200" cap="none" spc="0" normalizeH="0" baseline="0" noProof="0" dirty="0">
                <a:ln>
                  <a:noFill/>
                </a:ln>
                <a:solidFill>
                  <a:schemeClr val="tx2"/>
                </a:solidFill>
                <a:effectLst/>
                <a:uLnTx/>
                <a:uFillTx/>
                <a:latin typeface="+mn-lt"/>
                <a:ea typeface="+mn-ea"/>
                <a:cs typeface="+mn-ea"/>
                <a:sym typeface="+mn-lt"/>
              </a:rPr>
              <a:t>非递减</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有序排列</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现要求将</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归并为一个新的线性表</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且</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中的数据元素仍按值非递减有序排列。</a:t>
            </a:r>
            <a:endPar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4630" name="矩形 1"/>
          <p:cNvSpPr/>
          <p:nvPr/>
        </p:nvSpPr>
        <p:spPr>
          <a:xfrm>
            <a:off x="4932363" y="5164138"/>
            <a:ext cx="3903662" cy="44450"/>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4631" name="矩形 8"/>
          <p:cNvSpPr/>
          <p:nvPr/>
        </p:nvSpPr>
        <p:spPr>
          <a:xfrm>
            <a:off x="4932363" y="5362575"/>
            <a:ext cx="3903662"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4632" name="矩形 9"/>
          <p:cNvSpPr/>
          <p:nvPr/>
        </p:nvSpPr>
        <p:spPr>
          <a:xfrm>
            <a:off x="4932363" y="5538788"/>
            <a:ext cx="3903662" cy="44450"/>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5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3"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9" name="Rectangle 8"/>
          <p:cNvSpPr>
            <a:spLocks noChangeArrowheads="1"/>
          </p:cNvSpPr>
          <p:nvPr/>
        </p:nvSpPr>
        <p:spPr bwMode="auto">
          <a:xfrm>
            <a:off x="722313" y="141288"/>
            <a:ext cx="80962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－有序的顺序表合并</a:t>
            </a:r>
          </a:p>
        </p:txBody>
      </p:sp>
      <p:grpSp>
        <p:nvGrpSpPr>
          <p:cNvPr id="3" name="组合 2"/>
          <p:cNvGrpSpPr/>
          <p:nvPr/>
        </p:nvGrpSpPr>
        <p:grpSpPr>
          <a:xfrm>
            <a:off x="3101975" y="1290638"/>
            <a:ext cx="2901950" cy="5091112"/>
            <a:chOff x="3101975" y="1290638"/>
            <a:chExt cx="2901950" cy="5091112"/>
          </a:xfrm>
        </p:grpSpPr>
        <p:sp>
          <p:nvSpPr>
            <p:cNvPr id="608261" name="Text Box 5"/>
            <p:cNvSpPr txBox="1">
              <a:spLocks noChangeArrowheads="1"/>
            </p:cNvSpPr>
            <p:nvPr/>
          </p:nvSpPr>
          <p:spPr bwMode="auto">
            <a:xfrm>
              <a:off x="3386138" y="3543300"/>
              <a:ext cx="2406650"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依次从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中“摘取”元素值较小的结点插入到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表的最后，直至其中一个表变空为止</a:t>
              </a:r>
            </a:p>
          </p:txBody>
        </p:sp>
        <p:grpSp>
          <p:nvGrpSpPr>
            <p:cNvPr id="155685" name="组合 25"/>
            <p:cNvGrpSpPr/>
            <p:nvPr/>
          </p:nvGrpSpPr>
          <p:grpSpPr>
            <a:xfrm>
              <a:off x="3101975" y="1290638"/>
              <a:ext cx="2901950" cy="5091112"/>
              <a:chOff x="4645526" y="1879600"/>
              <a:chExt cx="2900948" cy="5091111"/>
            </a:xfrm>
          </p:grpSpPr>
          <p:sp>
            <p:nvSpPr>
              <p:cNvPr id="27" name="íślíḋè-Rectangle 6"/>
              <p:cNvSpPr/>
              <p:nvPr/>
            </p:nvSpPr>
            <p:spPr>
              <a:xfrm>
                <a:off x="4737569" y="2003425"/>
                <a:ext cx="2716862" cy="4967286"/>
              </a:xfrm>
              <a:prstGeom prst="rect">
                <a:avLst/>
              </a:prstGeom>
              <a:noFill/>
              <a:ln w="19050" cap="flat" cmpd="sng" algn="ctr">
                <a:solidFill>
                  <a:srgbClr val="C0504D"/>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28" name="íślíḋè-Arrow: Pentagon 7"/>
              <p:cNvSpPr/>
              <p:nvPr/>
            </p:nvSpPr>
            <p:spPr>
              <a:xfrm rot="5400000">
                <a:off x="4977062" y="1548064"/>
                <a:ext cx="2237876" cy="2900948"/>
              </a:xfrm>
              <a:prstGeom prst="homePlate">
                <a:avLst/>
              </a:prstGeom>
              <a:solidFill>
                <a:srgbClr val="C0504D"/>
              </a:solidFill>
              <a:ln w="25400" cap="flat" cmpd="sng" algn="ctr">
                <a:noFill/>
                <a:prstDash val="solid"/>
              </a:ln>
              <a:effectLst/>
            </p:spPr>
            <p:txBody>
              <a:bodyPr vert="vert270" wrap="none" l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prstClr val="white"/>
                    </a:solidFill>
                    <a:effectLst/>
                    <a:uLnTx/>
                    <a:uFillTx/>
                    <a:latin typeface="+mn-lt"/>
                    <a:ea typeface="宋体" panose="02010600030101010101" pitchFamily="2" charset="-122"/>
                    <a:cs typeface="+mn-cs"/>
                    <a:sym typeface="Arial" panose="020B0604020202020204" pitchFamily="34" charset="0"/>
                  </a:rPr>
                  <a:t>02</a:t>
                </a:r>
                <a:endParaRPr kumimoji="0" lang="zh-CN" altLang="en-US" sz="3200" b="0" i="0" u="none" strike="noStrike" kern="0" cap="none" spc="0" normalizeH="0" baseline="0" noProof="0" dirty="0">
                  <a:ln>
                    <a:noFill/>
                  </a:ln>
                  <a:solidFill>
                    <a:prstClr val="white"/>
                  </a:solidFill>
                  <a:effectLst/>
                  <a:uLnTx/>
                  <a:uFillTx/>
                  <a:latin typeface="+mn-lt"/>
                  <a:ea typeface="宋体" panose="02010600030101010101" pitchFamily="2" charset="-122"/>
                  <a:cs typeface="+mn-cs"/>
                  <a:sym typeface="Arial" panose="020B0604020202020204" pitchFamily="34" charset="0"/>
                </a:endParaRPr>
              </a:p>
            </p:txBody>
          </p:sp>
          <p:sp>
            <p:nvSpPr>
              <p:cNvPr id="29" name="íślíḋè-Freeform: Shape 21"/>
              <p:cNvSpPr/>
              <p:nvPr/>
            </p:nvSpPr>
            <p:spPr bwMode="auto">
              <a:xfrm>
                <a:off x="5743697" y="2808287"/>
                <a:ext cx="729998" cy="728663"/>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2" name="组合 1"/>
          <p:cNvGrpSpPr/>
          <p:nvPr/>
        </p:nvGrpSpPr>
        <p:grpSpPr>
          <a:xfrm>
            <a:off x="34925" y="1268413"/>
            <a:ext cx="2901950" cy="5113337"/>
            <a:chOff x="34925" y="1268413"/>
            <a:chExt cx="2901950" cy="5113337"/>
          </a:xfrm>
        </p:grpSpPr>
        <p:grpSp>
          <p:nvGrpSpPr>
            <p:cNvPr id="155669" name="组合 21"/>
            <p:cNvGrpSpPr/>
            <p:nvPr/>
          </p:nvGrpSpPr>
          <p:grpSpPr>
            <a:xfrm>
              <a:off x="34925" y="1268413"/>
              <a:ext cx="2901950" cy="5113337"/>
              <a:chOff x="1267463" y="1879600"/>
              <a:chExt cx="2900948" cy="5112567"/>
            </a:xfrm>
          </p:grpSpPr>
          <p:sp>
            <p:nvSpPr>
              <p:cNvPr id="23" name="íślíḋè-Rectangle 1"/>
              <p:cNvSpPr/>
              <p:nvPr/>
            </p:nvSpPr>
            <p:spPr>
              <a:xfrm>
                <a:off x="1359506" y="2003406"/>
                <a:ext cx="2716862" cy="4988761"/>
              </a:xfrm>
              <a:prstGeom prst="rect">
                <a:avLst/>
              </a:prstGeom>
              <a:noFill/>
              <a:ln w="19050" cap="flat" cmpd="sng" algn="ctr">
                <a:solidFill>
                  <a:srgbClr val="4F81BD"/>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24" name="íślíḋè-Arrow: Pentagon 2"/>
              <p:cNvSpPr/>
              <p:nvPr/>
            </p:nvSpPr>
            <p:spPr>
              <a:xfrm rot="5400000">
                <a:off x="1598999" y="1548064"/>
                <a:ext cx="2237876" cy="2900948"/>
              </a:xfrm>
              <a:prstGeom prst="homePlate">
                <a:avLst/>
              </a:prstGeom>
              <a:solidFill>
                <a:srgbClr val="4F81BD"/>
              </a:solidFill>
              <a:ln w="25400" cap="flat" cmpd="sng" algn="ctr">
                <a:noFill/>
                <a:prstDash val="solid"/>
              </a:ln>
              <a:effectLst/>
            </p:spPr>
            <p:txBody>
              <a:bodyPr vert="vert270" wrap="none" l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prstClr val="white"/>
                    </a:solidFill>
                    <a:effectLst/>
                    <a:uLnTx/>
                    <a:uFillTx/>
                    <a:latin typeface="+mn-lt"/>
                    <a:ea typeface="宋体" panose="02010600030101010101" pitchFamily="2" charset="-122"/>
                    <a:cs typeface="+mn-cs"/>
                    <a:sym typeface="Arial" panose="020B0604020202020204" pitchFamily="34" charset="0"/>
                  </a:rPr>
                  <a:t>01</a:t>
                </a:r>
                <a:endParaRPr kumimoji="0" lang="zh-CN" altLang="en-US" sz="3200" b="0" i="0" u="none" strike="noStrike" kern="0" cap="none" spc="0" normalizeH="0" baseline="0" noProof="0" dirty="0">
                  <a:ln>
                    <a:noFill/>
                  </a:ln>
                  <a:solidFill>
                    <a:prstClr val="white"/>
                  </a:solidFill>
                  <a:effectLst/>
                  <a:uLnTx/>
                  <a:uFillTx/>
                  <a:latin typeface="+mn-lt"/>
                  <a:ea typeface="宋体" panose="02010600030101010101" pitchFamily="2" charset="-122"/>
                  <a:cs typeface="+mn-cs"/>
                  <a:sym typeface="Arial" panose="020B0604020202020204" pitchFamily="34" charset="0"/>
                </a:endParaRPr>
              </a:p>
            </p:txBody>
          </p:sp>
          <p:sp>
            <p:nvSpPr>
              <p:cNvPr id="25" name="íślíḋè-Freeform: Shape 20"/>
              <p:cNvSpPr/>
              <p:nvPr/>
            </p:nvSpPr>
            <p:spPr bwMode="auto">
              <a:xfrm>
                <a:off x="2352938" y="2808147"/>
                <a:ext cx="729998" cy="728553"/>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30" name="Text Box 4"/>
            <p:cNvSpPr txBox="1">
              <a:spLocks noChangeArrowheads="1"/>
            </p:cNvSpPr>
            <p:nvPr/>
          </p:nvSpPr>
          <p:spPr bwMode="auto">
            <a:xfrm>
              <a:off x="347663" y="3668713"/>
              <a:ext cx="2517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创建一个空表</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cxnSp>
          <p:nvCxnSpPr>
            <p:cNvPr id="155671" name="直接连接符 2"/>
            <p:cNvCxnSpPr/>
            <p:nvPr/>
          </p:nvCxnSpPr>
          <p:spPr>
            <a:xfrm>
              <a:off x="127000" y="5291138"/>
              <a:ext cx="993775" cy="0"/>
            </a:xfrm>
            <a:prstGeom prst="line">
              <a:avLst/>
            </a:prstGeom>
            <a:ln w="9525" cap="flat" cmpd="sng">
              <a:solidFill>
                <a:srgbClr val="4F81BD"/>
              </a:solidFill>
              <a:prstDash val="solid"/>
              <a:headEnd type="none" w="med" len="med"/>
              <a:tailEnd type="none" w="med" len="med"/>
            </a:ln>
          </p:spPr>
        </p:cxnSp>
        <p:cxnSp>
          <p:nvCxnSpPr>
            <p:cNvPr id="155672" name="直接连接符 32"/>
            <p:cNvCxnSpPr/>
            <p:nvPr/>
          </p:nvCxnSpPr>
          <p:spPr>
            <a:xfrm>
              <a:off x="127000" y="5373688"/>
              <a:ext cx="993775" cy="0"/>
            </a:xfrm>
            <a:prstGeom prst="line">
              <a:avLst/>
            </a:prstGeom>
            <a:ln w="9525" cap="flat" cmpd="sng">
              <a:solidFill>
                <a:srgbClr val="4F81BD"/>
              </a:solidFill>
              <a:prstDash val="solid"/>
              <a:headEnd type="none" w="med" len="med"/>
              <a:tailEnd type="none" w="med" len="med"/>
            </a:ln>
          </p:spPr>
        </p:cxnSp>
        <p:cxnSp>
          <p:nvCxnSpPr>
            <p:cNvPr id="155673" name="直接连接符 33"/>
            <p:cNvCxnSpPr/>
            <p:nvPr/>
          </p:nvCxnSpPr>
          <p:spPr>
            <a:xfrm>
              <a:off x="127000" y="5445125"/>
              <a:ext cx="993775" cy="0"/>
            </a:xfrm>
            <a:prstGeom prst="line">
              <a:avLst/>
            </a:prstGeom>
            <a:ln w="9525" cap="flat" cmpd="sng">
              <a:solidFill>
                <a:srgbClr val="4F81BD"/>
              </a:solidFill>
              <a:prstDash val="solid"/>
              <a:headEnd type="none" w="med" len="med"/>
              <a:tailEnd type="none" w="med" len="med"/>
            </a:ln>
          </p:spPr>
        </p:cxnSp>
        <p:cxnSp>
          <p:nvCxnSpPr>
            <p:cNvPr id="155674" name="直接连接符 34"/>
            <p:cNvCxnSpPr/>
            <p:nvPr/>
          </p:nvCxnSpPr>
          <p:spPr>
            <a:xfrm>
              <a:off x="127000" y="5516563"/>
              <a:ext cx="993775" cy="0"/>
            </a:xfrm>
            <a:prstGeom prst="line">
              <a:avLst/>
            </a:prstGeom>
            <a:ln w="9525" cap="flat" cmpd="sng">
              <a:solidFill>
                <a:srgbClr val="4F81BD"/>
              </a:solidFill>
              <a:prstDash val="solid"/>
              <a:headEnd type="none" w="med" len="med"/>
              <a:tailEnd type="none" w="med" len="med"/>
            </a:ln>
          </p:spPr>
        </p:cxnSp>
        <p:cxnSp>
          <p:nvCxnSpPr>
            <p:cNvPr id="155675" name="直接连接符 36"/>
            <p:cNvCxnSpPr/>
            <p:nvPr/>
          </p:nvCxnSpPr>
          <p:spPr>
            <a:xfrm>
              <a:off x="127000" y="5589588"/>
              <a:ext cx="993775" cy="0"/>
            </a:xfrm>
            <a:prstGeom prst="line">
              <a:avLst/>
            </a:prstGeom>
            <a:ln w="9525" cap="flat" cmpd="sng">
              <a:solidFill>
                <a:srgbClr val="4F81BD"/>
              </a:solidFill>
              <a:prstDash val="solid"/>
              <a:headEnd type="none" w="med" len="med"/>
              <a:tailEnd type="none" w="med" len="med"/>
            </a:ln>
          </p:spPr>
        </p:cxnSp>
        <p:cxnSp>
          <p:nvCxnSpPr>
            <p:cNvPr id="155676" name="直接连接符 37"/>
            <p:cNvCxnSpPr/>
            <p:nvPr/>
          </p:nvCxnSpPr>
          <p:spPr>
            <a:xfrm>
              <a:off x="127000" y="5651500"/>
              <a:ext cx="993775" cy="0"/>
            </a:xfrm>
            <a:prstGeom prst="line">
              <a:avLst/>
            </a:prstGeom>
            <a:ln w="9525" cap="flat" cmpd="sng">
              <a:solidFill>
                <a:srgbClr val="4F81BD"/>
              </a:solidFill>
              <a:prstDash val="solid"/>
              <a:headEnd type="none" w="med" len="med"/>
              <a:tailEnd type="none" w="med" len="med"/>
            </a:ln>
          </p:spPr>
        </p:cxnSp>
        <p:cxnSp>
          <p:nvCxnSpPr>
            <p:cNvPr id="155677" name="直接连接符 38"/>
            <p:cNvCxnSpPr/>
            <p:nvPr/>
          </p:nvCxnSpPr>
          <p:spPr>
            <a:xfrm>
              <a:off x="127000" y="5732463"/>
              <a:ext cx="993775" cy="0"/>
            </a:xfrm>
            <a:prstGeom prst="line">
              <a:avLst/>
            </a:prstGeom>
            <a:ln w="9525" cap="flat" cmpd="sng">
              <a:solidFill>
                <a:srgbClr val="4F81BD"/>
              </a:solidFill>
              <a:prstDash val="solid"/>
              <a:headEnd type="none" w="med" len="med"/>
              <a:tailEnd type="none" w="med" len="med"/>
            </a:ln>
          </p:spPr>
        </p:cxnSp>
        <p:cxnSp>
          <p:nvCxnSpPr>
            <p:cNvPr id="155678" name="直接连接符 39"/>
            <p:cNvCxnSpPr/>
            <p:nvPr/>
          </p:nvCxnSpPr>
          <p:spPr>
            <a:xfrm>
              <a:off x="127000" y="5805488"/>
              <a:ext cx="993775" cy="0"/>
            </a:xfrm>
            <a:prstGeom prst="line">
              <a:avLst/>
            </a:prstGeom>
            <a:ln w="9525" cap="flat" cmpd="sng">
              <a:solidFill>
                <a:srgbClr val="4F81BD"/>
              </a:solidFill>
              <a:prstDash val="solid"/>
              <a:headEnd type="none" w="med" len="med"/>
              <a:tailEnd type="none" w="med" len="med"/>
            </a:ln>
          </p:spPr>
        </p:cxnSp>
        <p:cxnSp>
          <p:nvCxnSpPr>
            <p:cNvPr id="155679" name="直接连接符 40"/>
            <p:cNvCxnSpPr/>
            <p:nvPr/>
          </p:nvCxnSpPr>
          <p:spPr>
            <a:xfrm>
              <a:off x="127000" y="5876925"/>
              <a:ext cx="993775" cy="0"/>
            </a:xfrm>
            <a:prstGeom prst="line">
              <a:avLst/>
            </a:prstGeom>
            <a:ln w="9525" cap="flat" cmpd="sng">
              <a:solidFill>
                <a:srgbClr val="4F81BD"/>
              </a:solidFill>
              <a:prstDash val="solid"/>
              <a:headEnd type="none" w="med" len="med"/>
              <a:tailEnd type="none" w="med" len="med"/>
            </a:ln>
          </p:spPr>
        </p:cxnSp>
        <p:cxnSp>
          <p:nvCxnSpPr>
            <p:cNvPr id="155680" name="直接连接符 41"/>
            <p:cNvCxnSpPr/>
            <p:nvPr/>
          </p:nvCxnSpPr>
          <p:spPr>
            <a:xfrm>
              <a:off x="127000" y="5949950"/>
              <a:ext cx="993775" cy="0"/>
            </a:xfrm>
            <a:prstGeom prst="line">
              <a:avLst/>
            </a:prstGeom>
            <a:ln w="9525" cap="flat" cmpd="sng">
              <a:solidFill>
                <a:srgbClr val="4F81BD"/>
              </a:solidFill>
              <a:prstDash val="solid"/>
              <a:headEnd type="none" w="med" len="med"/>
              <a:tailEnd type="none" w="med" len="med"/>
            </a:ln>
          </p:spPr>
        </p:cxnSp>
      </p:grpSp>
      <p:grpSp>
        <p:nvGrpSpPr>
          <p:cNvPr id="4" name="组合 3"/>
          <p:cNvGrpSpPr/>
          <p:nvPr/>
        </p:nvGrpSpPr>
        <p:grpSpPr>
          <a:xfrm>
            <a:off x="6134100" y="1290638"/>
            <a:ext cx="2900363" cy="5091112"/>
            <a:chOff x="6134100" y="1290638"/>
            <a:chExt cx="2900363" cy="5091112"/>
          </a:xfrm>
        </p:grpSpPr>
        <p:sp>
          <p:nvSpPr>
            <p:cNvPr id="608262" name="Text Box 6"/>
            <p:cNvSpPr txBox="1">
              <a:spLocks noChangeArrowheads="1"/>
            </p:cNvSpPr>
            <p:nvPr/>
          </p:nvSpPr>
          <p:spPr bwMode="auto">
            <a:xfrm>
              <a:off x="6332538" y="3463925"/>
              <a:ext cx="244951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继续将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其中一个表的剩余结点插入在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表的最后</a:t>
              </a:r>
            </a:p>
          </p:txBody>
        </p:sp>
        <p:grpSp>
          <p:nvGrpSpPr>
            <p:cNvPr id="155655" name="组合 17"/>
            <p:cNvGrpSpPr/>
            <p:nvPr/>
          </p:nvGrpSpPr>
          <p:grpSpPr>
            <a:xfrm>
              <a:off x="6134100" y="1290638"/>
              <a:ext cx="2900363" cy="5091112"/>
              <a:chOff x="8023591" y="1879600"/>
              <a:chExt cx="2900948" cy="5091111"/>
            </a:xfrm>
          </p:grpSpPr>
          <p:sp>
            <p:nvSpPr>
              <p:cNvPr id="19" name="íślíḋè-Rectangle 11"/>
              <p:cNvSpPr/>
              <p:nvPr/>
            </p:nvSpPr>
            <p:spPr>
              <a:xfrm>
                <a:off x="8115685" y="2003425"/>
                <a:ext cx="2716761" cy="4967286"/>
              </a:xfrm>
              <a:prstGeom prst="rect">
                <a:avLst/>
              </a:prstGeom>
              <a:noFill/>
              <a:ln w="19050" cap="flat" cmpd="sng" algn="ctr">
                <a:solidFill>
                  <a:schemeClr val="accent1">
                    <a:lumMod val="60000"/>
                    <a:lumOff val="40000"/>
                  </a:schemeClr>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20" name="íślíḋè-Arrow: Pentagon 12"/>
              <p:cNvSpPr/>
              <p:nvPr/>
            </p:nvSpPr>
            <p:spPr>
              <a:xfrm rot="5400000">
                <a:off x="8355127" y="1548064"/>
                <a:ext cx="2237876" cy="2900948"/>
              </a:xfrm>
              <a:prstGeom prst="homePlate">
                <a:avLst/>
              </a:prstGeom>
              <a:solidFill>
                <a:srgbClr val="9476B6"/>
              </a:solidFill>
              <a:ln w="25400" cap="flat" cmpd="sng" algn="ctr">
                <a:noFill/>
                <a:prstDash val="solid"/>
              </a:ln>
              <a:effectLst/>
            </p:spPr>
            <p:txBody>
              <a:bodyPr vert="vert270" wrap="none" lIns="216000" tIns="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prstClr val="white"/>
                    </a:solidFill>
                    <a:effectLst/>
                    <a:uLnTx/>
                    <a:uFillTx/>
                    <a:latin typeface="+mn-lt"/>
                    <a:ea typeface="宋体" panose="02010600030101010101" pitchFamily="2" charset="-122"/>
                    <a:cs typeface="+mn-cs"/>
                    <a:sym typeface="Arial" panose="020B0604020202020204" pitchFamily="34" charset="0"/>
                  </a:rPr>
                  <a:t>03</a:t>
                </a:r>
                <a:endParaRPr kumimoji="0" lang="zh-CN" altLang="en-US" sz="3200" b="0" i="0" u="none" strike="noStrike" kern="0" cap="none" spc="0" normalizeH="0" baseline="0" noProof="0" dirty="0">
                  <a:ln>
                    <a:noFill/>
                  </a:ln>
                  <a:solidFill>
                    <a:prstClr val="white"/>
                  </a:solidFill>
                  <a:effectLst/>
                  <a:uLnTx/>
                  <a:uFillTx/>
                  <a:latin typeface="+mn-lt"/>
                  <a:ea typeface="宋体" panose="02010600030101010101" pitchFamily="2" charset="-122"/>
                  <a:cs typeface="+mn-cs"/>
                  <a:sym typeface="Arial" panose="020B0604020202020204" pitchFamily="34" charset="0"/>
                </a:endParaRPr>
              </a:p>
            </p:txBody>
          </p:sp>
          <p:sp>
            <p:nvSpPr>
              <p:cNvPr id="21" name="íślíḋè-Freeform: Shape 19"/>
              <p:cNvSpPr/>
              <p:nvPr/>
            </p:nvSpPr>
            <p:spPr bwMode="auto">
              <a:xfrm>
                <a:off x="9109660" y="2808287"/>
                <a:ext cx="728810" cy="728663"/>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cxnSp>
          <p:nvCxnSpPr>
            <p:cNvPr id="155656" name="直接连接符 42"/>
            <p:cNvCxnSpPr/>
            <p:nvPr/>
          </p:nvCxnSpPr>
          <p:spPr>
            <a:xfrm>
              <a:off x="7951788" y="5435600"/>
              <a:ext cx="993775" cy="0"/>
            </a:xfrm>
            <a:prstGeom prst="line">
              <a:avLst/>
            </a:prstGeom>
            <a:ln w="9525" cap="flat" cmpd="sng">
              <a:solidFill>
                <a:srgbClr val="9476B6"/>
              </a:solidFill>
              <a:prstDash val="solid"/>
              <a:headEnd type="none" w="med" len="med"/>
              <a:tailEnd type="none" w="med" len="med"/>
            </a:ln>
          </p:spPr>
        </p:cxnSp>
        <p:cxnSp>
          <p:nvCxnSpPr>
            <p:cNvPr id="155657" name="直接连接符 43"/>
            <p:cNvCxnSpPr/>
            <p:nvPr/>
          </p:nvCxnSpPr>
          <p:spPr>
            <a:xfrm>
              <a:off x="7951788" y="5516563"/>
              <a:ext cx="993775" cy="0"/>
            </a:xfrm>
            <a:prstGeom prst="line">
              <a:avLst/>
            </a:prstGeom>
            <a:ln w="9525" cap="flat" cmpd="sng">
              <a:solidFill>
                <a:srgbClr val="9476B6"/>
              </a:solidFill>
              <a:prstDash val="solid"/>
              <a:headEnd type="none" w="med" len="med"/>
              <a:tailEnd type="none" w="med" len="med"/>
            </a:ln>
          </p:spPr>
        </p:cxnSp>
        <p:cxnSp>
          <p:nvCxnSpPr>
            <p:cNvPr id="155658" name="直接连接符 44"/>
            <p:cNvCxnSpPr/>
            <p:nvPr/>
          </p:nvCxnSpPr>
          <p:spPr>
            <a:xfrm>
              <a:off x="7951788" y="5589588"/>
              <a:ext cx="993775" cy="0"/>
            </a:xfrm>
            <a:prstGeom prst="line">
              <a:avLst/>
            </a:prstGeom>
            <a:ln w="9525" cap="flat" cmpd="sng">
              <a:solidFill>
                <a:srgbClr val="9476B6"/>
              </a:solidFill>
              <a:prstDash val="solid"/>
              <a:headEnd type="none" w="med" len="med"/>
              <a:tailEnd type="none" w="med" len="med"/>
            </a:ln>
          </p:spPr>
        </p:cxnSp>
        <p:cxnSp>
          <p:nvCxnSpPr>
            <p:cNvPr id="155659" name="直接连接符 45"/>
            <p:cNvCxnSpPr/>
            <p:nvPr/>
          </p:nvCxnSpPr>
          <p:spPr>
            <a:xfrm>
              <a:off x="7951788" y="5661025"/>
              <a:ext cx="993775" cy="0"/>
            </a:xfrm>
            <a:prstGeom prst="line">
              <a:avLst/>
            </a:prstGeom>
            <a:ln w="9525" cap="flat" cmpd="sng">
              <a:solidFill>
                <a:srgbClr val="9476B6"/>
              </a:solidFill>
              <a:prstDash val="solid"/>
              <a:headEnd type="none" w="med" len="med"/>
              <a:tailEnd type="none" w="med" len="med"/>
            </a:ln>
          </p:spPr>
        </p:cxnSp>
        <p:cxnSp>
          <p:nvCxnSpPr>
            <p:cNvPr id="155660" name="直接连接符 46"/>
            <p:cNvCxnSpPr/>
            <p:nvPr/>
          </p:nvCxnSpPr>
          <p:spPr>
            <a:xfrm>
              <a:off x="7951788" y="5732463"/>
              <a:ext cx="993775" cy="0"/>
            </a:xfrm>
            <a:prstGeom prst="line">
              <a:avLst/>
            </a:prstGeom>
            <a:ln w="9525" cap="flat" cmpd="sng">
              <a:solidFill>
                <a:srgbClr val="9476B6"/>
              </a:solidFill>
              <a:prstDash val="solid"/>
              <a:headEnd type="none" w="med" len="med"/>
              <a:tailEnd type="none" w="med" len="med"/>
            </a:ln>
          </p:spPr>
        </p:cxnSp>
        <p:cxnSp>
          <p:nvCxnSpPr>
            <p:cNvPr id="155661" name="直接连接符 47"/>
            <p:cNvCxnSpPr/>
            <p:nvPr/>
          </p:nvCxnSpPr>
          <p:spPr>
            <a:xfrm>
              <a:off x="7951788" y="5795963"/>
              <a:ext cx="993775" cy="0"/>
            </a:xfrm>
            <a:prstGeom prst="line">
              <a:avLst/>
            </a:prstGeom>
            <a:ln w="9525" cap="flat" cmpd="sng">
              <a:solidFill>
                <a:srgbClr val="9476B6"/>
              </a:solidFill>
              <a:prstDash val="solid"/>
              <a:headEnd type="none" w="med" len="med"/>
              <a:tailEnd type="none" w="med" len="med"/>
            </a:ln>
          </p:spPr>
        </p:cxnSp>
        <p:cxnSp>
          <p:nvCxnSpPr>
            <p:cNvPr id="155662" name="直接连接符 48"/>
            <p:cNvCxnSpPr/>
            <p:nvPr/>
          </p:nvCxnSpPr>
          <p:spPr>
            <a:xfrm>
              <a:off x="7951788" y="5876925"/>
              <a:ext cx="993775" cy="0"/>
            </a:xfrm>
            <a:prstGeom prst="line">
              <a:avLst/>
            </a:prstGeom>
            <a:ln w="9525" cap="flat" cmpd="sng">
              <a:solidFill>
                <a:srgbClr val="9476B6"/>
              </a:solidFill>
              <a:prstDash val="solid"/>
              <a:headEnd type="none" w="med" len="med"/>
              <a:tailEnd type="none" w="med" len="med"/>
            </a:ln>
          </p:spPr>
        </p:cxnSp>
        <p:cxnSp>
          <p:nvCxnSpPr>
            <p:cNvPr id="155663" name="直接连接符 49"/>
            <p:cNvCxnSpPr/>
            <p:nvPr/>
          </p:nvCxnSpPr>
          <p:spPr>
            <a:xfrm>
              <a:off x="7951788" y="5949950"/>
              <a:ext cx="993775" cy="0"/>
            </a:xfrm>
            <a:prstGeom prst="line">
              <a:avLst/>
            </a:prstGeom>
            <a:ln w="9525" cap="flat" cmpd="sng">
              <a:solidFill>
                <a:srgbClr val="9476B6"/>
              </a:solidFill>
              <a:prstDash val="solid"/>
              <a:headEnd type="none" w="med" len="med"/>
              <a:tailEnd type="none" w="med" len="med"/>
            </a:ln>
          </p:spPr>
        </p:cxnSp>
        <p:cxnSp>
          <p:nvCxnSpPr>
            <p:cNvPr id="155664" name="直接连接符 50"/>
            <p:cNvCxnSpPr/>
            <p:nvPr/>
          </p:nvCxnSpPr>
          <p:spPr>
            <a:xfrm>
              <a:off x="7951788" y="6021388"/>
              <a:ext cx="993775" cy="0"/>
            </a:xfrm>
            <a:prstGeom prst="line">
              <a:avLst/>
            </a:prstGeom>
            <a:ln w="9525" cap="flat" cmpd="sng">
              <a:solidFill>
                <a:srgbClr val="9476B6"/>
              </a:solidFill>
              <a:prstDash val="solid"/>
              <a:headEnd type="none" w="med" len="med"/>
              <a:tailEnd type="none" w="med" len="med"/>
            </a:ln>
          </p:spPr>
        </p:cxnSp>
        <p:cxnSp>
          <p:nvCxnSpPr>
            <p:cNvPr id="155665" name="直接连接符 51"/>
            <p:cNvCxnSpPr/>
            <p:nvPr/>
          </p:nvCxnSpPr>
          <p:spPr>
            <a:xfrm>
              <a:off x="7951788" y="6092825"/>
              <a:ext cx="993775" cy="0"/>
            </a:xfrm>
            <a:prstGeom prst="line">
              <a:avLst/>
            </a:prstGeom>
            <a:ln w="9525" cap="flat" cmpd="sng">
              <a:solidFill>
                <a:srgbClr val="9476B6"/>
              </a:solidFill>
              <a:prstDash val="soli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矩形 2"/>
          <p:cNvSpPr/>
          <p:nvPr/>
        </p:nvSpPr>
        <p:spPr>
          <a:xfrm>
            <a:off x="-4762" y="5719763"/>
            <a:ext cx="9148762" cy="113823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0530" name="Rectangle 4"/>
          <p:cNvSpPr>
            <a:spLocks noChangeArrowheads="1"/>
          </p:cNvSpPr>
          <p:nvPr/>
        </p:nvSpPr>
        <p:spPr bwMode="auto">
          <a:xfrm>
            <a:off x="0" y="981075"/>
            <a:ext cx="9104313"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0" algn="l" defTabSz="914400" rtl="0" eaLnBrk="0" fontAlgn="base" latinLnBrk="0" hangingPunct="0">
              <a:lnSpc>
                <a:spcPct val="10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MergeList_Sq</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LA,SqList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LB,SqList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&amp;LC){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pa=</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LA.elem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LB.elem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指针</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pa</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的初值分别指向两个表的第一个元素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LC.length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LA.length+LB.length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新表长度为待合并两表的长度之和 </a:t>
            </a:r>
          </a:p>
          <a:p>
            <a:pPr lvl="0" indent="0">
              <a:lnSpc>
                <a:spcPct val="100000"/>
              </a:lnSpc>
              <a:spcBef>
                <a:spcPct val="20000"/>
              </a:spcBef>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LC.elem</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lang="en-US" altLang="zh-CN" sz="1800" dirty="0" err="1">
                <a:solidFill>
                  <a:srgbClr val="FF0000"/>
                </a:solidFill>
                <a:cs typeface="+mn-ea"/>
                <a:sym typeface="+mn-lt"/>
              </a:rPr>
              <a:t>ElemType</a:t>
            </a:r>
            <a:r>
              <a:rPr lang="en-US" altLang="zh-CN" sz="1800" dirty="0">
                <a:solidFill>
                  <a:srgbClr val="FF0000"/>
                </a:solidFill>
                <a:cs typeface="+mn-ea"/>
                <a:sym typeface="+mn-lt"/>
              </a:rPr>
              <a:t>*</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malloc</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sizeof</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ElemType</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LC.length</a:t>
            </a:r>
            <a:r>
              <a:rPr lang="en-US" altLang="zh-CN" sz="1800" dirty="0">
                <a:solidFill>
                  <a:srgbClr val="FF0000"/>
                </a:solidFill>
                <a:latin typeface="+mn-lt"/>
                <a:ea typeface="+mn-ea"/>
                <a:cs typeface="+mn-ea"/>
                <a:sym typeface="+mn-lt"/>
              </a:rPr>
              <a:t>))</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为合并后的新表分配一个数组空间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pc=</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LC.elem</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指针</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pc</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指向新表的第一个元素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pa_last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=LA.elem+LA.length-1;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指针</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pa_last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表的最后一个元素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pb_last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=LB.elem+LB.length-1;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指针</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pb_last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LB</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表的最后一个元素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while(pa&lt;=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pa_last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&amp;&amp;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pb_last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两个表都非空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if(*pa&lt;=*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*pc++=*pa++;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依次“摘取”两表中值较小的结点      </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else *pc++=*</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pa++;             //LB</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表已到达表尾</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while(</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pb_last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*pc++=*</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while(pa&lt;=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pa_last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*pc++=*pa++;          //LA</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表已到达表尾 </a:t>
            </a:r>
          </a:p>
          <a:p>
            <a:pPr marL="342900" marR="0" lvl="0" indent="0" algn="l" defTabSz="914400" rtl="0" eaLnBrk="0" fontAlgn="base" latinLnBrk="0" hangingPunct="0">
              <a:lnSpc>
                <a:spcPct val="10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MergeList_Sq</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p:txBody>
      </p:sp>
      <p:grpSp>
        <p:nvGrpSpPr>
          <p:cNvPr id="2" name="Group 10"/>
          <p:cNvGrpSpPr/>
          <p:nvPr/>
        </p:nvGrpSpPr>
        <p:grpSpPr>
          <a:xfrm>
            <a:off x="-4762" y="5719763"/>
            <a:ext cx="8758237" cy="1138237"/>
            <a:chOff x="99" y="3226"/>
            <a:chExt cx="5517" cy="717"/>
          </a:xfrm>
        </p:grpSpPr>
        <p:sp>
          <p:nvSpPr>
            <p:cNvPr id="150533" name="Text Box 8"/>
            <p:cNvSpPr txBox="1">
              <a:spLocks noChangeArrowheads="1"/>
            </p:cNvSpPr>
            <p:nvPr/>
          </p:nvSpPr>
          <p:spPr bwMode="auto">
            <a:xfrm>
              <a:off x="99" y="3226"/>
              <a:ext cx="1330" cy="717"/>
            </a:xfrm>
            <a:prstGeom prst="rect">
              <a:avLst/>
            </a:prstGeom>
            <a:solidFill>
              <a:srgbClr val="D7D7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T(n)=</a:t>
              </a:r>
            </a:p>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S(n)= O(n)</a:t>
              </a:r>
            </a:p>
          </p:txBody>
        </p:sp>
        <p:graphicFrame>
          <p:nvGraphicFramePr>
            <p:cNvPr id="156680" name="Object 7"/>
            <p:cNvGraphicFramePr/>
            <p:nvPr/>
          </p:nvGraphicFramePr>
          <p:xfrm>
            <a:off x="887" y="3226"/>
            <a:ext cx="4729" cy="410"/>
          </p:xfrm>
          <a:graphic>
            <a:graphicData uri="http://schemas.openxmlformats.org/presentationml/2006/ole">
              <mc:AlternateContent xmlns:mc="http://schemas.openxmlformats.org/markup-compatibility/2006">
                <mc:Choice xmlns:v="urn:schemas-microsoft-com:vml" Requires="v">
                  <p:oleObj spid="_x0000_s20503" r:id="rId3" imgW="2296795" imgH="203200" progId="Equation.3">
                    <p:embed/>
                  </p:oleObj>
                </mc:Choice>
                <mc:Fallback>
                  <p:oleObj r:id="rId3" imgW="2296795" imgH="203200" progId="Equation.3">
                    <p:embed/>
                    <p:pic>
                      <p:nvPicPr>
                        <p:cNvPr id="0" name="图片 3102"/>
                        <p:cNvPicPr/>
                        <p:nvPr/>
                      </p:nvPicPr>
                      <p:blipFill>
                        <a:blip r:embed="rId4"/>
                        <a:stretch>
                          <a:fillRect/>
                        </a:stretch>
                      </p:blipFill>
                      <p:spPr>
                        <a:xfrm>
                          <a:off x="887" y="3226"/>
                          <a:ext cx="4729" cy="410"/>
                        </a:xfrm>
                        <a:prstGeom prst="rect">
                          <a:avLst/>
                        </a:prstGeom>
                        <a:solidFill>
                          <a:srgbClr val="D7D7FF"/>
                        </a:solidFill>
                        <a:ln w="38100">
                          <a:noFill/>
                          <a:miter/>
                        </a:ln>
                      </p:spPr>
                    </p:pic>
                  </p:oleObj>
                </mc:Fallback>
              </mc:AlternateContent>
            </a:graphicData>
          </a:graphic>
        </p:graphicFrame>
      </p:grpSp>
      <p:sp>
        <p:nvSpPr>
          <p:cNvPr id="150532" name="Rectangle 11"/>
          <p:cNvSpPr>
            <a:spLocks noChangeArrowheads="1"/>
          </p:cNvSpPr>
          <p:nvPr/>
        </p:nvSpPr>
        <p:spPr bwMode="auto">
          <a:xfrm>
            <a:off x="684213" y="158750"/>
            <a:ext cx="80962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－有序的顺序表合并</a:t>
            </a:r>
          </a:p>
        </p:txBody>
      </p:sp>
      <p:sp>
        <p:nvSpPr>
          <p:cNvPr id="156678" name="矩形 7"/>
          <p:cNvSpPr/>
          <p:nvPr/>
        </p:nvSpPr>
        <p:spPr>
          <a:xfrm>
            <a:off x="0" y="5473700"/>
            <a:ext cx="9148763" cy="138113"/>
          </a:xfrm>
          <a:prstGeom prst="rect">
            <a:avLst/>
          </a:prstGeom>
          <a:solidFill>
            <a:srgbClr val="9476B6"/>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4"/>
          <p:cNvSpPr>
            <a:spLocks noChangeArrowheads="1"/>
          </p:cNvSpPr>
          <p:nvPr/>
        </p:nvSpPr>
        <p:spPr bwMode="auto">
          <a:xfrm>
            <a:off x="387350" y="1595438"/>
            <a:ext cx="2886075"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将这两个有序链表合并成一个有序的单链表。</a:t>
            </a:r>
          </a:p>
        </p:txBody>
      </p:sp>
      <p:sp>
        <p:nvSpPr>
          <p:cNvPr id="602117" name="Rectangle 5"/>
          <p:cNvSpPr>
            <a:spLocks noChangeArrowheads="1"/>
          </p:cNvSpPr>
          <p:nvPr/>
        </p:nvSpPr>
        <p:spPr bwMode="auto">
          <a:xfrm>
            <a:off x="755650" y="204788"/>
            <a:ext cx="67643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有序链表合并－－重点掌握</a:t>
            </a:r>
          </a:p>
        </p:txBody>
      </p:sp>
      <p:grpSp>
        <p:nvGrpSpPr>
          <p:cNvPr id="157700" name="组合 15"/>
          <p:cNvGrpSpPr/>
          <p:nvPr/>
        </p:nvGrpSpPr>
        <p:grpSpPr>
          <a:xfrm>
            <a:off x="2967038" y="2028825"/>
            <a:ext cx="2684462" cy="2392363"/>
            <a:chOff x="3025400" y="1197238"/>
            <a:chExt cx="5489035" cy="4890804"/>
          </a:xfrm>
        </p:grpSpPr>
        <p:sp>
          <p:nvSpPr>
            <p:cNvPr id="5" name="Freeform 5"/>
            <p:cNvSpPr>
              <a:spLocks noEditPoints="1"/>
            </p:cNvSpPr>
            <p:nvPr/>
          </p:nvSpPr>
          <p:spPr bwMode="auto">
            <a:xfrm>
              <a:off x="3373764" y="2204590"/>
              <a:ext cx="2722236" cy="2755074"/>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01ACBE"/>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157706" name="Group 8"/>
            <p:cNvGrpSpPr>
              <a:grpSpLocks noChangeAspect="1"/>
            </p:cNvGrpSpPr>
            <p:nvPr/>
          </p:nvGrpSpPr>
          <p:grpSpPr>
            <a:xfrm>
              <a:off x="4430530" y="3139897"/>
              <a:ext cx="608702" cy="743027"/>
              <a:chOff x="3804" y="2116"/>
              <a:chExt cx="503" cy="614"/>
            </a:xfrm>
          </p:grpSpPr>
          <p:sp>
            <p:nvSpPr>
              <p:cNvPr id="157715" name="AutoShape 7"/>
              <p:cNvSpPr>
                <a:spLocks noChangeAspect="1" noTextEdit="1"/>
              </p:cNvSpPr>
              <p:nvPr/>
            </p:nvSpPr>
            <p:spPr>
              <a:xfrm>
                <a:off x="3804" y="2116"/>
                <a:ext cx="503" cy="614"/>
              </a:xfrm>
              <a:prstGeom prst="rect">
                <a:avLst/>
              </a:prstGeom>
              <a:noFill/>
              <a:ln w="9525">
                <a:noFill/>
              </a:ln>
            </p:spPr>
            <p:txBody>
              <a:bodyPr/>
              <a:lstStyle/>
              <a:p>
                <a:endParaRPr lang="zh-CN" altLang="en-US"/>
              </a:p>
            </p:txBody>
          </p:sp>
          <p:sp>
            <p:nvSpPr>
              <p:cNvPr id="157716" name="Oval 9"/>
              <p:cNvSpPr/>
              <p:nvPr/>
            </p:nvSpPr>
            <p:spPr>
              <a:xfrm>
                <a:off x="3908" y="2137"/>
                <a:ext cx="273" cy="266"/>
              </a:xfrm>
              <a:prstGeom prst="ellipse">
                <a:avLst/>
              </a:prstGeom>
              <a:solidFill>
                <a:srgbClr val="888890"/>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sz="1800" dirty="0">
                  <a:latin typeface="Calibri" panose="020F0502020204030204" pitchFamily="34" charset="0"/>
                  <a:ea typeface="仿宋_GB2312" pitchFamily="49" charset="-122"/>
                </a:endParaRPr>
              </a:p>
            </p:txBody>
          </p:sp>
          <p:sp>
            <p:nvSpPr>
              <p:cNvPr id="157717" name="Freeform 10"/>
              <p:cNvSpPr/>
              <p:nvPr/>
            </p:nvSpPr>
            <p:spPr>
              <a:xfrm>
                <a:off x="3783" y="2423"/>
                <a:ext cx="524" cy="327"/>
              </a:xfrm>
              <a:custGeom>
                <a:avLst/>
                <a:gdLst/>
                <a:ahLst/>
                <a:cxnLst>
                  <a:cxn ang="0">
                    <a:pos x="2147483646" y="0"/>
                  </a:cxn>
                  <a:cxn ang="0">
                    <a:pos x="2147483646" y="0"/>
                  </a:cxn>
                  <a:cxn ang="0">
                    <a:pos x="2147483646" y="2147483646"/>
                  </a:cxn>
                  <a:cxn ang="0">
                    <a:pos x="2147483646" y="2147483646"/>
                  </a:cxn>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 ang="0">
                    <a:pos x="2147483646" y="0"/>
                  </a:cxn>
                </a:cxnLst>
                <a:rect l="0" t="0" r="0" b="0"/>
                <a:pathLst>
                  <a:path w="25" h="16">
                    <a:moveTo>
                      <a:pt x="16" y="0"/>
                    </a:moveTo>
                    <a:cubicBezTo>
                      <a:pt x="13" y="0"/>
                      <a:pt x="13" y="0"/>
                      <a:pt x="13" y="0"/>
                    </a:cubicBezTo>
                    <a:cubicBezTo>
                      <a:pt x="15" y="11"/>
                      <a:pt x="15" y="11"/>
                      <a:pt x="15" y="11"/>
                    </a:cubicBezTo>
                    <a:cubicBezTo>
                      <a:pt x="12" y="14"/>
                      <a:pt x="12" y="14"/>
                      <a:pt x="12" y="14"/>
                    </a:cubicBezTo>
                    <a:cubicBezTo>
                      <a:pt x="9" y="11"/>
                      <a:pt x="9" y="11"/>
                      <a:pt x="9" y="11"/>
                    </a:cubicBezTo>
                    <a:cubicBezTo>
                      <a:pt x="11" y="0"/>
                      <a:pt x="11" y="0"/>
                      <a:pt x="11" y="0"/>
                    </a:cubicBezTo>
                    <a:cubicBezTo>
                      <a:pt x="8" y="0"/>
                      <a:pt x="8" y="0"/>
                      <a:pt x="8" y="0"/>
                    </a:cubicBezTo>
                    <a:cubicBezTo>
                      <a:pt x="3" y="0"/>
                      <a:pt x="0" y="4"/>
                      <a:pt x="0" y="8"/>
                    </a:cubicBezTo>
                    <a:cubicBezTo>
                      <a:pt x="0" y="14"/>
                      <a:pt x="0" y="14"/>
                      <a:pt x="0" y="14"/>
                    </a:cubicBezTo>
                    <a:cubicBezTo>
                      <a:pt x="3" y="16"/>
                      <a:pt x="9" y="16"/>
                      <a:pt x="12" y="16"/>
                    </a:cubicBezTo>
                    <a:cubicBezTo>
                      <a:pt x="15" y="16"/>
                      <a:pt x="21" y="16"/>
                      <a:pt x="25" y="14"/>
                    </a:cubicBezTo>
                    <a:cubicBezTo>
                      <a:pt x="25" y="8"/>
                      <a:pt x="25" y="8"/>
                      <a:pt x="25" y="8"/>
                    </a:cubicBezTo>
                    <a:cubicBezTo>
                      <a:pt x="25" y="4"/>
                      <a:pt x="21" y="0"/>
                      <a:pt x="16" y="0"/>
                    </a:cubicBezTo>
                  </a:path>
                </a:pathLst>
              </a:custGeom>
              <a:solidFill>
                <a:srgbClr val="888890">
                  <a:alpha val="100000"/>
                </a:srgbClr>
              </a:solidFill>
              <a:ln w="9525">
                <a:noFill/>
              </a:ln>
            </p:spPr>
            <p:txBody>
              <a:bodyPr/>
              <a:lstStyle/>
              <a:p>
                <a:endParaRPr lang="zh-CN" altLang="en-US"/>
              </a:p>
            </p:txBody>
          </p:sp>
        </p:grpSp>
        <p:sp>
          <p:nvSpPr>
            <p:cNvPr id="157707" name="Freeform 14"/>
            <p:cNvSpPr/>
            <p:nvPr/>
          </p:nvSpPr>
          <p:spPr>
            <a:xfrm>
              <a:off x="3025400" y="1969376"/>
              <a:ext cx="2807530" cy="3255283"/>
            </a:xfrm>
            <a:custGeom>
              <a:avLst/>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solidFill>
              <a:srgbClr val="FFC9A1">
                <a:alpha val="100000"/>
              </a:srgbClr>
            </a:solidFill>
            <a:ln w="9525">
              <a:noFill/>
            </a:ln>
          </p:spPr>
          <p:txBody>
            <a:bodyPr/>
            <a:lstStyle/>
            <a:p>
              <a:endParaRPr lang="zh-CN" altLang="en-US"/>
            </a:p>
          </p:txBody>
        </p:sp>
        <p:grpSp>
          <p:nvGrpSpPr>
            <p:cNvPr id="8" name="组合 7"/>
            <p:cNvGrpSpPr/>
            <p:nvPr/>
          </p:nvGrpSpPr>
          <p:grpSpPr>
            <a:xfrm rot="9277281">
              <a:off x="6065134" y="1197238"/>
              <a:ext cx="2449301" cy="2596616"/>
              <a:chOff x="3533775" y="1263651"/>
              <a:chExt cx="4028103" cy="4270375"/>
            </a:xfrm>
            <a:solidFill>
              <a:srgbClr val="8DC1CF"/>
            </a:solidFill>
          </p:grpSpPr>
          <p:sp>
            <p:nvSpPr>
              <p:cNvPr id="13" name="Freeform 5"/>
              <p:cNvSpPr>
                <a:spLocks noEditPoints="1"/>
              </p:cNvSpPr>
              <p:nvPr/>
            </p:nvSpPr>
            <p:spPr bwMode="auto">
              <a:xfrm>
                <a:off x="3990769" y="1572211"/>
                <a:ext cx="3571109" cy="3614186"/>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9476B6"/>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 name="Freeform 14"/>
              <p:cNvSpPr/>
              <p:nvPr/>
            </p:nvSpPr>
            <p:spPr bwMode="auto">
              <a:xfrm>
                <a:off x="3533775" y="1263651"/>
                <a:ext cx="3683000" cy="4270375"/>
              </a:xfrm>
              <a:custGeom>
                <a:avLst/>
                <a:gdLst>
                  <a:gd name="T0" fmla="*/ 49 w 85"/>
                  <a:gd name="T1" fmla="*/ 0 h 99"/>
                  <a:gd name="T2" fmla="*/ 14 w 85"/>
                  <a:gd name="T3" fmla="*/ 14 h 99"/>
                  <a:gd name="T4" fmla="*/ 0 w 85"/>
                  <a:gd name="T5" fmla="*/ 49 h 99"/>
                  <a:gd name="T6" fmla="*/ 14 w 85"/>
                  <a:gd name="T7" fmla="*/ 84 h 99"/>
                  <a:gd name="T8" fmla="*/ 50 w 85"/>
                  <a:gd name="T9" fmla="*/ 99 h 99"/>
                  <a:gd name="T10" fmla="*/ 85 w 85"/>
                  <a:gd name="T11" fmla="*/ 84 h 99"/>
                  <a:gd name="T12" fmla="*/ 82 w 85"/>
                  <a:gd name="T13" fmla="*/ 82 h 99"/>
                  <a:gd name="T14" fmla="*/ 50 w 85"/>
                  <a:gd name="T15" fmla="*/ 96 h 99"/>
                  <a:gd name="T16" fmla="*/ 17 w 85"/>
                  <a:gd name="T17" fmla="*/ 82 h 99"/>
                  <a:gd name="T18" fmla="*/ 3 w 85"/>
                  <a:gd name="T19" fmla="*/ 49 h 99"/>
                  <a:gd name="T20" fmla="*/ 17 w 85"/>
                  <a:gd name="T21" fmla="*/ 16 h 99"/>
                  <a:gd name="T22" fmla="*/ 49 w 85"/>
                  <a:gd name="T23" fmla="*/ 2 h 99"/>
                  <a:gd name="T24" fmla="*/ 78 w 85"/>
                  <a:gd name="T25" fmla="*/ 12 h 99"/>
                  <a:gd name="T26" fmla="*/ 80 w 85"/>
                  <a:gd name="T27" fmla="*/ 10 h 99"/>
                  <a:gd name="T28" fmla="*/ 49 w 85"/>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57709" name="KSO_Shape"/>
            <p:cNvSpPr/>
            <p:nvPr/>
          </p:nvSpPr>
          <p:spPr>
            <a:xfrm>
              <a:off x="7000806" y="2262153"/>
              <a:ext cx="337077" cy="607346"/>
            </a:xfrm>
            <a:custGeom>
              <a:avLst/>
              <a:gdLst/>
              <a:ahLst/>
              <a:cxnLst>
                <a:cxn ang="0">
                  <a:pos x="269" y="0"/>
                </a:cxn>
                <a:cxn ang="0">
                  <a:pos x="416" y="0"/>
                </a:cxn>
                <a:cxn ang="0">
                  <a:pos x="416" y="132"/>
                </a:cxn>
                <a:cxn ang="0">
                  <a:pos x="644" y="172"/>
                </a:cxn>
                <a:cxn ang="0">
                  <a:pos x="591" y="344"/>
                </a:cxn>
                <a:cxn ang="0">
                  <a:pos x="376" y="291"/>
                </a:cxn>
                <a:cxn ang="0">
                  <a:pos x="242" y="383"/>
                </a:cxn>
                <a:cxn ang="0">
                  <a:pos x="430" y="502"/>
                </a:cxn>
                <a:cxn ang="0">
                  <a:pos x="685" y="793"/>
                </a:cxn>
                <a:cxn ang="0">
                  <a:pos x="416" y="1058"/>
                </a:cxn>
                <a:cxn ang="0">
                  <a:pos x="416" y="1217"/>
                </a:cxn>
                <a:cxn ang="0">
                  <a:pos x="269" y="1217"/>
                </a:cxn>
                <a:cxn ang="0">
                  <a:pos x="269" y="1071"/>
                </a:cxn>
                <a:cxn ang="0">
                  <a:pos x="0" y="1005"/>
                </a:cxn>
                <a:cxn ang="0">
                  <a:pos x="54" y="833"/>
                </a:cxn>
                <a:cxn ang="0">
                  <a:pos x="309" y="900"/>
                </a:cxn>
                <a:cxn ang="0">
                  <a:pos x="456" y="807"/>
                </a:cxn>
                <a:cxn ang="0">
                  <a:pos x="295" y="675"/>
                </a:cxn>
                <a:cxn ang="0">
                  <a:pos x="13" y="410"/>
                </a:cxn>
                <a:cxn ang="0">
                  <a:pos x="269" y="132"/>
                </a:cxn>
                <a:cxn ang="0">
                  <a:pos x="269" y="0"/>
                </a:cxn>
              </a:cxnLst>
              <a:rect l="0" t="0" r="0" b="0"/>
              <a:pathLst>
                <a:path w="709759" h="1280034">
                  <a:moveTo>
                    <a:pt x="278337" y="0"/>
                  </a:moveTo>
                  <a:cubicBezTo>
                    <a:pt x="431422" y="0"/>
                    <a:pt x="431422" y="0"/>
                    <a:pt x="431422" y="0"/>
                  </a:cubicBezTo>
                  <a:cubicBezTo>
                    <a:pt x="431422" y="139134"/>
                    <a:pt x="431422" y="139134"/>
                    <a:pt x="431422" y="139134"/>
                  </a:cubicBezTo>
                  <a:cubicBezTo>
                    <a:pt x="542757" y="139134"/>
                    <a:pt x="612342" y="166961"/>
                    <a:pt x="668009" y="180875"/>
                  </a:cubicBezTo>
                  <a:cubicBezTo>
                    <a:pt x="612342" y="361749"/>
                    <a:pt x="612342" y="361749"/>
                    <a:pt x="612342" y="361749"/>
                  </a:cubicBezTo>
                  <a:cubicBezTo>
                    <a:pt x="584508" y="347835"/>
                    <a:pt x="501007" y="306095"/>
                    <a:pt x="389672" y="306095"/>
                  </a:cubicBezTo>
                  <a:cubicBezTo>
                    <a:pt x="292254" y="306095"/>
                    <a:pt x="250503" y="361749"/>
                    <a:pt x="250503" y="403489"/>
                  </a:cubicBezTo>
                  <a:cubicBezTo>
                    <a:pt x="250503" y="445229"/>
                    <a:pt x="306171" y="486970"/>
                    <a:pt x="445339" y="528710"/>
                  </a:cubicBezTo>
                  <a:cubicBezTo>
                    <a:pt x="640175" y="598277"/>
                    <a:pt x="709759" y="681757"/>
                    <a:pt x="709759" y="834805"/>
                  </a:cubicBezTo>
                  <a:cubicBezTo>
                    <a:pt x="709759" y="973939"/>
                    <a:pt x="612342" y="1085246"/>
                    <a:pt x="431422" y="1113073"/>
                  </a:cubicBezTo>
                  <a:cubicBezTo>
                    <a:pt x="431422" y="1280034"/>
                    <a:pt x="431422" y="1280034"/>
                    <a:pt x="431422" y="1280034"/>
                  </a:cubicBezTo>
                  <a:cubicBezTo>
                    <a:pt x="278337" y="1280034"/>
                    <a:pt x="278337" y="1280034"/>
                    <a:pt x="278337" y="1280034"/>
                  </a:cubicBezTo>
                  <a:cubicBezTo>
                    <a:pt x="278337" y="1126986"/>
                    <a:pt x="278337" y="1126986"/>
                    <a:pt x="278337" y="1126986"/>
                  </a:cubicBezTo>
                  <a:cubicBezTo>
                    <a:pt x="167002" y="1126986"/>
                    <a:pt x="69584" y="1099160"/>
                    <a:pt x="0" y="1057419"/>
                  </a:cubicBezTo>
                  <a:cubicBezTo>
                    <a:pt x="55667" y="876545"/>
                    <a:pt x="55667" y="876545"/>
                    <a:pt x="55667" y="876545"/>
                  </a:cubicBezTo>
                  <a:cubicBezTo>
                    <a:pt x="125252" y="918285"/>
                    <a:pt x="208753" y="946112"/>
                    <a:pt x="320088" y="946112"/>
                  </a:cubicBezTo>
                  <a:cubicBezTo>
                    <a:pt x="403589" y="946112"/>
                    <a:pt x="473173" y="918285"/>
                    <a:pt x="473173" y="848718"/>
                  </a:cubicBezTo>
                  <a:cubicBezTo>
                    <a:pt x="473173" y="793065"/>
                    <a:pt x="417506" y="751324"/>
                    <a:pt x="306171" y="709584"/>
                  </a:cubicBezTo>
                  <a:cubicBezTo>
                    <a:pt x="125252" y="653930"/>
                    <a:pt x="13917" y="584363"/>
                    <a:pt x="13917" y="431316"/>
                  </a:cubicBezTo>
                  <a:cubicBezTo>
                    <a:pt x="13917" y="292182"/>
                    <a:pt x="111335" y="180875"/>
                    <a:pt x="278337" y="139134"/>
                  </a:cubicBezTo>
                  <a:cubicBezTo>
                    <a:pt x="278337" y="0"/>
                    <a:pt x="278337" y="0"/>
                    <a:pt x="278337" y="0"/>
                  </a:cubicBezTo>
                  <a:close/>
                </a:path>
              </a:pathLst>
            </a:custGeom>
            <a:solidFill>
              <a:srgbClr val="888890">
                <a:alpha val="100000"/>
              </a:srgbClr>
            </a:solidFill>
            <a:ln w="9525">
              <a:noFill/>
            </a:ln>
          </p:spPr>
          <p:txBody>
            <a:bodyPr/>
            <a:lstStyle/>
            <a:p>
              <a:endParaRPr lang="zh-CN" altLang="en-US"/>
            </a:p>
          </p:txBody>
        </p:sp>
        <p:sp>
          <p:nvSpPr>
            <p:cNvPr id="10" name="Freeform 5"/>
            <p:cNvSpPr>
              <a:spLocks noEditPoints="1"/>
            </p:cNvSpPr>
            <p:nvPr/>
          </p:nvSpPr>
          <p:spPr bwMode="auto">
            <a:xfrm rot="13858708">
              <a:off x="6228882" y="4042244"/>
              <a:ext cx="1697289" cy="1717763"/>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chemeClr val="bg2">
                <a:lumMod val="60000"/>
                <a:lumOff val="40000"/>
              </a:schemeClr>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7713" name="Freeform 18"/>
            <p:cNvSpPr/>
            <p:nvPr/>
          </p:nvSpPr>
          <p:spPr>
            <a:xfrm rot="-1119039">
              <a:off x="5874452" y="4031791"/>
              <a:ext cx="2406149" cy="2056251"/>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52" h="44">
                  <a:moveTo>
                    <a:pt x="45" y="0"/>
                  </a:moveTo>
                  <a:cubicBezTo>
                    <a:pt x="43" y="2"/>
                    <a:pt x="43" y="2"/>
                    <a:pt x="43" y="2"/>
                  </a:cubicBezTo>
                  <a:cubicBezTo>
                    <a:pt x="43" y="3"/>
                    <a:pt x="43" y="3"/>
                    <a:pt x="43" y="3"/>
                  </a:cubicBezTo>
                  <a:cubicBezTo>
                    <a:pt x="47" y="8"/>
                    <a:pt x="49" y="14"/>
                    <a:pt x="49" y="20"/>
                  </a:cubicBezTo>
                  <a:cubicBezTo>
                    <a:pt x="48" y="26"/>
                    <a:pt x="45" y="31"/>
                    <a:pt x="41" y="35"/>
                  </a:cubicBezTo>
                  <a:cubicBezTo>
                    <a:pt x="37" y="39"/>
                    <a:pt x="31" y="41"/>
                    <a:pt x="26" y="41"/>
                  </a:cubicBezTo>
                  <a:cubicBezTo>
                    <a:pt x="25" y="41"/>
                    <a:pt x="25" y="41"/>
                    <a:pt x="24" y="40"/>
                  </a:cubicBezTo>
                  <a:cubicBezTo>
                    <a:pt x="18" y="40"/>
                    <a:pt x="13" y="37"/>
                    <a:pt x="9" y="32"/>
                  </a:cubicBezTo>
                  <a:cubicBezTo>
                    <a:pt x="5" y="28"/>
                    <a:pt x="3" y="22"/>
                    <a:pt x="3" y="16"/>
                  </a:cubicBezTo>
                  <a:cubicBezTo>
                    <a:pt x="3" y="15"/>
                    <a:pt x="3" y="15"/>
                    <a:pt x="3" y="15"/>
                  </a:cubicBezTo>
                  <a:cubicBezTo>
                    <a:pt x="0" y="15"/>
                    <a:pt x="0" y="15"/>
                    <a:pt x="0" y="15"/>
                  </a:cubicBezTo>
                  <a:cubicBezTo>
                    <a:pt x="0" y="16"/>
                    <a:pt x="0" y="16"/>
                    <a:pt x="0" y="16"/>
                  </a:cubicBezTo>
                  <a:cubicBezTo>
                    <a:pt x="0" y="22"/>
                    <a:pt x="2" y="29"/>
                    <a:pt x="6" y="34"/>
                  </a:cubicBezTo>
                  <a:cubicBezTo>
                    <a:pt x="11" y="40"/>
                    <a:pt x="17" y="43"/>
                    <a:pt x="24" y="43"/>
                  </a:cubicBezTo>
                  <a:cubicBezTo>
                    <a:pt x="25" y="44"/>
                    <a:pt x="25" y="44"/>
                    <a:pt x="26" y="44"/>
                  </a:cubicBezTo>
                  <a:cubicBezTo>
                    <a:pt x="32" y="44"/>
                    <a:pt x="38" y="41"/>
                    <a:pt x="43" y="38"/>
                  </a:cubicBezTo>
                  <a:cubicBezTo>
                    <a:pt x="48" y="33"/>
                    <a:pt x="51" y="27"/>
                    <a:pt x="52" y="20"/>
                  </a:cubicBezTo>
                  <a:cubicBezTo>
                    <a:pt x="52" y="13"/>
                    <a:pt x="50" y="6"/>
                    <a:pt x="46" y="1"/>
                  </a:cubicBezTo>
                  <a:cubicBezTo>
                    <a:pt x="45" y="0"/>
                    <a:pt x="45" y="0"/>
                    <a:pt x="45" y="0"/>
                  </a:cubicBezTo>
                </a:path>
              </a:pathLst>
            </a:custGeom>
            <a:solidFill>
              <a:srgbClr val="D3EF8A">
                <a:alpha val="100000"/>
              </a:srgbClr>
            </a:solidFill>
            <a:ln w="9525">
              <a:noFill/>
            </a:ln>
          </p:spPr>
          <p:txBody>
            <a:bodyPr/>
            <a:lstStyle/>
            <a:p>
              <a:endParaRPr lang="zh-CN" altLang="en-US"/>
            </a:p>
          </p:txBody>
        </p:sp>
        <p:sp>
          <p:nvSpPr>
            <p:cNvPr id="12" name="KSO_Shape"/>
            <p:cNvSpPr/>
            <p:nvPr/>
          </p:nvSpPr>
          <p:spPr bwMode="auto">
            <a:xfrm>
              <a:off x="6930373" y="4721732"/>
              <a:ext cx="331095" cy="360239"/>
            </a:xfrm>
            <a:custGeom>
              <a:avLst/>
              <a:gdLst>
                <a:gd name="T0" fmla="*/ 1753292 w 4636"/>
                <a:gd name="T1" fmla="*/ 1304768 h 4986"/>
                <a:gd name="T2" fmla="*/ 1683756 w 4636"/>
                <a:gd name="T3" fmla="*/ 1479374 h 4986"/>
                <a:gd name="T4" fmla="*/ 1569137 w 4636"/>
                <a:gd name="T5" fmla="*/ 1631438 h 4986"/>
                <a:gd name="T6" fmla="*/ 1415547 w 4636"/>
                <a:gd name="T7" fmla="*/ 1755611 h 4986"/>
                <a:gd name="T8" fmla="*/ 1230628 w 4636"/>
                <a:gd name="T9" fmla="*/ 1845779 h 4986"/>
                <a:gd name="T10" fmla="*/ 1020493 w 4636"/>
                <a:gd name="T11" fmla="*/ 1896594 h 4986"/>
                <a:gd name="T12" fmla="*/ 817235 w 4636"/>
                <a:gd name="T13" fmla="*/ 1902708 h 4986"/>
                <a:gd name="T14" fmla="*/ 601369 w 4636"/>
                <a:gd name="T15" fmla="*/ 1865647 h 4986"/>
                <a:gd name="T16" fmla="*/ 408426 w 4636"/>
                <a:gd name="T17" fmla="*/ 1786558 h 4986"/>
                <a:gd name="T18" fmla="*/ 244521 w 4636"/>
                <a:gd name="T19" fmla="*/ 1671937 h 4986"/>
                <a:gd name="T20" fmla="*/ 117294 w 4636"/>
                <a:gd name="T21" fmla="*/ 1527897 h 4986"/>
                <a:gd name="T22" fmla="*/ 33622 w 4636"/>
                <a:gd name="T23" fmla="*/ 1359022 h 4986"/>
                <a:gd name="T24" fmla="*/ 382 w 4636"/>
                <a:gd name="T25" fmla="*/ 1173336 h 4986"/>
                <a:gd name="T26" fmla="*/ 9170 w 4636"/>
                <a:gd name="T27" fmla="*/ 1046107 h 4986"/>
                <a:gd name="T28" fmla="*/ 44319 w 4636"/>
                <a:gd name="T29" fmla="*/ 918114 h 4986"/>
                <a:gd name="T30" fmla="*/ 104303 w 4636"/>
                <a:gd name="T31" fmla="*/ 799672 h 4986"/>
                <a:gd name="T32" fmla="*/ 224654 w 4636"/>
                <a:gd name="T33" fmla="*/ 654103 h 4986"/>
                <a:gd name="T34" fmla="*/ 458477 w 4636"/>
                <a:gd name="T35" fmla="*/ 495927 h 4986"/>
                <a:gd name="T36" fmla="*/ 1413637 w 4636"/>
                <a:gd name="T37" fmla="*/ 551327 h 4986"/>
                <a:gd name="T38" fmla="*/ 1619952 w 4636"/>
                <a:gd name="T39" fmla="*/ 733956 h 4986"/>
                <a:gd name="T40" fmla="*/ 1693690 w 4636"/>
                <a:gd name="T41" fmla="*/ 845520 h 4986"/>
                <a:gd name="T42" fmla="*/ 1744122 w 4636"/>
                <a:gd name="T43" fmla="*/ 968165 h 4986"/>
                <a:gd name="T44" fmla="*/ 1768957 w 4636"/>
                <a:gd name="T45" fmla="*/ 1099215 h 4986"/>
                <a:gd name="T46" fmla="*/ 810740 w 4636"/>
                <a:gd name="T47" fmla="*/ 1403342 h 4986"/>
                <a:gd name="T48" fmla="*/ 749610 w 4636"/>
                <a:gd name="T49" fmla="*/ 1364371 h 4986"/>
                <a:gd name="T50" fmla="*/ 721337 w 4636"/>
                <a:gd name="T51" fmla="*/ 1311646 h 4986"/>
                <a:gd name="T52" fmla="*/ 574242 w 4636"/>
                <a:gd name="T53" fmla="*/ 1220331 h 4986"/>
                <a:gd name="T54" fmla="*/ 590289 w 4636"/>
                <a:gd name="T55" fmla="*/ 1349853 h 4986"/>
                <a:gd name="T56" fmla="*/ 636519 w 4636"/>
                <a:gd name="T57" fmla="*/ 1442696 h 4986"/>
                <a:gd name="T58" fmla="*/ 705290 w 4636"/>
                <a:gd name="T59" fmla="*/ 1500770 h 4986"/>
                <a:gd name="T60" fmla="*/ 835956 w 4636"/>
                <a:gd name="T61" fmla="*/ 1679961 h 4986"/>
                <a:gd name="T62" fmla="*/ 1024696 w 4636"/>
                <a:gd name="T63" fmla="*/ 1517199 h 4986"/>
                <a:gd name="T64" fmla="*/ 1127089 w 4636"/>
                <a:gd name="T65" fmla="*/ 1453011 h 4986"/>
                <a:gd name="T66" fmla="*/ 1182488 w 4636"/>
                <a:gd name="T67" fmla="*/ 1354819 h 4986"/>
                <a:gd name="T68" fmla="*/ 1193950 w 4636"/>
                <a:gd name="T69" fmla="*/ 1246694 h 4986"/>
                <a:gd name="T70" fmla="*/ 1176375 w 4636"/>
                <a:gd name="T71" fmla="*/ 1166459 h 4986"/>
                <a:gd name="T72" fmla="*/ 1133584 w 4636"/>
                <a:gd name="T73" fmla="*/ 1100361 h 4986"/>
                <a:gd name="T74" fmla="*/ 1066341 w 4636"/>
                <a:gd name="T75" fmla="*/ 1049164 h 4986"/>
                <a:gd name="T76" fmla="*/ 943316 w 4636"/>
                <a:gd name="T77" fmla="*/ 710650 h 4986"/>
                <a:gd name="T78" fmla="*/ 992220 w 4636"/>
                <a:gd name="T79" fmla="*/ 732810 h 4986"/>
                <a:gd name="T80" fmla="*/ 1028899 w 4636"/>
                <a:gd name="T81" fmla="*/ 775984 h 4986"/>
                <a:gd name="T82" fmla="*/ 1183634 w 4636"/>
                <a:gd name="T83" fmla="*/ 862332 h 4986"/>
                <a:gd name="T84" fmla="*/ 1156126 w 4636"/>
                <a:gd name="T85" fmla="*/ 728989 h 4986"/>
                <a:gd name="T86" fmla="*/ 1112953 w 4636"/>
                <a:gd name="T87" fmla="*/ 665566 h 4986"/>
                <a:gd name="T88" fmla="*/ 1054879 w 4636"/>
                <a:gd name="T89" fmla="*/ 620481 h 4986"/>
                <a:gd name="T90" fmla="*/ 971207 w 4636"/>
                <a:gd name="T91" fmla="*/ 591062 h 4986"/>
                <a:gd name="T92" fmla="*/ 831753 w 4636"/>
                <a:gd name="T93" fmla="*/ 588005 h 4986"/>
                <a:gd name="T94" fmla="*/ 707201 w 4636"/>
                <a:gd name="T95" fmla="*/ 635382 h 4986"/>
                <a:gd name="T96" fmla="*/ 628877 w 4636"/>
                <a:gd name="T97" fmla="*/ 713324 h 4986"/>
                <a:gd name="T98" fmla="*/ 596784 w 4636"/>
                <a:gd name="T99" fmla="*/ 822978 h 4986"/>
                <a:gd name="T100" fmla="*/ 609010 w 4636"/>
                <a:gd name="T101" fmla="*/ 933779 h 4986"/>
                <a:gd name="T102" fmla="*/ 664409 w 4636"/>
                <a:gd name="T103" fmla="*/ 1020508 h 4986"/>
                <a:gd name="T104" fmla="*/ 780175 w 4636"/>
                <a:gd name="T105" fmla="*/ 1086989 h 4986"/>
                <a:gd name="T106" fmla="*/ 829461 w 4636"/>
                <a:gd name="T107" fmla="*/ 963962 h 4986"/>
                <a:gd name="T108" fmla="*/ 750374 w 4636"/>
                <a:gd name="T109" fmla="*/ 897100 h 4986"/>
                <a:gd name="T110" fmla="*/ 740440 w 4636"/>
                <a:gd name="T111" fmla="*/ 809988 h 4986"/>
                <a:gd name="T112" fmla="*/ 788198 w 4636"/>
                <a:gd name="T113" fmla="*/ 733192 h 4986"/>
                <a:gd name="T114" fmla="*/ 943316 w 4636"/>
                <a:gd name="T115" fmla="*/ 1136276 h 4986"/>
                <a:gd name="T116" fmla="*/ 1017437 w 4636"/>
                <a:gd name="T117" fmla="*/ 1185945 h 4986"/>
                <a:gd name="T118" fmla="*/ 1045709 w 4636"/>
                <a:gd name="T119" fmla="*/ 1231411 h 4986"/>
                <a:gd name="T120" fmla="*/ 1048766 w 4636"/>
                <a:gd name="T121" fmla="*/ 1299801 h 4986"/>
                <a:gd name="T122" fmla="*/ 1017819 w 4636"/>
                <a:gd name="T123" fmla="*/ 1372395 h 4986"/>
                <a:gd name="T124" fmla="*/ 965858 w 4636"/>
                <a:gd name="T125" fmla="*/ 1409838 h 49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636" h="4986">
                  <a:moveTo>
                    <a:pt x="4636" y="3019"/>
                  </a:moveTo>
                  <a:lnTo>
                    <a:pt x="4636" y="3019"/>
                  </a:lnTo>
                  <a:lnTo>
                    <a:pt x="4635" y="3071"/>
                  </a:lnTo>
                  <a:lnTo>
                    <a:pt x="4633" y="3121"/>
                  </a:lnTo>
                  <a:lnTo>
                    <a:pt x="4629" y="3171"/>
                  </a:lnTo>
                  <a:lnTo>
                    <a:pt x="4624" y="3221"/>
                  </a:lnTo>
                  <a:lnTo>
                    <a:pt x="4618" y="3270"/>
                  </a:lnTo>
                  <a:lnTo>
                    <a:pt x="4609" y="3319"/>
                  </a:lnTo>
                  <a:lnTo>
                    <a:pt x="4600" y="3367"/>
                  </a:lnTo>
                  <a:lnTo>
                    <a:pt x="4589" y="3415"/>
                  </a:lnTo>
                  <a:lnTo>
                    <a:pt x="4577" y="3464"/>
                  </a:lnTo>
                  <a:lnTo>
                    <a:pt x="4563" y="3511"/>
                  </a:lnTo>
                  <a:lnTo>
                    <a:pt x="4548" y="3557"/>
                  </a:lnTo>
                  <a:lnTo>
                    <a:pt x="4532" y="3605"/>
                  </a:lnTo>
                  <a:lnTo>
                    <a:pt x="4515" y="3650"/>
                  </a:lnTo>
                  <a:lnTo>
                    <a:pt x="4496" y="3696"/>
                  </a:lnTo>
                  <a:lnTo>
                    <a:pt x="4476" y="3740"/>
                  </a:lnTo>
                  <a:lnTo>
                    <a:pt x="4454" y="3785"/>
                  </a:lnTo>
                  <a:lnTo>
                    <a:pt x="4431" y="3829"/>
                  </a:lnTo>
                  <a:lnTo>
                    <a:pt x="4407" y="3872"/>
                  </a:lnTo>
                  <a:lnTo>
                    <a:pt x="4382" y="3915"/>
                  </a:lnTo>
                  <a:lnTo>
                    <a:pt x="4357" y="3957"/>
                  </a:lnTo>
                  <a:lnTo>
                    <a:pt x="4330" y="3999"/>
                  </a:lnTo>
                  <a:lnTo>
                    <a:pt x="4300" y="4039"/>
                  </a:lnTo>
                  <a:lnTo>
                    <a:pt x="4271" y="4080"/>
                  </a:lnTo>
                  <a:lnTo>
                    <a:pt x="4240" y="4119"/>
                  </a:lnTo>
                  <a:lnTo>
                    <a:pt x="4209" y="4157"/>
                  </a:lnTo>
                  <a:lnTo>
                    <a:pt x="4176" y="4196"/>
                  </a:lnTo>
                  <a:lnTo>
                    <a:pt x="4141" y="4233"/>
                  </a:lnTo>
                  <a:lnTo>
                    <a:pt x="4107" y="4270"/>
                  </a:lnTo>
                  <a:lnTo>
                    <a:pt x="4071" y="4307"/>
                  </a:lnTo>
                  <a:lnTo>
                    <a:pt x="4034" y="4341"/>
                  </a:lnTo>
                  <a:lnTo>
                    <a:pt x="3996" y="4376"/>
                  </a:lnTo>
                  <a:lnTo>
                    <a:pt x="3957" y="4410"/>
                  </a:lnTo>
                  <a:lnTo>
                    <a:pt x="3917" y="4443"/>
                  </a:lnTo>
                  <a:lnTo>
                    <a:pt x="3876" y="4475"/>
                  </a:lnTo>
                  <a:lnTo>
                    <a:pt x="3835" y="4506"/>
                  </a:lnTo>
                  <a:lnTo>
                    <a:pt x="3792" y="4537"/>
                  </a:lnTo>
                  <a:lnTo>
                    <a:pt x="3749" y="4566"/>
                  </a:lnTo>
                  <a:lnTo>
                    <a:pt x="3705" y="4595"/>
                  </a:lnTo>
                  <a:lnTo>
                    <a:pt x="3660" y="4623"/>
                  </a:lnTo>
                  <a:lnTo>
                    <a:pt x="3614" y="4650"/>
                  </a:lnTo>
                  <a:lnTo>
                    <a:pt x="3567" y="4676"/>
                  </a:lnTo>
                  <a:lnTo>
                    <a:pt x="3520" y="4701"/>
                  </a:lnTo>
                  <a:lnTo>
                    <a:pt x="3472" y="4725"/>
                  </a:lnTo>
                  <a:lnTo>
                    <a:pt x="3422" y="4748"/>
                  </a:lnTo>
                  <a:lnTo>
                    <a:pt x="3373" y="4770"/>
                  </a:lnTo>
                  <a:lnTo>
                    <a:pt x="3322" y="4792"/>
                  </a:lnTo>
                  <a:lnTo>
                    <a:pt x="3272" y="4812"/>
                  </a:lnTo>
                  <a:lnTo>
                    <a:pt x="3221" y="4831"/>
                  </a:lnTo>
                  <a:lnTo>
                    <a:pt x="3168" y="4849"/>
                  </a:lnTo>
                  <a:lnTo>
                    <a:pt x="3114" y="4867"/>
                  </a:lnTo>
                  <a:lnTo>
                    <a:pt x="3062" y="4883"/>
                  </a:lnTo>
                  <a:lnTo>
                    <a:pt x="3007" y="4897"/>
                  </a:lnTo>
                  <a:lnTo>
                    <a:pt x="2952" y="4911"/>
                  </a:lnTo>
                  <a:lnTo>
                    <a:pt x="2897" y="4924"/>
                  </a:lnTo>
                  <a:lnTo>
                    <a:pt x="2841" y="4935"/>
                  </a:lnTo>
                  <a:lnTo>
                    <a:pt x="2785" y="4946"/>
                  </a:lnTo>
                  <a:lnTo>
                    <a:pt x="2729" y="4955"/>
                  </a:lnTo>
                  <a:lnTo>
                    <a:pt x="2671" y="4964"/>
                  </a:lnTo>
                  <a:lnTo>
                    <a:pt x="2613" y="4970"/>
                  </a:lnTo>
                  <a:lnTo>
                    <a:pt x="2555" y="4975"/>
                  </a:lnTo>
                  <a:lnTo>
                    <a:pt x="2496" y="4980"/>
                  </a:lnTo>
                  <a:lnTo>
                    <a:pt x="2437" y="4984"/>
                  </a:lnTo>
                  <a:lnTo>
                    <a:pt x="2377" y="4986"/>
                  </a:lnTo>
                  <a:lnTo>
                    <a:pt x="2318" y="4986"/>
                  </a:lnTo>
                  <a:lnTo>
                    <a:pt x="2258" y="4986"/>
                  </a:lnTo>
                  <a:lnTo>
                    <a:pt x="2199" y="4984"/>
                  </a:lnTo>
                  <a:lnTo>
                    <a:pt x="2139" y="4980"/>
                  </a:lnTo>
                  <a:lnTo>
                    <a:pt x="2081" y="4975"/>
                  </a:lnTo>
                  <a:lnTo>
                    <a:pt x="2022" y="4970"/>
                  </a:lnTo>
                  <a:lnTo>
                    <a:pt x="1964" y="4964"/>
                  </a:lnTo>
                  <a:lnTo>
                    <a:pt x="1908" y="4955"/>
                  </a:lnTo>
                  <a:lnTo>
                    <a:pt x="1851" y="4946"/>
                  </a:lnTo>
                  <a:lnTo>
                    <a:pt x="1794" y="4935"/>
                  </a:lnTo>
                  <a:lnTo>
                    <a:pt x="1738" y="4924"/>
                  </a:lnTo>
                  <a:lnTo>
                    <a:pt x="1683" y="4911"/>
                  </a:lnTo>
                  <a:lnTo>
                    <a:pt x="1628" y="4897"/>
                  </a:lnTo>
                  <a:lnTo>
                    <a:pt x="1574" y="4883"/>
                  </a:lnTo>
                  <a:lnTo>
                    <a:pt x="1521" y="4867"/>
                  </a:lnTo>
                  <a:lnTo>
                    <a:pt x="1468" y="4849"/>
                  </a:lnTo>
                  <a:lnTo>
                    <a:pt x="1416" y="4831"/>
                  </a:lnTo>
                  <a:lnTo>
                    <a:pt x="1364" y="4812"/>
                  </a:lnTo>
                  <a:lnTo>
                    <a:pt x="1313" y="4792"/>
                  </a:lnTo>
                  <a:lnTo>
                    <a:pt x="1262" y="4770"/>
                  </a:lnTo>
                  <a:lnTo>
                    <a:pt x="1213" y="4748"/>
                  </a:lnTo>
                  <a:lnTo>
                    <a:pt x="1163" y="4725"/>
                  </a:lnTo>
                  <a:lnTo>
                    <a:pt x="1116" y="4701"/>
                  </a:lnTo>
                  <a:lnTo>
                    <a:pt x="1069" y="4676"/>
                  </a:lnTo>
                  <a:lnTo>
                    <a:pt x="1021" y="4650"/>
                  </a:lnTo>
                  <a:lnTo>
                    <a:pt x="976" y="4623"/>
                  </a:lnTo>
                  <a:lnTo>
                    <a:pt x="931" y="4595"/>
                  </a:lnTo>
                  <a:lnTo>
                    <a:pt x="887" y="4566"/>
                  </a:lnTo>
                  <a:lnTo>
                    <a:pt x="843" y="4537"/>
                  </a:lnTo>
                  <a:lnTo>
                    <a:pt x="801" y="4506"/>
                  </a:lnTo>
                  <a:lnTo>
                    <a:pt x="759" y="4475"/>
                  </a:lnTo>
                  <a:lnTo>
                    <a:pt x="719" y="4443"/>
                  </a:lnTo>
                  <a:lnTo>
                    <a:pt x="679" y="4410"/>
                  </a:lnTo>
                  <a:lnTo>
                    <a:pt x="640" y="4376"/>
                  </a:lnTo>
                  <a:lnTo>
                    <a:pt x="602" y="4341"/>
                  </a:lnTo>
                  <a:lnTo>
                    <a:pt x="565" y="4307"/>
                  </a:lnTo>
                  <a:lnTo>
                    <a:pt x="529" y="4270"/>
                  </a:lnTo>
                  <a:lnTo>
                    <a:pt x="494" y="4233"/>
                  </a:lnTo>
                  <a:lnTo>
                    <a:pt x="460" y="4196"/>
                  </a:lnTo>
                  <a:lnTo>
                    <a:pt x="428" y="4157"/>
                  </a:lnTo>
                  <a:lnTo>
                    <a:pt x="396" y="4119"/>
                  </a:lnTo>
                  <a:lnTo>
                    <a:pt x="364" y="4080"/>
                  </a:lnTo>
                  <a:lnTo>
                    <a:pt x="335" y="4039"/>
                  </a:lnTo>
                  <a:lnTo>
                    <a:pt x="307" y="3999"/>
                  </a:lnTo>
                  <a:lnTo>
                    <a:pt x="279" y="3957"/>
                  </a:lnTo>
                  <a:lnTo>
                    <a:pt x="253" y="3915"/>
                  </a:lnTo>
                  <a:lnTo>
                    <a:pt x="228" y="3872"/>
                  </a:lnTo>
                  <a:lnTo>
                    <a:pt x="205" y="3829"/>
                  </a:lnTo>
                  <a:lnTo>
                    <a:pt x="182" y="3785"/>
                  </a:lnTo>
                  <a:lnTo>
                    <a:pt x="160" y="3740"/>
                  </a:lnTo>
                  <a:lnTo>
                    <a:pt x="141" y="3696"/>
                  </a:lnTo>
                  <a:lnTo>
                    <a:pt x="122" y="3650"/>
                  </a:lnTo>
                  <a:lnTo>
                    <a:pt x="104" y="3605"/>
                  </a:lnTo>
                  <a:lnTo>
                    <a:pt x="88" y="3557"/>
                  </a:lnTo>
                  <a:lnTo>
                    <a:pt x="72" y="3511"/>
                  </a:lnTo>
                  <a:lnTo>
                    <a:pt x="59" y="3464"/>
                  </a:lnTo>
                  <a:lnTo>
                    <a:pt x="47" y="3415"/>
                  </a:lnTo>
                  <a:lnTo>
                    <a:pt x="35" y="3367"/>
                  </a:lnTo>
                  <a:lnTo>
                    <a:pt x="26" y="3319"/>
                  </a:lnTo>
                  <a:lnTo>
                    <a:pt x="19" y="3270"/>
                  </a:lnTo>
                  <a:lnTo>
                    <a:pt x="11" y="3221"/>
                  </a:lnTo>
                  <a:lnTo>
                    <a:pt x="6" y="3171"/>
                  </a:lnTo>
                  <a:lnTo>
                    <a:pt x="3" y="3121"/>
                  </a:lnTo>
                  <a:lnTo>
                    <a:pt x="1" y="3071"/>
                  </a:lnTo>
                  <a:lnTo>
                    <a:pt x="0" y="3019"/>
                  </a:lnTo>
                  <a:lnTo>
                    <a:pt x="0" y="2983"/>
                  </a:lnTo>
                  <a:lnTo>
                    <a:pt x="1" y="2948"/>
                  </a:lnTo>
                  <a:lnTo>
                    <a:pt x="3" y="2912"/>
                  </a:lnTo>
                  <a:lnTo>
                    <a:pt x="6" y="2877"/>
                  </a:lnTo>
                  <a:lnTo>
                    <a:pt x="9" y="2842"/>
                  </a:lnTo>
                  <a:lnTo>
                    <a:pt x="13" y="2807"/>
                  </a:lnTo>
                  <a:lnTo>
                    <a:pt x="18" y="2772"/>
                  </a:lnTo>
                  <a:lnTo>
                    <a:pt x="24" y="2738"/>
                  </a:lnTo>
                  <a:lnTo>
                    <a:pt x="29" y="2703"/>
                  </a:lnTo>
                  <a:lnTo>
                    <a:pt x="36" y="2669"/>
                  </a:lnTo>
                  <a:lnTo>
                    <a:pt x="44" y="2635"/>
                  </a:lnTo>
                  <a:lnTo>
                    <a:pt x="52" y="2601"/>
                  </a:lnTo>
                  <a:lnTo>
                    <a:pt x="62" y="2567"/>
                  </a:lnTo>
                  <a:lnTo>
                    <a:pt x="71" y="2534"/>
                  </a:lnTo>
                  <a:lnTo>
                    <a:pt x="82" y="2501"/>
                  </a:lnTo>
                  <a:lnTo>
                    <a:pt x="92" y="2468"/>
                  </a:lnTo>
                  <a:lnTo>
                    <a:pt x="104" y="2436"/>
                  </a:lnTo>
                  <a:lnTo>
                    <a:pt x="116" y="2403"/>
                  </a:lnTo>
                  <a:lnTo>
                    <a:pt x="129" y="2371"/>
                  </a:lnTo>
                  <a:lnTo>
                    <a:pt x="143" y="2339"/>
                  </a:lnTo>
                  <a:lnTo>
                    <a:pt x="156" y="2308"/>
                  </a:lnTo>
                  <a:lnTo>
                    <a:pt x="172" y="2276"/>
                  </a:lnTo>
                  <a:lnTo>
                    <a:pt x="187" y="2245"/>
                  </a:lnTo>
                  <a:lnTo>
                    <a:pt x="203" y="2214"/>
                  </a:lnTo>
                  <a:lnTo>
                    <a:pt x="219" y="2184"/>
                  </a:lnTo>
                  <a:lnTo>
                    <a:pt x="237" y="2153"/>
                  </a:lnTo>
                  <a:lnTo>
                    <a:pt x="255" y="2123"/>
                  </a:lnTo>
                  <a:lnTo>
                    <a:pt x="273" y="2093"/>
                  </a:lnTo>
                  <a:lnTo>
                    <a:pt x="292" y="2064"/>
                  </a:lnTo>
                  <a:lnTo>
                    <a:pt x="312" y="2034"/>
                  </a:lnTo>
                  <a:lnTo>
                    <a:pt x="332" y="2006"/>
                  </a:lnTo>
                  <a:lnTo>
                    <a:pt x="353" y="1978"/>
                  </a:lnTo>
                  <a:lnTo>
                    <a:pt x="374" y="1949"/>
                  </a:lnTo>
                  <a:lnTo>
                    <a:pt x="396" y="1922"/>
                  </a:lnTo>
                  <a:lnTo>
                    <a:pt x="440" y="1867"/>
                  </a:lnTo>
                  <a:lnTo>
                    <a:pt x="487" y="1814"/>
                  </a:lnTo>
                  <a:lnTo>
                    <a:pt x="537" y="1762"/>
                  </a:lnTo>
                  <a:lnTo>
                    <a:pt x="588" y="1712"/>
                  </a:lnTo>
                  <a:lnTo>
                    <a:pt x="642" y="1662"/>
                  </a:lnTo>
                  <a:lnTo>
                    <a:pt x="697" y="1615"/>
                  </a:lnTo>
                  <a:lnTo>
                    <a:pt x="754" y="1570"/>
                  </a:lnTo>
                  <a:lnTo>
                    <a:pt x="812" y="1526"/>
                  </a:lnTo>
                  <a:lnTo>
                    <a:pt x="873" y="1483"/>
                  </a:lnTo>
                  <a:lnTo>
                    <a:pt x="935" y="1443"/>
                  </a:lnTo>
                  <a:lnTo>
                    <a:pt x="999" y="1404"/>
                  </a:lnTo>
                  <a:lnTo>
                    <a:pt x="1065" y="1366"/>
                  </a:lnTo>
                  <a:lnTo>
                    <a:pt x="1132" y="1331"/>
                  </a:lnTo>
                  <a:lnTo>
                    <a:pt x="1200" y="1298"/>
                  </a:lnTo>
                  <a:lnTo>
                    <a:pt x="1271" y="1266"/>
                  </a:lnTo>
                  <a:lnTo>
                    <a:pt x="553" y="0"/>
                  </a:lnTo>
                  <a:lnTo>
                    <a:pt x="4082" y="0"/>
                  </a:lnTo>
                  <a:lnTo>
                    <a:pt x="3365" y="1266"/>
                  </a:lnTo>
                  <a:lnTo>
                    <a:pt x="3435" y="1298"/>
                  </a:lnTo>
                  <a:lnTo>
                    <a:pt x="3503" y="1331"/>
                  </a:lnTo>
                  <a:lnTo>
                    <a:pt x="3571" y="1366"/>
                  </a:lnTo>
                  <a:lnTo>
                    <a:pt x="3636" y="1404"/>
                  </a:lnTo>
                  <a:lnTo>
                    <a:pt x="3700" y="1443"/>
                  </a:lnTo>
                  <a:lnTo>
                    <a:pt x="3762" y="1483"/>
                  </a:lnTo>
                  <a:lnTo>
                    <a:pt x="3823" y="1526"/>
                  </a:lnTo>
                  <a:lnTo>
                    <a:pt x="3882" y="1570"/>
                  </a:lnTo>
                  <a:lnTo>
                    <a:pt x="3938" y="1615"/>
                  </a:lnTo>
                  <a:lnTo>
                    <a:pt x="3994" y="1662"/>
                  </a:lnTo>
                  <a:lnTo>
                    <a:pt x="4047" y="1712"/>
                  </a:lnTo>
                  <a:lnTo>
                    <a:pt x="4098" y="1762"/>
                  </a:lnTo>
                  <a:lnTo>
                    <a:pt x="4148" y="1814"/>
                  </a:lnTo>
                  <a:lnTo>
                    <a:pt x="4195" y="1866"/>
                  </a:lnTo>
                  <a:lnTo>
                    <a:pt x="4240" y="1921"/>
                  </a:lnTo>
                  <a:lnTo>
                    <a:pt x="4262" y="1949"/>
                  </a:lnTo>
                  <a:lnTo>
                    <a:pt x="4283" y="1978"/>
                  </a:lnTo>
                  <a:lnTo>
                    <a:pt x="4304" y="2006"/>
                  </a:lnTo>
                  <a:lnTo>
                    <a:pt x="4324" y="2034"/>
                  </a:lnTo>
                  <a:lnTo>
                    <a:pt x="4343" y="2064"/>
                  </a:lnTo>
                  <a:lnTo>
                    <a:pt x="4362" y="2093"/>
                  </a:lnTo>
                  <a:lnTo>
                    <a:pt x="4381" y="2123"/>
                  </a:lnTo>
                  <a:lnTo>
                    <a:pt x="4399" y="2153"/>
                  </a:lnTo>
                  <a:lnTo>
                    <a:pt x="4416" y="2183"/>
                  </a:lnTo>
                  <a:lnTo>
                    <a:pt x="4433" y="2213"/>
                  </a:lnTo>
                  <a:lnTo>
                    <a:pt x="4448" y="2245"/>
                  </a:lnTo>
                  <a:lnTo>
                    <a:pt x="4464" y="2275"/>
                  </a:lnTo>
                  <a:lnTo>
                    <a:pt x="4479" y="2307"/>
                  </a:lnTo>
                  <a:lnTo>
                    <a:pt x="4494" y="2338"/>
                  </a:lnTo>
                  <a:lnTo>
                    <a:pt x="4507" y="2371"/>
                  </a:lnTo>
                  <a:lnTo>
                    <a:pt x="4520" y="2402"/>
                  </a:lnTo>
                  <a:lnTo>
                    <a:pt x="4532" y="2435"/>
                  </a:lnTo>
                  <a:lnTo>
                    <a:pt x="4544" y="2467"/>
                  </a:lnTo>
                  <a:lnTo>
                    <a:pt x="4554" y="2501"/>
                  </a:lnTo>
                  <a:lnTo>
                    <a:pt x="4565" y="2534"/>
                  </a:lnTo>
                  <a:lnTo>
                    <a:pt x="4574" y="2567"/>
                  </a:lnTo>
                  <a:lnTo>
                    <a:pt x="4584" y="2601"/>
                  </a:lnTo>
                  <a:lnTo>
                    <a:pt x="4592" y="2635"/>
                  </a:lnTo>
                  <a:lnTo>
                    <a:pt x="4600" y="2669"/>
                  </a:lnTo>
                  <a:lnTo>
                    <a:pt x="4606" y="2703"/>
                  </a:lnTo>
                  <a:lnTo>
                    <a:pt x="4612" y="2738"/>
                  </a:lnTo>
                  <a:lnTo>
                    <a:pt x="4618" y="2772"/>
                  </a:lnTo>
                  <a:lnTo>
                    <a:pt x="4623" y="2807"/>
                  </a:lnTo>
                  <a:lnTo>
                    <a:pt x="4627" y="2842"/>
                  </a:lnTo>
                  <a:lnTo>
                    <a:pt x="4630" y="2877"/>
                  </a:lnTo>
                  <a:lnTo>
                    <a:pt x="4633" y="2912"/>
                  </a:lnTo>
                  <a:lnTo>
                    <a:pt x="4634" y="2948"/>
                  </a:lnTo>
                  <a:lnTo>
                    <a:pt x="4635" y="2983"/>
                  </a:lnTo>
                  <a:lnTo>
                    <a:pt x="4636" y="3019"/>
                  </a:lnTo>
                  <a:close/>
                  <a:moveTo>
                    <a:pt x="2188" y="3696"/>
                  </a:moveTo>
                  <a:lnTo>
                    <a:pt x="2188" y="3696"/>
                  </a:lnTo>
                  <a:lnTo>
                    <a:pt x="2165" y="3689"/>
                  </a:lnTo>
                  <a:lnTo>
                    <a:pt x="2143" y="3681"/>
                  </a:lnTo>
                  <a:lnTo>
                    <a:pt x="2122" y="3673"/>
                  </a:lnTo>
                  <a:lnTo>
                    <a:pt x="2101" y="3665"/>
                  </a:lnTo>
                  <a:lnTo>
                    <a:pt x="2082" y="3655"/>
                  </a:lnTo>
                  <a:lnTo>
                    <a:pt x="2064" y="3646"/>
                  </a:lnTo>
                  <a:lnTo>
                    <a:pt x="2046" y="3636"/>
                  </a:lnTo>
                  <a:lnTo>
                    <a:pt x="2030" y="3627"/>
                  </a:lnTo>
                  <a:lnTo>
                    <a:pt x="2015" y="3616"/>
                  </a:lnTo>
                  <a:lnTo>
                    <a:pt x="2000" y="3606"/>
                  </a:lnTo>
                  <a:lnTo>
                    <a:pt x="1986" y="3594"/>
                  </a:lnTo>
                  <a:lnTo>
                    <a:pt x="1974" y="3583"/>
                  </a:lnTo>
                  <a:lnTo>
                    <a:pt x="1962" y="3571"/>
                  </a:lnTo>
                  <a:lnTo>
                    <a:pt x="1952" y="3558"/>
                  </a:lnTo>
                  <a:lnTo>
                    <a:pt x="1942" y="3546"/>
                  </a:lnTo>
                  <a:lnTo>
                    <a:pt x="1934" y="3533"/>
                  </a:lnTo>
                  <a:lnTo>
                    <a:pt x="1925" y="3518"/>
                  </a:lnTo>
                  <a:lnTo>
                    <a:pt x="1917" y="3504"/>
                  </a:lnTo>
                  <a:lnTo>
                    <a:pt x="1909" y="3487"/>
                  </a:lnTo>
                  <a:lnTo>
                    <a:pt x="1901" y="3470"/>
                  </a:lnTo>
                  <a:lnTo>
                    <a:pt x="1894" y="3452"/>
                  </a:lnTo>
                  <a:lnTo>
                    <a:pt x="1888" y="3433"/>
                  </a:lnTo>
                  <a:lnTo>
                    <a:pt x="1882" y="3413"/>
                  </a:lnTo>
                  <a:lnTo>
                    <a:pt x="1877" y="3392"/>
                  </a:lnTo>
                  <a:lnTo>
                    <a:pt x="1873" y="3370"/>
                  </a:lnTo>
                  <a:lnTo>
                    <a:pt x="1869" y="3348"/>
                  </a:lnTo>
                  <a:lnTo>
                    <a:pt x="1866" y="3325"/>
                  </a:lnTo>
                  <a:lnTo>
                    <a:pt x="1862" y="3300"/>
                  </a:lnTo>
                  <a:lnTo>
                    <a:pt x="1858" y="3248"/>
                  </a:lnTo>
                  <a:lnTo>
                    <a:pt x="1856" y="3194"/>
                  </a:lnTo>
                  <a:lnTo>
                    <a:pt x="1503" y="3194"/>
                  </a:lnTo>
                  <a:lnTo>
                    <a:pt x="1505" y="3234"/>
                  </a:lnTo>
                  <a:lnTo>
                    <a:pt x="1507" y="3271"/>
                  </a:lnTo>
                  <a:lnTo>
                    <a:pt x="1509" y="3309"/>
                  </a:lnTo>
                  <a:lnTo>
                    <a:pt x="1512" y="3345"/>
                  </a:lnTo>
                  <a:lnTo>
                    <a:pt x="1517" y="3380"/>
                  </a:lnTo>
                  <a:lnTo>
                    <a:pt x="1521" y="3412"/>
                  </a:lnTo>
                  <a:lnTo>
                    <a:pt x="1526" y="3445"/>
                  </a:lnTo>
                  <a:lnTo>
                    <a:pt x="1532" y="3475"/>
                  </a:lnTo>
                  <a:lnTo>
                    <a:pt x="1538" y="3505"/>
                  </a:lnTo>
                  <a:lnTo>
                    <a:pt x="1545" y="3533"/>
                  </a:lnTo>
                  <a:lnTo>
                    <a:pt x="1552" y="3559"/>
                  </a:lnTo>
                  <a:lnTo>
                    <a:pt x="1561" y="3585"/>
                  </a:lnTo>
                  <a:lnTo>
                    <a:pt x="1569" y="3609"/>
                  </a:lnTo>
                  <a:lnTo>
                    <a:pt x="1578" y="3632"/>
                  </a:lnTo>
                  <a:lnTo>
                    <a:pt x="1588" y="3653"/>
                  </a:lnTo>
                  <a:lnTo>
                    <a:pt x="1599" y="3673"/>
                  </a:lnTo>
                  <a:lnTo>
                    <a:pt x="1618" y="3710"/>
                  </a:lnTo>
                  <a:lnTo>
                    <a:pt x="1642" y="3743"/>
                  </a:lnTo>
                  <a:lnTo>
                    <a:pt x="1666" y="3776"/>
                  </a:lnTo>
                  <a:lnTo>
                    <a:pt x="1691" y="3806"/>
                  </a:lnTo>
                  <a:lnTo>
                    <a:pt x="1705" y="3820"/>
                  </a:lnTo>
                  <a:lnTo>
                    <a:pt x="1718" y="3835"/>
                  </a:lnTo>
                  <a:lnTo>
                    <a:pt x="1733" y="3848"/>
                  </a:lnTo>
                  <a:lnTo>
                    <a:pt x="1748" y="3861"/>
                  </a:lnTo>
                  <a:lnTo>
                    <a:pt x="1763" y="3874"/>
                  </a:lnTo>
                  <a:lnTo>
                    <a:pt x="1778" y="3885"/>
                  </a:lnTo>
                  <a:lnTo>
                    <a:pt x="1795" y="3897"/>
                  </a:lnTo>
                  <a:lnTo>
                    <a:pt x="1811" y="3908"/>
                  </a:lnTo>
                  <a:lnTo>
                    <a:pt x="1846" y="3928"/>
                  </a:lnTo>
                  <a:lnTo>
                    <a:pt x="1881" y="3947"/>
                  </a:lnTo>
                  <a:lnTo>
                    <a:pt x="1918" y="3964"/>
                  </a:lnTo>
                  <a:lnTo>
                    <a:pt x="1958" y="3980"/>
                  </a:lnTo>
                  <a:lnTo>
                    <a:pt x="1998" y="3992"/>
                  </a:lnTo>
                  <a:lnTo>
                    <a:pt x="2041" y="4004"/>
                  </a:lnTo>
                  <a:lnTo>
                    <a:pt x="2085" y="4012"/>
                  </a:lnTo>
                  <a:lnTo>
                    <a:pt x="2131" y="4020"/>
                  </a:lnTo>
                  <a:lnTo>
                    <a:pt x="2188" y="4027"/>
                  </a:lnTo>
                  <a:lnTo>
                    <a:pt x="2188" y="4397"/>
                  </a:lnTo>
                  <a:lnTo>
                    <a:pt x="2469" y="4397"/>
                  </a:lnTo>
                  <a:lnTo>
                    <a:pt x="2469" y="4027"/>
                  </a:lnTo>
                  <a:lnTo>
                    <a:pt x="2504" y="4021"/>
                  </a:lnTo>
                  <a:lnTo>
                    <a:pt x="2541" y="4012"/>
                  </a:lnTo>
                  <a:lnTo>
                    <a:pt x="2578" y="4004"/>
                  </a:lnTo>
                  <a:lnTo>
                    <a:pt x="2614" y="3994"/>
                  </a:lnTo>
                  <a:lnTo>
                    <a:pt x="2649" y="3983"/>
                  </a:lnTo>
                  <a:lnTo>
                    <a:pt x="2682" y="3971"/>
                  </a:lnTo>
                  <a:lnTo>
                    <a:pt x="2715" y="3959"/>
                  </a:lnTo>
                  <a:lnTo>
                    <a:pt x="2745" y="3945"/>
                  </a:lnTo>
                  <a:lnTo>
                    <a:pt x="2776" y="3930"/>
                  </a:lnTo>
                  <a:lnTo>
                    <a:pt x="2804" y="3915"/>
                  </a:lnTo>
                  <a:lnTo>
                    <a:pt x="2832" y="3899"/>
                  </a:lnTo>
                  <a:lnTo>
                    <a:pt x="2858" y="3882"/>
                  </a:lnTo>
                  <a:lnTo>
                    <a:pt x="2882" y="3863"/>
                  </a:lnTo>
                  <a:lnTo>
                    <a:pt x="2906" y="3844"/>
                  </a:lnTo>
                  <a:lnTo>
                    <a:pt x="2928" y="3824"/>
                  </a:lnTo>
                  <a:lnTo>
                    <a:pt x="2950" y="3803"/>
                  </a:lnTo>
                  <a:lnTo>
                    <a:pt x="2970" y="3782"/>
                  </a:lnTo>
                  <a:lnTo>
                    <a:pt x="2989" y="3759"/>
                  </a:lnTo>
                  <a:lnTo>
                    <a:pt x="3006" y="3736"/>
                  </a:lnTo>
                  <a:lnTo>
                    <a:pt x="3023" y="3711"/>
                  </a:lnTo>
                  <a:lnTo>
                    <a:pt x="3038" y="3686"/>
                  </a:lnTo>
                  <a:lnTo>
                    <a:pt x="3052" y="3659"/>
                  </a:lnTo>
                  <a:lnTo>
                    <a:pt x="3065" y="3632"/>
                  </a:lnTo>
                  <a:lnTo>
                    <a:pt x="3076" y="3605"/>
                  </a:lnTo>
                  <a:lnTo>
                    <a:pt x="3087" y="3575"/>
                  </a:lnTo>
                  <a:lnTo>
                    <a:pt x="3095" y="3546"/>
                  </a:lnTo>
                  <a:lnTo>
                    <a:pt x="3104" y="3514"/>
                  </a:lnTo>
                  <a:lnTo>
                    <a:pt x="3110" y="3483"/>
                  </a:lnTo>
                  <a:lnTo>
                    <a:pt x="3115" y="3450"/>
                  </a:lnTo>
                  <a:lnTo>
                    <a:pt x="3121" y="3417"/>
                  </a:lnTo>
                  <a:lnTo>
                    <a:pt x="3123" y="3382"/>
                  </a:lnTo>
                  <a:lnTo>
                    <a:pt x="3125" y="3346"/>
                  </a:lnTo>
                  <a:lnTo>
                    <a:pt x="3126" y="3310"/>
                  </a:lnTo>
                  <a:lnTo>
                    <a:pt x="3125" y="3286"/>
                  </a:lnTo>
                  <a:lnTo>
                    <a:pt x="3125" y="3263"/>
                  </a:lnTo>
                  <a:lnTo>
                    <a:pt x="3123" y="3241"/>
                  </a:lnTo>
                  <a:lnTo>
                    <a:pt x="3121" y="3218"/>
                  </a:lnTo>
                  <a:lnTo>
                    <a:pt x="3117" y="3196"/>
                  </a:lnTo>
                  <a:lnTo>
                    <a:pt x="3114" y="3175"/>
                  </a:lnTo>
                  <a:lnTo>
                    <a:pt x="3109" y="3154"/>
                  </a:lnTo>
                  <a:lnTo>
                    <a:pt x="3105" y="3133"/>
                  </a:lnTo>
                  <a:lnTo>
                    <a:pt x="3100" y="3112"/>
                  </a:lnTo>
                  <a:lnTo>
                    <a:pt x="3093" y="3092"/>
                  </a:lnTo>
                  <a:lnTo>
                    <a:pt x="3086" y="3072"/>
                  </a:lnTo>
                  <a:lnTo>
                    <a:pt x="3079" y="3053"/>
                  </a:lnTo>
                  <a:lnTo>
                    <a:pt x="3070" y="3034"/>
                  </a:lnTo>
                  <a:lnTo>
                    <a:pt x="3062" y="3015"/>
                  </a:lnTo>
                  <a:lnTo>
                    <a:pt x="3052" y="2997"/>
                  </a:lnTo>
                  <a:lnTo>
                    <a:pt x="3042" y="2979"/>
                  </a:lnTo>
                  <a:lnTo>
                    <a:pt x="3031" y="2961"/>
                  </a:lnTo>
                  <a:lnTo>
                    <a:pt x="3020" y="2945"/>
                  </a:lnTo>
                  <a:lnTo>
                    <a:pt x="3007" y="2928"/>
                  </a:lnTo>
                  <a:lnTo>
                    <a:pt x="2995" y="2912"/>
                  </a:lnTo>
                  <a:lnTo>
                    <a:pt x="2981" y="2895"/>
                  </a:lnTo>
                  <a:lnTo>
                    <a:pt x="2967" y="2880"/>
                  </a:lnTo>
                  <a:lnTo>
                    <a:pt x="2952" y="2865"/>
                  </a:lnTo>
                  <a:lnTo>
                    <a:pt x="2937" y="2850"/>
                  </a:lnTo>
                  <a:lnTo>
                    <a:pt x="2921" y="2836"/>
                  </a:lnTo>
                  <a:lnTo>
                    <a:pt x="2904" y="2822"/>
                  </a:lnTo>
                  <a:lnTo>
                    <a:pt x="2887" y="2808"/>
                  </a:lnTo>
                  <a:lnTo>
                    <a:pt x="2869" y="2795"/>
                  </a:lnTo>
                  <a:lnTo>
                    <a:pt x="2850" y="2783"/>
                  </a:lnTo>
                  <a:lnTo>
                    <a:pt x="2832" y="2770"/>
                  </a:lnTo>
                  <a:lnTo>
                    <a:pt x="2812" y="2758"/>
                  </a:lnTo>
                  <a:lnTo>
                    <a:pt x="2791" y="2746"/>
                  </a:lnTo>
                  <a:lnTo>
                    <a:pt x="2756" y="2728"/>
                  </a:lnTo>
                  <a:lnTo>
                    <a:pt x="2720" y="2709"/>
                  </a:lnTo>
                  <a:lnTo>
                    <a:pt x="2682" y="2690"/>
                  </a:lnTo>
                  <a:lnTo>
                    <a:pt x="2642" y="2672"/>
                  </a:lnTo>
                  <a:lnTo>
                    <a:pt x="2601" y="2655"/>
                  </a:lnTo>
                  <a:lnTo>
                    <a:pt x="2559" y="2637"/>
                  </a:lnTo>
                  <a:lnTo>
                    <a:pt x="2515" y="2618"/>
                  </a:lnTo>
                  <a:lnTo>
                    <a:pt x="2469" y="2600"/>
                  </a:lnTo>
                  <a:lnTo>
                    <a:pt x="2469" y="1860"/>
                  </a:lnTo>
                  <a:lnTo>
                    <a:pt x="2486" y="1864"/>
                  </a:lnTo>
                  <a:lnTo>
                    <a:pt x="2501" y="1869"/>
                  </a:lnTo>
                  <a:lnTo>
                    <a:pt x="2516" y="1875"/>
                  </a:lnTo>
                  <a:lnTo>
                    <a:pt x="2531" y="1880"/>
                  </a:lnTo>
                  <a:lnTo>
                    <a:pt x="2545" y="1886"/>
                  </a:lnTo>
                  <a:lnTo>
                    <a:pt x="2558" y="1894"/>
                  </a:lnTo>
                  <a:lnTo>
                    <a:pt x="2572" y="1901"/>
                  </a:lnTo>
                  <a:lnTo>
                    <a:pt x="2585" y="1909"/>
                  </a:lnTo>
                  <a:lnTo>
                    <a:pt x="2597" y="1918"/>
                  </a:lnTo>
                  <a:lnTo>
                    <a:pt x="2609" y="1926"/>
                  </a:lnTo>
                  <a:lnTo>
                    <a:pt x="2620" y="1936"/>
                  </a:lnTo>
                  <a:lnTo>
                    <a:pt x="2631" y="1946"/>
                  </a:lnTo>
                  <a:lnTo>
                    <a:pt x="2641" y="1957"/>
                  </a:lnTo>
                  <a:lnTo>
                    <a:pt x="2651" y="1967"/>
                  </a:lnTo>
                  <a:lnTo>
                    <a:pt x="2660" y="1979"/>
                  </a:lnTo>
                  <a:lnTo>
                    <a:pt x="2669" y="1991"/>
                  </a:lnTo>
                  <a:lnTo>
                    <a:pt x="2677" y="2004"/>
                  </a:lnTo>
                  <a:lnTo>
                    <a:pt x="2685" y="2018"/>
                  </a:lnTo>
                  <a:lnTo>
                    <a:pt x="2693" y="2031"/>
                  </a:lnTo>
                  <a:lnTo>
                    <a:pt x="2699" y="2045"/>
                  </a:lnTo>
                  <a:lnTo>
                    <a:pt x="2705" y="2060"/>
                  </a:lnTo>
                  <a:lnTo>
                    <a:pt x="2712" y="2075"/>
                  </a:lnTo>
                  <a:lnTo>
                    <a:pt x="2722" y="2107"/>
                  </a:lnTo>
                  <a:lnTo>
                    <a:pt x="2731" y="2142"/>
                  </a:lnTo>
                  <a:lnTo>
                    <a:pt x="2737" y="2178"/>
                  </a:lnTo>
                  <a:lnTo>
                    <a:pt x="2741" y="2216"/>
                  </a:lnTo>
                  <a:lnTo>
                    <a:pt x="2744" y="2257"/>
                  </a:lnTo>
                  <a:lnTo>
                    <a:pt x="3098" y="2257"/>
                  </a:lnTo>
                  <a:lnTo>
                    <a:pt x="3095" y="2208"/>
                  </a:lnTo>
                  <a:lnTo>
                    <a:pt x="3092" y="2161"/>
                  </a:lnTo>
                  <a:lnTo>
                    <a:pt x="3087" y="2114"/>
                  </a:lnTo>
                  <a:lnTo>
                    <a:pt x="3079" y="2070"/>
                  </a:lnTo>
                  <a:lnTo>
                    <a:pt x="3069" y="2027"/>
                  </a:lnTo>
                  <a:lnTo>
                    <a:pt x="3057" y="1986"/>
                  </a:lnTo>
                  <a:lnTo>
                    <a:pt x="3050" y="1966"/>
                  </a:lnTo>
                  <a:lnTo>
                    <a:pt x="3043" y="1946"/>
                  </a:lnTo>
                  <a:lnTo>
                    <a:pt x="3034" y="1927"/>
                  </a:lnTo>
                  <a:lnTo>
                    <a:pt x="3026" y="1908"/>
                  </a:lnTo>
                  <a:lnTo>
                    <a:pt x="3017" y="1889"/>
                  </a:lnTo>
                  <a:lnTo>
                    <a:pt x="3007" y="1871"/>
                  </a:lnTo>
                  <a:lnTo>
                    <a:pt x="2998" y="1854"/>
                  </a:lnTo>
                  <a:lnTo>
                    <a:pt x="2987" y="1837"/>
                  </a:lnTo>
                  <a:lnTo>
                    <a:pt x="2976" y="1820"/>
                  </a:lnTo>
                  <a:lnTo>
                    <a:pt x="2964" y="1803"/>
                  </a:lnTo>
                  <a:lnTo>
                    <a:pt x="2952" y="1787"/>
                  </a:lnTo>
                  <a:lnTo>
                    <a:pt x="2940" y="1772"/>
                  </a:lnTo>
                  <a:lnTo>
                    <a:pt x="2926" y="1757"/>
                  </a:lnTo>
                  <a:lnTo>
                    <a:pt x="2913" y="1742"/>
                  </a:lnTo>
                  <a:lnTo>
                    <a:pt x="2898" y="1727"/>
                  </a:lnTo>
                  <a:lnTo>
                    <a:pt x="2883" y="1714"/>
                  </a:lnTo>
                  <a:lnTo>
                    <a:pt x="2868" y="1700"/>
                  </a:lnTo>
                  <a:lnTo>
                    <a:pt x="2853" y="1686"/>
                  </a:lnTo>
                  <a:lnTo>
                    <a:pt x="2836" y="1674"/>
                  </a:lnTo>
                  <a:lnTo>
                    <a:pt x="2819" y="1661"/>
                  </a:lnTo>
                  <a:lnTo>
                    <a:pt x="2800" y="1649"/>
                  </a:lnTo>
                  <a:lnTo>
                    <a:pt x="2781" y="1636"/>
                  </a:lnTo>
                  <a:lnTo>
                    <a:pt x="2761" y="1624"/>
                  </a:lnTo>
                  <a:lnTo>
                    <a:pt x="2741" y="1614"/>
                  </a:lnTo>
                  <a:lnTo>
                    <a:pt x="2720" y="1603"/>
                  </a:lnTo>
                  <a:lnTo>
                    <a:pt x="2700" y="1594"/>
                  </a:lnTo>
                  <a:lnTo>
                    <a:pt x="2678" y="1586"/>
                  </a:lnTo>
                  <a:lnTo>
                    <a:pt x="2657" y="1577"/>
                  </a:lnTo>
                  <a:lnTo>
                    <a:pt x="2635" y="1570"/>
                  </a:lnTo>
                  <a:lnTo>
                    <a:pt x="2612" y="1562"/>
                  </a:lnTo>
                  <a:lnTo>
                    <a:pt x="2590" y="1556"/>
                  </a:lnTo>
                  <a:lnTo>
                    <a:pt x="2567" y="1551"/>
                  </a:lnTo>
                  <a:lnTo>
                    <a:pt x="2542" y="1547"/>
                  </a:lnTo>
                  <a:lnTo>
                    <a:pt x="2518" y="1542"/>
                  </a:lnTo>
                  <a:lnTo>
                    <a:pt x="2494" y="1538"/>
                  </a:lnTo>
                  <a:lnTo>
                    <a:pt x="2469" y="1535"/>
                  </a:lnTo>
                  <a:lnTo>
                    <a:pt x="2469" y="1248"/>
                  </a:lnTo>
                  <a:lnTo>
                    <a:pt x="2197" y="1248"/>
                  </a:lnTo>
                  <a:lnTo>
                    <a:pt x="2197" y="1536"/>
                  </a:lnTo>
                  <a:lnTo>
                    <a:pt x="2186" y="1537"/>
                  </a:lnTo>
                  <a:lnTo>
                    <a:pt x="2177" y="1539"/>
                  </a:lnTo>
                  <a:lnTo>
                    <a:pt x="2139" y="1549"/>
                  </a:lnTo>
                  <a:lnTo>
                    <a:pt x="2102" y="1558"/>
                  </a:lnTo>
                  <a:lnTo>
                    <a:pt x="2066" y="1568"/>
                  </a:lnTo>
                  <a:lnTo>
                    <a:pt x="2032" y="1579"/>
                  </a:lnTo>
                  <a:lnTo>
                    <a:pt x="1999" y="1591"/>
                  </a:lnTo>
                  <a:lnTo>
                    <a:pt x="1966" y="1603"/>
                  </a:lnTo>
                  <a:lnTo>
                    <a:pt x="1936" y="1617"/>
                  </a:lnTo>
                  <a:lnTo>
                    <a:pt x="1907" y="1632"/>
                  </a:lnTo>
                  <a:lnTo>
                    <a:pt x="1878" y="1647"/>
                  </a:lnTo>
                  <a:lnTo>
                    <a:pt x="1851" y="1663"/>
                  </a:lnTo>
                  <a:lnTo>
                    <a:pt x="1826" y="1680"/>
                  </a:lnTo>
                  <a:lnTo>
                    <a:pt x="1800" y="1697"/>
                  </a:lnTo>
                  <a:lnTo>
                    <a:pt x="1777" y="1716"/>
                  </a:lnTo>
                  <a:lnTo>
                    <a:pt x="1755" y="1735"/>
                  </a:lnTo>
                  <a:lnTo>
                    <a:pt x="1734" y="1755"/>
                  </a:lnTo>
                  <a:lnTo>
                    <a:pt x="1714" y="1776"/>
                  </a:lnTo>
                  <a:lnTo>
                    <a:pt x="1695" y="1798"/>
                  </a:lnTo>
                  <a:lnTo>
                    <a:pt x="1677" y="1820"/>
                  </a:lnTo>
                  <a:lnTo>
                    <a:pt x="1662" y="1843"/>
                  </a:lnTo>
                  <a:lnTo>
                    <a:pt x="1646" y="1867"/>
                  </a:lnTo>
                  <a:lnTo>
                    <a:pt x="1632" y="1892"/>
                  </a:lnTo>
                  <a:lnTo>
                    <a:pt x="1620" y="1919"/>
                  </a:lnTo>
                  <a:lnTo>
                    <a:pt x="1608" y="1945"/>
                  </a:lnTo>
                  <a:lnTo>
                    <a:pt x="1599" y="1972"/>
                  </a:lnTo>
                  <a:lnTo>
                    <a:pt x="1589" y="2001"/>
                  </a:lnTo>
                  <a:lnTo>
                    <a:pt x="1582" y="2029"/>
                  </a:lnTo>
                  <a:lnTo>
                    <a:pt x="1574" y="2060"/>
                  </a:lnTo>
                  <a:lnTo>
                    <a:pt x="1569" y="2090"/>
                  </a:lnTo>
                  <a:lnTo>
                    <a:pt x="1565" y="2122"/>
                  </a:lnTo>
                  <a:lnTo>
                    <a:pt x="1562" y="2154"/>
                  </a:lnTo>
                  <a:lnTo>
                    <a:pt x="1561" y="2187"/>
                  </a:lnTo>
                  <a:lnTo>
                    <a:pt x="1560" y="2220"/>
                  </a:lnTo>
                  <a:lnTo>
                    <a:pt x="1561" y="2255"/>
                  </a:lnTo>
                  <a:lnTo>
                    <a:pt x="1563" y="2289"/>
                  </a:lnTo>
                  <a:lnTo>
                    <a:pt x="1566" y="2321"/>
                  </a:lnTo>
                  <a:lnTo>
                    <a:pt x="1571" y="2353"/>
                  </a:lnTo>
                  <a:lnTo>
                    <a:pt x="1578" y="2384"/>
                  </a:lnTo>
                  <a:lnTo>
                    <a:pt x="1585" y="2415"/>
                  </a:lnTo>
                  <a:lnTo>
                    <a:pt x="1594" y="2444"/>
                  </a:lnTo>
                  <a:lnTo>
                    <a:pt x="1605" y="2473"/>
                  </a:lnTo>
                  <a:lnTo>
                    <a:pt x="1616" y="2500"/>
                  </a:lnTo>
                  <a:lnTo>
                    <a:pt x="1630" y="2527"/>
                  </a:lnTo>
                  <a:lnTo>
                    <a:pt x="1645" y="2554"/>
                  </a:lnTo>
                  <a:lnTo>
                    <a:pt x="1661" y="2579"/>
                  </a:lnTo>
                  <a:lnTo>
                    <a:pt x="1678" y="2603"/>
                  </a:lnTo>
                  <a:lnTo>
                    <a:pt x="1697" y="2627"/>
                  </a:lnTo>
                  <a:lnTo>
                    <a:pt x="1718" y="2649"/>
                  </a:lnTo>
                  <a:lnTo>
                    <a:pt x="1739" y="2671"/>
                  </a:lnTo>
                  <a:lnTo>
                    <a:pt x="1752" y="2683"/>
                  </a:lnTo>
                  <a:lnTo>
                    <a:pt x="1767" y="2694"/>
                  </a:lnTo>
                  <a:lnTo>
                    <a:pt x="1781" y="2707"/>
                  </a:lnTo>
                  <a:lnTo>
                    <a:pt x="1798" y="2719"/>
                  </a:lnTo>
                  <a:lnTo>
                    <a:pt x="1816" y="2730"/>
                  </a:lnTo>
                  <a:lnTo>
                    <a:pt x="1836" y="2743"/>
                  </a:lnTo>
                  <a:lnTo>
                    <a:pt x="1879" y="2767"/>
                  </a:lnTo>
                  <a:lnTo>
                    <a:pt x="1928" y="2793"/>
                  </a:lnTo>
                  <a:lnTo>
                    <a:pt x="1982" y="2818"/>
                  </a:lnTo>
                  <a:lnTo>
                    <a:pt x="2042" y="2845"/>
                  </a:lnTo>
                  <a:lnTo>
                    <a:pt x="2107" y="2872"/>
                  </a:lnTo>
                  <a:lnTo>
                    <a:pt x="2148" y="2888"/>
                  </a:lnTo>
                  <a:lnTo>
                    <a:pt x="2188" y="2903"/>
                  </a:lnTo>
                  <a:lnTo>
                    <a:pt x="2188" y="3696"/>
                  </a:lnTo>
                  <a:close/>
                  <a:moveTo>
                    <a:pt x="2188" y="2533"/>
                  </a:moveTo>
                  <a:lnTo>
                    <a:pt x="2188" y="2533"/>
                  </a:lnTo>
                  <a:lnTo>
                    <a:pt x="2180" y="2528"/>
                  </a:lnTo>
                  <a:lnTo>
                    <a:pt x="2171" y="2523"/>
                  </a:lnTo>
                  <a:lnTo>
                    <a:pt x="2143" y="2508"/>
                  </a:lnTo>
                  <a:lnTo>
                    <a:pt x="2116" y="2494"/>
                  </a:lnTo>
                  <a:lnTo>
                    <a:pt x="2089" y="2479"/>
                  </a:lnTo>
                  <a:lnTo>
                    <a:pt x="2066" y="2462"/>
                  </a:lnTo>
                  <a:lnTo>
                    <a:pt x="2044" y="2445"/>
                  </a:lnTo>
                  <a:lnTo>
                    <a:pt x="2025" y="2427"/>
                  </a:lnTo>
                  <a:lnTo>
                    <a:pt x="2007" y="2409"/>
                  </a:lnTo>
                  <a:lnTo>
                    <a:pt x="1991" y="2389"/>
                  </a:lnTo>
                  <a:lnTo>
                    <a:pt x="1977" y="2369"/>
                  </a:lnTo>
                  <a:lnTo>
                    <a:pt x="1964" y="2348"/>
                  </a:lnTo>
                  <a:lnTo>
                    <a:pt x="1954" y="2326"/>
                  </a:lnTo>
                  <a:lnTo>
                    <a:pt x="1945" y="2302"/>
                  </a:lnTo>
                  <a:lnTo>
                    <a:pt x="1939" y="2279"/>
                  </a:lnTo>
                  <a:lnTo>
                    <a:pt x="1935" y="2255"/>
                  </a:lnTo>
                  <a:lnTo>
                    <a:pt x="1932" y="2230"/>
                  </a:lnTo>
                  <a:lnTo>
                    <a:pt x="1931" y="2204"/>
                  </a:lnTo>
                  <a:lnTo>
                    <a:pt x="1932" y="2174"/>
                  </a:lnTo>
                  <a:lnTo>
                    <a:pt x="1934" y="2147"/>
                  </a:lnTo>
                  <a:lnTo>
                    <a:pt x="1938" y="2120"/>
                  </a:lnTo>
                  <a:lnTo>
                    <a:pt x="1943" y="2094"/>
                  </a:lnTo>
                  <a:lnTo>
                    <a:pt x="1951" y="2070"/>
                  </a:lnTo>
                  <a:lnTo>
                    <a:pt x="1959" y="2047"/>
                  </a:lnTo>
                  <a:lnTo>
                    <a:pt x="1969" y="2025"/>
                  </a:lnTo>
                  <a:lnTo>
                    <a:pt x="1981" y="2004"/>
                  </a:lnTo>
                  <a:lnTo>
                    <a:pt x="1994" y="1985"/>
                  </a:lnTo>
                  <a:lnTo>
                    <a:pt x="2008" y="1966"/>
                  </a:lnTo>
                  <a:lnTo>
                    <a:pt x="2025" y="1949"/>
                  </a:lnTo>
                  <a:lnTo>
                    <a:pt x="2043" y="1933"/>
                  </a:lnTo>
                  <a:lnTo>
                    <a:pt x="2063" y="1919"/>
                  </a:lnTo>
                  <a:lnTo>
                    <a:pt x="2084" y="1905"/>
                  </a:lnTo>
                  <a:lnTo>
                    <a:pt x="2106" y="1892"/>
                  </a:lnTo>
                  <a:lnTo>
                    <a:pt x="2131" y="1881"/>
                  </a:lnTo>
                  <a:lnTo>
                    <a:pt x="2142" y="1877"/>
                  </a:lnTo>
                  <a:lnTo>
                    <a:pt x="2156" y="1871"/>
                  </a:lnTo>
                  <a:lnTo>
                    <a:pt x="2188" y="1861"/>
                  </a:lnTo>
                  <a:lnTo>
                    <a:pt x="2188" y="2533"/>
                  </a:lnTo>
                  <a:close/>
                  <a:moveTo>
                    <a:pt x="2469" y="2974"/>
                  </a:moveTo>
                  <a:lnTo>
                    <a:pt x="2469" y="2974"/>
                  </a:lnTo>
                  <a:lnTo>
                    <a:pt x="2485" y="2981"/>
                  </a:lnTo>
                  <a:lnTo>
                    <a:pt x="2499" y="2991"/>
                  </a:lnTo>
                  <a:lnTo>
                    <a:pt x="2544" y="3017"/>
                  </a:lnTo>
                  <a:lnTo>
                    <a:pt x="2583" y="3042"/>
                  </a:lnTo>
                  <a:lnTo>
                    <a:pt x="2602" y="3055"/>
                  </a:lnTo>
                  <a:lnTo>
                    <a:pt x="2619" y="3068"/>
                  </a:lnTo>
                  <a:lnTo>
                    <a:pt x="2635" y="3079"/>
                  </a:lnTo>
                  <a:lnTo>
                    <a:pt x="2650" y="3092"/>
                  </a:lnTo>
                  <a:lnTo>
                    <a:pt x="2663" y="3104"/>
                  </a:lnTo>
                  <a:lnTo>
                    <a:pt x="2676" y="3117"/>
                  </a:lnTo>
                  <a:lnTo>
                    <a:pt x="2688" y="3130"/>
                  </a:lnTo>
                  <a:lnTo>
                    <a:pt x="2697" y="3142"/>
                  </a:lnTo>
                  <a:lnTo>
                    <a:pt x="2706" y="3155"/>
                  </a:lnTo>
                  <a:lnTo>
                    <a:pt x="2714" y="3166"/>
                  </a:lnTo>
                  <a:lnTo>
                    <a:pt x="2721" y="3179"/>
                  </a:lnTo>
                  <a:lnTo>
                    <a:pt x="2726" y="3192"/>
                  </a:lnTo>
                  <a:lnTo>
                    <a:pt x="2732" y="3207"/>
                  </a:lnTo>
                  <a:lnTo>
                    <a:pt x="2737" y="3223"/>
                  </a:lnTo>
                  <a:lnTo>
                    <a:pt x="2741" y="3240"/>
                  </a:lnTo>
                  <a:lnTo>
                    <a:pt x="2744" y="3257"/>
                  </a:lnTo>
                  <a:lnTo>
                    <a:pt x="2746" y="3275"/>
                  </a:lnTo>
                  <a:lnTo>
                    <a:pt x="2749" y="3292"/>
                  </a:lnTo>
                  <a:lnTo>
                    <a:pt x="2750" y="3311"/>
                  </a:lnTo>
                  <a:lnTo>
                    <a:pt x="2750" y="3330"/>
                  </a:lnTo>
                  <a:lnTo>
                    <a:pt x="2750" y="3354"/>
                  </a:lnTo>
                  <a:lnTo>
                    <a:pt x="2747" y="3379"/>
                  </a:lnTo>
                  <a:lnTo>
                    <a:pt x="2745" y="3402"/>
                  </a:lnTo>
                  <a:lnTo>
                    <a:pt x="2742" y="3424"/>
                  </a:lnTo>
                  <a:lnTo>
                    <a:pt x="2737" y="3445"/>
                  </a:lnTo>
                  <a:lnTo>
                    <a:pt x="2732" y="3466"/>
                  </a:lnTo>
                  <a:lnTo>
                    <a:pt x="2725" y="3486"/>
                  </a:lnTo>
                  <a:lnTo>
                    <a:pt x="2717" y="3506"/>
                  </a:lnTo>
                  <a:lnTo>
                    <a:pt x="2709" y="3524"/>
                  </a:lnTo>
                  <a:lnTo>
                    <a:pt x="2699" y="3543"/>
                  </a:lnTo>
                  <a:lnTo>
                    <a:pt x="2689" y="3559"/>
                  </a:lnTo>
                  <a:lnTo>
                    <a:pt x="2677" y="3576"/>
                  </a:lnTo>
                  <a:lnTo>
                    <a:pt x="2664" y="3592"/>
                  </a:lnTo>
                  <a:lnTo>
                    <a:pt x="2651" y="3608"/>
                  </a:lnTo>
                  <a:lnTo>
                    <a:pt x="2636" y="3623"/>
                  </a:lnTo>
                  <a:lnTo>
                    <a:pt x="2620" y="3636"/>
                  </a:lnTo>
                  <a:lnTo>
                    <a:pt x="2605" y="3648"/>
                  </a:lnTo>
                  <a:lnTo>
                    <a:pt x="2590" y="3659"/>
                  </a:lnTo>
                  <a:lnTo>
                    <a:pt x="2574" y="3669"/>
                  </a:lnTo>
                  <a:lnTo>
                    <a:pt x="2558" y="3677"/>
                  </a:lnTo>
                  <a:lnTo>
                    <a:pt x="2544" y="3683"/>
                  </a:lnTo>
                  <a:lnTo>
                    <a:pt x="2528" y="3690"/>
                  </a:lnTo>
                  <a:lnTo>
                    <a:pt x="2512" y="3694"/>
                  </a:lnTo>
                  <a:lnTo>
                    <a:pt x="2496" y="3697"/>
                  </a:lnTo>
                  <a:lnTo>
                    <a:pt x="2469" y="3697"/>
                  </a:lnTo>
                  <a:lnTo>
                    <a:pt x="2469" y="2974"/>
                  </a:lnTo>
                  <a:close/>
                </a:path>
              </a:pathLst>
            </a:custGeom>
            <a:solidFill>
              <a:srgbClr val="888890"/>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18" name="Rectangle 4"/>
          <p:cNvSpPr>
            <a:spLocks noChangeArrowheads="1"/>
          </p:cNvSpPr>
          <p:nvPr/>
        </p:nvSpPr>
        <p:spPr bwMode="auto">
          <a:xfrm>
            <a:off x="1228725" y="4508500"/>
            <a:ext cx="6985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要求结果链表仍使用原来两个链表的存储空间</a:t>
            </a:r>
            <a:r>
              <a:rPr kumimoji="0" lang="en-US" altLang="zh-CN"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不另外占用其它的存储空间。</a:t>
            </a:r>
          </a:p>
        </p:txBody>
      </p:sp>
      <p:sp>
        <p:nvSpPr>
          <p:cNvPr id="19" name="Rectangle 4"/>
          <p:cNvSpPr>
            <a:spLocks noChangeArrowheads="1"/>
          </p:cNvSpPr>
          <p:nvPr/>
        </p:nvSpPr>
        <p:spPr bwMode="auto">
          <a:xfrm>
            <a:off x="5815013" y="1884363"/>
            <a:ext cx="2921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表中允许有重复的数据。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152"/>
          <p:cNvSpPr txBox="1">
            <a:spLocks noChangeArrowheads="1"/>
          </p:cNvSpPr>
          <p:nvPr/>
        </p:nvSpPr>
        <p:spPr bwMode="auto">
          <a:xfrm>
            <a:off x="128588" y="1397000"/>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a:t>
            </a:r>
          </a:p>
        </p:txBody>
      </p:sp>
      <p:grpSp>
        <p:nvGrpSpPr>
          <p:cNvPr id="158723" name="Group 105"/>
          <p:cNvGrpSpPr/>
          <p:nvPr/>
        </p:nvGrpSpPr>
        <p:grpSpPr bwMode="auto">
          <a:xfrm>
            <a:off x="2251076" y="1524339"/>
            <a:ext cx="838200" cy="381000"/>
            <a:chOff x="1968" y="1344"/>
            <a:chExt cx="528" cy="240"/>
          </a:xfrm>
          <a:solidFill>
            <a:srgbClr val="D7D7FF"/>
          </a:solidFill>
        </p:grpSpPr>
        <p:sp>
          <p:nvSpPr>
            <p:cNvPr id="152707" name="Rectangle 10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8" name="Rectangle 10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24" name="Group 108"/>
          <p:cNvGrpSpPr/>
          <p:nvPr/>
        </p:nvGrpSpPr>
        <p:grpSpPr bwMode="auto">
          <a:xfrm>
            <a:off x="3470276" y="1524339"/>
            <a:ext cx="838200" cy="381000"/>
            <a:chOff x="1968" y="1344"/>
            <a:chExt cx="528" cy="240"/>
          </a:xfrm>
          <a:solidFill>
            <a:srgbClr val="D7D7FF"/>
          </a:solidFill>
        </p:grpSpPr>
        <p:sp>
          <p:nvSpPr>
            <p:cNvPr id="152705" name="Rectangle 10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6" name="Rectangle 11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25" name="Group 111"/>
          <p:cNvGrpSpPr/>
          <p:nvPr/>
        </p:nvGrpSpPr>
        <p:grpSpPr bwMode="auto">
          <a:xfrm>
            <a:off x="4689476" y="1524339"/>
            <a:ext cx="838200" cy="381000"/>
            <a:chOff x="1968" y="1344"/>
            <a:chExt cx="528" cy="240"/>
          </a:xfrm>
          <a:solidFill>
            <a:srgbClr val="D7D7FF"/>
          </a:solidFill>
        </p:grpSpPr>
        <p:sp>
          <p:nvSpPr>
            <p:cNvPr id="152703" name="Rectangle 11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4" name="Rectangle 11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26" name="Group 114"/>
          <p:cNvGrpSpPr/>
          <p:nvPr/>
        </p:nvGrpSpPr>
        <p:grpSpPr>
          <a:xfrm>
            <a:off x="1108075" y="1524000"/>
            <a:ext cx="838200" cy="381000"/>
            <a:chOff x="1968" y="1344"/>
            <a:chExt cx="528" cy="240"/>
          </a:xfrm>
        </p:grpSpPr>
        <p:sp>
          <p:nvSpPr>
            <p:cNvPr id="152701" name="Rectangle 115"/>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2" name="Rectangle 116"/>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583" name="Line 117"/>
          <p:cNvSpPr>
            <a:spLocks noChangeShapeType="1"/>
          </p:cNvSpPr>
          <p:nvPr/>
        </p:nvSpPr>
        <p:spPr bwMode="auto">
          <a:xfrm>
            <a:off x="727075" y="175260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4" name="Line 139"/>
          <p:cNvSpPr>
            <a:spLocks noChangeShapeType="1"/>
          </p:cNvSpPr>
          <p:nvPr/>
        </p:nvSpPr>
        <p:spPr bwMode="auto">
          <a:xfrm>
            <a:off x="1793875" y="1752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5" name="Line 140"/>
          <p:cNvSpPr>
            <a:spLocks noChangeShapeType="1"/>
          </p:cNvSpPr>
          <p:nvPr/>
        </p:nvSpPr>
        <p:spPr bwMode="auto">
          <a:xfrm>
            <a:off x="3013075" y="1752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6" name="Line 141"/>
          <p:cNvSpPr>
            <a:spLocks noChangeShapeType="1"/>
          </p:cNvSpPr>
          <p:nvPr/>
        </p:nvSpPr>
        <p:spPr bwMode="auto">
          <a:xfrm>
            <a:off x="4232275" y="1752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7" name="Text Box 153"/>
          <p:cNvSpPr txBox="1">
            <a:spLocks noChangeArrowheads="1"/>
          </p:cNvSpPr>
          <p:nvPr/>
        </p:nvSpPr>
        <p:spPr bwMode="auto">
          <a:xfrm>
            <a:off x="2366963" y="14573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2588" name="Text Box 157"/>
          <p:cNvSpPr txBox="1">
            <a:spLocks noChangeArrowheads="1"/>
          </p:cNvSpPr>
          <p:nvPr/>
        </p:nvSpPr>
        <p:spPr bwMode="auto">
          <a:xfrm>
            <a:off x="3549650" y="14573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2589" name="Text Box 158"/>
          <p:cNvSpPr txBox="1">
            <a:spLocks noChangeArrowheads="1"/>
          </p:cNvSpPr>
          <p:nvPr/>
        </p:nvSpPr>
        <p:spPr bwMode="auto">
          <a:xfrm>
            <a:off x="4805363" y="14573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58734" name="Group 118"/>
          <p:cNvGrpSpPr/>
          <p:nvPr/>
        </p:nvGrpSpPr>
        <p:grpSpPr bwMode="auto">
          <a:xfrm>
            <a:off x="2286001" y="2287927"/>
            <a:ext cx="838200" cy="381000"/>
            <a:chOff x="1968" y="1344"/>
            <a:chExt cx="528" cy="240"/>
          </a:xfrm>
          <a:solidFill>
            <a:srgbClr val="D7D7FF"/>
          </a:solidFill>
        </p:grpSpPr>
        <p:sp>
          <p:nvSpPr>
            <p:cNvPr id="152699" name="Rectangle 11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0" name="Rectangle 12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5" name="Group 121"/>
          <p:cNvGrpSpPr/>
          <p:nvPr/>
        </p:nvGrpSpPr>
        <p:grpSpPr bwMode="auto">
          <a:xfrm>
            <a:off x="3429001" y="2287927"/>
            <a:ext cx="838200" cy="381000"/>
            <a:chOff x="1968" y="1344"/>
            <a:chExt cx="528" cy="240"/>
          </a:xfrm>
          <a:solidFill>
            <a:srgbClr val="D7D7FF"/>
          </a:solidFill>
        </p:grpSpPr>
        <p:sp>
          <p:nvSpPr>
            <p:cNvPr id="152697" name="Rectangle 12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8" name="Rectangle 12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6" name="Group 124"/>
          <p:cNvGrpSpPr/>
          <p:nvPr/>
        </p:nvGrpSpPr>
        <p:grpSpPr bwMode="auto">
          <a:xfrm>
            <a:off x="4648201" y="2287927"/>
            <a:ext cx="838200" cy="381000"/>
            <a:chOff x="1968" y="1344"/>
            <a:chExt cx="528" cy="240"/>
          </a:xfrm>
          <a:solidFill>
            <a:srgbClr val="D7D7FF"/>
          </a:solidFill>
        </p:grpSpPr>
        <p:sp>
          <p:nvSpPr>
            <p:cNvPr id="152695" name="Rectangle 12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6" name="Rectangle 12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7" name="Group 127"/>
          <p:cNvGrpSpPr/>
          <p:nvPr/>
        </p:nvGrpSpPr>
        <p:grpSpPr bwMode="auto">
          <a:xfrm>
            <a:off x="5867401" y="2287927"/>
            <a:ext cx="838200" cy="381000"/>
            <a:chOff x="1968" y="1344"/>
            <a:chExt cx="528" cy="240"/>
          </a:xfrm>
          <a:solidFill>
            <a:srgbClr val="D7D7FF"/>
          </a:solidFill>
        </p:grpSpPr>
        <p:sp>
          <p:nvSpPr>
            <p:cNvPr id="152693" name="Rectangle 1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4" name="Rectangle 1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8" name="Group 130"/>
          <p:cNvGrpSpPr/>
          <p:nvPr/>
        </p:nvGrpSpPr>
        <p:grpSpPr bwMode="auto">
          <a:xfrm>
            <a:off x="7010401" y="2287927"/>
            <a:ext cx="838200" cy="381000"/>
            <a:chOff x="1968" y="1344"/>
            <a:chExt cx="528" cy="240"/>
          </a:xfrm>
          <a:solidFill>
            <a:srgbClr val="D7D7FF"/>
          </a:solidFill>
        </p:grpSpPr>
        <p:sp>
          <p:nvSpPr>
            <p:cNvPr id="152691" name="Rectangle 1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2" name="Rectangle 1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9" name="Group 133"/>
          <p:cNvGrpSpPr/>
          <p:nvPr/>
        </p:nvGrpSpPr>
        <p:grpSpPr bwMode="auto">
          <a:xfrm>
            <a:off x="8153401" y="2287927"/>
            <a:ext cx="838200" cy="381000"/>
            <a:chOff x="1968" y="1344"/>
            <a:chExt cx="528" cy="240"/>
          </a:xfrm>
          <a:solidFill>
            <a:srgbClr val="D7D7FF"/>
          </a:solidFill>
        </p:grpSpPr>
        <p:sp>
          <p:nvSpPr>
            <p:cNvPr id="152689" name="Rectangle 1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0" name="Rectangle 1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596" name="Line 136"/>
          <p:cNvSpPr>
            <a:spLocks noChangeShapeType="1"/>
          </p:cNvSpPr>
          <p:nvPr/>
        </p:nvSpPr>
        <p:spPr bwMode="auto">
          <a:xfrm>
            <a:off x="2971800" y="24399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97" name="Line 137"/>
          <p:cNvSpPr>
            <a:spLocks noChangeShapeType="1"/>
          </p:cNvSpPr>
          <p:nvPr/>
        </p:nvSpPr>
        <p:spPr bwMode="auto">
          <a:xfrm>
            <a:off x="5410200" y="24399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98" name="Line 138"/>
          <p:cNvSpPr>
            <a:spLocks noChangeShapeType="1"/>
          </p:cNvSpPr>
          <p:nvPr/>
        </p:nvSpPr>
        <p:spPr bwMode="auto">
          <a:xfrm>
            <a:off x="6553200" y="24399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99" name="Line 142"/>
          <p:cNvSpPr>
            <a:spLocks noChangeShapeType="1"/>
          </p:cNvSpPr>
          <p:nvPr/>
        </p:nvSpPr>
        <p:spPr bwMode="auto">
          <a:xfrm>
            <a:off x="4191000" y="24399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00" name="Line 143"/>
          <p:cNvSpPr>
            <a:spLocks noChangeShapeType="1"/>
          </p:cNvSpPr>
          <p:nvPr/>
        </p:nvSpPr>
        <p:spPr bwMode="auto">
          <a:xfrm>
            <a:off x="7696200" y="24399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01" name="Text Box 154"/>
          <p:cNvSpPr txBox="1">
            <a:spLocks noChangeArrowheads="1"/>
          </p:cNvSpPr>
          <p:nvPr/>
        </p:nvSpPr>
        <p:spPr bwMode="auto">
          <a:xfrm>
            <a:off x="2427288" y="22113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2602" name="Text Box 155"/>
          <p:cNvSpPr txBox="1">
            <a:spLocks noChangeArrowheads="1"/>
          </p:cNvSpPr>
          <p:nvPr/>
        </p:nvSpPr>
        <p:spPr bwMode="auto">
          <a:xfrm>
            <a:off x="3544888" y="22113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2603" name="Text Box 156"/>
          <p:cNvSpPr txBox="1">
            <a:spLocks noChangeArrowheads="1"/>
          </p:cNvSpPr>
          <p:nvPr/>
        </p:nvSpPr>
        <p:spPr bwMode="auto">
          <a:xfrm>
            <a:off x="4724400" y="22526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2604" name="Text Box 159"/>
          <p:cNvSpPr txBox="1">
            <a:spLocks noChangeArrowheads="1"/>
          </p:cNvSpPr>
          <p:nvPr/>
        </p:nvSpPr>
        <p:spPr bwMode="auto">
          <a:xfrm>
            <a:off x="5983288" y="22526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2605" name="Text Box 160"/>
          <p:cNvSpPr txBox="1">
            <a:spLocks noChangeArrowheads="1"/>
          </p:cNvSpPr>
          <p:nvPr/>
        </p:nvSpPr>
        <p:spPr bwMode="auto">
          <a:xfrm>
            <a:off x="7004050" y="225266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2606" name="Text Box 161"/>
          <p:cNvSpPr txBox="1">
            <a:spLocks noChangeArrowheads="1"/>
          </p:cNvSpPr>
          <p:nvPr/>
        </p:nvSpPr>
        <p:spPr bwMode="auto">
          <a:xfrm>
            <a:off x="8156575" y="225266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58751" name="Group 168"/>
          <p:cNvGrpSpPr/>
          <p:nvPr/>
        </p:nvGrpSpPr>
        <p:grpSpPr>
          <a:xfrm>
            <a:off x="1071563" y="2278063"/>
            <a:ext cx="838200" cy="381000"/>
            <a:chOff x="1968" y="1344"/>
            <a:chExt cx="528" cy="240"/>
          </a:xfrm>
        </p:grpSpPr>
        <p:sp>
          <p:nvSpPr>
            <p:cNvPr id="152687" name="Rectangle 169"/>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8" name="Rectangle 170"/>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08" name="Line 171"/>
          <p:cNvSpPr>
            <a:spLocks noChangeShapeType="1"/>
          </p:cNvSpPr>
          <p:nvPr/>
        </p:nvSpPr>
        <p:spPr bwMode="auto">
          <a:xfrm>
            <a:off x="1833563" y="25066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8753" name="Group 179"/>
          <p:cNvGrpSpPr/>
          <p:nvPr/>
        </p:nvGrpSpPr>
        <p:grpSpPr>
          <a:xfrm>
            <a:off x="120650" y="2109788"/>
            <a:ext cx="950913" cy="584200"/>
            <a:chOff x="715" y="1959"/>
            <a:chExt cx="599" cy="368"/>
          </a:xfrm>
        </p:grpSpPr>
        <p:sp>
          <p:nvSpPr>
            <p:cNvPr id="152685" name="Line 180"/>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6" name="Text Box 181"/>
            <p:cNvSpPr txBox="1">
              <a:spLocks noChangeArrowheads="1"/>
            </p:cNvSpPr>
            <p:nvPr/>
          </p:nvSpPr>
          <p:spPr bwMode="auto">
            <a:xfrm>
              <a:off x="715" y="1959"/>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grpSp>
        <p:nvGrpSpPr>
          <p:cNvPr id="14" name="Group 189"/>
          <p:cNvGrpSpPr/>
          <p:nvPr/>
        </p:nvGrpSpPr>
        <p:grpSpPr>
          <a:xfrm>
            <a:off x="565150" y="2795588"/>
            <a:ext cx="7920038" cy="2825750"/>
            <a:chOff x="228" y="1311"/>
            <a:chExt cx="4989" cy="1780"/>
          </a:xfrm>
        </p:grpSpPr>
        <p:grpSp>
          <p:nvGrpSpPr>
            <p:cNvPr id="158762" name="Group 5"/>
            <p:cNvGrpSpPr/>
            <p:nvPr/>
          </p:nvGrpSpPr>
          <p:grpSpPr>
            <a:xfrm>
              <a:off x="1905" y="1814"/>
              <a:ext cx="528" cy="240"/>
              <a:chOff x="1968" y="1344"/>
              <a:chExt cx="528" cy="240"/>
            </a:xfrm>
          </p:grpSpPr>
          <p:sp>
            <p:nvSpPr>
              <p:cNvPr id="152683" name="Rectangle 6"/>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4" name="Rectangle 7"/>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3" name="Group 10"/>
            <p:cNvGrpSpPr/>
            <p:nvPr/>
          </p:nvGrpSpPr>
          <p:grpSpPr>
            <a:xfrm>
              <a:off x="2673" y="1814"/>
              <a:ext cx="528" cy="240"/>
              <a:chOff x="1968" y="1344"/>
              <a:chExt cx="528" cy="240"/>
            </a:xfrm>
          </p:grpSpPr>
          <p:sp>
            <p:nvSpPr>
              <p:cNvPr id="152681" name="Rectangle 11"/>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2" name="Rectangle 12"/>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4" name="Group 13"/>
            <p:cNvGrpSpPr/>
            <p:nvPr/>
          </p:nvGrpSpPr>
          <p:grpSpPr>
            <a:xfrm>
              <a:off x="3441" y="1814"/>
              <a:ext cx="528" cy="240"/>
              <a:chOff x="1968" y="1344"/>
              <a:chExt cx="528" cy="240"/>
            </a:xfrm>
          </p:grpSpPr>
          <p:sp>
            <p:nvSpPr>
              <p:cNvPr id="152679" name="Rectangle 14"/>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0" name="Rectangle 15"/>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5" name="Group 19"/>
            <p:cNvGrpSpPr/>
            <p:nvPr/>
          </p:nvGrpSpPr>
          <p:grpSpPr>
            <a:xfrm>
              <a:off x="1185" y="1814"/>
              <a:ext cx="528" cy="240"/>
              <a:chOff x="1968" y="1344"/>
              <a:chExt cx="528" cy="240"/>
            </a:xfrm>
          </p:grpSpPr>
          <p:sp>
            <p:nvSpPr>
              <p:cNvPr id="152677" name="Rectangle 20"/>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8" name="Rectangle 21"/>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6" name="Group 27"/>
            <p:cNvGrpSpPr/>
            <p:nvPr/>
          </p:nvGrpSpPr>
          <p:grpSpPr>
            <a:xfrm>
              <a:off x="993" y="2822"/>
              <a:ext cx="528" cy="240"/>
              <a:chOff x="1968" y="1344"/>
              <a:chExt cx="528" cy="240"/>
            </a:xfrm>
          </p:grpSpPr>
          <p:sp>
            <p:nvSpPr>
              <p:cNvPr id="152675" name="Rectangle 28"/>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6" name="Rectangle 29"/>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7" name="Group 30"/>
            <p:cNvGrpSpPr/>
            <p:nvPr/>
          </p:nvGrpSpPr>
          <p:grpSpPr>
            <a:xfrm>
              <a:off x="1713" y="2822"/>
              <a:ext cx="528" cy="240"/>
              <a:chOff x="1968" y="1344"/>
              <a:chExt cx="528" cy="240"/>
            </a:xfrm>
          </p:grpSpPr>
          <p:sp>
            <p:nvSpPr>
              <p:cNvPr id="152673" name="Rectangle 31"/>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4" name="Rectangle 32"/>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8" name="Group 33"/>
            <p:cNvGrpSpPr/>
            <p:nvPr/>
          </p:nvGrpSpPr>
          <p:grpSpPr>
            <a:xfrm>
              <a:off x="2481" y="2822"/>
              <a:ext cx="528" cy="240"/>
              <a:chOff x="1968" y="1344"/>
              <a:chExt cx="528" cy="240"/>
            </a:xfrm>
          </p:grpSpPr>
          <p:sp>
            <p:nvSpPr>
              <p:cNvPr id="152671" name="Rectangle 34"/>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2" name="Rectangle 35"/>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9" name="Group 36"/>
            <p:cNvGrpSpPr/>
            <p:nvPr/>
          </p:nvGrpSpPr>
          <p:grpSpPr>
            <a:xfrm>
              <a:off x="3249" y="2822"/>
              <a:ext cx="528" cy="240"/>
              <a:chOff x="1968" y="1344"/>
              <a:chExt cx="528" cy="240"/>
            </a:xfrm>
          </p:grpSpPr>
          <p:sp>
            <p:nvSpPr>
              <p:cNvPr id="152669" name="Rectangle 37"/>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0" name="Rectangle 38"/>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70" name="Group 39"/>
            <p:cNvGrpSpPr/>
            <p:nvPr/>
          </p:nvGrpSpPr>
          <p:grpSpPr>
            <a:xfrm>
              <a:off x="3969" y="2822"/>
              <a:ext cx="528" cy="240"/>
              <a:chOff x="1968" y="1344"/>
              <a:chExt cx="528" cy="240"/>
            </a:xfrm>
          </p:grpSpPr>
          <p:sp>
            <p:nvSpPr>
              <p:cNvPr id="152667" name="Rectangle 40"/>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8" name="Rectangle 41"/>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71" name="Group 42"/>
            <p:cNvGrpSpPr/>
            <p:nvPr/>
          </p:nvGrpSpPr>
          <p:grpSpPr>
            <a:xfrm>
              <a:off x="4689" y="2822"/>
              <a:ext cx="528" cy="240"/>
              <a:chOff x="1968" y="1344"/>
              <a:chExt cx="528" cy="240"/>
            </a:xfrm>
          </p:grpSpPr>
          <p:sp>
            <p:nvSpPr>
              <p:cNvPr id="152665" name="Rectangle 43"/>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6" name="Rectangle 44"/>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22" name="Line 45"/>
            <p:cNvSpPr>
              <a:spLocks noChangeShapeType="1"/>
            </p:cNvSpPr>
            <p:nvPr/>
          </p:nvSpPr>
          <p:spPr bwMode="auto">
            <a:xfrm>
              <a:off x="1425"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3" name="Line 47"/>
            <p:cNvSpPr>
              <a:spLocks noChangeShapeType="1"/>
            </p:cNvSpPr>
            <p:nvPr/>
          </p:nvSpPr>
          <p:spPr bwMode="auto">
            <a:xfrm>
              <a:off x="2961"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4" name="Line 48"/>
            <p:cNvSpPr>
              <a:spLocks noChangeShapeType="1"/>
            </p:cNvSpPr>
            <p:nvPr/>
          </p:nvSpPr>
          <p:spPr bwMode="auto">
            <a:xfrm>
              <a:off x="3681"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5" name="Line 22"/>
            <p:cNvSpPr>
              <a:spLocks noChangeShapeType="1"/>
            </p:cNvSpPr>
            <p:nvPr/>
          </p:nvSpPr>
          <p:spPr bwMode="auto">
            <a:xfrm>
              <a:off x="1617" y="195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6" name="Line 23"/>
            <p:cNvSpPr>
              <a:spLocks noChangeShapeType="1"/>
            </p:cNvSpPr>
            <p:nvPr/>
          </p:nvSpPr>
          <p:spPr bwMode="auto">
            <a:xfrm>
              <a:off x="2385" y="195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7" name="Line 24"/>
            <p:cNvSpPr>
              <a:spLocks noChangeShapeType="1"/>
            </p:cNvSpPr>
            <p:nvPr/>
          </p:nvSpPr>
          <p:spPr bwMode="auto">
            <a:xfrm>
              <a:off x="3153" y="195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8" name="Line 46"/>
            <p:cNvSpPr>
              <a:spLocks noChangeShapeType="1"/>
            </p:cNvSpPr>
            <p:nvPr/>
          </p:nvSpPr>
          <p:spPr bwMode="auto">
            <a:xfrm>
              <a:off x="2193"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9" name="Line 49"/>
            <p:cNvSpPr>
              <a:spLocks noChangeShapeType="1"/>
            </p:cNvSpPr>
            <p:nvPr/>
          </p:nvSpPr>
          <p:spPr bwMode="auto">
            <a:xfrm>
              <a:off x="4401"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0" name="Line 53"/>
            <p:cNvSpPr>
              <a:spLocks noChangeShapeType="1"/>
            </p:cNvSpPr>
            <p:nvPr/>
          </p:nvSpPr>
          <p:spPr bwMode="auto">
            <a:xfrm flipV="1">
              <a:off x="1281" y="2054"/>
              <a:ext cx="0" cy="48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1" name="Line 56"/>
            <p:cNvSpPr>
              <a:spLocks noChangeShapeType="1"/>
            </p:cNvSpPr>
            <p:nvPr/>
          </p:nvSpPr>
          <p:spPr bwMode="auto">
            <a:xfrm>
              <a:off x="2328" y="1958"/>
              <a:ext cx="0" cy="288"/>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2" name="Line 57"/>
            <p:cNvSpPr>
              <a:spLocks noChangeShapeType="1"/>
            </p:cNvSpPr>
            <p:nvPr/>
          </p:nvSpPr>
          <p:spPr bwMode="auto">
            <a:xfrm flipH="1">
              <a:off x="1473" y="2246"/>
              <a:ext cx="852"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3" name="Line 58"/>
            <p:cNvSpPr>
              <a:spLocks noChangeShapeType="1"/>
            </p:cNvSpPr>
            <p:nvPr/>
          </p:nvSpPr>
          <p:spPr bwMode="auto">
            <a:xfrm>
              <a:off x="1470" y="2246"/>
              <a:ext cx="0" cy="576"/>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4" name="Line 59"/>
            <p:cNvSpPr>
              <a:spLocks noChangeShapeType="1"/>
            </p:cNvSpPr>
            <p:nvPr/>
          </p:nvSpPr>
          <p:spPr bwMode="auto">
            <a:xfrm flipV="1">
              <a:off x="2913" y="2054"/>
              <a:ext cx="0" cy="864"/>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5" name="Line 65"/>
            <p:cNvSpPr>
              <a:spLocks noChangeShapeType="1"/>
            </p:cNvSpPr>
            <p:nvPr/>
          </p:nvSpPr>
          <p:spPr bwMode="auto">
            <a:xfrm>
              <a:off x="3887" y="1958"/>
              <a:ext cx="0" cy="336"/>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6" name="Line 66"/>
            <p:cNvSpPr>
              <a:spLocks noChangeShapeType="1"/>
            </p:cNvSpPr>
            <p:nvPr/>
          </p:nvSpPr>
          <p:spPr bwMode="auto">
            <a:xfrm flipH="1">
              <a:off x="3647" y="2294"/>
              <a:ext cx="24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7" name="Line 67"/>
            <p:cNvSpPr>
              <a:spLocks noChangeShapeType="1"/>
            </p:cNvSpPr>
            <p:nvPr/>
          </p:nvSpPr>
          <p:spPr bwMode="auto">
            <a:xfrm>
              <a:off x="3647" y="2294"/>
              <a:ext cx="0" cy="528"/>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8788" name="Group 178"/>
            <p:cNvGrpSpPr/>
            <p:nvPr/>
          </p:nvGrpSpPr>
          <p:grpSpPr>
            <a:xfrm>
              <a:off x="540" y="1750"/>
              <a:ext cx="645" cy="368"/>
              <a:chOff x="669" y="1967"/>
              <a:chExt cx="645" cy="368"/>
            </a:xfrm>
          </p:grpSpPr>
          <p:sp>
            <p:nvSpPr>
              <p:cNvPr id="152663" name="Line 26"/>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4" name="Text Box 68"/>
              <p:cNvSpPr txBox="1">
                <a:spLocks noChangeArrowheads="1"/>
              </p:cNvSpPr>
              <p:nvPr/>
            </p:nvSpPr>
            <p:spPr bwMode="auto">
              <a:xfrm>
                <a:off x="669" y="1967"/>
                <a:ext cx="38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p>
            </p:txBody>
          </p:sp>
        </p:grpSp>
        <p:sp>
          <p:nvSpPr>
            <p:cNvPr id="152639" name="Text Box 81"/>
            <p:cNvSpPr txBox="1">
              <a:spLocks noChangeArrowheads="1"/>
            </p:cNvSpPr>
            <p:nvPr/>
          </p:nvSpPr>
          <p:spPr bwMode="auto">
            <a:xfrm>
              <a:off x="1978" y="177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2640" name="Text Box 82"/>
            <p:cNvSpPr txBox="1">
              <a:spLocks noChangeArrowheads="1"/>
            </p:cNvSpPr>
            <p:nvPr/>
          </p:nvSpPr>
          <p:spPr bwMode="auto">
            <a:xfrm>
              <a:off x="1082" y="277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2641" name="Text Box 83"/>
            <p:cNvSpPr txBox="1">
              <a:spLocks noChangeArrowheads="1"/>
            </p:cNvSpPr>
            <p:nvPr/>
          </p:nvSpPr>
          <p:spPr bwMode="auto">
            <a:xfrm>
              <a:off x="1786" y="277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2642" name="Text Box 84"/>
            <p:cNvSpPr txBox="1">
              <a:spLocks noChangeArrowheads="1"/>
            </p:cNvSpPr>
            <p:nvPr/>
          </p:nvSpPr>
          <p:spPr bwMode="auto">
            <a:xfrm>
              <a:off x="2529" y="280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2643" name="Text Box 85"/>
            <p:cNvSpPr txBox="1">
              <a:spLocks noChangeArrowheads="1"/>
            </p:cNvSpPr>
            <p:nvPr/>
          </p:nvSpPr>
          <p:spPr bwMode="auto">
            <a:xfrm>
              <a:off x="2723" y="177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2644" name="Text Box 86"/>
            <p:cNvSpPr txBox="1">
              <a:spLocks noChangeArrowheads="1"/>
            </p:cNvSpPr>
            <p:nvPr/>
          </p:nvSpPr>
          <p:spPr bwMode="auto">
            <a:xfrm>
              <a:off x="3514" y="177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2645" name="Text Box 88"/>
            <p:cNvSpPr txBox="1">
              <a:spLocks noChangeArrowheads="1"/>
            </p:cNvSpPr>
            <p:nvPr/>
          </p:nvSpPr>
          <p:spPr bwMode="auto">
            <a:xfrm>
              <a:off x="3322" y="280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2646" name="Text Box 90"/>
            <p:cNvSpPr txBox="1">
              <a:spLocks noChangeArrowheads="1"/>
            </p:cNvSpPr>
            <p:nvPr/>
          </p:nvSpPr>
          <p:spPr bwMode="auto">
            <a:xfrm>
              <a:off x="3965" y="2800"/>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2647" name="Text Box 91"/>
            <p:cNvSpPr txBox="1">
              <a:spLocks noChangeArrowheads="1"/>
            </p:cNvSpPr>
            <p:nvPr/>
          </p:nvSpPr>
          <p:spPr bwMode="auto">
            <a:xfrm>
              <a:off x="4691" y="2800"/>
              <a:ext cx="2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58798" name="Group 92"/>
            <p:cNvGrpSpPr/>
            <p:nvPr/>
          </p:nvGrpSpPr>
          <p:grpSpPr>
            <a:xfrm>
              <a:off x="2433" y="1868"/>
              <a:ext cx="144" cy="192"/>
              <a:chOff x="2698" y="1622"/>
              <a:chExt cx="144" cy="192"/>
            </a:xfrm>
          </p:grpSpPr>
          <p:sp>
            <p:nvSpPr>
              <p:cNvPr id="152661" name="Line 93"/>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2" name="Line 94"/>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99" name="Group 95"/>
            <p:cNvGrpSpPr/>
            <p:nvPr/>
          </p:nvGrpSpPr>
          <p:grpSpPr>
            <a:xfrm>
              <a:off x="3081" y="2822"/>
              <a:ext cx="144" cy="192"/>
              <a:chOff x="2698" y="1622"/>
              <a:chExt cx="144" cy="192"/>
            </a:xfrm>
          </p:grpSpPr>
          <p:sp>
            <p:nvSpPr>
              <p:cNvPr id="152659" name="Line 96"/>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0" name="Line 97"/>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800" name="Group 98"/>
            <p:cNvGrpSpPr/>
            <p:nvPr/>
          </p:nvGrpSpPr>
          <p:grpSpPr>
            <a:xfrm>
              <a:off x="228" y="2816"/>
              <a:ext cx="528" cy="240"/>
              <a:chOff x="1968" y="1344"/>
              <a:chExt cx="528" cy="240"/>
            </a:xfrm>
          </p:grpSpPr>
          <p:sp>
            <p:nvSpPr>
              <p:cNvPr id="152657" name="Rectangle 99"/>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58" name="Rectangle 100"/>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51" name="Line 101"/>
            <p:cNvSpPr>
              <a:spLocks noChangeShapeType="1"/>
            </p:cNvSpPr>
            <p:nvPr/>
          </p:nvSpPr>
          <p:spPr bwMode="auto">
            <a:xfrm>
              <a:off x="708" y="2960"/>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8802" name="Group 102"/>
            <p:cNvGrpSpPr/>
            <p:nvPr/>
          </p:nvGrpSpPr>
          <p:grpSpPr>
            <a:xfrm>
              <a:off x="756" y="2870"/>
              <a:ext cx="144" cy="192"/>
              <a:chOff x="2698" y="1622"/>
              <a:chExt cx="144" cy="192"/>
            </a:xfrm>
          </p:grpSpPr>
          <p:sp>
            <p:nvSpPr>
              <p:cNvPr id="152655" name="Line 103"/>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56" name="Line 104"/>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53" name="AutoShape 185"/>
            <p:cNvSpPr>
              <a:spLocks noChangeArrowheads="1"/>
            </p:cNvSpPr>
            <p:nvPr/>
          </p:nvSpPr>
          <p:spPr bwMode="auto">
            <a:xfrm>
              <a:off x="2868" y="1311"/>
              <a:ext cx="213" cy="392"/>
            </a:xfrm>
            <a:prstGeom prst="downArrow">
              <a:avLst>
                <a:gd name="adj1" fmla="val 50000"/>
                <a:gd name="adj2" fmla="val 34371"/>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54" name="Text Box 186"/>
            <p:cNvSpPr txBox="1">
              <a:spLocks noChangeArrowheads="1"/>
            </p:cNvSpPr>
            <p:nvPr/>
          </p:nvSpPr>
          <p:spPr bwMode="auto">
            <a:xfrm>
              <a:off x="3400" y="1414"/>
              <a:ext cx="953" cy="32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mn-lt"/>
                  <a:ea typeface="+mn-ea"/>
                  <a:cs typeface="+mn-ea"/>
                  <a:sym typeface="+mn-lt"/>
                </a:rPr>
                <a:t>合并后</a:t>
              </a:r>
            </a:p>
          </p:txBody>
        </p:sp>
      </p:grpSp>
      <p:sp>
        <p:nvSpPr>
          <p:cNvPr id="133" name="Rectangle 5"/>
          <p:cNvSpPr>
            <a:spLocks noChangeArrowheads="1"/>
          </p:cNvSpPr>
          <p:nvPr/>
        </p:nvSpPr>
        <p:spPr bwMode="auto">
          <a:xfrm>
            <a:off x="755650" y="204788"/>
            <a:ext cx="67643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有序链表合并－－重点掌握</a:t>
            </a:r>
          </a:p>
        </p:txBody>
      </p:sp>
      <p:grpSp>
        <p:nvGrpSpPr>
          <p:cNvPr id="134" name="组合 133"/>
          <p:cNvGrpSpPr/>
          <p:nvPr/>
        </p:nvGrpSpPr>
        <p:grpSpPr>
          <a:xfrm>
            <a:off x="0" y="6380163"/>
            <a:ext cx="9144000" cy="431800"/>
            <a:chOff x="0" y="6379908"/>
            <a:chExt cx="9144000" cy="432048"/>
          </a:xfrm>
        </p:grpSpPr>
        <p:grpSp>
          <p:nvGrpSpPr>
            <p:cNvPr id="158757" name="组合 5"/>
            <p:cNvGrpSpPr/>
            <p:nvPr/>
          </p:nvGrpSpPr>
          <p:grpSpPr>
            <a:xfrm>
              <a:off x="0" y="6379908"/>
              <a:ext cx="9144000" cy="432048"/>
              <a:chOff x="0" y="6165304"/>
              <a:chExt cx="9144000" cy="432048"/>
            </a:xfrm>
          </p:grpSpPr>
          <p:cxnSp>
            <p:nvCxnSpPr>
              <p:cNvPr id="158759" name="直接连接符 136"/>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38" name="直接连接符 137"/>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58761" name="直接连接符 138"/>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36"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amond(in)">
                                      <p:cBhvr>
                                        <p:cTn id="7" dur="2000"/>
                                        <p:tgtEl>
                                          <p:spTgt spid="14"/>
                                        </p:tgtEl>
                                      </p:cBhvr>
                                    </p:animEffect>
                                  </p:childTnLst>
                                </p:cTn>
                              </p:par>
                            </p:childTnLst>
                          </p:cTn>
                        </p:par>
                        <p:par>
                          <p:cTn id="8" fill="hold">
                            <p:stCondLst>
                              <p:cond delay="2000"/>
                            </p:stCondLst>
                            <p:childTnLst>
                              <p:par>
                                <p:cTn id="9" presetID="2" presetClass="entr" presetSubtype="4" fill="hold" nodeType="afterEffect">
                                  <p:stCondLst>
                                    <p:cond delay="0"/>
                                  </p:stCondLst>
                                  <p:childTnLst>
                                    <p:set>
                                      <p:cBhvr>
                                        <p:cTn id="10" dur="1" fill="hold">
                                          <p:stCondLst>
                                            <p:cond delay="0"/>
                                          </p:stCondLst>
                                        </p:cTn>
                                        <p:tgtEl>
                                          <p:spTgt spid="134"/>
                                        </p:tgtEl>
                                        <p:attrNameLst>
                                          <p:attrName>style.visibility</p:attrName>
                                        </p:attrNameLst>
                                      </p:cBhvr>
                                      <p:to>
                                        <p:strVal val="visible"/>
                                      </p:to>
                                    </p:set>
                                    <p:anim calcmode="lin" valueType="num">
                                      <p:cBhvr additive="base">
                                        <p:cTn id="11" dur="500" fill="hold"/>
                                        <p:tgtEl>
                                          <p:spTgt spid="134"/>
                                        </p:tgtEl>
                                        <p:attrNameLst>
                                          <p:attrName>ppt_x</p:attrName>
                                        </p:attrNameLst>
                                      </p:cBhvr>
                                      <p:tavLst>
                                        <p:tav tm="0">
                                          <p:val>
                                            <p:strVal val="#ppt_x"/>
                                          </p:val>
                                        </p:tav>
                                        <p:tav tm="100000">
                                          <p:val>
                                            <p:strVal val="#ppt_x"/>
                                          </p:val>
                                        </p:tav>
                                      </p:tavLst>
                                    </p:anim>
                                    <p:anim calcmode="lin" valueType="num">
                                      <p:cBhvr additive="base">
                                        <p:cTn id="12"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5"/>
          <p:cNvSpPr txBox="1">
            <a:spLocks noChangeArrowheads="1"/>
          </p:cNvSpPr>
          <p:nvPr/>
        </p:nvSpPr>
        <p:spPr bwMode="auto">
          <a:xfrm>
            <a:off x="1598613" y="1655763"/>
            <a:ext cx="381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a:t>
            </a:r>
          </a:p>
        </p:txBody>
      </p:sp>
      <p:sp>
        <p:nvSpPr>
          <p:cNvPr id="153606" name="Rectangle 10"/>
          <p:cNvSpPr>
            <a:spLocks noChangeArrowheads="1"/>
          </p:cNvSpPr>
          <p:nvPr/>
        </p:nvSpPr>
        <p:spPr bwMode="auto">
          <a:xfrm>
            <a:off x="722313" y="160338"/>
            <a:ext cx="80962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－有序的链表合并</a:t>
            </a:r>
          </a:p>
        </p:txBody>
      </p:sp>
      <p:grpSp>
        <p:nvGrpSpPr>
          <p:cNvPr id="159748" name="组合 18"/>
          <p:cNvGrpSpPr/>
          <p:nvPr/>
        </p:nvGrpSpPr>
        <p:grpSpPr>
          <a:xfrm>
            <a:off x="852488" y="1655763"/>
            <a:ext cx="487362" cy="584200"/>
            <a:chOff x="685009" y="1514252"/>
            <a:chExt cx="365522" cy="438150"/>
          </a:xfrm>
        </p:grpSpPr>
        <p:sp>
          <p:nvSpPr>
            <p:cNvPr id="20" name="Flowchart: Off-page Connector 108"/>
            <p:cNvSpPr/>
            <p:nvPr/>
          </p:nvSpPr>
          <p:spPr bwMode="auto">
            <a:xfrm>
              <a:off x="704059" y="1529730"/>
              <a:ext cx="317897" cy="422672"/>
            </a:xfrm>
            <a:prstGeom prst="flowChartOffpageConnector">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1" name="Oval 111"/>
            <p:cNvSpPr/>
            <p:nvPr/>
          </p:nvSpPr>
          <p:spPr bwMode="auto">
            <a:xfrm>
              <a:off x="685009" y="1514252"/>
              <a:ext cx="365522" cy="419100"/>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cxnSp>
        <p:nvCxnSpPr>
          <p:cNvPr id="3" name="直接连接符 2"/>
          <p:cNvCxnSpPr/>
          <p:nvPr/>
        </p:nvCxnSpPr>
        <p:spPr bwMode="auto">
          <a:xfrm>
            <a:off x="1608138" y="2214563"/>
            <a:ext cx="6851650"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grpSp>
        <p:nvGrpSpPr>
          <p:cNvPr id="2" name="组合 1"/>
          <p:cNvGrpSpPr/>
          <p:nvPr/>
        </p:nvGrpSpPr>
        <p:grpSpPr>
          <a:xfrm>
            <a:off x="852488" y="2522538"/>
            <a:ext cx="7810500" cy="1052512"/>
            <a:chOff x="852488" y="2522538"/>
            <a:chExt cx="7810500" cy="1052512"/>
          </a:xfrm>
        </p:grpSpPr>
        <p:sp>
          <p:nvSpPr>
            <p:cNvPr id="600070" name="Text Box 6"/>
            <p:cNvSpPr txBox="1">
              <a:spLocks noChangeArrowheads="1"/>
            </p:cNvSpPr>
            <p:nvPr/>
          </p:nvSpPr>
          <p:spPr bwMode="auto">
            <a:xfrm>
              <a:off x="1608138" y="2522538"/>
              <a:ext cx="7054850"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依次从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中“摘取”元素值较小的结点插入到 </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表的最后</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，直至其中一个表变空为止。</a:t>
              </a:r>
            </a:p>
          </p:txBody>
        </p:sp>
        <p:grpSp>
          <p:nvGrpSpPr>
            <p:cNvPr id="159764" name="组合 21"/>
            <p:cNvGrpSpPr/>
            <p:nvPr/>
          </p:nvGrpSpPr>
          <p:grpSpPr>
            <a:xfrm>
              <a:off x="852488" y="2652713"/>
              <a:ext cx="487362" cy="601662"/>
              <a:chOff x="685009" y="2261965"/>
              <a:chExt cx="365522" cy="451246"/>
            </a:xfrm>
          </p:grpSpPr>
          <p:sp>
            <p:nvSpPr>
              <p:cNvPr id="23" name="Flowchart: Off-page Connector 109"/>
              <p:cNvSpPr/>
              <p:nvPr/>
            </p:nvSpPr>
            <p:spPr bwMode="auto">
              <a:xfrm>
                <a:off x="704059" y="2290540"/>
                <a:ext cx="317897" cy="422671"/>
              </a:xfrm>
              <a:prstGeom prst="flowChartOffpageConnector">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4" name="Oval 112"/>
              <p:cNvSpPr/>
              <p:nvPr/>
            </p:nvSpPr>
            <p:spPr bwMode="auto">
              <a:xfrm>
                <a:off x="685009" y="2261965"/>
                <a:ext cx="365522" cy="419100"/>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cxnSp>
          <p:nvCxnSpPr>
            <p:cNvPr id="34" name="直接连接符 33"/>
            <p:cNvCxnSpPr/>
            <p:nvPr/>
          </p:nvCxnSpPr>
          <p:spPr bwMode="auto">
            <a:xfrm>
              <a:off x="1708150" y="3567113"/>
              <a:ext cx="6853238"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grpSp>
      <p:grpSp>
        <p:nvGrpSpPr>
          <p:cNvPr id="4" name="组合 3"/>
          <p:cNvGrpSpPr/>
          <p:nvPr/>
        </p:nvGrpSpPr>
        <p:grpSpPr>
          <a:xfrm>
            <a:off x="846138" y="3794125"/>
            <a:ext cx="7810500" cy="1052513"/>
            <a:chOff x="846138" y="3794125"/>
            <a:chExt cx="7810500" cy="1052513"/>
          </a:xfrm>
        </p:grpSpPr>
        <p:sp>
          <p:nvSpPr>
            <p:cNvPr id="600071" name="Text Box 7"/>
            <p:cNvSpPr txBox="1">
              <a:spLocks noChangeArrowheads="1"/>
            </p:cNvSpPr>
            <p:nvPr/>
          </p:nvSpPr>
          <p:spPr bwMode="auto">
            <a:xfrm>
              <a:off x="1570038" y="3794125"/>
              <a:ext cx="70866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继续将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其中一个表的剩余结点插入在 </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表的最后。</a:t>
              </a:r>
            </a:p>
          </p:txBody>
        </p:sp>
        <p:grpSp>
          <p:nvGrpSpPr>
            <p:cNvPr id="159759" name="组合 24"/>
            <p:cNvGrpSpPr/>
            <p:nvPr/>
          </p:nvGrpSpPr>
          <p:grpSpPr>
            <a:xfrm>
              <a:off x="846138" y="3887788"/>
              <a:ext cx="487362" cy="601662"/>
              <a:chOff x="680246" y="3021584"/>
              <a:chExt cx="365522" cy="451246"/>
            </a:xfrm>
          </p:grpSpPr>
          <p:sp>
            <p:nvSpPr>
              <p:cNvPr id="26" name="Flowchart: Off-page Connector 110"/>
              <p:cNvSpPr/>
              <p:nvPr/>
            </p:nvSpPr>
            <p:spPr bwMode="auto">
              <a:xfrm>
                <a:off x="704059" y="3050159"/>
                <a:ext cx="317897" cy="422671"/>
              </a:xfrm>
              <a:prstGeom prst="flowChartOffpageConnector">
                <a:avLst/>
              </a:prstGeom>
              <a:solidFill>
                <a:schemeClr val="bg2">
                  <a:lumMod val="60000"/>
                  <a:lumOff val="40000"/>
                </a:scheme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7" name="Oval 113"/>
              <p:cNvSpPr/>
              <p:nvPr/>
            </p:nvSpPr>
            <p:spPr bwMode="auto">
              <a:xfrm>
                <a:off x="680246" y="3021584"/>
                <a:ext cx="365522" cy="419100"/>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cxnSp>
          <p:nvCxnSpPr>
            <p:cNvPr id="35" name="直接连接符 34"/>
            <p:cNvCxnSpPr/>
            <p:nvPr/>
          </p:nvCxnSpPr>
          <p:spPr bwMode="auto">
            <a:xfrm>
              <a:off x="1708150" y="4846638"/>
              <a:ext cx="6853238"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grpSp>
      <p:grpSp>
        <p:nvGrpSpPr>
          <p:cNvPr id="5" name="组合 4"/>
          <p:cNvGrpSpPr/>
          <p:nvPr/>
        </p:nvGrpSpPr>
        <p:grpSpPr>
          <a:xfrm>
            <a:off x="877888" y="5084763"/>
            <a:ext cx="7683500" cy="576262"/>
            <a:chOff x="877888" y="5084763"/>
            <a:chExt cx="7683500" cy="576262"/>
          </a:xfrm>
        </p:grpSpPr>
        <p:sp>
          <p:nvSpPr>
            <p:cNvPr id="600072" name="Text Box 8"/>
            <p:cNvSpPr txBox="1">
              <a:spLocks noChangeArrowheads="1"/>
            </p:cNvSpPr>
            <p:nvPr/>
          </p:nvSpPr>
          <p:spPr bwMode="auto">
            <a:xfrm>
              <a:off x="1570038" y="5084763"/>
              <a:ext cx="33877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释放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表的表头结点</a:t>
              </a:r>
            </a:p>
          </p:txBody>
        </p:sp>
        <p:grpSp>
          <p:nvGrpSpPr>
            <p:cNvPr id="159754" name="组合 27"/>
            <p:cNvGrpSpPr/>
            <p:nvPr/>
          </p:nvGrpSpPr>
          <p:grpSpPr>
            <a:xfrm>
              <a:off x="877888" y="5084763"/>
              <a:ext cx="488950" cy="576262"/>
              <a:chOff x="704059" y="3810967"/>
              <a:chExt cx="366713" cy="432198"/>
            </a:xfrm>
          </p:grpSpPr>
          <p:sp>
            <p:nvSpPr>
              <p:cNvPr id="29" name="Flowchart: Off-page Connector 104"/>
              <p:cNvSpPr/>
              <p:nvPr/>
            </p:nvSpPr>
            <p:spPr bwMode="auto">
              <a:xfrm>
                <a:off x="727872" y="3862164"/>
                <a:ext cx="317897" cy="381001"/>
              </a:xfrm>
              <a:prstGeom prst="flowChartOffpageConnector">
                <a:avLst/>
              </a:prstGeom>
              <a:solidFill>
                <a:srgbClr val="4BACC6"/>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30" name="Oval 107"/>
              <p:cNvSpPr/>
              <p:nvPr/>
            </p:nvSpPr>
            <p:spPr bwMode="auto">
              <a:xfrm>
                <a:off x="704059" y="3810967"/>
                <a:ext cx="366713" cy="419101"/>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4</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cxnSp>
          <p:nvCxnSpPr>
            <p:cNvPr id="36" name="直接连接符 35"/>
            <p:cNvCxnSpPr/>
            <p:nvPr/>
          </p:nvCxnSpPr>
          <p:spPr bwMode="auto">
            <a:xfrm>
              <a:off x="1708150" y="5661025"/>
              <a:ext cx="6853238"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矩形 1"/>
          <p:cNvSpPr/>
          <p:nvPr/>
        </p:nvSpPr>
        <p:spPr>
          <a:xfrm>
            <a:off x="0" y="1412875"/>
            <a:ext cx="9144000" cy="39306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586864" name="Rectangle 112"/>
          <p:cNvSpPr>
            <a:spLocks noChangeArrowheads="1"/>
          </p:cNvSpPr>
          <p:nvPr/>
        </p:nvSpPr>
        <p:spPr bwMode="auto">
          <a:xfrm>
            <a:off x="827088" y="201613"/>
            <a:ext cx="67643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有序链表合并（初始化）</a:t>
            </a:r>
          </a:p>
        </p:txBody>
      </p:sp>
      <p:sp>
        <p:nvSpPr>
          <p:cNvPr id="154627" name="Text Box 125"/>
          <p:cNvSpPr txBox="1">
            <a:spLocks noChangeArrowheads="1"/>
          </p:cNvSpPr>
          <p:nvPr/>
        </p:nvSpPr>
        <p:spPr bwMode="auto">
          <a:xfrm>
            <a:off x="2286000" y="2432050"/>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4628" name="Line 127"/>
          <p:cNvSpPr>
            <a:spLocks noChangeShapeType="1"/>
          </p:cNvSpPr>
          <p:nvPr/>
        </p:nvSpPr>
        <p:spPr bwMode="auto">
          <a:xfrm flipV="1">
            <a:off x="2522538" y="2190750"/>
            <a:ext cx="0" cy="381000"/>
          </a:xfrm>
          <a:prstGeom prst="line">
            <a:avLst/>
          </a:prstGeom>
          <a:noFill/>
          <a:ln w="5715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29" name="Line 180"/>
          <p:cNvSpPr>
            <a:spLocks noChangeShapeType="1"/>
          </p:cNvSpPr>
          <p:nvPr/>
        </p:nvSpPr>
        <p:spPr bwMode="auto">
          <a:xfrm>
            <a:off x="801688" y="2066925"/>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0" name="Text Box 181"/>
          <p:cNvSpPr txBox="1">
            <a:spLocks noChangeArrowheads="1"/>
          </p:cNvSpPr>
          <p:nvPr/>
        </p:nvSpPr>
        <p:spPr bwMode="auto">
          <a:xfrm>
            <a:off x="168275" y="1728788"/>
            <a:ext cx="561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p>
        </p:txBody>
      </p:sp>
      <p:grpSp>
        <p:nvGrpSpPr>
          <p:cNvPr id="160775" name="Group 133"/>
          <p:cNvGrpSpPr/>
          <p:nvPr/>
        </p:nvGrpSpPr>
        <p:grpSpPr bwMode="auto">
          <a:xfrm>
            <a:off x="2325914" y="1838779"/>
            <a:ext cx="838200" cy="381000"/>
            <a:chOff x="1968" y="1344"/>
            <a:chExt cx="528" cy="240"/>
          </a:xfrm>
          <a:solidFill>
            <a:srgbClr val="D7D7FF"/>
          </a:solidFill>
        </p:grpSpPr>
        <p:sp>
          <p:nvSpPr>
            <p:cNvPr id="154688" name="Rectangle 1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9" name="Rectangle 1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76" name="Group 136"/>
          <p:cNvGrpSpPr/>
          <p:nvPr/>
        </p:nvGrpSpPr>
        <p:grpSpPr bwMode="auto">
          <a:xfrm>
            <a:off x="3545114" y="1838779"/>
            <a:ext cx="838200" cy="381000"/>
            <a:chOff x="1968" y="1344"/>
            <a:chExt cx="528" cy="240"/>
          </a:xfrm>
          <a:solidFill>
            <a:srgbClr val="D7D7FF"/>
          </a:solidFill>
        </p:grpSpPr>
        <p:sp>
          <p:nvSpPr>
            <p:cNvPr id="154686" name="Rectangle 1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7" name="Rectangle 1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77" name="Group 139"/>
          <p:cNvGrpSpPr/>
          <p:nvPr/>
        </p:nvGrpSpPr>
        <p:grpSpPr bwMode="auto">
          <a:xfrm>
            <a:off x="4764314" y="1838779"/>
            <a:ext cx="838200" cy="381000"/>
            <a:chOff x="1968" y="1344"/>
            <a:chExt cx="528" cy="240"/>
          </a:xfrm>
          <a:solidFill>
            <a:srgbClr val="D7D7FF"/>
          </a:solidFill>
        </p:grpSpPr>
        <p:sp>
          <p:nvSpPr>
            <p:cNvPr id="154684" name="Rectangle 1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5" name="Rectangle 1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79" name="Group 142"/>
          <p:cNvGrpSpPr/>
          <p:nvPr/>
        </p:nvGrpSpPr>
        <p:grpSpPr>
          <a:xfrm>
            <a:off x="1182688" y="1838325"/>
            <a:ext cx="838200" cy="381000"/>
            <a:chOff x="1968" y="1344"/>
            <a:chExt cx="528" cy="240"/>
          </a:xfrm>
        </p:grpSpPr>
        <p:sp>
          <p:nvSpPr>
            <p:cNvPr id="154682" name="Rectangle 14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3" name="Rectangle 14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4635" name="Line 166"/>
          <p:cNvSpPr>
            <a:spLocks noChangeShapeType="1"/>
          </p:cNvSpPr>
          <p:nvPr/>
        </p:nvSpPr>
        <p:spPr bwMode="auto">
          <a:xfrm>
            <a:off x="1868488" y="2066925"/>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6" name="Line 167"/>
          <p:cNvSpPr>
            <a:spLocks noChangeShapeType="1"/>
          </p:cNvSpPr>
          <p:nvPr/>
        </p:nvSpPr>
        <p:spPr bwMode="auto">
          <a:xfrm>
            <a:off x="3087688" y="2066925"/>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7" name="Line 168"/>
          <p:cNvSpPr>
            <a:spLocks noChangeShapeType="1"/>
          </p:cNvSpPr>
          <p:nvPr/>
        </p:nvSpPr>
        <p:spPr bwMode="auto">
          <a:xfrm>
            <a:off x="4306888" y="2066925"/>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8" name="Text Box 182"/>
          <p:cNvSpPr txBox="1">
            <a:spLocks noChangeArrowheads="1"/>
          </p:cNvSpPr>
          <p:nvPr/>
        </p:nvSpPr>
        <p:spPr bwMode="auto">
          <a:xfrm>
            <a:off x="2441575" y="17716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4639" name="Text Box 186"/>
          <p:cNvSpPr txBox="1">
            <a:spLocks noChangeArrowheads="1"/>
          </p:cNvSpPr>
          <p:nvPr/>
        </p:nvSpPr>
        <p:spPr bwMode="auto">
          <a:xfrm>
            <a:off x="3624263" y="17716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4640" name="Text Box 187"/>
          <p:cNvSpPr txBox="1">
            <a:spLocks noChangeArrowheads="1"/>
          </p:cNvSpPr>
          <p:nvPr/>
        </p:nvSpPr>
        <p:spPr bwMode="auto">
          <a:xfrm>
            <a:off x="4879975" y="17716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0785" name="Group 233"/>
          <p:cNvGrpSpPr/>
          <p:nvPr/>
        </p:nvGrpSpPr>
        <p:grpSpPr bwMode="auto">
          <a:xfrm>
            <a:off x="2222625" y="3836148"/>
            <a:ext cx="838200" cy="381000"/>
            <a:chOff x="1968" y="1344"/>
            <a:chExt cx="528" cy="240"/>
          </a:xfrm>
          <a:solidFill>
            <a:srgbClr val="D7D7FF"/>
          </a:solidFill>
        </p:grpSpPr>
        <p:sp>
          <p:nvSpPr>
            <p:cNvPr id="154680" name="Rectangle 2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1" name="Rectangle 2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6" name="Group 236"/>
          <p:cNvGrpSpPr/>
          <p:nvPr/>
        </p:nvGrpSpPr>
        <p:grpSpPr bwMode="auto">
          <a:xfrm>
            <a:off x="3365625" y="3836148"/>
            <a:ext cx="838200" cy="381000"/>
            <a:chOff x="1968" y="1344"/>
            <a:chExt cx="528" cy="240"/>
          </a:xfrm>
          <a:solidFill>
            <a:srgbClr val="D7D7FF"/>
          </a:solidFill>
        </p:grpSpPr>
        <p:sp>
          <p:nvSpPr>
            <p:cNvPr id="154678" name="Rectangle 2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9" name="Rectangle 2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7" name="Group 239"/>
          <p:cNvGrpSpPr/>
          <p:nvPr/>
        </p:nvGrpSpPr>
        <p:grpSpPr bwMode="auto">
          <a:xfrm>
            <a:off x="4584825" y="3836148"/>
            <a:ext cx="838200" cy="381000"/>
            <a:chOff x="1968" y="1344"/>
            <a:chExt cx="528" cy="240"/>
          </a:xfrm>
          <a:solidFill>
            <a:srgbClr val="D7D7FF"/>
          </a:solidFill>
        </p:grpSpPr>
        <p:sp>
          <p:nvSpPr>
            <p:cNvPr id="154676" name="Rectangle 2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7" name="Rectangle 2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8" name="Group 242"/>
          <p:cNvGrpSpPr/>
          <p:nvPr/>
        </p:nvGrpSpPr>
        <p:grpSpPr bwMode="auto">
          <a:xfrm>
            <a:off x="5804025" y="3836148"/>
            <a:ext cx="838200" cy="381000"/>
            <a:chOff x="1968" y="1344"/>
            <a:chExt cx="528" cy="240"/>
          </a:xfrm>
          <a:solidFill>
            <a:srgbClr val="D7D7FF"/>
          </a:solidFill>
        </p:grpSpPr>
        <p:sp>
          <p:nvSpPr>
            <p:cNvPr id="154674" name="Rectangle 2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5" name="Rectangle 2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9" name="Group 245"/>
          <p:cNvGrpSpPr/>
          <p:nvPr/>
        </p:nvGrpSpPr>
        <p:grpSpPr bwMode="auto">
          <a:xfrm>
            <a:off x="6947025" y="3836148"/>
            <a:ext cx="838200" cy="381000"/>
            <a:chOff x="1968" y="1344"/>
            <a:chExt cx="528" cy="240"/>
          </a:xfrm>
          <a:solidFill>
            <a:srgbClr val="D7D7FF"/>
          </a:solidFill>
        </p:grpSpPr>
        <p:sp>
          <p:nvSpPr>
            <p:cNvPr id="154672" name="Rectangle 24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3" name="Rectangle 24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90" name="Group 248"/>
          <p:cNvGrpSpPr/>
          <p:nvPr/>
        </p:nvGrpSpPr>
        <p:grpSpPr bwMode="auto">
          <a:xfrm>
            <a:off x="8090025" y="3836148"/>
            <a:ext cx="838200" cy="381000"/>
            <a:chOff x="1968" y="1344"/>
            <a:chExt cx="528" cy="240"/>
          </a:xfrm>
          <a:solidFill>
            <a:srgbClr val="D7D7FF"/>
          </a:solidFill>
        </p:grpSpPr>
        <p:sp>
          <p:nvSpPr>
            <p:cNvPr id="154670" name="Rectangle 24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1" name="Rectangle 25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4647" name="Line 251"/>
          <p:cNvSpPr>
            <a:spLocks noChangeShapeType="1"/>
          </p:cNvSpPr>
          <p:nvPr/>
        </p:nvSpPr>
        <p:spPr bwMode="auto">
          <a:xfrm>
            <a:off x="2908300" y="3987800"/>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48" name="Line 252"/>
          <p:cNvSpPr>
            <a:spLocks noChangeShapeType="1"/>
          </p:cNvSpPr>
          <p:nvPr/>
        </p:nvSpPr>
        <p:spPr bwMode="auto">
          <a:xfrm>
            <a:off x="5346700" y="3987800"/>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49" name="Line 253"/>
          <p:cNvSpPr>
            <a:spLocks noChangeShapeType="1"/>
          </p:cNvSpPr>
          <p:nvPr/>
        </p:nvSpPr>
        <p:spPr bwMode="auto">
          <a:xfrm>
            <a:off x="6489700" y="3987800"/>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50" name="Line 254"/>
          <p:cNvSpPr>
            <a:spLocks noChangeShapeType="1"/>
          </p:cNvSpPr>
          <p:nvPr/>
        </p:nvSpPr>
        <p:spPr bwMode="auto">
          <a:xfrm>
            <a:off x="4127500" y="3987800"/>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51" name="Line 255"/>
          <p:cNvSpPr>
            <a:spLocks noChangeShapeType="1"/>
          </p:cNvSpPr>
          <p:nvPr/>
        </p:nvSpPr>
        <p:spPr bwMode="auto">
          <a:xfrm>
            <a:off x="7632700" y="3987800"/>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52" name="Text Box 256"/>
          <p:cNvSpPr txBox="1">
            <a:spLocks noChangeArrowheads="1"/>
          </p:cNvSpPr>
          <p:nvPr/>
        </p:nvSpPr>
        <p:spPr bwMode="auto">
          <a:xfrm>
            <a:off x="2363788" y="37592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4653" name="Text Box 257"/>
          <p:cNvSpPr txBox="1">
            <a:spLocks noChangeArrowheads="1"/>
          </p:cNvSpPr>
          <p:nvPr/>
        </p:nvSpPr>
        <p:spPr bwMode="auto">
          <a:xfrm>
            <a:off x="3481388" y="37592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4654" name="Text Box 258"/>
          <p:cNvSpPr txBox="1">
            <a:spLocks noChangeArrowheads="1"/>
          </p:cNvSpPr>
          <p:nvPr/>
        </p:nvSpPr>
        <p:spPr bwMode="auto">
          <a:xfrm>
            <a:off x="4660900" y="38004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4655" name="Text Box 259"/>
          <p:cNvSpPr txBox="1">
            <a:spLocks noChangeArrowheads="1"/>
          </p:cNvSpPr>
          <p:nvPr/>
        </p:nvSpPr>
        <p:spPr bwMode="auto">
          <a:xfrm>
            <a:off x="5919788" y="38004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4656" name="Text Box 260"/>
          <p:cNvSpPr txBox="1">
            <a:spLocks noChangeArrowheads="1"/>
          </p:cNvSpPr>
          <p:nvPr/>
        </p:nvSpPr>
        <p:spPr bwMode="auto">
          <a:xfrm>
            <a:off x="6940550" y="38004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4657" name="Text Box 261"/>
          <p:cNvSpPr txBox="1">
            <a:spLocks noChangeArrowheads="1"/>
          </p:cNvSpPr>
          <p:nvPr/>
        </p:nvSpPr>
        <p:spPr bwMode="auto">
          <a:xfrm>
            <a:off x="8093075" y="38004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0802" name="Group 262"/>
          <p:cNvGrpSpPr/>
          <p:nvPr/>
        </p:nvGrpSpPr>
        <p:grpSpPr bwMode="auto">
          <a:xfrm>
            <a:off x="1008187" y="3826623"/>
            <a:ext cx="838200" cy="381000"/>
            <a:chOff x="1968" y="1344"/>
            <a:chExt cx="528" cy="240"/>
          </a:xfrm>
          <a:solidFill>
            <a:srgbClr val="FFC000"/>
          </a:solidFill>
        </p:grpSpPr>
        <p:sp>
          <p:nvSpPr>
            <p:cNvPr id="154668" name="Rectangle 26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69" name="Rectangle 26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4659" name="Line 265"/>
          <p:cNvSpPr>
            <a:spLocks noChangeShapeType="1"/>
          </p:cNvSpPr>
          <p:nvPr/>
        </p:nvSpPr>
        <p:spPr bwMode="auto">
          <a:xfrm>
            <a:off x="1770063" y="4054475"/>
            <a:ext cx="457200" cy="0"/>
          </a:xfrm>
          <a:prstGeom prst="line">
            <a:avLst/>
          </a:prstGeom>
          <a:noFill/>
          <a:ln w="3810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0805" name="Group 266"/>
          <p:cNvGrpSpPr/>
          <p:nvPr/>
        </p:nvGrpSpPr>
        <p:grpSpPr>
          <a:xfrm>
            <a:off x="115888" y="3732213"/>
            <a:ext cx="892175" cy="523875"/>
            <a:chOff x="752" y="2006"/>
            <a:chExt cx="562" cy="330"/>
          </a:xfrm>
        </p:grpSpPr>
        <p:sp>
          <p:nvSpPr>
            <p:cNvPr id="154666" name="Line 267"/>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67" name="Text Box 268"/>
            <p:cNvSpPr txBox="1">
              <a:spLocks noChangeArrowheads="1"/>
            </p:cNvSpPr>
            <p:nvPr/>
          </p:nvSpPr>
          <p:spPr bwMode="auto">
            <a:xfrm>
              <a:off x="752" y="2006"/>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4661" name="Text Box 269"/>
          <p:cNvSpPr txBox="1">
            <a:spLocks noChangeArrowheads="1"/>
          </p:cNvSpPr>
          <p:nvPr/>
        </p:nvSpPr>
        <p:spPr bwMode="auto">
          <a:xfrm>
            <a:off x="2305050" y="4562475"/>
            <a:ext cx="5857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4662" name="Line 270"/>
          <p:cNvSpPr>
            <a:spLocks noChangeShapeType="1"/>
          </p:cNvSpPr>
          <p:nvPr/>
        </p:nvSpPr>
        <p:spPr bwMode="auto">
          <a:xfrm flipV="1">
            <a:off x="2495550" y="4208463"/>
            <a:ext cx="0" cy="381000"/>
          </a:xfrm>
          <a:prstGeom prst="line">
            <a:avLst/>
          </a:prstGeom>
          <a:noFill/>
          <a:ln w="57150">
            <a:solidFill>
              <a:srgbClr val="9476B6"/>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4" name="Group 273"/>
          <p:cNvGrpSpPr/>
          <p:nvPr/>
        </p:nvGrpSpPr>
        <p:grpSpPr>
          <a:xfrm>
            <a:off x="-63500" y="2228850"/>
            <a:ext cx="1782763" cy="819150"/>
            <a:chOff x="276" y="792"/>
            <a:chExt cx="1123" cy="516"/>
          </a:xfrm>
        </p:grpSpPr>
        <p:sp>
          <p:nvSpPr>
            <p:cNvPr id="154664" name="Text Box 271"/>
            <p:cNvSpPr txBox="1">
              <a:spLocks noChangeArrowheads="1"/>
            </p:cNvSpPr>
            <p:nvPr/>
          </p:nvSpPr>
          <p:spPr bwMode="auto">
            <a:xfrm>
              <a:off x="276" y="943"/>
              <a:ext cx="1123" cy="3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 = pc</a:t>
              </a:r>
            </a:p>
          </p:txBody>
        </p:sp>
        <p:sp>
          <p:nvSpPr>
            <p:cNvPr id="154665" name="Line 272"/>
            <p:cNvSpPr>
              <a:spLocks noChangeShapeType="1"/>
            </p:cNvSpPr>
            <p:nvPr/>
          </p:nvSpPr>
          <p:spPr bwMode="auto">
            <a:xfrm>
              <a:off x="1154" y="792"/>
              <a:ext cx="0" cy="216"/>
            </a:xfrm>
            <a:prstGeom prst="line">
              <a:avLst/>
            </a:prstGeom>
            <a:noFill/>
            <a:ln w="57150">
              <a:solidFill>
                <a:srgbClr val="FF0000"/>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7"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矩形 1"/>
          <p:cNvSpPr/>
          <p:nvPr/>
        </p:nvSpPr>
        <p:spPr>
          <a:xfrm>
            <a:off x="0" y="1411288"/>
            <a:ext cx="9144000" cy="367188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5650" name="Line 4"/>
          <p:cNvSpPr>
            <a:spLocks noChangeShapeType="1"/>
          </p:cNvSpPr>
          <p:nvPr/>
        </p:nvSpPr>
        <p:spPr bwMode="auto">
          <a:xfrm>
            <a:off x="2949575" y="22574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51" name="Text Box 5"/>
          <p:cNvSpPr txBox="1">
            <a:spLocks noChangeArrowheads="1"/>
          </p:cNvSpPr>
          <p:nvPr/>
        </p:nvSpPr>
        <p:spPr bwMode="auto">
          <a:xfrm>
            <a:off x="3475038" y="2663825"/>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5652" name="Line 6"/>
          <p:cNvSpPr>
            <a:spLocks noChangeShapeType="1"/>
          </p:cNvSpPr>
          <p:nvPr/>
        </p:nvSpPr>
        <p:spPr bwMode="auto">
          <a:xfrm flipV="1">
            <a:off x="3681413" y="243205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53" name="Line 7"/>
          <p:cNvSpPr>
            <a:spLocks noChangeShapeType="1"/>
          </p:cNvSpPr>
          <p:nvPr/>
        </p:nvSpPr>
        <p:spPr bwMode="auto">
          <a:xfrm>
            <a:off x="1735138" y="2259013"/>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54" name="Text Box 8"/>
          <p:cNvSpPr txBox="1">
            <a:spLocks noChangeArrowheads="1"/>
          </p:cNvSpPr>
          <p:nvPr/>
        </p:nvSpPr>
        <p:spPr bwMode="auto">
          <a:xfrm>
            <a:off x="85725" y="1987550"/>
            <a:ext cx="1766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,pc</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1799" name="Group 9"/>
          <p:cNvGrpSpPr/>
          <p:nvPr/>
        </p:nvGrpSpPr>
        <p:grpSpPr bwMode="auto">
          <a:xfrm>
            <a:off x="3376952" y="2029959"/>
            <a:ext cx="838200" cy="381000"/>
            <a:chOff x="1968" y="1344"/>
            <a:chExt cx="528" cy="240"/>
          </a:xfrm>
          <a:solidFill>
            <a:srgbClr val="EAEAEA"/>
          </a:solidFill>
        </p:grpSpPr>
        <p:sp>
          <p:nvSpPr>
            <p:cNvPr id="155711" name="Rectangle 1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12" name="Rectangle 1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00" name="Group 12"/>
          <p:cNvGrpSpPr/>
          <p:nvPr/>
        </p:nvGrpSpPr>
        <p:grpSpPr bwMode="auto">
          <a:xfrm>
            <a:off x="4596152" y="2029959"/>
            <a:ext cx="838200" cy="381000"/>
            <a:chOff x="1968" y="1344"/>
            <a:chExt cx="528" cy="240"/>
          </a:xfrm>
          <a:solidFill>
            <a:srgbClr val="EAEAEA"/>
          </a:solidFill>
        </p:grpSpPr>
        <p:sp>
          <p:nvSpPr>
            <p:cNvPr id="155709" name="Rectangle 1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10" name="Rectangle 1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01" name="Group 15"/>
          <p:cNvGrpSpPr/>
          <p:nvPr/>
        </p:nvGrpSpPr>
        <p:grpSpPr bwMode="auto">
          <a:xfrm>
            <a:off x="5815352" y="2029959"/>
            <a:ext cx="838200" cy="381000"/>
            <a:chOff x="1968" y="1344"/>
            <a:chExt cx="528" cy="240"/>
          </a:xfrm>
          <a:solidFill>
            <a:srgbClr val="EAEAEA"/>
          </a:solidFill>
        </p:grpSpPr>
        <p:sp>
          <p:nvSpPr>
            <p:cNvPr id="155707" name="Rectangle 1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8" name="Rectangle 1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03" name="Group 18"/>
          <p:cNvGrpSpPr/>
          <p:nvPr/>
        </p:nvGrpSpPr>
        <p:grpSpPr>
          <a:xfrm>
            <a:off x="2124075" y="2030413"/>
            <a:ext cx="838200" cy="381000"/>
            <a:chOff x="1968" y="1344"/>
            <a:chExt cx="528" cy="240"/>
          </a:xfrm>
        </p:grpSpPr>
        <p:sp>
          <p:nvSpPr>
            <p:cNvPr id="155705" name="Rectangle 1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6" name="Rectangle 2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590869" name="Line 21"/>
          <p:cNvSpPr>
            <a:spLocks noChangeShapeType="1"/>
          </p:cNvSpPr>
          <p:nvPr/>
        </p:nvSpPr>
        <p:spPr bwMode="auto">
          <a:xfrm>
            <a:off x="2973388" y="2263775"/>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60" name="Line 22"/>
          <p:cNvSpPr>
            <a:spLocks noChangeShapeType="1"/>
          </p:cNvSpPr>
          <p:nvPr/>
        </p:nvSpPr>
        <p:spPr bwMode="auto">
          <a:xfrm>
            <a:off x="4138613" y="22590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61" name="Line 23"/>
          <p:cNvSpPr>
            <a:spLocks noChangeShapeType="1"/>
          </p:cNvSpPr>
          <p:nvPr/>
        </p:nvSpPr>
        <p:spPr bwMode="auto">
          <a:xfrm>
            <a:off x="5357813" y="22590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62" name="Text Box 24"/>
          <p:cNvSpPr txBox="1">
            <a:spLocks noChangeArrowheads="1"/>
          </p:cNvSpPr>
          <p:nvPr/>
        </p:nvSpPr>
        <p:spPr bwMode="auto">
          <a:xfrm>
            <a:off x="3492500" y="19637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5663" name="Text Box 25"/>
          <p:cNvSpPr txBox="1">
            <a:spLocks noChangeArrowheads="1"/>
          </p:cNvSpPr>
          <p:nvPr/>
        </p:nvSpPr>
        <p:spPr bwMode="auto">
          <a:xfrm>
            <a:off x="4675188" y="19637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5664" name="Text Box 26"/>
          <p:cNvSpPr txBox="1">
            <a:spLocks noChangeArrowheads="1"/>
          </p:cNvSpPr>
          <p:nvPr/>
        </p:nvSpPr>
        <p:spPr bwMode="auto">
          <a:xfrm>
            <a:off x="5930900" y="19637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1809" name="Group 27"/>
          <p:cNvGrpSpPr/>
          <p:nvPr/>
        </p:nvGrpSpPr>
        <p:grpSpPr bwMode="auto">
          <a:xfrm>
            <a:off x="2247900" y="3446463"/>
            <a:ext cx="838200" cy="381000"/>
            <a:chOff x="1968" y="1344"/>
            <a:chExt cx="528" cy="240"/>
          </a:xfrm>
          <a:solidFill>
            <a:srgbClr val="EAEAEA"/>
          </a:solidFill>
        </p:grpSpPr>
        <p:sp>
          <p:nvSpPr>
            <p:cNvPr id="155703" name="Rectangle 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4" name="Rectangle 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0" name="Group 30"/>
          <p:cNvGrpSpPr/>
          <p:nvPr/>
        </p:nvGrpSpPr>
        <p:grpSpPr bwMode="auto">
          <a:xfrm>
            <a:off x="3390900" y="3446463"/>
            <a:ext cx="838200" cy="381000"/>
            <a:chOff x="1968" y="1344"/>
            <a:chExt cx="528" cy="240"/>
          </a:xfrm>
          <a:solidFill>
            <a:srgbClr val="EAEAEA"/>
          </a:solidFill>
        </p:grpSpPr>
        <p:sp>
          <p:nvSpPr>
            <p:cNvPr id="155701" name="Rectangle 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2" name="Rectangle 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1" name="Group 33"/>
          <p:cNvGrpSpPr/>
          <p:nvPr/>
        </p:nvGrpSpPr>
        <p:grpSpPr bwMode="auto">
          <a:xfrm>
            <a:off x="4610100" y="3446463"/>
            <a:ext cx="838200" cy="381000"/>
            <a:chOff x="1968" y="1344"/>
            <a:chExt cx="528" cy="240"/>
          </a:xfrm>
          <a:solidFill>
            <a:srgbClr val="EAEAEA"/>
          </a:solidFill>
        </p:grpSpPr>
        <p:sp>
          <p:nvSpPr>
            <p:cNvPr id="155699" name="Rectangle 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0" name="Rectangle 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2" name="Group 36"/>
          <p:cNvGrpSpPr/>
          <p:nvPr/>
        </p:nvGrpSpPr>
        <p:grpSpPr bwMode="auto">
          <a:xfrm>
            <a:off x="5829300" y="3446463"/>
            <a:ext cx="838200" cy="381000"/>
            <a:chOff x="1968" y="1344"/>
            <a:chExt cx="528" cy="240"/>
          </a:xfrm>
          <a:solidFill>
            <a:srgbClr val="EAEAEA"/>
          </a:solidFill>
        </p:grpSpPr>
        <p:sp>
          <p:nvSpPr>
            <p:cNvPr id="155697" name="Rectangle 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8" name="Rectangle 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3" name="Group 39"/>
          <p:cNvGrpSpPr/>
          <p:nvPr/>
        </p:nvGrpSpPr>
        <p:grpSpPr bwMode="auto">
          <a:xfrm>
            <a:off x="6972300" y="3446463"/>
            <a:ext cx="838200" cy="381000"/>
            <a:chOff x="1968" y="1344"/>
            <a:chExt cx="528" cy="240"/>
          </a:xfrm>
          <a:solidFill>
            <a:srgbClr val="EAEAEA"/>
          </a:solidFill>
        </p:grpSpPr>
        <p:sp>
          <p:nvSpPr>
            <p:cNvPr id="155695" name="Rectangle 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6" name="Rectangle 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4" name="Group 42"/>
          <p:cNvGrpSpPr/>
          <p:nvPr/>
        </p:nvGrpSpPr>
        <p:grpSpPr bwMode="auto">
          <a:xfrm>
            <a:off x="8115300" y="3446463"/>
            <a:ext cx="838200" cy="381000"/>
            <a:chOff x="1968" y="1344"/>
            <a:chExt cx="528" cy="240"/>
          </a:xfrm>
          <a:solidFill>
            <a:srgbClr val="EAEAEA"/>
          </a:solidFill>
        </p:grpSpPr>
        <p:sp>
          <p:nvSpPr>
            <p:cNvPr id="155693" name="Rectangle 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4" name="Rectangle 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5671" name="Line 45"/>
          <p:cNvSpPr>
            <a:spLocks noChangeShapeType="1"/>
          </p:cNvSpPr>
          <p:nvPr/>
        </p:nvSpPr>
        <p:spPr bwMode="auto">
          <a:xfrm>
            <a:off x="29337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2" name="Line 46"/>
          <p:cNvSpPr>
            <a:spLocks noChangeShapeType="1"/>
          </p:cNvSpPr>
          <p:nvPr/>
        </p:nvSpPr>
        <p:spPr bwMode="auto">
          <a:xfrm>
            <a:off x="53721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3" name="Line 47"/>
          <p:cNvSpPr>
            <a:spLocks noChangeShapeType="1"/>
          </p:cNvSpPr>
          <p:nvPr/>
        </p:nvSpPr>
        <p:spPr bwMode="auto">
          <a:xfrm>
            <a:off x="65151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4" name="Line 48"/>
          <p:cNvSpPr>
            <a:spLocks noChangeShapeType="1"/>
          </p:cNvSpPr>
          <p:nvPr/>
        </p:nvSpPr>
        <p:spPr bwMode="auto">
          <a:xfrm>
            <a:off x="41529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5" name="Line 49"/>
          <p:cNvSpPr>
            <a:spLocks noChangeShapeType="1"/>
          </p:cNvSpPr>
          <p:nvPr/>
        </p:nvSpPr>
        <p:spPr bwMode="auto">
          <a:xfrm>
            <a:off x="76581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6" name="Text Box 50"/>
          <p:cNvSpPr txBox="1">
            <a:spLocks noChangeArrowheads="1"/>
          </p:cNvSpPr>
          <p:nvPr/>
        </p:nvSpPr>
        <p:spPr bwMode="auto">
          <a:xfrm>
            <a:off x="2389188" y="33702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5677" name="Text Box 51"/>
          <p:cNvSpPr txBox="1">
            <a:spLocks noChangeArrowheads="1"/>
          </p:cNvSpPr>
          <p:nvPr/>
        </p:nvSpPr>
        <p:spPr bwMode="auto">
          <a:xfrm>
            <a:off x="3506788" y="33702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5678" name="Text Box 52"/>
          <p:cNvSpPr txBox="1">
            <a:spLocks noChangeArrowheads="1"/>
          </p:cNvSpPr>
          <p:nvPr/>
        </p:nvSpPr>
        <p:spPr bwMode="auto">
          <a:xfrm>
            <a:off x="4686300" y="34115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5679" name="Text Box 53"/>
          <p:cNvSpPr txBox="1">
            <a:spLocks noChangeArrowheads="1"/>
          </p:cNvSpPr>
          <p:nvPr/>
        </p:nvSpPr>
        <p:spPr bwMode="auto">
          <a:xfrm>
            <a:off x="5945188" y="34115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5680" name="Text Box 54"/>
          <p:cNvSpPr txBox="1">
            <a:spLocks noChangeArrowheads="1"/>
          </p:cNvSpPr>
          <p:nvPr/>
        </p:nvSpPr>
        <p:spPr bwMode="auto">
          <a:xfrm>
            <a:off x="6965950" y="341153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5681" name="Text Box 55"/>
          <p:cNvSpPr txBox="1">
            <a:spLocks noChangeArrowheads="1"/>
          </p:cNvSpPr>
          <p:nvPr/>
        </p:nvSpPr>
        <p:spPr bwMode="auto">
          <a:xfrm>
            <a:off x="8118475" y="3411538"/>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1826" name="Group 56"/>
          <p:cNvGrpSpPr/>
          <p:nvPr/>
        </p:nvGrpSpPr>
        <p:grpSpPr bwMode="auto">
          <a:xfrm>
            <a:off x="1033463" y="3436938"/>
            <a:ext cx="838200" cy="381000"/>
            <a:chOff x="1968" y="1344"/>
            <a:chExt cx="528" cy="240"/>
          </a:xfrm>
          <a:noFill/>
        </p:grpSpPr>
        <p:sp>
          <p:nvSpPr>
            <p:cNvPr id="155691" name="Rectangle 5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2" name="Rectangle 5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5683" name="Line 59"/>
          <p:cNvSpPr>
            <a:spLocks noChangeShapeType="1"/>
          </p:cNvSpPr>
          <p:nvPr/>
        </p:nvSpPr>
        <p:spPr bwMode="auto">
          <a:xfrm>
            <a:off x="1795463" y="3665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1829" name="Group 60"/>
          <p:cNvGrpSpPr/>
          <p:nvPr/>
        </p:nvGrpSpPr>
        <p:grpSpPr>
          <a:xfrm>
            <a:off x="98425" y="3308350"/>
            <a:ext cx="935038" cy="523875"/>
            <a:chOff x="725" y="1984"/>
            <a:chExt cx="589" cy="330"/>
          </a:xfrm>
        </p:grpSpPr>
        <p:sp>
          <p:nvSpPr>
            <p:cNvPr id="155689" name="Line 61"/>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0" name="Text Box 62"/>
            <p:cNvSpPr txBox="1">
              <a:spLocks noChangeArrowheads="1"/>
            </p:cNvSpPr>
            <p:nvPr/>
          </p:nvSpPr>
          <p:spPr bwMode="auto">
            <a:xfrm>
              <a:off x="725" y="1984"/>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5685" name="Text Box 63"/>
          <p:cNvSpPr txBox="1">
            <a:spLocks noChangeArrowheads="1"/>
          </p:cNvSpPr>
          <p:nvPr/>
        </p:nvSpPr>
        <p:spPr bwMode="auto">
          <a:xfrm>
            <a:off x="2293938" y="4127500"/>
            <a:ext cx="639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5686" name="Line 64"/>
          <p:cNvSpPr>
            <a:spLocks noChangeShapeType="1"/>
          </p:cNvSpPr>
          <p:nvPr/>
        </p:nvSpPr>
        <p:spPr bwMode="auto">
          <a:xfrm flipV="1">
            <a:off x="2520950" y="38195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87" name="Rectangle 68"/>
          <p:cNvSpPr>
            <a:spLocks noChangeArrowheads="1"/>
          </p:cNvSpPr>
          <p:nvPr/>
        </p:nvSpPr>
        <p:spPr bwMode="auto">
          <a:xfrm>
            <a:off x="790575" y="187325"/>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pa-&gt;data &lt;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pb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-&gt;data )</a:t>
            </a:r>
          </a:p>
        </p:txBody>
      </p:sp>
      <p:sp>
        <p:nvSpPr>
          <p:cNvPr id="590917" name="Text Box 69"/>
          <p:cNvSpPr txBox="1">
            <a:spLocks noChangeArrowheads="1"/>
          </p:cNvSpPr>
          <p:nvPr/>
        </p:nvSpPr>
        <p:spPr bwMode="auto">
          <a:xfrm>
            <a:off x="5059363" y="4289425"/>
            <a:ext cx="2909888" cy="579438"/>
          </a:xfrm>
          <a:prstGeom prst="rect">
            <a:avLst/>
          </a:prstGeom>
          <a:no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pa;</a:t>
            </a:r>
          </a:p>
        </p:txBody>
      </p:sp>
      <p:sp>
        <p:nvSpPr>
          <p:cNvPr id="66"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0917"/>
                                        </p:tgtEl>
                                        <p:attrNameLst>
                                          <p:attrName>style.visibility</p:attrName>
                                        </p:attrNameLst>
                                      </p:cBhvr>
                                      <p:to>
                                        <p:strVal val="visible"/>
                                      </p:to>
                                    </p:set>
                                    <p:animEffect transition="in" filter="box(in)">
                                      <p:cBhvr>
                                        <p:cTn id="7" dur="500"/>
                                        <p:tgtEl>
                                          <p:spTgt spid="59091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90869"/>
                                        </p:tgtEl>
                                        <p:attrNameLst>
                                          <p:attrName>style.visibility</p:attrName>
                                        </p:attrNameLst>
                                      </p:cBhvr>
                                      <p:to>
                                        <p:strVal val="visible"/>
                                      </p:to>
                                    </p:set>
                                    <p:animEffect transition="in" filter="diamond(in)">
                                      <p:cBhvr>
                                        <p:cTn id="12" dur="2000"/>
                                        <p:tgtEl>
                                          <p:spTgt spid="59086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2000" fill="hold"/>
                                        <p:tgtEl>
                                          <p:spTgt spid="59086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91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矩形 71"/>
          <p:cNvSpPr/>
          <p:nvPr/>
        </p:nvSpPr>
        <p:spPr>
          <a:xfrm>
            <a:off x="0" y="1412875"/>
            <a:ext cx="9144000" cy="39306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6674" name="Line 4"/>
          <p:cNvSpPr>
            <a:spLocks noChangeShapeType="1"/>
          </p:cNvSpPr>
          <p:nvPr/>
        </p:nvSpPr>
        <p:spPr bwMode="auto">
          <a:xfrm>
            <a:off x="3148013" y="22082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75" name="Text Box 5"/>
          <p:cNvSpPr txBox="1">
            <a:spLocks noChangeArrowheads="1"/>
          </p:cNvSpPr>
          <p:nvPr/>
        </p:nvSpPr>
        <p:spPr bwMode="auto">
          <a:xfrm>
            <a:off x="3843338" y="2382838"/>
            <a:ext cx="723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6676" name="Line 6"/>
          <p:cNvSpPr>
            <a:spLocks noChangeShapeType="1"/>
          </p:cNvSpPr>
          <p:nvPr/>
        </p:nvSpPr>
        <p:spPr bwMode="auto">
          <a:xfrm flipV="1">
            <a:off x="3771900" y="23336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77" name="Line 7"/>
          <p:cNvSpPr>
            <a:spLocks noChangeShapeType="1"/>
          </p:cNvSpPr>
          <p:nvPr/>
        </p:nvSpPr>
        <p:spPr bwMode="auto">
          <a:xfrm>
            <a:off x="2051050" y="2209800"/>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78" name="Text Box 8"/>
          <p:cNvSpPr txBox="1">
            <a:spLocks noChangeArrowheads="1"/>
          </p:cNvSpPr>
          <p:nvPr/>
        </p:nvSpPr>
        <p:spPr bwMode="auto">
          <a:xfrm>
            <a:off x="757238" y="1866900"/>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2824" name="Group 9"/>
          <p:cNvGrpSpPr/>
          <p:nvPr/>
        </p:nvGrpSpPr>
        <p:grpSpPr>
          <a:xfrm>
            <a:off x="3575050" y="1981200"/>
            <a:ext cx="838200" cy="381000"/>
            <a:chOff x="1968" y="1344"/>
            <a:chExt cx="528" cy="240"/>
          </a:xfrm>
        </p:grpSpPr>
        <p:sp>
          <p:nvSpPr>
            <p:cNvPr id="156742" name="Rectangle 10"/>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43" name="Rectangle 11"/>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25" name="Group 12"/>
          <p:cNvGrpSpPr/>
          <p:nvPr/>
        </p:nvGrpSpPr>
        <p:grpSpPr>
          <a:xfrm>
            <a:off x="4794250" y="1981200"/>
            <a:ext cx="838200" cy="381000"/>
            <a:chOff x="1968" y="1344"/>
            <a:chExt cx="528" cy="240"/>
          </a:xfrm>
        </p:grpSpPr>
        <p:sp>
          <p:nvSpPr>
            <p:cNvPr id="156740" name="Rectangle 13"/>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41" name="Rectangle 14"/>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26" name="Group 15"/>
          <p:cNvGrpSpPr/>
          <p:nvPr/>
        </p:nvGrpSpPr>
        <p:grpSpPr>
          <a:xfrm>
            <a:off x="6013450" y="1981200"/>
            <a:ext cx="838200" cy="381000"/>
            <a:chOff x="1968" y="1344"/>
            <a:chExt cx="528" cy="240"/>
          </a:xfrm>
        </p:grpSpPr>
        <p:sp>
          <p:nvSpPr>
            <p:cNvPr id="156738" name="Rectangle 16"/>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9" name="Rectangle 17"/>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27" name="Group 18"/>
          <p:cNvGrpSpPr/>
          <p:nvPr/>
        </p:nvGrpSpPr>
        <p:grpSpPr>
          <a:xfrm>
            <a:off x="2432050" y="1981200"/>
            <a:ext cx="838200" cy="381000"/>
            <a:chOff x="1968" y="1344"/>
            <a:chExt cx="528" cy="240"/>
          </a:xfrm>
        </p:grpSpPr>
        <p:sp>
          <p:nvSpPr>
            <p:cNvPr id="156736" name="Rectangle 1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7" name="Rectangle 2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683" name="Line 21"/>
          <p:cNvSpPr>
            <a:spLocks noChangeShapeType="1"/>
          </p:cNvSpPr>
          <p:nvPr/>
        </p:nvSpPr>
        <p:spPr bwMode="auto">
          <a:xfrm>
            <a:off x="3186113" y="2200275"/>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4" name="Line 22"/>
          <p:cNvSpPr>
            <a:spLocks noChangeShapeType="1"/>
          </p:cNvSpPr>
          <p:nvPr/>
        </p:nvSpPr>
        <p:spPr bwMode="auto">
          <a:xfrm>
            <a:off x="4337050" y="2209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5" name="Line 23"/>
          <p:cNvSpPr>
            <a:spLocks noChangeShapeType="1"/>
          </p:cNvSpPr>
          <p:nvPr/>
        </p:nvSpPr>
        <p:spPr bwMode="auto">
          <a:xfrm>
            <a:off x="5556250" y="2209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6" name="Text Box 24"/>
          <p:cNvSpPr txBox="1">
            <a:spLocks noChangeArrowheads="1"/>
          </p:cNvSpPr>
          <p:nvPr/>
        </p:nvSpPr>
        <p:spPr bwMode="auto">
          <a:xfrm>
            <a:off x="3690938" y="19145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6687" name="Text Box 25"/>
          <p:cNvSpPr txBox="1">
            <a:spLocks noChangeArrowheads="1"/>
          </p:cNvSpPr>
          <p:nvPr/>
        </p:nvSpPr>
        <p:spPr bwMode="auto">
          <a:xfrm>
            <a:off x="4873625" y="19145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6688" name="Text Box 26"/>
          <p:cNvSpPr txBox="1">
            <a:spLocks noChangeArrowheads="1"/>
          </p:cNvSpPr>
          <p:nvPr/>
        </p:nvSpPr>
        <p:spPr bwMode="auto">
          <a:xfrm>
            <a:off x="6129338" y="19145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2834" name="Group 27"/>
          <p:cNvGrpSpPr/>
          <p:nvPr/>
        </p:nvGrpSpPr>
        <p:grpSpPr>
          <a:xfrm>
            <a:off x="2128838" y="3308350"/>
            <a:ext cx="838200" cy="381000"/>
            <a:chOff x="1968" y="1344"/>
            <a:chExt cx="528" cy="240"/>
          </a:xfrm>
        </p:grpSpPr>
        <p:sp>
          <p:nvSpPr>
            <p:cNvPr id="156734" name="Rectangle 28"/>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5" name="Rectangle 29"/>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5" name="Group 30"/>
          <p:cNvGrpSpPr/>
          <p:nvPr/>
        </p:nvGrpSpPr>
        <p:grpSpPr>
          <a:xfrm>
            <a:off x="3271838" y="3308350"/>
            <a:ext cx="838200" cy="381000"/>
            <a:chOff x="1968" y="1344"/>
            <a:chExt cx="528" cy="240"/>
          </a:xfrm>
        </p:grpSpPr>
        <p:sp>
          <p:nvSpPr>
            <p:cNvPr id="156732" name="Rectangle 31"/>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3" name="Rectangle 32"/>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6" name="Group 33"/>
          <p:cNvGrpSpPr/>
          <p:nvPr/>
        </p:nvGrpSpPr>
        <p:grpSpPr>
          <a:xfrm>
            <a:off x="4491038" y="3308350"/>
            <a:ext cx="838200" cy="381000"/>
            <a:chOff x="1968" y="1344"/>
            <a:chExt cx="528" cy="240"/>
          </a:xfrm>
        </p:grpSpPr>
        <p:sp>
          <p:nvSpPr>
            <p:cNvPr id="156730" name="Rectangle 34"/>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1" name="Rectangle 35"/>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7" name="Group 36"/>
          <p:cNvGrpSpPr/>
          <p:nvPr/>
        </p:nvGrpSpPr>
        <p:grpSpPr>
          <a:xfrm>
            <a:off x="5710238" y="3308350"/>
            <a:ext cx="838200" cy="381000"/>
            <a:chOff x="1968" y="1344"/>
            <a:chExt cx="528" cy="240"/>
          </a:xfrm>
        </p:grpSpPr>
        <p:sp>
          <p:nvSpPr>
            <p:cNvPr id="156728" name="Rectangle 37"/>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9" name="Rectangle 38"/>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8" name="Group 39"/>
          <p:cNvGrpSpPr/>
          <p:nvPr/>
        </p:nvGrpSpPr>
        <p:grpSpPr>
          <a:xfrm>
            <a:off x="6853238" y="3308350"/>
            <a:ext cx="838200" cy="381000"/>
            <a:chOff x="1968" y="1344"/>
            <a:chExt cx="528" cy="240"/>
          </a:xfrm>
        </p:grpSpPr>
        <p:sp>
          <p:nvSpPr>
            <p:cNvPr id="156726" name="Rectangle 40"/>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7" name="Rectangle 41"/>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9" name="Group 42"/>
          <p:cNvGrpSpPr/>
          <p:nvPr/>
        </p:nvGrpSpPr>
        <p:grpSpPr>
          <a:xfrm>
            <a:off x="7996238" y="3308350"/>
            <a:ext cx="838200" cy="381000"/>
            <a:chOff x="1968" y="1344"/>
            <a:chExt cx="528" cy="240"/>
          </a:xfrm>
        </p:grpSpPr>
        <p:sp>
          <p:nvSpPr>
            <p:cNvPr id="156724" name="Rectangle 43"/>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5" name="Rectangle 44"/>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695" name="Line 45"/>
          <p:cNvSpPr>
            <a:spLocks noChangeShapeType="1"/>
          </p:cNvSpPr>
          <p:nvPr/>
        </p:nvSpPr>
        <p:spPr bwMode="auto">
          <a:xfrm>
            <a:off x="28146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6" name="Line 46"/>
          <p:cNvSpPr>
            <a:spLocks noChangeShapeType="1"/>
          </p:cNvSpPr>
          <p:nvPr/>
        </p:nvSpPr>
        <p:spPr bwMode="auto">
          <a:xfrm>
            <a:off x="52530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7" name="Line 47"/>
          <p:cNvSpPr>
            <a:spLocks noChangeShapeType="1"/>
          </p:cNvSpPr>
          <p:nvPr/>
        </p:nvSpPr>
        <p:spPr bwMode="auto">
          <a:xfrm>
            <a:off x="63960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8" name="Line 48"/>
          <p:cNvSpPr>
            <a:spLocks noChangeShapeType="1"/>
          </p:cNvSpPr>
          <p:nvPr/>
        </p:nvSpPr>
        <p:spPr bwMode="auto">
          <a:xfrm>
            <a:off x="40338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9" name="Line 49"/>
          <p:cNvSpPr>
            <a:spLocks noChangeShapeType="1"/>
          </p:cNvSpPr>
          <p:nvPr/>
        </p:nvSpPr>
        <p:spPr bwMode="auto">
          <a:xfrm>
            <a:off x="75390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0" name="Text Box 50"/>
          <p:cNvSpPr txBox="1">
            <a:spLocks noChangeArrowheads="1"/>
          </p:cNvSpPr>
          <p:nvPr/>
        </p:nvSpPr>
        <p:spPr bwMode="auto">
          <a:xfrm>
            <a:off x="2270125" y="32321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6701" name="Text Box 51"/>
          <p:cNvSpPr txBox="1">
            <a:spLocks noChangeArrowheads="1"/>
          </p:cNvSpPr>
          <p:nvPr/>
        </p:nvSpPr>
        <p:spPr bwMode="auto">
          <a:xfrm>
            <a:off x="3387725" y="32321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6702" name="Text Box 52"/>
          <p:cNvSpPr txBox="1">
            <a:spLocks noChangeArrowheads="1"/>
          </p:cNvSpPr>
          <p:nvPr/>
        </p:nvSpPr>
        <p:spPr bwMode="auto">
          <a:xfrm>
            <a:off x="4567238" y="32734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6703" name="Text Box 53"/>
          <p:cNvSpPr txBox="1">
            <a:spLocks noChangeArrowheads="1"/>
          </p:cNvSpPr>
          <p:nvPr/>
        </p:nvSpPr>
        <p:spPr bwMode="auto">
          <a:xfrm>
            <a:off x="5826125" y="32734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6704" name="Text Box 54"/>
          <p:cNvSpPr txBox="1">
            <a:spLocks noChangeArrowheads="1"/>
          </p:cNvSpPr>
          <p:nvPr/>
        </p:nvSpPr>
        <p:spPr bwMode="auto">
          <a:xfrm>
            <a:off x="6846888" y="32734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6705" name="Text Box 55"/>
          <p:cNvSpPr txBox="1">
            <a:spLocks noChangeArrowheads="1"/>
          </p:cNvSpPr>
          <p:nvPr/>
        </p:nvSpPr>
        <p:spPr bwMode="auto">
          <a:xfrm>
            <a:off x="7999413" y="327342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2850" name="Group 56"/>
          <p:cNvGrpSpPr/>
          <p:nvPr/>
        </p:nvGrpSpPr>
        <p:grpSpPr bwMode="auto">
          <a:xfrm>
            <a:off x="914401" y="3298599"/>
            <a:ext cx="838200" cy="381000"/>
            <a:chOff x="1968" y="1344"/>
            <a:chExt cx="528" cy="240"/>
          </a:xfrm>
          <a:noFill/>
        </p:grpSpPr>
        <p:sp>
          <p:nvSpPr>
            <p:cNvPr id="156722" name="Rectangle 5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3" name="Rectangle 5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707" name="Line 59"/>
          <p:cNvSpPr>
            <a:spLocks noChangeShapeType="1"/>
          </p:cNvSpPr>
          <p:nvPr/>
        </p:nvSpPr>
        <p:spPr bwMode="auto">
          <a:xfrm>
            <a:off x="1676400" y="35274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2853" name="Group 60"/>
          <p:cNvGrpSpPr/>
          <p:nvPr/>
        </p:nvGrpSpPr>
        <p:grpSpPr>
          <a:xfrm>
            <a:off x="-36512" y="3136900"/>
            <a:ext cx="950912" cy="584200"/>
            <a:chOff x="715" y="1963"/>
            <a:chExt cx="599" cy="368"/>
          </a:xfrm>
        </p:grpSpPr>
        <p:sp>
          <p:nvSpPr>
            <p:cNvPr id="156720" name="Line 61"/>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1" name="Text Box 62"/>
            <p:cNvSpPr txBox="1">
              <a:spLocks noChangeArrowheads="1"/>
            </p:cNvSpPr>
            <p:nvPr/>
          </p:nvSpPr>
          <p:spPr bwMode="auto">
            <a:xfrm>
              <a:off x="715" y="1963"/>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6709" name="Text Box 63"/>
          <p:cNvSpPr txBox="1">
            <a:spLocks noChangeArrowheads="1"/>
          </p:cNvSpPr>
          <p:nvPr/>
        </p:nvSpPr>
        <p:spPr bwMode="auto">
          <a:xfrm>
            <a:off x="2473325" y="3730625"/>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6710" name="Line 64"/>
          <p:cNvSpPr>
            <a:spLocks noChangeShapeType="1"/>
          </p:cNvSpPr>
          <p:nvPr/>
        </p:nvSpPr>
        <p:spPr bwMode="auto">
          <a:xfrm flipV="1">
            <a:off x="2401888" y="368141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11" name="Rectangle 65"/>
          <p:cNvSpPr>
            <a:spLocks noChangeArrowheads="1"/>
          </p:cNvSpPr>
          <p:nvPr/>
        </p:nvSpPr>
        <p:spPr bwMode="auto">
          <a:xfrm>
            <a:off x="803275" y="203200"/>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pa-&gt;data &lt;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pb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-&gt;data )</a:t>
            </a:r>
          </a:p>
        </p:txBody>
      </p:sp>
      <p:sp>
        <p:nvSpPr>
          <p:cNvPr id="156712" name="Text Box 66"/>
          <p:cNvSpPr txBox="1">
            <a:spLocks noChangeArrowheads="1"/>
          </p:cNvSpPr>
          <p:nvPr/>
        </p:nvSpPr>
        <p:spPr bwMode="auto">
          <a:xfrm>
            <a:off x="4781550" y="4019550"/>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pc-&gt;next = pa;</a:t>
            </a:r>
          </a:p>
        </p:txBody>
      </p:sp>
      <p:sp>
        <p:nvSpPr>
          <p:cNvPr id="591940" name="Text Box 68"/>
          <p:cNvSpPr txBox="1">
            <a:spLocks noChangeArrowheads="1"/>
          </p:cNvSpPr>
          <p:nvPr/>
        </p:nvSpPr>
        <p:spPr bwMode="auto">
          <a:xfrm>
            <a:off x="4794250" y="4598988"/>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pc= pa;</a:t>
            </a:r>
          </a:p>
        </p:txBody>
      </p:sp>
      <p:grpSp>
        <p:nvGrpSpPr>
          <p:cNvPr id="14" name="Group 76"/>
          <p:cNvGrpSpPr/>
          <p:nvPr/>
        </p:nvGrpSpPr>
        <p:grpSpPr>
          <a:xfrm>
            <a:off x="3565525" y="1925638"/>
            <a:ext cx="838200" cy="461962"/>
            <a:chOff x="2467" y="616"/>
            <a:chExt cx="528" cy="291"/>
          </a:xfrm>
        </p:grpSpPr>
        <p:grpSp>
          <p:nvGrpSpPr>
            <p:cNvPr id="162862" name="Group 72"/>
            <p:cNvGrpSpPr/>
            <p:nvPr/>
          </p:nvGrpSpPr>
          <p:grpSpPr>
            <a:xfrm>
              <a:off x="2467" y="658"/>
              <a:ext cx="528" cy="240"/>
              <a:chOff x="1968" y="1344"/>
              <a:chExt cx="528" cy="240"/>
            </a:xfrm>
          </p:grpSpPr>
          <p:sp>
            <p:nvSpPr>
              <p:cNvPr id="156718" name="Rectangle 7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19" name="Rectangle 7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717" name="Text Box 75"/>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sp>
        <p:nvSpPr>
          <p:cNvPr id="591950" name="Text Box 78"/>
          <p:cNvSpPr txBox="1">
            <a:spLocks noChangeArrowheads="1"/>
          </p:cNvSpPr>
          <p:nvPr/>
        </p:nvSpPr>
        <p:spPr bwMode="auto">
          <a:xfrm>
            <a:off x="3073400" y="2346325"/>
            <a:ext cx="868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73"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1940"/>
                                        </p:tgtEl>
                                        <p:attrNameLst>
                                          <p:attrName>style.visibility</p:attrName>
                                        </p:attrNameLst>
                                      </p:cBhvr>
                                      <p:to>
                                        <p:strVal val="visible"/>
                                      </p:to>
                                    </p:set>
                                    <p:animEffect transition="in" filter="box(in)">
                                      <p:cBhvr>
                                        <p:cTn id="7" dur="500"/>
                                        <p:tgtEl>
                                          <p:spTgt spid="59194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1950"/>
                                        </p:tgtEl>
                                        <p:attrNameLst>
                                          <p:attrName>style.visibility</p:attrName>
                                        </p:attrNameLst>
                                      </p:cBhvr>
                                      <p:to>
                                        <p:strVal val="visible"/>
                                      </p:to>
                                    </p:set>
                                    <p:animEffect transition="in" filter="box(in)">
                                      <p:cBhvr>
                                        <p:cTn id="12" dur="500"/>
                                        <p:tgtEl>
                                          <p:spTgt spid="591950"/>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amond(in)">
                                      <p:cBhvr>
                                        <p:cTn id="17" dur="3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mph" presetSubtype="0" fill="hold" nodeType="clickEffect">
                                  <p:stCondLst>
                                    <p:cond delay="0"/>
                                  </p:stCondLst>
                                  <p:childTnLst>
                                    <p:animScale>
                                      <p:cBhvr>
                                        <p:cTn id="21" dur="2000" fill="hold"/>
                                        <p:tgtEl>
                                          <p:spTgt spid="1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940" grpId="0"/>
      <p:bldP spid="591950"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矩形 75"/>
          <p:cNvSpPr/>
          <p:nvPr/>
        </p:nvSpPr>
        <p:spPr>
          <a:xfrm>
            <a:off x="0" y="1411288"/>
            <a:ext cx="9144000" cy="4754562"/>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7698" name="Line 4"/>
          <p:cNvSpPr>
            <a:spLocks noChangeShapeType="1"/>
          </p:cNvSpPr>
          <p:nvPr/>
        </p:nvSpPr>
        <p:spPr bwMode="auto">
          <a:xfrm>
            <a:off x="2552700" y="20859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699" name="Line 6"/>
          <p:cNvSpPr>
            <a:spLocks noChangeShapeType="1"/>
          </p:cNvSpPr>
          <p:nvPr/>
        </p:nvSpPr>
        <p:spPr bwMode="auto">
          <a:xfrm flipV="1">
            <a:off x="3176588" y="2211388"/>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0" name="Line 7"/>
          <p:cNvSpPr>
            <a:spLocks noChangeShapeType="1"/>
          </p:cNvSpPr>
          <p:nvPr/>
        </p:nvSpPr>
        <p:spPr bwMode="auto">
          <a:xfrm>
            <a:off x="1455738" y="2087563"/>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1" name="Text Box 8"/>
          <p:cNvSpPr txBox="1">
            <a:spLocks noChangeArrowheads="1"/>
          </p:cNvSpPr>
          <p:nvPr/>
        </p:nvSpPr>
        <p:spPr bwMode="auto">
          <a:xfrm>
            <a:off x="133350" y="1770063"/>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3847" name="Group 9"/>
          <p:cNvGrpSpPr/>
          <p:nvPr/>
        </p:nvGrpSpPr>
        <p:grpSpPr>
          <a:xfrm>
            <a:off x="2979738" y="1858963"/>
            <a:ext cx="838200" cy="381000"/>
            <a:chOff x="1968" y="1344"/>
            <a:chExt cx="528" cy="240"/>
          </a:xfrm>
        </p:grpSpPr>
        <p:sp>
          <p:nvSpPr>
            <p:cNvPr id="157770" name="Rectangle 10"/>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71" name="Rectangle 11"/>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12"/>
          <p:cNvGrpSpPr/>
          <p:nvPr/>
        </p:nvGrpSpPr>
        <p:grpSpPr bwMode="auto">
          <a:xfrm>
            <a:off x="4198938" y="1858510"/>
            <a:ext cx="838200" cy="381000"/>
            <a:chOff x="1968" y="1344"/>
            <a:chExt cx="528" cy="240"/>
          </a:xfrm>
          <a:solidFill>
            <a:srgbClr val="D7D7FF"/>
          </a:solidFill>
        </p:grpSpPr>
        <p:sp>
          <p:nvSpPr>
            <p:cNvPr id="157768" name="Rectangle 1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9" name="Rectangle 1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48" name="Group 15"/>
          <p:cNvGrpSpPr/>
          <p:nvPr/>
        </p:nvGrpSpPr>
        <p:grpSpPr bwMode="auto">
          <a:xfrm>
            <a:off x="5418138" y="1858510"/>
            <a:ext cx="838200" cy="381000"/>
            <a:chOff x="1968" y="1344"/>
            <a:chExt cx="528" cy="240"/>
          </a:xfrm>
          <a:solidFill>
            <a:srgbClr val="D7D7FF"/>
          </a:solidFill>
        </p:grpSpPr>
        <p:sp>
          <p:nvSpPr>
            <p:cNvPr id="157766" name="Rectangle 1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7" name="Rectangle 1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0" name="Group 18"/>
          <p:cNvGrpSpPr/>
          <p:nvPr/>
        </p:nvGrpSpPr>
        <p:grpSpPr>
          <a:xfrm>
            <a:off x="1836738" y="1858963"/>
            <a:ext cx="838200" cy="381000"/>
            <a:chOff x="1968" y="1344"/>
            <a:chExt cx="528" cy="240"/>
          </a:xfrm>
        </p:grpSpPr>
        <p:sp>
          <p:nvSpPr>
            <p:cNvPr id="157764" name="Rectangle 1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5" name="Rectangle 2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06" name="Line 21"/>
          <p:cNvSpPr>
            <a:spLocks noChangeShapeType="1"/>
          </p:cNvSpPr>
          <p:nvPr/>
        </p:nvSpPr>
        <p:spPr bwMode="auto">
          <a:xfrm>
            <a:off x="2590800" y="2078038"/>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7" name="Line 22"/>
          <p:cNvSpPr>
            <a:spLocks noChangeShapeType="1"/>
          </p:cNvSpPr>
          <p:nvPr/>
        </p:nvSpPr>
        <p:spPr bwMode="auto">
          <a:xfrm>
            <a:off x="3741738" y="20875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8" name="Line 23"/>
          <p:cNvSpPr>
            <a:spLocks noChangeShapeType="1"/>
          </p:cNvSpPr>
          <p:nvPr/>
        </p:nvSpPr>
        <p:spPr bwMode="auto">
          <a:xfrm>
            <a:off x="4960938" y="20875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9" name="Text Box 24"/>
          <p:cNvSpPr txBox="1">
            <a:spLocks noChangeArrowheads="1"/>
          </p:cNvSpPr>
          <p:nvPr/>
        </p:nvSpPr>
        <p:spPr bwMode="auto">
          <a:xfrm>
            <a:off x="3095625" y="17922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7710" name="Text Box 25"/>
          <p:cNvSpPr txBox="1">
            <a:spLocks noChangeArrowheads="1"/>
          </p:cNvSpPr>
          <p:nvPr/>
        </p:nvSpPr>
        <p:spPr bwMode="auto">
          <a:xfrm>
            <a:off x="4278313" y="17922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7711" name="Text Box 26"/>
          <p:cNvSpPr txBox="1">
            <a:spLocks noChangeArrowheads="1"/>
          </p:cNvSpPr>
          <p:nvPr/>
        </p:nvSpPr>
        <p:spPr bwMode="auto">
          <a:xfrm>
            <a:off x="5534025" y="17922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3856" name="Group 27"/>
          <p:cNvGrpSpPr/>
          <p:nvPr/>
        </p:nvGrpSpPr>
        <p:grpSpPr bwMode="auto">
          <a:xfrm>
            <a:off x="2217738" y="3201534"/>
            <a:ext cx="838200" cy="381000"/>
            <a:chOff x="1968" y="1344"/>
            <a:chExt cx="528" cy="240"/>
          </a:xfrm>
          <a:solidFill>
            <a:srgbClr val="D7D7FF"/>
          </a:solidFill>
        </p:grpSpPr>
        <p:sp>
          <p:nvSpPr>
            <p:cNvPr id="157762" name="Rectangle 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3" name="Rectangle 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7" name="Group 30"/>
          <p:cNvGrpSpPr/>
          <p:nvPr/>
        </p:nvGrpSpPr>
        <p:grpSpPr bwMode="auto">
          <a:xfrm>
            <a:off x="3360738" y="3201534"/>
            <a:ext cx="838200" cy="381000"/>
            <a:chOff x="1968" y="1344"/>
            <a:chExt cx="528" cy="240"/>
          </a:xfrm>
          <a:solidFill>
            <a:srgbClr val="D7D7FF"/>
          </a:solidFill>
        </p:grpSpPr>
        <p:sp>
          <p:nvSpPr>
            <p:cNvPr id="157760" name="Rectangle 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1" name="Rectangle 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8" name="Group 33"/>
          <p:cNvGrpSpPr/>
          <p:nvPr/>
        </p:nvGrpSpPr>
        <p:grpSpPr bwMode="auto">
          <a:xfrm>
            <a:off x="4579938" y="3201534"/>
            <a:ext cx="838200" cy="381000"/>
            <a:chOff x="1968" y="1344"/>
            <a:chExt cx="528" cy="240"/>
          </a:xfrm>
          <a:solidFill>
            <a:srgbClr val="D7D7FF"/>
          </a:solidFill>
        </p:grpSpPr>
        <p:sp>
          <p:nvSpPr>
            <p:cNvPr id="157758" name="Rectangle 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9" name="Rectangle 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9" name="Group 36"/>
          <p:cNvGrpSpPr/>
          <p:nvPr/>
        </p:nvGrpSpPr>
        <p:grpSpPr bwMode="auto">
          <a:xfrm>
            <a:off x="5799138" y="3201534"/>
            <a:ext cx="838200" cy="381000"/>
            <a:chOff x="1968" y="1344"/>
            <a:chExt cx="528" cy="240"/>
          </a:xfrm>
          <a:solidFill>
            <a:srgbClr val="D7D7FF"/>
          </a:solidFill>
        </p:grpSpPr>
        <p:sp>
          <p:nvSpPr>
            <p:cNvPr id="157756" name="Rectangle 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7" name="Rectangle 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60" name="Group 39"/>
          <p:cNvGrpSpPr/>
          <p:nvPr/>
        </p:nvGrpSpPr>
        <p:grpSpPr bwMode="auto">
          <a:xfrm>
            <a:off x="6942138" y="3201534"/>
            <a:ext cx="838200" cy="381000"/>
            <a:chOff x="1968" y="1344"/>
            <a:chExt cx="528" cy="240"/>
          </a:xfrm>
          <a:solidFill>
            <a:srgbClr val="D7D7FF"/>
          </a:solidFill>
        </p:grpSpPr>
        <p:sp>
          <p:nvSpPr>
            <p:cNvPr id="157754" name="Rectangle 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5" name="Rectangle 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61" name="Group 42"/>
          <p:cNvGrpSpPr/>
          <p:nvPr/>
        </p:nvGrpSpPr>
        <p:grpSpPr bwMode="auto">
          <a:xfrm>
            <a:off x="8085138" y="3201534"/>
            <a:ext cx="838200" cy="381000"/>
            <a:chOff x="1968" y="1344"/>
            <a:chExt cx="528" cy="240"/>
          </a:xfrm>
          <a:solidFill>
            <a:srgbClr val="D7D7FF"/>
          </a:solidFill>
        </p:grpSpPr>
        <p:sp>
          <p:nvSpPr>
            <p:cNvPr id="157752" name="Rectangle 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3" name="Rectangle 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18" name="Line 45"/>
          <p:cNvSpPr>
            <a:spLocks noChangeShapeType="1"/>
          </p:cNvSpPr>
          <p:nvPr/>
        </p:nvSpPr>
        <p:spPr bwMode="auto">
          <a:xfrm>
            <a:off x="29035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19" name="Line 46"/>
          <p:cNvSpPr>
            <a:spLocks noChangeShapeType="1"/>
          </p:cNvSpPr>
          <p:nvPr/>
        </p:nvSpPr>
        <p:spPr bwMode="auto">
          <a:xfrm>
            <a:off x="53419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0" name="Line 47"/>
          <p:cNvSpPr>
            <a:spLocks noChangeShapeType="1"/>
          </p:cNvSpPr>
          <p:nvPr/>
        </p:nvSpPr>
        <p:spPr bwMode="auto">
          <a:xfrm>
            <a:off x="64849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1" name="Line 48"/>
          <p:cNvSpPr>
            <a:spLocks noChangeShapeType="1"/>
          </p:cNvSpPr>
          <p:nvPr/>
        </p:nvSpPr>
        <p:spPr bwMode="auto">
          <a:xfrm>
            <a:off x="41227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2" name="Line 49"/>
          <p:cNvSpPr>
            <a:spLocks noChangeShapeType="1"/>
          </p:cNvSpPr>
          <p:nvPr/>
        </p:nvSpPr>
        <p:spPr bwMode="auto">
          <a:xfrm>
            <a:off x="76279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3" name="Text Box 50"/>
          <p:cNvSpPr txBox="1">
            <a:spLocks noChangeArrowheads="1"/>
          </p:cNvSpPr>
          <p:nvPr/>
        </p:nvSpPr>
        <p:spPr bwMode="auto">
          <a:xfrm>
            <a:off x="2359025" y="31257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7724" name="Text Box 51"/>
          <p:cNvSpPr txBox="1">
            <a:spLocks noChangeArrowheads="1"/>
          </p:cNvSpPr>
          <p:nvPr/>
        </p:nvSpPr>
        <p:spPr bwMode="auto">
          <a:xfrm>
            <a:off x="3476625" y="31257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7725" name="Text Box 52"/>
          <p:cNvSpPr txBox="1">
            <a:spLocks noChangeArrowheads="1"/>
          </p:cNvSpPr>
          <p:nvPr/>
        </p:nvSpPr>
        <p:spPr bwMode="auto">
          <a:xfrm>
            <a:off x="4656138" y="31670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7726" name="Text Box 53"/>
          <p:cNvSpPr txBox="1">
            <a:spLocks noChangeArrowheads="1"/>
          </p:cNvSpPr>
          <p:nvPr/>
        </p:nvSpPr>
        <p:spPr bwMode="auto">
          <a:xfrm>
            <a:off x="5915025" y="31670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7727" name="Text Box 54"/>
          <p:cNvSpPr txBox="1">
            <a:spLocks noChangeArrowheads="1"/>
          </p:cNvSpPr>
          <p:nvPr/>
        </p:nvSpPr>
        <p:spPr bwMode="auto">
          <a:xfrm>
            <a:off x="6935788" y="316706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7728" name="Text Box 55"/>
          <p:cNvSpPr txBox="1">
            <a:spLocks noChangeArrowheads="1"/>
          </p:cNvSpPr>
          <p:nvPr/>
        </p:nvSpPr>
        <p:spPr bwMode="auto">
          <a:xfrm>
            <a:off x="8088313" y="316706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3873" name="Group 56"/>
          <p:cNvGrpSpPr/>
          <p:nvPr/>
        </p:nvGrpSpPr>
        <p:grpSpPr bwMode="auto">
          <a:xfrm>
            <a:off x="1003301" y="3192009"/>
            <a:ext cx="838200" cy="381000"/>
            <a:chOff x="1968" y="1344"/>
            <a:chExt cx="528" cy="240"/>
          </a:xfrm>
          <a:noFill/>
        </p:grpSpPr>
        <p:sp>
          <p:nvSpPr>
            <p:cNvPr id="157750" name="Rectangle 5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1" name="Rectangle 5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30" name="Line 59"/>
          <p:cNvSpPr>
            <a:spLocks noChangeShapeType="1"/>
          </p:cNvSpPr>
          <p:nvPr/>
        </p:nvSpPr>
        <p:spPr bwMode="auto">
          <a:xfrm>
            <a:off x="1765300" y="34210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3876" name="Group 60"/>
          <p:cNvGrpSpPr/>
          <p:nvPr/>
        </p:nvGrpSpPr>
        <p:grpSpPr>
          <a:xfrm>
            <a:off x="52388" y="3014663"/>
            <a:ext cx="950912" cy="584200"/>
            <a:chOff x="715" y="1953"/>
            <a:chExt cx="599" cy="368"/>
          </a:xfrm>
        </p:grpSpPr>
        <p:sp>
          <p:nvSpPr>
            <p:cNvPr id="157748" name="Line 61"/>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49" name="Text Box 62"/>
            <p:cNvSpPr txBox="1">
              <a:spLocks noChangeArrowheads="1"/>
            </p:cNvSpPr>
            <p:nvPr/>
          </p:nvSpPr>
          <p:spPr bwMode="auto">
            <a:xfrm>
              <a:off x="715" y="1953"/>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7732" name="Text Box 63"/>
          <p:cNvSpPr txBox="1">
            <a:spLocks noChangeArrowheads="1"/>
          </p:cNvSpPr>
          <p:nvPr/>
        </p:nvSpPr>
        <p:spPr bwMode="auto">
          <a:xfrm>
            <a:off x="2562225" y="3624263"/>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7733" name="Line 64"/>
          <p:cNvSpPr>
            <a:spLocks noChangeShapeType="1"/>
          </p:cNvSpPr>
          <p:nvPr/>
        </p:nvSpPr>
        <p:spPr bwMode="auto">
          <a:xfrm flipV="1">
            <a:off x="2490788" y="357505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34" name="Rectangle 65"/>
          <p:cNvSpPr>
            <a:spLocks noChangeArrowheads="1"/>
          </p:cNvSpPr>
          <p:nvPr/>
        </p:nvSpPr>
        <p:spPr bwMode="auto">
          <a:xfrm>
            <a:off x="790575" y="1889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pa-&gt;data &lt;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pb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-&gt;data )</a:t>
            </a:r>
          </a:p>
        </p:txBody>
      </p:sp>
      <p:sp>
        <p:nvSpPr>
          <p:cNvPr id="157735" name="Text Box 66"/>
          <p:cNvSpPr txBox="1">
            <a:spLocks noChangeArrowheads="1"/>
          </p:cNvSpPr>
          <p:nvPr/>
        </p:nvSpPr>
        <p:spPr bwMode="auto">
          <a:xfrm>
            <a:off x="4716463" y="3994150"/>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pc-&gt;next = pa;</a:t>
            </a:r>
          </a:p>
        </p:txBody>
      </p:sp>
      <p:sp>
        <p:nvSpPr>
          <p:cNvPr id="157736" name="Text Box 67"/>
          <p:cNvSpPr txBox="1">
            <a:spLocks noChangeArrowheads="1"/>
          </p:cNvSpPr>
          <p:nvPr/>
        </p:nvSpPr>
        <p:spPr bwMode="auto">
          <a:xfrm>
            <a:off x="4729163" y="4573588"/>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 pa;</a:t>
            </a:r>
          </a:p>
        </p:txBody>
      </p:sp>
      <p:grpSp>
        <p:nvGrpSpPr>
          <p:cNvPr id="163882" name="Group 68"/>
          <p:cNvGrpSpPr/>
          <p:nvPr/>
        </p:nvGrpSpPr>
        <p:grpSpPr>
          <a:xfrm>
            <a:off x="2970213" y="1803400"/>
            <a:ext cx="838200" cy="461963"/>
            <a:chOff x="2467" y="616"/>
            <a:chExt cx="528" cy="291"/>
          </a:xfrm>
        </p:grpSpPr>
        <p:grpSp>
          <p:nvGrpSpPr>
            <p:cNvPr id="163885" name="Group 69"/>
            <p:cNvGrpSpPr/>
            <p:nvPr/>
          </p:nvGrpSpPr>
          <p:grpSpPr>
            <a:xfrm>
              <a:off x="2467" y="658"/>
              <a:ext cx="528" cy="240"/>
              <a:chOff x="1968" y="1344"/>
              <a:chExt cx="528" cy="240"/>
            </a:xfrm>
          </p:grpSpPr>
          <p:sp>
            <p:nvSpPr>
              <p:cNvPr id="157746" name="Rectangle 7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47" name="Rectangle 7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45" name="Text Box 72"/>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sp>
        <p:nvSpPr>
          <p:cNvPr id="157738" name="Text Box 73"/>
          <p:cNvSpPr txBox="1">
            <a:spLocks noChangeArrowheads="1"/>
          </p:cNvSpPr>
          <p:nvPr/>
        </p:nvSpPr>
        <p:spPr bwMode="auto">
          <a:xfrm>
            <a:off x="2478088" y="2224088"/>
            <a:ext cx="868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6" name="Group 77"/>
          <p:cNvGrpSpPr/>
          <p:nvPr/>
        </p:nvGrpSpPr>
        <p:grpSpPr bwMode="auto">
          <a:xfrm>
            <a:off x="4728716" y="2358231"/>
            <a:ext cx="3681412" cy="3375025"/>
            <a:chOff x="3099" y="775"/>
            <a:chExt cx="2319" cy="2126"/>
          </a:xfrm>
          <a:noFill/>
        </p:grpSpPr>
        <p:sp>
          <p:nvSpPr>
            <p:cNvPr id="157740" name="Text Box 74"/>
            <p:cNvSpPr txBox="1">
              <a:spLocks noChangeArrowheads="1"/>
            </p:cNvSpPr>
            <p:nvPr/>
          </p:nvSpPr>
          <p:spPr bwMode="auto">
            <a:xfrm>
              <a:off x="3099" y="2536"/>
              <a:ext cx="2319"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pa = pa-&gt;next;</a:t>
              </a:r>
            </a:p>
          </p:txBody>
        </p:sp>
        <p:grpSp>
          <p:nvGrpSpPr>
            <p:cNvPr id="3" name="Group 76"/>
            <p:cNvGrpSpPr/>
            <p:nvPr/>
          </p:nvGrpSpPr>
          <p:grpSpPr bwMode="auto">
            <a:xfrm>
              <a:off x="3231" y="775"/>
              <a:ext cx="456" cy="365"/>
              <a:chOff x="3231" y="775"/>
              <a:chExt cx="456" cy="365"/>
            </a:xfrm>
            <a:grpFill/>
          </p:grpSpPr>
          <p:sp>
            <p:nvSpPr>
              <p:cNvPr id="157742" name="Text Box 5"/>
              <p:cNvSpPr txBox="1">
                <a:spLocks noChangeArrowheads="1"/>
              </p:cNvSpPr>
              <p:nvPr/>
            </p:nvSpPr>
            <p:spPr bwMode="auto">
              <a:xfrm>
                <a:off x="3231" y="775"/>
                <a:ext cx="45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7743" name="Line 75"/>
              <p:cNvSpPr>
                <a:spLocks noChangeShapeType="1"/>
              </p:cNvSpPr>
              <p:nvPr/>
            </p:nvSpPr>
            <p:spPr bwMode="auto">
              <a:xfrm flipV="1">
                <a:off x="3231" y="775"/>
                <a:ext cx="0" cy="240"/>
              </a:xfrm>
              <a:prstGeom prst="line">
                <a:avLst/>
              </a:prstGeom>
              <a:grpFill/>
              <a:ln w="57150">
                <a:solidFill>
                  <a:schemeClr val="tx1"/>
                </a:solidFill>
                <a:miter lim="800000"/>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2000" fill="hold"/>
                                        <p:tgtEl>
                                          <p:spTgt spid="16"/>
                                        </p:tgtEl>
                                        <p:attrNameLst>
                                          <p:attrName>ppt_x</p:attrName>
                                        </p:attrNameLst>
                                      </p:cBhvr>
                                      <p:tavLst>
                                        <p:tav tm="0">
                                          <p:val>
                                            <p:strVal val="#ppt_x"/>
                                          </p:val>
                                        </p:tav>
                                        <p:tav tm="100000">
                                          <p:val>
                                            <p:strVal val="#ppt_x"/>
                                          </p:val>
                                        </p:tav>
                                      </p:tavLst>
                                    </p:anim>
                                    <p:anim calcmode="lin" valueType="num">
                                      <p:cBhvr additive="base">
                                        <p:cTn id="8" dur="2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矩形 84"/>
          <p:cNvSpPr/>
          <p:nvPr/>
        </p:nvSpPr>
        <p:spPr>
          <a:xfrm>
            <a:off x="0" y="1411288"/>
            <a:ext cx="9144000" cy="374650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8722" name="Line 67"/>
          <p:cNvSpPr>
            <a:spLocks noChangeShapeType="1"/>
          </p:cNvSpPr>
          <p:nvPr/>
        </p:nvSpPr>
        <p:spPr bwMode="auto">
          <a:xfrm>
            <a:off x="3198813" y="22590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23" name="Line 68"/>
          <p:cNvSpPr>
            <a:spLocks noChangeShapeType="1"/>
          </p:cNvSpPr>
          <p:nvPr/>
        </p:nvSpPr>
        <p:spPr bwMode="auto">
          <a:xfrm flipV="1">
            <a:off x="3824288" y="23844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24" name="Line 69"/>
          <p:cNvSpPr>
            <a:spLocks noChangeShapeType="1"/>
          </p:cNvSpPr>
          <p:nvPr/>
        </p:nvSpPr>
        <p:spPr bwMode="auto">
          <a:xfrm>
            <a:off x="2103438" y="2260600"/>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25" name="Text Box 70"/>
          <p:cNvSpPr txBox="1">
            <a:spLocks noChangeArrowheads="1"/>
          </p:cNvSpPr>
          <p:nvPr/>
        </p:nvSpPr>
        <p:spPr bwMode="auto">
          <a:xfrm>
            <a:off x="865188" y="1843088"/>
            <a:ext cx="1473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p>
        </p:txBody>
      </p:sp>
      <p:grpSp>
        <p:nvGrpSpPr>
          <p:cNvPr id="164871" name="Group 71"/>
          <p:cNvGrpSpPr/>
          <p:nvPr/>
        </p:nvGrpSpPr>
        <p:grpSpPr>
          <a:xfrm>
            <a:off x="3627438" y="2032000"/>
            <a:ext cx="838200" cy="381000"/>
            <a:chOff x="1968" y="1344"/>
            <a:chExt cx="528" cy="240"/>
          </a:xfrm>
        </p:grpSpPr>
        <p:sp>
          <p:nvSpPr>
            <p:cNvPr id="158797" name="Rectangle 72"/>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8" name="Rectangle 73"/>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74"/>
          <p:cNvGrpSpPr/>
          <p:nvPr/>
        </p:nvGrpSpPr>
        <p:grpSpPr bwMode="auto">
          <a:xfrm>
            <a:off x="4845844" y="2031774"/>
            <a:ext cx="838200" cy="381000"/>
            <a:chOff x="1968" y="1344"/>
            <a:chExt cx="528" cy="240"/>
          </a:xfrm>
          <a:solidFill>
            <a:srgbClr val="9476B6"/>
          </a:solidFill>
        </p:grpSpPr>
        <p:sp>
          <p:nvSpPr>
            <p:cNvPr id="158795" name="Rectangle 7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6" name="Rectangle 7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72" name="Group 77"/>
          <p:cNvGrpSpPr/>
          <p:nvPr/>
        </p:nvGrpSpPr>
        <p:grpSpPr bwMode="auto">
          <a:xfrm>
            <a:off x="6065044" y="2031774"/>
            <a:ext cx="838200" cy="381000"/>
            <a:chOff x="1968" y="1344"/>
            <a:chExt cx="528" cy="240"/>
          </a:xfrm>
          <a:solidFill>
            <a:srgbClr val="9476B6"/>
          </a:solidFill>
        </p:grpSpPr>
        <p:sp>
          <p:nvSpPr>
            <p:cNvPr id="158793" name="Rectangle 7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4" name="Rectangle 7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74" name="Group 80"/>
          <p:cNvGrpSpPr/>
          <p:nvPr/>
        </p:nvGrpSpPr>
        <p:grpSpPr>
          <a:xfrm>
            <a:off x="2484438" y="2032000"/>
            <a:ext cx="838200" cy="381000"/>
            <a:chOff x="1968" y="1344"/>
            <a:chExt cx="528" cy="240"/>
          </a:xfrm>
        </p:grpSpPr>
        <p:sp>
          <p:nvSpPr>
            <p:cNvPr id="158791" name="Rectangle 8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2" name="Rectangle 8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30" name="Line 83"/>
          <p:cNvSpPr>
            <a:spLocks noChangeShapeType="1"/>
          </p:cNvSpPr>
          <p:nvPr/>
        </p:nvSpPr>
        <p:spPr bwMode="auto">
          <a:xfrm>
            <a:off x="3236913" y="2251075"/>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31" name="Line 84"/>
          <p:cNvSpPr>
            <a:spLocks noChangeShapeType="1"/>
          </p:cNvSpPr>
          <p:nvPr/>
        </p:nvSpPr>
        <p:spPr bwMode="auto">
          <a:xfrm>
            <a:off x="4389438" y="2260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32" name="Line 85"/>
          <p:cNvSpPr>
            <a:spLocks noChangeShapeType="1"/>
          </p:cNvSpPr>
          <p:nvPr/>
        </p:nvSpPr>
        <p:spPr bwMode="auto">
          <a:xfrm>
            <a:off x="5608638" y="2260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33" name="Text Box 86"/>
          <p:cNvSpPr txBox="1">
            <a:spLocks noChangeArrowheads="1"/>
          </p:cNvSpPr>
          <p:nvPr/>
        </p:nvSpPr>
        <p:spPr bwMode="auto">
          <a:xfrm>
            <a:off x="3741738" y="19653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8734" name="Text Box 87"/>
          <p:cNvSpPr txBox="1">
            <a:spLocks noChangeArrowheads="1"/>
          </p:cNvSpPr>
          <p:nvPr/>
        </p:nvSpPr>
        <p:spPr bwMode="auto">
          <a:xfrm>
            <a:off x="4926013" y="1965325"/>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8735" name="Text Box 88"/>
          <p:cNvSpPr txBox="1">
            <a:spLocks noChangeArrowheads="1"/>
          </p:cNvSpPr>
          <p:nvPr/>
        </p:nvSpPr>
        <p:spPr bwMode="auto">
          <a:xfrm>
            <a:off x="6180138" y="19653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4880" name="Group 89"/>
          <p:cNvGrpSpPr/>
          <p:nvPr/>
        </p:nvGrpSpPr>
        <p:grpSpPr bwMode="auto">
          <a:xfrm>
            <a:off x="2180431" y="3358924"/>
            <a:ext cx="838200" cy="381000"/>
            <a:chOff x="1968" y="1344"/>
            <a:chExt cx="528" cy="240"/>
          </a:xfrm>
          <a:solidFill>
            <a:srgbClr val="9476B6"/>
          </a:solidFill>
        </p:grpSpPr>
        <p:sp>
          <p:nvSpPr>
            <p:cNvPr id="158789" name="Rectangle 9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0" name="Rectangle 9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1" name="Group 92"/>
          <p:cNvGrpSpPr/>
          <p:nvPr/>
        </p:nvGrpSpPr>
        <p:grpSpPr bwMode="auto">
          <a:xfrm>
            <a:off x="3323431" y="3358924"/>
            <a:ext cx="838200" cy="381000"/>
            <a:chOff x="1968" y="1344"/>
            <a:chExt cx="528" cy="240"/>
          </a:xfrm>
          <a:solidFill>
            <a:srgbClr val="9476B6"/>
          </a:solidFill>
        </p:grpSpPr>
        <p:sp>
          <p:nvSpPr>
            <p:cNvPr id="158787" name="Rectangle 9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8" name="Rectangle 9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2" name="Group 95"/>
          <p:cNvGrpSpPr/>
          <p:nvPr/>
        </p:nvGrpSpPr>
        <p:grpSpPr bwMode="auto">
          <a:xfrm>
            <a:off x="4542631" y="3358924"/>
            <a:ext cx="838200" cy="381000"/>
            <a:chOff x="1968" y="1344"/>
            <a:chExt cx="528" cy="240"/>
          </a:xfrm>
          <a:solidFill>
            <a:srgbClr val="9476B6"/>
          </a:solidFill>
        </p:grpSpPr>
        <p:sp>
          <p:nvSpPr>
            <p:cNvPr id="158785" name="Rectangle 9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6" name="Rectangle 9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3" name="Group 98"/>
          <p:cNvGrpSpPr/>
          <p:nvPr/>
        </p:nvGrpSpPr>
        <p:grpSpPr bwMode="auto">
          <a:xfrm>
            <a:off x="5761831" y="3358924"/>
            <a:ext cx="838200" cy="381000"/>
            <a:chOff x="1968" y="1344"/>
            <a:chExt cx="528" cy="240"/>
          </a:xfrm>
          <a:solidFill>
            <a:srgbClr val="9476B6"/>
          </a:solidFill>
        </p:grpSpPr>
        <p:sp>
          <p:nvSpPr>
            <p:cNvPr id="158783" name="Rectangle 9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4" name="Rectangle 10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4" name="Group 101"/>
          <p:cNvGrpSpPr/>
          <p:nvPr/>
        </p:nvGrpSpPr>
        <p:grpSpPr bwMode="auto">
          <a:xfrm>
            <a:off x="6904831" y="3358924"/>
            <a:ext cx="838200" cy="381000"/>
            <a:chOff x="1968" y="1344"/>
            <a:chExt cx="528" cy="240"/>
          </a:xfrm>
          <a:solidFill>
            <a:srgbClr val="9476B6"/>
          </a:solidFill>
        </p:grpSpPr>
        <p:sp>
          <p:nvSpPr>
            <p:cNvPr id="158781" name="Rectangle 10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2" name="Rectangle 10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5" name="Group 104"/>
          <p:cNvGrpSpPr/>
          <p:nvPr/>
        </p:nvGrpSpPr>
        <p:grpSpPr bwMode="auto">
          <a:xfrm>
            <a:off x="8047831" y="3358924"/>
            <a:ext cx="838200" cy="381000"/>
            <a:chOff x="1968" y="1344"/>
            <a:chExt cx="528" cy="240"/>
          </a:xfrm>
          <a:solidFill>
            <a:srgbClr val="9476B6"/>
          </a:solidFill>
        </p:grpSpPr>
        <p:sp>
          <p:nvSpPr>
            <p:cNvPr id="158779" name="Rectangle 10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0" name="Rectangle 10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42" name="Line 107"/>
          <p:cNvSpPr>
            <a:spLocks noChangeShapeType="1"/>
          </p:cNvSpPr>
          <p:nvPr/>
        </p:nvSpPr>
        <p:spPr bwMode="auto">
          <a:xfrm>
            <a:off x="28654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3" name="Line 108"/>
          <p:cNvSpPr>
            <a:spLocks noChangeShapeType="1"/>
          </p:cNvSpPr>
          <p:nvPr/>
        </p:nvSpPr>
        <p:spPr bwMode="auto">
          <a:xfrm>
            <a:off x="53038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4" name="Line 109"/>
          <p:cNvSpPr>
            <a:spLocks noChangeShapeType="1"/>
          </p:cNvSpPr>
          <p:nvPr/>
        </p:nvSpPr>
        <p:spPr bwMode="auto">
          <a:xfrm>
            <a:off x="64468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5" name="Line 110"/>
          <p:cNvSpPr>
            <a:spLocks noChangeShapeType="1"/>
          </p:cNvSpPr>
          <p:nvPr/>
        </p:nvSpPr>
        <p:spPr bwMode="auto">
          <a:xfrm>
            <a:off x="40846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6" name="Line 111"/>
          <p:cNvSpPr>
            <a:spLocks noChangeShapeType="1"/>
          </p:cNvSpPr>
          <p:nvPr/>
        </p:nvSpPr>
        <p:spPr bwMode="auto">
          <a:xfrm>
            <a:off x="75898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7" name="Text Box 112"/>
          <p:cNvSpPr txBox="1">
            <a:spLocks noChangeArrowheads="1"/>
          </p:cNvSpPr>
          <p:nvPr/>
        </p:nvSpPr>
        <p:spPr bwMode="auto">
          <a:xfrm>
            <a:off x="2322513" y="3282950"/>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8748" name="Text Box 113"/>
          <p:cNvSpPr txBox="1">
            <a:spLocks noChangeArrowheads="1"/>
          </p:cNvSpPr>
          <p:nvPr/>
        </p:nvSpPr>
        <p:spPr bwMode="auto">
          <a:xfrm>
            <a:off x="3440113" y="3282950"/>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8749" name="Text Box 114"/>
          <p:cNvSpPr txBox="1">
            <a:spLocks noChangeArrowheads="1"/>
          </p:cNvSpPr>
          <p:nvPr/>
        </p:nvSpPr>
        <p:spPr bwMode="auto">
          <a:xfrm>
            <a:off x="4618038" y="33242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8750" name="Text Box 115"/>
          <p:cNvSpPr txBox="1">
            <a:spLocks noChangeArrowheads="1"/>
          </p:cNvSpPr>
          <p:nvPr/>
        </p:nvSpPr>
        <p:spPr bwMode="auto">
          <a:xfrm>
            <a:off x="5878513" y="3324225"/>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8751" name="Text Box 116"/>
          <p:cNvSpPr txBox="1">
            <a:spLocks noChangeArrowheads="1"/>
          </p:cNvSpPr>
          <p:nvPr/>
        </p:nvSpPr>
        <p:spPr bwMode="auto">
          <a:xfrm>
            <a:off x="6897688" y="33242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8752" name="Text Box 117"/>
          <p:cNvSpPr txBox="1">
            <a:spLocks noChangeArrowheads="1"/>
          </p:cNvSpPr>
          <p:nvPr/>
        </p:nvSpPr>
        <p:spPr bwMode="auto">
          <a:xfrm>
            <a:off x="8050213" y="3324225"/>
            <a:ext cx="476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4897" name="Group 118"/>
          <p:cNvGrpSpPr/>
          <p:nvPr/>
        </p:nvGrpSpPr>
        <p:grpSpPr bwMode="auto">
          <a:xfrm>
            <a:off x="965994" y="3349399"/>
            <a:ext cx="838200" cy="381000"/>
            <a:chOff x="1968" y="1344"/>
            <a:chExt cx="528" cy="240"/>
          </a:xfrm>
          <a:noFill/>
        </p:grpSpPr>
        <p:sp>
          <p:nvSpPr>
            <p:cNvPr id="158777" name="Rectangle 11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8" name="Rectangle 12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54" name="Line 121"/>
          <p:cNvSpPr>
            <a:spLocks noChangeShapeType="1"/>
          </p:cNvSpPr>
          <p:nvPr/>
        </p:nvSpPr>
        <p:spPr bwMode="auto">
          <a:xfrm>
            <a:off x="1728788" y="35782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4900" name="Group 122"/>
          <p:cNvGrpSpPr/>
          <p:nvPr/>
        </p:nvGrpSpPr>
        <p:grpSpPr>
          <a:xfrm>
            <a:off x="204788" y="3068638"/>
            <a:ext cx="762000" cy="584200"/>
            <a:chOff x="834" y="1888"/>
            <a:chExt cx="480" cy="368"/>
          </a:xfrm>
        </p:grpSpPr>
        <p:sp>
          <p:nvSpPr>
            <p:cNvPr id="158775" name="Line 123"/>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6" name="Text Box 124"/>
            <p:cNvSpPr txBox="1">
              <a:spLocks noChangeArrowheads="1"/>
            </p:cNvSpPr>
            <p:nvPr/>
          </p:nvSpPr>
          <p:spPr bwMode="auto">
            <a:xfrm>
              <a:off x="834" y="1888"/>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Lb</a:t>
              </a:r>
            </a:p>
          </p:txBody>
        </p:sp>
      </p:grpSp>
      <p:sp>
        <p:nvSpPr>
          <p:cNvPr id="158756" name="Text Box 125"/>
          <p:cNvSpPr txBox="1">
            <a:spLocks noChangeArrowheads="1"/>
          </p:cNvSpPr>
          <p:nvPr/>
        </p:nvSpPr>
        <p:spPr bwMode="auto">
          <a:xfrm>
            <a:off x="2525713" y="3781425"/>
            <a:ext cx="638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pb</a:t>
            </a:r>
          </a:p>
        </p:txBody>
      </p:sp>
      <p:sp>
        <p:nvSpPr>
          <p:cNvPr id="158757" name="Line 126"/>
          <p:cNvSpPr>
            <a:spLocks noChangeShapeType="1"/>
          </p:cNvSpPr>
          <p:nvPr/>
        </p:nvSpPr>
        <p:spPr bwMode="auto">
          <a:xfrm flipV="1">
            <a:off x="2452688" y="373221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58" name="Rectangle 127"/>
          <p:cNvSpPr>
            <a:spLocks noChangeArrowheads="1"/>
          </p:cNvSpPr>
          <p:nvPr/>
        </p:nvSpPr>
        <p:spPr bwMode="auto">
          <a:xfrm>
            <a:off x="776288" y="1889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pa-&gt;data &gt;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pb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-&gt;data )</a:t>
            </a:r>
          </a:p>
        </p:txBody>
      </p:sp>
      <p:sp>
        <p:nvSpPr>
          <p:cNvPr id="594048" name="Text Box 128"/>
          <p:cNvSpPr txBox="1">
            <a:spLocks noChangeArrowheads="1"/>
          </p:cNvSpPr>
          <p:nvPr/>
        </p:nvSpPr>
        <p:spPr bwMode="auto">
          <a:xfrm>
            <a:off x="4833938" y="4070350"/>
            <a:ext cx="2908300" cy="579438"/>
          </a:xfrm>
          <a:prstGeom prst="rect">
            <a:avLst/>
          </a:prstGeom>
          <a:no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a:t>
            </a: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164905" name="Group 130"/>
          <p:cNvGrpSpPr/>
          <p:nvPr/>
        </p:nvGrpSpPr>
        <p:grpSpPr>
          <a:xfrm>
            <a:off x="3617913" y="1976438"/>
            <a:ext cx="838200" cy="461962"/>
            <a:chOff x="2467" y="616"/>
            <a:chExt cx="528" cy="291"/>
          </a:xfrm>
        </p:grpSpPr>
        <p:grpSp>
          <p:nvGrpSpPr>
            <p:cNvPr id="164922" name="Group 131"/>
            <p:cNvGrpSpPr/>
            <p:nvPr/>
          </p:nvGrpSpPr>
          <p:grpSpPr>
            <a:xfrm>
              <a:off x="2467" y="658"/>
              <a:ext cx="528" cy="240"/>
              <a:chOff x="1968" y="1344"/>
              <a:chExt cx="528" cy="240"/>
            </a:xfrm>
          </p:grpSpPr>
          <p:sp>
            <p:nvSpPr>
              <p:cNvPr id="158773" name="Rectangle 13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4" name="Rectangle 13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72" name="Text Box 134"/>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sp>
        <p:nvSpPr>
          <p:cNvPr id="158761" name="Text Box 135"/>
          <p:cNvSpPr txBox="1">
            <a:spLocks noChangeArrowheads="1"/>
          </p:cNvSpPr>
          <p:nvPr/>
        </p:nvSpPr>
        <p:spPr bwMode="auto">
          <a:xfrm>
            <a:off x="3125788" y="2397125"/>
            <a:ext cx="866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 name="Group 144"/>
          <p:cNvGrpSpPr/>
          <p:nvPr/>
        </p:nvGrpSpPr>
        <p:grpSpPr>
          <a:xfrm>
            <a:off x="2614613" y="2413000"/>
            <a:ext cx="1679575" cy="960438"/>
            <a:chOff x="1693" y="762"/>
            <a:chExt cx="1059" cy="605"/>
          </a:xfrm>
        </p:grpSpPr>
        <p:sp>
          <p:nvSpPr>
            <p:cNvPr id="158768" name="Line 141"/>
            <p:cNvSpPr>
              <a:spLocks noChangeShapeType="1"/>
            </p:cNvSpPr>
            <p:nvPr/>
          </p:nvSpPr>
          <p:spPr bwMode="auto">
            <a:xfrm>
              <a:off x="2737" y="762"/>
              <a:ext cx="0" cy="288"/>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69" name="Line 142"/>
            <p:cNvSpPr>
              <a:spLocks noChangeShapeType="1"/>
            </p:cNvSpPr>
            <p:nvPr/>
          </p:nvSpPr>
          <p:spPr bwMode="auto">
            <a:xfrm flipH="1">
              <a:off x="1693" y="1050"/>
              <a:ext cx="1059" cy="0"/>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0" name="Line 143"/>
            <p:cNvSpPr>
              <a:spLocks noChangeShapeType="1"/>
            </p:cNvSpPr>
            <p:nvPr/>
          </p:nvSpPr>
          <p:spPr bwMode="auto">
            <a:xfrm>
              <a:off x="1701" y="1050"/>
              <a:ext cx="0" cy="317"/>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63" name="Text Box 145"/>
          <p:cNvSpPr txBox="1">
            <a:spLocks noChangeArrowheads="1"/>
          </p:cNvSpPr>
          <p:nvPr/>
        </p:nvSpPr>
        <p:spPr bwMode="auto">
          <a:xfrm>
            <a:off x="5113338" y="2449513"/>
            <a:ext cx="619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pa</a:t>
            </a:r>
          </a:p>
        </p:txBody>
      </p:sp>
      <p:sp>
        <p:nvSpPr>
          <p:cNvPr id="158764" name="Line 146"/>
          <p:cNvSpPr>
            <a:spLocks noChangeShapeType="1"/>
          </p:cNvSpPr>
          <p:nvPr/>
        </p:nvSpPr>
        <p:spPr bwMode="auto">
          <a:xfrm flipV="1">
            <a:off x="5043488" y="240030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7" name="Group 147"/>
          <p:cNvGrpSpPr/>
          <p:nvPr/>
        </p:nvGrpSpPr>
        <p:grpSpPr>
          <a:xfrm>
            <a:off x="1874838" y="3425825"/>
            <a:ext cx="228600" cy="304800"/>
            <a:chOff x="2698" y="1622"/>
            <a:chExt cx="144" cy="192"/>
          </a:xfrm>
        </p:grpSpPr>
        <p:sp>
          <p:nvSpPr>
            <p:cNvPr id="158766" name="Line 148"/>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67" name="Line 149"/>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79" name="组合 78"/>
          <p:cNvGrpSpPr/>
          <p:nvPr/>
        </p:nvGrpSpPr>
        <p:grpSpPr>
          <a:xfrm>
            <a:off x="0" y="6380163"/>
            <a:ext cx="9144000" cy="431800"/>
            <a:chOff x="0" y="6379908"/>
            <a:chExt cx="9144000" cy="432048"/>
          </a:xfrm>
        </p:grpSpPr>
        <p:grpSp>
          <p:nvGrpSpPr>
            <p:cNvPr id="164912" name="组合 5"/>
            <p:cNvGrpSpPr/>
            <p:nvPr/>
          </p:nvGrpSpPr>
          <p:grpSpPr>
            <a:xfrm>
              <a:off x="0" y="6379908"/>
              <a:ext cx="9144000" cy="432048"/>
              <a:chOff x="0" y="6165304"/>
              <a:chExt cx="9144000" cy="432048"/>
            </a:xfrm>
          </p:grpSpPr>
          <p:cxnSp>
            <p:nvCxnSpPr>
              <p:cNvPr id="164914" name="直接连接符 81"/>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83" name="直接连接符 82"/>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64916" name="直接连接符 83"/>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81"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4048"/>
                                        </p:tgtEl>
                                        <p:attrNameLst>
                                          <p:attrName>style.visibility</p:attrName>
                                        </p:attrNameLst>
                                      </p:cBhvr>
                                      <p:to>
                                        <p:strVal val="visible"/>
                                      </p:to>
                                    </p:set>
                                    <p:animEffect transition="in" filter="box(in)">
                                      <p:cBhvr>
                                        <p:cTn id="7" dur="1000"/>
                                        <p:tgtEl>
                                          <p:spTgt spid="59404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checkerboard(across)">
                                      <p:cBhvr>
                                        <p:cTn id="12" dur="2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mph" presetSubtype="0" fill="hold" nodeType="clickEffect">
                                  <p:stCondLst>
                                    <p:cond delay="0"/>
                                  </p:stCondLst>
                                  <p:childTnLst>
                                    <p:animRot by="21600000">
                                      <p:cBhvr>
                                        <p:cTn id="16" dur="2000" fill="hold"/>
                                        <p:tgtEl>
                                          <p:spTgt spid="16"/>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2000" fill="hold"/>
                                        <p:tgtEl>
                                          <p:spTgt spid="17"/>
                                        </p:tgtEl>
                                        <p:attrNameLst>
                                          <p:attrName>ppt_x</p:attrName>
                                        </p:attrNameLst>
                                      </p:cBhvr>
                                      <p:tavLst>
                                        <p:tav tm="0">
                                          <p:val>
                                            <p:strVal val="#ppt_x"/>
                                          </p:val>
                                        </p:tav>
                                        <p:tav tm="100000">
                                          <p:val>
                                            <p:strVal val="#ppt_x"/>
                                          </p:val>
                                        </p:tav>
                                      </p:tavLst>
                                    </p:anim>
                                    <p:anim calcmode="lin" valueType="num">
                                      <p:cBhvr additive="base">
                                        <p:cTn id="22" dur="2000" fill="hold"/>
                                        <p:tgtEl>
                                          <p:spTgt spid="17"/>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nodeType="afterEffect">
                                  <p:stCondLst>
                                    <p:cond delay="0"/>
                                  </p:stCondLst>
                                  <p:childTnLst>
                                    <p:set>
                                      <p:cBhvr>
                                        <p:cTn id="25" dur="1" fill="hold">
                                          <p:stCondLst>
                                            <p:cond delay="0"/>
                                          </p:stCondLst>
                                        </p:cTn>
                                        <p:tgtEl>
                                          <p:spTgt spid="79"/>
                                        </p:tgtEl>
                                        <p:attrNameLst>
                                          <p:attrName>style.visibility</p:attrName>
                                        </p:attrNameLst>
                                      </p:cBhvr>
                                      <p:to>
                                        <p:strVal val="visible"/>
                                      </p:to>
                                    </p:set>
                                    <p:anim calcmode="lin" valueType="num">
                                      <p:cBhvr additive="base">
                                        <p:cTn id="26" dur="500" fill="hold"/>
                                        <p:tgtEl>
                                          <p:spTgt spid="79"/>
                                        </p:tgtEl>
                                        <p:attrNameLst>
                                          <p:attrName>ppt_x</p:attrName>
                                        </p:attrNameLst>
                                      </p:cBhvr>
                                      <p:tavLst>
                                        <p:tav tm="0">
                                          <p:val>
                                            <p:strVal val="#ppt_x"/>
                                          </p:val>
                                        </p:tav>
                                        <p:tav tm="100000">
                                          <p:val>
                                            <p:strVal val="#ppt_x"/>
                                          </p:val>
                                        </p:tav>
                                      </p:tavLst>
                                    </p:anim>
                                    <p:anim calcmode="lin" valueType="num">
                                      <p:cBhvr additive="base">
                                        <p:cTn id="27"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48"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矩形 100"/>
          <p:cNvSpPr/>
          <p:nvPr/>
        </p:nvSpPr>
        <p:spPr>
          <a:xfrm>
            <a:off x="0" y="1411288"/>
            <a:ext cx="9144000" cy="410527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9746" name="Line 4"/>
          <p:cNvSpPr>
            <a:spLocks noChangeShapeType="1"/>
          </p:cNvSpPr>
          <p:nvPr/>
        </p:nvSpPr>
        <p:spPr bwMode="auto">
          <a:xfrm>
            <a:off x="3187700" y="21590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47" name="Line 6"/>
          <p:cNvSpPr>
            <a:spLocks noChangeShapeType="1"/>
          </p:cNvSpPr>
          <p:nvPr/>
        </p:nvSpPr>
        <p:spPr bwMode="auto">
          <a:xfrm>
            <a:off x="2090738" y="2160588"/>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48" name="Text Box 7"/>
          <p:cNvSpPr txBox="1">
            <a:spLocks noChangeArrowheads="1"/>
          </p:cNvSpPr>
          <p:nvPr/>
        </p:nvSpPr>
        <p:spPr bwMode="auto">
          <a:xfrm>
            <a:off x="781050" y="1876425"/>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5894" name="Group 8"/>
          <p:cNvGrpSpPr/>
          <p:nvPr/>
        </p:nvGrpSpPr>
        <p:grpSpPr>
          <a:xfrm>
            <a:off x="3614738" y="1931988"/>
            <a:ext cx="838200" cy="381000"/>
            <a:chOff x="1968" y="1344"/>
            <a:chExt cx="528" cy="240"/>
          </a:xfrm>
        </p:grpSpPr>
        <p:sp>
          <p:nvSpPr>
            <p:cNvPr id="159828" name="Rectangle 9"/>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9" name="Rectangle 10"/>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11"/>
          <p:cNvGrpSpPr/>
          <p:nvPr/>
        </p:nvGrpSpPr>
        <p:grpSpPr bwMode="auto">
          <a:xfrm>
            <a:off x="4833938" y="1931534"/>
            <a:ext cx="838200" cy="381000"/>
            <a:chOff x="1968" y="1344"/>
            <a:chExt cx="528" cy="240"/>
          </a:xfrm>
          <a:solidFill>
            <a:srgbClr val="9476B6"/>
          </a:solidFill>
        </p:grpSpPr>
        <p:sp>
          <p:nvSpPr>
            <p:cNvPr id="159826" name="Rectangle 1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7" name="Rectangle 1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895" name="Group 14"/>
          <p:cNvGrpSpPr/>
          <p:nvPr/>
        </p:nvGrpSpPr>
        <p:grpSpPr bwMode="auto">
          <a:xfrm>
            <a:off x="6053138" y="1931534"/>
            <a:ext cx="838200" cy="381000"/>
            <a:chOff x="1968" y="1344"/>
            <a:chExt cx="528" cy="240"/>
          </a:xfrm>
          <a:solidFill>
            <a:srgbClr val="9476B6"/>
          </a:solidFill>
        </p:grpSpPr>
        <p:sp>
          <p:nvSpPr>
            <p:cNvPr id="159824" name="Rectangle 1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5" name="Rectangle 1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897" name="Group 17"/>
          <p:cNvGrpSpPr/>
          <p:nvPr/>
        </p:nvGrpSpPr>
        <p:grpSpPr>
          <a:xfrm>
            <a:off x="2471738" y="1931988"/>
            <a:ext cx="838200" cy="381000"/>
            <a:chOff x="1968" y="1344"/>
            <a:chExt cx="528" cy="240"/>
          </a:xfrm>
        </p:grpSpPr>
        <p:sp>
          <p:nvSpPr>
            <p:cNvPr id="159822" name="Rectangle 1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3" name="Rectangle 1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53" name="Line 20"/>
          <p:cNvSpPr>
            <a:spLocks noChangeShapeType="1"/>
          </p:cNvSpPr>
          <p:nvPr/>
        </p:nvSpPr>
        <p:spPr bwMode="auto">
          <a:xfrm>
            <a:off x="3225800" y="2151063"/>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54" name="Line 21"/>
          <p:cNvSpPr>
            <a:spLocks noChangeShapeType="1"/>
          </p:cNvSpPr>
          <p:nvPr/>
        </p:nvSpPr>
        <p:spPr bwMode="auto">
          <a:xfrm>
            <a:off x="4376738" y="21605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55" name="Line 22"/>
          <p:cNvSpPr>
            <a:spLocks noChangeShapeType="1"/>
          </p:cNvSpPr>
          <p:nvPr/>
        </p:nvSpPr>
        <p:spPr bwMode="auto">
          <a:xfrm>
            <a:off x="5595938" y="21605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56" name="Text Box 23"/>
          <p:cNvSpPr txBox="1">
            <a:spLocks noChangeArrowheads="1"/>
          </p:cNvSpPr>
          <p:nvPr/>
        </p:nvSpPr>
        <p:spPr bwMode="auto">
          <a:xfrm>
            <a:off x="3730625" y="18653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9757" name="Text Box 24"/>
          <p:cNvSpPr txBox="1">
            <a:spLocks noChangeArrowheads="1"/>
          </p:cNvSpPr>
          <p:nvPr/>
        </p:nvSpPr>
        <p:spPr bwMode="auto">
          <a:xfrm>
            <a:off x="4913313" y="18653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9758" name="Text Box 25"/>
          <p:cNvSpPr txBox="1">
            <a:spLocks noChangeArrowheads="1"/>
          </p:cNvSpPr>
          <p:nvPr/>
        </p:nvSpPr>
        <p:spPr bwMode="auto">
          <a:xfrm>
            <a:off x="6169025" y="18653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5903" name="Group 29"/>
          <p:cNvGrpSpPr/>
          <p:nvPr/>
        </p:nvGrpSpPr>
        <p:grpSpPr bwMode="auto">
          <a:xfrm>
            <a:off x="3311525" y="3258684"/>
            <a:ext cx="838200" cy="381000"/>
            <a:chOff x="1968" y="1344"/>
            <a:chExt cx="528" cy="240"/>
          </a:xfrm>
          <a:solidFill>
            <a:srgbClr val="9476B6"/>
          </a:solidFill>
        </p:grpSpPr>
        <p:sp>
          <p:nvSpPr>
            <p:cNvPr id="159820" name="Rectangle 3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1" name="Rectangle 3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4" name="Group 32"/>
          <p:cNvGrpSpPr/>
          <p:nvPr/>
        </p:nvGrpSpPr>
        <p:grpSpPr bwMode="auto">
          <a:xfrm>
            <a:off x="4530725" y="3258684"/>
            <a:ext cx="838200" cy="381000"/>
            <a:chOff x="1968" y="1344"/>
            <a:chExt cx="528" cy="240"/>
          </a:xfrm>
          <a:solidFill>
            <a:srgbClr val="9476B6"/>
          </a:solidFill>
        </p:grpSpPr>
        <p:sp>
          <p:nvSpPr>
            <p:cNvPr id="159818" name="Rectangle 3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9" name="Rectangle 3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5" name="Group 35"/>
          <p:cNvGrpSpPr/>
          <p:nvPr/>
        </p:nvGrpSpPr>
        <p:grpSpPr bwMode="auto">
          <a:xfrm>
            <a:off x="5749925" y="3258684"/>
            <a:ext cx="838200" cy="381000"/>
            <a:chOff x="1968" y="1344"/>
            <a:chExt cx="528" cy="240"/>
          </a:xfrm>
          <a:solidFill>
            <a:srgbClr val="9476B6"/>
          </a:solidFill>
        </p:grpSpPr>
        <p:sp>
          <p:nvSpPr>
            <p:cNvPr id="159816" name="Rectangle 3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7" name="Rectangle 3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6" name="Group 38"/>
          <p:cNvGrpSpPr/>
          <p:nvPr/>
        </p:nvGrpSpPr>
        <p:grpSpPr bwMode="auto">
          <a:xfrm>
            <a:off x="6892925" y="3258684"/>
            <a:ext cx="838200" cy="381000"/>
            <a:chOff x="1968" y="1344"/>
            <a:chExt cx="528" cy="240"/>
          </a:xfrm>
          <a:solidFill>
            <a:srgbClr val="9476B6"/>
          </a:solidFill>
        </p:grpSpPr>
        <p:sp>
          <p:nvSpPr>
            <p:cNvPr id="159814" name="Rectangle 3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5" name="Rectangle 4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7" name="Group 41"/>
          <p:cNvGrpSpPr/>
          <p:nvPr/>
        </p:nvGrpSpPr>
        <p:grpSpPr bwMode="auto">
          <a:xfrm>
            <a:off x="8035925" y="3258684"/>
            <a:ext cx="838200" cy="381000"/>
            <a:chOff x="1968" y="1344"/>
            <a:chExt cx="528" cy="240"/>
          </a:xfrm>
          <a:solidFill>
            <a:srgbClr val="9476B6"/>
          </a:solidFill>
        </p:grpSpPr>
        <p:sp>
          <p:nvSpPr>
            <p:cNvPr id="159812" name="Rectangle 4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3" name="Rectangle 4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64" name="Line 44"/>
          <p:cNvSpPr>
            <a:spLocks noChangeShapeType="1"/>
          </p:cNvSpPr>
          <p:nvPr/>
        </p:nvSpPr>
        <p:spPr bwMode="auto">
          <a:xfrm>
            <a:off x="28543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5" name="Line 45"/>
          <p:cNvSpPr>
            <a:spLocks noChangeShapeType="1"/>
          </p:cNvSpPr>
          <p:nvPr/>
        </p:nvSpPr>
        <p:spPr bwMode="auto">
          <a:xfrm>
            <a:off x="52927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6" name="Line 46"/>
          <p:cNvSpPr>
            <a:spLocks noChangeShapeType="1"/>
          </p:cNvSpPr>
          <p:nvPr/>
        </p:nvSpPr>
        <p:spPr bwMode="auto">
          <a:xfrm>
            <a:off x="64357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7" name="Line 47"/>
          <p:cNvSpPr>
            <a:spLocks noChangeShapeType="1"/>
          </p:cNvSpPr>
          <p:nvPr/>
        </p:nvSpPr>
        <p:spPr bwMode="auto">
          <a:xfrm>
            <a:off x="40735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8" name="Line 48"/>
          <p:cNvSpPr>
            <a:spLocks noChangeShapeType="1"/>
          </p:cNvSpPr>
          <p:nvPr/>
        </p:nvSpPr>
        <p:spPr bwMode="auto">
          <a:xfrm>
            <a:off x="75787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5914" name="Group 83"/>
          <p:cNvGrpSpPr/>
          <p:nvPr/>
        </p:nvGrpSpPr>
        <p:grpSpPr>
          <a:xfrm>
            <a:off x="2168525" y="3182938"/>
            <a:ext cx="838200" cy="461962"/>
            <a:chOff x="1420" y="1310"/>
            <a:chExt cx="528" cy="291"/>
          </a:xfrm>
        </p:grpSpPr>
        <p:grpSp>
          <p:nvGrpSpPr>
            <p:cNvPr id="165955" name="Group 26"/>
            <p:cNvGrpSpPr/>
            <p:nvPr/>
          </p:nvGrpSpPr>
          <p:grpSpPr>
            <a:xfrm>
              <a:off x="1420" y="1358"/>
              <a:ext cx="528" cy="240"/>
              <a:chOff x="1968" y="1344"/>
              <a:chExt cx="528" cy="240"/>
            </a:xfrm>
          </p:grpSpPr>
          <p:sp>
            <p:nvSpPr>
              <p:cNvPr id="159810" name="Rectangle 27"/>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1" name="Rectangle 28"/>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809" name="Text Box 49"/>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sp>
        <p:nvSpPr>
          <p:cNvPr id="159770" name="Text Box 50"/>
          <p:cNvSpPr txBox="1">
            <a:spLocks noChangeArrowheads="1"/>
          </p:cNvSpPr>
          <p:nvPr/>
        </p:nvSpPr>
        <p:spPr bwMode="auto">
          <a:xfrm>
            <a:off x="3427413" y="31829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9771" name="Text Box 51"/>
          <p:cNvSpPr txBox="1">
            <a:spLocks noChangeArrowheads="1"/>
          </p:cNvSpPr>
          <p:nvPr/>
        </p:nvSpPr>
        <p:spPr bwMode="auto">
          <a:xfrm>
            <a:off x="4606925" y="32242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9772" name="Text Box 52"/>
          <p:cNvSpPr txBox="1">
            <a:spLocks noChangeArrowheads="1"/>
          </p:cNvSpPr>
          <p:nvPr/>
        </p:nvSpPr>
        <p:spPr bwMode="auto">
          <a:xfrm>
            <a:off x="5865813" y="32242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9773" name="Text Box 53"/>
          <p:cNvSpPr txBox="1">
            <a:spLocks noChangeArrowheads="1"/>
          </p:cNvSpPr>
          <p:nvPr/>
        </p:nvSpPr>
        <p:spPr bwMode="auto">
          <a:xfrm>
            <a:off x="6886575" y="322421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9774" name="Text Box 54"/>
          <p:cNvSpPr txBox="1">
            <a:spLocks noChangeArrowheads="1"/>
          </p:cNvSpPr>
          <p:nvPr/>
        </p:nvSpPr>
        <p:spPr bwMode="auto">
          <a:xfrm>
            <a:off x="8039100" y="322421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5919" name="Group 55"/>
          <p:cNvGrpSpPr/>
          <p:nvPr/>
        </p:nvGrpSpPr>
        <p:grpSpPr bwMode="auto">
          <a:xfrm>
            <a:off x="954088" y="3249159"/>
            <a:ext cx="838200" cy="381000"/>
            <a:chOff x="1968" y="1344"/>
            <a:chExt cx="528" cy="240"/>
          </a:xfrm>
          <a:noFill/>
        </p:grpSpPr>
        <p:sp>
          <p:nvSpPr>
            <p:cNvPr id="159806" name="Rectangle 5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07" name="Rectangle 5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76" name="Line 58"/>
          <p:cNvSpPr>
            <a:spLocks noChangeShapeType="1"/>
          </p:cNvSpPr>
          <p:nvPr/>
        </p:nvSpPr>
        <p:spPr bwMode="auto">
          <a:xfrm>
            <a:off x="1716088" y="34782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5922" name="Group 59"/>
          <p:cNvGrpSpPr/>
          <p:nvPr/>
        </p:nvGrpSpPr>
        <p:grpSpPr>
          <a:xfrm>
            <a:off x="-22225" y="3097213"/>
            <a:ext cx="976313" cy="584200"/>
            <a:chOff x="699" y="1969"/>
            <a:chExt cx="615" cy="368"/>
          </a:xfrm>
        </p:grpSpPr>
        <p:sp>
          <p:nvSpPr>
            <p:cNvPr id="159804" name="Line 60"/>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05" name="Text Box 61"/>
            <p:cNvSpPr txBox="1">
              <a:spLocks noChangeArrowheads="1"/>
            </p:cNvSpPr>
            <p:nvPr/>
          </p:nvSpPr>
          <p:spPr bwMode="auto">
            <a:xfrm>
              <a:off x="699" y="1969"/>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9778" name="Text Box 62"/>
          <p:cNvSpPr txBox="1">
            <a:spLocks noChangeArrowheads="1"/>
          </p:cNvSpPr>
          <p:nvPr/>
        </p:nvSpPr>
        <p:spPr bwMode="auto">
          <a:xfrm>
            <a:off x="2252663" y="3879850"/>
            <a:ext cx="639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9779" name="Line 63"/>
          <p:cNvSpPr>
            <a:spLocks noChangeShapeType="1"/>
          </p:cNvSpPr>
          <p:nvPr/>
        </p:nvSpPr>
        <p:spPr bwMode="auto">
          <a:xfrm flipV="1">
            <a:off x="2441575" y="363220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80" name="Rectangle 64"/>
          <p:cNvSpPr>
            <a:spLocks noChangeArrowheads="1"/>
          </p:cNvSpPr>
          <p:nvPr/>
        </p:nvSpPr>
        <p:spPr bwMode="auto">
          <a:xfrm>
            <a:off x="857250" y="1762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pa-&gt;data &gt;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pb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-&gt;data )</a:t>
            </a:r>
          </a:p>
        </p:txBody>
      </p:sp>
      <p:sp>
        <p:nvSpPr>
          <p:cNvPr id="159781" name="Text Box 65"/>
          <p:cNvSpPr txBox="1">
            <a:spLocks noChangeArrowheads="1"/>
          </p:cNvSpPr>
          <p:nvPr/>
        </p:nvSpPr>
        <p:spPr bwMode="auto">
          <a:xfrm>
            <a:off x="4821238" y="3970338"/>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pc-&gt;next = pb;</a:t>
            </a:r>
          </a:p>
        </p:txBody>
      </p:sp>
      <p:grpSp>
        <p:nvGrpSpPr>
          <p:cNvPr id="165927" name="Group 66"/>
          <p:cNvGrpSpPr/>
          <p:nvPr/>
        </p:nvGrpSpPr>
        <p:grpSpPr>
          <a:xfrm>
            <a:off x="3605213" y="1876425"/>
            <a:ext cx="838200" cy="461963"/>
            <a:chOff x="2467" y="616"/>
            <a:chExt cx="528" cy="291"/>
          </a:xfrm>
        </p:grpSpPr>
        <p:grpSp>
          <p:nvGrpSpPr>
            <p:cNvPr id="165949" name="Group 67"/>
            <p:cNvGrpSpPr/>
            <p:nvPr/>
          </p:nvGrpSpPr>
          <p:grpSpPr>
            <a:xfrm>
              <a:off x="2467" y="658"/>
              <a:ext cx="528" cy="240"/>
              <a:chOff x="1968" y="1344"/>
              <a:chExt cx="528" cy="240"/>
            </a:xfrm>
          </p:grpSpPr>
          <p:sp>
            <p:nvSpPr>
              <p:cNvPr id="159802" name="Rectangle 6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03" name="Rectangle 6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801" name="Text Box 70"/>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grpSp>
        <p:nvGrpSpPr>
          <p:cNvPr id="17" name="Group 72"/>
          <p:cNvGrpSpPr/>
          <p:nvPr/>
        </p:nvGrpSpPr>
        <p:grpSpPr>
          <a:xfrm>
            <a:off x="2601913" y="2312988"/>
            <a:ext cx="1681162" cy="960437"/>
            <a:chOff x="1693" y="762"/>
            <a:chExt cx="1059" cy="605"/>
          </a:xfrm>
        </p:grpSpPr>
        <p:sp>
          <p:nvSpPr>
            <p:cNvPr id="159797" name="Line 73"/>
            <p:cNvSpPr>
              <a:spLocks noChangeShapeType="1"/>
            </p:cNvSpPr>
            <p:nvPr/>
          </p:nvSpPr>
          <p:spPr bwMode="auto">
            <a:xfrm>
              <a:off x="2737" y="762"/>
              <a:ext cx="0" cy="288"/>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8" name="Line 74"/>
            <p:cNvSpPr>
              <a:spLocks noChangeShapeType="1"/>
            </p:cNvSpPr>
            <p:nvPr/>
          </p:nvSpPr>
          <p:spPr bwMode="auto">
            <a:xfrm flipH="1">
              <a:off x="1693" y="1050"/>
              <a:ext cx="1059" cy="0"/>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9" name="Line 75"/>
            <p:cNvSpPr>
              <a:spLocks noChangeShapeType="1"/>
            </p:cNvSpPr>
            <p:nvPr/>
          </p:nvSpPr>
          <p:spPr bwMode="auto">
            <a:xfrm>
              <a:off x="1701" y="1050"/>
              <a:ext cx="0" cy="317"/>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84" name="Text Box 76"/>
          <p:cNvSpPr txBox="1">
            <a:spLocks noChangeArrowheads="1"/>
          </p:cNvSpPr>
          <p:nvPr/>
        </p:nvSpPr>
        <p:spPr bwMode="auto">
          <a:xfrm>
            <a:off x="5132388" y="2406650"/>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9785" name="Line 77"/>
          <p:cNvSpPr>
            <a:spLocks noChangeShapeType="1"/>
          </p:cNvSpPr>
          <p:nvPr/>
        </p:nvSpPr>
        <p:spPr bwMode="auto">
          <a:xfrm flipV="1">
            <a:off x="5103813" y="2357438"/>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8" name="Group 79"/>
          <p:cNvGrpSpPr/>
          <p:nvPr/>
        </p:nvGrpSpPr>
        <p:grpSpPr bwMode="auto">
          <a:xfrm>
            <a:off x="1716088" y="3650797"/>
            <a:ext cx="6799263" cy="1477963"/>
            <a:chOff x="1135" y="1605"/>
            <a:chExt cx="4283" cy="931"/>
          </a:xfrm>
          <a:noFill/>
        </p:grpSpPr>
        <p:sp>
          <p:nvSpPr>
            <p:cNvPr id="159795" name="Text Box 71"/>
            <p:cNvSpPr txBox="1">
              <a:spLocks noChangeArrowheads="1"/>
            </p:cNvSpPr>
            <p:nvPr/>
          </p:nvSpPr>
          <p:spPr bwMode="auto">
            <a:xfrm>
              <a:off x="1135" y="1605"/>
              <a:ext cx="547"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9796" name="Text Box 78"/>
            <p:cNvSpPr txBox="1">
              <a:spLocks noChangeArrowheads="1"/>
            </p:cNvSpPr>
            <p:nvPr/>
          </p:nvSpPr>
          <p:spPr bwMode="auto">
            <a:xfrm>
              <a:off x="3099" y="2171"/>
              <a:ext cx="2319"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 pb;</a:t>
              </a:r>
            </a:p>
          </p:txBody>
        </p:sp>
      </p:grpSp>
      <p:grpSp>
        <p:nvGrpSpPr>
          <p:cNvPr id="19" name="Group 89"/>
          <p:cNvGrpSpPr/>
          <p:nvPr/>
        </p:nvGrpSpPr>
        <p:grpSpPr>
          <a:xfrm>
            <a:off x="2168525" y="3182938"/>
            <a:ext cx="838200" cy="461962"/>
            <a:chOff x="1420" y="1310"/>
            <a:chExt cx="528" cy="291"/>
          </a:xfrm>
        </p:grpSpPr>
        <p:grpSp>
          <p:nvGrpSpPr>
            <p:cNvPr id="165942" name="Group 85"/>
            <p:cNvGrpSpPr/>
            <p:nvPr/>
          </p:nvGrpSpPr>
          <p:grpSpPr>
            <a:xfrm>
              <a:off x="1420" y="1358"/>
              <a:ext cx="528" cy="240"/>
              <a:chOff x="1968" y="1344"/>
              <a:chExt cx="528" cy="240"/>
            </a:xfrm>
          </p:grpSpPr>
          <p:sp>
            <p:nvSpPr>
              <p:cNvPr id="159793" name="Rectangle 8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4" name="Rectangle 8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92" name="Text Box 88"/>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grpSp>
        <p:nvGrpSpPr>
          <p:cNvPr id="21" name="Group 90"/>
          <p:cNvGrpSpPr/>
          <p:nvPr/>
        </p:nvGrpSpPr>
        <p:grpSpPr>
          <a:xfrm>
            <a:off x="1746250" y="3325813"/>
            <a:ext cx="228600" cy="304800"/>
            <a:chOff x="2698" y="1622"/>
            <a:chExt cx="144" cy="192"/>
          </a:xfrm>
        </p:grpSpPr>
        <p:sp>
          <p:nvSpPr>
            <p:cNvPr id="159789" name="Line 91"/>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0" name="Line 92"/>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02" name="组合 101"/>
          <p:cNvGrpSpPr/>
          <p:nvPr/>
        </p:nvGrpSpPr>
        <p:grpSpPr>
          <a:xfrm>
            <a:off x="0" y="6380163"/>
            <a:ext cx="9144000" cy="431800"/>
            <a:chOff x="0" y="6379908"/>
            <a:chExt cx="9144000" cy="432048"/>
          </a:xfrm>
        </p:grpSpPr>
        <p:grpSp>
          <p:nvGrpSpPr>
            <p:cNvPr id="165935" name="组合 5"/>
            <p:cNvGrpSpPr/>
            <p:nvPr/>
          </p:nvGrpSpPr>
          <p:grpSpPr>
            <a:xfrm>
              <a:off x="0" y="6379908"/>
              <a:ext cx="9144000" cy="432048"/>
              <a:chOff x="0" y="6165304"/>
              <a:chExt cx="9144000" cy="432048"/>
            </a:xfrm>
          </p:grpSpPr>
          <p:cxnSp>
            <p:nvCxnSpPr>
              <p:cNvPr id="165937" name="直接连接符 104"/>
              <p:cNvCxnSpPr/>
              <p:nvPr/>
            </p:nvCxnSpPr>
            <p:spPr>
              <a:xfrm>
                <a:off x="0" y="6597352"/>
                <a:ext cx="9144000" cy="0"/>
              </a:xfrm>
              <a:prstGeom prst="line">
                <a:avLst/>
              </a:prstGeom>
              <a:ln w="142875" cap="flat" cmpd="sng">
                <a:solidFill>
                  <a:schemeClr val="bg2"/>
                </a:solidFill>
                <a:prstDash val="solid"/>
                <a:headEnd type="none" w="med" len="med"/>
                <a:tailEnd type="none" w="med" len="med"/>
              </a:ln>
            </p:spPr>
          </p:cxnSp>
          <p:cxnSp>
            <p:nvCxnSpPr>
              <p:cNvPr id="106" name="直接连接符 105"/>
              <p:cNvCxnSpPr/>
              <p:nvPr/>
            </p:nvCxnSpPr>
            <p:spPr bwMode="auto">
              <a:xfrm>
                <a:off x="2339975" y="6381328"/>
                <a:ext cx="6804025" cy="0"/>
              </a:xfrm>
              <a:prstGeom prst="line">
                <a:avLst/>
              </a:prstGeom>
              <a:solidFill>
                <a:schemeClr val="accent1"/>
              </a:solidFill>
              <a:ln w="57150" cap="flat" cmpd="sng" algn="ctr">
                <a:solidFill>
                  <a:schemeClr val="bg2">
                    <a:lumMod val="60000"/>
                    <a:lumOff val="40000"/>
                  </a:schemeClr>
                </a:solidFill>
                <a:prstDash val="solid"/>
                <a:round/>
                <a:headEnd type="none" w="med" len="med"/>
                <a:tailEnd type="none" w="med" len="med"/>
              </a:ln>
            </p:spPr>
          </p:cxnSp>
          <p:cxnSp>
            <p:nvCxnSpPr>
              <p:cNvPr id="165939" name="直接连接符 106"/>
              <p:cNvCxnSpPr/>
              <p:nvPr/>
            </p:nvCxnSpPr>
            <p:spPr>
              <a:xfrm>
                <a:off x="4283968" y="6165304"/>
                <a:ext cx="4860032" cy="0"/>
              </a:xfrm>
              <a:prstGeom prst="line">
                <a:avLst/>
              </a:prstGeom>
              <a:ln w="57150" cap="flat" cmpd="sng">
                <a:solidFill>
                  <a:srgbClr val="E2D9EB"/>
                </a:solidFill>
                <a:prstDash val="solid"/>
                <a:headEnd type="none" w="med" len="med"/>
                <a:tailEnd type="none" w="med" len="med"/>
              </a:ln>
            </p:spPr>
          </p:cxnSp>
        </p:grpSp>
        <p:sp>
          <p:nvSpPr>
            <p:cNvPr id="104" name="Shape 26"/>
            <p:cNvSpPr/>
            <p:nvPr/>
          </p:nvSpPr>
          <p:spPr>
            <a:xfrm flipH="1">
              <a:off x="0" y="6449798"/>
              <a:ext cx="2128838" cy="29226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3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mph" presetSubtype="0" fill="hold" nodeType="clickEffect">
                                  <p:stCondLst>
                                    <p:cond delay="0"/>
                                  </p:stCondLst>
                                  <p:childTnLst>
                                    <p:animRot by="21600000">
                                      <p:cBhvr>
                                        <p:cTn id="11" dur="2000" fill="hold"/>
                                        <p:tgtEl>
                                          <p:spTgt spid="17"/>
                                        </p:tgtEl>
                                        <p:attrNameLst>
                                          <p:attrName>r</p:attrName>
                                        </p:attrNameLst>
                                      </p:cBhvr>
                                    </p:animRo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ppt_x"/>
                                          </p:val>
                                        </p:tav>
                                        <p:tav tm="100000">
                                          <p:val>
                                            <p:strVal val="#ppt_x"/>
                                          </p:val>
                                        </p:tav>
                                      </p:tavLst>
                                    </p:anim>
                                    <p:anim calcmode="lin" valueType="num">
                                      <p:cBhvr additive="base">
                                        <p:cTn id="1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mph" presetSubtype="0" fill="hold" nodeType="clickEffect">
                                  <p:stCondLst>
                                    <p:cond delay="0"/>
                                  </p:stCondLst>
                                  <p:childTnLst>
                                    <p:animScale>
                                      <p:cBhvr>
                                        <p:cTn id="32" dur="2000" fill="hold"/>
                                        <p:tgtEl>
                                          <p:spTgt spid="19"/>
                                        </p:tgtEl>
                                      </p:cBhvr>
                                      <p:by x="150000" y="150000"/>
                                    </p:animScale>
                                  </p:childTnLst>
                                </p:cTn>
                              </p:par>
                            </p:childTnLst>
                          </p:cTn>
                        </p:par>
                        <p:par>
                          <p:cTn id="33" fill="hold">
                            <p:stCondLst>
                              <p:cond delay="2000"/>
                            </p:stCondLst>
                            <p:childTnLst>
                              <p:par>
                                <p:cTn id="34" presetID="2" presetClass="entr" presetSubtype="4" fill="hold" nodeType="afterEffect">
                                  <p:stCondLst>
                                    <p:cond delay="0"/>
                                  </p:stCondLst>
                                  <p:childTnLst>
                                    <p:set>
                                      <p:cBhvr>
                                        <p:cTn id="35" dur="1" fill="hold">
                                          <p:stCondLst>
                                            <p:cond delay="0"/>
                                          </p:stCondLst>
                                        </p:cTn>
                                        <p:tgtEl>
                                          <p:spTgt spid="102"/>
                                        </p:tgtEl>
                                        <p:attrNameLst>
                                          <p:attrName>style.visibility</p:attrName>
                                        </p:attrNameLst>
                                      </p:cBhvr>
                                      <p:to>
                                        <p:strVal val="visible"/>
                                      </p:to>
                                    </p:set>
                                    <p:anim calcmode="lin" valueType="num">
                                      <p:cBhvr additive="base">
                                        <p:cTn id="36" dur="500" fill="hold"/>
                                        <p:tgtEl>
                                          <p:spTgt spid="102"/>
                                        </p:tgtEl>
                                        <p:attrNameLst>
                                          <p:attrName>ppt_x</p:attrName>
                                        </p:attrNameLst>
                                      </p:cBhvr>
                                      <p:tavLst>
                                        <p:tav tm="0">
                                          <p:val>
                                            <p:strVal val="#ppt_x"/>
                                          </p:val>
                                        </p:tav>
                                        <p:tav tm="100000">
                                          <p:val>
                                            <p:strVal val="#ppt_x"/>
                                          </p:val>
                                        </p:tav>
                                      </p:tavLst>
                                    </p:anim>
                                    <p:anim calcmode="lin" valueType="num">
                                      <p:cBhvr additive="base">
                                        <p:cTn id="37"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Line 4"/>
          <p:cNvSpPr>
            <a:spLocks noChangeShapeType="1"/>
          </p:cNvSpPr>
          <p:nvPr/>
        </p:nvSpPr>
        <p:spPr bwMode="auto">
          <a:xfrm>
            <a:off x="3195638" y="19637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1" name="Line 5"/>
          <p:cNvSpPr>
            <a:spLocks noChangeShapeType="1"/>
          </p:cNvSpPr>
          <p:nvPr/>
        </p:nvSpPr>
        <p:spPr bwMode="auto">
          <a:xfrm>
            <a:off x="2098675" y="1965325"/>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2" name="Text Box 6"/>
          <p:cNvSpPr txBox="1">
            <a:spLocks noChangeArrowheads="1"/>
          </p:cNvSpPr>
          <p:nvPr/>
        </p:nvSpPr>
        <p:spPr bwMode="auto">
          <a:xfrm>
            <a:off x="862013" y="1547813"/>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p>
        </p:txBody>
      </p:sp>
      <p:grpSp>
        <p:nvGrpSpPr>
          <p:cNvPr id="166917" name="Group 7"/>
          <p:cNvGrpSpPr/>
          <p:nvPr/>
        </p:nvGrpSpPr>
        <p:grpSpPr>
          <a:xfrm>
            <a:off x="3622675" y="1736725"/>
            <a:ext cx="838200" cy="381000"/>
            <a:chOff x="1968" y="1344"/>
            <a:chExt cx="528" cy="240"/>
          </a:xfrm>
        </p:grpSpPr>
        <p:sp>
          <p:nvSpPr>
            <p:cNvPr id="160856" name="Rectangle 8"/>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7" name="Rectangle 9"/>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18" name="Group 10"/>
          <p:cNvGrpSpPr/>
          <p:nvPr/>
        </p:nvGrpSpPr>
        <p:grpSpPr bwMode="auto">
          <a:xfrm>
            <a:off x="4841876" y="1737179"/>
            <a:ext cx="838200" cy="381000"/>
            <a:chOff x="1968" y="1344"/>
            <a:chExt cx="528" cy="240"/>
          </a:xfrm>
          <a:solidFill>
            <a:srgbClr val="EAEAEA"/>
          </a:solidFill>
        </p:grpSpPr>
        <p:sp>
          <p:nvSpPr>
            <p:cNvPr id="160854" name="Rectangle 1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5" name="Rectangle 1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19" name="Group 13"/>
          <p:cNvGrpSpPr/>
          <p:nvPr/>
        </p:nvGrpSpPr>
        <p:grpSpPr bwMode="auto">
          <a:xfrm>
            <a:off x="6061076" y="1737179"/>
            <a:ext cx="838200" cy="381000"/>
            <a:chOff x="1968" y="1344"/>
            <a:chExt cx="528" cy="240"/>
          </a:xfrm>
          <a:solidFill>
            <a:srgbClr val="EAEAEA"/>
          </a:solidFill>
        </p:grpSpPr>
        <p:sp>
          <p:nvSpPr>
            <p:cNvPr id="160852" name="Rectangle 1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3" name="Rectangle 1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20" name="Group 16"/>
          <p:cNvGrpSpPr/>
          <p:nvPr/>
        </p:nvGrpSpPr>
        <p:grpSpPr>
          <a:xfrm>
            <a:off x="2479675" y="1736725"/>
            <a:ext cx="838200" cy="381000"/>
            <a:chOff x="1968" y="1344"/>
            <a:chExt cx="528" cy="240"/>
          </a:xfrm>
        </p:grpSpPr>
        <p:sp>
          <p:nvSpPr>
            <p:cNvPr id="160850" name="Rectangle 1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1" name="Rectangle 1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777" name="Line 19"/>
          <p:cNvSpPr>
            <a:spLocks noChangeShapeType="1"/>
          </p:cNvSpPr>
          <p:nvPr/>
        </p:nvSpPr>
        <p:spPr bwMode="auto">
          <a:xfrm>
            <a:off x="3233738" y="1955800"/>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8" name="Line 20"/>
          <p:cNvSpPr>
            <a:spLocks noChangeShapeType="1"/>
          </p:cNvSpPr>
          <p:nvPr/>
        </p:nvSpPr>
        <p:spPr bwMode="auto">
          <a:xfrm>
            <a:off x="4384675" y="19653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9" name="Line 21"/>
          <p:cNvSpPr>
            <a:spLocks noChangeShapeType="1"/>
          </p:cNvSpPr>
          <p:nvPr/>
        </p:nvSpPr>
        <p:spPr bwMode="auto">
          <a:xfrm>
            <a:off x="5603875" y="19653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80" name="Text Box 22"/>
          <p:cNvSpPr txBox="1">
            <a:spLocks noChangeArrowheads="1"/>
          </p:cNvSpPr>
          <p:nvPr/>
        </p:nvSpPr>
        <p:spPr bwMode="auto">
          <a:xfrm>
            <a:off x="3738563" y="16700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0781" name="Text Box 23"/>
          <p:cNvSpPr txBox="1">
            <a:spLocks noChangeArrowheads="1"/>
          </p:cNvSpPr>
          <p:nvPr/>
        </p:nvSpPr>
        <p:spPr bwMode="auto">
          <a:xfrm>
            <a:off x="4921250" y="16700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0782" name="Text Box 24"/>
          <p:cNvSpPr txBox="1">
            <a:spLocks noChangeArrowheads="1"/>
          </p:cNvSpPr>
          <p:nvPr/>
        </p:nvSpPr>
        <p:spPr bwMode="auto">
          <a:xfrm>
            <a:off x="6176963" y="16700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6927" name="Group 25"/>
          <p:cNvGrpSpPr/>
          <p:nvPr/>
        </p:nvGrpSpPr>
        <p:grpSpPr bwMode="auto">
          <a:xfrm>
            <a:off x="3319463" y="3064329"/>
            <a:ext cx="838200" cy="381000"/>
            <a:chOff x="1968" y="1344"/>
            <a:chExt cx="528" cy="240"/>
          </a:xfrm>
          <a:solidFill>
            <a:srgbClr val="EAEAEA"/>
          </a:solidFill>
        </p:grpSpPr>
        <p:sp>
          <p:nvSpPr>
            <p:cNvPr id="160848" name="Rectangle 2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9" name="Rectangle 2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28" name="Group 28"/>
          <p:cNvGrpSpPr/>
          <p:nvPr/>
        </p:nvGrpSpPr>
        <p:grpSpPr bwMode="auto">
          <a:xfrm>
            <a:off x="4538663" y="3064329"/>
            <a:ext cx="838200" cy="381000"/>
            <a:chOff x="1968" y="1344"/>
            <a:chExt cx="528" cy="240"/>
          </a:xfrm>
          <a:solidFill>
            <a:srgbClr val="EAEAEA"/>
          </a:solidFill>
        </p:grpSpPr>
        <p:sp>
          <p:nvSpPr>
            <p:cNvPr id="160846" name="Rectangle 2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7" name="Rectangle 3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29" name="Group 31"/>
          <p:cNvGrpSpPr/>
          <p:nvPr/>
        </p:nvGrpSpPr>
        <p:grpSpPr bwMode="auto">
          <a:xfrm>
            <a:off x="5757863" y="3064329"/>
            <a:ext cx="838200" cy="381000"/>
            <a:chOff x="1968" y="1344"/>
            <a:chExt cx="528" cy="240"/>
          </a:xfrm>
          <a:solidFill>
            <a:srgbClr val="EAEAEA"/>
          </a:solidFill>
        </p:grpSpPr>
        <p:sp>
          <p:nvSpPr>
            <p:cNvPr id="160844" name="Rectangle 3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5" name="Rectangle 3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30" name="Group 34"/>
          <p:cNvGrpSpPr/>
          <p:nvPr/>
        </p:nvGrpSpPr>
        <p:grpSpPr bwMode="auto">
          <a:xfrm>
            <a:off x="6900863" y="3064329"/>
            <a:ext cx="838200" cy="381000"/>
            <a:chOff x="1968" y="1344"/>
            <a:chExt cx="528" cy="240"/>
          </a:xfrm>
          <a:solidFill>
            <a:srgbClr val="EAEAEA"/>
          </a:solidFill>
        </p:grpSpPr>
        <p:sp>
          <p:nvSpPr>
            <p:cNvPr id="160842" name="Rectangle 3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3" name="Rectangle 3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31" name="Group 37"/>
          <p:cNvGrpSpPr/>
          <p:nvPr/>
        </p:nvGrpSpPr>
        <p:grpSpPr bwMode="auto">
          <a:xfrm>
            <a:off x="8043863" y="3064329"/>
            <a:ext cx="838200" cy="381000"/>
            <a:chOff x="1968" y="1344"/>
            <a:chExt cx="528" cy="240"/>
          </a:xfrm>
          <a:solidFill>
            <a:srgbClr val="EAEAEA"/>
          </a:solidFill>
        </p:grpSpPr>
        <p:sp>
          <p:nvSpPr>
            <p:cNvPr id="160840" name="Rectangle 3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1" name="Rectangle 3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788" name="Line 40"/>
          <p:cNvSpPr>
            <a:spLocks noChangeShapeType="1"/>
          </p:cNvSpPr>
          <p:nvPr/>
        </p:nvSpPr>
        <p:spPr bwMode="auto">
          <a:xfrm>
            <a:off x="28622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89" name="Line 41"/>
          <p:cNvSpPr>
            <a:spLocks noChangeShapeType="1"/>
          </p:cNvSpPr>
          <p:nvPr/>
        </p:nvSpPr>
        <p:spPr bwMode="auto">
          <a:xfrm>
            <a:off x="53006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90" name="Line 42"/>
          <p:cNvSpPr>
            <a:spLocks noChangeShapeType="1"/>
          </p:cNvSpPr>
          <p:nvPr/>
        </p:nvSpPr>
        <p:spPr bwMode="auto">
          <a:xfrm>
            <a:off x="64436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91" name="Line 43"/>
          <p:cNvSpPr>
            <a:spLocks noChangeShapeType="1"/>
          </p:cNvSpPr>
          <p:nvPr/>
        </p:nvSpPr>
        <p:spPr bwMode="auto">
          <a:xfrm>
            <a:off x="40814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92" name="Line 44"/>
          <p:cNvSpPr>
            <a:spLocks noChangeShapeType="1"/>
          </p:cNvSpPr>
          <p:nvPr/>
        </p:nvSpPr>
        <p:spPr bwMode="auto">
          <a:xfrm>
            <a:off x="75866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6937" name="Group 45"/>
          <p:cNvGrpSpPr/>
          <p:nvPr/>
        </p:nvGrpSpPr>
        <p:grpSpPr>
          <a:xfrm>
            <a:off x="2176463" y="2987675"/>
            <a:ext cx="838200" cy="461963"/>
            <a:chOff x="1420" y="1310"/>
            <a:chExt cx="528" cy="291"/>
          </a:xfrm>
        </p:grpSpPr>
        <p:grpSp>
          <p:nvGrpSpPr>
            <p:cNvPr id="166979" name="Group 46"/>
            <p:cNvGrpSpPr/>
            <p:nvPr/>
          </p:nvGrpSpPr>
          <p:grpSpPr>
            <a:xfrm>
              <a:off x="1420" y="1358"/>
              <a:ext cx="528" cy="240"/>
              <a:chOff x="1968" y="1344"/>
              <a:chExt cx="528" cy="240"/>
            </a:xfrm>
          </p:grpSpPr>
          <p:sp>
            <p:nvSpPr>
              <p:cNvPr id="160838" name="Rectangle 47"/>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9" name="Rectangle 48"/>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37" name="Text Box 49"/>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sp>
        <p:nvSpPr>
          <p:cNvPr id="160794" name="Text Box 50"/>
          <p:cNvSpPr txBox="1">
            <a:spLocks noChangeArrowheads="1"/>
          </p:cNvSpPr>
          <p:nvPr/>
        </p:nvSpPr>
        <p:spPr bwMode="auto">
          <a:xfrm>
            <a:off x="3435350" y="29876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0795" name="Text Box 51"/>
          <p:cNvSpPr txBox="1">
            <a:spLocks noChangeArrowheads="1"/>
          </p:cNvSpPr>
          <p:nvPr/>
        </p:nvSpPr>
        <p:spPr bwMode="auto">
          <a:xfrm>
            <a:off x="4614863" y="30289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0796" name="Text Box 52"/>
          <p:cNvSpPr txBox="1">
            <a:spLocks noChangeArrowheads="1"/>
          </p:cNvSpPr>
          <p:nvPr/>
        </p:nvSpPr>
        <p:spPr bwMode="auto">
          <a:xfrm>
            <a:off x="5873750" y="30289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0797" name="Text Box 53"/>
          <p:cNvSpPr txBox="1">
            <a:spLocks noChangeArrowheads="1"/>
          </p:cNvSpPr>
          <p:nvPr/>
        </p:nvSpPr>
        <p:spPr bwMode="auto">
          <a:xfrm>
            <a:off x="6894513" y="30289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0798" name="Text Box 54"/>
          <p:cNvSpPr txBox="1">
            <a:spLocks noChangeArrowheads="1"/>
          </p:cNvSpPr>
          <p:nvPr/>
        </p:nvSpPr>
        <p:spPr bwMode="auto">
          <a:xfrm>
            <a:off x="8047038" y="302895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6943" name="Group 55"/>
          <p:cNvGrpSpPr/>
          <p:nvPr/>
        </p:nvGrpSpPr>
        <p:grpSpPr bwMode="auto">
          <a:xfrm>
            <a:off x="962026" y="3054804"/>
            <a:ext cx="838200" cy="381000"/>
            <a:chOff x="1968" y="1344"/>
            <a:chExt cx="528" cy="240"/>
          </a:xfrm>
          <a:noFill/>
        </p:grpSpPr>
        <p:sp>
          <p:nvSpPr>
            <p:cNvPr id="160834" name="Rectangle 5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5" name="Rectangle 5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00" name="Line 58"/>
          <p:cNvSpPr>
            <a:spLocks noChangeShapeType="1"/>
          </p:cNvSpPr>
          <p:nvPr/>
        </p:nvSpPr>
        <p:spPr bwMode="auto">
          <a:xfrm>
            <a:off x="1724025" y="32829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6945" name="Group 59"/>
          <p:cNvGrpSpPr/>
          <p:nvPr/>
        </p:nvGrpSpPr>
        <p:grpSpPr>
          <a:xfrm>
            <a:off x="200025" y="2773363"/>
            <a:ext cx="762000" cy="584200"/>
            <a:chOff x="834" y="1888"/>
            <a:chExt cx="480" cy="368"/>
          </a:xfrm>
        </p:grpSpPr>
        <p:sp>
          <p:nvSpPr>
            <p:cNvPr id="160832" name="Line 60"/>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3" name="Text Box 61"/>
            <p:cNvSpPr txBox="1">
              <a:spLocks noChangeArrowheads="1"/>
            </p:cNvSpPr>
            <p:nvPr/>
          </p:nvSpPr>
          <p:spPr bwMode="auto">
            <a:xfrm>
              <a:off x="834" y="1888"/>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Lb</a:t>
              </a:r>
            </a:p>
          </p:txBody>
        </p:sp>
      </p:grpSp>
      <p:sp>
        <p:nvSpPr>
          <p:cNvPr id="160802" name="Line 63"/>
          <p:cNvSpPr>
            <a:spLocks noChangeShapeType="1"/>
          </p:cNvSpPr>
          <p:nvPr/>
        </p:nvSpPr>
        <p:spPr bwMode="auto">
          <a:xfrm flipV="1">
            <a:off x="2449513" y="3436938"/>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03" name="Rectangle 64"/>
          <p:cNvSpPr>
            <a:spLocks noChangeArrowheads="1"/>
          </p:cNvSpPr>
          <p:nvPr/>
        </p:nvSpPr>
        <p:spPr bwMode="auto">
          <a:xfrm>
            <a:off x="860425" y="1762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pa-&gt;data &gt;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pb</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-&gt;data )</a:t>
            </a:r>
          </a:p>
        </p:txBody>
      </p:sp>
      <p:sp>
        <p:nvSpPr>
          <p:cNvPr id="160804" name="Text Box 65"/>
          <p:cNvSpPr txBox="1">
            <a:spLocks noChangeArrowheads="1"/>
          </p:cNvSpPr>
          <p:nvPr/>
        </p:nvSpPr>
        <p:spPr bwMode="auto">
          <a:xfrm>
            <a:off x="4829175" y="3775075"/>
            <a:ext cx="3681413" cy="579438"/>
          </a:xfrm>
          <a:prstGeom prst="rect">
            <a:avLst/>
          </a:prstGeom>
          <a:solidFill>
            <a:srgbClr val="D7D7FF"/>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a:t>
            </a: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166949" name="Group 66"/>
          <p:cNvGrpSpPr/>
          <p:nvPr/>
        </p:nvGrpSpPr>
        <p:grpSpPr>
          <a:xfrm>
            <a:off x="3613150" y="1681163"/>
            <a:ext cx="838200" cy="461962"/>
            <a:chOff x="2467" y="616"/>
            <a:chExt cx="528" cy="291"/>
          </a:xfrm>
        </p:grpSpPr>
        <p:grpSp>
          <p:nvGrpSpPr>
            <p:cNvPr id="166973" name="Group 67"/>
            <p:cNvGrpSpPr/>
            <p:nvPr/>
          </p:nvGrpSpPr>
          <p:grpSpPr>
            <a:xfrm>
              <a:off x="2467" y="658"/>
              <a:ext cx="528" cy="240"/>
              <a:chOff x="1968" y="1344"/>
              <a:chExt cx="528" cy="240"/>
            </a:xfrm>
          </p:grpSpPr>
          <p:sp>
            <p:nvSpPr>
              <p:cNvPr id="160830" name="Rectangle 6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1" name="Rectangle 6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29" name="Text Box 70"/>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grpSp>
        <p:nvGrpSpPr>
          <p:cNvPr id="166950" name="Group 71"/>
          <p:cNvGrpSpPr/>
          <p:nvPr/>
        </p:nvGrpSpPr>
        <p:grpSpPr>
          <a:xfrm>
            <a:off x="2609850" y="2117725"/>
            <a:ext cx="1681163" cy="960438"/>
            <a:chOff x="1693" y="762"/>
            <a:chExt cx="1059" cy="605"/>
          </a:xfrm>
        </p:grpSpPr>
        <p:sp>
          <p:nvSpPr>
            <p:cNvPr id="160825" name="Line 72"/>
            <p:cNvSpPr>
              <a:spLocks noChangeShapeType="1"/>
            </p:cNvSpPr>
            <p:nvPr/>
          </p:nvSpPr>
          <p:spPr bwMode="auto">
            <a:xfrm>
              <a:off x="2737" y="762"/>
              <a:ext cx="0" cy="288"/>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6" name="Line 73"/>
            <p:cNvSpPr>
              <a:spLocks noChangeShapeType="1"/>
            </p:cNvSpPr>
            <p:nvPr/>
          </p:nvSpPr>
          <p:spPr bwMode="auto">
            <a:xfrm flipH="1">
              <a:off x="1693" y="1050"/>
              <a:ext cx="1059" cy="0"/>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7" name="Line 74"/>
            <p:cNvSpPr>
              <a:spLocks noChangeShapeType="1"/>
            </p:cNvSpPr>
            <p:nvPr/>
          </p:nvSpPr>
          <p:spPr bwMode="auto">
            <a:xfrm>
              <a:off x="1701" y="1050"/>
              <a:ext cx="0" cy="317"/>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07" name="Text Box 75"/>
          <p:cNvSpPr txBox="1">
            <a:spLocks noChangeArrowheads="1"/>
          </p:cNvSpPr>
          <p:nvPr/>
        </p:nvSpPr>
        <p:spPr bwMode="auto">
          <a:xfrm>
            <a:off x="5110163" y="2154238"/>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pa</a:t>
            </a:r>
          </a:p>
        </p:txBody>
      </p:sp>
      <p:sp>
        <p:nvSpPr>
          <p:cNvPr id="160808" name="Line 76"/>
          <p:cNvSpPr>
            <a:spLocks noChangeShapeType="1"/>
          </p:cNvSpPr>
          <p:nvPr/>
        </p:nvSpPr>
        <p:spPr bwMode="auto">
          <a:xfrm flipV="1">
            <a:off x="5038725" y="21050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6953" name="Group 77"/>
          <p:cNvGrpSpPr/>
          <p:nvPr/>
        </p:nvGrpSpPr>
        <p:grpSpPr>
          <a:xfrm>
            <a:off x="1754188" y="3473450"/>
            <a:ext cx="6769100" cy="1460500"/>
            <a:chOff x="1154" y="1616"/>
            <a:chExt cx="4264" cy="920"/>
          </a:xfrm>
        </p:grpSpPr>
        <p:sp>
          <p:nvSpPr>
            <p:cNvPr id="160823" name="Text Box 78"/>
            <p:cNvSpPr txBox="1">
              <a:spLocks noChangeArrowheads="1"/>
            </p:cNvSpPr>
            <p:nvPr/>
          </p:nvSpPr>
          <p:spPr bwMode="auto">
            <a:xfrm>
              <a:off x="1154" y="1616"/>
              <a:ext cx="54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4" name="Text Box 79"/>
            <p:cNvSpPr txBox="1">
              <a:spLocks noChangeArrowheads="1"/>
            </p:cNvSpPr>
            <p:nvPr/>
          </p:nvSpPr>
          <p:spPr bwMode="auto">
            <a:xfrm>
              <a:off x="3099" y="2171"/>
              <a:ext cx="2319" cy="365"/>
            </a:xfrm>
            <a:prstGeom prst="rect">
              <a:avLst/>
            </a:prstGeom>
            <a:solidFill>
              <a:srgbClr val="D7D7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 pb;</a:t>
              </a:r>
            </a:p>
          </p:txBody>
        </p:sp>
      </p:grpSp>
      <p:grpSp>
        <p:nvGrpSpPr>
          <p:cNvPr id="166954" name="Group 80"/>
          <p:cNvGrpSpPr/>
          <p:nvPr/>
        </p:nvGrpSpPr>
        <p:grpSpPr>
          <a:xfrm>
            <a:off x="2176463" y="2987675"/>
            <a:ext cx="838200" cy="461963"/>
            <a:chOff x="1420" y="1310"/>
            <a:chExt cx="528" cy="291"/>
          </a:xfrm>
        </p:grpSpPr>
        <p:grpSp>
          <p:nvGrpSpPr>
            <p:cNvPr id="166964" name="Group 81"/>
            <p:cNvGrpSpPr/>
            <p:nvPr/>
          </p:nvGrpSpPr>
          <p:grpSpPr>
            <a:xfrm>
              <a:off x="1420" y="1358"/>
              <a:ext cx="528" cy="240"/>
              <a:chOff x="1968" y="1344"/>
              <a:chExt cx="528" cy="240"/>
            </a:xfrm>
          </p:grpSpPr>
          <p:sp>
            <p:nvSpPr>
              <p:cNvPr id="160821" name="Rectangle 8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2" name="Rectangle 8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20" name="Text Box 84"/>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grpSp>
        <p:nvGrpSpPr>
          <p:cNvPr id="21" name="Group 88"/>
          <p:cNvGrpSpPr/>
          <p:nvPr/>
        </p:nvGrpSpPr>
        <p:grpSpPr>
          <a:xfrm>
            <a:off x="3576638" y="3473450"/>
            <a:ext cx="4946650" cy="2039938"/>
            <a:chOff x="2302" y="1616"/>
            <a:chExt cx="3116" cy="1285"/>
          </a:xfrm>
        </p:grpSpPr>
        <p:sp>
          <p:nvSpPr>
            <p:cNvPr id="160815" name="Text Box 85"/>
            <p:cNvSpPr txBox="1">
              <a:spLocks noChangeArrowheads="1"/>
            </p:cNvSpPr>
            <p:nvPr/>
          </p:nvSpPr>
          <p:spPr bwMode="auto">
            <a:xfrm>
              <a:off x="3099" y="2536"/>
              <a:ext cx="2319" cy="365"/>
            </a:xfrm>
            <a:prstGeom prst="rect">
              <a:avLst/>
            </a:prstGeom>
            <a:solidFill>
              <a:srgbClr val="D7D7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pb =pb-&gt;next;</a:t>
              </a:r>
            </a:p>
          </p:txBody>
        </p:sp>
        <p:grpSp>
          <p:nvGrpSpPr>
            <p:cNvPr id="166961" name="Group 87"/>
            <p:cNvGrpSpPr/>
            <p:nvPr/>
          </p:nvGrpSpPr>
          <p:grpSpPr>
            <a:xfrm>
              <a:off x="2302" y="1616"/>
              <a:ext cx="451" cy="368"/>
              <a:chOff x="2302" y="1616"/>
              <a:chExt cx="451" cy="368"/>
            </a:xfrm>
          </p:grpSpPr>
          <p:sp>
            <p:nvSpPr>
              <p:cNvPr id="160817" name="Text Box 62"/>
              <p:cNvSpPr txBox="1">
                <a:spLocks noChangeArrowheads="1"/>
              </p:cNvSpPr>
              <p:nvPr/>
            </p:nvSpPr>
            <p:spPr bwMode="auto">
              <a:xfrm>
                <a:off x="2350" y="1616"/>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pb</a:t>
                </a:r>
              </a:p>
            </p:txBody>
          </p:sp>
          <p:sp>
            <p:nvSpPr>
              <p:cNvPr id="160818" name="Line 86"/>
              <p:cNvSpPr>
                <a:spLocks noChangeShapeType="1"/>
              </p:cNvSpPr>
              <p:nvPr/>
            </p:nvSpPr>
            <p:spPr bwMode="auto">
              <a:xfrm flipV="1">
                <a:off x="2302" y="1624"/>
                <a:ext cx="0" cy="24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grpSp>
        <p:nvGrpSpPr>
          <p:cNvPr id="166956" name="Group 89"/>
          <p:cNvGrpSpPr/>
          <p:nvPr/>
        </p:nvGrpSpPr>
        <p:grpSpPr>
          <a:xfrm>
            <a:off x="1870075" y="3130550"/>
            <a:ext cx="228600" cy="304800"/>
            <a:chOff x="2698" y="1622"/>
            <a:chExt cx="144" cy="192"/>
          </a:xfrm>
        </p:grpSpPr>
        <p:sp>
          <p:nvSpPr>
            <p:cNvPr id="160813" name="Line 90"/>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14" name="Line 91"/>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90"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2000" fill="hold"/>
                                        <p:tgtEl>
                                          <p:spTgt spid="21"/>
                                        </p:tgtEl>
                                        <p:attrNameLst>
                                          <p:attrName>ppt_x</p:attrName>
                                        </p:attrNameLst>
                                      </p:cBhvr>
                                      <p:tavLst>
                                        <p:tav tm="0">
                                          <p:val>
                                            <p:strVal val="#ppt_x"/>
                                          </p:val>
                                        </p:tav>
                                        <p:tav tm="100000">
                                          <p:val>
                                            <p:strVal val="#ppt_x"/>
                                          </p:val>
                                        </p:tav>
                                      </p:tavLst>
                                    </p:anim>
                                    <p:anim calcmode="lin" valueType="num">
                                      <p:cBhvr additive="base">
                                        <p:cTn id="8" dur="20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矩形 1"/>
          <p:cNvSpPr/>
          <p:nvPr/>
        </p:nvSpPr>
        <p:spPr>
          <a:xfrm>
            <a:off x="0" y="4813300"/>
            <a:ext cx="9144000" cy="17113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167939" name="Group 4"/>
          <p:cNvGrpSpPr/>
          <p:nvPr/>
        </p:nvGrpSpPr>
        <p:grpSpPr>
          <a:xfrm>
            <a:off x="3155950" y="1765300"/>
            <a:ext cx="838200" cy="381000"/>
            <a:chOff x="1968" y="1344"/>
            <a:chExt cx="528" cy="240"/>
          </a:xfrm>
        </p:grpSpPr>
        <p:sp>
          <p:nvSpPr>
            <p:cNvPr id="161870" name="Rectangle 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71" name="Rectangle 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0" name="Group 7"/>
          <p:cNvGrpSpPr/>
          <p:nvPr/>
        </p:nvGrpSpPr>
        <p:grpSpPr>
          <a:xfrm>
            <a:off x="4375150" y="1765300"/>
            <a:ext cx="838200" cy="381000"/>
            <a:chOff x="1968" y="1344"/>
            <a:chExt cx="528" cy="240"/>
          </a:xfrm>
        </p:grpSpPr>
        <p:sp>
          <p:nvSpPr>
            <p:cNvPr id="161868" name="Rectangle 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9" name="Rectangle 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1" name="Group 10"/>
          <p:cNvGrpSpPr/>
          <p:nvPr/>
        </p:nvGrpSpPr>
        <p:grpSpPr>
          <a:xfrm>
            <a:off x="5594350" y="1765300"/>
            <a:ext cx="838200" cy="381000"/>
            <a:chOff x="1968" y="1344"/>
            <a:chExt cx="528" cy="240"/>
          </a:xfrm>
        </p:grpSpPr>
        <p:sp>
          <p:nvSpPr>
            <p:cNvPr id="161866" name="Rectangle 1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7" name="Rectangle 1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2" name="Group 13"/>
          <p:cNvGrpSpPr/>
          <p:nvPr/>
        </p:nvGrpSpPr>
        <p:grpSpPr>
          <a:xfrm>
            <a:off x="2012950" y="1765300"/>
            <a:ext cx="838200" cy="381000"/>
            <a:chOff x="1968" y="1344"/>
            <a:chExt cx="528" cy="240"/>
          </a:xfrm>
        </p:grpSpPr>
        <p:sp>
          <p:nvSpPr>
            <p:cNvPr id="161864" name="Rectangle 1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5" name="Rectangle 1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3" name="Group 16"/>
          <p:cNvGrpSpPr/>
          <p:nvPr/>
        </p:nvGrpSpPr>
        <p:grpSpPr>
          <a:xfrm>
            <a:off x="1708150" y="3365500"/>
            <a:ext cx="838200" cy="381000"/>
            <a:chOff x="1968" y="1344"/>
            <a:chExt cx="528" cy="240"/>
          </a:xfrm>
        </p:grpSpPr>
        <p:sp>
          <p:nvSpPr>
            <p:cNvPr id="161862" name="Rectangle 1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3" name="Rectangle 1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4" name="Group 19"/>
          <p:cNvGrpSpPr/>
          <p:nvPr/>
        </p:nvGrpSpPr>
        <p:grpSpPr>
          <a:xfrm>
            <a:off x="2851150" y="3365500"/>
            <a:ext cx="838200" cy="381000"/>
            <a:chOff x="1968" y="1344"/>
            <a:chExt cx="528" cy="240"/>
          </a:xfrm>
        </p:grpSpPr>
        <p:sp>
          <p:nvSpPr>
            <p:cNvPr id="161860" name="Rectangle 2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1" name="Rectangle 2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5" name="Group 22"/>
          <p:cNvGrpSpPr/>
          <p:nvPr/>
        </p:nvGrpSpPr>
        <p:grpSpPr>
          <a:xfrm>
            <a:off x="4070350" y="3365500"/>
            <a:ext cx="838200" cy="381000"/>
            <a:chOff x="1968" y="1344"/>
            <a:chExt cx="528" cy="240"/>
          </a:xfrm>
        </p:grpSpPr>
        <p:sp>
          <p:nvSpPr>
            <p:cNvPr id="161858" name="Rectangle 2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9" name="Rectangle 2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6" name="Group 25"/>
          <p:cNvGrpSpPr/>
          <p:nvPr/>
        </p:nvGrpSpPr>
        <p:grpSpPr>
          <a:xfrm>
            <a:off x="5289550" y="3365500"/>
            <a:ext cx="838200" cy="381000"/>
            <a:chOff x="1968" y="1344"/>
            <a:chExt cx="528" cy="240"/>
          </a:xfrm>
        </p:grpSpPr>
        <p:sp>
          <p:nvSpPr>
            <p:cNvPr id="161856" name="Rectangle 2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7" name="Rectangle 2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28"/>
          <p:cNvGrpSpPr/>
          <p:nvPr/>
        </p:nvGrpSpPr>
        <p:grpSpPr bwMode="auto">
          <a:xfrm>
            <a:off x="6432550" y="3365500"/>
            <a:ext cx="838200" cy="381000"/>
            <a:chOff x="1968" y="1344"/>
            <a:chExt cx="528" cy="240"/>
          </a:xfrm>
          <a:solidFill>
            <a:srgbClr val="D7D7FF"/>
          </a:solidFill>
        </p:grpSpPr>
        <p:sp>
          <p:nvSpPr>
            <p:cNvPr id="161854" name="Rectangle 2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5" name="Rectangle 3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7" name="Group 31"/>
          <p:cNvGrpSpPr/>
          <p:nvPr/>
        </p:nvGrpSpPr>
        <p:grpSpPr bwMode="auto">
          <a:xfrm>
            <a:off x="7575550" y="3365500"/>
            <a:ext cx="838200" cy="381000"/>
            <a:chOff x="1968" y="1344"/>
            <a:chExt cx="528" cy="240"/>
          </a:xfrm>
          <a:solidFill>
            <a:srgbClr val="D7D7FF"/>
          </a:solidFill>
        </p:grpSpPr>
        <p:sp>
          <p:nvSpPr>
            <p:cNvPr id="161852" name="Rectangle 3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3" name="Rectangle 3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1804" name="Line 34"/>
          <p:cNvSpPr>
            <a:spLocks noChangeShapeType="1"/>
          </p:cNvSpPr>
          <p:nvPr/>
        </p:nvSpPr>
        <p:spPr bwMode="auto">
          <a:xfrm>
            <a:off x="2393950" y="3517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5" name="Line 35"/>
          <p:cNvSpPr>
            <a:spLocks noChangeShapeType="1"/>
          </p:cNvSpPr>
          <p:nvPr/>
        </p:nvSpPr>
        <p:spPr bwMode="auto">
          <a:xfrm>
            <a:off x="4832350" y="3517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6" name="Line 36"/>
          <p:cNvSpPr>
            <a:spLocks noChangeShapeType="1"/>
          </p:cNvSpPr>
          <p:nvPr/>
        </p:nvSpPr>
        <p:spPr bwMode="auto">
          <a:xfrm>
            <a:off x="5975350" y="3517900"/>
            <a:ext cx="4572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7" name="Line 37"/>
          <p:cNvSpPr>
            <a:spLocks noChangeShapeType="1"/>
          </p:cNvSpPr>
          <p:nvPr/>
        </p:nvSpPr>
        <p:spPr bwMode="auto">
          <a:xfrm>
            <a:off x="2698750" y="1993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8" name="Line 38"/>
          <p:cNvSpPr>
            <a:spLocks noChangeShapeType="1"/>
          </p:cNvSpPr>
          <p:nvPr/>
        </p:nvSpPr>
        <p:spPr bwMode="auto">
          <a:xfrm>
            <a:off x="3917950" y="1993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9" name="Line 39"/>
          <p:cNvSpPr>
            <a:spLocks noChangeShapeType="1"/>
          </p:cNvSpPr>
          <p:nvPr/>
        </p:nvSpPr>
        <p:spPr bwMode="auto">
          <a:xfrm>
            <a:off x="5137150" y="1993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0" name="Line 40"/>
          <p:cNvSpPr>
            <a:spLocks noChangeShapeType="1"/>
          </p:cNvSpPr>
          <p:nvPr/>
        </p:nvSpPr>
        <p:spPr bwMode="auto">
          <a:xfrm>
            <a:off x="3613150" y="3517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1" name="Line 41"/>
          <p:cNvSpPr>
            <a:spLocks noChangeShapeType="1"/>
          </p:cNvSpPr>
          <p:nvPr/>
        </p:nvSpPr>
        <p:spPr bwMode="auto">
          <a:xfrm>
            <a:off x="7118350" y="3517900"/>
            <a:ext cx="4572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2" name="Line 42"/>
          <p:cNvSpPr>
            <a:spLocks noChangeShapeType="1"/>
          </p:cNvSpPr>
          <p:nvPr/>
        </p:nvSpPr>
        <p:spPr bwMode="auto">
          <a:xfrm flipV="1">
            <a:off x="2165350" y="2146300"/>
            <a:ext cx="0" cy="7620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3" name="Line 43"/>
          <p:cNvSpPr>
            <a:spLocks noChangeShapeType="1"/>
          </p:cNvSpPr>
          <p:nvPr/>
        </p:nvSpPr>
        <p:spPr bwMode="auto">
          <a:xfrm>
            <a:off x="3827463" y="1993900"/>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4" name="Line 44"/>
          <p:cNvSpPr>
            <a:spLocks noChangeShapeType="1"/>
          </p:cNvSpPr>
          <p:nvPr/>
        </p:nvSpPr>
        <p:spPr bwMode="auto">
          <a:xfrm flipH="1">
            <a:off x="2470150" y="2451100"/>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5" name="Line 45"/>
          <p:cNvSpPr>
            <a:spLocks noChangeShapeType="1"/>
          </p:cNvSpPr>
          <p:nvPr/>
        </p:nvSpPr>
        <p:spPr bwMode="auto">
          <a:xfrm>
            <a:off x="2465388" y="2451100"/>
            <a:ext cx="0" cy="9144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6" name="Line 46"/>
          <p:cNvSpPr>
            <a:spLocks noChangeShapeType="1"/>
          </p:cNvSpPr>
          <p:nvPr/>
        </p:nvSpPr>
        <p:spPr bwMode="auto">
          <a:xfrm flipV="1">
            <a:off x="4756150" y="2146300"/>
            <a:ext cx="0" cy="13716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7" name="Line 47"/>
          <p:cNvSpPr>
            <a:spLocks noChangeShapeType="1"/>
          </p:cNvSpPr>
          <p:nvPr/>
        </p:nvSpPr>
        <p:spPr bwMode="auto">
          <a:xfrm>
            <a:off x="6302375" y="1993900"/>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8" name="Line 48"/>
          <p:cNvSpPr>
            <a:spLocks noChangeShapeType="1"/>
          </p:cNvSpPr>
          <p:nvPr/>
        </p:nvSpPr>
        <p:spPr bwMode="auto">
          <a:xfrm flipH="1">
            <a:off x="5921375" y="2527300"/>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9" name="Line 49"/>
          <p:cNvSpPr>
            <a:spLocks noChangeShapeType="1"/>
          </p:cNvSpPr>
          <p:nvPr/>
        </p:nvSpPr>
        <p:spPr bwMode="auto">
          <a:xfrm>
            <a:off x="5921375" y="2527300"/>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20" name="Line 50"/>
          <p:cNvSpPr>
            <a:spLocks noChangeShapeType="1"/>
          </p:cNvSpPr>
          <p:nvPr/>
        </p:nvSpPr>
        <p:spPr bwMode="auto">
          <a:xfrm>
            <a:off x="1631950" y="199390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21" name="Text Box 51"/>
          <p:cNvSpPr txBox="1">
            <a:spLocks noChangeArrowheads="1"/>
          </p:cNvSpPr>
          <p:nvPr/>
        </p:nvSpPr>
        <p:spPr bwMode="auto">
          <a:xfrm>
            <a:off x="304800" y="1681163"/>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61822" name="Text Box 52"/>
          <p:cNvSpPr txBox="1">
            <a:spLocks noChangeArrowheads="1"/>
          </p:cNvSpPr>
          <p:nvPr/>
        </p:nvSpPr>
        <p:spPr bwMode="auto">
          <a:xfrm>
            <a:off x="3271838" y="1698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1823" name="Text Box 53"/>
          <p:cNvSpPr txBox="1">
            <a:spLocks noChangeArrowheads="1"/>
          </p:cNvSpPr>
          <p:nvPr/>
        </p:nvSpPr>
        <p:spPr bwMode="auto">
          <a:xfrm>
            <a:off x="1849438" y="32893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61824" name="Text Box 54"/>
          <p:cNvSpPr txBox="1">
            <a:spLocks noChangeArrowheads="1"/>
          </p:cNvSpPr>
          <p:nvPr/>
        </p:nvSpPr>
        <p:spPr bwMode="auto">
          <a:xfrm>
            <a:off x="2967038" y="32893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1825" name="Text Box 55"/>
          <p:cNvSpPr txBox="1">
            <a:spLocks noChangeArrowheads="1"/>
          </p:cNvSpPr>
          <p:nvPr/>
        </p:nvSpPr>
        <p:spPr bwMode="auto">
          <a:xfrm>
            <a:off x="4146550" y="33305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1826" name="Text Box 56"/>
          <p:cNvSpPr txBox="1">
            <a:spLocks noChangeArrowheads="1"/>
          </p:cNvSpPr>
          <p:nvPr/>
        </p:nvSpPr>
        <p:spPr bwMode="auto">
          <a:xfrm>
            <a:off x="4454525" y="1698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1827" name="Text Box 57"/>
          <p:cNvSpPr txBox="1">
            <a:spLocks noChangeArrowheads="1"/>
          </p:cNvSpPr>
          <p:nvPr/>
        </p:nvSpPr>
        <p:spPr bwMode="auto">
          <a:xfrm>
            <a:off x="5710238" y="1698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1828" name="Text Box 58"/>
          <p:cNvSpPr txBox="1">
            <a:spLocks noChangeArrowheads="1"/>
          </p:cNvSpPr>
          <p:nvPr/>
        </p:nvSpPr>
        <p:spPr bwMode="auto">
          <a:xfrm>
            <a:off x="5405438" y="33305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1829" name="Text Box 59"/>
          <p:cNvSpPr txBox="1">
            <a:spLocks noChangeArrowheads="1"/>
          </p:cNvSpPr>
          <p:nvPr/>
        </p:nvSpPr>
        <p:spPr bwMode="auto">
          <a:xfrm>
            <a:off x="6426200" y="33305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1830" name="Text Box 60"/>
          <p:cNvSpPr txBox="1">
            <a:spLocks noChangeArrowheads="1"/>
          </p:cNvSpPr>
          <p:nvPr/>
        </p:nvSpPr>
        <p:spPr bwMode="auto">
          <a:xfrm>
            <a:off x="7578725" y="33305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7976" name="Group 61"/>
          <p:cNvGrpSpPr/>
          <p:nvPr/>
        </p:nvGrpSpPr>
        <p:grpSpPr>
          <a:xfrm>
            <a:off x="4037013" y="1851025"/>
            <a:ext cx="228600" cy="304800"/>
            <a:chOff x="2698" y="1622"/>
            <a:chExt cx="144" cy="192"/>
          </a:xfrm>
        </p:grpSpPr>
        <p:sp>
          <p:nvSpPr>
            <p:cNvPr id="161850" name="Line 62"/>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1" name="Line 63"/>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77" name="Group 64"/>
          <p:cNvGrpSpPr/>
          <p:nvPr/>
        </p:nvGrpSpPr>
        <p:grpSpPr>
          <a:xfrm>
            <a:off x="4967288" y="3394075"/>
            <a:ext cx="228600" cy="304800"/>
            <a:chOff x="2698" y="1622"/>
            <a:chExt cx="144" cy="192"/>
          </a:xfrm>
        </p:grpSpPr>
        <p:sp>
          <p:nvSpPr>
            <p:cNvPr id="161848" name="Line 65"/>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9" name="Line 66"/>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67"/>
          <p:cNvGrpSpPr/>
          <p:nvPr/>
        </p:nvGrpSpPr>
        <p:grpSpPr bwMode="auto">
          <a:xfrm>
            <a:off x="493713" y="3355975"/>
            <a:ext cx="838200" cy="381000"/>
            <a:chOff x="1968" y="1344"/>
            <a:chExt cx="528" cy="240"/>
          </a:xfrm>
          <a:solidFill>
            <a:schemeClr val="bg1"/>
          </a:solidFill>
        </p:grpSpPr>
        <p:sp>
          <p:nvSpPr>
            <p:cNvPr id="161846" name="Rectangle 6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7" name="Rectangle 6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1834" name="Line 70"/>
          <p:cNvSpPr>
            <a:spLocks noChangeShapeType="1"/>
          </p:cNvSpPr>
          <p:nvPr/>
        </p:nvSpPr>
        <p:spPr bwMode="auto">
          <a:xfrm>
            <a:off x="1255713" y="3584575"/>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7980" name="Group 71"/>
          <p:cNvGrpSpPr/>
          <p:nvPr/>
        </p:nvGrpSpPr>
        <p:grpSpPr>
          <a:xfrm>
            <a:off x="1404938" y="3432175"/>
            <a:ext cx="228600" cy="304800"/>
            <a:chOff x="2698" y="1622"/>
            <a:chExt cx="144" cy="192"/>
          </a:xfrm>
        </p:grpSpPr>
        <p:sp>
          <p:nvSpPr>
            <p:cNvPr id="161844" name="Line 72"/>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5" name="Line 73"/>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1836" name="Rectangle 81"/>
          <p:cNvSpPr>
            <a:spLocks noChangeArrowheads="1"/>
          </p:cNvSpPr>
          <p:nvPr/>
        </p:nvSpPr>
        <p:spPr bwMode="auto">
          <a:xfrm>
            <a:off x="898525" y="219075"/>
            <a:ext cx="28162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p>
        </p:txBody>
      </p:sp>
      <p:sp>
        <p:nvSpPr>
          <p:cNvPr id="598098" name="Text Box 82"/>
          <p:cNvSpPr txBox="1">
            <a:spLocks noChangeArrowheads="1"/>
          </p:cNvSpPr>
          <p:nvPr/>
        </p:nvSpPr>
        <p:spPr bwMode="auto">
          <a:xfrm>
            <a:off x="2419350" y="5368925"/>
            <a:ext cx="4672013" cy="579438"/>
          </a:xfrm>
          <a:prstGeom prst="rect">
            <a:avLst/>
          </a:prstGeom>
          <a:solidFill>
            <a:srgbClr val="D7D7FF"/>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pc-&gt; next=pa?pa:pb; </a:t>
            </a:r>
          </a:p>
        </p:txBody>
      </p:sp>
      <p:sp>
        <p:nvSpPr>
          <p:cNvPr id="161838" name="Text Box 83"/>
          <p:cNvSpPr txBox="1">
            <a:spLocks noChangeArrowheads="1"/>
          </p:cNvSpPr>
          <p:nvPr/>
        </p:nvSpPr>
        <p:spPr bwMode="auto">
          <a:xfrm>
            <a:off x="6556375" y="2466975"/>
            <a:ext cx="2301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pa(NULL)</a:t>
            </a:r>
          </a:p>
        </p:txBody>
      </p:sp>
      <p:sp>
        <p:nvSpPr>
          <p:cNvPr id="161839" name="Line 84"/>
          <p:cNvSpPr>
            <a:spLocks noChangeShapeType="1"/>
          </p:cNvSpPr>
          <p:nvPr/>
        </p:nvSpPr>
        <p:spPr bwMode="auto">
          <a:xfrm flipV="1">
            <a:off x="6705600" y="217170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0" name="Text Box 85"/>
          <p:cNvSpPr txBox="1">
            <a:spLocks noChangeArrowheads="1"/>
          </p:cNvSpPr>
          <p:nvPr/>
        </p:nvSpPr>
        <p:spPr bwMode="auto">
          <a:xfrm>
            <a:off x="6672263" y="4027488"/>
            <a:ext cx="639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61841" name="Line 86"/>
          <p:cNvSpPr>
            <a:spLocks noChangeShapeType="1"/>
          </p:cNvSpPr>
          <p:nvPr/>
        </p:nvSpPr>
        <p:spPr bwMode="auto">
          <a:xfrm flipV="1">
            <a:off x="6821488" y="373856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2" name="Text Box 87"/>
          <p:cNvSpPr txBox="1">
            <a:spLocks noChangeArrowheads="1"/>
          </p:cNvSpPr>
          <p:nvPr/>
        </p:nvSpPr>
        <p:spPr bwMode="auto">
          <a:xfrm>
            <a:off x="5467350" y="4002088"/>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pc</a:t>
            </a:r>
          </a:p>
        </p:txBody>
      </p:sp>
      <p:sp>
        <p:nvSpPr>
          <p:cNvPr id="161843" name="Line 88"/>
          <p:cNvSpPr>
            <a:spLocks noChangeShapeType="1"/>
          </p:cNvSpPr>
          <p:nvPr/>
        </p:nvSpPr>
        <p:spPr bwMode="auto">
          <a:xfrm flipV="1">
            <a:off x="5638800" y="373856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8098"/>
                                        </p:tgtEl>
                                        <p:attrNameLst>
                                          <p:attrName>style.visibility</p:attrName>
                                        </p:attrNameLst>
                                      </p:cBhvr>
                                      <p:to>
                                        <p:strVal val="visible"/>
                                      </p:to>
                                    </p:set>
                                    <p:animEffect transition="in" filter="box(in)">
                                      <p:cBhvr>
                                        <p:cTn id="7" dur="2000"/>
                                        <p:tgtEl>
                                          <p:spTgt spid="598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98"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962" name="Group 5"/>
          <p:cNvGrpSpPr/>
          <p:nvPr/>
        </p:nvGrpSpPr>
        <p:grpSpPr>
          <a:xfrm>
            <a:off x="3470275" y="2392363"/>
            <a:ext cx="838200" cy="381000"/>
            <a:chOff x="1968" y="1344"/>
            <a:chExt cx="528" cy="240"/>
          </a:xfrm>
        </p:grpSpPr>
        <p:sp>
          <p:nvSpPr>
            <p:cNvPr id="162894" name="Rectangle 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95" name="Rectangle 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3" name="Group 8"/>
          <p:cNvGrpSpPr/>
          <p:nvPr/>
        </p:nvGrpSpPr>
        <p:grpSpPr>
          <a:xfrm>
            <a:off x="4689475" y="2392363"/>
            <a:ext cx="838200" cy="381000"/>
            <a:chOff x="1968" y="1344"/>
            <a:chExt cx="528" cy="240"/>
          </a:xfrm>
        </p:grpSpPr>
        <p:sp>
          <p:nvSpPr>
            <p:cNvPr id="162892" name="Rectangle 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93" name="Rectangle 1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4" name="Group 11"/>
          <p:cNvGrpSpPr/>
          <p:nvPr/>
        </p:nvGrpSpPr>
        <p:grpSpPr>
          <a:xfrm>
            <a:off x="5908675" y="2392363"/>
            <a:ext cx="838200" cy="381000"/>
            <a:chOff x="1968" y="1344"/>
            <a:chExt cx="528" cy="240"/>
          </a:xfrm>
        </p:grpSpPr>
        <p:sp>
          <p:nvSpPr>
            <p:cNvPr id="162890" name="Rectangle 1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91" name="Rectangle 1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5" name="Group 14"/>
          <p:cNvGrpSpPr/>
          <p:nvPr/>
        </p:nvGrpSpPr>
        <p:grpSpPr>
          <a:xfrm>
            <a:off x="2327275" y="2392363"/>
            <a:ext cx="838200" cy="381000"/>
            <a:chOff x="1968" y="1344"/>
            <a:chExt cx="528" cy="240"/>
          </a:xfrm>
        </p:grpSpPr>
        <p:sp>
          <p:nvSpPr>
            <p:cNvPr id="162888" name="Rectangle 1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9" name="Rectangle 1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6" name="Group 17"/>
          <p:cNvGrpSpPr/>
          <p:nvPr/>
        </p:nvGrpSpPr>
        <p:grpSpPr>
          <a:xfrm>
            <a:off x="2022475" y="3992563"/>
            <a:ext cx="838200" cy="381000"/>
            <a:chOff x="1968" y="1344"/>
            <a:chExt cx="528" cy="240"/>
          </a:xfrm>
        </p:grpSpPr>
        <p:sp>
          <p:nvSpPr>
            <p:cNvPr id="162886" name="Rectangle 1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7" name="Rectangle 1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7" name="Group 20"/>
          <p:cNvGrpSpPr/>
          <p:nvPr/>
        </p:nvGrpSpPr>
        <p:grpSpPr>
          <a:xfrm>
            <a:off x="3165475" y="3992563"/>
            <a:ext cx="838200" cy="381000"/>
            <a:chOff x="1968" y="1344"/>
            <a:chExt cx="528" cy="240"/>
          </a:xfrm>
        </p:grpSpPr>
        <p:sp>
          <p:nvSpPr>
            <p:cNvPr id="162884" name="Rectangle 2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5" name="Rectangle 2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8" name="Group 23"/>
          <p:cNvGrpSpPr/>
          <p:nvPr/>
        </p:nvGrpSpPr>
        <p:grpSpPr>
          <a:xfrm>
            <a:off x="4384675" y="3992563"/>
            <a:ext cx="838200" cy="381000"/>
            <a:chOff x="1968" y="1344"/>
            <a:chExt cx="528" cy="240"/>
          </a:xfrm>
        </p:grpSpPr>
        <p:sp>
          <p:nvSpPr>
            <p:cNvPr id="162882" name="Rectangle 2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3" name="Rectangle 2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9" name="Group 26"/>
          <p:cNvGrpSpPr/>
          <p:nvPr/>
        </p:nvGrpSpPr>
        <p:grpSpPr>
          <a:xfrm>
            <a:off x="5603875" y="3992563"/>
            <a:ext cx="838200" cy="381000"/>
            <a:chOff x="1968" y="1344"/>
            <a:chExt cx="528" cy="240"/>
          </a:xfrm>
        </p:grpSpPr>
        <p:sp>
          <p:nvSpPr>
            <p:cNvPr id="162880" name="Rectangle 2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1" name="Rectangle 2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70" name="Group 29"/>
          <p:cNvGrpSpPr/>
          <p:nvPr/>
        </p:nvGrpSpPr>
        <p:grpSpPr>
          <a:xfrm>
            <a:off x="6746875" y="3992563"/>
            <a:ext cx="838200" cy="381000"/>
            <a:chOff x="1968" y="1344"/>
            <a:chExt cx="528" cy="240"/>
          </a:xfrm>
        </p:grpSpPr>
        <p:sp>
          <p:nvSpPr>
            <p:cNvPr id="162878" name="Rectangle 3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9" name="Rectangle 3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71" name="Group 32"/>
          <p:cNvGrpSpPr/>
          <p:nvPr/>
        </p:nvGrpSpPr>
        <p:grpSpPr>
          <a:xfrm>
            <a:off x="7889875" y="3992563"/>
            <a:ext cx="838200" cy="381000"/>
            <a:chOff x="1968" y="1344"/>
            <a:chExt cx="528" cy="240"/>
          </a:xfrm>
        </p:grpSpPr>
        <p:sp>
          <p:nvSpPr>
            <p:cNvPr id="162876" name="Rectangle 3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7" name="Rectangle 3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2828" name="Line 35"/>
          <p:cNvSpPr>
            <a:spLocks noChangeShapeType="1"/>
          </p:cNvSpPr>
          <p:nvPr/>
        </p:nvSpPr>
        <p:spPr bwMode="auto">
          <a:xfrm>
            <a:off x="2708275"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29" name="Line 36"/>
          <p:cNvSpPr>
            <a:spLocks noChangeShapeType="1"/>
          </p:cNvSpPr>
          <p:nvPr/>
        </p:nvSpPr>
        <p:spPr bwMode="auto">
          <a:xfrm>
            <a:off x="5146675"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0" name="Line 37"/>
          <p:cNvSpPr>
            <a:spLocks noChangeShapeType="1"/>
          </p:cNvSpPr>
          <p:nvPr/>
        </p:nvSpPr>
        <p:spPr bwMode="auto">
          <a:xfrm>
            <a:off x="6289675"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1" name="Line 38"/>
          <p:cNvSpPr>
            <a:spLocks noChangeShapeType="1"/>
          </p:cNvSpPr>
          <p:nvPr/>
        </p:nvSpPr>
        <p:spPr bwMode="auto">
          <a:xfrm>
            <a:off x="3013075" y="2620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2" name="Line 39"/>
          <p:cNvSpPr>
            <a:spLocks noChangeShapeType="1"/>
          </p:cNvSpPr>
          <p:nvPr/>
        </p:nvSpPr>
        <p:spPr bwMode="auto">
          <a:xfrm>
            <a:off x="4232275" y="2620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3" name="Line 40"/>
          <p:cNvSpPr>
            <a:spLocks noChangeShapeType="1"/>
          </p:cNvSpPr>
          <p:nvPr/>
        </p:nvSpPr>
        <p:spPr bwMode="auto">
          <a:xfrm>
            <a:off x="5451475" y="2620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4" name="Line 41"/>
          <p:cNvSpPr>
            <a:spLocks noChangeShapeType="1"/>
          </p:cNvSpPr>
          <p:nvPr/>
        </p:nvSpPr>
        <p:spPr bwMode="auto">
          <a:xfrm>
            <a:off x="3927475"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5" name="Line 42"/>
          <p:cNvSpPr>
            <a:spLocks noChangeShapeType="1"/>
          </p:cNvSpPr>
          <p:nvPr/>
        </p:nvSpPr>
        <p:spPr bwMode="auto">
          <a:xfrm>
            <a:off x="7432675"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6" name="Line 43"/>
          <p:cNvSpPr>
            <a:spLocks noChangeShapeType="1"/>
          </p:cNvSpPr>
          <p:nvPr/>
        </p:nvSpPr>
        <p:spPr bwMode="auto">
          <a:xfrm flipV="1">
            <a:off x="2479675" y="2773363"/>
            <a:ext cx="0" cy="7620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7" name="Line 44"/>
          <p:cNvSpPr>
            <a:spLocks noChangeShapeType="1"/>
          </p:cNvSpPr>
          <p:nvPr/>
        </p:nvSpPr>
        <p:spPr bwMode="auto">
          <a:xfrm>
            <a:off x="4141788" y="2620963"/>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8" name="Line 45"/>
          <p:cNvSpPr>
            <a:spLocks noChangeShapeType="1"/>
          </p:cNvSpPr>
          <p:nvPr/>
        </p:nvSpPr>
        <p:spPr bwMode="auto">
          <a:xfrm flipH="1">
            <a:off x="2784475" y="3078163"/>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9" name="Line 46"/>
          <p:cNvSpPr>
            <a:spLocks noChangeShapeType="1"/>
          </p:cNvSpPr>
          <p:nvPr/>
        </p:nvSpPr>
        <p:spPr bwMode="auto">
          <a:xfrm>
            <a:off x="2779713" y="3078163"/>
            <a:ext cx="0" cy="9144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0" name="Line 47"/>
          <p:cNvSpPr>
            <a:spLocks noChangeShapeType="1"/>
          </p:cNvSpPr>
          <p:nvPr/>
        </p:nvSpPr>
        <p:spPr bwMode="auto">
          <a:xfrm flipV="1">
            <a:off x="5070475" y="2773363"/>
            <a:ext cx="0" cy="13716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1" name="Line 48"/>
          <p:cNvSpPr>
            <a:spLocks noChangeShapeType="1"/>
          </p:cNvSpPr>
          <p:nvPr/>
        </p:nvSpPr>
        <p:spPr bwMode="auto">
          <a:xfrm>
            <a:off x="6616700" y="2620963"/>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2" name="Line 49"/>
          <p:cNvSpPr>
            <a:spLocks noChangeShapeType="1"/>
          </p:cNvSpPr>
          <p:nvPr/>
        </p:nvSpPr>
        <p:spPr bwMode="auto">
          <a:xfrm flipH="1">
            <a:off x="6235700" y="3154363"/>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3" name="Line 50"/>
          <p:cNvSpPr>
            <a:spLocks noChangeShapeType="1"/>
          </p:cNvSpPr>
          <p:nvPr/>
        </p:nvSpPr>
        <p:spPr bwMode="auto">
          <a:xfrm>
            <a:off x="6235700" y="3154363"/>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4" name="Line 52"/>
          <p:cNvSpPr>
            <a:spLocks noChangeShapeType="1"/>
          </p:cNvSpPr>
          <p:nvPr/>
        </p:nvSpPr>
        <p:spPr bwMode="auto">
          <a:xfrm>
            <a:off x="1946275" y="2620963"/>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5" name="Text Box 53"/>
          <p:cNvSpPr txBox="1">
            <a:spLocks noChangeArrowheads="1"/>
          </p:cNvSpPr>
          <p:nvPr/>
        </p:nvSpPr>
        <p:spPr bwMode="auto">
          <a:xfrm>
            <a:off x="560388" y="2293938"/>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62846" name="Text Box 54"/>
          <p:cNvSpPr txBox="1">
            <a:spLocks noChangeArrowheads="1"/>
          </p:cNvSpPr>
          <p:nvPr/>
        </p:nvSpPr>
        <p:spPr bwMode="auto">
          <a:xfrm>
            <a:off x="3586163" y="2325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2847" name="Text Box 55"/>
          <p:cNvSpPr txBox="1">
            <a:spLocks noChangeArrowheads="1"/>
          </p:cNvSpPr>
          <p:nvPr/>
        </p:nvSpPr>
        <p:spPr bwMode="auto">
          <a:xfrm>
            <a:off x="2163763" y="39163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62848" name="Text Box 56"/>
          <p:cNvSpPr txBox="1">
            <a:spLocks noChangeArrowheads="1"/>
          </p:cNvSpPr>
          <p:nvPr/>
        </p:nvSpPr>
        <p:spPr bwMode="auto">
          <a:xfrm>
            <a:off x="3281363" y="39163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2849" name="Text Box 57"/>
          <p:cNvSpPr txBox="1">
            <a:spLocks noChangeArrowheads="1"/>
          </p:cNvSpPr>
          <p:nvPr/>
        </p:nvSpPr>
        <p:spPr bwMode="auto">
          <a:xfrm>
            <a:off x="4460875" y="39576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2850" name="Text Box 58"/>
          <p:cNvSpPr txBox="1">
            <a:spLocks noChangeArrowheads="1"/>
          </p:cNvSpPr>
          <p:nvPr/>
        </p:nvSpPr>
        <p:spPr bwMode="auto">
          <a:xfrm>
            <a:off x="4768850" y="2325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2851" name="Text Box 59"/>
          <p:cNvSpPr txBox="1">
            <a:spLocks noChangeArrowheads="1"/>
          </p:cNvSpPr>
          <p:nvPr/>
        </p:nvSpPr>
        <p:spPr bwMode="auto">
          <a:xfrm>
            <a:off x="6024563" y="2325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2852" name="Text Box 60"/>
          <p:cNvSpPr txBox="1">
            <a:spLocks noChangeArrowheads="1"/>
          </p:cNvSpPr>
          <p:nvPr/>
        </p:nvSpPr>
        <p:spPr bwMode="auto">
          <a:xfrm>
            <a:off x="5719763" y="39576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2853" name="Text Box 61"/>
          <p:cNvSpPr txBox="1">
            <a:spLocks noChangeArrowheads="1"/>
          </p:cNvSpPr>
          <p:nvPr/>
        </p:nvSpPr>
        <p:spPr bwMode="auto">
          <a:xfrm>
            <a:off x="6740525" y="395763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2854" name="Text Box 62"/>
          <p:cNvSpPr txBox="1">
            <a:spLocks noChangeArrowheads="1"/>
          </p:cNvSpPr>
          <p:nvPr/>
        </p:nvSpPr>
        <p:spPr bwMode="auto">
          <a:xfrm>
            <a:off x="7893050" y="3957638"/>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8999" name="Group 63"/>
          <p:cNvGrpSpPr/>
          <p:nvPr/>
        </p:nvGrpSpPr>
        <p:grpSpPr>
          <a:xfrm>
            <a:off x="4367213" y="2465388"/>
            <a:ext cx="228600" cy="304800"/>
            <a:chOff x="2698" y="1622"/>
            <a:chExt cx="144" cy="192"/>
          </a:xfrm>
        </p:grpSpPr>
        <p:sp>
          <p:nvSpPr>
            <p:cNvPr id="162874" name="Line 64"/>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5" name="Line 65"/>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9000" name="Group 66"/>
          <p:cNvGrpSpPr/>
          <p:nvPr/>
        </p:nvGrpSpPr>
        <p:grpSpPr>
          <a:xfrm>
            <a:off x="5280025" y="3992563"/>
            <a:ext cx="228600" cy="304800"/>
            <a:chOff x="2698" y="1622"/>
            <a:chExt cx="144" cy="192"/>
          </a:xfrm>
        </p:grpSpPr>
        <p:sp>
          <p:nvSpPr>
            <p:cNvPr id="162872" name="Line 67"/>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3" name="Line 68"/>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9001" name="Group 69"/>
          <p:cNvGrpSpPr/>
          <p:nvPr/>
        </p:nvGrpSpPr>
        <p:grpSpPr>
          <a:xfrm>
            <a:off x="808038" y="3983038"/>
            <a:ext cx="838200" cy="381000"/>
            <a:chOff x="1968" y="1344"/>
            <a:chExt cx="528" cy="240"/>
          </a:xfrm>
        </p:grpSpPr>
        <p:sp>
          <p:nvSpPr>
            <p:cNvPr id="162870" name="Rectangle 70"/>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1" name="Rectangle 71"/>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2858" name="Line 72"/>
          <p:cNvSpPr>
            <a:spLocks noChangeShapeType="1"/>
          </p:cNvSpPr>
          <p:nvPr/>
        </p:nvSpPr>
        <p:spPr bwMode="auto">
          <a:xfrm>
            <a:off x="1570038" y="421163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9003" name="Group 73"/>
          <p:cNvGrpSpPr/>
          <p:nvPr/>
        </p:nvGrpSpPr>
        <p:grpSpPr>
          <a:xfrm>
            <a:off x="1717675" y="4068763"/>
            <a:ext cx="228600" cy="304800"/>
            <a:chOff x="2698" y="1622"/>
            <a:chExt cx="144" cy="192"/>
          </a:xfrm>
        </p:grpSpPr>
        <p:sp>
          <p:nvSpPr>
            <p:cNvPr id="162868" name="Line 74"/>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69" name="Line 75"/>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2860" name="AutoShape 76"/>
          <p:cNvSpPr>
            <a:spLocks noChangeArrowheads="1"/>
          </p:cNvSpPr>
          <p:nvPr/>
        </p:nvSpPr>
        <p:spPr bwMode="auto">
          <a:xfrm>
            <a:off x="4967288" y="1674813"/>
            <a:ext cx="331788" cy="460375"/>
          </a:xfrm>
          <a:prstGeom prst="downArrow">
            <a:avLst>
              <a:gd name="adj1" fmla="val 50000"/>
              <a:gd name="adj2" fmla="val 34371"/>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61" name="Text Box 77"/>
          <p:cNvSpPr txBox="1">
            <a:spLocks noChangeArrowheads="1"/>
          </p:cNvSpPr>
          <p:nvPr/>
        </p:nvSpPr>
        <p:spPr bwMode="auto">
          <a:xfrm>
            <a:off x="5375275" y="1597025"/>
            <a:ext cx="1371600" cy="522288"/>
          </a:xfrm>
          <a:prstGeom prst="rect">
            <a:avLst/>
          </a:prstGeom>
          <a:solidFill>
            <a:srgbClr val="9476B6"/>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合并后</a:t>
            </a:r>
          </a:p>
        </p:txBody>
      </p:sp>
      <p:grpSp>
        <p:nvGrpSpPr>
          <p:cNvPr id="16" name="Group 82"/>
          <p:cNvGrpSpPr/>
          <p:nvPr/>
        </p:nvGrpSpPr>
        <p:grpSpPr bwMode="auto">
          <a:xfrm>
            <a:off x="773339" y="3856265"/>
            <a:ext cx="2286000" cy="1582738"/>
            <a:chOff x="394" y="1820"/>
            <a:chExt cx="1440" cy="997"/>
          </a:xfrm>
          <a:solidFill>
            <a:srgbClr val="9476B6"/>
          </a:solidFill>
        </p:grpSpPr>
        <p:sp>
          <p:nvSpPr>
            <p:cNvPr id="162864" name="Text Box 78"/>
            <p:cNvSpPr txBox="1">
              <a:spLocks noChangeArrowheads="1"/>
            </p:cNvSpPr>
            <p:nvPr/>
          </p:nvSpPr>
          <p:spPr bwMode="auto">
            <a:xfrm>
              <a:off x="394" y="2452"/>
              <a:ext cx="1440"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rPr>
                <a:t>delete </a:t>
              </a:r>
              <a:r>
                <a:rPr kumimoji="0" lang="en-US" altLang="zh-CN" sz="3200" b="1" i="0" u="none" strike="noStrike" kern="1200" cap="none" spc="0" normalizeH="0" baseline="0" noProof="0" dirty="0" err="1">
                  <a:ln>
                    <a:noFill/>
                  </a:ln>
                  <a:solidFill>
                    <a:schemeClr val="bg1"/>
                  </a:solidFill>
                  <a:effectLst/>
                  <a:uLnTx/>
                  <a:uFillTx/>
                  <a:latin typeface="+mn-lt"/>
                  <a:ea typeface="+mn-ea"/>
                  <a:cs typeface="+mn-ea"/>
                  <a:sym typeface="+mn-lt"/>
                </a:rPr>
                <a:t>Lb</a:t>
              </a:r>
              <a:r>
                <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169009" name="Group 79"/>
            <p:cNvGrpSpPr/>
            <p:nvPr/>
          </p:nvGrpSpPr>
          <p:grpSpPr bwMode="auto">
            <a:xfrm>
              <a:off x="537" y="1820"/>
              <a:ext cx="263" cy="363"/>
              <a:chOff x="2698" y="1622"/>
              <a:chExt cx="144" cy="192"/>
            </a:xfrm>
            <a:grpFill/>
          </p:grpSpPr>
          <p:sp>
            <p:nvSpPr>
              <p:cNvPr id="162866" name="Line 80"/>
              <p:cNvSpPr>
                <a:spLocks noChangeShapeType="1"/>
              </p:cNvSpPr>
              <p:nvPr/>
            </p:nvSpPr>
            <p:spPr bwMode="auto">
              <a:xfrm flipH="1">
                <a:off x="2746" y="1622"/>
                <a:ext cx="48" cy="192"/>
              </a:xfrm>
              <a:prstGeom prst="line">
                <a:avLst/>
              </a:prstGeom>
              <a:grpFill/>
              <a:ln w="57150">
                <a:solidFill>
                  <a:schemeClr val="hlink"/>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62867" name="Line 81"/>
              <p:cNvSpPr>
                <a:spLocks noChangeShapeType="1"/>
              </p:cNvSpPr>
              <p:nvPr/>
            </p:nvSpPr>
            <p:spPr bwMode="auto">
              <a:xfrm>
                <a:off x="2698" y="1622"/>
                <a:ext cx="144" cy="192"/>
              </a:xfrm>
              <a:prstGeom prst="line">
                <a:avLst/>
              </a:prstGeom>
              <a:grpFill/>
              <a:ln w="57150">
                <a:solidFill>
                  <a:schemeClr val="hlink"/>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grpSp>
      <p:sp>
        <p:nvSpPr>
          <p:cNvPr id="162863" name="Rectangle 83"/>
          <p:cNvSpPr>
            <a:spLocks noChangeArrowheads="1"/>
          </p:cNvSpPr>
          <p:nvPr/>
        </p:nvSpPr>
        <p:spPr bwMode="auto">
          <a:xfrm>
            <a:off x="771525" y="201613"/>
            <a:ext cx="2816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有序链表合并</a:t>
            </a:r>
          </a:p>
        </p:txBody>
      </p:sp>
      <p:sp>
        <p:nvSpPr>
          <p:cNvPr id="80"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amond(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矩形 2"/>
          <p:cNvSpPr/>
          <p:nvPr/>
        </p:nvSpPr>
        <p:spPr>
          <a:xfrm>
            <a:off x="0" y="5189538"/>
            <a:ext cx="9144000" cy="155257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63842" name="Rectangle 4"/>
          <p:cNvSpPr>
            <a:spLocks noChangeArrowheads="1"/>
          </p:cNvSpPr>
          <p:nvPr/>
        </p:nvSpPr>
        <p:spPr bwMode="auto">
          <a:xfrm>
            <a:off x="304800" y="1131888"/>
            <a:ext cx="8610600" cy="3816350"/>
          </a:xfrm>
          <a:prstGeom prst="rect">
            <a:avLst/>
          </a:prstGeom>
          <a:noFill/>
          <a:ln w="28575">
            <a:solidFill>
              <a:schemeClr val="bg2">
                <a:lumMod val="40000"/>
                <a:lumOff val="60000"/>
              </a:schemeClr>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MergeList_L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La,LinkList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pa=La-&gt;next;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-&gt;next;</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pc=</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的头结点作为</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的头结点 </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while(pa &amp;&amp;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if(pa-&gt;data&lt;=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-&gt;data){ pc-&gt;next=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pa;pc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pa;pa</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=pa-&gt;next;}</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else{pc-&gt;next=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pc=</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-&gt;next;}</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pc-&gt;next=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pa?pa:pb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插入剩余段  </a:t>
            </a:r>
          </a:p>
          <a:p>
            <a:pPr marL="342900" marR="0" lvl="0" indent="-342900" algn="just"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free(</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释放</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的头结点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grpSp>
        <p:nvGrpSpPr>
          <p:cNvPr id="2" name="Group 7"/>
          <p:cNvGrpSpPr/>
          <p:nvPr/>
        </p:nvGrpSpPr>
        <p:grpSpPr>
          <a:xfrm>
            <a:off x="304800" y="5437188"/>
            <a:ext cx="8461375" cy="1016000"/>
            <a:chOff x="192" y="3699"/>
            <a:chExt cx="5330" cy="640"/>
          </a:xfrm>
        </p:grpSpPr>
        <p:sp>
          <p:nvSpPr>
            <p:cNvPr id="163845" name="Text Box 8"/>
            <p:cNvSpPr txBox="1">
              <a:spLocks noChangeArrowheads="1"/>
            </p:cNvSpPr>
            <p:nvPr/>
          </p:nvSpPr>
          <p:spPr bwMode="auto">
            <a:xfrm>
              <a:off x="192" y="3699"/>
              <a:ext cx="1330" cy="640"/>
            </a:xfrm>
            <a:prstGeom prst="rect">
              <a:avLst/>
            </a:prstGeom>
            <a:solidFill>
              <a:srgbClr val="D7D7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T(n)=</a:t>
              </a:r>
            </a:p>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S(n)= </a:t>
              </a: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O(1)</a:t>
              </a:r>
            </a:p>
          </p:txBody>
        </p:sp>
        <p:graphicFrame>
          <p:nvGraphicFramePr>
            <p:cNvPr id="169991" name="Object 9"/>
            <p:cNvGraphicFramePr/>
            <p:nvPr/>
          </p:nvGraphicFramePr>
          <p:xfrm>
            <a:off x="793" y="3699"/>
            <a:ext cx="4729" cy="410"/>
          </p:xfrm>
          <a:graphic>
            <a:graphicData uri="http://schemas.openxmlformats.org/presentationml/2006/ole">
              <mc:AlternateContent xmlns:mc="http://schemas.openxmlformats.org/markup-compatibility/2006">
                <mc:Choice xmlns:v="urn:schemas-microsoft-com:vml" Requires="v">
                  <p:oleObj spid="_x0000_s21527" r:id="rId3" imgW="2296795" imgH="203200" progId="Equation.3">
                    <p:embed/>
                  </p:oleObj>
                </mc:Choice>
                <mc:Fallback>
                  <p:oleObj r:id="rId3" imgW="2296795" imgH="203200" progId="Equation.3">
                    <p:embed/>
                    <p:pic>
                      <p:nvPicPr>
                        <p:cNvPr id="0" name="图片 3103"/>
                        <p:cNvPicPr/>
                        <p:nvPr/>
                      </p:nvPicPr>
                      <p:blipFill>
                        <a:blip r:embed="rId4"/>
                        <a:stretch>
                          <a:fillRect/>
                        </a:stretch>
                      </p:blipFill>
                      <p:spPr>
                        <a:xfrm>
                          <a:off x="793" y="3699"/>
                          <a:ext cx="4729" cy="410"/>
                        </a:xfrm>
                        <a:prstGeom prst="rect">
                          <a:avLst/>
                        </a:prstGeom>
                        <a:solidFill>
                          <a:srgbClr val="D7D7FF"/>
                        </a:solidFill>
                        <a:ln w="38100">
                          <a:noFill/>
                          <a:miter/>
                        </a:ln>
                      </p:spPr>
                    </p:pic>
                  </p:oleObj>
                </mc:Fallback>
              </mc:AlternateContent>
            </a:graphicData>
          </a:graphic>
        </p:graphicFrame>
      </p:grpSp>
      <p:sp>
        <p:nvSpPr>
          <p:cNvPr id="163844" name="Rectangle 10"/>
          <p:cNvSpPr>
            <a:spLocks noChangeArrowheads="1"/>
          </p:cNvSpPr>
          <p:nvPr/>
        </p:nvSpPr>
        <p:spPr bwMode="auto">
          <a:xfrm>
            <a:off x="561975" y="158750"/>
            <a:ext cx="80962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－有序的链表合并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8"/>
          <p:cNvSpPr>
            <a:spLocks noChangeArrowheads="1"/>
          </p:cNvSpPr>
          <p:nvPr/>
        </p:nvSpPr>
        <p:spPr bwMode="auto">
          <a:xfrm>
            <a:off x="784225" y="146050"/>
            <a:ext cx="9051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思考</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：要求合并后的表无重复数据，如何实现？</a:t>
            </a:r>
          </a:p>
        </p:txBody>
      </p:sp>
      <p:sp>
        <p:nvSpPr>
          <p:cNvPr id="599119" name="Rectangle 79"/>
          <p:cNvSpPr>
            <a:spLocks noChangeArrowheads="1"/>
          </p:cNvSpPr>
          <p:nvPr/>
        </p:nvSpPr>
        <p:spPr bwMode="auto">
          <a:xfrm>
            <a:off x="0" y="5224463"/>
            <a:ext cx="9144000" cy="1660525"/>
          </a:xfrm>
          <a:prstGeom prst="rect">
            <a:avLst/>
          </a:prstGeom>
          <a:solidFill>
            <a:srgbClr val="D7D7FF"/>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      提示：要单独考虑</a:t>
            </a:r>
            <a:b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b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4000" b="0" i="0" u="none" strike="noStrike" kern="1200" cap="none" spc="0" normalizeH="0" baseline="0" noProof="0" dirty="0">
                <a:ln>
                  <a:noFill/>
                </a:ln>
                <a:solidFill>
                  <a:srgbClr val="FF0000"/>
                </a:solidFill>
                <a:effectLst/>
                <a:uLnTx/>
                <a:uFillTx/>
                <a:latin typeface="+mn-lt"/>
                <a:ea typeface="+mn-ea"/>
                <a:cs typeface="+mn-ea"/>
                <a:sym typeface="+mn-lt"/>
              </a:rPr>
              <a:t>pa-&gt;data = =</a:t>
            </a:r>
            <a:r>
              <a:rPr kumimoji="0" lang="en-US" altLang="zh-CN" sz="4000" b="0"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4000" b="0" i="0" u="none" strike="noStrike" kern="1200" cap="none" spc="0" normalizeH="0" baseline="0" noProof="0" dirty="0">
                <a:ln>
                  <a:noFill/>
                </a:ln>
                <a:solidFill>
                  <a:srgbClr val="FF0000"/>
                </a:solidFill>
                <a:effectLst/>
                <a:uLnTx/>
                <a:uFillTx/>
                <a:latin typeface="+mn-lt"/>
                <a:ea typeface="+mn-ea"/>
                <a:cs typeface="+mn-ea"/>
                <a:sym typeface="+mn-lt"/>
              </a:rPr>
              <a:t>-&gt;data</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 </a:t>
            </a:r>
          </a:p>
        </p:txBody>
      </p:sp>
      <p:grpSp>
        <p:nvGrpSpPr>
          <p:cNvPr id="171012" name="Group 159"/>
          <p:cNvGrpSpPr/>
          <p:nvPr/>
        </p:nvGrpSpPr>
        <p:grpSpPr>
          <a:xfrm>
            <a:off x="3425825" y="1949450"/>
            <a:ext cx="838200" cy="381000"/>
            <a:chOff x="1968" y="1344"/>
            <a:chExt cx="528" cy="240"/>
          </a:xfrm>
        </p:grpSpPr>
        <p:sp>
          <p:nvSpPr>
            <p:cNvPr id="164942" name="Rectangle 16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43" name="Rectangle 16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3" name="Group 162"/>
          <p:cNvGrpSpPr/>
          <p:nvPr/>
        </p:nvGrpSpPr>
        <p:grpSpPr>
          <a:xfrm>
            <a:off x="4645025" y="1949450"/>
            <a:ext cx="838200" cy="381000"/>
            <a:chOff x="1968" y="1344"/>
            <a:chExt cx="528" cy="240"/>
          </a:xfrm>
        </p:grpSpPr>
        <p:sp>
          <p:nvSpPr>
            <p:cNvPr id="164940" name="Rectangle 16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41" name="Rectangle 16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4" name="Group 165"/>
          <p:cNvGrpSpPr/>
          <p:nvPr/>
        </p:nvGrpSpPr>
        <p:grpSpPr>
          <a:xfrm>
            <a:off x="5864225" y="1949450"/>
            <a:ext cx="838200" cy="381000"/>
            <a:chOff x="1968" y="1344"/>
            <a:chExt cx="528" cy="240"/>
          </a:xfrm>
        </p:grpSpPr>
        <p:sp>
          <p:nvSpPr>
            <p:cNvPr id="164938" name="Rectangle 16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9" name="Rectangle 16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5" name="Group 168"/>
          <p:cNvGrpSpPr/>
          <p:nvPr/>
        </p:nvGrpSpPr>
        <p:grpSpPr>
          <a:xfrm>
            <a:off x="2282825" y="1949450"/>
            <a:ext cx="838200" cy="381000"/>
            <a:chOff x="1968" y="1344"/>
            <a:chExt cx="528" cy="240"/>
          </a:xfrm>
        </p:grpSpPr>
        <p:sp>
          <p:nvSpPr>
            <p:cNvPr id="164936" name="Rectangle 16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7" name="Rectangle 17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6" name="Group 171"/>
          <p:cNvGrpSpPr/>
          <p:nvPr/>
        </p:nvGrpSpPr>
        <p:grpSpPr>
          <a:xfrm>
            <a:off x="1978025" y="3549650"/>
            <a:ext cx="838200" cy="381000"/>
            <a:chOff x="1968" y="1344"/>
            <a:chExt cx="528" cy="240"/>
          </a:xfrm>
        </p:grpSpPr>
        <p:sp>
          <p:nvSpPr>
            <p:cNvPr id="164934" name="Rectangle 17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5" name="Rectangle 17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7" name="Group 174"/>
          <p:cNvGrpSpPr/>
          <p:nvPr/>
        </p:nvGrpSpPr>
        <p:grpSpPr>
          <a:xfrm>
            <a:off x="3121025" y="3549650"/>
            <a:ext cx="838200" cy="381000"/>
            <a:chOff x="1968" y="1344"/>
            <a:chExt cx="528" cy="240"/>
          </a:xfrm>
        </p:grpSpPr>
        <p:sp>
          <p:nvSpPr>
            <p:cNvPr id="164932" name="Rectangle 17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3" name="Rectangle 17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8" name="Group 177"/>
          <p:cNvGrpSpPr/>
          <p:nvPr/>
        </p:nvGrpSpPr>
        <p:grpSpPr>
          <a:xfrm>
            <a:off x="4340225" y="3549650"/>
            <a:ext cx="838200" cy="381000"/>
            <a:chOff x="1968" y="1344"/>
            <a:chExt cx="528" cy="240"/>
          </a:xfrm>
        </p:grpSpPr>
        <p:sp>
          <p:nvSpPr>
            <p:cNvPr id="164930" name="Rectangle 17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1" name="Rectangle 17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9" name="Group 180"/>
          <p:cNvGrpSpPr/>
          <p:nvPr/>
        </p:nvGrpSpPr>
        <p:grpSpPr>
          <a:xfrm>
            <a:off x="5559425" y="3549650"/>
            <a:ext cx="838200" cy="381000"/>
            <a:chOff x="1968" y="1344"/>
            <a:chExt cx="528" cy="240"/>
          </a:xfrm>
        </p:grpSpPr>
        <p:sp>
          <p:nvSpPr>
            <p:cNvPr id="164928" name="Rectangle 181"/>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9" name="Rectangle 182"/>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20" name="Group 183"/>
          <p:cNvGrpSpPr/>
          <p:nvPr/>
        </p:nvGrpSpPr>
        <p:grpSpPr>
          <a:xfrm>
            <a:off x="6702425" y="3549650"/>
            <a:ext cx="838200" cy="381000"/>
            <a:chOff x="1968" y="1344"/>
            <a:chExt cx="528" cy="240"/>
          </a:xfrm>
        </p:grpSpPr>
        <p:sp>
          <p:nvSpPr>
            <p:cNvPr id="164926" name="Rectangle 18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7" name="Rectangle 18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21" name="Group 186"/>
          <p:cNvGrpSpPr/>
          <p:nvPr/>
        </p:nvGrpSpPr>
        <p:grpSpPr>
          <a:xfrm>
            <a:off x="7845425" y="3549650"/>
            <a:ext cx="838200" cy="381000"/>
            <a:chOff x="1968" y="1344"/>
            <a:chExt cx="528" cy="240"/>
          </a:xfrm>
        </p:grpSpPr>
        <p:sp>
          <p:nvSpPr>
            <p:cNvPr id="164924" name="Rectangle 18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5" name="Rectangle 18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4878" name="Line 189"/>
          <p:cNvSpPr>
            <a:spLocks noChangeShapeType="1"/>
          </p:cNvSpPr>
          <p:nvPr/>
        </p:nvSpPr>
        <p:spPr bwMode="auto">
          <a:xfrm>
            <a:off x="2663825"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79" name="Line 190"/>
          <p:cNvSpPr>
            <a:spLocks noChangeShapeType="1"/>
          </p:cNvSpPr>
          <p:nvPr/>
        </p:nvSpPr>
        <p:spPr bwMode="auto">
          <a:xfrm>
            <a:off x="5102225"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0" name="Line 191"/>
          <p:cNvSpPr>
            <a:spLocks noChangeShapeType="1"/>
          </p:cNvSpPr>
          <p:nvPr/>
        </p:nvSpPr>
        <p:spPr bwMode="auto">
          <a:xfrm>
            <a:off x="6245225"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1" name="Line 192"/>
          <p:cNvSpPr>
            <a:spLocks noChangeShapeType="1"/>
          </p:cNvSpPr>
          <p:nvPr/>
        </p:nvSpPr>
        <p:spPr bwMode="auto">
          <a:xfrm>
            <a:off x="2968625" y="2178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2" name="Line 193"/>
          <p:cNvSpPr>
            <a:spLocks noChangeShapeType="1"/>
          </p:cNvSpPr>
          <p:nvPr/>
        </p:nvSpPr>
        <p:spPr bwMode="auto">
          <a:xfrm>
            <a:off x="4187825" y="2178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3" name="Line 194"/>
          <p:cNvSpPr>
            <a:spLocks noChangeShapeType="1"/>
          </p:cNvSpPr>
          <p:nvPr/>
        </p:nvSpPr>
        <p:spPr bwMode="auto">
          <a:xfrm>
            <a:off x="5407025" y="2178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4" name="Line 195"/>
          <p:cNvSpPr>
            <a:spLocks noChangeShapeType="1"/>
          </p:cNvSpPr>
          <p:nvPr/>
        </p:nvSpPr>
        <p:spPr bwMode="auto">
          <a:xfrm>
            <a:off x="3883025"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5" name="Line 196"/>
          <p:cNvSpPr>
            <a:spLocks noChangeShapeType="1"/>
          </p:cNvSpPr>
          <p:nvPr/>
        </p:nvSpPr>
        <p:spPr bwMode="auto">
          <a:xfrm>
            <a:off x="7388225"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6" name="Line 197"/>
          <p:cNvSpPr>
            <a:spLocks noChangeShapeType="1"/>
          </p:cNvSpPr>
          <p:nvPr/>
        </p:nvSpPr>
        <p:spPr bwMode="auto">
          <a:xfrm flipV="1">
            <a:off x="2435225" y="2330450"/>
            <a:ext cx="0" cy="7620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7" name="Line 198"/>
          <p:cNvSpPr>
            <a:spLocks noChangeShapeType="1"/>
          </p:cNvSpPr>
          <p:nvPr/>
        </p:nvSpPr>
        <p:spPr bwMode="auto">
          <a:xfrm>
            <a:off x="4097338" y="2178050"/>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8" name="Line 199"/>
          <p:cNvSpPr>
            <a:spLocks noChangeShapeType="1"/>
          </p:cNvSpPr>
          <p:nvPr/>
        </p:nvSpPr>
        <p:spPr bwMode="auto">
          <a:xfrm flipH="1">
            <a:off x="2740025" y="2635250"/>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9" name="Line 200"/>
          <p:cNvSpPr>
            <a:spLocks noChangeShapeType="1"/>
          </p:cNvSpPr>
          <p:nvPr/>
        </p:nvSpPr>
        <p:spPr bwMode="auto">
          <a:xfrm>
            <a:off x="2735263" y="2635250"/>
            <a:ext cx="0" cy="9144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0" name="Line 201"/>
          <p:cNvSpPr>
            <a:spLocks noChangeShapeType="1"/>
          </p:cNvSpPr>
          <p:nvPr/>
        </p:nvSpPr>
        <p:spPr bwMode="auto">
          <a:xfrm flipV="1">
            <a:off x="5026025" y="2330450"/>
            <a:ext cx="0" cy="13716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1" name="Line 202"/>
          <p:cNvSpPr>
            <a:spLocks noChangeShapeType="1"/>
          </p:cNvSpPr>
          <p:nvPr/>
        </p:nvSpPr>
        <p:spPr bwMode="auto">
          <a:xfrm>
            <a:off x="6572250" y="2178050"/>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2" name="Line 203"/>
          <p:cNvSpPr>
            <a:spLocks noChangeShapeType="1"/>
          </p:cNvSpPr>
          <p:nvPr/>
        </p:nvSpPr>
        <p:spPr bwMode="auto">
          <a:xfrm flipH="1">
            <a:off x="6561138" y="2711450"/>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3" name="Line 204"/>
          <p:cNvSpPr>
            <a:spLocks noChangeShapeType="1"/>
          </p:cNvSpPr>
          <p:nvPr/>
        </p:nvSpPr>
        <p:spPr bwMode="auto">
          <a:xfrm>
            <a:off x="6948488" y="2690813"/>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4" name="Line 205"/>
          <p:cNvSpPr>
            <a:spLocks noChangeShapeType="1"/>
          </p:cNvSpPr>
          <p:nvPr/>
        </p:nvSpPr>
        <p:spPr bwMode="auto">
          <a:xfrm>
            <a:off x="1901825" y="217805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5" name="Text Box 206"/>
          <p:cNvSpPr txBox="1">
            <a:spLocks noChangeArrowheads="1"/>
          </p:cNvSpPr>
          <p:nvPr/>
        </p:nvSpPr>
        <p:spPr bwMode="auto">
          <a:xfrm>
            <a:off x="546100" y="1835150"/>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64896" name="Text Box 207"/>
          <p:cNvSpPr txBox="1">
            <a:spLocks noChangeArrowheads="1"/>
          </p:cNvSpPr>
          <p:nvPr/>
        </p:nvSpPr>
        <p:spPr bwMode="auto">
          <a:xfrm>
            <a:off x="3541713" y="18827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4897" name="Text Box 208"/>
          <p:cNvSpPr txBox="1">
            <a:spLocks noChangeArrowheads="1"/>
          </p:cNvSpPr>
          <p:nvPr/>
        </p:nvSpPr>
        <p:spPr bwMode="auto">
          <a:xfrm>
            <a:off x="2119313" y="34734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64898" name="Text Box 209"/>
          <p:cNvSpPr txBox="1">
            <a:spLocks noChangeArrowheads="1"/>
          </p:cNvSpPr>
          <p:nvPr/>
        </p:nvSpPr>
        <p:spPr bwMode="auto">
          <a:xfrm>
            <a:off x="3236913" y="34734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4899" name="Text Box 210"/>
          <p:cNvSpPr txBox="1">
            <a:spLocks noChangeArrowheads="1"/>
          </p:cNvSpPr>
          <p:nvPr/>
        </p:nvSpPr>
        <p:spPr bwMode="auto">
          <a:xfrm>
            <a:off x="4416425" y="35147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4900" name="Text Box 211"/>
          <p:cNvSpPr txBox="1">
            <a:spLocks noChangeArrowheads="1"/>
          </p:cNvSpPr>
          <p:nvPr/>
        </p:nvSpPr>
        <p:spPr bwMode="auto">
          <a:xfrm>
            <a:off x="4724400" y="18827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4901" name="Text Box 212"/>
          <p:cNvSpPr txBox="1">
            <a:spLocks noChangeArrowheads="1"/>
          </p:cNvSpPr>
          <p:nvPr/>
        </p:nvSpPr>
        <p:spPr bwMode="auto">
          <a:xfrm>
            <a:off x="5980113" y="18827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4902" name="Text Box 213"/>
          <p:cNvSpPr txBox="1">
            <a:spLocks noChangeArrowheads="1"/>
          </p:cNvSpPr>
          <p:nvPr/>
        </p:nvSpPr>
        <p:spPr bwMode="auto">
          <a:xfrm>
            <a:off x="5675313" y="35147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4903" name="Text Box 214"/>
          <p:cNvSpPr txBox="1">
            <a:spLocks noChangeArrowheads="1"/>
          </p:cNvSpPr>
          <p:nvPr/>
        </p:nvSpPr>
        <p:spPr bwMode="auto">
          <a:xfrm>
            <a:off x="6696075" y="35147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4904" name="Text Box 215"/>
          <p:cNvSpPr txBox="1">
            <a:spLocks noChangeArrowheads="1"/>
          </p:cNvSpPr>
          <p:nvPr/>
        </p:nvSpPr>
        <p:spPr bwMode="auto">
          <a:xfrm>
            <a:off x="7848600" y="351472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71049" name="Group 216"/>
          <p:cNvGrpSpPr/>
          <p:nvPr/>
        </p:nvGrpSpPr>
        <p:grpSpPr>
          <a:xfrm>
            <a:off x="4321175" y="2019300"/>
            <a:ext cx="228600" cy="304800"/>
            <a:chOff x="2698" y="1622"/>
            <a:chExt cx="144" cy="192"/>
          </a:xfrm>
        </p:grpSpPr>
        <p:sp>
          <p:nvSpPr>
            <p:cNvPr id="164922" name="Line 217"/>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3" name="Line 218"/>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0" name="Group 219"/>
          <p:cNvGrpSpPr/>
          <p:nvPr/>
        </p:nvGrpSpPr>
        <p:grpSpPr>
          <a:xfrm>
            <a:off x="5262563" y="3549650"/>
            <a:ext cx="228600" cy="304800"/>
            <a:chOff x="2698" y="1622"/>
            <a:chExt cx="144" cy="192"/>
          </a:xfrm>
        </p:grpSpPr>
        <p:sp>
          <p:nvSpPr>
            <p:cNvPr id="164920" name="Line 220"/>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1" name="Line 221"/>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1" name="Group 222"/>
          <p:cNvGrpSpPr/>
          <p:nvPr/>
        </p:nvGrpSpPr>
        <p:grpSpPr>
          <a:xfrm>
            <a:off x="763588" y="3540125"/>
            <a:ext cx="838200" cy="381000"/>
            <a:chOff x="1968" y="1344"/>
            <a:chExt cx="528" cy="240"/>
          </a:xfrm>
        </p:grpSpPr>
        <p:sp>
          <p:nvSpPr>
            <p:cNvPr id="164918" name="Rectangle 223"/>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9" name="Rectangle 224"/>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4908" name="Line 225"/>
          <p:cNvSpPr>
            <a:spLocks noChangeShapeType="1"/>
          </p:cNvSpPr>
          <p:nvPr/>
        </p:nvSpPr>
        <p:spPr bwMode="auto">
          <a:xfrm>
            <a:off x="1525588" y="3768725"/>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71053" name="Group 226"/>
          <p:cNvGrpSpPr/>
          <p:nvPr/>
        </p:nvGrpSpPr>
        <p:grpSpPr>
          <a:xfrm>
            <a:off x="1674813" y="3616325"/>
            <a:ext cx="228600" cy="304800"/>
            <a:chOff x="2698" y="1622"/>
            <a:chExt cx="144" cy="192"/>
          </a:xfrm>
        </p:grpSpPr>
        <p:sp>
          <p:nvSpPr>
            <p:cNvPr id="164916" name="Line 227"/>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7" name="Line 228"/>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4" name="Group 229"/>
          <p:cNvGrpSpPr/>
          <p:nvPr/>
        </p:nvGrpSpPr>
        <p:grpSpPr>
          <a:xfrm>
            <a:off x="5740400" y="3511550"/>
            <a:ext cx="431800" cy="434975"/>
            <a:chOff x="2698" y="1622"/>
            <a:chExt cx="144" cy="192"/>
          </a:xfrm>
        </p:grpSpPr>
        <p:sp>
          <p:nvSpPr>
            <p:cNvPr id="164914" name="Line 230"/>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5" name="Line 231"/>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5" name="Group 232"/>
          <p:cNvGrpSpPr/>
          <p:nvPr/>
        </p:nvGrpSpPr>
        <p:grpSpPr>
          <a:xfrm>
            <a:off x="6397625" y="3549650"/>
            <a:ext cx="228600" cy="304800"/>
            <a:chOff x="2698" y="1622"/>
            <a:chExt cx="144" cy="192"/>
          </a:xfrm>
        </p:grpSpPr>
        <p:sp>
          <p:nvSpPr>
            <p:cNvPr id="164912" name="Line 233"/>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3" name="Line 234"/>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99119"/>
                                        </p:tgtEl>
                                        <p:attrNameLst>
                                          <p:attrName>style.visibility</p:attrName>
                                        </p:attrNameLst>
                                      </p:cBhvr>
                                      <p:to>
                                        <p:strVal val="visible"/>
                                      </p:to>
                                    </p:set>
                                    <p:animEffect transition="in" filter="diamond(in)">
                                      <p:cBhvr>
                                        <p:cTn id="7" dur="2000"/>
                                        <p:tgtEl>
                                          <p:spTgt spid="599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119"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90"/>
          <p:cNvSpPr>
            <a:spLocks noChangeArrowheads="1"/>
          </p:cNvSpPr>
          <p:nvPr/>
        </p:nvSpPr>
        <p:spPr bwMode="auto">
          <a:xfrm>
            <a:off x="1824038" y="2871788"/>
            <a:ext cx="7031038"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要求结果链表仍使用原来两个链表的存储空间</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不另外占用其它的存储空间。</a:t>
            </a:r>
          </a:p>
          <a:p>
            <a:pPr marL="0" marR="0" lvl="0" indent="0" algn="l" defTabSz="914400" rtl="0" eaLnBrk="0" fontAlgn="base" latinLnBrk="0" hangingPunct="0">
              <a:lnSpc>
                <a:spcPct val="130000"/>
              </a:lnSpc>
              <a:spcBef>
                <a:spcPct val="0"/>
              </a:spcBef>
              <a:spcAft>
                <a:spcPct val="0"/>
              </a:spcAft>
              <a:buClr>
                <a:srgbClr val="FF0000"/>
              </a:buClr>
              <a:buSzTx/>
              <a:buFontTx/>
              <a:buNone/>
              <a:defRPr/>
            </a:pPr>
            <a:endPar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表中允许有重复的数据。 </a:t>
            </a:r>
          </a:p>
        </p:txBody>
      </p:sp>
      <p:sp>
        <p:nvSpPr>
          <p:cNvPr id="165891" name="Rectangle 93"/>
          <p:cNvSpPr>
            <a:spLocks noChangeArrowheads="1"/>
          </p:cNvSpPr>
          <p:nvPr/>
        </p:nvSpPr>
        <p:spPr bwMode="auto">
          <a:xfrm>
            <a:off x="827088" y="188913"/>
            <a:ext cx="77771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思考</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4" name="Rectangle 93"/>
          <p:cNvSpPr>
            <a:spLocks noChangeArrowheads="1"/>
          </p:cNvSpPr>
          <p:nvPr/>
        </p:nvSpPr>
        <p:spPr bwMode="auto">
          <a:xfrm>
            <a:off x="460375" y="1141413"/>
            <a:ext cx="85121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30000"/>
              </a:lnSpc>
              <a:spcBef>
                <a:spcPct val="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将两个非递减的有序链表合并为一个非递增的有序链表，如何实现？</a:t>
            </a:r>
          </a:p>
        </p:txBody>
      </p:sp>
      <p:cxnSp>
        <p:nvCxnSpPr>
          <p:cNvPr id="3" name="直接连接符 2"/>
          <p:cNvCxnSpPr/>
          <p:nvPr/>
        </p:nvCxnSpPr>
        <p:spPr bwMode="auto">
          <a:xfrm>
            <a:off x="566738" y="2543175"/>
            <a:ext cx="8288338"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grpSp>
        <p:nvGrpSpPr>
          <p:cNvPr id="172038" name="组合 7"/>
          <p:cNvGrpSpPr/>
          <p:nvPr/>
        </p:nvGrpSpPr>
        <p:grpSpPr>
          <a:xfrm>
            <a:off x="623888" y="2992438"/>
            <a:ext cx="1033462" cy="858837"/>
            <a:chOff x="4348163" y="2132888"/>
            <a:chExt cx="1033462" cy="859349"/>
          </a:xfrm>
        </p:grpSpPr>
        <p:sp>
          <p:nvSpPr>
            <p:cNvPr id="9" name="Oval 3"/>
            <p:cNvSpPr>
              <a:spLocks noChangeArrowheads="1"/>
            </p:cNvSpPr>
            <p:nvPr/>
          </p:nvSpPr>
          <p:spPr bwMode="auto">
            <a:xfrm>
              <a:off x="4348163" y="2132888"/>
              <a:ext cx="1033462" cy="859349"/>
            </a:xfrm>
            <a:prstGeom prst="hexagon">
              <a:avLst/>
            </a:prstGeom>
            <a:solidFill>
              <a:srgbClr val="9476B6"/>
            </a:solidFill>
            <a:ln w="28575">
              <a:noFill/>
              <a:beve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8800" b="0" i="0" u="none" strike="noStrike" kern="1200" cap="none" spc="0" normalizeH="0" baseline="0" noProof="0">
                <a:ln>
                  <a:noFill/>
                </a:ln>
                <a:solidFill>
                  <a:schemeClr val="accent6"/>
                </a:solidFill>
                <a:effectLst/>
                <a:uLnTx/>
                <a:uFillTx/>
                <a:latin typeface="Calibri" panose="020F0502020204030204" pitchFamily="34" charset="0"/>
                <a:ea typeface="仿宋_GB2312" pitchFamily="49" charset="-122"/>
                <a:cs typeface="+mn-cs"/>
                <a:sym typeface="Calibri" panose="020F0502020204030204" pitchFamily="34" charset="0"/>
              </a:endParaRPr>
            </a:p>
          </p:txBody>
        </p:sp>
        <p:grpSp>
          <p:nvGrpSpPr>
            <p:cNvPr id="172050" name="Group 29"/>
            <p:cNvGrpSpPr/>
            <p:nvPr/>
          </p:nvGrpSpPr>
          <p:grpSpPr>
            <a:xfrm>
              <a:off x="4616450" y="2301418"/>
              <a:ext cx="569913" cy="484188"/>
              <a:chOff x="0" y="0"/>
              <a:chExt cx="496661" cy="421788"/>
            </a:xfrm>
          </p:grpSpPr>
          <p:sp>
            <p:nvSpPr>
              <p:cNvPr id="172051" name="Freeform 12"/>
              <p:cNvSpPr/>
              <p:nvPr/>
            </p:nvSpPr>
            <p:spPr>
              <a:xfrm>
                <a:off x="157235" y="244586"/>
                <a:ext cx="89848" cy="89848"/>
              </a:xfrm>
              <a:custGeom>
                <a:avLst/>
                <a:gdLst>
                  <a:gd name="txL" fmla="*/ 0 w 36"/>
                  <a:gd name="txT" fmla="*/ 0 h 36"/>
                  <a:gd name="txR" fmla="*/ 36 w 36"/>
                  <a:gd name="txB" fmla="*/ 36 h 36"/>
                </a:gdLst>
                <a:ahLst/>
                <a:cxnLst>
                  <a:cxn ang="0">
                    <a:pos x="2147483646" y="2147483646"/>
                  </a:cxn>
                  <a:cxn ang="0">
                    <a:pos x="2147483646" y="0"/>
                  </a:cxn>
                  <a:cxn ang="0">
                    <a:pos x="2147483646" y="0"/>
                  </a:cxn>
                  <a:cxn ang="0">
                    <a:pos x="0" y="2147483646"/>
                  </a:cxn>
                  <a:cxn ang="0">
                    <a:pos x="2147483646" y="2147483646"/>
                  </a:cxn>
                </a:cxnLst>
                <a:rect l="txL" t="txT" r="txR" b="txB"/>
                <a:pathLst>
                  <a:path w="36" h="36">
                    <a:moveTo>
                      <a:pt x="36" y="20"/>
                    </a:moveTo>
                    <a:lnTo>
                      <a:pt x="16" y="0"/>
                    </a:lnTo>
                    <a:lnTo>
                      <a:pt x="0" y="36"/>
                    </a:lnTo>
                    <a:lnTo>
                      <a:pt x="36" y="20"/>
                    </a:lnTo>
                    <a:close/>
                  </a:path>
                </a:pathLst>
              </a:custGeom>
              <a:solidFill>
                <a:schemeClr val="bg1">
                  <a:alpha val="100000"/>
                </a:schemeClr>
              </a:solidFill>
              <a:ln w="9525">
                <a:noFill/>
              </a:ln>
            </p:spPr>
            <p:txBody>
              <a:bodyPr/>
              <a:lstStyle/>
              <a:p>
                <a:endParaRPr lang="zh-CN" altLang="en-US"/>
              </a:p>
            </p:txBody>
          </p:sp>
          <p:sp>
            <p:nvSpPr>
              <p:cNvPr id="172052" name="Rectangle 13"/>
              <p:cNvSpPr/>
              <p:nvPr/>
            </p:nvSpPr>
            <p:spPr>
              <a:xfrm>
                <a:off x="247083" y="294502"/>
                <a:ext cx="2497" cy="249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zh-CN" sz="2800" dirty="0">
                  <a:latin typeface="Calibri" panose="020F0502020204030204" pitchFamily="34" charset="0"/>
                  <a:ea typeface="仿宋_GB2312" pitchFamily="49" charset="-122"/>
                  <a:sym typeface="Calibri" panose="020F0502020204030204" pitchFamily="34" charset="0"/>
                </a:endParaRPr>
              </a:p>
            </p:txBody>
          </p:sp>
          <p:sp>
            <p:nvSpPr>
              <p:cNvPr id="172053" name="Freeform 14"/>
              <p:cNvSpPr/>
              <p:nvPr/>
            </p:nvSpPr>
            <p:spPr>
              <a:xfrm>
                <a:off x="209645" y="29949"/>
                <a:ext cx="227117" cy="222125"/>
              </a:xfrm>
              <a:custGeom>
                <a:avLst/>
                <a:gdLst>
                  <a:gd name="txL" fmla="*/ 0 w 91"/>
                  <a:gd name="txT" fmla="*/ 0 h 89"/>
                  <a:gd name="txR" fmla="*/ 91 w 91"/>
                  <a:gd name="txB" fmla="*/ 89 h 89"/>
                </a:gdLst>
                <a:ahLst/>
                <a:cxnLst>
                  <a:cxn ang="0">
                    <a:pos x="2147483646" y="0"/>
                  </a:cxn>
                  <a:cxn ang="0">
                    <a:pos x="0" y="2147483646"/>
                  </a:cxn>
                  <a:cxn ang="0">
                    <a:pos x="2147483646" y="2147483646"/>
                  </a:cxn>
                  <a:cxn ang="0">
                    <a:pos x="2147483646" y="2147483646"/>
                  </a:cxn>
                  <a:cxn ang="0">
                    <a:pos x="2147483646" y="0"/>
                  </a:cxn>
                </a:cxnLst>
                <a:rect l="txL" t="txT" r="txR" b="txB"/>
                <a:pathLst>
                  <a:path w="91" h="89">
                    <a:moveTo>
                      <a:pt x="81" y="0"/>
                    </a:moveTo>
                    <a:lnTo>
                      <a:pt x="0" y="81"/>
                    </a:lnTo>
                    <a:lnTo>
                      <a:pt x="8" y="89"/>
                    </a:lnTo>
                    <a:lnTo>
                      <a:pt x="91" y="8"/>
                    </a:lnTo>
                    <a:lnTo>
                      <a:pt x="81" y="0"/>
                    </a:lnTo>
                    <a:close/>
                  </a:path>
                </a:pathLst>
              </a:custGeom>
              <a:solidFill>
                <a:schemeClr val="bg1">
                  <a:alpha val="100000"/>
                </a:schemeClr>
              </a:solidFill>
              <a:ln w="9525">
                <a:noFill/>
              </a:ln>
            </p:spPr>
            <p:txBody>
              <a:bodyPr/>
              <a:lstStyle/>
              <a:p>
                <a:endParaRPr lang="zh-CN" altLang="en-US"/>
              </a:p>
            </p:txBody>
          </p:sp>
          <p:sp>
            <p:nvSpPr>
              <p:cNvPr id="172054" name="Freeform 15"/>
              <p:cNvSpPr/>
              <p:nvPr/>
            </p:nvSpPr>
            <p:spPr>
              <a:xfrm>
                <a:off x="239595" y="59899"/>
                <a:ext cx="227117" cy="224620"/>
              </a:xfrm>
              <a:custGeom>
                <a:avLst/>
                <a:gdLst>
                  <a:gd name="txL" fmla="*/ 0 w 91"/>
                  <a:gd name="txT" fmla="*/ 0 h 90"/>
                  <a:gd name="txR" fmla="*/ 91 w 91"/>
                  <a:gd name="txB" fmla="*/ 90 h 90"/>
                </a:gdLst>
                <a:ahLst/>
                <a:cxnLst>
                  <a:cxn ang="0">
                    <a:pos x="0" y="2147483646"/>
                  </a:cxn>
                  <a:cxn ang="0">
                    <a:pos x="2147483646" y="2147483646"/>
                  </a:cxn>
                  <a:cxn ang="0">
                    <a:pos x="2147483646" y="2147483646"/>
                  </a:cxn>
                  <a:cxn ang="0">
                    <a:pos x="2147483646" y="0"/>
                  </a:cxn>
                  <a:cxn ang="0">
                    <a:pos x="0" y="2147483646"/>
                  </a:cxn>
                </a:cxnLst>
                <a:rect l="txL" t="txT" r="txR" b="txB"/>
                <a:pathLst>
                  <a:path w="91" h="90">
                    <a:moveTo>
                      <a:pt x="0" y="82"/>
                    </a:moveTo>
                    <a:lnTo>
                      <a:pt x="8" y="90"/>
                    </a:lnTo>
                    <a:lnTo>
                      <a:pt x="91" y="8"/>
                    </a:lnTo>
                    <a:lnTo>
                      <a:pt x="83" y="0"/>
                    </a:lnTo>
                    <a:lnTo>
                      <a:pt x="0" y="82"/>
                    </a:lnTo>
                    <a:close/>
                  </a:path>
                </a:pathLst>
              </a:custGeom>
              <a:solidFill>
                <a:schemeClr val="bg1">
                  <a:alpha val="100000"/>
                </a:schemeClr>
              </a:solidFill>
              <a:ln w="9525">
                <a:noFill/>
              </a:ln>
            </p:spPr>
            <p:txBody>
              <a:bodyPr/>
              <a:lstStyle/>
              <a:p>
                <a:endParaRPr lang="zh-CN" altLang="en-US"/>
              </a:p>
            </p:txBody>
          </p:sp>
          <p:sp>
            <p:nvSpPr>
              <p:cNvPr id="172055" name="Freeform 16"/>
              <p:cNvSpPr/>
              <p:nvPr/>
            </p:nvSpPr>
            <p:spPr>
              <a:xfrm>
                <a:off x="426779" y="0"/>
                <a:ext cx="69882" cy="64890"/>
              </a:xfrm>
              <a:custGeom>
                <a:avLst/>
                <a:gdLst>
                  <a:gd name="txL" fmla="*/ 0 w 21"/>
                  <a:gd name="txT" fmla="*/ 0 h 20"/>
                  <a:gd name="txR" fmla="*/ 21 w 21"/>
                  <a:gd name="txB" fmla="*/ 20 h 20"/>
                </a:gdLst>
                <a:ahLst/>
                <a:cxnLst>
                  <a:cxn ang="0">
                    <a:pos x="2147483646" y="2147483646"/>
                  </a:cxn>
                  <a:cxn ang="0">
                    <a:pos x="0" y="2147483646"/>
                  </a:cxn>
                  <a:cxn ang="0">
                    <a:pos x="2147483646" y="2147483646"/>
                  </a:cxn>
                  <a:cxn ang="0">
                    <a:pos x="2147483646" y="2147483646"/>
                  </a:cxn>
                </a:cxnLst>
                <a:rect l="txL" t="txT" r="txR" b="txB"/>
                <a:pathLst>
                  <a:path w="21" h="20">
                    <a:moveTo>
                      <a:pt x="14" y="6"/>
                    </a:moveTo>
                    <a:cubicBezTo>
                      <a:pt x="8" y="0"/>
                      <a:pt x="0" y="6"/>
                      <a:pt x="0" y="6"/>
                    </a:cubicBezTo>
                    <a:cubicBezTo>
                      <a:pt x="15" y="20"/>
                      <a:pt x="15" y="20"/>
                      <a:pt x="15" y="20"/>
                    </a:cubicBezTo>
                    <a:cubicBezTo>
                      <a:pt x="15" y="20"/>
                      <a:pt x="21" y="13"/>
                      <a:pt x="14" y="6"/>
                    </a:cubicBezTo>
                    <a:close/>
                  </a:path>
                </a:pathLst>
              </a:custGeom>
              <a:solidFill>
                <a:schemeClr val="bg1">
                  <a:alpha val="100000"/>
                </a:schemeClr>
              </a:solidFill>
              <a:ln w="9525">
                <a:noFill/>
              </a:ln>
            </p:spPr>
            <p:txBody>
              <a:bodyPr/>
              <a:lstStyle/>
              <a:p>
                <a:endParaRPr lang="zh-CN" altLang="en-US"/>
              </a:p>
            </p:txBody>
          </p:sp>
          <p:sp>
            <p:nvSpPr>
              <p:cNvPr id="172056" name="Freeform 17"/>
              <p:cNvSpPr/>
              <p:nvPr/>
            </p:nvSpPr>
            <p:spPr>
              <a:xfrm>
                <a:off x="0" y="9983"/>
                <a:ext cx="416796" cy="411805"/>
              </a:xfrm>
              <a:custGeom>
                <a:avLst/>
                <a:gdLst>
                  <a:gd name="txL" fmla="*/ 0 w 167"/>
                  <a:gd name="txT" fmla="*/ 0 h 165"/>
                  <a:gd name="txR" fmla="*/ 167 w 167"/>
                  <a:gd name="txB" fmla="*/ 165 h 165"/>
                </a:gdLst>
                <a:ahLst/>
                <a:cxnLst>
                  <a:cxn ang="0">
                    <a:pos x="2147483646" y="2147483646"/>
                  </a:cxn>
                  <a:cxn ang="0">
                    <a:pos x="2147483646" y="2147483646"/>
                  </a:cxn>
                  <a:cxn ang="0">
                    <a:pos x="2147483646" y="2147483646"/>
                  </a:cxn>
                  <a:cxn ang="0">
                    <a:pos x="2147483646" y="2147483646"/>
                  </a:cxn>
                  <a:cxn ang="0">
                    <a:pos x="2147483646" y="0"/>
                  </a:cxn>
                  <a:cxn ang="0">
                    <a:pos x="0" y="0"/>
                  </a:cxn>
                  <a:cxn ang="0">
                    <a:pos x="0" y="2147483646"/>
                  </a:cxn>
                  <a:cxn ang="0">
                    <a:pos x="2147483646" y="2147483646"/>
                  </a:cxn>
                  <a:cxn ang="0">
                    <a:pos x="2147483646" y="2147483646"/>
                  </a:cxn>
                  <a:cxn ang="0">
                    <a:pos x="2147483646" y="2147483646"/>
                  </a:cxn>
                  <a:cxn ang="0">
                    <a:pos x="2147483646" y="2147483646"/>
                  </a:cxn>
                </a:cxnLst>
                <a:rect l="txL" t="txT" r="txR" b="txB"/>
                <a:pathLst>
                  <a:path w="167" h="165">
                    <a:moveTo>
                      <a:pt x="147" y="145"/>
                    </a:moveTo>
                    <a:lnTo>
                      <a:pt x="20" y="145"/>
                    </a:lnTo>
                    <a:lnTo>
                      <a:pt x="20" y="20"/>
                    </a:lnTo>
                    <a:lnTo>
                      <a:pt x="139" y="20"/>
                    </a:lnTo>
                    <a:lnTo>
                      <a:pt x="160" y="0"/>
                    </a:lnTo>
                    <a:lnTo>
                      <a:pt x="0" y="0"/>
                    </a:lnTo>
                    <a:lnTo>
                      <a:pt x="0" y="165"/>
                    </a:lnTo>
                    <a:lnTo>
                      <a:pt x="167" y="165"/>
                    </a:lnTo>
                    <a:lnTo>
                      <a:pt x="167" y="61"/>
                    </a:lnTo>
                    <a:lnTo>
                      <a:pt x="147" y="81"/>
                    </a:lnTo>
                    <a:lnTo>
                      <a:pt x="147" y="145"/>
                    </a:lnTo>
                    <a:close/>
                  </a:path>
                </a:pathLst>
              </a:custGeom>
              <a:solidFill>
                <a:schemeClr val="bg1">
                  <a:alpha val="100000"/>
                </a:schemeClr>
              </a:solidFill>
              <a:ln w="9525">
                <a:noFill/>
              </a:ln>
            </p:spPr>
            <p:txBody>
              <a:bodyPr/>
              <a:lstStyle/>
              <a:p>
                <a:endParaRPr lang="zh-CN" altLang="en-US"/>
              </a:p>
            </p:txBody>
          </p:sp>
        </p:grpSp>
      </p:grpSp>
      <p:grpSp>
        <p:nvGrpSpPr>
          <p:cNvPr id="172039" name="组合 16"/>
          <p:cNvGrpSpPr/>
          <p:nvPr/>
        </p:nvGrpSpPr>
        <p:grpSpPr>
          <a:xfrm>
            <a:off x="608013" y="4300538"/>
            <a:ext cx="1033462" cy="860425"/>
            <a:chOff x="4348163" y="2132888"/>
            <a:chExt cx="1033462" cy="859349"/>
          </a:xfrm>
        </p:grpSpPr>
        <p:sp>
          <p:nvSpPr>
            <p:cNvPr id="18" name="Oval 3"/>
            <p:cNvSpPr>
              <a:spLocks noChangeArrowheads="1"/>
            </p:cNvSpPr>
            <p:nvPr/>
          </p:nvSpPr>
          <p:spPr bwMode="auto">
            <a:xfrm>
              <a:off x="4348163" y="2132888"/>
              <a:ext cx="1033462" cy="859349"/>
            </a:xfrm>
            <a:prstGeom prst="hexagon">
              <a:avLst/>
            </a:prstGeom>
            <a:solidFill>
              <a:srgbClr val="4F81BD"/>
            </a:solidFill>
            <a:ln w="28575">
              <a:noFill/>
              <a:beve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8800" b="0" i="0" u="none" strike="noStrike" kern="1200" cap="none" spc="0" normalizeH="0" baseline="0" noProof="0">
                <a:ln>
                  <a:noFill/>
                </a:ln>
                <a:solidFill>
                  <a:schemeClr val="accent6"/>
                </a:solidFill>
                <a:effectLst/>
                <a:uLnTx/>
                <a:uFillTx/>
                <a:latin typeface="Calibri" panose="020F0502020204030204" pitchFamily="34" charset="0"/>
                <a:ea typeface="仿宋_GB2312" pitchFamily="49" charset="-122"/>
                <a:cs typeface="+mn-cs"/>
                <a:sym typeface="Calibri" panose="020F0502020204030204" pitchFamily="34" charset="0"/>
              </a:endParaRPr>
            </a:p>
          </p:txBody>
        </p:sp>
        <p:grpSp>
          <p:nvGrpSpPr>
            <p:cNvPr id="172042" name="Group 29"/>
            <p:cNvGrpSpPr/>
            <p:nvPr/>
          </p:nvGrpSpPr>
          <p:grpSpPr>
            <a:xfrm>
              <a:off x="4616450" y="2301418"/>
              <a:ext cx="569913" cy="484188"/>
              <a:chOff x="0" y="0"/>
              <a:chExt cx="496661" cy="421788"/>
            </a:xfrm>
          </p:grpSpPr>
          <p:sp>
            <p:nvSpPr>
              <p:cNvPr id="172043" name="Freeform 12"/>
              <p:cNvSpPr/>
              <p:nvPr/>
            </p:nvSpPr>
            <p:spPr>
              <a:xfrm>
                <a:off x="157235" y="244586"/>
                <a:ext cx="89848" cy="89848"/>
              </a:xfrm>
              <a:custGeom>
                <a:avLst/>
                <a:gdLst>
                  <a:gd name="txL" fmla="*/ 0 w 36"/>
                  <a:gd name="txT" fmla="*/ 0 h 36"/>
                  <a:gd name="txR" fmla="*/ 36 w 36"/>
                  <a:gd name="txB" fmla="*/ 36 h 36"/>
                </a:gdLst>
                <a:ahLst/>
                <a:cxnLst>
                  <a:cxn ang="0">
                    <a:pos x="2147483646" y="2147483646"/>
                  </a:cxn>
                  <a:cxn ang="0">
                    <a:pos x="2147483646" y="0"/>
                  </a:cxn>
                  <a:cxn ang="0">
                    <a:pos x="2147483646" y="0"/>
                  </a:cxn>
                  <a:cxn ang="0">
                    <a:pos x="0" y="2147483646"/>
                  </a:cxn>
                  <a:cxn ang="0">
                    <a:pos x="2147483646" y="2147483646"/>
                  </a:cxn>
                </a:cxnLst>
                <a:rect l="txL" t="txT" r="txR" b="txB"/>
                <a:pathLst>
                  <a:path w="36" h="36">
                    <a:moveTo>
                      <a:pt x="36" y="20"/>
                    </a:moveTo>
                    <a:lnTo>
                      <a:pt x="16" y="0"/>
                    </a:lnTo>
                    <a:lnTo>
                      <a:pt x="0" y="36"/>
                    </a:lnTo>
                    <a:lnTo>
                      <a:pt x="36" y="20"/>
                    </a:lnTo>
                    <a:close/>
                  </a:path>
                </a:pathLst>
              </a:custGeom>
              <a:solidFill>
                <a:schemeClr val="bg1">
                  <a:alpha val="100000"/>
                </a:schemeClr>
              </a:solidFill>
              <a:ln w="9525">
                <a:noFill/>
              </a:ln>
            </p:spPr>
            <p:txBody>
              <a:bodyPr/>
              <a:lstStyle/>
              <a:p>
                <a:endParaRPr lang="zh-CN" altLang="en-US"/>
              </a:p>
            </p:txBody>
          </p:sp>
          <p:sp>
            <p:nvSpPr>
              <p:cNvPr id="172044" name="Rectangle 13"/>
              <p:cNvSpPr/>
              <p:nvPr/>
            </p:nvSpPr>
            <p:spPr>
              <a:xfrm>
                <a:off x="247083" y="294502"/>
                <a:ext cx="2497" cy="249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zh-CN" sz="2800" dirty="0">
                  <a:latin typeface="Calibri" panose="020F0502020204030204" pitchFamily="34" charset="0"/>
                  <a:ea typeface="仿宋_GB2312" pitchFamily="49" charset="-122"/>
                  <a:sym typeface="Calibri" panose="020F0502020204030204" pitchFamily="34" charset="0"/>
                </a:endParaRPr>
              </a:p>
            </p:txBody>
          </p:sp>
          <p:sp>
            <p:nvSpPr>
              <p:cNvPr id="172045" name="Freeform 14"/>
              <p:cNvSpPr/>
              <p:nvPr/>
            </p:nvSpPr>
            <p:spPr>
              <a:xfrm>
                <a:off x="209645" y="29949"/>
                <a:ext cx="227117" cy="222125"/>
              </a:xfrm>
              <a:custGeom>
                <a:avLst/>
                <a:gdLst>
                  <a:gd name="txL" fmla="*/ 0 w 91"/>
                  <a:gd name="txT" fmla="*/ 0 h 89"/>
                  <a:gd name="txR" fmla="*/ 91 w 91"/>
                  <a:gd name="txB" fmla="*/ 89 h 89"/>
                </a:gdLst>
                <a:ahLst/>
                <a:cxnLst>
                  <a:cxn ang="0">
                    <a:pos x="2147483646" y="0"/>
                  </a:cxn>
                  <a:cxn ang="0">
                    <a:pos x="0" y="2147483646"/>
                  </a:cxn>
                  <a:cxn ang="0">
                    <a:pos x="2147483646" y="2147483646"/>
                  </a:cxn>
                  <a:cxn ang="0">
                    <a:pos x="2147483646" y="2147483646"/>
                  </a:cxn>
                  <a:cxn ang="0">
                    <a:pos x="2147483646" y="0"/>
                  </a:cxn>
                </a:cxnLst>
                <a:rect l="txL" t="txT" r="txR" b="txB"/>
                <a:pathLst>
                  <a:path w="91" h="89">
                    <a:moveTo>
                      <a:pt x="81" y="0"/>
                    </a:moveTo>
                    <a:lnTo>
                      <a:pt x="0" y="81"/>
                    </a:lnTo>
                    <a:lnTo>
                      <a:pt x="8" y="89"/>
                    </a:lnTo>
                    <a:lnTo>
                      <a:pt x="91" y="8"/>
                    </a:lnTo>
                    <a:lnTo>
                      <a:pt x="81" y="0"/>
                    </a:lnTo>
                    <a:close/>
                  </a:path>
                </a:pathLst>
              </a:custGeom>
              <a:solidFill>
                <a:schemeClr val="bg1">
                  <a:alpha val="100000"/>
                </a:schemeClr>
              </a:solidFill>
              <a:ln w="9525">
                <a:noFill/>
              </a:ln>
            </p:spPr>
            <p:txBody>
              <a:bodyPr/>
              <a:lstStyle/>
              <a:p>
                <a:endParaRPr lang="zh-CN" altLang="en-US"/>
              </a:p>
            </p:txBody>
          </p:sp>
          <p:sp>
            <p:nvSpPr>
              <p:cNvPr id="172046" name="Freeform 15"/>
              <p:cNvSpPr/>
              <p:nvPr/>
            </p:nvSpPr>
            <p:spPr>
              <a:xfrm>
                <a:off x="239595" y="59899"/>
                <a:ext cx="227117" cy="224620"/>
              </a:xfrm>
              <a:custGeom>
                <a:avLst/>
                <a:gdLst>
                  <a:gd name="txL" fmla="*/ 0 w 91"/>
                  <a:gd name="txT" fmla="*/ 0 h 90"/>
                  <a:gd name="txR" fmla="*/ 91 w 91"/>
                  <a:gd name="txB" fmla="*/ 90 h 90"/>
                </a:gdLst>
                <a:ahLst/>
                <a:cxnLst>
                  <a:cxn ang="0">
                    <a:pos x="0" y="2147483646"/>
                  </a:cxn>
                  <a:cxn ang="0">
                    <a:pos x="2147483646" y="2147483646"/>
                  </a:cxn>
                  <a:cxn ang="0">
                    <a:pos x="2147483646" y="2147483646"/>
                  </a:cxn>
                  <a:cxn ang="0">
                    <a:pos x="2147483646" y="0"/>
                  </a:cxn>
                  <a:cxn ang="0">
                    <a:pos x="0" y="2147483646"/>
                  </a:cxn>
                </a:cxnLst>
                <a:rect l="txL" t="txT" r="txR" b="txB"/>
                <a:pathLst>
                  <a:path w="91" h="90">
                    <a:moveTo>
                      <a:pt x="0" y="82"/>
                    </a:moveTo>
                    <a:lnTo>
                      <a:pt x="8" y="90"/>
                    </a:lnTo>
                    <a:lnTo>
                      <a:pt x="91" y="8"/>
                    </a:lnTo>
                    <a:lnTo>
                      <a:pt x="83" y="0"/>
                    </a:lnTo>
                    <a:lnTo>
                      <a:pt x="0" y="82"/>
                    </a:lnTo>
                    <a:close/>
                  </a:path>
                </a:pathLst>
              </a:custGeom>
              <a:solidFill>
                <a:schemeClr val="bg1">
                  <a:alpha val="100000"/>
                </a:schemeClr>
              </a:solidFill>
              <a:ln w="9525">
                <a:noFill/>
              </a:ln>
            </p:spPr>
            <p:txBody>
              <a:bodyPr/>
              <a:lstStyle/>
              <a:p>
                <a:endParaRPr lang="zh-CN" altLang="en-US"/>
              </a:p>
            </p:txBody>
          </p:sp>
          <p:sp>
            <p:nvSpPr>
              <p:cNvPr id="172047" name="Freeform 16"/>
              <p:cNvSpPr/>
              <p:nvPr/>
            </p:nvSpPr>
            <p:spPr>
              <a:xfrm>
                <a:off x="426779" y="0"/>
                <a:ext cx="69882" cy="64890"/>
              </a:xfrm>
              <a:custGeom>
                <a:avLst/>
                <a:gdLst>
                  <a:gd name="txL" fmla="*/ 0 w 21"/>
                  <a:gd name="txT" fmla="*/ 0 h 20"/>
                  <a:gd name="txR" fmla="*/ 21 w 21"/>
                  <a:gd name="txB" fmla="*/ 20 h 20"/>
                </a:gdLst>
                <a:ahLst/>
                <a:cxnLst>
                  <a:cxn ang="0">
                    <a:pos x="2147483646" y="2147483646"/>
                  </a:cxn>
                  <a:cxn ang="0">
                    <a:pos x="0" y="2147483646"/>
                  </a:cxn>
                  <a:cxn ang="0">
                    <a:pos x="2147483646" y="2147483646"/>
                  </a:cxn>
                  <a:cxn ang="0">
                    <a:pos x="2147483646" y="2147483646"/>
                  </a:cxn>
                </a:cxnLst>
                <a:rect l="txL" t="txT" r="txR" b="txB"/>
                <a:pathLst>
                  <a:path w="21" h="20">
                    <a:moveTo>
                      <a:pt x="14" y="6"/>
                    </a:moveTo>
                    <a:cubicBezTo>
                      <a:pt x="8" y="0"/>
                      <a:pt x="0" y="6"/>
                      <a:pt x="0" y="6"/>
                    </a:cubicBezTo>
                    <a:cubicBezTo>
                      <a:pt x="15" y="20"/>
                      <a:pt x="15" y="20"/>
                      <a:pt x="15" y="20"/>
                    </a:cubicBezTo>
                    <a:cubicBezTo>
                      <a:pt x="15" y="20"/>
                      <a:pt x="21" y="13"/>
                      <a:pt x="14" y="6"/>
                    </a:cubicBezTo>
                    <a:close/>
                  </a:path>
                </a:pathLst>
              </a:custGeom>
              <a:solidFill>
                <a:schemeClr val="bg1">
                  <a:alpha val="100000"/>
                </a:schemeClr>
              </a:solidFill>
              <a:ln w="9525">
                <a:noFill/>
              </a:ln>
            </p:spPr>
            <p:txBody>
              <a:bodyPr/>
              <a:lstStyle/>
              <a:p>
                <a:endParaRPr lang="zh-CN" altLang="en-US"/>
              </a:p>
            </p:txBody>
          </p:sp>
          <p:sp>
            <p:nvSpPr>
              <p:cNvPr id="172048" name="Freeform 17"/>
              <p:cNvSpPr/>
              <p:nvPr/>
            </p:nvSpPr>
            <p:spPr>
              <a:xfrm>
                <a:off x="0" y="9983"/>
                <a:ext cx="416796" cy="411805"/>
              </a:xfrm>
              <a:custGeom>
                <a:avLst/>
                <a:gdLst>
                  <a:gd name="txL" fmla="*/ 0 w 167"/>
                  <a:gd name="txT" fmla="*/ 0 h 165"/>
                  <a:gd name="txR" fmla="*/ 167 w 167"/>
                  <a:gd name="txB" fmla="*/ 165 h 165"/>
                </a:gdLst>
                <a:ahLst/>
                <a:cxnLst>
                  <a:cxn ang="0">
                    <a:pos x="2147483646" y="2147483646"/>
                  </a:cxn>
                  <a:cxn ang="0">
                    <a:pos x="2147483646" y="2147483646"/>
                  </a:cxn>
                  <a:cxn ang="0">
                    <a:pos x="2147483646" y="2147483646"/>
                  </a:cxn>
                  <a:cxn ang="0">
                    <a:pos x="2147483646" y="2147483646"/>
                  </a:cxn>
                  <a:cxn ang="0">
                    <a:pos x="2147483646" y="0"/>
                  </a:cxn>
                  <a:cxn ang="0">
                    <a:pos x="0" y="0"/>
                  </a:cxn>
                  <a:cxn ang="0">
                    <a:pos x="0" y="2147483646"/>
                  </a:cxn>
                  <a:cxn ang="0">
                    <a:pos x="2147483646" y="2147483646"/>
                  </a:cxn>
                  <a:cxn ang="0">
                    <a:pos x="2147483646" y="2147483646"/>
                  </a:cxn>
                  <a:cxn ang="0">
                    <a:pos x="2147483646" y="2147483646"/>
                  </a:cxn>
                  <a:cxn ang="0">
                    <a:pos x="2147483646" y="2147483646"/>
                  </a:cxn>
                </a:cxnLst>
                <a:rect l="txL" t="txT" r="txR" b="txB"/>
                <a:pathLst>
                  <a:path w="167" h="165">
                    <a:moveTo>
                      <a:pt x="147" y="145"/>
                    </a:moveTo>
                    <a:lnTo>
                      <a:pt x="20" y="145"/>
                    </a:lnTo>
                    <a:lnTo>
                      <a:pt x="20" y="20"/>
                    </a:lnTo>
                    <a:lnTo>
                      <a:pt x="139" y="20"/>
                    </a:lnTo>
                    <a:lnTo>
                      <a:pt x="160" y="0"/>
                    </a:lnTo>
                    <a:lnTo>
                      <a:pt x="0" y="0"/>
                    </a:lnTo>
                    <a:lnTo>
                      <a:pt x="0" y="165"/>
                    </a:lnTo>
                    <a:lnTo>
                      <a:pt x="167" y="165"/>
                    </a:lnTo>
                    <a:lnTo>
                      <a:pt x="167" y="61"/>
                    </a:lnTo>
                    <a:lnTo>
                      <a:pt x="147" y="81"/>
                    </a:lnTo>
                    <a:lnTo>
                      <a:pt x="147" y="145"/>
                    </a:lnTo>
                    <a:close/>
                  </a:path>
                </a:pathLst>
              </a:custGeom>
              <a:solidFill>
                <a:schemeClr val="bg1">
                  <a:alpha val="100000"/>
                </a:schemeClr>
              </a:solidFill>
              <a:ln w="9525">
                <a:noFill/>
              </a:ln>
            </p:spPr>
            <p:txBody>
              <a:bodyPr/>
              <a:lstStyle/>
              <a:p>
                <a:endParaRPr lang="zh-CN" altLang="en-US"/>
              </a:p>
            </p:txBody>
          </p:sp>
        </p:grpSp>
      </p:grpSp>
      <p:sp>
        <p:nvSpPr>
          <p:cNvPr id="28"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4"/>
          <p:cNvSpPr txBox="1">
            <a:spLocks noChangeArrowheads="1"/>
          </p:cNvSpPr>
          <p:nvPr/>
        </p:nvSpPr>
        <p:spPr bwMode="auto">
          <a:xfrm>
            <a:off x="642938" y="1757363"/>
            <a:ext cx="2511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a:t>
            </a:r>
          </a:p>
        </p:txBody>
      </p:sp>
      <p:sp>
        <p:nvSpPr>
          <p:cNvPr id="609285" name="Text Box 5"/>
          <p:cNvSpPr txBox="1">
            <a:spLocks noChangeArrowheads="1"/>
          </p:cNvSpPr>
          <p:nvPr/>
        </p:nvSpPr>
        <p:spPr bwMode="auto">
          <a:xfrm>
            <a:off x="658813" y="3249613"/>
            <a:ext cx="27178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）依次从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中“摘取”元素值较小的结点插入到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表头结点之后</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，直至其中一个表变空为止</a:t>
            </a:r>
          </a:p>
        </p:txBody>
      </p:sp>
      <p:sp>
        <p:nvSpPr>
          <p:cNvPr id="609286" name="Text Box 6"/>
          <p:cNvSpPr txBox="1">
            <a:spLocks noChangeArrowheads="1"/>
          </p:cNvSpPr>
          <p:nvPr/>
        </p:nvSpPr>
        <p:spPr bwMode="auto">
          <a:xfrm>
            <a:off x="5967413" y="3373438"/>
            <a:ext cx="23764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）继续将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其中一个表的剩余结点插入在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表头结点之后</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09287" name="Text Box 7"/>
          <p:cNvSpPr txBox="1">
            <a:spLocks noChangeArrowheads="1"/>
          </p:cNvSpPr>
          <p:nvPr/>
        </p:nvSpPr>
        <p:spPr bwMode="auto">
          <a:xfrm>
            <a:off x="5857875" y="1663700"/>
            <a:ext cx="2614613"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）释放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表的表头结点</a:t>
            </a:r>
          </a:p>
        </p:txBody>
      </p:sp>
      <p:sp>
        <p:nvSpPr>
          <p:cNvPr id="166918" name="Rectangle 10"/>
          <p:cNvSpPr>
            <a:spLocks noChangeArrowheads="1"/>
          </p:cNvSpPr>
          <p:nvPr/>
        </p:nvSpPr>
        <p:spPr bwMode="auto">
          <a:xfrm>
            <a:off x="636588" y="168275"/>
            <a:ext cx="3846513"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73063" name="Freeform 105"/>
          <p:cNvSpPr/>
          <p:nvPr/>
        </p:nvSpPr>
        <p:spPr>
          <a:xfrm>
            <a:off x="5619750" y="3705225"/>
            <a:ext cx="1152525" cy="1250950"/>
          </a:xfrm>
          <a:custGeom>
            <a:avLst/>
            <a:gdLst/>
            <a:ahLst/>
            <a:cxnLst>
              <a:cxn ang="0">
                <a:pos x="0" y="2147483646"/>
              </a:cxn>
              <a:cxn ang="0">
                <a:pos x="0" y="2147483646"/>
              </a:cxn>
              <a:cxn ang="0">
                <a:pos x="2147483646" y="2147483646"/>
              </a:cxn>
              <a:cxn ang="0">
                <a:pos x="2147483646" y="0"/>
              </a:cxn>
              <a:cxn ang="0">
                <a:pos x="2147483646" y="0"/>
              </a:cxn>
              <a:cxn ang="0">
                <a:pos x="2147483646" y="2147483646"/>
              </a:cxn>
              <a:cxn ang="0">
                <a:pos x="0" y="2147483646"/>
              </a:cxn>
            </a:cxnLst>
            <a:rect l="0" t="0" r="0" b="0"/>
            <a:pathLst>
              <a:path w="876" h="952">
                <a:moveTo>
                  <a:pt x="0" y="30"/>
                </a:moveTo>
                <a:lnTo>
                  <a:pt x="0" y="492"/>
                </a:lnTo>
                <a:lnTo>
                  <a:pt x="876" y="952"/>
                </a:lnTo>
                <a:lnTo>
                  <a:pt x="712" y="0"/>
                </a:lnTo>
                <a:lnTo>
                  <a:pt x="378" y="0"/>
                </a:lnTo>
                <a:lnTo>
                  <a:pt x="422" y="252"/>
                </a:lnTo>
                <a:lnTo>
                  <a:pt x="0" y="30"/>
                </a:lnTo>
              </a:path>
            </a:pathLst>
          </a:custGeom>
          <a:noFill/>
          <a:ln w="9525">
            <a:noFill/>
          </a:ln>
        </p:spPr>
        <p:txBody>
          <a:bodyPr/>
          <a:lstStyle/>
          <a:p>
            <a:endParaRPr lang="zh-CN" altLang="en-US"/>
          </a:p>
        </p:txBody>
      </p:sp>
      <p:sp>
        <p:nvSpPr>
          <p:cNvPr id="8" name="Freeform 107"/>
          <p:cNvSpPr/>
          <p:nvPr/>
        </p:nvSpPr>
        <p:spPr bwMode="auto">
          <a:xfrm>
            <a:off x="4278313" y="3705225"/>
            <a:ext cx="1155700" cy="1250950"/>
          </a:xfrm>
          <a:custGeom>
            <a:avLst/>
            <a:gdLst>
              <a:gd name="T0" fmla="*/ 878 w 878"/>
              <a:gd name="T1" fmla="*/ 30 h 952"/>
              <a:gd name="T2" fmla="*/ 456 w 878"/>
              <a:gd name="T3" fmla="*/ 252 h 952"/>
              <a:gd name="T4" fmla="*/ 498 w 878"/>
              <a:gd name="T5" fmla="*/ 0 h 952"/>
              <a:gd name="T6" fmla="*/ 164 w 878"/>
              <a:gd name="T7" fmla="*/ 0 h 952"/>
              <a:gd name="T8" fmla="*/ 0 w 878"/>
              <a:gd name="T9" fmla="*/ 952 h 952"/>
              <a:gd name="T10" fmla="*/ 878 w 878"/>
              <a:gd name="T11" fmla="*/ 492 h 952"/>
              <a:gd name="T12" fmla="*/ 878 w 878"/>
              <a:gd name="T13" fmla="*/ 30 h 952"/>
            </a:gdLst>
            <a:ahLst/>
            <a:cxnLst>
              <a:cxn ang="0">
                <a:pos x="T0" y="T1"/>
              </a:cxn>
              <a:cxn ang="0">
                <a:pos x="T2" y="T3"/>
              </a:cxn>
              <a:cxn ang="0">
                <a:pos x="T4" y="T5"/>
              </a:cxn>
              <a:cxn ang="0">
                <a:pos x="T6" y="T7"/>
              </a:cxn>
              <a:cxn ang="0">
                <a:pos x="T8" y="T9"/>
              </a:cxn>
              <a:cxn ang="0">
                <a:pos x="T10" y="T11"/>
              </a:cxn>
              <a:cxn ang="0">
                <a:pos x="T12" y="T13"/>
              </a:cxn>
            </a:cxnLst>
            <a:rect l="0" t="0" r="r" b="b"/>
            <a:pathLst>
              <a:path w="878" h="952">
                <a:moveTo>
                  <a:pt x="878" y="30"/>
                </a:moveTo>
                <a:lnTo>
                  <a:pt x="456" y="252"/>
                </a:lnTo>
                <a:lnTo>
                  <a:pt x="498" y="0"/>
                </a:lnTo>
                <a:lnTo>
                  <a:pt x="164" y="0"/>
                </a:lnTo>
                <a:lnTo>
                  <a:pt x="0" y="952"/>
                </a:lnTo>
                <a:lnTo>
                  <a:pt x="878" y="492"/>
                </a:lnTo>
                <a:lnTo>
                  <a:pt x="878"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solidFill>
              <a:effectLst>
                <a:outerShdw blurRad="60007" dist="310007" dir="7680000" sy="30000" kx="1300200" algn="ctr" rotWithShape="0">
                  <a:prstClr val="black">
                    <a:alpha val="32000"/>
                  </a:prstClr>
                </a:outerShdw>
              </a:effectLst>
              <a:uLnTx/>
              <a:uFillTx/>
              <a:latin typeface="微软雅黑" panose="020B0503020204020204" pitchFamily="34" charset="-122"/>
              <a:ea typeface="微软雅黑" panose="020B0503020204020204" pitchFamily="34" charset="-122"/>
              <a:cs typeface="+mn-cs"/>
            </a:endParaRPr>
          </a:p>
        </p:txBody>
      </p:sp>
      <p:grpSp>
        <p:nvGrpSpPr>
          <p:cNvPr id="173065" name="组合 8"/>
          <p:cNvGrpSpPr/>
          <p:nvPr/>
        </p:nvGrpSpPr>
        <p:grpSpPr>
          <a:xfrm>
            <a:off x="3103563" y="1757363"/>
            <a:ext cx="2754312" cy="2620962"/>
            <a:chOff x="3748193" y="2000673"/>
            <a:chExt cx="4030134" cy="3833285"/>
          </a:xfrm>
        </p:grpSpPr>
        <p:sp>
          <p:nvSpPr>
            <p:cNvPr id="173066" name="Freeform 104"/>
            <p:cNvSpPr/>
            <p:nvPr/>
          </p:nvSpPr>
          <p:spPr>
            <a:xfrm>
              <a:off x="5858511" y="4583007"/>
              <a:ext cx="1151467" cy="1250951"/>
            </a:xfrm>
            <a:custGeom>
              <a:avLst/>
              <a:gdLst/>
              <a:ahLst/>
              <a:cxnLst>
                <a:cxn ang="0">
                  <a:pos x="0" y="2147483646"/>
                </a:cxn>
                <a:cxn ang="0">
                  <a:pos x="0" y="2147483646"/>
                </a:cxn>
                <a:cxn ang="0">
                  <a:pos x="2147483646" y="2147483646"/>
                </a:cxn>
                <a:cxn ang="0">
                  <a:pos x="2147483646" y="0"/>
                </a:cxn>
                <a:cxn ang="0">
                  <a:pos x="2147483646" y="0"/>
                </a:cxn>
                <a:cxn ang="0">
                  <a:pos x="2147483646" y="2147483646"/>
                </a:cxn>
                <a:cxn ang="0">
                  <a:pos x="0" y="2147483646"/>
                </a:cxn>
              </a:cxnLst>
              <a:rect l="0" t="0" r="0" b="0"/>
              <a:pathLst>
                <a:path w="876" h="952">
                  <a:moveTo>
                    <a:pt x="0" y="30"/>
                  </a:moveTo>
                  <a:lnTo>
                    <a:pt x="0" y="492"/>
                  </a:lnTo>
                  <a:lnTo>
                    <a:pt x="876" y="952"/>
                  </a:lnTo>
                  <a:lnTo>
                    <a:pt x="712" y="0"/>
                  </a:lnTo>
                  <a:lnTo>
                    <a:pt x="378" y="0"/>
                  </a:lnTo>
                  <a:lnTo>
                    <a:pt x="422" y="252"/>
                  </a:lnTo>
                  <a:lnTo>
                    <a:pt x="0" y="30"/>
                  </a:lnTo>
                  <a:close/>
                </a:path>
              </a:pathLst>
            </a:custGeom>
            <a:solidFill>
              <a:srgbClr val="D7D7FF">
                <a:alpha val="100000"/>
              </a:srgbClr>
            </a:solidFill>
            <a:ln w="9525">
              <a:noFill/>
            </a:ln>
          </p:spPr>
          <p:txBody>
            <a:bodyPr/>
            <a:lstStyle/>
            <a:p>
              <a:endParaRPr lang="zh-CN" altLang="en-US"/>
            </a:p>
          </p:txBody>
        </p:sp>
        <p:sp>
          <p:nvSpPr>
            <p:cNvPr id="173067" name="Freeform 106"/>
            <p:cNvSpPr/>
            <p:nvPr/>
          </p:nvSpPr>
          <p:spPr>
            <a:xfrm>
              <a:off x="4516545" y="4583007"/>
              <a:ext cx="1155700" cy="1250951"/>
            </a:xfrm>
            <a:custGeom>
              <a:avLst/>
              <a:gdLst/>
              <a:ahLst/>
              <a:cxnLst>
                <a:cxn ang="0">
                  <a:pos x="2147483646" y="2147483646"/>
                </a:cxn>
                <a:cxn ang="0">
                  <a:pos x="2147483646" y="2147483646"/>
                </a:cxn>
                <a:cxn ang="0">
                  <a:pos x="2147483646" y="0"/>
                </a:cxn>
                <a:cxn ang="0">
                  <a:pos x="2147483646" y="0"/>
                </a:cxn>
                <a:cxn ang="0">
                  <a:pos x="0" y="2147483646"/>
                </a:cxn>
                <a:cxn ang="0">
                  <a:pos x="2147483646" y="2147483646"/>
                </a:cxn>
                <a:cxn ang="0">
                  <a:pos x="2147483646" y="2147483646"/>
                </a:cxn>
              </a:cxnLst>
              <a:rect l="0" t="0" r="0" b="0"/>
              <a:pathLst>
                <a:path w="878" h="952">
                  <a:moveTo>
                    <a:pt x="878" y="30"/>
                  </a:moveTo>
                  <a:lnTo>
                    <a:pt x="456" y="252"/>
                  </a:lnTo>
                  <a:lnTo>
                    <a:pt x="498" y="0"/>
                  </a:lnTo>
                  <a:lnTo>
                    <a:pt x="164" y="0"/>
                  </a:lnTo>
                  <a:lnTo>
                    <a:pt x="0" y="952"/>
                  </a:lnTo>
                  <a:lnTo>
                    <a:pt x="878" y="492"/>
                  </a:lnTo>
                  <a:lnTo>
                    <a:pt x="878" y="30"/>
                  </a:lnTo>
                  <a:close/>
                </a:path>
              </a:pathLst>
            </a:custGeom>
            <a:solidFill>
              <a:srgbClr val="9476B6">
                <a:alpha val="100000"/>
              </a:srgbClr>
            </a:solidFill>
            <a:ln w="9525">
              <a:noFill/>
            </a:ln>
          </p:spPr>
          <p:txBody>
            <a:bodyPr/>
            <a:lstStyle/>
            <a:p>
              <a:endParaRPr lang="zh-CN" altLang="en-US"/>
            </a:p>
          </p:txBody>
        </p:sp>
        <p:sp>
          <p:nvSpPr>
            <p:cNvPr id="173068" name="Freeform 108"/>
            <p:cNvSpPr/>
            <p:nvPr/>
          </p:nvSpPr>
          <p:spPr>
            <a:xfrm>
              <a:off x="5763260" y="2000673"/>
              <a:ext cx="2015067" cy="2370667"/>
            </a:xfrm>
            <a:custGeom>
              <a:avLst/>
              <a:gdLst/>
              <a:ahLst/>
              <a:cxnLst>
                <a:cxn ang="0">
                  <a:pos x="2147483646" y="2147483646"/>
                </a:cxn>
                <a:cxn ang="0">
                  <a:pos x="0"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534" h="1804">
                  <a:moveTo>
                    <a:pt x="474" y="962"/>
                  </a:moveTo>
                  <a:lnTo>
                    <a:pt x="0" y="0"/>
                  </a:lnTo>
                  <a:lnTo>
                    <a:pt x="0" y="700"/>
                  </a:lnTo>
                  <a:lnTo>
                    <a:pt x="246" y="1200"/>
                  </a:lnTo>
                  <a:lnTo>
                    <a:pt x="798" y="1280"/>
                  </a:lnTo>
                  <a:lnTo>
                    <a:pt x="400" y="1670"/>
                  </a:lnTo>
                  <a:lnTo>
                    <a:pt x="422" y="1804"/>
                  </a:lnTo>
                  <a:lnTo>
                    <a:pt x="826" y="1804"/>
                  </a:lnTo>
                  <a:lnTo>
                    <a:pt x="1534" y="1116"/>
                  </a:lnTo>
                  <a:lnTo>
                    <a:pt x="474" y="962"/>
                  </a:lnTo>
                  <a:close/>
                </a:path>
              </a:pathLst>
            </a:custGeom>
            <a:solidFill>
              <a:srgbClr val="5FCACB">
                <a:alpha val="100000"/>
              </a:srgbClr>
            </a:solidFill>
            <a:ln w="9525">
              <a:noFill/>
            </a:ln>
          </p:spPr>
          <p:txBody>
            <a:bodyPr/>
            <a:lstStyle/>
            <a:p>
              <a:endParaRPr lang="zh-CN" altLang="en-US"/>
            </a:p>
          </p:txBody>
        </p:sp>
        <p:sp>
          <p:nvSpPr>
            <p:cNvPr id="173069" name="Freeform 109"/>
            <p:cNvSpPr/>
            <p:nvPr/>
          </p:nvSpPr>
          <p:spPr>
            <a:xfrm>
              <a:off x="3748193" y="2000673"/>
              <a:ext cx="2015067" cy="2370667"/>
            </a:xfrm>
            <a:custGeom>
              <a:avLst/>
              <a:gdLst/>
              <a:ahLst/>
              <a:cxnLst>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Lst>
              <a:rect l="0" t="0" r="0" b="0"/>
              <a:pathLst>
                <a:path w="1534" h="1804">
                  <a:moveTo>
                    <a:pt x="1060" y="962"/>
                  </a:moveTo>
                  <a:lnTo>
                    <a:pt x="0" y="1116"/>
                  </a:lnTo>
                  <a:lnTo>
                    <a:pt x="708" y="1804"/>
                  </a:lnTo>
                  <a:lnTo>
                    <a:pt x="1112" y="1804"/>
                  </a:lnTo>
                  <a:lnTo>
                    <a:pt x="1136" y="1670"/>
                  </a:lnTo>
                  <a:lnTo>
                    <a:pt x="736" y="1280"/>
                  </a:lnTo>
                  <a:lnTo>
                    <a:pt x="1288" y="1200"/>
                  </a:lnTo>
                  <a:lnTo>
                    <a:pt x="1534" y="700"/>
                  </a:lnTo>
                  <a:lnTo>
                    <a:pt x="1534" y="0"/>
                  </a:lnTo>
                  <a:lnTo>
                    <a:pt x="1060" y="962"/>
                  </a:lnTo>
                  <a:close/>
                </a:path>
              </a:pathLst>
            </a:custGeom>
            <a:solidFill>
              <a:srgbClr val="319095">
                <a:alpha val="100000"/>
              </a:srgbClr>
            </a:solidFill>
            <a:ln w="9525">
              <a:noFill/>
            </a:ln>
          </p:spPr>
          <p:txBody>
            <a:bodyPr/>
            <a:lstStyle/>
            <a:p>
              <a:endParaRPr lang="zh-CN" altLang="en-US"/>
            </a:p>
          </p:txBody>
        </p:sp>
        <p:sp>
          <p:nvSpPr>
            <p:cNvPr id="173070" name="Freeform 121"/>
            <p:cNvSpPr/>
            <p:nvPr/>
          </p:nvSpPr>
          <p:spPr>
            <a:xfrm>
              <a:off x="5462693" y="3837941"/>
              <a:ext cx="254000" cy="251884"/>
            </a:xfrm>
            <a:prstGeom prst="octagon">
              <a:avLst>
                <a:gd name="adj" fmla="val 29287"/>
              </a:avLst>
            </a:prstGeom>
            <a:solidFill>
              <a:srgbClr val="319095"/>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dirty="0">
                <a:solidFill>
                  <a:srgbClr val="000000"/>
                </a:solidFill>
                <a:latin typeface="微软雅黑" panose="020B0503020204020204" pitchFamily="34" charset="-122"/>
              </a:endParaRPr>
            </a:p>
          </p:txBody>
        </p:sp>
        <p:sp>
          <p:nvSpPr>
            <p:cNvPr id="173071" name="Freeform 122"/>
            <p:cNvSpPr/>
            <p:nvPr/>
          </p:nvSpPr>
          <p:spPr>
            <a:xfrm>
              <a:off x="5765378" y="3774440"/>
              <a:ext cx="315383" cy="315384"/>
            </a:xfrm>
            <a:prstGeom prst="octagon">
              <a:avLst>
                <a:gd name="adj" fmla="val 29287"/>
              </a:avLst>
            </a:prstGeom>
            <a:solidFill>
              <a:srgbClr val="5FCACB"/>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dirty="0">
                <a:solidFill>
                  <a:srgbClr val="000000"/>
                </a:solidFill>
                <a:latin typeface="微软雅黑" panose="020B0503020204020204" pitchFamily="34" charset="-122"/>
              </a:endParaRPr>
            </a:p>
          </p:txBody>
        </p:sp>
        <p:sp>
          <p:nvSpPr>
            <p:cNvPr id="173072" name="Freeform 123"/>
            <p:cNvSpPr/>
            <p:nvPr/>
          </p:nvSpPr>
          <p:spPr>
            <a:xfrm>
              <a:off x="5462693" y="4142740"/>
              <a:ext cx="254000" cy="247651"/>
            </a:xfrm>
            <a:prstGeom prst="octagon">
              <a:avLst>
                <a:gd name="adj" fmla="val 29287"/>
              </a:avLst>
            </a:prstGeom>
            <a:solidFill>
              <a:srgbClr val="F5841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dirty="0">
                <a:solidFill>
                  <a:srgbClr val="000000"/>
                </a:solidFill>
                <a:latin typeface="微软雅黑" panose="020B0503020204020204" pitchFamily="34" charset="-122"/>
              </a:endParaRPr>
            </a:p>
          </p:txBody>
        </p:sp>
        <p:sp>
          <p:nvSpPr>
            <p:cNvPr id="173073" name="Freeform 124"/>
            <p:cNvSpPr/>
            <p:nvPr/>
          </p:nvSpPr>
          <p:spPr>
            <a:xfrm>
              <a:off x="5765378" y="4142740"/>
              <a:ext cx="249767" cy="247651"/>
            </a:xfrm>
            <a:prstGeom prst="octagon">
              <a:avLst>
                <a:gd name="adj" fmla="val 29287"/>
              </a:avLst>
            </a:prstGeom>
            <a:solidFill>
              <a:srgbClr val="A0BF0D"/>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dirty="0">
                <a:solidFill>
                  <a:srgbClr val="000000"/>
                </a:solidFill>
                <a:latin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9285"/>
                                        </p:tgtEl>
                                        <p:attrNameLst>
                                          <p:attrName>style.visibility</p:attrName>
                                        </p:attrNameLst>
                                      </p:cBhvr>
                                      <p:to>
                                        <p:strVal val="visible"/>
                                      </p:to>
                                    </p:set>
                                    <p:animEffect transition="in" filter="box(in)">
                                      <p:cBhvr>
                                        <p:cTn id="7" dur="500"/>
                                        <p:tgtEl>
                                          <p:spTgt spid="60928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09286"/>
                                        </p:tgtEl>
                                        <p:attrNameLst>
                                          <p:attrName>style.visibility</p:attrName>
                                        </p:attrNameLst>
                                      </p:cBhvr>
                                      <p:to>
                                        <p:strVal val="visible"/>
                                      </p:to>
                                    </p:set>
                                    <p:animEffect transition="in" filter="diamond(in)">
                                      <p:cBhvr>
                                        <p:cTn id="12" dur="2000"/>
                                        <p:tgtEl>
                                          <p:spTgt spid="60928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09287"/>
                                        </p:tgtEl>
                                        <p:attrNameLst>
                                          <p:attrName>style.visibility</p:attrName>
                                        </p:attrNameLst>
                                      </p:cBhvr>
                                      <p:to>
                                        <p:strVal val="visible"/>
                                      </p:to>
                                    </p:set>
                                    <p:animEffect transition="in" filter="checkerboard(across)">
                                      <p:cBhvr>
                                        <p:cTn id="17" dur="500"/>
                                        <p:tgtEl>
                                          <p:spTgt spid="609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5" grpId="0"/>
      <p:bldP spid="609286" grpId="0"/>
      <p:bldP spid="609287" grpId="0"/>
    </p:bldLst>
  </p:timing>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575437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575437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a:solidFill>
                  <a:schemeClr val="tx1">
                    <a:lumMod val="95000"/>
                    <a:lumOff val="5000"/>
                  </a:schemeClr>
                </a:solidFill>
                <a:latin typeface="+mn-lt"/>
                <a:ea typeface="+mn-ea"/>
                <a:cs typeface="+mn-ea"/>
                <a:sym typeface="+mn-lt"/>
              </a:rPr>
              <a:t>2.7</a:t>
            </a:r>
            <a:endParaRPr kumimoji="0" lang="en-US" altLang="zh-CN" sz="2200" kern="1200" cap="none" spc="0" normalizeH="0" baseline="0" noProof="0" dirty="0">
              <a:solidFill>
                <a:schemeClr val="tx1">
                  <a:lumMod val="95000"/>
                  <a:lumOff val="5000"/>
                </a:schemeClr>
              </a:solidFill>
              <a:latin typeface="+mn-lt"/>
              <a:ea typeface="+mn-ea"/>
              <a:cs typeface="+mn-ea"/>
              <a:sym typeface="+mn-lt"/>
            </a:endParaRP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7938" name="Rectangle 58"/>
          <p:cNvSpPr>
            <a:spLocks noChangeArrowheads="1"/>
          </p:cNvSpPr>
          <p:nvPr/>
        </p:nvSpPr>
        <p:spPr bwMode="auto">
          <a:xfrm>
            <a:off x="865188" y="123825"/>
            <a:ext cx="67754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案例</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2.1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：一元多项式的运算</a:t>
            </a:r>
          </a:p>
        </p:txBody>
      </p:sp>
      <p:graphicFrame>
        <p:nvGraphicFramePr>
          <p:cNvPr id="74" name="表格 73"/>
          <p:cNvGraphicFramePr>
            <a:graphicFrameLocks noGrp="1"/>
          </p:cNvGraphicFramePr>
          <p:nvPr/>
        </p:nvGraphicFramePr>
        <p:xfrm>
          <a:off x="417513" y="2952750"/>
          <a:ext cx="8334376" cy="1365250"/>
        </p:xfrm>
        <a:graphic>
          <a:graphicData uri="http://schemas.openxmlformats.org/drawingml/2006/table">
            <a:tbl>
              <a:tblPr/>
              <a:tblGrid>
                <a:gridCol w="173377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368152">
                  <a:extLst>
                    <a:ext uri="{9D8B030D-6E8A-4147-A177-3AD203B41FA5}">
                      <a16:colId xmlns:a16="http://schemas.microsoft.com/office/drawing/2014/main" val="20003"/>
                    </a:ext>
                  </a:extLst>
                </a:gridCol>
                <a:gridCol w="1250770">
                  <a:extLst>
                    <a:ext uri="{9D8B030D-6E8A-4147-A177-3AD203B41FA5}">
                      <a16:colId xmlns:a16="http://schemas.microsoft.com/office/drawing/2014/main" val="20004"/>
                    </a:ext>
                  </a:extLst>
                </a:gridCol>
                <a:gridCol w="1389390">
                  <a:extLst>
                    <a:ext uri="{9D8B030D-6E8A-4147-A177-3AD203B41FA5}">
                      <a16:colId xmlns:a16="http://schemas.microsoft.com/office/drawing/2014/main" val="20005"/>
                    </a:ext>
                  </a:extLst>
                </a:gridCol>
              </a:tblGrid>
              <a:tr h="682625">
                <a:tc>
                  <a:txBody>
                    <a:bodyPr/>
                    <a:lstStyle/>
                    <a:p>
                      <a:pPr algn="ctr">
                        <a:spcBef>
                          <a:spcPts val="120"/>
                        </a:spcBef>
                        <a:spcAft>
                          <a:spcPts val="120"/>
                        </a:spcAft>
                      </a:pPr>
                      <a:r>
                        <a:rPr lang="zh-CN" sz="2000" kern="1000" dirty="0">
                          <a:solidFill>
                            <a:schemeClr val="bg1"/>
                          </a:solidFill>
                          <a:latin typeface="+mn-lt"/>
                          <a:ea typeface="+mn-ea"/>
                          <a:cs typeface="+mn-ea"/>
                          <a:sym typeface="+mn-lt"/>
                        </a:rPr>
                        <a:t>指数（下标</a:t>
                      </a:r>
                      <a:r>
                        <a:rPr lang="en-US" sz="2000" kern="1000" dirty="0" err="1">
                          <a:solidFill>
                            <a:schemeClr val="bg1"/>
                          </a:solidFill>
                          <a:latin typeface="+mn-lt"/>
                          <a:ea typeface="+mn-ea"/>
                          <a:cs typeface="+mn-ea"/>
                          <a:sym typeface="+mn-lt"/>
                        </a:rPr>
                        <a:t>i</a:t>
                      </a:r>
                      <a:r>
                        <a:rPr lang="zh-CN" sz="2000" kern="1000" dirty="0">
                          <a:solidFill>
                            <a:schemeClr val="bg1"/>
                          </a:solidFill>
                          <a:latin typeface="+mn-lt"/>
                          <a:ea typeface="+mn-ea"/>
                          <a:cs typeface="+mn-ea"/>
                          <a:sym typeface="+mn-lt"/>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dirty="0">
                          <a:latin typeface="+mn-lt"/>
                          <a:ea typeface="+mn-ea"/>
                          <a:cs typeface="+mn-ea"/>
                          <a:sym typeface="+mn-lt"/>
                        </a:rPr>
                        <a:t>0</a:t>
                      </a:r>
                      <a:endParaRPr lang="zh-CN" sz="20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000" kern="1000" dirty="0">
                          <a:latin typeface="+mn-lt"/>
                          <a:ea typeface="+mn-ea"/>
                          <a:cs typeface="+mn-ea"/>
                          <a:sym typeface="+mn-lt"/>
                        </a:rPr>
                        <a:t>1</a:t>
                      </a:r>
                      <a:endParaRPr lang="zh-CN" sz="20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000" kern="1000" dirty="0">
                          <a:latin typeface="+mn-lt"/>
                          <a:ea typeface="+mn-ea"/>
                          <a:cs typeface="+mn-ea"/>
                          <a:sym typeface="+mn-lt"/>
                        </a:rPr>
                        <a:t>2</a:t>
                      </a:r>
                      <a:endParaRPr lang="zh-CN" sz="20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000" kern="1000" dirty="0">
                          <a:latin typeface="+mn-lt"/>
                          <a:ea typeface="+mn-ea"/>
                          <a:cs typeface="+mn-ea"/>
                          <a:sym typeface="+mn-lt"/>
                        </a:rPr>
                        <a:t>3</a:t>
                      </a:r>
                      <a:endParaRPr lang="zh-CN" sz="20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000" kern="1000" dirty="0">
                          <a:latin typeface="+mn-lt"/>
                          <a:ea typeface="+mn-ea"/>
                          <a:cs typeface="+mn-ea"/>
                          <a:sym typeface="+mn-lt"/>
                        </a:rPr>
                        <a:t>4</a:t>
                      </a:r>
                      <a:endParaRPr lang="zh-CN" sz="2000" kern="1000" dirty="0">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2625">
                <a:tc>
                  <a:txBody>
                    <a:bodyPr/>
                    <a:lstStyle/>
                    <a:p>
                      <a:pPr algn="ctr">
                        <a:spcBef>
                          <a:spcPts val="120"/>
                        </a:spcBef>
                        <a:spcAft>
                          <a:spcPts val="120"/>
                        </a:spcAft>
                      </a:pPr>
                      <a:r>
                        <a:rPr lang="zh-CN" sz="2000" kern="1000" dirty="0">
                          <a:solidFill>
                            <a:schemeClr val="bg1"/>
                          </a:solidFill>
                          <a:latin typeface="+mn-lt"/>
                          <a:ea typeface="+mn-ea"/>
                          <a:cs typeface="+mn-ea"/>
                          <a:sym typeface="+mn-lt"/>
                        </a:rPr>
                        <a:t>系数</a:t>
                      </a:r>
                      <a:r>
                        <a:rPr lang="en-US" sz="2000" kern="1000" dirty="0">
                          <a:solidFill>
                            <a:schemeClr val="bg1"/>
                          </a:solidFill>
                          <a:latin typeface="+mn-lt"/>
                          <a:ea typeface="+mn-ea"/>
                          <a:cs typeface="+mn-ea"/>
                          <a:sym typeface="+mn-lt"/>
                        </a:rPr>
                        <a:t>p[</a:t>
                      </a:r>
                      <a:r>
                        <a:rPr lang="en-US" sz="2000" kern="1000" dirty="0" err="1">
                          <a:solidFill>
                            <a:schemeClr val="bg1"/>
                          </a:solidFill>
                          <a:latin typeface="+mn-lt"/>
                          <a:ea typeface="+mn-ea"/>
                          <a:cs typeface="+mn-ea"/>
                          <a:sym typeface="+mn-lt"/>
                        </a:rPr>
                        <a:t>i</a:t>
                      </a:r>
                      <a:r>
                        <a:rPr lang="en-US" sz="2000" kern="1000" dirty="0">
                          <a:solidFill>
                            <a:schemeClr val="bg1"/>
                          </a:solidFill>
                          <a:latin typeface="+mn-lt"/>
                          <a:ea typeface="+mn-ea"/>
                          <a:cs typeface="+mn-ea"/>
                          <a:sym typeface="+mn-lt"/>
                        </a:rPr>
                        <a:t>]</a:t>
                      </a:r>
                      <a:endParaRPr lang="zh-CN" sz="2000" kern="1000" dirty="0">
                        <a:solidFill>
                          <a:schemeClr val="bg1"/>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800" b="1" kern="1000" dirty="0">
                          <a:solidFill>
                            <a:srgbClr val="FF0000"/>
                          </a:solidFill>
                          <a:latin typeface="+mn-lt"/>
                          <a:ea typeface="+mn-ea"/>
                          <a:cs typeface="+mn-ea"/>
                          <a:sym typeface="+mn-lt"/>
                        </a:rPr>
                        <a:t>10</a:t>
                      </a:r>
                      <a:endParaRPr lang="zh-CN" sz="2800" b="1" kern="1000" dirty="0">
                        <a:solidFill>
                          <a:srgbClr val="FF0000"/>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800" b="1" kern="1000" dirty="0">
                          <a:solidFill>
                            <a:srgbClr val="FF0000"/>
                          </a:solidFill>
                          <a:latin typeface="+mn-lt"/>
                          <a:ea typeface="+mn-ea"/>
                          <a:cs typeface="+mn-ea"/>
                          <a:sym typeface="+mn-lt"/>
                        </a:rPr>
                        <a:t>5</a:t>
                      </a:r>
                      <a:endParaRPr lang="zh-CN" sz="2800" b="1" kern="1000" dirty="0">
                        <a:solidFill>
                          <a:srgbClr val="FF0000"/>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800" b="1" kern="1000" dirty="0">
                          <a:solidFill>
                            <a:srgbClr val="FF0000"/>
                          </a:solidFill>
                          <a:latin typeface="+mn-lt"/>
                          <a:ea typeface="+mn-ea"/>
                          <a:cs typeface="+mn-ea"/>
                          <a:sym typeface="+mn-lt"/>
                        </a:rPr>
                        <a:t>-4</a:t>
                      </a:r>
                      <a:endParaRPr lang="zh-CN" sz="2800" b="1" kern="1000" dirty="0">
                        <a:solidFill>
                          <a:srgbClr val="FF0000"/>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800" b="1" kern="1000" dirty="0">
                          <a:solidFill>
                            <a:srgbClr val="FF0000"/>
                          </a:solidFill>
                          <a:latin typeface="+mn-lt"/>
                          <a:ea typeface="+mn-ea"/>
                          <a:cs typeface="+mn-ea"/>
                          <a:sym typeface="+mn-lt"/>
                        </a:rPr>
                        <a:t>3</a:t>
                      </a:r>
                      <a:endParaRPr lang="zh-CN" sz="2800" b="1" kern="1000" dirty="0">
                        <a:solidFill>
                          <a:srgbClr val="FF0000"/>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spcBef>
                          <a:spcPts val="120"/>
                        </a:spcBef>
                        <a:spcAft>
                          <a:spcPts val="120"/>
                        </a:spcAft>
                      </a:pPr>
                      <a:r>
                        <a:rPr lang="en-US" sz="2800" b="1" kern="1000" dirty="0">
                          <a:solidFill>
                            <a:srgbClr val="FF0000"/>
                          </a:solidFill>
                          <a:latin typeface="+mn-lt"/>
                          <a:ea typeface="+mn-ea"/>
                          <a:cs typeface="+mn-ea"/>
                          <a:sym typeface="+mn-lt"/>
                        </a:rPr>
                        <a:t>2</a:t>
                      </a:r>
                      <a:endParaRPr lang="zh-CN" sz="2800" b="1" kern="1000" dirty="0">
                        <a:solidFill>
                          <a:srgbClr val="FF0000"/>
                        </a:solidFill>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44062" name="矩形 74"/>
          <p:cNvSpPr>
            <a:spLocks noChangeArrowheads="1"/>
          </p:cNvSpPr>
          <p:nvPr/>
        </p:nvSpPr>
        <p:spPr bwMode="auto">
          <a:xfrm>
            <a:off x="371475" y="1968500"/>
            <a:ext cx="5143500" cy="523875"/>
          </a:xfrm>
          <a:prstGeom prst="rect">
            <a:avLst/>
          </a:prstGeom>
          <a:solidFill>
            <a:srgbClr val="EAEAEA"/>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 = 10 + 5x - 4</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30000" noProof="0">
                <a:ln>
                  <a:noFill/>
                </a:ln>
                <a:solidFill>
                  <a:schemeClr val="tx1"/>
                </a:solidFill>
                <a:effectLst/>
                <a:uLnTx/>
                <a:uFillTx/>
                <a:latin typeface="+mn-lt"/>
                <a:ea typeface="+mn-ea"/>
                <a:cs typeface="+mn-ea"/>
                <a:sym typeface="+mn-lt"/>
              </a:rPr>
              <a:t>2</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 + 3</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30000" noProof="0">
                <a:ln>
                  <a:noFill/>
                </a:ln>
                <a:solidFill>
                  <a:schemeClr val="tx1"/>
                </a:solidFill>
                <a:effectLst/>
                <a:uLnTx/>
                <a:uFillTx/>
                <a:latin typeface="+mn-lt"/>
                <a:ea typeface="+mn-ea"/>
                <a:cs typeface="+mn-ea"/>
                <a:sym typeface="+mn-lt"/>
              </a:rPr>
              <a:t>3</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 + 2</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30000" noProof="0">
                <a:ln>
                  <a:noFill/>
                </a:ln>
                <a:solidFill>
                  <a:schemeClr val="tx1"/>
                </a:solidFill>
                <a:effectLst/>
                <a:uLnTx/>
                <a:uFillTx/>
                <a:latin typeface="+mn-lt"/>
                <a:ea typeface="+mn-ea"/>
                <a:cs typeface="+mn-ea"/>
                <a:sym typeface="+mn-lt"/>
              </a:rPr>
              <a:t>4</a:t>
            </a: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 name="组合 14"/>
          <p:cNvGrpSpPr/>
          <p:nvPr/>
        </p:nvGrpSpPr>
        <p:grpSpPr>
          <a:xfrm>
            <a:off x="5561013" y="1060450"/>
            <a:ext cx="3175000" cy="1817688"/>
            <a:chOff x="5786438" y="2965588"/>
            <a:chExt cx="3176090" cy="1818370"/>
          </a:xfrm>
        </p:grpSpPr>
        <p:sp>
          <p:nvSpPr>
            <p:cNvPr id="167971" name="矩形 75"/>
            <p:cNvSpPr>
              <a:spLocks noChangeArrowheads="1"/>
            </p:cNvSpPr>
            <p:nvPr/>
          </p:nvSpPr>
          <p:spPr bwMode="auto">
            <a:xfrm>
              <a:off x="6486765" y="2965588"/>
              <a:ext cx="2475763" cy="1818370"/>
            </a:xfrm>
            <a:prstGeom prst="roundRect">
              <a:avLst>
                <a:gd name="adj" fmla="val 6290"/>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数组表示</a:t>
              </a:r>
              <a:endPar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（每一项的指数</a:t>
              </a:r>
              <a:r>
                <a:rPr kumimoji="0" lang="en-US" altLang="zh-CN" sz="2400" b="0" i="1"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隐含在其系数</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p</a:t>
              </a:r>
              <a:r>
                <a:rPr kumimoji="0" lang="en-US" altLang="zh-CN" sz="2400" b="0" i="1" u="none" strike="noStrike" kern="1200" cap="none" spc="0" normalizeH="0" baseline="-3000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的序号中）</a:t>
              </a:r>
            </a:p>
          </p:txBody>
        </p:sp>
        <p:sp>
          <p:nvSpPr>
            <p:cNvPr id="167972" name="右弧形箭头 76"/>
            <p:cNvSpPr>
              <a:spLocks noChangeArrowheads="1"/>
            </p:cNvSpPr>
            <p:nvPr/>
          </p:nvSpPr>
          <p:spPr bwMode="auto">
            <a:xfrm>
              <a:off x="5786438" y="4047082"/>
              <a:ext cx="428772" cy="667000"/>
            </a:xfrm>
            <a:prstGeom prst="curvedLeftArrow">
              <a:avLst>
                <a:gd name="adj1" fmla="val 24970"/>
                <a:gd name="adj2" fmla="val 49932"/>
                <a:gd name="adj3" fmla="val 3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组合 20"/>
          <p:cNvGrpSpPr/>
          <p:nvPr/>
        </p:nvGrpSpPr>
        <p:grpSpPr>
          <a:xfrm>
            <a:off x="417513" y="5006975"/>
            <a:ext cx="8334375" cy="1371600"/>
            <a:chOff x="285750" y="4663761"/>
            <a:chExt cx="8334376" cy="1371921"/>
          </a:xfrm>
        </p:grpSpPr>
        <p:sp>
          <p:nvSpPr>
            <p:cNvPr id="167966" name="矩形 2"/>
            <p:cNvSpPr>
              <a:spLocks noChangeArrowheads="1"/>
            </p:cNvSpPr>
            <p:nvPr/>
          </p:nvSpPr>
          <p:spPr bwMode="auto">
            <a:xfrm>
              <a:off x="285750" y="4663761"/>
              <a:ext cx="3357562" cy="52399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R</a:t>
              </a:r>
              <a:r>
                <a:rPr kumimoji="0" lang="en-US" altLang="zh-CN" sz="2800" b="1" i="1" u="none" strike="noStrike" kern="1200" cap="none" spc="0" normalizeH="0" baseline="-30000" noProof="0">
                  <a:ln>
                    <a:noFill/>
                  </a:ln>
                  <a:solidFill>
                    <a:schemeClr val="tx1"/>
                  </a:solidFill>
                  <a:effectLst/>
                  <a:uLnTx/>
                  <a:uFillTx/>
                  <a:latin typeface="+mn-lt"/>
                  <a:ea typeface="+mn-ea"/>
                  <a:cs typeface="+mn-ea"/>
                  <a:sym typeface="+mn-lt"/>
                </a:rPr>
                <a:t>n</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 = </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P</a:t>
              </a:r>
              <a:r>
                <a:rPr kumimoji="0" lang="en-US" altLang="zh-CN" sz="2800" b="1" i="1" u="none" strike="noStrike" kern="1200" cap="none" spc="0" normalizeH="0" baseline="-30000" noProof="0">
                  <a:ln>
                    <a:noFill/>
                  </a:ln>
                  <a:solidFill>
                    <a:schemeClr val="tx1"/>
                  </a:solidFill>
                  <a:effectLst/>
                  <a:uLnTx/>
                  <a:uFillTx/>
                  <a:latin typeface="+mn-lt"/>
                  <a:ea typeface="+mn-ea"/>
                  <a:cs typeface="+mn-ea"/>
                  <a:sym typeface="+mn-lt"/>
                </a:rPr>
                <a:t>n</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 + </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Q</a:t>
              </a:r>
              <a:r>
                <a:rPr kumimoji="0" lang="en-US" altLang="zh-CN" sz="2800" b="1" i="1" u="none" strike="noStrike" kern="1200" cap="none" spc="0" normalizeH="0" baseline="-30000" noProof="0">
                  <a:ln>
                    <a:noFill/>
                  </a:ln>
                  <a:solidFill>
                    <a:schemeClr val="tx1"/>
                  </a:solidFill>
                  <a:effectLst/>
                  <a:uLnTx/>
                  <a:uFillTx/>
                  <a:latin typeface="+mn-lt"/>
                  <a:ea typeface="+mn-ea"/>
                  <a:cs typeface="+mn-ea"/>
                  <a:sym typeface="+mn-lt"/>
                </a:rPr>
                <a:t>m</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a:t>
              </a:r>
              <a:r>
                <a:rPr kumimoji="0" lang="en-US" altLang="zh-CN" sz="2800" b="1" i="1" u="none" strike="noStrike" kern="1200" cap="none" spc="0" normalizeH="0" baseline="0" noProof="0">
                  <a:ln>
                    <a:noFill/>
                  </a:ln>
                  <a:solidFill>
                    <a:schemeClr val="tx1"/>
                  </a:solidFill>
                  <a:effectLst/>
                  <a:uLnTx/>
                  <a:uFillTx/>
                  <a:latin typeface="+mn-lt"/>
                  <a:ea typeface="+mn-ea"/>
                  <a:cs typeface="+mn-ea"/>
                  <a:sym typeface="+mn-lt"/>
                </a:rPr>
                <a:t>x</a:t>
              </a: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a:t>
              </a:r>
              <a:endParaRPr kumimoji="0"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75134" name="组合 3"/>
            <p:cNvGrpSpPr/>
            <p:nvPr/>
          </p:nvGrpSpPr>
          <p:grpSpPr>
            <a:xfrm>
              <a:off x="285750" y="4894262"/>
              <a:ext cx="8334376" cy="1141420"/>
              <a:chOff x="285720" y="3891681"/>
              <a:chExt cx="8334222" cy="1141992"/>
            </a:xfrm>
          </p:grpSpPr>
          <p:sp>
            <p:nvSpPr>
              <p:cNvPr id="167969" name="矩形 4"/>
              <p:cNvSpPr>
                <a:spLocks noChangeArrowheads="1"/>
              </p:cNvSpPr>
              <p:nvPr/>
            </p:nvSpPr>
            <p:spPr bwMode="auto">
              <a:xfrm>
                <a:off x="285720" y="4571371"/>
                <a:ext cx="8334222" cy="462302"/>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54000">
                  <a:lnSpc>
                    <a:spcPct val="130000"/>
                  </a:lnSpc>
                  <a:tabLst>
                    <a:tab pos="2667000" algn="ctr"/>
                    <a:tab pos="5334000" algn="r"/>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2667000" algn="ctr"/>
                    <a:tab pos="5334000" algn="r"/>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2667000" algn="ctr"/>
                    <a:tab pos="5334000" algn="r"/>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2667000" algn="ctr"/>
                    <a:tab pos="5334000" algn="r"/>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254000" algn="l" defTabSz="914400" rtl="0" eaLnBrk="0" fontAlgn="base" latinLnBrk="0" hangingPunct="0">
                  <a:lnSpc>
                    <a:spcPct val="100000"/>
                  </a:lnSpc>
                  <a:spcBef>
                    <a:spcPct val="0"/>
                  </a:spcBef>
                  <a:spcAft>
                    <a:spcPct val="0"/>
                  </a:spcAft>
                  <a:buClrTx/>
                  <a:buSzTx/>
                  <a:buFontTx/>
                  <a:buNone/>
                  <a:tabLst>
                    <a:tab pos="2667000" algn="ctr"/>
                    <a:tab pos="5334000" algn="r"/>
                  </a:tabLst>
                  <a:defRPr/>
                </a:pPr>
                <a:r>
                  <a:rPr kumimoji="0" lang="zh-CN" altLang="en-US" sz="2400" b="1" i="0" u="none" strike="noStrike" kern="1200" cap="none" spc="0" normalizeH="0" baseline="0" noProof="0" dirty="0">
                    <a:ln>
                      <a:noFill/>
                    </a:ln>
                    <a:solidFill>
                      <a:schemeClr val="bg1"/>
                    </a:solidFill>
                    <a:effectLst/>
                    <a:uLnTx/>
                    <a:uFillTx/>
                    <a:latin typeface="+mn-lt"/>
                    <a:ea typeface="+mn-ea"/>
                    <a:cs typeface="+mn-ea"/>
                    <a:sym typeface="+mn-lt"/>
                  </a:rPr>
                  <a:t>线性表</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R = (p</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0</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 + q</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0</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1</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 + q</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1</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2</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 + q</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2</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m</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 + q</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m</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,p</a:t>
                </a:r>
                <a:r>
                  <a:rPr kumimoji="0" lang="en-US" altLang="zh-CN" sz="2400" b="1" i="0" u="none" strike="noStrike" kern="1200" cap="none" spc="0" normalizeH="0" baseline="-30000" noProof="0" dirty="0">
                    <a:ln>
                      <a:noFill/>
                    </a:ln>
                    <a:solidFill>
                      <a:schemeClr val="bg1"/>
                    </a:solidFill>
                    <a:effectLst/>
                    <a:uLnTx/>
                    <a:uFillTx/>
                    <a:latin typeface="+mn-lt"/>
                    <a:ea typeface="+mn-ea"/>
                    <a:cs typeface="+mn-ea"/>
                    <a:sym typeface="+mn-lt"/>
                  </a:rPr>
                  <a:t>m+1</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2400" b="1" i="0" u="none" strike="noStrike" kern="1200" cap="none" spc="0" normalizeH="0" baseline="0" noProof="0" dirty="0" err="1">
                    <a:ln>
                      <a:noFill/>
                    </a:ln>
                    <a:solidFill>
                      <a:schemeClr val="bg1"/>
                    </a:solidFill>
                    <a:effectLst/>
                    <a:uLnTx/>
                    <a:uFillTx/>
                    <a:latin typeface="+mn-lt"/>
                    <a:ea typeface="+mn-ea"/>
                    <a:cs typeface="+mn-ea"/>
                    <a:sym typeface="+mn-lt"/>
                  </a:rPr>
                  <a:t>p</a:t>
                </a:r>
                <a:r>
                  <a:rPr kumimoji="0" lang="en-US" altLang="zh-CN" sz="2400" b="1" i="0" u="none" strike="noStrike" kern="1200" cap="none" spc="0" normalizeH="0" baseline="-30000" noProof="0" dirty="0" err="1">
                    <a:ln>
                      <a:noFill/>
                    </a:ln>
                    <a:solidFill>
                      <a:schemeClr val="bg1"/>
                    </a:solidFill>
                    <a:effectLst/>
                    <a:uLnTx/>
                    <a:uFillTx/>
                    <a:latin typeface="+mn-lt"/>
                    <a:ea typeface="+mn-ea"/>
                    <a:cs typeface="+mn-ea"/>
                    <a:sym typeface="+mn-lt"/>
                  </a:rPr>
                  <a:t>n</a:t>
                </a: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67970" name="右弧形箭头 5"/>
              <p:cNvSpPr>
                <a:spLocks noChangeArrowheads="1"/>
              </p:cNvSpPr>
              <p:nvPr/>
            </p:nvSpPr>
            <p:spPr bwMode="auto">
              <a:xfrm>
                <a:off x="3719419" y="3891422"/>
                <a:ext cx="428617" cy="668828"/>
              </a:xfrm>
              <a:prstGeom prst="curvedLeftArrow">
                <a:avLst>
                  <a:gd name="adj1" fmla="val 25002"/>
                  <a:gd name="adj2" fmla="val 49996"/>
                  <a:gd name="adj3" fmla="val 3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pic>
          <p:nvPicPr>
            <p:cNvPr id="175135" name="Picture 2" descr="http://p8.qhimg.com/t01e8c1a6d348fa0b32.png"/>
            <p:cNvPicPr>
              <a:picLocks noChangeAspect="1"/>
            </p:cNvPicPr>
            <p:nvPr/>
          </p:nvPicPr>
          <p:blipFill>
            <a:blip r:embed="rId2"/>
            <a:stretch>
              <a:fillRect/>
            </a:stretch>
          </p:blipFill>
          <p:spPr>
            <a:xfrm>
              <a:off x="4384081" y="4663761"/>
              <a:ext cx="1000125" cy="766763"/>
            </a:xfrm>
            <a:prstGeom prst="rect">
              <a:avLst/>
            </a:prstGeom>
            <a:solidFill>
              <a:srgbClr val="FFFFFF"/>
            </a:solid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62"/>
                                        </p:tgtEl>
                                        <p:attrNameLst>
                                          <p:attrName>style.visibility</p:attrName>
                                        </p:attrNameLst>
                                      </p:cBhvr>
                                      <p:to>
                                        <p:strVal val="visible"/>
                                      </p:to>
                                    </p:set>
                                    <p:anim calcmode="lin" valueType="num">
                                      <p:cBhvr additive="base">
                                        <p:cTn id="7" dur="500" fill="hold"/>
                                        <p:tgtEl>
                                          <p:spTgt spid="44062"/>
                                        </p:tgtEl>
                                        <p:attrNameLst>
                                          <p:attrName>ppt_x</p:attrName>
                                        </p:attrNameLst>
                                      </p:cBhvr>
                                      <p:tavLst>
                                        <p:tav tm="0">
                                          <p:val>
                                            <p:strVal val="#ppt_x"/>
                                          </p:val>
                                        </p:tav>
                                        <p:tav tm="100000">
                                          <p:val>
                                            <p:strVal val="#ppt_x"/>
                                          </p:val>
                                        </p:tav>
                                      </p:tavLst>
                                    </p:anim>
                                    <p:anim calcmode="lin" valueType="num">
                                      <p:cBhvr additive="base">
                                        <p:cTn id="8" dur="500" fill="hold"/>
                                        <p:tgtEl>
                                          <p:spTgt spid="440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box(in)">
                                      <p:cBhvr>
                                        <p:cTn id="19" dur="500"/>
                                        <p:tgtEl>
                                          <p:spTgt spid="7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62" grpId="0" animBg="1"/>
    </p:bldLst>
  </p:timing>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6130" name="矩形 1"/>
          <p:cNvSpPr/>
          <p:nvPr/>
        </p:nvSpPr>
        <p:spPr>
          <a:xfrm>
            <a:off x="-1587" y="4246563"/>
            <a:ext cx="9142412" cy="23050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68962" name="AutoShape 2"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8963" name="AutoShape 4"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8964" name="AutoShape 6"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8965" name="AutoShape 8" descr="http://img4.imgtn.bdimg.com/it/u=3584398993,898841989&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7" name="表格 6"/>
          <p:cNvGraphicFramePr>
            <a:graphicFrameLocks noGrp="1"/>
          </p:cNvGraphicFramePr>
          <p:nvPr/>
        </p:nvGraphicFramePr>
        <p:xfrm>
          <a:off x="611188" y="2133600"/>
          <a:ext cx="8143876" cy="1865313"/>
        </p:xfrm>
        <a:graphic>
          <a:graphicData uri="http://schemas.openxmlformats.org/drawingml/2006/table">
            <a:tbl>
              <a:tblPr/>
              <a:tblGrid>
                <a:gridCol w="1082082">
                  <a:extLst>
                    <a:ext uri="{9D8B030D-6E8A-4147-A177-3AD203B41FA5}">
                      <a16:colId xmlns:a16="http://schemas.microsoft.com/office/drawing/2014/main" val="20000"/>
                    </a:ext>
                  </a:extLst>
                </a:gridCol>
                <a:gridCol w="692293">
                  <a:extLst>
                    <a:ext uri="{9D8B030D-6E8A-4147-A177-3AD203B41FA5}">
                      <a16:colId xmlns:a16="http://schemas.microsoft.com/office/drawing/2014/main" val="20001"/>
                    </a:ext>
                  </a:extLst>
                </a:gridCol>
                <a:gridCol w="693285">
                  <a:extLst>
                    <a:ext uri="{9D8B030D-6E8A-4147-A177-3AD203B41FA5}">
                      <a16:colId xmlns:a16="http://schemas.microsoft.com/office/drawing/2014/main" val="20002"/>
                    </a:ext>
                  </a:extLst>
                </a:gridCol>
                <a:gridCol w="692293">
                  <a:extLst>
                    <a:ext uri="{9D8B030D-6E8A-4147-A177-3AD203B41FA5}">
                      <a16:colId xmlns:a16="http://schemas.microsoft.com/office/drawing/2014/main" val="20003"/>
                    </a:ext>
                  </a:extLst>
                </a:gridCol>
                <a:gridCol w="693285">
                  <a:extLst>
                    <a:ext uri="{9D8B030D-6E8A-4147-A177-3AD203B41FA5}">
                      <a16:colId xmlns:a16="http://schemas.microsoft.com/office/drawing/2014/main" val="20004"/>
                    </a:ext>
                  </a:extLst>
                </a:gridCol>
                <a:gridCol w="728992">
                  <a:extLst>
                    <a:ext uri="{9D8B030D-6E8A-4147-A177-3AD203B41FA5}">
                      <a16:colId xmlns:a16="http://schemas.microsoft.com/office/drawing/2014/main" val="20005"/>
                    </a:ext>
                  </a:extLst>
                </a:gridCol>
                <a:gridCol w="952150">
                  <a:extLst>
                    <a:ext uri="{9D8B030D-6E8A-4147-A177-3AD203B41FA5}">
                      <a16:colId xmlns:a16="http://schemas.microsoft.com/office/drawing/2014/main" val="20006"/>
                    </a:ext>
                  </a:extLst>
                </a:gridCol>
                <a:gridCol w="869832">
                  <a:extLst>
                    <a:ext uri="{9D8B030D-6E8A-4147-A177-3AD203B41FA5}">
                      <a16:colId xmlns:a16="http://schemas.microsoft.com/office/drawing/2014/main" val="20007"/>
                    </a:ext>
                  </a:extLst>
                </a:gridCol>
                <a:gridCol w="869832">
                  <a:extLst>
                    <a:ext uri="{9D8B030D-6E8A-4147-A177-3AD203B41FA5}">
                      <a16:colId xmlns:a16="http://schemas.microsoft.com/office/drawing/2014/main" val="20008"/>
                    </a:ext>
                  </a:extLst>
                </a:gridCol>
                <a:gridCol w="869832">
                  <a:extLst>
                    <a:ext uri="{9D8B030D-6E8A-4147-A177-3AD203B41FA5}">
                      <a16:colId xmlns:a16="http://schemas.microsoft.com/office/drawing/2014/main" val="20009"/>
                    </a:ext>
                  </a:extLst>
                </a:gridCol>
              </a:tblGrid>
              <a:tr h="667431">
                <a:tc>
                  <a:txBody>
                    <a:bodyPr/>
                    <a:lstStyle/>
                    <a:p>
                      <a:pPr algn="ctr">
                        <a:spcBef>
                          <a:spcPts val="120"/>
                        </a:spcBef>
                        <a:spcAft>
                          <a:spcPts val="120"/>
                        </a:spcAft>
                      </a:pPr>
                      <a:r>
                        <a:rPr lang="zh-CN" sz="2000" kern="1000" dirty="0">
                          <a:solidFill>
                            <a:schemeClr val="bg1"/>
                          </a:solidFill>
                          <a:latin typeface="+mn-lt"/>
                          <a:ea typeface="+mn-ea"/>
                          <a:cs typeface="+mn-ea"/>
                          <a:sym typeface="+mn-lt"/>
                        </a:rPr>
                        <a:t>下标</a:t>
                      </a:r>
                      <a:r>
                        <a:rPr lang="en-US" sz="2000" kern="1000" dirty="0" err="1">
                          <a:solidFill>
                            <a:schemeClr val="bg1"/>
                          </a:solidFill>
                          <a:latin typeface="+mn-lt"/>
                          <a:ea typeface="+mn-ea"/>
                          <a:cs typeface="+mn-ea"/>
                          <a:sym typeface="+mn-lt"/>
                        </a:rPr>
                        <a:t>i</a:t>
                      </a:r>
                      <a:endParaRPr lang="zh-CN" sz="2000" kern="1000" dirty="0">
                        <a:solidFill>
                          <a:schemeClr val="bg1"/>
                        </a:solidFill>
                        <a:latin typeface="+mn-lt"/>
                        <a:ea typeface="+mn-ea"/>
                        <a:cs typeface="+mn-ea"/>
                        <a:sym typeface="+mn-lt"/>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a:latin typeface="+mn-lt"/>
                          <a:ea typeface="+mn-ea"/>
                          <a:cs typeface="+mn-ea"/>
                          <a:sym typeface="+mn-lt"/>
                        </a:rPr>
                        <a:t>0</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1</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2</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3</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endParaRPr lang="en-US" sz="2000" kern="1000">
                        <a:latin typeface="+mn-lt"/>
                        <a:ea typeface="+mn-ea"/>
                        <a:cs typeface="+mn-ea"/>
                        <a:sym typeface="+mn-lt"/>
                      </a:endParaRPr>
                    </a:p>
                  </a:txBody>
                  <a:tcPr marL="68575" marR="68575" marT="0" marB="0" anchor="ctr">
                    <a:lnL>
                      <a:noFill/>
                    </a:lnL>
                    <a:lnR>
                      <a:noFill/>
                    </a:lnR>
                    <a:lnT>
                      <a:noFill/>
                    </a:lnT>
                    <a:lnB>
                      <a:noFill/>
                    </a:lnB>
                  </a:tcPr>
                </a:tc>
                <a:tc>
                  <a:txBody>
                    <a:bodyPr/>
                    <a:lstStyle/>
                    <a:p>
                      <a:pPr algn="ctr">
                        <a:spcBef>
                          <a:spcPts val="120"/>
                        </a:spcBef>
                        <a:spcAft>
                          <a:spcPts val="120"/>
                        </a:spcAft>
                      </a:pPr>
                      <a:r>
                        <a:rPr lang="zh-CN" sz="2000" kern="1000" dirty="0">
                          <a:solidFill>
                            <a:schemeClr val="bg1"/>
                          </a:solidFill>
                          <a:latin typeface="+mn-lt"/>
                          <a:ea typeface="+mn-ea"/>
                          <a:cs typeface="+mn-ea"/>
                          <a:sym typeface="+mn-lt"/>
                        </a:rPr>
                        <a:t>下标</a:t>
                      </a:r>
                      <a:r>
                        <a:rPr lang="en-US" sz="2000" kern="1000" dirty="0" err="1">
                          <a:solidFill>
                            <a:schemeClr val="bg1"/>
                          </a:solidFill>
                          <a:latin typeface="+mn-lt"/>
                          <a:ea typeface="+mn-ea"/>
                          <a:cs typeface="+mn-ea"/>
                          <a:sym typeface="+mn-lt"/>
                        </a:rPr>
                        <a:t>i</a:t>
                      </a:r>
                      <a:endParaRPr lang="zh-CN" sz="2000" kern="1000" dirty="0">
                        <a:solidFill>
                          <a:schemeClr val="bg1"/>
                        </a:solidFill>
                        <a:latin typeface="+mn-lt"/>
                        <a:ea typeface="+mn-ea"/>
                        <a:cs typeface="+mn-ea"/>
                        <a:sym typeface="+mn-lt"/>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a:latin typeface="+mn-lt"/>
                          <a:ea typeface="+mn-ea"/>
                          <a:cs typeface="+mn-ea"/>
                          <a:sym typeface="+mn-lt"/>
                        </a:rPr>
                        <a:t>0</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1</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a:latin typeface="+mn-lt"/>
                          <a:ea typeface="+mn-ea"/>
                          <a:cs typeface="+mn-ea"/>
                          <a:sym typeface="+mn-lt"/>
                        </a:rPr>
                        <a:t>2</a:t>
                      </a:r>
                      <a:endParaRPr lang="zh-CN" sz="2000" kern="1000">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9718">
                <a:tc>
                  <a:txBody>
                    <a:bodyPr/>
                    <a:lstStyle/>
                    <a:p>
                      <a:pPr algn="ctr">
                        <a:spcBef>
                          <a:spcPts val="120"/>
                        </a:spcBef>
                        <a:spcAft>
                          <a:spcPts val="120"/>
                        </a:spcAft>
                      </a:pPr>
                      <a:r>
                        <a:rPr lang="zh-CN" sz="2000" kern="1000" dirty="0">
                          <a:solidFill>
                            <a:schemeClr val="bg1"/>
                          </a:solidFill>
                          <a:latin typeface="+mn-lt"/>
                          <a:ea typeface="+mn-ea"/>
                          <a:cs typeface="+mn-ea"/>
                          <a:sym typeface="+mn-lt"/>
                        </a:rPr>
                        <a:t>系数</a:t>
                      </a:r>
                      <a:r>
                        <a:rPr lang="en-US" sz="2000" kern="1000" dirty="0">
                          <a:solidFill>
                            <a:schemeClr val="bg1"/>
                          </a:solidFill>
                          <a:latin typeface="+mn-lt"/>
                          <a:ea typeface="+mn-ea"/>
                          <a:cs typeface="+mn-ea"/>
                          <a:sym typeface="+mn-lt"/>
                        </a:rPr>
                        <a:t>a[</a:t>
                      </a:r>
                      <a:r>
                        <a:rPr lang="en-US" sz="2000" kern="1000" dirty="0" err="1">
                          <a:solidFill>
                            <a:schemeClr val="bg1"/>
                          </a:solidFill>
                          <a:latin typeface="+mn-lt"/>
                          <a:ea typeface="+mn-ea"/>
                          <a:cs typeface="+mn-ea"/>
                          <a:sym typeface="+mn-lt"/>
                        </a:rPr>
                        <a:t>i</a:t>
                      </a:r>
                      <a:r>
                        <a:rPr lang="en-US" sz="2000" kern="1000" dirty="0">
                          <a:solidFill>
                            <a:schemeClr val="bg1"/>
                          </a:solidFill>
                          <a:latin typeface="+mn-lt"/>
                          <a:ea typeface="+mn-ea"/>
                          <a:cs typeface="+mn-ea"/>
                          <a:sym typeface="+mn-lt"/>
                        </a:rPr>
                        <a:t>]</a:t>
                      </a:r>
                      <a:endParaRPr lang="zh-CN" sz="2000" kern="1000" dirty="0">
                        <a:solidFill>
                          <a:schemeClr val="bg1"/>
                        </a:solidFill>
                        <a:latin typeface="+mn-lt"/>
                        <a:ea typeface="+mn-ea"/>
                        <a:cs typeface="+mn-ea"/>
                        <a:sym typeface="+mn-lt"/>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7</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3</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9</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5</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endParaRPr lang="en-US" sz="2000" kern="1000">
                        <a:latin typeface="+mn-lt"/>
                        <a:ea typeface="+mn-ea"/>
                        <a:cs typeface="+mn-ea"/>
                        <a:sym typeface="+mn-lt"/>
                      </a:endParaRPr>
                    </a:p>
                  </a:txBody>
                  <a:tcPr marL="68575" marR="68575" marT="0" marB="0" anchor="ctr">
                    <a:lnL>
                      <a:noFill/>
                    </a:lnL>
                    <a:lnR>
                      <a:noFill/>
                    </a:lnR>
                    <a:lnT>
                      <a:noFill/>
                    </a:lnT>
                    <a:lnB>
                      <a:noFill/>
                    </a:lnB>
                  </a:tcPr>
                </a:tc>
                <a:tc>
                  <a:txBody>
                    <a:bodyPr/>
                    <a:lstStyle/>
                    <a:p>
                      <a:pPr algn="ctr">
                        <a:spcBef>
                          <a:spcPts val="120"/>
                        </a:spcBef>
                        <a:spcAft>
                          <a:spcPts val="120"/>
                        </a:spcAft>
                      </a:pPr>
                      <a:r>
                        <a:rPr lang="zh-CN" sz="2000" kern="1000" dirty="0">
                          <a:solidFill>
                            <a:schemeClr val="bg1"/>
                          </a:solidFill>
                          <a:latin typeface="+mn-lt"/>
                          <a:ea typeface="+mn-ea"/>
                          <a:cs typeface="+mn-ea"/>
                          <a:sym typeface="+mn-lt"/>
                        </a:rPr>
                        <a:t>系数</a:t>
                      </a:r>
                      <a:r>
                        <a:rPr lang="en-US" sz="2000" kern="1000" dirty="0">
                          <a:solidFill>
                            <a:schemeClr val="bg1"/>
                          </a:solidFill>
                          <a:latin typeface="+mn-lt"/>
                          <a:ea typeface="+mn-ea"/>
                          <a:cs typeface="+mn-ea"/>
                          <a:sym typeface="+mn-lt"/>
                        </a:rPr>
                        <a:t>b[</a:t>
                      </a:r>
                      <a:r>
                        <a:rPr lang="en-US" sz="2000" kern="1000" dirty="0" err="1">
                          <a:solidFill>
                            <a:schemeClr val="bg1"/>
                          </a:solidFill>
                          <a:latin typeface="+mn-lt"/>
                          <a:ea typeface="+mn-ea"/>
                          <a:cs typeface="+mn-ea"/>
                          <a:sym typeface="+mn-lt"/>
                        </a:rPr>
                        <a:t>i</a:t>
                      </a:r>
                      <a:r>
                        <a:rPr lang="en-US" sz="2000" kern="1000" dirty="0">
                          <a:solidFill>
                            <a:schemeClr val="bg1"/>
                          </a:solidFill>
                          <a:latin typeface="+mn-lt"/>
                          <a:ea typeface="+mn-ea"/>
                          <a:cs typeface="+mn-ea"/>
                          <a:sym typeface="+mn-lt"/>
                        </a:rPr>
                        <a:t>]</a:t>
                      </a:r>
                      <a:endParaRPr lang="zh-CN" sz="2000" kern="1000" dirty="0">
                        <a:solidFill>
                          <a:schemeClr val="bg1"/>
                        </a:solidFill>
                        <a:latin typeface="+mn-lt"/>
                        <a:ea typeface="+mn-ea"/>
                        <a:cs typeface="+mn-ea"/>
                        <a:sym typeface="+mn-lt"/>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8</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22</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-9</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8164">
                <a:tc>
                  <a:txBody>
                    <a:bodyPr/>
                    <a:lstStyle/>
                    <a:p>
                      <a:pPr algn="ctr">
                        <a:spcBef>
                          <a:spcPts val="120"/>
                        </a:spcBef>
                        <a:spcAft>
                          <a:spcPts val="120"/>
                        </a:spcAft>
                      </a:pPr>
                      <a:r>
                        <a:rPr lang="zh-CN" sz="2000" kern="1000" dirty="0">
                          <a:solidFill>
                            <a:schemeClr val="bg1"/>
                          </a:solidFill>
                          <a:latin typeface="+mn-lt"/>
                          <a:ea typeface="+mn-ea"/>
                          <a:cs typeface="+mn-ea"/>
                          <a:sym typeface="+mn-lt"/>
                        </a:rPr>
                        <a:t>指数</a:t>
                      </a: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0</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1</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8</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17</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endParaRPr lang="en-US" sz="2000" kern="1000">
                        <a:latin typeface="+mn-lt"/>
                        <a:ea typeface="+mn-ea"/>
                        <a:cs typeface="+mn-ea"/>
                        <a:sym typeface="+mn-lt"/>
                      </a:endParaRPr>
                    </a:p>
                  </a:txBody>
                  <a:tcPr marL="68575" marR="68575" marT="0" marB="0" anchor="ctr">
                    <a:lnL>
                      <a:noFill/>
                    </a:lnL>
                    <a:lnR>
                      <a:noFill/>
                    </a:lnR>
                    <a:lnT>
                      <a:noFill/>
                    </a:lnT>
                    <a:lnB>
                      <a:noFill/>
                    </a:lnB>
                  </a:tcPr>
                </a:tc>
                <a:tc>
                  <a:txBody>
                    <a:bodyPr/>
                    <a:lstStyle/>
                    <a:p>
                      <a:pPr algn="ctr">
                        <a:spcBef>
                          <a:spcPts val="120"/>
                        </a:spcBef>
                        <a:spcAft>
                          <a:spcPts val="120"/>
                        </a:spcAft>
                      </a:pPr>
                      <a:r>
                        <a:rPr lang="zh-CN" sz="2000" kern="1000" dirty="0">
                          <a:solidFill>
                            <a:schemeClr val="bg1"/>
                          </a:solidFill>
                          <a:latin typeface="+mn-lt"/>
                          <a:ea typeface="+mn-ea"/>
                          <a:cs typeface="+mn-ea"/>
                          <a:sym typeface="+mn-lt"/>
                        </a:rPr>
                        <a:t>指数</a:t>
                      </a: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476B6"/>
                    </a:solidFill>
                  </a:tcPr>
                </a:tc>
                <a:tc>
                  <a:txBody>
                    <a:bodyPr/>
                    <a:lstStyle/>
                    <a:p>
                      <a:pPr algn="ctr">
                        <a:spcBef>
                          <a:spcPts val="120"/>
                        </a:spcBef>
                        <a:spcAft>
                          <a:spcPts val="120"/>
                        </a:spcAft>
                      </a:pPr>
                      <a:r>
                        <a:rPr lang="en-US" sz="2000" kern="1000">
                          <a:solidFill>
                            <a:srgbClr val="FF0000"/>
                          </a:solidFill>
                          <a:latin typeface="+mn-lt"/>
                          <a:ea typeface="+mn-ea"/>
                          <a:cs typeface="+mn-ea"/>
                          <a:sym typeface="+mn-lt"/>
                        </a:rPr>
                        <a:t>1</a:t>
                      </a:r>
                      <a:endParaRPr lang="zh-CN" sz="2000" kern="100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7</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20"/>
                        </a:spcBef>
                        <a:spcAft>
                          <a:spcPts val="120"/>
                        </a:spcAft>
                      </a:pPr>
                      <a:r>
                        <a:rPr lang="en-US" sz="2000" kern="1000" dirty="0">
                          <a:solidFill>
                            <a:srgbClr val="FF0000"/>
                          </a:solidFill>
                          <a:latin typeface="+mn-lt"/>
                          <a:ea typeface="+mn-ea"/>
                          <a:cs typeface="+mn-ea"/>
                          <a:sym typeface="+mn-lt"/>
                        </a:rPr>
                        <a:t>8</a:t>
                      </a:r>
                      <a:endParaRPr lang="zh-CN" sz="2000" kern="1000" dirty="0">
                        <a:solidFill>
                          <a:srgbClr val="FF0000"/>
                        </a:solidFill>
                        <a:latin typeface="+mn-lt"/>
                        <a:ea typeface="+mn-ea"/>
                        <a:cs typeface="+mn-ea"/>
                        <a:sym typeface="+mn-lt"/>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69012" name="Rectangle 1"/>
          <p:cNvSpPr>
            <a:spLocks noChangeArrowheads="1"/>
          </p:cNvSpPr>
          <p:nvPr/>
        </p:nvSpPr>
        <p:spPr bwMode="auto">
          <a:xfrm>
            <a:off x="214313" y="908050"/>
            <a:ext cx="8678863"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2730">
              <a:lnSpc>
                <a:spcPct val="130000"/>
              </a:lnSpc>
              <a:tabLst>
                <a:tab pos="2667000" algn="ctr"/>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2667000" algn="ctr"/>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2667000" algn="ctr"/>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2667000" algn="ctr"/>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2667000" algn="ctr"/>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2667000" algn="ctr"/>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252730" algn="ctr" defTabSz="914400" rtl="0" eaLnBrk="1" fontAlgn="base" latinLnBrk="0" hangingPunct="1">
              <a:lnSpc>
                <a:spcPct val="130000"/>
              </a:lnSpc>
              <a:spcBef>
                <a:spcPct val="0"/>
              </a:spcBef>
              <a:spcAft>
                <a:spcPct val="0"/>
              </a:spcAft>
              <a:buClrTx/>
              <a:buSzTx/>
              <a:buFontTx/>
              <a:buNone/>
              <a:tabLst>
                <a:tab pos="2667000" algn="ctr"/>
              </a:tabLst>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多项式</a:t>
            </a:r>
            <a:r>
              <a:rPr kumimoji="0" lang="zh-CN" altLang="en-US" sz="2400" b="1" i="0" u="none" strike="noStrike" kern="1200" cap="none" spc="0" normalizeH="0" baseline="0" noProof="0" dirty="0">
                <a:ln>
                  <a:noFill/>
                </a:ln>
                <a:solidFill>
                  <a:srgbClr val="FF0000"/>
                </a:solidFill>
                <a:effectLst/>
                <a:uLnTx/>
                <a:uFillTx/>
                <a:latin typeface="+mn-lt"/>
                <a:ea typeface="+mn-ea"/>
                <a:cs typeface="+mn-ea"/>
                <a:sym typeface="+mn-lt"/>
              </a:rPr>
              <a:t>非零项</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的数组表示</a:t>
            </a:r>
          </a:p>
          <a:p>
            <a:pPr marL="0" marR="0" lvl="0" indent="252730" algn="l" defTabSz="914400" rtl="0" eaLnBrk="0" fontAlgn="base" latinLnBrk="0" hangingPunct="0">
              <a:lnSpc>
                <a:spcPct val="130000"/>
              </a:lnSpc>
              <a:spcBef>
                <a:spcPct val="0"/>
              </a:spcBef>
              <a:spcAft>
                <a:spcPct val="0"/>
              </a:spcAft>
              <a:buClrTx/>
              <a:buSzTx/>
              <a:buFontTx/>
              <a:buNone/>
              <a:tabLst>
                <a:tab pos="2667000" algn="ctr"/>
              </a:tabLst>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7 + 3</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+ 9</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+ 5</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17</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8</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+ 22</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− 9</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8</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3" name="组合 22"/>
          <p:cNvGrpSpPr/>
          <p:nvPr/>
        </p:nvGrpSpPr>
        <p:grpSpPr>
          <a:xfrm>
            <a:off x="484188" y="4592638"/>
            <a:ext cx="6570662" cy="1584325"/>
            <a:chOff x="485775" y="3097997"/>
            <a:chExt cx="6570004" cy="1583439"/>
          </a:xfrm>
        </p:grpSpPr>
        <p:sp>
          <p:nvSpPr>
            <p:cNvPr id="169020" name="矩形 10"/>
            <p:cNvSpPr>
              <a:spLocks noChangeArrowheads="1"/>
            </p:cNvSpPr>
            <p:nvPr/>
          </p:nvSpPr>
          <p:spPr bwMode="auto">
            <a:xfrm>
              <a:off x="485775" y="4157854"/>
              <a:ext cx="5928718" cy="523582"/>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线性表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 =((p</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2</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a:t>
              </a:r>
              <a:r>
                <a:rPr kumimoji="0" lang="en-US" altLang="zh-CN" sz="2800" b="0" i="0" u="none" strike="noStrike" kern="1200" cap="none" spc="0" normalizeH="0" baseline="-25000" noProof="0" dirty="0" err="1">
                  <a:ln>
                    <a:noFill/>
                  </a:ln>
                  <a:solidFill>
                    <a:schemeClr val="tx1"/>
                  </a:solidFill>
                  <a:effectLst/>
                  <a:uLnTx/>
                  <a:uFillTx/>
                  <a:latin typeface="+mn-lt"/>
                  <a:ea typeface="+mn-ea"/>
                  <a:cs typeface="+mn-ea"/>
                  <a:sym typeface="+mn-lt"/>
                </a:rPr>
                <a:t>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69021" name="右弧形箭头 11"/>
            <p:cNvSpPr>
              <a:spLocks noChangeArrowheads="1"/>
            </p:cNvSpPr>
            <p:nvPr/>
          </p:nvSpPr>
          <p:spPr bwMode="auto">
            <a:xfrm>
              <a:off x="6589101" y="3386760"/>
              <a:ext cx="466678" cy="1032884"/>
            </a:xfrm>
            <a:prstGeom prst="curvedLeftArrow">
              <a:avLst>
                <a:gd name="adj1" fmla="val 25000"/>
                <a:gd name="adj2" fmla="val 50000"/>
                <a:gd name="adj3" fmla="val 33276"/>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176190" name="Picture 9" descr="C:\Users\Administrator\AppData\Roaming\Tencent\Users\597999009\QQ\WinTemp\RichOle\1AKPSCBIIOLLOXL@N~]ADUB.png"/>
            <p:cNvPicPr>
              <a:picLocks noChangeAspect="1" noChangeArrowheads="1"/>
            </p:cNvPicPr>
            <p:nvPr/>
          </p:nvPicPr>
          <p:blipFill>
            <a:blip r:embed="rId2">
              <a:duotone>
                <a:prstClr val="black"/>
                <a:srgbClr val="EAEAEA">
                  <a:tint val="45000"/>
                  <a:satMod val="400000"/>
                </a:srgbClr>
              </a:duotone>
              <a:extLst>
                <a:ext uri="{28A0092B-C50C-407E-A947-70E740481C1C}">
                  <a14:useLocalDpi xmlns:a14="http://schemas.microsoft.com/office/drawing/2010/main" val="0"/>
                </a:ext>
              </a:extLst>
            </a:blip>
            <a:srcRect/>
            <a:stretch>
              <a:fillRect/>
            </a:stretch>
          </p:blipFill>
          <p:spPr bwMode="auto">
            <a:xfrm>
              <a:off x="485775" y="3097997"/>
              <a:ext cx="5869914" cy="647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sp>
        <p:nvSpPr>
          <p:cNvPr id="169015" name="AutoShape 11" descr="http://img5.imgtn.bdimg.com/it/u=2433390337,3835181186&amp;fm=21&amp;gp=0.jpg"/>
          <p:cNvSpPr>
            <a:spLocks noChangeAspect="1" noChangeArrowheads="1"/>
          </p:cNvSpPr>
          <p:nvPr/>
        </p:nvSpPr>
        <p:spPr bwMode="auto">
          <a:xfrm>
            <a:off x="155575" y="-144462"/>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84" name="Rectangle 154"/>
          <p:cNvSpPr txBox="1"/>
          <p:nvPr/>
        </p:nvSpPr>
        <p:spPr>
          <a:xfrm>
            <a:off x="858838" y="160338"/>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sz="2800" dirty="0">
                <a:solidFill>
                  <a:schemeClr val="bg1"/>
                </a:solidFill>
                <a:sym typeface="+mn-lt"/>
              </a:rPr>
              <a:t>案例</a:t>
            </a:r>
            <a:r>
              <a:rPr lang="en-US" altLang="zh-CN" sz="2800" dirty="0">
                <a:solidFill>
                  <a:schemeClr val="bg1"/>
                </a:solidFill>
                <a:sym typeface="+mn-lt"/>
              </a:rPr>
              <a:t>2.2 </a:t>
            </a:r>
            <a:r>
              <a:rPr lang="zh-CN" altLang="en-US" sz="2800" dirty="0">
                <a:solidFill>
                  <a:schemeClr val="bg1"/>
                </a:solidFill>
                <a:sym typeface="+mn-lt"/>
              </a:rPr>
              <a:t>：稀疏多项式的运算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8962" name="AutoShape 2"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8963" name="AutoShape 4"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8964" name="AutoShape 6" descr="http://img0.imgtn.bdimg.com/it/u=239226275,1387765387&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8965" name="AutoShape 8" descr="http://img4.imgtn.bdimg.com/it/u=3584398993,898841989&amp;fm=21&amp;gp=0.jpg"/>
          <p:cNvSpPr>
            <a:spLocks noChangeAspect="1" noChangeArrowheads="1"/>
          </p:cNvSpPr>
          <p:nvPr/>
        </p:nvSpPr>
        <p:spPr bwMode="auto">
          <a:xfrm>
            <a:off x="180975" y="-2127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9015" name="AutoShape 11" descr="http://img5.imgtn.bdimg.com/it/u=2433390337,3835181186&amp;fm=21&amp;gp=0.jpg"/>
          <p:cNvSpPr>
            <a:spLocks noChangeAspect="1" noChangeArrowheads="1"/>
          </p:cNvSpPr>
          <p:nvPr/>
        </p:nvSpPr>
        <p:spPr bwMode="auto">
          <a:xfrm>
            <a:off x="155575" y="-144462"/>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9018" name="Rectangle 1044"/>
          <p:cNvSpPr>
            <a:spLocks noChangeArrowheads="1"/>
          </p:cNvSpPr>
          <p:nvPr/>
        </p:nvSpPr>
        <p:spPr bwMode="auto">
          <a:xfrm>
            <a:off x="1763713" y="1554163"/>
            <a:ext cx="6769100" cy="4619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创建一个</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新数组</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c</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77160" name="Rectangle 154"/>
          <p:cNvSpPr txBox="1"/>
          <p:nvPr/>
        </p:nvSpPr>
        <p:spPr>
          <a:xfrm>
            <a:off x="858838" y="160338"/>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sz="2800" dirty="0">
                <a:solidFill>
                  <a:schemeClr val="bg1"/>
                </a:solidFill>
                <a:sym typeface="+mn-lt"/>
              </a:rPr>
              <a:t>案例</a:t>
            </a:r>
            <a:r>
              <a:rPr lang="en-US" altLang="zh-CN" sz="2800" dirty="0">
                <a:solidFill>
                  <a:schemeClr val="bg1"/>
                </a:solidFill>
                <a:sym typeface="+mn-lt"/>
              </a:rPr>
              <a:t>2.2 </a:t>
            </a:r>
            <a:r>
              <a:rPr lang="zh-CN" altLang="en-US" sz="2800" dirty="0">
                <a:solidFill>
                  <a:schemeClr val="bg1"/>
                </a:solidFill>
                <a:sym typeface="+mn-lt"/>
              </a:rPr>
              <a:t>：稀疏多项式的运算</a:t>
            </a:r>
          </a:p>
        </p:txBody>
      </p:sp>
      <p:grpSp>
        <p:nvGrpSpPr>
          <p:cNvPr id="177161" name="组合 17"/>
          <p:cNvGrpSpPr/>
          <p:nvPr/>
        </p:nvGrpSpPr>
        <p:grpSpPr>
          <a:xfrm>
            <a:off x="958850" y="1481138"/>
            <a:ext cx="579438" cy="627062"/>
            <a:chOff x="6242320" y="1105727"/>
            <a:chExt cx="579005" cy="626656"/>
          </a:xfrm>
        </p:grpSpPr>
        <p:sp>
          <p:nvSpPr>
            <p:cNvPr id="176149" name="TextBox 6"/>
            <p:cNvSpPr txBox="1">
              <a:spLocks noChangeArrowheads="1"/>
            </p:cNvSpPr>
            <p:nvPr/>
          </p:nvSpPr>
          <p:spPr bwMode="auto">
            <a:xfrm>
              <a:off x="6327981" y="1105727"/>
              <a:ext cx="447340" cy="491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lumMod val="50000"/>
                      <a:lumOff val="50000"/>
                    </a:schemeClr>
                  </a:solidFill>
                  <a:effectLst/>
                  <a:uLnTx/>
                  <a:uFillTx/>
                  <a:latin typeface="Impact" panose="020B0806030902050204" pitchFamily="34" charset="0"/>
                  <a:ea typeface="微软雅黑" panose="020B0503020204020204" pitchFamily="34" charset="-122"/>
                  <a:cs typeface="+mn-cs"/>
                </a:rPr>
                <a:t>01</a:t>
              </a:r>
              <a:endParaRPr kumimoji="0" lang="zh-CN" altLang="en-US" sz="3200" b="0"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endParaRPr>
            </a:p>
          </p:txBody>
        </p:sp>
        <p:sp>
          <p:nvSpPr>
            <p:cNvPr id="177174" name="文本框 19"/>
            <p:cNvSpPr txBox="1"/>
            <p:nvPr/>
          </p:nvSpPr>
          <p:spPr>
            <a:xfrm>
              <a:off x="6242320" y="1516939"/>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177162" name="组合 20"/>
          <p:cNvGrpSpPr/>
          <p:nvPr/>
        </p:nvGrpSpPr>
        <p:grpSpPr>
          <a:xfrm>
            <a:off x="958850" y="2449513"/>
            <a:ext cx="579438" cy="631825"/>
            <a:chOff x="6242320" y="2373233"/>
            <a:chExt cx="579005" cy="631762"/>
          </a:xfrm>
        </p:grpSpPr>
        <p:sp>
          <p:nvSpPr>
            <p:cNvPr id="177171" name="TextBox 6"/>
            <p:cNvSpPr txBox="1"/>
            <p:nvPr/>
          </p:nvSpPr>
          <p:spPr>
            <a:xfrm>
              <a:off x="6327224" y="2373233"/>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7030A0"/>
                  </a:solidFill>
                  <a:latin typeface="Impact" panose="020B0806030902050204" pitchFamily="34" charset="0"/>
                </a:rPr>
                <a:t>02</a:t>
              </a:r>
              <a:endParaRPr lang="zh-CN" altLang="en-US" sz="3200" dirty="0">
                <a:solidFill>
                  <a:srgbClr val="7030A0"/>
                </a:solidFill>
                <a:latin typeface="微软雅黑" panose="020B0503020204020204" pitchFamily="34" charset="-122"/>
              </a:endParaRPr>
            </a:p>
          </p:txBody>
        </p:sp>
        <p:sp>
          <p:nvSpPr>
            <p:cNvPr id="177172" name="文本框 22"/>
            <p:cNvSpPr txBox="1"/>
            <p:nvPr/>
          </p:nvSpPr>
          <p:spPr>
            <a:xfrm>
              <a:off x="6242320" y="2789551"/>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grpSp>
        <p:nvGrpSpPr>
          <p:cNvPr id="177163" name="组合 23"/>
          <p:cNvGrpSpPr/>
          <p:nvPr/>
        </p:nvGrpSpPr>
        <p:grpSpPr>
          <a:xfrm>
            <a:off x="958850" y="4876800"/>
            <a:ext cx="579438" cy="620713"/>
            <a:chOff x="6242320" y="3640739"/>
            <a:chExt cx="579005" cy="620494"/>
          </a:xfrm>
        </p:grpSpPr>
        <p:sp>
          <p:nvSpPr>
            <p:cNvPr id="177169" name="TextBox 6"/>
            <p:cNvSpPr txBox="1"/>
            <p:nvPr/>
          </p:nvSpPr>
          <p:spPr>
            <a:xfrm>
              <a:off x="6327224" y="3640739"/>
              <a:ext cx="448425" cy="492443"/>
            </a:xfrm>
            <a:prstGeom prst="rect">
              <a:avLst/>
            </a:prstGeom>
            <a:noFill/>
            <a:ln w="9525">
              <a:noFill/>
            </a:ln>
          </p:spPr>
          <p:txBody>
            <a:bodyPr lIns="0" tIns="0" rIns="0" bIns="0" anchor="ctr" anchorCtr="0">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en-US" altLang="zh-CN" sz="3200" dirty="0">
                  <a:solidFill>
                    <a:srgbClr val="C00000"/>
                  </a:solidFill>
                  <a:latin typeface="Impact" panose="020B0806030902050204" pitchFamily="34" charset="0"/>
                </a:rPr>
                <a:t>03</a:t>
              </a:r>
              <a:endParaRPr lang="zh-CN" altLang="en-US" sz="3200" dirty="0">
                <a:solidFill>
                  <a:srgbClr val="C00000"/>
                </a:solidFill>
                <a:latin typeface="微软雅黑" panose="020B0503020204020204" pitchFamily="34" charset="-122"/>
              </a:endParaRPr>
            </a:p>
          </p:txBody>
        </p:sp>
        <p:sp>
          <p:nvSpPr>
            <p:cNvPr id="177170" name="文本框 25"/>
            <p:cNvSpPr txBox="1"/>
            <p:nvPr/>
          </p:nvSpPr>
          <p:spPr>
            <a:xfrm>
              <a:off x="6242320" y="4045789"/>
              <a:ext cx="579005" cy="215444"/>
            </a:xfrm>
            <a:prstGeom prst="rect">
              <a:avLst/>
            </a:prstGeom>
            <a:noFill/>
            <a:ln w="9525">
              <a:noFill/>
            </a:ln>
          </p:spPr>
          <p:txBody>
            <a:bodyPr wrap="none">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buNone/>
              </a:pPr>
              <a:r>
                <a:rPr lang="en-US" altLang="zh-CN" sz="800" b="1" dirty="0">
                  <a:solidFill>
                    <a:srgbClr val="818181"/>
                  </a:solidFill>
                  <a:latin typeface="Leelawadee" panose="020B0502040204020203" pitchFamily="34" charset="-34"/>
                  <a:ea typeface="仿宋_GB2312" pitchFamily="49" charset="-122"/>
                </a:rPr>
                <a:t>OPTION</a:t>
              </a:r>
              <a:endParaRPr lang="zh-CN" altLang="en-US" sz="800" b="1" dirty="0">
                <a:solidFill>
                  <a:srgbClr val="818181"/>
                </a:solidFill>
                <a:latin typeface="Leelawadee" panose="020B0502040204020203" pitchFamily="34" charset="-34"/>
                <a:ea typeface="仿宋_GB2312" pitchFamily="49" charset="-122"/>
              </a:endParaRPr>
            </a:p>
          </p:txBody>
        </p:sp>
      </p:grpSp>
      <p:cxnSp>
        <p:nvCxnSpPr>
          <p:cNvPr id="32" name="直接连接符 31"/>
          <p:cNvCxnSpPr/>
          <p:nvPr/>
        </p:nvCxnSpPr>
        <p:spPr>
          <a:xfrm>
            <a:off x="1042988" y="2201863"/>
            <a:ext cx="7489825" cy="0"/>
          </a:xfrm>
          <a:prstGeom prst="line">
            <a:avLst/>
          </a:prstGeom>
          <a:ln w="12700">
            <a:solidFill>
              <a:schemeClr val="bg2">
                <a:lumMod val="40000"/>
                <a:lumOff val="6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042988" y="4586288"/>
            <a:ext cx="7561263" cy="0"/>
          </a:xfrm>
          <a:prstGeom prst="line">
            <a:avLst/>
          </a:prstGeom>
          <a:ln w="12700">
            <a:solidFill>
              <a:schemeClr val="bg2">
                <a:lumMod val="40000"/>
                <a:lumOff val="6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042988" y="5805488"/>
            <a:ext cx="7561263" cy="0"/>
          </a:xfrm>
          <a:prstGeom prst="line">
            <a:avLst/>
          </a:prstGeom>
          <a:ln w="12700">
            <a:solidFill>
              <a:schemeClr val="bg2">
                <a:lumMod val="40000"/>
                <a:lumOff val="6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7" name="Rectangle 1044"/>
          <p:cNvSpPr>
            <a:spLocks noChangeArrowheads="1"/>
          </p:cNvSpPr>
          <p:nvPr/>
        </p:nvSpPr>
        <p:spPr bwMode="auto">
          <a:xfrm>
            <a:off x="1763713" y="2449513"/>
            <a:ext cx="6769100" cy="19383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分别从头遍历比较</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的每一项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800100" marR="0" lvl="1"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u"/>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指数相同</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，对应系数相加，若其和不为零，则在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c</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中增加一个新项</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800100" marR="0" lvl="1"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u"/>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指数不相同</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，则将指数较小的项复制到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c</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8" name="Rectangle 1044"/>
          <p:cNvSpPr>
            <a:spLocks noChangeArrowheads="1"/>
          </p:cNvSpPr>
          <p:nvPr/>
        </p:nvSpPr>
        <p:spPr bwMode="auto">
          <a:xfrm>
            <a:off x="1763713" y="4899025"/>
            <a:ext cx="6769100" cy="830263"/>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一个多项式已遍历</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完毕</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时，将另一个剩余项依次复制到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c</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中即可</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8178" name="右弧形箭头 1"/>
          <p:cNvSpPr/>
          <p:nvPr/>
        </p:nvSpPr>
        <p:spPr>
          <a:xfrm>
            <a:off x="4546600" y="1612900"/>
            <a:ext cx="409575" cy="1550988"/>
          </a:xfrm>
          <a:prstGeom prst="curvedLeftArrow">
            <a:avLst>
              <a:gd name="adj1" fmla="val 24981"/>
              <a:gd name="adj2" fmla="val 49982"/>
              <a:gd name="adj3" fmla="val 25000"/>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3" name="组合 62"/>
          <p:cNvGrpSpPr/>
          <p:nvPr/>
        </p:nvGrpSpPr>
        <p:grpSpPr>
          <a:xfrm>
            <a:off x="330200" y="3921125"/>
            <a:ext cx="8451850" cy="2576513"/>
            <a:chOff x="146050" y="3208595"/>
            <a:chExt cx="8451850" cy="2576256"/>
          </a:xfrm>
        </p:grpSpPr>
        <p:sp>
          <p:nvSpPr>
            <p:cNvPr id="169993" name="Text Box 3"/>
            <p:cNvSpPr txBox="1">
              <a:spLocks noChangeArrowheads="1"/>
            </p:cNvSpPr>
            <p:nvPr/>
          </p:nvSpPr>
          <p:spPr bwMode="auto">
            <a:xfrm>
              <a:off x="468313" y="3208595"/>
              <a:ext cx="4054475" cy="519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17</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(x)=7+3x+9x</a:t>
              </a:r>
              <a:r>
                <a:rPr kumimoji="0" lang="en-US" altLang="zh-CN" sz="2800" b="0" i="0" u="none" strike="noStrike" kern="1200" cap="none" spc="0" normalizeH="0" baseline="30000" noProof="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+5x</a:t>
              </a:r>
              <a:r>
                <a:rPr kumimoji="0" lang="en-US" altLang="zh-CN" sz="2800" b="0" i="0" u="none" strike="noStrike" kern="1200" cap="none" spc="0" normalizeH="0" baseline="30000" noProof="0">
                  <a:ln>
                    <a:noFill/>
                  </a:ln>
                  <a:solidFill>
                    <a:schemeClr val="tx1"/>
                  </a:solidFill>
                  <a:effectLst/>
                  <a:uLnTx/>
                  <a:uFillTx/>
                  <a:latin typeface="+mn-lt"/>
                  <a:ea typeface="+mn-ea"/>
                  <a:cs typeface="+mn-ea"/>
                  <a:sym typeface="+mn-lt"/>
                </a:rPr>
                <a:t>17</a:t>
              </a:r>
            </a:p>
          </p:txBody>
        </p:sp>
        <p:sp>
          <p:nvSpPr>
            <p:cNvPr id="169994" name="Text Box 4"/>
            <p:cNvSpPr txBox="1">
              <a:spLocks noChangeArrowheads="1"/>
            </p:cNvSpPr>
            <p:nvPr/>
          </p:nvSpPr>
          <p:spPr bwMode="auto">
            <a:xfrm>
              <a:off x="766763" y="5265790"/>
              <a:ext cx="4054475" cy="519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B</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(x)=8x+22x</a:t>
              </a:r>
              <a:r>
                <a:rPr kumimoji="0" lang="en-US" altLang="zh-CN" sz="2800" b="0" i="0" u="none" strike="noStrike" kern="1200" cap="none" spc="0" normalizeH="0" baseline="30000" noProof="0">
                  <a:ln>
                    <a:noFill/>
                  </a:ln>
                  <a:solidFill>
                    <a:schemeClr val="tx1"/>
                  </a:solidFill>
                  <a:effectLst/>
                  <a:uLnTx/>
                  <a:uFillTx/>
                  <a:latin typeface="+mn-lt"/>
                  <a:ea typeface="+mn-ea"/>
                  <a:cs typeface="+mn-ea"/>
                  <a:sym typeface="+mn-lt"/>
                </a:rPr>
                <a:t>7</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-9x</a:t>
              </a:r>
              <a:r>
                <a:rPr kumimoji="0" lang="en-US" altLang="zh-CN" sz="2800" b="0" i="0" u="none" strike="noStrike" kern="1200" cap="none" spc="0" normalizeH="0" baseline="30000" noProof="0">
                  <a:ln>
                    <a:noFill/>
                  </a:ln>
                  <a:solidFill>
                    <a:schemeClr val="tx1"/>
                  </a:solidFill>
                  <a:effectLst/>
                  <a:uLnTx/>
                  <a:uFillTx/>
                  <a:latin typeface="+mn-lt"/>
                  <a:ea typeface="+mn-ea"/>
                  <a:cs typeface="+mn-ea"/>
                  <a:sym typeface="+mn-lt"/>
                </a:rPr>
                <a:t>8</a:t>
              </a:r>
            </a:p>
          </p:txBody>
        </p:sp>
        <p:grpSp>
          <p:nvGrpSpPr>
            <p:cNvPr id="178189" name="Group 5"/>
            <p:cNvGrpSpPr/>
            <p:nvPr/>
          </p:nvGrpSpPr>
          <p:grpSpPr>
            <a:xfrm>
              <a:off x="146050" y="3733800"/>
              <a:ext cx="8451850" cy="1531938"/>
              <a:chOff x="92" y="2352"/>
              <a:chExt cx="5324" cy="965"/>
            </a:xfrm>
          </p:grpSpPr>
          <p:sp>
            <p:nvSpPr>
              <p:cNvPr id="169996" name="Rectangle 6" descr="深色上对角线"/>
              <p:cNvSpPr>
                <a:spLocks noChangeArrowheads="1"/>
              </p:cNvSpPr>
              <p:nvPr/>
            </p:nvSpPr>
            <p:spPr bwMode="auto">
              <a:xfrm>
                <a:off x="456" y="2417"/>
                <a:ext cx="264" cy="276"/>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9997" name="Rectangle 7" descr="深色上对角线"/>
              <p:cNvSpPr>
                <a:spLocks noChangeArrowheads="1"/>
              </p:cNvSpPr>
              <p:nvPr/>
            </p:nvSpPr>
            <p:spPr bwMode="auto">
              <a:xfrm>
                <a:off x="720"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9998" name="Rectangle 8" descr="深色上对角线"/>
              <p:cNvSpPr>
                <a:spLocks noChangeArrowheads="1"/>
              </p:cNvSpPr>
              <p:nvPr/>
            </p:nvSpPr>
            <p:spPr bwMode="auto">
              <a:xfrm>
                <a:off x="99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9999" name="Rectangle 9" descr="深色上对角线"/>
              <p:cNvSpPr>
                <a:spLocks noChangeArrowheads="1"/>
              </p:cNvSpPr>
              <p:nvPr/>
            </p:nvSpPr>
            <p:spPr bwMode="auto">
              <a:xfrm>
                <a:off x="1496"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0000" name="Rectangle 10" descr="深色上对角线"/>
              <p:cNvSpPr>
                <a:spLocks noChangeArrowheads="1"/>
              </p:cNvSpPr>
              <p:nvPr/>
            </p:nvSpPr>
            <p:spPr bwMode="auto">
              <a:xfrm>
                <a:off x="1760"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70001" name="Rectangle 11" descr="深色上对角线"/>
              <p:cNvSpPr>
                <a:spLocks noChangeArrowheads="1"/>
              </p:cNvSpPr>
              <p:nvPr/>
            </p:nvSpPr>
            <p:spPr bwMode="auto">
              <a:xfrm>
                <a:off x="203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02" name="Rectangle 12" descr="深色上对角线"/>
              <p:cNvSpPr>
                <a:spLocks noChangeArrowheads="1"/>
              </p:cNvSpPr>
              <p:nvPr/>
            </p:nvSpPr>
            <p:spPr bwMode="auto">
              <a:xfrm>
                <a:off x="2536"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70003" name="Rectangle 13" descr="深色上对角线"/>
              <p:cNvSpPr>
                <a:spLocks noChangeArrowheads="1"/>
              </p:cNvSpPr>
              <p:nvPr/>
            </p:nvSpPr>
            <p:spPr bwMode="auto">
              <a:xfrm>
                <a:off x="2800"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0004" name="Rectangle 14" descr="深色上对角线"/>
              <p:cNvSpPr>
                <a:spLocks noChangeArrowheads="1"/>
              </p:cNvSpPr>
              <p:nvPr/>
            </p:nvSpPr>
            <p:spPr bwMode="auto">
              <a:xfrm>
                <a:off x="307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05" name="Rectangle 15" descr="深色上对角线"/>
              <p:cNvSpPr>
                <a:spLocks noChangeArrowheads="1"/>
              </p:cNvSpPr>
              <p:nvPr/>
            </p:nvSpPr>
            <p:spPr bwMode="auto">
              <a:xfrm>
                <a:off x="3560"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0006" name="Rectangle 16" descr="深色上对角线"/>
              <p:cNvSpPr>
                <a:spLocks noChangeArrowheads="1"/>
              </p:cNvSpPr>
              <p:nvPr/>
            </p:nvSpPr>
            <p:spPr bwMode="auto">
              <a:xfrm>
                <a:off x="3824"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0007" name="Rectangle 17" descr="深色上对角线"/>
              <p:cNvSpPr>
                <a:spLocks noChangeArrowheads="1"/>
              </p:cNvSpPr>
              <p:nvPr/>
            </p:nvSpPr>
            <p:spPr bwMode="auto">
              <a:xfrm>
                <a:off x="4096"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08" name="Rectangle 18" descr="深色上对角线"/>
              <p:cNvSpPr>
                <a:spLocks noChangeArrowheads="1"/>
              </p:cNvSpPr>
              <p:nvPr/>
            </p:nvSpPr>
            <p:spPr bwMode="auto">
              <a:xfrm>
                <a:off x="4608"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70009" name="Rectangle 19" descr="深色上对角线"/>
              <p:cNvSpPr>
                <a:spLocks noChangeArrowheads="1"/>
              </p:cNvSpPr>
              <p:nvPr/>
            </p:nvSpPr>
            <p:spPr bwMode="auto">
              <a:xfrm>
                <a:off x="487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17</a:t>
                </a:r>
              </a:p>
            </p:txBody>
          </p:sp>
          <p:sp>
            <p:nvSpPr>
              <p:cNvPr id="170010" name="Rectangle 20" descr="深色上对角线"/>
              <p:cNvSpPr>
                <a:spLocks noChangeArrowheads="1"/>
              </p:cNvSpPr>
              <p:nvPr/>
            </p:nvSpPr>
            <p:spPr bwMode="auto">
              <a:xfrm>
                <a:off x="5144"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11" name="Line 21"/>
              <p:cNvSpPr>
                <a:spLocks noChangeShapeType="1"/>
              </p:cNvSpPr>
              <p:nvPr/>
            </p:nvSpPr>
            <p:spPr bwMode="auto">
              <a:xfrm flipH="1">
                <a:off x="5232" y="250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12" name="Line 22"/>
              <p:cNvSpPr>
                <a:spLocks noChangeShapeType="1"/>
              </p:cNvSpPr>
              <p:nvPr/>
            </p:nvSpPr>
            <p:spPr bwMode="auto">
              <a:xfrm>
                <a:off x="5280" y="250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13" name="Rectangle 23" descr="深色上对角线"/>
              <p:cNvSpPr>
                <a:spLocks noChangeArrowheads="1"/>
              </p:cNvSpPr>
              <p:nvPr/>
            </p:nvSpPr>
            <p:spPr bwMode="auto">
              <a:xfrm>
                <a:off x="456" y="3041"/>
                <a:ext cx="264" cy="276"/>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14" name="Rectangle 24" descr="深色上对角线"/>
              <p:cNvSpPr>
                <a:spLocks noChangeArrowheads="1"/>
              </p:cNvSpPr>
              <p:nvPr/>
            </p:nvSpPr>
            <p:spPr bwMode="auto">
              <a:xfrm>
                <a:off x="720"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0015" name="Rectangle 25" descr="深色上对角线"/>
              <p:cNvSpPr>
                <a:spLocks noChangeArrowheads="1"/>
              </p:cNvSpPr>
              <p:nvPr/>
            </p:nvSpPr>
            <p:spPr bwMode="auto">
              <a:xfrm>
                <a:off x="992"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16" name="Rectangle 26" descr="深色上对角线"/>
              <p:cNvSpPr>
                <a:spLocks noChangeArrowheads="1"/>
              </p:cNvSpPr>
              <p:nvPr/>
            </p:nvSpPr>
            <p:spPr bwMode="auto">
              <a:xfrm>
                <a:off x="1496" y="3041"/>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0017" name="Rectangle 27" descr="深色上对角线"/>
              <p:cNvSpPr>
                <a:spLocks noChangeArrowheads="1"/>
              </p:cNvSpPr>
              <p:nvPr/>
            </p:nvSpPr>
            <p:spPr bwMode="auto">
              <a:xfrm>
                <a:off x="1760"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0018" name="Rectangle 28" descr="深色上对角线"/>
              <p:cNvSpPr>
                <a:spLocks noChangeArrowheads="1"/>
              </p:cNvSpPr>
              <p:nvPr/>
            </p:nvSpPr>
            <p:spPr bwMode="auto">
              <a:xfrm>
                <a:off x="2032"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19" name="Rectangle 29" descr="深色上对角线"/>
              <p:cNvSpPr>
                <a:spLocks noChangeArrowheads="1"/>
              </p:cNvSpPr>
              <p:nvPr/>
            </p:nvSpPr>
            <p:spPr bwMode="auto">
              <a:xfrm>
                <a:off x="2536" y="3041"/>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22</a:t>
                </a:r>
              </a:p>
            </p:txBody>
          </p:sp>
          <p:sp>
            <p:nvSpPr>
              <p:cNvPr id="170020" name="Rectangle 30" descr="深色上对角线"/>
              <p:cNvSpPr>
                <a:spLocks noChangeArrowheads="1"/>
              </p:cNvSpPr>
              <p:nvPr/>
            </p:nvSpPr>
            <p:spPr bwMode="auto">
              <a:xfrm>
                <a:off x="2800"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0021" name="Rectangle 31" descr="深色上对角线"/>
              <p:cNvSpPr>
                <a:spLocks noChangeArrowheads="1"/>
              </p:cNvSpPr>
              <p:nvPr/>
            </p:nvSpPr>
            <p:spPr bwMode="auto">
              <a:xfrm>
                <a:off x="3072"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22" name="Rectangle 32" descr="深色上对角线"/>
              <p:cNvSpPr>
                <a:spLocks noChangeArrowheads="1"/>
              </p:cNvSpPr>
              <p:nvPr/>
            </p:nvSpPr>
            <p:spPr bwMode="auto">
              <a:xfrm>
                <a:off x="3560" y="3041"/>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0023" name="Rectangle 33" descr="深色上对角线"/>
              <p:cNvSpPr>
                <a:spLocks noChangeArrowheads="1"/>
              </p:cNvSpPr>
              <p:nvPr/>
            </p:nvSpPr>
            <p:spPr bwMode="auto">
              <a:xfrm>
                <a:off x="3824"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0024" name="Rectangle 34" descr="深色上对角线"/>
              <p:cNvSpPr>
                <a:spLocks noChangeArrowheads="1"/>
              </p:cNvSpPr>
              <p:nvPr/>
            </p:nvSpPr>
            <p:spPr bwMode="auto">
              <a:xfrm>
                <a:off x="4096"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25" name="Line 35"/>
              <p:cNvSpPr>
                <a:spLocks noChangeShapeType="1"/>
              </p:cNvSpPr>
              <p:nvPr/>
            </p:nvSpPr>
            <p:spPr bwMode="auto">
              <a:xfrm flipH="1">
                <a:off x="4176" y="314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26" name="Line 36"/>
              <p:cNvSpPr>
                <a:spLocks noChangeShapeType="1"/>
              </p:cNvSpPr>
              <p:nvPr/>
            </p:nvSpPr>
            <p:spPr bwMode="auto">
              <a:xfrm>
                <a:off x="4224" y="314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27" name="Line 37"/>
              <p:cNvSpPr>
                <a:spLocks noChangeShapeType="1"/>
              </p:cNvSpPr>
              <p:nvPr/>
            </p:nvSpPr>
            <p:spPr bwMode="auto">
              <a:xfrm>
                <a:off x="144" y="2549"/>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28" name="Line 38"/>
              <p:cNvSpPr>
                <a:spLocks noChangeShapeType="1"/>
              </p:cNvSpPr>
              <p:nvPr/>
            </p:nvSpPr>
            <p:spPr bwMode="auto">
              <a:xfrm>
                <a:off x="144" y="318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29" name="Line 39"/>
              <p:cNvSpPr>
                <a:spLocks noChangeShapeType="1"/>
              </p:cNvSpPr>
              <p:nvPr/>
            </p:nvSpPr>
            <p:spPr bwMode="auto">
              <a:xfrm>
                <a:off x="1180" y="2557"/>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0" name="Line 40"/>
              <p:cNvSpPr>
                <a:spLocks noChangeShapeType="1"/>
              </p:cNvSpPr>
              <p:nvPr/>
            </p:nvSpPr>
            <p:spPr bwMode="auto">
              <a:xfrm>
                <a:off x="2220" y="2557"/>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1" name="Line 41"/>
              <p:cNvSpPr>
                <a:spLocks noChangeShapeType="1"/>
              </p:cNvSpPr>
              <p:nvPr/>
            </p:nvSpPr>
            <p:spPr bwMode="auto">
              <a:xfrm>
                <a:off x="3252" y="256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2" name="Line 42"/>
              <p:cNvSpPr>
                <a:spLocks noChangeShapeType="1"/>
              </p:cNvSpPr>
              <p:nvPr/>
            </p:nvSpPr>
            <p:spPr bwMode="auto">
              <a:xfrm>
                <a:off x="4300" y="2565"/>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3" name="Line 43"/>
              <p:cNvSpPr>
                <a:spLocks noChangeShapeType="1"/>
              </p:cNvSpPr>
              <p:nvPr/>
            </p:nvSpPr>
            <p:spPr bwMode="auto">
              <a:xfrm>
                <a:off x="1184" y="318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4" name="Line 44"/>
              <p:cNvSpPr>
                <a:spLocks noChangeShapeType="1"/>
              </p:cNvSpPr>
              <p:nvPr/>
            </p:nvSpPr>
            <p:spPr bwMode="auto">
              <a:xfrm>
                <a:off x="2224" y="318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5" name="Line 45"/>
              <p:cNvSpPr>
                <a:spLocks noChangeShapeType="1"/>
              </p:cNvSpPr>
              <p:nvPr/>
            </p:nvSpPr>
            <p:spPr bwMode="auto">
              <a:xfrm>
                <a:off x="3256" y="3185"/>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0036" name="Text Box 46"/>
              <p:cNvSpPr txBox="1">
                <a:spLocks noChangeArrowheads="1"/>
              </p:cNvSpPr>
              <p:nvPr/>
            </p:nvSpPr>
            <p:spPr bwMode="auto">
              <a:xfrm>
                <a:off x="102" y="2352"/>
                <a:ext cx="20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170037" name="Text Box 47"/>
              <p:cNvSpPr txBox="1">
                <a:spLocks noChangeArrowheads="1"/>
              </p:cNvSpPr>
              <p:nvPr/>
            </p:nvSpPr>
            <p:spPr bwMode="auto">
              <a:xfrm>
                <a:off x="92" y="2985"/>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B</a:t>
                </a:r>
              </a:p>
            </p:txBody>
          </p:sp>
        </p:grpSp>
      </p:grpSp>
      <p:sp>
        <p:nvSpPr>
          <p:cNvPr id="169987" name="Rectangle 1044"/>
          <p:cNvSpPr>
            <a:spLocks noChangeArrowheads="1"/>
          </p:cNvSpPr>
          <p:nvPr/>
        </p:nvSpPr>
        <p:spPr bwMode="auto">
          <a:xfrm>
            <a:off x="23813" y="1055688"/>
            <a:ext cx="4445000" cy="1323975"/>
          </a:xfrm>
          <a:prstGeom prst="rect">
            <a:avLst/>
          </a:prstGeom>
          <a:noFill/>
          <a:ln>
            <a:solidFill>
              <a:schemeClr val="bg2">
                <a:lumMod val="40000"/>
                <a:lumOff val="60000"/>
              </a:schemeClr>
            </a:solid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顺序存储结构存在问题</a:t>
            </a:r>
            <a:endParaRPr kumimoji="0" lang="en-US"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1" fontAlgn="base" latinLnBrk="0" hangingPunct="1">
              <a:lnSpc>
                <a:spcPct val="100000"/>
              </a:lnSpc>
              <a:spcBef>
                <a:spcPct val="5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存储空间分配不灵活</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1" fontAlgn="base" latinLnBrk="0" hangingPunct="1">
              <a:lnSpc>
                <a:spcPct val="100000"/>
              </a:lnSpc>
              <a:spcBef>
                <a:spcPct val="5000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运算的空间复杂度高</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177156" name="Picture 2" descr="http://p8.qhimg.com/t01fd6029fbad6d07a4.jpg"/>
          <p:cNvPicPr>
            <a:picLocks noChangeAspect="1" noChangeArrowheads="1"/>
          </p:cNvPicPr>
          <p:nvPr/>
        </p:nvPicPr>
        <p:blipFill>
          <a:blip r:embed="rId2"/>
          <a:srcRect/>
          <a:stretch>
            <a:fillRect/>
          </a:stretch>
        </p:blipFill>
        <p:spPr bwMode="auto">
          <a:xfrm>
            <a:off x="3465513" y="1055688"/>
            <a:ext cx="1055688" cy="1323975"/>
          </a:xfrm>
          <a:prstGeom prst="rect">
            <a:avLst/>
          </a:prstGeom>
          <a:noFill/>
          <a:ln w="9525">
            <a:solidFill>
              <a:schemeClr val="bg2">
                <a:lumMod val="40000"/>
                <a:lumOff val="60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169991" name="Rectangle 8"/>
          <p:cNvSpPr>
            <a:spLocks noChangeArrowheads="1"/>
          </p:cNvSpPr>
          <p:nvPr/>
        </p:nvSpPr>
        <p:spPr bwMode="auto">
          <a:xfrm>
            <a:off x="23813" y="2873375"/>
            <a:ext cx="4497388" cy="523875"/>
          </a:xfrm>
          <a:prstGeom prst="rect">
            <a:avLst/>
          </a:prstGeom>
          <a:solidFill>
            <a:srgbClr val="FFFFFF"/>
          </a:solidFill>
          <a:ln w="9525">
            <a:solidFill>
              <a:schemeClr val="bg2">
                <a:lumMod val="40000"/>
                <a:lumOff val="60000"/>
              </a:schemeClr>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链式存储结构</a:t>
            </a:r>
          </a:p>
        </p:txBody>
      </p:sp>
      <p:sp>
        <p:nvSpPr>
          <p:cNvPr id="60" name="Text Box 3"/>
          <p:cNvSpPr txBox="1">
            <a:spLocks noChangeArrowheads="1"/>
          </p:cNvSpPr>
          <p:nvPr/>
        </p:nvSpPr>
        <p:spPr bwMode="auto">
          <a:xfrm>
            <a:off x="5200650" y="998538"/>
            <a:ext cx="3943350" cy="2462213"/>
          </a:xfrm>
          <a:prstGeom prst="rect">
            <a:avLst/>
          </a:prstGeom>
          <a:solidFill>
            <a:srgbClr val="F6F6F6"/>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PNode</a:t>
            </a:r>
            <a:endPar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float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coef</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系数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int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expn</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指数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PNode</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*next;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指针域</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PNode</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,*Polynomial;  </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78184" name="Rectangle 154"/>
          <p:cNvSpPr txBox="1"/>
          <p:nvPr/>
        </p:nvSpPr>
        <p:spPr>
          <a:xfrm>
            <a:off x="858838" y="160338"/>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sz="2800" dirty="0">
                <a:solidFill>
                  <a:schemeClr val="bg1"/>
                </a:solidFill>
                <a:sym typeface="+mn-lt"/>
              </a:rPr>
              <a:t>案例</a:t>
            </a:r>
            <a:r>
              <a:rPr lang="en-US" altLang="zh-CN" sz="2800" dirty="0">
                <a:solidFill>
                  <a:schemeClr val="bg1"/>
                </a:solidFill>
                <a:sym typeface="+mn-lt"/>
              </a:rPr>
              <a:t>2.2 </a:t>
            </a:r>
            <a:r>
              <a:rPr lang="zh-CN" altLang="en-US" sz="2800" dirty="0">
                <a:solidFill>
                  <a:schemeClr val="bg1"/>
                </a:solidFill>
                <a:sym typeface="+mn-lt"/>
              </a:rPr>
              <a:t>：稀疏多项式的运算</a:t>
            </a:r>
          </a:p>
        </p:txBody>
      </p:sp>
      <p:cxnSp>
        <p:nvCxnSpPr>
          <p:cNvPr id="178185" name="直接连接符 5"/>
          <p:cNvCxnSpPr/>
          <p:nvPr/>
        </p:nvCxnSpPr>
        <p:spPr>
          <a:xfrm>
            <a:off x="23813" y="3789363"/>
            <a:ext cx="9120187" cy="0"/>
          </a:xfrm>
          <a:prstGeom prst="line">
            <a:avLst/>
          </a:prstGeom>
          <a:ln w="9525" cap="flat" cmpd="sng">
            <a:solidFill>
              <a:srgbClr val="0000FF"/>
            </a:solidFill>
            <a:prstDash val="solid"/>
            <a:headEnd type="none" w="med" len="med"/>
            <a:tailEnd type="none" w="med" len="med"/>
          </a:ln>
        </p:spPr>
      </p:cxnSp>
      <p:cxnSp>
        <p:nvCxnSpPr>
          <p:cNvPr id="58" name="直接连接符 57"/>
          <p:cNvCxnSpPr/>
          <p:nvPr/>
        </p:nvCxnSpPr>
        <p:spPr>
          <a:xfrm>
            <a:off x="0" y="6669088"/>
            <a:ext cx="9144000" cy="0"/>
          </a:xfrm>
          <a:prstGeom prst="line">
            <a:avLst/>
          </a:prstGeom>
          <a:ln w="9525" cap="flat" cmpd="sng">
            <a:solidFill>
              <a:srgbClr val="0000FF"/>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ox(in)">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in)">
                                      <p:cBhvr>
                                        <p:cTn id="12" dur="2000"/>
                                        <p:tgtEl>
                                          <p:spTgt spid="3"/>
                                        </p:tgtEl>
                                      </p:cBhvr>
                                    </p:animEffect>
                                  </p:childTnLst>
                                </p:cTn>
                              </p:par>
                            </p:childTnLst>
                          </p:cTn>
                        </p:par>
                        <p:par>
                          <p:cTn id="13" fill="hold">
                            <p:stCondLst>
                              <p:cond delay="2000"/>
                            </p:stCondLst>
                            <p:childTnLst>
                              <p:par>
                                <p:cTn id="14" presetID="10" presetClass="entr" presetSubtype="0" fill="hold" nodeType="after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1011" name="Rectangle 8"/>
          <p:cNvSpPr>
            <a:spLocks noChangeArrowheads="1"/>
          </p:cNvSpPr>
          <p:nvPr/>
        </p:nvSpPr>
        <p:spPr bwMode="auto">
          <a:xfrm>
            <a:off x="900113" y="142875"/>
            <a:ext cx="7210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多项式创建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5" name="Rectangle 24"/>
          <p:cNvSpPr/>
          <p:nvPr/>
        </p:nvSpPr>
        <p:spPr bwMode="auto">
          <a:xfrm>
            <a:off x="1174750" y="4437063"/>
            <a:ext cx="63055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342900" marR="0" lvl="0" indent="-342900" algn="l" defTabSz="914400" rtl="0" eaLnBrk="1" fontAlgn="base" latinLnBrk="0" hangingPunct="1">
              <a:lnSpc>
                <a:spcPct val="125000"/>
              </a:lnSpc>
              <a:spcBef>
                <a:spcPct val="0"/>
              </a:spcBef>
              <a:spcAft>
                <a:spcPct val="0"/>
              </a:spcAft>
              <a:buClr>
                <a:srgbClr val="FFC000"/>
              </a:buClr>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指针</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q</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初始化，指向首元结点；</a:t>
            </a:r>
          </a:p>
        </p:txBody>
      </p:sp>
      <p:grpSp>
        <p:nvGrpSpPr>
          <p:cNvPr id="3" name="组合 2"/>
          <p:cNvGrpSpPr/>
          <p:nvPr/>
        </p:nvGrpSpPr>
        <p:grpSpPr>
          <a:xfrm>
            <a:off x="1157288" y="2247900"/>
            <a:ext cx="6681787" cy="460375"/>
            <a:chOff x="1157288" y="2247900"/>
            <a:chExt cx="6681787" cy="460375"/>
          </a:xfrm>
        </p:grpSpPr>
        <p:sp>
          <p:nvSpPr>
            <p:cNvPr id="6" name="Rectangle 9"/>
            <p:cNvSpPr/>
            <p:nvPr/>
          </p:nvSpPr>
          <p:spPr bwMode="auto">
            <a:xfrm>
              <a:off x="1157288" y="2247900"/>
              <a:ext cx="38846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342900" marR="0" lvl="0" indent="-342900" algn="l" defTabSz="914400" rtl="0" eaLnBrk="1" fontAlgn="base" latinLnBrk="0" hangingPunct="1">
                <a:lnSpc>
                  <a:spcPct val="125000"/>
                </a:lnSpc>
                <a:spcBef>
                  <a:spcPct val="0"/>
                </a:spcBef>
                <a:spcAft>
                  <a:spcPct val="0"/>
                </a:spcAft>
                <a:buClr>
                  <a:srgbClr val="FFC000"/>
                </a:buClr>
                <a:buSzTx/>
                <a:buFont typeface="Wingdings" panose="05000000000000000000" pitchFamily="2" charset="2"/>
                <a:buChar char="n"/>
                <a:defRPr/>
              </a:pPr>
              <a:r>
                <a:rPr kumimoji="0" lang="zh-CN" altLang="en-US"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生成一个新结点*</a:t>
              </a:r>
              <a:r>
                <a:rPr kumimoji="0" lang="en-US" altLang="zh-CN" sz="24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s</a:t>
              </a:r>
            </a:p>
          </p:txBody>
        </p:sp>
        <p:sp>
          <p:nvSpPr>
            <p:cNvPr id="17" name="Line 26"/>
            <p:cNvSpPr>
              <a:spLocks noChangeShapeType="1"/>
            </p:cNvSpPr>
            <p:nvPr/>
          </p:nvSpPr>
          <p:spPr bwMode="auto">
            <a:xfrm>
              <a:off x="1157288" y="2708275"/>
              <a:ext cx="6681787" cy="0"/>
            </a:xfrm>
            <a:prstGeom prst="line">
              <a:avLst/>
            </a:prstGeom>
            <a:noFill/>
            <a:ln w="12700" cap="rnd">
              <a:solidFill>
                <a:srgbClr val="A0AAB4"/>
              </a:solidFill>
              <a:prstDash val="sysDot"/>
              <a:miter lim="800000"/>
            </a:ln>
            <a:extLst>
              <a:ext uri="{909E8E84-426E-40DD-AFC4-6F175D3DCCD1}">
                <a14:hiddenFill xmlns:a14="http://schemas.microsoft.com/office/drawing/2010/main">
                  <a:noFill/>
                </a14:hiddenFill>
              </a:ext>
            </a:extLst>
          </p:spPr>
          <p:txBody>
            <a:bodyPr lIns="0" tIns="0" rIns="0" bIns="0"/>
            <a:lstStyle/>
            <a:p>
              <a:pPr marL="457200" marR="0" lvl="0" indent="-457200" algn="l" defTabSz="914400" rtl="0" eaLnBrk="0" fontAlgn="base" latinLnBrk="0" hangingPunct="0">
                <a:lnSpc>
                  <a:spcPct val="100000"/>
                </a:lnSpc>
                <a:spcBef>
                  <a:spcPct val="0"/>
                </a:spcBef>
                <a:spcAft>
                  <a:spcPct val="0"/>
                </a:spcAft>
                <a:buClr>
                  <a:srgbClr val="FFC000"/>
                </a:buClr>
                <a:buSzTx/>
                <a:buFont typeface="Wingdings" panose="05000000000000000000" pitchFamily="2" charset="2"/>
                <a:buChar char="n"/>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ea"/>
                <a:sym typeface="+mn-lt"/>
              </a:endParaRPr>
            </a:p>
          </p:txBody>
        </p:sp>
      </p:grpSp>
      <p:grpSp>
        <p:nvGrpSpPr>
          <p:cNvPr id="8" name="组合 7"/>
          <p:cNvGrpSpPr/>
          <p:nvPr/>
        </p:nvGrpSpPr>
        <p:grpSpPr>
          <a:xfrm>
            <a:off x="468313" y="1557338"/>
            <a:ext cx="8424862" cy="661987"/>
            <a:chOff x="468162" y="1557338"/>
            <a:chExt cx="8425013" cy="661987"/>
          </a:xfrm>
        </p:grpSpPr>
        <p:sp>
          <p:nvSpPr>
            <p:cNvPr id="22" name="Rectangle 31"/>
            <p:cNvSpPr/>
            <p:nvPr/>
          </p:nvSpPr>
          <p:spPr bwMode="auto">
            <a:xfrm>
              <a:off x="1311139" y="1557338"/>
              <a:ext cx="7582036"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根据多项式的项的个数</a:t>
              </a:r>
              <a:r>
                <a:rPr kumimoji="0" lang="en-US" altLang="zh-CN"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n</a:t>
              </a:r>
              <a:r>
                <a:rPr kumimoji="0" lang="zh-CN" altLang="en-US"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，循环</a:t>
              </a:r>
              <a:r>
                <a:rPr kumimoji="0" lang="en-US" altLang="zh-CN"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n</a:t>
              </a:r>
              <a:r>
                <a:rPr kumimoji="0" lang="zh-CN" altLang="en-US"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次执行以下操作：</a:t>
              </a:r>
              <a:endParaRPr kumimoji="0" lang="en-US" altLang="zh-CN"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endParaRPr>
            </a:p>
          </p:txBody>
        </p:sp>
        <p:grpSp>
          <p:nvGrpSpPr>
            <p:cNvPr id="23" name="Group 32"/>
            <p:cNvGrpSpPr/>
            <p:nvPr/>
          </p:nvGrpSpPr>
          <p:grpSpPr bwMode="auto">
            <a:xfrm>
              <a:off x="468162" y="1638190"/>
              <a:ext cx="552998" cy="552998"/>
              <a:chOff x="0" y="0"/>
              <a:chExt cx="336" cy="336"/>
            </a:xfrm>
            <a:solidFill>
              <a:srgbClr val="0000FF"/>
            </a:solidFill>
          </p:grpSpPr>
          <p:sp>
            <p:nvSpPr>
              <p:cNvPr id="24" name="Oval 33"/>
              <p:cNvSpPr/>
              <p:nvPr/>
            </p:nvSpPr>
            <p:spPr bwMode="auto">
              <a:xfrm>
                <a:off x="0" y="0"/>
                <a:ext cx="336" cy="336"/>
              </a:xfrm>
              <a:prstGeom prst="ellipse">
                <a:avLst/>
              </a:prstGeom>
              <a:grp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5" name="Rectangle 34"/>
              <p:cNvSpPr/>
              <p:nvPr/>
            </p:nvSpPr>
            <p:spPr bwMode="auto">
              <a:xfrm>
                <a:off x="92" y="24"/>
                <a:ext cx="144" cy="256"/>
              </a:xfrm>
              <a:prstGeom prst="rect">
                <a:avLst/>
              </a:prstGeom>
              <a:grpFill/>
              <a:ln>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2</a:t>
                </a:r>
              </a:p>
            </p:txBody>
          </p:sp>
        </p:grpSp>
      </p:grpSp>
      <p:sp>
        <p:nvSpPr>
          <p:cNvPr id="32" name="Rectangle 24"/>
          <p:cNvSpPr/>
          <p:nvPr/>
        </p:nvSpPr>
        <p:spPr bwMode="auto">
          <a:xfrm>
            <a:off x="1157288" y="6121400"/>
            <a:ext cx="668178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342900" marR="0" lvl="0" indent="-342900" algn="l" defTabSz="914400" rtl="0" eaLnBrk="1" fontAlgn="base" latinLnBrk="0" hangingPunct="1">
              <a:lnSpc>
                <a:spcPct val="125000"/>
              </a:lnSpc>
              <a:spcBef>
                <a:spcPct val="0"/>
              </a:spcBef>
              <a:spcAft>
                <a:spcPct val="0"/>
              </a:spcAft>
              <a:buClr>
                <a:srgbClr val="FFC000"/>
              </a:buClr>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将输入项结点*</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插入到结点*</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q</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之前。</a:t>
            </a:r>
          </a:p>
        </p:txBody>
      </p:sp>
      <p:grpSp>
        <p:nvGrpSpPr>
          <p:cNvPr id="7" name="组合 6"/>
          <p:cNvGrpSpPr/>
          <p:nvPr/>
        </p:nvGrpSpPr>
        <p:grpSpPr>
          <a:xfrm>
            <a:off x="458788" y="981075"/>
            <a:ext cx="5386387" cy="557213"/>
            <a:chOff x="458806" y="980728"/>
            <a:chExt cx="5386369" cy="557560"/>
          </a:xfrm>
        </p:grpSpPr>
        <p:grpSp>
          <p:nvGrpSpPr>
            <p:cNvPr id="19" name="Group 28"/>
            <p:cNvGrpSpPr/>
            <p:nvPr/>
          </p:nvGrpSpPr>
          <p:grpSpPr bwMode="auto">
            <a:xfrm>
              <a:off x="458806" y="980728"/>
              <a:ext cx="552998" cy="552998"/>
              <a:chOff x="0" y="0"/>
              <a:chExt cx="336" cy="336"/>
            </a:xfrm>
            <a:solidFill>
              <a:srgbClr val="9476B6"/>
            </a:solidFill>
          </p:grpSpPr>
          <p:sp>
            <p:nvSpPr>
              <p:cNvPr id="20" name="Oval 29"/>
              <p:cNvSpPr/>
              <p:nvPr/>
            </p:nvSpPr>
            <p:spPr bwMode="auto">
              <a:xfrm>
                <a:off x="0" y="0"/>
                <a:ext cx="336" cy="336"/>
              </a:xfrm>
              <a:prstGeom prst="ellipse">
                <a:avLst/>
              </a:prstGeom>
              <a:grp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1" name="Rectangle 30"/>
              <p:cNvSpPr/>
              <p:nvPr/>
            </p:nvSpPr>
            <p:spPr bwMode="auto">
              <a:xfrm>
                <a:off x="92" y="24"/>
                <a:ext cx="144" cy="256"/>
              </a:xfrm>
              <a:prstGeom prst="rect">
                <a:avLst/>
              </a:prstGeom>
              <a:grpFill/>
              <a:ln>
                <a:noFill/>
              </a:ln>
              <a:extLs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mn-lt"/>
                    <a:ea typeface="+mn-ea"/>
                    <a:cs typeface="+mn-ea"/>
                    <a:sym typeface="+mn-lt"/>
                  </a:rPr>
                  <a:t>1</a:t>
                </a:r>
              </a:p>
            </p:txBody>
          </p:sp>
        </p:grpSp>
        <p:sp>
          <p:nvSpPr>
            <p:cNvPr id="2" name="矩形 1"/>
            <p:cNvSpPr/>
            <p:nvPr/>
          </p:nvSpPr>
          <p:spPr>
            <a:xfrm>
              <a:off x="1157304" y="991848"/>
              <a:ext cx="4687871" cy="546440"/>
            </a:xfrm>
            <a:prstGeom prst="rect">
              <a:avLst/>
            </a:prstGeom>
          </p:spPr>
          <p:txBody>
            <a:bodyPr>
              <a:spAutoFit/>
            </a:body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600" b="0" i="0" u="none" strike="noStrike" kern="1200" cap="none" spc="0" normalizeH="0" baseline="0" noProof="0" dirty="0">
                  <a:ln>
                    <a:noFill/>
                  </a:ln>
                  <a:solidFill>
                    <a:schemeClr val="tx1">
                      <a:lumMod val="95000"/>
                      <a:lumOff val="5000"/>
                    </a:schemeClr>
                  </a:solidFill>
                  <a:effectLst/>
                  <a:uLnTx/>
                  <a:uFillTx/>
                  <a:latin typeface="+mn-lt"/>
                  <a:ea typeface="+mn-ea"/>
                  <a:cs typeface="+mn-ea"/>
                  <a:sym typeface="+mn-lt"/>
                </a:rPr>
                <a:t>创建一个只有头结点的空链表。</a:t>
              </a:r>
            </a:p>
          </p:txBody>
        </p:sp>
      </p:grpSp>
      <p:grpSp>
        <p:nvGrpSpPr>
          <p:cNvPr id="4" name="组合 3"/>
          <p:cNvGrpSpPr/>
          <p:nvPr/>
        </p:nvGrpSpPr>
        <p:grpSpPr>
          <a:xfrm>
            <a:off x="1157288" y="2801938"/>
            <a:ext cx="7735887" cy="611187"/>
            <a:chOff x="1157288" y="2801938"/>
            <a:chExt cx="7735887" cy="611187"/>
          </a:xfrm>
        </p:grpSpPr>
        <p:sp>
          <p:nvSpPr>
            <p:cNvPr id="9" name="Rectangle 14"/>
            <p:cNvSpPr/>
            <p:nvPr/>
          </p:nvSpPr>
          <p:spPr bwMode="auto">
            <a:xfrm>
              <a:off x="1157288" y="2801938"/>
              <a:ext cx="7735887"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342900" marR="0" lvl="0" indent="-342900" algn="l" defTabSz="914400" rtl="0" eaLnBrk="1" fontAlgn="base" latinLnBrk="0" hangingPunct="1">
                <a:lnSpc>
                  <a:spcPct val="100000"/>
                </a:lnSpc>
                <a:spcBef>
                  <a:spcPct val="0"/>
                </a:spcBef>
                <a:spcAft>
                  <a:spcPct val="0"/>
                </a:spcAft>
                <a:buClr>
                  <a:srgbClr val="FFC000"/>
                </a:buClr>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输入多项式当前项的系数和指数赋给新结点*</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的数据域；</a:t>
              </a:r>
            </a:p>
          </p:txBody>
        </p:sp>
        <p:sp>
          <p:nvSpPr>
            <p:cNvPr id="35" name="Line 26"/>
            <p:cNvSpPr>
              <a:spLocks noChangeShapeType="1"/>
            </p:cNvSpPr>
            <p:nvPr/>
          </p:nvSpPr>
          <p:spPr bwMode="auto">
            <a:xfrm>
              <a:off x="1220788" y="3357563"/>
              <a:ext cx="7672387" cy="55562"/>
            </a:xfrm>
            <a:prstGeom prst="line">
              <a:avLst/>
            </a:prstGeom>
            <a:noFill/>
            <a:ln w="12700" cap="rnd">
              <a:solidFill>
                <a:srgbClr val="A0AAB4"/>
              </a:solidFill>
              <a:prstDash val="sysDot"/>
              <a:miter lim="800000"/>
            </a:ln>
            <a:extLst>
              <a:ext uri="{909E8E84-426E-40DD-AFC4-6F175D3DCCD1}">
                <a14:hiddenFill xmlns:a14="http://schemas.microsoft.com/office/drawing/2010/main">
                  <a:noFill/>
                </a14:hiddenFill>
              </a:ext>
            </a:extLst>
          </p:spPr>
          <p:txBody>
            <a:bodyPr lIns="0" tIns="0" rIns="0" bIns="0"/>
            <a:lstStyle/>
            <a:p>
              <a:pPr marL="457200" marR="0" lvl="0" indent="-457200" algn="l" defTabSz="914400" rtl="0" eaLnBrk="0" fontAlgn="base" latinLnBrk="0" hangingPunct="0">
                <a:lnSpc>
                  <a:spcPct val="100000"/>
                </a:lnSpc>
                <a:spcBef>
                  <a:spcPct val="0"/>
                </a:spcBef>
                <a:spcAft>
                  <a:spcPct val="0"/>
                </a:spcAft>
                <a:buClr>
                  <a:srgbClr val="FFC000"/>
                </a:buClr>
                <a:buSzTx/>
                <a:buFont typeface="Wingdings" panose="05000000000000000000" pitchFamily="2" charset="2"/>
                <a:buChar char="n"/>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ea"/>
                <a:sym typeface="+mn-lt"/>
              </a:endParaRPr>
            </a:p>
          </p:txBody>
        </p:sp>
      </p:grpSp>
      <p:grpSp>
        <p:nvGrpSpPr>
          <p:cNvPr id="10" name="组合 9"/>
          <p:cNvGrpSpPr/>
          <p:nvPr/>
        </p:nvGrpSpPr>
        <p:grpSpPr>
          <a:xfrm>
            <a:off x="1174750" y="3429000"/>
            <a:ext cx="7718425" cy="935038"/>
            <a:chOff x="1174750" y="3429000"/>
            <a:chExt cx="7718425" cy="935831"/>
          </a:xfrm>
        </p:grpSpPr>
        <p:sp>
          <p:nvSpPr>
            <p:cNvPr id="12" name="Rectangle 19"/>
            <p:cNvSpPr/>
            <p:nvPr/>
          </p:nvSpPr>
          <p:spPr bwMode="auto">
            <a:xfrm>
              <a:off x="1174750" y="3429000"/>
              <a:ext cx="7718425" cy="92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342900" marR="0" lvl="0" indent="-342900" algn="l" defTabSz="914400" rtl="0" eaLnBrk="1" fontAlgn="base" latinLnBrk="0" hangingPunct="1">
                <a:lnSpc>
                  <a:spcPct val="100000"/>
                </a:lnSpc>
                <a:spcBef>
                  <a:spcPct val="0"/>
                </a:spcBef>
                <a:spcAft>
                  <a:spcPct val="0"/>
                </a:spcAft>
                <a:buClr>
                  <a:srgbClr val="FFC000"/>
                </a:buClr>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设置一前驱指针</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pre</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，用于指向待找到的第一个大于输入项指数的结点的前驱，</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pre</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初值指向头结点；</a:t>
              </a:r>
            </a:p>
          </p:txBody>
        </p:sp>
        <p:sp>
          <p:nvSpPr>
            <p:cNvPr id="37" name="Line 26"/>
            <p:cNvSpPr>
              <a:spLocks noChangeShapeType="1"/>
            </p:cNvSpPr>
            <p:nvPr/>
          </p:nvSpPr>
          <p:spPr bwMode="auto">
            <a:xfrm flipV="1">
              <a:off x="1174750" y="4340998"/>
              <a:ext cx="7718425" cy="23833"/>
            </a:xfrm>
            <a:prstGeom prst="line">
              <a:avLst/>
            </a:prstGeom>
            <a:noFill/>
            <a:ln w="12700" cap="rnd">
              <a:solidFill>
                <a:srgbClr val="A0AAB4"/>
              </a:solidFill>
              <a:prstDash val="sysDot"/>
              <a:miter lim="800000"/>
            </a:ln>
            <a:extLst>
              <a:ext uri="{909E8E84-426E-40DD-AFC4-6F175D3DCCD1}">
                <a14:hiddenFill xmlns:a14="http://schemas.microsoft.com/office/drawing/2010/main">
                  <a:noFill/>
                </a14:hiddenFill>
              </a:ext>
            </a:extLst>
          </p:spPr>
          <p:txBody>
            <a:bodyPr lIns="0" tIns="0" rIns="0" bIns="0"/>
            <a:lstStyle/>
            <a:p>
              <a:pPr marL="457200" marR="0" lvl="0" indent="-457200" algn="l" defTabSz="914400" rtl="0" eaLnBrk="0" fontAlgn="base" latinLnBrk="0" hangingPunct="0">
                <a:lnSpc>
                  <a:spcPct val="100000"/>
                </a:lnSpc>
                <a:spcBef>
                  <a:spcPct val="0"/>
                </a:spcBef>
                <a:spcAft>
                  <a:spcPct val="0"/>
                </a:spcAft>
                <a:buClr>
                  <a:srgbClr val="FFC000"/>
                </a:buClr>
                <a:buSzTx/>
                <a:buFont typeface="Wingdings" panose="05000000000000000000" pitchFamily="2" charset="2"/>
                <a:buChar char="n"/>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ea"/>
                <a:sym typeface="+mn-lt"/>
              </a:endParaRPr>
            </a:p>
          </p:txBody>
        </p:sp>
      </p:grpSp>
      <p:grpSp>
        <p:nvGrpSpPr>
          <p:cNvPr id="5" name="组合 4"/>
          <p:cNvGrpSpPr/>
          <p:nvPr/>
        </p:nvGrpSpPr>
        <p:grpSpPr>
          <a:xfrm>
            <a:off x="1157288" y="5084763"/>
            <a:ext cx="7735887" cy="1065212"/>
            <a:chOff x="1157288" y="5084763"/>
            <a:chExt cx="7735887" cy="1065212"/>
          </a:xfrm>
        </p:grpSpPr>
        <p:sp>
          <p:nvSpPr>
            <p:cNvPr id="29" name="Rectangle 19"/>
            <p:cNvSpPr/>
            <p:nvPr/>
          </p:nvSpPr>
          <p:spPr bwMode="auto">
            <a:xfrm>
              <a:off x="1174750" y="5200650"/>
              <a:ext cx="77184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lgn="ctr" eaLnBrk="0" hangingPunct="0">
                <a:defRPr sz="2100">
                  <a:solidFill>
                    <a:srgbClr val="000000"/>
                  </a:solidFill>
                  <a:latin typeface="Gill Sans"/>
                  <a:ea typeface="ヒラギノ角ゴ ProN W3"/>
                  <a:cs typeface="ヒラギノ角ゴ ProN W3"/>
                  <a:sym typeface="Gill Sans"/>
                </a:defRPr>
              </a:lvl1pPr>
              <a:lvl2pPr marL="742950" indent="-285750" algn="ctr" eaLnBrk="0" hangingPunct="0">
                <a:defRPr sz="2100">
                  <a:solidFill>
                    <a:srgbClr val="000000"/>
                  </a:solidFill>
                  <a:latin typeface="Gill Sans"/>
                  <a:ea typeface="ヒラギノ角ゴ ProN W3"/>
                  <a:cs typeface="ヒラギノ角ゴ ProN W3"/>
                  <a:sym typeface="Gill Sans"/>
                </a:defRPr>
              </a:lvl2pPr>
              <a:lvl3pPr marL="1143000" indent="-228600" algn="ctr" eaLnBrk="0" hangingPunct="0">
                <a:defRPr sz="2100">
                  <a:solidFill>
                    <a:srgbClr val="000000"/>
                  </a:solidFill>
                  <a:latin typeface="Gill Sans"/>
                  <a:ea typeface="ヒラギノ角ゴ ProN W3"/>
                  <a:cs typeface="ヒラギノ角ゴ ProN W3"/>
                  <a:sym typeface="Gill Sans"/>
                </a:defRPr>
              </a:lvl3pPr>
              <a:lvl4pPr marL="1600200" indent="-228600" algn="ctr" eaLnBrk="0" hangingPunct="0">
                <a:defRPr sz="2100">
                  <a:solidFill>
                    <a:srgbClr val="000000"/>
                  </a:solidFill>
                  <a:latin typeface="Gill Sans"/>
                  <a:ea typeface="ヒラギノ角ゴ ProN W3"/>
                  <a:cs typeface="ヒラギノ角ゴ ProN W3"/>
                  <a:sym typeface="Gill Sans"/>
                </a:defRPr>
              </a:lvl4pPr>
              <a:lvl5pPr marL="2057400" indent="-228600" algn="ctr" eaLnBrk="0" hangingPunct="0">
                <a:defRPr sz="2100">
                  <a:solidFill>
                    <a:srgbClr val="000000"/>
                  </a:solidFill>
                  <a:latin typeface="Gill Sans"/>
                  <a:ea typeface="ヒラギノ角ゴ ProN W3"/>
                  <a:cs typeface="ヒラギノ角ゴ ProN W3"/>
                  <a:sym typeface="Gill Sans"/>
                </a:defRPr>
              </a:lvl5pPr>
              <a:lvl6pPr marL="25146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6pPr>
              <a:lvl7pPr marL="29718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7pPr>
              <a:lvl8pPr marL="34290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8pPr>
              <a:lvl9pPr marL="3886200" indent="-228600" algn="ctr" eaLnBrk="0" fontAlgn="base" hangingPunct="0">
                <a:spcBef>
                  <a:spcPct val="0"/>
                </a:spcBef>
                <a:spcAft>
                  <a:spcPct val="0"/>
                </a:spcAft>
                <a:defRPr sz="2100">
                  <a:solidFill>
                    <a:srgbClr val="000000"/>
                  </a:solidFill>
                  <a:latin typeface="Gill Sans"/>
                  <a:ea typeface="ヒラギノ角ゴ ProN W3"/>
                  <a:cs typeface="ヒラギノ角ゴ ProN W3"/>
                  <a:sym typeface="Gill Sans"/>
                </a:defRPr>
              </a:lvl9pPr>
            </a:lstStyle>
            <a:p>
              <a:pPr marL="342900" marR="0" lvl="0" indent="-342900" algn="l" defTabSz="914400" rtl="0" eaLnBrk="1" fontAlgn="base" latinLnBrk="0" hangingPunct="1">
                <a:lnSpc>
                  <a:spcPct val="100000"/>
                </a:lnSpc>
                <a:spcBef>
                  <a:spcPct val="0"/>
                </a:spcBef>
                <a:spcAft>
                  <a:spcPct val="0"/>
                </a:spcAft>
                <a:buClr>
                  <a:srgbClr val="FFC000"/>
                </a:buClr>
                <a:buSzTx/>
                <a:buFont typeface="Wingdings" panose="05000000000000000000" pitchFamily="2" charset="2"/>
                <a:buChar char="n"/>
                <a:defRPr/>
              </a:pP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循链向下逐个比较链表中当前结点与输入项指数，找到第一个大于输入项指数的结点*</a:t>
              </a:r>
              <a:r>
                <a:rPr kumimoji="0" lang="en-US" altLang="zh-CN" sz="2400" b="0" i="0" u="none" strike="noStrike" kern="1200" cap="none" spc="0" normalizeH="0" baseline="0" noProof="0" dirty="0">
                  <a:ln>
                    <a:noFill/>
                  </a:ln>
                  <a:solidFill>
                    <a:srgbClr val="1E2832"/>
                  </a:solidFill>
                  <a:effectLst/>
                  <a:uLnTx/>
                  <a:uFillTx/>
                  <a:latin typeface="+mn-lt"/>
                  <a:ea typeface="+mn-ea"/>
                  <a:cs typeface="+mn-ea"/>
                  <a:sym typeface="+mn-lt"/>
                </a:rPr>
                <a:t>q</a:t>
              </a:r>
              <a:r>
                <a:rPr kumimoji="0" lang="zh-CN" altLang="en-US" sz="2400" b="0" i="0" u="none" strike="noStrike" kern="1200" cap="none" spc="0" normalizeH="0" baseline="0" noProof="0" dirty="0">
                  <a:ln>
                    <a:noFill/>
                  </a:ln>
                  <a:solidFill>
                    <a:srgbClr val="1E2832"/>
                  </a:solidFill>
                  <a:effectLst/>
                  <a:uLnTx/>
                  <a:uFillTx/>
                  <a:latin typeface="+mn-lt"/>
                  <a:ea typeface="+mn-ea"/>
                  <a:cs typeface="+mn-ea"/>
                  <a:sym typeface="+mn-lt"/>
                </a:rPr>
                <a:t>；</a:t>
              </a:r>
            </a:p>
          </p:txBody>
        </p:sp>
        <p:sp>
          <p:nvSpPr>
            <p:cNvPr id="39" name="Line 26"/>
            <p:cNvSpPr>
              <a:spLocks noChangeShapeType="1"/>
            </p:cNvSpPr>
            <p:nvPr/>
          </p:nvSpPr>
          <p:spPr bwMode="auto">
            <a:xfrm>
              <a:off x="1174750" y="5084763"/>
              <a:ext cx="7718425" cy="19050"/>
            </a:xfrm>
            <a:prstGeom prst="line">
              <a:avLst/>
            </a:prstGeom>
            <a:noFill/>
            <a:ln w="12700" cap="rnd">
              <a:solidFill>
                <a:srgbClr val="A0AAB4"/>
              </a:solidFill>
              <a:prstDash val="sysDot"/>
              <a:miter lim="800000"/>
            </a:ln>
            <a:extLst>
              <a:ext uri="{909E8E84-426E-40DD-AFC4-6F175D3DCCD1}">
                <a14:hiddenFill xmlns:a14="http://schemas.microsoft.com/office/drawing/2010/main">
                  <a:noFill/>
                </a14:hiddenFill>
              </a:ext>
            </a:extLst>
          </p:spPr>
          <p:txBody>
            <a:bodyPr lIns="0" tIns="0" rIns="0" bIns="0"/>
            <a:lstStyle/>
            <a:p>
              <a:pPr marL="457200" marR="0" lvl="0" indent="-457200" algn="l" defTabSz="914400" rtl="0" eaLnBrk="0" fontAlgn="base" latinLnBrk="0" hangingPunct="0">
                <a:lnSpc>
                  <a:spcPct val="100000"/>
                </a:lnSpc>
                <a:spcBef>
                  <a:spcPct val="0"/>
                </a:spcBef>
                <a:spcAft>
                  <a:spcPct val="0"/>
                </a:spcAft>
                <a:buClr>
                  <a:srgbClr val="FFC000"/>
                </a:buClr>
                <a:buSzTx/>
                <a:buFont typeface="Wingdings" panose="05000000000000000000" pitchFamily="2" charset="2"/>
                <a:buChar char="n"/>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ea"/>
                <a:sym typeface="+mn-lt"/>
              </a:endParaRPr>
            </a:p>
          </p:txBody>
        </p:sp>
        <p:sp>
          <p:nvSpPr>
            <p:cNvPr id="41" name="Line 26"/>
            <p:cNvSpPr>
              <a:spLocks noChangeShapeType="1"/>
            </p:cNvSpPr>
            <p:nvPr/>
          </p:nvSpPr>
          <p:spPr bwMode="auto">
            <a:xfrm>
              <a:off x="1157288" y="6092825"/>
              <a:ext cx="7735887" cy="57150"/>
            </a:xfrm>
            <a:prstGeom prst="line">
              <a:avLst/>
            </a:prstGeom>
            <a:noFill/>
            <a:ln w="12700" cap="rnd">
              <a:solidFill>
                <a:srgbClr val="A0AAB4"/>
              </a:solidFill>
              <a:prstDash val="sysDot"/>
              <a:miter lim="800000"/>
            </a:ln>
            <a:extLst>
              <a:ext uri="{909E8E84-426E-40DD-AFC4-6F175D3DCCD1}">
                <a14:hiddenFill xmlns:a14="http://schemas.microsoft.com/office/drawing/2010/main">
                  <a:noFill/>
                </a14:hiddenFill>
              </a:ext>
            </a:extLst>
          </p:spPr>
          <p:txBody>
            <a:bodyPr lIns="0" tIns="0" rIns="0" bIns="0"/>
            <a:lstStyle/>
            <a:p>
              <a:pPr marL="457200" marR="0" lvl="0" indent="-457200" algn="l" defTabSz="914400" rtl="0" eaLnBrk="0" fontAlgn="base" latinLnBrk="0" hangingPunct="0">
                <a:lnSpc>
                  <a:spcPct val="100000"/>
                </a:lnSpc>
                <a:spcBef>
                  <a:spcPct val="0"/>
                </a:spcBef>
                <a:spcAft>
                  <a:spcPct val="0"/>
                </a:spcAft>
                <a:buClr>
                  <a:srgbClr val="FFC000"/>
                </a:buClr>
                <a:buSzTx/>
                <a:buFont typeface="Wingdings" panose="05000000000000000000" pitchFamily="2" charset="2"/>
                <a:buChar char="n"/>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2" grpId="0"/>
    </p:bldLst>
  </p:timing>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Text Box 5"/>
          <p:cNvSpPr txBox="1">
            <a:spLocks noChangeArrowheads="1"/>
          </p:cNvSpPr>
          <p:nvPr/>
        </p:nvSpPr>
        <p:spPr bwMode="auto">
          <a:xfrm>
            <a:off x="250825" y="836613"/>
            <a:ext cx="871855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CreatePolyn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(Polynomial &amp;</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P,int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n)</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输入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项的系数和指数，建立表示多项式的有序链表</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P=new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PNode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P-&gt;next=NULL;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先建立一个带头结点的单链表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for(</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=1;i&lt;=n;++</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依次输入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个非零项</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s=new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PNode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生成新结点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&gt;&gt;s-&gt;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coef</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&gt;&gt;s-&gt;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expn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输入系数和指数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pre=P;			//pre</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用于保存</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的前驱，初值为头结点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q=P-&gt;next;			//q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初始化，指向首元结点</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while(q&amp;&amp;q-&gt;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expn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&lt;s-&gt;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expn</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找到第一个大于输入项指数的项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pre=q;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q=q-&gt;next;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//while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s-&gt;next=q;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将输入项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插入到</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和其前驱结点</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pre</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之间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pre-&gt;next=s;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//for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72035" name="Rectangle 8"/>
          <p:cNvSpPr>
            <a:spLocks noChangeArrowheads="1"/>
          </p:cNvSpPr>
          <p:nvPr/>
        </p:nvSpPr>
        <p:spPr bwMode="auto">
          <a:xfrm>
            <a:off x="755650" y="158750"/>
            <a:ext cx="7210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多项式创建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6" name="矩形 5"/>
          <p:cNvSpPr/>
          <p:nvPr/>
        </p:nvSpPr>
        <p:spPr>
          <a:xfrm>
            <a:off x="0" y="6759575"/>
            <a:ext cx="9144000" cy="9842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4048125" y="6553200"/>
            <a:ext cx="5095875" cy="106363"/>
          </a:xfrm>
          <a:prstGeom prst="rect">
            <a:avLst/>
          </a:prstGeom>
          <a:solidFill>
            <a:schemeClr val="accent1">
              <a:lumMod val="40000"/>
              <a:lumOff val="6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8" name="矩形 7"/>
          <p:cNvSpPr/>
          <p:nvPr/>
        </p:nvSpPr>
        <p:spPr>
          <a:xfrm>
            <a:off x="5173663" y="6334125"/>
            <a:ext cx="3970338" cy="107950"/>
          </a:xfrm>
          <a:prstGeom prst="rect">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4" name="矩形 3"/>
          <p:cNvSpPr/>
          <p:nvPr/>
        </p:nvSpPr>
        <p:spPr bwMode="auto">
          <a:xfrm>
            <a:off x="8985250" y="1484313"/>
            <a:ext cx="71438" cy="5373688"/>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0" name="矩形 9"/>
          <p:cNvSpPr/>
          <p:nvPr/>
        </p:nvSpPr>
        <p:spPr bwMode="auto">
          <a:xfrm>
            <a:off x="8820150" y="3068638"/>
            <a:ext cx="73025" cy="3789363"/>
          </a:xfrm>
          <a:prstGeom prst="rect">
            <a:avLst/>
          </a:prstGeom>
          <a:solidFill>
            <a:schemeClr val="accent1">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 name="矩形 10"/>
          <p:cNvSpPr/>
          <p:nvPr/>
        </p:nvSpPr>
        <p:spPr bwMode="auto">
          <a:xfrm>
            <a:off x="8586788" y="4005263"/>
            <a:ext cx="73025" cy="288607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2797175"/>
            <a:ext cx="9144000" cy="345598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3" name="组合 62"/>
          <p:cNvGrpSpPr/>
          <p:nvPr/>
        </p:nvGrpSpPr>
        <p:grpSpPr>
          <a:xfrm>
            <a:off x="146050" y="1249363"/>
            <a:ext cx="8451850" cy="4927600"/>
            <a:chOff x="146050" y="1249361"/>
            <a:chExt cx="8451850" cy="4927605"/>
          </a:xfrm>
        </p:grpSpPr>
        <p:sp>
          <p:nvSpPr>
            <p:cNvPr id="173059" name="Text Box 3"/>
            <p:cNvSpPr txBox="1">
              <a:spLocks noChangeArrowheads="1"/>
            </p:cNvSpPr>
            <p:nvPr/>
          </p:nvSpPr>
          <p:spPr bwMode="auto">
            <a:xfrm>
              <a:off x="715963" y="1249361"/>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17</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(x)=7+3x+9x</a:t>
              </a:r>
              <a:r>
                <a:rPr kumimoji="0" lang="en-US" altLang="zh-CN" sz="2800" b="0" i="0" u="none" strike="noStrike" kern="1200" cap="none" spc="0" normalizeH="0" baseline="30000" noProof="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+5x</a:t>
              </a:r>
              <a:r>
                <a:rPr kumimoji="0" lang="en-US" altLang="zh-CN" sz="2800" b="0" i="0" u="none" strike="noStrike" kern="1200" cap="none" spc="0" normalizeH="0" baseline="30000" noProof="0">
                  <a:ln>
                    <a:noFill/>
                  </a:ln>
                  <a:solidFill>
                    <a:schemeClr val="tx1"/>
                  </a:solidFill>
                  <a:effectLst/>
                  <a:uLnTx/>
                  <a:uFillTx/>
                  <a:latin typeface="+mn-lt"/>
                  <a:ea typeface="+mn-ea"/>
                  <a:cs typeface="+mn-ea"/>
                  <a:sym typeface="+mn-lt"/>
                </a:rPr>
                <a:t>17</a:t>
              </a:r>
            </a:p>
          </p:txBody>
        </p:sp>
        <p:sp>
          <p:nvSpPr>
            <p:cNvPr id="173060" name="Text Box 4"/>
            <p:cNvSpPr txBox="1">
              <a:spLocks noChangeArrowheads="1"/>
            </p:cNvSpPr>
            <p:nvPr/>
          </p:nvSpPr>
          <p:spPr bwMode="auto">
            <a:xfrm>
              <a:off x="715963" y="2024062"/>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(x)=8x+22x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p>
          </p:txBody>
        </p:sp>
        <p:grpSp>
          <p:nvGrpSpPr>
            <p:cNvPr id="181255" name="Group 5"/>
            <p:cNvGrpSpPr/>
            <p:nvPr/>
          </p:nvGrpSpPr>
          <p:grpSpPr>
            <a:xfrm>
              <a:off x="146050" y="3733800"/>
              <a:ext cx="8451850" cy="1531938"/>
              <a:chOff x="92" y="2352"/>
              <a:chExt cx="5324" cy="965"/>
            </a:xfrm>
          </p:grpSpPr>
          <p:sp>
            <p:nvSpPr>
              <p:cNvPr id="173068" name="Rectangle 6" descr="深色上对角线"/>
              <p:cNvSpPr>
                <a:spLocks noChangeArrowheads="1"/>
              </p:cNvSpPr>
              <p:nvPr/>
            </p:nvSpPr>
            <p:spPr bwMode="auto">
              <a:xfrm>
                <a:off x="456" y="2417"/>
                <a:ext cx="264" cy="276"/>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69" name="Rectangle 7" descr="深色上对角线"/>
              <p:cNvSpPr>
                <a:spLocks noChangeArrowheads="1"/>
              </p:cNvSpPr>
              <p:nvPr/>
            </p:nvSpPr>
            <p:spPr bwMode="auto">
              <a:xfrm>
                <a:off x="720"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3070" name="Rectangle 8" descr="深色上对角线"/>
              <p:cNvSpPr>
                <a:spLocks noChangeArrowheads="1"/>
              </p:cNvSpPr>
              <p:nvPr/>
            </p:nvSpPr>
            <p:spPr bwMode="auto">
              <a:xfrm>
                <a:off x="99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71" name="Rectangle 9" descr="深色上对角线"/>
              <p:cNvSpPr>
                <a:spLocks noChangeArrowheads="1"/>
              </p:cNvSpPr>
              <p:nvPr/>
            </p:nvSpPr>
            <p:spPr bwMode="auto">
              <a:xfrm>
                <a:off x="1496"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3072" name="Rectangle 10" descr="深色上对角线"/>
              <p:cNvSpPr>
                <a:spLocks noChangeArrowheads="1"/>
              </p:cNvSpPr>
              <p:nvPr/>
            </p:nvSpPr>
            <p:spPr bwMode="auto">
              <a:xfrm>
                <a:off x="1760"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73073" name="Rectangle 11" descr="深色上对角线"/>
              <p:cNvSpPr>
                <a:spLocks noChangeArrowheads="1"/>
              </p:cNvSpPr>
              <p:nvPr/>
            </p:nvSpPr>
            <p:spPr bwMode="auto">
              <a:xfrm>
                <a:off x="203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74" name="Rectangle 12" descr="深色上对角线"/>
              <p:cNvSpPr>
                <a:spLocks noChangeArrowheads="1"/>
              </p:cNvSpPr>
              <p:nvPr/>
            </p:nvSpPr>
            <p:spPr bwMode="auto">
              <a:xfrm>
                <a:off x="2536"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73075" name="Rectangle 13" descr="深色上对角线"/>
              <p:cNvSpPr>
                <a:spLocks noChangeArrowheads="1"/>
              </p:cNvSpPr>
              <p:nvPr/>
            </p:nvSpPr>
            <p:spPr bwMode="auto">
              <a:xfrm>
                <a:off x="2800"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3076" name="Rectangle 14" descr="深色上对角线"/>
              <p:cNvSpPr>
                <a:spLocks noChangeArrowheads="1"/>
              </p:cNvSpPr>
              <p:nvPr/>
            </p:nvSpPr>
            <p:spPr bwMode="auto">
              <a:xfrm>
                <a:off x="307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77" name="Rectangle 15" descr="深色上对角线"/>
              <p:cNvSpPr>
                <a:spLocks noChangeArrowheads="1"/>
              </p:cNvSpPr>
              <p:nvPr/>
            </p:nvSpPr>
            <p:spPr bwMode="auto">
              <a:xfrm>
                <a:off x="3560"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3078" name="Rectangle 16" descr="深色上对角线"/>
              <p:cNvSpPr>
                <a:spLocks noChangeArrowheads="1"/>
              </p:cNvSpPr>
              <p:nvPr/>
            </p:nvSpPr>
            <p:spPr bwMode="auto">
              <a:xfrm>
                <a:off x="3824"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3079" name="Rectangle 17" descr="深色上对角线"/>
              <p:cNvSpPr>
                <a:spLocks noChangeArrowheads="1"/>
              </p:cNvSpPr>
              <p:nvPr/>
            </p:nvSpPr>
            <p:spPr bwMode="auto">
              <a:xfrm>
                <a:off x="4096"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80" name="Rectangle 18" descr="深色上对角线"/>
              <p:cNvSpPr>
                <a:spLocks noChangeArrowheads="1"/>
              </p:cNvSpPr>
              <p:nvPr/>
            </p:nvSpPr>
            <p:spPr bwMode="auto">
              <a:xfrm>
                <a:off x="4608" y="2417"/>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73081" name="Rectangle 19" descr="深色上对角线"/>
              <p:cNvSpPr>
                <a:spLocks noChangeArrowheads="1"/>
              </p:cNvSpPr>
              <p:nvPr/>
            </p:nvSpPr>
            <p:spPr bwMode="auto">
              <a:xfrm>
                <a:off x="4872"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17</a:t>
                </a:r>
              </a:p>
            </p:txBody>
          </p:sp>
          <p:sp>
            <p:nvSpPr>
              <p:cNvPr id="173082" name="Rectangle 20" descr="深色上对角线"/>
              <p:cNvSpPr>
                <a:spLocks noChangeArrowheads="1"/>
              </p:cNvSpPr>
              <p:nvPr/>
            </p:nvSpPr>
            <p:spPr bwMode="auto">
              <a:xfrm>
                <a:off x="5144" y="2417"/>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83" name="Line 21"/>
              <p:cNvSpPr>
                <a:spLocks noChangeShapeType="1"/>
              </p:cNvSpPr>
              <p:nvPr/>
            </p:nvSpPr>
            <p:spPr bwMode="auto">
              <a:xfrm flipH="1">
                <a:off x="5232" y="250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84" name="Line 22"/>
              <p:cNvSpPr>
                <a:spLocks noChangeShapeType="1"/>
              </p:cNvSpPr>
              <p:nvPr/>
            </p:nvSpPr>
            <p:spPr bwMode="auto">
              <a:xfrm>
                <a:off x="5280" y="250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85" name="Rectangle 23" descr="深色上对角线"/>
              <p:cNvSpPr>
                <a:spLocks noChangeArrowheads="1"/>
              </p:cNvSpPr>
              <p:nvPr/>
            </p:nvSpPr>
            <p:spPr bwMode="auto">
              <a:xfrm>
                <a:off x="456" y="3041"/>
                <a:ext cx="264" cy="276"/>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86" name="Rectangle 24" descr="深色上对角线"/>
              <p:cNvSpPr>
                <a:spLocks noChangeArrowheads="1"/>
              </p:cNvSpPr>
              <p:nvPr/>
            </p:nvSpPr>
            <p:spPr bwMode="auto">
              <a:xfrm>
                <a:off x="720"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3087" name="Rectangle 25" descr="深色上对角线"/>
              <p:cNvSpPr>
                <a:spLocks noChangeArrowheads="1"/>
              </p:cNvSpPr>
              <p:nvPr/>
            </p:nvSpPr>
            <p:spPr bwMode="auto">
              <a:xfrm>
                <a:off x="992"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88" name="Rectangle 26" descr="深色上对角线"/>
              <p:cNvSpPr>
                <a:spLocks noChangeArrowheads="1"/>
              </p:cNvSpPr>
              <p:nvPr/>
            </p:nvSpPr>
            <p:spPr bwMode="auto">
              <a:xfrm>
                <a:off x="1496" y="3041"/>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3089" name="Rectangle 27" descr="深色上对角线"/>
              <p:cNvSpPr>
                <a:spLocks noChangeArrowheads="1"/>
              </p:cNvSpPr>
              <p:nvPr/>
            </p:nvSpPr>
            <p:spPr bwMode="auto">
              <a:xfrm>
                <a:off x="1760"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3090" name="Rectangle 28" descr="深色上对角线"/>
              <p:cNvSpPr>
                <a:spLocks noChangeArrowheads="1"/>
              </p:cNvSpPr>
              <p:nvPr/>
            </p:nvSpPr>
            <p:spPr bwMode="auto">
              <a:xfrm>
                <a:off x="2032"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91" name="Rectangle 29" descr="深色上对角线"/>
              <p:cNvSpPr>
                <a:spLocks noChangeArrowheads="1"/>
              </p:cNvSpPr>
              <p:nvPr/>
            </p:nvSpPr>
            <p:spPr bwMode="auto">
              <a:xfrm>
                <a:off x="2536" y="3041"/>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22</a:t>
                </a:r>
              </a:p>
            </p:txBody>
          </p:sp>
          <p:sp>
            <p:nvSpPr>
              <p:cNvPr id="173092" name="Rectangle 30" descr="深色上对角线"/>
              <p:cNvSpPr>
                <a:spLocks noChangeArrowheads="1"/>
              </p:cNvSpPr>
              <p:nvPr/>
            </p:nvSpPr>
            <p:spPr bwMode="auto">
              <a:xfrm>
                <a:off x="2800"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3093" name="Rectangle 31" descr="深色上对角线"/>
              <p:cNvSpPr>
                <a:spLocks noChangeArrowheads="1"/>
              </p:cNvSpPr>
              <p:nvPr/>
            </p:nvSpPr>
            <p:spPr bwMode="auto">
              <a:xfrm>
                <a:off x="3072"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94" name="Rectangle 32" descr="深色上对角线"/>
              <p:cNvSpPr>
                <a:spLocks noChangeArrowheads="1"/>
              </p:cNvSpPr>
              <p:nvPr/>
            </p:nvSpPr>
            <p:spPr bwMode="auto">
              <a:xfrm>
                <a:off x="3560" y="3041"/>
                <a:ext cx="264"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3095" name="Rectangle 33" descr="深色上对角线"/>
              <p:cNvSpPr>
                <a:spLocks noChangeArrowheads="1"/>
              </p:cNvSpPr>
              <p:nvPr/>
            </p:nvSpPr>
            <p:spPr bwMode="auto">
              <a:xfrm>
                <a:off x="3824"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3096" name="Rectangle 34" descr="深色上对角线"/>
              <p:cNvSpPr>
                <a:spLocks noChangeArrowheads="1"/>
              </p:cNvSpPr>
              <p:nvPr/>
            </p:nvSpPr>
            <p:spPr bwMode="auto">
              <a:xfrm>
                <a:off x="4096" y="3041"/>
                <a:ext cx="272" cy="276"/>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97" name="Line 35"/>
              <p:cNvSpPr>
                <a:spLocks noChangeShapeType="1"/>
              </p:cNvSpPr>
              <p:nvPr/>
            </p:nvSpPr>
            <p:spPr bwMode="auto">
              <a:xfrm flipH="1">
                <a:off x="4176" y="314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98" name="Line 36"/>
              <p:cNvSpPr>
                <a:spLocks noChangeShapeType="1"/>
              </p:cNvSpPr>
              <p:nvPr/>
            </p:nvSpPr>
            <p:spPr bwMode="auto">
              <a:xfrm>
                <a:off x="4224" y="3141"/>
                <a:ext cx="48" cy="96"/>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99" name="Line 37"/>
              <p:cNvSpPr>
                <a:spLocks noChangeShapeType="1"/>
              </p:cNvSpPr>
              <p:nvPr/>
            </p:nvSpPr>
            <p:spPr bwMode="auto">
              <a:xfrm>
                <a:off x="144" y="2549"/>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0" name="Line 38"/>
              <p:cNvSpPr>
                <a:spLocks noChangeShapeType="1"/>
              </p:cNvSpPr>
              <p:nvPr/>
            </p:nvSpPr>
            <p:spPr bwMode="auto">
              <a:xfrm>
                <a:off x="144" y="318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1" name="Line 39"/>
              <p:cNvSpPr>
                <a:spLocks noChangeShapeType="1"/>
              </p:cNvSpPr>
              <p:nvPr/>
            </p:nvSpPr>
            <p:spPr bwMode="auto">
              <a:xfrm>
                <a:off x="1180" y="2557"/>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2" name="Line 40"/>
              <p:cNvSpPr>
                <a:spLocks noChangeShapeType="1"/>
              </p:cNvSpPr>
              <p:nvPr/>
            </p:nvSpPr>
            <p:spPr bwMode="auto">
              <a:xfrm>
                <a:off x="2220" y="2557"/>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3" name="Line 41"/>
              <p:cNvSpPr>
                <a:spLocks noChangeShapeType="1"/>
              </p:cNvSpPr>
              <p:nvPr/>
            </p:nvSpPr>
            <p:spPr bwMode="auto">
              <a:xfrm>
                <a:off x="3252" y="256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4" name="Line 42"/>
              <p:cNvSpPr>
                <a:spLocks noChangeShapeType="1"/>
              </p:cNvSpPr>
              <p:nvPr/>
            </p:nvSpPr>
            <p:spPr bwMode="auto">
              <a:xfrm>
                <a:off x="4300" y="2565"/>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5" name="Line 43"/>
              <p:cNvSpPr>
                <a:spLocks noChangeShapeType="1"/>
              </p:cNvSpPr>
              <p:nvPr/>
            </p:nvSpPr>
            <p:spPr bwMode="auto">
              <a:xfrm>
                <a:off x="1184" y="318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6" name="Line 44"/>
              <p:cNvSpPr>
                <a:spLocks noChangeShapeType="1"/>
              </p:cNvSpPr>
              <p:nvPr/>
            </p:nvSpPr>
            <p:spPr bwMode="auto">
              <a:xfrm>
                <a:off x="2224" y="3181"/>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7" name="Line 45"/>
              <p:cNvSpPr>
                <a:spLocks noChangeShapeType="1"/>
              </p:cNvSpPr>
              <p:nvPr/>
            </p:nvSpPr>
            <p:spPr bwMode="auto">
              <a:xfrm>
                <a:off x="3256" y="3185"/>
                <a:ext cx="308"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108" name="Text Box 46"/>
              <p:cNvSpPr txBox="1">
                <a:spLocks noChangeArrowheads="1"/>
              </p:cNvSpPr>
              <p:nvPr/>
            </p:nvSpPr>
            <p:spPr bwMode="auto">
              <a:xfrm>
                <a:off x="102" y="2352"/>
                <a:ext cx="20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173109" name="Text Box 47"/>
              <p:cNvSpPr txBox="1">
                <a:spLocks noChangeArrowheads="1"/>
              </p:cNvSpPr>
              <p:nvPr/>
            </p:nvSpPr>
            <p:spPr bwMode="auto">
              <a:xfrm>
                <a:off x="92" y="2985"/>
                <a:ext cx="20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B</a:t>
                </a:r>
              </a:p>
            </p:txBody>
          </p:sp>
        </p:grpSp>
        <p:grpSp>
          <p:nvGrpSpPr>
            <p:cNvPr id="181256" name="Group 48"/>
            <p:cNvGrpSpPr/>
            <p:nvPr/>
          </p:nvGrpSpPr>
          <p:grpSpPr>
            <a:xfrm>
              <a:off x="2743200" y="2797175"/>
              <a:ext cx="474663" cy="936625"/>
              <a:chOff x="1728" y="1762"/>
              <a:chExt cx="299" cy="590"/>
            </a:xfrm>
          </p:grpSpPr>
          <p:sp>
            <p:nvSpPr>
              <p:cNvPr id="173066" name="Line 49"/>
              <p:cNvSpPr>
                <a:spLocks noChangeShapeType="1"/>
              </p:cNvSpPr>
              <p:nvPr/>
            </p:nvSpPr>
            <p:spPr bwMode="auto">
              <a:xfrm>
                <a:off x="1872" y="2064"/>
                <a:ext cx="0" cy="288"/>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67" name="Text Box 50"/>
              <p:cNvSpPr txBox="1">
                <a:spLocks noChangeArrowheads="1"/>
              </p:cNvSpPr>
              <p:nvPr/>
            </p:nvSpPr>
            <p:spPr bwMode="auto">
              <a:xfrm>
                <a:off x="1728" y="1762"/>
                <a:ext cx="2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pa</a:t>
                </a:r>
              </a:p>
            </p:txBody>
          </p:sp>
        </p:grpSp>
        <p:grpSp>
          <p:nvGrpSpPr>
            <p:cNvPr id="181257" name="Group 51"/>
            <p:cNvGrpSpPr/>
            <p:nvPr/>
          </p:nvGrpSpPr>
          <p:grpSpPr>
            <a:xfrm>
              <a:off x="2743200" y="5334003"/>
              <a:ext cx="492125" cy="842963"/>
              <a:chOff x="1728" y="3360"/>
              <a:chExt cx="310" cy="531"/>
            </a:xfrm>
          </p:grpSpPr>
          <p:sp>
            <p:nvSpPr>
              <p:cNvPr id="173064" name="Line 52"/>
              <p:cNvSpPr>
                <a:spLocks noChangeShapeType="1"/>
              </p:cNvSpPr>
              <p:nvPr/>
            </p:nvSpPr>
            <p:spPr bwMode="auto">
              <a:xfrm flipV="1">
                <a:off x="1872" y="3360"/>
                <a:ext cx="0" cy="288"/>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3065" name="Text Box 53"/>
              <p:cNvSpPr txBox="1">
                <a:spLocks noChangeArrowheads="1"/>
              </p:cNvSpPr>
              <p:nvPr/>
            </p:nvSpPr>
            <p:spPr bwMode="auto">
              <a:xfrm>
                <a:off x="1728" y="3600"/>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pb</a:t>
                </a:r>
              </a:p>
            </p:txBody>
          </p:sp>
        </p:grpSp>
      </p:grpSp>
      <p:sp>
        <p:nvSpPr>
          <p:cNvPr id="54" name="Rectangle 8"/>
          <p:cNvSpPr>
            <a:spLocks noChangeArrowheads="1"/>
          </p:cNvSpPr>
          <p:nvPr/>
        </p:nvSpPr>
        <p:spPr bwMode="auto">
          <a:xfrm>
            <a:off x="755650" y="158750"/>
            <a:ext cx="7210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多项式创建</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 name="矩形 50"/>
          <p:cNvSpPr/>
          <p:nvPr/>
        </p:nvSpPr>
        <p:spPr bwMode="auto">
          <a:xfrm>
            <a:off x="0" y="2797175"/>
            <a:ext cx="9144000" cy="345598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4082" name="Rectangle 2"/>
          <p:cNvSpPr>
            <a:spLocks noGrp="1" noChangeArrowheads="1"/>
          </p:cNvSpPr>
          <p:nvPr>
            <p:ph type="title"/>
          </p:nvPr>
        </p:nvSpPr>
        <p:spPr>
          <a:xfrm>
            <a:off x="850900" y="177800"/>
            <a:ext cx="7315200" cy="60166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多项式相加</a:t>
            </a:r>
          </a:p>
        </p:txBody>
      </p:sp>
      <p:sp>
        <p:nvSpPr>
          <p:cNvPr id="174083" name="Text Box 3"/>
          <p:cNvSpPr txBox="1">
            <a:spLocks noChangeArrowheads="1"/>
          </p:cNvSpPr>
          <p:nvPr/>
        </p:nvSpPr>
        <p:spPr bwMode="auto">
          <a:xfrm>
            <a:off x="563563" y="1303338"/>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(x)=7+3x+9x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+5x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17</a:t>
            </a:r>
          </a:p>
        </p:txBody>
      </p:sp>
      <p:sp>
        <p:nvSpPr>
          <p:cNvPr id="174084" name="Text Box 4"/>
          <p:cNvSpPr txBox="1">
            <a:spLocks noChangeArrowheads="1"/>
          </p:cNvSpPr>
          <p:nvPr/>
        </p:nvSpPr>
        <p:spPr bwMode="auto">
          <a:xfrm>
            <a:off x="563563" y="1984375"/>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(x)=8x+22x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p>
        </p:txBody>
      </p:sp>
      <p:sp>
        <p:nvSpPr>
          <p:cNvPr id="174085" name="Rectangle 5" descr="深色上对角线"/>
          <p:cNvSpPr>
            <a:spLocks noChangeArrowheads="1"/>
          </p:cNvSpPr>
          <p:nvPr/>
        </p:nvSpPr>
        <p:spPr bwMode="auto">
          <a:xfrm>
            <a:off x="723900" y="3836988"/>
            <a:ext cx="419100" cy="438150"/>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086" name="Rectangle 6" descr="深色上对角线"/>
          <p:cNvSpPr>
            <a:spLocks noChangeArrowheads="1"/>
          </p:cNvSpPr>
          <p:nvPr/>
        </p:nvSpPr>
        <p:spPr bwMode="auto">
          <a:xfrm>
            <a:off x="11430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4087" name="Rectangle 7" descr="深色上对角线"/>
          <p:cNvSpPr>
            <a:spLocks noChangeArrowheads="1"/>
          </p:cNvSpPr>
          <p:nvPr/>
        </p:nvSpPr>
        <p:spPr bwMode="auto">
          <a:xfrm>
            <a:off x="15748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088" name="Rectangle 8"/>
          <p:cNvSpPr>
            <a:spLocks noChangeArrowheads="1"/>
          </p:cNvSpPr>
          <p:nvPr/>
        </p:nvSpPr>
        <p:spPr bwMode="auto">
          <a:xfrm>
            <a:off x="2374900" y="3836988"/>
            <a:ext cx="419100" cy="438150"/>
          </a:xfrm>
          <a:prstGeom prst="rect">
            <a:avLst/>
          </a:prstGeom>
          <a:solidFill>
            <a:srgbClr val="FFC000"/>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4089" name="Rectangle 9"/>
          <p:cNvSpPr>
            <a:spLocks noChangeArrowheads="1"/>
          </p:cNvSpPr>
          <p:nvPr/>
        </p:nvSpPr>
        <p:spPr bwMode="auto">
          <a:xfrm>
            <a:off x="2794000" y="3836988"/>
            <a:ext cx="431800" cy="438150"/>
          </a:xfrm>
          <a:prstGeom prst="rect">
            <a:avLst/>
          </a:prstGeom>
          <a:solidFill>
            <a:srgbClr val="FFC000"/>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0</a:t>
            </a:r>
          </a:p>
        </p:txBody>
      </p:sp>
      <p:sp>
        <p:nvSpPr>
          <p:cNvPr id="174090" name="Rectangle 10"/>
          <p:cNvSpPr>
            <a:spLocks noChangeArrowheads="1"/>
          </p:cNvSpPr>
          <p:nvPr/>
        </p:nvSpPr>
        <p:spPr bwMode="auto">
          <a:xfrm>
            <a:off x="3225800" y="3836988"/>
            <a:ext cx="431800" cy="438150"/>
          </a:xfrm>
          <a:prstGeom prst="rect">
            <a:avLst/>
          </a:prstGeom>
          <a:solidFill>
            <a:srgbClr val="FFC000"/>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091" name="Rectangle 11" descr="深色上对角线"/>
          <p:cNvSpPr>
            <a:spLocks noChangeArrowheads="1"/>
          </p:cNvSpPr>
          <p:nvPr/>
        </p:nvSpPr>
        <p:spPr bwMode="auto">
          <a:xfrm>
            <a:off x="40259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74092" name="Rectangle 12" descr="深色上对角线"/>
          <p:cNvSpPr>
            <a:spLocks noChangeArrowheads="1"/>
          </p:cNvSpPr>
          <p:nvPr/>
        </p:nvSpPr>
        <p:spPr bwMode="auto">
          <a:xfrm>
            <a:off x="44450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4093" name="Rectangle 13" descr="深色上对角线"/>
          <p:cNvSpPr>
            <a:spLocks noChangeArrowheads="1"/>
          </p:cNvSpPr>
          <p:nvPr/>
        </p:nvSpPr>
        <p:spPr bwMode="auto">
          <a:xfrm>
            <a:off x="48768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094" name="Rectangle 14" descr="深色上对角线"/>
          <p:cNvSpPr>
            <a:spLocks noChangeArrowheads="1"/>
          </p:cNvSpPr>
          <p:nvPr/>
        </p:nvSpPr>
        <p:spPr bwMode="auto">
          <a:xfrm>
            <a:off x="56515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4095" name="Rectangle 15" descr="深色上对角线"/>
          <p:cNvSpPr>
            <a:spLocks noChangeArrowheads="1"/>
          </p:cNvSpPr>
          <p:nvPr/>
        </p:nvSpPr>
        <p:spPr bwMode="auto">
          <a:xfrm>
            <a:off x="60706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4096" name="Rectangle 16" descr="深色上对角线"/>
          <p:cNvSpPr>
            <a:spLocks noChangeArrowheads="1"/>
          </p:cNvSpPr>
          <p:nvPr/>
        </p:nvSpPr>
        <p:spPr bwMode="auto">
          <a:xfrm>
            <a:off x="65024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097" name="Rectangle 17" descr="深色上对角线"/>
          <p:cNvSpPr>
            <a:spLocks noChangeArrowheads="1"/>
          </p:cNvSpPr>
          <p:nvPr/>
        </p:nvSpPr>
        <p:spPr bwMode="auto">
          <a:xfrm>
            <a:off x="73152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74098" name="Rectangle 18" descr="深色上对角线"/>
          <p:cNvSpPr>
            <a:spLocks noChangeArrowheads="1"/>
          </p:cNvSpPr>
          <p:nvPr/>
        </p:nvSpPr>
        <p:spPr bwMode="auto">
          <a:xfrm>
            <a:off x="77343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17</a:t>
            </a:r>
          </a:p>
        </p:txBody>
      </p:sp>
      <p:sp>
        <p:nvSpPr>
          <p:cNvPr id="174099" name="Rectangle 19" descr="深色上对角线"/>
          <p:cNvSpPr>
            <a:spLocks noChangeArrowheads="1"/>
          </p:cNvSpPr>
          <p:nvPr/>
        </p:nvSpPr>
        <p:spPr bwMode="auto">
          <a:xfrm>
            <a:off x="81661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00" name="Line 20"/>
          <p:cNvSpPr>
            <a:spLocks noChangeShapeType="1"/>
          </p:cNvSpPr>
          <p:nvPr/>
        </p:nvSpPr>
        <p:spPr bwMode="auto">
          <a:xfrm flipH="1">
            <a:off x="8305800" y="3970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01" name="Line 21"/>
          <p:cNvSpPr>
            <a:spLocks noChangeShapeType="1"/>
          </p:cNvSpPr>
          <p:nvPr/>
        </p:nvSpPr>
        <p:spPr bwMode="auto">
          <a:xfrm>
            <a:off x="8382000" y="3970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02" name="Rectangle 22" descr="深色上对角线"/>
          <p:cNvSpPr>
            <a:spLocks noChangeArrowheads="1"/>
          </p:cNvSpPr>
          <p:nvPr/>
        </p:nvSpPr>
        <p:spPr bwMode="auto">
          <a:xfrm>
            <a:off x="723900" y="4827588"/>
            <a:ext cx="419100" cy="438150"/>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03" name="Rectangle 23" descr="深色上对角线"/>
          <p:cNvSpPr>
            <a:spLocks noChangeArrowheads="1"/>
          </p:cNvSpPr>
          <p:nvPr/>
        </p:nvSpPr>
        <p:spPr bwMode="auto">
          <a:xfrm>
            <a:off x="1143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4104" name="Rectangle 24" descr="深色上对角线"/>
          <p:cNvSpPr>
            <a:spLocks noChangeArrowheads="1"/>
          </p:cNvSpPr>
          <p:nvPr/>
        </p:nvSpPr>
        <p:spPr bwMode="auto">
          <a:xfrm>
            <a:off x="1574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05" name="Rectangle 25" descr="深色上对角线"/>
          <p:cNvSpPr>
            <a:spLocks noChangeArrowheads="1"/>
          </p:cNvSpPr>
          <p:nvPr/>
        </p:nvSpPr>
        <p:spPr bwMode="auto">
          <a:xfrm>
            <a:off x="23749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4106" name="Rectangle 26" descr="深色上对角线"/>
          <p:cNvSpPr>
            <a:spLocks noChangeArrowheads="1"/>
          </p:cNvSpPr>
          <p:nvPr/>
        </p:nvSpPr>
        <p:spPr bwMode="auto">
          <a:xfrm>
            <a:off x="2794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4107" name="Rectangle 27" descr="深色上对角线"/>
          <p:cNvSpPr>
            <a:spLocks noChangeArrowheads="1"/>
          </p:cNvSpPr>
          <p:nvPr/>
        </p:nvSpPr>
        <p:spPr bwMode="auto">
          <a:xfrm>
            <a:off x="3225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08" name="Rectangle 28" descr="深色上对角线"/>
          <p:cNvSpPr>
            <a:spLocks noChangeArrowheads="1"/>
          </p:cNvSpPr>
          <p:nvPr/>
        </p:nvSpPr>
        <p:spPr bwMode="auto">
          <a:xfrm>
            <a:off x="40259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22</a:t>
            </a:r>
          </a:p>
        </p:txBody>
      </p:sp>
      <p:sp>
        <p:nvSpPr>
          <p:cNvPr id="174109" name="Rectangle 29" descr="深色上对角线"/>
          <p:cNvSpPr>
            <a:spLocks noChangeArrowheads="1"/>
          </p:cNvSpPr>
          <p:nvPr/>
        </p:nvSpPr>
        <p:spPr bwMode="auto">
          <a:xfrm>
            <a:off x="4445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4110" name="Rectangle 30" descr="深色上对角线"/>
          <p:cNvSpPr>
            <a:spLocks noChangeArrowheads="1"/>
          </p:cNvSpPr>
          <p:nvPr/>
        </p:nvSpPr>
        <p:spPr bwMode="auto">
          <a:xfrm>
            <a:off x="4876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1" name="Rectangle 31" descr="深色上对角线"/>
          <p:cNvSpPr>
            <a:spLocks noChangeArrowheads="1"/>
          </p:cNvSpPr>
          <p:nvPr/>
        </p:nvSpPr>
        <p:spPr bwMode="auto">
          <a:xfrm>
            <a:off x="56515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4112" name="Rectangle 32" descr="深色上对角线"/>
          <p:cNvSpPr>
            <a:spLocks noChangeArrowheads="1"/>
          </p:cNvSpPr>
          <p:nvPr/>
        </p:nvSpPr>
        <p:spPr bwMode="auto">
          <a:xfrm>
            <a:off x="60706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4113" name="Rectangle 33" descr="深色上对角线"/>
          <p:cNvSpPr>
            <a:spLocks noChangeArrowheads="1"/>
          </p:cNvSpPr>
          <p:nvPr/>
        </p:nvSpPr>
        <p:spPr bwMode="auto">
          <a:xfrm>
            <a:off x="65024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4" name="Line 34"/>
          <p:cNvSpPr>
            <a:spLocks noChangeShapeType="1"/>
          </p:cNvSpPr>
          <p:nvPr/>
        </p:nvSpPr>
        <p:spPr bwMode="auto">
          <a:xfrm flipH="1">
            <a:off x="6629400" y="4986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5" name="Line 35"/>
          <p:cNvSpPr>
            <a:spLocks noChangeShapeType="1"/>
          </p:cNvSpPr>
          <p:nvPr/>
        </p:nvSpPr>
        <p:spPr bwMode="auto">
          <a:xfrm>
            <a:off x="6705600" y="4986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6" name="Line 36"/>
          <p:cNvSpPr>
            <a:spLocks noChangeShapeType="1"/>
          </p:cNvSpPr>
          <p:nvPr/>
        </p:nvSpPr>
        <p:spPr bwMode="auto">
          <a:xfrm>
            <a:off x="228600" y="40465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7" name="Line 37"/>
          <p:cNvSpPr>
            <a:spLocks noChangeShapeType="1"/>
          </p:cNvSpPr>
          <p:nvPr/>
        </p:nvSpPr>
        <p:spPr bwMode="auto">
          <a:xfrm>
            <a:off x="228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8" name="Line 38"/>
          <p:cNvSpPr>
            <a:spLocks noChangeShapeType="1"/>
          </p:cNvSpPr>
          <p:nvPr/>
        </p:nvSpPr>
        <p:spPr bwMode="auto">
          <a:xfrm>
            <a:off x="1873250" y="40592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19" name="Line 39"/>
          <p:cNvSpPr>
            <a:spLocks noChangeShapeType="1"/>
          </p:cNvSpPr>
          <p:nvPr/>
        </p:nvSpPr>
        <p:spPr bwMode="auto">
          <a:xfrm>
            <a:off x="3524250" y="40592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0" name="Line 40"/>
          <p:cNvSpPr>
            <a:spLocks noChangeShapeType="1"/>
          </p:cNvSpPr>
          <p:nvPr/>
        </p:nvSpPr>
        <p:spPr bwMode="auto">
          <a:xfrm>
            <a:off x="5162550" y="406558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1" name="Line 41"/>
          <p:cNvSpPr>
            <a:spLocks noChangeShapeType="1"/>
          </p:cNvSpPr>
          <p:nvPr/>
        </p:nvSpPr>
        <p:spPr bwMode="auto">
          <a:xfrm>
            <a:off x="6826250" y="40719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2" name="Line 42"/>
          <p:cNvSpPr>
            <a:spLocks noChangeShapeType="1"/>
          </p:cNvSpPr>
          <p:nvPr/>
        </p:nvSpPr>
        <p:spPr bwMode="auto">
          <a:xfrm>
            <a:off x="1879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3" name="Line 43"/>
          <p:cNvSpPr>
            <a:spLocks noChangeShapeType="1"/>
          </p:cNvSpPr>
          <p:nvPr/>
        </p:nvSpPr>
        <p:spPr bwMode="auto">
          <a:xfrm>
            <a:off x="3530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4" name="Line 44"/>
          <p:cNvSpPr>
            <a:spLocks noChangeShapeType="1"/>
          </p:cNvSpPr>
          <p:nvPr/>
        </p:nvSpPr>
        <p:spPr bwMode="auto">
          <a:xfrm>
            <a:off x="5168900" y="505618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5" name="Text Box 45"/>
          <p:cNvSpPr txBox="1">
            <a:spLocks noChangeArrowheads="1"/>
          </p:cNvSpPr>
          <p:nvPr/>
        </p:nvSpPr>
        <p:spPr bwMode="auto">
          <a:xfrm>
            <a:off x="161925" y="3733800"/>
            <a:ext cx="331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174126" name="Text Box 46"/>
          <p:cNvSpPr txBox="1">
            <a:spLocks noChangeArrowheads="1"/>
          </p:cNvSpPr>
          <p:nvPr/>
        </p:nvSpPr>
        <p:spPr bwMode="auto">
          <a:xfrm>
            <a:off x="146050" y="4738688"/>
            <a:ext cx="320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174127" name="Line 47"/>
          <p:cNvSpPr>
            <a:spLocks noChangeShapeType="1"/>
          </p:cNvSpPr>
          <p:nvPr/>
        </p:nvSpPr>
        <p:spPr bwMode="auto">
          <a:xfrm>
            <a:off x="4668838" y="3276600"/>
            <a:ext cx="0" cy="4572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8" name="Text Box 48"/>
          <p:cNvSpPr txBox="1">
            <a:spLocks noChangeArrowheads="1"/>
          </p:cNvSpPr>
          <p:nvPr/>
        </p:nvSpPr>
        <p:spPr bwMode="auto">
          <a:xfrm>
            <a:off x="4440238" y="27971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pa</a:t>
            </a:r>
          </a:p>
        </p:txBody>
      </p:sp>
      <p:sp>
        <p:nvSpPr>
          <p:cNvPr id="174129" name="Line 49"/>
          <p:cNvSpPr>
            <a:spLocks noChangeShapeType="1"/>
          </p:cNvSpPr>
          <p:nvPr/>
        </p:nvSpPr>
        <p:spPr bwMode="auto">
          <a:xfrm flipV="1">
            <a:off x="2971800" y="5334000"/>
            <a:ext cx="0" cy="4572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30" name="Text Box 50"/>
          <p:cNvSpPr txBox="1">
            <a:spLocks noChangeArrowheads="1"/>
          </p:cNvSpPr>
          <p:nvPr/>
        </p:nvSpPr>
        <p:spPr bwMode="auto">
          <a:xfrm>
            <a:off x="2743200" y="57150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pb</a:t>
            </a: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 name="矩形 52"/>
          <p:cNvSpPr/>
          <p:nvPr/>
        </p:nvSpPr>
        <p:spPr bwMode="auto">
          <a:xfrm>
            <a:off x="0" y="2797175"/>
            <a:ext cx="9144000" cy="345598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5107" name="Text Box 3"/>
          <p:cNvSpPr txBox="1">
            <a:spLocks noChangeArrowheads="1"/>
          </p:cNvSpPr>
          <p:nvPr/>
        </p:nvSpPr>
        <p:spPr bwMode="auto">
          <a:xfrm>
            <a:off x="593725" y="1319213"/>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(x)=7+3x+9x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+5x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17</a:t>
            </a:r>
          </a:p>
        </p:txBody>
      </p:sp>
      <p:sp>
        <p:nvSpPr>
          <p:cNvPr id="175108" name="Text Box 4"/>
          <p:cNvSpPr txBox="1">
            <a:spLocks noChangeArrowheads="1"/>
          </p:cNvSpPr>
          <p:nvPr/>
        </p:nvSpPr>
        <p:spPr bwMode="auto">
          <a:xfrm>
            <a:off x="623888" y="2093913"/>
            <a:ext cx="40544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(x)=8x+22x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p>
        </p:txBody>
      </p:sp>
      <p:sp>
        <p:nvSpPr>
          <p:cNvPr id="175109" name="Rectangle 5" descr="深色上对角线"/>
          <p:cNvSpPr>
            <a:spLocks noChangeArrowheads="1"/>
          </p:cNvSpPr>
          <p:nvPr/>
        </p:nvSpPr>
        <p:spPr bwMode="auto">
          <a:xfrm>
            <a:off x="723900" y="3836988"/>
            <a:ext cx="419100" cy="438150"/>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10" name="Rectangle 6" descr="深色上对角线"/>
          <p:cNvSpPr>
            <a:spLocks noChangeArrowheads="1"/>
          </p:cNvSpPr>
          <p:nvPr/>
        </p:nvSpPr>
        <p:spPr bwMode="auto">
          <a:xfrm>
            <a:off x="11430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5111" name="Rectangle 7" descr="深色上对角线"/>
          <p:cNvSpPr>
            <a:spLocks noChangeArrowheads="1"/>
          </p:cNvSpPr>
          <p:nvPr/>
        </p:nvSpPr>
        <p:spPr bwMode="auto">
          <a:xfrm>
            <a:off x="15748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12" name="Rectangle 8"/>
          <p:cNvSpPr>
            <a:spLocks noChangeArrowheads="1"/>
          </p:cNvSpPr>
          <p:nvPr/>
        </p:nvSpPr>
        <p:spPr bwMode="auto">
          <a:xfrm>
            <a:off x="2374900" y="3836988"/>
            <a:ext cx="4191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7</a:t>
            </a:r>
          </a:p>
        </p:txBody>
      </p:sp>
      <p:sp>
        <p:nvSpPr>
          <p:cNvPr id="175113" name="Rectangle 9"/>
          <p:cNvSpPr>
            <a:spLocks noChangeArrowheads="1"/>
          </p:cNvSpPr>
          <p:nvPr/>
        </p:nvSpPr>
        <p:spPr bwMode="auto">
          <a:xfrm>
            <a:off x="27940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0</a:t>
            </a:r>
          </a:p>
        </p:txBody>
      </p:sp>
      <p:sp>
        <p:nvSpPr>
          <p:cNvPr id="175114" name="Rectangle 10"/>
          <p:cNvSpPr>
            <a:spLocks noChangeArrowheads="1"/>
          </p:cNvSpPr>
          <p:nvPr/>
        </p:nvSpPr>
        <p:spPr bwMode="auto">
          <a:xfrm>
            <a:off x="32258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75115" name="Rectangle 11"/>
          <p:cNvSpPr>
            <a:spLocks noChangeArrowheads="1"/>
          </p:cNvSpPr>
          <p:nvPr/>
        </p:nvSpPr>
        <p:spPr bwMode="auto">
          <a:xfrm>
            <a:off x="4025900" y="3836988"/>
            <a:ext cx="4191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11</a:t>
            </a:r>
          </a:p>
        </p:txBody>
      </p:sp>
      <p:sp>
        <p:nvSpPr>
          <p:cNvPr id="175116" name="Rectangle 12"/>
          <p:cNvSpPr>
            <a:spLocks noChangeArrowheads="1"/>
          </p:cNvSpPr>
          <p:nvPr/>
        </p:nvSpPr>
        <p:spPr bwMode="auto">
          <a:xfrm>
            <a:off x="44450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175117" name="Rectangle 13"/>
          <p:cNvSpPr>
            <a:spLocks noChangeArrowheads="1"/>
          </p:cNvSpPr>
          <p:nvPr/>
        </p:nvSpPr>
        <p:spPr bwMode="auto">
          <a:xfrm>
            <a:off x="48768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75118" name="Rectangle 14" descr="深色上对角线"/>
          <p:cNvSpPr>
            <a:spLocks noChangeArrowheads="1"/>
          </p:cNvSpPr>
          <p:nvPr/>
        </p:nvSpPr>
        <p:spPr bwMode="auto">
          <a:xfrm>
            <a:off x="56515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5119" name="Rectangle 15" descr="深色上对角线"/>
          <p:cNvSpPr>
            <a:spLocks noChangeArrowheads="1"/>
          </p:cNvSpPr>
          <p:nvPr/>
        </p:nvSpPr>
        <p:spPr bwMode="auto">
          <a:xfrm>
            <a:off x="60706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5120" name="Rectangle 16" descr="深色上对角线"/>
          <p:cNvSpPr>
            <a:spLocks noChangeArrowheads="1"/>
          </p:cNvSpPr>
          <p:nvPr/>
        </p:nvSpPr>
        <p:spPr bwMode="auto">
          <a:xfrm>
            <a:off x="65024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21" name="Rectangle 17" descr="深色上对角线"/>
          <p:cNvSpPr>
            <a:spLocks noChangeArrowheads="1"/>
          </p:cNvSpPr>
          <p:nvPr/>
        </p:nvSpPr>
        <p:spPr bwMode="auto">
          <a:xfrm>
            <a:off x="73152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75122" name="Rectangle 18" descr="深色上对角线"/>
          <p:cNvSpPr>
            <a:spLocks noChangeArrowheads="1"/>
          </p:cNvSpPr>
          <p:nvPr/>
        </p:nvSpPr>
        <p:spPr bwMode="auto">
          <a:xfrm>
            <a:off x="77343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17</a:t>
            </a:r>
          </a:p>
        </p:txBody>
      </p:sp>
      <p:sp>
        <p:nvSpPr>
          <p:cNvPr id="175123" name="Rectangle 19" descr="深色上对角线"/>
          <p:cNvSpPr>
            <a:spLocks noChangeArrowheads="1"/>
          </p:cNvSpPr>
          <p:nvPr/>
        </p:nvSpPr>
        <p:spPr bwMode="auto">
          <a:xfrm>
            <a:off x="81661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24" name="Line 20"/>
          <p:cNvSpPr>
            <a:spLocks noChangeShapeType="1"/>
          </p:cNvSpPr>
          <p:nvPr/>
        </p:nvSpPr>
        <p:spPr bwMode="auto">
          <a:xfrm flipH="1">
            <a:off x="8305800" y="3970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25" name="Line 21"/>
          <p:cNvSpPr>
            <a:spLocks noChangeShapeType="1"/>
          </p:cNvSpPr>
          <p:nvPr/>
        </p:nvSpPr>
        <p:spPr bwMode="auto">
          <a:xfrm>
            <a:off x="8382000" y="3970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26" name="Rectangle 22" descr="深色上对角线"/>
          <p:cNvSpPr>
            <a:spLocks noChangeArrowheads="1"/>
          </p:cNvSpPr>
          <p:nvPr/>
        </p:nvSpPr>
        <p:spPr bwMode="auto">
          <a:xfrm>
            <a:off x="723900" y="4827588"/>
            <a:ext cx="419100" cy="438150"/>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27" name="Rectangle 23" descr="深色上对角线"/>
          <p:cNvSpPr>
            <a:spLocks noChangeArrowheads="1"/>
          </p:cNvSpPr>
          <p:nvPr/>
        </p:nvSpPr>
        <p:spPr bwMode="auto">
          <a:xfrm>
            <a:off x="1143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5128" name="Rectangle 24" descr="深色上对角线"/>
          <p:cNvSpPr>
            <a:spLocks noChangeArrowheads="1"/>
          </p:cNvSpPr>
          <p:nvPr/>
        </p:nvSpPr>
        <p:spPr bwMode="auto">
          <a:xfrm>
            <a:off x="1574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29" name="Rectangle 25" descr="深色上对角线"/>
          <p:cNvSpPr>
            <a:spLocks noChangeArrowheads="1"/>
          </p:cNvSpPr>
          <p:nvPr/>
        </p:nvSpPr>
        <p:spPr bwMode="auto">
          <a:xfrm>
            <a:off x="23749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5130" name="Rectangle 26" descr="深色上对角线"/>
          <p:cNvSpPr>
            <a:spLocks noChangeArrowheads="1"/>
          </p:cNvSpPr>
          <p:nvPr/>
        </p:nvSpPr>
        <p:spPr bwMode="auto">
          <a:xfrm>
            <a:off x="2794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5131" name="Rectangle 27" descr="深色上对角线"/>
          <p:cNvSpPr>
            <a:spLocks noChangeArrowheads="1"/>
          </p:cNvSpPr>
          <p:nvPr/>
        </p:nvSpPr>
        <p:spPr bwMode="auto">
          <a:xfrm>
            <a:off x="3225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32" name="Rectangle 28" descr="深色上对角线"/>
          <p:cNvSpPr>
            <a:spLocks noChangeArrowheads="1"/>
          </p:cNvSpPr>
          <p:nvPr/>
        </p:nvSpPr>
        <p:spPr bwMode="auto">
          <a:xfrm>
            <a:off x="40259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22</a:t>
            </a:r>
          </a:p>
        </p:txBody>
      </p:sp>
      <p:sp>
        <p:nvSpPr>
          <p:cNvPr id="175133" name="Rectangle 29" descr="深色上对角线"/>
          <p:cNvSpPr>
            <a:spLocks noChangeArrowheads="1"/>
          </p:cNvSpPr>
          <p:nvPr/>
        </p:nvSpPr>
        <p:spPr bwMode="auto">
          <a:xfrm>
            <a:off x="4445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5134" name="Rectangle 30" descr="深色上对角线"/>
          <p:cNvSpPr>
            <a:spLocks noChangeArrowheads="1"/>
          </p:cNvSpPr>
          <p:nvPr/>
        </p:nvSpPr>
        <p:spPr bwMode="auto">
          <a:xfrm>
            <a:off x="4876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35" name="Rectangle 31" descr="深色上对角线"/>
          <p:cNvSpPr>
            <a:spLocks noChangeArrowheads="1"/>
          </p:cNvSpPr>
          <p:nvPr/>
        </p:nvSpPr>
        <p:spPr bwMode="auto">
          <a:xfrm>
            <a:off x="56515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5136" name="Rectangle 32" descr="深色上对角线"/>
          <p:cNvSpPr>
            <a:spLocks noChangeArrowheads="1"/>
          </p:cNvSpPr>
          <p:nvPr/>
        </p:nvSpPr>
        <p:spPr bwMode="auto">
          <a:xfrm>
            <a:off x="60706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5137" name="Rectangle 33" descr="深色上对角线"/>
          <p:cNvSpPr>
            <a:spLocks noChangeArrowheads="1"/>
          </p:cNvSpPr>
          <p:nvPr/>
        </p:nvSpPr>
        <p:spPr bwMode="auto">
          <a:xfrm>
            <a:off x="65024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38" name="Line 34"/>
          <p:cNvSpPr>
            <a:spLocks noChangeShapeType="1"/>
          </p:cNvSpPr>
          <p:nvPr/>
        </p:nvSpPr>
        <p:spPr bwMode="auto">
          <a:xfrm flipH="1">
            <a:off x="6629400" y="4986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39" name="Line 35"/>
          <p:cNvSpPr>
            <a:spLocks noChangeShapeType="1"/>
          </p:cNvSpPr>
          <p:nvPr/>
        </p:nvSpPr>
        <p:spPr bwMode="auto">
          <a:xfrm>
            <a:off x="6705600" y="4986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0" name="Line 36"/>
          <p:cNvSpPr>
            <a:spLocks noChangeShapeType="1"/>
          </p:cNvSpPr>
          <p:nvPr/>
        </p:nvSpPr>
        <p:spPr bwMode="auto">
          <a:xfrm>
            <a:off x="228600" y="40465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1" name="Line 37"/>
          <p:cNvSpPr>
            <a:spLocks noChangeShapeType="1"/>
          </p:cNvSpPr>
          <p:nvPr/>
        </p:nvSpPr>
        <p:spPr bwMode="auto">
          <a:xfrm>
            <a:off x="228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2" name="Line 38"/>
          <p:cNvSpPr>
            <a:spLocks noChangeShapeType="1"/>
          </p:cNvSpPr>
          <p:nvPr/>
        </p:nvSpPr>
        <p:spPr bwMode="auto">
          <a:xfrm>
            <a:off x="1873250" y="40592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3" name="Line 39"/>
          <p:cNvSpPr>
            <a:spLocks noChangeShapeType="1"/>
          </p:cNvSpPr>
          <p:nvPr/>
        </p:nvSpPr>
        <p:spPr bwMode="auto">
          <a:xfrm>
            <a:off x="3524250" y="40592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4" name="Line 40"/>
          <p:cNvSpPr>
            <a:spLocks noChangeShapeType="1"/>
          </p:cNvSpPr>
          <p:nvPr/>
        </p:nvSpPr>
        <p:spPr bwMode="auto">
          <a:xfrm>
            <a:off x="5162550" y="406558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5" name="Line 41"/>
          <p:cNvSpPr>
            <a:spLocks noChangeShapeType="1"/>
          </p:cNvSpPr>
          <p:nvPr/>
        </p:nvSpPr>
        <p:spPr bwMode="auto">
          <a:xfrm>
            <a:off x="6826250" y="40719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6" name="Line 42"/>
          <p:cNvSpPr>
            <a:spLocks noChangeShapeType="1"/>
          </p:cNvSpPr>
          <p:nvPr/>
        </p:nvSpPr>
        <p:spPr bwMode="auto">
          <a:xfrm>
            <a:off x="1879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7" name="Line 43"/>
          <p:cNvSpPr>
            <a:spLocks noChangeShapeType="1"/>
          </p:cNvSpPr>
          <p:nvPr/>
        </p:nvSpPr>
        <p:spPr bwMode="auto">
          <a:xfrm>
            <a:off x="3530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8" name="Line 44"/>
          <p:cNvSpPr>
            <a:spLocks noChangeShapeType="1"/>
          </p:cNvSpPr>
          <p:nvPr/>
        </p:nvSpPr>
        <p:spPr bwMode="auto">
          <a:xfrm>
            <a:off x="5168900" y="505618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49" name="Text Box 45"/>
          <p:cNvSpPr txBox="1">
            <a:spLocks noChangeArrowheads="1"/>
          </p:cNvSpPr>
          <p:nvPr/>
        </p:nvSpPr>
        <p:spPr bwMode="auto">
          <a:xfrm>
            <a:off x="161925" y="3733800"/>
            <a:ext cx="331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175150" name="Text Box 46"/>
          <p:cNvSpPr txBox="1">
            <a:spLocks noChangeArrowheads="1"/>
          </p:cNvSpPr>
          <p:nvPr/>
        </p:nvSpPr>
        <p:spPr bwMode="auto">
          <a:xfrm>
            <a:off x="146050" y="4738688"/>
            <a:ext cx="320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175151" name="Line 47"/>
          <p:cNvSpPr>
            <a:spLocks noChangeShapeType="1"/>
          </p:cNvSpPr>
          <p:nvPr/>
        </p:nvSpPr>
        <p:spPr bwMode="auto">
          <a:xfrm>
            <a:off x="6269038" y="3276600"/>
            <a:ext cx="0" cy="4572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52" name="Text Box 48"/>
          <p:cNvSpPr txBox="1">
            <a:spLocks noChangeArrowheads="1"/>
          </p:cNvSpPr>
          <p:nvPr/>
        </p:nvSpPr>
        <p:spPr bwMode="auto">
          <a:xfrm>
            <a:off x="6040438" y="27971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pa</a:t>
            </a:r>
          </a:p>
        </p:txBody>
      </p:sp>
      <p:sp>
        <p:nvSpPr>
          <p:cNvPr id="175153" name="Line 49"/>
          <p:cNvSpPr>
            <a:spLocks noChangeShapeType="1"/>
          </p:cNvSpPr>
          <p:nvPr/>
        </p:nvSpPr>
        <p:spPr bwMode="auto">
          <a:xfrm flipV="1">
            <a:off x="4660900" y="5334000"/>
            <a:ext cx="0" cy="4572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5154" name="Text Box 50"/>
          <p:cNvSpPr txBox="1">
            <a:spLocks noChangeArrowheads="1"/>
          </p:cNvSpPr>
          <p:nvPr/>
        </p:nvSpPr>
        <p:spPr bwMode="auto">
          <a:xfrm>
            <a:off x="4432300" y="57150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chemeClr val="hlink"/>
                </a:solidFill>
                <a:effectLst/>
                <a:uLnTx/>
                <a:uFillTx/>
                <a:latin typeface="+mn-lt"/>
                <a:ea typeface="+mn-ea"/>
                <a:cs typeface="+mn-ea"/>
                <a:sym typeface="+mn-lt"/>
              </a:rPr>
              <a:t>pb</a:t>
            </a:r>
          </a:p>
        </p:txBody>
      </p:sp>
      <p:sp>
        <p:nvSpPr>
          <p:cNvPr id="52" name="Rectangle 2"/>
          <p:cNvSpPr>
            <a:spLocks noGrp="1" noChangeArrowheads="1"/>
          </p:cNvSpPr>
          <p:nvPr>
            <p:ph type="title"/>
          </p:nvPr>
        </p:nvSpPr>
        <p:spPr>
          <a:xfrm>
            <a:off x="850900" y="177800"/>
            <a:ext cx="7315200" cy="60166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多项式相加</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 name="矩形 50"/>
          <p:cNvSpPr/>
          <p:nvPr/>
        </p:nvSpPr>
        <p:spPr bwMode="auto">
          <a:xfrm>
            <a:off x="0" y="2797175"/>
            <a:ext cx="9144000" cy="345598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6130" name="Rectangle 2"/>
          <p:cNvSpPr>
            <a:spLocks noGrp="1" noChangeArrowheads="1"/>
          </p:cNvSpPr>
          <p:nvPr>
            <p:ph type="title"/>
          </p:nvPr>
        </p:nvSpPr>
        <p:spPr>
          <a:xfrm>
            <a:off x="787400" y="177800"/>
            <a:ext cx="7315200" cy="60166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多项式相加</a:t>
            </a:r>
          </a:p>
        </p:txBody>
      </p:sp>
      <p:sp>
        <p:nvSpPr>
          <p:cNvPr id="176131" name="Text Box 3"/>
          <p:cNvSpPr txBox="1">
            <a:spLocks noChangeArrowheads="1"/>
          </p:cNvSpPr>
          <p:nvPr/>
        </p:nvSpPr>
        <p:spPr bwMode="auto">
          <a:xfrm>
            <a:off x="717550" y="1365250"/>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17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(x)=7+3x+9x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+5x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17</a:t>
            </a:r>
          </a:p>
        </p:txBody>
      </p:sp>
      <p:sp>
        <p:nvSpPr>
          <p:cNvPr id="176132" name="Text Box 4"/>
          <p:cNvSpPr txBox="1">
            <a:spLocks noChangeArrowheads="1"/>
          </p:cNvSpPr>
          <p:nvPr/>
        </p:nvSpPr>
        <p:spPr bwMode="auto">
          <a:xfrm>
            <a:off x="717550" y="2051050"/>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a:t>
            </a:r>
            <a:r>
              <a:rPr kumimoji="0" lang="en-US" altLang="zh-CN" sz="2800" b="0" i="0" u="none" strike="noStrike" kern="1200" cap="none" spc="0" normalizeH="0" baseline="-25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(x)=8x+22x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-9x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p>
        </p:txBody>
      </p:sp>
      <p:sp>
        <p:nvSpPr>
          <p:cNvPr id="176133" name="Rectangle 5" descr="深色上对角线"/>
          <p:cNvSpPr>
            <a:spLocks noChangeArrowheads="1"/>
          </p:cNvSpPr>
          <p:nvPr/>
        </p:nvSpPr>
        <p:spPr bwMode="auto">
          <a:xfrm>
            <a:off x="723900" y="3836988"/>
            <a:ext cx="419100" cy="438150"/>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34" name="Rectangle 6" descr="深色上对角线"/>
          <p:cNvSpPr>
            <a:spLocks noChangeArrowheads="1"/>
          </p:cNvSpPr>
          <p:nvPr/>
        </p:nvSpPr>
        <p:spPr bwMode="auto">
          <a:xfrm>
            <a:off x="11430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6135" name="Rectangle 7" descr="深色上对角线"/>
          <p:cNvSpPr>
            <a:spLocks noChangeArrowheads="1"/>
          </p:cNvSpPr>
          <p:nvPr/>
        </p:nvSpPr>
        <p:spPr bwMode="auto">
          <a:xfrm>
            <a:off x="15748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36" name="Rectangle 8"/>
          <p:cNvSpPr>
            <a:spLocks noChangeArrowheads="1"/>
          </p:cNvSpPr>
          <p:nvPr/>
        </p:nvSpPr>
        <p:spPr bwMode="auto">
          <a:xfrm>
            <a:off x="2374900" y="3836988"/>
            <a:ext cx="4191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7</a:t>
            </a:r>
          </a:p>
        </p:txBody>
      </p:sp>
      <p:sp>
        <p:nvSpPr>
          <p:cNvPr id="176137" name="Rectangle 9"/>
          <p:cNvSpPr>
            <a:spLocks noChangeArrowheads="1"/>
          </p:cNvSpPr>
          <p:nvPr/>
        </p:nvSpPr>
        <p:spPr bwMode="auto">
          <a:xfrm>
            <a:off x="27940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0</a:t>
            </a:r>
          </a:p>
        </p:txBody>
      </p:sp>
      <p:sp>
        <p:nvSpPr>
          <p:cNvPr id="176138" name="Rectangle 10"/>
          <p:cNvSpPr>
            <a:spLocks noChangeArrowheads="1"/>
          </p:cNvSpPr>
          <p:nvPr/>
        </p:nvSpPr>
        <p:spPr bwMode="auto">
          <a:xfrm>
            <a:off x="32258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76139" name="Rectangle 11"/>
          <p:cNvSpPr>
            <a:spLocks noChangeArrowheads="1"/>
          </p:cNvSpPr>
          <p:nvPr/>
        </p:nvSpPr>
        <p:spPr bwMode="auto">
          <a:xfrm>
            <a:off x="4025900" y="3836988"/>
            <a:ext cx="4191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11</a:t>
            </a:r>
          </a:p>
        </p:txBody>
      </p:sp>
      <p:sp>
        <p:nvSpPr>
          <p:cNvPr id="176140" name="Rectangle 12"/>
          <p:cNvSpPr>
            <a:spLocks noChangeArrowheads="1"/>
          </p:cNvSpPr>
          <p:nvPr/>
        </p:nvSpPr>
        <p:spPr bwMode="auto">
          <a:xfrm>
            <a:off x="44450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1200" cap="none" spc="0" normalizeH="0" baseline="0" noProof="0">
                <a:ln>
                  <a:noFill/>
                </a:ln>
                <a:solidFill>
                  <a:schemeClr val="bg1"/>
                </a:solidFill>
                <a:effectLst/>
                <a:uLnTx/>
                <a:uFillTx/>
                <a:latin typeface="+mn-lt"/>
                <a:ea typeface="+mn-ea"/>
                <a:cs typeface="+mn-ea"/>
                <a:sym typeface="+mn-lt"/>
              </a:rPr>
              <a:t>1</a:t>
            </a:r>
          </a:p>
        </p:txBody>
      </p:sp>
      <p:sp>
        <p:nvSpPr>
          <p:cNvPr id="176141" name="Rectangle 13"/>
          <p:cNvSpPr>
            <a:spLocks noChangeArrowheads="1"/>
          </p:cNvSpPr>
          <p:nvPr/>
        </p:nvSpPr>
        <p:spPr bwMode="auto">
          <a:xfrm>
            <a:off x="4876800" y="3836988"/>
            <a:ext cx="431800" cy="438150"/>
          </a:xfrm>
          <a:prstGeom prst="rect">
            <a:avLst/>
          </a:prstGeom>
          <a:solidFill>
            <a:schemeClr val="accent1">
              <a:lumMod val="60000"/>
              <a:lumOff val="40000"/>
            </a:schemeClr>
          </a:solid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20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76142" name="Rectangle 14" descr="深色上对角线"/>
          <p:cNvSpPr>
            <a:spLocks noChangeArrowheads="1"/>
          </p:cNvSpPr>
          <p:nvPr/>
        </p:nvSpPr>
        <p:spPr bwMode="auto">
          <a:xfrm>
            <a:off x="56515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6143" name="Rectangle 15" descr="深色上对角线"/>
          <p:cNvSpPr>
            <a:spLocks noChangeArrowheads="1"/>
          </p:cNvSpPr>
          <p:nvPr/>
        </p:nvSpPr>
        <p:spPr bwMode="auto">
          <a:xfrm>
            <a:off x="60706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6144" name="Rectangle 16" descr="深色上对角线"/>
          <p:cNvSpPr>
            <a:spLocks noChangeArrowheads="1"/>
          </p:cNvSpPr>
          <p:nvPr/>
        </p:nvSpPr>
        <p:spPr bwMode="auto">
          <a:xfrm>
            <a:off x="65024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45" name="Rectangle 17" descr="深色上对角线"/>
          <p:cNvSpPr>
            <a:spLocks noChangeArrowheads="1"/>
          </p:cNvSpPr>
          <p:nvPr/>
        </p:nvSpPr>
        <p:spPr bwMode="auto">
          <a:xfrm>
            <a:off x="7315200" y="38369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76146" name="Rectangle 18" descr="深色上对角线"/>
          <p:cNvSpPr>
            <a:spLocks noChangeArrowheads="1"/>
          </p:cNvSpPr>
          <p:nvPr/>
        </p:nvSpPr>
        <p:spPr bwMode="auto">
          <a:xfrm>
            <a:off x="77343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17</a:t>
            </a:r>
          </a:p>
        </p:txBody>
      </p:sp>
      <p:sp>
        <p:nvSpPr>
          <p:cNvPr id="176147" name="Rectangle 19" descr="深色上对角线"/>
          <p:cNvSpPr>
            <a:spLocks noChangeArrowheads="1"/>
          </p:cNvSpPr>
          <p:nvPr/>
        </p:nvSpPr>
        <p:spPr bwMode="auto">
          <a:xfrm>
            <a:off x="8166100" y="38369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48" name="Line 20"/>
          <p:cNvSpPr>
            <a:spLocks noChangeShapeType="1"/>
          </p:cNvSpPr>
          <p:nvPr/>
        </p:nvSpPr>
        <p:spPr bwMode="auto">
          <a:xfrm flipH="1">
            <a:off x="8305800" y="3970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49" name="Line 21"/>
          <p:cNvSpPr>
            <a:spLocks noChangeShapeType="1"/>
          </p:cNvSpPr>
          <p:nvPr/>
        </p:nvSpPr>
        <p:spPr bwMode="auto">
          <a:xfrm>
            <a:off x="8382000" y="3970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50" name="Rectangle 22" descr="深色上对角线"/>
          <p:cNvSpPr>
            <a:spLocks noChangeArrowheads="1"/>
          </p:cNvSpPr>
          <p:nvPr/>
        </p:nvSpPr>
        <p:spPr bwMode="auto">
          <a:xfrm>
            <a:off x="723900" y="4827588"/>
            <a:ext cx="419100" cy="438150"/>
          </a:xfrm>
          <a:prstGeom prst="rect">
            <a:avLst/>
          </a:prstGeom>
          <a:pattFill prst="dkUpDiag">
            <a:fgClr>
              <a:schemeClr val="bg2"/>
            </a:fgClr>
            <a:bgClr>
              <a:schemeClr val="bg1"/>
            </a:bgClr>
          </a:pattFill>
          <a:ln w="19050">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51" name="Rectangle 23" descr="深色上对角线"/>
          <p:cNvSpPr>
            <a:spLocks noChangeArrowheads="1"/>
          </p:cNvSpPr>
          <p:nvPr/>
        </p:nvSpPr>
        <p:spPr bwMode="auto">
          <a:xfrm>
            <a:off x="1143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6152" name="Rectangle 24" descr="深色上对角线"/>
          <p:cNvSpPr>
            <a:spLocks noChangeArrowheads="1"/>
          </p:cNvSpPr>
          <p:nvPr/>
        </p:nvSpPr>
        <p:spPr bwMode="auto">
          <a:xfrm>
            <a:off x="1574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53" name="Rectangle 25" descr="深色上对角线"/>
          <p:cNvSpPr>
            <a:spLocks noChangeArrowheads="1"/>
          </p:cNvSpPr>
          <p:nvPr/>
        </p:nvSpPr>
        <p:spPr bwMode="auto">
          <a:xfrm>
            <a:off x="23749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6154" name="Rectangle 26" descr="深色上对角线"/>
          <p:cNvSpPr>
            <a:spLocks noChangeArrowheads="1"/>
          </p:cNvSpPr>
          <p:nvPr/>
        </p:nvSpPr>
        <p:spPr bwMode="auto">
          <a:xfrm>
            <a:off x="2794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6155" name="Rectangle 27" descr="深色上对角线"/>
          <p:cNvSpPr>
            <a:spLocks noChangeArrowheads="1"/>
          </p:cNvSpPr>
          <p:nvPr/>
        </p:nvSpPr>
        <p:spPr bwMode="auto">
          <a:xfrm>
            <a:off x="3225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56" name="Rectangle 28" descr="深色上对角线"/>
          <p:cNvSpPr>
            <a:spLocks noChangeArrowheads="1"/>
          </p:cNvSpPr>
          <p:nvPr/>
        </p:nvSpPr>
        <p:spPr bwMode="auto">
          <a:xfrm>
            <a:off x="40259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22</a:t>
            </a:r>
          </a:p>
        </p:txBody>
      </p:sp>
      <p:sp>
        <p:nvSpPr>
          <p:cNvPr id="176157" name="Rectangle 29" descr="深色上对角线"/>
          <p:cNvSpPr>
            <a:spLocks noChangeArrowheads="1"/>
          </p:cNvSpPr>
          <p:nvPr/>
        </p:nvSpPr>
        <p:spPr bwMode="auto">
          <a:xfrm>
            <a:off x="44450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76158" name="Rectangle 30" descr="深色上对角线"/>
          <p:cNvSpPr>
            <a:spLocks noChangeArrowheads="1"/>
          </p:cNvSpPr>
          <p:nvPr/>
        </p:nvSpPr>
        <p:spPr bwMode="auto">
          <a:xfrm>
            <a:off x="48768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59" name="Rectangle 31" descr="深色上对角线"/>
          <p:cNvSpPr>
            <a:spLocks noChangeArrowheads="1"/>
          </p:cNvSpPr>
          <p:nvPr/>
        </p:nvSpPr>
        <p:spPr bwMode="auto">
          <a:xfrm>
            <a:off x="5651500" y="4827588"/>
            <a:ext cx="4191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176160" name="Rectangle 32" descr="深色上对角线"/>
          <p:cNvSpPr>
            <a:spLocks noChangeArrowheads="1"/>
          </p:cNvSpPr>
          <p:nvPr/>
        </p:nvSpPr>
        <p:spPr bwMode="auto">
          <a:xfrm>
            <a:off x="60706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76161" name="Rectangle 33" descr="深色上对角线"/>
          <p:cNvSpPr>
            <a:spLocks noChangeArrowheads="1"/>
          </p:cNvSpPr>
          <p:nvPr/>
        </p:nvSpPr>
        <p:spPr bwMode="auto">
          <a:xfrm>
            <a:off x="6502400" y="4827588"/>
            <a:ext cx="431800" cy="43815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2" name="Line 34"/>
          <p:cNvSpPr>
            <a:spLocks noChangeShapeType="1"/>
          </p:cNvSpPr>
          <p:nvPr/>
        </p:nvSpPr>
        <p:spPr bwMode="auto">
          <a:xfrm flipH="1">
            <a:off x="6629400" y="4986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3" name="Line 35"/>
          <p:cNvSpPr>
            <a:spLocks noChangeShapeType="1"/>
          </p:cNvSpPr>
          <p:nvPr/>
        </p:nvSpPr>
        <p:spPr bwMode="auto">
          <a:xfrm>
            <a:off x="6705600" y="4986338"/>
            <a:ext cx="76200" cy="15240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4" name="Line 36"/>
          <p:cNvSpPr>
            <a:spLocks noChangeShapeType="1"/>
          </p:cNvSpPr>
          <p:nvPr/>
        </p:nvSpPr>
        <p:spPr bwMode="auto">
          <a:xfrm>
            <a:off x="228600" y="40465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5" name="Line 37"/>
          <p:cNvSpPr>
            <a:spLocks noChangeShapeType="1"/>
          </p:cNvSpPr>
          <p:nvPr/>
        </p:nvSpPr>
        <p:spPr bwMode="auto">
          <a:xfrm>
            <a:off x="228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6" name="Line 38"/>
          <p:cNvSpPr>
            <a:spLocks noChangeShapeType="1"/>
          </p:cNvSpPr>
          <p:nvPr/>
        </p:nvSpPr>
        <p:spPr bwMode="auto">
          <a:xfrm>
            <a:off x="1873250" y="40592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7" name="Line 39"/>
          <p:cNvSpPr>
            <a:spLocks noChangeShapeType="1"/>
          </p:cNvSpPr>
          <p:nvPr/>
        </p:nvSpPr>
        <p:spPr bwMode="auto">
          <a:xfrm>
            <a:off x="3524250" y="40592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8" name="Line 40"/>
          <p:cNvSpPr>
            <a:spLocks noChangeShapeType="1"/>
          </p:cNvSpPr>
          <p:nvPr/>
        </p:nvSpPr>
        <p:spPr bwMode="auto">
          <a:xfrm>
            <a:off x="5149850" y="4065588"/>
            <a:ext cx="6350" cy="660400"/>
          </a:xfrm>
          <a:prstGeom prst="line">
            <a:avLst/>
          </a:prstGeom>
          <a:noFill/>
          <a:ln w="28575">
            <a:solidFill>
              <a:schemeClr val="hlink"/>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69" name="Line 41"/>
          <p:cNvSpPr>
            <a:spLocks noChangeShapeType="1"/>
          </p:cNvSpPr>
          <p:nvPr/>
        </p:nvSpPr>
        <p:spPr bwMode="auto">
          <a:xfrm>
            <a:off x="6826250" y="40719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70" name="Line 42"/>
          <p:cNvSpPr>
            <a:spLocks noChangeShapeType="1"/>
          </p:cNvSpPr>
          <p:nvPr/>
        </p:nvSpPr>
        <p:spPr bwMode="auto">
          <a:xfrm>
            <a:off x="1879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71" name="Line 43"/>
          <p:cNvSpPr>
            <a:spLocks noChangeShapeType="1"/>
          </p:cNvSpPr>
          <p:nvPr/>
        </p:nvSpPr>
        <p:spPr bwMode="auto">
          <a:xfrm>
            <a:off x="3530600" y="504983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72" name="Line 44"/>
          <p:cNvSpPr>
            <a:spLocks noChangeShapeType="1"/>
          </p:cNvSpPr>
          <p:nvPr/>
        </p:nvSpPr>
        <p:spPr bwMode="auto">
          <a:xfrm>
            <a:off x="5168900" y="5056188"/>
            <a:ext cx="48895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73" name="Text Box 45"/>
          <p:cNvSpPr txBox="1">
            <a:spLocks noChangeArrowheads="1"/>
          </p:cNvSpPr>
          <p:nvPr/>
        </p:nvSpPr>
        <p:spPr bwMode="auto">
          <a:xfrm>
            <a:off x="161925" y="3733800"/>
            <a:ext cx="331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176174" name="Text Box 46"/>
          <p:cNvSpPr txBox="1">
            <a:spLocks noChangeArrowheads="1"/>
          </p:cNvSpPr>
          <p:nvPr/>
        </p:nvSpPr>
        <p:spPr bwMode="auto">
          <a:xfrm>
            <a:off x="146050" y="4738688"/>
            <a:ext cx="320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176175" name="Line 47"/>
          <p:cNvSpPr>
            <a:spLocks noChangeShapeType="1"/>
          </p:cNvSpPr>
          <p:nvPr/>
        </p:nvSpPr>
        <p:spPr bwMode="auto">
          <a:xfrm>
            <a:off x="6269038" y="3276600"/>
            <a:ext cx="0" cy="4572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76" name="Text Box 48"/>
          <p:cNvSpPr txBox="1">
            <a:spLocks noChangeArrowheads="1"/>
          </p:cNvSpPr>
          <p:nvPr/>
        </p:nvSpPr>
        <p:spPr bwMode="auto">
          <a:xfrm>
            <a:off x="6040438" y="27971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pa</a:t>
            </a:r>
          </a:p>
        </p:txBody>
      </p:sp>
      <p:sp>
        <p:nvSpPr>
          <p:cNvPr id="176177" name="Line 49"/>
          <p:cNvSpPr>
            <a:spLocks noChangeShapeType="1"/>
          </p:cNvSpPr>
          <p:nvPr/>
        </p:nvSpPr>
        <p:spPr bwMode="auto">
          <a:xfrm flipV="1">
            <a:off x="6261100" y="5334000"/>
            <a:ext cx="0" cy="45720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6178" name="Text Box 50"/>
          <p:cNvSpPr txBox="1">
            <a:spLocks noChangeArrowheads="1"/>
          </p:cNvSpPr>
          <p:nvPr/>
        </p:nvSpPr>
        <p:spPr bwMode="auto">
          <a:xfrm>
            <a:off x="6032500" y="57150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1200" cap="none" spc="0" normalizeH="0" baseline="0" noProof="0">
                <a:ln>
                  <a:noFill/>
                </a:ln>
                <a:solidFill>
                  <a:srgbClr val="FF0000"/>
                </a:solidFill>
                <a:effectLst/>
                <a:uLnTx/>
                <a:uFillTx/>
                <a:latin typeface="+mn-lt"/>
                <a:ea typeface="+mn-ea"/>
                <a:cs typeface="+mn-ea"/>
                <a:sym typeface="+mn-lt"/>
              </a:rPr>
              <a:t>pb</a:t>
            </a:r>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5346" name="矩形 8"/>
          <p:cNvSpPr/>
          <p:nvPr/>
        </p:nvSpPr>
        <p:spPr>
          <a:xfrm>
            <a:off x="-7937" y="2547938"/>
            <a:ext cx="9144000" cy="168592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8" name="矩形 7"/>
          <p:cNvSpPr/>
          <p:nvPr/>
        </p:nvSpPr>
        <p:spPr bwMode="auto">
          <a:xfrm>
            <a:off x="11113" y="4797425"/>
            <a:ext cx="9144000" cy="168433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77154" name="Rectangle 8"/>
          <p:cNvSpPr>
            <a:spLocks noChangeArrowheads="1"/>
          </p:cNvSpPr>
          <p:nvPr/>
        </p:nvSpPr>
        <p:spPr bwMode="auto">
          <a:xfrm>
            <a:off x="1085850" y="1073150"/>
            <a:ext cx="5400675" cy="1231900"/>
          </a:xfrm>
          <a:prstGeom prst="rect">
            <a:avLst/>
          </a:prstGeom>
          <a:no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40000"/>
              </a:lnSpc>
              <a:spcBef>
                <a:spcPct val="0"/>
              </a:spcBef>
              <a:spcAft>
                <a:spcPct val="0"/>
              </a:spcAft>
              <a:buClrTx/>
              <a:buSzTx/>
              <a:buFontTx/>
              <a:buNone/>
              <a:defRPr/>
            </a:pP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7 + 3</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+ 9</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+ 5</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17</a:t>
            </a:r>
          </a:p>
          <a:p>
            <a:pPr marL="0" marR="0" lvl="0" indent="0" algn="l" defTabSz="914400" rtl="0" eaLnBrk="0" fontAlgn="base" latinLnBrk="0" hangingPunct="0">
              <a:lnSpc>
                <a:spcPct val="140000"/>
              </a:lnSpc>
              <a:spcBef>
                <a:spcPct val="0"/>
              </a:spcBef>
              <a:spcAft>
                <a:spcPct val="0"/>
              </a:spcAft>
              <a:buClrTx/>
              <a:buSzTx/>
              <a:buFontTx/>
              <a:buNone/>
              <a:defRPr/>
            </a:pP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B</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8</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+ 22</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7</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− 9</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x</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8</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185349" name="Picture 7" descr="0217"/>
          <p:cNvPicPr>
            <a:picLocks noChangeAspect="1"/>
          </p:cNvPicPr>
          <p:nvPr/>
        </p:nvPicPr>
        <p:blipFill>
          <a:blip r:embed="rId2">
            <a:clrChange>
              <a:clrFrom>
                <a:srgbClr val="FFFFFF"/>
              </a:clrFrom>
              <a:clrTo>
                <a:srgbClr val="FFFFFF">
                  <a:alpha val="0"/>
                </a:srgbClr>
              </a:clrTo>
            </a:clrChange>
          </a:blip>
          <a:srcRect l="-861" t="-8134" r="-1248" b="-6258"/>
          <a:stretch>
            <a:fillRect/>
          </a:stretch>
        </p:blipFill>
        <p:spPr>
          <a:xfrm>
            <a:off x="1001713" y="2747963"/>
            <a:ext cx="6910387" cy="1270000"/>
          </a:xfrm>
          <a:prstGeom prst="rect">
            <a:avLst/>
          </a:prstGeom>
          <a:noFill/>
          <a:ln w="9525">
            <a:noFill/>
          </a:ln>
        </p:spPr>
      </p:pic>
      <p:grpSp>
        <p:nvGrpSpPr>
          <p:cNvPr id="2" name="Group 12"/>
          <p:cNvGrpSpPr/>
          <p:nvPr/>
        </p:nvGrpSpPr>
        <p:grpSpPr>
          <a:xfrm>
            <a:off x="1085850" y="4233863"/>
            <a:ext cx="6624638" cy="2066925"/>
            <a:chOff x="481" y="2645"/>
            <a:chExt cx="4173" cy="1302"/>
          </a:xfrm>
        </p:grpSpPr>
        <p:pic>
          <p:nvPicPr>
            <p:cNvPr id="3" name="Picture 10" descr="34"/>
            <p:cNvPicPr>
              <a:picLocks noChangeAspect="1" noChangeArrowheads="1"/>
            </p:cNvPicPr>
            <p:nvPr/>
          </p:nvPicPr>
          <p:blipFill>
            <a:blip r:embed="rId3" cstate="print">
              <a:clrChange>
                <a:clrFrom>
                  <a:srgbClr val="FFFFFF"/>
                </a:clrFrom>
                <a:clrTo>
                  <a:srgbClr val="FFFFFF">
                    <a:alpha val="0"/>
                  </a:srgbClr>
                </a:clrTo>
              </a:clrChange>
              <a:duotone>
                <a:prstClr val="black"/>
                <a:srgbClr val="E2D9EB">
                  <a:tint val="45000"/>
                  <a:satMod val="400000"/>
                </a:srgbClr>
              </a:duotone>
              <a:extLst>
                <a:ext uri="{28A0092B-C50C-407E-A947-70E740481C1C}">
                  <a14:useLocalDpi xmlns:a14="http://schemas.microsoft.com/office/drawing/2010/main" val="0"/>
                </a:ext>
              </a:extLst>
            </a:blip>
            <a:srcRect t="-8850" r="-740" b="-7112"/>
            <a:stretch>
              <a:fillRect/>
            </a:stretch>
          </p:blipFill>
          <p:spPr bwMode="auto">
            <a:xfrm>
              <a:off x="481" y="3071"/>
              <a:ext cx="4173" cy="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8" name="AutoShape 11"/>
            <p:cNvSpPr>
              <a:spLocks noChangeArrowheads="1"/>
            </p:cNvSpPr>
            <p:nvPr/>
          </p:nvSpPr>
          <p:spPr bwMode="auto">
            <a:xfrm>
              <a:off x="2259" y="2645"/>
              <a:ext cx="181" cy="343"/>
            </a:xfrm>
            <a:prstGeom prst="downArrow">
              <a:avLst>
                <a:gd name="adj1" fmla="val 50000"/>
                <a:gd name="adj2" fmla="val 40600"/>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 name="Rectangle 2"/>
          <p:cNvSpPr>
            <a:spLocks noGrp="1" noChangeArrowheads="1"/>
          </p:cNvSpPr>
          <p:nvPr>
            <p:ph type="title"/>
          </p:nvPr>
        </p:nvSpPr>
        <p:spPr>
          <a:xfrm>
            <a:off x="787400" y="177800"/>
            <a:ext cx="7315200" cy="60166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多项式相加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6370" name="矩形 3"/>
          <p:cNvSpPr/>
          <p:nvPr/>
        </p:nvSpPr>
        <p:spPr>
          <a:xfrm>
            <a:off x="-7937" y="2636838"/>
            <a:ext cx="9144000" cy="324008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78178" name="Text Box 5"/>
          <p:cNvSpPr txBox="1">
            <a:spLocks noChangeArrowheads="1"/>
          </p:cNvSpPr>
          <p:nvPr/>
        </p:nvSpPr>
        <p:spPr bwMode="auto">
          <a:xfrm>
            <a:off x="258763" y="800100"/>
            <a:ext cx="8718550" cy="628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9476B6"/>
                </a:solidFill>
                <a:effectLst/>
                <a:uLnTx/>
                <a:uFillTx/>
                <a:latin typeface="+mn-lt"/>
                <a:ea typeface="+mn-ea"/>
                <a:cs typeface="+mn-ea"/>
                <a:sym typeface="+mn-lt"/>
              </a:rPr>
              <a:t>①</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初始化，分别指向</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的首元结点。</a:t>
            </a: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9476B6"/>
                </a:solidFill>
                <a:effectLst/>
                <a:uLnTx/>
                <a:uFillTx/>
                <a:latin typeface="+mn-lt"/>
                <a:ea typeface="+mn-ea"/>
                <a:cs typeface="+mn-ea"/>
                <a:sym typeface="+mn-lt"/>
              </a:rPr>
              <a:t>②</a:t>
            </a:r>
            <a:r>
              <a:rPr kumimoji="0" lang="en-US" altLang="zh-CN" sz="2400" b="0" i="0" u="none" strike="noStrike" kern="1200" cap="none" spc="0" normalizeH="0" baseline="0" noProof="0" dirty="0">
                <a:ln>
                  <a:noFill/>
                </a:ln>
                <a:solidFill>
                  <a:srgbClr val="9476B6"/>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指向和多项式的当前结点，初值为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的头结点。</a:t>
            </a: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9476B6"/>
                </a:solidFill>
                <a:effectLst/>
                <a:uLnTx/>
                <a:uFillTx/>
                <a:latin typeface="+mn-lt"/>
                <a:ea typeface="+mn-ea"/>
                <a:cs typeface="+mn-ea"/>
                <a:sym typeface="+mn-lt"/>
              </a:rPr>
              <a:t>③</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均未到达相应表尾时，则循环比较</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所指</a:t>
            </a:r>
            <a:b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结点对应的指数值（</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p1-&gt;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p2-&gt;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），有下列</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种情况：</a:t>
            </a:r>
          </a:p>
          <a:p>
            <a:pPr marL="800100" marR="0" lvl="1" indent="-342900" algn="l" defTabSz="914400" rtl="0" eaLnBrk="1" fontAlgn="base" latinLnBrk="0" hangingPunct="1">
              <a:lnSpc>
                <a:spcPct val="125000"/>
              </a:lnSpc>
              <a:spcBef>
                <a:spcPct val="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当</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p1-&gt;</a:t>
            </a:r>
            <a:r>
              <a:rPr kumimoji="0" lang="en-US" altLang="zh-CN" sz="2400" b="0" i="0" u="none" strike="noStrike" kern="1200" cap="none" spc="0" normalizeH="0" baseline="0" noProof="0" dirty="0" err="1">
                <a:ln>
                  <a:noFill/>
                </a:ln>
                <a:solidFill>
                  <a:schemeClr val="bg2">
                    <a:lumMod val="50000"/>
                  </a:schemeClr>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等于</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p2-&gt;</a:t>
            </a:r>
            <a:r>
              <a:rPr kumimoji="0" lang="en-US" altLang="zh-CN" sz="2400" b="0" i="0" u="none" strike="noStrike" kern="1200" cap="none" spc="0" normalizeH="0" baseline="0" noProof="0" dirty="0" err="1">
                <a:ln>
                  <a:noFill/>
                </a:ln>
                <a:solidFill>
                  <a:schemeClr val="bg2">
                    <a:lumMod val="50000"/>
                  </a:schemeClr>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时，则将两个结点中的系数相加，若和不为零，则修改</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所指结点的系数值，同时删除</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所指结点，若和为零，则删除</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所指结点；</a:t>
            </a:r>
          </a:p>
          <a:p>
            <a:pPr marL="800100" marR="0" lvl="1" indent="-342900" algn="l" defTabSz="914400" rtl="0" eaLnBrk="1" fontAlgn="base" latinLnBrk="0" hangingPunct="1">
              <a:lnSpc>
                <a:spcPct val="125000"/>
              </a:lnSpc>
              <a:spcBef>
                <a:spcPct val="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当</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p1-&gt;</a:t>
            </a:r>
            <a:r>
              <a:rPr kumimoji="0" lang="en-US" altLang="zh-CN" sz="2400" b="0" i="0" u="none" strike="noStrike" kern="1200" cap="none" spc="0" normalizeH="0" baseline="0" noProof="0" dirty="0" err="1">
                <a:ln>
                  <a:noFill/>
                </a:ln>
                <a:solidFill>
                  <a:schemeClr val="bg2">
                    <a:lumMod val="50000"/>
                  </a:schemeClr>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小于</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p2-&gt;</a:t>
            </a:r>
            <a:r>
              <a:rPr kumimoji="0" lang="en-US" altLang="zh-CN" sz="2400" b="0" i="0" u="none" strike="noStrike" kern="1200" cap="none" spc="0" normalizeH="0" baseline="0" noProof="0" dirty="0" err="1">
                <a:ln>
                  <a:noFill/>
                </a:ln>
                <a:solidFill>
                  <a:schemeClr val="bg2">
                    <a:lumMod val="50000"/>
                  </a:schemeClr>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时，则应摘取</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所指结点插入到“和多项式”链表中去；</a:t>
            </a:r>
          </a:p>
          <a:p>
            <a:pPr marL="800100" marR="0" lvl="1" indent="-342900" algn="l" defTabSz="914400" rtl="0" eaLnBrk="1" fontAlgn="base" latinLnBrk="0" hangingPunct="1">
              <a:lnSpc>
                <a:spcPct val="125000"/>
              </a:lnSpc>
              <a:spcBef>
                <a:spcPct val="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当</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p1-&gt;</a:t>
            </a:r>
            <a:r>
              <a:rPr kumimoji="0" lang="en-US" altLang="zh-CN" sz="2400" b="0" i="0" u="none" strike="noStrike" kern="1200" cap="none" spc="0" normalizeH="0" baseline="0" noProof="0" dirty="0" err="1">
                <a:ln>
                  <a:noFill/>
                </a:ln>
                <a:solidFill>
                  <a:schemeClr val="bg2">
                    <a:lumMod val="50000"/>
                  </a:schemeClr>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大于</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p2-&gt;</a:t>
            </a:r>
            <a:r>
              <a:rPr kumimoji="0" lang="en-US" altLang="zh-CN" sz="2400" b="0" i="0" u="none" strike="noStrike" kern="1200" cap="none" spc="0" normalizeH="0" baseline="0" noProof="0" dirty="0" err="1">
                <a:ln>
                  <a:noFill/>
                </a:ln>
                <a:solidFill>
                  <a:schemeClr val="bg2">
                    <a:lumMod val="50000"/>
                  </a:schemeClr>
                </a:solidFill>
                <a:effectLst/>
                <a:uLnTx/>
                <a:uFillTx/>
                <a:latin typeface="+mn-lt"/>
                <a:ea typeface="+mn-ea"/>
                <a:cs typeface="+mn-ea"/>
                <a:sym typeface="+mn-lt"/>
              </a:rPr>
              <a:t>expn</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时，则应摘取</a:t>
            </a:r>
            <a:r>
              <a:rPr kumimoji="0" lang="en-US" altLang="zh-CN"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bg2">
                    <a:lumMod val="50000"/>
                  </a:schemeClr>
                </a:solidFill>
                <a:effectLst/>
                <a:uLnTx/>
                <a:uFillTx/>
                <a:latin typeface="+mn-lt"/>
                <a:ea typeface="+mn-ea"/>
                <a:cs typeface="+mn-ea"/>
                <a:sym typeface="+mn-lt"/>
              </a:rPr>
              <a:t>所指结点插入到“和多项式”链表中去。</a:t>
            </a: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9476B6"/>
                </a:solidFill>
                <a:effectLst/>
                <a:uLnTx/>
                <a:uFillTx/>
                <a:latin typeface="+mn-lt"/>
                <a:ea typeface="+mn-ea"/>
                <a:cs typeface="+mn-ea"/>
                <a:sym typeface="+mn-lt"/>
              </a:rPr>
              <a:t>④</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将非空多项式的剩余段插入到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所指结点之后。</a:t>
            </a: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9476B6"/>
                </a:solidFill>
                <a:effectLst/>
                <a:uLnTx/>
                <a:uFillTx/>
                <a:latin typeface="+mn-lt"/>
                <a:ea typeface="+mn-ea"/>
                <a:cs typeface="+mn-ea"/>
                <a:sym typeface="+mn-lt"/>
              </a:rPr>
              <a:t>⑤</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释放</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Pb</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的头结点。</a:t>
            </a:r>
          </a:p>
        </p:txBody>
      </p:sp>
      <p:sp>
        <p:nvSpPr>
          <p:cNvPr id="178179" name="Rectangle 8"/>
          <p:cNvSpPr>
            <a:spLocks noChangeArrowheads="1"/>
          </p:cNvSpPr>
          <p:nvPr/>
        </p:nvSpPr>
        <p:spPr bwMode="auto">
          <a:xfrm>
            <a:off x="827088" y="158750"/>
            <a:ext cx="7210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多项式相加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7394" name="Rectangle 154"/>
          <p:cNvSpPr txBox="1"/>
          <p:nvPr/>
        </p:nvSpPr>
        <p:spPr>
          <a:xfrm>
            <a:off x="827088" y="15716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sz="2800" dirty="0">
                <a:solidFill>
                  <a:schemeClr val="bg1"/>
                </a:solidFill>
                <a:sym typeface="+mn-lt"/>
              </a:rPr>
              <a:t>案例</a:t>
            </a:r>
            <a:r>
              <a:rPr lang="en-US" altLang="zh-CN" sz="2800" dirty="0">
                <a:solidFill>
                  <a:schemeClr val="bg1"/>
                </a:solidFill>
                <a:sym typeface="+mn-lt"/>
              </a:rPr>
              <a:t>2.3 </a:t>
            </a:r>
            <a:r>
              <a:rPr lang="zh-CN" altLang="en-US" sz="2800" dirty="0">
                <a:solidFill>
                  <a:schemeClr val="bg1"/>
                </a:solidFill>
                <a:sym typeface="+mn-lt"/>
              </a:rPr>
              <a:t>：图书信息管理系统</a:t>
            </a:r>
          </a:p>
        </p:txBody>
      </p:sp>
      <p:pic>
        <p:nvPicPr>
          <p:cNvPr id="187395" name="Picture 1" descr="2UD0Y{DZT1C_VAP(LNSYLGW"/>
          <p:cNvPicPr>
            <a:picLocks noChangeAspect="1"/>
          </p:cNvPicPr>
          <p:nvPr/>
        </p:nvPicPr>
        <p:blipFill>
          <a:blip r:embed="rId3"/>
          <a:stretch>
            <a:fillRect/>
          </a:stretch>
        </p:blipFill>
        <p:spPr>
          <a:xfrm>
            <a:off x="125413" y="1330325"/>
            <a:ext cx="5889625" cy="4878388"/>
          </a:xfrm>
          <a:prstGeom prst="rect">
            <a:avLst/>
          </a:prstGeom>
          <a:noFill/>
          <a:ln w="9525" cap="flat" cmpd="sng">
            <a:solidFill>
              <a:srgbClr val="36A6EC"/>
            </a:solidFill>
            <a:prstDash val="solid"/>
            <a:miter/>
            <a:headEnd type="none" w="med" len="med"/>
            <a:tailEnd type="none" w="med" len="med"/>
          </a:ln>
        </p:spPr>
      </p:pic>
      <p:sp>
        <p:nvSpPr>
          <p:cNvPr id="179204" name="云形标注 6"/>
          <p:cNvSpPr>
            <a:spLocks noChangeArrowheads="1"/>
          </p:cNvSpPr>
          <p:nvPr/>
        </p:nvSpPr>
        <p:spPr bwMode="auto">
          <a:xfrm>
            <a:off x="6211888" y="1330325"/>
            <a:ext cx="2852738" cy="2143125"/>
          </a:xfrm>
          <a:prstGeom prst="roundRect">
            <a:avLst>
              <a:gd name="adj" fmla="val 10728"/>
            </a:avLst>
          </a:prstGeom>
          <a:solidFill>
            <a:srgbClr val="B8D4EC"/>
          </a:solid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实验</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基于线性表的图书信息管理系统</a:t>
            </a:r>
          </a:p>
        </p:txBody>
      </p:sp>
      <p:sp>
        <p:nvSpPr>
          <p:cNvPr id="187397" name="矩形 6"/>
          <p:cNvSpPr/>
          <p:nvPr/>
        </p:nvSpPr>
        <p:spPr>
          <a:xfrm>
            <a:off x="6211888" y="3617913"/>
            <a:ext cx="2852737" cy="714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398" name="矩形 7"/>
          <p:cNvSpPr/>
          <p:nvPr/>
        </p:nvSpPr>
        <p:spPr>
          <a:xfrm>
            <a:off x="6211888" y="3833813"/>
            <a:ext cx="2852737" cy="714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399" name="矩形 8"/>
          <p:cNvSpPr/>
          <p:nvPr/>
        </p:nvSpPr>
        <p:spPr>
          <a:xfrm>
            <a:off x="6211888" y="4037013"/>
            <a:ext cx="2852737" cy="714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0" name="矩形 9"/>
          <p:cNvSpPr/>
          <p:nvPr/>
        </p:nvSpPr>
        <p:spPr>
          <a:xfrm>
            <a:off x="6211888" y="4252913"/>
            <a:ext cx="2852737" cy="714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1" name="矩形 10"/>
          <p:cNvSpPr/>
          <p:nvPr/>
        </p:nvSpPr>
        <p:spPr>
          <a:xfrm>
            <a:off x="6211888" y="4468813"/>
            <a:ext cx="2852737" cy="714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2" name="矩形 11"/>
          <p:cNvSpPr/>
          <p:nvPr/>
        </p:nvSpPr>
        <p:spPr>
          <a:xfrm>
            <a:off x="6211888" y="4684713"/>
            <a:ext cx="2852737" cy="71437"/>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3" name="矩形 12"/>
          <p:cNvSpPr/>
          <p:nvPr/>
        </p:nvSpPr>
        <p:spPr>
          <a:xfrm>
            <a:off x="6211888" y="4881563"/>
            <a:ext cx="2852737" cy="73025"/>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4" name="矩形 13"/>
          <p:cNvSpPr/>
          <p:nvPr/>
        </p:nvSpPr>
        <p:spPr>
          <a:xfrm>
            <a:off x="6211888" y="5099050"/>
            <a:ext cx="2852737" cy="71438"/>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5" name="矩形 14"/>
          <p:cNvSpPr/>
          <p:nvPr/>
        </p:nvSpPr>
        <p:spPr>
          <a:xfrm>
            <a:off x="6211888" y="5314950"/>
            <a:ext cx="2852737" cy="71438"/>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6" name="矩形 15"/>
          <p:cNvSpPr/>
          <p:nvPr/>
        </p:nvSpPr>
        <p:spPr>
          <a:xfrm>
            <a:off x="6211888" y="5530850"/>
            <a:ext cx="2852737" cy="71438"/>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7" name="矩形 16"/>
          <p:cNvSpPr/>
          <p:nvPr/>
        </p:nvSpPr>
        <p:spPr>
          <a:xfrm>
            <a:off x="6211888" y="5732463"/>
            <a:ext cx="2852737" cy="73025"/>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8" name="矩形 17"/>
          <p:cNvSpPr/>
          <p:nvPr/>
        </p:nvSpPr>
        <p:spPr>
          <a:xfrm>
            <a:off x="6211888" y="5949950"/>
            <a:ext cx="2852737" cy="71438"/>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87409" name="矩形 18"/>
          <p:cNvSpPr/>
          <p:nvPr/>
        </p:nvSpPr>
        <p:spPr>
          <a:xfrm>
            <a:off x="6211888" y="6165850"/>
            <a:ext cx="2852737" cy="71438"/>
          </a:xfrm>
          <a:prstGeom prst="rect">
            <a:avLst/>
          </a:prstGeom>
          <a:solidFill>
            <a:srgbClr val="B8D4EC"/>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overrideClrMapping bg1="lt1" tx1="dk1" bg2="lt2" tx2="dk2" accent1="accent1" accent2="accent2" accent3="accent3" accent4="accent4" accent5="accent5" accent6="accent6" hlink="hlink" folHlink="folHlink"/>
  </p:clrMapOvr>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8418" name="Picture 3" descr="0204"/>
          <p:cNvPicPr>
            <a:picLocks noChangeAspect="1"/>
          </p:cNvPicPr>
          <p:nvPr/>
        </p:nvPicPr>
        <p:blipFill>
          <a:blip r:embed="rId2"/>
          <a:stretch>
            <a:fillRect/>
          </a:stretch>
        </p:blipFill>
        <p:spPr>
          <a:xfrm>
            <a:off x="468313" y="1778000"/>
            <a:ext cx="8215312" cy="2117725"/>
          </a:xfrm>
          <a:prstGeom prst="rect">
            <a:avLst/>
          </a:prstGeom>
          <a:noFill/>
          <a:ln w="9525">
            <a:noFill/>
          </a:ln>
        </p:spPr>
      </p:pic>
      <p:sp>
        <p:nvSpPr>
          <p:cNvPr id="180227" name="矩形 5"/>
          <p:cNvSpPr>
            <a:spLocks noChangeArrowheads="1"/>
          </p:cNvSpPr>
          <p:nvPr/>
        </p:nvSpPr>
        <p:spPr bwMode="auto">
          <a:xfrm>
            <a:off x="0" y="1484313"/>
            <a:ext cx="2214563" cy="523875"/>
          </a:xfrm>
          <a:prstGeom prst="rect">
            <a:avLst/>
          </a:prstGeom>
          <a:solidFill>
            <a:srgbClr val="9476B6"/>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图书顺序表</a:t>
            </a:r>
          </a:p>
        </p:txBody>
      </p:sp>
      <p:grpSp>
        <p:nvGrpSpPr>
          <p:cNvPr id="2" name="组合 6"/>
          <p:cNvGrpSpPr/>
          <p:nvPr/>
        </p:nvGrpSpPr>
        <p:grpSpPr>
          <a:xfrm>
            <a:off x="0" y="3897313"/>
            <a:ext cx="6769100" cy="1704975"/>
            <a:chOff x="-72282" y="2903804"/>
            <a:chExt cx="6768328" cy="1704130"/>
          </a:xfrm>
        </p:grpSpPr>
        <p:pic>
          <p:nvPicPr>
            <p:cNvPr id="188423" name="Picture 6" descr="C:\Users\Administrator\AppData\Roaming\Tencent\Users\597999009\QQ\WinTemp\RichOle\ZB7IEZIQ4@M0WCY9X1%V~UU.png"/>
            <p:cNvPicPr>
              <a:picLocks noChangeAspect="1"/>
            </p:cNvPicPr>
            <p:nvPr/>
          </p:nvPicPr>
          <p:blipFill>
            <a:blip r:embed="rId3"/>
            <a:stretch>
              <a:fillRect/>
            </a:stretch>
          </p:blipFill>
          <p:spPr>
            <a:xfrm>
              <a:off x="428596" y="3836409"/>
              <a:ext cx="6267450" cy="771525"/>
            </a:xfrm>
            <a:prstGeom prst="rect">
              <a:avLst/>
            </a:prstGeom>
            <a:noFill/>
            <a:ln w="9525">
              <a:noFill/>
            </a:ln>
          </p:spPr>
        </p:pic>
        <p:sp>
          <p:nvSpPr>
            <p:cNvPr id="180230" name="矩形 8"/>
            <p:cNvSpPr>
              <a:spLocks noChangeArrowheads="1"/>
            </p:cNvSpPr>
            <p:nvPr/>
          </p:nvSpPr>
          <p:spPr bwMode="auto">
            <a:xfrm>
              <a:off x="-72282" y="3260814"/>
              <a:ext cx="2214310" cy="523615"/>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图书链表</a:t>
              </a:r>
            </a:p>
          </p:txBody>
        </p:sp>
        <p:cxnSp>
          <p:nvCxnSpPr>
            <p:cNvPr id="188425" name="直接连接符 9"/>
            <p:cNvCxnSpPr/>
            <p:nvPr/>
          </p:nvCxnSpPr>
          <p:spPr>
            <a:xfrm>
              <a:off x="2571736" y="2903804"/>
              <a:ext cx="1428761" cy="1025262"/>
            </a:xfrm>
            <a:prstGeom prst="line">
              <a:avLst/>
            </a:prstGeom>
            <a:ln w="31750" cap="flat" cmpd="sng">
              <a:solidFill>
                <a:srgbClr val="FF0000"/>
              </a:solidFill>
              <a:prstDash val="solid"/>
              <a:headEnd type="none" w="med" len="med"/>
              <a:tailEnd type="none" w="med" len="med"/>
            </a:ln>
          </p:spPr>
        </p:cxnSp>
        <p:cxnSp>
          <p:nvCxnSpPr>
            <p:cNvPr id="188426" name="直接连接符 10"/>
            <p:cNvCxnSpPr/>
            <p:nvPr/>
          </p:nvCxnSpPr>
          <p:spPr>
            <a:xfrm rot="-5400000" flipH="1">
              <a:off x="3380708" y="3309278"/>
              <a:ext cx="1025262" cy="214314"/>
            </a:xfrm>
            <a:prstGeom prst="line">
              <a:avLst/>
            </a:prstGeom>
            <a:ln w="31750" cap="flat" cmpd="sng">
              <a:solidFill>
                <a:srgbClr val="FF0000"/>
              </a:solidFill>
              <a:prstDash val="solid"/>
              <a:headEnd type="none" w="med" len="med"/>
              <a:tailEnd type="none" w="med" len="med"/>
            </a:ln>
          </p:spPr>
        </p:cxnSp>
      </p:grpSp>
      <p:sp>
        <p:nvSpPr>
          <p:cNvPr id="188421" name="Rectangle 154"/>
          <p:cNvSpPr txBox="1"/>
          <p:nvPr/>
        </p:nvSpPr>
        <p:spPr>
          <a:xfrm>
            <a:off x="827088" y="15716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sz="2800" dirty="0">
                <a:solidFill>
                  <a:schemeClr val="bg1"/>
                </a:solidFill>
                <a:sym typeface="+mn-lt"/>
              </a:rPr>
              <a:t>案例</a:t>
            </a:r>
            <a:r>
              <a:rPr lang="en-US" altLang="zh-CN" sz="2800" dirty="0">
                <a:solidFill>
                  <a:schemeClr val="bg1"/>
                </a:solidFill>
                <a:sym typeface="+mn-lt"/>
              </a:rPr>
              <a:t>2.3 </a:t>
            </a:r>
            <a:r>
              <a:rPr lang="zh-CN" altLang="en-US" sz="2800" dirty="0">
                <a:solidFill>
                  <a:schemeClr val="bg1"/>
                </a:solidFill>
                <a:sym typeface="+mn-lt"/>
              </a:rPr>
              <a:t>：图书信息管理系统</a:t>
            </a:r>
          </a:p>
        </p:txBody>
      </p:sp>
      <p:sp>
        <p:nvSpPr>
          <p:cNvPr id="10"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1250" name="矩形 4"/>
          <p:cNvSpPr>
            <a:spLocks noChangeArrowheads="1"/>
          </p:cNvSpPr>
          <p:nvPr/>
        </p:nvSpPr>
        <p:spPr bwMode="auto">
          <a:xfrm>
            <a:off x="214313" y="1033463"/>
            <a:ext cx="8643938" cy="2755900"/>
          </a:xfrm>
          <a:prstGeom prst="roundRect">
            <a:avLst>
              <a:gd name="adj" fmla="val 6378"/>
            </a:avLst>
          </a:prstGeom>
          <a:solidFill>
            <a:srgbClr val="D7D7FF"/>
          </a:solid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60045"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Book </a:t>
            </a:r>
          </a:p>
          <a:p>
            <a:pPr marL="360045"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60045"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char id[20];//ISBN</a:t>
            </a:r>
          </a:p>
          <a:p>
            <a:pPr marL="360045"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char name[50];//</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书名</a:t>
            </a:r>
          </a:p>
          <a:p>
            <a:pPr marL="360045"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int price;//</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定价</a:t>
            </a:r>
          </a:p>
          <a:p>
            <a:pPr marL="360045"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 name="圆角矩形 5"/>
          <p:cNvSpPr/>
          <p:nvPr/>
        </p:nvSpPr>
        <p:spPr>
          <a:xfrm>
            <a:off x="193675" y="3967163"/>
            <a:ext cx="4214813" cy="2486025"/>
          </a:xfrm>
          <a:prstGeom prst="roundRect">
            <a:avLst>
              <a:gd name="adj" fmla="val 6741"/>
            </a:avLst>
          </a:prstGeom>
          <a:solidFill>
            <a:srgbClr val="EAEAEA"/>
          </a:solid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typedef</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顺序表</a:t>
            </a:r>
            <a:endPar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Book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endPar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int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length; </a:t>
            </a:r>
            <a:endPar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8" name="圆角矩形 7"/>
          <p:cNvSpPr/>
          <p:nvPr/>
        </p:nvSpPr>
        <p:spPr>
          <a:xfrm>
            <a:off x="4643438" y="3967163"/>
            <a:ext cx="4214813" cy="2486025"/>
          </a:xfrm>
          <a:prstGeom prst="roundRect">
            <a:avLst>
              <a:gd name="adj" fmla="val 7325"/>
            </a:avLst>
          </a:prstGeom>
          <a:solidFill>
            <a:srgbClr val="EAEAEA"/>
          </a:solid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typedef</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LNode</a:t>
            </a:r>
            <a:endPar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链表</a:t>
            </a:r>
            <a:endPar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Book  data;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LNode</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*next;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LNode</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89445" name="Rectangle 154"/>
          <p:cNvSpPr txBox="1"/>
          <p:nvPr/>
        </p:nvSpPr>
        <p:spPr>
          <a:xfrm>
            <a:off x="827088" y="15716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sz="2800" dirty="0">
                <a:solidFill>
                  <a:schemeClr val="bg1"/>
                </a:solidFill>
                <a:sym typeface="+mn-lt"/>
              </a:rPr>
              <a:t>案例</a:t>
            </a:r>
            <a:r>
              <a:rPr lang="en-US" altLang="zh-CN" sz="2800" dirty="0">
                <a:solidFill>
                  <a:schemeClr val="bg1"/>
                </a:solidFill>
                <a:sym typeface="+mn-lt"/>
              </a:rPr>
              <a:t>2.3 </a:t>
            </a:r>
            <a:r>
              <a:rPr lang="zh-CN" altLang="en-US" sz="2800" dirty="0">
                <a:solidFill>
                  <a:schemeClr val="bg1"/>
                </a:solidFill>
                <a:sym typeface="+mn-lt"/>
              </a:rPr>
              <a:t>：图书信息管理系统</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3044825" y="625665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267" name="矩形: 圆角 15"/>
          <p:cNvSpPr>
            <a:spLocks noChangeArrowheads="1"/>
          </p:cNvSpPr>
          <p:nvPr/>
        </p:nvSpPr>
        <p:spPr bwMode="auto">
          <a:xfrm>
            <a:off x="2100263" y="625665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kern="1200" cap="none" spc="0" normalizeH="0" baseline="0" noProof="0" dirty="0">
                <a:solidFill>
                  <a:schemeClr val="bg1"/>
                </a:solidFill>
                <a:latin typeface="+mn-lt"/>
                <a:ea typeface="+mn-ea"/>
                <a:cs typeface="+mn-ea"/>
                <a:sym typeface="+mn-lt"/>
              </a:rPr>
              <a:t>目录导航</a:t>
            </a:r>
          </a:p>
        </p:txBody>
      </p:sp>
      <p:sp>
        <p:nvSpPr>
          <p:cNvPr id="14" name="文本框 13"/>
          <p:cNvSpPr txBox="1"/>
          <p:nvPr/>
        </p:nvSpPr>
        <p:spPr>
          <a:xfrm>
            <a:off x="2219325" y="2138680"/>
            <a:ext cx="720725" cy="4626610"/>
          </a:xfrm>
          <a:prstGeom prst="rect">
            <a:avLst/>
          </a:prstGeom>
          <a:noFill/>
        </p:spPr>
        <p:txBody>
          <a:bodyPr>
            <a:noAutofit/>
          </a:bodyPr>
          <a:lstStyle/>
          <a:p>
            <a:pPr marR="0" defTabSz="914400">
              <a:lnSpc>
                <a:spcPct val="150000"/>
              </a:lnSpc>
              <a:buClrTx/>
              <a:buSzTx/>
              <a:buFontTx/>
              <a:buNone/>
              <a:defRPr/>
            </a:pPr>
            <a:r>
              <a:rPr kumimoji="0" lang="en-US" altLang="zh-CN" sz="2200" kern="1200" cap="none" spc="0" normalizeH="0" baseline="0" noProof="0" dirty="0">
                <a:solidFill>
                  <a:schemeClr val="tx1"/>
                </a:solidFill>
                <a:latin typeface="+mn-lt"/>
                <a:ea typeface="+mn-ea"/>
                <a:cs typeface="+mn-ea"/>
                <a:sym typeface="+mn-lt"/>
              </a:rPr>
              <a:t>2.1</a:t>
            </a:r>
            <a:endParaRPr kumimoji="0" lang="zh-CN" altLang="en-US" sz="220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2.2</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2.3</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2.4</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2.5</a:t>
            </a:r>
            <a:endParaRPr kumimoji="0" lang="zh-CN" altLang="en-US" sz="2200" kern="1200" cap="none" spc="0" normalizeH="0" baseline="0" noProof="0" dirty="0">
              <a:solidFill>
                <a:schemeClr val="tx1">
                  <a:lumMod val="95000"/>
                  <a:lumOff val="5000"/>
                </a:schemeClr>
              </a:solidFill>
              <a:latin typeface="+mn-lt"/>
              <a:ea typeface="+mn-ea"/>
              <a:cs typeface="+mn-ea"/>
              <a:sym typeface="+mn-lt"/>
            </a:endParaRP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2.6</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2.7</a:t>
            </a:r>
          </a:p>
          <a:p>
            <a:pPr marR="0" defTabSz="914400">
              <a:lnSpc>
                <a:spcPct val="150000"/>
              </a:lnSpc>
              <a:buClrTx/>
              <a:buSzTx/>
              <a:buFontTx/>
              <a:buNone/>
              <a:defRPr/>
            </a:pPr>
            <a:r>
              <a:rPr kumimoji="0" lang="en-US" altLang="zh-CN" sz="2200" kern="1200" cap="none" spc="0" normalizeH="0" baseline="0" noProof="0" dirty="0">
                <a:solidFill>
                  <a:schemeClr val="tx1">
                    <a:lumMod val="95000"/>
                    <a:lumOff val="5000"/>
                  </a:schemeClr>
                </a:solidFill>
                <a:latin typeface="+mn-lt"/>
                <a:ea typeface="+mn-ea"/>
                <a:cs typeface="+mn-ea"/>
                <a:sym typeface="+mn-lt"/>
              </a:rPr>
              <a:t>2.8</a:t>
            </a:r>
          </a:p>
          <a:p>
            <a:pPr marR="0" defTabSz="914400">
              <a:lnSpc>
                <a:spcPct val="150000"/>
              </a:lnSpc>
              <a:buClrTx/>
              <a:buSzTx/>
              <a:buFontTx/>
              <a:buNone/>
              <a:defRPr/>
            </a:pPr>
            <a:r>
              <a:rPr kumimoji="0" lang="en-US" altLang="zh-CN" sz="2200" kern="1200" cap="none" spc="0" normalizeH="0" baseline="0" noProof="0" dirty="0">
                <a:solidFill>
                  <a:schemeClr val="bg1"/>
                </a:solidFill>
                <a:latin typeface="+mn-lt"/>
                <a:ea typeface="+mn-ea"/>
                <a:cs typeface="+mn-ea"/>
                <a:sym typeface="+mn-lt"/>
              </a:rPr>
              <a:t>2.9</a:t>
            </a:r>
          </a:p>
        </p:txBody>
      </p:sp>
      <p:sp>
        <p:nvSpPr>
          <p:cNvPr id="15" name="文本框 14"/>
          <p:cNvSpPr txBox="1"/>
          <p:nvPr/>
        </p:nvSpPr>
        <p:spPr>
          <a:xfrm>
            <a:off x="3057525" y="2138680"/>
            <a:ext cx="4129405" cy="4650740"/>
          </a:xfrm>
          <a:prstGeom prst="rect">
            <a:avLst/>
          </a:prstGeom>
          <a:noFill/>
        </p:spPr>
        <p:txBody>
          <a:bodyPr>
            <a:noAutofit/>
          </a:bodyPr>
          <a:lstStyle/>
          <a:p>
            <a:pPr marR="0" defTabSz="914400">
              <a:lnSpc>
                <a:spcPct val="150000"/>
              </a:lnSpc>
              <a:buClrTx/>
              <a:buSzTx/>
              <a:buFontTx/>
              <a:buNone/>
              <a:defRPr/>
            </a:pPr>
            <a:r>
              <a:rPr kumimoji="0" lang="zh-CN" altLang="en-US" sz="2200" kern="1200" cap="none" spc="0" normalizeH="0" baseline="0" noProof="0" dirty="0">
                <a:solidFill>
                  <a:schemeClr val="tx1"/>
                </a:solidFill>
                <a:latin typeface="+mn-lt"/>
                <a:ea typeface="+mn-ea"/>
                <a:cs typeface="+mn-ea"/>
                <a:sym typeface="+mn-lt"/>
              </a:rPr>
              <a:t>线性表的定义和特点</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案例引入</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线性表的类型定义</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线性表的顺序表示和实现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线性表的链式表示和实现</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顺序表和链表的比较</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线性表的应用</a:t>
            </a:r>
          </a:p>
          <a:p>
            <a:pPr marR="0" defTabSz="914400">
              <a:lnSpc>
                <a:spcPct val="150000"/>
              </a:lnSpc>
              <a:buClrTx/>
              <a:buSzTx/>
              <a:buFontTx/>
              <a:buNone/>
              <a:defRPr/>
            </a:pPr>
            <a:r>
              <a:rPr kumimoji="0" lang="zh-CN" altLang="en-US" sz="2200" kern="1200" cap="none" spc="0" normalizeH="0" baseline="0" noProof="0" dirty="0">
                <a:latin typeface="+mn-lt"/>
                <a:ea typeface="+mn-ea"/>
                <a:cs typeface="+mn-ea"/>
                <a:sym typeface="+mn-lt"/>
              </a:rPr>
              <a:t>案例分析与实现</a:t>
            </a:r>
          </a:p>
          <a:p>
            <a:pPr marR="0" defTabSz="914400">
              <a:lnSpc>
                <a:spcPct val="150000"/>
              </a:lnSpc>
              <a:buClrTx/>
              <a:buSzTx/>
              <a:buFontTx/>
              <a:buNone/>
              <a:defRPr/>
            </a:pPr>
            <a:r>
              <a:rPr kumimoji="0" lang="zh-CN" altLang="en-US" sz="2200" kern="1200" cap="none" spc="0" normalizeH="0" baseline="0" noProof="0" dirty="0">
                <a:solidFill>
                  <a:schemeClr val="bg1"/>
                </a:solidFill>
                <a:latin typeface="+mn-lt"/>
                <a:ea typeface="+mn-ea"/>
                <a:cs typeface="+mn-ea"/>
                <a:sym typeface="+mn-lt"/>
              </a:rPr>
              <a:t>LeetCode算法练习题</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Contents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3752215"/>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755140"/>
            <a:ext cx="8398510" cy="188943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给定一个升序排列的数组，原地删除重复出现的元素，使得每个元素只出现一次，返回删除后数组的长度。注意 ：不可以使用额外的数组空间，即算法的空间复杂度为 O(1)。</a:t>
            </a:r>
          </a:p>
        </p:txBody>
      </p:sp>
      <p:sp>
        <p:nvSpPr>
          <p:cNvPr id="4" name="圆角矩形 3"/>
          <p:cNvSpPr/>
          <p:nvPr/>
        </p:nvSpPr>
        <p:spPr>
          <a:xfrm>
            <a:off x="323215" y="4438650"/>
            <a:ext cx="8398510" cy="2337664"/>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：nums = [0, 0, 1, 1, 1, 2, 2, 3, 3, 4]</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输出 ：5，nums = [0, 1, 2, 3, 4]</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解释 ：函数应该返回新的数组长度 5，并且原数组 nums 的前 5 个元素被修改为 0, 1, 2, 3, 4。不需要考虑数组中超出新长度的元素。</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pic>
        <p:nvPicPr>
          <p:cNvPr id="2" name="图片 1"/>
          <p:cNvPicPr>
            <a:picLocks noChangeAspect="1"/>
          </p:cNvPicPr>
          <p:nvPr/>
        </p:nvPicPr>
        <p:blipFill>
          <a:blip r:embed="rId2"/>
          <a:srcRect t="45646"/>
          <a:stretch>
            <a:fillRect/>
          </a:stretch>
        </p:blipFill>
        <p:spPr>
          <a:xfrm>
            <a:off x="236855" y="2205355"/>
            <a:ext cx="8670290" cy="3346450"/>
          </a:xfrm>
          <a:prstGeom prst="rect">
            <a:avLst/>
          </a:prstGeom>
        </p:spPr>
      </p:pic>
      <p:sp>
        <p:nvSpPr>
          <p:cNvPr id="180227" name="矩形 5"/>
          <p:cNvSpPr>
            <a:spLocks noChangeArrowheads="1"/>
          </p:cNvSpPr>
          <p:nvPr/>
        </p:nvSpPr>
        <p:spPr bwMode="auto">
          <a:xfrm>
            <a:off x="0" y="112585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5" name="图片 4"/>
          <p:cNvPicPr>
            <a:picLocks noChangeAspect="1"/>
          </p:cNvPicPr>
          <p:nvPr/>
        </p:nvPicPr>
        <p:blipFill>
          <a:blip r:embed="rId2"/>
          <a:srcRect t="43400"/>
          <a:stretch>
            <a:fillRect/>
          </a:stretch>
        </p:blipFill>
        <p:spPr>
          <a:xfrm>
            <a:off x="395605" y="2348865"/>
            <a:ext cx="8329295" cy="334264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07315" y="2348865"/>
            <a:ext cx="8860155" cy="3630295"/>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3" name="图片 2"/>
          <p:cNvPicPr>
            <a:picLocks noChangeAspect="1"/>
          </p:cNvPicPr>
          <p:nvPr/>
        </p:nvPicPr>
        <p:blipFill>
          <a:blip r:embed="rId2"/>
          <a:stretch>
            <a:fillRect/>
          </a:stretch>
        </p:blipFill>
        <p:spPr>
          <a:xfrm>
            <a:off x="136525" y="2305050"/>
            <a:ext cx="8870315" cy="3500755"/>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07950" y="2421255"/>
            <a:ext cx="8841740" cy="3253105"/>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2132330"/>
            <a:ext cx="8398510" cy="3561776"/>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判断数组长度是否为 0，如果是则返回 0。</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定义 fast 和 slow 指针，初始时二者均指向数组下标为 1 的位置。</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fast 从 1 到 numsSize − 1 依次遍历数组，循环执行以下操作 ：如果 nums[fast] ≠ nums[fast - 1]，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则将 nums[fast] 的值复制到 nums[slow]，然后将 slow 的值加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④ 返回数组的新长度 slow。</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127635" y="1990090"/>
            <a:ext cx="8879205" cy="3754755"/>
          </a:xfrm>
          <a:prstGeom prst="rect">
            <a:avLst/>
          </a:prstGeom>
        </p:spPr>
      </p:pic>
      <p:pic>
        <p:nvPicPr>
          <p:cNvPr id="5" name="图片 4"/>
          <p:cNvPicPr>
            <a:picLocks noChangeAspect="1"/>
          </p:cNvPicPr>
          <p:nvPr/>
        </p:nvPicPr>
        <p:blipFill>
          <a:blip r:embed="rId3"/>
          <a:stretch>
            <a:fillRect/>
          </a:stretch>
        </p:blipFill>
        <p:spPr>
          <a:xfrm>
            <a:off x="107315" y="5733415"/>
            <a:ext cx="8865870" cy="50927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2.1】 LeetCode 26 删除有序数组中的重复项</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921635"/>
            <a:ext cx="8398510" cy="1887526"/>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由于需要使用快、慢指针遍历整个输入数组，因此时间复杂度为 O(n) ；由于双指针方法删除升序数组中的重复元素只需复写原数组空间，而不需要额外空间，因此空间复杂度为 O(1)。</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2.2】LeetCode 61 旋转链表</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3321685"/>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970405"/>
            <a:ext cx="8398510" cy="97669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给定一个链表，旋转链表，将链表每个结点向右移动 k 个位置，其中 k 为非负数。</a:t>
            </a:r>
          </a:p>
        </p:txBody>
      </p:sp>
      <p:sp>
        <p:nvSpPr>
          <p:cNvPr id="4" name="圆角矩形 3"/>
          <p:cNvSpPr/>
          <p:nvPr/>
        </p:nvSpPr>
        <p:spPr>
          <a:xfrm>
            <a:off x="323215" y="4295140"/>
            <a:ext cx="8398510" cy="97739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：head = [1, 2, 3, 4, 5]，k = 2</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输出 ：[4, 5,1, 2, 3]</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2.2】LeetCode 61 旋转链表</a:t>
            </a:r>
          </a:p>
        </p:txBody>
      </p:sp>
      <p:sp>
        <p:nvSpPr>
          <p:cNvPr id="180227" name="矩形 5"/>
          <p:cNvSpPr>
            <a:spLocks noChangeArrowheads="1"/>
          </p:cNvSpPr>
          <p:nvPr/>
        </p:nvSpPr>
        <p:spPr bwMode="auto">
          <a:xfrm>
            <a:off x="0" y="112585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3" name="图片 2"/>
          <p:cNvPicPr>
            <a:picLocks noChangeAspect="1"/>
          </p:cNvPicPr>
          <p:nvPr/>
        </p:nvPicPr>
        <p:blipFill>
          <a:blip r:embed="rId2"/>
          <a:stretch>
            <a:fillRect/>
          </a:stretch>
        </p:blipFill>
        <p:spPr>
          <a:xfrm>
            <a:off x="1547495" y="1917065"/>
            <a:ext cx="5864225" cy="4592955"/>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2.2】LeetCode 61 旋转链表</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701800"/>
            <a:ext cx="8398510" cy="4922614"/>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若链表长度不大于 1，或 k = 0，可直接返回原链表。</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统计链表结点个数 n，并将指针 tail 指向链表尾结点。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计算链表实际需要向右移动次数 movenum。</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④ 若 k 为 n 的整数倍，返回原链表。</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⑤ 若 k 不是 n 的整数倍，则将链表尾结点指针域指向首元结点，使链表闭合成环。</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⑥ 确定旋转后链表的尾结点，在环形链表第 addnum（n - movenum）个结点位置将链表断开。</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⑦ 返回旋转后的链表 newhead。</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2.2】LeetCode 61 旋转链表</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827405" y="1688465"/>
            <a:ext cx="7531735" cy="5008245"/>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2.2】LeetCode 61 旋转链表</a:t>
            </a:r>
          </a:p>
        </p:txBody>
      </p:sp>
      <p:sp>
        <p:nvSpPr>
          <p:cNvPr id="180227" name="矩形 5"/>
          <p:cNvSpPr>
            <a:spLocks noChangeArrowheads="1"/>
          </p:cNvSpPr>
          <p:nvPr/>
        </p:nvSpPr>
        <p:spPr bwMode="auto">
          <a:xfrm>
            <a:off x="0" y="148463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3065145"/>
            <a:ext cx="8398510" cy="1440495"/>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最坏情况下，需要遍历原链表两次，因此时间复杂度为 O(n) ；算法不需要额外空间，因此空间复杂度为 O(1)。</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2.3】LeetCode 86 分隔链表</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4039235"/>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826895"/>
            <a:ext cx="8398510" cy="1887366"/>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给定一个链表和特定值 x，对链表进行分隔，使得所有小于 x 的结点都出现在大于或等于 x的结点之前，并保留以 x 为界的左右两个区域中结点的初始相对位置。</a:t>
            </a:r>
          </a:p>
        </p:txBody>
      </p:sp>
      <p:sp>
        <p:nvSpPr>
          <p:cNvPr id="4" name="圆角矩形 3"/>
          <p:cNvSpPr/>
          <p:nvPr/>
        </p:nvSpPr>
        <p:spPr>
          <a:xfrm>
            <a:off x="323215" y="4869180"/>
            <a:ext cx="8398510" cy="97526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：head = [1, 4, 3, 2, 5, 2]，x = 3</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输出 ：[1, 2, 2, 4, 3, 5]</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2.3】LeetCode 86 分隔链表</a:t>
            </a:r>
          </a:p>
        </p:txBody>
      </p:sp>
      <p:sp>
        <p:nvSpPr>
          <p:cNvPr id="180227" name="矩形 5"/>
          <p:cNvSpPr>
            <a:spLocks noChangeArrowheads="1"/>
          </p:cNvSpPr>
          <p:nvPr/>
        </p:nvSpPr>
        <p:spPr bwMode="auto">
          <a:xfrm>
            <a:off x="0" y="112585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187450" y="1917065"/>
            <a:ext cx="6731635" cy="464566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2.3】LeetCode 86 分隔链表</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701800"/>
            <a:ext cx="8398510" cy="4580797"/>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定义 small 和 large 两个指针，分别指向新生成的两个链表的头结点。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指针 pa、pb 和 pc 初始化，pa 指向原链表的首元结点，pb 和 pc 分别指向 small 和 large的头结点。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遍历原链表，并循环执行以下操作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 pa 所指结点的值小于 x，则将其插入链表 small，并将 pb 指向新插入结点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 pa 所指结点的值大于或等于 x，则将其插入链表 large，并将 pc 指向新插入结点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pa 指向下一个结点。</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2.3】LeetCode 86 分隔链表</a:t>
            </a:r>
          </a:p>
        </p:txBody>
      </p:sp>
      <p:sp>
        <p:nvSpPr>
          <p:cNvPr id="180227" name="矩形 5"/>
          <p:cNvSpPr>
            <a:spLocks noChangeArrowheads="1"/>
          </p:cNvSpPr>
          <p:nvPr/>
        </p:nvSpPr>
        <p:spPr bwMode="auto">
          <a:xfrm>
            <a:off x="0" y="141287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2562860"/>
            <a:ext cx="8398510" cy="2066912"/>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④ 将 pc 的指针域置空。</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⑤ 将 pb 的指针域指向 large 链表的首元结点。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⑥ 将 newhead 指向链表 small 的首元结点，并返回分隔后的链表 newhead。</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2.3】LeetCode 86 分隔链表</a:t>
            </a:r>
          </a:p>
        </p:txBody>
      </p:sp>
      <p:sp>
        <p:nvSpPr>
          <p:cNvPr id="180227" name="矩形 5"/>
          <p:cNvSpPr>
            <a:spLocks noChangeArrowheads="1"/>
          </p:cNvSpPr>
          <p:nvPr/>
        </p:nvSpPr>
        <p:spPr bwMode="auto">
          <a:xfrm>
            <a:off x="0" y="83883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479425" y="1387475"/>
            <a:ext cx="7913370" cy="2204085"/>
          </a:xfrm>
          <a:prstGeom prst="rect">
            <a:avLst/>
          </a:prstGeom>
        </p:spPr>
      </p:pic>
      <p:pic>
        <p:nvPicPr>
          <p:cNvPr id="4" name="图片 3"/>
          <p:cNvPicPr>
            <a:picLocks noChangeAspect="1"/>
          </p:cNvPicPr>
          <p:nvPr/>
        </p:nvPicPr>
        <p:blipFill>
          <a:blip r:embed="rId3"/>
          <a:stretch>
            <a:fillRect/>
          </a:stretch>
        </p:blipFill>
        <p:spPr>
          <a:xfrm>
            <a:off x="479425" y="3573145"/>
            <a:ext cx="7847330" cy="3181985"/>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2.3】LeetCode 86 分隔链表</a:t>
            </a:r>
          </a:p>
        </p:txBody>
      </p:sp>
      <p:sp>
        <p:nvSpPr>
          <p:cNvPr id="180227" name="矩形 5"/>
          <p:cNvSpPr>
            <a:spLocks noChangeArrowheads="1"/>
          </p:cNvSpPr>
          <p:nvPr/>
        </p:nvSpPr>
        <p:spPr bwMode="auto">
          <a:xfrm>
            <a:off x="0" y="148463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3065145"/>
            <a:ext cx="8398510" cy="1440545"/>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由于需要对链表进行一次遍历，因此时间复杂度为 O(n) ；算法不需要额外空间，因此空间复杂度为 O(1)。</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2.4】LeetCode 142 环形链表 II</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3106420"/>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826895"/>
            <a:ext cx="8398510" cy="992343"/>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给定一个链表，判断链表中是否有环。如果有环</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则返回链表开始入环的第一个结点，否则返回 NULL。</a:t>
            </a:r>
          </a:p>
        </p:txBody>
      </p:sp>
      <p:sp>
        <p:nvSpPr>
          <p:cNvPr id="4" name="圆角矩形 3"/>
          <p:cNvSpPr/>
          <p:nvPr/>
        </p:nvSpPr>
        <p:spPr>
          <a:xfrm>
            <a:off x="323215" y="3936365"/>
            <a:ext cx="8398510" cy="2337696"/>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：head = [3, 2, 0, -4]，pos =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为了表示给定链表中的环，使用整数 pos 来表示链表尾结节链接到链表中的位置（索引从 0 开始）。如果 pos 是 -1，则该链表中没有环。注意 ：pos 不作为参数进行传递，仅用于标识链表的实际情况。</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2.4】LeetCode 142 环形链表 II</a:t>
            </a:r>
          </a:p>
        </p:txBody>
      </p:sp>
      <p:pic>
        <p:nvPicPr>
          <p:cNvPr id="3" name="图片 2"/>
          <p:cNvPicPr>
            <a:picLocks noChangeAspect="1"/>
          </p:cNvPicPr>
          <p:nvPr/>
        </p:nvPicPr>
        <p:blipFill>
          <a:blip r:embed="rId2"/>
          <a:stretch>
            <a:fillRect/>
          </a:stretch>
        </p:blipFill>
        <p:spPr>
          <a:xfrm>
            <a:off x="2483485" y="1340485"/>
            <a:ext cx="4476115" cy="5412105"/>
          </a:xfrm>
          <a:prstGeom prst="rect">
            <a:avLst/>
          </a:prstGeom>
        </p:spPr>
      </p:pic>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2.4】LeetCode 142 环形链表 II</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475740" y="1916430"/>
            <a:ext cx="6078855" cy="4158615"/>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2.4】LeetCode 142 环形链表 II</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701800"/>
            <a:ext cx="8398510" cy="5047414"/>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定义指针 fast 和 slow，初始时二者均指向链表首元结点。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当 fast 所指结点为空时，返回 NULL，否则循环执行以下操作。</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如果 fast 的后继结点为空，返回 NULL。</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slow 每次向后移动一个位置，fast 每次向后移动两个位置。</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如果 fast 和 slow 相遇，定义 p 指针，初始时指向链表首元结点，循环执行以下操作 ：p 和 slow 每次均向后移动一个位置，最终在入环的第一个结点处相遇，返回入环的第一个结点 p。</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2.4】LeetCode 142 环形链表 II</a:t>
            </a:r>
          </a:p>
        </p:txBody>
      </p:sp>
      <p:sp>
        <p:nvSpPr>
          <p:cNvPr id="180227" name="矩形 5"/>
          <p:cNvSpPr>
            <a:spLocks noChangeArrowheads="1"/>
          </p:cNvSpPr>
          <p:nvPr/>
        </p:nvSpPr>
        <p:spPr bwMode="auto">
          <a:xfrm>
            <a:off x="0" y="83883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683260" y="1484630"/>
            <a:ext cx="7719695" cy="5150485"/>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2.4】LeetCode 142 环形链表 II</a:t>
            </a:r>
          </a:p>
        </p:txBody>
      </p:sp>
      <p:sp>
        <p:nvSpPr>
          <p:cNvPr id="180227" name="矩形 5"/>
          <p:cNvSpPr>
            <a:spLocks noChangeArrowheads="1"/>
          </p:cNvSpPr>
          <p:nvPr/>
        </p:nvSpPr>
        <p:spPr bwMode="auto">
          <a:xfrm>
            <a:off x="0" y="148463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634615"/>
            <a:ext cx="8398510" cy="2337560"/>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在最初判断快、慢指针是否相遇时，slow 指针走过的距离不会超过链表的总长度，随后寻找入环点时，走过的距离也不会超过链表的总长度，因此时间复杂度为 O(n) ；算法不需要额外空间，空间复杂度为 O(1)。</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126936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3393440"/>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2113915"/>
            <a:ext cx="8398510" cy="97462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给定一个链表，每 k 个结点一组进行翻转，返回修改后的链表。</a:t>
            </a:r>
          </a:p>
        </p:txBody>
      </p:sp>
      <p:sp>
        <p:nvSpPr>
          <p:cNvPr id="4" name="圆角矩形 3"/>
          <p:cNvSpPr/>
          <p:nvPr/>
        </p:nvSpPr>
        <p:spPr>
          <a:xfrm>
            <a:off x="323215" y="4223385"/>
            <a:ext cx="8398510" cy="97739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：head = [1, 2, 3, 4, 5]，k = 2</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输出 ：[2, 1, 4, 3, 5]</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475740" y="1628775"/>
            <a:ext cx="6144895" cy="493141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126936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2204085"/>
            <a:ext cx="8398510" cy="2804283"/>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定义 s 指针，指向新生成的链表的头结点。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定义 cur 指针，将 cur 指向 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定义 slow、fast 和 prev 指针，并将 slow 指向原链表首元结点，fast 和 prev 置空。</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④ 统计链表结点个数 n，并计算需要进行翻转的组数⌊n/k⌋</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endPar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701800"/>
            <a:ext cx="8398510" cy="4580797"/>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⑤ 针对需要翻转的各组结点循环执行以下操作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slow 指向当前结点，fast 指向 slow 的后继结点，然后将 slow 的指针域指向前驱结点prev，实现组内结点的翻转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使用后插法将翻转后的各组结点插入 s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cur 指向翻转部分链表尾部。</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⑥ 将不需要进行翻转的部分直接插入到链表尾部，即 cur 的指针域指向此部分的第一个结点。</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⑦ 将 newhead 指向链表 s 的首元结点，并返回翻转后的链表 newhead</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539750" y="1896745"/>
            <a:ext cx="8065135" cy="1728470"/>
          </a:xfrm>
          <a:prstGeom prst="rect">
            <a:avLst/>
          </a:prstGeom>
        </p:spPr>
      </p:pic>
      <p:pic>
        <p:nvPicPr>
          <p:cNvPr id="4" name="图片 3"/>
          <p:cNvPicPr>
            <a:picLocks noChangeAspect="1"/>
          </p:cNvPicPr>
          <p:nvPr/>
        </p:nvPicPr>
        <p:blipFill>
          <a:blip r:embed="rId3"/>
          <a:stretch>
            <a:fillRect/>
          </a:stretch>
        </p:blipFill>
        <p:spPr>
          <a:xfrm>
            <a:off x="611505" y="3572510"/>
            <a:ext cx="7978775" cy="2200275"/>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683260" y="1688465"/>
            <a:ext cx="7738110" cy="4711700"/>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2.5】LeetCode 25 k 个一组翻转链表</a:t>
            </a:r>
          </a:p>
        </p:txBody>
      </p:sp>
      <p:sp>
        <p:nvSpPr>
          <p:cNvPr id="180227" name="矩形 5"/>
          <p:cNvSpPr>
            <a:spLocks noChangeArrowheads="1"/>
          </p:cNvSpPr>
          <p:nvPr/>
        </p:nvSpPr>
        <p:spPr bwMode="auto">
          <a:xfrm>
            <a:off x="0" y="148463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634615"/>
            <a:ext cx="8398510" cy="188943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cur 指针会在 O(</a:t>
            </a:r>
            <a:r>
              <a:rPr kumimoji="1" lang="en-US" altLang="zh-CN" noProof="0" dirty="0">
                <a:ln>
                  <a:noFill/>
                </a:ln>
                <a:effectLst/>
                <a:uLnTx/>
                <a:uFillTx/>
                <a:latin typeface="+mn-lt"/>
                <a:ea typeface="+mn-ea"/>
                <a:cs typeface="+mn-ea"/>
                <a:sym typeface="+mn-lt"/>
              </a:rPr>
              <a:t>⌊n/k⌋</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 个结点上停留，每次停留需要进行一次时间复杂度为 O(k) 的翻转操作，因此时间复杂度为 O(n) ；算法不需要额外空间，因此空间复杂度为 O(1)。</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2274" name="Rectangle 4"/>
          <p:cNvSpPr>
            <a:spLocks noChangeArrowheads="1"/>
          </p:cNvSpPr>
          <p:nvPr/>
        </p:nvSpPr>
        <p:spPr bwMode="auto">
          <a:xfrm>
            <a:off x="1084263" y="1335088"/>
            <a:ext cx="7716838" cy="2384425"/>
          </a:xfrm>
          <a:prstGeom prst="rect">
            <a:avLst/>
          </a:prstGeom>
          <a:noFill/>
          <a:ln w="9525">
            <a:noFill/>
            <a:miter lim="800000"/>
          </a:ln>
          <a:effec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5000"/>
              </a:lnSpc>
              <a:spcBef>
                <a:spcPct val="2000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掌握线性表的逻辑结构特性是数据元素之间存在着线性关系，在计算机中表示这种关系的两类不同的存储结构是顺序存储结构（</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顺序表</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）和链式存储结构（</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链表</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82275" name="Comment 6"/>
          <p:cNvSpPr>
            <a:spLocks noChangeArrowheads="1"/>
          </p:cNvSpPr>
          <p:nvPr/>
        </p:nvSpPr>
        <p:spPr bwMode="auto">
          <a:xfrm>
            <a:off x="827088" y="188913"/>
            <a:ext cx="1676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sp>
        <p:nvSpPr>
          <p:cNvPr id="4" name="矩形: 圆角 29"/>
          <p:cNvSpPr/>
          <p:nvPr/>
        </p:nvSpPr>
        <p:spPr bwMode="auto">
          <a:xfrm>
            <a:off x="323850" y="4060825"/>
            <a:ext cx="641350" cy="661988"/>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 name="矩形: 圆角 6"/>
          <p:cNvSpPr/>
          <p:nvPr/>
        </p:nvSpPr>
        <p:spPr bwMode="auto">
          <a:xfrm>
            <a:off x="323850" y="1495425"/>
            <a:ext cx="641350" cy="661988"/>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0470" name="组合 28"/>
          <p:cNvGrpSpPr/>
          <p:nvPr/>
        </p:nvGrpSpPr>
        <p:grpSpPr>
          <a:xfrm>
            <a:off x="357188" y="1538288"/>
            <a:ext cx="590550" cy="627062"/>
            <a:chOff x="6242320" y="1105887"/>
            <a:chExt cx="589786" cy="626357"/>
          </a:xfrm>
        </p:grpSpPr>
        <p:sp>
          <p:nvSpPr>
            <p:cNvPr id="10" name="TextBox 6"/>
            <p:cNvSpPr txBox="1">
              <a:spLocks noChangeArrowheads="1"/>
            </p:cNvSpPr>
            <p:nvPr/>
          </p:nvSpPr>
          <p:spPr bwMode="auto">
            <a:xfrm>
              <a:off x="6327934" y="1105887"/>
              <a:ext cx="475634" cy="491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9900"/>
                  </a:solidFill>
                  <a:effectLst/>
                  <a:uLnTx/>
                  <a:uFillTx/>
                  <a:latin typeface="+mn-lt"/>
                  <a:ea typeface="+mn-ea"/>
                  <a:cs typeface="+mn-ea"/>
                  <a:sym typeface="+mn-lt"/>
                </a:rPr>
                <a:t>01</a:t>
              </a:r>
              <a:endParaRPr kumimoji="0" lang="zh-CN" altLang="en-US" sz="3200" b="1"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11" name="文本框 22"/>
            <p:cNvSpPr txBox="1">
              <a:spLocks noChangeArrowheads="1"/>
            </p:cNvSpPr>
            <p:nvPr/>
          </p:nvSpPr>
          <p:spPr bwMode="auto">
            <a:xfrm>
              <a:off x="6242320" y="1516587"/>
              <a:ext cx="589786" cy="21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90471" name="组合 45"/>
          <p:cNvGrpSpPr/>
          <p:nvPr/>
        </p:nvGrpSpPr>
        <p:grpSpPr>
          <a:xfrm>
            <a:off x="374650" y="4100513"/>
            <a:ext cx="590550" cy="631825"/>
            <a:chOff x="6242320" y="2373259"/>
            <a:chExt cx="589786" cy="631715"/>
          </a:xfrm>
        </p:grpSpPr>
        <p:sp>
          <p:nvSpPr>
            <p:cNvPr id="13" name="TextBox 6"/>
            <p:cNvSpPr txBox="1">
              <a:spLocks noChangeArrowheads="1"/>
            </p:cNvSpPr>
            <p:nvPr/>
          </p:nvSpPr>
          <p:spPr bwMode="auto">
            <a:xfrm>
              <a:off x="6327934" y="2373259"/>
              <a:ext cx="458194" cy="492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mn-lt"/>
                  <a:ea typeface="+mn-ea"/>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mn-lt"/>
                <a:ea typeface="+mn-ea"/>
                <a:cs typeface="+mn-ea"/>
                <a:sym typeface="+mn-lt"/>
              </a:endParaRPr>
            </a:p>
          </p:txBody>
        </p:sp>
        <p:sp>
          <p:nvSpPr>
            <p:cNvPr id="14" name="文本框 23"/>
            <p:cNvSpPr txBox="1">
              <a:spLocks noChangeArrowheads="1"/>
            </p:cNvSpPr>
            <p:nvPr/>
          </p:nvSpPr>
          <p:spPr bwMode="auto">
            <a:xfrm>
              <a:off x="6242320" y="2789112"/>
              <a:ext cx="589786" cy="21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cxnSp>
        <p:nvCxnSpPr>
          <p:cNvPr id="15" name="直接连接符 14"/>
          <p:cNvCxnSpPr/>
          <p:nvPr/>
        </p:nvCxnSpPr>
        <p:spPr bwMode="auto">
          <a:xfrm>
            <a:off x="442913" y="3684588"/>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cxnSp>
        <p:nvCxnSpPr>
          <p:cNvPr id="17" name="直接连接符 16"/>
          <p:cNvCxnSpPr/>
          <p:nvPr/>
        </p:nvCxnSpPr>
        <p:spPr bwMode="auto">
          <a:xfrm>
            <a:off x="498475" y="5783263"/>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18" name="Rectangle 4"/>
          <p:cNvSpPr>
            <a:spLocks noChangeArrowheads="1"/>
          </p:cNvSpPr>
          <p:nvPr/>
        </p:nvSpPr>
        <p:spPr bwMode="auto">
          <a:xfrm>
            <a:off x="1101725" y="3933825"/>
            <a:ext cx="7699375" cy="1704975"/>
          </a:xfrm>
          <a:prstGeom prst="rect">
            <a:avLst/>
          </a:prstGeom>
          <a:noFill/>
          <a:ln w="9525">
            <a:noFill/>
            <a:miter lim="800000"/>
          </a:ln>
          <a:effec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25000"/>
              </a:lnSpc>
              <a:spcBef>
                <a:spcPct val="2000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熟练掌握这两类存储结构的描述方法，掌握链表中的</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头结点、头指针和首元结点</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的区别及</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循环链表、双向链表的特点</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等。</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3299" name="Comment 5"/>
          <p:cNvSpPr>
            <a:spLocks noChangeArrowheads="1"/>
          </p:cNvSpPr>
          <p:nvPr/>
        </p:nvSpPr>
        <p:spPr bwMode="auto">
          <a:xfrm>
            <a:off x="827088" y="198438"/>
            <a:ext cx="1676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sp>
        <p:nvSpPr>
          <p:cNvPr id="4" name="矩形: 圆角 30"/>
          <p:cNvSpPr/>
          <p:nvPr/>
        </p:nvSpPr>
        <p:spPr bwMode="auto">
          <a:xfrm>
            <a:off x="533400" y="1574800"/>
            <a:ext cx="595313" cy="661988"/>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1492" name="组合 48"/>
          <p:cNvGrpSpPr/>
          <p:nvPr/>
        </p:nvGrpSpPr>
        <p:grpSpPr>
          <a:xfrm>
            <a:off x="538163" y="1606550"/>
            <a:ext cx="590550" cy="620713"/>
            <a:chOff x="6242320" y="3640826"/>
            <a:chExt cx="589786" cy="620331"/>
          </a:xfrm>
        </p:grpSpPr>
        <p:sp>
          <p:nvSpPr>
            <p:cNvPr id="7" name="TextBox 6"/>
            <p:cNvSpPr txBox="1">
              <a:spLocks noChangeArrowheads="1"/>
            </p:cNvSpPr>
            <p:nvPr/>
          </p:nvSpPr>
          <p:spPr bwMode="auto">
            <a:xfrm>
              <a:off x="6327934" y="3640826"/>
              <a:ext cx="504172" cy="491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mn-lt"/>
                  <a:ea typeface="+mn-ea"/>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mn-lt"/>
                <a:ea typeface="+mn-ea"/>
                <a:cs typeface="+mn-ea"/>
                <a:sym typeface="+mn-lt"/>
              </a:endParaRPr>
            </a:p>
          </p:txBody>
        </p:sp>
        <p:sp>
          <p:nvSpPr>
            <p:cNvPr id="8"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sp>
        <p:nvSpPr>
          <p:cNvPr id="9" name="Rectangle 1106"/>
          <p:cNvSpPr>
            <a:spLocks noChangeArrowheads="1"/>
          </p:cNvSpPr>
          <p:nvPr/>
        </p:nvSpPr>
        <p:spPr bwMode="auto">
          <a:xfrm>
            <a:off x="1403350" y="1630363"/>
            <a:ext cx="71278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anose="02010609030101010101" pitchFamily="49" charset="-122"/>
              </a:defRPr>
            </a:lvl1pPr>
            <a:lvl2pPr>
              <a:defRPr sz="2400" b="1">
                <a:solidFill>
                  <a:schemeClr val="tx1"/>
                </a:solidFill>
                <a:latin typeface="Times New Roman" panose="02020603050405020304" pitchFamily="18" charset="0"/>
                <a:ea typeface="楷体_GB2312" panose="02010609030101010101" pitchFamily="49" charset="-122"/>
              </a:defRPr>
            </a:lvl2pPr>
            <a:lvl3pPr>
              <a:defRPr sz="2400" b="1">
                <a:solidFill>
                  <a:schemeClr val="tx1"/>
                </a:solidFill>
                <a:latin typeface="Times New Roman" panose="02020603050405020304" pitchFamily="18" charset="0"/>
                <a:ea typeface="楷体_GB2312" panose="02010609030101010101" pitchFamily="49" charset="-122"/>
              </a:defRPr>
            </a:lvl3pPr>
            <a:lvl4pPr>
              <a:defRPr sz="2400" b="1">
                <a:solidFill>
                  <a:schemeClr val="tx1"/>
                </a:solidFill>
                <a:latin typeface="Times New Roman" panose="02020603050405020304" pitchFamily="18" charset="0"/>
                <a:ea typeface="楷体_GB2312" panose="02010609030101010101" pitchFamily="49" charset="-122"/>
              </a:defRPr>
            </a:lvl4pPr>
            <a:lvl5pPr>
              <a:defRPr sz="2400" b="1">
                <a:solidFill>
                  <a:schemeClr val="tx1"/>
                </a:solidFill>
                <a:latin typeface="Times New Roman" panose="02020603050405020304" pitchFamily="18" charset="0"/>
                <a:ea typeface="楷体_GB2312" panose="02010609030101010101"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熟练掌握顺序表的查找、插入和删除算法 </a:t>
            </a:r>
          </a:p>
        </p:txBody>
      </p:sp>
      <p:cxnSp>
        <p:nvCxnSpPr>
          <p:cNvPr id="10" name="直接连接符 9"/>
          <p:cNvCxnSpPr/>
          <p:nvPr/>
        </p:nvCxnSpPr>
        <p:spPr bwMode="auto">
          <a:xfrm>
            <a:off x="652463" y="2357438"/>
            <a:ext cx="8096250"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11" name="矩形: 圆角 36"/>
          <p:cNvSpPr/>
          <p:nvPr/>
        </p:nvSpPr>
        <p:spPr bwMode="auto">
          <a:xfrm>
            <a:off x="533400" y="2449513"/>
            <a:ext cx="595313"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1496" name="组合 48"/>
          <p:cNvGrpSpPr/>
          <p:nvPr/>
        </p:nvGrpSpPr>
        <p:grpSpPr>
          <a:xfrm>
            <a:off x="538163" y="2481263"/>
            <a:ext cx="590550" cy="620712"/>
            <a:chOff x="6242320" y="3640826"/>
            <a:chExt cx="589786" cy="620331"/>
          </a:xfrm>
        </p:grpSpPr>
        <p:sp>
          <p:nvSpPr>
            <p:cNvPr id="14" name="TextBox 6"/>
            <p:cNvSpPr txBox="1">
              <a:spLocks noChangeArrowheads="1"/>
            </p:cNvSpPr>
            <p:nvPr/>
          </p:nvSpPr>
          <p:spPr bwMode="auto">
            <a:xfrm>
              <a:off x="6327934" y="3640826"/>
              <a:ext cx="504172" cy="49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lumMod val="65000"/>
                      <a:lumOff val="35000"/>
                    </a:schemeClr>
                  </a:solidFill>
                  <a:effectLst/>
                  <a:uLnTx/>
                  <a:uFillTx/>
                  <a:latin typeface="+mn-lt"/>
                  <a:ea typeface="+mn-ea"/>
                  <a:cs typeface="+mn-ea"/>
                  <a:sym typeface="+mn-lt"/>
                </a:rPr>
                <a:t>04</a:t>
              </a:r>
              <a:endParaRPr kumimoji="0" lang="zh-CN" altLang="en-US" sz="3200" b="0" i="0" u="none" strike="noStrike" kern="1200" cap="none" spc="0" normalizeH="0" baseline="0" noProof="0" dirty="0">
                <a:ln>
                  <a:noFill/>
                </a:ln>
                <a:solidFill>
                  <a:schemeClr val="tx1">
                    <a:lumMod val="65000"/>
                    <a:lumOff val="35000"/>
                  </a:schemeClr>
                </a:solidFill>
                <a:effectLst/>
                <a:uLnTx/>
                <a:uFillTx/>
                <a:latin typeface="+mn-lt"/>
                <a:ea typeface="+mn-ea"/>
                <a:cs typeface="+mn-ea"/>
                <a:sym typeface="+mn-lt"/>
              </a:endParaRPr>
            </a:p>
          </p:txBody>
        </p:sp>
        <p:sp>
          <p:nvSpPr>
            <p:cNvPr id="15"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sp>
        <p:nvSpPr>
          <p:cNvPr id="16" name="Rectangle 1106"/>
          <p:cNvSpPr>
            <a:spLocks noChangeArrowheads="1"/>
          </p:cNvSpPr>
          <p:nvPr/>
        </p:nvSpPr>
        <p:spPr bwMode="auto">
          <a:xfrm>
            <a:off x="1403350" y="2543175"/>
            <a:ext cx="6553026"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anose="02010609030101010101" pitchFamily="49" charset="-122"/>
              </a:defRPr>
            </a:lvl1pPr>
            <a:lvl2pPr>
              <a:defRPr sz="2400" b="1">
                <a:solidFill>
                  <a:schemeClr val="tx1"/>
                </a:solidFill>
                <a:latin typeface="Times New Roman" panose="02020603050405020304" pitchFamily="18" charset="0"/>
                <a:ea typeface="楷体_GB2312" panose="02010609030101010101" pitchFamily="49" charset="-122"/>
              </a:defRPr>
            </a:lvl2pPr>
            <a:lvl3pPr>
              <a:defRPr sz="2400" b="1">
                <a:solidFill>
                  <a:schemeClr val="tx1"/>
                </a:solidFill>
                <a:latin typeface="Times New Roman" panose="02020603050405020304" pitchFamily="18" charset="0"/>
                <a:ea typeface="楷体_GB2312" panose="02010609030101010101" pitchFamily="49" charset="-122"/>
              </a:defRPr>
            </a:lvl3pPr>
            <a:lvl4pPr>
              <a:defRPr sz="2400" b="1">
                <a:solidFill>
                  <a:schemeClr val="tx1"/>
                </a:solidFill>
                <a:latin typeface="Times New Roman" panose="02020603050405020304" pitchFamily="18" charset="0"/>
                <a:ea typeface="楷体_GB2312" panose="02010609030101010101" pitchFamily="49" charset="-122"/>
              </a:defRPr>
            </a:lvl4pPr>
            <a:lvl5pPr>
              <a:defRPr sz="2400" b="1">
                <a:solidFill>
                  <a:schemeClr val="tx1"/>
                </a:solidFill>
                <a:latin typeface="Times New Roman" panose="02020603050405020304" pitchFamily="18" charset="0"/>
                <a:ea typeface="楷体_GB2312" panose="02010609030101010101"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熟练掌握链表的创建（前插和后插）、查找、插入和删除算法</a:t>
            </a:r>
          </a:p>
        </p:txBody>
      </p:sp>
      <p:cxnSp>
        <p:nvCxnSpPr>
          <p:cNvPr id="17" name="直接连接符 16"/>
          <p:cNvCxnSpPr/>
          <p:nvPr/>
        </p:nvCxnSpPr>
        <p:spPr bwMode="auto">
          <a:xfrm>
            <a:off x="652463" y="3509963"/>
            <a:ext cx="8096250"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18" name="矩形: 圆角 43"/>
          <p:cNvSpPr/>
          <p:nvPr/>
        </p:nvSpPr>
        <p:spPr bwMode="auto">
          <a:xfrm>
            <a:off x="533400" y="3689350"/>
            <a:ext cx="595313"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1500" name="组合 48"/>
          <p:cNvGrpSpPr/>
          <p:nvPr/>
        </p:nvGrpSpPr>
        <p:grpSpPr>
          <a:xfrm>
            <a:off x="538163" y="3721100"/>
            <a:ext cx="590550" cy="620713"/>
            <a:chOff x="6242320" y="3640826"/>
            <a:chExt cx="589786" cy="620331"/>
          </a:xfrm>
        </p:grpSpPr>
        <p:sp>
          <p:nvSpPr>
            <p:cNvPr id="21" name="TextBox 6"/>
            <p:cNvSpPr txBox="1">
              <a:spLocks noChangeArrowheads="1"/>
            </p:cNvSpPr>
            <p:nvPr/>
          </p:nvSpPr>
          <p:spPr bwMode="auto">
            <a:xfrm>
              <a:off x="6327934" y="3640826"/>
              <a:ext cx="504172" cy="491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9900"/>
                  </a:solidFill>
                  <a:effectLst/>
                  <a:uLnTx/>
                  <a:uFillTx/>
                  <a:latin typeface="+mn-lt"/>
                  <a:ea typeface="+mn-ea"/>
                  <a:cs typeface="+mn-ea"/>
                  <a:sym typeface="+mn-lt"/>
                </a:rPr>
                <a:t>05</a:t>
              </a:r>
              <a:endParaRPr kumimoji="0" lang="zh-CN" altLang="en-US" sz="3200" b="1"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22"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sp>
        <p:nvSpPr>
          <p:cNvPr id="23" name="Rectangle 1106"/>
          <p:cNvSpPr>
            <a:spLocks noChangeArrowheads="1"/>
          </p:cNvSpPr>
          <p:nvPr/>
        </p:nvSpPr>
        <p:spPr bwMode="auto">
          <a:xfrm>
            <a:off x="1403351" y="3640138"/>
            <a:ext cx="676905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anose="02010609030101010101" pitchFamily="49" charset="-122"/>
              </a:defRPr>
            </a:lvl1pPr>
            <a:lvl2pPr>
              <a:defRPr sz="2400" b="1">
                <a:solidFill>
                  <a:schemeClr val="tx1"/>
                </a:solidFill>
                <a:latin typeface="Times New Roman" panose="02020603050405020304" pitchFamily="18" charset="0"/>
                <a:ea typeface="楷体_GB2312" panose="02010609030101010101" pitchFamily="49" charset="-122"/>
              </a:defRPr>
            </a:lvl2pPr>
            <a:lvl3pPr>
              <a:defRPr sz="2400" b="1">
                <a:solidFill>
                  <a:schemeClr val="tx1"/>
                </a:solidFill>
                <a:latin typeface="Times New Roman" panose="02020603050405020304" pitchFamily="18" charset="0"/>
                <a:ea typeface="楷体_GB2312" panose="02010609030101010101" pitchFamily="49" charset="-122"/>
              </a:defRPr>
            </a:lvl3pPr>
            <a:lvl4pPr>
              <a:defRPr sz="2400" b="1">
                <a:solidFill>
                  <a:schemeClr val="tx1"/>
                </a:solidFill>
                <a:latin typeface="Times New Roman" panose="02020603050405020304" pitchFamily="18" charset="0"/>
                <a:ea typeface="楷体_GB2312" panose="02010609030101010101" pitchFamily="49" charset="-122"/>
              </a:defRPr>
            </a:lvl4pPr>
            <a:lvl5pPr>
              <a:defRPr sz="2400" b="1">
                <a:solidFill>
                  <a:schemeClr val="tx1"/>
                </a:solidFill>
                <a:latin typeface="Times New Roman" panose="02020603050405020304" pitchFamily="18" charset="0"/>
                <a:ea typeface="楷体_GB2312" panose="02010609030101010101"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3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能够从时间和空间复杂度的角度比较两种存储结构的不同特点及其适用场合 </a:t>
            </a:r>
          </a:p>
        </p:txBody>
      </p:sp>
      <p:cxnSp>
        <p:nvCxnSpPr>
          <p:cNvPr id="24" name="直接连接符 23"/>
          <p:cNvCxnSpPr/>
          <p:nvPr/>
        </p:nvCxnSpPr>
        <p:spPr bwMode="auto">
          <a:xfrm>
            <a:off x="623888" y="4932363"/>
            <a:ext cx="8124825"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28"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22" name="Rectangle 6"/>
          <p:cNvSpPr>
            <a:spLocks noChangeArrowheads="1"/>
          </p:cNvSpPr>
          <p:nvPr/>
        </p:nvSpPr>
        <p:spPr bwMode="auto">
          <a:xfrm>
            <a:off x="952500" y="2135188"/>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323" name="Line 4"/>
          <p:cNvSpPr>
            <a:spLocks noChangeShapeType="1"/>
          </p:cNvSpPr>
          <p:nvPr/>
        </p:nvSpPr>
        <p:spPr bwMode="auto">
          <a:xfrm>
            <a:off x="2789238" y="2716213"/>
            <a:ext cx="1017588" cy="37147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683156" name="Group 148"/>
          <p:cNvGraphicFramePr>
            <a:graphicFrameLocks noGrp="1"/>
          </p:cNvGraphicFramePr>
          <p:nvPr/>
        </p:nvGraphicFramePr>
        <p:xfrm>
          <a:off x="323850" y="981075"/>
          <a:ext cx="8539163" cy="5541964"/>
        </p:xfrm>
        <a:graphic>
          <a:graphicData uri="http://schemas.openxmlformats.org/drawingml/2006/table">
            <a:tbl>
              <a:tblPr/>
              <a:tblGrid>
                <a:gridCol w="910068">
                  <a:extLst>
                    <a:ext uri="{9D8B030D-6E8A-4147-A177-3AD203B41FA5}">
                      <a16:colId xmlns:a16="http://schemas.microsoft.com/office/drawing/2014/main" val="20000"/>
                    </a:ext>
                  </a:extLst>
                </a:gridCol>
                <a:gridCol w="1137585">
                  <a:extLst>
                    <a:ext uri="{9D8B030D-6E8A-4147-A177-3AD203B41FA5}">
                      <a16:colId xmlns:a16="http://schemas.microsoft.com/office/drawing/2014/main" val="20001"/>
                    </a:ext>
                  </a:extLst>
                </a:gridCol>
                <a:gridCol w="2707994">
                  <a:extLst>
                    <a:ext uri="{9D8B030D-6E8A-4147-A177-3AD203B41FA5}">
                      <a16:colId xmlns:a16="http://schemas.microsoft.com/office/drawing/2014/main" val="20002"/>
                    </a:ext>
                  </a:extLst>
                </a:gridCol>
                <a:gridCol w="3783516">
                  <a:extLst>
                    <a:ext uri="{9D8B030D-6E8A-4147-A177-3AD203B41FA5}">
                      <a16:colId xmlns:a16="http://schemas.microsoft.com/office/drawing/2014/main" val="20003"/>
                    </a:ext>
                  </a:extLst>
                </a:gridCol>
              </a:tblGrid>
              <a:tr h="592735">
                <a:tc gridSpan="2">
                  <a: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1" lang="zh-CN" altLang="zh-CN" sz="1800" b="0" i="0" u="none" strike="noStrike" cap="none" normalizeH="0" baseline="0" dirty="0">
                        <a:ln>
                          <a:noFill/>
                        </a:ln>
                        <a:solidFill>
                          <a:schemeClr val="bg1"/>
                        </a:solidFill>
                        <a:effectLst/>
                        <a:latin typeface="+mn-lt"/>
                        <a:ea typeface="+mn-ea"/>
                        <a:cs typeface="+mn-ea"/>
                        <a:sym typeface="+mn-lt"/>
                      </a:endParaRPr>
                    </a:p>
                  </a:txBody>
                  <a:tcPr marL="91433" marR="91433"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bg1"/>
                          </a:solidFill>
                          <a:effectLst/>
                          <a:latin typeface="+mn-lt"/>
                          <a:ea typeface="+mn-ea"/>
                          <a:cs typeface="+mn-ea"/>
                          <a:sym typeface="+mn-lt"/>
                        </a:rPr>
                        <a:t>顺  序  表</a:t>
                      </a:r>
                    </a:p>
                  </a:txBody>
                  <a:tcPr marL="91433" marR="91433"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bg1"/>
                          </a:solidFill>
                          <a:effectLst/>
                          <a:latin typeface="+mn-lt"/>
                          <a:ea typeface="+mn-ea"/>
                          <a:cs typeface="+mn-ea"/>
                          <a:sym typeface="+mn-lt"/>
                        </a:rPr>
                        <a:t>链    表</a:t>
                      </a:r>
                    </a:p>
                  </a:txBody>
                  <a:tcPr marL="91433" marR="91433"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64008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空间</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存储空间</a:t>
                      </a:r>
                    </a:p>
                  </a:txBody>
                  <a:tcPr marL="91433" marR="914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预先分配，会导致空间闲置或溢出现象</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mn-lt"/>
                          <a:ea typeface="+mn-ea"/>
                          <a:cs typeface="+mn-ea"/>
                          <a:sym typeface="+mn-lt"/>
                        </a:rPr>
                        <a:t>动态分配，不会出现闲置或溢出现象</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123671">
                <a:tc vMerge="1">
                  <a:txBody>
                    <a:bodyPr/>
                    <a:lstStyle/>
                    <a:p>
                      <a:endParaRPr lang="zh-CN"/>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存储密度</a:t>
                      </a:r>
                    </a:p>
                  </a:txBody>
                  <a:tcPr marL="91433" marR="914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不用为表示结点间的逻辑关系而增加额外的存储开销，存储密度等于</a:t>
                      </a:r>
                      <a:r>
                        <a:rPr kumimoji="1" lang="en-US" altLang="zh-CN" sz="1800" b="0" i="0" u="none" strike="noStrike" cap="none" normalizeH="0" baseline="0" dirty="0">
                          <a:ln>
                            <a:noFill/>
                          </a:ln>
                          <a:solidFill>
                            <a:schemeClr val="tx1"/>
                          </a:solidFill>
                          <a:effectLst/>
                          <a:latin typeface="+mn-lt"/>
                          <a:ea typeface="+mn-ea"/>
                          <a:cs typeface="+mn-ea"/>
                          <a:sym typeface="+mn-lt"/>
                        </a:rPr>
                        <a:t>1</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需要借助指针来体现元素间的逻辑关系，存储密度小于</a:t>
                      </a:r>
                      <a:r>
                        <a:rPr kumimoji="1" lang="en-US" altLang="zh-CN" sz="1800" b="0" i="0" u="none" strike="noStrike" cap="none" normalizeH="0" baseline="0" dirty="0">
                          <a:ln>
                            <a:noFill/>
                          </a:ln>
                          <a:solidFill>
                            <a:schemeClr val="tx1"/>
                          </a:solidFill>
                          <a:effectLst/>
                          <a:latin typeface="+mn-lt"/>
                          <a:ea typeface="+mn-ea"/>
                          <a:cs typeface="+mn-ea"/>
                          <a:sym typeface="+mn-lt"/>
                        </a:rPr>
                        <a:t>1</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96348">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mn-lt"/>
                          <a:ea typeface="+mn-ea"/>
                          <a:cs typeface="+mn-ea"/>
                          <a:sym typeface="+mn-lt"/>
                        </a:rPr>
                        <a:t>时间</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mn-lt"/>
                          <a:ea typeface="+mn-ea"/>
                          <a:cs typeface="+mn-ea"/>
                          <a:sym typeface="+mn-lt"/>
                        </a:rPr>
                        <a:t>存取元素</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随机存取，时间复杂度为</a:t>
                      </a:r>
                      <a:r>
                        <a:rPr kumimoji="1" lang="en-US" altLang="zh-CN" sz="1800" b="0" i="0" u="none" strike="noStrike" cap="none" normalizeH="0" baseline="0" dirty="0">
                          <a:ln>
                            <a:noFill/>
                          </a:ln>
                          <a:solidFill>
                            <a:schemeClr val="tx1"/>
                          </a:solidFill>
                          <a:effectLst/>
                          <a:latin typeface="+mn-lt"/>
                          <a:ea typeface="+mn-ea"/>
                          <a:cs typeface="+mn-ea"/>
                          <a:sym typeface="+mn-lt"/>
                        </a:rPr>
                        <a:t>O(1)</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顺序存取，时间复杂度为</a:t>
                      </a:r>
                      <a:r>
                        <a:rPr kumimoji="1" lang="en-US" altLang="zh-CN" sz="1800" b="0" i="0" u="none" strike="noStrike" cap="none" normalizeH="0" baseline="0" dirty="0">
                          <a:ln>
                            <a:noFill/>
                          </a:ln>
                          <a:solidFill>
                            <a:schemeClr val="tx1"/>
                          </a:solidFill>
                          <a:effectLst/>
                          <a:latin typeface="+mn-lt"/>
                          <a:ea typeface="+mn-ea"/>
                          <a:cs typeface="+mn-ea"/>
                          <a:sym typeface="+mn-lt"/>
                        </a:rPr>
                        <a:t>O(</a:t>
                      </a:r>
                      <a:r>
                        <a:rPr kumimoji="1" lang="en-US" altLang="zh-CN" sz="1800" b="0" i="1" u="none" strike="noStrike" cap="none" normalizeH="0" baseline="0" dirty="0">
                          <a:ln>
                            <a:noFill/>
                          </a:ln>
                          <a:solidFill>
                            <a:schemeClr val="tx1"/>
                          </a:solidFill>
                          <a:effectLst/>
                          <a:latin typeface="+mn-lt"/>
                          <a:ea typeface="+mn-ea"/>
                          <a:cs typeface="+mn-ea"/>
                          <a:sym typeface="+mn-lt"/>
                        </a:rPr>
                        <a:t>n</a:t>
                      </a:r>
                      <a:r>
                        <a:rPr kumimoji="1" lang="en-US" altLang="zh-CN" sz="1800" b="0" i="0" u="none" strike="noStrike" cap="none" normalizeH="0" baseline="0" dirty="0">
                          <a:ln>
                            <a:noFill/>
                          </a:ln>
                          <a:solidFill>
                            <a:schemeClr val="tx1"/>
                          </a:solidFill>
                          <a:effectLst/>
                          <a:latin typeface="+mn-lt"/>
                          <a:ea typeface="+mn-ea"/>
                          <a:cs typeface="+mn-ea"/>
                          <a:sym typeface="+mn-lt"/>
                        </a:rPr>
                        <a:t>)</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40080">
                <a:tc vMerge="1">
                  <a:txBody>
                    <a:bodyPr/>
                    <a:lstStyle/>
                    <a:p>
                      <a:endParaRPr lang="zh-CN"/>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mn-lt"/>
                          <a:ea typeface="+mn-ea"/>
                          <a:cs typeface="+mn-ea"/>
                          <a:sym typeface="+mn-lt"/>
                        </a:rPr>
                        <a:t>插入、删除</a:t>
                      </a:r>
                    </a:p>
                  </a:txBody>
                  <a:tcPr marL="91433" marR="914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平均移动约表中一半元素，时间复杂度为</a:t>
                      </a:r>
                      <a:r>
                        <a:rPr kumimoji="1" lang="en-US" altLang="zh-CN" sz="1800" b="0" i="0" u="none" strike="noStrike" cap="none" normalizeH="0" baseline="0" dirty="0">
                          <a:ln>
                            <a:noFill/>
                          </a:ln>
                          <a:solidFill>
                            <a:schemeClr val="tx1"/>
                          </a:solidFill>
                          <a:effectLst/>
                          <a:latin typeface="+mn-lt"/>
                          <a:ea typeface="+mn-ea"/>
                          <a:cs typeface="+mn-ea"/>
                          <a:sym typeface="+mn-lt"/>
                        </a:rPr>
                        <a:t>O(</a:t>
                      </a:r>
                      <a:r>
                        <a:rPr kumimoji="1" lang="en-US" altLang="zh-CN" sz="1800" b="0" i="1" u="none" strike="noStrike" cap="none" normalizeH="0" baseline="0" dirty="0">
                          <a:ln>
                            <a:noFill/>
                          </a:ln>
                          <a:solidFill>
                            <a:schemeClr val="tx1"/>
                          </a:solidFill>
                          <a:effectLst/>
                          <a:latin typeface="+mn-lt"/>
                          <a:ea typeface="+mn-ea"/>
                          <a:cs typeface="+mn-ea"/>
                          <a:sym typeface="+mn-lt"/>
                        </a:rPr>
                        <a:t>n</a:t>
                      </a:r>
                      <a:r>
                        <a:rPr kumimoji="1" lang="en-US" altLang="zh-CN" sz="1800" b="0" i="0" u="none" strike="noStrike" cap="none" normalizeH="0" baseline="0" dirty="0">
                          <a:ln>
                            <a:noFill/>
                          </a:ln>
                          <a:solidFill>
                            <a:schemeClr val="tx1"/>
                          </a:solidFill>
                          <a:effectLst/>
                          <a:latin typeface="+mn-lt"/>
                          <a:ea typeface="+mn-ea"/>
                          <a:cs typeface="+mn-ea"/>
                          <a:sym typeface="+mn-lt"/>
                        </a:rPr>
                        <a:t>)</a:t>
                      </a:r>
                    </a:p>
                  </a:txBody>
                  <a:tcPr marL="91433" marR="914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不需移动元素，确定插入、删除位置后，时间复杂度为</a:t>
                      </a:r>
                      <a:r>
                        <a:rPr kumimoji="1" lang="en-US" altLang="zh-CN" sz="1800" b="0" i="0" u="none" strike="noStrike" cap="none" normalizeH="0" baseline="0" dirty="0">
                          <a:ln>
                            <a:noFill/>
                          </a:ln>
                          <a:solidFill>
                            <a:schemeClr val="tx1"/>
                          </a:solidFill>
                          <a:effectLst/>
                          <a:latin typeface="+mn-lt"/>
                          <a:ea typeface="+mn-ea"/>
                          <a:cs typeface="+mn-ea"/>
                          <a:sym typeface="+mn-lt"/>
                        </a:rPr>
                        <a:t>O(1)</a:t>
                      </a:r>
                    </a:p>
                  </a:txBody>
                  <a:tcPr marL="91433" marR="914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749050">
                <a:tc gridSpan="2">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mn-lt"/>
                          <a:ea typeface="+mn-ea"/>
                          <a:cs typeface="+mn-ea"/>
                          <a:sym typeface="+mn-lt"/>
                        </a:rPr>
                        <a:t>适用情况</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mn-lt"/>
                          <a:ea typeface="+mn-ea"/>
                          <a:cs typeface="+mn-ea"/>
                          <a:sym typeface="+mn-lt"/>
                        </a:rPr>
                        <a:t>① </a:t>
                      </a:r>
                      <a:r>
                        <a:rPr kumimoji="1" lang="zh-CN" altLang="en-US" sz="1800" b="0" i="0" u="none" strike="noStrike" cap="none" normalizeH="0" baseline="0">
                          <a:ln>
                            <a:noFill/>
                          </a:ln>
                          <a:solidFill>
                            <a:schemeClr val="tx1"/>
                          </a:solidFill>
                          <a:effectLst/>
                          <a:latin typeface="+mn-lt"/>
                          <a:ea typeface="+mn-ea"/>
                          <a:cs typeface="+mn-ea"/>
                          <a:sym typeface="+mn-lt"/>
                        </a:rPr>
                        <a:t>表长变化不大，且能事先确定变化的范围</a:t>
                      </a:r>
                    </a:p>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a:ln>
                            <a:noFill/>
                          </a:ln>
                          <a:solidFill>
                            <a:schemeClr val="tx1"/>
                          </a:solidFill>
                          <a:effectLst/>
                          <a:latin typeface="+mn-lt"/>
                          <a:ea typeface="+mn-ea"/>
                          <a:cs typeface="+mn-ea"/>
                          <a:sym typeface="+mn-lt"/>
                        </a:rPr>
                        <a:t>② 很少进行插入或删除操作，经常按元素序号访问数据元素</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mn-lt"/>
                          <a:ea typeface="+mn-ea"/>
                          <a:cs typeface="+mn-ea"/>
                          <a:sym typeface="+mn-lt"/>
                        </a:rPr>
                        <a:t>① </a:t>
                      </a:r>
                      <a:r>
                        <a:rPr kumimoji="1" lang="zh-CN" altLang="en-US" sz="1800" b="0" i="0" u="none" strike="noStrike" cap="none" normalizeH="0" baseline="0" dirty="0">
                          <a:ln>
                            <a:noFill/>
                          </a:ln>
                          <a:solidFill>
                            <a:schemeClr val="tx1"/>
                          </a:solidFill>
                          <a:effectLst/>
                          <a:latin typeface="+mn-lt"/>
                          <a:ea typeface="+mn-ea"/>
                          <a:cs typeface="+mn-ea"/>
                          <a:sym typeface="+mn-lt"/>
                        </a:rPr>
                        <a:t>长度变化较大</a:t>
                      </a:r>
                    </a:p>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cs typeface="+mn-ea"/>
                          <a:sym typeface="+mn-lt"/>
                        </a:rPr>
                        <a:t>② 频繁进行插入或删除操作</a:t>
                      </a:r>
                    </a:p>
                  </a:txBody>
                  <a:tcPr marL="91433" marR="9143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5" name="Comment 5"/>
          <p:cNvSpPr>
            <a:spLocks noChangeArrowheads="1"/>
          </p:cNvSpPr>
          <p:nvPr/>
        </p:nvSpPr>
        <p:spPr bwMode="auto">
          <a:xfrm>
            <a:off x="827088" y="198438"/>
            <a:ext cx="1676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5346" name="Rectangle 4"/>
          <p:cNvSpPr>
            <a:spLocks noChangeArrowheads="1"/>
          </p:cNvSpPr>
          <p:nvPr/>
        </p:nvSpPr>
        <p:spPr bwMode="auto">
          <a:xfrm>
            <a:off x="0" y="957263"/>
            <a:ext cx="9144000" cy="1533525"/>
          </a:xfrm>
          <a:prstGeom prst="rect">
            <a:avLst/>
          </a:prstGeom>
          <a:solidFill>
            <a:srgbClr val="F6F6F6"/>
          </a:solid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）将两个</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递增</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的有序链表合并为一个</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递增</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的有序链表。要求结果链表仍使用原来两个链表的存储空间，不另外占用其他的存储空间。表中</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不允许有重复</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的数据。</a:t>
            </a:r>
          </a:p>
        </p:txBody>
      </p:sp>
      <p:sp>
        <p:nvSpPr>
          <p:cNvPr id="185347"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
        <p:nvSpPr>
          <p:cNvPr id="4" name="Rectangle 5"/>
          <p:cNvSpPr>
            <a:spLocks noChangeArrowheads="1"/>
          </p:cNvSpPr>
          <p:nvPr/>
        </p:nvSpPr>
        <p:spPr bwMode="auto">
          <a:xfrm>
            <a:off x="-39687" y="2674938"/>
            <a:ext cx="2563813" cy="523875"/>
          </a:xfrm>
          <a:prstGeom prst="rect">
            <a:avLst/>
          </a:prstGeom>
          <a:solidFill>
            <a:srgbClr val="9476B6"/>
          </a:solid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
                <a:srgbClr val="FF0000"/>
              </a:buClr>
              <a:buSzTx/>
              <a:buFont typeface="Wingdings" panose="05000000000000000000" pitchFamily="2" charset="2"/>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参考算法</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2.17</a:t>
            </a:r>
          </a:p>
        </p:txBody>
      </p:sp>
      <p:sp>
        <p:nvSpPr>
          <p:cNvPr id="5" name="Rectangle 6"/>
          <p:cNvSpPr>
            <a:spLocks noChangeArrowheads="1"/>
          </p:cNvSpPr>
          <p:nvPr/>
        </p:nvSpPr>
        <p:spPr bwMode="auto">
          <a:xfrm>
            <a:off x="-39687" y="5805488"/>
            <a:ext cx="9183688" cy="1071563"/>
          </a:xfrm>
          <a:prstGeom prst="rect">
            <a:avLst/>
          </a:prstGeom>
          <a:solidFill>
            <a:srgbClr val="EAEAEA"/>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要单独考虑</a:t>
            </a:r>
            <a:b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b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pa-&gt;data =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-&gt;data </a:t>
            </a:r>
          </a:p>
        </p:txBody>
      </p:sp>
      <p:grpSp>
        <p:nvGrpSpPr>
          <p:cNvPr id="193542" name="Group 7"/>
          <p:cNvGrpSpPr/>
          <p:nvPr/>
        </p:nvGrpSpPr>
        <p:grpSpPr>
          <a:xfrm>
            <a:off x="3379788" y="3765550"/>
            <a:ext cx="838200" cy="381000"/>
            <a:chOff x="1968" y="1344"/>
            <a:chExt cx="528" cy="240"/>
          </a:xfrm>
        </p:grpSpPr>
        <p:sp>
          <p:nvSpPr>
            <p:cNvPr id="7" name="Rectangle 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 name="Rectangle 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3" name="Group 10"/>
          <p:cNvGrpSpPr/>
          <p:nvPr/>
        </p:nvGrpSpPr>
        <p:grpSpPr>
          <a:xfrm>
            <a:off x="4598988" y="3765550"/>
            <a:ext cx="838200" cy="381000"/>
            <a:chOff x="1968" y="1344"/>
            <a:chExt cx="528" cy="240"/>
          </a:xfrm>
        </p:grpSpPr>
        <p:sp>
          <p:nvSpPr>
            <p:cNvPr id="10" name="Rectangle 1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Rectangle 1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4" name="Group 13"/>
          <p:cNvGrpSpPr/>
          <p:nvPr/>
        </p:nvGrpSpPr>
        <p:grpSpPr>
          <a:xfrm>
            <a:off x="5818188" y="3765550"/>
            <a:ext cx="838200" cy="381000"/>
            <a:chOff x="1968" y="1344"/>
            <a:chExt cx="528" cy="240"/>
          </a:xfrm>
        </p:grpSpPr>
        <p:sp>
          <p:nvSpPr>
            <p:cNvPr id="13" name="Rectangle 1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4" name="Rectangle 1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5" name="Group 16"/>
          <p:cNvGrpSpPr/>
          <p:nvPr/>
        </p:nvGrpSpPr>
        <p:grpSpPr>
          <a:xfrm>
            <a:off x="2236788" y="3765550"/>
            <a:ext cx="838200" cy="381000"/>
            <a:chOff x="1968" y="1344"/>
            <a:chExt cx="528" cy="240"/>
          </a:xfrm>
        </p:grpSpPr>
        <p:sp>
          <p:nvSpPr>
            <p:cNvPr id="16" name="Rectangle 1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 name="Rectangle 1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6" name="Group 19"/>
          <p:cNvGrpSpPr/>
          <p:nvPr/>
        </p:nvGrpSpPr>
        <p:grpSpPr>
          <a:xfrm>
            <a:off x="1931988" y="5059363"/>
            <a:ext cx="838200" cy="381000"/>
            <a:chOff x="1968" y="1344"/>
            <a:chExt cx="528" cy="240"/>
          </a:xfrm>
        </p:grpSpPr>
        <p:sp>
          <p:nvSpPr>
            <p:cNvPr id="19" name="Rectangle 2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Rectangle 2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7" name="Group 22"/>
          <p:cNvGrpSpPr/>
          <p:nvPr/>
        </p:nvGrpSpPr>
        <p:grpSpPr>
          <a:xfrm>
            <a:off x="3074988" y="5059363"/>
            <a:ext cx="838200" cy="381000"/>
            <a:chOff x="1968" y="1344"/>
            <a:chExt cx="528" cy="240"/>
          </a:xfrm>
        </p:grpSpPr>
        <p:sp>
          <p:nvSpPr>
            <p:cNvPr id="22" name="Rectangle 2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 name="Rectangle 2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8" name="Group 25"/>
          <p:cNvGrpSpPr/>
          <p:nvPr/>
        </p:nvGrpSpPr>
        <p:grpSpPr>
          <a:xfrm>
            <a:off x="4294188" y="5059363"/>
            <a:ext cx="838200" cy="381000"/>
            <a:chOff x="1968" y="1344"/>
            <a:chExt cx="528" cy="240"/>
          </a:xfrm>
        </p:grpSpPr>
        <p:sp>
          <p:nvSpPr>
            <p:cNvPr id="25" name="Rectangle 2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 name="Rectangle 2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7" name="Group 28"/>
          <p:cNvGrpSpPr/>
          <p:nvPr/>
        </p:nvGrpSpPr>
        <p:grpSpPr bwMode="auto">
          <a:xfrm>
            <a:off x="5512858" y="5059430"/>
            <a:ext cx="838200" cy="381000"/>
            <a:chOff x="1968" y="1344"/>
            <a:chExt cx="528" cy="240"/>
          </a:xfrm>
          <a:noFill/>
        </p:grpSpPr>
        <p:sp>
          <p:nvSpPr>
            <p:cNvPr id="28" name="Rectangle 2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9" name="Rectangle 3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50" name="Group 31"/>
          <p:cNvGrpSpPr/>
          <p:nvPr/>
        </p:nvGrpSpPr>
        <p:grpSpPr>
          <a:xfrm>
            <a:off x="6708775" y="5059363"/>
            <a:ext cx="838200" cy="381000"/>
            <a:chOff x="1968" y="1344"/>
            <a:chExt cx="528" cy="240"/>
          </a:xfrm>
        </p:grpSpPr>
        <p:sp>
          <p:nvSpPr>
            <p:cNvPr id="31" name="Rectangle 3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 name="Rectangle 3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51" name="Group 34"/>
          <p:cNvGrpSpPr/>
          <p:nvPr/>
        </p:nvGrpSpPr>
        <p:grpSpPr>
          <a:xfrm>
            <a:off x="7851775" y="5059363"/>
            <a:ext cx="838200" cy="381000"/>
            <a:chOff x="1968" y="1344"/>
            <a:chExt cx="528" cy="240"/>
          </a:xfrm>
        </p:grpSpPr>
        <p:sp>
          <p:nvSpPr>
            <p:cNvPr id="34" name="Rectangle 3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 name="Rectangle 3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6" name="Line 37"/>
          <p:cNvSpPr>
            <a:spLocks noChangeShapeType="1"/>
          </p:cNvSpPr>
          <p:nvPr/>
        </p:nvSpPr>
        <p:spPr bwMode="auto">
          <a:xfrm>
            <a:off x="2617788" y="52117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 name="Line 38"/>
          <p:cNvSpPr>
            <a:spLocks noChangeShapeType="1"/>
          </p:cNvSpPr>
          <p:nvPr/>
        </p:nvSpPr>
        <p:spPr bwMode="auto">
          <a:xfrm>
            <a:off x="5056188" y="52117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 name="Line 39"/>
          <p:cNvSpPr>
            <a:spLocks noChangeShapeType="1"/>
          </p:cNvSpPr>
          <p:nvPr/>
        </p:nvSpPr>
        <p:spPr bwMode="auto">
          <a:xfrm>
            <a:off x="6251575" y="52117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 name="Line 40"/>
          <p:cNvSpPr>
            <a:spLocks noChangeShapeType="1"/>
          </p:cNvSpPr>
          <p:nvPr/>
        </p:nvSpPr>
        <p:spPr bwMode="auto">
          <a:xfrm>
            <a:off x="2922588" y="39941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0" name="Line 41"/>
          <p:cNvSpPr>
            <a:spLocks noChangeShapeType="1"/>
          </p:cNvSpPr>
          <p:nvPr/>
        </p:nvSpPr>
        <p:spPr bwMode="auto">
          <a:xfrm>
            <a:off x="4141788" y="39941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1" name="Line 42"/>
          <p:cNvSpPr>
            <a:spLocks noChangeShapeType="1"/>
          </p:cNvSpPr>
          <p:nvPr/>
        </p:nvSpPr>
        <p:spPr bwMode="auto">
          <a:xfrm>
            <a:off x="5360988" y="39941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2" name="Line 43"/>
          <p:cNvSpPr>
            <a:spLocks noChangeShapeType="1"/>
          </p:cNvSpPr>
          <p:nvPr/>
        </p:nvSpPr>
        <p:spPr bwMode="auto">
          <a:xfrm>
            <a:off x="3836988" y="52117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3" name="Line 44"/>
          <p:cNvSpPr>
            <a:spLocks noChangeShapeType="1"/>
          </p:cNvSpPr>
          <p:nvPr/>
        </p:nvSpPr>
        <p:spPr bwMode="auto">
          <a:xfrm>
            <a:off x="7394575" y="52117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 name="Line 45"/>
          <p:cNvSpPr>
            <a:spLocks noChangeShapeType="1"/>
          </p:cNvSpPr>
          <p:nvPr/>
        </p:nvSpPr>
        <p:spPr bwMode="auto">
          <a:xfrm flipV="1">
            <a:off x="2389188" y="4146550"/>
            <a:ext cx="0" cy="549275"/>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 name="Line 46"/>
          <p:cNvSpPr>
            <a:spLocks noChangeShapeType="1"/>
          </p:cNvSpPr>
          <p:nvPr/>
        </p:nvSpPr>
        <p:spPr bwMode="auto">
          <a:xfrm>
            <a:off x="4051300" y="3994150"/>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6" name="Line 47"/>
          <p:cNvSpPr>
            <a:spLocks noChangeShapeType="1"/>
          </p:cNvSpPr>
          <p:nvPr/>
        </p:nvSpPr>
        <p:spPr bwMode="auto">
          <a:xfrm flipH="1">
            <a:off x="2693988" y="4451350"/>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 name="Line 48"/>
          <p:cNvSpPr>
            <a:spLocks noChangeShapeType="1"/>
          </p:cNvSpPr>
          <p:nvPr/>
        </p:nvSpPr>
        <p:spPr bwMode="auto">
          <a:xfrm flipH="1">
            <a:off x="2682875" y="4451350"/>
            <a:ext cx="6350" cy="531813"/>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 name="Line 49"/>
          <p:cNvSpPr>
            <a:spLocks noChangeShapeType="1"/>
          </p:cNvSpPr>
          <p:nvPr/>
        </p:nvSpPr>
        <p:spPr bwMode="auto">
          <a:xfrm flipV="1">
            <a:off x="4979988" y="4146550"/>
            <a:ext cx="0" cy="776288"/>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 name="Line 50"/>
          <p:cNvSpPr>
            <a:spLocks noChangeShapeType="1"/>
          </p:cNvSpPr>
          <p:nvPr/>
        </p:nvSpPr>
        <p:spPr bwMode="auto">
          <a:xfrm>
            <a:off x="6526213" y="3994150"/>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0" name="Line 51"/>
          <p:cNvSpPr>
            <a:spLocks noChangeShapeType="1"/>
          </p:cNvSpPr>
          <p:nvPr/>
        </p:nvSpPr>
        <p:spPr bwMode="auto">
          <a:xfrm flipH="1">
            <a:off x="6515100" y="4527550"/>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Line 52"/>
          <p:cNvSpPr>
            <a:spLocks noChangeShapeType="1"/>
          </p:cNvSpPr>
          <p:nvPr/>
        </p:nvSpPr>
        <p:spPr bwMode="auto">
          <a:xfrm>
            <a:off x="6902450" y="4508500"/>
            <a:ext cx="4763" cy="473075"/>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 name="Line 53"/>
          <p:cNvSpPr>
            <a:spLocks noChangeShapeType="1"/>
          </p:cNvSpPr>
          <p:nvPr/>
        </p:nvSpPr>
        <p:spPr bwMode="auto">
          <a:xfrm>
            <a:off x="1855788" y="399415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Text Box 54"/>
          <p:cNvSpPr txBox="1">
            <a:spLocks noChangeArrowheads="1"/>
          </p:cNvSpPr>
          <p:nvPr/>
        </p:nvSpPr>
        <p:spPr bwMode="auto">
          <a:xfrm>
            <a:off x="717550" y="3392488"/>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La(Lc)</a:t>
            </a:r>
          </a:p>
        </p:txBody>
      </p:sp>
      <p:sp>
        <p:nvSpPr>
          <p:cNvPr id="54" name="Text Box 55"/>
          <p:cNvSpPr txBox="1">
            <a:spLocks noChangeArrowheads="1"/>
          </p:cNvSpPr>
          <p:nvPr/>
        </p:nvSpPr>
        <p:spPr bwMode="auto">
          <a:xfrm>
            <a:off x="3495675" y="36988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55" name="Text Box 56"/>
          <p:cNvSpPr txBox="1">
            <a:spLocks noChangeArrowheads="1"/>
          </p:cNvSpPr>
          <p:nvPr/>
        </p:nvSpPr>
        <p:spPr bwMode="auto">
          <a:xfrm>
            <a:off x="2073275" y="49831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56" name="Text Box 57"/>
          <p:cNvSpPr txBox="1">
            <a:spLocks noChangeArrowheads="1"/>
          </p:cNvSpPr>
          <p:nvPr/>
        </p:nvSpPr>
        <p:spPr bwMode="auto">
          <a:xfrm>
            <a:off x="3190875" y="49831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57" name="Text Box 58"/>
          <p:cNvSpPr txBox="1">
            <a:spLocks noChangeArrowheads="1"/>
          </p:cNvSpPr>
          <p:nvPr/>
        </p:nvSpPr>
        <p:spPr bwMode="auto">
          <a:xfrm>
            <a:off x="4370388" y="50244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58" name="Text Box 59"/>
          <p:cNvSpPr txBox="1">
            <a:spLocks noChangeArrowheads="1"/>
          </p:cNvSpPr>
          <p:nvPr/>
        </p:nvSpPr>
        <p:spPr bwMode="auto">
          <a:xfrm>
            <a:off x="4678363" y="36988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59" name="Text Box 60"/>
          <p:cNvSpPr txBox="1">
            <a:spLocks noChangeArrowheads="1"/>
          </p:cNvSpPr>
          <p:nvPr/>
        </p:nvSpPr>
        <p:spPr bwMode="auto">
          <a:xfrm>
            <a:off x="5934075" y="36988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60" name="Text Box 61"/>
          <p:cNvSpPr txBox="1">
            <a:spLocks noChangeArrowheads="1"/>
          </p:cNvSpPr>
          <p:nvPr/>
        </p:nvSpPr>
        <p:spPr bwMode="auto">
          <a:xfrm>
            <a:off x="5629275" y="50244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61" name="Text Box 62"/>
          <p:cNvSpPr txBox="1">
            <a:spLocks noChangeArrowheads="1"/>
          </p:cNvSpPr>
          <p:nvPr/>
        </p:nvSpPr>
        <p:spPr bwMode="auto">
          <a:xfrm>
            <a:off x="6702425" y="502443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62" name="Text Box 63"/>
          <p:cNvSpPr txBox="1">
            <a:spLocks noChangeArrowheads="1"/>
          </p:cNvSpPr>
          <p:nvPr/>
        </p:nvSpPr>
        <p:spPr bwMode="auto">
          <a:xfrm>
            <a:off x="7854950" y="5024438"/>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93579" name="Group 64"/>
          <p:cNvGrpSpPr/>
          <p:nvPr/>
        </p:nvGrpSpPr>
        <p:grpSpPr>
          <a:xfrm>
            <a:off x="4217988" y="3851275"/>
            <a:ext cx="228600" cy="304800"/>
            <a:chOff x="2698" y="1622"/>
            <a:chExt cx="144" cy="192"/>
          </a:xfrm>
        </p:grpSpPr>
        <p:sp>
          <p:nvSpPr>
            <p:cNvPr id="64" name="Line 65"/>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5" name="Line 66"/>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80" name="Group 67"/>
          <p:cNvGrpSpPr/>
          <p:nvPr/>
        </p:nvGrpSpPr>
        <p:grpSpPr>
          <a:xfrm>
            <a:off x="5203825" y="5073650"/>
            <a:ext cx="228600" cy="304800"/>
            <a:chOff x="2698" y="1622"/>
            <a:chExt cx="144" cy="192"/>
          </a:xfrm>
        </p:grpSpPr>
        <p:sp>
          <p:nvSpPr>
            <p:cNvPr id="67" name="Line 68"/>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 name="Line 69"/>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69" name="Group 70"/>
          <p:cNvGrpSpPr/>
          <p:nvPr/>
        </p:nvGrpSpPr>
        <p:grpSpPr bwMode="auto">
          <a:xfrm>
            <a:off x="717021" y="5049905"/>
            <a:ext cx="838200" cy="381000"/>
            <a:chOff x="1968" y="1344"/>
            <a:chExt cx="528" cy="240"/>
          </a:xfrm>
          <a:noFill/>
        </p:grpSpPr>
        <p:sp>
          <p:nvSpPr>
            <p:cNvPr id="70" name="Rectangle 7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1" name="Rectangle 7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2" name="Line 73"/>
          <p:cNvSpPr>
            <a:spLocks noChangeShapeType="1"/>
          </p:cNvSpPr>
          <p:nvPr/>
        </p:nvSpPr>
        <p:spPr bwMode="auto">
          <a:xfrm>
            <a:off x="1479550" y="527843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3583" name="Group 74"/>
          <p:cNvGrpSpPr/>
          <p:nvPr/>
        </p:nvGrpSpPr>
        <p:grpSpPr>
          <a:xfrm>
            <a:off x="1598613" y="5135563"/>
            <a:ext cx="228600" cy="304800"/>
            <a:chOff x="2698" y="1622"/>
            <a:chExt cx="144" cy="192"/>
          </a:xfrm>
        </p:grpSpPr>
        <p:sp>
          <p:nvSpPr>
            <p:cNvPr id="74" name="Line 75"/>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 name="Line 76"/>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84" name="Group 77"/>
          <p:cNvGrpSpPr/>
          <p:nvPr/>
        </p:nvGrpSpPr>
        <p:grpSpPr>
          <a:xfrm>
            <a:off x="5767388" y="5073650"/>
            <a:ext cx="363537" cy="366713"/>
            <a:chOff x="2698" y="1622"/>
            <a:chExt cx="144" cy="192"/>
          </a:xfrm>
        </p:grpSpPr>
        <p:sp>
          <p:nvSpPr>
            <p:cNvPr id="77" name="Line 78"/>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8" name="Line 79"/>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85" name="Group 80"/>
          <p:cNvGrpSpPr/>
          <p:nvPr/>
        </p:nvGrpSpPr>
        <p:grpSpPr>
          <a:xfrm>
            <a:off x="6372225" y="5059363"/>
            <a:ext cx="228600" cy="304800"/>
            <a:chOff x="2698" y="1622"/>
            <a:chExt cx="144" cy="192"/>
          </a:xfrm>
        </p:grpSpPr>
        <p:sp>
          <p:nvSpPr>
            <p:cNvPr id="80" name="Line 81"/>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1" name="Line 82"/>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6370" name="Rectangle 5"/>
          <p:cNvSpPr>
            <a:spLocks noChangeArrowheads="1"/>
          </p:cNvSpPr>
          <p:nvPr/>
        </p:nvSpPr>
        <p:spPr bwMode="auto">
          <a:xfrm>
            <a:off x="0" y="1204913"/>
            <a:ext cx="2619375" cy="523875"/>
          </a:xfrm>
          <a:prstGeom prst="rect">
            <a:avLst/>
          </a:prstGeom>
          <a:solidFill>
            <a:srgbClr val="9476B6"/>
          </a:solid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
                <a:srgbClr val="FF0000"/>
              </a:buClr>
              <a:buSzTx/>
              <a:buFont typeface="Wingdings" panose="05000000000000000000" pitchFamily="2" charset="2"/>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参考算法</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2.17</a:t>
            </a:r>
          </a:p>
        </p:txBody>
      </p:sp>
      <p:sp>
        <p:nvSpPr>
          <p:cNvPr id="677894" name="Rectangle 6"/>
          <p:cNvSpPr>
            <a:spLocks noChangeArrowheads="1"/>
          </p:cNvSpPr>
          <p:nvPr/>
        </p:nvSpPr>
        <p:spPr bwMode="auto">
          <a:xfrm>
            <a:off x="0" y="5140325"/>
            <a:ext cx="9144000" cy="1717675"/>
          </a:xfrm>
          <a:prstGeom prst="rect">
            <a:avLst/>
          </a:prstGeom>
          <a:solidFill>
            <a:srgbClr val="B8D4EC"/>
          </a:solidFill>
          <a:ln>
            <a:noFill/>
          </a:ln>
        </p:spPr>
        <p:txBody>
          <a:bodyPr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      要单独考虑</a:t>
            </a:r>
            <a:b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b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4000" b="0" i="0" u="none" strike="noStrike" kern="1200" cap="none" spc="0" normalizeH="0" baseline="0" noProof="0" dirty="0">
                <a:ln>
                  <a:noFill/>
                </a:ln>
                <a:solidFill>
                  <a:srgbClr val="FF0000"/>
                </a:solidFill>
                <a:effectLst/>
                <a:uLnTx/>
                <a:uFillTx/>
                <a:latin typeface="+mn-lt"/>
                <a:ea typeface="+mn-ea"/>
                <a:cs typeface="+mn-ea"/>
                <a:sym typeface="+mn-lt"/>
              </a:rPr>
              <a:t>pa-&gt;data = =</a:t>
            </a:r>
            <a:r>
              <a:rPr kumimoji="0" lang="en-US" altLang="zh-CN" sz="4000" b="0"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4000" b="0" i="0" u="none" strike="noStrike" kern="1200" cap="none" spc="0" normalizeH="0" baseline="0" noProof="0" dirty="0">
                <a:ln>
                  <a:noFill/>
                </a:ln>
                <a:solidFill>
                  <a:srgbClr val="FF0000"/>
                </a:solidFill>
                <a:effectLst/>
                <a:uLnTx/>
                <a:uFillTx/>
                <a:latin typeface="+mn-lt"/>
                <a:ea typeface="+mn-ea"/>
                <a:cs typeface="+mn-ea"/>
                <a:sym typeface="+mn-lt"/>
              </a:rPr>
              <a:t>-&gt;data</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 </a:t>
            </a:r>
          </a:p>
        </p:txBody>
      </p:sp>
      <p:grpSp>
        <p:nvGrpSpPr>
          <p:cNvPr id="194564" name="Group 7"/>
          <p:cNvGrpSpPr/>
          <p:nvPr/>
        </p:nvGrpSpPr>
        <p:grpSpPr>
          <a:xfrm>
            <a:off x="3444875" y="2452688"/>
            <a:ext cx="838200" cy="381000"/>
            <a:chOff x="1968" y="1344"/>
            <a:chExt cx="528" cy="240"/>
          </a:xfrm>
        </p:grpSpPr>
        <p:sp>
          <p:nvSpPr>
            <p:cNvPr id="186446" name="Rectangle 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47" name="Rectangle 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65" name="Group 10"/>
          <p:cNvGrpSpPr/>
          <p:nvPr/>
        </p:nvGrpSpPr>
        <p:grpSpPr>
          <a:xfrm>
            <a:off x="4664075" y="2452688"/>
            <a:ext cx="838200" cy="381000"/>
            <a:chOff x="1968" y="1344"/>
            <a:chExt cx="528" cy="240"/>
          </a:xfrm>
        </p:grpSpPr>
        <p:sp>
          <p:nvSpPr>
            <p:cNvPr id="186444" name="Rectangle 1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45" name="Rectangle 1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66" name="Group 13"/>
          <p:cNvGrpSpPr/>
          <p:nvPr/>
        </p:nvGrpSpPr>
        <p:grpSpPr>
          <a:xfrm>
            <a:off x="5883275" y="2452688"/>
            <a:ext cx="838200" cy="381000"/>
            <a:chOff x="1968" y="1344"/>
            <a:chExt cx="528" cy="240"/>
          </a:xfrm>
        </p:grpSpPr>
        <p:sp>
          <p:nvSpPr>
            <p:cNvPr id="186442" name="Rectangle 1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43" name="Rectangle 1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67" name="Group 16"/>
          <p:cNvGrpSpPr/>
          <p:nvPr/>
        </p:nvGrpSpPr>
        <p:grpSpPr>
          <a:xfrm>
            <a:off x="2301875" y="2452688"/>
            <a:ext cx="838200" cy="381000"/>
            <a:chOff x="1968" y="1344"/>
            <a:chExt cx="528" cy="240"/>
          </a:xfrm>
        </p:grpSpPr>
        <p:sp>
          <p:nvSpPr>
            <p:cNvPr id="186440" name="Rectangle 1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41" name="Rectangle 1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68" name="Group 19"/>
          <p:cNvGrpSpPr/>
          <p:nvPr/>
        </p:nvGrpSpPr>
        <p:grpSpPr>
          <a:xfrm>
            <a:off x="1997075" y="4052888"/>
            <a:ext cx="838200" cy="381000"/>
            <a:chOff x="1968" y="1344"/>
            <a:chExt cx="528" cy="240"/>
          </a:xfrm>
        </p:grpSpPr>
        <p:sp>
          <p:nvSpPr>
            <p:cNvPr id="186438" name="Rectangle 2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39" name="Rectangle 2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69" name="Group 22"/>
          <p:cNvGrpSpPr/>
          <p:nvPr/>
        </p:nvGrpSpPr>
        <p:grpSpPr>
          <a:xfrm>
            <a:off x="3140075" y="4052888"/>
            <a:ext cx="838200" cy="381000"/>
            <a:chOff x="1968" y="1344"/>
            <a:chExt cx="528" cy="240"/>
          </a:xfrm>
        </p:grpSpPr>
        <p:sp>
          <p:nvSpPr>
            <p:cNvPr id="186436" name="Rectangle 2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37" name="Rectangle 2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70" name="Group 25"/>
          <p:cNvGrpSpPr/>
          <p:nvPr/>
        </p:nvGrpSpPr>
        <p:grpSpPr>
          <a:xfrm>
            <a:off x="4359275" y="4052888"/>
            <a:ext cx="838200" cy="381000"/>
            <a:chOff x="1968" y="1344"/>
            <a:chExt cx="528" cy="240"/>
          </a:xfrm>
        </p:grpSpPr>
        <p:sp>
          <p:nvSpPr>
            <p:cNvPr id="186434" name="Rectangle 2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35" name="Rectangle 2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47" name="Group 28"/>
          <p:cNvGrpSpPr/>
          <p:nvPr/>
        </p:nvGrpSpPr>
        <p:grpSpPr bwMode="auto">
          <a:xfrm>
            <a:off x="5578645" y="4053039"/>
            <a:ext cx="838200" cy="381000"/>
            <a:chOff x="1968" y="1344"/>
            <a:chExt cx="528" cy="240"/>
          </a:xfrm>
          <a:noFill/>
        </p:grpSpPr>
        <p:sp>
          <p:nvSpPr>
            <p:cNvPr id="186432" name="Rectangle 2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33" name="Rectangle 3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72" name="Group 31"/>
          <p:cNvGrpSpPr/>
          <p:nvPr/>
        </p:nvGrpSpPr>
        <p:grpSpPr>
          <a:xfrm>
            <a:off x="6721475" y="4052888"/>
            <a:ext cx="838200" cy="381000"/>
            <a:chOff x="1968" y="1344"/>
            <a:chExt cx="528" cy="240"/>
          </a:xfrm>
        </p:grpSpPr>
        <p:sp>
          <p:nvSpPr>
            <p:cNvPr id="186430" name="Rectangle 3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31" name="Rectangle 3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573" name="Group 34"/>
          <p:cNvGrpSpPr/>
          <p:nvPr/>
        </p:nvGrpSpPr>
        <p:grpSpPr>
          <a:xfrm>
            <a:off x="7864475" y="4052888"/>
            <a:ext cx="838200" cy="381000"/>
            <a:chOff x="1968" y="1344"/>
            <a:chExt cx="528" cy="240"/>
          </a:xfrm>
        </p:grpSpPr>
        <p:sp>
          <p:nvSpPr>
            <p:cNvPr id="186428" name="Rectangle 3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29" name="Rectangle 3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86382" name="Line 37"/>
          <p:cNvSpPr>
            <a:spLocks noChangeShapeType="1"/>
          </p:cNvSpPr>
          <p:nvPr/>
        </p:nvSpPr>
        <p:spPr bwMode="auto">
          <a:xfrm>
            <a:off x="2682875" y="4205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3" name="Line 38"/>
          <p:cNvSpPr>
            <a:spLocks noChangeShapeType="1"/>
          </p:cNvSpPr>
          <p:nvPr/>
        </p:nvSpPr>
        <p:spPr bwMode="auto">
          <a:xfrm>
            <a:off x="5121275" y="4205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4" name="Line 39"/>
          <p:cNvSpPr>
            <a:spLocks noChangeShapeType="1"/>
          </p:cNvSpPr>
          <p:nvPr/>
        </p:nvSpPr>
        <p:spPr bwMode="auto">
          <a:xfrm>
            <a:off x="6264275" y="4205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5" name="Line 40"/>
          <p:cNvSpPr>
            <a:spLocks noChangeShapeType="1"/>
          </p:cNvSpPr>
          <p:nvPr/>
        </p:nvSpPr>
        <p:spPr bwMode="auto">
          <a:xfrm>
            <a:off x="2987675" y="2681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6" name="Line 41"/>
          <p:cNvSpPr>
            <a:spLocks noChangeShapeType="1"/>
          </p:cNvSpPr>
          <p:nvPr/>
        </p:nvSpPr>
        <p:spPr bwMode="auto">
          <a:xfrm>
            <a:off x="4206875" y="2681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7" name="Line 42"/>
          <p:cNvSpPr>
            <a:spLocks noChangeShapeType="1"/>
          </p:cNvSpPr>
          <p:nvPr/>
        </p:nvSpPr>
        <p:spPr bwMode="auto">
          <a:xfrm>
            <a:off x="5426075" y="2681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8" name="Line 43"/>
          <p:cNvSpPr>
            <a:spLocks noChangeShapeType="1"/>
          </p:cNvSpPr>
          <p:nvPr/>
        </p:nvSpPr>
        <p:spPr bwMode="auto">
          <a:xfrm>
            <a:off x="3902075" y="4205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89" name="Line 44"/>
          <p:cNvSpPr>
            <a:spLocks noChangeShapeType="1"/>
          </p:cNvSpPr>
          <p:nvPr/>
        </p:nvSpPr>
        <p:spPr bwMode="auto">
          <a:xfrm>
            <a:off x="7407275" y="420528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0" name="Line 45"/>
          <p:cNvSpPr>
            <a:spLocks noChangeShapeType="1"/>
          </p:cNvSpPr>
          <p:nvPr/>
        </p:nvSpPr>
        <p:spPr bwMode="auto">
          <a:xfrm flipV="1">
            <a:off x="2454275" y="2833688"/>
            <a:ext cx="0" cy="7620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1" name="Line 46"/>
          <p:cNvSpPr>
            <a:spLocks noChangeShapeType="1"/>
          </p:cNvSpPr>
          <p:nvPr/>
        </p:nvSpPr>
        <p:spPr bwMode="auto">
          <a:xfrm>
            <a:off x="4116388" y="2681288"/>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2" name="Line 47"/>
          <p:cNvSpPr>
            <a:spLocks noChangeShapeType="1"/>
          </p:cNvSpPr>
          <p:nvPr/>
        </p:nvSpPr>
        <p:spPr bwMode="auto">
          <a:xfrm flipH="1">
            <a:off x="2759075" y="3138488"/>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3" name="Line 48"/>
          <p:cNvSpPr>
            <a:spLocks noChangeShapeType="1"/>
          </p:cNvSpPr>
          <p:nvPr/>
        </p:nvSpPr>
        <p:spPr bwMode="auto">
          <a:xfrm>
            <a:off x="2754313" y="3138488"/>
            <a:ext cx="0" cy="9144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4" name="Line 49"/>
          <p:cNvSpPr>
            <a:spLocks noChangeShapeType="1"/>
          </p:cNvSpPr>
          <p:nvPr/>
        </p:nvSpPr>
        <p:spPr bwMode="auto">
          <a:xfrm flipH="1" flipV="1">
            <a:off x="5045075" y="2833688"/>
            <a:ext cx="22225" cy="1285875"/>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5" name="Line 50"/>
          <p:cNvSpPr>
            <a:spLocks noChangeShapeType="1"/>
          </p:cNvSpPr>
          <p:nvPr/>
        </p:nvSpPr>
        <p:spPr bwMode="auto">
          <a:xfrm>
            <a:off x="6591300" y="2681288"/>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6" name="Line 51"/>
          <p:cNvSpPr>
            <a:spLocks noChangeShapeType="1"/>
          </p:cNvSpPr>
          <p:nvPr/>
        </p:nvSpPr>
        <p:spPr bwMode="auto">
          <a:xfrm flipH="1">
            <a:off x="6580188" y="3214688"/>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7" name="Line 52"/>
          <p:cNvSpPr>
            <a:spLocks noChangeShapeType="1"/>
          </p:cNvSpPr>
          <p:nvPr/>
        </p:nvSpPr>
        <p:spPr bwMode="auto">
          <a:xfrm>
            <a:off x="6967538" y="3194050"/>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8" name="Line 53"/>
          <p:cNvSpPr>
            <a:spLocks noChangeShapeType="1"/>
          </p:cNvSpPr>
          <p:nvPr/>
        </p:nvSpPr>
        <p:spPr bwMode="auto">
          <a:xfrm>
            <a:off x="1920875" y="2681288"/>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399" name="Text Box 54"/>
          <p:cNvSpPr txBox="1">
            <a:spLocks noChangeArrowheads="1"/>
          </p:cNvSpPr>
          <p:nvPr/>
        </p:nvSpPr>
        <p:spPr bwMode="auto">
          <a:xfrm>
            <a:off x="782638" y="2079625"/>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La(Lc)</a:t>
            </a:r>
          </a:p>
        </p:txBody>
      </p:sp>
      <p:sp>
        <p:nvSpPr>
          <p:cNvPr id="186400" name="Text Box 55"/>
          <p:cNvSpPr txBox="1">
            <a:spLocks noChangeArrowheads="1"/>
          </p:cNvSpPr>
          <p:nvPr/>
        </p:nvSpPr>
        <p:spPr bwMode="auto">
          <a:xfrm>
            <a:off x="3560763" y="23860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86401" name="Text Box 56"/>
          <p:cNvSpPr txBox="1">
            <a:spLocks noChangeArrowheads="1"/>
          </p:cNvSpPr>
          <p:nvPr/>
        </p:nvSpPr>
        <p:spPr bwMode="auto">
          <a:xfrm>
            <a:off x="2138363" y="3976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86402" name="Text Box 57"/>
          <p:cNvSpPr txBox="1">
            <a:spLocks noChangeArrowheads="1"/>
          </p:cNvSpPr>
          <p:nvPr/>
        </p:nvSpPr>
        <p:spPr bwMode="auto">
          <a:xfrm>
            <a:off x="3255963" y="3976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86403" name="Text Box 58"/>
          <p:cNvSpPr txBox="1">
            <a:spLocks noChangeArrowheads="1"/>
          </p:cNvSpPr>
          <p:nvPr/>
        </p:nvSpPr>
        <p:spPr bwMode="auto">
          <a:xfrm>
            <a:off x="4435475" y="40179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86404" name="Text Box 59"/>
          <p:cNvSpPr txBox="1">
            <a:spLocks noChangeArrowheads="1"/>
          </p:cNvSpPr>
          <p:nvPr/>
        </p:nvSpPr>
        <p:spPr bwMode="auto">
          <a:xfrm>
            <a:off x="4743450" y="23860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86405" name="Text Box 60"/>
          <p:cNvSpPr txBox="1">
            <a:spLocks noChangeArrowheads="1"/>
          </p:cNvSpPr>
          <p:nvPr/>
        </p:nvSpPr>
        <p:spPr bwMode="auto">
          <a:xfrm>
            <a:off x="5999163" y="23860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86406" name="Text Box 61"/>
          <p:cNvSpPr txBox="1">
            <a:spLocks noChangeArrowheads="1"/>
          </p:cNvSpPr>
          <p:nvPr/>
        </p:nvSpPr>
        <p:spPr bwMode="auto">
          <a:xfrm>
            <a:off x="5694363" y="40179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86407" name="Text Box 62"/>
          <p:cNvSpPr txBox="1">
            <a:spLocks noChangeArrowheads="1"/>
          </p:cNvSpPr>
          <p:nvPr/>
        </p:nvSpPr>
        <p:spPr bwMode="auto">
          <a:xfrm>
            <a:off x="6715125" y="401796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86408" name="Text Box 63"/>
          <p:cNvSpPr txBox="1">
            <a:spLocks noChangeArrowheads="1"/>
          </p:cNvSpPr>
          <p:nvPr/>
        </p:nvSpPr>
        <p:spPr bwMode="auto">
          <a:xfrm>
            <a:off x="7867650" y="401796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94601" name="Group 64"/>
          <p:cNvGrpSpPr/>
          <p:nvPr/>
        </p:nvGrpSpPr>
        <p:grpSpPr>
          <a:xfrm>
            <a:off x="4283075" y="2538413"/>
            <a:ext cx="228600" cy="304800"/>
            <a:chOff x="2698" y="1622"/>
            <a:chExt cx="144" cy="192"/>
          </a:xfrm>
        </p:grpSpPr>
        <p:sp>
          <p:nvSpPr>
            <p:cNvPr id="186426" name="Line 65"/>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27" name="Line 66"/>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602" name="Group 67"/>
          <p:cNvGrpSpPr/>
          <p:nvPr/>
        </p:nvGrpSpPr>
        <p:grpSpPr>
          <a:xfrm>
            <a:off x="5238750" y="4064000"/>
            <a:ext cx="228600" cy="304800"/>
            <a:chOff x="2698" y="1622"/>
            <a:chExt cx="144" cy="192"/>
          </a:xfrm>
        </p:grpSpPr>
        <p:sp>
          <p:nvSpPr>
            <p:cNvPr id="186424" name="Line 68"/>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25" name="Line 69"/>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3579" name="Group 70"/>
          <p:cNvGrpSpPr/>
          <p:nvPr/>
        </p:nvGrpSpPr>
        <p:grpSpPr bwMode="auto">
          <a:xfrm>
            <a:off x="782808" y="4043514"/>
            <a:ext cx="838200" cy="381000"/>
            <a:chOff x="1968" y="1344"/>
            <a:chExt cx="528" cy="240"/>
          </a:xfrm>
          <a:noFill/>
        </p:grpSpPr>
        <p:sp>
          <p:nvSpPr>
            <p:cNvPr id="186422" name="Rectangle 7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23" name="Rectangle 7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86412" name="Line 73"/>
          <p:cNvSpPr>
            <a:spLocks noChangeShapeType="1"/>
          </p:cNvSpPr>
          <p:nvPr/>
        </p:nvSpPr>
        <p:spPr bwMode="auto">
          <a:xfrm>
            <a:off x="1544638" y="4271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94605" name="Group 74"/>
          <p:cNvGrpSpPr/>
          <p:nvPr/>
        </p:nvGrpSpPr>
        <p:grpSpPr>
          <a:xfrm>
            <a:off x="1681163" y="4119563"/>
            <a:ext cx="228600" cy="304800"/>
            <a:chOff x="2698" y="1622"/>
            <a:chExt cx="144" cy="192"/>
          </a:xfrm>
        </p:grpSpPr>
        <p:sp>
          <p:nvSpPr>
            <p:cNvPr id="186420" name="Line 75"/>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21" name="Line 76"/>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606" name="Group 77"/>
          <p:cNvGrpSpPr/>
          <p:nvPr/>
        </p:nvGrpSpPr>
        <p:grpSpPr>
          <a:xfrm>
            <a:off x="5730875" y="4043363"/>
            <a:ext cx="431800" cy="434975"/>
            <a:chOff x="2698" y="1622"/>
            <a:chExt cx="144" cy="192"/>
          </a:xfrm>
        </p:grpSpPr>
        <p:sp>
          <p:nvSpPr>
            <p:cNvPr id="186418" name="Line 78"/>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19" name="Line 79"/>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94607" name="Group 80"/>
          <p:cNvGrpSpPr/>
          <p:nvPr/>
        </p:nvGrpSpPr>
        <p:grpSpPr>
          <a:xfrm>
            <a:off x="6430963" y="4052888"/>
            <a:ext cx="228600" cy="304800"/>
            <a:chOff x="2698" y="1622"/>
            <a:chExt cx="144" cy="192"/>
          </a:xfrm>
        </p:grpSpPr>
        <p:sp>
          <p:nvSpPr>
            <p:cNvPr id="186416" name="Line 81"/>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6417" name="Line 82"/>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80"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77894"/>
                                        </p:tgtEl>
                                        <p:attrNameLst>
                                          <p:attrName>style.visibility</p:attrName>
                                        </p:attrNameLst>
                                      </p:cBhvr>
                                      <p:to>
                                        <p:strVal val="visible"/>
                                      </p:to>
                                    </p:set>
                                    <p:animEffect transition="in" filter="diamond(in)">
                                      <p:cBhvr>
                                        <p:cTn id="7" dur="2000"/>
                                        <p:tgtEl>
                                          <p:spTgt spid="67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4" grpId="0" animBg="1"/>
    </p:bldLst>
  </p:timing>
</p:sld>
</file>

<file path=ppt/slides/slide1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62" name="矩形 1"/>
          <p:cNvSpPr/>
          <p:nvPr/>
        </p:nvSpPr>
        <p:spPr>
          <a:xfrm>
            <a:off x="0" y="1989138"/>
            <a:ext cx="9144000" cy="2808287"/>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78917" name="Rectangle 5"/>
          <p:cNvSpPr>
            <a:spLocks noChangeArrowheads="1"/>
          </p:cNvSpPr>
          <p:nvPr/>
        </p:nvSpPr>
        <p:spPr bwMode="auto">
          <a:xfrm>
            <a:off x="295275" y="2254250"/>
            <a:ext cx="8697913" cy="2278063"/>
          </a:xfrm>
          <a:prstGeom prst="rect">
            <a:avLst/>
          </a:prstGeom>
          <a:no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）将两个</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非递减</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的有序链表合并为一个</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非递增</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的有序链表。要求结果链表仍使用原来两个链表的存储空间，不另外占用其他的存储空间。表中</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允许有重复</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的数据。</a:t>
            </a:r>
          </a:p>
        </p:txBody>
      </p:sp>
      <p:sp>
        <p:nvSpPr>
          <p:cNvPr id="4"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
        <p:nvSpPr>
          <p:cNvPr id="6"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78917"/>
                                        </p:tgtEl>
                                        <p:attrNameLst>
                                          <p:attrName>style.visibility</p:attrName>
                                        </p:attrNameLst>
                                      </p:cBhvr>
                                      <p:to>
                                        <p:strVal val="visible"/>
                                      </p:to>
                                    </p:set>
                                    <p:animEffect transition="in" filter="diamond(in)">
                                      <p:cBhvr>
                                        <p:cTn id="7" dur="2000"/>
                                        <p:tgtEl>
                                          <p:spTgt spid="678917"/>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94562"/>
                                        </p:tgtEl>
                                        <p:attrNameLst>
                                          <p:attrName>style.visibility</p:attrName>
                                        </p:attrNameLst>
                                      </p:cBhvr>
                                      <p:to>
                                        <p:strVal val="visible"/>
                                      </p:to>
                                    </p:set>
                                    <p:animEffect transition="in" filter="fade">
                                      <p:cBhvr>
                                        <p:cTn id="11" dur="500"/>
                                        <p:tgtEl>
                                          <p:spTgt spid="194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animBg="1"/>
      <p:bldP spid="678917" grpId="0"/>
    </p:bldLst>
  </p:timing>
</p:sld>
</file>

<file path=ppt/slides/slide1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8422" name="Rectangle 8"/>
          <p:cNvSpPr>
            <a:spLocks noChangeArrowheads="1"/>
          </p:cNvSpPr>
          <p:nvPr/>
        </p:nvSpPr>
        <p:spPr bwMode="auto">
          <a:xfrm>
            <a:off x="0" y="1071563"/>
            <a:ext cx="2555875" cy="523875"/>
          </a:xfrm>
          <a:prstGeom prst="rect">
            <a:avLst/>
          </a:prstGeom>
          <a:solidFill>
            <a:srgbClr val="9476B6"/>
          </a:solid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
                <a:srgbClr val="FF0000"/>
              </a:buClr>
              <a:buSzTx/>
              <a:buFont typeface="Wingdings" panose="05000000000000000000" pitchFamily="2" charset="2"/>
              <a:buNone/>
              <a:defRPr/>
            </a:pP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p>
        </p:txBody>
      </p:sp>
      <p:sp>
        <p:nvSpPr>
          <p:cNvPr id="7"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grpSp>
        <p:nvGrpSpPr>
          <p:cNvPr id="196612" name="组合 16"/>
          <p:cNvGrpSpPr/>
          <p:nvPr/>
        </p:nvGrpSpPr>
        <p:grpSpPr>
          <a:xfrm>
            <a:off x="412750" y="1944688"/>
            <a:ext cx="657225" cy="663575"/>
            <a:chOff x="4929188" y="1303338"/>
            <a:chExt cx="501650" cy="506412"/>
          </a:xfrm>
        </p:grpSpPr>
        <p:sp>
          <p:nvSpPr>
            <p:cNvPr id="9" name="Freeform 6"/>
            <p:cNvSpPr/>
            <p:nvPr/>
          </p:nvSpPr>
          <p:spPr bwMode="auto">
            <a:xfrm>
              <a:off x="4929188" y="1303338"/>
              <a:ext cx="501650" cy="506412"/>
            </a:xfrm>
            <a:custGeom>
              <a:avLst/>
              <a:gdLst>
                <a:gd name="T0" fmla="*/ 134 w 134"/>
                <a:gd name="T1" fmla="*/ 36 h 135"/>
                <a:gd name="T2" fmla="*/ 134 w 134"/>
                <a:gd name="T3" fmla="*/ 98 h 135"/>
                <a:gd name="T4" fmla="*/ 98 w 134"/>
                <a:gd name="T5" fmla="*/ 135 h 135"/>
                <a:gd name="T6" fmla="*/ 36 w 134"/>
                <a:gd name="T7" fmla="*/ 135 h 135"/>
                <a:gd name="T8" fmla="*/ 0 w 134"/>
                <a:gd name="T9" fmla="*/ 98 h 135"/>
                <a:gd name="T10" fmla="*/ 0 w 134"/>
                <a:gd name="T11" fmla="*/ 36 h 135"/>
                <a:gd name="T12" fmla="*/ 36 w 134"/>
                <a:gd name="T13" fmla="*/ 0 h 135"/>
                <a:gd name="T14" fmla="*/ 134 w 134"/>
                <a:gd name="T15" fmla="*/ 0 h 135"/>
                <a:gd name="T16" fmla="*/ 134 w 134"/>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6"/>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4" y="0"/>
                    <a:pt x="134" y="0"/>
                    <a:pt x="134" y="0"/>
                  </a:cubicBezTo>
                  <a:lnTo>
                    <a:pt x="134" y="36"/>
                  </a:lnTo>
                  <a:close/>
                </a:path>
              </a:pathLst>
            </a:custGeom>
            <a:solidFill>
              <a:srgbClr val="65A5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0" name="Freeform 7"/>
            <p:cNvSpPr/>
            <p:nvPr/>
          </p:nvSpPr>
          <p:spPr bwMode="auto">
            <a:xfrm>
              <a:off x="4995833" y="1359068"/>
              <a:ext cx="371996" cy="205957"/>
            </a:xfrm>
            <a:custGeom>
              <a:avLst/>
              <a:gdLst>
                <a:gd name="T0" fmla="*/ 97 w 99"/>
                <a:gd name="T1" fmla="*/ 44 h 55"/>
                <a:gd name="T2" fmla="*/ 50 w 99"/>
                <a:gd name="T3" fmla="*/ 0 h 55"/>
                <a:gd name="T4" fmla="*/ 3 w 99"/>
                <a:gd name="T5" fmla="*/ 44 h 55"/>
                <a:gd name="T6" fmla="*/ 3 w 99"/>
                <a:gd name="T7" fmla="*/ 53 h 55"/>
                <a:gd name="T8" fmla="*/ 8 w 99"/>
                <a:gd name="T9" fmla="*/ 55 h 55"/>
                <a:gd name="T10" fmla="*/ 12 w 99"/>
                <a:gd name="T11" fmla="*/ 53 h 55"/>
                <a:gd name="T12" fmla="*/ 50 w 99"/>
                <a:gd name="T13" fmla="*/ 18 h 55"/>
                <a:gd name="T14" fmla="*/ 87 w 99"/>
                <a:gd name="T15" fmla="*/ 53 h 55"/>
                <a:gd name="T16" fmla="*/ 92 w 99"/>
                <a:gd name="T17" fmla="*/ 55 h 55"/>
                <a:gd name="T18" fmla="*/ 97 w 99"/>
                <a:gd name="T19" fmla="*/ 53 h 55"/>
                <a:gd name="T20" fmla="*/ 97 w 99"/>
                <a:gd name="T21"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5">
                  <a:moveTo>
                    <a:pt x="97" y="44"/>
                  </a:moveTo>
                  <a:cubicBezTo>
                    <a:pt x="50" y="0"/>
                    <a:pt x="50" y="0"/>
                    <a:pt x="50" y="0"/>
                  </a:cubicBezTo>
                  <a:cubicBezTo>
                    <a:pt x="3" y="44"/>
                    <a:pt x="3" y="44"/>
                    <a:pt x="3" y="44"/>
                  </a:cubicBezTo>
                  <a:cubicBezTo>
                    <a:pt x="1" y="46"/>
                    <a:pt x="0" y="50"/>
                    <a:pt x="3" y="53"/>
                  </a:cubicBezTo>
                  <a:cubicBezTo>
                    <a:pt x="4" y="54"/>
                    <a:pt x="6" y="55"/>
                    <a:pt x="8" y="55"/>
                  </a:cubicBezTo>
                  <a:cubicBezTo>
                    <a:pt x="9" y="55"/>
                    <a:pt x="11" y="54"/>
                    <a:pt x="12" y="53"/>
                  </a:cubicBezTo>
                  <a:cubicBezTo>
                    <a:pt x="50" y="18"/>
                    <a:pt x="50" y="18"/>
                    <a:pt x="50" y="18"/>
                  </a:cubicBezTo>
                  <a:cubicBezTo>
                    <a:pt x="87" y="53"/>
                    <a:pt x="87" y="53"/>
                    <a:pt x="87" y="53"/>
                  </a:cubicBezTo>
                  <a:cubicBezTo>
                    <a:pt x="89" y="54"/>
                    <a:pt x="90" y="55"/>
                    <a:pt x="92" y="55"/>
                  </a:cubicBezTo>
                  <a:cubicBezTo>
                    <a:pt x="94" y="55"/>
                    <a:pt x="96" y="54"/>
                    <a:pt x="97" y="53"/>
                  </a:cubicBezTo>
                  <a:cubicBezTo>
                    <a:pt x="99" y="50"/>
                    <a:pt x="99" y="46"/>
                    <a:pt x="97" y="44"/>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1" name="Freeform 8"/>
            <p:cNvSpPr/>
            <p:nvPr/>
          </p:nvSpPr>
          <p:spPr bwMode="auto">
            <a:xfrm>
              <a:off x="5056418" y="1446296"/>
              <a:ext cx="255671" cy="265321"/>
            </a:xfrm>
            <a:custGeom>
              <a:avLst/>
              <a:gdLst>
                <a:gd name="T0" fmla="*/ 0 w 68"/>
                <a:gd name="T1" fmla="*/ 32 h 71"/>
                <a:gd name="T2" fmla="*/ 0 w 68"/>
                <a:gd name="T3" fmla="*/ 68 h 71"/>
                <a:gd name="T4" fmla="*/ 5 w 68"/>
                <a:gd name="T5" fmla="*/ 71 h 71"/>
                <a:gd name="T6" fmla="*/ 22 w 68"/>
                <a:gd name="T7" fmla="*/ 71 h 71"/>
                <a:gd name="T8" fmla="*/ 22 w 68"/>
                <a:gd name="T9" fmla="*/ 44 h 71"/>
                <a:gd name="T10" fmla="*/ 46 w 68"/>
                <a:gd name="T11" fmla="*/ 44 h 71"/>
                <a:gd name="T12" fmla="*/ 46 w 68"/>
                <a:gd name="T13" fmla="*/ 71 h 71"/>
                <a:gd name="T14" fmla="*/ 63 w 68"/>
                <a:gd name="T15" fmla="*/ 71 h 71"/>
                <a:gd name="T16" fmla="*/ 68 w 68"/>
                <a:gd name="T17" fmla="*/ 68 h 71"/>
                <a:gd name="T18" fmla="*/ 68 w 68"/>
                <a:gd name="T19" fmla="*/ 32 h 71"/>
                <a:gd name="T20" fmla="*/ 34 w 68"/>
                <a:gd name="T21" fmla="*/ 0 h 71"/>
                <a:gd name="T22" fmla="*/ 0 w 68"/>
                <a:gd name="T23"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71">
                  <a:moveTo>
                    <a:pt x="0" y="32"/>
                  </a:moveTo>
                  <a:cubicBezTo>
                    <a:pt x="0" y="68"/>
                    <a:pt x="0" y="68"/>
                    <a:pt x="0" y="68"/>
                  </a:cubicBezTo>
                  <a:cubicBezTo>
                    <a:pt x="0" y="70"/>
                    <a:pt x="2" y="71"/>
                    <a:pt x="5" y="71"/>
                  </a:cubicBezTo>
                  <a:cubicBezTo>
                    <a:pt x="22" y="71"/>
                    <a:pt x="22" y="71"/>
                    <a:pt x="22" y="71"/>
                  </a:cubicBezTo>
                  <a:cubicBezTo>
                    <a:pt x="22" y="44"/>
                    <a:pt x="22" y="44"/>
                    <a:pt x="22" y="44"/>
                  </a:cubicBezTo>
                  <a:cubicBezTo>
                    <a:pt x="46" y="44"/>
                    <a:pt x="46" y="44"/>
                    <a:pt x="46" y="44"/>
                  </a:cubicBezTo>
                  <a:cubicBezTo>
                    <a:pt x="46" y="71"/>
                    <a:pt x="46" y="71"/>
                    <a:pt x="46" y="71"/>
                  </a:cubicBezTo>
                  <a:cubicBezTo>
                    <a:pt x="63" y="71"/>
                    <a:pt x="63" y="71"/>
                    <a:pt x="63" y="71"/>
                  </a:cubicBezTo>
                  <a:cubicBezTo>
                    <a:pt x="66" y="71"/>
                    <a:pt x="68" y="70"/>
                    <a:pt x="68" y="68"/>
                  </a:cubicBezTo>
                  <a:cubicBezTo>
                    <a:pt x="68" y="32"/>
                    <a:pt x="68" y="32"/>
                    <a:pt x="68" y="32"/>
                  </a:cubicBezTo>
                  <a:cubicBezTo>
                    <a:pt x="34" y="0"/>
                    <a:pt x="34" y="0"/>
                    <a:pt x="34" y="0"/>
                  </a:cubicBezTo>
                  <a:lnTo>
                    <a:pt x="0" y="32"/>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grpSp>
        <p:nvGrpSpPr>
          <p:cNvPr id="196613" name="组合 20"/>
          <p:cNvGrpSpPr/>
          <p:nvPr/>
        </p:nvGrpSpPr>
        <p:grpSpPr>
          <a:xfrm>
            <a:off x="406400" y="2857500"/>
            <a:ext cx="663575" cy="661988"/>
            <a:chOff x="1339850" y="2163763"/>
            <a:chExt cx="506413" cy="506412"/>
          </a:xfrm>
        </p:grpSpPr>
        <p:sp>
          <p:nvSpPr>
            <p:cNvPr id="13" name="Freeform 13"/>
            <p:cNvSpPr/>
            <p:nvPr/>
          </p:nvSpPr>
          <p:spPr bwMode="auto">
            <a:xfrm>
              <a:off x="1339850" y="2163763"/>
              <a:ext cx="506413" cy="506412"/>
            </a:xfrm>
            <a:custGeom>
              <a:avLst/>
              <a:gdLst>
                <a:gd name="T0" fmla="*/ 135 w 135"/>
                <a:gd name="T1" fmla="*/ 36 h 135"/>
                <a:gd name="T2" fmla="*/ 135 w 135"/>
                <a:gd name="T3" fmla="*/ 98 h 135"/>
                <a:gd name="T4" fmla="*/ 98 w 135"/>
                <a:gd name="T5" fmla="*/ 135 h 135"/>
                <a:gd name="T6" fmla="*/ 37 w 135"/>
                <a:gd name="T7" fmla="*/ 135 h 135"/>
                <a:gd name="T8" fmla="*/ 0 w 135"/>
                <a:gd name="T9" fmla="*/ 98 h 135"/>
                <a:gd name="T10" fmla="*/ 0 w 135"/>
                <a:gd name="T11" fmla="*/ 36 h 135"/>
                <a:gd name="T12" fmla="*/ 37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7" y="135"/>
                    <a:pt x="37" y="135"/>
                    <a:pt x="37" y="135"/>
                  </a:cubicBezTo>
                  <a:cubicBezTo>
                    <a:pt x="16" y="135"/>
                    <a:pt x="0" y="118"/>
                    <a:pt x="0" y="98"/>
                  </a:cubicBezTo>
                  <a:cubicBezTo>
                    <a:pt x="0" y="36"/>
                    <a:pt x="0" y="36"/>
                    <a:pt x="0" y="36"/>
                  </a:cubicBezTo>
                  <a:cubicBezTo>
                    <a:pt x="0" y="16"/>
                    <a:pt x="16" y="0"/>
                    <a:pt x="37" y="0"/>
                  </a:cubicBezTo>
                  <a:cubicBezTo>
                    <a:pt x="135" y="0"/>
                    <a:pt x="135" y="0"/>
                    <a:pt x="135" y="0"/>
                  </a:cubicBezTo>
                  <a:lnTo>
                    <a:pt x="135" y="36"/>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4" name="Freeform 14"/>
            <p:cNvSpPr/>
            <p:nvPr/>
          </p:nvSpPr>
          <p:spPr bwMode="auto">
            <a:xfrm>
              <a:off x="1499770" y="2276704"/>
              <a:ext cx="176881" cy="104440"/>
            </a:xfrm>
            <a:custGeom>
              <a:avLst/>
              <a:gdLst>
                <a:gd name="T0" fmla="*/ 111 w 111"/>
                <a:gd name="T1" fmla="*/ 0 h 66"/>
                <a:gd name="T2" fmla="*/ 55 w 111"/>
                <a:gd name="T3" fmla="*/ 0 h 66"/>
                <a:gd name="T4" fmla="*/ 55 w 111"/>
                <a:gd name="T5" fmla="*/ 54 h 66"/>
                <a:gd name="T6" fmla="*/ 14 w 111"/>
                <a:gd name="T7" fmla="*/ 54 h 66"/>
                <a:gd name="T8" fmla="*/ 14 w 111"/>
                <a:gd name="T9" fmla="*/ 0 h 66"/>
                <a:gd name="T10" fmla="*/ 0 w 111"/>
                <a:gd name="T11" fmla="*/ 0 h 66"/>
                <a:gd name="T12" fmla="*/ 0 w 111"/>
                <a:gd name="T13" fmla="*/ 66 h 66"/>
                <a:gd name="T14" fmla="*/ 111 w 111"/>
                <a:gd name="T15" fmla="*/ 66 h 66"/>
                <a:gd name="T16" fmla="*/ 111 w 111"/>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66">
                  <a:moveTo>
                    <a:pt x="111" y="0"/>
                  </a:moveTo>
                  <a:lnTo>
                    <a:pt x="55" y="0"/>
                  </a:lnTo>
                  <a:lnTo>
                    <a:pt x="55" y="54"/>
                  </a:lnTo>
                  <a:lnTo>
                    <a:pt x="14" y="54"/>
                  </a:lnTo>
                  <a:lnTo>
                    <a:pt x="14" y="0"/>
                  </a:lnTo>
                  <a:lnTo>
                    <a:pt x="0" y="0"/>
                  </a:lnTo>
                  <a:lnTo>
                    <a:pt x="0" y="66"/>
                  </a:lnTo>
                  <a:lnTo>
                    <a:pt x="111" y="66"/>
                  </a:lnTo>
                  <a:lnTo>
                    <a:pt x="111" y="0"/>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5" name="Freeform 15"/>
            <p:cNvSpPr>
              <a:spLocks noEditPoints="1"/>
            </p:cNvSpPr>
            <p:nvPr/>
          </p:nvSpPr>
          <p:spPr bwMode="auto">
            <a:xfrm>
              <a:off x="1447675" y="2276704"/>
              <a:ext cx="289552" cy="278101"/>
            </a:xfrm>
            <a:custGeom>
              <a:avLst/>
              <a:gdLst>
                <a:gd name="T0" fmla="*/ 72 w 77"/>
                <a:gd name="T1" fmla="*/ 0 h 74"/>
                <a:gd name="T2" fmla="*/ 64 w 77"/>
                <a:gd name="T3" fmla="*/ 0 h 74"/>
                <a:gd name="T4" fmla="*/ 64 w 77"/>
                <a:gd name="T5" fmla="*/ 31 h 74"/>
                <a:gd name="T6" fmla="*/ 10 w 77"/>
                <a:gd name="T7" fmla="*/ 31 h 74"/>
                <a:gd name="T8" fmla="*/ 10 w 77"/>
                <a:gd name="T9" fmla="*/ 0 h 74"/>
                <a:gd name="T10" fmla="*/ 5 w 77"/>
                <a:gd name="T11" fmla="*/ 0 h 74"/>
                <a:gd name="T12" fmla="*/ 0 w 77"/>
                <a:gd name="T13" fmla="*/ 6 h 74"/>
                <a:gd name="T14" fmla="*/ 0 w 77"/>
                <a:gd name="T15" fmla="*/ 68 h 74"/>
                <a:gd name="T16" fmla="*/ 5 w 77"/>
                <a:gd name="T17" fmla="*/ 74 h 74"/>
                <a:gd name="T18" fmla="*/ 72 w 77"/>
                <a:gd name="T19" fmla="*/ 74 h 74"/>
                <a:gd name="T20" fmla="*/ 77 w 77"/>
                <a:gd name="T21" fmla="*/ 68 h 74"/>
                <a:gd name="T22" fmla="*/ 77 w 77"/>
                <a:gd name="T23" fmla="*/ 6 h 74"/>
                <a:gd name="T24" fmla="*/ 72 w 77"/>
                <a:gd name="T25" fmla="*/ 0 h 74"/>
                <a:gd name="T26" fmla="*/ 38 w 77"/>
                <a:gd name="T27" fmla="*/ 65 h 74"/>
                <a:gd name="T28" fmla="*/ 22 w 77"/>
                <a:gd name="T29" fmla="*/ 49 h 74"/>
                <a:gd name="T30" fmla="*/ 38 w 77"/>
                <a:gd name="T31" fmla="*/ 33 h 74"/>
                <a:gd name="T32" fmla="*/ 54 w 77"/>
                <a:gd name="T33" fmla="*/ 49 h 74"/>
                <a:gd name="T34" fmla="*/ 38 w 77"/>
                <a:gd name="T35"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4">
                  <a:moveTo>
                    <a:pt x="72" y="0"/>
                  </a:moveTo>
                  <a:cubicBezTo>
                    <a:pt x="64" y="0"/>
                    <a:pt x="64" y="0"/>
                    <a:pt x="64" y="0"/>
                  </a:cubicBezTo>
                  <a:cubicBezTo>
                    <a:pt x="64" y="31"/>
                    <a:pt x="64" y="31"/>
                    <a:pt x="64" y="31"/>
                  </a:cubicBezTo>
                  <a:cubicBezTo>
                    <a:pt x="10" y="31"/>
                    <a:pt x="10" y="31"/>
                    <a:pt x="10" y="31"/>
                  </a:cubicBezTo>
                  <a:cubicBezTo>
                    <a:pt x="10" y="0"/>
                    <a:pt x="10" y="0"/>
                    <a:pt x="10" y="0"/>
                  </a:cubicBezTo>
                  <a:cubicBezTo>
                    <a:pt x="5" y="0"/>
                    <a:pt x="5" y="0"/>
                    <a:pt x="5" y="0"/>
                  </a:cubicBezTo>
                  <a:cubicBezTo>
                    <a:pt x="2" y="0"/>
                    <a:pt x="0" y="3"/>
                    <a:pt x="0" y="6"/>
                  </a:cubicBezTo>
                  <a:cubicBezTo>
                    <a:pt x="0" y="68"/>
                    <a:pt x="0" y="68"/>
                    <a:pt x="0" y="68"/>
                  </a:cubicBezTo>
                  <a:cubicBezTo>
                    <a:pt x="0" y="72"/>
                    <a:pt x="2" y="74"/>
                    <a:pt x="5" y="74"/>
                  </a:cubicBezTo>
                  <a:cubicBezTo>
                    <a:pt x="72" y="74"/>
                    <a:pt x="72" y="74"/>
                    <a:pt x="72" y="74"/>
                  </a:cubicBezTo>
                  <a:cubicBezTo>
                    <a:pt x="75" y="74"/>
                    <a:pt x="77" y="72"/>
                    <a:pt x="77" y="68"/>
                  </a:cubicBezTo>
                  <a:cubicBezTo>
                    <a:pt x="77" y="6"/>
                    <a:pt x="77" y="6"/>
                    <a:pt x="77" y="6"/>
                  </a:cubicBezTo>
                  <a:cubicBezTo>
                    <a:pt x="77" y="3"/>
                    <a:pt x="75" y="0"/>
                    <a:pt x="72" y="0"/>
                  </a:cubicBezTo>
                  <a:close/>
                  <a:moveTo>
                    <a:pt x="38" y="65"/>
                  </a:moveTo>
                  <a:cubicBezTo>
                    <a:pt x="29" y="65"/>
                    <a:pt x="22" y="58"/>
                    <a:pt x="22" y="49"/>
                  </a:cubicBezTo>
                  <a:cubicBezTo>
                    <a:pt x="22" y="40"/>
                    <a:pt x="29" y="33"/>
                    <a:pt x="38" y="33"/>
                  </a:cubicBezTo>
                  <a:cubicBezTo>
                    <a:pt x="46" y="33"/>
                    <a:pt x="54" y="40"/>
                    <a:pt x="54" y="49"/>
                  </a:cubicBezTo>
                  <a:cubicBezTo>
                    <a:pt x="54" y="58"/>
                    <a:pt x="46" y="65"/>
                    <a:pt x="38" y="65"/>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6" name="Oval 16"/>
            <p:cNvSpPr>
              <a:spLocks noChangeArrowheads="1"/>
            </p:cNvSpPr>
            <p:nvPr/>
          </p:nvSpPr>
          <p:spPr bwMode="auto">
            <a:xfrm>
              <a:off x="1549442" y="2418790"/>
              <a:ext cx="82383" cy="82580"/>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grpSp>
        <p:nvGrpSpPr>
          <p:cNvPr id="196614" name="组合 25"/>
          <p:cNvGrpSpPr/>
          <p:nvPr/>
        </p:nvGrpSpPr>
        <p:grpSpPr>
          <a:xfrm>
            <a:off x="412750" y="4575175"/>
            <a:ext cx="657225" cy="663575"/>
            <a:chOff x="5093055" y="2766720"/>
            <a:chExt cx="501650" cy="506413"/>
          </a:xfrm>
        </p:grpSpPr>
        <p:sp>
          <p:nvSpPr>
            <p:cNvPr id="18" name="Freeform 21"/>
            <p:cNvSpPr/>
            <p:nvPr/>
          </p:nvSpPr>
          <p:spPr bwMode="auto">
            <a:xfrm>
              <a:off x="5093055" y="2766720"/>
              <a:ext cx="501650" cy="506413"/>
            </a:xfrm>
            <a:custGeom>
              <a:avLst/>
              <a:gdLst>
                <a:gd name="T0" fmla="*/ 134 w 134"/>
                <a:gd name="T1" fmla="*/ 37 h 135"/>
                <a:gd name="T2" fmla="*/ 134 w 134"/>
                <a:gd name="T3" fmla="*/ 98 h 135"/>
                <a:gd name="T4" fmla="*/ 98 w 134"/>
                <a:gd name="T5" fmla="*/ 135 h 135"/>
                <a:gd name="T6" fmla="*/ 36 w 134"/>
                <a:gd name="T7" fmla="*/ 135 h 135"/>
                <a:gd name="T8" fmla="*/ 0 w 134"/>
                <a:gd name="T9" fmla="*/ 98 h 135"/>
                <a:gd name="T10" fmla="*/ 0 w 134"/>
                <a:gd name="T11" fmla="*/ 37 h 135"/>
                <a:gd name="T12" fmla="*/ 36 w 134"/>
                <a:gd name="T13" fmla="*/ 0 h 135"/>
                <a:gd name="T14" fmla="*/ 134 w 134"/>
                <a:gd name="T15" fmla="*/ 0 h 135"/>
                <a:gd name="T16" fmla="*/ 134 w 134"/>
                <a:gd name="T17" fmla="*/ 3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7"/>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7"/>
                    <a:pt x="0" y="37"/>
                    <a:pt x="0" y="37"/>
                  </a:cubicBezTo>
                  <a:cubicBezTo>
                    <a:pt x="0" y="16"/>
                    <a:pt x="16" y="0"/>
                    <a:pt x="36" y="0"/>
                  </a:cubicBezTo>
                  <a:cubicBezTo>
                    <a:pt x="134" y="0"/>
                    <a:pt x="134" y="0"/>
                    <a:pt x="134" y="0"/>
                  </a:cubicBezTo>
                  <a:lnTo>
                    <a:pt x="134" y="37"/>
                  </a:lnTo>
                  <a:close/>
                </a:path>
              </a:pathLst>
            </a:cu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mn-lt"/>
                <a:ea typeface="+mn-ea"/>
                <a:cs typeface="+mn-cs"/>
              </a:endParaRPr>
            </a:p>
          </p:txBody>
        </p:sp>
        <p:sp>
          <p:nvSpPr>
            <p:cNvPr id="19" name="Oval 22"/>
            <p:cNvSpPr>
              <a:spLocks noChangeArrowheads="1"/>
            </p:cNvSpPr>
            <p:nvPr/>
          </p:nvSpPr>
          <p:spPr bwMode="auto">
            <a:xfrm>
              <a:off x="5200898" y="3069599"/>
              <a:ext cx="98149" cy="99344"/>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20" name="Freeform 23"/>
            <p:cNvSpPr/>
            <p:nvPr/>
          </p:nvSpPr>
          <p:spPr bwMode="auto">
            <a:xfrm>
              <a:off x="5211803" y="2970254"/>
              <a:ext cx="181757" cy="179304"/>
            </a:xfrm>
            <a:custGeom>
              <a:avLst/>
              <a:gdLst>
                <a:gd name="T0" fmla="*/ 6 w 48"/>
                <a:gd name="T1" fmla="*/ 0 h 48"/>
                <a:gd name="T2" fmla="*/ 0 w 48"/>
                <a:gd name="T3" fmla="*/ 7 h 48"/>
                <a:gd name="T4" fmla="*/ 6 w 48"/>
                <a:gd name="T5" fmla="*/ 13 h 48"/>
                <a:gd name="T6" fmla="*/ 35 w 48"/>
                <a:gd name="T7" fmla="*/ 42 h 48"/>
                <a:gd name="T8" fmla="*/ 42 w 48"/>
                <a:gd name="T9" fmla="*/ 48 h 48"/>
                <a:gd name="T10" fmla="*/ 48 w 48"/>
                <a:gd name="T11" fmla="*/ 42 h 48"/>
                <a:gd name="T12" fmla="*/ 6 w 48"/>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0"/>
                  </a:moveTo>
                  <a:cubicBezTo>
                    <a:pt x="3" y="0"/>
                    <a:pt x="0" y="3"/>
                    <a:pt x="0" y="7"/>
                  </a:cubicBezTo>
                  <a:cubicBezTo>
                    <a:pt x="0" y="10"/>
                    <a:pt x="3" y="13"/>
                    <a:pt x="6" y="13"/>
                  </a:cubicBezTo>
                  <a:cubicBezTo>
                    <a:pt x="22" y="13"/>
                    <a:pt x="35" y="26"/>
                    <a:pt x="35" y="42"/>
                  </a:cubicBezTo>
                  <a:cubicBezTo>
                    <a:pt x="35" y="45"/>
                    <a:pt x="38" y="48"/>
                    <a:pt x="42" y="48"/>
                  </a:cubicBezTo>
                  <a:cubicBezTo>
                    <a:pt x="45" y="48"/>
                    <a:pt x="48" y="45"/>
                    <a:pt x="48" y="42"/>
                  </a:cubicBezTo>
                  <a:cubicBezTo>
                    <a:pt x="48" y="19"/>
                    <a:pt x="29" y="0"/>
                    <a:pt x="6" y="0"/>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21" name="Freeform 24"/>
            <p:cNvSpPr/>
            <p:nvPr/>
          </p:nvSpPr>
          <p:spPr bwMode="auto">
            <a:xfrm>
              <a:off x="5211803" y="2870910"/>
              <a:ext cx="278694" cy="278648"/>
            </a:xfrm>
            <a:custGeom>
              <a:avLst/>
              <a:gdLst>
                <a:gd name="T0" fmla="*/ 6 w 74"/>
                <a:gd name="T1" fmla="*/ 0 h 74"/>
                <a:gd name="T2" fmla="*/ 0 w 74"/>
                <a:gd name="T3" fmla="*/ 7 h 74"/>
                <a:gd name="T4" fmla="*/ 6 w 74"/>
                <a:gd name="T5" fmla="*/ 13 h 74"/>
                <a:gd name="T6" fmla="*/ 61 w 74"/>
                <a:gd name="T7" fmla="*/ 68 h 74"/>
                <a:gd name="T8" fmla="*/ 68 w 74"/>
                <a:gd name="T9" fmla="*/ 74 h 74"/>
                <a:gd name="T10" fmla="*/ 74 w 74"/>
                <a:gd name="T11" fmla="*/ 68 h 74"/>
                <a:gd name="T12" fmla="*/ 6 w 74"/>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74" h="74">
                  <a:moveTo>
                    <a:pt x="6" y="0"/>
                  </a:moveTo>
                  <a:cubicBezTo>
                    <a:pt x="3" y="0"/>
                    <a:pt x="0" y="3"/>
                    <a:pt x="0" y="7"/>
                  </a:cubicBezTo>
                  <a:cubicBezTo>
                    <a:pt x="0" y="10"/>
                    <a:pt x="3" y="13"/>
                    <a:pt x="6" y="13"/>
                  </a:cubicBezTo>
                  <a:cubicBezTo>
                    <a:pt x="37" y="13"/>
                    <a:pt x="61" y="38"/>
                    <a:pt x="61" y="68"/>
                  </a:cubicBezTo>
                  <a:cubicBezTo>
                    <a:pt x="61" y="71"/>
                    <a:pt x="64" y="74"/>
                    <a:pt x="68" y="74"/>
                  </a:cubicBezTo>
                  <a:cubicBezTo>
                    <a:pt x="71" y="74"/>
                    <a:pt x="74" y="71"/>
                    <a:pt x="74" y="68"/>
                  </a:cubicBezTo>
                  <a:cubicBezTo>
                    <a:pt x="74" y="30"/>
                    <a:pt x="44" y="0"/>
                    <a:pt x="6" y="0"/>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grpSp>
        <p:nvGrpSpPr>
          <p:cNvPr id="196615" name="组合 30"/>
          <p:cNvGrpSpPr/>
          <p:nvPr/>
        </p:nvGrpSpPr>
        <p:grpSpPr>
          <a:xfrm>
            <a:off x="406400" y="5791200"/>
            <a:ext cx="663575" cy="661988"/>
            <a:chOff x="6137274" y="1900165"/>
            <a:chExt cx="506413" cy="506412"/>
          </a:xfrm>
        </p:grpSpPr>
        <p:sp>
          <p:nvSpPr>
            <p:cNvPr id="23" name="Freeform 29"/>
            <p:cNvSpPr/>
            <p:nvPr/>
          </p:nvSpPr>
          <p:spPr bwMode="auto">
            <a:xfrm>
              <a:off x="6137274" y="1900165"/>
              <a:ext cx="506413" cy="506412"/>
            </a:xfrm>
            <a:custGeom>
              <a:avLst/>
              <a:gdLst>
                <a:gd name="T0" fmla="*/ 135 w 135"/>
                <a:gd name="T1" fmla="*/ 36 h 135"/>
                <a:gd name="T2" fmla="*/ 135 w 135"/>
                <a:gd name="T3" fmla="*/ 98 h 135"/>
                <a:gd name="T4" fmla="*/ 98 w 135"/>
                <a:gd name="T5" fmla="*/ 135 h 135"/>
                <a:gd name="T6" fmla="*/ 36 w 135"/>
                <a:gd name="T7" fmla="*/ 135 h 135"/>
                <a:gd name="T8" fmla="*/ 0 w 135"/>
                <a:gd name="T9" fmla="*/ 98 h 135"/>
                <a:gd name="T10" fmla="*/ 0 w 135"/>
                <a:gd name="T11" fmla="*/ 36 h 135"/>
                <a:gd name="T12" fmla="*/ 36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5" y="0"/>
                    <a:pt x="135" y="0"/>
                    <a:pt x="135" y="0"/>
                  </a:cubicBezTo>
                  <a:lnTo>
                    <a:pt x="135" y="36"/>
                  </a:lnTo>
                  <a:close/>
                </a:path>
              </a:pathLst>
            </a:cu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24" name="Freeform 30"/>
            <p:cNvSpPr>
              <a:spLocks noEditPoints="1"/>
            </p:cNvSpPr>
            <p:nvPr/>
          </p:nvSpPr>
          <p:spPr bwMode="auto">
            <a:xfrm>
              <a:off x="6208754" y="1979102"/>
              <a:ext cx="327109" cy="325464"/>
            </a:xfrm>
            <a:custGeom>
              <a:avLst/>
              <a:gdLst>
                <a:gd name="T0" fmla="*/ 64 w 87"/>
                <a:gd name="T1" fmla="*/ 14 h 87"/>
                <a:gd name="T2" fmla="*/ 14 w 87"/>
                <a:gd name="T3" fmla="*/ 14 h 87"/>
                <a:gd name="T4" fmla="*/ 14 w 87"/>
                <a:gd name="T5" fmla="*/ 64 h 87"/>
                <a:gd name="T6" fmla="*/ 59 w 87"/>
                <a:gd name="T7" fmla="*/ 69 h 87"/>
                <a:gd name="T8" fmla="*/ 74 w 87"/>
                <a:gd name="T9" fmla="*/ 84 h 87"/>
                <a:gd name="T10" fmla="*/ 83 w 87"/>
                <a:gd name="T11" fmla="*/ 84 h 87"/>
                <a:gd name="T12" fmla="*/ 84 w 87"/>
                <a:gd name="T13" fmla="*/ 83 h 87"/>
                <a:gd name="T14" fmla="*/ 84 w 87"/>
                <a:gd name="T15" fmla="*/ 74 h 87"/>
                <a:gd name="T16" fmla="*/ 69 w 87"/>
                <a:gd name="T17" fmla="*/ 59 h 87"/>
                <a:gd name="T18" fmla="*/ 64 w 87"/>
                <a:gd name="T19" fmla="*/ 14 h 87"/>
                <a:gd name="T20" fmla="*/ 58 w 87"/>
                <a:gd name="T21" fmla="*/ 58 h 87"/>
                <a:gd name="T22" fmla="*/ 20 w 87"/>
                <a:gd name="T23" fmla="*/ 58 h 87"/>
                <a:gd name="T24" fmla="*/ 20 w 87"/>
                <a:gd name="T25" fmla="*/ 21 h 87"/>
                <a:gd name="T26" fmla="*/ 58 w 87"/>
                <a:gd name="T27" fmla="*/ 21 h 87"/>
                <a:gd name="T28" fmla="*/ 58 w 87"/>
                <a:gd name="T29"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7">
                  <a:moveTo>
                    <a:pt x="64" y="14"/>
                  </a:moveTo>
                  <a:cubicBezTo>
                    <a:pt x="50" y="0"/>
                    <a:pt x="28" y="0"/>
                    <a:pt x="14" y="14"/>
                  </a:cubicBezTo>
                  <a:cubicBezTo>
                    <a:pt x="0" y="28"/>
                    <a:pt x="0" y="51"/>
                    <a:pt x="14" y="64"/>
                  </a:cubicBezTo>
                  <a:cubicBezTo>
                    <a:pt x="26" y="77"/>
                    <a:pt x="45" y="78"/>
                    <a:pt x="59" y="69"/>
                  </a:cubicBezTo>
                  <a:cubicBezTo>
                    <a:pt x="74" y="84"/>
                    <a:pt x="74" y="84"/>
                    <a:pt x="74" y="84"/>
                  </a:cubicBezTo>
                  <a:cubicBezTo>
                    <a:pt x="76" y="87"/>
                    <a:pt x="80" y="87"/>
                    <a:pt x="83" y="84"/>
                  </a:cubicBezTo>
                  <a:cubicBezTo>
                    <a:pt x="84" y="83"/>
                    <a:pt x="84" y="83"/>
                    <a:pt x="84" y="83"/>
                  </a:cubicBezTo>
                  <a:cubicBezTo>
                    <a:pt x="87" y="81"/>
                    <a:pt x="87" y="77"/>
                    <a:pt x="84" y="74"/>
                  </a:cubicBezTo>
                  <a:cubicBezTo>
                    <a:pt x="69" y="59"/>
                    <a:pt x="69" y="59"/>
                    <a:pt x="69" y="59"/>
                  </a:cubicBezTo>
                  <a:cubicBezTo>
                    <a:pt x="78" y="45"/>
                    <a:pt x="76" y="26"/>
                    <a:pt x="64" y="14"/>
                  </a:cubicBezTo>
                  <a:close/>
                  <a:moveTo>
                    <a:pt x="58" y="58"/>
                  </a:moveTo>
                  <a:cubicBezTo>
                    <a:pt x="47" y="68"/>
                    <a:pt x="31" y="68"/>
                    <a:pt x="20" y="58"/>
                  </a:cubicBezTo>
                  <a:cubicBezTo>
                    <a:pt x="10" y="48"/>
                    <a:pt x="10" y="31"/>
                    <a:pt x="20" y="21"/>
                  </a:cubicBezTo>
                  <a:cubicBezTo>
                    <a:pt x="31" y="10"/>
                    <a:pt x="47" y="10"/>
                    <a:pt x="58" y="21"/>
                  </a:cubicBezTo>
                  <a:cubicBezTo>
                    <a:pt x="68" y="31"/>
                    <a:pt x="68" y="48"/>
                    <a:pt x="58" y="58"/>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sp>
        <p:nvSpPr>
          <p:cNvPr id="196616" name="Text Box 11"/>
          <p:cNvSpPr txBox="1"/>
          <p:nvPr/>
        </p:nvSpPr>
        <p:spPr>
          <a:xfrm>
            <a:off x="1258888" y="2014538"/>
            <a:ext cx="4117975" cy="522287"/>
          </a:xfrm>
          <a:prstGeom prst="rect">
            <a:avLst/>
          </a:prstGeom>
          <a:no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00000"/>
              </a:lnSpc>
            </a:pPr>
            <a:r>
              <a:rPr lang="en-US" altLang="zh-CN" sz="2800" dirty="0">
                <a:solidFill>
                  <a:srgbClr val="000000"/>
                </a:solidFill>
                <a:latin typeface="微软雅黑" panose="020B0503020204020204" pitchFamily="34" charset="-122"/>
              </a:rPr>
              <a:t>Lc</a:t>
            </a:r>
            <a:r>
              <a:rPr lang="zh-CN" altLang="en-US" sz="2800" dirty="0">
                <a:solidFill>
                  <a:srgbClr val="000000"/>
                </a:solidFill>
                <a:latin typeface="微软雅黑" panose="020B0503020204020204" pitchFamily="34" charset="-122"/>
              </a:rPr>
              <a:t>指向</a:t>
            </a:r>
            <a:r>
              <a:rPr lang="en-US" altLang="zh-CN" sz="2800" dirty="0">
                <a:solidFill>
                  <a:srgbClr val="000000"/>
                </a:solidFill>
                <a:latin typeface="微软雅黑" panose="020B0503020204020204" pitchFamily="34" charset="-122"/>
              </a:rPr>
              <a:t>La</a:t>
            </a:r>
          </a:p>
        </p:txBody>
      </p:sp>
      <p:sp>
        <p:nvSpPr>
          <p:cNvPr id="196617" name="Text Box 11"/>
          <p:cNvSpPr txBox="1"/>
          <p:nvPr/>
        </p:nvSpPr>
        <p:spPr>
          <a:xfrm>
            <a:off x="1244600" y="2695575"/>
            <a:ext cx="7791450" cy="1708150"/>
          </a:xfrm>
          <a:prstGeom prst="rect">
            <a:avLst/>
          </a:prstGeom>
          <a:no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25000"/>
              </a:lnSpc>
            </a:pPr>
            <a:r>
              <a:rPr lang="zh-CN" altLang="en-US" sz="2800" dirty="0">
                <a:solidFill>
                  <a:srgbClr val="000000"/>
                </a:solidFill>
                <a:latin typeface="微软雅黑" panose="020B0503020204020204" pitchFamily="34" charset="-122"/>
              </a:rPr>
              <a:t>依次从 </a:t>
            </a:r>
            <a:r>
              <a:rPr lang="en-US" altLang="zh-CN" sz="2800" dirty="0">
                <a:solidFill>
                  <a:srgbClr val="000000"/>
                </a:solidFill>
                <a:latin typeface="微软雅黑" panose="020B0503020204020204" pitchFamily="34" charset="-122"/>
              </a:rPr>
              <a:t>La </a:t>
            </a:r>
            <a:r>
              <a:rPr lang="zh-CN" altLang="en-US" sz="2800" dirty="0">
                <a:solidFill>
                  <a:srgbClr val="000000"/>
                </a:solidFill>
                <a:latin typeface="微软雅黑" panose="020B0503020204020204" pitchFamily="34" charset="-122"/>
              </a:rPr>
              <a:t>或 </a:t>
            </a:r>
            <a:r>
              <a:rPr lang="en-US" altLang="zh-CN" sz="2800" dirty="0">
                <a:solidFill>
                  <a:srgbClr val="000000"/>
                </a:solidFill>
                <a:latin typeface="微软雅黑" panose="020B0503020204020204" pitchFamily="34" charset="-122"/>
              </a:rPr>
              <a:t>Lb </a:t>
            </a:r>
            <a:r>
              <a:rPr lang="zh-CN" altLang="en-US" sz="2800" dirty="0">
                <a:solidFill>
                  <a:srgbClr val="000000"/>
                </a:solidFill>
                <a:latin typeface="微软雅黑" panose="020B0503020204020204" pitchFamily="34" charset="-122"/>
              </a:rPr>
              <a:t>中“摘取”元素值较小的结点插入到 </a:t>
            </a:r>
            <a:r>
              <a:rPr lang="en-US" altLang="zh-CN" sz="2800" dirty="0">
                <a:solidFill>
                  <a:srgbClr val="000000"/>
                </a:solidFill>
                <a:latin typeface="微软雅黑" panose="020B0503020204020204" pitchFamily="34" charset="-122"/>
              </a:rPr>
              <a:t>Lc </a:t>
            </a:r>
            <a:r>
              <a:rPr lang="zh-CN" altLang="en-US" sz="2800" dirty="0">
                <a:solidFill>
                  <a:srgbClr val="000000"/>
                </a:solidFill>
                <a:latin typeface="微软雅黑" panose="020B0503020204020204" pitchFamily="34" charset="-122"/>
              </a:rPr>
              <a:t>表的</a:t>
            </a:r>
            <a:r>
              <a:rPr lang="zh-CN" altLang="en-US" sz="2800" dirty="0">
                <a:solidFill>
                  <a:srgbClr val="FF0000"/>
                </a:solidFill>
                <a:latin typeface="微软雅黑" panose="020B0503020204020204" pitchFamily="34" charset="-122"/>
              </a:rPr>
              <a:t>表头结点之后</a:t>
            </a:r>
            <a:r>
              <a:rPr lang="zh-CN" altLang="en-US" sz="2800" dirty="0">
                <a:solidFill>
                  <a:srgbClr val="000000"/>
                </a:solidFill>
                <a:latin typeface="微软雅黑" panose="020B0503020204020204" pitchFamily="34" charset="-122"/>
              </a:rPr>
              <a:t>，直至其中一个表变空为止。</a:t>
            </a:r>
          </a:p>
        </p:txBody>
      </p:sp>
      <p:sp>
        <p:nvSpPr>
          <p:cNvPr id="196618" name="Text Box 11"/>
          <p:cNvSpPr txBox="1"/>
          <p:nvPr/>
        </p:nvSpPr>
        <p:spPr>
          <a:xfrm>
            <a:off x="1258888" y="4495800"/>
            <a:ext cx="7561262" cy="1119188"/>
          </a:xfrm>
          <a:prstGeom prst="rect">
            <a:avLst/>
          </a:prstGeom>
          <a:no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25000"/>
              </a:lnSpc>
            </a:pPr>
            <a:r>
              <a:rPr lang="zh-CN" altLang="en-US" sz="2800" dirty="0">
                <a:solidFill>
                  <a:srgbClr val="000000"/>
                </a:solidFill>
                <a:latin typeface="微软雅黑" panose="020B0503020204020204" pitchFamily="34" charset="-122"/>
              </a:rPr>
              <a:t>继续将 </a:t>
            </a:r>
            <a:r>
              <a:rPr lang="en-US" altLang="zh-CN" sz="2800" dirty="0">
                <a:solidFill>
                  <a:srgbClr val="000000"/>
                </a:solidFill>
                <a:latin typeface="微软雅黑" panose="020B0503020204020204" pitchFamily="34" charset="-122"/>
              </a:rPr>
              <a:t>La </a:t>
            </a:r>
            <a:r>
              <a:rPr lang="zh-CN" altLang="en-US" sz="2800" dirty="0">
                <a:solidFill>
                  <a:srgbClr val="000000"/>
                </a:solidFill>
                <a:latin typeface="微软雅黑" panose="020B0503020204020204" pitchFamily="34" charset="-122"/>
              </a:rPr>
              <a:t>或 </a:t>
            </a:r>
            <a:r>
              <a:rPr lang="en-US" altLang="zh-CN" sz="2800" dirty="0">
                <a:solidFill>
                  <a:srgbClr val="000000"/>
                </a:solidFill>
                <a:latin typeface="微软雅黑" panose="020B0503020204020204" pitchFamily="34" charset="-122"/>
              </a:rPr>
              <a:t>Lb </a:t>
            </a:r>
            <a:r>
              <a:rPr lang="zh-CN" altLang="en-US" sz="2800" dirty="0">
                <a:solidFill>
                  <a:srgbClr val="000000"/>
                </a:solidFill>
                <a:latin typeface="微软雅黑" panose="020B0503020204020204" pitchFamily="34" charset="-122"/>
              </a:rPr>
              <a:t>其中一个表的剩余结点插入在 </a:t>
            </a:r>
            <a:r>
              <a:rPr lang="en-US" altLang="zh-CN" sz="2800" dirty="0">
                <a:solidFill>
                  <a:srgbClr val="000000"/>
                </a:solidFill>
                <a:latin typeface="微软雅黑" panose="020B0503020204020204" pitchFamily="34" charset="-122"/>
              </a:rPr>
              <a:t>Lc </a:t>
            </a:r>
            <a:r>
              <a:rPr lang="zh-CN" altLang="en-US" sz="2800" dirty="0">
                <a:solidFill>
                  <a:srgbClr val="000000"/>
                </a:solidFill>
                <a:latin typeface="微软雅黑" panose="020B0503020204020204" pitchFamily="34" charset="-122"/>
              </a:rPr>
              <a:t>表的</a:t>
            </a:r>
            <a:r>
              <a:rPr lang="zh-CN" altLang="en-US" sz="2800" dirty="0">
                <a:solidFill>
                  <a:srgbClr val="FF0000"/>
                </a:solidFill>
                <a:latin typeface="微软雅黑" panose="020B0503020204020204" pitchFamily="34" charset="-122"/>
              </a:rPr>
              <a:t>表头结点之后</a:t>
            </a:r>
          </a:p>
        </p:txBody>
      </p:sp>
      <p:sp>
        <p:nvSpPr>
          <p:cNvPr id="196619" name="Text Box 11"/>
          <p:cNvSpPr txBox="1"/>
          <p:nvPr/>
        </p:nvSpPr>
        <p:spPr>
          <a:xfrm>
            <a:off x="1258888" y="5857875"/>
            <a:ext cx="4117975" cy="523875"/>
          </a:xfrm>
          <a:prstGeom prst="rect">
            <a:avLst/>
          </a:prstGeom>
          <a:noFill/>
          <a:ln w="9525">
            <a:noFill/>
          </a:ln>
        </p:spPr>
        <p:txBody>
          <a:bodyPr>
            <a:spAutoFit/>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00000"/>
              </a:lnSpc>
            </a:pPr>
            <a:r>
              <a:rPr lang="zh-CN" altLang="en-US" sz="2800" dirty="0">
                <a:solidFill>
                  <a:srgbClr val="000000"/>
                </a:solidFill>
                <a:latin typeface="微软雅黑" panose="020B0503020204020204" pitchFamily="34" charset="-122"/>
              </a:rPr>
              <a:t>释放 </a:t>
            </a:r>
            <a:r>
              <a:rPr lang="en-US" altLang="zh-CN" sz="2800" dirty="0">
                <a:solidFill>
                  <a:srgbClr val="000000"/>
                </a:solidFill>
                <a:latin typeface="微软雅黑" panose="020B0503020204020204" pitchFamily="34" charset="-122"/>
              </a:rPr>
              <a:t>Lb </a:t>
            </a:r>
            <a:r>
              <a:rPr lang="zh-CN" altLang="en-US" sz="2800" dirty="0">
                <a:solidFill>
                  <a:srgbClr val="000000"/>
                </a:solidFill>
                <a:latin typeface="微软雅黑" panose="020B0503020204020204" pitchFamily="34" charset="-122"/>
              </a:rPr>
              <a:t>表的表头结点</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2052" name="Line 4"/>
          <p:cNvSpPr>
            <a:spLocks noChangeShapeType="1"/>
          </p:cNvSpPr>
          <p:nvPr/>
        </p:nvSpPr>
        <p:spPr bwMode="auto">
          <a:xfrm>
            <a:off x="671513" y="2392363"/>
            <a:ext cx="0" cy="609600"/>
          </a:xfrm>
          <a:prstGeom prst="line">
            <a:avLst/>
          </a:prstGeom>
          <a:noFill/>
          <a:ln w="31750">
            <a:solidFill>
              <a:srgbClr val="9476B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 name="Group 5"/>
          <p:cNvGrpSpPr/>
          <p:nvPr/>
        </p:nvGrpSpPr>
        <p:grpSpPr bwMode="auto">
          <a:xfrm>
            <a:off x="671264" y="2772941"/>
            <a:ext cx="1143000" cy="457200"/>
            <a:chOff x="240" y="1488"/>
            <a:chExt cx="720" cy="288"/>
          </a:xfrm>
          <a:solidFill>
            <a:schemeClr val="accent1">
              <a:lumMod val="40000"/>
              <a:lumOff val="60000"/>
            </a:schemeClr>
          </a:solidFill>
        </p:grpSpPr>
        <p:sp>
          <p:nvSpPr>
            <p:cNvPr id="189549" name="Line 6"/>
            <p:cNvSpPr>
              <a:spLocks noChangeShapeType="1"/>
            </p:cNvSpPr>
            <p:nvPr/>
          </p:nvSpPr>
          <p:spPr bwMode="auto">
            <a:xfrm>
              <a:off x="240" y="1632"/>
              <a:ext cx="192" cy="0"/>
            </a:xfrm>
            <a:prstGeom prst="line">
              <a:avLst/>
            </a:prstGeom>
            <a:grpFill/>
            <a:ln w="31750">
              <a:solidFill>
                <a:srgbClr val="9476B6"/>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50" name="Rectangle 7"/>
            <p:cNvSpPr>
              <a:spLocks noChangeArrowheads="1"/>
            </p:cNvSpPr>
            <p:nvPr/>
          </p:nvSpPr>
          <p:spPr bwMode="auto">
            <a:xfrm>
              <a:off x="432" y="1488"/>
              <a:ext cx="528" cy="288"/>
            </a:xfrm>
            <a:prstGeom prst="rect">
              <a:avLst/>
            </a:prstGeom>
            <a:grp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51" name="Line 8"/>
            <p:cNvSpPr>
              <a:spLocks noChangeShapeType="1"/>
            </p:cNvSpPr>
            <p:nvPr/>
          </p:nvSpPr>
          <p:spPr bwMode="auto">
            <a:xfrm>
              <a:off x="768" y="1488"/>
              <a:ext cx="0" cy="288"/>
            </a:xfrm>
            <a:prstGeom prst="line">
              <a:avLst/>
            </a:prstGeom>
            <a:grpFill/>
            <a:ln w="28575">
              <a:solidFill>
                <a:schemeClr val="tx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9"/>
          <p:cNvGrpSpPr/>
          <p:nvPr/>
        </p:nvGrpSpPr>
        <p:grpSpPr bwMode="auto">
          <a:xfrm>
            <a:off x="1661864" y="2772941"/>
            <a:ext cx="1447800" cy="457200"/>
            <a:chOff x="864" y="1488"/>
            <a:chExt cx="912" cy="288"/>
          </a:xfrm>
          <a:solidFill>
            <a:schemeClr val="accent1">
              <a:lumMod val="40000"/>
              <a:lumOff val="60000"/>
            </a:schemeClr>
          </a:solidFill>
        </p:grpSpPr>
        <p:sp>
          <p:nvSpPr>
            <p:cNvPr id="189546" name="Line 10"/>
            <p:cNvSpPr>
              <a:spLocks noChangeShapeType="1"/>
            </p:cNvSpPr>
            <p:nvPr/>
          </p:nvSpPr>
          <p:spPr bwMode="auto">
            <a:xfrm>
              <a:off x="864" y="1632"/>
              <a:ext cx="384" cy="0"/>
            </a:xfrm>
            <a:prstGeom prst="line">
              <a:avLst/>
            </a:prstGeom>
            <a:grpFill/>
            <a:ln w="31750">
              <a:solidFill>
                <a:srgbClr val="9476B6"/>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47" name="Rectangle 11"/>
            <p:cNvSpPr>
              <a:spLocks noChangeArrowheads="1"/>
            </p:cNvSpPr>
            <p:nvPr/>
          </p:nvSpPr>
          <p:spPr bwMode="auto">
            <a:xfrm>
              <a:off x="1248" y="1488"/>
              <a:ext cx="528" cy="288"/>
            </a:xfrm>
            <a:prstGeom prst="rect">
              <a:avLst/>
            </a:prstGeom>
            <a:grp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006666"/>
                  </a:solidFill>
                  <a:effectLst/>
                  <a:uLnTx/>
                  <a:uFillTx/>
                  <a:latin typeface="+mn-lt"/>
                  <a:ea typeface="+mn-ea"/>
                  <a:cs typeface="+mn-ea"/>
                  <a:sym typeface="+mn-lt"/>
                </a:rPr>
                <a:t>12</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89548" name="Line 12"/>
            <p:cNvSpPr>
              <a:spLocks noChangeShapeType="1"/>
            </p:cNvSpPr>
            <p:nvPr/>
          </p:nvSpPr>
          <p:spPr bwMode="auto">
            <a:xfrm>
              <a:off x="1584" y="1488"/>
              <a:ext cx="0" cy="288"/>
            </a:xfrm>
            <a:prstGeom prst="line">
              <a:avLst/>
            </a:prstGeom>
            <a:grpFill/>
            <a:ln w="28575">
              <a:solidFill>
                <a:schemeClr val="tx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4" name="Group 13"/>
          <p:cNvGrpSpPr/>
          <p:nvPr/>
        </p:nvGrpSpPr>
        <p:grpSpPr bwMode="auto">
          <a:xfrm>
            <a:off x="2957264" y="2772941"/>
            <a:ext cx="1447800" cy="457200"/>
            <a:chOff x="1680" y="1488"/>
            <a:chExt cx="912" cy="288"/>
          </a:xfrm>
          <a:solidFill>
            <a:schemeClr val="accent1">
              <a:lumMod val="40000"/>
              <a:lumOff val="60000"/>
            </a:schemeClr>
          </a:solidFill>
        </p:grpSpPr>
        <p:sp>
          <p:nvSpPr>
            <p:cNvPr id="189543" name="Rectangle 14"/>
            <p:cNvSpPr>
              <a:spLocks noChangeArrowheads="1"/>
            </p:cNvSpPr>
            <p:nvPr/>
          </p:nvSpPr>
          <p:spPr bwMode="auto">
            <a:xfrm>
              <a:off x="2064" y="1488"/>
              <a:ext cx="528" cy="288"/>
            </a:xfrm>
            <a:prstGeom prst="rect">
              <a:avLst/>
            </a:prstGeom>
            <a:grp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006666"/>
                  </a:solidFill>
                  <a:effectLst/>
                  <a:uLnTx/>
                  <a:uFillTx/>
                  <a:latin typeface="+mn-lt"/>
                  <a:ea typeface="+mn-ea"/>
                  <a:cs typeface="+mn-ea"/>
                  <a:sym typeface="+mn-lt"/>
                </a:rPr>
                <a:t>23</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44" name="Line 15"/>
            <p:cNvSpPr>
              <a:spLocks noChangeShapeType="1"/>
            </p:cNvSpPr>
            <p:nvPr/>
          </p:nvSpPr>
          <p:spPr bwMode="auto">
            <a:xfrm>
              <a:off x="1680" y="1632"/>
              <a:ext cx="384" cy="0"/>
            </a:xfrm>
            <a:prstGeom prst="line">
              <a:avLst/>
            </a:prstGeom>
            <a:grpFill/>
            <a:ln w="31750">
              <a:solidFill>
                <a:schemeClr val="tx1"/>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45" name="Line 16"/>
            <p:cNvSpPr>
              <a:spLocks noChangeShapeType="1"/>
            </p:cNvSpPr>
            <p:nvPr/>
          </p:nvSpPr>
          <p:spPr bwMode="auto">
            <a:xfrm>
              <a:off x="2400" y="1488"/>
              <a:ext cx="0" cy="288"/>
            </a:xfrm>
            <a:prstGeom prst="line">
              <a:avLst/>
            </a:prstGeom>
            <a:grpFill/>
            <a:ln w="28575">
              <a:solidFill>
                <a:schemeClr val="tx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5" name="Group 17"/>
          <p:cNvGrpSpPr/>
          <p:nvPr/>
        </p:nvGrpSpPr>
        <p:grpSpPr bwMode="auto">
          <a:xfrm>
            <a:off x="4252664" y="2772941"/>
            <a:ext cx="1447800" cy="457200"/>
            <a:chOff x="2496" y="1488"/>
            <a:chExt cx="912" cy="288"/>
          </a:xfrm>
          <a:solidFill>
            <a:schemeClr val="accent1">
              <a:lumMod val="40000"/>
              <a:lumOff val="60000"/>
            </a:schemeClr>
          </a:solidFill>
        </p:grpSpPr>
        <p:sp>
          <p:nvSpPr>
            <p:cNvPr id="189540" name="Line 18"/>
            <p:cNvSpPr>
              <a:spLocks noChangeShapeType="1"/>
            </p:cNvSpPr>
            <p:nvPr/>
          </p:nvSpPr>
          <p:spPr bwMode="auto">
            <a:xfrm>
              <a:off x="2496" y="1632"/>
              <a:ext cx="384" cy="0"/>
            </a:xfrm>
            <a:prstGeom prst="line">
              <a:avLst/>
            </a:prstGeom>
            <a:grpFill/>
            <a:ln w="31750">
              <a:solidFill>
                <a:schemeClr val="tx1"/>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41" name="Rectangle 19"/>
            <p:cNvSpPr>
              <a:spLocks noChangeArrowheads="1"/>
            </p:cNvSpPr>
            <p:nvPr/>
          </p:nvSpPr>
          <p:spPr bwMode="auto">
            <a:xfrm>
              <a:off x="2880" y="1488"/>
              <a:ext cx="528" cy="288"/>
            </a:xfrm>
            <a:prstGeom prst="rect">
              <a:avLst/>
            </a:prstGeom>
            <a:grp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006666"/>
                  </a:solidFill>
                  <a:effectLst/>
                  <a:uLnTx/>
                  <a:uFillTx/>
                  <a:latin typeface="+mn-lt"/>
                  <a:ea typeface="+mn-ea"/>
                  <a:cs typeface="+mn-ea"/>
                  <a:sym typeface="+mn-lt"/>
                </a:rPr>
                <a:t>34</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42" name="Line 20"/>
            <p:cNvSpPr>
              <a:spLocks noChangeShapeType="1"/>
            </p:cNvSpPr>
            <p:nvPr/>
          </p:nvSpPr>
          <p:spPr bwMode="auto">
            <a:xfrm>
              <a:off x="3216" y="1488"/>
              <a:ext cx="0" cy="288"/>
            </a:xfrm>
            <a:prstGeom prst="line">
              <a:avLst/>
            </a:prstGeom>
            <a:grpFill/>
            <a:ln w="28575">
              <a:solidFill>
                <a:schemeClr val="tx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6" name="Group 21"/>
          <p:cNvGrpSpPr/>
          <p:nvPr/>
        </p:nvGrpSpPr>
        <p:grpSpPr bwMode="auto">
          <a:xfrm>
            <a:off x="5548064" y="2772941"/>
            <a:ext cx="1447800" cy="457200"/>
            <a:chOff x="3312" y="1488"/>
            <a:chExt cx="912" cy="288"/>
          </a:xfrm>
          <a:solidFill>
            <a:schemeClr val="accent1">
              <a:lumMod val="40000"/>
              <a:lumOff val="60000"/>
            </a:schemeClr>
          </a:solidFill>
        </p:grpSpPr>
        <p:sp>
          <p:nvSpPr>
            <p:cNvPr id="189537" name="Line 22"/>
            <p:cNvSpPr>
              <a:spLocks noChangeShapeType="1"/>
            </p:cNvSpPr>
            <p:nvPr/>
          </p:nvSpPr>
          <p:spPr bwMode="auto">
            <a:xfrm>
              <a:off x="3312" y="1632"/>
              <a:ext cx="384" cy="0"/>
            </a:xfrm>
            <a:prstGeom prst="line">
              <a:avLst/>
            </a:prstGeom>
            <a:grpFill/>
            <a:ln w="31750">
              <a:solidFill>
                <a:srgbClr val="9476B6"/>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8" name="Rectangle 23"/>
            <p:cNvSpPr>
              <a:spLocks noChangeArrowheads="1"/>
            </p:cNvSpPr>
            <p:nvPr/>
          </p:nvSpPr>
          <p:spPr bwMode="auto">
            <a:xfrm>
              <a:off x="3696" y="1488"/>
              <a:ext cx="528" cy="288"/>
            </a:xfrm>
            <a:prstGeom prst="rect">
              <a:avLst/>
            </a:prstGeom>
            <a:grp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006666"/>
                  </a:solidFill>
                  <a:effectLst/>
                  <a:uLnTx/>
                  <a:uFillTx/>
                  <a:latin typeface="+mn-lt"/>
                  <a:ea typeface="+mn-ea"/>
                  <a:cs typeface="+mn-ea"/>
                  <a:sym typeface="+mn-lt"/>
                </a:rPr>
                <a:t>45</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9" name="Line 24"/>
            <p:cNvSpPr>
              <a:spLocks noChangeShapeType="1"/>
            </p:cNvSpPr>
            <p:nvPr/>
          </p:nvSpPr>
          <p:spPr bwMode="auto">
            <a:xfrm>
              <a:off x="4032" y="1488"/>
              <a:ext cx="0" cy="288"/>
            </a:xfrm>
            <a:prstGeom prst="line">
              <a:avLst/>
            </a:prstGeom>
            <a:grpFill/>
            <a:ln w="28575">
              <a:solidFill>
                <a:schemeClr val="tx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7" name="Group 25"/>
          <p:cNvGrpSpPr/>
          <p:nvPr/>
        </p:nvGrpSpPr>
        <p:grpSpPr bwMode="auto">
          <a:xfrm>
            <a:off x="6843464" y="2772941"/>
            <a:ext cx="1905000" cy="457200"/>
            <a:chOff x="4128" y="1488"/>
            <a:chExt cx="1200" cy="288"/>
          </a:xfrm>
          <a:solidFill>
            <a:schemeClr val="accent1">
              <a:lumMod val="40000"/>
              <a:lumOff val="60000"/>
            </a:schemeClr>
          </a:solidFill>
        </p:grpSpPr>
        <p:sp>
          <p:nvSpPr>
            <p:cNvPr id="189533" name="Line 26"/>
            <p:cNvSpPr>
              <a:spLocks noChangeShapeType="1"/>
            </p:cNvSpPr>
            <p:nvPr/>
          </p:nvSpPr>
          <p:spPr bwMode="auto">
            <a:xfrm>
              <a:off x="4128" y="1632"/>
              <a:ext cx="384" cy="0"/>
            </a:xfrm>
            <a:prstGeom prst="line">
              <a:avLst/>
            </a:prstGeom>
            <a:grpFill/>
            <a:ln w="31750">
              <a:solidFill>
                <a:srgbClr val="9476B6"/>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4" name="Rectangle 27"/>
            <p:cNvSpPr>
              <a:spLocks noChangeArrowheads="1"/>
            </p:cNvSpPr>
            <p:nvPr/>
          </p:nvSpPr>
          <p:spPr bwMode="auto">
            <a:xfrm>
              <a:off x="4512" y="1488"/>
              <a:ext cx="528" cy="288"/>
            </a:xfrm>
            <a:prstGeom prst="rect">
              <a:avLst/>
            </a:prstGeom>
            <a:grp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006666"/>
                  </a:solidFill>
                  <a:effectLst/>
                  <a:uLnTx/>
                  <a:uFillTx/>
                  <a:latin typeface="+mn-lt"/>
                  <a:ea typeface="+mn-ea"/>
                  <a:cs typeface="+mn-ea"/>
                  <a:sym typeface="+mn-lt"/>
                </a:rPr>
                <a:t>56</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5" name="Line 28"/>
            <p:cNvSpPr>
              <a:spLocks noChangeShapeType="1"/>
            </p:cNvSpPr>
            <p:nvPr/>
          </p:nvSpPr>
          <p:spPr bwMode="auto">
            <a:xfrm>
              <a:off x="4848" y="1488"/>
              <a:ext cx="0" cy="288"/>
            </a:xfrm>
            <a:prstGeom prst="line">
              <a:avLst/>
            </a:prstGeom>
            <a:grpFill/>
            <a:ln w="28575">
              <a:solidFill>
                <a:schemeClr val="tx1"/>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6" name="Line 29"/>
            <p:cNvSpPr>
              <a:spLocks noChangeShapeType="1"/>
            </p:cNvSpPr>
            <p:nvPr/>
          </p:nvSpPr>
          <p:spPr bwMode="auto">
            <a:xfrm>
              <a:off x="4944" y="1632"/>
              <a:ext cx="384" cy="0"/>
            </a:xfrm>
            <a:prstGeom prst="line">
              <a:avLst/>
            </a:prstGeom>
            <a:grpFill/>
            <a:ln w="31750">
              <a:solidFill>
                <a:srgbClr val="9476B6"/>
              </a:solidFill>
              <a:round/>
              <a:tailEnd type="stealth" w="med" len="lg"/>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42078" name="Line 30"/>
          <p:cNvSpPr>
            <a:spLocks noChangeShapeType="1"/>
          </p:cNvSpPr>
          <p:nvPr/>
        </p:nvSpPr>
        <p:spPr bwMode="auto">
          <a:xfrm>
            <a:off x="671513" y="4068763"/>
            <a:ext cx="0" cy="609600"/>
          </a:xfrm>
          <a:prstGeom prst="line">
            <a:avLst/>
          </a:prstGeom>
          <a:noFill/>
          <a:ln w="31750">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8" name="Group 31"/>
          <p:cNvGrpSpPr/>
          <p:nvPr/>
        </p:nvGrpSpPr>
        <p:grpSpPr>
          <a:xfrm>
            <a:off x="671513" y="4449763"/>
            <a:ext cx="1143000" cy="457200"/>
            <a:chOff x="240" y="1488"/>
            <a:chExt cx="720" cy="288"/>
          </a:xfrm>
        </p:grpSpPr>
        <p:sp>
          <p:nvSpPr>
            <p:cNvPr id="189530" name="Line 32"/>
            <p:cNvSpPr>
              <a:spLocks noChangeShapeType="1"/>
            </p:cNvSpPr>
            <p:nvPr/>
          </p:nvSpPr>
          <p:spPr bwMode="auto">
            <a:xfrm>
              <a:off x="240" y="1632"/>
              <a:ext cx="192"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1" name="Rectangle 33"/>
            <p:cNvSpPr>
              <a:spLocks noChangeArrowheads="1"/>
            </p:cNvSpPr>
            <p:nvPr/>
          </p:nvSpPr>
          <p:spPr bwMode="auto">
            <a:xfrm>
              <a:off x="432" y="1488"/>
              <a:ext cx="528" cy="288"/>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32" name="Line 34"/>
            <p:cNvSpPr>
              <a:spLocks noChangeShapeType="1"/>
            </p:cNvSpPr>
            <p:nvPr/>
          </p:nvSpPr>
          <p:spPr bwMode="auto">
            <a:xfrm>
              <a:off x="768" y="1488"/>
              <a:ext cx="0" cy="288"/>
            </a:xfrm>
            <a:prstGeom prst="line">
              <a:avLst/>
            </a:prstGeom>
            <a:noFill/>
            <a:ln w="28575">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9" name="Group 35"/>
          <p:cNvGrpSpPr/>
          <p:nvPr/>
        </p:nvGrpSpPr>
        <p:grpSpPr>
          <a:xfrm>
            <a:off x="1662113" y="4449763"/>
            <a:ext cx="1447800" cy="457200"/>
            <a:chOff x="864" y="1488"/>
            <a:chExt cx="912" cy="288"/>
          </a:xfrm>
        </p:grpSpPr>
        <p:sp>
          <p:nvSpPr>
            <p:cNvPr id="189527" name="Line 36"/>
            <p:cNvSpPr>
              <a:spLocks noChangeShapeType="1"/>
            </p:cNvSpPr>
            <p:nvPr/>
          </p:nvSpPr>
          <p:spPr bwMode="auto">
            <a:xfrm>
              <a:off x="864" y="1632"/>
              <a:ext cx="384"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8" name="Rectangle 37"/>
            <p:cNvSpPr>
              <a:spLocks noChangeArrowheads="1"/>
            </p:cNvSpPr>
            <p:nvPr/>
          </p:nvSpPr>
          <p:spPr bwMode="auto">
            <a:xfrm>
              <a:off x="1248" y="1488"/>
              <a:ext cx="528" cy="288"/>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accent2"/>
                  </a:solidFill>
                  <a:effectLst/>
                  <a:uLnTx/>
                  <a:uFillTx/>
                  <a:latin typeface="+mn-lt"/>
                  <a:ea typeface="+mn-ea"/>
                  <a:cs typeface="+mn-ea"/>
                  <a:sym typeface="+mn-lt"/>
                </a:rPr>
                <a:t>11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9" name="Line 38"/>
            <p:cNvSpPr>
              <a:spLocks noChangeShapeType="1"/>
            </p:cNvSpPr>
            <p:nvPr/>
          </p:nvSpPr>
          <p:spPr bwMode="auto">
            <a:xfrm>
              <a:off x="1584" y="1488"/>
              <a:ext cx="0" cy="288"/>
            </a:xfrm>
            <a:prstGeom prst="line">
              <a:avLst/>
            </a:prstGeom>
            <a:noFill/>
            <a:ln w="28575">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0" name="Group 39"/>
          <p:cNvGrpSpPr/>
          <p:nvPr/>
        </p:nvGrpSpPr>
        <p:grpSpPr>
          <a:xfrm>
            <a:off x="2957513" y="4449763"/>
            <a:ext cx="1447800" cy="457200"/>
            <a:chOff x="1680" y="1488"/>
            <a:chExt cx="912" cy="288"/>
          </a:xfrm>
        </p:grpSpPr>
        <p:sp>
          <p:nvSpPr>
            <p:cNvPr id="189524" name="Rectangle 40"/>
            <p:cNvSpPr>
              <a:spLocks noChangeArrowheads="1"/>
            </p:cNvSpPr>
            <p:nvPr/>
          </p:nvSpPr>
          <p:spPr bwMode="auto">
            <a:xfrm>
              <a:off x="2064" y="1488"/>
              <a:ext cx="528" cy="288"/>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accent2"/>
                  </a:solidFill>
                  <a:effectLst/>
                  <a:uLnTx/>
                  <a:uFillTx/>
                  <a:latin typeface="+mn-lt"/>
                  <a:ea typeface="+mn-ea"/>
                  <a:cs typeface="+mn-ea"/>
                  <a:sym typeface="+mn-lt"/>
                </a:rPr>
                <a:t>32</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5" name="Line 41"/>
            <p:cNvSpPr>
              <a:spLocks noChangeShapeType="1"/>
            </p:cNvSpPr>
            <p:nvPr/>
          </p:nvSpPr>
          <p:spPr bwMode="auto">
            <a:xfrm>
              <a:off x="1680" y="1632"/>
              <a:ext cx="384"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6" name="Line 42"/>
            <p:cNvSpPr>
              <a:spLocks noChangeShapeType="1"/>
            </p:cNvSpPr>
            <p:nvPr/>
          </p:nvSpPr>
          <p:spPr bwMode="auto">
            <a:xfrm>
              <a:off x="2400" y="1488"/>
              <a:ext cx="0" cy="288"/>
            </a:xfrm>
            <a:prstGeom prst="line">
              <a:avLst/>
            </a:prstGeom>
            <a:noFill/>
            <a:ln w="28575">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1" name="Group 43"/>
          <p:cNvGrpSpPr/>
          <p:nvPr/>
        </p:nvGrpSpPr>
        <p:grpSpPr>
          <a:xfrm>
            <a:off x="4252913" y="4449763"/>
            <a:ext cx="1447800" cy="457200"/>
            <a:chOff x="2496" y="1488"/>
            <a:chExt cx="912" cy="288"/>
          </a:xfrm>
        </p:grpSpPr>
        <p:sp>
          <p:nvSpPr>
            <p:cNvPr id="189521" name="Line 44"/>
            <p:cNvSpPr>
              <a:spLocks noChangeShapeType="1"/>
            </p:cNvSpPr>
            <p:nvPr/>
          </p:nvSpPr>
          <p:spPr bwMode="auto">
            <a:xfrm>
              <a:off x="2496" y="1632"/>
              <a:ext cx="384"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2" name="Rectangle 45"/>
            <p:cNvSpPr>
              <a:spLocks noChangeArrowheads="1"/>
            </p:cNvSpPr>
            <p:nvPr/>
          </p:nvSpPr>
          <p:spPr bwMode="auto">
            <a:xfrm>
              <a:off x="2880" y="1488"/>
              <a:ext cx="528" cy="288"/>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accent2"/>
                  </a:solidFill>
                  <a:effectLst/>
                  <a:uLnTx/>
                  <a:uFillTx/>
                  <a:latin typeface="+mn-lt"/>
                  <a:ea typeface="+mn-ea"/>
                  <a:cs typeface="+mn-ea"/>
                  <a:sym typeface="+mn-lt"/>
                </a:rPr>
                <a:t>43</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3" name="Line 46"/>
            <p:cNvSpPr>
              <a:spLocks noChangeShapeType="1"/>
            </p:cNvSpPr>
            <p:nvPr/>
          </p:nvSpPr>
          <p:spPr bwMode="auto">
            <a:xfrm>
              <a:off x="3216" y="1488"/>
              <a:ext cx="0" cy="288"/>
            </a:xfrm>
            <a:prstGeom prst="line">
              <a:avLst/>
            </a:prstGeom>
            <a:noFill/>
            <a:ln w="28575">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2" name="Group 47"/>
          <p:cNvGrpSpPr/>
          <p:nvPr/>
        </p:nvGrpSpPr>
        <p:grpSpPr>
          <a:xfrm>
            <a:off x="5548313" y="4449763"/>
            <a:ext cx="1447800" cy="457200"/>
            <a:chOff x="3312" y="1488"/>
            <a:chExt cx="912" cy="288"/>
          </a:xfrm>
        </p:grpSpPr>
        <p:sp>
          <p:nvSpPr>
            <p:cNvPr id="189518" name="Line 48"/>
            <p:cNvSpPr>
              <a:spLocks noChangeShapeType="1"/>
            </p:cNvSpPr>
            <p:nvPr/>
          </p:nvSpPr>
          <p:spPr bwMode="auto">
            <a:xfrm>
              <a:off x="3312" y="1632"/>
              <a:ext cx="384"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9" name="Rectangle 49"/>
            <p:cNvSpPr>
              <a:spLocks noChangeArrowheads="1"/>
            </p:cNvSpPr>
            <p:nvPr/>
          </p:nvSpPr>
          <p:spPr bwMode="auto">
            <a:xfrm>
              <a:off x="3696" y="1488"/>
              <a:ext cx="528" cy="288"/>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accent2"/>
                  </a:solidFill>
                  <a:effectLst/>
                  <a:uLnTx/>
                  <a:uFillTx/>
                  <a:latin typeface="+mn-lt"/>
                  <a:ea typeface="+mn-ea"/>
                  <a:cs typeface="+mn-ea"/>
                  <a:sym typeface="+mn-lt"/>
                </a:rPr>
                <a:t>48</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20" name="Line 50"/>
            <p:cNvSpPr>
              <a:spLocks noChangeShapeType="1"/>
            </p:cNvSpPr>
            <p:nvPr/>
          </p:nvSpPr>
          <p:spPr bwMode="auto">
            <a:xfrm>
              <a:off x="4032" y="1488"/>
              <a:ext cx="0" cy="288"/>
            </a:xfrm>
            <a:prstGeom prst="line">
              <a:avLst/>
            </a:prstGeom>
            <a:noFill/>
            <a:ln w="28575">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3" name="Group 51"/>
          <p:cNvGrpSpPr/>
          <p:nvPr/>
        </p:nvGrpSpPr>
        <p:grpSpPr>
          <a:xfrm>
            <a:off x="6843713" y="4449763"/>
            <a:ext cx="1905000" cy="457200"/>
            <a:chOff x="4128" y="1488"/>
            <a:chExt cx="1200" cy="288"/>
          </a:xfrm>
        </p:grpSpPr>
        <p:sp>
          <p:nvSpPr>
            <p:cNvPr id="189514" name="Line 52"/>
            <p:cNvSpPr>
              <a:spLocks noChangeShapeType="1"/>
            </p:cNvSpPr>
            <p:nvPr/>
          </p:nvSpPr>
          <p:spPr bwMode="auto">
            <a:xfrm>
              <a:off x="4128" y="1632"/>
              <a:ext cx="384"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5" name="Rectangle 53"/>
            <p:cNvSpPr>
              <a:spLocks noChangeArrowheads="1"/>
            </p:cNvSpPr>
            <p:nvPr/>
          </p:nvSpPr>
          <p:spPr bwMode="auto">
            <a:xfrm>
              <a:off x="4512" y="1488"/>
              <a:ext cx="528" cy="288"/>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accent2"/>
                  </a:solidFill>
                  <a:effectLst/>
                  <a:uLnTx/>
                  <a:uFillTx/>
                  <a:latin typeface="+mn-lt"/>
                  <a:ea typeface="+mn-ea"/>
                  <a:cs typeface="+mn-ea"/>
                  <a:sym typeface="+mn-lt"/>
                </a:rPr>
                <a:t>54</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6" name="Line 54"/>
            <p:cNvSpPr>
              <a:spLocks noChangeShapeType="1"/>
            </p:cNvSpPr>
            <p:nvPr/>
          </p:nvSpPr>
          <p:spPr bwMode="auto">
            <a:xfrm>
              <a:off x="4848" y="1488"/>
              <a:ext cx="0" cy="288"/>
            </a:xfrm>
            <a:prstGeom prst="line">
              <a:avLst/>
            </a:prstGeom>
            <a:noFill/>
            <a:ln w="28575">
              <a:solidFill>
                <a:srgbClr val="003366"/>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7" name="Line 55"/>
            <p:cNvSpPr>
              <a:spLocks noChangeShapeType="1"/>
            </p:cNvSpPr>
            <p:nvPr/>
          </p:nvSpPr>
          <p:spPr bwMode="auto">
            <a:xfrm>
              <a:off x="4944" y="1632"/>
              <a:ext cx="384" cy="0"/>
            </a:xfrm>
            <a:prstGeom prst="line">
              <a:avLst/>
            </a:prstGeom>
            <a:noFill/>
            <a:ln w="31750">
              <a:solidFill>
                <a:srgbClr val="0033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42104" name="Text Box 56"/>
          <p:cNvSpPr txBox="1">
            <a:spLocks noChangeArrowheads="1"/>
          </p:cNvSpPr>
          <p:nvPr/>
        </p:nvSpPr>
        <p:spPr bwMode="auto">
          <a:xfrm>
            <a:off x="515938" y="1939925"/>
            <a:ext cx="625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rPr>
              <a:t>La</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42105" name="Text Box 57"/>
          <p:cNvSpPr txBox="1">
            <a:spLocks noChangeArrowheads="1"/>
          </p:cNvSpPr>
          <p:nvPr/>
        </p:nvSpPr>
        <p:spPr bwMode="auto">
          <a:xfrm>
            <a:off x="511175" y="3575050"/>
            <a:ext cx="625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dirty="0" err="1">
                <a:ln>
                  <a:noFill/>
                </a:ln>
                <a:solidFill>
                  <a:schemeClr val="accent2"/>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42106" name="Line 58"/>
          <p:cNvSpPr>
            <a:spLocks noChangeShapeType="1"/>
          </p:cNvSpPr>
          <p:nvPr/>
        </p:nvSpPr>
        <p:spPr bwMode="auto">
          <a:xfrm>
            <a:off x="671513" y="5745163"/>
            <a:ext cx="0" cy="609600"/>
          </a:xfrm>
          <a:prstGeom prst="line">
            <a:avLst/>
          </a:prstGeom>
          <a:noFill/>
          <a:ln w="31750">
            <a:solidFill>
              <a:srgbClr val="66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4" name="Group 59"/>
          <p:cNvGrpSpPr/>
          <p:nvPr/>
        </p:nvGrpSpPr>
        <p:grpSpPr>
          <a:xfrm>
            <a:off x="671513" y="6126163"/>
            <a:ext cx="1143000" cy="457200"/>
            <a:chOff x="240" y="1488"/>
            <a:chExt cx="720" cy="288"/>
          </a:xfrm>
        </p:grpSpPr>
        <p:sp>
          <p:nvSpPr>
            <p:cNvPr id="189511" name="Line 60"/>
            <p:cNvSpPr>
              <a:spLocks noChangeShapeType="1"/>
            </p:cNvSpPr>
            <p:nvPr/>
          </p:nvSpPr>
          <p:spPr bwMode="auto">
            <a:xfrm>
              <a:off x="240" y="1632"/>
              <a:ext cx="192" cy="0"/>
            </a:xfrm>
            <a:prstGeom prst="line">
              <a:avLst/>
            </a:prstGeom>
            <a:noFill/>
            <a:ln w="31750">
              <a:solidFill>
                <a:srgbClr val="663300"/>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2" name="Rectangle 61"/>
            <p:cNvSpPr>
              <a:spLocks noChangeArrowheads="1"/>
            </p:cNvSpPr>
            <p:nvPr/>
          </p:nvSpPr>
          <p:spPr bwMode="auto">
            <a:xfrm>
              <a:off x="432" y="1488"/>
              <a:ext cx="528" cy="288"/>
            </a:xfrm>
            <a:prstGeom prst="rect">
              <a:avLst/>
            </a:prstGeom>
            <a:solidFill>
              <a:srgbClr val="FFFF99"/>
            </a:solidFill>
            <a:ln w="28575">
              <a:solidFill>
                <a:srgbClr val="6633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3" name="Line 62"/>
            <p:cNvSpPr>
              <a:spLocks noChangeShapeType="1"/>
            </p:cNvSpPr>
            <p:nvPr/>
          </p:nvSpPr>
          <p:spPr bwMode="auto">
            <a:xfrm>
              <a:off x="768" y="1488"/>
              <a:ext cx="0" cy="288"/>
            </a:xfrm>
            <a:prstGeom prst="line">
              <a:avLst/>
            </a:prstGeom>
            <a:noFill/>
            <a:ln w="28575">
              <a:solidFill>
                <a:srgbClr val="6633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42111" name="Text Box 63"/>
          <p:cNvSpPr txBox="1">
            <a:spLocks noChangeArrowheads="1"/>
          </p:cNvSpPr>
          <p:nvPr/>
        </p:nvSpPr>
        <p:spPr bwMode="auto">
          <a:xfrm>
            <a:off x="534988" y="5283200"/>
            <a:ext cx="577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err="1">
                <a:ln>
                  <a:noFill/>
                </a:ln>
                <a:solidFill>
                  <a:srgbClr val="800000"/>
                </a:solidFill>
                <a:effectLst/>
                <a:uLnTx/>
                <a:uFillTx/>
                <a:latin typeface="+mn-lt"/>
                <a:ea typeface="+mn-ea"/>
                <a:cs typeface="+mn-ea"/>
                <a:sym typeface="+mn-lt"/>
              </a:rPr>
              <a:t>Lc</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42112" name="Text Box 64"/>
          <p:cNvSpPr txBox="1">
            <a:spLocks noChangeArrowheads="1"/>
          </p:cNvSpPr>
          <p:nvPr/>
        </p:nvSpPr>
        <p:spPr bwMode="auto">
          <a:xfrm>
            <a:off x="1417638" y="61261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663300"/>
                </a:solidFill>
                <a:effectLst/>
                <a:uLnTx/>
                <a:uFillTx/>
                <a:latin typeface="+mn-lt"/>
                <a:ea typeface="+mn-ea"/>
                <a:cs typeface="+mn-ea"/>
                <a:sym typeface="+mn-lt"/>
              </a:rPr>
              <a:t>∧</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 name="Group 65"/>
          <p:cNvGrpSpPr/>
          <p:nvPr/>
        </p:nvGrpSpPr>
        <p:grpSpPr>
          <a:xfrm>
            <a:off x="2652713" y="1849438"/>
            <a:ext cx="519112" cy="923925"/>
            <a:chOff x="1334" y="906"/>
            <a:chExt cx="327" cy="582"/>
          </a:xfrm>
        </p:grpSpPr>
        <p:sp>
          <p:nvSpPr>
            <p:cNvPr id="189509" name="Line 66"/>
            <p:cNvSpPr>
              <a:spLocks noChangeShapeType="1"/>
            </p:cNvSpPr>
            <p:nvPr/>
          </p:nvSpPr>
          <p:spPr bwMode="auto">
            <a:xfrm>
              <a:off x="1344" y="1056"/>
              <a:ext cx="0" cy="432"/>
            </a:xfrm>
            <a:prstGeom prst="line">
              <a:avLst/>
            </a:prstGeom>
            <a:noFill/>
            <a:ln w="28575">
              <a:solidFill>
                <a:srgbClr val="0066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10" name="Text Box 67"/>
            <p:cNvSpPr txBox="1">
              <a:spLocks noChangeArrowheads="1"/>
            </p:cNvSpPr>
            <p:nvPr/>
          </p:nvSpPr>
          <p:spPr bwMode="auto">
            <a:xfrm>
              <a:off x="1334" y="906"/>
              <a:ext cx="3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006666"/>
                  </a:solidFill>
                  <a:effectLst/>
                  <a:uLnTx/>
                  <a:uFillTx/>
                  <a:latin typeface="+mn-lt"/>
                  <a:ea typeface="+mn-ea"/>
                  <a:cs typeface="+mn-ea"/>
                  <a:sym typeface="+mn-lt"/>
                </a:rPr>
                <a:t>pa</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 name="Group 68"/>
          <p:cNvGrpSpPr/>
          <p:nvPr/>
        </p:nvGrpSpPr>
        <p:grpSpPr>
          <a:xfrm>
            <a:off x="2667000" y="3525838"/>
            <a:ext cx="539750" cy="923925"/>
            <a:chOff x="1497" y="1866"/>
            <a:chExt cx="340" cy="582"/>
          </a:xfrm>
        </p:grpSpPr>
        <p:sp>
          <p:nvSpPr>
            <p:cNvPr id="189507" name="Text Box 69"/>
            <p:cNvSpPr txBox="1">
              <a:spLocks noChangeArrowheads="1"/>
            </p:cNvSpPr>
            <p:nvPr/>
          </p:nvSpPr>
          <p:spPr bwMode="auto">
            <a:xfrm>
              <a:off x="1497" y="186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000099"/>
                  </a:solidFill>
                  <a:effectLst/>
                  <a:uLnTx/>
                  <a:uFillTx/>
                  <a:latin typeface="+mn-lt"/>
                  <a:ea typeface="+mn-ea"/>
                  <a:cs typeface="+mn-ea"/>
                  <a:sym typeface="+mn-lt"/>
                </a:rPr>
                <a:t>pb</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08" name="Line 70"/>
            <p:cNvSpPr>
              <a:spLocks noChangeShapeType="1"/>
            </p:cNvSpPr>
            <p:nvPr/>
          </p:nvSpPr>
          <p:spPr bwMode="auto">
            <a:xfrm>
              <a:off x="1536" y="1968"/>
              <a:ext cx="0" cy="480"/>
            </a:xfrm>
            <a:prstGeom prst="line">
              <a:avLst/>
            </a:prstGeom>
            <a:noFill/>
            <a:ln w="28575">
              <a:solidFill>
                <a:srgbClr val="000099"/>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 name="Group 71"/>
          <p:cNvGrpSpPr/>
          <p:nvPr/>
        </p:nvGrpSpPr>
        <p:grpSpPr>
          <a:xfrm>
            <a:off x="2138363" y="3449638"/>
            <a:ext cx="361950" cy="1000125"/>
            <a:chOff x="1164" y="1824"/>
            <a:chExt cx="228" cy="630"/>
          </a:xfrm>
        </p:grpSpPr>
        <p:sp>
          <p:nvSpPr>
            <p:cNvPr id="189505" name="Text Box 72"/>
            <p:cNvSpPr txBox="1">
              <a:spLocks noChangeArrowheads="1"/>
            </p:cNvSpPr>
            <p:nvPr/>
          </p:nvSpPr>
          <p:spPr bwMode="auto">
            <a:xfrm>
              <a:off x="1164" y="18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FF0000"/>
                  </a:solidFill>
                  <a:effectLst/>
                  <a:uLnTx/>
                  <a:uFillTx/>
                  <a:latin typeface="+mn-lt"/>
                  <a:ea typeface="+mn-ea"/>
                  <a:cs typeface="+mn-ea"/>
                  <a:sym typeface="+mn-lt"/>
                </a:rPr>
                <a:t>q</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06" name="Line 73"/>
            <p:cNvSpPr>
              <a:spLocks noChangeShapeType="1"/>
            </p:cNvSpPr>
            <p:nvPr/>
          </p:nvSpPr>
          <p:spPr bwMode="auto">
            <a:xfrm>
              <a:off x="1379" y="1974"/>
              <a:ext cx="0" cy="480"/>
            </a:xfrm>
            <a:prstGeom prst="line">
              <a:avLst/>
            </a:prstGeom>
            <a:noFill/>
            <a:ln w="28575">
              <a:solidFill>
                <a:srgbClr val="FF0000"/>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8" name="Group 74"/>
          <p:cNvGrpSpPr/>
          <p:nvPr/>
        </p:nvGrpSpPr>
        <p:grpSpPr>
          <a:xfrm>
            <a:off x="3941763" y="3525838"/>
            <a:ext cx="539750" cy="923925"/>
            <a:chOff x="1497" y="1866"/>
            <a:chExt cx="340" cy="582"/>
          </a:xfrm>
        </p:grpSpPr>
        <p:sp>
          <p:nvSpPr>
            <p:cNvPr id="189503" name="Text Box 75"/>
            <p:cNvSpPr txBox="1">
              <a:spLocks noChangeArrowheads="1"/>
            </p:cNvSpPr>
            <p:nvPr/>
          </p:nvSpPr>
          <p:spPr bwMode="auto">
            <a:xfrm>
              <a:off x="1497" y="186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000099"/>
                  </a:solidFill>
                  <a:effectLst/>
                  <a:uLnTx/>
                  <a:uFillTx/>
                  <a:latin typeface="+mn-lt"/>
                  <a:ea typeface="+mn-ea"/>
                  <a:cs typeface="+mn-ea"/>
                  <a:sym typeface="+mn-lt"/>
                </a:rPr>
                <a:t>pb</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04" name="Line 76"/>
            <p:cNvSpPr>
              <a:spLocks noChangeShapeType="1"/>
            </p:cNvSpPr>
            <p:nvPr/>
          </p:nvSpPr>
          <p:spPr bwMode="auto">
            <a:xfrm>
              <a:off x="1536" y="1968"/>
              <a:ext cx="0" cy="480"/>
            </a:xfrm>
            <a:prstGeom prst="line">
              <a:avLst/>
            </a:prstGeom>
            <a:noFill/>
            <a:ln w="28575">
              <a:solidFill>
                <a:srgbClr val="000099"/>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42125" name="Rectangle 77"/>
          <p:cNvSpPr>
            <a:spLocks noChangeArrowheads="1"/>
          </p:cNvSpPr>
          <p:nvPr/>
        </p:nvSpPr>
        <p:spPr bwMode="auto">
          <a:xfrm>
            <a:off x="2652713" y="3611563"/>
            <a:ext cx="533400" cy="838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42126" name="Rectangle 78"/>
          <p:cNvSpPr>
            <a:spLocks noChangeArrowheads="1"/>
          </p:cNvSpPr>
          <p:nvPr/>
        </p:nvSpPr>
        <p:spPr bwMode="auto">
          <a:xfrm>
            <a:off x="2881313" y="4525963"/>
            <a:ext cx="6858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2127" name="Rectangle 79"/>
          <p:cNvSpPr>
            <a:spLocks noChangeArrowheads="1"/>
          </p:cNvSpPr>
          <p:nvPr/>
        </p:nvSpPr>
        <p:spPr bwMode="auto">
          <a:xfrm>
            <a:off x="2805113" y="4449763"/>
            <a:ext cx="304800" cy="457200"/>
          </a:xfrm>
          <a:prstGeom prst="rect">
            <a:avLst/>
          </a:prstGeom>
          <a:solidFill>
            <a:srgbClr val="CCFFFF"/>
          </a:solidFill>
          <a:ln w="28575">
            <a:solidFill>
              <a:srgbClr val="003366"/>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2128" name="Rectangle 80"/>
          <p:cNvSpPr>
            <a:spLocks noChangeArrowheads="1"/>
          </p:cNvSpPr>
          <p:nvPr/>
        </p:nvSpPr>
        <p:spPr bwMode="auto">
          <a:xfrm>
            <a:off x="1509713" y="6126163"/>
            <a:ext cx="304800" cy="457200"/>
          </a:xfrm>
          <a:prstGeom prst="rect">
            <a:avLst/>
          </a:prstGeom>
          <a:solidFill>
            <a:srgbClr val="FFFF99"/>
          </a:solidFill>
          <a:ln w="28575">
            <a:solidFill>
              <a:srgbClr val="6633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2129" name="Rectangle 81"/>
          <p:cNvSpPr>
            <a:spLocks noChangeArrowheads="1"/>
          </p:cNvSpPr>
          <p:nvPr/>
        </p:nvSpPr>
        <p:spPr bwMode="auto">
          <a:xfrm>
            <a:off x="2728913" y="44497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800000"/>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rgbClr val="663300"/>
              </a:solidFill>
              <a:effectLst/>
              <a:uLnTx/>
              <a:uFillTx/>
              <a:latin typeface="+mn-lt"/>
              <a:ea typeface="+mn-ea"/>
              <a:cs typeface="+mn-ea"/>
              <a:sym typeface="+mn-lt"/>
            </a:endParaRPr>
          </a:p>
        </p:txBody>
      </p:sp>
      <p:cxnSp>
        <p:nvCxnSpPr>
          <p:cNvPr id="642130" name="AutoShape 82"/>
          <p:cNvCxnSpPr>
            <a:stCxn id="642128" idx="3"/>
            <a:endCxn id="189528" idx="1"/>
          </p:cNvCxnSpPr>
          <p:nvPr/>
        </p:nvCxnSpPr>
        <p:spPr>
          <a:xfrm flipV="1">
            <a:off x="1828800" y="4678363"/>
            <a:ext cx="428625" cy="1676400"/>
          </a:xfrm>
          <a:prstGeom prst="bentConnector3">
            <a:avLst>
              <a:gd name="adj1" fmla="val 50000"/>
            </a:avLst>
          </a:prstGeom>
          <a:ln w="38100" cap="flat" cmpd="sng">
            <a:solidFill>
              <a:srgbClr val="800000"/>
            </a:solidFill>
            <a:prstDash val="solid"/>
            <a:miter/>
            <a:headEnd type="none" w="med" len="med"/>
            <a:tailEnd type="stealth" w="med" len="lg"/>
          </a:ln>
        </p:spPr>
      </p:cxnSp>
      <p:grpSp>
        <p:nvGrpSpPr>
          <p:cNvPr id="19" name="Group 83"/>
          <p:cNvGrpSpPr/>
          <p:nvPr/>
        </p:nvGrpSpPr>
        <p:grpSpPr>
          <a:xfrm>
            <a:off x="2119313" y="1773238"/>
            <a:ext cx="361950" cy="1000125"/>
            <a:chOff x="1164" y="1824"/>
            <a:chExt cx="228" cy="630"/>
          </a:xfrm>
        </p:grpSpPr>
        <p:sp>
          <p:nvSpPr>
            <p:cNvPr id="189501" name="Text Box 84"/>
            <p:cNvSpPr txBox="1">
              <a:spLocks noChangeArrowheads="1"/>
            </p:cNvSpPr>
            <p:nvPr/>
          </p:nvSpPr>
          <p:spPr bwMode="auto">
            <a:xfrm>
              <a:off x="1164" y="18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FF0000"/>
                  </a:solidFill>
                  <a:effectLst/>
                  <a:uLnTx/>
                  <a:uFillTx/>
                  <a:latin typeface="+mn-lt"/>
                  <a:ea typeface="+mn-ea"/>
                  <a:cs typeface="+mn-ea"/>
                  <a:sym typeface="+mn-lt"/>
                </a:rPr>
                <a:t>q</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02" name="Line 85"/>
            <p:cNvSpPr>
              <a:spLocks noChangeShapeType="1"/>
            </p:cNvSpPr>
            <p:nvPr/>
          </p:nvSpPr>
          <p:spPr bwMode="auto">
            <a:xfrm>
              <a:off x="1379" y="1974"/>
              <a:ext cx="0" cy="480"/>
            </a:xfrm>
            <a:prstGeom prst="line">
              <a:avLst/>
            </a:prstGeom>
            <a:noFill/>
            <a:ln w="28575">
              <a:solidFill>
                <a:srgbClr val="FF0000"/>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42134" name="Rectangle 86"/>
          <p:cNvSpPr>
            <a:spLocks noChangeArrowheads="1"/>
          </p:cNvSpPr>
          <p:nvPr/>
        </p:nvSpPr>
        <p:spPr bwMode="auto">
          <a:xfrm>
            <a:off x="2195513" y="3535363"/>
            <a:ext cx="457200" cy="9144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42135" name="Rectangle 87"/>
          <p:cNvSpPr>
            <a:spLocks noChangeArrowheads="1"/>
          </p:cNvSpPr>
          <p:nvPr/>
        </p:nvSpPr>
        <p:spPr bwMode="auto">
          <a:xfrm>
            <a:off x="2881313" y="2849563"/>
            <a:ext cx="685800" cy="304800"/>
          </a:xfrm>
          <a:prstGeom prst="rect">
            <a:avLst/>
          </a:prstGeom>
          <a:ln w="952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2136" name="Rectangle 88"/>
          <p:cNvSpPr>
            <a:spLocks noChangeArrowheads="1"/>
          </p:cNvSpPr>
          <p:nvPr/>
        </p:nvSpPr>
        <p:spPr bwMode="auto">
          <a:xfrm>
            <a:off x="2805113" y="2773363"/>
            <a:ext cx="304800" cy="457200"/>
          </a:xfrm>
          <a:prstGeom prst="rect">
            <a:avLst/>
          </a:prstGeom>
          <a:solidFill>
            <a:schemeClr val="accent1">
              <a:lumMod val="40000"/>
              <a:lumOff val="60000"/>
            </a:schemeClr>
          </a:solid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642137" name="AutoShape 89"/>
          <p:cNvCxnSpPr>
            <a:stCxn id="642128" idx="3"/>
            <a:endCxn id="189528" idx="1"/>
          </p:cNvCxnSpPr>
          <p:nvPr/>
        </p:nvCxnSpPr>
        <p:spPr>
          <a:xfrm flipH="1">
            <a:off x="2652713" y="3001963"/>
            <a:ext cx="433387" cy="1433512"/>
          </a:xfrm>
          <a:prstGeom prst="bentConnector4">
            <a:avLst>
              <a:gd name="adj1" fmla="val -45421"/>
              <a:gd name="adj2" fmla="val 58472"/>
            </a:avLst>
          </a:prstGeom>
          <a:ln w="38100" cap="flat" cmpd="sng">
            <a:solidFill>
              <a:srgbClr val="800000"/>
            </a:solidFill>
            <a:prstDash val="solid"/>
            <a:miter/>
            <a:headEnd type="none" w="med" len="med"/>
            <a:tailEnd type="stealth" w="med" len="lg"/>
          </a:ln>
        </p:spPr>
      </p:cxnSp>
      <p:sp useBgFill="1">
        <p:nvSpPr>
          <p:cNvPr id="642138" name="Rectangle 90"/>
          <p:cNvSpPr>
            <a:spLocks noChangeArrowheads="1"/>
          </p:cNvSpPr>
          <p:nvPr/>
        </p:nvSpPr>
        <p:spPr bwMode="auto">
          <a:xfrm>
            <a:off x="2043113" y="4525963"/>
            <a:ext cx="228600"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642139" name="AutoShape 91"/>
          <p:cNvCxnSpPr>
            <a:stCxn id="642128" idx="3"/>
          </p:cNvCxnSpPr>
          <p:nvPr/>
        </p:nvCxnSpPr>
        <p:spPr>
          <a:xfrm flipV="1">
            <a:off x="1828800" y="3001963"/>
            <a:ext cx="428625" cy="3352800"/>
          </a:xfrm>
          <a:prstGeom prst="bentConnector3">
            <a:avLst>
              <a:gd name="adj1" fmla="val 50000"/>
            </a:avLst>
          </a:prstGeom>
          <a:ln w="38100" cap="flat" cmpd="sng">
            <a:solidFill>
              <a:srgbClr val="800000"/>
            </a:solidFill>
            <a:prstDash val="solid"/>
            <a:miter/>
            <a:headEnd type="none" w="med" len="med"/>
            <a:tailEnd type="stealth" w="med" len="lg"/>
          </a:ln>
        </p:spPr>
      </p:cxnSp>
      <p:grpSp>
        <p:nvGrpSpPr>
          <p:cNvPr id="20" name="Group 92"/>
          <p:cNvGrpSpPr/>
          <p:nvPr/>
        </p:nvGrpSpPr>
        <p:grpSpPr>
          <a:xfrm>
            <a:off x="3962400" y="1858963"/>
            <a:ext cx="519113" cy="923925"/>
            <a:chOff x="1334" y="906"/>
            <a:chExt cx="327" cy="582"/>
          </a:xfrm>
        </p:grpSpPr>
        <p:sp>
          <p:nvSpPr>
            <p:cNvPr id="189499" name="Line 93"/>
            <p:cNvSpPr>
              <a:spLocks noChangeShapeType="1"/>
            </p:cNvSpPr>
            <p:nvPr/>
          </p:nvSpPr>
          <p:spPr bwMode="auto">
            <a:xfrm>
              <a:off x="1344" y="1056"/>
              <a:ext cx="0" cy="432"/>
            </a:xfrm>
            <a:prstGeom prst="line">
              <a:avLst/>
            </a:prstGeom>
            <a:noFill/>
            <a:ln w="28575">
              <a:solidFill>
                <a:srgbClr val="00666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500" name="Text Box 94"/>
            <p:cNvSpPr txBox="1">
              <a:spLocks noChangeArrowheads="1"/>
            </p:cNvSpPr>
            <p:nvPr/>
          </p:nvSpPr>
          <p:spPr bwMode="auto">
            <a:xfrm>
              <a:off x="1334" y="906"/>
              <a:ext cx="3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006666"/>
                  </a:solidFill>
                  <a:effectLst/>
                  <a:uLnTx/>
                  <a:uFillTx/>
                  <a:latin typeface="+mn-lt"/>
                  <a:ea typeface="+mn-ea"/>
                  <a:cs typeface="+mn-ea"/>
                  <a:sym typeface="+mn-lt"/>
                </a:rPr>
                <a:t>pa</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42143" name="Rectangle 95"/>
          <p:cNvSpPr>
            <a:spLocks noChangeArrowheads="1"/>
          </p:cNvSpPr>
          <p:nvPr/>
        </p:nvSpPr>
        <p:spPr bwMode="auto">
          <a:xfrm>
            <a:off x="2576513" y="1935163"/>
            <a:ext cx="533400" cy="838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1" name="Group 96"/>
          <p:cNvGrpSpPr/>
          <p:nvPr/>
        </p:nvGrpSpPr>
        <p:grpSpPr>
          <a:xfrm>
            <a:off x="3414713" y="1782763"/>
            <a:ext cx="361950" cy="1000125"/>
            <a:chOff x="1164" y="1824"/>
            <a:chExt cx="228" cy="630"/>
          </a:xfrm>
        </p:grpSpPr>
        <p:sp>
          <p:nvSpPr>
            <p:cNvPr id="189497" name="Text Box 97"/>
            <p:cNvSpPr txBox="1">
              <a:spLocks noChangeArrowheads="1"/>
            </p:cNvSpPr>
            <p:nvPr/>
          </p:nvSpPr>
          <p:spPr bwMode="auto">
            <a:xfrm>
              <a:off x="1164" y="18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FF0000"/>
                  </a:solidFill>
                  <a:effectLst/>
                  <a:uLnTx/>
                  <a:uFillTx/>
                  <a:latin typeface="+mn-lt"/>
                  <a:ea typeface="+mn-ea"/>
                  <a:cs typeface="+mn-ea"/>
                  <a:sym typeface="+mn-lt"/>
                </a:rPr>
                <a:t>q</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498" name="Line 98"/>
            <p:cNvSpPr>
              <a:spLocks noChangeShapeType="1"/>
            </p:cNvSpPr>
            <p:nvPr/>
          </p:nvSpPr>
          <p:spPr bwMode="auto">
            <a:xfrm>
              <a:off x="1379" y="1974"/>
              <a:ext cx="0" cy="480"/>
            </a:xfrm>
            <a:prstGeom prst="line">
              <a:avLst/>
            </a:prstGeom>
            <a:noFill/>
            <a:ln w="28575">
              <a:solidFill>
                <a:srgbClr val="FF0000"/>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42147" name="Rectangle 99"/>
          <p:cNvSpPr>
            <a:spLocks noChangeArrowheads="1"/>
          </p:cNvSpPr>
          <p:nvPr/>
        </p:nvSpPr>
        <p:spPr bwMode="auto">
          <a:xfrm>
            <a:off x="2195513" y="1858963"/>
            <a:ext cx="457200" cy="9144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42148" name="Rectangle 100"/>
          <p:cNvSpPr>
            <a:spLocks noChangeArrowheads="1"/>
          </p:cNvSpPr>
          <p:nvPr/>
        </p:nvSpPr>
        <p:spPr bwMode="auto">
          <a:xfrm>
            <a:off x="1966913" y="2925763"/>
            <a:ext cx="152400" cy="3429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642149" name="AutoShape 101"/>
          <p:cNvCxnSpPr>
            <a:stCxn id="642128" idx="3"/>
          </p:cNvCxnSpPr>
          <p:nvPr/>
        </p:nvCxnSpPr>
        <p:spPr>
          <a:xfrm flipV="1">
            <a:off x="1828800" y="3001963"/>
            <a:ext cx="1724025" cy="3352800"/>
          </a:xfrm>
          <a:prstGeom prst="bentConnector3">
            <a:avLst>
              <a:gd name="adj1" fmla="val 50000"/>
            </a:avLst>
          </a:prstGeom>
          <a:ln w="38100" cap="flat" cmpd="sng">
            <a:solidFill>
              <a:srgbClr val="800000"/>
            </a:solidFill>
            <a:prstDash val="solid"/>
            <a:miter/>
            <a:headEnd type="none" w="med" len="med"/>
            <a:tailEnd type="triangle" w="med" len="med"/>
          </a:ln>
        </p:spPr>
      </p:cxnSp>
      <p:grpSp>
        <p:nvGrpSpPr>
          <p:cNvPr id="22" name="Group 102"/>
          <p:cNvGrpSpPr/>
          <p:nvPr/>
        </p:nvGrpSpPr>
        <p:grpSpPr>
          <a:xfrm>
            <a:off x="5181600" y="1858963"/>
            <a:ext cx="519113" cy="923925"/>
            <a:chOff x="1334" y="906"/>
            <a:chExt cx="327" cy="582"/>
          </a:xfrm>
        </p:grpSpPr>
        <p:sp>
          <p:nvSpPr>
            <p:cNvPr id="189495" name="Line 103"/>
            <p:cNvSpPr>
              <a:spLocks noChangeShapeType="1"/>
            </p:cNvSpPr>
            <p:nvPr/>
          </p:nvSpPr>
          <p:spPr bwMode="auto">
            <a:xfrm>
              <a:off x="1344" y="1056"/>
              <a:ext cx="0" cy="432"/>
            </a:xfrm>
            <a:prstGeom prst="line">
              <a:avLst/>
            </a:prstGeom>
            <a:noFill/>
            <a:ln w="28575">
              <a:solidFill>
                <a:srgbClr val="9476B6"/>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496" name="Text Box 104"/>
            <p:cNvSpPr txBox="1">
              <a:spLocks noChangeArrowheads="1"/>
            </p:cNvSpPr>
            <p:nvPr/>
          </p:nvSpPr>
          <p:spPr bwMode="auto">
            <a:xfrm>
              <a:off x="1334" y="906"/>
              <a:ext cx="3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pa</a:t>
              </a:r>
            </a:p>
          </p:txBody>
        </p:sp>
      </p:grpSp>
      <p:sp useBgFill="1">
        <p:nvSpPr>
          <p:cNvPr id="642153" name="Rectangle 105"/>
          <p:cNvSpPr>
            <a:spLocks noChangeArrowheads="1"/>
          </p:cNvSpPr>
          <p:nvPr/>
        </p:nvSpPr>
        <p:spPr bwMode="auto">
          <a:xfrm>
            <a:off x="3871913" y="2011363"/>
            <a:ext cx="533400" cy="762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42154" name="Rectangle 106"/>
          <p:cNvSpPr>
            <a:spLocks noChangeArrowheads="1"/>
          </p:cNvSpPr>
          <p:nvPr/>
        </p:nvSpPr>
        <p:spPr bwMode="auto">
          <a:xfrm>
            <a:off x="4176713" y="2925763"/>
            <a:ext cx="685800" cy="152400"/>
          </a:xfrm>
          <a:prstGeom prst="rect">
            <a:avLst/>
          </a:prstGeom>
          <a:ln w="952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2155" name="Rectangle 107"/>
          <p:cNvSpPr>
            <a:spLocks noChangeArrowheads="1"/>
          </p:cNvSpPr>
          <p:nvPr/>
        </p:nvSpPr>
        <p:spPr bwMode="auto">
          <a:xfrm>
            <a:off x="4100513" y="2773363"/>
            <a:ext cx="304800" cy="457200"/>
          </a:xfrm>
          <a:prstGeom prst="rect">
            <a:avLst/>
          </a:prstGeom>
          <a:solidFill>
            <a:schemeClr val="accent1">
              <a:lumMod val="40000"/>
              <a:lumOff val="60000"/>
            </a:schemeClr>
          </a:solidFill>
          <a:ln w="2857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cxnSp>
        <p:nvCxnSpPr>
          <p:cNvPr id="642156" name="AutoShape 108"/>
          <p:cNvCxnSpPr>
            <a:stCxn id="642155" idx="3"/>
          </p:cNvCxnSpPr>
          <p:nvPr/>
        </p:nvCxnSpPr>
        <p:spPr>
          <a:xfrm flipH="1">
            <a:off x="2257425" y="3001963"/>
            <a:ext cx="2162175" cy="1587"/>
          </a:xfrm>
          <a:prstGeom prst="bentConnector5">
            <a:avLst>
              <a:gd name="adj1" fmla="val -9912"/>
              <a:gd name="adj2" fmla="val -28800009"/>
              <a:gd name="adj3" fmla="val 109912"/>
            </a:avLst>
          </a:prstGeom>
          <a:ln w="38100" cap="flat" cmpd="sng">
            <a:solidFill>
              <a:srgbClr val="800000"/>
            </a:solidFill>
            <a:prstDash val="solid"/>
            <a:miter/>
            <a:headEnd type="none" w="med" len="med"/>
            <a:tailEnd type="stealth" w="med" len="lg"/>
          </a:ln>
        </p:spPr>
      </p:cxnSp>
      <p:grpSp>
        <p:nvGrpSpPr>
          <p:cNvPr id="23" name="Group 109"/>
          <p:cNvGrpSpPr/>
          <p:nvPr/>
        </p:nvGrpSpPr>
        <p:grpSpPr>
          <a:xfrm>
            <a:off x="3414713" y="3449638"/>
            <a:ext cx="361950" cy="1000125"/>
            <a:chOff x="1164" y="1824"/>
            <a:chExt cx="228" cy="630"/>
          </a:xfrm>
        </p:grpSpPr>
        <p:sp>
          <p:nvSpPr>
            <p:cNvPr id="189493" name="Text Box 110"/>
            <p:cNvSpPr txBox="1">
              <a:spLocks noChangeArrowheads="1"/>
            </p:cNvSpPr>
            <p:nvPr/>
          </p:nvSpPr>
          <p:spPr bwMode="auto">
            <a:xfrm>
              <a:off x="1164" y="1824"/>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FF0000"/>
                  </a:solidFill>
                  <a:effectLst/>
                  <a:uLnTx/>
                  <a:uFillTx/>
                  <a:latin typeface="+mn-lt"/>
                  <a:ea typeface="+mn-ea"/>
                  <a:cs typeface="+mn-ea"/>
                  <a:sym typeface="+mn-lt"/>
                </a:rPr>
                <a:t>q</a:t>
              </a:r>
              <a:endParaRPr kumimoji="0" lang="en-US" altLang="zh-CN"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494" name="Line 111"/>
            <p:cNvSpPr>
              <a:spLocks noChangeShapeType="1"/>
            </p:cNvSpPr>
            <p:nvPr/>
          </p:nvSpPr>
          <p:spPr bwMode="auto">
            <a:xfrm>
              <a:off x="1379" y="1974"/>
              <a:ext cx="0" cy="480"/>
            </a:xfrm>
            <a:prstGeom prst="line">
              <a:avLst/>
            </a:prstGeom>
            <a:noFill/>
            <a:ln w="28575">
              <a:solidFill>
                <a:srgbClr val="FF0000"/>
              </a:solidFill>
              <a:round/>
              <a:tailEnd type="stealth"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42160" name="Rectangle 112"/>
          <p:cNvSpPr>
            <a:spLocks noChangeArrowheads="1"/>
          </p:cNvSpPr>
          <p:nvPr/>
        </p:nvSpPr>
        <p:spPr bwMode="auto">
          <a:xfrm>
            <a:off x="3490913" y="1935163"/>
            <a:ext cx="533400" cy="838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9492" name="Rectangle 115"/>
          <p:cNvSpPr>
            <a:spLocks noChangeArrowheads="1"/>
          </p:cNvSpPr>
          <p:nvPr/>
        </p:nvSpPr>
        <p:spPr bwMode="auto">
          <a:xfrm>
            <a:off x="47625" y="1108075"/>
            <a:ext cx="5084763" cy="522288"/>
          </a:xfrm>
          <a:prstGeom prst="rect">
            <a:avLst/>
          </a:prstGeom>
          <a:solidFill>
            <a:srgbClr val="9476B6"/>
          </a:solid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0"/>
              </a:spcBef>
              <a:spcAft>
                <a:spcPct val="0"/>
              </a:spcAft>
              <a:buClr>
                <a:srgbClr val="FF0000"/>
              </a:buClr>
              <a:buSzTx/>
              <a:buFont typeface="Wingdings" panose="05000000000000000000" pitchFamily="2" charset="2"/>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第（</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）题实现过程动态演示</a:t>
            </a:r>
          </a:p>
        </p:txBody>
      </p:sp>
      <p:sp>
        <p:nvSpPr>
          <p:cNvPr id="112"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642104"/>
                                        </p:tgtEl>
                                        <p:attrNameLst>
                                          <p:attrName>style.visibility</p:attrName>
                                        </p:attrNameLst>
                                      </p:cBhvr>
                                      <p:to>
                                        <p:strVal val="visible"/>
                                      </p:to>
                                    </p:set>
                                    <p:animEffect transition="in" filter="slide(fromTop)">
                                      <p:cBhvr>
                                        <p:cTn id="7" dur="500"/>
                                        <p:tgtEl>
                                          <p:spTgt spid="642104"/>
                                        </p:tgtEl>
                                      </p:cBhvr>
                                    </p:animEffect>
                                  </p:childTnLst>
                                </p:cTn>
                              </p:par>
                            </p:childTnLst>
                          </p:cTn>
                        </p:par>
                        <p:par>
                          <p:cTn id="8" fill="hold">
                            <p:stCondLst>
                              <p:cond delay="500"/>
                            </p:stCondLst>
                            <p:childTnLst>
                              <p:par>
                                <p:cTn id="9" presetID="17" presetClass="entr" presetSubtype="1" fill="hold" nodeType="afterEffect">
                                  <p:stCondLst>
                                    <p:cond delay="0"/>
                                  </p:stCondLst>
                                  <p:childTnLst>
                                    <p:set>
                                      <p:cBhvr>
                                        <p:cTn id="10" dur="1" fill="hold">
                                          <p:stCondLst>
                                            <p:cond delay="0"/>
                                          </p:stCondLst>
                                        </p:cTn>
                                        <p:tgtEl>
                                          <p:spTgt spid="642052"/>
                                        </p:tgtEl>
                                        <p:attrNameLst>
                                          <p:attrName>style.visibility</p:attrName>
                                        </p:attrNameLst>
                                      </p:cBhvr>
                                      <p:to>
                                        <p:strVal val="visible"/>
                                      </p:to>
                                    </p:set>
                                    <p:anim calcmode="lin" valueType="num">
                                      <p:cBhvr>
                                        <p:cTn id="11" dur="500" fill="hold"/>
                                        <p:tgtEl>
                                          <p:spTgt spid="642052"/>
                                        </p:tgtEl>
                                        <p:attrNameLst>
                                          <p:attrName>ppt_x</p:attrName>
                                        </p:attrNameLst>
                                      </p:cBhvr>
                                      <p:tavLst>
                                        <p:tav tm="0">
                                          <p:val>
                                            <p:strVal val="#ppt_x"/>
                                          </p:val>
                                        </p:tav>
                                        <p:tav tm="100000">
                                          <p:val>
                                            <p:strVal val="#ppt_x"/>
                                          </p:val>
                                        </p:tav>
                                      </p:tavLst>
                                    </p:anim>
                                    <p:anim calcmode="lin" valueType="num">
                                      <p:cBhvr>
                                        <p:cTn id="12" dur="500" fill="hold"/>
                                        <p:tgtEl>
                                          <p:spTgt spid="642052"/>
                                        </p:tgtEl>
                                        <p:attrNameLst>
                                          <p:attrName>ppt_y</p:attrName>
                                        </p:attrNameLst>
                                      </p:cBhvr>
                                      <p:tavLst>
                                        <p:tav tm="0">
                                          <p:val>
                                            <p:strVal val="#ppt_y-#ppt_h/2"/>
                                          </p:val>
                                        </p:tav>
                                        <p:tav tm="100000">
                                          <p:val>
                                            <p:strVal val="#ppt_y"/>
                                          </p:val>
                                        </p:tav>
                                      </p:tavLst>
                                    </p:anim>
                                    <p:anim calcmode="lin" valueType="num">
                                      <p:cBhvr>
                                        <p:cTn id="13" dur="500" fill="hold"/>
                                        <p:tgtEl>
                                          <p:spTgt spid="642052"/>
                                        </p:tgtEl>
                                        <p:attrNameLst>
                                          <p:attrName>ppt_w</p:attrName>
                                        </p:attrNameLst>
                                      </p:cBhvr>
                                      <p:tavLst>
                                        <p:tav tm="0">
                                          <p:val>
                                            <p:strVal val="#ppt_w"/>
                                          </p:val>
                                        </p:tav>
                                        <p:tav tm="100000">
                                          <p:val>
                                            <p:strVal val="#ppt_w"/>
                                          </p:val>
                                        </p:tav>
                                      </p:tavLst>
                                    </p:anim>
                                    <p:anim calcmode="lin" valueType="num">
                                      <p:cBhvr>
                                        <p:cTn id="14" dur="500" fill="hold"/>
                                        <p:tgtEl>
                                          <p:spTgt spid="642052"/>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par>
                          <p:cTn id="31" fill="hold">
                            <p:stCondLst>
                              <p:cond delay="3000"/>
                            </p:stCondLst>
                            <p:childTnLst>
                              <p:par>
                                <p:cTn id="32" presetID="22" presetClass="entr" presetSubtype="8"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1" fill="hold" grpId="0" nodeType="clickEffect">
                                  <p:stCondLst>
                                    <p:cond delay="0"/>
                                  </p:stCondLst>
                                  <p:childTnLst>
                                    <p:set>
                                      <p:cBhvr>
                                        <p:cTn id="42" dur="1" fill="hold">
                                          <p:stCondLst>
                                            <p:cond delay="0"/>
                                          </p:stCondLst>
                                        </p:cTn>
                                        <p:tgtEl>
                                          <p:spTgt spid="642105"/>
                                        </p:tgtEl>
                                        <p:attrNameLst>
                                          <p:attrName>style.visibility</p:attrName>
                                        </p:attrNameLst>
                                      </p:cBhvr>
                                      <p:to>
                                        <p:strVal val="visible"/>
                                      </p:to>
                                    </p:set>
                                    <p:animEffect transition="in" filter="slide(fromTop)">
                                      <p:cBhvr>
                                        <p:cTn id="43" dur="500"/>
                                        <p:tgtEl>
                                          <p:spTgt spid="642105"/>
                                        </p:tgtEl>
                                      </p:cBhvr>
                                    </p:animEffect>
                                  </p:childTnLst>
                                </p:cTn>
                              </p:par>
                            </p:childTnLst>
                          </p:cTn>
                        </p:par>
                        <p:par>
                          <p:cTn id="44" fill="hold">
                            <p:stCondLst>
                              <p:cond delay="500"/>
                            </p:stCondLst>
                            <p:childTnLst>
                              <p:par>
                                <p:cTn id="45" presetID="17" presetClass="entr" presetSubtype="1" fill="hold" nodeType="afterEffect">
                                  <p:stCondLst>
                                    <p:cond delay="0"/>
                                  </p:stCondLst>
                                  <p:childTnLst>
                                    <p:set>
                                      <p:cBhvr>
                                        <p:cTn id="46" dur="1" fill="hold">
                                          <p:stCondLst>
                                            <p:cond delay="0"/>
                                          </p:stCondLst>
                                        </p:cTn>
                                        <p:tgtEl>
                                          <p:spTgt spid="642078"/>
                                        </p:tgtEl>
                                        <p:attrNameLst>
                                          <p:attrName>style.visibility</p:attrName>
                                        </p:attrNameLst>
                                      </p:cBhvr>
                                      <p:to>
                                        <p:strVal val="visible"/>
                                      </p:to>
                                    </p:set>
                                    <p:anim calcmode="lin" valueType="num">
                                      <p:cBhvr>
                                        <p:cTn id="47" dur="500" fill="hold"/>
                                        <p:tgtEl>
                                          <p:spTgt spid="642078"/>
                                        </p:tgtEl>
                                        <p:attrNameLst>
                                          <p:attrName>ppt_x</p:attrName>
                                        </p:attrNameLst>
                                      </p:cBhvr>
                                      <p:tavLst>
                                        <p:tav tm="0">
                                          <p:val>
                                            <p:strVal val="#ppt_x"/>
                                          </p:val>
                                        </p:tav>
                                        <p:tav tm="100000">
                                          <p:val>
                                            <p:strVal val="#ppt_x"/>
                                          </p:val>
                                        </p:tav>
                                      </p:tavLst>
                                    </p:anim>
                                    <p:anim calcmode="lin" valueType="num">
                                      <p:cBhvr>
                                        <p:cTn id="48" dur="500" fill="hold"/>
                                        <p:tgtEl>
                                          <p:spTgt spid="642078"/>
                                        </p:tgtEl>
                                        <p:attrNameLst>
                                          <p:attrName>ppt_y</p:attrName>
                                        </p:attrNameLst>
                                      </p:cBhvr>
                                      <p:tavLst>
                                        <p:tav tm="0">
                                          <p:val>
                                            <p:strVal val="#ppt_y-#ppt_h/2"/>
                                          </p:val>
                                        </p:tav>
                                        <p:tav tm="100000">
                                          <p:val>
                                            <p:strVal val="#ppt_y"/>
                                          </p:val>
                                        </p:tav>
                                      </p:tavLst>
                                    </p:anim>
                                    <p:anim calcmode="lin" valueType="num">
                                      <p:cBhvr>
                                        <p:cTn id="49" dur="500" fill="hold"/>
                                        <p:tgtEl>
                                          <p:spTgt spid="642078"/>
                                        </p:tgtEl>
                                        <p:attrNameLst>
                                          <p:attrName>ppt_w</p:attrName>
                                        </p:attrNameLst>
                                      </p:cBhvr>
                                      <p:tavLst>
                                        <p:tav tm="0">
                                          <p:val>
                                            <p:strVal val="#ppt_w"/>
                                          </p:val>
                                        </p:tav>
                                        <p:tav tm="100000">
                                          <p:val>
                                            <p:strVal val="#ppt_w"/>
                                          </p:val>
                                        </p:tav>
                                      </p:tavLst>
                                    </p:anim>
                                    <p:anim calcmode="lin" valueType="num">
                                      <p:cBhvr>
                                        <p:cTn id="50" dur="500" fill="hold"/>
                                        <p:tgtEl>
                                          <p:spTgt spid="642078"/>
                                        </p:tgtEl>
                                        <p:attrNameLst>
                                          <p:attrName>ppt_h</p:attrName>
                                        </p:attrNameLst>
                                      </p:cBhvr>
                                      <p:tavLst>
                                        <p:tav tm="0">
                                          <p:val>
                                            <p:fltVal val="0"/>
                                          </p:val>
                                        </p:tav>
                                        <p:tav tm="100000">
                                          <p:val>
                                            <p:strVal val="#ppt_h"/>
                                          </p:val>
                                        </p:tav>
                                      </p:tavLst>
                                    </p:anim>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par>
                          <p:cTn id="55" fill="hold">
                            <p:stCondLst>
                              <p:cond delay="1500"/>
                            </p:stCondLst>
                            <p:childTnLst>
                              <p:par>
                                <p:cTn id="56" presetID="22" presetClass="entr" presetSubtype="8" fill="hold"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par>
                          <p:cTn id="59" fill="hold">
                            <p:stCondLst>
                              <p:cond delay="2000"/>
                            </p:stCondLst>
                            <p:childTnLst>
                              <p:par>
                                <p:cTn id="60" presetID="22" presetClass="entr" presetSubtype="8" fill="hold"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ipe(left)">
                                      <p:cBhvr>
                                        <p:cTn id="66" dur="500"/>
                                        <p:tgtEl>
                                          <p:spTgt spid="11"/>
                                        </p:tgtEl>
                                      </p:cBhvr>
                                    </p:animEffect>
                                  </p:childTnLst>
                                </p:cTn>
                              </p:par>
                            </p:childTnLst>
                          </p:cTn>
                        </p:par>
                        <p:par>
                          <p:cTn id="67" fill="hold">
                            <p:stCondLst>
                              <p:cond delay="3000"/>
                            </p:stCondLst>
                            <p:childTnLst>
                              <p:par>
                                <p:cTn id="68" presetID="22" presetClass="entr" presetSubtype="8" fill="hold" nodeType="after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wipe(left)">
                                      <p:cBhvr>
                                        <p:cTn id="70" dur="500"/>
                                        <p:tgtEl>
                                          <p:spTgt spid="12"/>
                                        </p:tgtEl>
                                      </p:cBhvr>
                                    </p:animEffect>
                                  </p:childTnLst>
                                </p:cTn>
                              </p:par>
                            </p:childTnLst>
                          </p:cTn>
                        </p:par>
                        <p:par>
                          <p:cTn id="71" fill="hold">
                            <p:stCondLst>
                              <p:cond delay="3500"/>
                            </p:stCondLst>
                            <p:childTnLst>
                              <p:par>
                                <p:cTn id="72" presetID="22" presetClass="entr" presetSubtype="8" fill="hold" nodeType="after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wipe(left)">
                                      <p:cBhvr>
                                        <p:cTn id="74" dur="500"/>
                                        <p:tgtEl>
                                          <p:spTgt spid="13"/>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1" fill="hold" grpId="0" nodeType="clickEffect">
                                  <p:stCondLst>
                                    <p:cond delay="0"/>
                                  </p:stCondLst>
                                  <p:childTnLst>
                                    <p:set>
                                      <p:cBhvr>
                                        <p:cTn id="78" dur="1" fill="hold">
                                          <p:stCondLst>
                                            <p:cond delay="0"/>
                                          </p:stCondLst>
                                        </p:cTn>
                                        <p:tgtEl>
                                          <p:spTgt spid="642111"/>
                                        </p:tgtEl>
                                        <p:attrNameLst>
                                          <p:attrName>style.visibility</p:attrName>
                                        </p:attrNameLst>
                                      </p:cBhvr>
                                      <p:to>
                                        <p:strVal val="visible"/>
                                      </p:to>
                                    </p:set>
                                    <p:animEffect transition="in" filter="slide(fromTop)">
                                      <p:cBhvr>
                                        <p:cTn id="79" dur="500"/>
                                        <p:tgtEl>
                                          <p:spTgt spid="642111"/>
                                        </p:tgtEl>
                                      </p:cBhvr>
                                    </p:animEffect>
                                  </p:childTnLst>
                                </p:cTn>
                              </p:par>
                            </p:childTnLst>
                          </p:cTn>
                        </p:par>
                        <p:par>
                          <p:cTn id="80" fill="hold">
                            <p:stCondLst>
                              <p:cond delay="500"/>
                            </p:stCondLst>
                            <p:childTnLst>
                              <p:par>
                                <p:cTn id="81" presetID="17" presetClass="entr" presetSubtype="1" fill="hold" nodeType="afterEffect">
                                  <p:stCondLst>
                                    <p:cond delay="0"/>
                                  </p:stCondLst>
                                  <p:childTnLst>
                                    <p:set>
                                      <p:cBhvr>
                                        <p:cTn id="82" dur="1" fill="hold">
                                          <p:stCondLst>
                                            <p:cond delay="0"/>
                                          </p:stCondLst>
                                        </p:cTn>
                                        <p:tgtEl>
                                          <p:spTgt spid="642106"/>
                                        </p:tgtEl>
                                        <p:attrNameLst>
                                          <p:attrName>style.visibility</p:attrName>
                                        </p:attrNameLst>
                                      </p:cBhvr>
                                      <p:to>
                                        <p:strVal val="visible"/>
                                      </p:to>
                                    </p:set>
                                    <p:anim calcmode="lin" valueType="num">
                                      <p:cBhvr>
                                        <p:cTn id="83" dur="500" fill="hold"/>
                                        <p:tgtEl>
                                          <p:spTgt spid="642106"/>
                                        </p:tgtEl>
                                        <p:attrNameLst>
                                          <p:attrName>ppt_x</p:attrName>
                                        </p:attrNameLst>
                                      </p:cBhvr>
                                      <p:tavLst>
                                        <p:tav tm="0">
                                          <p:val>
                                            <p:strVal val="#ppt_x"/>
                                          </p:val>
                                        </p:tav>
                                        <p:tav tm="100000">
                                          <p:val>
                                            <p:strVal val="#ppt_x"/>
                                          </p:val>
                                        </p:tav>
                                      </p:tavLst>
                                    </p:anim>
                                    <p:anim calcmode="lin" valueType="num">
                                      <p:cBhvr>
                                        <p:cTn id="84" dur="500" fill="hold"/>
                                        <p:tgtEl>
                                          <p:spTgt spid="642106"/>
                                        </p:tgtEl>
                                        <p:attrNameLst>
                                          <p:attrName>ppt_y</p:attrName>
                                        </p:attrNameLst>
                                      </p:cBhvr>
                                      <p:tavLst>
                                        <p:tav tm="0">
                                          <p:val>
                                            <p:strVal val="#ppt_y-#ppt_h/2"/>
                                          </p:val>
                                        </p:tav>
                                        <p:tav tm="100000">
                                          <p:val>
                                            <p:strVal val="#ppt_y"/>
                                          </p:val>
                                        </p:tav>
                                      </p:tavLst>
                                    </p:anim>
                                    <p:anim calcmode="lin" valueType="num">
                                      <p:cBhvr>
                                        <p:cTn id="85" dur="500" fill="hold"/>
                                        <p:tgtEl>
                                          <p:spTgt spid="642106"/>
                                        </p:tgtEl>
                                        <p:attrNameLst>
                                          <p:attrName>ppt_w</p:attrName>
                                        </p:attrNameLst>
                                      </p:cBhvr>
                                      <p:tavLst>
                                        <p:tav tm="0">
                                          <p:val>
                                            <p:strVal val="#ppt_w"/>
                                          </p:val>
                                        </p:tav>
                                        <p:tav tm="100000">
                                          <p:val>
                                            <p:strVal val="#ppt_w"/>
                                          </p:val>
                                        </p:tav>
                                      </p:tavLst>
                                    </p:anim>
                                    <p:anim calcmode="lin" valueType="num">
                                      <p:cBhvr>
                                        <p:cTn id="86" dur="500" fill="hold"/>
                                        <p:tgtEl>
                                          <p:spTgt spid="642106"/>
                                        </p:tgtEl>
                                        <p:attrNameLst>
                                          <p:attrName>ppt_h</p:attrName>
                                        </p:attrNameLst>
                                      </p:cBhvr>
                                      <p:tavLst>
                                        <p:tav tm="0">
                                          <p:val>
                                            <p:fltVal val="0"/>
                                          </p:val>
                                        </p:tav>
                                        <p:tav tm="100000">
                                          <p:val>
                                            <p:strVal val="#ppt_h"/>
                                          </p:val>
                                        </p:tav>
                                      </p:tavLst>
                                    </p:anim>
                                  </p:childTnLst>
                                </p:cTn>
                              </p:par>
                            </p:childTnLst>
                          </p:cTn>
                        </p:par>
                        <p:par>
                          <p:cTn id="87" fill="hold">
                            <p:stCondLst>
                              <p:cond delay="1000"/>
                            </p:stCondLst>
                            <p:childTnLst>
                              <p:par>
                                <p:cTn id="88" presetID="22" presetClass="entr" presetSubtype="8" fill="hold" nodeType="after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wipe(left)">
                                      <p:cBhvr>
                                        <p:cTn id="90" dur="500"/>
                                        <p:tgtEl>
                                          <p:spTgt spid="14"/>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grpId="0" nodeType="clickEffect">
                                  <p:stCondLst>
                                    <p:cond delay="0"/>
                                  </p:stCondLst>
                                  <p:childTnLst>
                                    <p:set>
                                      <p:cBhvr>
                                        <p:cTn id="94" dur="1" fill="hold">
                                          <p:stCondLst>
                                            <p:cond delay="0"/>
                                          </p:stCondLst>
                                        </p:cTn>
                                        <p:tgtEl>
                                          <p:spTgt spid="642112"/>
                                        </p:tgtEl>
                                        <p:attrNameLst>
                                          <p:attrName>style.visibility</p:attrName>
                                        </p:attrNameLst>
                                      </p:cBhvr>
                                      <p:to>
                                        <p:strVal val="visible"/>
                                      </p:to>
                                    </p:set>
                                    <p:animEffect transition="in" filter="slide(fromTop)">
                                      <p:cBhvr>
                                        <p:cTn id="95" dur="500"/>
                                        <p:tgtEl>
                                          <p:spTgt spid="64211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nodeType="clickEffect">
                                  <p:stCondLst>
                                    <p:cond delay="0"/>
                                  </p:stCondLst>
                                  <p:childTnLst>
                                    <p:set>
                                      <p:cBhvr>
                                        <p:cTn id="99" dur="1" fill="hold">
                                          <p:stCondLst>
                                            <p:cond delay="0"/>
                                          </p:stCondLst>
                                        </p:cTn>
                                        <p:tgtEl>
                                          <p:spTgt spid="15"/>
                                        </p:tgtEl>
                                        <p:attrNameLst>
                                          <p:attrName>style.visibility</p:attrName>
                                        </p:attrNameLst>
                                      </p:cBhvr>
                                      <p:to>
                                        <p:strVal val="visible"/>
                                      </p:to>
                                    </p:set>
                                    <p:animEffect transition="in" filter="wipe(up)">
                                      <p:cBhvr>
                                        <p:cTn id="100" dur="500"/>
                                        <p:tgtEl>
                                          <p:spTgt spid="1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wipe(up)">
                                      <p:cBhvr>
                                        <p:cTn id="105" dur="500"/>
                                        <p:tgtEl>
                                          <p:spTgt spid="16"/>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17"/>
                                        </p:tgtEl>
                                        <p:attrNameLst>
                                          <p:attrName>style.visibility</p:attrName>
                                        </p:attrNameLst>
                                      </p:cBhvr>
                                      <p:to>
                                        <p:strVal val="visible"/>
                                      </p:to>
                                    </p:set>
                                    <p:animEffect transition="in" filter="wipe(up)">
                                      <p:cBhvr>
                                        <p:cTn id="110" dur="500"/>
                                        <p:tgtEl>
                                          <p:spTgt spid="17"/>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642125"/>
                                        </p:tgtEl>
                                        <p:attrNameLst>
                                          <p:attrName>style.visibility</p:attrName>
                                        </p:attrNameLst>
                                      </p:cBhvr>
                                      <p:to>
                                        <p:strVal val="visible"/>
                                      </p:to>
                                    </p:set>
                                    <p:animEffect transition="in" filter="wipe(left)">
                                      <p:cBhvr>
                                        <p:cTn id="115" dur="500"/>
                                        <p:tgtEl>
                                          <p:spTgt spid="642125"/>
                                        </p:tgtEl>
                                      </p:cBhvr>
                                    </p:animEffect>
                                  </p:childTnLst>
                                </p:cTn>
                              </p:par>
                            </p:childTnLst>
                          </p:cTn>
                        </p:par>
                        <p:par>
                          <p:cTn id="116" fill="hold">
                            <p:stCondLst>
                              <p:cond delay="500"/>
                            </p:stCondLst>
                            <p:childTnLst>
                              <p:par>
                                <p:cTn id="117" presetID="22" presetClass="entr" presetSubtype="8" fill="hold" nodeType="afterEffect">
                                  <p:stCondLst>
                                    <p:cond delay="0"/>
                                  </p:stCondLst>
                                  <p:childTnLst>
                                    <p:set>
                                      <p:cBhvr>
                                        <p:cTn id="118" dur="1" fill="hold">
                                          <p:stCondLst>
                                            <p:cond delay="0"/>
                                          </p:stCondLst>
                                        </p:cTn>
                                        <p:tgtEl>
                                          <p:spTgt spid="18"/>
                                        </p:tgtEl>
                                        <p:attrNameLst>
                                          <p:attrName>style.visibility</p:attrName>
                                        </p:attrNameLst>
                                      </p:cBhvr>
                                      <p:to>
                                        <p:strVal val="visible"/>
                                      </p:to>
                                    </p:set>
                                    <p:animEffect transition="in" filter="wipe(left)">
                                      <p:cBhvr>
                                        <p:cTn id="119" dur="500"/>
                                        <p:tgtEl>
                                          <p:spTgt spid="18"/>
                                        </p:tgtEl>
                                      </p:cBhvr>
                                    </p:animEffect>
                                  </p:childTnLst>
                                </p:cTn>
                              </p:par>
                            </p:childTnLst>
                          </p:cTn>
                        </p:par>
                      </p:childTnLst>
                    </p:cTn>
                  </p:par>
                  <p:par>
                    <p:cTn id="120" fill="hold">
                      <p:stCondLst>
                        <p:cond delay="indefinite"/>
                      </p:stCondLst>
                      <p:childTnLst>
                        <p:par>
                          <p:cTn id="121" fill="hold">
                            <p:stCondLst>
                              <p:cond delay="0"/>
                            </p:stCondLst>
                            <p:childTnLst>
                              <p:par>
                                <p:cTn id="122" presetID="17" presetClass="entr" presetSubtype="8" fill="hold" grpId="0" nodeType="clickEffect">
                                  <p:stCondLst>
                                    <p:cond delay="0"/>
                                  </p:stCondLst>
                                  <p:childTnLst>
                                    <p:set>
                                      <p:cBhvr>
                                        <p:cTn id="123" dur="1" fill="hold">
                                          <p:stCondLst>
                                            <p:cond delay="0"/>
                                          </p:stCondLst>
                                        </p:cTn>
                                        <p:tgtEl>
                                          <p:spTgt spid="642126"/>
                                        </p:tgtEl>
                                        <p:attrNameLst>
                                          <p:attrName>style.visibility</p:attrName>
                                        </p:attrNameLst>
                                      </p:cBhvr>
                                      <p:to>
                                        <p:strVal val="visible"/>
                                      </p:to>
                                    </p:set>
                                    <p:anim calcmode="lin" valueType="num">
                                      <p:cBhvr>
                                        <p:cTn id="124" dur="500" fill="hold"/>
                                        <p:tgtEl>
                                          <p:spTgt spid="642126"/>
                                        </p:tgtEl>
                                        <p:attrNameLst>
                                          <p:attrName>ppt_x</p:attrName>
                                        </p:attrNameLst>
                                      </p:cBhvr>
                                      <p:tavLst>
                                        <p:tav tm="0">
                                          <p:val>
                                            <p:strVal val="#ppt_x-#ppt_w/2"/>
                                          </p:val>
                                        </p:tav>
                                        <p:tav tm="100000">
                                          <p:val>
                                            <p:strVal val="#ppt_x"/>
                                          </p:val>
                                        </p:tav>
                                      </p:tavLst>
                                    </p:anim>
                                    <p:anim calcmode="lin" valueType="num">
                                      <p:cBhvr>
                                        <p:cTn id="125" dur="500" fill="hold"/>
                                        <p:tgtEl>
                                          <p:spTgt spid="642126"/>
                                        </p:tgtEl>
                                        <p:attrNameLst>
                                          <p:attrName>ppt_y</p:attrName>
                                        </p:attrNameLst>
                                      </p:cBhvr>
                                      <p:tavLst>
                                        <p:tav tm="0">
                                          <p:val>
                                            <p:strVal val="#ppt_y"/>
                                          </p:val>
                                        </p:tav>
                                        <p:tav tm="100000">
                                          <p:val>
                                            <p:strVal val="#ppt_y"/>
                                          </p:val>
                                        </p:tav>
                                      </p:tavLst>
                                    </p:anim>
                                    <p:anim calcmode="lin" valueType="num">
                                      <p:cBhvr>
                                        <p:cTn id="126" dur="500" fill="hold"/>
                                        <p:tgtEl>
                                          <p:spTgt spid="642126"/>
                                        </p:tgtEl>
                                        <p:attrNameLst>
                                          <p:attrName>ppt_w</p:attrName>
                                        </p:attrNameLst>
                                      </p:cBhvr>
                                      <p:tavLst>
                                        <p:tav tm="0">
                                          <p:val>
                                            <p:fltVal val="0"/>
                                          </p:val>
                                        </p:tav>
                                        <p:tav tm="100000">
                                          <p:val>
                                            <p:strVal val="#ppt_w"/>
                                          </p:val>
                                        </p:tav>
                                      </p:tavLst>
                                    </p:anim>
                                    <p:anim calcmode="lin" valueType="num">
                                      <p:cBhvr>
                                        <p:cTn id="127" dur="500" fill="hold"/>
                                        <p:tgtEl>
                                          <p:spTgt spid="642126"/>
                                        </p:tgtEl>
                                        <p:attrNameLst>
                                          <p:attrName>ppt_h</p:attrName>
                                        </p:attrNameLst>
                                      </p:cBhvr>
                                      <p:tavLst>
                                        <p:tav tm="0">
                                          <p:val>
                                            <p:strVal val="#ppt_h"/>
                                          </p:val>
                                        </p:tav>
                                        <p:tav tm="100000">
                                          <p:val>
                                            <p:strVal val="#ppt_h"/>
                                          </p:val>
                                        </p:tav>
                                      </p:tavLst>
                                    </p:anim>
                                  </p:childTnLst>
                                </p:cTn>
                              </p:par>
                            </p:childTnLst>
                          </p:cTn>
                        </p:par>
                        <p:par>
                          <p:cTn id="128" fill="hold">
                            <p:stCondLst>
                              <p:cond delay="500"/>
                            </p:stCondLst>
                            <p:childTnLst>
                              <p:par>
                                <p:cTn id="129" presetID="1" presetClass="entr" presetSubtype="0" fill="hold" grpId="0" nodeType="afterEffect">
                                  <p:stCondLst>
                                    <p:cond delay="0"/>
                                  </p:stCondLst>
                                  <p:childTnLst>
                                    <p:set>
                                      <p:cBhvr>
                                        <p:cTn id="130" dur="1" fill="hold">
                                          <p:stCondLst>
                                            <p:cond delay="499"/>
                                          </p:stCondLst>
                                        </p:cTn>
                                        <p:tgtEl>
                                          <p:spTgt spid="642127"/>
                                        </p:tgtEl>
                                        <p:attrNameLst>
                                          <p:attrName>style.visibility</p:attrName>
                                        </p:attrNameLst>
                                      </p:cBhvr>
                                      <p:to>
                                        <p:strVal val="visible"/>
                                      </p:to>
                                    </p:set>
                                  </p:childTnLst>
                                </p:cTn>
                              </p:par>
                            </p:childTnLst>
                          </p:cTn>
                        </p:par>
                        <p:par>
                          <p:cTn id="131" fill="hold">
                            <p:stCondLst>
                              <p:cond delay="1000"/>
                            </p:stCondLst>
                            <p:childTnLst>
                              <p:par>
                                <p:cTn id="132" presetID="22" presetClass="entr" presetSubtype="1" fill="hold" grpId="0" nodeType="afterEffect">
                                  <p:stCondLst>
                                    <p:cond delay="0"/>
                                  </p:stCondLst>
                                  <p:childTnLst>
                                    <p:set>
                                      <p:cBhvr>
                                        <p:cTn id="133" dur="1" fill="hold">
                                          <p:stCondLst>
                                            <p:cond delay="0"/>
                                          </p:stCondLst>
                                        </p:cTn>
                                        <p:tgtEl>
                                          <p:spTgt spid="642129"/>
                                        </p:tgtEl>
                                        <p:attrNameLst>
                                          <p:attrName>style.visibility</p:attrName>
                                        </p:attrNameLst>
                                      </p:cBhvr>
                                      <p:to>
                                        <p:strVal val="visible"/>
                                      </p:to>
                                    </p:set>
                                    <p:animEffect transition="in" filter="wipe(up)">
                                      <p:cBhvr>
                                        <p:cTn id="134" dur="500"/>
                                        <p:tgtEl>
                                          <p:spTgt spid="642129"/>
                                        </p:tgtEl>
                                      </p:cBhvr>
                                    </p:animEffect>
                                  </p:childTnLst>
                                </p:cTn>
                              </p:par>
                            </p:childTnLst>
                          </p:cTn>
                        </p:par>
                      </p:childTnLst>
                    </p:cTn>
                  </p:par>
                  <p:par>
                    <p:cTn id="135" fill="hold">
                      <p:stCondLst>
                        <p:cond delay="indefinite"/>
                      </p:stCondLst>
                      <p:childTnLst>
                        <p:par>
                          <p:cTn id="136" fill="hold">
                            <p:stCondLst>
                              <p:cond delay="0"/>
                            </p:stCondLst>
                            <p:childTnLst>
                              <p:par>
                                <p:cTn id="137" presetID="17" presetClass="entr" presetSubtype="4" fill="hold" nodeType="clickEffect">
                                  <p:stCondLst>
                                    <p:cond delay="0"/>
                                  </p:stCondLst>
                                  <p:childTnLst>
                                    <p:set>
                                      <p:cBhvr>
                                        <p:cTn id="138" dur="1" fill="hold">
                                          <p:stCondLst>
                                            <p:cond delay="0"/>
                                          </p:stCondLst>
                                        </p:cTn>
                                        <p:tgtEl>
                                          <p:spTgt spid="642130"/>
                                        </p:tgtEl>
                                        <p:attrNameLst>
                                          <p:attrName>style.visibility</p:attrName>
                                        </p:attrNameLst>
                                      </p:cBhvr>
                                      <p:to>
                                        <p:strVal val="visible"/>
                                      </p:to>
                                    </p:set>
                                    <p:anim calcmode="lin" valueType="num">
                                      <p:cBhvr>
                                        <p:cTn id="139" dur="500" fill="hold"/>
                                        <p:tgtEl>
                                          <p:spTgt spid="642130"/>
                                        </p:tgtEl>
                                        <p:attrNameLst>
                                          <p:attrName>ppt_x</p:attrName>
                                        </p:attrNameLst>
                                      </p:cBhvr>
                                      <p:tavLst>
                                        <p:tav tm="0">
                                          <p:val>
                                            <p:strVal val="#ppt_x"/>
                                          </p:val>
                                        </p:tav>
                                        <p:tav tm="100000">
                                          <p:val>
                                            <p:strVal val="#ppt_x"/>
                                          </p:val>
                                        </p:tav>
                                      </p:tavLst>
                                    </p:anim>
                                    <p:anim calcmode="lin" valueType="num">
                                      <p:cBhvr>
                                        <p:cTn id="140" dur="500" fill="hold"/>
                                        <p:tgtEl>
                                          <p:spTgt spid="642130"/>
                                        </p:tgtEl>
                                        <p:attrNameLst>
                                          <p:attrName>ppt_y</p:attrName>
                                        </p:attrNameLst>
                                      </p:cBhvr>
                                      <p:tavLst>
                                        <p:tav tm="0">
                                          <p:val>
                                            <p:strVal val="#ppt_y+#ppt_h/2"/>
                                          </p:val>
                                        </p:tav>
                                        <p:tav tm="100000">
                                          <p:val>
                                            <p:strVal val="#ppt_y"/>
                                          </p:val>
                                        </p:tav>
                                      </p:tavLst>
                                    </p:anim>
                                    <p:anim calcmode="lin" valueType="num">
                                      <p:cBhvr>
                                        <p:cTn id="141" dur="500" fill="hold"/>
                                        <p:tgtEl>
                                          <p:spTgt spid="642130"/>
                                        </p:tgtEl>
                                        <p:attrNameLst>
                                          <p:attrName>ppt_w</p:attrName>
                                        </p:attrNameLst>
                                      </p:cBhvr>
                                      <p:tavLst>
                                        <p:tav tm="0">
                                          <p:val>
                                            <p:strVal val="#ppt_w"/>
                                          </p:val>
                                        </p:tav>
                                        <p:tav tm="100000">
                                          <p:val>
                                            <p:strVal val="#ppt_w"/>
                                          </p:val>
                                        </p:tav>
                                      </p:tavLst>
                                    </p:anim>
                                    <p:anim calcmode="lin" valueType="num">
                                      <p:cBhvr>
                                        <p:cTn id="142" dur="500" fill="hold"/>
                                        <p:tgtEl>
                                          <p:spTgt spid="642130"/>
                                        </p:tgtEl>
                                        <p:attrNameLst>
                                          <p:attrName>ppt_h</p:attrName>
                                        </p:attrNameLst>
                                      </p:cBhvr>
                                      <p:tavLst>
                                        <p:tav tm="0">
                                          <p:val>
                                            <p:fltVal val="0"/>
                                          </p:val>
                                        </p:tav>
                                        <p:tav tm="100000">
                                          <p:val>
                                            <p:strVal val="#ppt_h"/>
                                          </p:val>
                                        </p:tav>
                                      </p:tavLst>
                                    </p:anim>
                                  </p:childTnLst>
                                </p:cTn>
                              </p:par>
                            </p:childTnLst>
                          </p:cTn>
                        </p:par>
                        <p:par>
                          <p:cTn id="143" fill="hold">
                            <p:stCondLst>
                              <p:cond delay="500"/>
                            </p:stCondLst>
                            <p:childTnLst>
                              <p:par>
                                <p:cTn id="144" presetID="1" presetClass="entr" presetSubtype="0" fill="hold" grpId="0" nodeType="afterEffect">
                                  <p:stCondLst>
                                    <p:cond delay="0"/>
                                  </p:stCondLst>
                                  <p:childTnLst>
                                    <p:set>
                                      <p:cBhvr>
                                        <p:cTn id="145" dur="1" fill="hold">
                                          <p:stCondLst>
                                            <p:cond delay="499"/>
                                          </p:stCondLst>
                                        </p:cTn>
                                        <p:tgtEl>
                                          <p:spTgt spid="642128"/>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642134"/>
                                        </p:tgtEl>
                                        <p:attrNameLst>
                                          <p:attrName>style.visibility</p:attrName>
                                        </p:attrNameLst>
                                      </p:cBhvr>
                                      <p:to>
                                        <p:strVal val="visible"/>
                                      </p:to>
                                    </p:set>
                                    <p:animEffect transition="in" filter="wipe(left)">
                                      <p:cBhvr>
                                        <p:cTn id="150" dur="500"/>
                                        <p:tgtEl>
                                          <p:spTgt spid="642134"/>
                                        </p:tgtEl>
                                      </p:cBhvr>
                                    </p:animEffect>
                                  </p:childTnLst>
                                </p:cTn>
                              </p:par>
                            </p:childTnLst>
                          </p:cTn>
                        </p:par>
                        <p:par>
                          <p:cTn id="151" fill="hold">
                            <p:stCondLst>
                              <p:cond delay="500"/>
                            </p:stCondLst>
                            <p:childTnLst>
                              <p:par>
                                <p:cTn id="152" presetID="22" presetClass="entr" presetSubtype="8" fill="hold" nodeType="afterEffect">
                                  <p:stCondLst>
                                    <p:cond delay="0"/>
                                  </p:stCondLst>
                                  <p:childTnLst>
                                    <p:set>
                                      <p:cBhvr>
                                        <p:cTn id="153" dur="1" fill="hold">
                                          <p:stCondLst>
                                            <p:cond delay="0"/>
                                          </p:stCondLst>
                                        </p:cTn>
                                        <p:tgtEl>
                                          <p:spTgt spid="19"/>
                                        </p:tgtEl>
                                        <p:attrNameLst>
                                          <p:attrName>style.visibility</p:attrName>
                                        </p:attrNameLst>
                                      </p:cBhvr>
                                      <p:to>
                                        <p:strVal val="visible"/>
                                      </p:to>
                                    </p:set>
                                    <p:animEffect transition="in" filter="wipe(left)">
                                      <p:cBhvr>
                                        <p:cTn id="154" dur="500"/>
                                        <p:tgtEl>
                                          <p:spTgt spid="19"/>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642143"/>
                                        </p:tgtEl>
                                        <p:attrNameLst>
                                          <p:attrName>style.visibility</p:attrName>
                                        </p:attrNameLst>
                                      </p:cBhvr>
                                      <p:to>
                                        <p:strVal val="visible"/>
                                      </p:to>
                                    </p:set>
                                    <p:animEffect transition="in" filter="wipe(left)">
                                      <p:cBhvr>
                                        <p:cTn id="159" dur="500"/>
                                        <p:tgtEl>
                                          <p:spTgt spid="642143"/>
                                        </p:tgtEl>
                                      </p:cBhvr>
                                    </p:animEffect>
                                  </p:childTnLst>
                                </p:cTn>
                              </p:par>
                            </p:childTnLst>
                          </p:cTn>
                        </p:par>
                        <p:par>
                          <p:cTn id="160" fill="hold">
                            <p:stCondLst>
                              <p:cond delay="500"/>
                            </p:stCondLst>
                            <p:childTnLst>
                              <p:par>
                                <p:cTn id="161" presetID="12" presetClass="entr" presetSubtype="8" fill="hold" nodeType="afterEffect">
                                  <p:stCondLst>
                                    <p:cond delay="0"/>
                                  </p:stCondLst>
                                  <p:childTnLst>
                                    <p:set>
                                      <p:cBhvr>
                                        <p:cTn id="162" dur="1" fill="hold">
                                          <p:stCondLst>
                                            <p:cond delay="0"/>
                                          </p:stCondLst>
                                        </p:cTn>
                                        <p:tgtEl>
                                          <p:spTgt spid="20"/>
                                        </p:tgtEl>
                                        <p:attrNameLst>
                                          <p:attrName>style.visibility</p:attrName>
                                        </p:attrNameLst>
                                      </p:cBhvr>
                                      <p:to>
                                        <p:strVal val="visible"/>
                                      </p:to>
                                    </p:set>
                                    <p:animEffect transition="in" filter="slide(fromLeft)">
                                      <p:cBhvr>
                                        <p:cTn id="163" dur="500"/>
                                        <p:tgtEl>
                                          <p:spTgt spid="20"/>
                                        </p:tgtEl>
                                      </p:cBhvr>
                                    </p:animEffect>
                                  </p:childTnLst>
                                </p:cTn>
                              </p:par>
                            </p:childTnLst>
                          </p:cTn>
                        </p:par>
                      </p:childTnLst>
                    </p:cTn>
                  </p:par>
                  <p:par>
                    <p:cTn id="164" fill="hold">
                      <p:stCondLst>
                        <p:cond delay="indefinite"/>
                      </p:stCondLst>
                      <p:childTnLst>
                        <p:par>
                          <p:cTn id="165" fill="hold">
                            <p:stCondLst>
                              <p:cond delay="0"/>
                            </p:stCondLst>
                            <p:childTnLst>
                              <p:par>
                                <p:cTn id="166" presetID="17" presetClass="entr" presetSubtype="8" fill="hold" grpId="0" nodeType="clickEffect">
                                  <p:stCondLst>
                                    <p:cond delay="0"/>
                                  </p:stCondLst>
                                  <p:childTnLst>
                                    <p:set>
                                      <p:cBhvr>
                                        <p:cTn id="167" dur="1" fill="hold">
                                          <p:stCondLst>
                                            <p:cond delay="0"/>
                                          </p:stCondLst>
                                        </p:cTn>
                                        <p:tgtEl>
                                          <p:spTgt spid="642135"/>
                                        </p:tgtEl>
                                        <p:attrNameLst>
                                          <p:attrName>style.visibility</p:attrName>
                                        </p:attrNameLst>
                                      </p:cBhvr>
                                      <p:to>
                                        <p:strVal val="visible"/>
                                      </p:to>
                                    </p:set>
                                    <p:anim calcmode="lin" valueType="num">
                                      <p:cBhvr>
                                        <p:cTn id="168" dur="500" fill="hold"/>
                                        <p:tgtEl>
                                          <p:spTgt spid="642135"/>
                                        </p:tgtEl>
                                        <p:attrNameLst>
                                          <p:attrName>ppt_x</p:attrName>
                                        </p:attrNameLst>
                                      </p:cBhvr>
                                      <p:tavLst>
                                        <p:tav tm="0">
                                          <p:val>
                                            <p:strVal val="#ppt_x-#ppt_w/2"/>
                                          </p:val>
                                        </p:tav>
                                        <p:tav tm="100000">
                                          <p:val>
                                            <p:strVal val="#ppt_x"/>
                                          </p:val>
                                        </p:tav>
                                      </p:tavLst>
                                    </p:anim>
                                    <p:anim calcmode="lin" valueType="num">
                                      <p:cBhvr>
                                        <p:cTn id="169" dur="500" fill="hold"/>
                                        <p:tgtEl>
                                          <p:spTgt spid="642135"/>
                                        </p:tgtEl>
                                        <p:attrNameLst>
                                          <p:attrName>ppt_y</p:attrName>
                                        </p:attrNameLst>
                                      </p:cBhvr>
                                      <p:tavLst>
                                        <p:tav tm="0">
                                          <p:val>
                                            <p:strVal val="#ppt_y"/>
                                          </p:val>
                                        </p:tav>
                                        <p:tav tm="100000">
                                          <p:val>
                                            <p:strVal val="#ppt_y"/>
                                          </p:val>
                                        </p:tav>
                                      </p:tavLst>
                                    </p:anim>
                                    <p:anim calcmode="lin" valueType="num">
                                      <p:cBhvr>
                                        <p:cTn id="170" dur="500" fill="hold"/>
                                        <p:tgtEl>
                                          <p:spTgt spid="642135"/>
                                        </p:tgtEl>
                                        <p:attrNameLst>
                                          <p:attrName>ppt_w</p:attrName>
                                        </p:attrNameLst>
                                      </p:cBhvr>
                                      <p:tavLst>
                                        <p:tav tm="0">
                                          <p:val>
                                            <p:fltVal val="0"/>
                                          </p:val>
                                        </p:tav>
                                        <p:tav tm="100000">
                                          <p:val>
                                            <p:strVal val="#ppt_w"/>
                                          </p:val>
                                        </p:tav>
                                      </p:tavLst>
                                    </p:anim>
                                    <p:anim calcmode="lin" valueType="num">
                                      <p:cBhvr>
                                        <p:cTn id="171" dur="500" fill="hold"/>
                                        <p:tgtEl>
                                          <p:spTgt spid="642135"/>
                                        </p:tgtEl>
                                        <p:attrNameLst>
                                          <p:attrName>ppt_h</p:attrName>
                                        </p:attrNameLst>
                                      </p:cBhvr>
                                      <p:tavLst>
                                        <p:tav tm="0">
                                          <p:val>
                                            <p:strVal val="#ppt_h"/>
                                          </p:val>
                                        </p:tav>
                                        <p:tav tm="100000">
                                          <p:val>
                                            <p:strVal val="#ppt_h"/>
                                          </p:val>
                                        </p:tav>
                                      </p:tavLst>
                                    </p:anim>
                                  </p:childTnLst>
                                </p:cTn>
                              </p:par>
                            </p:childTnLst>
                          </p:cTn>
                        </p:par>
                        <p:par>
                          <p:cTn id="172" fill="hold">
                            <p:stCondLst>
                              <p:cond delay="500"/>
                            </p:stCondLst>
                            <p:childTnLst>
                              <p:par>
                                <p:cTn id="173" presetID="1" presetClass="entr" presetSubtype="0" fill="hold" grpId="0" nodeType="afterEffect">
                                  <p:stCondLst>
                                    <p:cond delay="0"/>
                                  </p:stCondLst>
                                  <p:childTnLst>
                                    <p:set>
                                      <p:cBhvr>
                                        <p:cTn id="174" dur="1" fill="hold">
                                          <p:stCondLst>
                                            <p:cond delay="499"/>
                                          </p:stCondLst>
                                        </p:cTn>
                                        <p:tgtEl>
                                          <p:spTgt spid="642136"/>
                                        </p:tgtEl>
                                        <p:attrNameLst>
                                          <p:attrName>style.visibility</p:attrName>
                                        </p:attrNameLst>
                                      </p:cBhvr>
                                      <p:to>
                                        <p:strVal val="visible"/>
                                      </p:to>
                                    </p:set>
                                  </p:childTnLst>
                                </p:cTn>
                              </p:par>
                            </p:childTnLst>
                          </p:cTn>
                        </p:par>
                        <p:par>
                          <p:cTn id="175" fill="hold">
                            <p:stCondLst>
                              <p:cond delay="1000"/>
                            </p:stCondLst>
                            <p:childTnLst>
                              <p:par>
                                <p:cTn id="176" presetID="17" presetClass="entr" presetSubtype="1" fill="hold" nodeType="afterEffect">
                                  <p:stCondLst>
                                    <p:cond delay="0"/>
                                  </p:stCondLst>
                                  <p:childTnLst>
                                    <p:set>
                                      <p:cBhvr>
                                        <p:cTn id="177" dur="1" fill="hold">
                                          <p:stCondLst>
                                            <p:cond delay="0"/>
                                          </p:stCondLst>
                                        </p:cTn>
                                        <p:tgtEl>
                                          <p:spTgt spid="642137"/>
                                        </p:tgtEl>
                                        <p:attrNameLst>
                                          <p:attrName>style.visibility</p:attrName>
                                        </p:attrNameLst>
                                      </p:cBhvr>
                                      <p:to>
                                        <p:strVal val="visible"/>
                                      </p:to>
                                    </p:set>
                                    <p:anim calcmode="lin" valueType="num">
                                      <p:cBhvr>
                                        <p:cTn id="178" dur="500" fill="hold"/>
                                        <p:tgtEl>
                                          <p:spTgt spid="642137"/>
                                        </p:tgtEl>
                                        <p:attrNameLst>
                                          <p:attrName>ppt_x</p:attrName>
                                        </p:attrNameLst>
                                      </p:cBhvr>
                                      <p:tavLst>
                                        <p:tav tm="0">
                                          <p:val>
                                            <p:strVal val="#ppt_x"/>
                                          </p:val>
                                        </p:tav>
                                        <p:tav tm="100000">
                                          <p:val>
                                            <p:strVal val="#ppt_x"/>
                                          </p:val>
                                        </p:tav>
                                      </p:tavLst>
                                    </p:anim>
                                    <p:anim calcmode="lin" valueType="num">
                                      <p:cBhvr>
                                        <p:cTn id="179" dur="500" fill="hold"/>
                                        <p:tgtEl>
                                          <p:spTgt spid="642137"/>
                                        </p:tgtEl>
                                        <p:attrNameLst>
                                          <p:attrName>ppt_y</p:attrName>
                                        </p:attrNameLst>
                                      </p:cBhvr>
                                      <p:tavLst>
                                        <p:tav tm="0">
                                          <p:val>
                                            <p:strVal val="#ppt_y-#ppt_h/2"/>
                                          </p:val>
                                        </p:tav>
                                        <p:tav tm="100000">
                                          <p:val>
                                            <p:strVal val="#ppt_y"/>
                                          </p:val>
                                        </p:tav>
                                      </p:tavLst>
                                    </p:anim>
                                    <p:anim calcmode="lin" valueType="num">
                                      <p:cBhvr>
                                        <p:cTn id="180" dur="500" fill="hold"/>
                                        <p:tgtEl>
                                          <p:spTgt spid="642137"/>
                                        </p:tgtEl>
                                        <p:attrNameLst>
                                          <p:attrName>ppt_w</p:attrName>
                                        </p:attrNameLst>
                                      </p:cBhvr>
                                      <p:tavLst>
                                        <p:tav tm="0">
                                          <p:val>
                                            <p:strVal val="#ppt_w"/>
                                          </p:val>
                                        </p:tav>
                                        <p:tav tm="100000">
                                          <p:val>
                                            <p:strVal val="#ppt_w"/>
                                          </p:val>
                                        </p:tav>
                                      </p:tavLst>
                                    </p:anim>
                                    <p:anim calcmode="lin" valueType="num">
                                      <p:cBhvr>
                                        <p:cTn id="181" dur="500" fill="hold"/>
                                        <p:tgtEl>
                                          <p:spTgt spid="642137"/>
                                        </p:tgtEl>
                                        <p:attrNameLst>
                                          <p:attrName>ppt_h</p:attrName>
                                        </p:attrNameLst>
                                      </p:cBhvr>
                                      <p:tavLst>
                                        <p:tav tm="0">
                                          <p:val>
                                            <p:fltVal val="0"/>
                                          </p:val>
                                        </p:tav>
                                        <p:tav tm="100000">
                                          <p:val>
                                            <p:strVal val="#ppt_h"/>
                                          </p:val>
                                        </p:tav>
                                      </p:tavLst>
                                    </p:anim>
                                  </p:childTnLst>
                                </p:cTn>
                              </p:par>
                            </p:childTnLst>
                          </p:cTn>
                        </p:par>
                      </p:childTnLst>
                    </p:cTn>
                  </p:par>
                  <p:par>
                    <p:cTn id="182" fill="hold">
                      <p:stCondLst>
                        <p:cond delay="indefinite"/>
                      </p:stCondLst>
                      <p:childTnLst>
                        <p:par>
                          <p:cTn id="183" fill="hold">
                            <p:stCondLst>
                              <p:cond delay="0"/>
                            </p:stCondLst>
                            <p:childTnLst>
                              <p:par>
                                <p:cTn id="184" presetID="22" presetClass="entr" presetSubtype="4" fill="hold" nodeType="clickEffect">
                                  <p:stCondLst>
                                    <p:cond delay="0"/>
                                  </p:stCondLst>
                                  <p:childTnLst>
                                    <p:set>
                                      <p:cBhvr>
                                        <p:cTn id="185" dur="1" fill="hold">
                                          <p:stCondLst>
                                            <p:cond delay="0"/>
                                          </p:stCondLst>
                                        </p:cTn>
                                        <p:tgtEl>
                                          <p:spTgt spid="642139"/>
                                        </p:tgtEl>
                                        <p:attrNameLst>
                                          <p:attrName>style.visibility</p:attrName>
                                        </p:attrNameLst>
                                      </p:cBhvr>
                                      <p:to>
                                        <p:strVal val="visible"/>
                                      </p:to>
                                    </p:set>
                                    <p:animEffect transition="in" filter="wipe(down)">
                                      <p:cBhvr>
                                        <p:cTn id="186" dur="500"/>
                                        <p:tgtEl>
                                          <p:spTgt spid="642139"/>
                                        </p:tgtEl>
                                      </p:cBhvr>
                                    </p:animEffect>
                                  </p:childTnLst>
                                </p:cTn>
                              </p:par>
                            </p:childTnLst>
                          </p:cTn>
                        </p:par>
                        <p:par>
                          <p:cTn id="187" fill="hold">
                            <p:stCondLst>
                              <p:cond delay="500"/>
                            </p:stCondLst>
                            <p:childTnLst>
                              <p:par>
                                <p:cTn id="188" presetID="1" presetClass="entr" presetSubtype="0" fill="hold" grpId="0" nodeType="afterEffect">
                                  <p:stCondLst>
                                    <p:cond delay="0"/>
                                  </p:stCondLst>
                                  <p:childTnLst>
                                    <p:set>
                                      <p:cBhvr>
                                        <p:cTn id="189" dur="1" fill="hold">
                                          <p:stCondLst>
                                            <p:cond delay="499"/>
                                          </p:stCondLst>
                                        </p:cTn>
                                        <p:tgtEl>
                                          <p:spTgt spid="642138"/>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2" presetClass="entr" presetSubtype="8" fill="hold" grpId="0" nodeType="clickEffect">
                                  <p:stCondLst>
                                    <p:cond delay="0"/>
                                  </p:stCondLst>
                                  <p:childTnLst>
                                    <p:set>
                                      <p:cBhvr>
                                        <p:cTn id="193" dur="1" fill="hold">
                                          <p:stCondLst>
                                            <p:cond delay="0"/>
                                          </p:stCondLst>
                                        </p:cTn>
                                        <p:tgtEl>
                                          <p:spTgt spid="642147"/>
                                        </p:tgtEl>
                                        <p:attrNameLst>
                                          <p:attrName>style.visibility</p:attrName>
                                        </p:attrNameLst>
                                      </p:cBhvr>
                                      <p:to>
                                        <p:strVal val="visible"/>
                                      </p:to>
                                    </p:set>
                                    <p:animEffect transition="in" filter="slide(fromLeft)">
                                      <p:cBhvr>
                                        <p:cTn id="194" dur="500"/>
                                        <p:tgtEl>
                                          <p:spTgt spid="642147"/>
                                        </p:tgtEl>
                                      </p:cBhvr>
                                    </p:animEffect>
                                  </p:childTnLst>
                                </p:cTn>
                              </p:par>
                            </p:childTnLst>
                          </p:cTn>
                        </p:par>
                        <p:par>
                          <p:cTn id="195" fill="hold">
                            <p:stCondLst>
                              <p:cond delay="500"/>
                            </p:stCondLst>
                            <p:childTnLst>
                              <p:par>
                                <p:cTn id="196" presetID="12" presetClass="entr" presetSubtype="8" fill="hold" nodeType="afterEffect">
                                  <p:stCondLst>
                                    <p:cond delay="0"/>
                                  </p:stCondLst>
                                  <p:childTnLst>
                                    <p:set>
                                      <p:cBhvr>
                                        <p:cTn id="197" dur="1" fill="hold">
                                          <p:stCondLst>
                                            <p:cond delay="0"/>
                                          </p:stCondLst>
                                        </p:cTn>
                                        <p:tgtEl>
                                          <p:spTgt spid="21"/>
                                        </p:tgtEl>
                                        <p:attrNameLst>
                                          <p:attrName>style.visibility</p:attrName>
                                        </p:attrNameLst>
                                      </p:cBhvr>
                                      <p:to>
                                        <p:strVal val="visible"/>
                                      </p:to>
                                    </p:set>
                                    <p:animEffect transition="in" filter="slide(fromLeft)">
                                      <p:cBhvr>
                                        <p:cTn id="198" dur="500"/>
                                        <p:tgtEl>
                                          <p:spTgt spid="21"/>
                                        </p:tgtEl>
                                      </p:cBhvr>
                                    </p:animEffect>
                                  </p:childTnLst>
                                </p:cTn>
                              </p:par>
                            </p:childTnLst>
                          </p:cTn>
                        </p:par>
                      </p:childTnLst>
                    </p:cTn>
                  </p:par>
                  <p:par>
                    <p:cTn id="199" fill="hold">
                      <p:stCondLst>
                        <p:cond delay="indefinite"/>
                      </p:stCondLst>
                      <p:childTnLst>
                        <p:par>
                          <p:cTn id="200" fill="hold">
                            <p:stCondLst>
                              <p:cond delay="0"/>
                            </p:stCondLst>
                            <p:childTnLst>
                              <p:par>
                                <p:cTn id="201" presetID="12" presetClass="entr" presetSubtype="8" fill="hold" grpId="0" nodeType="clickEffect">
                                  <p:stCondLst>
                                    <p:cond delay="0"/>
                                  </p:stCondLst>
                                  <p:childTnLst>
                                    <p:set>
                                      <p:cBhvr>
                                        <p:cTn id="202" dur="1" fill="hold">
                                          <p:stCondLst>
                                            <p:cond delay="0"/>
                                          </p:stCondLst>
                                        </p:cTn>
                                        <p:tgtEl>
                                          <p:spTgt spid="642153"/>
                                        </p:tgtEl>
                                        <p:attrNameLst>
                                          <p:attrName>style.visibility</p:attrName>
                                        </p:attrNameLst>
                                      </p:cBhvr>
                                      <p:to>
                                        <p:strVal val="visible"/>
                                      </p:to>
                                    </p:set>
                                    <p:animEffect transition="in" filter="slide(fromLeft)">
                                      <p:cBhvr>
                                        <p:cTn id="203" dur="500"/>
                                        <p:tgtEl>
                                          <p:spTgt spid="642153"/>
                                        </p:tgtEl>
                                      </p:cBhvr>
                                    </p:animEffect>
                                  </p:childTnLst>
                                </p:cTn>
                              </p:par>
                            </p:childTnLst>
                          </p:cTn>
                        </p:par>
                        <p:par>
                          <p:cTn id="204" fill="hold">
                            <p:stCondLst>
                              <p:cond delay="500"/>
                            </p:stCondLst>
                            <p:childTnLst>
                              <p:par>
                                <p:cTn id="205" presetID="12" presetClass="entr" presetSubtype="8" fill="hold" nodeType="afterEffect">
                                  <p:stCondLst>
                                    <p:cond delay="0"/>
                                  </p:stCondLst>
                                  <p:childTnLst>
                                    <p:set>
                                      <p:cBhvr>
                                        <p:cTn id="206" dur="1" fill="hold">
                                          <p:stCondLst>
                                            <p:cond delay="0"/>
                                          </p:stCondLst>
                                        </p:cTn>
                                        <p:tgtEl>
                                          <p:spTgt spid="22"/>
                                        </p:tgtEl>
                                        <p:attrNameLst>
                                          <p:attrName>style.visibility</p:attrName>
                                        </p:attrNameLst>
                                      </p:cBhvr>
                                      <p:to>
                                        <p:strVal val="visible"/>
                                      </p:to>
                                    </p:set>
                                    <p:animEffect transition="in" filter="slide(fromLeft)">
                                      <p:cBhvr>
                                        <p:cTn id="207" dur="500"/>
                                        <p:tgtEl>
                                          <p:spTgt spid="22"/>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2" fill="hold" nodeType="clickEffect">
                                  <p:stCondLst>
                                    <p:cond delay="0"/>
                                  </p:stCondLst>
                                  <p:childTnLst>
                                    <p:set>
                                      <p:cBhvr>
                                        <p:cTn id="211" dur="1" fill="hold">
                                          <p:stCondLst>
                                            <p:cond delay="0"/>
                                          </p:stCondLst>
                                        </p:cTn>
                                        <p:tgtEl>
                                          <p:spTgt spid="642156"/>
                                        </p:tgtEl>
                                        <p:attrNameLst>
                                          <p:attrName>style.visibility</p:attrName>
                                        </p:attrNameLst>
                                      </p:cBhvr>
                                      <p:to>
                                        <p:strVal val="visible"/>
                                      </p:to>
                                    </p:set>
                                    <p:animEffect transition="in" filter="wipe(right)">
                                      <p:cBhvr>
                                        <p:cTn id="212" dur="500"/>
                                        <p:tgtEl>
                                          <p:spTgt spid="642156"/>
                                        </p:tgtEl>
                                      </p:cBhvr>
                                    </p:animEffect>
                                  </p:childTnLst>
                                </p:cTn>
                              </p:par>
                            </p:childTnLst>
                          </p:cTn>
                        </p:par>
                        <p:par>
                          <p:cTn id="213" fill="hold">
                            <p:stCondLst>
                              <p:cond delay="500"/>
                            </p:stCondLst>
                            <p:childTnLst>
                              <p:par>
                                <p:cTn id="214" presetID="1" presetClass="entr" presetSubtype="0" fill="hold" grpId="0" nodeType="afterEffect">
                                  <p:stCondLst>
                                    <p:cond delay="0"/>
                                  </p:stCondLst>
                                  <p:childTnLst>
                                    <p:set>
                                      <p:cBhvr>
                                        <p:cTn id="215" dur="1" fill="hold">
                                          <p:stCondLst>
                                            <p:cond delay="499"/>
                                          </p:stCondLst>
                                        </p:cTn>
                                        <p:tgtEl>
                                          <p:spTgt spid="642154"/>
                                        </p:tgtEl>
                                        <p:attrNameLst>
                                          <p:attrName>style.visibility</p:attrName>
                                        </p:attrNameLst>
                                      </p:cBhvr>
                                      <p:to>
                                        <p:strVal val="visible"/>
                                      </p:to>
                                    </p:set>
                                  </p:childTnLst>
                                </p:cTn>
                              </p:par>
                            </p:childTnLst>
                          </p:cTn>
                        </p:par>
                        <p:par>
                          <p:cTn id="216" fill="hold">
                            <p:stCondLst>
                              <p:cond delay="1000"/>
                            </p:stCondLst>
                            <p:childTnLst>
                              <p:par>
                                <p:cTn id="217" presetID="1" presetClass="entr" presetSubtype="0" fill="hold" grpId="0" nodeType="afterEffect">
                                  <p:stCondLst>
                                    <p:cond delay="0"/>
                                  </p:stCondLst>
                                  <p:childTnLst>
                                    <p:set>
                                      <p:cBhvr>
                                        <p:cTn id="218" dur="1" fill="hold">
                                          <p:stCondLst>
                                            <p:cond delay="499"/>
                                          </p:stCondLst>
                                        </p:cTn>
                                        <p:tgtEl>
                                          <p:spTgt spid="642155"/>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2" presetClass="entr" presetSubtype="4" fill="hold" nodeType="clickEffect">
                                  <p:stCondLst>
                                    <p:cond delay="0"/>
                                  </p:stCondLst>
                                  <p:childTnLst>
                                    <p:set>
                                      <p:cBhvr>
                                        <p:cTn id="222" dur="1" fill="hold">
                                          <p:stCondLst>
                                            <p:cond delay="0"/>
                                          </p:stCondLst>
                                        </p:cTn>
                                        <p:tgtEl>
                                          <p:spTgt spid="642149"/>
                                        </p:tgtEl>
                                        <p:attrNameLst>
                                          <p:attrName>style.visibility</p:attrName>
                                        </p:attrNameLst>
                                      </p:cBhvr>
                                      <p:to>
                                        <p:strVal val="visible"/>
                                      </p:to>
                                    </p:set>
                                    <p:animEffect transition="in" filter="wipe(down)">
                                      <p:cBhvr>
                                        <p:cTn id="223" dur="500"/>
                                        <p:tgtEl>
                                          <p:spTgt spid="642149"/>
                                        </p:tgtEl>
                                      </p:cBhvr>
                                    </p:animEffect>
                                  </p:childTnLst>
                                </p:cTn>
                              </p:par>
                            </p:childTnLst>
                          </p:cTn>
                        </p:par>
                        <p:par>
                          <p:cTn id="224" fill="hold">
                            <p:stCondLst>
                              <p:cond delay="500"/>
                            </p:stCondLst>
                            <p:childTnLst>
                              <p:par>
                                <p:cTn id="225" presetID="1" presetClass="entr" presetSubtype="0" fill="hold" grpId="0" nodeType="afterEffect">
                                  <p:stCondLst>
                                    <p:cond delay="0"/>
                                  </p:stCondLst>
                                  <p:childTnLst>
                                    <p:set>
                                      <p:cBhvr>
                                        <p:cTn id="226" dur="1" fill="hold">
                                          <p:stCondLst>
                                            <p:cond delay="499"/>
                                          </p:stCondLst>
                                        </p:cTn>
                                        <p:tgtEl>
                                          <p:spTgt spid="642148"/>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2" presetClass="entr" presetSubtype="1" fill="hold" grpId="0" nodeType="clickEffect">
                                  <p:stCondLst>
                                    <p:cond delay="0"/>
                                  </p:stCondLst>
                                  <p:childTnLst>
                                    <p:set>
                                      <p:cBhvr>
                                        <p:cTn id="230" dur="1" fill="hold">
                                          <p:stCondLst>
                                            <p:cond delay="0"/>
                                          </p:stCondLst>
                                        </p:cTn>
                                        <p:tgtEl>
                                          <p:spTgt spid="642160"/>
                                        </p:tgtEl>
                                        <p:attrNameLst>
                                          <p:attrName>style.visibility</p:attrName>
                                        </p:attrNameLst>
                                      </p:cBhvr>
                                      <p:to>
                                        <p:strVal val="visible"/>
                                      </p:to>
                                    </p:set>
                                    <p:animEffect transition="in" filter="slide(fromTop)">
                                      <p:cBhvr>
                                        <p:cTn id="231" dur="500"/>
                                        <p:tgtEl>
                                          <p:spTgt spid="642160"/>
                                        </p:tgtEl>
                                      </p:cBhvr>
                                    </p:animEffect>
                                  </p:childTnLst>
                                </p:cTn>
                              </p:par>
                            </p:childTnLst>
                          </p:cTn>
                        </p:par>
                        <p:par>
                          <p:cTn id="232" fill="hold">
                            <p:stCondLst>
                              <p:cond delay="500"/>
                            </p:stCondLst>
                            <p:childTnLst>
                              <p:par>
                                <p:cTn id="233" presetID="12" presetClass="entr" presetSubtype="1" fill="hold" nodeType="afterEffect">
                                  <p:stCondLst>
                                    <p:cond delay="0"/>
                                  </p:stCondLst>
                                  <p:childTnLst>
                                    <p:set>
                                      <p:cBhvr>
                                        <p:cTn id="234" dur="1" fill="hold">
                                          <p:stCondLst>
                                            <p:cond delay="0"/>
                                          </p:stCondLst>
                                        </p:cTn>
                                        <p:tgtEl>
                                          <p:spTgt spid="23"/>
                                        </p:tgtEl>
                                        <p:attrNameLst>
                                          <p:attrName>style.visibility</p:attrName>
                                        </p:attrNameLst>
                                      </p:cBhvr>
                                      <p:to>
                                        <p:strVal val="visible"/>
                                      </p:to>
                                    </p:set>
                                    <p:animEffect transition="in" filter="slide(fromTop)">
                                      <p:cBhvr>
                                        <p:cTn id="2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104" grpId="0"/>
      <p:bldP spid="642105" grpId="0"/>
      <p:bldP spid="642111" grpId="0"/>
      <p:bldP spid="642112" grpId="0"/>
      <p:bldP spid="642125" grpId="0" animBg="1"/>
      <p:bldP spid="642126" grpId="0" animBg="1"/>
      <p:bldP spid="642127" grpId="0" animBg="1"/>
      <p:bldP spid="642128" grpId="0" animBg="1"/>
      <p:bldP spid="642129" grpId="0"/>
      <p:bldP spid="642134" grpId="0" animBg="1"/>
      <p:bldP spid="642135" grpId="0" animBg="1"/>
      <p:bldP spid="642136" grpId="0" animBg="1"/>
      <p:bldP spid="642138" grpId="0" animBg="1"/>
      <p:bldP spid="642143" grpId="0" animBg="1"/>
      <p:bldP spid="642147" grpId="0" animBg="1"/>
      <p:bldP spid="642148" grpId="0" animBg="1"/>
      <p:bldP spid="642153" grpId="0" animBg="1"/>
      <p:bldP spid="642154" grpId="0" animBg="1"/>
      <p:bldP spid="642155" grpId="0" animBg="1"/>
      <p:bldP spid="642160" grpId="0" animBg="1"/>
    </p:bldLst>
  </p:timing>
</p:sld>
</file>

<file path=ppt/slides/slide2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8" name="矩形 22"/>
          <p:cNvSpPr/>
          <p:nvPr/>
        </p:nvSpPr>
        <p:spPr>
          <a:xfrm>
            <a:off x="-23812" y="2781300"/>
            <a:ext cx="9188450" cy="407670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90466" name="Rectangle 4"/>
          <p:cNvSpPr>
            <a:spLocks noChangeArrowheads="1"/>
          </p:cNvSpPr>
          <p:nvPr/>
        </p:nvSpPr>
        <p:spPr bwMode="auto">
          <a:xfrm>
            <a:off x="0" y="836613"/>
            <a:ext cx="9144000" cy="1212850"/>
          </a:xfrm>
          <a:prstGeom prst="rect">
            <a:avLst/>
          </a:prstGeom>
          <a:noFill/>
          <a:ln w="9525">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6</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）设计一个算法，通过一趟遍历在单链表中确定</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值最大</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的结点。</a:t>
            </a:r>
          </a:p>
        </p:txBody>
      </p:sp>
      <p:sp>
        <p:nvSpPr>
          <p:cNvPr id="190467" name="Rectangle 6"/>
          <p:cNvSpPr>
            <a:spLocks noChangeArrowheads="1"/>
          </p:cNvSpPr>
          <p:nvPr/>
        </p:nvSpPr>
        <p:spPr bwMode="auto">
          <a:xfrm>
            <a:off x="1187450" y="2995613"/>
            <a:ext cx="7769225" cy="2665413"/>
          </a:xfrm>
          <a:prstGeom prst="rect">
            <a:avLst/>
          </a:prstGeom>
          <a:no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25000"/>
              </a:lnSpc>
              <a:spcBef>
                <a:spcPts val="600"/>
              </a:spcBef>
              <a:spcAft>
                <a:spcPts val="600"/>
              </a:spcAft>
              <a:buClr>
                <a:srgbClr val="FF0000"/>
              </a:buClr>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可假设第一个结点最大，用指针</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pmax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a:t>
            </a:r>
          </a:p>
          <a:p>
            <a:pPr marL="0" marR="0" lvl="0" indent="0" algn="l" defTabSz="914400" rtl="0" eaLnBrk="0" fontAlgn="base" latinLnBrk="0" hangingPunct="0">
              <a:lnSpc>
                <a:spcPct val="125000"/>
              </a:lnSpc>
              <a:spcBef>
                <a:spcPts val="600"/>
              </a:spcBef>
              <a:spcAft>
                <a:spcPts val="600"/>
              </a:spcAft>
              <a:buClr>
                <a:srgbClr val="FF0000"/>
              </a:buClr>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然后用</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pmax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依次和后面的结点进行比较，发现大者则用</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pmax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指向该结点。</a:t>
            </a:r>
          </a:p>
          <a:p>
            <a:pPr marL="0" marR="0" lvl="0" indent="0" algn="l" defTabSz="914400" rtl="0" eaLnBrk="0" fontAlgn="base" latinLnBrk="0" hangingPunct="0">
              <a:lnSpc>
                <a:spcPct val="125000"/>
              </a:lnSpc>
              <a:spcBef>
                <a:spcPts val="600"/>
              </a:spcBef>
              <a:spcAft>
                <a:spcPts val="600"/>
              </a:spcAft>
              <a:buClr>
                <a:srgbClr val="FF0000"/>
              </a:buClr>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这样将链表从头到尾遍历一遍时，</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pmax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所指向的结点就是最大者。</a:t>
            </a:r>
          </a:p>
        </p:txBody>
      </p:sp>
      <p:sp>
        <p:nvSpPr>
          <p:cNvPr id="5"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
        <p:nvSpPr>
          <p:cNvPr id="6" name="Rectangle 6"/>
          <p:cNvSpPr>
            <a:spLocks noChangeArrowheads="1"/>
          </p:cNvSpPr>
          <p:nvPr/>
        </p:nvSpPr>
        <p:spPr bwMode="auto">
          <a:xfrm>
            <a:off x="-23812" y="2178050"/>
            <a:ext cx="9188450" cy="652463"/>
          </a:xfrm>
          <a:prstGeom prst="rect">
            <a:avLst/>
          </a:prstGeom>
          <a:solidFill>
            <a:srgbClr val="9476B6"/>
          </a:solid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类似于求</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n</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个数中的最大数</a:t>
            </a:r>
          </a:p>
        </p:txBody>
      </p:sp>
      <p:grpSp>
        <p:nvGrpSpPr>
          <p:cNvPr id="198663" name="组合 16"/>
          <p:cNvGrpSpPr/>
          <p:nvPr/>
        </p:nvGrpSpPr>
        <p:grpSpPr>
          <a:xfrm>
            <a:off x="303213" y="2917825"/>
            <a:ext cx="657225" cy="663575"/>
            <a:chOff x="4929188" y="1303338"/>
            <a:chExt cx="501650" cy="506412"/>
          </a:xfrm>
        </p:grpSpPr>
        <p:sp>
          <p:nvSpPr>
            <p:cNvPr id="8" name="Freeform 6"/>
            <p:cNvSpPr/>
            <p:nvPr/>
          </p:nvSpPr>
          <p:spPr bwMode="auto">
            <a:xfrm>
              <a:off x="4929188" y="1303338"/>
              <a:ext cx="501650" cy="506412"/>
            </a:xfrm>
            <a:custGeom>
              <a:avLst/>
              <a:gdLst>
                <a:gd name="T0" fmla="*/ 134 w 134"/>
                <a:gd name="T1" fmla="*/ 36 h 135"/>
                <a:gd name="T2" fmla="*/ 134 w 134"/>
                <a:gd name="T3" fmla="*/ 98 h 135"/>
                <a:gd name="T4" fmla="*/ 98 w 134"/>
                <a:gd name="T5" fmla="*/ 135 h 135"/>
                <a:gd name="T6" fmla="*/ 36 w 134"/>
                <a:gd name="T7" fmla="*/ 135 h 135"/>
                <a:gd name="T8" fmla="*/ 0 w 134"/>
                <a:gd name="T9" fmla="*/ 98 h 135"/>
                <a:gd name="T10" fmla="*/ 0 w 134"/>
                <a:gd name="T11" fmla="*/ 36 h 135"/>
                <a:gd name="T12" fmla="*/ 36 w 134"/>
                <a:gd name="T13" fmla="*/ 0 h 135"/>
                <a:gd name="T14" fmla="*/ 134 w 134"/>
                <a:gd name="T15" fmla="*/ 0 h 135"/>
                <a:gd name="T16" fmla="*/ 134 w 134"/>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6"/>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4" y="0"/>
                    <a:pt x="134" y="0"/>
                    <a:pt x="134" y="0"/>
                  </a:cubicBezTo>
                  <a:lnTo>
                    <a:pt x="134" y="36"/>
                  </a:lnTo>
                  <a:close/>
                </a:path>
              </a:pathLst>
            </a:custGeom>
            <a:solidFill>
              <a:srgbClr val="65A5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9" name="Freeform 7"/>
            <p:cNvSpPr/>
            <p:nvPr/>
          </p:nvSpPr>
          <p:spPr bwMode="auto">
            <a:xfrm>
              <a:off x="4995832" y="1359068"/>
              <a:ext cx="371997" cy="205957"/>
            </a:xfrm>
            <a:custGeom>
              <a:avLst/>
              <a:gdLst>
                <a:gd name="T0" fmla="*/ 97 w 99"/>
                <a:gd name="T1" fmla="*/ 44 h 55"/>
                <a:gd name="T2" fmla="*/ 50 w 99"/>
                <a:gd name="T3" fmla="*/ 0 h 55"/>
                <a:gd name="T4" fmla="*/ 3 w 99"/>
                <a:gd name="T5" fmla="*/ 44 h 55"/>
                <a:gd name="T6" fmla="*/ 3 w 99"/>
                <a:gd name="T7" fmla="*/ 53 h 55"/>
                <a:gd name="T8" fmla="*/ 8 w 99"/>
                <a:gd name="T9" fmla="*/ 55 h 55"/>
                <a:gd name="T10" fmla="*/ 12 w 99"/>
                <a:gd name="T11" fmla="*/ 53 h 55"/>
                <a:gd name="T12" fmla="*/ 50 w 99"/>
                <a:gd name="T13" fmla="*/ 18 h 55"/>
                <a:gd name="T14" fmla="*/ 87 w 99"/>
                <a:gd name="T15" fmla="*/ 53 h 55"/>
                <a:gd name="T16" fmla="*/ 92 w 99"/>
                <a:gd name="T17" fmla="*/ 55 h 55"/>
                <a:gd name="T18" fmla="*/ 97 w 99"/>
                <a:gd name="T19" fmla="*/ 53 h 55"/>
                <a:gd name="T20" fmla="*/ 97 w 99"/>
                <a:gd name="T21"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5">
                  <a:moveTo>
                    <a:pt x="97" y="44"/>
                  </a:moveTo>
                  <a:cubicBezTo>
                    <a:pt x="50" y="0"/>
                    <a:pt x="50" y="0"/>
                    <a:pt x="50" y="0"/>
                  </a:cubicBezTo>
                  <a:cubicBezTo>
                    <a:pt x="3" y="44"/>
                    <a:pt x="3" y="44"/>
                    <a:pt x="3" y="44"/>
                  </a:cubicBezTo>
                  <a:cubicBezTo>
                    <a:pt x="1" y="46"/>
                    <a:pt x="0" y="50"/>
                    <a:pt x="3" y="53"/>
                  </a:cubicBezTo>
                  <a:cubicBezTo>
                    <a:pt x="4" y="54"/>
                    <a:pt x="6" y="55"/>
                    <a:pt x="8" y="55"/>
                  </a:cubicBezTo>
                  <a:cubicBezTo>
                    <a:pt x="9" y="55"/>
                    <a:pt x="11" y="54"/>
                    <a:pt x="12" y="53"/>
                  </a:cubicBezTo>
                  <a:cubicBezTo>
                    <a:pt x="50" y="18"/>
                    <a:pt x="50" y="18"/>
                    <a:pt x="50" y="18"/>
                  </a:cubicBezTo>
                  <a:cubicBezTo>
                    <a:pt x="87" y="53"/>
                    <a:pt x="87" y="53"/>
                    <a:pt x="87" y="53"/>
                  </a:cubicBezTo>
                  <a:cubicBezTo>
                    <a:pt x="89" y="54"/>
                    <a:pt x="90" y="55"/>
                    <a:pt x="92" y="55"/>
                  </a:cubicBezTo>
                  <a:cubicBezTo>
                    <a:pt x="94" y="55"/>
                    <a:pt x="96" y="54"/>
                    <a:pt x="97" y="53"/>
                  </a:cubicBezTo>
                  <a:cubicBezTo>
                    <a:pt x="99" y="50"/>
                    <a:pt x="99" y="46"/>
                    <a:pt x="97" y="44"/>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0" name="Freeform 8"/>
            <p:cNvSpPr/>
            <p:nvPr/>
          </p:nvSpPr>
          <p:spPr bwMode="auto">
            <a:xfrm>
              <a:off x="5056418" y="1446296"/>
              <a:ext cx="255672" cy="265322"/>
            </a:xfrm>
            <a:custGeom>
              <a:avLst/>
              <a:gdLst>
                <a:gd name="T0" fmla="*/ 0 w 68"/>
                <a:gd name="T1" fmla="*/ 32 h 71"/>
                <a:gd name="T2" fmla="*/ 0 w 68"/>
                <a:gd name="T3" fmla="*/ 68 h 71"/>
                <a:gd name="T4" fmla="*/ 5 w 68"/>
                <a:gd name="T5" fmla="*/ 71 h 71"/>
                <a:gd name="T6" fmla="*/ 22 w 68"/>
                <a:gd name="T7" fmla="*/ 71 h 71"/>
                <a:gd name="T8" fmla="*/ 22 w 68"/>
                <a:gd name="T9" fmla="*/ 44 h 71"/>
                <a:gd name="T10" fmla="*/ 46 w 68"/>
                <a:gd name="T11" fmla="*/ 44 h 71"/>
                <a:gd name="T12" fmla="*/ 46 w 68"/>
                <a:gd name="T13" fmla="*/ 71 h 71"/>
                <a:gd name="T14" fmla="*/ 63 w 68"/>
                <a:gd name="T15" fmla="*/ 71 h 71"/>
                <a:gd name="T16" fmla="*/ 68 w 68"/>
                <a:gd name="T17" fmla="*/ 68 h 71"/>
                <a:gd name="T18" fmla="*/ 68 w 68"/>
                <a:gd name="T19" fmla="*/ 32 h 71"/>
                <a:gd name="T20" fmla="*/ 34 w 68"/>
                <a:gd name="T21" fmla="*/ 0 h 71"/>
                <a:gd name="T22" fmla="*/ 0 w 68"/>
                <a:gd name="T23"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71">
                  <a:moveTo>
                    <a:pt x="0" y="32"/>
                  </a:moveTo>
                  <a:cubicBezTo>
                    <a:pt x="0" y="68"/>
                    <a:pt x="0" y="68"/>
                    <a:pt x="0" y="68"/>
                  </a:cubicBezTo>
                  <a:cubicBezTo>
                    <a:pt x="0" y="70"/>
                    <a:pt x="2" y="71"/>
                    <a:pt x="5" y="71"/>
                  </a:cubicBezTo>
                  <a:cubicBezTo>
                    <a:pt x="22" y="71"/>
                    <a:pt x="22" y="71"/>
                    <a:pt x="22" y="71"/>
                  </a:cubicBezTo>
                  <a:cubicBezTo>
                    <a:pt x="22" y="44"/>
                    <a:pt x="22" y="44"/>
                    <a:pt x="22" y="44"/>
                  </a:cubicBezTo>
                  <a:cubicBezTo>
                    <a:pt x="46" y="44"/>
                    <a:pt x="46" y="44"/>
                    <a:pt x="46" y="44"/>
                  </a:cubicBezTo>
                  <a:cubicBezTo>
                    <a:pt x="46" y="71"/>
                    <a:pt x="46" y="71"/>
                    <a:pt x="46" y="71"/>
                  </a:cubicBezTo>
                  <a:cubicBezTo>
                    <a:pt x="63" y="71"/>
                    <a:pt x="63" y="71"/>
                    <a:pt x="63" y="71"/>
                  </a:cubicBezTo>
                  <a:cubicBezTo>
                    <a:pt x="66" y="71"/>
                    <a:pt x="68" y="70"/>
                    <a:pt x="68" y="68"/>
                  </a:cubicBezTo>
                  <a:cubicBezTo>
                    <a:pt x="68" y="32"/>
                    <a:pt x="68" y="32"/>
                    <a:pt x="68" y="32"/>
                  </a:cubicBezTo>
                  <a:cubicBezTo>
                    <a:pt x="34" y="0"/>
                    <a:pt x="34" y="0"/>
                    <a:pt x="34" y="0"/>
                  </a:cubicBezTo>
                  <a:lnTo>
                    <a:pt x="0" y="32"/>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grpSp>
        <p:nvGrpSpPr>
          <p:cNvPr id="198664" name="组合 20"/>
          <p:cNvGrpSpPr/>
          <p:nvPr/>
        </p:nvGrpSpPr>
        <p:grpSpPr>
          <a:xfrm>
            <a:off x="296863" y="3781425"/>
            <a:ext cx="663575" cy="661988"/>
            <a:chOff x="1339850" y="2163763"/>
            <a:chExt cx="506413" cy="506412"/>
          </a:xfrm>
        </p:grpSpPr>
        <p:sp>
          <p:nvSpPr>
            <p:cNvPr id="12" name="Freeform 13"/>
            <p:cNvSpPr/>
            <p:nvPr/>
          </p:nvSpPr>
          <p:spPr bwMode="auto">
            <a:xfrm>
              <a:off x="1339850" y="2163763"/>
              <a:ext cx="506413" cy="506412"/>
            </a:xfrm>
            <a:custGeom>
              <a:avLst/>
              <a:gdLst>
                <a:gd name="T0" fmla="*/ 135 w 135"/>
                <a:gd name="T1" fmla="*/ 36 h 135"/>
                <a:gd name="T2" fmla="*/ 135 w 135"/>
                <a:gd name="T3" fmla="*/ 98 h 135"/>
                <a:gd name="T4" fmla="*/ 98 w 135"/>
                <a:gd name="T5" fmla="*/ 135 h 135"/>
                <a:gd name="T6" fmla="*/ 37 w 135"/>
                <a:gd name="T7" fmla="*/ 135 h 135"/>
                <a:gd name="T8" fmla="*/ 0 w 135"/>
                <a:gd name="T9" fmla="*/ 98 h 135"/>
                <a:gd name="T10" fmla="*/ 0 w 135"/>
                <a:gd name="T11" fmla="*/ 36 h 135"/>
                <a:gd name="T12" fmla="*/ 37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7" y="135"/>
                    <a:pt x="37" y="135"/>
                    <a:pt x="37" y="135"/>
                  </a:cubicBezTo>
                  <a:cubicBezTo>
                    <a:pt x="16" y="135"/>
                    <a:pt x="0" y="118"/>
                    <a:pt x="0" y="98"/>
                  </a:cubicBezTo>
                  <a:cubicBezTo>
                    <a:pt x="0" y="36"/>
                    <a:pt x="0" y="36"/>
                    <a:pt x="0" y="36"/>
                  </a:cubicBezTo>
                  <a:cubicBezTo>
                    <a:pt x="0" y="16"/>
                    <a:pt x="16" y="0"/>
                    <a:pt x="37" y="0"/>
                  </a:cubicBezTo>
                  <a:cubicBezTo>
                    <a:pt x="135" y="0"/>
                    <a:pt x="135" y="0"/>
                    <a:pt x="135" y="0"/>
                  </a:cubicBezTo>
                  <a:lnTo>
                    <a:pt x="135" y="36"/>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3" name="Freeform 14"/>
            <p:cNvSpPr/>
            <p:nvPr/>
          </p:nvSpPr>
          <p:spPr bwMode="auto">
            <a:xfrm>
              <a:off x="1499770" y="2276704"/>
              <a:ext cx="176881" cy="104440"/>
            </a:xfrm>
            <a:custGeom>
              <a:avLst/>
              <a:gdLst>
                <a:gd name="T0" fmla="*/ 111 w 111"/>
                <a:gd name="T1" fmla="*/ 0 h 66"/>
                <a:gd name="T2" fmla="*/ 55 w 111"/>
                <a:gd name="T3" fmla="*/ 0 h 66"/>
                <a:gd name="T4" fmla="*/ 55 w 111"/>
                <a:gd name="T5" fmla="*/ 54 h 66"/>
                <a:gd name="T6" fmla="*/ 14 w 111"/>
                <a:gd name="T7" fmla="*/ 54 h 66"/>
                <a:gd name="T8" fmla="*/ 14 w 111"/>
                <a:gd name="T9" fmla="*/ 0 h 66"/>
                <a:gd name="T10" fmla="*/ 0 w 111"/>
                <a:gd name="T11" fmla="*/ 0 h 66"/>
                <a:gd name="T12" fmla="*/ 0 w 111"/>
                <a:gd name="T13" fmla="*/ 66 h 66"/>
                <a:gd name="T14" fmla="*/ 111 w 111"/>
                <a:gd name="T15" fmla="*/ 66 h 66"/>
                <a:gd name="T16" fmla="*/ 111 w 111"/>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66">
                  <a:moveTo>
                    <a:pt x="111" y="0"/>
                  </a:moveTo>
                  <a:lnTo>
                    <a:pt x="55" y="0"/>
                  </a:lnTo>
                  <a:lnTo>
                    <a:pt x="55" y="54"/>
                  </a:lnTo>
                  <a:lnTo>
                    <a:pt x="14" y="54"/>
                  </a:lnTo>
                  <a:lnTo>
                    <a:pt x="14" y="0"/>
                  </a:lnTo>
                  <a:lnTo>
                    <a:pt x="0" y="0"/>
                  </a:lnTo>
                  <a:lnTo>
                    <a:pt x="0" y="66"/>
                  </a:lnTo>
                  <a:lnTo>
                    <a:pt x="111" y="66"/>
                  </a:lnTo>
                  <a:lnTo>
                    <a:pt x="111" y="0"/>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4" name="Freeform 15"/>
            <p:cNvSpPr>
              <a:spLocks noEditPoints="1"/>
            </p:cNvSpPr>
            <p:nvPr/>
          </p:nvSpPr>
          <p:spPr bwMode="auto">
            <a:xfrm>
              <a:off x="1447674" y="2276704"/>
              <a:ext cx="289552" cy="278101"/>
            </a:xfrm>
            <a:custGeom>
              <a:avLst/>
              <a:gdLst>
                <a:gd name="T0" fmla="*/ 72 w 77"/>
                <a:gd name="T1" fmla="*/ 0 h 74"/>
                <a:gd name="T2" fmla="*/ 64 w 77"/>
                <a:gd name="T3" fmla="*/ 0 h 74"/>
                <a:gd name="T4" fmla="*/ 64 w 77"/>
                <a:gd name="T5" fmla="*/ 31 h 74"/>
                <a:gd name="T6" fmla="*/ 10 w 77"/>
                <a:gd name="T7" fmla="*/ 31 h 74"/>
                <a:gd name="T8" fmla="*/ 10 w 77"/>
                <a:gd name="T9" fmla="*/ 0 h 74"/>
                <a:gd name="T10" fmla="*/ 5 w 77"/>
                <a:gd name="T11" fmla="*/ 0 h 74"/>
                <a:gd name="T12" fmla="*/ 0 w 77"/>
                <a:gd name="T13" fmla="*/ 6 h 74"/>
                <a:gd name="T14" fmla="*/ 0 w 77"/>
                <a:gd name="T15" fmla="*/ 68 h 74"/>
                <a:gd name="T16" fmla="*/ 5 w 77"/>
                <a:gd name="T17" fmla="*/ 74 h 74"/>
                <a:gd name="T18" fmla="*/ 72 w 77"/>
                <a:gd name="T19" fmla="*/ 74 h 74"/>
                <a:gd name="T20" fmla="*/ 77 w 77"/>
                <a:gd name="T21" fmla="*/ 68 h 74"/>
                <a:gd name="T22" fmla="*/ 77 w 77"/>
                <a:gd name="T23" fmla="*/ 6 h 74"/>
                <a:gd name="T24" fmla="*/ 72 w 77"/>
                <a:gd name="T25" fmla="*/ 0 h 74"/>
                <a:gd name="T26" fmla="*/ 38 w 77"/>
                <a:gd name="T27" fmla="*/ 65 h 74"/>
                <a:gd name="T28" fmla="*/ 22 w 77"/>
                <a:gd name="T29" fmla="*/ 49 h 74"/>
                <a:gd name="T30" fmla="*/ 38 w 77"/>
                <a:gd name="T31" fmla="*/ 33 h 74"/>
                <a:gd name="T32" fmla="*/ 54 w 77"/>
                <a:gd name="T33" fmla="*/ 49 h 74"/>
                <a:gd name="T34" fmla="*/ 38 w 77"/>
                <a:gd name="T35"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4">
                  <a:moveTo>
                    <a:pt x="72" y="0"/>
                  </a:moveTo>
                  <a:cubicBezTo>
                    <a:pt x="64" y="0"/>
                    <a:pt x="64" y="0"/>
                    <a:pt x="64" y="0"/>
                  </a:cubicBezTo>
                  <a:cubicBezTo>
                    <a:pt x="64" y="31"/>
                    <a:pt x="64" y="31"/>
                    <a:pt x="64" y="31"/>
                  </a:cubicBezTo>
                  <a:cubicBezTo>
                    <a:pt x="10" y="31"/>
                    <a:pt x="10" y="31"/>
                    <a:pt x="10" y="31"/>
                  </a:cubicBezTo>
                  <a:cubicBezTo>
                    <a:pt x="10" y="0"/>
                    <a:pt x="10" y="0"/>
                    <a:pt x="10" y="0"/>
                  </a:cubicBezTo>
                  <a:cubicBezTo>
                    <a:pt x="5" y="0"/>
                    <a:pt x="5" y="0"/>
                    <a:pt x="5" y="0"/>
                  </a:cubicBezTo>
                  <a:cubicBezTo>
                    <a:pt x="2" y="0"/>
                    <a:pt x="0" y="3"/>
                    <a:pt x="0" y="6"/>
                  </a:cubicBezTo>
                  <a:cubicBezTo>
                    <a:pt x="0" y="68"/>
                    <a:pt x="0" y="68"/>
                    <a:pt x="0" y="68"/>
                  </a:cubicBezTo>
                  <a:cubicBezTo>
                    <a:pt x="0" y="72"/>
                    <a:pt x="2" y="74"/>
                    <a:pt x="5" y="74"/>
                  </a:cubicBezTo>
                  <a:cubicBezTo>
                    <a:pt x="72" y="74"/>
                    <a:pt x="72" y="74"/>
                    <a:pt x="72" y="74"/>
                  </a:cubicBezTo>
                  <a:cubicBezTo>
                    <a:pt x="75" y="74"/>
                    <a:pt x="77" y="72"/>
                    <a:pt x="77" y="68"/>
                  </a:cubicBezTo>
                  <a:cubicBezTo>
                    <a:pt x="77" y="6"/>
                    <a:pt x="77" y="6"/>
                    <a:pt x="77" y="6"/>
                  </a:cubicBezTo>
                  <a:cubicBezTo>
                    <a:pt x="77" y="3"/>
                    <a:pt x="75" y="0"/>
                    <a:pt x="72" y="0"/>
                  </a:cubicBezTo>
                  <a:close/>
                  <a:moveTo>
                    <a:pt x="38" y="65"/>
                  </a:moveTo>
                  <a:cubicBezTo>
                    <a:pt x="29" y="65"/>
                    <a:pt x="22" y="58"/>
                    <a:pt x="22" y="49"/>
                  </a:cubicBezTo>
                  <a:cubicBezTo>
                    <a:pt x="22" y="40"/>
                    <a:pt x="29" y="33"/>
                    <a:pt x="38" y="33"/>
                  </a:cubicBezTo>
                  <a:cubicBezTo>
                    <a:pt x="46" y="33"/>
                    <a:pt x="54" y="40"/>
                    <a:pt x="54" y="49"/>
                  </a:cubicBezTo>
                  <a:cubicBezTo>
                    <a:pt x="54" y="58"/>
                    <a:pt x="46" y="65"/>
                    <a:pt x="38" y="65"/>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5" name="Oval 16"/>
            <p:cNvSpPr>
              <a:spLocks noChangeArrowheads="1"/>
            </p:cNvSpPr>
            <p:nvPr/>
          </p:nvSpPr>
          <p:spPr bwMode="auto">
            <a:xfrm>
              <a:off x="1549442" y="2418790"/>
              <a:ext cx="82383" cy="82580"/>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grpSp>
        <p:nvGrpSpPr>
          <p:cNvPr id="198665" name="组合 25"/>
          <p:cNvGrpSpPr/>
          <p:nvPr/>
        </p:nvGrpSpPr>
        <p:grpSpPr>
          <a:xfrm>
            <a:off x="314325" y="4789488"/>
            <a:ext cx="657225" cy="663575"/>
            <a:chOff x="5093055" y="2766720"/>
            <a:chExt cx="501650" cy="506413"/>
          </a:xfrm>
        </p:grpSpPr>
        <p:sp>
          <p:nvSpPr>
            <p:cNvPr id="17" name="Freeform 21"/>
            <p:cNvSpPr/>
            <p:nvPr/>
          </p:nvSpPr>
          <p:spPr bwMode="auto">
            <a:xfrm>
              <a:off x="5093055" y="2766720"/>
              <a:ext cx="501650" cy="506413"/>
            </a:xfrm>
            <a:custGeom>
              <a:avLst/>
              <a:gdLst>
                <a:gd name="T0" fmla="*/ 134 w 134"/>
                <a:gd name="T1" fmla="*/ 37 h 135"/>
                <a:gd name="T2" fmla="*/ 134 w 134"/>
                <a:gd name="T3" fmla="*/ 98 h 135"/>
                <a:gd name="T4" fmla="*/ 98 w 134"/>
                <a:gd name="T5" fmla="*/ 135 h 135"/>
                <a:gd name="T6" fmla="*/ 36 w 134"/>
                <a:gd name="T7" fmla="*/ 135 h 135"/>
                <a:gd name="T8" fmla="*/ 0 w 134"/>
                <a:gd name="T9" fmla="*/ 98 h 135"/>
                <a:gd name="T10" fmla="*/ 0 w 134"/>
                <a:gd name="T11" fmla="*/ 37 h 135"/>
                <a:gd name="T12" fmla="*/ 36 w 134"/>
                <a:gd name="T13" fmla="*/ 0 h 135"/>
                <a:gd name="T14" fmla="*/ 134 w 134"/>
                <a:gd name="T15" fmla="*/ 0 h 135"/>
                <a:gd name="T16" fmla="*/ 134 w 134"/>
                <a:gd name="T17" fmla="*/ 3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7"/>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7"/>
                    <a:pt x="0" y="37"/>
                    <a:pt x="0" y="37"/>
                  </a:cubicBezTo>
                  <a:cubicBezTo>
                    <a:pt x="0" y="16"/>
                    <a:pt x="16" y="0"/>
                    <a:pt x="36" y="0"/>
                  </a:cubicBezTo>
                  <a:cubicBezTo>
                    <a:pt x="134" y="0"/>
                    <a:pt x="134" y="0"/>
                    <a:pt x="134" y="0"/>
                  </a:cubicBezTo>
                  <a:lnTo>
                    <a:pt x="134" y="37"/>
                  </a:lnTo>
                  <a:close/>
                </a:path>
              </a:pathLst>
            </a:cu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mn-lt"/>
                <a:ea typeface="+mn-ea"/>
                <a:cs typeface="+mn-cs"/>
              </a:endParaRPr>
            </a:p>
          </p:txBody>
        </p:sp>
        <p:sp>
          <p:nvSpPr>
            <p:cNvPr id="18" name="Oval 22"/>
            <p:cNvSpPr>
              <a:spLocks noChangeArrowheads="1"/>
            </p:cNvSpPr>
            <p:nvPr/>
          </p:nvSpPr>
          <p:spPr bwMode="auto">
            <a:xfrm>
              <a:off x="5200898" y="3069599"/>
              <a:ext cx="98149" cy="99344"/>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19" name="Freeform 23"/>
            <p:cNvSpPr/>
            <p:nvPr/>
          </p:nvSpPr>
          <p:spPr bwMode="auto">
            <a:xfrm>
              <a:off x="5211803" y="2970254"/>
              <a:ext cx="181757" cy="179304"/>
            </a:xfrm>
            <a:custGeom>
              <a:avLst/>
              <a:gdLst>
                <a:gd name="T0" fmla="*/ 6 w 48"/>
                <a:gd name="T1" fmla="*/ 0 h 48"/>
                <a:gd name="T2" fmla="*/ 0 w 48"/>
                <a:gd name="T3" fmla="*/ 7 h 48"/>
                <a:gd name="T4" fmla="*/ 6 w 48"/>
                <a:gd name="T5" fmla="*/ 13 h 48"/>
                <a:gd name="T6" fmla="*/ 35 w 48"/>
                <a:gd name="T7" fmla="*/ 42 h 48"/>
                <a:gd name="T8" fmla="*/ 42 w 48"/>
                <a:gd name="T9" fmla="*/ 48 h 48"/>
                <a:gd name="T10" fmla="*/ 48 w 48"/>
                <a:gd name="T11" fmla="*/ 42 h 48"/>
                <a:gd name="T12" fmla="*/ 6 w 48"/>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0"/>
                  </a:moveTo>
                  <a:cubicBezTo>
                    <a:pt x="3" y="0"/>
                    <a:pt x="0" y="3"/>
                    <a:pt x="0" y="7"/>
                  </a:cubicBezTo>
                  <a:cubicBezTo>
                    <a:pt x="0" y="10"/>
                    <a:pt x="3" y="13"/>
                    <a:pt x="6" y="13"/>
                  </a:cubicBezTo>
                  <a:cubicBezTo>
                    <a:pt x="22" y="13"/>
                    <a:pt x="35" y="26"/>
                    <a:pt x="35" y="42"/>
                  </a:cubicBezTo>
                  <a:cubicBezTo>
                    <a:pt x="35" y="45"/>
                    <a:pt x="38" y="48"/>
                    <a:pt x="42" y="48"/>
                  </a:cubicBezTo>
                  <a:cubicBezTo>
                    <a:pt x="45" y="48"/>
                    <a:pt x="48" y="45"/>
                    <a:pt x="48" y="42"/>
                  </a:cubicBezTo>
                  <a:cubicBezTo>
                    <a:pt x="48" y="19"/>
                    <a:pt x="29" y="0"/>
                    <a:pt x="6" y="0"/>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sp>
          <p:nvSpPr>
            <p:cNvPr id="20" name="Freeform 24"/>
            <p:cNvSpPr/>
            <p:nvPr/>
          </p:nvSpPr>
          <p:spPr bwMode="auto">
            <a:xfrm>
              <a:off x="5211803" y="2870910"/>
              <a:ext cx="278694" cy="278648"/>
            </a:xfrm>
            <a:custGeom>
              <a:avLst/>
              <a:gdLst>
                <a:gd name="T0" fmla="*/ 6 w 74"/>
                <a:gd name="T1" fmla="*/ 0 h 74"/>
                <a:gd name="T2" fmla="*/ 0 w 74"/>
                <a:gd name="T3" fmla="*/ 7 h 74"/>
                <a:gd name="T4" fmla="*/ 6 w 74"/>
                <a:gd name="T5" fmla="*/ 13 h 74"/>
                <a:gd name="T6" fmla="*/ 61 w 74"/>
                <a:gd name="T7" fmla="*/ 68 h 74"/>
                <a:gd name="T8" fmla="*/ 68 w 74"/>
                <a:gd name="T9" fmla="*/ 74 h 74"/>
                <a:gd name="T10" fmla="*/ 74 w 74"/>
                <a:gd name="T11" fmla="*/ 68 h 74"/>
                <a:gd name="T12" fmla="*/ 6 w 74"/>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74" h="74">
                  <a:moveTo>
                    <a:pt x="6" y="0"/>
                  </a:moveTo>
                  <a:cubicBezTo>
                    <a:pt x="3" y="0"/>
                    <a:pt x="0" y="3"/>
                    <a:pt x="0" y="7"/>
                  </a:cubicBezTo>
                  <a:cubicBezTo>
                    <a:pt x="0" y="10"/>
                    <a:pt x="3" y="13"/>
                    <a:pt x="6" y="13"/>
                  </a:cubicBezTo>
                  <a:cubicBezTo>
                    <a:pt x="37" y="13"/>
                    <a:pt x="61" y="38"/>
                    <a:pt x="61" y="68"/>
                  </a:cubicBezTo>
                  <a:cubicBezTo>
                    <a:pt x="61" y="71"/>
                    <a:pt x="64" y="74"/>
                    <a:pt x="68" y="74"/>
                  </a:cubicBezTo>
                  <a:cubicBezTo>
                    <a:pt x="71" y="74"/>
                    <a:pt x="74" y="71"/>
                    <a:pt x="74" y="68"/>
                  </a:cubicBezTo>
                  <a:cubicBezTo>
                    <a:pt x="74" y="30"/>
                    <a:pt x="44" y="0"/>
                    <a:pt x="6" y="0"/>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mn-lt"/>
                <a:ea typeface="+mn-ea"/>
                <a:cs typeface="+mn-cs"/>
              </a:endParaRPr>
            </a:p>
          </p:txBody>
        </p:sp>
      </p:grpSp>
      <p:sp>
        <p:nvSpPr>
          <p:cNvPr id="21" name="Rectangle 6"/>
          <p:cNvSpPr>
            <a:spLocks noChangeArrowheads="1"/>
          </p:cNvSpPr>
          <p:nvPr/>
        </p:nvSpPr>
        <p:spPr bwMode="auto">
          <a:xfrm>
            <a:off x="20638" y="5732463"/>
            <a:ext cx="9144000" cy="1081088"/>
          </a:xfrm>
          <a:prstGeom prst="rect">
            <a:avLst/>
          </a:prstGeom>
          <a:no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      其中的比较语句形式如下：</a:t>
            </a:r>
          </a:p>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      if(p-&gt;data &gt; </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pmax</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-&gt;data) </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pmax</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=p;</a:t>
            </a:r>
          </a:p>
        </p:txBody>
      </p:sp>
      <p:sp>
        <p:nvSpPr>
          <p:cNvPr id="198667" name="矩形 23"/>
          <p:cNvSpPr/>
          <p:nvPr/>
        </p:nvSpPr>
        <p:spPr>
          <a:xfrm>
            <a:off x="-23812" y="5661025"/>
            <a:ext cx="9188450"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3080" name="Rectangle 8"/>
          <p:cNvSpPr>
            <a:spLocks noChangeArrowheads="1"/>
          </p:cNvSpPr>
          <p:nvPr/>
        </p:nvSpPr>
        <p:spPr bwMode="auto">
          <a:xfrm>
            <a:off x="0" y="2239963"/>
            <a:ext cx="4500563" cy="2413000"/>
          </a:xfrm>
          <a:prstGeom prst="rect">
            <a:avLst/>
          </a:prstGeom>
          <a:solidFill>
            <a:srgbClr val="EBEBEB"/>
          </a:solid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7</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）设计一个算法，通过一趟遍历，将链表中所有结点的链接方向逆转，且仍利用原表的存储空间。</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91492" name="Rectangle 10"/>
          <p:cNvSpPr>
            <a:spLocks noChangeArrowheads="1"/>
          </p:cNvSpPr>
          <p:nvPr/>
        </p:nvSpPr>
        <p:spPr bwMode="auto">
          <a:xfrm>
            <a:off x="4751388" y="2239963"/>
            <a:ext cx="4406900" cy="1717675"/>
          </a:xfrm>
          <a:prstGeom prst="rect">
            <a:avLst/>
          </a:prstGeom>
          <a:solidFill>
            <a:srgbClr val="E2D9EB"/>
          </a:solidFill>
          <a:ln w="38100">
            <a:noFill/>
            <a:miter lim="800000"/>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 typeface="Wingdings" panose="05000000000000000000" pitchFamily="2" charset="2"/>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从首元结点开始，逐个地把链表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的当前结点</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p</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插入新的链表头部</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
        <p:nvSpPr>
          <p:cNvPr id="199685" name="矩形 1"/>
          <p:cNvSpPr/>
          <p:nvPr/>
        </p:nvSpPr>
        <p:spPr>
          <a:xfrm>
            <a:off x="4751388" y="4049713"/>
            <a:ext cx="4392612" cy="144462"/>
          </a:xfrm>
          <a:prstGeom prst="rect">
            <a:avLst/>
          </a:prstGeom>
          <a:solidFill>
            <a:srgbClr val="E2D9EB"/>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99686" name="矩形 8"/>
          <p:cNvSpPr/>
          <p:nvPr/>
        </p:nvSpPr>
        <p:spPr>
          <a:xfrm>
            <a:off x="4751388" y="4286250"/>
            <a:ext cx="4392612" cy="144463"/>
          </a:xfrm>
          <a:prstGeom prst="rect">
            <a:avLst/>
          </a:prstGeom>
          <a:solidFill>
            <a:srgbClr val="E2D9EB"/>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99687" name="矩形 9"/>
          <p:cNvSpPr/>
          <p:nvPr/>
        </p:nvSpPr>
        <p:spPr>
          <a:xfrm>
            <a:off x="4751388" y="4508500"/>
            <a:ext cx="4392612" cy="144463"/>
          </a:xfrm>
          <a:prstGeom prst="rect">
            <a:avLst/>
          </a:prstGeom>
          <a:solidFill>
            <a:srgbClr val="E2D9EB"/>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1" name="Shape 26"/>
          <p:cNvSpPr/>
          <p:nvPr/>
        </p:nvSpPr>
        <p:spPr bwMode="auto">
          <a:xfrm flipH="1">
            <a:off x="0" y="5899150"/>
            <a:ext cx="9144000" cy="973138"/>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chemeClr val="dk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43080"/>
                                        </p:tgtEl>
                                        <p:attrNameLst>
                                          <p:attrName>style.visibility</p:attrName>
                                        </p:attrNameLst>
                                      </p:cBhvr>
                                      <p:to>
                                        <p:strVal val="visible"/>
                                      </p:to>
                                    </p:set>
                                    <p:animEffect transition="in" filter="box(in)">
                                      <p:cBhvr>
                                        <p:cTn id="7" dur="500"/>
                                        <p:tgtEl>
                                          <p:spTgt spid="64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80" grpId="0" animBg="1"/>
    </p:bldLst>
  </p:timing>
</p:sld>
</file>

<file path=ppt/slides/slide2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2514" name="Rectangle 4"/>
          <p:cNvSpPr>
            <a:spLocks noChangeArrowheads="1"/>
          </p:cNvSpPr>
          <p:nvPr/>
        </p:nvSpPr>
        <p:spPr bwMode="auto">
          <a:xfrm>
            <a:off x="1377950" y="1766888"/>
            <a:ext cx="1143000" cy="533400"/>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15" name="Line 5"/>
          <p:cNvSpPr>
            <a:spLocks noChangeShapeType="1"/>
          </p:cNvSpPr>
          <p:nvPr/>
        </p:nvSpPr>
        <p:spPr bwMode="auto">
          <a:xfrm>
            <a:off x="2139950" y="1766888"/>
            <a:ext cx="0" cy="533400"/>
          </a:xfrm>
          <a:prstGeom prst="line">
            <a:avLst/>
          </a:prstGeom>
          <a:noFill/>
          <a:ln w="9525">
            <a:solidFill>
              <a:srgbClr val="CC66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16" name="Text Box 6"/>
          <p:cNvSpPr txBox="1">
            <a:spLocks noChangeArrowheads="1"/>
          </p:cNvSpPr>
          <p:nvPr/>
        </p:nvSpPr>
        <p:spPr bwMode="auto">
          <a:xfrm>
            <a:off x="2901950" y="1758950"/>
            <a:ext cx="762000" cy="541338"/>
          </a:xfrm>
          <a:prstGeom prst="rect">
            <a:avLst/>
          </a:prstGeom>
          <a:solidFill>
            <a:srgbClr val="FFFF99">
              <a:alpha val="50195"/>
            </a:srgbClr>
          </a:solidFill>
          <a:ln w="22225">
            <a:solidFill>
              <a:srgbClr val="FF66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17" name="Rectangle 7"/>
          <p:cNvSpPr>
            <a:spLocks noChangeArrowheads="1"/>
          </p:cNvSpPr>
          <p:nvPr/>
        </p:nvSpPr>
        <p:spPr bwMode="auto">
          <a:xfrm>
            <a:off x="3663950" y="1774825"/>
            <a:ext cx="381000" cy="525463"/>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18" name="Text Box 8"/>
          <p:cNvSpPr txBox="1">
            <a:spLocks noChangeArrowheads="1"/>
          </p:cNvSpPr>
          <p:nvPr/>
        </p:nvSpPr>
        <p:spPr bwMode="auto">
          <a:xfrm>
            <a:off x="4502150" y="1766888"/>
            <a:ext cx="762000" cy="541338"/>
          </a:xfrm>
          <a:prstGeom prst="rect">
            <a:avLst/>
          </a:prstGeom>
          <a:solidFill>
            <a:srgbClr val="FFFF99">
              <a:alpha val="50195"/>
            </a:srgbClr>
          </a:solidFill>
          <a:ln w="22225">
            <a:solidFill>
              <a:srgbClr val="FF66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2</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19" name="Rectangle 9"/>
          <p:cNvSpPr>
            <a:spLocks noChangeArrowheads="1"/>
          </p:cNvSpPr>
          <p:nvPr/>
        </p:nvSpPr>
        <p:spPr bwMode="auto">
          <a:xfrm>
            <a:off x="5264150" y="1766888"/>
            <a:ext cx="381000" cy="541338"/>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0" name="Text Box 10"/>
          <p:cNvSpPr txBox="1">
            <a:spLocks noChangeArrowheads="1"/>
          </p:cNvSpPr>
          <p:nvPr/>
        </p:nvSpPr>
        <p:spPr bwMode="auto">
          <a:xfrm>
            <a:off x="6102350" y="1766888"/>
            <a:ext cx="762000" cy="541338"/>
          </a:xfrm>
          <a:prstGeom prst="rect">
            <a:avLst/>
          </a:prstGeom>
          <a:solidFill>
            <a:srgbClr val="FFFF99">
              <a:alpha val="50195"/>
            </a:srgbClr>
          </a:solidFill>
          <a:ln w="22225">
            <a:solidFill>
              <a:srgbClr val="FF66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3</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1" name="Rectangle 11"/>
          <p:cNvSpPr>
            <a:spLocks noChangeArrowheads="1"/>
          </p:cNvSpPr>
          <p:nvPr/>
        </p:nvSpPr>
        <p:spPr bwMode="auto">
          <a:xfrm>
            <a:off x="6864350" y="1844675"/>
            <a:ext cx="381000" cy="541338"/>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2" name="Line 12"/>
          <p:cNvSpPr>
            <a:spLocks noChangeShapeType="1"/>
          </p:cNvSpPr>
          <p:nvPr/>
        </p:nvSpPr>
        <p:spPr bwMode="auto">
          <a:xfrm>
            <a:off x="2368550" y="2071688"/>
            <a:ext cx="533400" cy="0"/>
          </a:xfrm>
          <a:prstGeom prst="line">
            <a:avLst/>
          </a:prstGeom>
          <a:noFill/>
          <a:ln w="22225">
            <a:solidFill>
              <a:srgbClr val="CC66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3" name="Line 13"/>
          <p:cNvSpPr>
            <a:spLocks noChangeShapeType="1"/>
          </p:cNvSpPr>
          <p:nvPr/>
        </p:nvSpPr>
        <p:spPr bwMode="auto">
          <a:xfrm>
            <a:off x="5492750" y="2071688"/>
            <a:ext cx="685800" cy="0"/>
          </a:xfrm>
          <a:prstGeom prst="line">
            <a:avLst/>
          </a:prstGeom>
          <a:noFill/>
          <a:ln w="22225">
            <a:solidFill>
              <a:srgbClr val="CC66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4" name="Line 14"/>
          <p:cNvSpPr>
            <a:spLocks noChangeShapeType="1"/>
          </p:cNvSpPr>
          <p:nvPr/>
        </p:nvSpPr>
        <p:spPr bwMode="auto">
          <a:xfrm>
            <a:off x="3816350" y="2079625"/>
            <a:ext cx="685800" cy="0"/>
          </a:xfrm>
          <a:prstGeom prst="line">
            <a:avLst/>
          </a:prstGeom>
          <a:noFill/>
          <a:ln w="22225">
            <a:solidFill>
              <a:srgbClr val="CC66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5" name="Text Box 15"/>
          <p:cNvSpPr txBox="1">
            <a:spLocks noChangeArrowheads="1"/>
          </p:cNvSpPr>
          <p:nvPr/>
        </p:nvSpPr>
        <p:spPr bwMode="auto">
          <a:xfrm>
            <a:off x="6864350" y="1766888"/>
            <a:ext cx="228600" cy="519113"/>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6" name="Line 16"/>
          <p:cNvSpPr>
            <a:spLocks noChangeShapeType="1"/>
          </p:cNvSpPr>
          <p:nvPr/>
        </p:nvSpPr>
        <p:spPr bwMode="auto">
          <a:xfrm>
            <a:off x="692150" y="1546225"/>
            <a:ext cx="0" cy="457200"/>
          </a:xfrm>
          <a:prstGeom prst="line">
            <a:avLst/>
          </a:prstGeom>
          <a:noFill/>
          <a:ln w="9525">
            <a:solidFill>
              <a:srgbClr val="CC66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7" name="Line 17"/>
          <p:cNvSpPr>
            <a:spLocks noChangeShapeType="1"/>
          </p:cNvSpPr>
          <p:nvPr/>
        </p:nvSpPr>
        <p:spPr bwMode="auto">
          <a:xfrm>
            <a:off x="692150" y="2003425"/>
            <a:ext cx="685800" cy="0"/>
          </a:xfrm>
          <a:prstGeom prst="line">
            <a:avLst/>
          </a:prstGeom>
          <a:noFill/>
          <a:ln w="25400">
            <a:solidFill>
              <a:srgbClr val="CC66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28" name="Text Box 18"/>
          <p:cNvSpPr txBox="1">
            <a:spLocks noChangeArrowheads="1"/>
          </p:cNvSpPr>
          <p:nvPr/>
        </p:nvSpPr>
        <p:spPr bwMode="auto">
          <a:xfrm>
            <a:off x="234950" y="1209675"/>
            <a:ext cx="463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rgbClr val="800000"/>
                </a:solidFill>
                <a:effectLst/>
                <a:uLnTx/>
                <a:uFillTx/>
                <a:latin typeface="+mn-lt"/>
                <a:ea typeface="+mn-ea"/>
                <a:cs typeface="+mn-ea"/>
                <a:sym typeface="+mn-lt"/>
              </a:rPr>
              <a:t>L</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 name="Group 19"/>
          <p:cNvGrpSpPr/>
          <p:nvPr/>
        </p:nvGrpSpPr>
        <p:grpSpPr>
          <a:xfrm>
            <a:off x="1530350" y="3984625"/>
            <a:ext cx="1143000" cy="533400"/>
            <a:chOff x="1056" y="2544"/>
            <a:chExt cx="720" cy="336"/>
          </a:xfrm>
        </p:grpSpPr>
        <p:sp>
          <p:nvSpPr>
            <p:cNvPr id="192583" name="Rectangle 20"/>
            <p:cNvSpPr>
              <a:spLocks noChangeArrowheads="1"/>
            </p:cNvSpPr>
            <p:nvPr/>
          </p:nvSpPr>
          <p:spPr bwMode="auto">
            <a:xfrm>
              <a:off x="1056" y="2544"/>
              <a:ext cx="720" cy="336"/>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84" name="Line 21"/>
            <p:cNvSpPr>
              <a:spLocks noChangeShapeType="1"/>
            </p:cNvSpPr>
            <p:nvPr/>
          </p:nvSpPr>
          <p:spPr bwMode="auto">
            <a:xfrm>
              <a:off x="1536" y="2544"/>
              <a:ext cx="0" cy="336"/>
            </a:xfrm>
            <a:prstGeom prst="line">
              <a:avLst/>
            </a:prstGeom>
            <a:noFill/>
            <a:ln w="9525">
              <a:solidFill>
                <a:srgbClr val="CC66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22"/>
          <p:cNvGrpSpPr/>
          <p:nvPr/>
        </p:nvGrpSpPr>
        <p:grpSpPr>
          <a:xfrm>
            <a:off x="387350" y="3427413"/>
            <a:ext cx="1143000" cy="793750"/>
            <a:chOff x="336" y="2193"/>
            <a:chExt cx="720" cy="500"/>
          </a:xfrm>
        </p:grpSpPr>
        <p:sp>
          <p:nvSpPr>
            <p:cNvPr id="192580" name="Line 23"/>
            <p:cNvSpPr>
              <a:spLocks noChangeShapeType="1"/>
            </p:cNvSpPr>
            <p:nvPr/>
          </p:nvSpPr>
          <p:spPr bwMode="auto">
            <a:xfrm>
              <a:off x="624" y="2693"/>
              <a:ext cx="432" cy="0"/>
            </a:xfrm>
            <a:prstGeom prst="line">
              <a:avLst/>
            </a:prstGeom>
            <a:noFill/>
            <a:ln w="25400">
              <a:solidFill>
                <a:srgbClr val="CC66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81" name="Line 24"/>
            <p:cNvSpPr>
              <a:spLocks noChangeShapeType="1"/>
            </p:cNvSpPr>
            <p:nvPr/>
          </p:nvSpPr>
          <p:spPr bwMode="auto">
            <a:xfrm>
              <a:off x="624" y="2405"/>
              <a:ext cx="0" cy="288"/>
            </a:xfrm>
            <a:prstGeom prst="line">
              <a:avLst/>
            </a:prstGeom>
            <a:noFill/>
            <a:ln w="9525">
              <a:solidFill>
                <a:srgbClr val="CC66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82" name="Text Box 25"/>
            <p:cNvSpPr txBox="1">
              <a:spLocks noChangeArrowheads="1"/>
            </p:cNvSpPr>
            <p:nvPr/>
          </p:nvSpPr>
          <p:spPr bwMode="auto">
            <a:xfrm>
              <a:off x="336" y="2193"/>
              <a:ext cx="2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rgbClr val="800000"/>
                  </a:solidFill>
                  <a:effectLst/>
                  <a:uLnTx/>
                  <a:uFillTx/>
                  <a:latin typeface="+mn-lt"/>
                  <a:ea typeface="+mn-ea"/>
                  <a:cs typeface="+mn-ea"/>
                  <a:sym typeface="+mn-lt"/>
                </a:rPr>
                <a:t>L</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82010" name="Rectangle 26"/>
          <p:cNvSpPr>
            <a:spLocks noChangeArrowheads="1"/>
          </p:cNvSpPr>
          <p:nvPr/>
        </p:nvSpPr>
        <p:spPr bwMode="auto">
          <a:xfrm>
            <a:off x="234950" y="1317625"/>
            <a:ext cx="2667000" cy="12954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1" name="Line 27"/>
          <p:cNvSpPr>
            <a:spLocks noChangeShapeType="1"/>
          </p:cNvSpPr>
          <p:nvPr/>
        </p:nvSpPr>
        <p:spPr bwMode="auto">
          <a:xfrm>
            <a:off x="3206750" y="1012825"/>
            <a:ext cx="0" cy="76200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2" name="Text Box 28"/>
          <p:cNvSpPr txBox="1">
            <a:spLocks noChangeArrowheads="1"/>
          </p:cNvSpPr>
          <p:nvPr/>
        </p:nvSpPr>
        <p:spPr bwMode="auto">
          <a:xfrm>
            <a:off x="2870200" y="752475"/>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rgbClr val="FF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3" name="Text Box 29"/>
          <p:cNvSpPr txBox="1">
            <a:spLocks noChangeArrowheads="1"/>
          </p:cNvSpPr>
          <p:nvPr/>
        </p:nvSpPr>
        <p:spPr bwMode="auto">
          <a:xfrm>
            <a:off x="2289175" y="3868738"/>
            <a:ext cx="646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rgbClr val="800000"/>
                </a:solidFill>
                <a:effectLst/>
                <a:uLnTx/>
                <a:uFillTx/>
                <a:latin typeface="+mn-lt"/>
                <a:ea typeface="+mn-ea"/>
                <a:cs typeface="+mn-ea"/>
                <a:sym typeface="+mn-lt"/>
              </a:rPr>
              <a:t></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4" name="Text Box 30"/>
          <p:cNvSpPr txBox="1">
            <a:spLocks noChangeArrowheads="1"/>
          </p:cNvSpPr>
          <p:nvPr/>
        </p:nvSpPr>
        <p:spPr bwMode="auto">
          <a:xfrm>
            <a:off x="6026150" y="3984625"/>
            <a:ext cx="762000" cy="541338"/>
          </a:xfrm>
          <a:prstGeom prst="rect">
            <a:avLst/>
          </a:prstGeom>
          <a:solidFill>
            <a:srgbClr val="FFFF99">
              <a:alpha val="50195"/>
            </a:srgbClr>
          </a:solidFill>
          <a:ln w="22225">
            <a:solidFill>
              <a:srgbClr val="FF66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5" name="Rectangle 31"/>
          <p:cNvSpPr>
            <a:spLocks noChangeArrowheads="1"/>
          </p:cNvSpPr>
          <p:nvPr/>
        </p:nvSpPr>
        <p:spPr bwMode="auto">
          <a:xfrm>
            <a:off x="6788150" y="3992563"/>
            <a:ext cx="381000" cy="533400"/>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6" name="Text Box 32"/>
          <p:cNvSpPr txBox="1">
            <a:spLocks noChangeArrowheads="1"/>
          </p:cNvSpPr>
          <p:nvPr/>
        </p:nvSpPr>
        <p:spPr bwMode="auto">
          <a:xfrm>
            <a:off x="6788150" y="3989388"/>
            <a:ext cx="304800" cy="519113"/>
          </a:xfrm>
          <a:prstGeom prst="rect">
            <a:avLst/>
          </a:prstGeom>
          <a:solidFill>
            <a:srgbClr val="FFFF99">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rgbClr val="FF0000"/>
                </a:solidFill>
                <a:effectLst/>
                <a:uLnTx/>
                <a:uFillTx/>
                <a:latin typeface="+mn-lt"/>
                <a:ea typeface="+mn-ea"/>
                <a:cs typeface="+mn-ea"/>
                <a:sym typeface="+mn-lt"/>
              </a:rPr>
              <a:t></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17" name="Line 33"/>
          <p:cNvSpPr>
            <a:spLocks noChangeShapeType="1"/>
          </p:cNvSpPr>
          <p:nvPr/>
        </p:nvSpPr>
        <p:spPr bwMode="auto">
          <a:xfrm>
            <a:off x="2444750" y="4289425"/>
            <a:ext cx="3581400" cy="0"/>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4" name="Group 34"/>
          <p:cNvGrpSpPr/>
          <p:nvPr/>
        </p:nvGrpSpPr>
        <p:grpSpPr>
          <a:xfrm>
            <a:off x="4730750" y="784225"/>
            <a:ext cx="412750" cy="1022350"/>
            <a:chOff x="3072" y="528"/>
            <a:chExt cx="260" cy="644"/>
          </a:xfrm>
        </p:grpSpPr>
        <p:sp>
          <p:nvSpPr>
            <p:cNvPr id="192578" name="Line 35"/>
            <p:cNvSpPr>
              <a:spLocks noChangeShapeType="1"/>
            </p:cNvSpPr>
            <p:nvPr/>
          </p:nvSpPr>
          <p:spPr bwMode="auto">
            <a:xfrm>
              <a:off x="3332" y="692"/>
              <a:ext cx="0" cy="48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79" name="Text Box 36"/>
            <p:cNvSpPr txBox="1">
              <a:spLocks noChangeArrowheads="1"/>
            </p:cNvSpPr>
            <p:nvPr/>
          </p:nvSpPr>
          <p:spPr bwMode="auto">
            <a:xfrm>
              <a:off x="3072" y="528"/>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rgbClr val="FF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82021" name="Rectangle 37"/>
          <p:cNvSpPr>
            <a:spLocks noChangeArrowheads="1"/>
          </p:cNvSpPr>
          <p:nvPr/>
        </p:nvSpPr>
        <p:spPr bwMode="auto">
          <a:xfrm>
            <a:off x="2520950" y="860425"/>
            <a:ext cx="1066800" cy="9144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82022" name="Rectangle 38"/>
          <p:cNvSpPr>
            <a:spLocks noChangeArrowheads="1"/>
          </p:cNvSpPr>
          <p:nvPr/>
        </p:nvSpPr>
        <p:spPr bwMode="auto">
          <a:xfrm>
            <a:off x="2825750" y="1698625"/>
            <a:ext cx="1600200" cy="1066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5" name="Group 39"/>
          <p:cNvGrpSpPr/>
          <p:nvPr/>
        </p:nvGrpSpPr>
        <p:grpSpPr>
          <a:xfrm>
            <a:off x="5746750" y="784225"/>
            <a:ext cx="577850" cy="1022350"/>
            <a:chOff x="3452" y="528"/>
            <a:chExt cx="624" cy="644"/>
          </a:xfrm>
        </p:grpSpPr>
        <p:sp>
          <p:nvSpPr>
            <p:cNvPr id="192576" name="Line 40"/>
            <p:cNvSpPr>
              <a:spLocks noChangeShapeType="1"/>
            </p:cNvSpPr>
            <p:nvPr/>
          </p:nvSpPr>
          <p:spPr bwMode="auto">
            <a:xfrm>
              <a:off x="4076" y="692"/>
              <a:ext cx="0" cy="48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77" name="Text Box 41"/>
            <p:cNvSpPr txBox="1">
              <a:spLocks noChangeArrowheads="1"/>
            </p:cNvSpPr>
            <p:nvPr/>
          </p:nvSpPr>
          <p:spPr bwMode="auto">
            <a:xfrm>
              <a:off x="3452" y="528"/>
              <a:ext cx="44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chemeClr val="accent2"/>
                  </a:solidFill>
                  <a:effectLst/>
                  <a:uLnTx/>
                  <a:uFillTx/>
                  <a:latin typeface="+mn-lt"/>
                  <a:ea typeface="+mn-ea"/>
                  <a:cs typeface="+mn-ea"/>
                  <a:sym typeface="+mn-lt"/>
                </a:rPr>
                <a:t>q</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82026" name="Text Box 42"/>
          <p:cNvSpPr txBox="1">
            <a:spLocks noChangeArrowheads="1"/>
          </p:cNvSpPr>
          <p:nvPr/>
        </p:nvSpPr>
        <p:spPr bwMode="auto">
          <a:xfrm>
            <a:off x="4425950" y="3214688"/>
            <a:ext cx="762000" cy="541338"/>
          </a:xfrm>
          <a:prstGeom prst="rect">
            <a:avLst/>
          </a:prstGeom>
          <a:solidFill>
            <a:srgbClr val="FFFF99">
              <a:alpha val="50195"/>
            </a:srgbClr>
          </a:solidFill>
          <a:ln w="22225">
            <a:solidFill>
              <a:srgbClr val="FF66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2</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27" name="Rectangle 43"/>
          <p:cNvSpPr>
            <a:spLocks noChangeArrowheads="1"/>
          </p:cNvSpPr>
          <p:nvPr/>
        </p:nvSpPr>
        <p:spPr bwMode="auto">
          <a:xfrm>
            <a:off x="5187950" y="3214688"/>
            <a:ext cx="381000" cy="541338"/>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82028" name="Rectangle 44"/>
          <p:cNvSpPr>
            <a:spLocks noChangeArrowheads="1"/>
          </p:cNvSpPr>
          <p:nvPr/>
        </p:nvSpPr>
        <p:spPr bwMode="auto">
          <a:xfrm>
            <a:off x="4425950" y="1774825"/>
            <a:ext cx="1524000" cy="838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29" name="Line 45"/>
          <p:cNvSpPr>
            <a:spLocks noChangeShapeType="1"/>
          </p:cNvSpPr>
          <p:nvPr/>
        </p:nvSpPr>
        <p:spPr bwMode="auto">
          <a:xfrm>
            <a:off x="5340350" y="3451225"/>
            <a:ext cx="9144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30" name="Line 46"/>
          <p:cNvSpPr>
            <a:spLocks noChangeShapeType="1"/>
          </p:cNvSpPr>
          <p:nvPr/>
        </p:nvSpPr>
        <p:spPr bwMode="auto">
          <a:xfrm>
            <a:off x="6254750" y="3451225"/>
            <a:ext cx="0" cy="533400"/>
          </a:xfrm>
          <a:prstGeom prst="line">
            <a:avLst/>
          </a:prstGeom>
          <a:noFill/>
          <a:ln w="3175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31" name="Line 47"/>
          <p:cNvSpPr>
            <a:spLocks noChangeShapeType="1"/>
          </p:cNvSpPr>
          <p:nvPr/>
        </p:nvSpPr>
        <p:spPr bwMode="auto">
          <a:xfrm flipV="1">
            <a:off x="2444750" y="3451225"/>
            <a:ext cx="0" cy="8382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32" name="Line 48"/>
          <p:cNvSpPr>
            <a:spLocks noChangeShapeType="1"/>
          </p:cNvSpPr>
          <p:nvPr/>
        </p:nvSpPr>
        <p:spPr bwMode="auto">
          <a:xfrm>
            <a:off x="2444750" y="3451225"/>
            <a:ext cx="1981200" cy="0"/>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82033" name="Rectangle 49"/>
          <p:cNvSpPr>
            <a:spLocks noChangeArrowheads="1"/>
          </p:cNvSpPr>
          <p:nvPr/>
        </p:nvSpPr>
        <p:spPr bwMode="auto">
          <a:xfrm>
            <a:off x="2673350" y="4213225"/>
            <a:ext cx="3352800" cy="1524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34" name="Rectangle 50"/>
          <p:cNvSpPr>
            <a:spLocks noChangeArrowheads="1"/>
          </p:cNvSpPr>
          <p:nvPr/>
        </p:nvSpPr>
        <p:spPr bwMode="auto">
          <a:xfrm>
            <a:off x="2292350" y="3984625"/>
            <a:ext cx="381000" cy="533400"/>
          </a:xfrm>
          <a:prstGeom prst="rect">
            <a:avLst/>
          </a:prstGeom>
          <a:solidFill>
            <a:srgbClr val="FFFF00"/>
          </a:solidFill>
          <a:ln w="9525">
            <a:solidFill>
              <a:srgbClr val="99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6" name="Group 51"/>
          <p:cNvGrpSpPr/>
          <p:nvPr/>
        </p:nvGrpSpPr>
        <p:grpSpPr>
          <a:xfrm>
            <a:off x="6375400" y="784225"/>
            <a:ext cx="412750" cy="1022350"/>
            <a:chOff x="4108" y="528"/>
            <a:chExt cx="260" cy="644"/>
          </a:xfrm>
        </p:grpSpPr>
        <p:sp>
          <p:nvSpPr>
            <p:cNvPr id="192574" name="Line 52"/>
            <p:cNvSpPr>
              <a:spLocks noChangeShapeType="1"/>
            </p:cNvSpPr>
            <p:nvPr/>
          </p:nvSpPr>
          <p:spPr bwMode="auto">
            <a:xfrm>
              <a:off x="4320" y="692"/>
              <a:ext cx="0" cy="48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75" name="Text Box 53"/>
            <p:cNvSpPr txBox="1">
              <a:spLocks noChangeArrowheads="1"/>
            </p:cNvSpPr>
            <p:nvPr/>
          </p:nvSpPr>
          <p:spPr bwMode="auto">
            <a:xfrm>
              <a:off x="4108" y="528"/>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rgbClr val="FF0000"/>
                  </a:solidFill>
                  <a:effectLst/>
                  <a:uLnTx/>
                  <a:uFillTx/>
                  <a:latin typeface="+mn-lt"/>
                  <a:ea typeface="+mn-ea"/>
                  <a:cs typeface="+mn-ea"/>
                  <a:sym typeface="+mn-lt"/>
                </a:rPr>
                <a:t>p</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82038" name="Rectangle 54"/>
          <p:cNvSpPr>
            <a:spLocks noChangeArrowheads="1"/>
          </p:cNvSpPr>
          <p:nvPr/>
        </p:nvSpPr>
        <p:spPr bwMode="auto">
          <a:xfrm>
            <a:off x="4730750" y="860425"/>
            <a:ext cx="609600" cy="9144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7" name="Group 55"/>
          <p:cNvGrpSpPr/>
          <p:nvPr/>
        </p:nvGrpSpPr>
        <p:grpSpPr>
          <a:xfrm>
            <a:off x="7245350" y="752475"/>
            <a:ext cx="609600" cy="1022350"/>
            <a:chOff x="4412" y="508"/>
            <a:chExt cx="628" cy="644"/>
          </a:xfrm>
        </p:grpSpPr>
        <p:sp>
          <p:nvSpPr>
            <p:cNvPr id="192572" name="Line 56"/>
            <p:cNvSpPr>
              <a:spLocks noChangeShapeType="1"/>
            </p:cNvSpPr>
            <p:nvPr/>
          </p:nvSpPr>
          <p:spPr bwMode="auto">
            <a:xfrm>
              <a:off x="5040" y="672"/>
              <a:ext cx="0" cy="48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73" name="Text Box 57"/>
            <p:cNvSpPr txBox="1">
              <a:spLocks noChangeArrowheads="1"/>
            </p:cNvSpPr>
            <p:nvPr/>
          </p:nvSpPr>
          <p:spPr bwMode="auto">
            <a:xfrm>
              <a:off x="4412" y="508"/>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chemeClr val="accent2"/>
                  </a:solidFill>
                  <a:effectLst/>
                  <a:uLnTx/>
                  <a:uFillTx/>
                  <a:latin typeface="+mn-lt"/>
                  <a:ea typeface="+mn-ea"/>
                  <a:cs typeface="+mn-ea"/>
                  <a:sym typeface="+mn-lt"/>
                </a:rPr>
                <a:t>q</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useBgFill="1">
        <p:nvSpPr>
          <p:cNvPr id="682042" name="Rectangle 58"/>
          <p:cNvSpPr>
            <a:spLocks noChangeArrowheads="1"/>
          </p:cNvSpPr>
          <p:nvPr/>
        </p:nvSpPr>
        <p:spPr bwMode="auto">
          <a:xfrm>
            <a:off x="5340350" y="1012825"/>
            <a:ext cx="1066800" cy="838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43" name="Text Box 59"/>
          <p:cNvSpPr txBox="1">
            <a:spLocks noChangeArrowheads="1"/>
          </p:cNvSpPr>
          <p:nvPr/>
        </p:nvSpPr>
        <p:spPr bwMode="auto">
          <a:xfrm>
            <a:off x="2216150" y="2376488"/>
            <a:ext cx="762000" cy="541338"/>
          </a:xfrm>
          <a:prstGeom prst="rect">
            <a:avLst/>
          </a:prstGeom>
          <a:solidFill>
            <a:srgbClr val="FFFF99">
              <a:alpha val="50195"/>
            </a:srgbClr>
          </a:solidFill>
          <a:ln w="22225">
            <a:solidFill>
              <a:srgbClr val="FF6600"/>
            </a:solid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25000" noProof="0">
                <a:ln>
                  <a:noFill/>
                </a:ln>
                <a:solidFill>
                  <a:schemeClr val="tx1"/>
                </a:solidFill>
                <a:effectLst/>
                <a:uLnTx/>
                <a:uFillTx/>
                <a:latin typeface="+mn-lt"/>
                <a:ea typeface="+mn-ea"/>
                <a:cs typeface="+mn-ea"/>
                <a:sym typeface="+mn-lt"/>
              </a:rPr>
              <a:t>3</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44" name="Rectangle 60"/>
          <p:cNvSpPr>
            <a:spLocks noChangeArrowheads="1"/>
          </p:cNvSpPr>
          <p:nvPr/>
        </p:nvSpPr>
        <p:spPr bwMode="auto">
          <a:xfrm>
            <a:off x="2978150" y="2376488"/>
            <a:ext cx="381000" cy="541338"/>
          </a:xfrm>
          <a:prstGeom prst="rect">
            <a:avLst/>
          </a:prstGeom>
          <a:solidFill>
            <a:srgbClr val="FFFF00"/>
          </a:solidFill>
          <a:ln w="9525">
            <a:solidFill>
              <a:srgbClr val="CC66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45" name="Line 61"/>
          <p:cNvSpPr>
            <a:spLocks noChangeShapeType="1"/>
          </p:cNvSpPr>
          <p:nvPr/>
        </p:nvSpPr>
        <p:spPr bwMode="auto">
          <a:xfrm>
            <a:off x="3130550" y="2689225"/>
            <a:ext cx="16002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46" name="Line 62"/>
          <p:cNvSpPr>
            <a:spLocks noChangeShapeType="1"/>
          </p:cNvSpPr>
          <p:nvPr/>
        </p:nvSpPr>
        <p:spPr bwMode="auto">
          <a:xfrm>
            <a:off x="4730750" y="2689225"/>
            <a:ext cx="0" cy="533400"/>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47" name="Line 63"/>
          <p:cNvSpPr>
            <a:spLocks noChangeShapeType="1"/>
          </p:cNvSpPr>
          <p:nvPr/>
        </p:nvSpPr>
        <p:spPr bwMode="auto">
          <a:xfrm flipV="1">
            <a:off x="2444750" y="2917825"/>
            <a:ext cx="0" cy="1371600"/>
          </a:xfrm>
          <a:prstGeom prst="line">
            <a:avLst/>
          </a:prstGeom>
          <a:noFill/>
          <a:ln w="381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82048" name="Rectangle 64"/>
          <p:cNvSpPr>
            <a:spLocks noChangeArrowheads="1"/>
          </p:cNvSpPr>
          <p:nvPr/>
        </p:nvSpPr>
        <p:spPr bwMode="auto">
          <a:xfrm>
            <a:off x="2463800" y="3298825"/>
            <a:ext cx="1946275" cy="3048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8" name="Group 65"/>
          <p:cNvGrpSpPr/>
          <p:nvPr/>
        </p:nvGrpSpPr>
        <p:grpSpPr>
          <a:xfrm>
            <a:off x="7823200" y="784225"/>
            <a:ext cx="412750" cy="1022350"/>
            <a:chOff x="5020" y="528"/>
            <a:chExt cx="260" cy="644"/>
          </a:xfrm>
        </p:grpSpPr>
        <p:sp>
          <p:nvSpPr>
            <p:cNvPr id="192570" name="Line 66"/>
            <p:cNvSpPr>
              <a:spLocks noChangeShapeType="1"/>
            </p:cNvSpPr>
            <p:nvPr/>
          </p:nvSpPr>
          <p:spPr bwMode="auto">
            <a:xfrm>
              <a:off x="5232" y="692"/>
              <a:ext cx="0" cy="480"/>
            </a:xfrm>
            <a:prstGeom prst="line">
              <a:avLst/>
            </a:prstGeom>
            <a:noFill/>
            <a:ln w="25400">
              <a:solidFill>
                <a:srgbClr val="FF0000"/>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71" name="Text Box 67"/>
            <p:cNvSpPr txBox="1">
              <a:spLocks noChangeArrowheads="1"/>
            </p:cNvSpPr>
            <p:nvPr/>
          </p:nvSpPr>
          <p:spPr bwMode="auto">
            <a:xfrm>
              <a:off x="5020" y="528"/>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dirty="0">
                  <a:ln>
                    <a:noFill/>
                  </a:ln>
                  <a:solidFill>
                    <a:srgbClr val="FF0000"/>
                  </a:solidFill>
                  <a:effectLst/>
                  <a:uLnTx/>
                  <a:uFillTx/>
                  <a:latin typeface="+mn-lt"/>
                  <a:ea typeface="+mn-ea"/>
                  <a:cs typeface="+mn-ea"/>
                  <a:sym typeface="+mn-lt"/>
                </a:rPr>
                <a:t>p</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useBgFill="1">
        <p:nvSpPr>
          <p:cNvPr id="682052" name="Rectangle 68"/>
          <p:cNvSpPr>
            <a:spLocks noChangeArrowheads="1"/>
          </p:cNvSpPr>
          <p:nvPr/>
        </p:nvSpPr>
        <p:spPr bwMode="auto">
          <a:xfrm>
            <a:off x="6330950" y="1012825"/>
            <a:ext cx="533400" cy="762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useBgFill="1">
        <p:nvSpPr>
          <p:cNvPr id="682053" name="Rectangle 69"/>
          <p:cNvSpPr>
            <a:spLocks noChangeArrowheads="1"/>
          </p:cNvSpPr>
          <p:nvPr/>
        </p:nvSpPr>
        <p:spPr bwMode="auto">
          <a:xfrm>
            <a:off x="5949950" y="1730375"/>
            <a:ext cx="1447800" cy="766763"/>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2054" name="Text Box 70"/>
          <p:cNvSpPr txBox="1">
            <a:spLocks noChangeArrowheads="1"/>
          </p:cNvSpPr>
          <p:nvPr/>
        </p:nvSpPr>
        <p:spPr bwMode="auto">
          <a:xfrm>
            <a:off x="0" y="5075238"/>
            <a:ext cx="9144000" cy="1771650"/>
          </a:xfrm>
          <a:prstGeom prst="rect">
            <a:avLst/>
          </a:prstGeom>
          <a:solidFill>
            <a:srgbClr val="EBEBEB"/>
          </a:solidFill>
          <a:ln w="38100">
            <a:noFill/>
            <a:miter lim="800000"/>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742950" marR="0" lvl="1" indent="-285750" algn="l" defTabSz="914400" rtl="0" eaLnBrk="1" fontAlgn="base" latinLnBrk="0" hangingPunct="1">
              <a:lnSpc>
                <a:spcPct val="120000"/>
              </a:lnSpc>
              <a:spcBef>
                <a:spcPct val="20000"/>
              </a:spcBef>
              <a:spcAft>
                <a:spcPct val="0"/>
              </a:spcAft>
              <a:buClr>
                <a:srgbClr val="FF0000"/>
              </a:buClr>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标志后继结点</a:t>
            </a: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q</a:t>
            </a:r>
          </a:p>
          <a:p>
            <a:pPr marL="742950" marR="0" lvl="1" indent="-285750" algn="l" defTabSz="914400" rtl="0" eaLnBrk="1" fontAlgn="base" latinLnBrk="0" hangingPunct="1">
              <a:lnSpc>
                <a:spcPct val="120000"/>
              </a:lnSpc>
              <a:spcBef>
                <a:spcPct val="20000"/>
              </a:spcBef>
              <a:spcAft>
                <a:spcPct val="0"/>
              </a:spcAft>
              <a:buClr>
                <a:srgbClr val="FF0000"/>
              </a:buClr>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修改指针（将</a:t>
            </a: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p</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插入在头结点之后）</a:t>
            </a:r>
          </a:p>
          <a:p>
            <a:pPr marL="742950" marR="0" lvl="1" indent="-285750" algn="l" defTabSz="914400" rtl="0" eaLnBrk="1" fontAlgn="base" latinLnBrk="0" hangingPunct="1">
              <a:lnSpc>
                <a:spcPct val="120000"/>
              </a:lnSpc>
              <a:spcBef>
                <a:spcPct val="20000"/>
              </a:spcBef>
              <a:spcAft>
                <a:spcPct val="0"/>
              </a:spcAft>
              <a:buClr>
                <a:srgbClr val="FF0000"/>
              </a:buClr>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重置结点</a:t>
            </a: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p</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p</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重新指向原表中后继）</a:t>
            </a:r>
          </a:p>
        </p:txBody>
      </p:sp>
      <p:sp useBgFill="1">
        <p:nvSpPr>
          <p:cNvPr id="682055" name="Rectangle 71"/>
          <p:cNvSpPr>
            <a:spLocks noChangeArrowheads="1"/>
          </p:cNvSpPr>
          <p:nvPr/>
        </p:nvSpPr>
        <p:spPr bwMode="auto">
          <a:xfrm>
            <a:off x="3740150" y="1012825"/>
            <a:ext cx="990600" cy="762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9" name="Group 72"/>
          <p:cNvGrpSpPr/>
          <p:nvPr/>
        </p:nvGrpSpPr>
        <p:grpSpPr>
          <a:xfrm>
            <a:off x="4044950" y="784225"/>
            <a:ext cx="609600" cy="1022350"/>
            <a:chOff x="2496" y="528"/>
            <a:chExt cx="624" cy="644"/>
          </a:xfrm>
        </p:grpSpPr>
        <p:sp>
          <p:nvSpPr>
            <p:cNvPr id="192568" name="Line 73"/>
            <p:cNvSpPr>
              <a:spLocks noChangeShapeType="1"/>
            </p:cNvSpPr>
            <p:nvPr/>
          </p:nvSpPr>
          <p:spPr bwMode="auto">
            <a:xfrm>
              <a:off x="3120" y="692"/>
              <a:ext cx="0" cy="480"/>
            </a:xfrm>
            <a:prstGeom prst="line">
              <a:avLst/>
            </a:prstGeom>
            <a:noFill/>
            <a:ln w="25400">
              <a:solidFill>
                <a:schemeClr val="accent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2569" name="Text Box 74"/>
            <p:cNvSpPr txBox="1">
              <a:spLocks noChangeArrowheads="1"/>
            </p:cNvSpPr>
            <p:nvPr/>
          </p:nvSpPr>
          <p:spPr bwMode="auto">
            <a:xfrm>
              <a:off x="2496" y="528"/>
              <a:ext cx="42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none" spc="0" normalizeH="0" baseline="0" noProof="0">
                  <a:ln>
                    <a:noFill/>
                  </a:ln>
                  <a:solidFill>
                    <a:schemeClr val="accent2"/>
                  </a:solidFill>
                  <a:effectLst/>
                  <a:uLnTx/>
                  <a:uFillTx/>
                  <a:latin typeface="+mn-lt"/>
                  <a:ea typeface="+mn-ea"/>
                  <a:cs typeface="+mn-ea"/>
                  <a:sym typeface="+mn-lt"/>
                </a:rPr>
                <a:t>q</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3" name="Comment 6"/>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682011"/>
                                        </p:tgtEl>
                                        <p:attrNameLst>
                                          <p:attrName>style.visibility</p:attrName>
                                        </p:attrNameLst>
                                      </p:cBhvr>
                                      <p:to>
                                        <p:strVal val="visible"/>
                                      </p:to>
                                    </p:set>
                                    <p:animEffect transition="in" filter="slide(fromTop)">
                                      <p:cBhvr>
                                        <p:cTn id="7" dur="500"/>
                                        <p:tgtEl>
                                          <p:spTgt spid="682011"/>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682012"/>
                                        </p:tgtEl>
                                        <p:attrNameLst>
                                          <p:attrName>style.visibility</p:attrName>
                                        </p:attrNameLst>
                                      </p:cBhvr>
                                      <p:to>
                                        <p:strVal val="visible"/>
                                      </p:to>
                                    </p:set>
                                    <p:animEffect transition="in" filter="slide(fromTop)">
                                      <p:cBhvr>
                                        <p:cTn id="11" dur="500"/>
                                        <p:tgtEl>
                                          <p:spTgt spid="6820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682010"/>
                                        </p:tgtEl>
                                        <p:attrNameLst>
                                          <p:attrName>style.visibility</p:attrName>
                                        </p:attrNameLst>
                                      </p:cBhvr>
                                      <p:to>
                                        <p:strVal val="visible"/>
                                      </p:to>
                                    </p:set>
                                  </p:childTnLst>
                                </p:cTn>
                              </p:par>
                            </p:childTnLst>
                          </p:cTn>
                        </p:par>
                        <p:par>
                          <p:cTn id="16" fill="hold">
                            <p:stCondLst>
                              <p:cond delay="500"/>
                            </p:stCondLst>
                            <p:childTnLst>
                              <p:par>
                                <p:cTn id="17" presetID="12" presetClass="entr" presetSubtype="1"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slide(fromTop)">
                                      <p:cBhvr>
                                        <p:cTn id="19" dur="500"/>
                                        <p:tgtEl>
                                          <p:spTgt spid="3"/>
                                        </p:tgtEl>
                                      </p:cBhvr>
                                    </p:animEffect>
                                  </p:childTnLst>
                                </p:cTn>
                              </p:par>
                            </p:childTnLst>
                          </p:cTn>
                        </p:par>
                        <p:par>
                          <p:cTn id="20" fill="hold">
                            <p:stCondLst>
                              <p:cond delay="1000"/>
                            </p:stCondLst>
                            <p:childTnLst>
                              <p:par>
                                <p:cTn id="21" presetID="1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lide(fromTop)">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grpId="0" nodeType="clickEffect">
                                  <p:stCondLst>
                                    <p:cond delay="0"/>
                                  </p:stCondLst>
                                  <p:childTnLst>
                                    <p:set>
                                      <p:cBhvr>
                                        <p:cTn id="27" dur="1" fill="hold">
                                          <p:stCondLst>
                                            <p:cond delay="0"/>
                                          </p:stCondLst>
                                        </p:cTn>
                                        <p:tgtEl>
                                          <p:spTgt spid="682013"/>
                                        </p:tgtEl>
                                        <p:attrNameLst>
                                          <p:attrName>style.visibility</p:attrName>
                                        </p:attrNameLst>
                                      </p:cBhvr>
                                      <p:to>
                                        <p:strVal val="visible"/>
                                      </p:to>
                                    </p:set>
                                    <p:animEffect transition="in" filter="slide(fromTop)">
                                      <p:cBhvr>
                                        <p:cTn id="28" dur="500"/>
                                        <p:tgtEl>
                                          <p:spTgt spid="682013"/>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1"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slide(fromTop)">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682022"/>
                                        </p:tgtEl>
                                        <p:attrNameLst>
                                          <p:attrName>style.visibility</p:attrName>
                                        </p:attrNameLst>
                                      </p:cBhvr>
                                      <p:to>
                                        <p:strVal val="visible"/>
                                      </p:to>
                                    </p:set>
                                    <p:animEffect transition="in" filter="wipe(up)">
                                      <p:cBhvr>
                                        <p:cTn id="38" dur="500"/>
                                        <p:tgtEl>
                                          <p:spTgt spid="682022"/>
                                        </p:tgtEl>
                                      </p:cBhvr>
                                    </p:animEffect>
                                  </p:childTnLst>
                                </p:cTn>
                              </p:par>
                            </p:childTnLst>
                          </p:cTn>
                        </p:par>
                        <p:par>
                          <p:cTn id="39" fill="hold">
                            <p:stCondLst>
                              <p:cond delay="500"/>
                            </p:stCondLst>
                            <p:childTnLst>
                              <p:par>
                                <p:cTn id="40" presetID="2" presetClass="entr" presetSubtype="9" fill="hold" grpId="0" nodeType="afterEffect">
                                  <p:stCondLst>
                                    <p:cond delay="0"/>
                                  </p:stCondLst>
                                  <p:childTnLst>
                                    <p:set>
                                      <p:cBhvr>
                                        <p:cTn id="41" dur="1" fill="hold">
                                          <p:stCondLst>
                                            <p:cond delay="0"/>
                                          </p:stCondLst>
                                        </p:cTn>
                                        <p:tgtEl>
                                          <p:spTgt spid="682014"/>
                                        </p:tgtEl>
                                        <p:attrNameLst>
                                          <p:attrName>style.visibility</p:attrName>
                                        </p:attrNameLst>
                                      </p:cBhvr>
                                      <p:to>
                                        <p:strVal val="visible"/>
                                      </p:to>
                                    </p:set>
                                    <p:anim calcmode="lin" valueType="num">
                                      <p:cBhvr additive="base">
                                        <p:cTn id="42" dur="500" fill="hold"/>
                                        <p:tgtEl>
                                          <p:spTgt spid="682014"/>
                                        </p:tgtEl>
                                        <p:attrNameLst>
                                          <p:attrName>ppt_x</p:attrName>
                                        </p:attrNameLst>
                                      </p:cBhvr>
                                      <p:tavLst>
                                        <p:tav tm="0">
                                          <p:val>
                                            <p:strVal val="0-#ppt_w/2"/>
                                          </p:val>
                                        </p:tav>
                                        <p:tav tm="100000">
                                          <p:val>
                                            <p:strVal val="#ppt_x"/>
                                          </p:val>
                                        </p:tav>
                                      </p:tavLst>
                                    </p:anim>
                                    <p:anim calcmode="lin" valueType="num">
                                      <p:cBhvr additive="base">
                                        <p:cTn id="43" dur="500" fill="hold"/>
                                        <p:tgtEl>
                                          <p:spTgt spid="682014"/>
                                        </p:tgtEl>
                                        <p:attrNameLst>
                                          <p:attrName>ppt_y</p:attrName>
                                        </p:attrNameLst>
                                      </p:cBhvr>
                                      <p:tavLst>
                                        <p:tav tm="0">
                                          <p:val>
                                            <p:strVal val="0-#ppt_h/2"/>
                                          </p:val>
                                        </p:tav>
                                        <p:tav tm="100000">
                                          <p:val>
                                            <p:strVal val="#ppt_y"/>
                                          </p:val>
                                        </p:tav>
                                      </p:tavLst>
                                    </p:anim>
                                  </p:childTnLst>
                                </p:cTn>
                              </p:par>
                            </p:childTnLst>
                          </p:cTn>
                        </p:par>
                        <p:par>
                          <p:cTn id="44" fill="hold">
                            <p:stCondLst>
                              <p:cond delay="1000"/>
                            </p:stCondLst>
                            <p:childTnLst>
                              <p:par>
                                <p:cTn id="45" presetID="2" presetClass="entr" presetSubtype="9" fill="hold" grpId="0" nodeType="afterEffect">
                                  <p:stCondLst>
                                    <p:cond delay="0"/>
                                  </p:stCondLst>
                                  <p:childTnLst>
                                    <p:set>
                                      <p:cBhvr>
                                        <p:cTn id="46" dur="1" fill="hold">
                                          <p:stCondLst>
                                            <p:cond delay="0"/>
                                          </p:stCondLst>
                                        </p:cTn>
                                        <p:tgtEl>
                                          <p:spTgt spid="682015"/>
                                        </p:tgtEl>
                                        <p:attrNameLst>
                                          <p:attrName>style.visibility</p:attrName>
                                        </p:attrNameLst>
                                      </p:cBhvr>
                                      <p:to>
                                        <p:strVal val="visible"/>
                                      </p:to>
                                    </p:set>
                                    <p:anim calcmode="lin" valueType="num">
                                      <p:cBhvr additive="base">
                                        <p:cTn id="47" dur="500" fill="hold"/>
                                        <p:tgtEl>
                                          <p:spTgt spid="682015"/>
                                        </p:tgtEl>
                                        <p:attrNameLst>
                                          <p:attrName>ppt_x</p:attrName>
                                        </p:attrNameLst>
                                      </p:cBhvr>
                                      <p:tavLst>
                                        <p:tav tm="0">
                                          <p:val>
                                            <p:strVal val="0-#ppt_w/2"/>
                                          </p:val>
                                        </p:tav>
                                        <p:tav tm="100000">
                                          <p:val>
                                            <p:strVal val="#ppt_x"/>
                                          </p:val>
                                        </p:tav>
                                      </p:tavLst>
                                    </p:anim>
                                    <p:anim calcmode="lin" valueType="num">
                                      <p:cBhvr additive="base">
                                        <p:cTn id="48" dur="500" fill="hold"/>
                                        <p:tgtEl>
                                          <p:spTgt spid="682015"/>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2" presetClass="entr" presetSubtype="1" fill="hold" grpId="0" nodeType="clickEffect">
                                  <p:stCondLst>
                                    <p:cond delay="0"/>
                                  </p:stCondLst>
                                  <p:childTnLst>
                                    <p:set>
                                      <p:cBhvr>
                                        <p:cTn id="52" dur="1" fill="hold">
                                          <p:stCondLst>
                                            <p:cond delay="0"/>
                                          </p:stCondLst>
                                        </p:cTn>
                                        <p:tgtEl>
                                          <p:spTgt spid="682016"/>
                                        </p:tgtEl>
                                        <p:attrNameLst>
                                          <p:attrName>style.visibility</p:attrName>
                                        </p:attrNameLst>
                                      </p:cBhvr>
                                      <p:to>
                                        <p:strVal val="visible"/>
                                      </p:to>
                                    </p:set>
                                    <p:animEffect transition="in" filter="slide(fromTop)">
                                      <p:cBhvr>
                                        <p:cTn id="53" dur="500"/>
                                        <p:tgtEl>
                                          <p:spTgt spid="682016"/>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8" fill="hold" nodeType="clickEffect">
                                  <p:stCondLst>
                                    <p:cond delay="0"/>
                                  </p:stCondLst>
                                  <p:childTnLst>
                                    <p:set>
                                      <p:cBhvr>
                                        <p:cTn id="57" dur="1" fill="hold">
                                          <p:stCondLst>
                                            <p:cond delay="0"/>
                                          </p:stCondLst>
                                        </p:cTn>
                                        <p:tgtEl>
                                          <p:spTgt spid="682017"/>
                                        </p:tgtEl>
                                        <p:attrNameLst>
                                          <p:attrName>style.visibility</p:attrName>
                                        </p:attrNameLst>
                                      </p:cBhvr>
                                      <p:to>
                                        <p:strVal val="visible"/>
                                      </p:to>
                                    </p:set>
                                    <p:anim calcmode="lin" valueType="num">
                                      <p:cBhvr>
                                        <p:cTn id="58" dur="500" fill="hold"/>
                                        <p:tgtEl>
                                          <p:spTgt spid="682017"/>
                                        </p:tgtEl>
                                        <p:attrNameLst>
                                          <p:attrName>ppt_x</p:attrName>
                                        </p:attrNameLst>
                                      </p:cBhvr>
                                      <p:tavLst>
                                        <p:tav tm="0">
                                          <p:val>
                                            <p:strVal val="#ppt_x-#ppt_w/2"/>
                                          </p:val>
                                        </p:tav>
                                        <p:tav tm="100000">
                                          <p:val>
                                            <p:strVal val="#ppt_x"/>
                                          </p:val>
                                        </p:tav>
                                      </p:tavLst>
                                    </p:anim>
                                    <p:anim calcmode="lin" valueType="num">
                                      <p:cBhvr>
                                        <p:cTn id="59" dur="500" fill="hold"/>
                                        <p:tgtEl>
                                          <p:spTgt spid="682017"/>
                                        </p:tgtEl>
                                        <p:attrNameLst>
                                          <p:attrName>ppt_y</p:attrName>
                                        </p:attrNameLst>
                                      </p:cBhvr>
                                      <p:tavLst>
                                        <p:tav tm="0">
                                          <p:val>
                                            <p:strVal val="#ppt_y"/>
                                          </p:val>
                                        </p:tav>
                                        <p:tav tm="100000">
                                          <p:val>
                                            <p:strVal val="#ppt_y"/>
                                          </p:val>
                                        </p:tav>
                                      </p:tavLst>
                                    </p:anim>
                                    <p:anim calcmode="lin" valueType="num">
                                      <p:cBhvr>
                                        <p:cTn id="60" dur="500" fill="hold"/>
                                        <p:tgtEl>
                                          <p:spTgt spid="682017"/>
                                        </p:tgtEl>
                                        <p:attrNameLst>
                                          <p:attrName>ppt_w</p:attrName>
                                        </p:attrNameLst>
                                      </p:cBhvr>
                                      <p:tavLst>
                                        <p:tav tm="0">
                                          <p:val>
                                            <p:fltVal val="0"/>
                                          </p:val>
                                        </p:tav>
                                        <p:tav tm="100000">
                                          <p:val>
                                            <p:strVal val="#ppt_w"/>
                                          </p:val>
                                        </p:tav>
                                      </p:tavLst>
                                    </p:anim>
                                    <p:anim calcmode="lin" valueType="num">
                                      <p:cBhvr>
                                        <p:cTn id="61" dur="500" fill="hold"/>
                                        <p:tgtEl>
                                          <p:spTgt spid="682017"/>
                                        </p:tgtEl>
                                        <p:attrNameLst>
                                          <p:attrName>ppt_h</p:attrName>
                                        </p:attrNameLst>
                                      </p:cBhvr>
                                      <p:tavLst>
                                        <p:tav tm="0">
                                          <p:val>
                                            <p:strVal val="#ppt_h"/>
                                          </p:val>
                                        </p:tav>
                                        <p:tav tm="100000">
                                          <p:val>
                                            <p:strVal val="#ppt_h"/>
                                          </p:val>
                                        </p:tav>
                                      </p:tavLst>
                                    </p:anim>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499"/>
                                          </p:stCondLst>
                                        </p:cTn>
                                        <p:tgtEl>
                                          <p:spTgt spid="6820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682021"/>
                                        </p:tgtEl>
                                        <p:attrNameLst>
                                          <p:attrName>style.visibility</p:attrName>
                                        </p:attrNameLst>
                                      </p:cBhvr>
                                      <p:to>
                                        <p:strVal val="visible"/>
                                      </p:to>
                                    </p:set>
                                  </p:childTnLst>
                                </p:cTn>
                              </p:par>
                            </p:childTnLst>
                          </p:cTn>
                        </p:par>
                        <p:par>
                          <p:cTn id="69" fill="hold">
                            <p:stCondLst>
                              <p:cond delay="500"/>
                            </p:stCondLst>
                            <p:childTnLst>
                              <p:par>
                                <p:cTn id="70" presetID="12" presetClass="entr" presetSubtype="8" fill="hold" nodeType="after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slide(fromLeft)">
                                      <p:cBhvr>
                                        <p:cTn id="72" dur="500"/>
                                        <p:tgtEl>
                                          <p:spTgt spid="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682055"/>
                                        </p:tgtEl>
                                        <p:attrNameLst>
                                          <p:attrName>style.visibility</p:attrName>
                                        </p:attrNameLst>
                                      </p:cBhvr>
                                      <p:to>
                                        <p:strVal val="visible"/>
                                      </p:to>
                                    </p:set>
                                  </p:childTnLst>
                                </p:cTn>
                              </p:par>
                            </p:childTnLst>
                          </p:cTn>
                        </p:par>
                        <p:par>
                          <p:cTn id="77" fill="hold">
                            <p:stCondLst>
                              <p:cond delay="500"/>
                            </p:stCondLst>
                            <p:childTnLst>
                              <p:par>
                                <p:cTn id="78" presetID="12" presetClass="entr" presetSubtype="8" fill="hold" nodeType="after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slide(fromLeft)">
                                      <p:cBhvr>
                                        <p:cTn id="80" dur="500"/>
                                        <p:tgtEl>
                                          <p:spTgt spid="5"/>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682028"/>
                                        </p:tgtEl>
                                        <p:attrNameLst>
                                          <p:attrName>style.visibility</p:attrName>
                                        </p:attrNameLst>
                                      </p:cBhvr>
                                      <p:to>
                                        <p:strVal val="visible"/>
                                      </p:to>
                                    </p:set>
                                  </p:childTnLst>
                                </p:cTn>
                              </p:par>
                            </p:childTnLst>
                          </p:cTn>
                        </p:par>
                        <p:par>
                          <p:cTn id="85" fill="hold">
                            <p:stCondLst>
                              <p:cond delay="500"/>
                            </p:stCondLst>
                            <p:childTnLst>
                              <p:par>
                                <p:cTn id="86" presetID="2" presetClass="entr" presetSubtype="1" fill="hold" grpId="0" nodeType="afterEffect">
                                  <p:stCondLst>
                                    <p:cond delay="0"/>
                                  </p:stCondLst>
                                  <p:childTnLst>
                                    <p:set>
                                      <p:cBhvr>
                                        <p:cTn id="87" dur="1" fill="hold">
                                          <p:stCondLst>
                                            <p:cond delay="0"/>
                                          </p:stCondLst>
                                        </p:cTn>
                                        <p:tgtEl>
                                          <p:spTgt spid="682026"/>
                                        </p:tgtEl>
                                        <p:attrNameLst>
                                          <p:attrName>style.visibility</p:attrName>
                                        </p:attrNameLst>
                                      </p:cBhvr>
                                      <p:to>
                                        <p:strVal val="visible"/>
                                      </p:to>
                                    </p:set>
                                    <p:anim calcmode="lin" valueType="num">
                                      <p:cBhvr additive="base">
                                        <p:cTn id="88" dur="500" fill="hold"/>
                                        <p:tgtEl>
                                          <p:spTgt spid="682026"/>
                                        </p:tgtEl>
                                        <p:attrNameLst>
                                          <p:attrName>ppt_x</p:attrName>
                                        </p:attrNameLst>
                                      </p:cBhvr>
                                      <p:tavLst>
                                        <p:tav tm="0">
                                          <p:val>
                                            <p:strVal val="#ppt_x"/>
                                          </p:val>
                                        </p:tav>
                                        <p:tav tm="100000">
                                          <p:val>
                                            <p:strVal val="#ppt_x"/>
                                          </p:val>
                                        </p:tav>
                                      </p:tavLst>
                                    </p:anim>
                                    <p:anim calcmode="lin" valueType="num">
                                      <p:cBhvr additive="base">
                                        <p:cTn id="89" dur="500" fill="hold"/>
                                        <p:tgtEl>
                                          <p:spTgt spid="682026"/>
                                        </p:tgtEl>
                                        <p:attrNameLst>
                                          <p:attrName>ppt_y</p:attrName>
                                        </p:attrNameLst>
                                      </p:cBhvr>
                                      <p:tavLst>
                                        <p:tav tm="0">
                                          <p:val>
                                            <p:strVal val="0-#ppt_h/2"/>
                                          </p:val>
                                        </p:tav>
                                        <p:tav tm="100000">
                                          <p:val>
                                            <p:strVal val="#ppt_y"/>
                                          </p:val>
                                        </p:tav>
                                      </p:tavLst>
                                    </p:anim>
                                  </p:childTnLst>
                                </p:cTn>
                              </p:par>
                            </p:childTnLst>
                          </p:cTn>
                        </p:par>
                        <p:par>
                          <p:cTn id="90" fill="hold">
                            <p:stCondLst>
                              <p:cond delay="1000"/>
                            </p:stCondLst>
                            <p:childTnLst>
                              <p:par>
                                <p:cTn id="91" presetID="2" presetClass="entr" presetSubtype="1" fill="hold" grpId="0" nodeType="afterEffect">
                                  <p:stCondLst>
                                    <p:cond delay="0"/>
                                  </p:stCondLst>
                                  <p:childTnLst>
                                    <p:set>
                                      <p:cBhvr>
                                        <p:cTn id="92" dur="1" fill="hold">
                                          <p:stCondLst>
                                            <p:cond delay="0"/>
                                          </p:stCondLst>
                                        </p:cTn>
                                        <p:tgtEl>
                                          <p:spTgt spid="682027"/>
                                        </p:tgtEl>
                                        <p:attrNameLst>
                                          <p:attrName>style.visibility</p:attrName>
                                        </p:attrNameLst>
                                      </p:cBhvr>
                                      <p:to>
                                        <p:strVal val="visible"/>
                                      </p:to>
                                    </p:set>
                                    <p:anim calcmode="lin" valueType="num">
                                      <p:cBhvr additive="base">
                                        <p:cTn id="93" dur="500" fill="hold"/>
                                        <p:tgtEl>
                                          <p:spTgt spid="682027"/>
                                        </p:tgtEl>
                                        <p:attrNameLst>
                                          <p:attrName>ppt_x</p:attrName>
                                        </p:attrNameLst>
                                      </p:cBhvr>
                                      <p:tavLst>
                                        <p:tav tm="0">
                                          <p:val>
                                            <p:strVal val="#ppt_x"/>
                                          </p:val>
                                        </p:tav>
                                        <p:tav tm="100000">
                                          <p:val>
                                            <p:strVal val="#ppt_x"/>
                                          </p:val>
                                        </p:tav>
                                      </p:tavLst>
                                    </p:anim>
                                    <p:anim calcmode="lin" valueType="num">
                                      <p:cBhvr additive="base">
                                        <p:cTn id="94" dur="500" fill="hold"/>
                                        <p:tgtEl>
                                          <p:spTgt spid="682027"/>
                                        </p:tgtEl>
                                        <p:attrNameLst>
                                          <p:attrName>ppt_y</p:attrName>
                                        </p:attrNameLst>
                                      </p:cBhvr>
                                      <p:tavLst>
                                        <p:tav tm="0">
                                          <p:val>
                                            <p:strVal val="0-#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17" presetClass="entr" presetSubtype="8" fill="hold" nodeType="clickEffect">
                                  <p:stCondLst>
                                    <p:cond delay="0"/>
                                  </p:stCondLst>
                                  <p:childTnLst>
                                    <p:set>
                                      <p:cBhvr>
                                        <p:cTn id="98" dur="1" fill="hold">
                                          <p:stCondLst>
                                            <p:cond delay="0"/>
                                          </p:stCondLst>
                                        </p:cTn>
                                        <p:tgtEl>
                                          <p:spTgt spid="682029"/>
                                        </p:tgtEl>
                                        <p:attrNameLst>
                                          <p:attrName>style.visibility</p:attrName>
                                        </p:attrNameLst>
                                      </p:cBhvr>
                                      <p:to>
                                        <p:strVal val="visible"/>
                                      </p:to>
                                    </p:set>
                                    <p:anim calcmode="lin" valueType="num">
                                      <p:cBhvr>
                                        <p:cTn id="99" dur="500" fill="hold"/>
                                        <p:tgtEl>
                                          <p:spTgt spid="682029"/>
                                        </p:tgtEl>
                                        <p:attrNameLst>
                                          <p:attrName>ppt_x</p:attrName>
                                        </p:attrNameLst>
                                      </p:cBhvr>
                                      <p:tavLst>
                                        <p:tav tm="0">
                                          <p:val>
                                            <p:strVal val="#ppt_x-#ppt_w/2"/>
                                          </p:val>
                                        </p:tav>
                                        <p:tav tm="100000">
                                          <p:val>
                                            <p:strVal val="#ppt_x"/>
                                          </p:val>
                                        </p:tav>
                                      </p:tavLst>
                                    </p:anim>
                                    <p:anim calcmode="lin" valueType="num">
                                      <p:cBhvr>
                                        <p:cTn id="100" dur="500" fill="hold"/>
                                        <p:tgtEl>
                                          <p:spTgt spid="682029"/>
                                        </p:tgtEl>
                                        <p:attrNameLst>
                                          <p:attrName>ppt_y</p:attrName>
                                        </p:attrNameLst>
                                      </p:cBhvr>
                                      <p:tavLst>
                                        <p:tav tm="0">
                                          <p:val>
                                            <p:strVal val="#ppt_y"/>
                                          </p:val>
                                        </p:tav>
                                        <p:tav tm="100000">
                                          <p:val>
                                            <p:strVal val="#ppt_y"/>
                                          </p:val>
                                        </p:tav>
                                      </p:tavLst>
                                    </p:anim>
                                    <p:anim calcmode="lin" valueType="num">
                                      <p:cBhvr>
                                        <p:cTn id="101" dur="500" fill="hold"/>
                                        <p:tgtEl>
                                          <p:spTgt spid="682029"/>
                                        </p:tgtEl>
                                        <p:attrNameLst>
                                          <p:attrName>ppt_w</p:attrName>
                                        </p:attrNameLst>
                                      </p:cBhvr>
                                      <p:tavLst>
                                        <p:tav tm="0">
                                          <p:val>
                                            <p:fltVal val="0"/>
                                          </p:val>
                                        </p:tav>
                                        <p:tav tm="100000">
                                          <p:val>
                                            <p:strVal val="#ppt_w"/>
                                          </p:val>
                                        </p:tav>
                                      </p:tavLst>
                                    </p:anim>
                                    <p:anim calcmode="lin" valueType="num">
                                      <p:cBhvr>
                                        <p:cTn id="102" dur="500" fill="hold"/>
                                        <p:tgtEl>
                                          <p:spTgt spid="682029"/>
                                        </p:tgtEl>
                                        <p:attrNameLst>
                                          <p:attrName>ppt_h</p:attrName>
                                        </p:attrNameLst>
                                      </p:cBhvr>
                                      <p:tavLst>
                                        <p:tav tm="0">
                                          <p:val>
                                            <p:strVal val="#ppt_h"/>
                                          </p:val>
                                        </p:tav>
                                        <p:tav tm="100000">
                                          <p:val>
                                            <p:strVal val="#ppt_h"/>
                                          </p:val>
                                        </p:tav>
                                      </p:tavLst>
                                    </p:anim>
                                  </p:childTnLst>
                                </p:cTn>
                              </p:par>
                            </p:childTnLst>
                          </p:cTn>
                        </p:par>
                        <p:par>
                          <p:cTn id="103" fill="hold">
                            <p:stCondLst>
                              <p:cond delay="500"/>
                            </p:stCondLst>
                            <p:childTnLst>
                              <p:par>
                                <p:cTn id="104" presetID="17" presetClass="entr" presetSubtype="1" fill="hold" nodeType="afterEffect">
                                  <p:stCondLst>
                                    <p:cond delay="0"/>
                                  </p:stCondLst>
                                  <p:childTnLst>
                                    <p:set>
                                      <p:cBhvr>
                                        <p:cTn id="105" dur="1" fill="hold">
                                          <p:stCondLst>
                                            <p:cond delay="0"/>
                                          </p:stCondLst>
                                        </p:cTn>
                                        <p:tgtEl>
                                          <p:spTgt spid="682030"/>
                                        </p:tgtEl>
                                        <p:attrNameLst>
                                          <p:attrName>style.visibility</p:attrName>
                                        </p:attrNameLst>
                                      </p:cBhvr>
                                      <p:to>
                                        <p:strVal val="visible"/>
                                      </p:to>
                                    </p:set>
                                    <p:anim calcmode="lin" valueType="num">
                                      <p:cBhvr>
                                        <p:cTn id="106" dur="500" fill="hold"/>
                                        <p:tgtEl>
                                          <p:spTgt spid="682030"/>
                                        </p:tgtEl>
                                        <p:attrNameLst>
                                          <p:attrName>ppt_x</p:attrName>
                                        </p:attrNameLst>
                                      </p:cBhvr>
                                      <p:tavLst>
                                        <p:tav tm="0">
                                          <p:val>
                                            <p:strVal val="#ppt_x"/>
                                          </p:val>
                                        </p:tav>
                                        <p:tav tm="100000">
                                          <p:val>
                                            <p:strVal val="#ppt_x"/>
                                          </p:val>
                                        </p:tav>
                                      </p:tavLst>
                                    </p:anim>
                                    <p:anim calcmode="lin" valueType="num">
                                      <p:cBhvr>
                                        <p:cTn id="107" dur="500" fill="hold"/>
                                        <p:tgtEl>
                                          <p:spTgt spid="682030"/>
                                        </p:tgtEl>
                                        <p:attrNameLst>
                                          <p:attrName>ppt_y</p:attrName>
                                        </p:attrNameLst>
                                      </p:cBhvr>
                                      <p:tavLst>
                                        <p:tav tm="0">
                                          <p:val>
                                            <p:strVal val="#ppt_y-#ppt_h/2"/>
                                          </p:val>
                                        </p:tav>
                                        <p:tav tm="100000">
                                          <p:val>
                                            <p:strVal val="#ppt_y"/>
                                          </p:val>
                                        </p:tav>
                                      </p:tavLst>
                                    </p:anim>
                                    <p:anim calcmode="lin" valueType="num">
                                      <p:cBhvr>
                                        <p:cTn id="108" dur="500" fill="hold"/>
                                        <p:tgtEl>
                                          <p:spTgt spid="682030"/>
                                        </p:tgtEl>
                                        <p:attrNameLst>
                                          <p:attrName>ppt_w</p:attrName>
                                        </p:attrNameLst>
                                      </p:cBhvr>
                                      <p:tavLst>
                                        <p:tav tm="0">
                                          <p:val>
                                            <p:strVal val="#ppt_w"/>
                                          </p:val>
                                        </p:tav>
                                        <p:tav tm="100000">
                                          <p:val>
                                            <p:strVal val="#ppt_w"/>
                                          </p:val>
                                        </p:tav>
                                      </p:tavLst>
                                    </p:anim>
                                    <p:anim calcmode="lin" valueType="num">
                                      <p:cBhvr>
                                        <p:cTn id="109" dur="500" fill="hold"/>
                                        <p:tgtEl>
                                          <p:spTgt spid="682030"/>
                                        </p:tgtEl>
                                        <p:attrNameLst>
                                          <p:attrName>ppt_h</p:attrName>
                                        </p:attrNameLst>
                                      </p:cBhvr>
                                      <p:tavLst>
                                        <p:tav tm="0">
                                          <p:val>
                                            <p:flt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499"/>
                                          </p:stCondLst>
                                        </p:cTn>
                                        <p:tgtEl>
                                          <p:spTgt spid="682033"/>
                                        </p:tgtEl>
                                        <p:attrNameLst>
                                          <p:attrName>style.visibility</p:attrName>
                                        </p:attrNameLst>
                                      </p:cBhvr>
                                      <p:to>
                                        <p:strVal val="visible"/>
                                      </p:to>
                                    </p:set>
                                  </p:childTnLst>
                                </p:cTn>
                              </p:par>
                            </p:childTnLst>
                          </p:cTn>
                        </p:par>
                        <p:par>
                          <p:cTn id="114" fill="hold">
                            <p:stCondLst>
                              <p:cond delay="500"/>
                            </p:stCondLst>
                            <p:childTnLst>
                              <p:par>
                                <p:cTn id="115" presetID="17" presetClass="entr" presetSubtype="4" fill="hold" nodeType="afterEffect">
                                  <p:stCondLst>
                                    <p:cond delay="0"/>
                                  </p:stCondLst>
                                  <p:childTnLst>
                                    <p:set>
                                      <p:cBhvr>
                                        <p:cTn id="116" dur="1" fill="hold">
                                          <p:stCondLst>
                                            <p:cond delay="0"/>
                                          </p:stCondLst>
                                        </p:cTn>
                                        <p:tgtEl>
                                          <p:spTgt spid="682031"/>
                                        </p:tgtEl>
                                        <p:attrNameLst>
                                          <p:attrName>style.visibility</p:attrName>
                                        </p:attrNameLst>
                                      </p:cBhvr>
                                      <p:to>
                                        <p:strVal val="visible"/>
                                      </p:to>
                                    </p:set>
                                    <p:anim calcmode="lin" valueType="num">
                                      <p:cBhvr>
                                        <p:cTn id="117" dur="500" fill="hold"/>
                                        <p:tgtEl>
                                          <p:spTgt spid="682031"/>
                                        </p:tgtEl>
                                        <p:attrNameLst>
                                          <p:attrName>ppt_x</p:attrName>
                                        </p:attrNameLst>
                                      </p:cBhvr>
                                      <p:tavLst>
                                        <p:tav tm="0">
                                          <p:val>
                                            <p:strVal val="#ppt_x"/>
                                          </p:val>
                                        </p:tav>
                                        <p:tav tm="100000">
                                          <p:val>
                                            <p:strVal val="#ppt_x"/>
                                          </p:val>
                                        </p:tav>
                                      </p:tavLst>
                                    </p:anim>
                                    <p:anim calcmode="lin" valueType="num">
                                      <p:cBhvr>
                                        <p:cTn id="118" dur="500" fill="hold"/>
                                        <p:tgtEl>
                                          <p:spTgt spid="682031"/>
                                        </p:tgtEl>
                                        <p:attrNameLst>
                                          <p:attrName>ppt_y</p:attrName>
                                        </p:attrNameLst>
                                      </p:cBhvr>
                                      <p:tavLst>
                                        <p:tav tm="0">
                                          <p:val>
                                            <p:strVal val="#ppt_y+#ppt_h/2"/>
                                          </p:val>
                                        </p:tav>
                                        <p:tav tm="100000">
                                          <p:val>
                                            <p:strVal val="#ppt_y"/>
                                          </p:val>
                                        </p:tav>
                                      </p:tavLst>
                                    </p:anim>
                                    <p:anim calcmode="lin" valueType="num">
                                      <p:cBhvr>
                                        <p:cTn id="119" dur="500" fill="hold"/>
                                        <p:tgtEl>
                                          <p:spTgt spid="682031"/>
                                        </p:tgtEl>
                                        <p:attrNameLst>
                                          <p:attrName>ppt_w</p:attrName>
                                        </p:attrNameLst>
                                      </p:cBhvr>
                                      <p:tavLst>
                                        <p:tav tm="0">
                                          <p:val>
                                            <p:strVal val="#ppt_w"/>
                                          </p:val>
                                        </p:tav>
                                        <p:tav tm="100000">
                                          <p:val>
                                            <p:strVal val="#ppt_w"/>
                                          </p:val>
                                        </p:tav>
                                      </p:tavLst>
                                    </p:anim>
                                    <p:anim calcmode="lin" valueType="num">
                                      <p:cBhvr>
                                        <p:cTn id="120" dur="500" fill="hold"/>
                                        <p:tgtEl>
                                          <p:spTgt spid="682031"/>
                                        </p:tgtEl>
                                        <p:attrNameLst>
                                          <p:attrName>ppt_h</p:attrName>
                                        </p:attrNameLst>
                                      </p:cBhvr>
                                      <p:tavLst>
                                        <p:tav tm="0">
                                          <p:val>
                                            <p:fltVal val="0"/>
                                          </p:val>
                                        </p:tav>
                                        <p:tav tm="100000">
                                          <p:val>
                                            <p:strVal val="#ppt_h"/>
                                          </p:val>
                                        </p:tav>
                                      </p:tavLst>
                                    </p:anim>
                                  </p:childTnLst>
                                </p:cTn>
                              </p:par>
                            </p:childTnLst>
                          </p:cTn>
                        </p:par>
                        <p:par>
                          <p:cTn id="121" fill="hold">
                            <p:stCondLst>
                              <p:cond delay="1000"/>
                            </p:stCondLst>
                            <p:childTnLst>
                              <p:par>
                                <p:cTn id="122" presetID="17" presetClass="entr" presetSubtype="8" fill="hold" nodeType="afterEffect">
                                  <p:stCondLst>
                                    <p:cond delay="0"/>
                                  </p:stCondLst>
                                  <p:childTnLst>
                                    <p:set>
                                      <p:cBhvr>
                                        <p:cTn id="123" dur="1" fill="hold">
                                          <p:stCondLst>
                                            <p:cond delay="0"/>
                                          </p:stCondLst>
                                        </p:cTn>
                                        <p:tgtEl>
                                          <p:spTgt spid="682032"/>
                                        </p:tgtEl>
                                        <p:attrNameLst>
                                          <p:attrName>style.visibility</p:attrName>
                                        </p:attrNameLst>
                                      </p:cBhvr>
                                      <p:to>
                                        <p:strVal val="visible"/>
                                      </p:to>
                                    </p:set>
                                    <p:anim calcmode="lin" valueType="num">
                                      <p:cBhvr>
                                        <p:cTn id="124" dur="500" fill="hold"/>
                                        <p:tgtEl>
                                          <p:spTgt spid="682032"/>
                                        </p:tgtEl>
                                        <p:attrNameLst>
                                          <p:attrName>ppt_x</p:attrName>
                                        </p:attrNameLst>
                                      </p:cBhvr>
                                      <p:tavLst>
                                        <p:tav tm="0">
                                          <p:val>
                                            <p:strVal val="#ppt_x-#ppt_w/2"/>
                                          </p:val>
                                        </p:tav>
                                        <p:tav tm="100000">
                                          <p:val>
                                            <p:strVal val="#ppt_x"/>
                                          </p:val>
                                        </p:tav>
                                      </p:tavLst>
                                    </p:anim>
                                    <p:anim calcmode="lin" valueType="num">
                                      <p:cBhvr>
                                        <p:cTn id="125" dur="500" fill="hold"/>
                                        <p:tgtEl>
                                          <p:spTgt spid="682032"/>
                                        </p:tgtEl>
                                        <p:attrNameLst>
                                          <p:attrName>ppt_y</p:attrName>
                                        </p:attrNameLst>
                                      </p:cBhvr>
                                      <p:tavLst>
                                        <p:tav tm="0">
                                          <p:val>
                                            <p:strVal val="#ppt_y"/>
                                          </p:val>
                                        </p:tav>
                                        <p:tav tm="100000">
                                          <p:val>
                                            <p:strVal val="#ppt_y"/>
                                          </p:val>
                                        </p:tav>
                                      </p:tavLst>
                                    </p:anim>
                                    <p:anim calcmode="lin" valueType="num">
                                      <p:cBhvr>
                                        <p:cTn id="126" dur="500" fill="hold"/>
                                        <p:tgtEl>
                                          <p:spTgt spid="682032"/>
                                        </p:tgtEl>
                                        <p:attrNameLst>
                                          <p:attrName>ppt_w</p:attrName>
                                        </p:attrNameLst>
                                      </p:cBhvr>
                                      <p:tavLst>
                                        <p:tav tm="0">
                                          <p:val>
                                            <p:fltVal val="0"/>
                                          </p:val>
                                        </p:tav>
                                        <p:tav tm="100000">
                                          <p:val>
                                            <p:strVal val="#ppt_w"/>
                                          </p:val>
                                        </p:tav>
                                      </p:tavLst>
                                    </p:anim>
                                    <p:anim calcmode="lin" valueType="num">
                                      <p:cBhvr>
                                        <p:cTn id="127" dur="500" fill="hold"/>
                                        <p:tgtEl>
                                          <p:spTgt spid="682032"/>
                                        </p:tgtEl>
                                        <p:attrNameLst>
                                          <p:attrName>ppt_h</p:attrName>
                                        </p:attrNameLst>
                                      </p:cBhvr>
                                      <p:tavLst>
                                        <p:tav tm="0">
                                          <p:val>
                                            <p:strVal val="#ppt_h"/>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499"/>
                                          </p:stCondLst>
                                        </p:cTn>
                                        <p:tgtEl>
                                          <p:spTgt spid="682038"/>
                                        </p:tgtEl>
                                        <p:attrNameLst>
                                          <p:attrName>style.visibility</p:attrName>
                                        </p:attrNameLst>
                                      </p:cBhvr>
                                      <p:to>
                                        <p:strVal val="visible"/>
                                      </p:to>
                                    </p:set>
                                  </p:childTnLst>
                                </p:cTn>
                              </p:par>
                            </p:childTnLst>
                          </p:cTn>
                        </p:par>
                        <p:par>
                          <p:cTn id="132" fill="hold">
                            <p:stCondLst>
                              <p:cond delay="500"/>
                            </p:stCondLst>
                            <p:childTnLst>
                              <p:par>
                                <p:cTn id="133" presetID="12" presetClass="entr" presetSubtype="8" fill="hold" nodeType="afterEffect">
                                  <p:stCondLst>
                                    <p:cond delay="0"/>
                                  </p:stCondLst>
                                  <p:childTnLst>
                                    <p:set>
                                      <p:cBhvr>
                                        <p:cTn id="134" dur="1" fill="hold">
                                          <p:stCondLst>
                                            <p:cond delay="0"/>
                                          </p:stCondLst>
                                        </p:cTn>
                                        <p:tgtEl>
                                          <p:spTgt spid="6"/>
                                        </p:tgtEl>
                                        <p:attrNameLst>
                                          <p:attrName>style.visibility</p:attrName>
                                        </p:attrNameLst>
                                      </p:cBhvr>
                                      <p:to>
                                        <p:strVal val="visible"/>
                                      </p:to>
                                    </p:set>
                                    <p:animEffect transition="in" filter="slide(fromLeft)">
                                      <p:cBhvr>
                                        <p:cTn id="135" dur="500"/>
                                        <p:tgtEl>
                                          <p:spTgt spid="6"/>
                                        </p:tgtEl>
                                      </p:cBhvr>
                                    </p:animEffec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499"/>
                                          </p:stCondLst>
                                        </p:cTn>
                                        <p:tgtEl>
                                          <p:spTgt spid="682042"/>
                                        </p:tgtEl>
                                        <p:attrNameLst>
                                          <p:attrName>style.visibility</p:attrName>
                                        </p:attrNameLst>
                                      </p:cBhvr>
                                      <p:to>
                                        <p:strVal val="visible"/>
                                      </p:to>
                                    </p:set>
                                  </p:childTnLst>
                                </p:cTn>
                              </p:par>
                            </p:childTnLst>
                          </p:cTn>
                        </p:par>
                        <p:par>
                          <p:cTn id="140" fill="hold">
                            <p:stCondLst>
                              <p:cond delay="500"/>
                            </p:stCondLst>
                            <p:childTnLst>
                              <p:par>
                                <p:cTn id="141" presetID="12" presetClass="entr" presetSubtype="8" fill="hold" nodeType="afterEffect">
                                  <p:stCondLst>
                                    <p:cond delay="0"/>
                                  </p:stCondLst>
                                  <p:childTnLst>
                                    <p:set>
                                      <p:cBhvr>
                                        <p:cTn id="142" dur="1" fill="hold">
                                          <p:stCondLst>
                                            <p:cond delay="0"/>
                                          </p:stCondLst>
                                        </p:cTn>
                                        <p:tgtEl>
                                          <p:spTgt spid="7"/>
                                        </p:tgtEl>
                                        <p:attrNameLst>
                                          <p:attrName>style.visibility</p:attrName>
                                        </p:attrNameLst>
                                      </p:cBhvr>
                                      <p:to>
                                        <p:strVal val="visible"/>
                                      </p:to>
                                    </p:set>
                                    <p:animEffect transition="in" filter="slide(fromLeft)">
                                      <p:cBhvr>
                                        <p:cTn id="143" dur="500"/>
                                        <p:tgtEl>
                                          <p:spTgt spid="7"/>
                                        </p:tgtEl>
                                      </p:cBhvr>
                                    </p:animEffec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499"/>
                                          </p:stCondLst>
                                        </p:cTn>
                                        <p:tgtEl>
                                          <p:spTgt spid="682053"/>
                                        </p:tgtEl>
                                        <p:attrNameLst>
                                          <p:attrName>style.visibility</p:attrName>
                                        </p:attrNameLst>
                                      </p:cBhvr>
                                      <p:to>
                                        <p:strVal val="visible"/>
                                      </p:to>
                                    </p:set>
                                  </p:childTnLst>
                                </p:cTn>
                              </p:par>
                            </p:childTnLst>
                          </p:cTn>
                        </p:par>
                        <p:par>
                          <p:cTn id="148" fill="hold">
                            <p:stCondLst>
                              <p:cond delay="500"/>
                            </p:stCondLst>
                            <p:childTnLst>
                              <p:par>
                                <p:cTn id="149" presetID="2" presetClass="entr" presetSubtype="2" fill="hold" grpId="0" nodeType="afterEffect">
                                  <p:stCondLst>
                                    <p:cond delay="0"/>
                                  </p:stCondLst>
                                  <p:childTnLst>
                                    <p:set>
                                      <p:cBhvr>
                                        <p:cTn id="150" dur="1" fill="hold">
                                          <p:stCondLst>
                                            <p:cond delay="0"/>
                                          </p:stCondLst>
                                        </p:cTn>
                                        <p:tgtEl>
                                          <p:spTgt spid="682043"/>
                                        </p:tgtEl>
                                        <p:attrNameLst>
                                          <p:attrName>style.visibility</p:attrName>
                                        </p:attrNameLst>
                                      </p:cBhvr>
                                      <p:to>
                                        <p:strVal val="visible"/>
                                      </p:to>
                                    </p:set>
                                    <p:anim calcmode="lin" valueType="num">
                                      <p:cBhvr additive="base">
                                        <p:cTn id="151" dur="500" fill="hold"/>
                                        <p:tgtEl>
                                          <p:spTgt spid="682043"/>
                                        </p:tgtEl>
                                        <p:attrNameLst>
                                          <p:attrName>ppt_x</p:attrName>
                                        </p:attrNameLst>
                                      </p:cBhvr>
                                      <p:tavLst>
                                        <p:tav tm="0">
                                          <p:val>
                                            <p:strVal val="1+#ppt_w/2"/>
                                          </p:val>
                                        </p:tav>
                                        <p:tav tm="100000">
                                          <p:val>
                                            <p:strVal val="#ppt_x"/>
                                          </p:val>
                                        </p:tav>
                                      </p:tavLst>
                                    </p:anim>
                                    <p:anim calcmode="lin" valueType="num">
                                      <p:cBhvr additive="base">
                                        <p:cTn id="152" dur="500" fill="hold"/>
                                        <p:tgtEl>
                                          <p:spTgt spid="682043"/>
                                        </p:tgtEl>
                                        <p:attrNameLst>
                                          <p:attrName>ppt_y</p:attrName>
                                        </p:attrNameLst>
                                      </p:cBhvr>
                                      <p:tavLst>
                                        <p:tav tm="0">
                                          <p:val>
                                            <p:strVal val="#ppt_y"/>
                                          </p:val>
                                        </p:tav>
                                        <p:tav tm="100000">
                                          <p:val>
                                            <p:strVal val="#ppt_y"/>
                                          </p:val>
                                        </p:tav>
                                      </p:tavLst>
                                    </p:anim>
                                  </p:childTnLst>
                                </p:cTn>
                              </p:par>
                            </p:childTnLst>
                          </p:cTn>
                        </p:par>
                        <p:par>
                          <p:cTn id="153" fill="hold">
                            <p:stCondLst>
                              <p:cond delay="1000"/>
                            </p:stCondLst>
                            <p:childTnLst>
                              <p:par>
                                <p:cTn id="154" presetID="2" presetClass="entr" presetSubtype="2" fill="hold" grpId="0" nodeType="afterEffect">
                                  <p:stCondLst>
                                    <p:cond delay="0"/>
                                  </p:stCondLst>
                                  <p:childTnLst>
                                    <p:set>
                                      <p:cBhvr>
                                        <p:cTn id="155" dur="1" fill="hold">
                                          <p:stCondLst>
                                            <p:cond delay="0"/>
                                          </p:stCondLst>
                                        </p:cTn>
                                        <p:tgtEl>
                                          <p:spTgt spid="682044"/>
                                        </p:tgtEl>
                                        <p:attrNameLst>
                                          <p:attrName>style.visibility</p:attrName>
                                        </p:attrNameLst>
                                      </p:cBhvr>
                                      <p:to>
                                        <p:strVal val="visible"/>
                                      </p:to>
                                    </p:set>
                                    <p:anim calcmode="lin" valueType="num">
                                      <p:cBhvr additive="base">
                                        <p:cTn id="156" dur="500" fill="hold"/>
                                        <p:tgtEl>
                                          <p:spTgt spid="682044"/>
                                        </p:tgtEl>
                                        <p:attrNameLst>
                                          <p:attrName>ppt_x</p:attrName>
                                        </p:attrNameLst>
                                      </p:cBhvr>
                                      <p:tavLst>
                                        <p:tav tm="0">
                                          <p:val>
                                            <p:strVal val="1+#ppt_w/2"/>
                                          </p:val>
                                        </p:tav>
                                        <p:tav tm="100000">
                                          <p:val>
                                            <p:strVal val="#ppt_x"/>
                                          </p:val>
                                        </p:tav>
                                      </p:tavLst>
                                    </p:anim>
                                    <p:anim calcmode="lin" valueType="num">
                                      <p:cBhvr additive="base">
                                        <p:cTn id="157" dur="500" fill="hold"/>
                                        <p:tgtEl>
                                          <p:spTgt spid="682044"/>
                                        </p:tgtEl>
                                        <p:attrNameLst>
                                          <p:attrName>ppt_y</p:attrName>
                                        </p:attrNameLst>
                                      </p:cBhvr>
                                      <p:tavLst>
                                        <p:tav tm="0">
                                          <p:val>
                                            <p:strVal val="#ppt_y"/>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17" presetClass="entr" presetSubtype="8" fill="hold" nodeType="clickEffect">
                                  <p:stCondLst>
                                    <p:cond delay="0"/>
                                  </p:stCondLst>
                                  <p:childTnLst>
                                    <p:set>
                                      <p:cBhvr>
                                        <p:cTn id="161" dur="1" fill="hold">
                                          <p:stCondLst>
                                            <p:cond delay="0"/>
                                          </p:stCondLst>
                                        </p:cTn>
                                        <p:tgtEl>
                                          <p:spTgt spid="682045"/>
                                        </p:tgtEl>
                                        <p:attrNameLst>
                                          <p:attrName>style.visibility</p:attrName>
                                        </p:attrNameLst>
                                      </p:cBhvr>
                                      <p:to>
                                        <p:strVal val="visible"/>
                                      </p:to>
                                    </p:set>
                                    <p:anim calcmode="lin" valueType="num">
                                      <p:cBhvr>
                                        <p:cTn id="162" dur="500" fill="hold"/>
                                        <p:tgtEl>
                                          <p:spTgt spid="682045"/>
                                        </p:tgtEl>
                                        <p:attrNameLst>
                                          <p:attrName>ppt_x</p:attrName>
                                        </p:attrNameLst>
                                      </p:cBhvr>
                                      <p:tavLst>
                                        <p:tav tm="0">
                                          <p:val>
                                            <p:strVal val="#ppt_x-#ppt_w/2"/>
                                          </p:val>
                                        </p:tav>
                                        <p:tav tm="100000">
                                          <p:val>
                                            <p:strVal val="#ppt_x"/>
                                          </p:val>
                                        </p:tav>
                                      </p:tavLst>
                                    </p:anim>
                                    <p:anim calcmode="lin" valueType="num">
                                      <p:cBhvr>
                                        <p:cTn id="163" dur="500" fill="hold"/>
                                        <p:tgtEl>
                                          <p:spTgt spid="682045"/>
                                        </p:tgtEl>
                                        <p:attrNameLst>
                                          <p:attrName>ppt_y</p:attrName>
                                        </p:attrNameLst>
                                      </p:cBhvr>
                                      <p:tavLst>
                                        <p:tav tm="0">
                                          <p:val>
                                            <p:strVal val="#ppt_y"/>
                                          </p:val>
                                        </p:tav>
                                        <p:tav tm="100000">
                                          <p:val>
                                            <p:strVal val="#ppt_y"/>
                                          </p:val>
                                        </p:tav>
                                      </p:tavLst>
                                    </p:anim>
                                    <p:anim calcmode="lin" valueType="num">
                                      <p:cBhvr>
                                        <p:cTn id="164" dur="500" fill="hold"/>
                                        <p:tgtEl>
                                          <p:spTgt spid="682045"/>
                                        </p:tgtEl>
                                        <p:attrNameLst>
                                          <p:attrName>ppt_w</p:attrName>
                                        </p:attrNameLst>
                                      </p:cBhvr>
                                      <p:tavLst>
                                        <p:tav tm="0">
                                          <p:val>
                                            <p:fltVal val="0"/>
                                          </p:val>
                                        </p:tav>
                                        <p:tav tm="100000">
                                          <p:val>
                                            <p:strVal val="#ppt_w"/>
                                          </p:val>
                                        </p:tav>
                                      </p:tavLst>
                                    </p:anim>
                                    <p:anim calcmode="lin" valueType="num">
                                      <p:cBhvr>
                                        <p:cTn id="165" dur="500" fill="hold"/>
                                        <p:tgtEl>
                                          <p:spTgt spid="682045"/>
                                        </p:tgtEl>
                                        <p:attrNameLst>
                                          <p:attrName>ppt_h</p:attrName>
                                        </p:attrNameLst>
                                      </p:cBhvr>
                                      <p:tavLst>
                                        <p:tav tm="0">
                                          <p:val>
                                            <p:strVal val="#ppt_h"/>
                                          </p:val>
                                        </p:tav>
                                        <p:tav tm="100000">
                                          <p:val>
                                            <p:strVal val="#ppt_h"/>
                                          </p:val>
                                        </p:tav>
                                      </p:tavLst>
                                    </p:anim>
                                  </p:childTnLst>
                                </p:cTn>
                              </p:par>
                            </p:childTnLst>
                          </p:cTn>
                        </p:par>
                        <p:par>
                          <p:cTn id="166" fill="hold">
                            <p:stCondLst>
                              <p:cond delay="500"/>
                            </p:stCondLst>
                            <p:childTnLst>
                              <p:par>
                                <p:cTn id="167" presetID="17" presetClass="entr" presetSubtype="1" fill="hold" nodeType="afterEffect">
                                  <p:stCondLst>
                                    <p:cond delay="0"/>
                                  </p:stCondLst>
                                  <p:childTnLst>
                                    <p:set>
                                      <p:cBhvr>
                                        <p:cTn id="168" dur="1" fill="hold">
                                          <p:stCondLst>
                                            <p:cond delay="0"/>
                                          </p:stCondLst>
                                        </p:cTn>
                                        <p:tgtEl>
                                          <p:spTgt spid="682046"/>
                                        </p:tgtEl>
                                        <p:attrNameLst>
                                          <p:attrName>style.visibility</p:attrName>
                                        </p:attrNameLst>
                                      </p:cBhvr>
                                      <p:to>
                                        <p:strVal val="visible"/>
                                      </p:to>
                                    </p:set>
                                    <p:anim calcmode="lin" valueType="num">
                                      <p:cBhvr>
                                        <p:cTn id="169" dur="500" fill="hold"/>
                                        <p:tgtEl>
                                          <p:spTgt spid="682046"/>
                                        </p:tgtEl>
                                        <p:attrNameLst>
                                          <p:attrName>ppt_x</p:attrName>
                                        </p:attrNameLst>
                                      </p:cBhvr>
                                      <p:tavLst>
                                        <p:tav tm="0">
                                          <p:val>
                                            <p:strVal val="#ppt_x"/>
                                          </p:val>
                                        </p:tav>
                                        <p:tav tm="100000">
                                          <p:val>
                                            <p:strVal val="#ppt_x"/>
                                          </p:val>
                                        </p:tav>
                                      </p:tavLst>
                                    </p:anim>
                                    <p:anim calcmode="lin" valueType="num">
                                      <p:cBhvr>
                                        <p:cTn id="170" dur="500" fill="hold"/>
                                        <p:tgtEl>
                                          <p:spTgt spid="682046"/>
                                        </p:tgtEl>
                                        <p:attrNameLst>
                                          <p:attrName>ppt_y</p:attrName>
                                        </p:attrNameLst>
                                      </p:cBhvr>
                                      <p:tavLst>
                                        <p:tav tm="0">
                                          <p:val>
                                            <p:strVal val="#ppt_y-#ppt_h/2"/>
                                          </p:val>
                                        </p:tav>
                                        <p:tav tm="100000">
                                          <p:val>
                                            <p:strVal val="#ppt_y"/>
                                          </p:val>
                                        </p:tav>
                                      </p:tavLst>
                                    </p:anim>
                                    <p:anim calcmode="lin" valueType="num">
                                      <p:cBhvr>
                                        <p:cTn id="171" dur="500" fill="hold"/>
                                        <p:tgtEl>
                                          <p:spTgt spid="682046"/>
                                        </p:tgtEl>
                                        <p:attrNameLst>
                                          <p:attrName>ppt_w</p:attrName>
                                        </p:attrNameLst>
                                      </p:cBhvr>
                                      <p:tavLst>
                                        <p:tav tm="0">
                                          <p:val>
                                            <p:strVal val="#ppt_w"/>
                                          </p:val>
                                        </p:tav>
                                        <p:tav tm="100000">
                                          <p:val>
                                            <p:strVal val="#ppt_w"/>
                                          </p:val>
                                        </p:tav>
                                      </p:tavLst>
                                    </p:anim>
                                    <p:anim calcmode="lin" valueType="num">
                                      <p:cBhvr>
                                        <p:cTn id="172" dur="500" fill="hold"/>
                                        <p:tgtEl>
                                          <p:spTgt spid="682046"/>
                                        </p:tgtEl>
                                        <p:attrNameLst>
                                          <p:attrName>ppt_h</p:attrName>
                                        </p:attrNameLst>
                                      </p:cBhvr>
                                      <p:tavLst>
                                        <p:tav tm="0">
                                          <p:val>
                                            <p:fltVal val="0"/>
                                          </p:val>
                                        </p:tav>
                                        <p:tav tm="100000">
                                          <p:val>
                                            <p:strVal val="#ppt_h"/>
                                          </p:val>
                                        </p:tav>
                                      </p:tavLst>
                                    </p:anim>
                                  </p:childTnLst>
                                </p:cTn>
                              </p:par>
                            </p:childTnLst>
                          </p:cTn>
                        </p:par>
                      </p:childTnLst>
                    </p:cTn>
                  </p:par>
                  <p:par>
                    <p:cTn id="173" fill="hold">
                      <p:stCondLst>
                        <p:cond delay="indefinite"/>
                      </p:stCondLst>
                      <p:childTnLst>
                        <p:par>
                          <p:cTn id="174" fill="hold">
                            <p:stCondLst>
                              <p:cond delay="0"/>
                            </p:stCondLst>
                            <p:childTnLst>
                              <p:par>
                                <p:cTn id="175" presetID="17" presetClass="entr" presetSubtype="4" fill="hold" nodeType="clickEffect">
                                  <p:stCondLst>
                                    <p:cond delay="0"/>
                                  </p:stCondLst>
                                  <p:childTnLst>
                                    <p:set>
                                      <p:cBhvr>
                                        <p:cTn id="176" dur="1" fill="hold">
                                          <p:stCondLst>
                                            <p:cond delay="0"/>
                                          </p:stCondLst>
                                        </p:cTn>
                                        <p:tgtEl>
                                          <p:spTgt spid="682047"/>
                                        </p:tgtEl>
                                        <p:attrNameLst>
                                          <p:attrName>style.visibility</p:attrName>
                                        </p:attrNameLst>
                                      </p:cBhvr>
                                      <p:to>
                                        <p:strVal val="visible"/>
                                      </p:to>
                                    </p:set>
                                    <p:anim calcmode="lin" valueType="num">
                                      <p:cBhvr>
                                        <p:cTn id="177" dur="500" fill="hold"/>
                                        <p:tgtEl>
                                          <p:spTgt spid="682047"/>
                                        </p:tgtEl>
                                        <p:attrNameLst>
                                          <p:attrName>ppt_x</p:attrName>
                                        </p:attrNameLst>
                                      </p:cBhvr>
                                      <p:tavLst>
                                        <p:tav tm="0">
                                          <p:val>
                                            <p:strVal val="#ppt_x"/>
                                          </p:val>
                                        </p:tav>
                                        <p:tav tm="100000">
                                          <p:val>
                                            <p:strVal val="#ppt_x"/>
                                          </p:val>
                                        </p:tav>
                                      </p:tavLst>
                                    </p:anim>
                                    <p:anim calcmode="lin" valueType="num">
                                      <p:cBhvr>
                                        <p:cTn id="178" dur="500" fill="hold"/>
                                        <p:tgtEl>
                                          <p:spTgt spid="682047"/>
                                        </p:tgtEl>
                                        <p:attrNameLst>
                                          <p:attrName>ppt_y</p:attrName>
                                        </p:attrNameLst>
                                      </p:cBhvr>
                                      <p:tavLst>
                                        <p:tav tm="0">
                                          <p:val>
                                            <p:strVal val="#ppt_y+#ppt_h/2"/>
                                          </p:val>
                                        </p:tav>
                                        <p:tav tm="100000">
                                          <p:val>
                                            <p:strVal val="#ppt_y"/>
                                          </p:val>
                                        </p:tav>
                                      </p:tavLst>
                                    </p:anim>
                                    <p:anim calcmode="lin" valueType="num">
                                      <p:cBhvr>
                                        <p:cTn id="179" dur="500" fill="hold"/>
                                        <p:tgtEl>
                                          <p:spTgt spid="682047"/>
                                        </p:tgtEl>
                                        <p:attrNameLst>
                                          <p:attrName>ppt_w</p:attrName>
                                        </p:attrNameLst>
                                      </p:cBhvr>
                                      <p:tavLst>
                                        <p:tav tm="0">
                                          <p:val>
                                            <p:strVal val="#ppt_w"/>
                                          </p:val>
                                        </p:tav>
                                        <p:tav tm="100000">
                                          <p:val>
                                            <p:strVal val="#ppt_w"/>
                                          </p:val>
                                        </p:tav>
                                      </p:tavLst>
                                    </p:anim>
                                    <p:anim calcmode="lin" valueType="num">
                                      <p:cBhvr>
                                        <p:cTn id="180" dur="500" fill="hold"/>
                                        <p:tgtEl>
                                          <p:spTgt spid="682047"/>
                                        </p:tgtEl>
                                        <p:attrNameLst>
                                          <p:attrName>ppt_h</p:attrName>
                                        </p:attrNameLst>
                                      </p:cBhvr>
                                      <p:tavLst>
                                        <p:tav tm="0">
                                          <p:val>
                                            <p:fltVal val="0"/>
                                          </p:val>
                                        </p:tav>
                                        <p:tav tm="100000">
                                          <p:val>
                                            <p:strVal val="#ppt_h"/>
                                          </p:val>
                                        </p:tav>
                                      </p:tavLst>
                                    </p:anim>
                                  </p:childTnLst>
                                </p:cTn>
                              </p:par>
                            </p:childTnLst>
                          </p:cTn>
                        </p:par>
                        <p:par>
                          <p:cTn id="181" fill="hold">
                            <p:stCondLst>
                              <p:cond delay="500"/>
                            </p:stCondLst>
                            <p:childTnLst>
                              <p:par>
                                <p:cTn id="182" presetID="1" presetClass="entr" presetSubtype="0" fill="hold" grpId="0" nodeType="afterEffect">
                                  <p:stCondLst>
                                    <p:cond delay="0"/>
                                  </p:stCondLst>
                                  <p:childTnLst>
                                    <p:set>
                                      <p:cBhvr>
                                        <p:cTn id="183" dur="1" fill="hold">
                                          <p:stCondLst>
                                            <p:cond delay="499"/>
                                          </p:stCondLst>
                                        </p:cTn>
                                        <p:tgtEl>
                                          <p:spTgt spid="682048"/>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499"/>
                                          </p:stCondLst>
                                        </p:cTn>
                                        <p:tgtEl>
                                          <p:spTgt spid="682052"/>
                                        </p:tgtEl>
                                        <p:attrNameLst>
                                          <p:attrName>style.visibility</p:attrName>
                                        </p:attrNameLst>
                                      </p:cBhvr>
                                      <p:to>
                                        <p:strVal val="visible"/>
                                      </p:to>
                                    </p:set>
                                  </p:childTnLst>
                                </p:cTn>
                              </p:par>
                            </p:childTnLst>
                          </p:cTn>
                        </p:par>
                        <p:par>
                          <p:cTn id="188" fill="hold">
                            <p:stCondLst>
                              <p:cond delay="500"/>
                            </p:stCondLst>
                            <p:childTnLst>
                              <p:par>
                                <p:cTn id="189" presetID="12" presetClass="entr" presetSubtype="8" fill="hold" nodeType="afterEffect">
                                  <p:stCondLst>
                                    <p:cond delay="0"/>
                                  </p:stCondLst>
                                  <p:childTnLst>
                                    <p:set>
                                      <p:cBhvr>
                                        <p:cTn id="190" dur="1" fill="hold">
                                          <p:stCondLst>
                                            <p:cond delay="0"/>
                                          </p:stCondLst>
                                        </p:cTn>
                                        <p:tgtEl>
                                          <p:spTgt spid="8"/>
                                        </p:tgtEl>
                                        <p:attrNameLst>
                                          <p:attrName>style.visibility</p:attrName>
                                        </p:attrNameLst>
                                      </p:cBhvr>
                                      <p:to>
                                        <p:strVal val="visible"/>
                                      </p:to>
                                    </p:set>
                                    <p:animEffect transition="in" filter="slide(fromLeft)">
                                      <p:cBhvr>
                                        <p:cTn id="191" dur="500"/>
                                        <p:tgtEl>
                                          <p:spTgt spid="8"/>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8" fill="hold" grpId="0" nodeType="clickEffect">
                                  <p:stCondLst>
                                    <p:cond delay="0"/>
                                  </p:stCondLst>
                                  <p:childTnLst>
                                    <p:set>
                                      <p:cBhvr>
                                        <p:cTn id="195" dur="1" fill="hold">
                                          <p:stCondLst>
                                            <p:cond delay="0"/>
                                          </p:stCondLst>
                                        </p:cTn>
                                        <p:tgtEl>
                                          <p:spTgt spid="682054"/>
                                        </p:tgtEl>
                                        <p:attrNameLst>
                                          <p:attrName>style.visibility</p:attrName>
                                        </p:attrNameLst>
                                      </p:cBhvr>
                                      <p:to>
                                        <p:strVal val="visible"/>
                                      </p:to>
                                    </p:set>
                                    <p:animEffect transition="in" filter="wipe(left)">
                                      <p:cBhvr>
                                        <p:cTn id="196" dur="500"/>
                                        <p:tgtEl>
                                          <p:spTgt spid="68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2010" grpId="0" animBg="1"/>
      <p:bldP spid="682012" grpId="0"/>
      <p:bldP spid="682013" grpId="0"/>
      <p:bldP spid="682014" grpId="0" animBg="1"/>
      <p:bldP spid="682015" grpId="0" animBg="1"/>
      <p:bldP spid="682016" grpId="0" animBg="1"/>
      <p:bldP spid="682021" grpId="0" animBg="1"/>
      <p:bldP spid="682022" grpId="0" animBg="1"/>
      <p:bldP spid="682026" grpId="0" animBg="1"/>
      <p:bldP spid="682027" grpId="0" animBg="1"/>
      <p:bldP spid="682028" grpId="0" animBg="1"/>
      <p:bldP spid="682033" grpId="0" animBg="1"/>
      <p:bldP spid="682034" grpId="0" animBg="1"/>
      <p:bldP spid="682038" grpId="0" animBg="1"/>
      <p:bldP spid="682042" grpId="0" animBg="1"/>
      <p:bldP spid="682043" grpId="0" animBg="1"/>
      <p:bldP spid="682044" grpId="0" animBg="1"/>
      <p:bldP spid="682048" grpId="0" animBg="1"/>
      <p:bldP spid="682052" grpId="0" animBg="1"/>
      <p:bldP spid="682053" grpId="0" animBg="1"/>
      <p:bldP spid="682054" grpId="0" animBg="1"/>
      <p:bldP spid="68205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hkMjM2ZGM2ZmEyYjQ3YmNmOTBkMTVhNzBmNjcyNmM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11v1j1fj">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378</TotalTime>
  <Words>12637</Words>
  <Application>Microsoft Office PowerPoint</Application>
  <PresentationFormat>全屏显示(4:3)</PresentationFormat>
  <Paragraphs>2190</Paragraphs>
  <Slides>203</Slides>
  <Notes>8</Notes>
  <HiddenSlides>61</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203</vt:i4>
      </vt:variant>
    </vt:vector>
  </HeadingPairs>
  <TitlesOfParts>
    <vt:vector size="226" baseType="lpstr">
      <vt:lpstr>Gill Sans</vt:lpstr>
      <vt:lpstr>Microsoft Yahei</vt:lpstr>
      <vt:lpstr>Pirulen</vt:lpstr>
      <vt:lpstr>Swiss911 UCm BT</vt:lpstr>
      <vt:lpstr>ヒラギノ角ゴ ProN W3</vt:lpstr>
      <vt:lpstr>方正书宋简体</vt:lpstr>
      <vt:lpstr>仿宋_GB2312</vt:lpstr>
      <vt:lpstr>楷体_GB2312</vt:lpstr>
      <vt:lpstr>隶书</vt:lpstr>
      <vt:lpstr>宋体</vt:lpstr>
      <vt:lpstr>微软雅黑</vt:lpstr>
      <vt:lpstr>微软雅黑</vt:lpstr>
      <vt:lpstr>Arial</vt:lpstr>
      <vt:lpstr>Arial Narrow</vt:lpstr>
      <vt:lpstr>Calibri</vt:lpstr>
      <vt:lpstr>Impact</vt:lpstr>
      <vt:lpstr>Leelawadee</vt:lpstr>
      <vt:lpstr>Times New Roman</vt:lpstr>
      <vt:lpstr>Wingdings</vt:lpstr>
      <vt:lpstr>1_默认设计模板</vt:lpstr>
      <vt:lpstr>Equation.3</vt:lpstr>
      <vt:lpstr>Visio.Drawing.11</vt:lpstr>
      <vt:lpstr>Microsoft Word Picture</vt:lpstr>
      <vt:lpstr>PowerPoint 演示文稿</vt:lpstr>
      <vt:lpstr>第2章   线性表</vt:lpstr>
      <vt:lpstr>PowerPoint 演示文稿</vt:lpstr>
      <vt:lpstr>PowerPoint 演示文稿</vt:lpstr>
      <vt:lpstr>PowerPoint 演示文稿</vt:lpstr>
      <vt:lpstr>例1 分析26 个英文字母组成的英文表</vt:lpstr>
      <vt:lpstr>PowerPoint 演示文稿</vt:lpstr>
      <vt:lpstr>2.2 案例引入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排序</vt:lpstr>
      <vt:lpstr>源代码</vt:lpstr>
      <vt:lpstr>时间复杂度分析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多项式相加</vt:lpstr>
      <vt:lpstr>多项式相加</vt:lpstr>
      <vt:lpstr>多项式相加</vt:lpstr>
      <vt:lpstr>多项式相加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bjfu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lidongmei</dc:creator>
  <cp:lastModifiedBy>Administrator</cp:lastModifiedBy>
  <cp:revision>1211</cp:revision>
  <dcterms:created xsi:type="dcterms:W3CDTF">1996-07-15T15:40:00Z</dcterms:created>
  <dcterms:modified xsi:type="dcterms:W3CDTF">2026-03-18T01:51:54Z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E6FA7275C544421AA02EF89FD66E4972_12</vt:lpwstr>
  </property>
</Properties>
</file>