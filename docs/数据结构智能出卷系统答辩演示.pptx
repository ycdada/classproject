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zh-CN"/>
    </a:defPPr>
    <a:lvl1pPr marL="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9" d="100"/>
          <a:sy n="69" d="100"/>
        </p:scale>
        <p:origin x="72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s-exam-defens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altLang="en-US" smtClean="0"/>
              <a:t>2026/9/20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alt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altLang="en-US" smtClean="0"/>
              <a:t>2026/9/20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alt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CN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lang="zh-CN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Rectangle 3"/>
          <p:cNvSpPr/>
          <p:nvPr/>
        </p:nvSpPr>
        <p:spPr>
          <a:xfrm>
            <a:off x="533400" y="876300"/>
            <a:ext cx="95250" cy="723900"/>
          </a:xfrm>
          <a:prstGeom prst="rect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Box 4"/>
          <p:cNvSpPr txBox="1"/>
          <p:nvPr/>
        </p:nvSpPr>
        <p:spPr>
          <a:xfrm>
            <a:off x="857250" y="1007745"/>
            <a:ext cx="5288280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数据结构智能出卷系统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7918" y="1784032"/>
            <a:ext cx="5125593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面向教师的课程材料管理、知识组织与安全组卷平台</a:t>
            </a:r>
          </a:p>
        </p:txBody>
      </p:sp>
      <p:sp>
        <p:nvSpPr>
          <p:cNvPr id="7" name="Line 7"/>
          <p:cNvSpPr/>
          <p:nvPr/>
        </p:nvSpPr>
        <p:spPr>
          <a:xfrm>
            <a:off x="876300" y="2356628"/>
            <a:ext cx="5029200" cy="9525"/>
          </a:xfrm>
          <a:custGeom>
            <a:avLst/>
            <a:gdLst/>
            <a:ahLst/>
            <a:cxnLst/>
            <a:rect l="l" t="t" r="r" b="b"/>
            <a:pathLst>
              <a:path w="5029200" h="9525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Box 10"/>
          <p:cNvSpPr txBox="1"/>
          <p:nvPr/>
        </p:nvSpPr>
        <p:spPr>
          <a:xfrm>
            <a:off x="868680" y="5229225"/>
            <a:ext cx="296947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小组成员：项天聪 杨烨锋 张宸赫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70585" y="5593556"/>
            <a:ext cx="16171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汇报日期：2026 年 9 月</a:t>
            </a:r>
          </a:p>
        </p:txBody>
      </p:sp>
      <p:sp>
        <p:nvSpPr>
          <p:cNvPr id="12" name="Rectangle 12"/>
          <p:cNvSpPr/>
          <p:nvPr/>
        </p:nvSpPr>
        <p:spPr>
          <a:xfrm>
            <a:off x="6667500" y="1428750"/>
            <a:ext cx="4991100" cy="3619500"/>
          </a:xfrm>
          <a:prstGeom prst="roundRect">
            <a:avLst>
              <a:gd name="adj" fmla="val 2632"/>
            </a:avLst>
          </a:prstGeom>
          <a:solidFill>
            <a:srgbClr val="E9EDF2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Rectangle 13"/>
          <p:cNvSpPr/>
          <p:nvPr/>
        </p:nvSpPr>
        <p:spPr>
          <a:xfrm>
            <a:off x="6667500" y="1428750"/>
            <a:ext cx="4991100" cy="323850"/>
          </a:xfrm>
          <a:prstGeom prst="roundRect">
            <a:avLst>
              <a:gd name="adj" fmla="val 29412"/>
            </a:avLst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Ellipse 14"/>
          <p:cNvSpPr/>
          <p:nvPr/>
        </p:nvSpPr>
        <p:spPr>
          <a:xfrm>
            <a:off x="6829425" y="154305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Ellipse 15"/>
          <p:cNvSpPr/>
          <p:nvPr/>
        </p:nvSpPr>
        <p:spPr>
          <a:xfrm>
            <a:off x="7019925" y="154305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Ellipse 16"/>
          <p:cNvSpPr/>
          <p:nvPr/>
        </p:nvSpPr>
        <p:spPr>
          <a:xfrm>
            <a:off x="7210425" y="154305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Rectangle 17"/>
          <p:cNvSpPr/>
          <p:nvPr/>
        </p:nvSpPr>
        <p:spPr>
          <a:xfrm>
            <a:off x="6667500" y="1714500"/>
            <a:ext cx="4991100" cy="57150"/>
          </a:xfrm>
          <a:prstGeom prst="rect">
            <a:avLst/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8" name="Image 18"/>
          <p:cNvPicPr>
            <a:picLocks noChangeAspect="1"/>
          </p:cNvPicPr>
          <p:nvPr/>
        </p:nvPicPr>
        <p:blipFill>
          <a:blip r:embed="rId2"/>
          <a:srcRect l="4717" r="4717"/>
          <a:stretch>
            <a:fillRect/>
          </a:stretch>
        </p:blipFill>
        <p:spPr>
          <a:xfrm>
            <a:off x="6743700" y="1828800"/>
            <a:ext cx="4838700" cy="314325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6662166" y="5182552"/>
            <a:ext cx="31203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教师工作台：材料、题库与待审核草稿的统一入口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533400" y="590550"/>
            <a:ext cx="76200" cy="323850"/>
          </a:xfrm>
          <a:prstGeom prst="rect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11708" y="598170"/>
            <a:ext cx="670560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目录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8185" y="1021556"/>
            <a:ext cx="242382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从项目背景到系统演示，共八个部分</a:t>
            </a:r>
          </a:p>
        </p:txBody>
      </p:sp>
      <p:sp>
        <p:nvSpPr>
          <p:cNvPr id="5" name="Rectangle 5"/>
          <p:cNvSpPr/>
          <p:nvPr/>
        </p:nvSpPr>
        <p:spPr>
          <a:xfrm>
            <a:off x="723900" y="1676400"/>
            <a:ext cx="5143500" cy="990600"/>
          </a:xfrm>
          <a:prstGeom prst="roundRect">
            <a:avLst>
              <a:gd name="adj" fmla="val 9615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Box 6"/>
          <p:cNvSpPr txBox="1"/>
          <p:nvPr/>
        </p:nvSpPr>
        <p:spPr>
          <a:xfrm>
            <a:off x="941070" y="1909762"/>
            <a:ext cx="372704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92580" y="1914525"/>
            <a:ext cx="18326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项目背景与需求分析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94866" y="2248852"/>
            <a:ext cx="340309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教学备课与命题中的材料分散、范围不清与题目来源难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94866" y="2439352"/>
            <a:ext cx="4347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以追踪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23900" y="2838450"/>
            <a:ext cx="5143500" cy="990600"/>
          </a:xfrm>
          <a:prstGeom prst="roundRect">
            <a:avLst>
              <a:gd name="adj" fmla="val 9615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941070" y="3071812"/>
            <a:ext cx="372704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92580" y="3076575"/>
            <a:ext cx="18326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系统规划与总体架构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94866" y="3410902"/>
            <a:ext cx="283768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教师端、业务服务与智能检索能力的三层协同</a:t>
            </a:r>
          </a:p>
        </p:txBody>
      </p:sp>
      <p:sp>
        <p:nvSpPr>
          <p:cNvPr id="14" name="Rectangle 14"/>
          <p:cNvSpPr/>
          <p:nvPr/>
        </p:nvSpPr>
        <p:spPr>
          <a:xfrm>
            <a:off x="723900" y="4000500"/>
            <a:ext cx="5143500" cy="990600"/>
          </a:xfrm>
          <a:prstGeom prst="roundRect">
            <a:avLst>
              <a:gd name="adj" fmla="val 9615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941070" y="4233862"/>
            <a:ext cx="372704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92580" y="4238625"/>
            <a:ext cx="18326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技术路线与开发环境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94866" y="4572952"/>
            <a:ext cx="202852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React、FastAPI、SQLAlchemy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594866" y="4763452"/>
            <a:ext cx="189290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、LangGraph 与本地向量检索</a:t>
            </a:r>
          </a:p>
        </p:txBody>
      </p:sp>
      <p:sp>
        <p:nvSpPr>
          <p:cNvPr id="19" name="Rectangle 19"/>
          <p:cNvSpPr/>
          <p:nvPr/>
        </p:nvSpPr>
        <p:spPr>
          <a:xfrm>
            <a:off x="723900" y="5162550"/>
            <a:ext cx="5143500" cy="990600"/>
          </a:xfrm>
          <a:prstGeom prst="roundRect">
            <a:avLst>
              <a:gd name="adj" fmla="val 9615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941070" y="5395912"/>
            <a:ext cx="372704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592580" y="5400675"/>
            <a:ext cx="102489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数据库设计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594866" y="5735002"/>
            <a:ext cx="340309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材料、知识节点、题目、考查范围、试卷与草稿六类实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594866" y="5925502"/>
            <a:ext cx="15201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体</a:t>
            </a:r>
          </a:p>
        </p:txBody>
      </p:sp>
      <p:sp>
        <p:nvSpPr>
          <p:cNvPr id="24" name="Rectangle 24"/>
          <p:cNvSpPr/>
          <p:nvPr/>
        </p:nvSpPr>
        <p:spPr>
          <a:xfrm>
            <a:off x="6438900" y="1676400"/>
            <a:ext cx="5143500" cy="990600"/>
          </a:xfrm>
          <a:prstGeom prst="roundRect">
            <a:avLst>
              <a:gd name="adj" fmla="val 9615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extBox 25"/>
          <p:cNvSpPr txBox="1"/>
          <p:nvPr/>
        </p:nvSpPr>
        <p:spPr>
          <a:xfrm>
            <a:off x="6656070" y="1909762"/>
            <a:ext cx="372704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307580" y="1914525"/>
            <a:ext cx="122682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核心业务规则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309866" y="2248852"/>
            <a:ext cx="283768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确认范围后才能组卷，接受草稿后才进入题库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438900" y="2838450"/>
            <a:ext cx="5143500" cy="990600"/>
          </a:xfrm>
          <a:prstGeom prst="roundRect">
            <a:avLst>
              <a:gd name="adj" fmla="val 9615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Box 29"/>
          <p:cNvSpPr txBox="1"/>
          <p:nvPr/>
        </p:nvSpPr>
        <p:spPr>
          <a:xfrm>
            <a:off x="6656070" y="3071812"/>
            <a:ext cx="372704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307580" y="3076575"/>
            <a:ext cx="122682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系统功能演示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309866" y="3410902"/>
            <a:ext cx="340309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工作台、材料、知识树、需求、范围、组卷、试卷与助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309866" y="3601402"/>
            <a:ext cx="15201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手</a:t>
            </a:r>
          </a:p>
        </p:txBody>
      </p:sp>
      <p:sp>
        <p:nvSpPr>
          <p:cNvPr id="33" name="Rectangle 33"/>
          <p:cNvSpPr/>
          <p:nvPr/>
        </p:nvSpPr>
        <p:spPr>
          <a:xfrm>
            <a:off x="6438900" y="4000500"/>
            <a:ext cx="5143500" cy="990600"/>
          </a:xfrm>
          <a:prstGeom prst="roundRect">
            <a:avLst>
              <a:gd name="adj" fmla="val 9615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Box 34"/>
          <p:cNvSpPr txBox="1"/>
          <p:nvPr/>
        </p:nvSpPr>
        <p:spPr>
          <a:xfrm>
            <a:off x="6656070" y="4233862"/>
            <a:ext cx="372704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307580" y="4238625"/>
            <a:ext cx="102489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测试与验证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309866" y="4572952"/>
            <a:ext cx="269633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规则单测、接口联调、前端构建与人工走查</a:t>
            </a:r>
          </a:p>
        </p:txBody>
      </p:sp>
      <p:sp>
        <p:nvSpPr>
          <p:cNvPr id="37" name="Rectangle 37"/>
          <p:cNvSpPr/>
          <p:nvPr/>
        </p:nvSpPr>
        <p:spPr>
          <a:xfrm>
            <a:off x="6438900" y="5162550"/>
            <a:ext cx="5143500" cy="990600"/>
          </a:xfrm>
          <a:prstGeom prst="roundRect">
            <a:avLst>
              <a:gd name="adj" fmla="val 9615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Box 38"/>
          <p:cNvSpPr txBox="1"/>
          <p:nvPr/>
        </p:nvSpPr>
        <p:spPr>
          <a:xfrm>
            <a:off x="6656070" y="5395912"/>
            <a:ext cx="372704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7307580" y="5400675"/>
            <a:ext cx="142875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小组分工与总结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309866" y="5735002"/>
            <a:ext cx="269633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项天聪、杨烨锋、张宸赫的职责与项目成果</a:t>
            </a:r>
          </a:p>
        </p:txBody>
      </p:sp>
      <p:sp>
        <p:nvSpPr>
          <p:cNvPr id="41" name="Line 41"/>
          <p:cNvSpPr/>
          <p:nvPr/>
        </p:nvSpPr>
        <p:spPr>
          <a:xfrm>
            <a:off x="533400" y="6400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TextBox 43"/>
          <p:cNvSpPr txBox="1"/>
          <p:nvPr/>
        </p:nvSpPr>
        <p:spPr>
          <a:xfrm>
            <a:off x="11587201" y="6532245"/>
            <a:ext cx="761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4000500" cy="6858000"/>
          </a:xfrm>
          <a:prstGeom prst="rect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666750" y="1604010"/>
            <a:ext cx="1157600" cy="13906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0946" y="2772728"/>
            <a:ext cx="2428875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项目背景与问题</a:t>
            </a:r>
          </a:p>
        </p:txBody>
      </p:sp>
      <p:sp>
        <p:nvSpPr>
          <p:cNvPr id="5" name="Rectangle 5"/>
          <p:cNvSpPr/>
          <p:nvPr/>
        </p:nvSpPr>
        <p:spPr>
          <a:xfrm>
            <a:off x="723900" y="3352800"/>
            <a:ext cx="914400" cy="57150"/>
          </a:xfrm>
          <a:prstGeom prst="rect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Box 6"/>
          <p:cNvSpPr txBox="1"/>
          <p:nvPr/>
        </p:nvSpPr>
        <p:spPr>
          <a:xfrm>
            <a:off x="717423" y="3672364"/>
            <a:ext cx="3114599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为什么要做一套面向教师的智能出卷系统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755642" y="1473518"/>
            <a:ext cx="619277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数据结构课程的教学材料通常分散在讲义、课件与教学大纲中，命题时教师需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755642" y="1778318"/>
            <a:ext cx="619277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要在多个文件之间反复查找知识点，很难快速确认某次考试究竟应该覆盖哪些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755642" y="2083118"/>
            <a:ext cx="310324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章节，也很难说明范围是怎么确定的。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755642" y="2635568"/>
            <a:ext cx="619277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题目往往保存在表格或个人文档里，缺少统一的题型、难度、章节与知识点标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755642" y="2940368"/>
            <a:ext cx="619277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注。同一道题可能被重复录入，历史试卷与题库之间的对应关系也不清晰，试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755642" y="3245168"/>
            <a:ext cx="273977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卷的可追溯性依赖教师个人记忆。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755642" y="3797618"/>
            <a:ext cx="619277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通用大模型可以直接生成题目，但生成内容的质量与难度并不稳定。如果系统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755642" y="4102418"/>
            <a:ext cx="619277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把模型输出直接写入题库，错误会在后续组卷中被反复放大，教师反而需要花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755642" y="4407218"/>
            <a:ext cx="2012823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费更多时间核对与返工。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55642" y="4959668"/>
            <a:ext cx="619277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因此本项目把目标确定为：让材料、知识、范围、题库与试卷形成一条可追溯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755642" y="5264468"/>
            <a:ext cx="619277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的链路，让智能能力参与材料理解与候选题生成，但把考查范围确认与题目入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755642" y="5569268"/>
            <a:ext cx="2012823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库的决定权交还给教师。</a:t>
            </a:r>
          </a:p>
        </p:txBody>
      </p:sp>
      <p:sp>
        <p:nvSpPr>
          <p:cNvPr id="19" name="Line 19"/>
          <p:cNvSpPr/>
          <p:nvPr/>
        </p:nvSpPr>
        <p:spPr>
          <a:xfrm>
            <a:off x="533400" y="6400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Box 21"/>
          <p:cNvSpPr txBox="1"/>
          <p:nvPr/>
        </p:nvSpPr>
        <p:spPr>
          <a:xfrm>
            <a:off x="11587201" y="6532245"/>
            <a:ext cx="761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533400" y="438150"/>
            <a:ext cx="76200" cy="323850"/>
          </a:xfrm>
          <a:prstGeom prst="rect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11708" y="445770"/>
            <a:ext cx="1316736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需求分析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8185" y="869156"/>
            <a:ext cx="166994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功能性需求与非功能约束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478741" y="583406"/>
            <a:ext cx="1855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428750"/>
            <a:ext cx="11125200" cy="419100"/>
          </a:xfrm>
          <a:prstGeom prst="roundRect">
            <a:avLst>
              <a:gd name="adj" fmla="val 13636"/>
            </a:avLst>
          </a:prstGeom>
          <a:solidFill>
            <a:srgbClr val="0B2E4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Box 7"/>
          <p:cNvSpPr txBox="1"/>
          <p:nvPr/>
        </p:nvSpPr>
        <p:spPr>
          <a:xfrm>
            <a:off x="660654" y="1575435"/>
            <a:ext cx="33528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编号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17904" y="1575435"/>
            <a:ext cx="6583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功能需求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375404" y="1575435"/>
            <a:ext cx="6583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系统响应</a:t>
            </a:r>
          </a:p>
        </p:txBody>
      </p:sp>
      <p:sp>
        <p:nvSpPr>
          <p:cNvPr id="10" name="Rectangle 10"/>
          <p:cNvSpPr/>
          <p:nvPr/>
        </p:nvSpPr>
        <p:spPr>
          <a:xfrm>
            <a:off x="533400" y="1847850"/>
            <a:ext cx="111252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641985" y="1993106"/>
            <a:ext cx="2742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R01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99235" y="1993106"/>
            <a:ext cx="9160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维护课程材料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57116" y="2001202"/>
            <a:ext cx="396142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支持 pptx、docx、pdf、md 上传，保存解析文本、类型与章节</a:t>
            </a:r>
          </a:p>
        </p:txBody>
      </p:sp>
      <p:sp>
        <p:nvSpPr>
          <p:cNvPr id="14" name="Rectangle 14"/>
          <p:cNvSpPr/>
          <p:nvPr/>
        </p:nvSpPr>
        <p:spPr>
          <a:xfrm>
            <a:off x="533400" y="2266950"/>
            <a:ext cx="11125200" cy="4191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641985" y="2412206"/>
            <a:ext cx="2742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R02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499235" y="2412206"/>
            <a:ext cx="76530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形成知识树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357116" y="2420302"/>
            <a:ext cx="354444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按章、节、知识点保存定义、关键术语、重点与解题步骤</a:t>
            </a:r>
          </a:p>
        </p:txBody>
      </p:sp>
      <p:sp>
        <p:nvSpPr>
          <p:cNvPr id="18" name="Rectangle 18"/>
          <p:cNvSpPr/>
          <p:nvPr/>
        </p:nvSpPr>
        <p:spPr>
          <a:xfrm>
            <a:off x="533400" y="2686050"/>
            <a:ext cx="111252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641985" y="2831306"/>
            <a:ext cx="2742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R03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99235" y="2831306"/>
            <a:ext cx="61452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维护题库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357116" y="2839402"/>
            <a:ext cx="392390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题目新增、编辑、删除、筛选、分页与 JSON、Excel 批量导入</a:t>
            </a:r>
          </a:p>
        </p:txBody>
      </p:sp>
      <p:sp>
        <p:nvSpPr>
          <p:cNvPr id="22" name="Rectangle 22"/>
          <p:cNvSpPr/>
          <p:nvPr/>
        </p:nvSpPr>
        <p:spPr>
          <a:xfrm>
            <a:off x="533400" y="3105150"/>
            <a:ext cx="11125200" cy="4191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Box 23"/>
          <p:cNvSpPr txBox="1"/>
          <p:nvPr/>
        </p:nvSpPr>
        <p:spPr>
          <a:xfrm>
            <a:off x="641985" y="3250406"/>
            <a:ext cx="2742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R04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99235" y="3250406"/>
            <a:ext cx="9160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提出考查范围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357116" y="3258502"/>
            <a:ext cx="354444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依据出卷需求筛选知识节点，形成可编辑的待确认范围树</a:t>
            </a:r>
          </a:p>
        </p:txBody>
      </p:sp>
      <p:sp>
        <p:nvSpPr>
          <p:cNvPr id="26" name="Rectangle 26"/>
          <p:cNvSpPr/>
          <p:nvPr/>
        </p:nvSpPr>
        <p:spPr>
          <a:xfrm>
            <a:off x="533400" y="3524250"/>
            <a:ext cx="111252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Box 27"/>
          <p:cNvSpPr txBox="1"/>
          <p:nvPr/>
        </p:nvSpPr>
        <p:spPr>
          <a:xfrm>
            <a:off x="641985" y="3669506"/>
            <a:ext cx="2742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R05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499235" y="3669506"/>
            <a:ext cx="9160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确认考查范围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357116" y="3677602"/>
            <a:ext cx="382714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教师勾选、调整与补充节点，确认后范围锁定并作为组卷依据</a:t>
            </a:r>
          </a:p>
        </p:txBody>
      </p:sp>
      <p:sp>
        <p:nvSpPr>
          <p:cNvPr id="30" name="Rectangle 30"/>
          <p:cNvSpPr/>
          <p:nvPr/>
        </p:nvSpPr>
        <p:spPr>
          <a:xfrm>
            <a:off x="533400" y="3943350"/>
            <a:ext cx="11125200" cy="4191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Box 31"/>
          <p:cNvSpPr txBox="1"/>
          <p:nvPr/>
        </p:nvSpPr>
        <p:spPr>
          <a:xfrm>
            <a:off x="641985" y="4088606"/>
            <a:ext cx="2742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R06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499235" y="4088606"/>
            <a:ext cx="61452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安全组卷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357116" y="4096702"/>
            <a:ext cx="396849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仅使用已确认范围检索题库，缺口生成待审核草稿而非正式题目</a:t>
            </a:r>
          </a:p>
        </p:txBody>
      </p:sp>
      <p:sp>
        <p:nvSpPr>
          <p:cNvPr id="34" name="Rectangle 34"/>
          <p:cNvSpPr/>
          <p:nvPr/>
        </p:nvSpPr>
        <p:spPr>
          <a:xfrm>
            <a:off x="533400" y="4362450"/>
            <a:ext cx="111252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Box 35"/>
          <p:cNvSpPr txBox="1"/>
          <p:nvPr/>
        </p:nvSpPr>
        <p:spPr>
          <a:xfrm>
            <a:off x="641985" y="4507706"/>
            <a:ext cx="2742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R07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499235" y="4507706"/>
            <a:ext cx="9160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审核题目草稿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357116" y="4515802"/>
            <a:ext cx="396849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草稿可编辑、接受或拒绝，接受后写入正式题库并参与后续组卷</a:t>
            </a:r>
          </a:p>
        </p:txBody>
      </p:sp>
      <p:sp>
        <p:nvSpPr>
          <p:cNvPr id="38" name="Rectangle 38"/>
          <p:cNvSpPr/>
          <p:nvPr/>
        </p:nvSpPr>
        <p:spPr>
          <a:xfrm>
            <a:off x="533400" y="4781550"/>
            <a:ext cx="11125200" cy="4191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TextBox 39"/>
          <p:cNvSpPr txBox="1"/>
          <p:nvPr/>
        </p:nvSpPr>
        <p:spPr>
          <a:xfrm>
            <a:off x="641985" y="4926806"/>
            <a:ext cx="2742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R08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499235" y="4926806"/>
            <a:ext cx="106685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试卷预览与导出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4357116" y="4934902"/>
            <a:ext cx="391995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支持题目排序、分值调整、总分校验与 DOCX、PDF、TXT 导出</a:t>
            </a:r>
          </a:p>
        </p:txBody>
      </p:sp>
      <p:sp>
        <p:nvSpPr>
          <p:cNvPr id="42" name="Rectangle 42"/>
          <p:cNvSpPr/>
          <p:nvPr/>
        </p:nvSpPr>
        <p:spPr>
          <a:xfrm>
            <a:off x="533400" y="5200650"/>
            <a:ext cx="111252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TextBox 43"/>
          <p:cNvSpPr txBox="1"/>
          <p:nvPr/>
        </p:nvSpPr>
        <p:spPr>
          <a:xfrm>
            <a:off x="641985" y="5345906"/>
            <a:ext cx="2742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R09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499235" y="5345906"/>
            <a:ext cx="9160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答题卡与答案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357116" y="5354002"/>
            <a:ext cx="32617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按题型生成答题卡，支持导出含答案解析的教师版本</a:t>
            </a:r>
          </a:p>
        </p:txBody>
      </p:sp>
      <p:sp>
        <p:nvSpPr>
          <p:cNvPr id="46" name="Rectangle 46"/>
          <p:cNvSpPr/>
          <p:nvPr/>
        </p:nvSpPr>
        <p:spPr>
          <a:xfrm>
            <a:off x="533400" y="5619750"/>
            <a:ext cx="11125200" cy="4191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TextBox 47"/>
          <p:cNvSpPr txBox="1"/>
          <p:nvPr/>
        </p:nvSpPr>
        <p:spPr>
          <a:xfrm>
            <a:off x="641985" y="5765006"/>
            <a:ext cx="2742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R10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499235" y="5765006"/>
            <a:ext cx="61452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教学助手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357116" y="5773102"/>
            <a:ext cx="354444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以对话方式查题、解释知识点，并在组卷前发起审核交互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527685" y="6165056"/>
            <a:ext cx="905789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非功能约束：密钥只保存在本地配置文件；材料与试卷数据仅存于本机；组卷必须依据已确认范围；删除材料需同步清理关联知识节点。</a:t>
            </a:r>
          </a:p>
        </p:txBody>
      </p:sp>
      <p:sp>
        <p:nvSpPr>
          <p:cNvPr id="51" name="Line 51"/>
          <p:cNvSpPr/>
          <p:nvPr/>
        </p:nvSpPr>
        <p:spPr>
          <a:xfrm>
            <a:off x="533400" y="6400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TextBox 53"/>
          <p:cNvSpPr txBox="1"/>
          <p:nvPr/>
        </p:nvSpPr>
        <p:spPr>
          <a:xfrm>
            <a:off x="11587201" y="6532245"/>
            <a:ext cx="761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533400" y="438150"/>
            <a:ext cx="76200" cy="323850"/>
          </a:xfrm>
          <a:prstGeom prst="rect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11708" y="445770"/>
            <a:ext cx="1962912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系统总体架构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8185" y="869156"/>
            <a:ext cx="30269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教师端、业务服务与智能数据能力的三层协同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478741" y="583406"/>
            <a:ext cx="1855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447800"/>
            <a:ext cx="3505200" cy="3543300"/>
          </a:xfrm>
          <a:prstGeom prst="roundRect">
            <a:avLst>
              <a:gd name="adj" fmla="val 3261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533400" y="1447800"/>
            <a:ext cx="3505200" cy="76200"/>
          </a:xfrm>
          <a:prstGeom prst="roundRect">
            <a:avLst>
              <a:gd name="adj" fmla="val 50000"/>
            </a:avLst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Box 8"/>
          <p:cNvSpPr txBox="1"/>
          <p:nvPr/>
        </p:nvSpPr>
        <p:spPr>
          <a:xfrm>
            <a:off x="790956" y="1805940"/>
            <a:ext cx="745236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教师端</a:t>
            </a:r>
          </a:p>
        </p:txBody>
      </p:sp>
      <p:sp>
        <p:nvSpPr>
          <p:cNvPr id="9" name="Ellipse 9"/>
          <p:cNvSpPr/>
          <p:nvPr/>
        </p:nvSpPr>
        <p:spPr>
          <a:xfrm>
            <a:off x="819150" y="2409825"/>
            <a:ext cx="76200" cy="76200"/>
          </a:xfrm>
          <a:prstGeom prst="ellipse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Box 10"/>
          <p:cNvSpPr txBox="1"/>
          <p:nvPr/>
        </p:nvSpPr>
        <p:spPr>
          <a:xfrm>
            <a:off x="1022604" y="2366010"/>
            <a:ext cx="130454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材料与知识树页面</a:t>
            </a:r>
          </a:p>
        </p:txBody>
      </p:sp>
      <p:sp>
        <p:nvSpPr>
          <p:cNvPr id="11" name="Ellipse 11"/>
          <p:cNvSpPr/>
          <p:nvPr/>
        </p:nvSpPr>
        <p:spPr>
          <a:xfrm>
            <a:off x="819150" y="2828925"/>
            <a:ext cx="76200" cy="76200"/>
          </a:xfrm>
          <a:prstGeom prst="ellipse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Box 12"/>
          <p:cNvSpPr txBox="1"/>
          <p:nvPr/>
        </p:nvSpPr>
        <p:spPr>
          <a:xfrm>
            <a:off x="1022604" y="2785110"/>
            <a:ext cx="114300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题库与组卷流程</a:t>
            </a:r>
          </a:p>
        </p:txBody>
      </p:sp>
      <p:sp>
        <p:nvSpPr>
          <p:cNvPr id="13" name="Ellipse 13"/>
          <p:cNvSpPr/>
          <p:nvPr/>
        </p:nvSpPr>
        <p:spPr>
          <a:xfrm>
            <a:off x="819150" y="3248025"/>
            <a:ext cx="76200" cy="76200"/>
          </a:xfrm>
          <a:prstGeom prst="ellipse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Box 14"/>
          <p:cNvSpPr txBox="1"/>
          <p:nvPr/>
        </p:nvSpPr>
        <p:spPr>
          <a:xfrm>
            <a:off x="1022604" y="3204210"/>
            <a:ext cx="146608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试卷预览与草稿审核</a:t>
            </a:r>
          </a:p>
        </p:txBody>
      </p:sp>
      <p:sp>
        <p:nvSpPr>
          <p:cNvPr id="15" name="Ellipse 15"/>
          <p:cNvSpPr/>
          <p:nvPr/>
        </p:nvSpPr>
        <p:spPr>
          <a:xfrm>
            <a:off x="819150" y="3667125"/>
            <a:ext cx="76200" cy="76200"/>
          </a:xfrm>
          <a:prstGeom prst="ellipse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1022604" y="3623310"/>
            <a:ext cx="130454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教学助手对话入口</a:t>
            </a:r>
          </a:p>
        </p:txBody>
      </p:sp>
      <p:sp>
        <p:nvSpPr>
          <p:cNvPr id="17" name="Rectangle 17"/>
          <p:cNvSpPr/>
          <p:nvPr/>
        </p:nvSpPr>
        <p:spPr>
          <a:xfrm>
            <a:off x="4343400" y="1447800"/>
            <a:ext cx="3505200" cy="3543300"/>
          </a:xfrm>
          <a:prstGeom prst="roundRect">
            <a:avLst>
              <a:gd name="adj" fmla="val 3261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Rectangle 18"/>
          <p:cNvSpPr/>
          <p:nvPr/>
        </p:nvSpPr>
        <p:spPr>
          <a:xfrm>
            <a:off x="4343400" y="1447800"/>
            <a:ext cx="3505200" cy="7620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4600956" y="1805940"/>
            <a:ext cx="987552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后端服务</a:t>
            </a:r>
          </a:p>
        </p:txBody>
      </p:sp>
      <p:sp>
        <p:nvSpPr>
          <p:cNvPr id="20" name="Ellipse 20"/>
          <p:cNvSpPr/>
          <p:nvPr/>
        </p:nvSpPr>
        <p:spPr>
          <a:xfrm>
            <a:off x="4629150" y="2409825"/>
            <a:ext cx="76200" cy="76200"/>
          </a:xfrm>
          <a:prstGeom prst="ellipse">
            <a:avLst/>
          </a:prstGeom>
          <a:solidFill>
            <a:srgbClr val="1F6FB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Box 21"/>
          <p:cNvSpPr txBox="1"/>
          <p:nvPr/>
        </p:nvSpPr>
        <p:spPr>
          <a:xfrm>
            <a:off x="4832604" y="2366010"/>
            <a:ext cx="191521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REST 路由与 Schema 校验</a:t>
            </a:r>
          </a:p>
        </p:txBody>
      </p:sp>
      <p:sp>
        <p:nvSpPr>
          <p:cNvPr id="22" name="Ellipse 22"/>
          <p:cNvSpPr/>
          <p:nvPr/>
        </p:nvSpPr>
        <p:spPr>
          <a:xfrm>
            <a:off x="4629150" y="2828925"/>
            <a:ext cx="76200" cy="76200"/>
          </a:xfrm>
          <a:prstGeom prst="ellipse">
            <a:avLst/>
          </a:prstGeom>
          <a:solidFill>
            <a:srgbClr val="1F6FB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Box 23"/>
          <p:cNvSpPr txBox="1"/>
          <p:nvPr/>
        </p:nvSpPr>
        <p:spPr>
          <a:xfrm>
            <a:off x="4832604" y="2785110"/>
            <a:ext cx="146608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范围构建与试卷装配</a:t>
            </a:r>
          </a:p>
        </p:txBody>
      </p:sp>
      <p:sp>
        <p:nvSpPr>
          <p:cNvPr id="24" name="Ellipse 24"/>
          <p:cNvSpPr/>
          <p:nvPr/>
        </p:nvSpPr>
        <p:spPr>
          <a:xfrm>
            <a:off x="4629150" y="3248025"/>
            <a:ext cx="76200" cy="76200"/>
          </a:xfrm>
          <a:prstGeom prst="ellipse">
            <a:avLst/>
          </a:prstGeom>
          <a:solidFill>
            <a:srgbClr val="1F6FB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extBox 25"/>
          <p:cNvSpPr txBox="1"/>
          <p:nvPr/>
        </p:nvSpPr>
        <p:spPr>
          <a:xfrm>
            <a:off x="4832604" y="3204210"/>
            <a:ext cx="114300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草稿审核状态机</a:t>
            </a:r>
          </a:p>
        </p:txBody>
      </p:sp>
      <p:sp>
        <p:nvSpPr>
          <p:cNvPr id="26" name="Ellipse 26"/>
          <p:cNvSpPr/>
          <p:nvPr/>
        </p:nvSpPr>
        <p:spPr>
          <a:xfrm>
            <a:off x="4629150" y="3667125"/>
            <a:ext cx="76200" cy="76200"/>
          </a:xfrm>
          <a:prstGeom prst="ellipse">
            <a:avLst/>
          </a:prstGeom>
          <a:solidFill>
            <a:srgbClr val="1F6FB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Box 27"/>
          <p:cNvSpPr txBox="1"/>
          <p:nvPr/>
        </p:nvSpPr>
        <p:spPr>
          <a:xfrm>
            <a:off x="4832604" y="3623310"/>
            <a:ext cx="146608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文档导出与材料解析</a:t>
            </a:r>
          </a:p>
        </p:txBody>
      </p:sp>
      <p:sp>
        <p:nvSpPr>
          <p:cNvPr id="28" name="Rectangle 28"/>
          <p:cNvSpPr/>
          <p:nvPr/>
        </p:nvSpPr>
        <p:spPr>
          <a:xfrm>
            <a:off x="8153400" y="1447800"/>
            <a:ext cx="3505200" cy="3543300"/>
          </a:xfrm>
          <a:prstGeom prst="roundRect">
            <a:avLst>
              <a:gd name="adj" fmla="val 3261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Rectangle 29"/>
          <p:cNvSpPr/>
          <p:nvPr/>
        </p:nvSpPr>
        <p:spPr>
          <a:xfrm>
            <a:off x="8153400" y="1447800"/>
            <a:ext cx="3505200" cy="76200"/>
          </a:xfrm>
          <a:prstGeom prst="roundRect">
            <a:avLst>
              <a:gd name="adj" fmla="val 50000"/>
            </a:avLst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Box 30"/>
          <p:cNvSpPr txBox="1"/>
          <p:nvPr/>
        </p:nvSpPr>
        <p:spPr>
          <a:xfrm>
            <a:off x="8410956" y="1805940"/>
            <a:ext cx="1229868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智能与数据</a:t>
            </a:r>
          </a:p>
        </p:txBody>
      </p:sp>
      <p:sp>
        <p:nvSpPr>
          <p:cNvPr id="31" name="Ellipse 31"/>
          <p:cNvSpPr/>
          <p:nvPr/>
        </p:nvSpPr>
        <p:spPr>
          <a:xfrm>
            <a:off x="8439150" y="2409825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TextBox 32"/>
          <p:cNvSpPr txBox="1"/>
          <p:nvPr/>
        </p:nvSpPr>
        <p:spPr>
          <a:xfrm>
            <a:off x="8642604" y="2366010"/>
            <a:ext cx="151714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LangGraph 对话编排</a:t>
            </a:r>
          </a:p>
        </p:txBody>
      </p:sp>
      <p:sp>
        <p:nvSpPr>
          <p:cNvPr id="33" name="Ellipse 33"/>
          <p:cNvSpPr/>
          <p:nvPr/>
        </p:nvSpPr>
        <p:spPr>
          <a:xfrm>
            <a:off x="8439150" y="2828925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Box 34"/>
          <p:cNvSpPr txBox="1"/>
          <p:nvPr/>
        </p:nvSpPr>
        <p:spPr>
          <a:xfrm>
            <a:off x="8642604" y="2785110"/>
            <a:ext cx="14283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DeepSeek 语言能力</a:t>
            </a:r>
          </a:p>
        </p:txBody>
      </p:sp>
      <p:sp>
        <p:nvSpPr>
          <p:cNvPr id="35" name="Ellipse 35"/>
          <p:cNvSpPr/>
          <p:nvPr/>
        </p:nvSpPr>
        <p:spPr>
          <a:xfrm>
            <a:off x="8439150" y="3248025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xtBox 36"/>
          <p:cNvSpPr txBox="1"/>
          <p:nvPr/>
        </p:nvSpPr>
        <p:spPr>
          <a:xfrm>
            <a:off x="8642604" y="3204210"/>
            <a:ext cx="130454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本地中文向量检索</a:t>
            </a:r>
          </a:p>
        </p:txBody>
      </p:sp>
      <p:sp>
        <p:nvSpPr>
          <p:cNvPr id="37" name="Ellipse 37"/>
          <p:cNvSpPr/>
          <p:nvPr/>
        </p:nvSpPr>
        <p:spPr>
          <a:xfrm>
            <a:off x="8439150" y="3667125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Box 38"/>
          <p:cNvSpPr txBox="1"/>
          <p:nvPr/>
        </p:nvSpPr>
        <p:spPr>
          <a:xfrm>
            <a:off x="8642604" y="3623310"/>
            <a:ext cx="157181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SQLite 与 ChromaDB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968115" y="3029902"/>
            <a:ext cx="29337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请求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778115" y="3029902"/>
            <a:ext cx="29337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检索</a:t>
            </a:r>
          </a:p>
        </p:txBody>
      </p:sp>
      <p:sp>
        <p:nvSpPr>
          <p:cNvPr id="41" name="Line 41"/>
          <p:cNvSpPr/>
          <p:nvPr/>
        </p:nvSpPr>
        <p:spPr>
          <a:xfrm>
            <a:off x="4038600" y="3219450"/>
            <a:ext cx="228600" cy="9525"/>
          </a:xfrm>
          <a:custGeom>
            <a:avLst/>
            <a:gdLst/>
            <a:ahLst/>
            <a:cxnLst/>
            <a:rect l="l" t="t" r="r" b="b"/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/>
          <a:ln w="19050">
            <a:solidFill>
              <a:srgbClr val="12456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Polygon 42"/>
          <p:cNvSpPr/>
          <p:nvPr/>
        </p:nvSpPr>
        <p:spPr>
          <a:xfrm>
            <a:off x="4267200" y="3181350"/>
            <a:ext cx="95250" cy="76200"/>
          </a:xfrm>
          <a:custGeom>
            <a:avLst/>
            <a:gdLst/>
            <a:ahLst/>
            <a:cxnLst/>
            <a:rect l="l" t="t" r="r" b="b"/>
            <a:pathLst>
              <a:path w="95250" h="76200">
                <a:moveTo>
                  <a:pt x="0" y="0"/>
                </a:moveTo>
                <a:lnTo>
                  <a:pt x="95250" y="38100"/>
                </a:lnTo>
                <a:lnTo>
                  <a:pt x="0" y="76200"/>
                </a:lnTo>
                <a:close/>
              </a:path>
            </a:pathLst>
          </a:cu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Line 43"/>
          <p:cNvSpPr/>
          <p:nvPr/>
        </p:nvSpPr>
        <p:spPr>
          <a:xfrm>
            <a:off x="7848600" y="3219450"/>
            <a:ext cx="228600" cy="9525"/>
          </a:xfrm>
          <a:custGeom>
            <a:avLst/>
            <a:gdLst/>
            <a:ahLst/>
            <a:cxnLst/>
            <a:rect l="l" t="t" r="r" b="b"/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/>
          <a:ln w="19050">
            <a:solidFill>
              <a:srgbClr val="12456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Polygon 44"/>
          <p:cNvSpPr/>
          <p:nvPr/>
        </p:nvSpPr>
        <p:spPr>
          <a:xfrm>
            <a:off x="8077200" y="3181350"/>
            <a:ext cx="95250" cy="76200"/>
          </a:xfrm>
          <a:custGeom>
            <a:avLst/>
            <a:gdLst/>
            <a:ahLst/>
            <a:cxnLst/>
            <a:rect l="l" t="t" r="r" b="b"/>
            <a:pathLst>
              <a:path w="95250" h="76200">
                <a:moveTo>
                  <a:pt x="0" y="0"/>
                </a:moveTo>
                <a:lnTo>
                  <a:pt x="95250" y="38100"/>
                </a:lnTo>
                <a:lnTo>
                  <a:pt x="0" y="76200"/>
                </a:lnTo>
                <a:close/>
              </a:path>
            </a:pathLst>
          </a:cu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Rectangle 45"/>
          <p:cNvSpPr/>
          <p:nvPr/>
        </p:nvSpPr>
        <p:spPr>
          <a:xfrm>
            <a:off x="533400" y="5295900"/>
            <a:ext cx="11125200" cy="876300"/>
          </a:xfrm>
          <a:prstGeom prst="roundRect">
            <a:avLst>
              <a:gd name="adj" fmla="val 13043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Rectangle 46"/>
          <p:cNvSpPr/>
          <p:nvPr/>
        </p:nvSpPr>
        <p:spPr>
          <a:xfrm>
            <a:off x="533400" y="5295900"/>
            <a:ext cx="76200" cy="876300"/>
          </a:xfrm>
          <a:prstGeom prst="roundRect">
            <a:avLst>
              <a:gd name="adj" fmla="val 50000"/>
            </a:avLst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TextBox 47"/>
          <p:cNvSpPr txBox="1"/>
          <p:nvPr/>
        </p:nvSpPr>
        <p:spPr>
          <a:xfrm>
            <a:off x="831723" y="5539264"/>
            <a:ext cx="9145575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前端通过统一接口层访问后端，业务规则集中在服务层；智能能力只输出建议与候选内容，入库与组卷动作由教师确认。</a:t>
            </a:r>
          </a:p>
        </p:txBody>
      </p:sp>
      <p:sp>
        <p:nvSpPr>
          <p:cNvPr id="48" name="Line 48"/>
          <p:cNvSpPr/>
          <p:nvPr/>
        </p:nvSpPr>
        <p:spPr>
          <a:xfrm>
            <a:off x="533400" y="6400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TextBox 50"/>
          <p:cNvSpPr txBox="1"/>
          <p:nvPr/>
        </p:nvSpPr>
        <p:spPr>
          <a:xfrm>
            <a:off x="11587201" y="6532245"/>
            <a:ext cx="761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533400" y="438150"/>
            <a:ext cx="76200" cy="323850"/>
          </a:xfrm>
          <a:prstGeom prst="rect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11708" y="445770"/>
            <a:ext cx="2932176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技术路线与开发环境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8185" y="869156"/>
            <a:ext cx="136840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选型依据与工程约束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478741" y="583406"/>
            <a:ext cx="1855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428750"/>
            <a:ext cx="11125200" cy="419100"/>
          </a:xfrm>
          <a:prstGeom prst="roundRect">
            <a:avLst>
              <a:gd name="adj" fmla="val 13636"/>
            </a:avLst>
          </a:prstGeom>
          <a:solidFill>
            <a:srgbClr val="0B2E4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Box 7"/>
          <p:cNvSpPr txBox="1"/>
          <p:nvPr/>
        </p:nvSpPr>
        <p:spPr>
          <a:xfrm>
            <a:off x="660654" y="1575435"/>
            <a:ext cx="33528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类别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089404" y="1575435"/>
            <a:ext cx="6583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采用方案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708904" y="1575435"/>
            <a:ext cx="6583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选择理由</a:t>
            </a:r>
          </a:p>
        </p:txBody>
      </p:sp>
      <p:sp>
        <p:nvSpPr>
          <p:cNvPr id="10" name="Rectangle 10"/>
          <p:cNvSpPr/>
          <p:nvPr/>
        </p:nvSpPr>
        <p:spPr>
          <a:xfrm>
            <a:off x="533400" y="1847850"/>
            <a:ext cx="111252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641985" y="1993106"/>
            <a:ext cx="61452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前端框架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071116" y="2001202"/>
            <a:ext cx="196310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React 18 + TypeScript + Vite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690616" y="2001202"/>
            <a:ext cx="410984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组件化承载树控件、步骤流程与数据表格，类型约束减少联调错误</a:t>
            </a:r>
          </a:p>
        </p:txBody>
      </p:sp>
      <p:sp>
        <p:nvSpPr>
          <p:cNvPr id="14" name="Rectangle 14"/>
          <p:cNvSpPr/>
          <p:nvPr/>
        </p:nvSpPr>
        <p:spPr>
          <a:xfrm>
            <a:off x="533400" y="2266950"/>
            <a:ext cx="11125200" cy="4191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641985" y="2412206"/>
            <a:ext cx="76530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界面与状态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070735" y="2412206"/>
            <a:ext cx="15351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Ant Design + Zustand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690235" y="2412206"/>
            <a:ext cx="332846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统一交互语言，跨页面共享材料、范围与试卷状态</a:t>
            </a:r>
          </a:p>
        </p:txBody>
      </p:sp>
      <p:sp>
        <p:nvSpPr>
          <p:cNvPr id="18" name="Rectangle 18"/>
          <p:cNvSpPr/>
          <p:nvPr/>
        </p:nvSpPr>
        <p:spPr>
          <a:xfrm>
            <a:off x="533400" y="2686050"/>
            <a:ext cx="111252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641985" y="2831306"/>
            <a:ext cx="61452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后端服务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071116" y="2839402"/>
            <a:ext cx="228731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Python 3.11 + FastAPI + Pydantic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690616" y="2839402"/>
            <a:ext cx="382714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异步接口适配文件解析与模型调用，请求校验直接由模型声明</a:t>
            </a:r>
          </a:p>
        </p:txBody>
      </p:sp>
      <p:sp>
        <p:nvSpPr>
          <p:cNvPr id="22" name="Rectangle 22"/>
          <p:cNvSpPr/>
          <p:nvPr/>
        </p:nvSpPr>
        <p:spPr>
          <a:xfrm>
            <a:off x="533400" y="3105150"/>
            <a:ext cx="11125200" cy="4191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Box 23"/>
          <p:cNvSpPr txBox="1"/>
          <p:nvPr/>
        </p:nvSpPr>
        <p:spPr>
          <a:xfrm>
            <a:off x="641985" y="3250406"/>
            <a:ext cx="61452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数据访问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070735" y="3250406"/>
            <a:ext cx="16047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SQLAlchemy 异步 ORM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690235" y="3250406"/>
            <a:ext cx="30269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模型即表结构来源，关系维护与迁移成本更低</a:t>
            </a:r>
          </a:p>
        </p:txBody>
      </p:sp>
      <p:sp>
        <p:nvSpPr>
          <p:cNvPr id="26" name="Rectangle 26"/>
          <p:cNvSpPr/>
          <p:nvPr/>
        </p:nvSpPr>
        <p:spPr>
          <a:xfrm>
            <a:off x="533400" y="3524250"/>
            <a:ext cx="111252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Box 27"/>
          <p:cNvSpPr txBox="1"/>
          <p:nvPr/>
        </p:nvSpPr>
        <p:spPr>
          <a:xfrm>
            <a:off x="641985" y="3669506"/>
            <a:ext cx="61452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智能编排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070735" y="3669506"/>
            <a:ext cx="1265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LangGraph 状态图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5690235" y="3669506"/>
            <a:ext cx="317769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把意图识别、工具调用与人工审核中断显式建模</a:t>
            </a:r>
          </a:p>
        </p:txBody>
      </p:sp>
      <p:sp>
        <p:nvSpPr>
          <p:cNvPr id="30" name="Rectangle 30"/>
          <p:cNvSpPr/>
          <p:nvPr/>
        </p:nvSpPr>
        <p:spPr>
          <a:xfrm>
            <a:off x="533400" y="3943350"/>
            <a:ext cx="11125200" cy="4191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Box 31"/>
          <p:cNvSpPr txBox="1"/>
          <p:nvPr/>
        </p:nvSpPr>
        <p:spPr>
          <a:xfrm>
            <a:off x="641985" y="4088606"/>
            <a:ext cx="76530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检索与模型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071116" y="4096702"/>
            <a:ext cx="24843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ChromaDB + 中文向量模型 + DeepSeek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90616" y="4096702"/>
            <a:ext cx="32617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语义召回题目，关键词匹配作为不可用时的回退路径</a:t>
            </a:r>
          </a:p>
        </p:txBody>
      </p:sp>
      <p:sp>
        <p:nvSpPr>
          <p:cNvPr id="34" name="Rectangle 34"/>
          <p:cNvSpPr/>
          <p:nvPr/>
        </p:nvSpPr>
        <p:spPr>
          <a:xfrm>
            <a:off x="533400" y="4362450"/>
            <a:ext cx="111252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Box 35"/>
          <p:cNvSpPr txBox="1"/>
          <p:nvPr/>
        </p:nvSpPr>
        <p:spPr>
          <a:xfrm>
            <a:off x="641985" y="4507706"/>
            <a:ext cx="61452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数据存储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2070735" y="4507706"/>
            <a:ext cx="14664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SQLite 单文件数据库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5690616" y="4515802"/>
            <a:ext cx="32617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本地教学工具部署简单，后续可迁移到服务型数据库</a:t>
            </a:r>
          </a:p>
        </p:txBody>
      </p:sp>
      <p:sp>
        <p:nvSpPr>
          <p:cNvPr id="38" name="Rectangle 38"/>
          <p:cNvSpPr/>
          <p:nvPr/>
        </p:nvSpPr>
        <p:spPr>
          <a:xfrm>
            <a:off x="533400" y="4781550"/>
            <a:ext cx="11125200" cy="4191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TextBox 39"/>
          <p:cNvSpPr txBox="1"/>
          <p:nvPr/>
        </p:nvSpPr>
        <p:spPr>
          <a:xfrm>
            <a:off x="641985" y="4926806"/>
            <a:ext cx="61452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文档导出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2070735" y="4926806"/>
            <a:ext cx="177961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python-docx 与 PDF 生成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690235" y="4926806"/>
            <a:ext cx="332846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后端统一生成试卷、答案与答题卡，保证格式一致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27685" y="5326856"/>
            <a:ext cx="576384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开发环境：Windows 11、Python 3.11 虚拟环境、Node.js 与 npm、Microsoft Edge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27685" y="5574506"/>
            <a:ext cx="37807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浏览器；前后端分离启动，前端通过代理访问后端接口。</a:t>
            </a:r>
          </a:p>
        </p:txBody>
      </p:sp>
      <p:sp>
        <p:nvSpPr>
          <p:cNvPr id="44" name="Line 44"/>
          <p:cNvSpPr/>
          <p:nvPr/>
        </p:nvSpPr>
        <p:spPr>
          <a:xfrm>
            <a:off x="533400" y="6400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TextBox 46"/>
          <p:cNvSpPr txBox="1"/>
          <p:nvPr/>
        </p:nvSpPr>
        <p:spPr>
          <a:xfrm>
            <a:off x="11587201" y="6532245"/>
            <a:ext cx="761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533400" y="438150"/>
            <a:ext cx="76200" cy="323850"/>
          </a:xfrm>
          <a:prstGeom prst="rect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11708" y="445770"/>
            <a:ext cx="1639824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数据库设计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8185" y="869156"/>
            <a:ext cx="287614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围绕材料、知识、题目与试卷组织业务实体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478741" y="583406"/>
            <a:ext cx="1855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428750"/>
            <a:ext cx="11125200" cy="419100"/>
          </a:xfrm>
          <a:prstGeom prst="roundRect">
            <a:avLst>
              <a:gd name="adj" fmla="val 13636"/>
            </a:avLst>
          </a:prstGeom>
          <a:solidFill>
            <a:srgbClr val="0B2E4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Box 7"/>
          <p:cNvSpPr txBox="1"/>
          <p:nvPr/>
        </p:nvSpPr>
        <p:spPr>
          <a:xfrm>
            <a:off x="660654" y="157543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数据表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756154" y="1575435"/>
            <a:ext cx="6583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关键字段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56654" y="1575435"/>
            <a:ext cx="81991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用途与关系</a:t>
            </a:r>
          </a:p>
        </p:txBody>
      </p:sp>
      <p:sp>
        <p:nvSpPr>
          <p:cNvPr id="10" name="Rectangle 10"/>
          <p:cNvSpPr/>
          <p:nvPr/>
        </p:nvSpPr>
        <p:spPr>
          <a:xfrm>
            <a:off x="533400" y="1847850"/>
            <a:ext cx="111252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641985" y="1993106"/>
            <a:ext cx="71253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materials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737866" y="2001202"/>
            <a:ext cx="299317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filename、file_type、content_md、chapter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737985" y="1993106"/>
            <a:ext cx="257459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课程文件与解析文本，是知识树的来源</a:t>
            </a:r>
          </a:p>
        </p:txBody>
      </p:sp>
      <p:sp>
        <p:nvSpPr>
          <p:cNvPr id="14" name="Rectangle 14"/>
          <p:cNvSpPr/>
          <p:nvPr/>
        </p:nvSpPr>
        <p:spPr>
          <a:xfrm>
            <a:off x="533400" y="2266950"/>
            <a:ext cx="11125200" cy="4191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641985" y="2412206"/>
            <a:ext cx="124778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knowledge_nodes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737866" y="2420302"/>
            <a:ext cx="243483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material_id、parent_id、node_type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737985" y="2412206"/>
            <a:ext cx="257459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章、节、知识点层级及重点与解题步骤</a:t>
            </a:r>
          </a:p>
        </p:txBody>
      </p:sp>
      <p:sp>
        <p:nvSpPr>
          <p:cNvPr id="18" name="Rectangle 18"/>
          <p:cNvSpPr/>
          <p:nvPr/>
        </p:nvSpPr>
        <p:spPr>
          <a:xfrm>
            <a:off x="533400" y="2686050"/>
            <a:ext cx="111252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641985" y="2831306"/>
            <a:ext cx="72007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questions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737866" y="2839402"/>
            <a:ext cx="245604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type、difficulty、content、answer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737985" y="2831306"/>
            <a:ext cx="287614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正式题库题目，含选项、答案与知识点关联</a:t>
            </a:r>
          </a:p>
        </p:txBody>
      </p:sp>
      <p:sp>
        <p:nvSpPr>
          <p:cNvPr id="22" name="Rectangle 22"/>
          <p:cNvSpPr/>
          <p:nvPr/>
        </p:nvSpPr>
        <p:spPr>
          <a:xfrm>
            <a:off x="533400" y="3105150"/>
            <a:ext cx="11125200" cy="4191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Box 23"/>
          <p:cNvSpPr txBox="1"/>
          <p:nvPr/>
        </p:nvSpPr>
        <p:spPr>
          <a:xfrm>
            <a:off x="641985" y="3250406"/>
            <a:ext cx="95377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exam_scopes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737485" y="3250406"/>
            <a:ext cx="15644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status、demand_json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737985" y="3250406"/>
            <a:ext cx="257459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待确认或已确认的考查范围与出卷需求</a:t>
            </a:r>
          </a:p>
        </p:txBody>
      </p:sp>
      <p:sp>
        <p:nvSpPr>
          <p:cNvPr id="26" name="Rectangle 26"/>
          <p:cNvSpPr/>
          <p:nvPr/>
        </p:nvSpPr>
        <p:spPr>
          <a:xfrm>
            <a:off x="533400" y="3524250"/>
            <a:ext cx="111252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Box 27"/>
          <p:cNvSpPr txBox="1"/>
          <p:nvPr/>
        </p:nvSpPr>
        <p:spPr>
          <a:xfrm>
            <a:off x="641985" y="3669506"/>
            <a:ext cx="136840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exam_scope_nodes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737866" y="3677602"/>
            <a:ext cx="175635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source_node_id、included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737985" y="3669506"/>
            <a:ext cx="242382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范围节点快照，保留当时的范围依据</a:t>
            </a:r>
          </a:p>
        </p:txBody>
      </p:sp>
      <p:sp>
        <p:nvSpPr>
          <p:cNvPr id="30" name="Rectangle 30"/>
          <p:cNvSpPr/>
          <p:nvPr/>
        </p:nvSpPr>
        <p:spPr>
          <a:xfrm>
            <a:off x="533400" y="3943350"/>
            <a:ext cx="11125200" cy="4191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Box 31"/>
          <p:cNvSpPr txBox="1"/>
          <p:nvPr/>
        </p:nvSpPr>
        <p:spPr>
          <a:xfrm>
            <a:off x="641985" y="4088606"/>
            <a:ext cx="45621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exams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737866" y="4096702"/>
            <a:ext cx="201785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title、total_score、duration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737985" y="4088606"/>
            <a:ext cx="197149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试卷标题、总分、时长与状态</a:t>
            </a:r>
          </a:p>
        </p:txBody>
      </p:sp>
      <p:sp>
        <p:nvSpPr>
          <p:cNvPr id="34" name="Rectangle 34"/>
          <p:cNvSpPr/>
          <p:nvPr/>
        </p:nvSpPr>
        <p:spPr>
          <a:xfrm>
            <a:off x="533400" y="4362450"/>
            <a:ext cx="111252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Box 35"/>
          <p:cNvSpPr txBox="1"/>
          <p:nvPr/>
        </p:nvSpPr>
        <p:spPr>
          <a:xfrm>
            <a:off x="641985" y="4507706"/>
            <a:ext cx="116485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exam_questions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2737866" y="4515802"/>
            <a:ext cx="224401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question_id、score、sort_order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737985" y="4507706"/>
            <a:ext cx="242382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试卷与题目的关联，保存顺序与分值</a:t>
            </a:r>
          </a:p>
        </p:txBody>
      </p:sp>
      <p:sp>
        <p:nvSpPr>
          <p:cNvPr id="38" name="Rectangle 38"/>
          <p:cNvSpPr/>
          <p:nvPr/>
        </p:nvSpPr>
        <p:spPr>
          <a:xfrm>
            <a:off x="533400" y="4781550"/>
            <a:ext cx="11125200" cy="4191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TextBox 39"/>
          <p:cNvSpPr txBox="1"/>
          <p:nvPr/>
        </p:nvSpPr>
        <p:spPr>
          <a:xfrm>
            <a:off x="641985" y="4926806"/>
            <a:ext cx="121762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question_drafts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2737485" y="4926806"/>
            <a:ext cx="191872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status、content、answer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737985" y="4926806"/>
            <a:ext cx="242382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待审核候选题，接受后转为正式题目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27685" y="5326856"/>
            <a:ext cx="890712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设计要点：范围与试卷保存需求快照，保证结果可追溯；草稿使用状态字段区分待审核、已接受与已拒绝，未接受的草稿不参与组卷。</a:t>
            </a:r>
          </a:p>
        </p:txBody>
      </p:sp>
      <p:sp>
        <p:nvSpPr>
          <p:cNvPr id="43" name="Line 43"/>
          <p:cNvSpPr/>
          <p:nvPr/>
        </p:nvSpPr>
        <p:spPr>
          <a:xfrm>
            <a:off x="533400" y="6400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Box 45"/>
          <p:cNvSpPr txBox="1"/>
          <p:nvPr/>
        </p:nvSpPr>
        <p:spPr>
          <a:xfrm>
            <a:off x="11587201" y="6532245"/>
            <a:ext cx="761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533400" y="438150"/>
            <a:ext cx="76200" cy="323850"/>
          </a:xfrm>
          <a:prstGeom prst="rect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11708" y="445770"/>
            <a:ext cx="1639824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业务主流程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8185" y="869156"/>
            <a:ext cx="242382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从课程材料到可导出试卷的六步闭环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478741" y="583406"/>
            <a:ext cx="1855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600200"/>
            <a:ext cx="1676400" cy="1600200"/>
          </a:xfrm>
          <a:prstGeom prst="roundRect">
            <a:avLst>
              <a:gd name="adj" fmla="val 5952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533400" y="1600200"/>
            <a:ext cx="1676400" cy="57150"/>
          </a:xfrm>
          <a:prstGeom prst="roundRect">
            <a:avLst>
              <a:gd name="adj" fmla="val 50000"/>
            </a:avLst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Box 8"/>
          <p:cNvSpPr txBox="1"/>
          <p:nvPr/>
        </p:nvSpPr>
        <p:spPr>
          <a:xfrm>
            <a:off x="731520" y="1909762"/>
            <a:ext cx="372704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35711" y="2398871"/>
            <a:ext cx="779120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上传材料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37616" y="2744152"/>
            <a:ext cx="85877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保存解析文本</a:t>
            </a:r>
          </a:p>
        </p:txBody>
      </p:sp>
      <p:sp>
        <p:nvSpPr>
          <p:cNvPr id="11" name="Rectangle 11"/>
          <p:cNvSpPr/>
          <p:nvPr/>
        </p:nvSpPr>
        <p:spPr>
          <a:xfrm>
            <a:off x="2343150" y="1600200"/>
            <a:ext cx="1676400" cy="1600200"/>
          </a:xfrm>
          <a:prstGeom prst="roundRect">
            <a:avLst>
              <a:gd name="adj" fmla="val 5952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12"/>
          <p:cNvSpPr/>
          <p:nvPr/>
        </p:nvSpPr>
        <p:spPr>
          <a:xfrm>
            <a:off x="2343150" y="1600200"/>
            <a:ext cx="1676400" cy="57150"/>
          </a:xfrm>
          <a:prstGeom prst="roundRect">
            <a:avLst>
              <a:gd name="adj" fmla="val 50000"/>
            </a:avLst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Box 13"/>
          <p:cNvSpPr txBox="1"/>
          <p:nvPr/>
        </p:nvSpPr>
        <p:spPr>
          <a:xfrm>
            <a:off x="2541270" y="1909762"/>
            <a:ext cx="372704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545461" y="2398871"/>
            <a:ext cx="970280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提取知识树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547366" y="2744152"/>
            <a:ext cx="85877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核对节点内容</a:t>
            </a:r>
          </a:p>
        </p:txBody>
      </p:sp>
      <p:sp>
        <p:nvSpPr>
          <p:cNvPr id="16" name="Rectangle 16"/>
          <p:cNvSpPr/>
          <p:nvPr/>
        </p:nvSpPr>
        <p:spPr>
          <a:xfrm>
            <a:off x="4152900" y="1600200"/>
            <a:ext cx="1676400" cy="1600200"/>
          </a:xfrm>
          <a:prstGeom prst="roundRect">
            <a:avLst>
              <a:gd name="adj" fmla="val 5952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Rectangle 17"/>
          <p:cNvSpPr/>
          <p:nvPr/>
        </p:nvSpPr>
        <p:spPr>
          <a:xfrm>
            <a:off x="4152900" y="1600200"/>
            <a:ext cx="1676400" cy="57150"/>
          </a:xfrm>
          <a:prstGeom prst="roundRect">
            <a:avLst>
              <a:gd name="adj" fmla="val 50000"/>
            </a:avLst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4351020" y="1909762"/>
            <a:ext cx="372704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355211" y="2398871"/>
            <a:ext cx="779120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填写需求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357116" y="2744152"/>
            <a:ext cx="100012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题型与难度分布</a:t>
            </a:r>
          </a:p>
        </p:txBody>
      </p:sp>
      <p:sp>
        <p:nvSpPr>
          <p:cNvPr id="21" name="Rectangle 21"/>
          <p:cNvSpPr/>
          <p:nvPr/>
        </p:nvSpPr>
        <p:spPr>
          <a:xfrm>
            <a:off x="5962650" y="1600200"/>
            <a:ext cx="1676400" cy="1600200"/>
          </a:xfrm>
          <a:prstGeom prst="roundRect">
            <a:avLst>
              <a:gd name="adj" fmla="val 5952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Rectangle 22"/>
          <p:cNvSpPr/>
          <p:nvPr/>
        </p:nvSpPr>
        <p:spPr>
          <a:xfrm>
            <a:off x="5962650" y="1600200"/>
            <a:ext cx="1676400" cy="57150"/>
          </a:xfrm>
          <a:prstGeom prst="roundRect">
            <a:avLst>
              <a:gd name="adj" fmla="val 50000"/>
            </a:avLst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Box 23"/>
          <p:cNvSpPr txBox="1"/>
          <p:nvPr/>
        </p:nvSpPr>
        <p:spPr>
          <a:xfrm>
            <a:off x="6160770" y="1909762"/>
            <a:ext cx="372704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164961" y="2398871"/>
            <a:ext cx="779120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确认范围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166866" y="2744152"/>
            <a:ext cx="71742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勾选并锁定</a:t>
            </a:r>
          </a:p>
        </p:txBody>
      </p:sp>
      <p:sp>
        <p:nvSpPr>
          <p:cNvPr id="26" name="Rectangle 26"/>
          <p:cNvSpPr/>
          <p:nvPr/>
        </p:nvSpPr>
        <p:spPr>
          <a:xfrm>
            <a:off x="7772400" y="1600200"/>
            <a:ext cx="1676400" cy="1600200"/>
          </a:xfrm>
          <a:prstGeom prst="roundRect">
            <a:avLst>
              <a:gd name="adj" fmla="val 5952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Rectangle 27"/>
          <p:cNvSpPr/>
          <p:nvPr/>
        </p:nvSpPr>
        <p:spPr>
          <a:xfrm>
            <a:off x="7772400" y="1600200"/>
            <a:ext cx="1676400" cy="57150"/>
          </a:xfrm>
          <a:prstGeom prst="roundRect">
            <a:avLst>
              <a:gd name="adj" fmla="val 50000"/>
            </a:avLst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Box 28"/>
          <p:cNvSpPr txBox="1"/>
          <p:nvPr/>
        </p:nvSpPr>
        <p:spPr>
          <a:xfrm>
            <a:off x="7970520" y="1909762"/>
            <a:ext cx="372704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974711" y="2398871"/>
            <a:ext cx="970280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组卷与审核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976616" y="2744152"/>
            <a:ext cx="85877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缺口生成草稿</a:t>
            </a:r>
          </a:p>
        </p:txBody>
      </p:sp>
      <p:sp>
        <p:nvSpPr>
          <p:cNvPr id="31" name="Rectangle 31"/>
          <p:cNvSpPr/>
          <p:nvPr/>
        </p:nvSpPr>
        <p:spPr>
          <a:xfrm>
            <a:off x="9582150" y="1600200"/>
            <a:ext cx="1676400" cy="1600200"/>
          </a:xfrm>
          <a:prstGeom prst="roundRect">
            <a:avLst>
              <a:gd name="adj" fmla="val 5952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Rectangle 32"/>
          <p:cNvSpPr/>
          <p:nvPr/>
        </p:nvSpPr>
        <p:spPr>
          <a:xfrm>
            <a:off x="9582150" y="1600200"/>
            <a:ext cx="1676400" cy="57150"/>
          </a:xfrm>
          <a:prstGeom prst="roundRect">
            <a:avLst>
              <a:gd name="adj" fmla="val 50000"/>
            </a:avLst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Box 33"/>
          <p:cNvSpPr txBox="1"/>
          <p:nvPr/>
        </p:nvSpPr>
        <p:spPr>
          <a:xfrm>
            <a:off x="9780270" y="1909762"/>
            <a:ext cx="372704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784461" y="2398871"/>
            <a:ext cx="970280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预览与导出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786366" y="2744152"/>
            <a:ext cx="85877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试卷与答题卡</a:t>
            </a:r>
          </a:p>
        </p:txBody>
      </p:sp>
      <p:sp>
        <p:nvSpPr>
          <p:cNvPr id="36" name="Rectangle 36"/>
          <p:cNvSpPr/>
          <p:nvPr/>
        </p:nvSpPr>
        <p:spPr>
          <a:xfrm>
            <a:off x="533400" y="3543300"/>
            <a:ext cx="11125200" cy="2457450"/>
          </a:xfrm>
          <a:prstGeom prst="roundRect">
            <a:avLst>
              <a:gd name="adj" fmla="val 4651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Rectangle 37"/>
          <p:cNvSpPr/>
          <p:nvPr/>
        </p:nvSpPr>
        <p:spPr>
          <a:xfrm>
            <a:off x="533400" y="3543300"/>
            <a:ext cx="76200" cy="2457450"/>
          </a:xfrm>
          <a:prstGeom prst="roundRect">
            <a:avLst>
              <a:gd name="adj" fmla="val 50000"/>
            </a:avLst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Box 38"/>
          <p:cNvSpPr txBox="1"/>
          <p:nvPr/>
        </p:nvSpPr>
        <p:spPr>
          <a:xfrm>
            <a:off x="831723" y="3767614"/>
            <a:ext cx="10179456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关键约束一：考查范围必须先由教师确认，未确认范围时组卷请求会被拒绝，页面同时给出提示，避免在范围不清的情况下生成试卷。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31723" y="4415314"/>
            <a:ext cx="1035177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关键约束二：题库中题目数量或题型不足时，系统只生成待审核草稿并明确提示缺口；教师接受草稿后题目才写入正式题库，被拒绝的草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31723" y="4701064"/>
            <a:ext cx="173609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稿不会参与任何组卷。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31723" y="5063014"/>
            <a:ext cx="10007143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关键约束三：试卷保存需求与范围快照，题目与分值为独立关联记录，教师可在预览页面调整顺序与分值，系统据此重新校验总分。</a:t>
            </a:r>
          </a:p>
        </p:txBody>
      </p:sp>
      <p:sp>
        <p:nvSpPr>
          <p:cNvPr id="42" name="Line 42"/>
          <p:cNvSpPr/>
          <p:nvPr/>
        </p:nvSpPr>
        <p:spPr>
          <a:xfrm>
            <a:off x="533400" y="6400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TextBox 44"/>
          <p:cNvSpPr txBox="1"/>
          <p:nvPr/>
        </p:nvSpPr>
        <p:spPr>
          <a:xfrm>
            <a:off x="11587201" y="6532245"/>
            <a:ext cx="761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533400" y="438150"/>
            <a:ext cx="76200" cy="323850"/>
          </a:xfrm>
          <a:prstGeom prst="rect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11708" y="445770"/>
            <a:ext cx="1639824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教师工作台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8185" y="869156"/>
            <a:ext cx="242382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材料、题库与待审核草稿的统一入口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478741" y="583406"/>
            <a:ext cx="1855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257300"/>
            <a:ext cx="7124700" cy="4724400"/>
          </a:xfrm>
          <a:prstGeom prst="roundRect">
            <a:avLst>
              <a:gd name="adj" fmla="val 2419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685800" y="1409700"/>
            <a:ext cx="6819900" cy="4419600"/>
          </a:xfrm>
          <a:prstGeom prst="roundRect">
            <a:avLst>
              <a:gd name="adj" fmla="val 2155"/>
            </a:avLst>
          </a:prstGeom>
          <a:solidFill>
            <a:srgbClr val="E9EDF2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Rectangle 8"/>
          <p:cNvSpPr/>
          <p:nvPr/>
        </p:nvSpPr>
        <p:spPr>
          <a:xfrm>
            <a:off x="685800" y="1409700"/>
            <a:ext cx="6819900" cy="323850"/>
          </a:xfrm>
          <a:prstGeom prst="roundRect">
            <a:avLst>
              <a:gd name="adj" fmla="val 29412"/>
            </a:avLst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Ellipse 9"/>
          <p:cNvSpPr/>
          <p:nvPr/>
        </p:nvSpPr>
        <p:spPr>
          <a:xfrm>
            <a:off x="8477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Ellipse 10"/>
          <p:cNvSpPr/>
          <p:nvPr/>
        </p:nvSpPr>
        <p:spPr>
          <a:xfrm>
            <a:off x="10382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Ellipse 11"/>
          <p:cNvSpPr/>
          <p:nvPr/>
        </p:nvSpPr>
        <p:spPr>
          <a:xfrm>
            <a:off x="12287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12"/>
          <p:cNvSpPr/>
          <p:nvPr/>
        </p:nvSpPr>
        <p:spPr>
          <a:xfrm>
            <a:off x="685800" y="1695450"/>
            <a:ext cx="6819900" cy="57150"/>
          </a:xfrm>
          <a:prstGeom prst="rect">
            <a:avLst/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3" name="Image 13"/>
          <p:cNvPicPr>
            <a:picLocks noChangeAspect="1"/>
          </p:cNvPicPr>
          <p:nvPr/>
        </p:nvPicPr>
        <p:blipFill>
          <a:blip r:embed="rId2"/>
          <a:srcRect l="262" r="263"/>
          <a:stretch>
            <a:fillRect/>
          </a:stretch>
        </p:blipFill>
        <p:spPr>
          <a:xfrm>
            <a:off x="762000" y="1809750"/>
            <a:ext cx="6667500" cy="3943350"/>
          </a:xfrm>
          <a:prstGeom prst="rect">
            <a:avLst/>
          </a:prstGeom>
        </p:spPr>
      </p:pic>
      <p:sp>
        <p:nvSpPr>
          <p:cNvPr id="14" name="Rectangle 14"/>
          <p:cNvSpPr/>
          <p:nvPr/>
        </p:nvSpPr>
        <p:spPr>
          <a:xfrm>
            <a:off x="7848600" y="1257300"/>
            <a:ext cx="3810000" cy="472440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Rectangle 15"/>
          <p:cNvSpPr/>
          <p:nvPr/>
        </p:nvSpPr>
        <p:spPr>
          <a:xfrm>
            <a:off x="8077200" y="1524000"/>
            <a:ext cx="38100" cy="247650"/>
          </a:xfrm>
          <a:prstGeom prst="rect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8221980" y="1552575"/>
            <a:ext cx="8229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功能要点</a:t>
            </a:r>
          </a:p>
        </p:txBody>
      </p:sp>
      <p:sp>
        <p:nvSpPr>
          <p:cNvPr id="17" name="Ellipse 17"/>
          <p:cNvSpPr/>
          <p:nvPr/>
        </p:nvSpPr>
        <p:spPr>
          <a:xfrm>
            <a:off x="8086725" y="20193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8261223" y="197691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首页汇总课程材料数、题库题目数与待审核草稿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261223" y="2224564"/>
            <a:ext cx="1219149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数三项关键指标</a:t>
            </a:r>
          </a:p>
        </p:txBody>
      </p:sp>
      <p:sp>
        <p:nvSpPr>
          <p:cNvPr id="20" name="Ellipse 20"/>
          <p:cNvSpPr/>
          <p:nvPr/>
        </p:nvSpPr>
        <p:spPr>
          <a:xfrm>
            <a:off x="8086725" y="264795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Box 21"/>
          <p:cNvSpPr txBox="1"/>
          <p:nvPr/>
        </p:nvSpPr>
        <p:spPr>
          <a:xfrm>
            <a:off x="8261223" y="260556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提供进入课程材料库、题库与草稿审核页的快捷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261223" y="2853214"/>
            <a:ext cx="357581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入口</a:t>
            </a:r>
          </a:p>
        </p:txBody>
      </p:sp>
      <p:sp>
        <p:nvSpPr>
          <p:cNvPr id="23" name="Ellipse 23"/>
          <p:cNvSpPr/>
          <p:nvPr/>
        </p:nvSpPr>
        <p:spPr>
          <a:xfrm>
            <a:off x="8086725" y="32766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Box 24"/>
          <p:cNvSpPr txBox="1"/>
          <p:nvPr/>
        </p:nvSpPr>
        <p:spPr>
          <a:xfrm>
            <a:off x="8261223" y="323421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教学助手以侧边栏形式常驻，可随时提问或发起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261223" y="3481864"/>
            <a:ext cx="70220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组卷对话</a:t>
            </a:r>
          </a:p>
        </p:txBody>
      </p:sp>
      <p:sp>
        <p:nvSpPr>
          <p:cNvPr id="26" name="Ellipse 26"/>
          <p:cNvSpPr/>
          <p:nvPr/>
        </p:nvSpPr>
        <p:spPr>
          <a:xfrm>
            <a:off x="8086725" y="390525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Box 27"/>
          <p:cNvSpPr txBox="1"/>
          <p:nvPr/>
        </p:nvSpPr>
        <p:spPr>
          <a:xfrm>
            <a:off x="8261223" y="386286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当统计数字为零时给出空状态提示，指引教师先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261223" y="4110514"/>
            <a:ext cx="70220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上传材料</a:t>
            </a:r>
          </a:p>
        </p:txBody>
      </p:sp>
      <p:sp>
        <p:nvSpPr>
          <p:cNvPr id="29" name="Line 29"/>
          <p:cNvSpPr/>
          <p:nvPr/>
        </p:nvSpPr>
        <p:spPr>
          <a:xfrm>
            <a:off x="8077200" y="5257800"/>
            <a:ext cx="3352800" cy="9525"/>
          </a:xfrm>
          <a:custGeom>
            <a:avLst/>
            <a:gdLst/>
            <a:ahLst/>
            <a:cxnLst/>
            <a:rect l="l" t="t" r="r" b="b"/>
            <a:pathLst>
              <a:path w="3352800" h="9525">
                <a:moveTo>
                  <a:pt x="0" y="0"/>
                </a:moveTo>
                <a:lnTo>
                  <a:pt x="33528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Box 30"/>
          <p:cNvSpPr txBox="1"/>
          <p:nvPr/>
        </p:nvSpPr>
        <p:spPr>
          <a:xfrm>
            <a:off x="8071485" y="5384006"/>
            <a:ext cx="37807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工作台把教师最关心的数据准备状态集中在一个页面，减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071485" y="5612606"/>
            <a:ext cx="242382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少在多个功能之间来回切换的成本。</a:t>
            </a:r>
          </a:p>
        </p:txBody>
      </p:sp>
      <p:sp>
        <p:nvSpPr>
          <p:cNvPr id="32" name="Line 32"/>
          <p:cNvSpPr/>
          <p:nvPr/>
        </p:nvSpPr>
        <p:spPr>
          <a:xfrm>
            <a:off x="533400" y="6400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Box 34"/>
          <p:cNvSpPr txBox="1"/>
          <p:nvPr/>
        </p:nvSpPr>
        <p:spPr>
          <a:xfrm>
            <a:off x="11587201" y="6532245"/>
            <a:ext cx="761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9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533400" y="438150"/>
            <a:ext cx="76200" cy="323850"/>
          </a:xfrm>
          <a:prstGeom prst="rect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11708" y="445770"/>
            <a:ext cx="1962912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课程材料管理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8185" y="869156"/>
            <a:ext cx="227304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上传、解析与维护课程讲义与课件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478741" y="583406"/>
            <a:ext cx="1855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257300"/>
            <a:ext cx="7124700" cy="4724400"/>
          </a:xfrm>
          <a:prstGeom prst="roundRect">
            <a:avLst>
              <a:gd name="adj" fmla="val 2419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685800" y="1409700"/>
            <a:ext cx="6819900" cy="4419600"/>
          </a:xfrm>
          <a:prstGeom prst="roundRect">
            <a:avLst>
              <a:gd name="adj" fmla="val 2155"/>
            </a:avLst>
          </a:prstGeom>
          <a:solidFill>
            <a:srgbClr val="E9EDF2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Rectangle 8"/>
          <p:cNvSpPr/>
          <p:nvPr/>
        </p:nvSpPr>
        <p:spPr>
          <a:xfrm>
            <a:off x="685800" y="1409700"/>
            <a:ext cx="6819900" cy="323850"/>
          </a:xfrm>
          <a:prstGeom prst="roundRect">
            <a:avLst>
              <a:gd name="adj" fmla="val 29412"/>
            </a:avLst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Ellipse 9"/>
          <p:cNvSpPr/>
          <p:nvPr/>
        </p:nvSpPr>
        <p:spPr>
          <a:xfrm>
            <a:off x="8477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Ellipse 10"/>
          <p:cNvSpPr/>
          <p:nvPr/>
        </p:nvSpPr>
        <p:spPr>
          <a:xfrm>
            <a:off x="10382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Ellipse 11"/>
          <p:cNvSpPr/>
          <p:nvPr/>
        </p:nvSpPr>
        <p:spPr>
          <a:xfrm>
            <a:off x="12287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12"/>
          <p:cNvSpPr/>
          <p:nvPr/>
        </p:nvSpPr>
        <p:spPr>
          <a:xfrm>
            <a:off x="685800" y="1695450"/>
            <a:ext cx="6819900" cy="57150"/>
          </a:xfrm>
          <a:prstGeom prst="rect">
            <a:avLst/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3" name="Image 13"/>
          <p:cNvPicPr>
            <a:picLocks noChangeAspect="1"/>
          </p:cNvPicPr>
          <p:nvPr/>
        </p:nvPicPr>
        <p:blipFill>
          <a:blip r:embed="rId2"/>
          <a:srcRect t="10818" b="10819"/>
          <a:stretch>
            <a:fillRect/>
          </a:stretch>
        </p:blipFill>
        <p:spPr>
          <a:xfrm>
            <a:off x="762000" y="1809750"/>
            <a:ext cx="6667500" cy="3943350"/>
          </a:xfrm>
          <a:prstGeom prst="rect">
            <a:avLst/>
          </a:prstGeom>
        </p:spPr>
      </p:pic>
      <p:sp>
        <p:nvSpPr>
          <p:cNvPr id="14" name="Rectangle 14"/>
          <p:cNvSpPr/>
          <p:nvPr/>
        </p:nvSpPr>
        <p:spPr>
          <a:xfrm>
            <a:off x="7848600" y="1257300"/>
            <a:ext cx="3810000" cy="472440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Rectangle 15"/>
          <p:cNvSpPr/>
          <p:nvPr/>
        </p:nvSpPr>
        <p:spPr>
          <a:xfrm>
            <a:off x="8077200" y="1524000"/>
            <a:ext cx="38100" cy="247650"/>
          </a:xfrm>
          <a:prstGeom prst="rect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8221980" y="1552575"/>
            <a:ext cx="8229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功能要点</a:t>
            </a:r>
          </a:p>
        </p:txBody>
      </p:sp>
      <p:sp>
        <p:nvSpPr>
          <p:cNvPr id="17" name="Ellipse 17"/>
          <p:cNvSpPr/>
          <p:nvPr/>
        </p:nvSpPr>
        <p:spPr>
          <a:xfrm>
            <a:off x="8086725" y="20193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8261223" y="1976914"/>
            <a:ext cx="2416729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支持 pptx、docx、pdf、md 四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261223" y="2224564"/>
            <a:ext cx="1908404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种格式，按材料类型筛选</a:t>
            </a:r>
          </a:p>
        </p:txBody>
      </p:sp>
      <p:sp>
        <p:nvSpPr>
          <p:cNvPr id="20" name="Ellipse 20"/>
          <p:cNvSpPr/>
          <p:nvPr/>
        </p:nvSpPr>
        <p:spPr>
          <a:xfrm>
            <a:off x="8086725" y="264795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Box 21"/>
          <p:cNvSpPr txBox="1"/>
          <p:nvPr/>
        </p:nvSpPr>
        <p:spPr>
          <a:xfrm>
            <a:off x="8261223" y="260556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上传后保存文件名、类型、页数、章节与解析文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261223" y="2853214"/>
            <a:ext cx="18526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本</a:t>
            </a:r>
          </a:p>
        </p:txBody>
      </p:sp>
      <p:sp>
        <p:nvSpPr>
          <p:cNvPr id="23" name="Ellipse 23"/>
          <p:cNvSpPr/>
          <p:nvPr/>
        </p:nvSpPr>
        <p:spPr>
          <a:xfrm>
            <a:off x="8086725" y="32766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Box 24"/>
          <p:cNvSpPr txBox="1"/>
          <p:nvPr/>
        </p:nvSpPr>
        <p:spPr>
          <a:xfrm>
            <a:off x="8261223" y="3234214"/>
            <a:ext cx="3286912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材料解析文本是知识提取与范围建议的依据</a:t>
            </a:r>
          </a:p>
        </p:txBody>
      </p:sp>
      <p:sp>
        <p:nvSpPr>
          <p:cNvPr id="25" name="Ellipse 25"/>
          <p:cNvSpPr/>
          <p:nvPr/>
        </p:nvSpPr>
        <p:spPr>
          <a:xfrm>
            <a:off x="8086725" y="36576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Box 26"/>
          <p:cNvSpPr txBox="1"/>
          <p:nvPr/>
        </p:nvSpPr>
        <p:spPr>
          <a:xfrm>
            <a:off x="8261223" y="361521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删除材料时同步处理关联知识节点，避免孤立数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261223" y="3862864"/>
            <a:ext cx="18526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据</a:t>
            </a:r>
          </a:p>
        </p:txBody>
      </p:sp>
      <p:sp>
        <p:nvSpPr>
          <p:cNvPr id="28" name="Line 28"/>
          <p:cNvSpPr/>
          <p:nvPr/>
        </p:nvSpPr>
        <p:spPr>
          <a:xfrm>
            <a:off x="8077200" y="5257800"/>
            <a:ext cx="3352800" cy="9525"/>
          </a:xfrm>
          <a:custGeom>
            <a:avLst/>
            <a:gdLst/>
            <a:ahLst/>
            <a:cxnLst/>
            <a:rect l="l" t="t" r="r" b="b"/>
            <a:pathLst>
              <a:path w="3352800" h="9525">
                <a:moveTo>
                  <a:pt x="0" y="0"/>
                </a:moveTo>
                <a:lnTo>
                  <a:pt x="33528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Box 29"/>
          <p:cNvSpPr txBox="1"/>
          <p:nvPr/>
        </p:nvSpPr>
        <p:spPr>
          <a:xfrm>
            <a:off x="8071485" y="5384006"/>
            <a:ext cx="37807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材料视图把课程文件与后续知识结构关联起来，为知识树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071485" y="5612606"/>
            <a:ext cx="136840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提取提供统一入口。</a:t>
            </a:r>
          </a:p>
        </p:txBody>
      </p:sp>
      <p:sp>
        <p:nvSpPr>
          <p:cNvPr id="31" name="Line 31"/>
          <p:cNvSpPr/>
          <p:nvPr/>
        </p:nvSpPr>
        <p:spPr>
          <a:xfrm>
            <a:off x="533400" y="6400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Box 33"/>
          <p:cNvSpPr txBox="1"/>
          <p:nvPr/>
        </p:nvSpPr>
        <p:spPr>
          <a:xfrm>
            <a:off x="115205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533400" y="438150"/>
            <a:ext cx="76200" cy="323850"/>
          </a:xfrm>
          <a:prstGeom prst="rect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11708" y="445770"/>
            <a:ext cx="2609088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知识树提取与维护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8185" y="869156"/>
            <a:ext cx="212227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按章、节、知识点组织课程内容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478741" y="583406"/>
            <a:ext cx="1855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257300"/>
            <a:ext cx="7124700" cy="4724400"/>
          </a:xfrm>
          <a:prstGeom prst="roundRect">
            <a:avLst>
              <a:gd name="adj" fmla="val 2419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685800" y="1409700"/>
            <a:ext cx="6819900" cy="4419600"/>
          </a:xfrm>
          <a:prstGeom prst="roundRect">
            <a:avLst>
              <a:gd name="adj" fmla="val 2155"/>
            </a:avLst>
          </a:prstGeom>
          <a:solidFill>
            <a:srgbClr val="E9EDF2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Rectangle 8"/>
          <p:cNvSpPr/>
          <p:nvPr/>
        </p:nvSpPr>
        <p:spPr>
          <a:xfrm>
            <a:off x="685800" y="1409700"/>
            <a:ext cx="6819900" cy="323850"/>
          </a:xfrm>
          <a:prstGeom prst="roundRect">
            <a:avLst>
              <a:gd name="adj" fmla="val 29412"/>
            </a:avLst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Ellipse 9"/>
          <p:cNvSpPr/>
          <p:nvPr/>
        </p:nvSpPr>
        <p:spPr>
          <a:xfrm>
            <a:off x="8477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Ellipse 10"/>
          <p:cNvSpPr/>
          <p:nvPr/>
        </p:nvSpPr>
        <p:spPr>
          <a:xfrm>
            <a:off x="10382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Ellipse 11"/>
          <p:cNvSpPr/>
          <p:nvPr/>
        </p:nvSpPr>
        <p:spPr>
          <a:xfrm>
            <a:off x="12287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12"/>
          <p:cNvSpPr/>
          <p:nvPr/>
        </p:nvSpPr>
        <p:spPr>
          <a:xfrm>
            <a:off x="685800" y="1695450"/>
            <a:ext cx="6819900" cy="57150"/>
          </a:xfrm>
          <a:prstGeom prst="rect">
            <a:avLst/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3" name="Image 13"/>
          <p:cNvPicPr>
            <a:picLocks noChangeAspect="1"/>
          </p:cNvPicPr>
          <p:nvPr/>
        </p:nvPicPr>
        <p:blipFill>
          <a:blip r:embed="rId2"/>
          <a:srcRect t="13334" b="13335"/>
          <a:stretch>
            <a:fillRect/>
          </a:stretch>
        </p:blipFill>
        <p:spPr>
          <a:xfrm>
            <a:off x="762000" y="1809750"/>
            <a:ext cx="6667500" cy="3943350"/>
          </a:xfrm>
          <a:prstGeom prst="rect">
            <a:avLst/>
          </a:prstGeom>
        </p:spPr>
      </p:pic>
      <p:sp>
        <p:nvSpPr>
          <p:cNvPr id="14" name="Rectangle 14"/>
          <p:cNvSpPr/>
          <p:nvPr/>
        </p:nvSpPr>
        <p:spPr>
          <a:xfrm>
            <a:off x="7848600" y="1257300"/>
            <a:ext cx="3810000" cy="472440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Rectangle 15"/>
          <p:cNvSpPr/>
          <p:nvPr/>
        </p:nvSpPr>
        <p:spPr>
          <a:xfrm>
            <a:off x="8077200" y="1524000"/>
            <a:ext cx="38100" cy="247650"/>
          </a:xfrm>
          <a:prstGeom prst="rect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8221980" y="1552575"/>
            <a:ext cx="8229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功能要点</a:t>
            </a:r>
          </a:p>
        </p:txBody>
      </p:sp>
      <p:sp>
        <p:nvSpPr>
          <p:cNvPr id="17" name="Ellipse 17"/>
          <p:cNvSpPr/>
          <p:nvPr/>
        </p:nvSpPr>
        <p:spPr>
          <a:xfrm>
            <a:off x="8086725" y="20193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8261223" y="1976914"/>
            <a:ext cx="3114599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左侧以可折叠树呈现章、节与知识点层级</a:t>
            </a:r>
          </a:p>
        </p:txBody>
      </p:sp>
      <p:sp>
        <p:nvSpPr>
          <p:cNvPr id="19" name="Ellipse 19"/>
          <p:cNvSpPr/>
          <p:nvPr/>
        </p:nvSpPr>
        <p:spPr>
          <a:xfrm>
            <a:off x="8086725" y="24003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8261223" y="235791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右侧展示并编辑定义、关键术语、教学重点与解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261223" y="2605564"/>
            <a:ext cx="529895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题步骤</a:t>
            </a:r>
          </a:p>
        </p:txBody>
      </p:sp>
      <p:sp>
        <p:nvSpPr>
          <p:cNvPr id="22" name="Ellipse 22"/>
          <p:cNvSpPr/>
          <p:nvPr/>
        </p:nvSpPr>
        <p:spPr>
          <a:xfrm>
            <a:off x="8086725" y="302895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Box 23"/>
          <p:cNvSpPr txBox="1"/>
          <p:nvPr/>
        </p:nvSpPr>
        <p:spPr>
          <a:xfrm>
            <a:off x="8261223" y="2986564"/>
            <a:ext cx="3459226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支持重新提取，模型结果可在人工核对后修正</a:t>
            </a:r>
          </a:p>
        </p:txBody>
      </p:sp>
      <p:sp>
        <p:nvSpPr>
          <p:cNvPr id="24" name="Ellipse 24"/>
          <p:cNvSpPr/>
          <p:nvPr/>
        </p:nvSpPr>
        <p:spPr>
          <a:xfrm>
            <a:off x="8086725" y="340995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extBox 25"/>
          <p:cNvSpPr txBox="1"/>
          <p:nvPr/>
        </p:nvSpPr>
        <p:spPr>
          <a:xfrm>
            <a:off x="8261223" y="336756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节点排序字段保证知识树顺序与教材讲授顺序一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261223" y="3615214"/>
            <a:ext cx="18526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致</a:t>
            </a:r>
          </a:p>
        </p:txBody>
      </p:sp>
      <p:sp>
        <p:nvSpPr>
          <p:cNvPr id="27" name="Line 27"/>
          <p:cNvSpPr/>
          <p:nvPr/>
        </p:nvSpPr>
        <p:spPr>
          <a:xfrm>
            <a:off x="8077200" y="5257800"/>
            <a:ext cx="3352800" cy="9525"/>
          </a:xfrm>
          <a:custGeom>
            <a:avLst/>
            <a:gdLst/>
            <a:ahLst/>
            <a:cxnLst/>
            <a:rect l="l" t="t" r="r" b="b"/>
            <a:pathLst>
              <a:path w="3352800" h="9525">
                <a:moveTo>
                  <a:pt x="0" y="0"/>
                </a:moveTo>
                <a:lnTo>
                  <a:pt x="33528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Box 28"/>
          <p:cNvSpPr txBox="1"/>
          <p:nvPr/>
        </p:nvSpPr>
        <p:spPr>
          <a:xfrm>
            <a:off x="8071485" y="5384006"/>
            <a:ext cx="37807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知识树把课程材料转化为可计算、可审核的结构，是考查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071485" y="5612606"/>
            <a:ext cx="182072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范围与知识点关联的基础。</a:t>
            </a:r>
          </a:p>
        </p:txBody>
      </p:sp>
      <p:sp>
        <p:nvSpPr>
          <p:cNvPr id="30" name="Line 30"/>
          <p:cNvSpPr/>
          <p:nvPr/>
        </p:nvSpPr>
        <p:spPr>
          <a:xfrm>
            <a:off x="533400" y="6400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TextBox 32"/>
          <p:cNvSpPr txBox="1"/>
          <p:nvPr/>
        </p:nvSpPr>
        <p:spPr>
          <a:xfrm>
            <a:off x="115205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533400" y="438150"/>
            <a:ext cx="76200" cy="323850"/>
          </a:xfrm>
          <a:prstGeom prst="rect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11708" y="445770"/>
            <a:ext cx="1962912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出卷需求配置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8185" y="869156"/>
            <a:ext cx="257459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按教学进度、题型与难度生成范围建议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478741" y="583406"/>
            <a:ext cx="1855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257300"/>
            <a:ext cx="7124700" cy="4724400"/>
          </a:xfrm>
          <a:prstGeom prst="roundRect">
            <a:avLst>
              <a:gd name="adj" fmla="val 2419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685800" y="1409700"/>
            <a:ext cx="6819900" cy="4419600"/>
          </a:xfrm>
          <a:prstGeom prst="roundRect">
            <a:avLst>
              <a:gd name="adj" fmla="val 2155"/>
            </a:avLst>
          </a:prstGeom>
          <a:solidFill>
            <a:srgbClr val="E9EDF2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Rectangle 8"/>
          <p:cNvSpPr/>
          <p:nvPr/>
        </p:nvSpPr>
        <p:spPr>
          <a:xfrm>
            <a:off x="685800" y="1409700"/>
            <a:ext cx="6819900" cy="323850"/>
          </a:xfrm>
          <a:prstGeom prst="roundRect">
            <a:avLst>
              <a:gd name="adj" fmla="val 29412"/>
            </a:avLst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Ellipse 9"/>
          <p:cNvSpPr/>
          <p:nvPr/>
        </p:nvSpPr>
        <p:spPr>
          <a:xfrm>
            <a:off x="8477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Ellipse 10"/>
          <p:cNvSpPr/>
          <p:nvPr/>
        </p:nvSpPr>
        <p:spPr>
          <a:xfrm>
            <a:off x="10382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Ellipse 11"/>
          <p:cNvSpPr/>
          <p:nvPr/>
        </p:nvSpPr>
        <p:spPr>
          <a:xfrm>
            <a:off x="12287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12"/>
          <p:cNvSpPr/>
          <p:nvPr/>
        </p:nvSpPr>
        <p:spPr>
          <a:xfrm>
            <a:off x="685800" y="1695450"/>
            <a:ext cx="6819900" cy="57150"/>
          </a:xfrm>
          <a:prstGeom prst="rect">
            <a:avLst/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3" name="Image 13"/>
          <p:cNvPicPr>
            <a:picLocks noChangeAspect="1"/>
          </p:cNvPicPr>
          <p:nvPr/>
        </p:nvPicPr>
        <p:blipFill>
          <a:blip r:embed="rId2"/>
          <a:srcRect t="10722" b="10721"/>
          <a:stretch>
            <a:fillRect/>
          </a:stretch>
        </p:blipFill>
        <p:spPr>
          <a:xfrm>
            <a:off x="762000" y="1809750"/>
            <a:ext cx="6667500" cy="3943350"/>
          </a:xfrm>
          <a:prstGeom prst="rect">
            <a:avLst/>
          </a:prstGeom>
        </p:spPr>
      </p:pic>
      <p:sp>
        <p:nvSpPr>
          <p:cNvPr id="14" name="Rectangle 14"/>
          <p:cNvSpPr/>
          <p:nvPr/>
        </p:nvSpPr>
        <p:spPr>
          <a:xfrm>
            <a:off x="7848600" y="1257300"/>
            <a:ext cx="3810000" cy="472440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Rectangle 15"/>
          <p:cNvSpPr/>
          <p:nvPr/>
        </p:nvSpPr>
        <p:spPr>
          <a:xfrm>
            <a:off x="8077200" y="1524000"/>
            <a:ext cx="38100" cy="247650"/>
          </a:xfrm>
          <a:prstGeom prst="rect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8221980" y="1552575"/>
            <a:ext cx="8229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功能要点</a:t>
            </a:r>
          </a:p>
        </p:txBody>
      </p:sp>
      <p:sp>
        <p:nvSpPr>
          <p:cNvPr id="17" name="Ellipse 17"/>
          <p:cNvSpPr/>
          <p:nvPr/>
        </p:nvSpPr>
        <p:spPr>
          <a:xfrm>
            <a:off x="8086725" y="20193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8261223" y="1976914"/>
            <a:ext cx="3286912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填写试卷名称、考试时长与总分等基本信息</a:t>
            </a:r>
          </a:p>
        </p:txBody>
      </p:sp>
      <p:sp>
        <p:nvSpPr>
          <p:cNvPr id="19" name="Ellipse 19"/>
          <p:cNvSpPr/>
          <p:nvPr/>
        </p:nvSpPr>
        <p:spPr>
          <a:xfrm>
            <a:off x="8086725" y="24003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8261223" y="2357914"/>
            <a:ext cx="3114599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说明教学进度、考试范围与重点考查方向</a:t>
            </a:r>
          </a:p>
        </p:txBody>
      </p:sp>
      <p:sp>
        <p:nvSpPr>
          <p:cNvPr id="21" name="Ellipse 21"/>
          <p:cNvSpPr/>
          <p:nvPr/>
        </p:nvSpPr>
        <p:spPr>
          <a:xfrm>
            <a:off x="8086725" y="27813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8261223" y="2738914"/>
            <a:ext cx="259765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设置各题型数量与难度分布百分比</a:t>
            </a:r>
          </a:p>
        </p:txBody>
      </p:sp>
      <p:sp>
        <p:nvSpPr>
          <p:cNvPr id="23" name="Ellipse 23"/>
          <p:cNvSpPr/>
          <p:nvPr/>
        </p:nvSpPr>
        <p:spPr>
          <a:xfrm>
            <a:off x="8086725" y="31623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Box 24"/>
          <p:cNvSpPr txBox="1"/>
          <p:nvPr/>
        </p:nvSpPr>
        <p:spPr>
          <a:xfrm>
            <a:off x="8261223" y="311991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可选择参与本次组卷的课程材料，未选择时使用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261223" y="3367564"/>
            <a:ext cx="874522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全部知识树</a:t>
            </a:r>
          </a:p>
        </p:txBody>
      </p:sp>
      <p:sp>
        <p:nvSpPr>
          <p:cNvPr id="26" name="Line 26"/>
          <p:cNvSpPr/>
          <p:nvPr/>
        </p:nvSpPr>
        <p:spPr>
          <a:xfrm>
            <a:off x="8077200" y="5257800"/>
            <a:ext cx="3352800" cy="9525"/>
          </a:xfrm>
          <a:custGeom>
            <a:avLst/>
            <a:gdLst/>
            <a:ahLst/>
            <a:cxnLst/>
            <a:rect l="l" t="t" r="r" b="b"/>
            <a:pathLst>
              <a:path w="3352800" h="9525">
                <a:moveTo>
                  <a:pt x="0" y="0"/>
                </a:moveTo>
                <a:lnTo>
                  <a:pt x="33528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Box 27"/>
          <p:cNvSpPr txBox="1"/>
          <p:nvPr/>
        </p:nvSpPr>
        <p:spPr>
          <a:xfrm>
            <a:off x="8071485" y="5384006"/>
            <a:ext cx="37807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需求表单是范围构建的输入，写得越具体，系统提出的考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071485" y="5612606"/>
            <a:ext cx="166994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查范围越接近教师预期。</a:t>
            </a:r>
          </a:p>
        </p:txBody>
      </p:sp>
      <p:sp>
        <p:nvSpPr>
          <p:cNvPr id="29" name="Line 29"/>
          <p:cNvSpPr/>
          <p:nvPr/>
        </p:nvSpPr>
        <p:spPr>
          <a:xfrm>
            <a:off x="533400" y="6400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Box 31"/>
          <p:cNvSpPr txBox="1"/>
          <p:nvPr/>
        </p:nvSpPr>
        <p:spPr>
          <a:xfrm>
            <a:off x="115205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533400" y="438150"/>
            <a:ext cx="76200" cy="323850"/>
          </a:xfrm>
          <a:prstGeom prst="rect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11708" y="445770"/>
            <a:ext cx="1962912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考查范围审核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8185" y="869156"/>
            <a:ext cx="197149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先确认范围，再依据范围组卷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478741" y="583406"/>
            <a:ext cx="1855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257300"/>
            <a:ext cx="7124700" cy="4724400"/>
          </a:xfrm>
          <a:prstGeom prst="roundRect">
            <a:avLst>
              <a:gd name="adj" fmla="val 2419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685800" y="1409700"/>
            <a:ext cx="6819900" cy="4419600"/>
          </a:xfrm>
          <a:prstGeom prst="roundRect">
            <a:avLst>
              <a:gd name="adj" fmla="val 2155"/>
            </a:avLst>
          </a:prstGeom>
          <a:solidFill>
            <a:srgbClr val="E9EDF2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Rectangle 8"/>
          <p:cNvSpPr/>
          <p:nvPr/>
        </p:nvSpPr>
        <p:spPr>
          <a:xfrm>
            <a:off x="685800" y="1409700"/>
            <a:ext cx="6819900" cy="323850"/>
          </a:xfrm>
          <a:prstGeom prst="roundRect">
            <a:avLst>
              <a:gd name="adj" fmla="val 29412"/>
            </a:avLst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Ellipse 9"/>
          <p:cNvSpPr/>
          <p:nvPr/>
        </p:nvSpPr>
        <p:spPr>
          <a:xfrm>
            <a:off x="8477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Ellipse 10"/>
          <p:cNvSpPr/>
          <p:nvPr/>
        </p:nvSpPr>
        <p:spPr>
          <a:xfrm>
            <a:off x="10382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Ellipse 11"/>
          <p:cNvSpPr/>
          <p:nvPr/>
        </p:nvSpPr>
        <p:spPr>
          <a:xfrm>
            <a:off x="12287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12"/>
          <p:cNvSpPr/>
          <p:nvPr/>
        </p:nvSpPr>
        <p:spPr>
          <a:xfrm>
            <a:off x="685800" y="1695450"/>
            <a:ext cx="6819900" cy="57150"/>
          </a:xfrm>
          <a:prstGeom prst="rect">
            <a:avLst/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3" name="Image 13"/>
          <p:cNvPicPr>
            <a:picLocks noChangeAspect="1"/>
          </p:cNvPicPr>
          <p:nvPr/>
        </p:nvPicPr>
        <p:blipFill>
          <a:blip r:embed="rId2"/>
          <a:srcRect t="4266" b="4265"/>
          <a:stretch>
            <a:fillRect/>
          </a:stretch>
        </p:blipFill>
        <p:spPr>
          <a:xfrm>
            <a:off x="762000" y="1809750"/>
            <a:ext cx="6667500" cy="3943350"/>
          </a:xfrm>
          <a:prstGeom prst="rect">
            <a:avLst/>
          </a:prstGeom>
        </p:spPr>
      </p:pic>
      <p:sp>
        <p:nvSpPr>
          <p:cNvPr id="14" name="Rectangle 14"/>
          <p:cNvSpPr/>
          <p:nvPr/>
        </p:nvSpPr>
        <p:spPr>
          <a:xfrm>
            <a:off x="7848600" y="1257300"/>
            <a:ext cx="3810000" cy="472440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Rectangle 15"/>
          <p:cNvSpPr/>
          <p:nvPr/>
        </p:nvSpPr>
        <p:spPr>
          <a:xfrm>
            <a:off x="8077200" y="1524000"/>
            <a:ext cx="38100" cy="247650"/>
          </a:xfrm>
          <a:prstGeom prst="rect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8221980" y="1552575"/>
            <a:ext cx="8229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功能要点</a:t>
            </a:r>
          </a:p>
        </p:txBody>
      </p:sp>
      <p:sp>
        <p:nvSpPr>
          <p:cNvPr id="17" name="Ellipse 17"/>
          <p:cNvSpPr/>
          <p:nvPr/>
        </p:nvSpPr>
        <p:spPr>
          <a:xfrm>
            <a:off x="8086725" y="20193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8261223" y="197691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系统根据需求筛选知识点并保留章节祖先链，形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261223" y="2224564"/>
            <a:ext cx="1046836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成完整范围树</a:t>
            </a:r>
          </a:p>
        </p:txBody>
      </p:sp>
      <p:sp>
        <p:nvSpPr>
          <p:cNvPr id="20" name="Ellipse 20"/>
          <p:cNvSpPr/>
          <p:nvPr/>
        </p:nvSpPr>
        <p:spPr>
          <a:xfrm>
            <a:off x="8086725" y="264795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Box 21"/>
          <p:cNvSpPr txBox="1"/>
          <p:nvPr/>
        </p:nvSpPr>
        <p:spPr>
          <a:xfrm>
            <a:off x="8261223" y="260556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教师可勾选纳入范围、编辑节点内容、新增或删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261223" y="2853214"/>
            <a:ext cx="529895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除节点</a:t>
            </a:r>
          </a:p>
        </p:txBody>
      </p:sp>
      <p:sp>
        <p:nvSpPr>
          <p:cNvPr id="23" name="Ellipse 23"/>
          <p:cNvSpPr/>
          <p:nvPr/>
        </p:nvSpPr>
        <p:spPr>
          <a:xfrm>
            <a:off x="8086725" y="32766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Box 24"/>
          <p:cNvSpPr txBox="1"/>
          <p:nvPr/>
        </p:nvSpPr>
        <p:spPr>
          <a:xfrm>
            <a:off x="8261223" y="3234214"/>
            <a:ext cx="2942285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界面明确提示未确认考查范围不能组卷</a:t>
            </a:r>
          </a:p>
        </p:txBody>
      </p:sp>
      <p:sp>
        <p:nvSpPr>
          <p:cNvPr id="25" name="Ellipse 25"/>
          <p:cNvSpPr/>
          <p:nvPr/>
        </p:nvSpPr>
        <p:spPr>
          <a:xfrm>
            <a:off x="8086725" y="36576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Box 26"/>
          <p:cNvSpPr txBox="1"/>
          <p:nvPr/>
        </p:nvSpPr>
        <p:spPr>
          <a:xfrm>
            <a:off x="8261223" y="361521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确认后范围状态锁定，并作为后续组卷的唯一依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261223" y="3862864"/>
            <a:ext cx="18526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据</a:t>
            </a:r>
          </a:p>
        </p:txBody>
      </p:sp>
      <p:sp>
        <p:nvSpPr>
          <p:cNvPr id="28" name="Line 28"/>
          <p:cNvSpPr/>
          <p:nvPr/>
        </p:nvSpPr>
        <p:spPr>
          <a:xfrm>
            <a:off x="8077200" y="5257800"/>
            <a:ext cx="3352800" cy="9525"/>
          </a:xfrm>
          <a:custGeom>
            <a:avLst/>
            <a:gdLst/>
            <a:ahLst/>
            <a:cxnLst/>
            <a:rect l="l" t="t" r="r" b="b"/>
            <a:pathLst>
              <a:path w="3352800" h="9525">
                <a:moveTo>
                  <a:pt x="0" y="0"/>
                </a:moveTo>
                <a:lnTo>
                  <a:pt x="33528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Box 29"/>
          <p:cNvSpPr txBox="1"/>
          <p:nvPr/>
        </p:nvSpPr>
        <p:spPr>
          <a:xfrm>
            <a:off x="8071485" y="5384006"/>
            <a:ext cx="37807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范围审核把模型建议转换为教师的专业判断，是系统中最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071485" y="5612606"/>
            <a:ext cx="15191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重要的质量控制环节。</a:t>
            </a:r>
          </a:p>
        </p:txBody>
      </p:sp>
      <p:sp>
        <p:nvSpPr>
          <p:cNvPr id="31" name="Line 31"/>
          <p:cNvSpPr/>
          <p:nvPr/>
        </p:nvSpPr>
        <p:spPr>
          <a:xfrm>
            <a:off x="533400" y="6400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Box 33"/>
          <p:cNvSpPr txBox="1"/>
          <p:nvPr/>
        </p:nvSpPr>
        <p:spPr>
          <a:xfrm>
            <a:off x="115205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533400" y="438150"/>
            <a:ext cx="76200" cy="323850"/>
          </a:xfrm>
          <a:prstGeom prst="rect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11708" y="445770"/>
            <a:ext cx="2932176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安全组卷与草稿机制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8185" y="869156"/>
            <a:ext cx="182072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题库不足时生成待审核草稿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478741" y="583406"/>
            <a:ext cx="1855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257300"/>
            <a:ext cx="7124700" cy="4724400"/>
          </a:xfrm>
          <a:prstGeom prst="roundRect">
            <a:avLst>
              <a:gd name="adj" fmla="val 2419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685800" y="1409700"/>
            <a:ext cx="6819900" cy="4419600"/>
          </a:xfrm>
          <a:prstGeom prst="roundRect">
            <a:avLst>
              <a:gd name="adj" fmla="val 2155"/>
            </a:avLst>
          </a:prstGeom>
          <a:solidFill>
            <a:srgbClr val="E9EDF2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Rectangle 8"/>
          <p:cNvSpPr/>
          <p:nvPr/>
        </p:nvSpPr>
        <p:spPr>
          <a:xfrm>
            <a:off x="685800" y="1409700"/>
            <a:ext cx="6819900" cy="323850"/>
          </a:xfrm>
          <a:prstGeom prst="roundRect">
            <a:avLst>
              <a:gd name="adj" fmla="val 29412"/>
            </a:avLst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Ellipse 9"/>
          <p:cNvSpPr/>
          <p:nvPr/>
        </p:nvSpPr>
        <p:spPr>
          <a:xfrm>
            <a:off x="8477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Ellipse 10"/>
          <p:cNvSpPr/>
          <p:nvPr/>
        </p:nvSpPr>
        <p:spPr>
          <a:xfrm>
            <a:off x="10382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Ellipse 11"/>
          <p:cNvSpPr/>
          <p:nvPr/>
        </p:nvSpPr>
        <p:spPr>
          <a:xfrm>
            <a:off x="12287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12"/>
          <p:cNvSpPr/>
          <p:nvPr/>
        </p:nvSpPr>
        <p:spPr>
          <a:xfrm>
            <a:off x="685800" y="1695450"/>
            <a:ext cx="6819900" cy="57150"/>
          </a:xfrm>
          <a:prstGeom prst="rect">
            <a:avLst/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3" name="Image 13"/>
          <p:cNvPicPr>
            <a:picLocks noChangeAspect="1"/>
          </p:cNvPicPr>
          <p:nvPr/>
        </p:nvPicPr>
        <p:blipFill>
          <a:blip r:embed="rId2"/>
          <a:srcRect t="1450" b="1451"/>
          <a:stretch>
            <a:fillRect/>
          </a:stretch>
        </p:blipFill>
        <p:spPr>
          <a:xfrm>
            <a:off x="762000" y="1809750"/>
            <a:ext cx="6667500" cy="3943350"/>
          </a:xfrm>
          <a:prstGeom prst="rect">
            <a:avLst/>
          </a:prstGeom>
        </p:spPr>
      </p:pic>
      <p:sp>
        <p:nvSpPr>
          <p:cNvPr id="14" name="Rectangle 14"/>
          <p:cNvSpPr/>
          <p:nvPr/>
        </p:nvSpPr>
        <p:spPr>
          <a:xfrm>
            <a:off x="7848600" y="1257300"/>
            <a:ext cx="3810000" cy="472440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Rectangle 15"/>
          <p:cNvSpPr/>
          <p:nvPr/>
        </p:nvSpPr>
        <p:spPr>
          <a:xfrm>
            <a:off x="8077200" y="1524000"/>
            <a:ext cx="38100" cy="247650"/>
          </a:xfrm>
          <a:prstGeom prst="rect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8221980" y="1552575"/>
            <a:ext cx="8229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功能要点</a:t>
            </a:r>
          </a:p>
        </p:txBody>
      </p:sp>
      <p:sp>
        <p:nvSpPr>
          <p:cNvPr id="17" name="Ellipse 17"/>
          <p:cNvSpPr/>
          <p:nvPr/>
        </p:nvSpPr>
        <p:spPr>
          <a:xfrm>
            <a:off x="8086725" y="20193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8261223" y="1976914"/>
            <a:ext cx="3286912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仅使用已确认范围内的题目进行检索与装配</a:t>
            </a:r>
          </a:p>
        </p:txBody>
      </p:sp>
      <p:sp>
        <p:nvSpPr>
          <p:cNvPr id="19" name="Ellipse 19"/>
          <p:cNvSpPr/>
          <p:nvPr/>
        </p:nvSpPr>
        <p:spPr>
          <a:xfrm>
            <a:off x="8086725" y="24003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8261223" y="235791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按题型分布选择题目，排除重复题并归一化分值</a:t>
            </a:r>
          </a:p>
        </p:txBody>
      </p:sp>
      <p:sp>
        <p:nvSpPr>
          <p:cNvPr id="21" name="Ellipse 21"/>
          <p:cNvSpPr/>
          <p:nvPr/>
        </p:nvSpPr>
        <p:spPr>
          <a:xfrm>
            <a:off x="8086725" y="27813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8261223" y="273891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题库缺口写入待审核草稿并提示具体题型与数量</a:t>
            </a:r>
          </a:p>
        </p:txBody>
      </p:sp>
      <p:sp>
        <p:nvSpPr>
          <p:cNvPr id="23" name="Ellipse 23"/>
          <p:cNvSpPr/>
          <p:nvPr/>
        </p:nvSpPr>
        <p:spPr>
          <a:xfrm>
            <a:off x="8086725" y="31623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Box 24"/>
          <p:cNvSpPr txBox="1"/>
          <p:nvPr/>
        </p:nvSpPr>
        <p:spPr>
          <a:xfrm>
            <a:off x="8261223" y="3119914"/>
            <a:ext cx="2769972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教师接受草稿后题目才进入正式题库</a:t>
            </a:r>
          </a:p>
        </p:txBody>
      </p:sp>
      <p:sp>
        <p:nvSpPr>
          <p:cNvPr id="25" name="Line 25"/>
          <p:cNvSpPr/>
          <p:nvPr/>
        </p:nvSpPr>
        <p:spPr>
          <a:xfrm>
            <a:off x="8077200" y="5257800"/>
            <a:ext cx="3352800" cy="9525"/>
          </a:xfrm>
          <a:custGeom>
            <a:avLst/>
            <a:gdLst/>
            <a:ahLst/>
            <a:cxnLst/>
            <a:rect l="l" t="t" r="r" b="b"/>
            <a:pathLst>
              <a:path w="3352800" h="9525">
                <a:moveTo>
                  <a:pt x="0" y="0"/>
                </a:moveTo>
                <a:lnTo>
                  <a:pt x="33528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Box 26"/>
          <p:cNvSpPr txBox="1"/>
          <p:nvPr/>
        </p:nvSpPr>
        <p:spPr>
          <a:xfrm>
            <a:off x="8071485" y="5384006"/>
            <a:ext cx="37807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组卷环节体现系统的基本立场：可以生成候选题，但不能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071485" y="5612606"/>
            <a:ext cx="166994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绕过教师直接修改题库。</a:t>
            </a:r>
          </a:p>
        </p:txBody>
      </p:sp>
      <p:sp>
        <p:nvSpPr>
          <p:cNvPr id="28" name="Line 28"/>
          <p:cNvSpPr/>
          <p:nvPr/>
        </p:nvSpPr>
        <p:spPr>
          <a:xfrm>
            <a:off x="533400" y="6400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Box 30"/>
          <p:cNvSpPr txBox="1"/>
          <p:nvPr/>
        </p:nvSpPr>
        <p:spPr>
          <a:xfrm>
            <a:off x="115205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533400" y="438150"/>
            <a:ext cx="76200" cy="323850"/>
          </a:xfrm>
          <a:prstGeom prst="rect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11708" y="445770"/>
            <a:ext cx="1962912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试卷题目编辑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8185" y="869156"/>
            <a:ext cx="227304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在预览页面调整题型、分值与顺序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478741" y="583406"/>
            <a:ext cx="1855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257300"/>
            <a:ext cx="7124700" cy="4724400"/>
          </a:xfrm>
          <a:prstGeom prst="roundRect">
            <a:avLst>
              <a:gd name="adj" fmla="val 2419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685800" y="1409700"/>
            <a:ext cx="6819900" cy="4419600"/>
          </a:xfrm>
          <a:prstGeom prst="roundRect">
            <a:avLst>
              <a:gd name="adj" fmla="val 2155"/>
            </a:avLst>
          </a:prstGeom>
          <a:solidFill>
            <a:srgbClr val="E9EDF2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Rectangle 8"/>
          <p:cNvSpPr/>
          <p:nvPr/>
        </p:nvSpPr>
        <p:spPr>
          <a:xfrm>
            <a:off x="685800" y="1409700"/>
            <a:ext cx="6819900" cy="323850"/>
          </a:xfrm>
          <a:prstGeom prst="roundRect">
            <a:avLst>
              <a:gd name="adj" fmla="val 29412"/>
            </a:avLst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Ellipse 9"/>
          <p:cNvSpPr/>
          <p:nvPr/>
        </p:nvSpPr>
        <p:spPr>
          <a:xfrm>
            <a:off x="8477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Ellipse 10"/>
          <p:cNvSpPr/>
          <p:nvPr/>
        </p:nvSpPr>
        <p:spPr>
          <a:xfrm>
            <a:off x="10382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Ellipse 11"/>
          <p:cNvSpPr/>
          <p:nvPr/>
        </p:nvSpPr>
        <p:spPr>
          <a:xfrm>
            <a:off x="12287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12"/>
          <p:cNvSpPr/>
          <p:nvPr/>
        </p:nvSpPr>
        <p:spPr>
          <a:xfrm>
            <a:off x="685800" y="1695450"/>
            <a:ext cx="6819900" cy="57150"/>
          </a:xfrm>
          <a:prstGeom prst="rect">
            <a:avLst/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3" name="Image 13"/>
          <p:cNvPicPr>
            <a:picLocks noChangeAspect="1"/>
          </p:cNvPicPr>
          <p:nvPr/>
        </p:nvPicPr>
        <p:blipFill>
          <a:blip r:embed="rId2"/>
          <a:srcRect t="739" b="739"/>
          <a:stretch>
            <a:fillRect/>
          </a:stretch>
        </p:blipFill>
        <p:spPr>
          <a:xfrm>
            <a:off x="762000" y="1809750"/>
            <a:ext cx="6667500" cy="3943350"/>
          </a:xfrm>
          <a:prstGeom prst="rect">
            <a:avLst/>
          </a:prstGeom>
        </p:spPr>
      </p:pic>
      <p:sp>
        <p:nvSpPr>
          <p:cNvPr id="14" name="Rectangle 14"/>
          <p:cNvSpPr/>
          <p:nvPr/>
        </p:nvSpPr>
        <p:spPr>
          <a:xfrm>
            <a:off x="7848600" y="1257300"/>
            <a:ext cx="3810000" cy="472440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Rectangle 15"/>
          <p:cNvSpPr/>
          <p:nvPr/>
        </p:nvSpPr>
        <p:spPr>
          <a:xfrm>
            <a:off x="8077200" y="1524000"/>
            <a:ext cx="38100" cy="247650"/>
          </a:xfrm>
          <a:prstGeom prst="rect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8221980" y="1552575"/>
            <a:ext cx="8229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功能要点</a:t>
            </a:r>
          </a:p>
        </p:txBody>
      </p:sp>
      <p:sp>
        <p:nvSpPr>
          <p:cNvPr id="17" name="Ellipse 17"/>
          <p:cNvSpPr/>
          <p:nvPr/>
        </p:nvSpPr>
        <p:spPr>
          <a:xfrm>
            <a:off x="8086725" y="20193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8261223" y="197691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逐题展示题干、选项、答案与解析，字段可直接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261223" y="2224564"/>
            <a:ext cx="357581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编辑</a:t>
            </a:r>
          </a:p>
        </p:txBody>
      </p:sp>
      <p:sp>
        <p:nvSpPr>
          <p:cNvPr id="20" name="Ellipse 20"/>
          <p:cNvSpPr/>
          <p:nvPr/>
        </p:nvSpPr>
        <p:spPr>
          <a:xfrm>
            <a:off x="8086725" y="264795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Box 21"/>
          <p:cNvSpPr txBox="1"/>
          <p:nvPr/>
        </p:nvSpPr>
        <p:spPr>
          <a:xfrm>
            <a:off x="8261223" y="2605564"/>
            <a:ext cx="2942285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支持题目上移下移，调整试卷内部顺序</a:t>
            </a:r>
          </a:p>
        </p:txBody>
      </p:sp>
      <p:sp>
        <p:nvSpPr>
          <p:cNvPr id="22" name="Ellipse 22"/>
          <p:cNvSpPr/>
          <p:nvPr/>
        </p:nvSpPr>
        <p:spPr>
          <a:xfrm>
            <a:off x="8086725" y="302895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Box 23"/>
          <p:cNvSpPr txBox="1"/>
          <p:nvPr/>
        </p:nvSpPr>
        <p:spPr>
          <a:xfrm>
            <a:off x="8261223" y="2986564"/>
            <a:ext cx="3286912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可修改题型与分值，系统据此重新校验总分</a:t>
            </a:r>
          </a:p>
        </p:txBody>
      </p:sp>
      <p:sp>
        <p:nvSpPr>
          <p:cNvPr id="24" name="Ellipse 24"/>
          <p:cNvSpPr/>
          <p:nvPr/>
        </p:nvSpPr>
        <p:spPr>
          <a:xfrm>
            <a:off x="8086725" y="340995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extBox 25"/>
          <p:cNvSpPr txBox="1"/>
          <p:nvPr/>
        </p:nvSpPr>
        <p:spPr>
          <a:xfrm>
            <a:off x="8261223" y="336756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每题标注题型与分值，便于核对题型分布是否满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261223" y="3615214"/>
            <a:ext cx="529895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足要求</a:t>
            </a:r>
          </a:p>
        </p:txBody>
      </p:sp>
      <p:sp>
        <p:nvSpPr>
          <p:cNvPr id="27" name="Line 27"/>
          <p:cNvSpPr/>
          <p:nvPr/>
        </p:nvSpPr>
        <p:spPr>
          <a:xfrm>
            <a:off x="8077200" y="5257800"/>
            <a:ext cx="3352800" cy="9525"/>
          </a:xfrm>
          <a:custGeom>
            <a:avLst/>
            <a:gdLst/>
            <a:ahLst/>
            <a:cxnLst/>
            <a:rect l="l" t="t" r="r" b="b"/>
            <a:pathLst>
              <a:path w="3352800" h="9525">
                <a:moveTo>
                  <a:pt x="0" y="0"/>
                </a:moveTo>
                <a:lnTo>
                  <a:pt x="33528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Box 28"/>
          <p:cNvSpPr txBox="1"/>
          <p:nvPr/>
        </p:nvSpPr>
        <p:spPr>
          <a:xfrm>
            <a:off x="8071485" y="5384006"/>
            <a:ext cx="37807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试卷预览把组卷结果与人工调整放在同一屏内，缩短从生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071485" y="5612606"/>
            <a:ext cx="121762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成到定稿的距离。</a:t>
            </a:r>
          </a:p>
        </p:txBody>
      </p:sp>
      <p:sp>
        <p:nvSpPr>
          <p:cNvPr id="30" name="Line 30"/>
          <p:cNvSpPr/>
          <p:nvPr/>
        </p:nvSpPr>
        <p:spPr>
          <a:xfrm>
            <a:off x="533400" y="6400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TextBox 32"/>
          <p:cNvSpPr txBox="1"/>
          <p:nvPr/>
        </p:nvSpPr>
        <p:spPr>
          <a:xfrm>
            <a:off x="115205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533400" y="438150"/>
            <a:ext cx="76200" cy="323850"/>
          </a:xfrm>
          <a:prstGeom prst="rect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11708" y="445770"/>
            <a:ext cx="1316736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试卷导出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8185" y="869156"/>
            <a:ext cx="197149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一次生成试卷、答案与答题卡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478741" y="583406"/>
            <a:ext cx="1855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257300"/>
            <a:ext cx="7124700" cy="4724400"/>
          </a:xfrm>
          <a:prstGeom prst="roundRect">
            <a:avLst>
              <a:gd name="adj" fmla="val 2419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685800" y="1409700"/>
            <a:ext cx="6819900" cy="4419600"/>
          </a:xfrm>
          <a:prstGeom prst="roundRect">
            <a:avLst>
              <a:gd name="adj" fmla="val 2155"/>
            </a:avLst>
          </a:prstGeom>
          <a:solidFill>
            <a:srgbClr val="E9EDF2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Rectangle 8"/>
          <p:cNvSpPr/>
          <p:nvPr/>
        </p:nvSpPr>
        <p:spPr>
          <a:xfrm>
            <a:off x="685800" y="1409700"/>
            <a:ext cx="6819900" cy="323850"/>
          </a:xfrm>
          <a:prstGeom prst="roundRect">
            <a:avLst>
              <a:gd name="adj" fmla="val 29412"/>
            </a:avLst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Ellipse 9"/>
          <p:cNvSpPr/>
          <p:nvPr/>
        </p:nvSpPr>
        <p:spPr>
          <a:xfrm>
            <a:off x="8477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Ellipse 10"/>
          <p:cNvSpPr/>
          <p:nvPr/>
        </p:nvSpPr>
        <p:spPr>
          <a:xfrm>
            <a:off x="10382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Ellipse 11"/>
          <p:cNvSpPr/>
          <p:nvPr/>
        </p:nvSpPr>
        <p:spPr>
          <a:xfrm>
            <a:off x="12287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12"/>
          <p:cNvSpPr/>
          <p:nvPr/>
        </p:nvSpPr>
        <p:spPr>
          <a:xfrm>
            <a:off x="685800" y="1695450"/>
            <a:ext cx="6819900" cy="57150"/>
          </a:xfrm>
          <a:prstGeom prst="rect">
            <a:avLst/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3" name="Image 13"/>
          <p:cNvPicPr>
            <a:picLocks noChangeAspect="1"/>
          </p:cNvPicPr>
          <p:nvPr/>
        </p:nvPicPr>
        <p:blipFill>
          <a:blip r:embed="rId2"/>
          <a:srcRect l="946" r="945"/>
          <a:stretch>
            <a:fillRect/>
          </a:stretch>
        </p:blipFill>
        <p:spPr>
          <a:xfrm>
            <a:off x="762000" y="1809750"/>
            <a:ext cx="6667500" cy="3943350"/>
          </a:xfrm>
          <a:prstGeom prst="rect">
            <a:avLst/>
          </a:prstGeom>
        </p:spPr>
      </p:pic>
      <p:sp>
        <p:nvSpPr>
          <p:cNvPr id="14" name="Rectangle 14"/>
          <p:cNvSpPr/>
          <p:nvPr/>
        </p:nvSpPr>
        <p:spPr>
          <a:xfrm>
            <a:off x="7848600" y="1257300"/>
            <a:ext cx="3810000" cy="472440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Rectangle 15"/>
          <p:cNvSpPr/>
          <p:nvPr/>
        </p:nvSpPr>
        <p:spPr>
          <a:xfrm>
            <a:off x="8077200" y="1524000"/>
            <a:ext cx="38100" cy="247650"/>
          </a:xfrm>
          <a:prstGeom prst="rect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8221980" y="1552575"/>
            <a:ext cx="8229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功能要点</a:t>
            </a:r>
          </a:p>
        </p:txBody>
      </p:sp>
      <p:sp>
        <p:nvSpPr>
          <p:cNvPr id="17" name="Ellipse 17"/>
          <p:cNvSpPr/>
          <p:nvPr/>
        </p:nvSpPr>
        <p:spPr>
          <a:xfrm>
            <a:off x="8086725" y="20193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8261223" y="1976914"/>
            <a:ext cx="281939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支持导出 DOCX、含答案的 DOCX、P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261223" y="2224564"/>
            <a:ext cx="1539067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DF 与 TXT 多种格式</a:t>
            </a:r>
          </a:p>
        </p:txBody>
      </p:sp>
      <p:sp>
        <p:nvSpPr>
          <p:cNvPr id="20" name="Ellipse 20"/>
          <p:cNvSpPr/>
          <p:nvPr/>
        </p:nvSpPr>
        <p:spPr>
          <a:xfrm>
            <a:off x="8086725" y="264795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Box 21"/>
          <p:cNvSpPr txBox="1"/>
          <p:nvPr/>
        </p:nvSpPr>
        <p:spPr>
          <a:xfrm>
            <a:off x="8261223" y="260556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导出文件保留卷头、班级姓名栏与题型分值说明</a:t>
            </a:r>
          </a:p>
        </p:txBody>
      </p:sp>
      <p:sp>
        <p:nvSpPr>
          <p:cNvPr id="22" name="Ellipse 22"/>
          <p:cNvSpPr/>
          <p:nvPr/>
        </p:nvSpPr>
        <p:spPr>
          <a:xfrm>
            <a:off x="8086725" y="302895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Box 23"/>
          <p:cNvSpPr txBox="1"/>
          <p:nvPr/>
        </p:nvSpPr>
        <p:spPr>
          <a:xfrm>
            <a:off x="8261223" y="2986564"/>
            <a:ext cx="3114599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答题卡按题型排版，选择题提供涂卡区域</a:t>
            </a:r>
          </a:p>
        </p:txBody>
      </p:sp>
      <p:sp>
        <p:nvSpPr>
          <p:cNvPr id="24" name="Ellipse 24"/>
          <p:cNvSpPr/>
          <p:nvPr/>
        </p:nvSpPr>
        <p:spPr>
          <a:xfrm>
            <a:off x="8086725" y="340995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extBox 25"/>
          <p:cNvSpPr txBox="1"/>
          <p:nvPr/>
        </p:nvSpPr>
        <p:spPr>
          <a:xfrm>
            <a:off x="8261223" y="336756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导出文件名对中文标题进行安全编码，避免乱码</a:t>
            </a:r>
          </a:p>
        </p:txBody>
      </p:sp>
      <p:sp>
        <p:nvSpPr>
          <p:cNvPr id="26" name="Line 26"/>
          <p:cNvSpPr/>
          <p:nvPr/>
        </p:nvSpPr>
        <p:spPr>
          <a:xfrm>
            <a:off x="8077200" y="5257800"/>
            <a:ext cx="3352800" cy="9525"/>
          </a:xfrm>
          <a:custGeom>
            <a:avLst/>
            <a:gdLst/>
            <a:ahLst/>
            <a:cxnLst/>
            <a:rect l="l" t="t" r="r" b="b"/>
            <a:pathLst>
              <a:path w="3352800" h="9525">
                <a:moveTo>
                  <a:pt x="0" y="0"/>
                </a:moveTo>
                <a:lnTo>
                  <a:pt x="33528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Box 27"/>
          <p:cNvSpPr txBox="1"/>
          <p:nvPr/>
        </p:nvSpPr>
        <p:spPr>
          <a:xfrm>
            <a:off x="8071485" y="5384006"/>
            <a:ext cx="37807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导出能力决定系统能否真正进入教学使用环节，格式统一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071485" y="5612606"/>
            <a:ext cx="15191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与可打印是基本要求。</a:t>
            </a:r>
          </a:p>
        </p:txBody>
      </p:sp>
      <p:sp>
        <p:nvSpPr>
          <p:cNvPr id="29" name="Line 29"/>
          <p:cNvSpPr/>
          <p:nvPr/>
        </p:nvSpPr>
        <p:spPr>
          <a:xfrm>
            <a:off x="533400" y="6400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Box 31"/>
          <p:cNvSpPr txBox="1"/>
          <p:nvPr/>
        </p:nvSpPr>
        <p:spPr>
          <a:xfrm>
            <a:off x="115205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533400" y="438150"/>
            <a:ext cx="76200" cy="323850"/>
          </a:xfrm>
          <a:prstGeom prst="rect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11708" y="445770"/>
            <a:ext cx="2609088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答题卡与答案版本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8185" y="869156"/>
            <a:ext cx="166994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面向考试现场的排版输出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478741" y="583406"/>
            <a:ext cx="1855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257300"/>
            <a:ext cx="7124700" cy="4724400"/>
          </a:xfrm>
          <a:prstGeom prst="roundRect">
            <a:avLst>
              <a:gd name="adj" fmla="val 2419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685800" y="1409700"/>
            <a:ext cx="6819900" cy="4419600"/>
          </a:xfrm>
          <a:prstGeom prst="roundRect">
            <a:avLst>
              <a:gd name="adj" fmla="val 2155"/>
            </a:avLst>
          </a:prstGeom>
          <a:solidFill>
            <a:srgbClr val="E9EDF2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Rectangle 8"/>
          <p:cNvSpPr/>
          <p:nvPr/>
        </p:nvSpPr>
        <p:spPr>
          <a:xfrm>
            <a:off x="685800" y="1409700"/>
            <a:ext cx="6819900" cy="323850"/>
          </a:xfrm>
          <a:prstGeom prst="roundRect">
            <a:avLst>
              <a:gd name="adj" fmla="val 29412"/>
            </a:avLst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Ellipse 9"/>
          <p:cNvSpPr/>
          <p:nvPr/>
        </p:nvSpPr>
        <p:spPr>
          <a:xfrm>
            <a:off x="8477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Ellipse 10"/>
          <p:cNvSpPr/>
          <p:nvPr/>
        </p:nvSpPr>
        <p:spPr>
          <a:xfrm>
            <a:off x="10382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Ellipse 11"/>
          <p:cNvSpPr/>
          <p:nvPr/>
        </p:nvSpPr>
        <p:spPr>
          <a:xfrm>
            <a:off x="12287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12"/>
          <p:cNvSpPr/>
          <p:nvPr/>
        </p:nvSpPr>
        <p:spPr>
          <a:xfrm>
            <a:off x="685800" y="1695450"/>
            <a:ext cx="6819900" cy="57150"/>
          </a:xfrm>
          <a:prstGeom prst="rect">
            <a:avLst/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3" name="Image 13"/>
          <p:cNvPicPr>
            <a:picLocks noChangeAspect="1"/>
          </p:cNvPicPr>
          <p:nvPr/>
        </p:nvPicPr>
        <p:blipFill>
          <a:blip r:embed="rId2"/>
          <a:srcRect t="838" b="839"/>
          <a:stretch>
            <a:fillRect/>
          </a:stretch>
        </p:blipFill>
        <p:spPr>
          <a:xfrm>
            <a:off x="762000" y="1809750"/>
            <a:ext cx="6667500" cy="3943350"/>
          </a:xfrm>
          <a:prstGeom prst="rect">
            <a:avLst/>
          </a:prstGeom>
        </p:spPr>
      </p:pic>
      <p:sp>
        <p:nvSpPr>
          <p:cNvPr id="14" name="Rectangle 14"/>
          <p:cNvSpPr/>
          <p:nvPr/>
        </p:nvSpPr>
        <p:spPr>
          <a:xfrm>
            <a:off x="7848600" y="1257300"/>
            <a:ext cx="3810000" cy="472440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Rectangle 15"/>
          <p:cNvSpPr/>
          <p:nvPr/>
        </p:nvSpPr>
        <p:spPr>
          <a:xfrm>
            <a:off x="8077200" y="1524000"/>
            <a:ext cx="38100" cy="247650"/>
          </a:xfrm>
          <a:prstGeom prst="rect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8221980" y="1552575"/>
            <a:ext cx="8229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功能要点</a:t>
            </a:r>
          </a:p>
        </p:txBody>
      </p:sp>
      <p:sp>
        <p:nvSpPr>
          <p:cNvPr id="17" name="Ellipse 17"/>
          <p:cNvSpPr/>
          <p:nvPr/>
        </p:nvSpPr>
        <p:spPr>
          <a:xfrm>
            <a:off x="8086725" y="20193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8261223" y="1976914"/>
            <a:ext cx="2942285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选择题以选项方框呈现，便于学生填涂</a:t>
            </a:r>
          </a:p>
        </p:txBody>
      </p:sp>
      <p:sp>
        <p:nvSpPr>
          <p:cNvPr id="19" name="Ellipse 19"/>
          <p:cNvSpPr/>
          <p:nvPr/>
        </p:nvSpPr>
        <p:spPr>
          <a:xfrm>
            <a:off x="8086725" y="24003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8261223" y="235791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填空、判断与简答题按题号顺序排列并预留作答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261223" y="2605564"/>
            <a:ext cx="357581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空间</a:t>
            </a:r>
          </a:p>
        </p:txBody>
      </p:sp>
      <p:sp>
        <p:nvSpPr>
          <p:cNvPr id="22" name="Ellipse 22"/>
          <p:cNvSpPr/>
          <p:nvPr/>
        </p:nvSpPr>
        <p:spPr>
          <a:xfrm>
            <a:off x="8086725" y="302895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Box 23"/>
          <p:cNvSpPr txBox="1"/>
          <p:nvPr/>
        </p:nvSpPr>
        <p:spPr>
          <a:xfrm>
            <a:off x="8261223" y="298656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卷头包含总分、时长、班级、姓名、学号与得分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261223" y="3234214"/>
            <a:ext cx="18526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栏</a:t>
            </a:r>
          </a:p>
        </p:txBody>
      </p:sp>
      <p:sp>
        <p:nvSpPr>
          <p:cNvPr id="25" name="Ellipse 25"/>
          <p:cNvSpPr/>
          <p:nvPr/>
        </p:nvSpPr>
        <p:spPr>
          <a:xfrm>
            <a:off x="8086725" y="36576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Box 26"/>
          <p:cNvSpPr txBox="1"/>
          <p:nvPr/>
        </p:nvSpPr>
        <p:spPr>
          <a:xfrm>
            <a:off x="8261223" y="361521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答案版本包含每题答案与解析，供教师阅卷与讲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261223" y="3862864"/>
            <a:ext cx="529895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评使用</a:t>
            </a:r>
          </a:p>
        </p:txBody>
      </p:sp>
      <p:sp>
        <p:nvSpPr>
          <p:cNvPr id="28" name="Line 28"/>
          <p:cNvSpPr/>
          <p:nvPr/>
        </p:nvSpPr>
        <p:spPr>
          <a:xfrm>
            <a:off x="8077200" y="5257800"/>
            <a:ext cx="3352800" cy="9525"/>
          </a:xfrm>
          <a:custGeom>
            <a:avLst/>
            <a:gdLst/>
            <a:ahLst/>
            <a:cxnLst/>
            <a:rect l="l" t="t" r="r" b="b"/>
            <a:pathLst>
              <a:path w="3352800" h="9525">
                <a:moveTo>
                  <a:pt x="0" y="0"/>
                </a:moveTo>
                <a:lnTo>
                  <a:pt x="33528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Box 29"/>
          <p:cNvSpPr txBox="1"/>
          <p:nvPr/>
        </p:nvSpPr>
        <p:spPr>
          <a:xfrm>
            <a:off x="8071485" y="5384006"/>
            <a:ext cx="37807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同一套试卷数据可以输出学生卷、教师答案卷与答题卡，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071485" y="5612606"/>
            <a:ext cx="136840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减少重复排版工作。</a:t>
            </a:r>
          </a:p>
        </p:txBody>
      </p:sp>
      <p:sp>
        <p:nvSpPr>
          <p:cNvPr id="31" name="Line 31"/>
          <p:cNvSpPr/>
          <p:nvPr/>
        </p:nvSpPr>
        <p:spPr>
          <a:xfrm>
            <a:off x="533400" y="6400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Box 33"/>
          <p:cNvSpPr txBox="1"/>
          <p:nvPr/>
        </p:nvSpPr>
        <p:spPr>
          <a:xfrm>
            <a:off x="115205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533400" y="438150"/>
            <a:ext cx="76200" cy="323850"/>
          </a:xfrm>
          <a:prstGeom prst="rect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11708" y="445770"/>
            <a:ext cx="2932176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教学助手与智能能力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8185" y="869156"/>
            <a:ext cx="242382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对话式查题、知识点解释与组卷协助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478741" y="583406"/>
            <a:ext cx="1855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257300"/>
            <a:ext cx="7124700" cy="4724400"/>
          </a:xfrm>
          <a:prstGeom prst="roundRect">
            <a:avLst>
              <a:gd name="adj" fmla="val 2419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685800" y="1409700"/>
            <a:ext cx="6819900" cy="4419600"/>
          </a:xfrm>
          <a:prstGeom prst="roundRect">
            <a:avLst>
              <a:gd name="adj" fmla="val 2155"/>
            </a:avLst>
          </a:prstGeom>
          <a:solidFill>
            <a:srgbClr val="E9EDF2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Rectangle 8"/>
          <p:cNvSpPr/>
          <p:nvPr/>
        </p:nvSpPr>
        <p:spPr>
          <a:xfrm>
            <a:off x="685800" y="1409700"/>
            <a:ext cx="6819900" cy="323850"/>
          </a:xfrm>
          <a:prstGeom prst="roundRect">
            <a:avLst>
              <a:gd name="adj" fmla="val 29412"/>
            </a:avLst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Ellipse 9"/>
          <p:cNvSpPr/>
          <p:nvPr/>
        </p:nvSpPr>
        <p:spPr>
          <a:xfrm>
            <a:off x="8477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Ellipse 10"/>
          <p:cNvSpPr/>
          <p:nvPr/>
        </p:nvSpPr>
        <p:spPr>
          <a:xfrm>
            <a:off x="10382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Ellipse 11"/>
          <p:cNvSpPr/>
          <p:nvPr/>
        </p:nvSpPr>
        <p:spPr>
          <a:xfrm>
            <a:off x="1228725" y="1524000"/>
            <a:ext cx="95250" cy="95250"/>
          </a:xfrm>
          <a:prstGeom prst="ellipse">
            <a:avLst/>
          </a:prstGeom>
          <a:solidFill>
            <a:srgbClr val="A9B4C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12"/>
          <p:cNvSpPr/>
          <p:nvPr/>
        </p:nvSpPr>
        <p:spPr>
          <a:xfrm>
            <a:off x="685800" y="1695450"/>
            <a:ext cx="6819900" cy="57150"/>
          </a:xfrm>
          <a:prstGeom prst="rect">
            <a:avLst/>
          </a:prstGeom>
          <a:solidFill>
            <a:srgbClr val="DFE5E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3" name="Image 13"/>
          <p:cNvPicPr>
            <a:picLocks noChangeAspect="1"/>
          </p:cNvPicPr>
          <p:nvPr/>
        </p:nvPicPr>
        <p:blipFill>
          <a:blip r:embed="rId2"/>
          <a:srcRect l="346" r="346"/>
          <a:stretch>
            <a:fillRect/>
          </a:stretch>
        </p:blipFill>
        <p:spPr>
          <a:xfrm>
            <a:off x="762000" y="1809750"/>
            <a:ext cx="6667500" cy="3943350"/>
          </a:xfrm>
          <a:prstGeom prst="rect">
            <a:avLst/>
          </a:prstGeom>
        </p:spPr>
      </p:pic>
      <p:sp>
        <p:nvSpPr>
          <p:cNvPr id="14" name="Rectangle 14"/>
          <p:cNvSpPr/>
          <p:nvPr/>
        </p:nvSpPr>
        <p:spPr>
          <a:xfrm>
            <a:off x="7848600" y="1257300"/>
            <a:ext cx="3810000" cy="472440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Rectangle 15"/>
          <p:cNvSpPr/>
          <p:nvPr/>
        </p:nvSpPr>
        <p:spPr>
          <a:xfrm>
            <a:off x="8077200" y="1524000"/>
            <a:ext cx="38100" cy="247650"/>
          </a:xfrm>
          <a:prstGeom prst="rect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8221980" y="1552575"/>
            <a:ext cx="8229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功能要点</a:t>
            </a:r>
          </a:p>
        </p:txBody>
      </p:sp>
      <p:sp>
        <p:nvSpPr>
          <p:cNvPr id="17" name="Ellipse 17"/>
          <p:cNvSpPr/>
          <p:nvPr/>
        </p:nvSpPr>
        <p:spPr>
          <a:xfrm>
            <a:off x="8086725" y="20193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8261223" y="197691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教学助手以事件流方式返回意图、工具调用与待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261223" y="2224564"/>
            <a:ext cx="70220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审核状态</a:t>
            </a:r>
          </a:p>
        </p:txBody>
      </p:sp>
      <p:sp>
        <p:nvSpPr>
          <p:cNvPr id="20" name="Ellipse 20"/>
          <p:cNvSpPr/>
          <p:nvPr/>
        </p:nvSpPr>
        <p:spPr>
          <a:xfrm>
            <a:off x="8086725" y="264795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Box 21"/>
          <p:cNvSpPr txBox="1"/>
          <p:nvPr/>
        </p:nvSpPr>
        <p:spPr>
          <a:xfrm>
            <a:off x="8261223" y="260556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可查询知识点、解释概念，并按范围检索相关题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261223" y="2853214"/>
            <a:ext cx="18526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目</a:t>
            </a:r>
          </a:p>
        </p:txBody>
      </p:sp>
      <p:sp>
        <p:nvSpPr>
          <p:cNvPr id="23" name="Ellipse 23"/>
          <p:cNvSpPr/>
          <p:nvPr/>
        </p:nvSpPr>
        <p:spPr>
          <a:xfrm>
            <a:off x="8086725" y="327660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Box 24"/>
          <p:cNvSpPr txBox="1"/>
          <p:nvPr/>
        </p:nvSpPr>
        <p:spPr>
          <a:xfrm>
            <a:off x="8261223" y="323421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组卷请求先提出考查范围，由教师确认后继续执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261223" y="3481864"/>
            <a:ext cx="18526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行</a:t>
            </a:r>
          </a:p>
        </p:txBody>
      </p:sp>
      <p:sp>
        <p:nvSpPr>
          <p:cNvPr id="26" name="Ellipse 26"/>
          <p:cNvSpPr/>
          <p:nvPr/>
        </p:nvSpPr>
        <p:spPr>
          <a:xfrm>
            <a:off x="8086725" y="3905250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Box 27"/>
          <p:cNvSpPr txBox="1"/>
          <p:nvPr/>
        </p:nvSpPr>
        <p:spPr>
          <a:xfrm>
            <a:off x="8261223" y="3862864"/>
            <a:ext cx="36315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模型不可用时给出明确提示，教师仍可手工维护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261223" y="4110514"/>
            <a:ext cx="1046836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知识树与题库</a:t>
            </a:r>
          </a:p>
        </p:txBody>
      </p:sp>
      <p:sp>
        <p:nvSpPr>
          <p:cNvPr id="29" name="Line 29"/>
          <p:cNvSpPr/>
          <p:nvPr/>
        </p:nvSpPr>
        <p:spPr>
          <a:xfrm>
            <a:off x="8077200" y="5257800"/>
            <a:ext cx="3352800" cy="9525"/>
          </a:xfrm>
          <a:custGeom>
            <a:avLst/>
            <a:gdLst/>
            <a:ahLst/>
            <a:cxnLst/>
            <a:rect l="l" t="t" r="r" b="b"/>
            <a:pathLst>
              <a:path w="3352800" h="9525">
                <a:moveTo>
                  <a:pt x="0" y="0"/>
                </a:moveTo>
                <a:lnTo>
                  <a:pt x="33528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Box 30"/>
          <p:cNvSpPr txBox="1"/>
          <p:nvPr/>
        </p:nvSpPr>
        <p:spPr>
          <a:xfrm>
            <a:off x="8071485" y="5384006"/>
            <a:ext cx="378079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智能能力服务于教学判断，而不是替代教学判断，这是系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071485" y="5612606"/>
            <a:ext cx="212227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统在智能与审核之间的平衡点。</a:t>
            </a:r>
          </a:p>
        </p:txBody>
      </p:sp>
      <p:sp>
        <p:nvSpPr>
          <p:cNvPr id="32" name="Line 32"/>
          <p:cNvSpPr/>
          <p:nvPr/>
        </p:nvSpPr>
        <p:spPr>
          <a:xfrm>
            <a:off x="533400" y="6400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Box 34"/>
          <p:cNvSpPr txBox="1"/>
          <p:nvPr/>
        </p:nvSpPr>
        <p:spPr>
          <a:xfrm>
            <a:off x="115205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533400" y="438150"/>
            <a:ext cx="76200" cy="323850"/>
          </a:xfrm>
          <a:prstGeom prst="rect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11708" y="445770"/>
            <a:ext cx="1639824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测试与验证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8185" y="869156"/>
            <a:ext cx="212227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规则优先的测试策略与验证结果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478741" y="583406"/>
            <a:ext cx="1855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428750"/>
            <a:ext cx="11125200" cy="419100"/>
          </a:xfrm>
          <a:prstGeom prst="roundRect">
            <a:avLst>
              <a:gd name="adj" fmla="val 13636"/>
            </a:avLst>
          </a:prstGeom>
          <a:solidFill>
            <a:srgbClr val="0B2E4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Box 7"/>
          <p:cNvSpPr txBox="1"/>
          <p:nvPr/>
        </p:nvSpPr>
        <p:spPr>
          <a:xfrm>
            <a:off x="660654" y="157543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验证项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137154" y="1575435"/>
            <a:ext cx="6583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测试方式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471154" y="1575435"/>
            <a:ext cx="33528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结果</a:t>
            </a:r>
          </a:p>
        </p:txBody>
      </p:sp>
      <p:sp>
        <p:nvSpPr>
          <p:cNvPr id="10" name="Rectangle 10"/>
          <p:cNvSpPr/>
          <p:nvPr/>
        </p:nvSpPr>
        <p:spPr>
          <a:xfrm>
            <a:off x="533400" y="1847850"/>
            <a:ext cx="111252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641985" y="1993106"/>
            <a:ext cx="9160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考查范围构建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118485" y="1993106"/>
            <a:ext cx="242382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规则单测：命中知识点与祖先链筛选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52485" y="1993106"/>
            <a:ext cx="31297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通过</a:t>
            </a:r>
          </a:p>
        </p:txBody>
      </p:sp>
      <p:sp>
        <p:nvSpPr>
          <p:cNvPr id="14" name="Rectangle 14"/>
          <p:cNvSpPr/>
          <p:nvPr/>
        </p:nvSpPr>
        <p:spPr>
          <a:xfrm>
            <a:off x="533400" y="2266950"/>
            <a:ext cx="11125200" cy="4191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641985" y="2412206"/>
            <a:ext cx="9160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范围接口状态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118485" y="2412206"/>
            <a:ext cx="242382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接口测试：提出、读取、更新与确认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52485" y="2412206"/>
            <a:ext cx="31297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通过</a:t>
            </a:r>
          </a:p>
        </p:txBody>
      </p:sp>
      <p:sp>
        <p:nvSpPr>
          <p:cNvPr id="18" name="Rectangle 18"/>
          <p:cNvSpPr/>
          <p:nvPr/>
        </p:nvSpPr>
        <p:spPr>
          <a:xfrm>
            <a:off x="533400" y="2686050"/>
            <a:ext cx="111252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641985" y="2831306"/>
            <a:ext cx="9160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安全组卷保护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118485" y="2831306"/>
            <a:ext cx="212227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规则单测：未确认范围禁止组卷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52485" y="2831306"/>
            <a:ext cx="31297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通过</a:t>
            </a:r>
          </a:p>
        </p:txBody>
      </p:sp>
      <p:sp>
        <p:nvSpPr>
          <p:cNvPr id="22" name="Rectangle 22"/>
          <p:cNvSpPr/>
          <p:nvPr/>
        </p:nvSpPr>
        <p:spPr>
          <a:xfrm>
            <a:off x="533400" y="3105150"/>
            <a:ext cx="11125200" cy="4191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Box 23"/>
          <p:cNvSpPr txBox="1"/>
          <p:nvPr/>
        </p:nvSpPr>
        <p:spPr>
          <a:xfrm>
            <a:off x="641985" y="3250406"/>
            <a:ext cx="76530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分值归一化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118485" y="3250406"/>
            <a:ext cx="257459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规则单测：按题量分配总分并处理余数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452485" y="3250406"/>
            <a:ext cx="31297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通过</a:t>
            </a:r>
          </a:p>
        </p:txBody>
      </p:sp>
      <p:sp>
        <p:nvSpPr>
          <p:cNvPr id="26" name="Rectangle 26"/>
          <p:cNvSpPr/>
          <p:nvPr/>
        </p:nvSpPr>
        <p:spPr>
          <a:xfrm>
            <a:off x="533400" y="3524250"/>
            <a:ext cx="111252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Box 27"/>
          <p:cNvSpPr txBox="1"/>
          <p:nvPr/>
        </p:nvSpPr>
        <p:spPr>
          <a:xfrm>
            <a:off x="641985" y="3669506"/>
            <a:ext cx="106685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草稿审核状态机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118485" y="3669506"/>
            <a:ext cx="212227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规则单测：待审核、接受与拒绝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452485" y="3669506"/>
            <a:ext cx="31297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通过</a:t>
            </a:r>
          </a:p>
        </p:txBody>
      </p:sp>
      <p:sp>
        <p:nvSpPr>
          <p:cNvPr id="30" name="Rectangle 30"/>
          <p:cNvSpPr/>
          <p:nvPr/>
        </p:nvSpPr>
        <p:spPr>
          <a:xfrm>
            <a:off x="533400" y="3943350"/>
            <a:ext cx="11125200" cy="4191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Box 31"/>
          <p:cNvSpPr txBox="1"/>
          <p:nvPr/>
        </p:nvSpPr>
        <p:spPr>
          <a:xfrm>
            <a:off x="641985" y="4088606"/>
            <a:ext cx="9160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后端整体测试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118485" y="4088606"/>
            <a:ext cx="216750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pytest 全量用例执行，共 11 项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452485" y="4088606"/>
            <a:ext cx="9763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11 项全部通过</a:t>
            </a:r>
          </a:p>
        </p:txBody>
      </p:sp>
      <p:sp>
        <p:nvSpPr>
          <p:cNvPr id="34" name="Rectangle 34"/>
          <p:cNvSpPr/>
          <p:nvPr/>
        </p:nvSpPr>
        <p:spPr>
          <a:xfrm>
            <a:off x="533400" y="4362450"/>
            <a:ext cx="111252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Box 35"/>
          <p:cNvSpPr txBox="1"/>
          <p:nvPr/>
        </p:nvSpPr>
        <p:spPr>
          <a:xfrm>
            <a:off x="641985" y="4507706"/>
            <a:ext cx="9160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前端生产构建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118866" y="4515802"/>
            <a:ext cx="215905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TypeScript 类型检查与 Vite 打包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452485" y="4507706"/>
            <a:ext cx="61452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构建成功</a:t>
            </a:r>
          </a:p>
        </p:txBody>
      </p:sp>
      <p:sp>
        <p:nvSpPr>
          <p:cNvPr id="38" name="Rectangle 38"/>
          <p:cNvSpPr/>
          <p:nvPr/>
        </p:nvSpPr>
        <p:spPr>
          <a:xfrm>
            <a:off x="533400" y="4781550"/>
            <a:ext cx="11125200" cy="4191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TextBox 39"/>
          <p:cNvSpPr txBox="1"/>
          <p:nvPr/>
        </p:nvSpPr>
        <p:spPr>
          <a:xfrm>
            <a:off x="641985" y="4926806"/>
            <a:ext cx="9160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人工流程走查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3118485" y="4926806"/>
            <a:ext cx="317769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上传、知识树、需求、范围、组卷、导出全链路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452485" y="4926806"/>
            <a:ext cx="76530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主流程可用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27685" y="5326856"/>
            <a:ext cx="935944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测试重点不在页面显示，而在业务边界：范围必须确认、草稿必须审核、试卷总分必须与需求一致。导出文件可正常打开，内容与预览一致。</a:t>
            </a:r>
          </a:p>
        </p:txBody>
      </p:sp>
      <p:sp>
        <p:nvSpPr>
          <p:cNvPr id="43" name="Line 43"/>
          <p:cNvSpPr/>
          <p:nvPr/>
        </p:nvSpPr>
        <p:spPr>
          <a:xfrm>
            <a:off x="533400" y="6400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Box 45"/>
          <p:cNvSpPr txBox="1"/>
          <p:nvPr/>
        </p:nvSpPr>
        <p:spPr>
          <a:xfrm>
            <a:off x="115205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533400" y="438150"/>
            <a:ext cx="76200" cy="323850"/>
          </a:xfrm>
          <a:prstGeom prst="rect">
            <a:avLst/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Box 3"/>
          <p:cNvSpPr txBox="1"/>
          <p:nvPr/>
        </p:nvSpPr>
        <p:spPr>
          <a:xfrm>
            <a:off x="711708" y="445770"/>
            <a:ext cx="2932176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小组分工与项目总结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8185" y="869156"/>
            <a:ext cx="227304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三个人，三条主线，一个完整系统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478741" y="583406"/>
            <a:ext cx="1855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428750"/>
            <a:ext cx="3505200" cy="2381250"/>
          </a:xfrm>
          <a:prstGeom prst="roundRect">
            <a:avLst>
              <a:gd name="adj" fmla="val 4800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Rectangle 7"/>
          <p:cNvSpPr/>
          <p:nvPr/>
        </p:nvSpPr>
        <p:spPr>
          <a:xfrm>
            <a:off x="533400" y="1428750"/>
            <a:ext cx="3505200" cy="57150"/>
          </a:xfrm>
          <a:prstGeom prst="roundRect">
            <a:avLst>
              <a:gd name="adj" fmla="val 50000"/>
            </a:avLst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Box 8"/>
          <p:cNvSpPr txBox="1"/>
          <p:nvPr/>
        </p:nvSpPr>
        <p:spPr>
          <a:xfrm>
            <a:off x="790194" y="1770698"/>
            <a:ext cx="807339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项天聪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94385" y="2183606"/>
            <a:ext cx="995680" cy="1714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前端页面与交互</a:t>
            </a:r>
          </a:p>
        </p:txBody>
      </p:sp>
      <p:sp>
        <p:nvSpPr>
          <p:cNvPr id="10" name="Ellipse 10"/>
          <p:cNvSpPr/>
          <p:nvPr/>
        </p:nvSpPr>
        <p:spPr>
          <a:xfrm>
            <a:off x="819150" y="2657475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1022985" y="2621756"/>
            <a:ext cx="166994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材料、知识树、题库页面</a:t>
            </a:r>
          </a:p>
        </p:txBody>
      </p:sp>
      <p:sp>
        <p:nvSpPr>
          <p:cNvPr id="12" name="Ellipse 12"/>
          <p:cNvSpPr/>
          <p:nvPr/>
        </p:nvSpPr>
        <p:spPr>
          <a:xfrm>
            <a:off x="819150" y="2981325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Box 13"/>
          <p:cNvSpPr txBox="1"/>
          <p:nvPr/>
        </p:nvSpPr>
        <p:spPr>
          <a:xfrm>
            <a:off x="1022985" y="2945606"/>
            <a:ext cx="106685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组卷与试卷页面</a:t>
            </a:r>
          </a:p>
        </p:txBody>
      </p:sp>
      <p:sp>
        <p:nvSpPr>
          <p:cNvPr id="14" name="Ellipse 14"/>
          <p:cNvSpPr/>
          <p:nvPr/>
        </p:nvSpPr>
        <p:spPr>
          <a:xfrm>
            <a:off x="819150" y="3305175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1022985" y="3269456"/>
            <a:ext cx="136840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页面交互与接口联调</a:t>
            </a:r>
          </a:p>
        </p:txBody>
      </p:sp>
      <p:sp>
        <p:nvSpPr>
          <p:cNvPr id="16" name="Rectangle 16"/>
          <p:cNvSpPr/>
          <p:nvPr/>
        </p:nvSpPr>
        <p:spPr>
          <a:xfrm>
            <a:off x="4343400" y="1428750"/>
            <a:ext cx="3505200" cy="2381250"/>
          </a:xfrm>
          <a:prstGeom prst="roundRect">
            <a:avLst>
              <a:gd name="adj" fmla="val 4800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Rectangle 17"/>
          <p:cNvSpPr/>
          <p:nvPr/>
        </p:nvSpPr>
        <p:spPr>
          <a:xfrm>
            <a:off x="4343400" y="1428750"/>
            <a:ext cx="3505200" cy="57150"/>
          </a:xfrm>
          <a:prstGeom prst="roundRect">
            <a:avLst>
              <a:gd name="adj" fmla="val 50000"/>
            </a:avLst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4600194" y="1770698"/>
            <a:ext cx="807339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杨烨锋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604385" y="2183606"/>
            <a:ext cx="1319530" cy="1714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 后端接口与数据业务</a:t>
            </a:r>
          </a:p>
        </p:txBody>
      </p:sp>
      <p:sp>
        <p:nvSpPr>
          <p:cNvPr id="20" name="Ellipse 20"/>
          <p:cNvSpPr/>
          <p:nvPr/>
        </p:nvSpPr>
        <p:spPr>
          <a:xfrm>
            <a:off x="4629150" y="2657475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Box 21"/>
          <p:cNvSpPr txBox="1"/>
          <p:nvPr/>
        </p:nvSpPr>
        <p:spPr>
          <a:xfrm>
            <a:off x="4832985" y="2621756"/>
            <a:ext cx="15191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材料、知识、题库接口</a:t>
            </a:r>
          </a:p>
        </p:txBody>
      </p:sp>
      <p:sp>
        <p:nvSpPr>
          <p:cNvPr id="22" name="Ellipse 22"/>
          <p:cNvSpPr/>
          <p:nvPr/>
        </p:nvSpPr>
        <p:spPr>
          <a:xfrm>
            <a:off x="4629150" y="2981325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Box 23"/>
          <p:cNvSpPr txBox="1"/>
          <p:nvPr/>
        </p:nvSpPr>
        <p:spPr>
          <a:xfrm>
            <a:off x="4832985" y="2945606"/>
            <a:ext cx="136840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组卷与试卷核心业务</a:t>
            </a:r>
          </a:p>
        </p:txBody>
      </p:sp>
      <p:sp>
        <p:nvSpPr>
          <p:cNvPr id="24" name="Ellipse 24"/>
          <p:cNvSpPr/>
          <p:nvPr/>
        </p:nvSpPr>
        <p:spPr>
          <a:xfrm>
            <a:off x="4629150" y="3305175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extBox 25"/>
          <p:cNvSpPr txBox="1"/>
          <p:nvPr/>
        </p:nvSpPr>
        <p:spPr>
          <a:xfrm>
            <a:off x="4832985" y="3269456"/>
            <a:ext cx="136840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数据模型与导出实现</a:t>
            </a:r>
          </a:p>
        </p:txBody>
      </p:sp>
      <p:sp>
        <p:nvSpPr>
          <p:cNvPr id="26" name="Rectangle 26"/>
          <p:cNvSpPr/>
          <p:nvPr/>
        </p:nvSpPr>
        <p:spPr>
          <a:xfrm>
            <a:off x="8153400" y="1428750"/>
            <a:ext cx="3505200" cy="2381250"/>
          </a:xfrm>
          <a:prstGeom prst="roundRect">
            <a:avLst>
              <a:gd name="adj" fmla="val 4800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Rectangle 27"/>
          <p:cNvSpPr/>
          <p:nvPr/>
        </p:nvSpPr>
        <p:spPr>
          <a:xfrm>
            <a:off x="8153400" y="1428750"/>
            <a:ext cx="3505200" cy="57150"/>
          </a:xfrm>
          <a:prstGeom prst="roundRect">
            <a:avLst>
              <a:gd name="adj" fmla="val 50000"/>
            </a:avLst>
          </a:prstGeom>
          <a:solidFill>
            <a:srgbClr val="12456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Box 28"/>
          <p:cNvSpPr txBox="1"/>
          <p:nvPr/>
        </p:nvSpPr>
        <p:spPr>
          <a:xfrm>
            <a:off x="8410194" y="1770698"/>
            <a:ext cx="807339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张宸赫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414385" y="2183606"/>
            <a:ext cx="1280160" cy="1714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智能能力与综合验证</a:t>
            </a:r>
          </a:p>
        </p:txBody>
      </p:sp>
      <p:sp>
        <p:nvSpPr>
          <p:cNvPr id="30" name="Ellipse 30"/>
          <p:cNvSpPr/>
          <p:nvPr/>
        </p:nvSpPr>
        <p:spPr>
          <a:xfrm>
            <a:off x="8439150" y="2657475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Box 31"/>
          <p:cNvSpPr txBox="1"/>
          <p:nvPr/>
        </p:nvSpPr>
        <p:spPr>
          <a:xfrm>
            <a:off x="8642985" y="2621756"/>
            <a:ext cx="136840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材料解析、知识提取</a:t>
            </a:r>
          </a:p>
        </p:txBody>
      </p:sp>
      <p:sp>
        <p:nvSpPr>
          <p:cNvPr id="32" name="Ellipse 32"/>
          <p:cNvSpPr/>
          <p:nvPr/>
        </p:nvSpPr>
        <p:spPr>
          <a:xfrm>
            <a:off x="8439150" y="2981325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Box 33"/>
          <p:cNvSpPr txBox="1"/>
          <p:nvPr/>
        </p:nvSpPr>
        <p:spPr>
          <a:xfrm>
            <a:off x="8642985" y="2945606"/>
            <a:ext cx="136840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语义检索与教学助手</a:t>
            </a:r>
          </a:p>
        </p:txBody>
      </p:sp>
      <p:sp>
        <p:nvSpPr>
          <p:cNvPr id="34" name="Ellipse 34"/>
          <p:cNvSpPr/>
          <p:nvPr/>
        </p:nvSpPr>
        <p:spPr>
          <a:xfrm>
            <a:off x="8439150" y="3305175"/>
            <a:ext cx="76200" cy="76200"/>
          </a:xfrm>
          <a:prstGeom prst="ellipse">
            <a:avLst/>
          </a:prstGeom>
          <a:solidFill>
            <a:srgbClr val="C2761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Box 35"/>
          <p:cNvSpPr txBox="1"/>
          <p:nvPr/>
        </p:nvSpPr>
        <p:spPr>
          <a:xfrm>
            <a:off x="8642985" y="3269456"/>
            <a:ext cx="15191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测试、文档与答辩演示</a:t>
            </a:r>
          </a:p>
        </p:txBody>
      </p:sp>
      <p:sp>
        <p:nvSpPr>
          <p:cNvPr id="36" name="Rectangle 36"/>
          <p:cNvSpPr/>
          <p:nvPr/>
        </p:nvSpPr>
        <p:spPr>
          <a:xfrm>
            <a:off x="533400" y="4076700"/>
            <a:ext cx="11125200" cy="1866900"/>
          </a:xfrm>
          <a:prstGeom prst="roundRect">
            <a:avLst>
              <a:gd name="adj" fmla="val 6122"/>
            </a:avLst>
          </a:prstGeom>
          <a:solidFill>
            <a:srgbClr val="F1F4F8"/>
          </a:solidFill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TextBox 37"/>
          <p:cNvSpPr txBox="1"/>
          <p:nvPr/>
        </p:nvSpPr>
        <p:spPr>
          <a:xfrm>
            <a:off x="822960" y="4305300"/>
            <a:ext cx="1282402" cy="3077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2000" b="1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总结与展望</a:t>
            </a:r>
            <a:endParaRPr lang="zh-CN" sz="2000" b="1" dirty="0">
              <a:solidFill>
                <a:srgbClr val="000000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831723" y="4948714"/>
            <a:ext cx="8973261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系统形成了从课程材料到可导出试卷的完整闭环：材料可解析、知识可组织、范围可确认、题目可审核、试卷可导出。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31723" y="5367814"/>
            <a:ext cx="880094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后续计划：补充教师账号与权限、题目质量统计与难度分析报表，并把教师对范围与草稿的反馈用于改进推荐效果。</a:t>
            </a:r>
          </a:p>
        </p:txBody>
      </p:sp>
      <p:sp>
        <p:nvSpPr>
          <p:cNvPr id="40" name="Line 40"/>
          <p:cNvSpPr/>
          <p:nvPr/>
        </p:nvSpPr>
        <p:spPr>
          <a:xfrm>
            <a:off x="533400" y="6400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D3DAE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TextBox 42"/>
          <p:cNvSpPr txBox="1"/>
          <p:nvPr/>
        </p:nvSpPr>
        <p:spPr>
          <a:xfrm>
            <a:off x="115205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ds-exam-defense">
  <a:themeElements>
    <a:clrScheme name="ds-exam-defens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s-exam-defense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s-exam-defen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4628</Words>
  <Application>Microsoft Office PowerPoint</Application>
  <PresentationFormat>宽屏</PresentationFormat>
  <Paragraphs>390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2" baseType="lpstr">
      <vt:lpstr>Arial</vt:lpstr>
      <vt:lpstr>ds-exam-defense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tc x</cp:lastModifiedBy>
  <cp:revision>4</cp:revision>
  <dcterms:created xsi:type="dcterms:W3CDTF">2026-09-17T13:39:00Z</dcterms:created>
  <dcterms:modified xsi:type="dcterms:W3CDTF">2026-09-20T05:18:48Z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A318CAABCA7044D5B93DC1F90490689D_12</vt:lpwstr>
  </property>
  <property fmtid="{D5CDD505-2E9C-101B-9397-08002B2CF9AE}" pid="3" name="KSOProductBuildVer">
    <vt:lpwstr>2052-12.1.0.28505</vt:lpwstr>
  </property>
</Properties>
</file>