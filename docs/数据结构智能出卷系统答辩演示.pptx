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s-exam-defen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876300"/>
            <a:ext cx="95250" cy="723900"/>
          </a:xfrm>
          <a:prstGeom prst="rect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57250" y="1007745"/>
            <a:ext cx="528828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</a:t>
            </a:r>
            <a:endParaRPr lang="zh-CN" sz="39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67918" y="1784032"/>
            <a:ext cx="51255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面向教师的课程材料管理、知识组织与安全组卷平台</a:t>
            </a:r>
            <a:endParaRPr lang="zh-CN" sz="16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70204" y="22517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课程设计项目 · 答辩演示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Line 7"/>
          <p:cNvSpPr/>
          <p:nvPr/>
        </p:nvSpPr>
        <p:spPr>
          <a:xfrm>
            <a:off x="876300" y="2781300"/>
            <a:ext cx="5029200" cy="9525"/>
          </a:xfrm>
          <a:custGeom>
            <a:avLst/>
            <a:gdLst/>
            <a:ahLst/>
            <a:cxnLst/>
            <a:rect l="l" t="t" r="r" b="b"/>
            <a:pathLst>
              <a:path w="5029200" h="9525">
                <a:moveTo>
                  <a:pt x="0" y="0"/>
                </a:moveTo>
                <a:lnTo>
                  <a:pt x="5029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69823" y="3138964"/>
            <a:ext cx="55269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系统依据课程材料提取知识树，由教师确认考查范围后从题库安全组卷，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69823" y="3443764"/>
            <a:ext cx="48377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题库不足时生成待审核草稿，教师接受后题目才进入正式题库。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68680" y="5229225"/>
            <a:ext cx="29694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小组成员：项天聪 杨烨锋 张宸赫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70585" y="5593556"/>
            <a:ext cx="161717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汇报日期：2026 年 9 月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6667500" y="1428750"/>
            <a:ext cx="4991100" cy="3619500"/>
          </a:xfrm>
          <a:prstGeom prst="roundRect">
            <a:avLst>
              <a:gd name="adj" fmla="val 2632"/>
            </a:avLst>
          </a:prstGeom>
          <a:solidFill>
            <a:srgbClr val="E9EDF2"/>
          </a:solidFill>
          <a:ln w="9525">
            <a:solidFill>
              <a:srgbClr val="D3DAE3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667500" y="1428750"/>
            <a:ext cx="4991100" cy="323850"/>
          </a:xfrm>
          <a:prstGeom prst="roundRect">
            <a:avLst>
              <a:gd name="adj" fmla="val 29412"/>
            </a:avLst>
          </a:prstGeom>
          <a:solidFill>
            <a:srgbClr val="DFE5EC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6829425" y="154305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7019925" y="154305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7210425" y="154305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667500" y="1714500"/>
            <a:ext cx="4991100" cy="57150"/>
          </a:xfrm>
          <a:prstGeom prst="rect">
            <a:avLst/>
          </a:prstGeom>
          <a:solidFill>
            <a:srgbClr val="DFE5EC"/>
          </a:solidFill>
          <a:ln>
            <a:noFill/>
          </a:ln>
        </p:spPr>
      </p:sp>
      <p:pic>
        <p:nvPicPr>
          <p:cNvPr id="18" name="Image 18"/>
          <p:cNvPicPr>
            <a:picLocks noChangeAspect="1"/>
          </p:cNvPicPr>
          <p:nvPr/>
        </p:nvPicPr>
        <p:blipFill>
          <a:blip r:embed="rId1"/>
          <a:srcRect l="4717" r="4717"/>
          <a:stretch>
            <a:fillRect/>
          </a:stretch>
        </p:blipFill>
        <p:spPr>
          <a:xfrm>
            <a:off x="6743700" y="1828800"/>
            <a:ext cx="4838700" cy="314325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662166" y="5182552"/>
            <a:ext cx="31203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教师工作台：材料、题库与待审核草稿的统一入口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5905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598170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目录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10215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从项目背景到系统演示，共八个部分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23900" y="1676400"/>
            <a:ext cx="5143500" cy="990600"/>
          </a:xfrm>
          <a:prstGeom prst="roundRect">
            <a:avLst>
              <a:gd name="adj" fmla="val 9615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41070" y="190976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01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92580" y="19145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项目背景与需求分析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94866" y="2248852"/>
            <a:ext cx="34030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教学备课与命题中的材料分散、范围不清与题目来源难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94866" y="243935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以追踪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723900" y="2838450"/>
            <a:ext cx="5143500" cy="990600"/>
          </a:xfrm>
          <a:prstGeom prst="roundRect">
            <a:avLst>
              <a:gd name="adj" fmla="val 9615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41070" y="307181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02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92580" y="30765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系统规划与总体架构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94866" y="3410902"/>
            <a:ext cx="28376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教师端、业务服务与智能检索能力的三层协同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723900" y="4000500"/>
            <a:ext cx="5143500" cy="990600"/>
          </a:xfrm>
          <a:prstGeom prst="roundRect">
            <a:avLst>
              <a:gd name="adj" fmla="val 9615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1070" y="423386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03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92580" y="42386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技术路线与开发环境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94866" y="4572952"/>
            <a:ext cx="20285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React、FastAPI、SQLAlchemy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94866" y="4763452"/>
            <a:ext cx="18929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、LangGraph 与本地向量检索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723900" y="5162550"/>
            <a:ext cx="5143500" cy="990600"/>
          </a:xfrm>
          <a:prstGeom prst="roundRect">
            <a:avLst>
              <a:gd name="adj" fmla="val 9615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41070" y="539591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04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92580" y="540067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数据库设计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594866" y="5735002"/>
            <a:ext cx="34030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材料、知识节点、题目、考查范围、试卷与草稿六类实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94866" y="5925502"/>
            <a:ext cx="1520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体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Rectangle 24"/>
          <p:cNvSpPr/>
          <p:nvPr/>
        </p:nvSpPr>
        <p:spPr>
          <a:xfrm>
            <a:off x="6438900" y="1676400"/>
            <a:ext cx="5143500" cy="990600"/>
          </a:xfrm>
          <a:prstGeom prst="roundRect">
            <a:avLst>
              <a:gd name="adj" fmla="val 9615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656070" y="190976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05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307580" y="19145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核心业务规则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309866" y="2248852"/>
            <a:ext cx="28376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确认范围后才能组卷，接受草稿后才进入题库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6438900" y="2838450"/>
            <a:ext cx="5143500" cy="990600"/>
          </a:xfrm>
          <a:prstGeom prst="roundRect">
            <a:avLst>
              <a:gd name="adj" fmla="val 9615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656070" y="307181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06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307580" y="30765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系统功能演示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309866" y="3410902"/>
            <a:ext cx="34030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工作台、材料、知识树、需求、范围、组卷、试卷与助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309866" y="3601402"/>
            <a:ext cx="1520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手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Rectangle 33"/>
          <p:cNvSpPr/>
          <p:nvPr/>
        </p:nvSpPr>
        <p:spPr>
          <a:xfrm>
            <a:off x="6438900" y="4000500"/>
            <a:ext cx="5143500" cy="990600"/>
          </a:xfrm>
          <a:prstGeom prst="roundRect">
            <a:avLst>
              <a:gd name="adj" fmla="val 9615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656070" y="423386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07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307580" y="42386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测试与验证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309866" y="4572952"/>
            <a:ext cx="26963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规则单测、接口联调、前端构建与人工走查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438900" y="5162550"/>
            <a:ext cx="5143500" cy="990600"/>
          </a:xfrm>
          <a:prstGeom prst="roundRect">
            <a:avLst>
              <a:gd name="adj" fmla="val 9615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656070" y="539591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08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307580" y="54006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小组分工与总结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309866" y="5735002"/>
            <a:ext cx="26963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项天聪、杨烨锋、张宸赫的职责与项目成果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Line 41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587201" y="6532245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2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6750" y="1604010"/>
            <a:ext cx="1157600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01</a:t>
            </a:r>
            <a:endParaRPr lang="zh-CN" sz="7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0946" y="2772728"/>
            <a:ext cx="242887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项目背景与问题</a:t>
            </a:r>
            <a:endParaRPr lang="zh-CN" sz="25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23900" y="3352800"/>
            <a:ext cx="914400" cy="57150"/>
          </a:xfrm>
          <a:prstGeom prst="rect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17423" y="36723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为什么要做一套面向教师的智能出卷系统</a:t>
            </a:r>
            <a:endParaRPr lang="zh-CN" sz="128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755642" y="1473518"/>
            <a:ext cx="61927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数据结构课程的教学材料通常分散在讲义、课件与教学大纲中，命题时教师需</a:t>
            </a:r>
            <a:endParaRPr lang="zh-CN" sz="13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755642" y="1778318"/>
            <a:ext cx="61927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要在多个文件之间反复查找知识点，很难快速确认某次考试究竟应该覆盖哪些</a:t>
            </a:r>
            <a:endParaRPr lang="zh-CN" sz="13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55642" y="2083118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章节，也很难说明范围是怎么确定的。</a:t>
            </a:r>
            <a:endParaRPr lang="zh-CN" sz="13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755642" y="2635568"/>
            <a:ext cx="61927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题目往往保存在表格或个人文档里，缺少统一的题型、难度、章节与知识点标</a:t>
            </a:r>
            <a:endParaRPr lang="zh-CN" sz="13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755642" y="2940368"/>
            <a:ext cx="61927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注。同一道题可能被重复录入，历史试卷与题库之间的对应关系也不清晰，试</a:t>
            </a:r>
            <a:endParaRPr lang="zh-CN" sz="13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755642" y="3245168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卷的可追溯性依赖教师个人记忆。</a:t>
            </a:r>
            <a:endParaRPr lang="zh-CN" sz="13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755642" y="3797618"/>
            <a:ext cx="61927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通用大模型可以直接生成题目，但生成内容的质量与难度并不稳定。如果系统</a:t>
            </a:r>
            <a:endParaRPr lang="zh-CN" sz="13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755642" y="4102418"/>
            <a:ext cx="61927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把模型输出直接写入题库，错误会在后续组卷中被反复放大，教师反而需要花</a:t>
            </a:r>
            <a:endParaRPr lang="zh-CN" sz="13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755642" y="440721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费更多时间核对与返工。</a:t>
            </a:r>
            <a:endParaRPr lang="zh-CN" sz="13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755642" y="4959668"/>
            <a:ext cx="61927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因此本项目把目标确定为：让材料、知识、范围、题库与试卷形成一条可追溯</a:t>
            </a:r>
            <a:endParaRPr lang="zh-CN" sz="13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755642" y="5264468"/>
            <a:ext cx="61927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的链路，让智能能力参与材料理解与候选题生成，但把考查范围确认与题目入</a:t>
            </a:r>
            <a:endParaRPr lang="zh-CN" sz="13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755642" y="556926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库的决定权交还给教师。</a:t>
            </a:r>
            <a:endParaRPr lang="zh-CN" sz="13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Line 19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587201" y="6532245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3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需求分析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16699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功能性需求与非功能约束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02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428750"/>
            <a:ext cx="11125200" cy="419100"/>
          </a:xfrm>
          <a:prstGeom prst="roundRect">
            <a:avLst>
              <a:gd name="adj" fmla="val 13636"/>
            </a:avLst>
          </a:prstGeom>
          <a:solidFill>
            <a:srgbClr val="0B2E4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60654" y="15754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编号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17904" y="15754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功能需求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375404" y="15754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系统响应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533400" y="18478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41985" y="1993106"/>
            <a:ext cx="274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R01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99235" y="19931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维护课程材料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57116" y="2001202"/>
            <a:ext cx="39614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支持 pptx、docx、pdf、md 上传，保存解析文本、类型与章节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533400" y="22669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1985" y="2412206"/>
            <a:ext cx="274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R02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99235" y="2412206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形成知识树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357116" y="2420302"/>
            <a:ext cx="35444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按章、节、知识点保存定义、关键术语、重点与解题步骤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533400" y="26860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41985" y="2831306"/>
            <a:ext cx="274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R03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99235" y="28313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维护题库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357116" y="2839402"/>
            <a:ext cx="39239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题目新增、编辑、删除、筛选、分页与 JSON、Excel 批量导入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533400" y="31051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1985" y="3250406"/>
            <a:ext cx="274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R04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99235" y="32504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提出考查范围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357116" y="3258502"/>
            <a:ext cx="35444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依据出卷需求筛选知识节点，形成可编辑的待确认范围树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533400" y="35242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41985" y="3669506"/>
            <a:ext cx="274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R05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499235" y="36695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确认考查范围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357116" y="3677602"/>
            <a:ext cx="38271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教师勾选、调整与补充节点，确认后范围锁定并作为组卷依据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533400" y="39433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41985" y="4088606"/>
            <a:ext cx="274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R06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99235" y="40886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安全组卷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357116" y="4096702"/>
            <a:ext cx="39684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仅使用已确认范围检索题库，缺口生成待审核草稿而非正式题目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533400" y="43624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41985" y="4507706"/>
            <a:ext cx="274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R07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499235" y="45077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审核题目草稿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4357116" y="4515802"/>
            <a:ext cx="39684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草稿可编辑、接受或拒绝，接受后写入正式题库并参与后续组卷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Rectangle 38"/>
          <p:cNvSpPr/>
          <p:nvPr/>
        </p:nvSpPr>
        <p:spPr>
          <a:xfrm>
            <a:off x="533400" y="47815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41985" y="4926806"/>
            <a:ext cx="274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R08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499235" y="4926806"/>
            <a:ext cx="10668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试卷预览与导出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4357116" y="4934902"/>
            <a:ext cx="39199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支持题目排序、分值调整、总分校验与 DOCX、PDF、TXT 导出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Rectangle 42"/>
          <p:cNvSpPr/>
          <p:nvPr/>
        </p:nvSpPr>
        <p:spPr>
          <a:xfrm>
            <a:off x="533400" y="52006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41985" y="5345906"/>
            <a:ext cx="274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R09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499235" y="53459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答题卡与答案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357116" y="5354002"/>
            <a:ext cx="32617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按题型生成答题卡，支持导出含答案解析的教师版本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533400" y="56197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41985" y="5765006"/>
            <a:ext cx="274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R10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499235" y="57650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教学助手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4357116" y="5773102"/>
            <a:ext cx="35444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以对话方式查题、解释知识点，并在组卷前发起审核交互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527685" y="6165056"/>
            <a:ext cx="90578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非功能约束：密钥只保存在本地配置文件；材料与试卷数据仅存于本机；组卷必须依据已确认范围；删除材料需同步清理关联知识节点。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" name="Line 51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587201" y="6532245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4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系统总体架构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30269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教师端、业务服务与智能数据能力的三层协同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03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447800"/>
            <a:ext cx="3505200" cy="3543300"/>
          </a:xfrm>
          <a:prstGeom prst="roundRect">
            <a:avLst>
              <a:gd name="adj" fmla="val 3261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447800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12456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0956" y="1805940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教师端</a:t>
            </a:r>
            <a:endParaRPr lang="zh-CN" sz="18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llipse 9"/>
          <p:cNvSpPr/>
          <p:nvPr/>
        </p:nvSpPr>
        <p:spPr>
          <a:xfrm>
            <a:off x="819150" y="2409825"/>
            <a:ext cx="76200" cy="76200"/>
          </a:xfrm>
          <a:prstGeom prst="ellipse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22604" y="23660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材料与知识树页面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llipse 11"/>
          <p:cNvSpPr/>
          <p:nvPr/>
        </p:nvSpPr>
        <p:spPr>
          <a:xfrm>
            <a:off x="819150" y="2828925"/>
            <a:ext cx="76200" cy="76200"/>
          </a:xfrm>
          <a:prstGeom prst="ellipse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22604" y="27851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题库与组卷流程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llipse 13"/>
          <p:cNvSpPr/>
          <p:nvPr/>
        </p:nvSpPr>
        <p:spPr>
          <a:xfrm>
            <a:off x="819150" y="3248025"/>
            <a:ext cx="76200" cy="76200"/>
          </a:xfrm>
          <a:prstGeom prst="ellipse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22604" y="32042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试卷预览与草稿审核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Ellipse 15"/>
          <p:cNvSpPr/>
          <p:nvPr/>
        </p:nvSpPr>
        <p:spPr>
          <a:xfrm>
            <a:off x="819150" y="3667125"/>
            <a:ext cx="76200" cy="76200"/>
          </a:xfrm>
          <a:prstGeom prst="ellipse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22604" y="3623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教学助手对话入口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4343400" y="1447800"/>
            <a:ext cx="3505200" cy="3543300"/>
          </a:xfrm>
          <a:prstGeom prst="roundRect">
            <a:avLst>
              <a:gd name="adj" fmla="val 3261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43400" y="1447800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600956" y="18059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后端服务</a:t>
            </a:r>
            <a:endParaRPr lang="zh-CN" sz="18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llipse 20"/>
          <p:cNvSpPr/>
          <p:nvPr/>
        </p:nvSpPr>
        <p:spPr>
          <a:xfrm>
            <a:off x="4629150" y="2409825"/>
            <a:ext cx="76200" cy="76200"/>
          </a:xfrm>
          <a:prstGeom prst="ellipse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832604" y="2366010"/>
            <a:ext cx="19152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REST 路由与 Schema 校验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llipse 22"/>
          <p:cNvSpPr/>
          <p:nvPr/>
        </p:nvSpPr>
        <p:spPr>
          <a:xfrm>
            <a:off x="4629150" y="2828925"/>
            <a:ext cx="76200" cy="76200"/>
          </a:xfrm>
          <a:prstGeom prst="ellipse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832604" y="27851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范围构建与试卷装配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llipse 24"/>
          <p:cNvSpPr/>
          <p:nvPr/>
        </p:nvSpPr>
        <p:spPr>
          <a:xfrm>
            <a:off x="4629150" y="3248025"/>
            <a:ext cx="76200" cy="76200"/>
          </a:xfrm>
          <a:prstGeom prst="ellipse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832604" y="32042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草稿审核状态机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Ellipse 26"/>
          <p:cNvSpPr/>
          <p:nvPr/>
        </p:nvSpPr>
        <p:spPr>
          <a:xfrm>
            <a:off x="4629150" y="3667125"/>
            <a:ext cx="76200" cy="76200"/>
          </a:xfrm>
          <a:prstGeom prst="ellipse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832604" y="36233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文档导出与材料解析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8153400" y="1447800"/>
            <a:ext cx="3505200" cy="3543300"/>
          </a:xfrm>
          <a:prstGeom prst="roundRect">
            <a:avLst>
              <a:gd name="adj" fmla="val 3261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153400" y="1447800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C2761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410956" y="1805940"/>
            <a:ext cx="12298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智能与数据</a:t>
            </a:r>
            <a:endParaRPr lang="zh-CN" sz="18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Ellipse 31"/>
          <p:cNvSpPr/>
          <p:nvPr/>
        </p:nvSpPr>
        <p:spPr>
          <a:xfrm>
            <a:off x="8439150" y="240982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642604" y="2366010"/>
            <a:ext cx="15171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LangGraph 对话编排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Ellipse 33"/>
          <p:cNvSpPr/>
          <p:nvPr/>
        </p:nvSpPr>
        <p:spPr>
          <a:xfrm>
            <a:off x="8439150" y="282892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642604" y="2785110"/>
            <a:ext cx="14283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DeepSeek 语言能力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" name="Ellipse 35"/>
          <p:cNvSpPr/>
          <p:nvPr/>
        </p:nvSpPr>
        <p:spPr>
          <a:xfrm>
            <a:off x="8439150" y="324802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642604" y="32042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本地中文向量检索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7" name="Ellipse 37"/>
          <p:cNvSpPr/>
          <p:nvPr/>
        </p:nvSpPr>
        <p:spPr>
          <a:xfrm>
            <a:off x="8439150" y="366712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642604" y="3623310"/>
            <a:ext cx="15718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SQLite 与 ChromaDB</a:t>
            </a:r>
            <a:endParaRPr lang="zh-CN" sz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968115" y="302990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请求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778115" y="302990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检索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Line 41"/>
          <p:cNvSpPr/>
          <p:nvPr/>
        </p:nvSpPr>
        <p:spPr>
          <a:xfrm>
            <a:off x="4038600" y="3219450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>
            <a:solidFill>
              <a:srgbClr val="12456B"/>
            </a:solidFill>
          </a:ln>
        </p:spPr>
      </p:sp>
      <p:sp>
        <p:nvSpPr>
          <p:cNvPr id="42" name="Polygon 42"/>
          <p:cNvSpPr/>
          <p:nvPr/>
        </p:nvSpPr>
        <p:spPr>
          <a:xfrm>
            <a:off x="4267200" y="318135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2456B"/>
          </a:solidFill>
          <a:ln>
            <a:noFill/>
          </a:ln>
        </p:spPr>
      </p:sp>
      <p:sp>
        <p:nvSpPr>
          <p:cNvPr id="43" name="Line 43"/>
          <p:cNvSpPr/>
          <p:nvPr/>
        </p:nvSpPr>
        <p:spPr>
          <a:xfrm>
            <a:off x="7848600" y="3219450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>
            <a:solidFill>
              <a:srgbClr val="12456B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8077200" y="318135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2456B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533400" y="5295900"/>
            <a:ext cx="11125200" cy="876300"/>
          </a:xfrm>
          <a:prstGeom prst="roundRect">
            <a:avLst>
              <a:gd name="adj" fmla="val 13043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533400" y="5295900"/>
            <a:ext cx="76200" cy="876300"/>
          </a:xfrm>
          <a:prstGeom prst="roundRect">
            <a:avLst>
              <a:gd name="adj" fmla="val 50000"/>
            </a:avLst>
          </a:prstGeom>
          <a:solidFill>
            <a:srgbClr val="12456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31723" y="5539264"/>
            <a:ext cx="91455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前端通过统一接口层访问后端，业务规则集中在服务层；智能能力只输出建议与候选内容，入库与组卷动作由教师确认。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8" name="Line 48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1587201" y="6532245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5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293217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技术路线与开发环境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选型依据与工程约束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04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428750"/>
            <a:ext cx="11125200" cy="419100"/>
          </a:xfrm>
          <a:prstGeom prst="roundRect">
            <a:avLst>
              <a:gd name="adj" fmla="val 13636"/>
            </a:avLst>
          </a:prstGeom>
          <a:solidFill>
            <a:srgbClr val="0B2E4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60654" y="15754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类别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89404" y="15754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采用方案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708904" y="15754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选择理由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533400" y="18478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41985" y="19931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前端框架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71116" y="2001202"/>
            <a:ext cx="19631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React 18 + TypeScript + Vite</a:t>
            </a:r>
            <a:endParaRPr lang="en-US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690616" y="2001202"/>
            <a:ext cx="4109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组件化承载树控件、步骤流程与数据表格，类型约束减少联调错误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533400" y="22669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1985" y="2412206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界面与状态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70735" y="2412206"/>
            <a:ext cx="15351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Ant Design + Zustand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690235" y="2412206"/>
            <a:ext cx="33284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统一交互语言，跨页面共享材料、范围与试卷状态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533400" y="26860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41985" y="28313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后端服务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071116" y="2839402"/>
            <a:ext cx="22873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Python 3.11 + FastAPI + Pydantic</a:t>
            </a:r>
            <a:endParaRPr lang="en-US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690616" y="2839402"/>
            <a:ext cx="38271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异步接口适配文件解析与模型调用，请求校验直接由模型声明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533400" y="31051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1985" y="32504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数据访问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070735" y="3250406"/>
            <a:ext cx="16047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SQLAlchemy 异步 ORM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690235" y="3250406"/>
            <a:ext cx="30269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模型即表结构来源，关系维护与迁移成本更低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533400" y="35242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41985" y="36695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智能编排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070735" y="3669506"/>
            <a:ext cx="12652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LangGraph 状态图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690235" y="3669506"/>
            <a:ext cx="31776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把意图识别、工具调用与人工审核中断显式建模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533400" y="39433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41985" y="4088606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检索与模型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071116" y="4096702"/>
            <a:ext cx="24843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ChromaDB + 中文向量模型 + DeepSeek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690616" y="4096702"/>
            <a:ext cx="32617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语义召回题目，关键词匹配作为不可用时的回退路径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533400" y="43624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41985" y="45077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数据存储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070735" y="4507706"/>
            <a:ext cx="14664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SQLite 单文件数据库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690616" y="4515802"/>
            <a:ext cx="32617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本地教学工具部署简单，后续可迁移到服务型数据库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Rectangle 38"/>
          <p:cNvSpPr/>
          <p:nvPr/>
        </p:nvSpPr>
        <p:spPr>
          <a:xfrm>
            <a:off x="533400" y="47815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41985" y="49268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文档导出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070735" y="4926806"/>
            <a:ext cx="17796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python-docx 与 PDF 生成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690235" y="4926806"/>
            <a:ext cx="33284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后端统一生成试卷、答案与答题卡，保证格式一致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27685" y="5326856"/>
            <a:ext cx="57638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开发环境：Windows 11、Python 3.11 虚拟环境、Node.js 与 npm、Microsoft Edge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27685" y="5574506"/>
            <a:ext cx="378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浏览器；前后端分离启动，前端通过代理访问后端接口。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4" name="Line 44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1587201" y="6532245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6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数据库设计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28761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围绕材料、知识、题目与试卷组织业务实体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05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428750"/>
            <a:ext cx="11125200" cy="419100"/>
          </a:xfrm>
          <a:prstGeom prst="roundRect">
            <a:avLst>
              <a:gd name="adj" fmla="val 13636"/>
            </a:avLst>
          </a:prstGeom>
          <a:solidFill>
            <a:srgbClr val="0B2E4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60654" y="15754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数据表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756154" y="15754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关键字段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56654" y="15754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用途与关系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533400" y="18478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41985" y="1993106"/>
            <a:ext cx="7125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materials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737866" y="2001202"/>
            <a:ext cx="29931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filename、file_type、content_md、chapter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737985" y="1993106"/>
            <a:ext cx="25745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课程文件与解析文本，是知识树的来源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533400" y="22669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1985" y="2412206"/>
            <a:ext cx="12477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knowledge_nodes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737866" y="242030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material_id、parent_id、node_type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37985" y="2412206"/>
            <a:ext cx="25745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章、节、知识点层级及重点与解题步骤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533400" y="26860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41985" y="2831306"/>
            <a:ext cx="7200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questions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737866" y="2839402"/>
            <a:ext cx="24560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type、difficulty、content、answer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737985" y="2831306"/>
            <a:ext cx="28761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正式题库题目，含选项、答案与知识点关联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533400" y="31051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1985" y="3250406"/>
            <a:ext cx="9537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exam_scopes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737485" y="3250406"/>
            <a:ext cx="15644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status、demand_json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737985" y="3250406"/>
            <a:ext cx="25745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待确认或已确认的考查范围与出卷需求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533400" y="35242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41985" y="3669506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exam_scope_nodes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737866" y="3677602"/>
            <a:ext cx="17563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source_node_id、included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737985" y="366950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范围节点快照，保留当时的范围依据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533400" y="39433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41985" y="4088606"/>
            <a:ext cx="45621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exams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737866" y="4096702"/>
            <a:ext cx="20178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title、total_score、duration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737985" y="4088606"/>
            <a:ext cx="19714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试卷标题、总分、时长与状态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533400" y="43624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41985" y="4507706"/>
            <a:ext cx="11648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exam_questions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737866" y="4515802"/>
            <a:ext cx="2244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question_id、score、sort_order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737985" y="450770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试卷与题目的关联，保存顺序与分值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Rectangle 38"/>
          <p:cNvSpPr/>
          <p:nvPr/>
        </p:nvSpPr>
        <p:spPr>
          <a:xfrm>
            <a:off x="533400" y="47815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41985" y="4926806"/>
            <a:ext cx="12176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question_drafts</a:t>
            </a:r>
            <a:endParaRPr lang="en-US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737485" y="4926806"/>
            <a:ext cx="19187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status、content、answer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737985" y="492680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待审核候选题，接受后转为正式题目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27685" y="5326856"/>
            <a:ext cx="89071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设计要点：范围与试卷保存需求快照，保证结果可追溯；草稿使用状态字段区分待审核、已接受与已拒绝，未接受的草稿不参与组卷。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3" name="Line 43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1587201" y="6532245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7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业务主流程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从课程材料到可导出试卷的六步闭环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06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600200"/>
            <a:ext cx="1676400" cy="1600200"/>
          </a:xfrm>
          <a:prstGeom prst="roundRect">
            <a:avLst>
              <a:gd name="adj" fmla="val 5952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600200"/>
            <a:ext cx="1676400" cy="57150"/>
          </a:xfrm>
          <a:prstGeom prst="roundRect">
            <a:avLst>
              <a:gd name="adj" fmla="val 50000"/>
            </a:avLst>
          </a:prstGeom>
          <a:solidFill>
            <a:srgbClr val="12456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31520" y="190976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01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35711" y="239887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上传材料</a:t>
            </a:r>
            <a:endParaRPr lang="zh-CN" sz="14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37616" y="27441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保存解析文本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2343150" y="1600200"/>
            <a:ext cx="1676400" cy="1600200"/>
          </a:xfrm>
          <a:prstGeom prst="roundRect">
            <a:avLst>
              <a:gd name="adj" fmla="val 5952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2343150" y="1600200"/>
            <a:ext cx="1676400" cy="57150"/>
          </a:xfrm>
          <a:prstGeom prst="roundRect">
            <a:avLst>
              <a:gd name="adj" fmla="val 50000"/>
            </a:avLst>
          </a:prstGeom>
          <a:solidFill>
            <a:srgbClr val="12456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541270" y="190976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02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545461" y="2398871"/>
            <a:ext cx="970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提取知识树</a:t>
            </a:r>
            <a:endParaRPr lang="zh-CN" sz="14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547366" y="27441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核对节点内容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4152900" y="1600200"/>
            <a:ext cx="1676400" cy="1600200"/>
          </a:xfrm>
          <a:prstGeom prst="roundRect">
            <a:avLst>
              <a:gd name="adj" fmla="val 5952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152900" y="1600200"/>
            <a:ext cx="1676400" cy="57150"/>
          </a:xfrm>
          <a:prstGeom prst="roundRect">
            <a:avLst>
              <a:gd name="adj" fmla="val 50000"/>
            </a:avLst>
          </a:prstGeom>
          <a:solidFill>
            <a:srgbClr val="12456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351020" y="190976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03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355211" y="239887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填写需求</a:t>
            </a:r>
            <a:endParaRPr lang="zh-CN" sz="14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357116" y="27441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题型与难度分布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5962650" y="1600200"/>
            <a:ext cx="1676400" cy="1600200"/>
          </a:xfrm>
          <a:prstGeom prst="roundRect">
            <a:avLst>
              <a:gd name="adj" fmla="val 5952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5962650" y="1600200"/>
            <a:ext cx="1676400" cy="57150"/>
          </a:xfrm>
          <a:prstGeom prst="roundRect">
            <a:avLst>
              <a:gd name="adj" fmla="val 50000"/>
            </a:avLst>
          </a:prstGeom>
          <a:solidFill>
            <a:srgbClr val="12456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160770" y="190976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04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164961" y="239887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确认范围</a:t>
            </a:r>
            <a:endParaRPr lang="zh-CN" sz="14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166866" y="274415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勾选并锁定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7772400" y="1600200"/>
            <a:ext cx="1676400" cy="1600200"/>
          </a:xfrm>
          <a:prstGeom prst="roundRect">
            <a:avLst>
              <a:gd name="adj" fmla="val 5952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7772400" y="1600200"/>
            <a:ext cx="1676400" cy="57150"/>
          </a:xfrm>
          <a:prstGeom prst="roundRect">
            <a:avLst>
              <a:gd name="adj" fmla="val 50000"/>
            </a:avLst>
          </a:prstGeom>
          <a:solidFill>
            <a:srgbClr val="12456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70520" y="190976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05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974711" y="2398871"/>
            <a:ext cx="970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组卷与审核</a:t>
            </a:r>
            <a:endParaRPr lang="zh-CN" sz="14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976616" y="27441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缺口生成草稿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9582150" y="1600200"/>
            <a:ext cx="1676400" cy="1600200"/>
          </a:xfrm>
          <a:prstGeom prst="roundRect">
            <a:avLst>
              <a:gd name="adj" fmla="val 5952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582150" y="1600200"/>
            <a:ext cx="1676400" cy="57150"/>
          </a:xfrm>
          <a:prstGeom prst="roundRect">
            <a:avLst>
              <a:gd name="adj" fmla="val 50000"/>
            </a:avLst>
          </a:prstGeom>
          <a:solidFill>
            <a:srgbClr val="12456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780270" y="190976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06</a:t>
            </a:r>
            <a:endParaRPr lang="zh-CN" sz="22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784461" y="2398871"/>
            <a:ext cx="970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预览与导出</a:t>
            </a:r>
            <a:endParaRPr lang="zh-CN" sz="14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786366" y="27441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试卷与答题卡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533400" y="3543300"/>
            <a:ext cx="11125200" cy="2457450"/>
          </a:xfrm>
          <a:prstGeom prst="roundRect">
            <a:avLst>
              <a:gd name="adj" fmla="val 4651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533400" y="3543300"/>
            <a:ext cx="76200" cy="2457450"/>
          </a:xfrm>
          <a:prstGeom prst="roundRect">
            <a:avLst>
              <a:gd name="adj" fmla="val 50000"/>
            </a:avLst>
          </a:prstGeom>
          <a:solidFill>
            <a:srgbClr val="C2761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31723" y="3767614"/>
            <a:ext cx="1017945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关键约束一：考查范围必须先由教师确认，未确认范围时组卷请求会被拒绝，页面同时给出提示，避免在范围不清的情况下生成试卷。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31723" y="4415314"/>
            <a:ext cx="1035177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关键约束二：题库中题目数量或题型不足时，系统只生成待审核草稿并明确提示缺口；教师接受草稿后题目才写入正式题库，被拒绝的草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831723" y="4701064"/>
            <a:ext cx="17360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稿不会参与任何组卷。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831723" y="5063014"/>
            <a:ext cx="100071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关键约束三：试卷保存需求与范围快照，题目与分值为独立关联记录，教师可在预览页面调整顺序与分值，系统据此重新校验总分。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Line 42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587201" y="6532245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8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教师工作台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材料、题库与待审核草稿的统一入口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07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257300"/>
            <a:ext cx="7124700" cy="4724400"/>
          </a:xfrm>
          <a:prstGeom prst="roundRect">
            <a:avLst>
              <a:gd name="adj" fmla="val 2419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09700"/>
            <a:ext cx="6819900" cy="4419600"/>
          </a:xfrm>
          <a:prstGeom prst="roundRect">
            <a:avLst>
              <a:gd name="adj" fmla="val 2155"/>
            </a:avLst>
          </a:prstGeom>
          <a:solidFill>
            <a:srgbClr val="E9EDF2"/>
          </a:solidFill>
          <a:ln w="9525">
            <a:solidFill>
              <a:srgbClr val="D3DAE3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85800" y="1409700"/>
            <a:ext cx="6819900" cy="323850"/>
          </a:xfrm>
          <a:prstGeom prst="roundRect">
            <a:avLst>
              <a:gd name="adj" fmla="val 29412"/>
            </a:avLst>
          </a:prstGeom>
          <a:solidFill>
            <a:srgbClr val="DFE5E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47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228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85800" y="1695450"/>
            <a:ext cx="6819900" cy="57150"/>
          </a:xfrm>
          <a:prstGeom prst="rect">
            <a:avLst/>
          </a:prstGeom>
          <a:solidFill>
            <a:srgbClr val="DFE5EC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1"/>
          <a:srcRect l="262" r="263"/>
          <a:stretch>
            <a:fillRect/>
          </a:stretch>
        </p:blipFill>
        <p:spPr>
          <a:xfrm>
            <a:off x="762000" y="1809750"/>
            <a:ext cx="6667500" cy="394335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7848600" y="1257300"/>
            <a:ext cx="3810000" cy="4724400"/>
          </a:xfrm>
          <a:prstGeom prst="roundRect">
            <a:avLst>
              <a:gd name="adj" fmla="val 30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077200" y="1524000"/>
            <a:ext cx="38100" cy="247650"/>
          </a:xfrm>
          <a:prstGeom prst="rect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21980" y="15525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功能要点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8086725" y="2019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61223" y="19769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首页汇总课程材料数、题库题目数与待审核草稿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261223" y="2224564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数三项关键指标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llipse 20"/>
          <p:cNvSpPr/>
          <p:nvPr/>
        </p:nvSpPr>
        <p:spPr>
          <a:xfrm>
            <a:off x="8086725" y="2647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61223" y="260556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提供进入课程材料库、题库与草稿审核页的快捷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261223" y="2853214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入口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Ellipse 23"/>
          <p:cNvSpPr/>
          <p:nvPr/>
        </p:nvSpPr>
        <p:spPr>
          <a:xfrm>
            <a:off x="8086725" y="32766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61223" y="32342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教学助手以侧边栏形式常驻，可随时提问或发起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261223" y="34818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组卷对话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Ellipse 26"/>
          <p:cNvSpPr/>
          <p:nvPr/>
        </p:nvSpPr>
        <p:spPr>
          <a:xfrm>
            <a:off x="8086725" y="39052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261223" y="386286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当统计数字为零时给出空状态提示，指引教师先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261223" y="411051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上传材料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8077200" y="5257800"/>
            <a:ext cx="3352800" cy="9525"/>
          </a:xfrm>
          <a:custGeom>
            <a:avLst/>
            <a:gdLst/>
            <a:ahLst/>
            <a:cxnLst/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71485" y="5384006"/>
            <a:ext cx="378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工作台把教师最关心的数据准备状态集中在一个页面，减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071485" y="561260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少在多个功能之间来回切换的成本。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587201" y="6532245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9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课程材料管理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上传、解析与维护课程讲义与课件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08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257300"/>
            <a:ext cx="7124700" cy="4724400"/>
          </a:xfrm>
          <a:prstGeom prst="roundRect">
            <a:avLst>
              <a:gd name="adj" fmla="val 2419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09700"/>
            <a:ext cx="6819900" cy="4419600"/>
          </a:xfrm>
          <a:prstGeom prst="roundRect">
            <a:avLst>
              <a:gd name="adj" fmla="val 2155"/>
            </a:avLst>
          </a:prstGeom>
          <a:solidFill>
            <a:srgbClr val="E9EDF2"/>
          </a:solidFill>
          <a:ln w="9525">
            <a:solidFill>
              <a:srgbClr val="D3DAE3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85800" y="1409700"/>
            <a:ext cx="6819900" cy="323850"/>
          </a:xfrm>
          <a:prstGeom prst="roundRect">
            <a:avLst>
              <a:gd name="adj" fmla="val 29412"/>
            </a:avLst>
          </a:prstGeom>
          <a:solidFill>
            <a:srgbClr val="DFE5E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47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228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85800" y="1695450"/>
            <a:ext cx="6819900" cy="57150"/>
          </a:xfrm>
          <a:prstGeom prst="rect">
            <a:avLst/>
          </a:prstGeom>
          <a:solidFill>
            <a:srgbClr val="DFE5EC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1"/>
          <a:srcRect t="10818" b="10819"/>
          <a:stretch>
            <a:fillRect/>
          </a:stretch>
        </p:blipFill>
        <p:spPr>
          <a:xfrm>
            <a:off x="762000" y="1809750"/>
            <a:ext cx="6667500" cy="394335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7848600" y="1257300"/>
            <a:ext cx="3810000" cy="4724400"/>
          </a:xfrm>
          <a:prstGeom prst="roundRect">
            <a:avLst>
              <a:gd name="adj" fmla="val 30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077200" y="1524000"/>
            <a:ext cx="38100" cy="247650"/>
          </a:xfrm>
          <a:prstGeom prst="rect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21980" y="15525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功能要点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8086725" y="2019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61223" y="1976914"/>
            <a:ext cx="24167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支持 pptx、docx、pdf、md 四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261223" y="2224564"/>
            <a:ext cx="190840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种格式，按材料类型筛选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llipse 20"/>
          <p:cNvSpPr/>
          <p:nvPr/>
        </p:nvSpPr>
        <p:spPr>
          <a:xfrm>
            <a:off x="8086725" y="2647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61223" y="260556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上传后保存文件名、类型、页数、章节与解析文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261223" y="2853214"/>
            <a:ext cx="1852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本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Ellipse 23"/>
          <p:cNvSpPr/>
          <p:nvPr/>
        </p:nvSpPr>
        <p:spPr>
          <a:xfrm>
            <a:off x="8086725" y="32766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61223" y="323421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材料解析文本是知识提取与范围建议的依据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Ellipse 25"/>
          <p:cNvSpPr/>
          <p:nvPr/>
        </p:nvSpPr>
        <p:spPr>
          <a:xfrm>
            <a:off x="8086725" y="36576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261223" y="36152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删除材料时同步处理关联知识节点，避免孤立数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261223" y="3862864"/>
            <a:ext cx="1852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据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Line 28"/>
          <p:cNvSpPr/>
          <p:nvPr/>
        </p:nvSpPr>
        <p:spPr>
          <a:xfrm>
            <a:off x="8077200" y="5257800"/>
            <a:ext cx="3352800" cy="9525"/>
          </a:xfrm>
          <a:custGeom>
            <a:avLst/>
            <a:gdLst/>
            <a:ahLst/>
            <a:cxnLst/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071485" y="5384006"/>
            <a:ext cx="378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材料视图把课程文件与后续知识结构关联起来，为知识树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071485" y="5612606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提取提供统一入口。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Line 31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5205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10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260908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知识树提取与维护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按章、节、知识点组织课程内容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09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257300"/>
            <a:ext cx="7124700" cy="4724400"/>
          </a:xfrm>
          <a:prstGeom prst="roundRect">
            <a:avLst>
              <a:gd name="adj" fmla="val 2419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09700"/>
            <a:ext cx="6819900" cy="4419600"/>
          </a:xfrm>
          <a:prstGeom prst="roundRect">
            <a:avLst>
              <a:gd name="adj" fmla="val 2155"/>
            </a:avLst>
          </a:prstGeom>
          <a:solidFill>
            <a:srgbClr val="E9EDF2"/>
          </a:solidFill>
          <a:ln w="9525">
            <a:solidFill>
              <a:srgbClr val="D3DAE3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85800" y="1409700"/>
            <a:ext cx="6819900" cy="323850"/>
          </a:xfrm>
          <a:prstGeom prst="roundRect">
            <a:avLst>
              <a:gd name="adj" fmla="val 29412"/>
            </a:avLst>
          </a:prstGeom>
          <a:solidFill>
            <a:srgbClr val="DFE5E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47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228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85800" y="1695450"/>
            <a:ext cx="6819900" cy="57150"/>
          </a:xfrm>
          <a:prstGeom prst="rect">
            <a:avLst/>
          </a:prstGeom>
          <a:solidFill>
            <a:srgbClr val="DFE5EC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1"/>
          <a:srcRect t="13334" b="13335"/>
          <a:stretch>
            <a:fillRect/>
          </a:stretch>
        </p:blipFill>
        <p:spPr>
          <a:xfrm>
            <a:off x="762000" y="1809750"/>
            <a:ext cx="6667500" cy="394335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7848600" y="1257300"/>
            <a:ext cx="3810000" cy="4724400"/>
          </a:xfrm>
          <a:prstGeom prst="roundRect">
            <a:avLst>
              <a:gd name="adj" fmla="val 30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077200" y="1524000"/>
            <a:ext cx="38100" cy="247650"/>
          </a:xfrm>
          <a:prstGeom prst="rect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21980" y="15525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功能要点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8086725" y="2019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61223" y="197691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左侧以可折叠树呈现章、节与知识点层级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llipse 19"/>
          <p:cNvSpPr/>
          <p:nvPr/>
        </p:nvSpPr>
        <p:spPr>
          <a:xfrm>
            <a:off x="8086725" y="2400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61223" y="23579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右侧展示并编辑定义、关键术语、教学重点与解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261223" y="2605564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题步骤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llipse 22"/>
          <p:cNvSpPr/>
          <p:nvPr/>
        </p:nvSpPr>
        <p:spPr>
          <a:xfrm>
            <a:off x="8086725" y="3028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61223" y="2986564"/>
            <a:ext cx="34592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支持重新提取，模型结果可在人工核对后修正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llipse 24"/>
          <p:cNvSpPr/>
          <p:nvPr/>
        </p:nvSpPr>
        <p:spPr>
          <a:xfrm>
            <a:off x="8086725" y="3409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261223" y="336756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节点排序字段保证知识树顺序与教材讲授顺序一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261223" y="3615214"/>
            <a:ext cx="1852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致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8077200" y="5257800"/>
            <a:ext cx="3352800" cy="9525"/>
          </a:xfrm>
          <a:custGeom>
            <a:avLst/>
            <a:gdLst/>
            <a:ahLst/>
            <a:cxnLst/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071485" y="5384006"/>
            <a:ext cx="378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知识树把课程材料转化为可计算、可审核的结构，是考查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071485" y="5612606"/>
            <a:ext cx="1820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范围与知识点关联的基础。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Line 30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5205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11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出卷需求配置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25745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按教学进度、题型与难度生成范围建议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10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257300"/>
            <a:ext cx="7124700" cy="4724400"/>
          </a:xfrm>
          <a:prstGeom prst="roundRect">
            <a:avLst>
              <a:gd name="adj" fmla="val 2419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09700"/>
            <a:ext cx="6819900" cy="4419600"/>
          </a:xfrm>
          <a:prstGeom prst="roundRect">
            <a:avLst>
              <a:gd name="adj" fmla="val 2155"/>
            </a:avLst>
          </a:prstGeom>
          <a:solidFill>
            <a:srgbClr val="E9EDF2"/>
          </a:solidFill>
          <a:ln w="9525">
            <a:solidFill>
              <a:srgbClr val="D3DAE3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85800" y="1409700"/>
            <a:ext cx="6819900" cy="323850"/>
          </a:xfrm>
          <a:prstGeom prst="roundRect">
            <a:avLst>
              <a:gd name="adj" fmla="val 29412"/>
            </a:avLst>
          </a:prstGeom>
          <a:solidFill>
            <a:srgbClr val="DFE5E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47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228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85800" y="1695450"/>
            <a:ext cx="6819900" cy="57150"/>
          </a:xfrm>
          <a:prstGeom prst="rect">
            <a:avLst/>
          </a:prstGeom>
          <a:solidFill>
            <a:srgbClr val="DFE5EC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1"/>
          <a:srcRect t="10722" b="10721"/>
          <a:stretch>
            <a:fillRect/>
          </a:stretch>
        </p:blipFill>
        <p:spPr>
          <a:xfrm>
            <a:off x="762000" y="1809750"/>
            <a:ext cx="6667500" cy="394335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7848600" y="1257300"/>
            <a:ext cx="3810000" cy="4724400"/>
          </a:xfrm>
          <a:prstGeom prst="roundRect">
            <a:avLst>
              <a:gd name="adj" fmla="val 30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077200" y="1524000"/>
            <a:ext cx="38100" cy="247650"/>
          </a:xfrm>
          <a:prstGeom prst="rect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21980" y="15525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功能要点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8086725" y="2019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61223" y="197691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填写试卷名称、考试时长与总分等基本信息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llipse 19"/>
          <p:cNvSpPr/>
          <p:nvPr/>
        </p:nvSpPr>
        <p:spPr>
          <a:xfrm>
            <a:off x="8086725" y="2400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61223" y="235791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说明教学进度、考试范围与重点考查方向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llipse 21"/>
          <p:cNvSpPr/>
          <p:nvPr/>
        </p:nvSpPr>
        <p:spPr>
          <a:xfrm>
            <a:off x="8086725" y="2781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61223" y="2738914"/>
            <a:ext cx="259765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设置各题型数量与难度分布百分比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Ellipse 23"/>
          <p:cNvSpPr/>
          <p:nvPr/>
        </p:nvSpPr>
        <p:spPr>
          <a:xfrm>
            <a:off x="8086725" y="3162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61223" y="31199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可选择参与本次组卷的课程材料，未选择时使用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261223" y="3367564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全部知识树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Line 26"/>
          <p:cNvSpPr/>
          <p:nvPr/>
        </p:nvSpPr>
        <p:spPr>
          <a:xfrm>
            <a:off x="8077200" y="5257800"/>
            <a:ext cx="3352800" cy="9525"/>
          </a:xfrm>
          <a:custGeom>
            <a:avLst/>
            <a:gdLst/>
            <a:ahLst/>
            <a:cxnLst/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071485" y="5384006"/>
            <a:ext cx="378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需求表单是范围构建的输入，写得越具体，系统提出的考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071485" y="5612606"/>
            <a:ext cx="16699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查范围越接近教师预期。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5205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12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考查范围审核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19714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先确认范围，再依据范围组卷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11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257300"/>
            <a:ext cx="7124700" cy="4724400"/>
          </a:xfrm>
          <a:prstGeom prst="roundRect">
            <a:avLst>
              <a:gd name="adj" fmla="val 2419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09700"/>
            <a:ext cx="6819900" cy="4419600"/>
          </a:xfrm>
          <a:prstGeom prst="roundRect">
            <a:avLst>
              <a:gd name="adj" fmla="val 2155"/>
            </a:avLst>
          </a:prstGeom>
          <a:solidFill>
            <a:srgbClr val="E9EDF2"/>
          </a:solidFill>
          <a:ln w="9525">
            <a:solidFill>
              <a:srgbClr val="D3DAE3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85800" y="1409700"/>
            <a:ext cx="6819900" cy="323850"/>
          </a:xfrm>
          <a:prstGeom prst="roundRect">
            <a:avLst>
              <a:gd name="adj" fmla="val 29412"/>
            </a:avLst>
          </a:prstGeom>
          <a:solidFill>
            <a:srgbClr val="DFE5E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47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228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85800" y="1695450"/>
            <a:ext cx="6819900" cy="57150"/>
          </a:xfrm>
          <a:prstGeom prst="rect">
            <a:avLst/>
          </a:prstGeom>
          <a:solidFill>
            <a:srgbClr val="DFE5EC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1"/>
          <a:srcRect t="4266" b="4265"/>
          <a:stretch>
            <a:fillRect/>
          </a:stretch>
        </p:blipFill>
        <p:spPr>
          <a:xfrm>
            <a:off x="762000" y="1809750"/>
            <a:ext cx="6667500" cy="394335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7848600" y="1257300"/>
            <a:ext cx="3810000" cy="4724400"/>
          </a:xfrm>
          <a:prstGeom prst="roundRect">
            <a:avLst>
              <a:gd name="adj" fmla="val 30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077200" y="1524000"/>
            <a:ext cx="38100" cy="247650"/>
          </a:xfrm>
          <a:prstGeom prst="rect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21980" y="15525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功能要点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8086725" y="2019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61223" y="19769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系统根据需求筛选知识点并保留章节祖先链，形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261223" y="2224564"/>
            <a:ext cx="10468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成完整范围树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llipse 20"/>
          <p:cNvSpPr/>
          <p:nvPr/>
        </p:nvSpPr>
        <p:spPr>
          <a:xfrm>
            <a:off x="8086725" y="2647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61223" y="260556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教师可勾选纳入范围、编辑节点内容、新增或删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261223" y="2853214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除节点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Ellipse 23"/>
          <p:cNvSpPr/>
          <p:nvPr/>
        </p:nvSpPr>
        <p:spPr>
          <a:xfrm>
            <a:off x="8086725" y="32766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61223" y="3234214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界面明确提示未确认考查范围不能组卷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Ellipse 25"/>
          <p:cNvSpPr/>
          <p:nvPr/>
        </p:nvSpPr>
        <p:spPr>
          <a:xfrm>
            <a:off x="8086725" y="36576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261223" y="36152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确认后范围状态锁定，并作为后续组卷的唯一依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261223" y="3862864"/>
            <a:ext cx="1852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据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Line 28"/>
          <p:cNvSpPr/>
          <p:nvPr/>
        </p:nvSpPr>
        <p:spPr>
          <a:xfrm>
            <a:off x="8077200" y="5257800"/>
            <a:ext cx="3352800" cy="9525"/>
          </a:xfrm>
          <a:custGeom>
            <a:avLst/>
            <a:gdLst/>
            <a:ahLst/>
            <a:cxnLst/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071485" y="5384006"/>
            <a:ext cx="378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范围审核把模型建议转换为教师的专业判断，是系统中最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071485" y="5612606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重要的质量控制环节。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Line 31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5205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13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293217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安全组卷与草稿机制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1820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题库不足时生成待审核草稿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12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257300"/>
            <a:ext cx="7124700" cy="4724400"/>
          </a:xfrm>
          <a:prstGeom prst="roundRect">
            <a:avLst>
              <a:gd name="adj" fmla="val 2419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09700"/>
            <a:ext cx="6819900" cy="4419600"/>
          </a:xfrm>
          <a:prstGeom prst="roundRect">
            <a:avLst>
              <a:gd name="adj" fmla="val 2155"/>
            </a:avLst>
          </a:prstGeom>
          <a:solidFill>
            <a:srgbClr val="E9EDF2"/>
          </a:solidFill>
          <a:ln w="9525">
            <a:solidFill>
              <a:srgbClr val="D3DAE3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85800" y="1409700"/>
            <a:ext cx="6819900" cy="323850"/>
          </a:xfrm>
          <a:prstGeom prst="roundRect">
            <a:avLst>
              <a:gd name="adj" fmla="val 29412"/>
            </a:avLst>
          </a:prstGeom>
          <a:solidFill>
            <a:srgbClr val="DFE5E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47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228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85800" y="1695450"/>
            <a:ext cx="6819900" cy="57150"/>
          </a:xfrm>
          <a:prstGeom prst="rect">
            <a:avLst/>
          </a:prstGeom>
          <a:solidFill>
            <a:srgbClr val="DFE5EC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1"/>
          <a:srcRect t="1450" b="1451"/>
          <a:stretch>
            <a:fillRect/>
          </a:stretch>
        </p:blipFill>
        <p:spPr>
          <a:xfrm>
            <a:off x="762000" y="1809750"/>
            <a:ext cx="6667500" cy="394335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7848600" y="1257300"/>
            <a:ext cx="3810000" cy="4724400"/>
          </a:xfrm>
          <a:prstGeom prst="roundRect">
            <a:avLst>
              <a:gd name="adj" fmla="val 30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077200" y="1524000"/>
            <a:ext cx="38100" cy="247650"/>
          </a:xfrm>
          <a:prstGeom prst="rect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21980" y="15525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功能要点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8086725" y="2019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61223" y="197691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仅使用已确认范围内的题目进行检索与装配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llipse 19"/>
          <p:cNvSpPr/>
          <p:nvPr/>
        </p:nvSpPr>
        <p:spPr>
          <a:xfrm>
            <a:off x="8086725" y="2400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61223" y="23579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按题型分布选择题目，排除重复题并归一化分值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llipse 21"/>
          <p:cNvSpPr/>
          <p:nvPr/>
        </p:nvSpPr>
        <p:spPr>
          <a:xfrm>
            <a:off x="8086725" y="2781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61223" y="27389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题库缺口写入待审核草稿并提示具体题型与数量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Ellipse 23"/>
          <p:cNvSpPr/>
          <p:nvPr/>
        </p:nvSpPr>
        <p:spPr>
          <a:xfrm>
            <a:off x="8086725" y="3162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61223" y="3119914"/>
            <a:ext cx="27699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教师接受草稿后题目才进入正式题库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Line 25"/>
          <p:cNvSpPr/>
          <p:nvPr/>
        </p:nvSpPr>
        <p:spPr>
          <a:xfrm>
            <a:off x="8077200" y="5257800"/>
            <a:ext cx="3352800" cy="9525"/>
          </a:xfrm>
          <a:custGeom>
            <a:avLst/>
            <a:gdLst/>
            <a:ahLst/>
            <a:cxnLst/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071485" y="5384006"/>
            <a:ext cx="378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组卷环节体现系统的基本立场：可以生成候选题，但不能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071485" y="5612606"/>
            <a:ext cx="16699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绕过教师直接修改题库。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Line 28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5205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14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试卷题目编辑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在预览页面调整题型、分值与顺序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13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257300"/>
            <a:ext cx="7124700" cy="4724400"/>
          </a:xfrm>
          <a:prstGeom prst="roundRect">
            <a:avLst>
              <a:gd name="adj" fmla="val 2419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09700"/>
            <a:ext cx="6819900" cy="4419600"/>
          </a:xfrm>
          <a:prstGeom prst="roundRect">
            <a:avLst>
              <a:gd name="adj" fmla="val 2155"/>
            </a:avLst>
          </a:prstGeom>
          <a:solidFill>
            <a:srgbClr val="E9EDF2"/>
          </a:solidFill>
          <a:ln w="9525">
            <a:solidFill>
              <a:srgbClr val="D3DAE3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85800" y="1409700"/>
            <a:ext cx="6819900" cy="323850"/>
          </a:xfrm>
          <a:prstGeom prst="roundRect">
            <a:avLst>
              <a:gd name="adj" fmla="val 29412"/>
            </a:avLst>
          </a:prstGeom>
          <a:solidFill>
            <a:srgbClr val="DFE5E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47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228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85800" y="1695450"/>
            <a:ext cx="6819900" cy="57150"/>
          </a:xfrm>
          <a:prstGeom prst="rect">
            <a:avLst/>
          </a:prstGeom>
          <a:solidFill>
            <a:srgbClr val="DFE5EC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1"/>
          <a:srcRect t="739" b="739"/>
          <a:stretch>
            <a:fillRect/>
          </a:stretch>
        </p:blipFill>
        <p:spPr>
          <a:xfrm>
            <a:off x="762000" y="1809750"/>
            <a:ext cx="6667500" cy="394335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7848600" y="1257300"/>
            <a:ext cx="3810000" cy="4724400"/>
          </a:xfrm>
          <a:prstGeom prst="roundRect">
            <a:avLst>
              <a:gd name="adj" fmla="val 30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077200" y="1524000"/>
            <a:ext cx="38100" cy="247650"/>
          </a:xfrm>
          <a:prstGeom prst="rect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21980" y="15525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功能要点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8086725" y="2019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61223" y="19769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逐题展示题干、选项、答案与解析，字段可直接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261223" y="2224564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编辑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llipse 20"/>
          <p:cNvSpPr/>
          <p:nvPr/>
        </p:nvSpPr>
        <p:spPr>
          <a:xfrm>
            <a:off x="8086725" y="2647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61223" y="2605564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支持题目上移下移，调整试卷内部顺序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llipse 22"/>
          <p:cNvSpPr/>
          <p:nvPr/>
        </p:nvSpPr>
        <p:spPr>
          <a:xfrm>
            <a:off x="8086725" y="3028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61223" y="29865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可修改题型与分值，系统据此重新校验总分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llipse 24"/>
          <p:cNvSpPr/>
          <p:nvPr/>
        </p:nvSpPr>
        <p:spPr>
          <a:xfrm>
            <a:off x="8086725" y="3409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261223" y="336756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每题标注题型与分值，便于核对题型分布是否满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261223" y="3615214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足要求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8077200" y="5257800"/>
            <a:ext cx="3352800" cy="9525"/>
          </a:xfrm>
          <a:custGeom>
            <a:avLst/>
            <a:gdLst/>
            <a:ahLst/>
            <a:cxnLst/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071485" y="5384006"/>
            <a:ext cx="378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试卷预览把组卷结果与人工调整放在同一屏内，缩短从生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071485" y="5612606"/>
            <a:ext cx="12176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成到定稿的距离。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Line 30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5205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15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试卷导出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19714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一次生成试卷、答案与答题卡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14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257300"/>
            <a:ext cx="7124700" cy="4724400"/>
          </a:xfrm>
          <a:prstGeom prst="roundRect">
            <a:avLst>
              <a:gd name="adj" fmla="val 2419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09700"/>
            <a:ext cx="6819900" cy="4419600"/>
          </a:xfrm>
          <a:prstGeom prst="roundRect">
            <a:avLst>
              <a:gd name="adj" fmla="val 2155"/>
            </a:avLst>
          </a:prstGeom>
          <a:solidFill>
            <a:srgbClr val="E9EDF2"/>
          </a:solidFill>
          <a:ln w="9525">
            <a:solidFill>
              <a:srgbClr val="D3DAE3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85800" y="1409700"/>
            <a:ext cx="6819900" cy="323850"/>
          </a:xfrm>
          <a:prstGeom prst="roundRect">
            <a:avLst>
              <a:gd name="adj" fmla="val 29412"/>
            </a:avLst>
          </a:prstGeom>
          <a:solidFill>
            <a:srgbClr val="DFE5E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47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228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85800" y="1695450"/>
            <a:ext cx="6819900" cy="57150"/>
          </a:xfrm>
          <a:prstGeom prst="rect">
            <a:avLst/>
          </a:prstGeom>
          <a:solidFill>
            <a:srgbClr val="DFE5EC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1"/>
          <a:srcRect l="946" r="945"/>
          <a:stretch>
            <a:fillRect/>
          </a:stretch>
        </p:blipFill>
        <p:spPr>
          <a:xfrm>
            <a:off x="762000" y="1809750"/>
            <a:ext cx="6667500" cy="394335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7848600" y="1257300"/>
            <a:ext cx="3810000" cy="4724400"/>
          </a:xfrm>
          <a:prstGeom prst="roundRect">
            <a:avLst>
              <a:gd name="adj" fmla="val 30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077200" y="1524000"/>
            <a:ext cx="38100" cy="247650"/>
          </a:xfrm>
          <a:prstGeom prst="rect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21980" y="15525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功能要点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8086725" y="2019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61223" y="1976914"/>
            <a:ext cx="28193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支持导出 DOCX、含答案的 DOCX、P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261223" y="2224564"/>
            <a:ext cx="1539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DF 与 TXT 多种格式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llipse 20"/>
          <p:cNvSpPr/>
          <p:nvPr/>
        </p:nvSpPr>
        <p:spPr>
          <a:xfrm>
            <a:off x="8086725" y="2647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61223" y="260556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导出文件保留卷头、班级姓名栏与题型分值说明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llipse 22"/>
          <p:cNvSpPr/>
          <p:nvPr/>
        </p:nvSpPr>
        <p:spPr>
          <a:xfrm>
            <a:off x="8086725" y="3028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61223" y="29865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答题卡按题型排版，选择题提供涂卡区域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llipse 24"/>
          <p:cNvSpPr/>
          <p:nvPr/>
        </p:nvSpPr>
        <p:spPr>
          <a:xfrm>
            <a:off x="8086725" y="3409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261223" y="336756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导出文件名对中文标题进行安全编码，避免乱码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Line 26"/>
          <p:cNvSpPr/>
          <p:nvPr/>
        </p:nvSpPr>
        <p:spPr>
          <a:xfrm>
            <a:off x="8077200" y="5257800"/>
            <a:ext cx="3352800" cy="9525"/>
          </a:xfrm>
          <a:custGeom>
            <a:avLst/>
            <a:gdLst/>
            <a:ahLst/>
            <a:cxnLst/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071485" y="5384006"/>
            <a:ext cx="378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导出能力决定系统能否真正进入教学使用环节，格式统一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071485" y="5612606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与可打印是基本要求。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5205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16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260908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答题卡与答案版本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16699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面向考试现场的排版输出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15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257300"/>
            <a:ext cx="7124700" cy="4724400"/>
          </a:xfrm>
          <a:prstGeom prst="roundRect">
            <a:avLst>
              <a:gd name="adj" fmla="val 2419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09700"/>
            <a:ext cx="6819900" cy="4419600"/>
          </a:xfrm>
          <a:prstGeom prst="roundRect">
            <a:avLst>
              <a:gd name="adj" fmla="val 2155"/>
            </a:avLst>
          </a:prstGeom>
          <a:solidFill>
            <a:srgbClr val="E9EDF2"/>
          </a:solidFill>
          <a:ln w="9525">
            <a:solidFill>
              <a:srgbClr val="D3DAE3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85800" y="1409700"/>
            <a:ext cx="6819900" cy="323850"/>
          </a:xfrm>
          <a:prstGeom prst="roundRect">
            <a:avLst>
              <a:gd name="adj" fmla="val 29412"/>
            </a:avLst>
          </a:prstGeom>
          <a:solidFill>
            <a:srgbClr val="DFE5E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47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228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85800" y="1695450"/>
            <a:ext cx="6819900" cy="57150"/>
          </a:xfrm>
          <a:prstGeom prst="rect">
            <a:avLst/>
          </a:prstGeom>
          <a:solidFill>
            <a:srgbClr val="DFE5EC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1"/>
          <a:srcRect t="838" b="839"/>
          <a:stretch>
            <a:fillRect/>
          </a:stretch>
        </p:blipFill>
        <p:spPr>
          <a:xfrm>
            <a:off x="762000" y="1809750"/>
            <a:ext cx="6667500" cy="394335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7848600" y="1257300"/>
            <a:ext cx="3810000" cy="4724400"/>
          </a:xfrm>
          <a:prstGeom prst="roundRect">
            <a:avLst>
              <a:gd name="adj" fmla="val 30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077200" y="1524000"/>
            <a:ext cx="38100" cy="247650"/>
          </a:xfrm>
          <a:prstGeom prst="rect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21980" y="15525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功能要点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8086725" y="2019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61223" y="1976914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选择题以选项方框呈现，便于学生填涂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llipse 19"/>
          <p:cNvSpPr/>
          <p:nvPr/>
        </p:nvSpPr>
        <p:spPr>
          <a:xfrm>
            <a:off x="8086725" y="2400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61223" y="23579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填空、判断与简答题按题号顺序排列并预留作答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261223" y="2605564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空间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llipse 22"/>
          <p:cNvSpPr/>
          <p:nvPr/>
        </p:nvSpPr>
        <p:spPr>
          <a:xfrm>
            <a:off x="8086725" y="3028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61223" y="298656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卷头包含总分、时长、班级、姓名、学号与得分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261223" y="3234214"/>
            <a:ext cx="1852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栏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Ellipse 25"/>
          <p:cNvSpPr/>
          <p:nvPr/>
        </p:nvSpPr>
        <p:spPr>
          <a:xfrm>
            <a:off x="8086725" y="36576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261223" y="36152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答案版本包含每题答案与解析，供教师阅卷与讲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261223" y="3862864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评使用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Line 28"/>
          <p:cNvSpPr/>
          <p:nvPr/>
        </p:nvSpPr>
        <p:spPr>
          <a:xfrm>
            <a:off x="8077200" y="5257800"/>
            <a:ext cx="3352800" cy="9525"/>
          </a:xfrm>
          <a:custGeom>
            <a:avLst/>
            <a:gdLst/>
            <a:ahLst/>
            <a:cxnLst/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071485" y="5384006"/>
            <a:ext cx="378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同一套试卷数据可以输出学生卷、教师答案卷与答题卡，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071485" y="5612606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减少重复排版工作。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Line 31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5205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17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293217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教学助手与智能能力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对话式查题、知识点解释与组卷协助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16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257300"/>
            <a:ext cx="7124700" cy="4724400"/>
          </a:xfrm>
          <a:prstGeom prst="roundRect">
            <a:avLst>
              <a:gd name="adj" fmla="val 2419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09700"/>
            <a:ext cx="6819900" cy="4419600"/>
          </a:xfrm>
          <a:prstGeom prst="roundRect">
            <a:avLst>
              <a:gd name="adj" fmla="val 2155"/>
            </a:avLst>
          </a:prstGeom>
          <a:solidFill>
            <a:srgbClr val="E9EDF2"/>
          </a:solidFill>
          <a:ln w="9525">
            <a:solidFill>
              <a:srgbClr val="D3DAE3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85800" y="1409700"/>
            <a:ext cx="6819900" cy="323850"/>
          </a:xfrm>
          <a:prstGeom prst="roundRect">
            <a:avLst>
              <a:gd name="adj" fmla="val 29412"/>
            </a:avLst>
          </a:prstGeom>
          <a:solidFill>
            <a:srgbClr val="DFE5E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47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228725" y="1524000"/>
            <a:ext cx="95250" cy="95250"/>
          </a:xfrm>
          <a:prstGeom prst="ellipse">
            <a:avLst/>
          </a:prstGeom>
          <a:solidFill>
            <a:srgbClr val="A9B4C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85800" y="1695450"/>
            <a:ext cx="6819900" cy="57150"/>
          </a:xfrm>
          <a:prstGeom prst="rect">
            <a:avLst/>
          </a:prstGeom>
          <a:solidFill>
            <a:srgbClr val="DFE5EC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1"/>
          <a:srcRect l="346" r="346"/>
          <a:stretch>
            <a:fillRect/>
          </a:stretch>
        </p:blipFill>
        <p:spPr>
          <a:xfrm>
            <a:off x="762000" y="1809750"/>
            <a:ext cx="6667500" cy="394335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7848600" y="1257300"/>
            <a:ext cx="3810000" cy="4724400"/>
          </a:xfrm>
          <a:prstGeom prst="roundRect">
            <a:avLst>
              <a:gd name="adj" fmla="val 30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077200" y="1524000"/>
            <a:ext cx="38100" cy="247650"/>
          </a:xfrm>
          <a:prstGeom prst="rect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21980" y="15525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功能要点</a:t>
            </a:r>
            <a:endParaRPr lang="zh-CN" sz="15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8086725" y="20193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61223" y="19769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教学助手以事件流方式返回意图、工具调用与待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261223" y="2224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审核状态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llipse 20"/>
          <p:cNvSpPr/>
          <p:nvPr/>
        </p:nvSpPr>
        <p:spPr>
          <a:xfrm>
            <a:off x="8086725" y="26479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61223" y="260556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可查询知识点、解释概念，并按范围检索相关题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261223" y="2853214"/>
            <a:ext cx="1852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目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Ellipse 23"/>
          <p:cNvSpPr/>
          <p:nvPr/>
        </p:nvSpPr>
        <p:spPr>
          <a:xfrm>
            <a:off x="8086725" y="327660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61223" y="323421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组卷请求先提出考查范围，由教师确认后继续执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261223" y="3481864"/>
            <a:ext cx="1852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行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Ellipse 26"/>
          <p:cNvSpPr/>
          <p:nvPr/>
        </p:nvSpPr>
        <p:spPr>
          <a:xfrm>
            <a:off x="8086725" y="3905250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261223" y="386286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模型不可用时给出明确提示，教师仍可手工维护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261223" y="4110514"/>
            <a:ext cx="10468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知识树与题库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8077200" y="5257800"/>
            <a:ext cx="3352800" cy="9525"/>
          </a:xfrm>
          <a:custGeom>
            <a:avLst/>
            <a:gdLst/>
            <a:ahLst/>
            <a:cxnLst/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71485" y="5384006"/>
            <a:ext cx="378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智能能力服务于教学判断，而不是替代教学判断，这是系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071485" y="56126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统在智能与审核之间的平衡点。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5205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18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测试与验证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规则优先的测试策略与验证结果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17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428750"/>
            <a:ext cx="11125200" cy="419100"/>
          </a:xfrm>
          <a:prstGeom prst="roundRect">
            <a:avLst>
              <a:gd name="adj" fmla="val 13636"/>
            </a:avLst>
          </a:prstGeom>
          <a:solidFill>
            <a:srgbClr val="0B2E4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60654" y="15754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验证项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137154" y="15754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测试方式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471154" y="15754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结果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533400" y="18478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41985" y="19931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考查范围构建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118485" y="199310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规则单测：命中知识点与祖先链筛选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452485" y="199310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通过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533400" y="22669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1985" y="24122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范围接口状态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118485" y="241220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接口测试：提出、读取、更新与确认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452485" y="241220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通过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533400" y="26860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41985" y="28313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安全组卷保护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118485" y="28313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规则单测：未确认范围禁止组卷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452485" y="283130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通过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533400" y="31051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1985" y="3250406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分值归一化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118485" y="3250406"/>
            <a:ext cx="25745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规则单测：按题量分配总分并处理余数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452485" y="325040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通过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533400" y="35242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41985" y="3669506"/>
            <a:ext cx="10668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草稿审核状态机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118485" y="36695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规则单测：待审核、接受与拒绝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452485" y="366950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通过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533400" y="39433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41985" y="40886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后端整体测试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118485" y="4088606"/>
            <a:ext cx="2167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pytest 全量用例执行，共 11 项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452485" y="4088606"/>
            <a:ext cx="9763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11 项全部通过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533400" y="4362450"/>
            <a:ext cx="111252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41985" y="45077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前端生产构建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118866" y="4515802"/>
            <a:ext cx="21590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TypeScript 类型检查与 Vite 打包</a:t>
            </a:r>
            <a:endParaRPr lang="zh-CN" sz="105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452485" y="45077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构建成功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Rectangle 38"/>
          <p:cNvSpPr/>
          <p:nvPr/>
        </p:nvSpPr>
        <p:spPr>
          <a:xfrm>
            <a:off x="533400" y="4781550"/>
            <a:ext cx="11125200" cy="4191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41985" y="49268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人工流程走查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118485" y="4926806"/>
            <a:ext cx="31776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上传、知识树、需求、范围、组卷、导出全链路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8452485" y="4926806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主流程可用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27685" y="5326856"/>
            <a:ext cx="935944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测试重点不在页面显示，而在业务边界：范围必须确认、草稿必须审核、试卷总分必须与需求一致。导出文件可正常打开，内容与预览一致。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3" name="Line 43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15205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19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33400" y="438150"/>
            <a:ext cx="76200" cy="323850"/>
          </a:xfrm>
          <a:prstGeom prst="rect">
            <a:avLst/>
          </a:prstGeom>
          <a:solidFill>
            <a:srgbClr val="12456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708" y="445770"/>
            <a:ext cx="293217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小组分工与项目总结</a:t>
            </a:r>
            <a:endParaRPr lang="zh-CN" sz="24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185" y="86915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三个人，三条主线，一个完整系统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78741" y="5834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18</a:t>
            </a:r>
            <a:endParaRPr lang="zh-CN" sz="112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428750"/>
            <a:ext cx="3505200" cy="2381250"/>
          </a:xfrm>
          <a:prstGeom prst="roundRect">
            <a:avLst>
              <a:gd name="adj" fmla="val 48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428750"/>
            <a:ext cx="3505200" cy="57150"/>
          </a:xfrm>
          <a:prstGeom prst="roundRect">
            <a:avLst>
              <a:gd name="adj" fmla="val 50000"/>
            </a:avLst>
          </a:prstGeom>
          <a:solidFill>
            <a:srgbClr val="12456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0194" y="1770698"/>
            <a:ext cx="80733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项天聪</a:t>
            </a:r>
            <a:endParaRPr lang="zh-CN" sz="19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94385" y="2183606"/>
            <a:ext cx="99568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前端页面与交互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llipse 10"/>
          <p:cNvSpPr/>
          <p:nvPr/>
        </p:nvSpPr>
        <p:spPr>
          <a:xfrm>
            <a:off x="819150" y="265747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22985" y="2621756"/>
            <a:ext cx="16699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材料、知识树、题库页面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llipse 12"/>
          <p:cNvSpPr/>
          <p:nvPr/>
        </p:nvSpPr>
        <p:spPr>
          <a:xfrm>
            <a:off x="819150" y="298132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22985" y="2945606"/>
            <a:ext cx="10668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组卷与试卷页面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Ellipse 14"/>
          <p:cNvSpPr/>
          <p:nvPr/>
        </p:nvSpPr>
        <p:spPr>
          <a:xfrm>
            <a:off x="819150" y="330517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22985" y="3269456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页面交互与接口联调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4343400" y="1428750"/>
            <a:ext cx="3505200" cy="2381250"/>
          </a:xfrm>
          <a:prstGeom prst="roundRect">
            <a:avLst>
              <a:gd name="adj" fmla="val 48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43400" y="1428750"/>
            <a:ext cx="3505200" cy="57150"/>
          </a:xfrm>
          <a:prstGeom prst="roundRect">
            <a:avLst>
              <a:gd name="adj" fmla="val 50000"/>
            </a:avLst>
          </a:prstGeom>
          <a:solidFill>
            <a:srgbClr val="12456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00194" y="1770698"/>
            <a:ext cx="80733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杨烨锋</a:t>
            </a:r>
            <a:endParaRPr lang="zh-CN" sz="19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604385" y="2183606"/>
            <a:ext cx="131953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后端接口与数据业务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llipse 20"/>
          <p:cNvSpPr/>
          <p:nvPr/>
        </p:nvSpPr>
        <p:spPr>
          <a:xfrm>
            <a:off x="4629150" y="265747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832985" y="2621756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材料、知识、题库接口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llipse 22"/>
          <p:cNvSpPr/>
          <p:nvPr/>
        </p:nvSpPr>
        <p:spPr>
          <a:xfrm>
            <a:off x="4629150" y="298132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832985" y="2945606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组卷与试卷核心业务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llipse 24"/>
          <p:cNvSpPr/>
          <p:nvPr/>
        </p:nvSpPr>
        <p:spPr>
          <a:xfrm>
            <a:off x="4629150" y="330517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832985" y="3269456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数据模型与导出实现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8153400" y="1428750"/>
            <a:ext cx="3505200" cy="2381250"/>
          </a:xfrm>
          <a:prstGeom prst="roundRect">
            <a:avLst>
              <a:gd name="adj" fmla="val 4800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153400" y="1428750"/>
            <a:ext cx="3505200" cy="57150"/>
          </a:xfrm>
          <a:prstGeom prst="roundRect">
            <a:avLst>
              <a:gd name="adj" fmla="val 50000"/>
            </a:avLst>
          </a:prstGeom>
          <a:solidFill>
            <a:srgbClr val="12456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410194" y="1770698"/>
            <a:ext cx="80733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张宸赫</a:t>
            </a:r>
            <a:endParaRPr lang="zh-CN" sz="195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414385" y="2183606"/>
            <a:ext cx="128016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智能能力与综合验证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Ellipse 30"/>
          <p:cNvSpPr/>
          <p:nvPr/>
        </p:nvSpPr>
        <p:spPr>
          <a:xfrm>
            <a:off x="8439150" y="265747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642985" y="2621756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材料解析、知识提取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Ellipse 32"/>
          <p:cNvSpPr/>
          <p:nvPr/>
        </p:nvSpPr>
        <p:spPr>
          <a:xfrm>
            <a:off x="8439150" y="298132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642985" y="2945606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语义检索与教学助手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Ellipse 34"/>
          <p:cNvSpPr/>
          <p:nvPr/>
        </p:nvSpPr>
        <p:spPr>
          <a:xfrm>
            <a:off x="8439150" y="3305175"/>
            <a:ext cx="76200" cy="76200"/>
          </a:xfrm>
          <a:prstGeom prst="ellipse">
            <a:avLst/>
          </a:prstGeom>
          <a:solidFill>
            <a:srgbClr val="C2761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642985" y="3269456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测试、文档与答辩演示</a:t>
            </a:r>
            <a:endParaRPr lang="zh-CN" sz="112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533400" y="4076700"/>
            <a:ext cx="11125200" cy="1866900"/>
          </a:xfrm>
          <a:prstGeom prst="roundRect">
            <a:avLst>
              <a:gd name="adj" fmla="val 6122"/>
            </a:avLst>
          </a:prstGeom>
          <a:solidFill>
            <a:srgbClr val="F1F4F8"/>
          </a:solidFill>
          <a:ln w="9525">
            <a:solidFill>
              <a:srgbClr val="D3DAE3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22960" y="430530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谢谢观看</a:t>
            </a:r>
            <a:endParaRPr lang="zh-CN" sz="30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31723" y="4948714"/>
            <a:ext cx="89732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系统形成了从课程材料到可导出试卷的完整闭环：材料可解析、知识可组织、范围可确认、题目可审核、试卷可导出。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31723" y="5367814"/>
            <a:ext cx="88009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后续计划：补充教师账号与权限、题目质量统计与难度分析报表，并把教师对范围与草稿的反馈用于改进推荐效果。</a:t>
            </a:r>
            <a:endParaRPr lang="zh-CN" sz="128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Line 40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3DAE3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528638" y="653224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数据结构智能出卷系统 答辩演示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5205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20</a:t>
            </a:r>
            <a:endParaRPr lang="zh-CN" sz="9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ds-exam-defense">
  <a:themeElements>
    <a:clrScheme name="ds-exam-defens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-exam-defens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-exam-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5193</Words>
  <Application>WPS 演示</Application>
  <PresentationFormat>On-screen Show (16:9)</PresentationFormat>
  <Paragraphs>824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ds-exam-defense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戏命</cp:lastModifiedBy>
  <cp:revision>2</cp:revision>
  <dcterms:created xsi:type="dcterms:W3CDTF">2026-09-17T13:39:00Z</dcterms:created>
  <dcterms:modified xsi:type="dcterms:W3CDTF">2026-09-17T14:29:47Z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A318CAABCA7044D5B93DC1F90490689D_12</vt:lpwstr>
  </property>
  <property fmtid="{D5CDD505-2E9C-101B-9397-08002B2CF9AE}" pid="3" name="KSOProductBuildVer">
    <vt:lpwstr>2052-12.1.0.28505</vt:lpwstr>
  </property>
</Properties>
</file>