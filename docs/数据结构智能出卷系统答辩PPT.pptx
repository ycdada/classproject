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2be88a111c2464b" /><Relationship Type="http://schemas.openxmlformats.org/officeDocument/2006/relationships/extended-properties" Target="/docProps/app.xml" Id="R6d09a5c98f354118" /><Relationship Type="http://schemas.openxmlformats.org/officeDocument/2006/relationships/officeDocument" Target="/ppt/presentation.xml" Id="Raf1fcb5ceb334f6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e9efd817ff54c8b"/>
  </p:sldMasterIdLst>
  <p:notesMasterIdLst>
    <p:notesMasterId xmlns:r="http://schemas.openxmlformats.org/officeDocument/2006/relationships" r:id="R8241dfb1472541a8"/>
  </p:notesMasterIdLst>
  <p:sldIdLst>
    <p:sldId xmlns:r="http://schemas.openxmlformats.org/officeDocument/2006/relationships" id="256" r:id="Rd2e84db9dc8d4cb5"/>
    <p:sldId xmlns:r="http://schemas.openxmlformats.org/officeDocument/2006/relationships" id="257" r:id="Rc6702e75c40c4d27"/>
    <p:sldId xmlns:r="http://schemas.openxmlformats.org/officeDocument/2006/relationships" id="258" r:id="R37b29cbe3490420a"/>
    <p:sldId xmlns:r="http://schemas.openxmlformats.org/officeDocument/2006/relationships" id="259" r:id="Rcf249ea8a457478d"/>
    <p:sldId xmlns:r="http://schemas.openxmlformats.org/officeDocument/2006/relationships" id="260" r:id="Rec6e9366017a4d3d"/>
    <p:sldId xmlns:r="http://schemas.openxmlformats.org/officeDocument/2006/relationships" id="261" r:id="Rb72861b54b0c4340"/>
    <p:sldId xmlns:r="http://schemas.openxmlformats.org/officeDocument/2006/relationships" id="262" r:id="R541718abeecd46ee"/>
    <p:sldId xmlns:r="http://schemas.openxmlformats.org/officeDocument/2006/relationships" id="263" r:id="R2d4bda923a7b4a55"/>
    <p:sldId xmlns:r="http://schemas.openxmlformats.org/officeDocument/2006/relationships" id="264" r:id="R3066daca45774b85"/>
    <p:sldId xmlns:r="http://schemas.openxmlformats.org/officeDocument/2006/relationships" id="265" r:id="R774b1e54c1be4ca0"/>
    <p:sldId xmlns:r="http://schemas.openxmlformats.org/officeDocument/2006/relationships" id="266" r:id="R0ebaa1a2c992418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bb4ee21ff9a4513" /><Relationship Type="http://schemas.openxmlformats.org/officeDocument/2006/relationships/slideMaster" Target="/ppt/slideMasters/slideMaster1.xml" Id="Rce9efd817ff54c8b" /><Relationship Type="http://schemas.openxmlformats.org/officeDocument/2006/relationships/notesMaster" Target="/ppt/notesMasters/notesMaster1.xml" Id="R8241dfb1472541a8" /><Relationship Type="http://schemas.openxmlformats.org/officeDocument/2006/relationships/presProps" Target="/ppt/presProps.xml" Id="Ra81a2fa7ea704ed3" /><Relationship Type="http://schemas.openxmlformats.org/officeDocument/2006/relationships/tableStyles" Target="/ppt/tableStyles.xml" Id="Rfb1292612eeb447f" /><Relationship Type="http://schemas.openxmlformats.org/officeDocument/2006/relationships/slide" Target="/ppt/slides/slide1.xml" Id="Rd2e84db9dc8d4cb5" /><Relationship Type="http://schemas.openxmlformats.org/officeDocument/2006/relationships/slide" Target="/ppt/slides/slide2.xml" Id="Rc6702e75c40c4d27" /><Relationship Type="http://schemas.openxmlformats.org/officeDocument/2006/relationships/slide" Target="/ppt/slides/slide3.xml" Id="R37b29cbe3490420a" /><Relationship Type="http://schemas.openxmlformats.org/officeDocument/2006/relationships/slide" Target="/ppt/slides/slide4.xml" Id="Rcf249ea8a457478d" /><Relationship Type="http://schemas.openxmlformats.org/officeDocument/2006/relationships/slide" Target="/ppt/slides/slide5.xml" Id="Rec6e9366017a4d3d" /><Relationship Type="http://schemas.openxmlformats.org/officeDocument/2006/relationships/slide" Target="/ppt/slides/slide6.xml" Id="Rb72861b54b0c4340" /><Relationship Type="http://schemas.openxmlformats.org/officeDocument/2006/relationships/slide" Target="/ppt/slides/slide7.xml" Id="R541718abeecd46ee" /><Relationship Type="http://schemas.openxmlformats.org/officeDocument/2006/relationships/slide" Target="/ppt/slides/slide8.xml" Id="R2d4bda923a7b4a55" /><Relationship Type="http://schemas.openxmlformats.org/officeDocument/2006/relationships/slide" Target="/ppt/slides/slide9.xml" Id="R3066daca45774b85" /><Relationship Type="http://schemas.openxmlformats.org/officeDocument/2006/relationships/slide" Target="/ppt/slides/slide10.xml" Id="R774b1e54c1be4ca0" /><Relationship Type="http://schemas.openxmlformats.org/officeDocument/2006/relationships/slide" Target="/ppt/slides/slide11.xml" Id="R0ebaa1a2c992418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192fa4892c246a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3d195c866af4239" /><Relationship Type="http://schemas.openxmlformats.org/officeDocument/2006/relationships/notesMaster" Target="/ppt/notesMasters/notesMaster1.xml" Id="R1649aeb4f2bd46e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057a597549546df" /><Relationship Type="http://schemas.openxmlformats.org/officeDocument/2006/relationships/notesMaster" Target="/ppt/notesMasters/notesMaster1.xml" Id="Rbc97050bcb8d47e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e6389a99efa4b82" /><Relationship Type="http://schemas.openxmlformats.org/officeDocument/2006/relationships/notesMaster" Target="/ppt/notesMasters/notesMaster1.xml" Id="R7d6e596eb002428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4a4e28c0d754681" /><Relationship Type="http://schemas.openxmlformats.org/officeDocument/2006/relationships/notesMaster" Target="/ppt/notesMasters/notesMaster1.xml" Id="Rab80100183384d2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1ea4940873f4d41" /><Relationship Type="http://schemas.openxmlformats.org/officeDocument/2006/relationships/notesMaster" Target="/ppt/notesMasters/notesMaster1.xml" Id="R9733981e847c476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b4258e4de114105" /><Relationship Type="http://schemas.openxmlformats.org/officeDocument/2006/relationships/notesMaster" Target="/ppt/notesMasters/notesMaster1.xml" Id="R6dc7c672c1f249a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4eb7c4ff8344355" /><Relationship Type="http://schemas.openxmlformats.org/officeDocument/2006/relationships/notesMaster" Target="/ppt/notesMasters/notesMaster1.xml" Id="R0752607a9e5c4fa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e87ca55729244b9" /><Relationship Type="http://schemas.openxmlformats.org/officeDocument/2006/relationships/notesMaster" Target="/ppt/notesMasters/notesMaster1.xml" Id="R5987a85750c84ea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f925037aeef4815" /><Relationship Type="http://schemas.openxmlformats.org/officeDocument/2006/relationships/notesMaster" Target="/ppt/notesMasters/notesMaster1.xml" Id="Raa10062939e6432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dcf0a8132a84be7" /><Relationship Type="http://schemas.openxmlformats.org/officeDocument/2006/relationships/notesMaster" Target="/ppt/notesMasters/notesMaster1.xml" Id="R4e2c84ec00a645b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89b8c49b8db4b7c" /><Relationship Type="http://schemas.openxmlformats.org/officeDocument/2006/relationships/notesMaster" Target="/ppt/notesMasters/notesMaster1.xml" Id="Rdff68f1bed05461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77cec32641943b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5b06301b66947e9" /><Relationship Type="http://schemas.openxmlformats.org/officeDocument/2006/relationships/slideLayout" Target="/ppt/slideLayouts/slideLayout1.xml" Id="R0a4ac38c9c29442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a4ac38c9c29442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4ab39de0304106" /><Relationship Type="http://schemas.openxmlformats.org/officeDocument/2006/relationships/notesSlide" Target="/ppt/notesSlides/notesSlide1.xml" Id="Re6ea52996ece4a5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6c6d44cdd64e8f" /><Relationship Type="http://schemas.openxmlformats.org/officeDocument/2006/relationships/notesSlide" Target="/ppt/notesSlides/notesSlide2.xml" Id="R392075aa9d104e8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2bd5150e9d4fd3" /><Relationship Type="http://schemas.openxmlformats.org/officeDocument/2006/relationships/notesSlide" Target="/ppt/notesSlides/notesSlide3.xml" Id="R8b0af46254a74eb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82f62d0fd44a84" /><Relationship Type="http://schemas.openxmlformats.org/officeDocument/2006/relationships/notesSlide" Target="/ppt/notesSlides/notesSlide4.xml" Id="R0c4dbe5683844db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14518d5c1d428e" /><Relationship Type="http://schemas.openxmlformats.org/officeDocument/2006/relationships/image" Target="/ppt/media/image.png" Id="Rd6ed663daac0489c" /><Relationship Type="http://schemas.openxmlformats.org/officeDocument/2006/relationships/image" Target="/ppt/media/image2.png" Id="Rec088f45c5794a34" /><Relationship Type="http://schemas.openxmlformats.org/officeDocument/2006/relationships/notesSlide" Target="/ppt/notesSlides/notesSlide5.xml" Id="Rc0598aa2428d472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67247ebc024b53" /><Relationship Type="http://schemas.openxmlformats.org/officeDocument/2006/relationships/image" Target="/ppt/media/image3.png" Id="R606c9352eb2a4c4c" /><Relationship Type="http://schemas.openxmlformats.org/officeDocument/2006/relationships/image" Target="/ppt/media/image4.png" Id="Re77e847f0b264c78" /><Relationship Type="http://schemas.openxmlformats.org/officeDocument/2006/relationships/notesSlide" Target="/ppt/notesSlides/notesSlide6.xml" Id="R1fa5f641ee304d9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eeb5ac07324448" /><Relationship Type="http://schemas.openxmlformats.org/officeDocument/2006/relationships/image" Target="/ppt/media/image5.png" Id="R792902e50e7d4dba" /><Relationship Type="http://schemas.openxmlformats.org/officeDocument/2006/relationships/notesSlide" Target="/ppt/notesSlides/notesSlide7.xml" Id="Re3c7fbc76cf7461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440f9408b64811" /><Relationship Type="http://schemas.openxmlformats.org/officeDocument/2006/relationships/image" Target="/ppt/media/image6.png" Id="Refe77319955d42b1" /><Relationship Type="http://schemas.openxmlformats.org/officeDocument/2006/relationships/notesSlide" Target="/ppt/notesSlides/notesSlide8.xml" Id="Rc8b32e0aa3c3483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a06d824f7e4a52" /><Relationship Type="http://schemas.openxmlformats.org/officeDocument/2006/relationships/image" Target="/ppt/media/image7.png" Id="R3b1d7bea28b64cf1" /><Relationship Type="http://schemas.openxmlformats.org/officeDocument/2006/relationships/image" Target="/ppt/media/image8.png" Id="R3bdc59e9a8404e81" /><Relationship Type="http://schemas.openxmlformats.org/officeDocument/2006/relationships/notesSlide" Target="/ppt/notesSlides/notesSlide9.xml" Id="Rb17c5021e9ca4e6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d4e5c518204451" /><Relationship Type="http://schemas.openxmlformats.org/officeDocument/2006/relationships/notesSlide" Target="/ppt/notesSlides/notesSlide10.xml" Id="R5afd2178c24c41a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ecdf5853e846fb" /><Relationship Type="http://schemas.openxmlformats.org/officeDocument/2006/relationships/notesSlide" Target="/ppt/notesSlides/notesSlide11.xml" Id="Re22774bac1b04e1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6223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5075E1-86CC-4F1C-8A5E-D8687ACD1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19150"/>
            <a:ext cx="10668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01D5B2-EEC2-4284-BA24-6ABC8977C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2400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数据结构智能出卷系统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5FBB9E-1E23-45A0-9D2B-1A7218E93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71750"/>
            <a:ext cx="857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B7DD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B7DDE0"/>
                </a:solidFill>
                <a:latin typeface="Microsoft YaHei"/>
                <a:ea typeface="Microsoft YaHei"/>
                <a:cs typeface="Microsoft YaHei"/>
              </a:rPr>
              <a:t>课程项目答辩汇报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3D4CCD-9712-4BF0-A890-64A71C9AF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33750"/>
            <a:ext cx="952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材料整理 · 知识树 · 题库 · 智能组卷 · 试卷导出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7A00C1-6834-4B7A-8074-9C37C27F5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71500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7DD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B7DDE0"/>
                </a:solidFill>
                <a:latin typeface="Microsoft YaHei"/>
                <a:ea typeface="Microsoft YaHei"/>
                <a:cs typeface="Microsoft YaHei"/>
              </a:rPr>
              <a:t>项目组：成员 A / 成员 B / 成员 C</a:t>
            </a:r>
          </a:p>
        </p:txBody>
      </p:sp>
    </p:spTree>
    <p:extLst>
      <p:ext uri="{BB962C8B-B14F-4D97-AF65-F5344CB8AC3E}">
        <p14:creationId xmlns:p14="http://schemas.microsoft.com/office/powerpoint/2010/main" val="138740233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0B7EFA-6326-4CEF-9B96-C9390FB7F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8B9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AC7926-2373-485D-BFB1-401EE7E14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8B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18B92"/>
                </a:solidFill>
                <a:latin typeface="Microsoft YaHei"/>
                <a:ea typeface="Microsoft YaHei"/>
                <a:cs typeface="Microsoft YaHei"/>
              </a:rPr>
              <a:t>01 项目概览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F02315-ED3C-4C3D-BF83-4190583F1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6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62238"/>
                </a:solidFill>
                <a:latin typeface="Microsoft YaHei"/>
                <a:ea typeface="Microsoft YaHei"/>
                <a:cs typeface="Microsoft YaHei"/>
              </a:rPr>
              <a:t>项目定位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C4F85A-0650-43E8-9C97-AFD5CB4C7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24000"/>
            <a:ext cx="952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6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62238"/>
                </a:solidFill>
                <a:latin typeface="Microsoft YaHei"/>
                <a:ea typeface="Microsoft YaHei"/>
                <a:cs typeface="Microsoft YaHei"/>
              </a:rPr>
              <a:t>面向数据结构课程教师的备课与组卷工具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D1CC28-60EC-4440-8EA0-F895CD8EE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81250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0212B"/>
                </a:solidFill>
                <a:latin typeface="Microsoft YaHei"/>
                <a:ea typeface="Microsoft YaHei"/>
                <a:cs typeface="Microsoft YaHei"/>
              </a:rPr>
              <a:t>• 统一管理课程讲义、课件和解析内容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694604-15DF-4920-8604-14D5CA3B5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81350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0212B"/>
                </a:solidFill>
                <a:latin typeface="Microsoft YaHei"/>
                <a:ea typeface="Microsoft YaHei"/>
                <a:cs typeface="Microsoft YaHei"/>
              </a:rPr>
              <a:t>• 从材料中提取并维护知识树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C56571-69ED-482C-83F0-61A987757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81450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0212B"/>
                </a:solidFill>
                <a:latin typeface="Microsoft YaHei"/>
                <a:ea typeface="Microsoft YaHei"/>
                <a:cs typeface="Microsoft YaHei"/>
              </a:rPr>
              <a:t>• 维护题库并支持语义检索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861D70-40F5-48DB-B1BD-28ACEF1F3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81550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0212B"/>
                </a:solidFill>
                <a:latin typeface="Microsoft YaHei"/>
                <a:ea typeface="Microsoft YaHei"/>
                <a:cs typeface="Microsoft YaHei"/>
              </a:rPr>
              <a:t>• 按已确认范围生成并审核试卷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B9DF42-0DA1-49BA-AF7B-73BC5DFDF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81650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0212B"/>
                </a:solidFill>
                <a:latin typeface="Microsoft YaHei"/>
                <a:ea typeface="Microsoft YaHei"/>
                <a:cs typeface="Microsoft YaHei"/>
              </a:rPr>
              <a:t>• 支持试卷预览和多格式导出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E8F46A-2DC7-405C-A318-E1E2DCE99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524000"/>
            <a:ext cx="3714750" cy="314325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4F7F8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7F2F63-F2C8-4A9B-8CDE-EBA6E3099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00025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8B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18B92"/>
                </a:solidFill>
                <a:latin typeface="Microsoft YaHei"/>
                <a:ea typeface="Microsoft YaHei"/>
                <a:cs typeface="Microsoft YaHei"/>
              </a:rPr>
              <a:t>教师工作台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F25B03-990C-4663-BDF1-2F22570A4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714625"/>
            <a:ext cx="2857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06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62238"/>
                </a:solidFill>
                <a:latin typeface="Microsoft YaHei"/>
                <a:ea typeface="Microsoft YaHei"/>
                <a:cs typeface="Microsoft YaHei"/>
              </a:rPr>
              <a:t>材料 → 知识树 → 题库</a:t>
            </a:r>
          </a:p>
          <a:p xmlns:a="http://schemas.openxmlformats.org/drawingml/2006/main">
            <a:pPr algn="ctr">
              <a:defRPr sz="2025" b="1">
                <a:solidFill>
                  <a:srgbClr val="06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62238"/>
                </a:solidFill>
                <a:latin typeface="Microsoft YaHei"/>
                <a:ea typeface="Microsoft YaHei"/>
                <a:cs typeface="Microsoft YaHei"/>
              </a:rPr>
              <a:t>→ 范围确认 → 组卷</a:t>
            </a:r>
          </a:p>
          <a:p xmlns:a="http://schemas.openxmlformats.org/drawingml/2006/main">
            <a:pPr algn="ctr">
              <a:defRPr sz="2025" b="1">
                <a:solidFill>
                  <a:srgbClr val="06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62238"/>
                </a:solidFill>
                <a:latin typeface="Microsoft YaHei"/>
                <a:ea typeface="Microsoft YaHei"/>
                <a:cs typeface="Microsoft YaHei"/>
              </a:rPr>
              <a:t>→ 草稿审核 → 试卷导出</a:t>
            </a:r>
          </a:p>
        </p:txBody>
      </p:sp>
    </p:spTree>
    <p:extLst>
      <p:ext uri="{BB962C8B-B14F-4D97-AF65-F5344CB8AC3E}">
        <p14:creationId xmlns:p14="http://schemas.microsoft.com/office/powerpoint/2010/main" val="37482523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BD95B6-0C72-4BE0-BE11-1D74E0A73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8B9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049760-0C2B-4677-A2E8-F2A412EE2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8B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18B92"/>
                </a:solidFill>
                <a:latin typeface="Microsoft YaHei"/>
                <a:ea typeface="Microsoft YaHei"/>
                <a:cs typeface="Microsoft YaHei"/>
              </a:rPr>
              <a:t>02 技术方案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046C07-E62A-471B-93D5-C69797A85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6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62238"/>
                </a:solidFill>
                <a:latin typeface="Microsoft YaHei"/>
                <a:ea typeface="Microsoft YaHei"/>
                <a:cs typeface="Microsoft YaHei"/>
              </a:rPr>
              <a:t>技术路线与系统架构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2F8147-30B2-4B4D-A935-719F181E5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2190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8B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8B92"/>
                </a:solidFill>
                <a:latin typeface="Microsoft YaHei"/>
                <a:ea typeface="Microsoft YaHei"/>
                <a:cs typeface="Microsoft YaHei"/>
              </a:rPr>
              <a:t>前端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BF9C61-A485-421F-BF0B-D3D922B50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0212B"/>
                </a:solidFill>
                <a:latin typeface="Microsoft YaHei"/>
                <a:ea typeface="Microsoft YaHei"/>
                <a:cs typeface="Microsoft YaHei"/>
              </a:rPr>
              <a:t>React 18 · TypeScript · Vite</a:t>
            </a:r>
          </a:p>
          <a:p xmlns:a="http://schemas.openxmlformats.org/drawingml/2006/main">
            <a:pPr algn="l">
              <a:defRPr sz="1575" b="0">
                <a:solidFill>
                  <a:srgbClr val="10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0212B"/>
                </a:solidFill>
                <a:latin typeface="Microsoft YaHei"/>
                <a:ea typeface="Microsoft YaHei"/>
                <a:cs typeface="Microsoft YaHei"/>
              </a:rPr>
              <a:t>Ant Design · React Router · Zustand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809298-151D-4349-A812-4249BCF8F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619250"/>
            <a:ext cx="2190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8B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8B92"/>
                </a:solidFill>
                <a:latin typeface="Microsoft YaHei"/>
                <a:ea typeface="Microsoft YaHei"/>
                <a:cs typeface="Microsoft YaHei"/>
              </a:rPr>
              <a:t>后端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152499-97AA-4350-AFF1-FB0ECA868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0955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0212B"/>
                </a:solidFill>
                <a:latin typeface="Microsoft YaHei"/>
                <a:ea typeface="Microsoft YaHei"/>
                <a:cs typeface="Microsoft YaHei"/>
              </a:rPr>
              <a:t>Python 3.11 · FastAPI</a:t>
            </a:r>
          </a:p>
          <a:p xmlns:a="http://schemas.openxmlformats.org/drawingml/2006/main">
            <a:pPr algn="l">
              <a:defRPr sz="1575" b="0">
                <a:solidFill>
                  <a:srgbClr val="10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0212B"/>
                </a:solidFill>
                <a:latin typeface="Microsoft YaHei"/>
                <a:ea typeface="Microsoft YaHei"/>
                <a:cs typeface="Microsoft YaHei"/>
              </a:rPr>
              <a:t>SQLAlchemy · SQLite · LangGraph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418E31-12B9-4359-BF8B-E728AA353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619250"/>
            <a:ext cx="2190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8B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8B92"/>
                </a:solidFill>
                <a:latin typeface="Microsoft YaHei"/>
                <a:ea typeface="Microsoft YaHei"/>
                <a:cs typeface="Microsoft YaHei"/>
              </a:rPr>
              <a:t>智能能力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7F7484-0DF1-44F4-ACBD-579D75DE1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95500"/>
            <a:ext cx="285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0212B"/>
                </a:solidFill>
                <a:latin typeface="Microsoft YaHei"/>
                <a:ea typeface="Microsoft YaHei"/>
                <a:cs typeface="Microsoft YaHei"/>
              </a:rPr>
              <a:t>大模型接口</a:t>
            </a:r>
          </a:p>
          <a:p xmlns:a="http://schemas.openxmlformats.org/drawingml/2006/main">
            <a:pPr algn="l">
              <a:defRPr sz="1575" b="0">
                <a:solidFill>
                  <a:srgbClr val="10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0212B"/>
                </a:solidFill>
                <a:latin typeface="Microsoft YaHei"/>
                <a:ea typeface="Microsoft YaHei"/>
                <a:cs typeface="Microsoft YaHei"/>
              </a:rPr>
              <a:t>ChromaDB + 本地向量模型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80341F-A4AD-4E34-835A-E5C43973F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95750"/>
            <a:ext cx="10287000" cy="952500"/>
          </a:xfrm>
          <a:prstGeom xmlns:a="http://schemas.openxmlformats.org/drawingml/2006/main" prst="roundRect">
            <a:avLst>
              <a:gd name="adj" fmla="val 18000"/>
            </a:avLst>
          </a:prstGeom>
          <a:solidFill xmlns:a="http://schemas.openxmlformats.org/drawingml/2006/main">
            <a:srgbClr val="062238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18951D-E58E-46FE-867A-7706DF2D7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00550"/>
            <a:ext cx="971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React 教师端  →  FastAPI API  →  业务服务  →  SQLite / ChromaDB / 大模型</a:t>
            </a:r>
          </a:p>
        </p:txBody>
      </p:sp>
    </p:spTree>
    <p:extLst>
      <p:ext uri="{BB962C8B-B14F-4D97-AF65-F5344CB8AC3E}">
        <p14:creationId xmlns:p14="http://schemas.microsoft.com/office/powerpoint/2010/main" val="1872299234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5CA4864-3CB7-486C-9131-431AD5734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8B9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394FE8-A40E-43C2-923E-CB866F547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8B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18B92"/>
                </a:solidFill>
                <a:latin typeface="Microsoft YaHei"/>
                <a:ea typeface="Microsoft YaHei"/>
                <a:cs typeface="Microsoft YaHei"/>
              </a:rPr>
              <a:t>03 功能流程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9C5139-14FE-41BE-B3EF-EBF50BCB9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6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62238"/>
                </a:solidFill>
                <a:latin typeface="Microsoft YaHei"/>
                <a:ea typeface="Microsoft YaHei"/>
                <a:cs typeface="Microsoft YaHei"/>
              </a:rPr>
              <a:t>核心业务流程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E598EC-9A90-4EF5-9E07-90C69EA10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1143000" cy="685800"/>
          </a:xfrm>
          <a:prstGeom xmlns:a="http://schemas.openxmlformats.org/drawingml/2006/main" prst="roundRect">
            <a:avLst>
              <a:gd name="adj" fmla="val 19444"/>
            </a:avLst>
          </a:prstGeom>
          <a:solidFill xmlns:a="http://schemas.openxmlformats.org/drawingml/2006/main">
            <a:srgbClr val="062238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03EAC2-7046-4EEB-AB11-0FDC67742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90800"/>
            <a:ext cx="990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课程材料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F39DBB-C180-4B37-AC3C-F947208CB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8325" y="2581275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8B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8B92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FFBA80-6AB0-4370-A9D0-7F4664992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2381250"/>
            <a:ext cx="1143000" cy="685800"/>
          </a:xfrm>
          <a:prstGeom xmlns:a="http://schemas.openxmlformats.org/drawingml/2006/main" prst="roundRect">
            <a:avLst>
              <a:gd name="adj" fmla="val 19444"/>
            </a:avLst>
          </a:prstGeom>
          <a:solidFill xmlns:a="http://schemas.openxmlformats.org/drawingml/2006/main">
            <a:srgbClr val="118B92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6A606A-8A27-4D0B-83FD-11A9722D9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2590800"/>
            <a:ext cx="990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知识树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78366C-CC7C-4EA4-A8A8-CD210A0C9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581275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8B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8B92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1B0C71-089F-49D1-BA02-6EB3B65AE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381250"/>
            <a:ext cx="1143000" cy="685800"/>
          </a:xfrm>
          <a:prstGeom xmlns:a="http://schemas.openxmlformats.org/drawingml/2006/main" prst="roundRect">
            <a:avLst>
              <a:gd name="adj" fmla="val 19444"/>
            </a:avLst>
          </a:prstGeom>
          <a:solidFill xmlns:a="http://schemas.openxmlformats.org/drawingml/2006/main">
            <a:srgbClr val="062238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D35D4F-BCB6-488D-A541-B6D25BB0E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590800"/>
            <a:ext cx="990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题库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95F837-687F-4118-9078-FD9A1C7E7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581275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8B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8B92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4E0F69-F4CC-4A0F-9991-B81FC88EF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381250"/>
            <a:ext cx="1143000" cy="685800"/>
          </a:xfrm>
          <a:prstGeom xmlns:a="http://schemas.openxmlformats.org/drawingml/2006/main" prst="roundRect">
            <a:avLst>
              <a:gd name="adj" fmla="val 19444"/>
            </a:avLst>
          </a:prstGeom>
          <a:solidFill xmlns:a="http://schemas.openxmlformats.org/drawingml/2006/main">
            <a:srgbClr val="118B92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DFB521B-2F15-4790-AE49-3D067B327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2590800"/>
            <a:ext cx="990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出卷需求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CA59325-281D-4755-BA75-254FC0FDE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581275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8B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8B92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4C3E91-FB26-46CF-8DE3-9D6C600C9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381250"/>
            <a:ext cx="1143000" cy="685800"/>
          </a:xfrm>
          <a:prstGeom xmlns:a="http://schemas.openxmlformats.org/drawingml/2006/main" prst="roundRect">
            <a:avLst>
              <a:gd name="adj" fmla="val 19444"/>
            </a:avLst>
          </a:prstGeom>
          <a:solidFill xmlns:a="http://schemas.openxmlformats.org/drawingml/2006/main">
            <a:srgbClr val="062238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20E56E8-3B19-4E51-B4FE-FB139607F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590800"/>
            <a:ext cx="990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范围确认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E6EFCB7-D290-4709-A91C-6EF6F584B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2581275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8B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8B92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3ACFF86-BCED-46E5-ABA6-23525AEBF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2381250"/>
            <a:ext cx="1143000" cy="685800"/>
          </a:xfrm>
          <a:prstGeom xmlns:a="http://schemas.openxmlformats.org/drawingml/2006/main" prst="roundRect">
            <a:avLst>
              <a:gd name="adj" fmla="val 19444"/>
            </a:avLst>
          </a:prstGeom>
          <a:solidFill xmlns:a="http://schemas.openxmlformats.org/drawingml/2006/main">
            <a:srgbClr val="118B92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0DFE3A4-939D-4CCC-8454-39ED86BC8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2590800"/>
            <a:ext cx="990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组卷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9F5C707-5ADD-45BB-AAF2-5217F85F7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581275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8B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8B92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045A6FA-B8BF-4F81-8163-A81521A41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381250"/>
            <a:ext cx="1143000" cy="685800"/>
          </a:xfrm>
          <a:prstGeom xmlns:a="http://schemas.openxmlformats.org/drawingml/2006/main" prst="roundRect">
            <a:avLst>
              <a:gd name="adj" fmla="val 19444"/>
            </a:avLst>
          </a:prstGeom>
          <a:solidFill xmlns:a="http://schemas.openxmlformats.org/drawingml/2006/main">
            <a:srgbClr val="062238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7522563-1E71-48B0-9356-B2A790133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590800"/>
            <a:ext cx="990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草稿审核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46C64AB-EA63-48C7-840F-9A15713E0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5075" y="2581275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8B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8B92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7F74660-1924-47D9-A30E-A053F73B5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2381250"/>
            <a:ext cx="1143000" cy="685800"/>
          </a:xfrm>
          <a:prstGeom xmlns:a="http://schemas.openxmlformats.org/drawingml/2006/main" prst="roundRect">
            <a:avLst>
              <a:gd name="adj" fmla="val 19444"/>
            </a:avLst>
          </a:prstGeom>
          <a:solidFill xmlns:a="http://schemas.openxmlformats.org/drawingml/2006/main">
            <a:srgbClr val="118B92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CB49F96-B512-4EE3-BC66-190B4119A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0825" y="2590800"/>
            <a:ext cx="990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试卷导出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302F96D-08AE-4D85-87B6-DC3D7641E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95750"/>
            <a:ext cx="990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0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12B"/>
                </a:solidFill>
                <a:latin typeface="Microsoft YaHei"/>
                <a:ea typeface="Microsoft YaHei"/>
                <a:cs typeface="Microsoft YaHei"/>
              </a:rPr>
              <a:t>流程约束：只有确认后的考查范围才能组卷，自动生成的题目先进入草稿审核。</a:t>
            </a:r>
          </a:p>
        </p:txBody>
      </p:sp>
    </p:spTree>
    <p:extLst>
      <p:ext uri="{BB962C8B-B14F-4D97-AF65-F5344CB8AC3E}">
        <p14:creationId xmlns:p14="http://schemas.microsoft.com/office/powerpoint/2010/main" val="1437538136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209B27-D9E4-411C-967F-38343E410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8B9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8AEFEA-5179-41E3-9441-0A154010D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8B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18B92"/>
                </a:solidFill>
                <a:latin typeface="Microsoft YaHei"/>
                <a:ea typeface="Microsoft YaHei"/>
                <a:cs typeface="Microsoft YaHei"/>
              </a:rPr>
              <a:t>04 系统功能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FAB13F-4923-4C05-A4F4-AD7A24FBA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6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62238"/>
                </a:solidFill>
                <a:latin typeface="Microsoft YaHei"/>
                <a:ea typeface="Microsoft YaHei"/>
                <a:cs typeface="Microsoft YaHei"/>
              </a:rPr>
              <a:t>材料管理与知识树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ed663daac0489c"/>
          <a:stretch xmlns:a="http://schemas.openxmlformats.org/drawingml/2006/main"/>
        </p:blipFill>
        <p:spPr>
          <a:xfrm xmlns:a="http://schemas.openxmlformats.org/drawingml/2006/main">
            <a:off x="666798" y="1524000"/>
            <a:ext cx="5048154" cy="3810000"/>
          </a:xfrm>
          <a:prstGeom xmlns:a="http://schemas.openxmlformats.org/drawingml/2006/main" prst="roundRect">
            <a:avLst>
              <a:gd name="adj" fmla="val 2500"/>
            </a:avLst>
          </a:prstGeom>
        </p:spPr>
      </p:pic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088f45c5794a34"/>
          <a:stretch xmlns:a="http://schemas.openxmlformats.org/drawingml/2006/main"/>
        </p:blipFill>
        <p:spPr>
          <a:xfrm xmlns:a="http://schemas.openxmlformats.org/drawingml/2006/main">
            <a:off x="6507447" y="1524000"/>
            <a:ext cx="4987356" cy="3810000"/>
          </a:xfrm>
          <a:prstGeom xmlns:a="http://schemas.openxmlformats.org/drawingml/2006/main" prst="roundRect">
            <a:avLst>
              <a:gd name="adj" fmla="val 2500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ACE84A-DFA9-4E34-A593-B5C5F3E9B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715000"/>
            <a:ext cx="895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12B"/>
                </a:solidFill>
                <a:latin typeface="Microsoft YaHei"/>
                <a:ea typeface="Microsoft YaHei"/>
                <a:cs typeface="Microsoft YaHei"/>
              </a:rPr>
              <a:t>上传课程材料，解析后提取并维护层级化知识点。</a:t>
            </a:r>
          </a:p>
        </p:txBody>
      </p:sp>
    </p:spTree>
    <p:extLst>
      <p:ext uri="{BB962C8B-B14F-4D97-AF65-F5344CB8AC3E}">
        <p14:creationId xmlns:p14="http://schemas.microsoft.com/office/powerpoint/2010/main" val="1925334929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C1A1E3-D57F-43AA-94AB-85065749F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8B9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1D70CC-6821-47E8-BAE8-3AA07A900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8B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18B92"/>
                </a:solidFill>
                <a:latin typeface="Microsoft YaHei"/>
                <a:ea typeface="Microsoft YaHei"/>
                <a:cs typeface="Microsoft YaHei"/>
              </a:rPr>
              <a:t>05 系统功能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4936DE-D12A-4AF0-B1A2-683618A37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6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62238"/>
                </a:solidFill>
                <a:latin typeface="Microsoft YaHei"/>
                <a:ea typeface="Microsoft YaHei"/>
                <a:cs typeface="Microsoft YaHei"/>
              </a:rPr>
              <a:t>出卷需求与范围确认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6c9352eb2a4c4c"/>
          <a:stretch xmlns:a="http://schemas.openxmlformats.org/drawingml/2006/main"/>
        </p:blipFill>
        <p:spPr>
          <a:xfrm xmlns:a="http://schemas.openxmlformats.org/drawingml/2006/main">
            <a:off x="581664" y="1428750"/>
            <a:ext cx="5313672" cy="4000500"/>
          </a:xfrm>
          <a:prstGeom xmlns:a="http://schemas.openxmlformats.org/drawingml/2006/main" prst="roundRect">
            <a:avLst>
              <a:gd name="adj" fmla="val 2381"/>
            </a:avLst>
          </a:prstGeom>
        </p:spPr>
      </p:pic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7e847f0b264c78"/>
          <a:stretch xmlns:a="http://schemas.openxmlformats.org/drawingml/2006/main"/>
        </p:blipFill>
        <p:spPr>
          <a:xfrm xmlns:a="http://schemas.openxmlformats.org/drawingml/2006/main">
            <a:off x="6286500" y="1704545"/>
            <a:ext cx="5334000" cy="3448911"/>
          </a:xfrm>
          <a:prstGeom xmlns:a="http://schemas.openxmlformats.org/drawingml/2006/main" prst="roundRect">
            <a:avLst>
              <a:gd name="adj" fmla="val 2381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4C0307-8240-4227-ADD2-8CED669E8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857875"/>
            <a:ext cx="933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0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212B"/>
                </a:solidFill>
                <a:latin typeface="Microsoft YaHei"/>
                <a:ea typeface="Microsoft YaHei"/>
                <a:cs typeface="Microsoft YaHei"/>
              </a:rPr>
              <a:t>教师先填写题型、难度、总分和时长，再调整并确认考查范围。</a:t>
            </a:r>
          </a:p>
        </p:txBody>
      </p:sp>
    </p:spTree>
    <p:extLst>
      <p:ext uri="{BB962C8B-B14F-4D97-AF65-F5344CB8AC3E}">
        <p14:creationId xmlns:p14="http://schemas.microsoft.com/office/powerpoint/2010/main" val="869659689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2910ED-30BA-4A80-A240-C8E46CB90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8B9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57731A-602B-4C86-981E-713B7C6A5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8B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18B92"/>
                </a:solidFill>
                <a:latin typeface="Microsoft YaHei"/>
                <a:ea typeface="Microsoft YaHei"/>
                <a:cs typeface="Microsoft YaHei"/>
              </a:rPr>
              <a:t>06 系统功能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958FCE-0F7F-4ECE-AB8B-2B4222C93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6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62238"/>
                </a:solidFill>
                <a:latin typeface="Microsoft YaHei"/>
                <a:ea typeface="Microsoft YaHei"/>
                <a:cs typeface="Microsoft YaHei"/>
              </a:rPr>
              <a:t>知识树提取结果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2902e50e7d4dba"/>
          <a:stretch xmlns:a="http://schemas.openxmlformats.org/drawingml/2006/main"/>
        </p:blipFill>
        <p:spPr>
          <a:xfrm xmlns:a="http://schemas.openxmlformats.org/drawingml/2006/main">
            <a:off x="1308973" y="1381125"/>
            <a:ext cx="5668803" cy="4572000"/>
          </a:xfrm>
          <a:prstGeom xmlns:a="http://schemas.openxmlformats.org/drawingml/2006/main" prst="roundRect">
            <a:avLst>
              <a:gd name="adj" fmla="val 2083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0EF55E-BF3B-465D-BCFA-713040A05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09750"/>
            <a:ext cx="3143250" cy="314325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4F7F8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143543-5D02-4875-A84B-CE725B90B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238375"/>
            <a:ext cx="2190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8B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18B92"/>
                </a:solidFill>
                <a:latin typeface="Microsoft YaHei"/>
                <a:ea typeface="Microsoft YaHei"/>
                <a:cs typeface="Microsoft YaHei"/>
              </a:rPr>
              <a:t>提取结果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A84F41-49BE-462A-8872-F170E7C3B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905125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0212B"/>
                </a:solidFill>
                <a:latin typeface="Microsoft YaHei"/>
                <a:ea typeface="Microsoft YaHei"/>
                <a:cs typeface="Microsoft YaHei"/>
              </a:rPr>
              <a:t>• 章、节、知识点层级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CD11EE-C73B-4118-B10A-8BA0438AC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705225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0212B"/>
                </a:solidFill>
                <a:latin typeface="Microsoft YaHei"/>
                <a:ea typeface="Microsoft YaHei"/>
                <a:cs typeface="Microsoft YaHei"/>
              </a:rPr>
              <a:t>• 定义与关键词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F70ADA-DC27-45FA-936B-8BDB91BDA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505325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0212B"/>
                </a:solidFill>
                <a:latin typeface="Microsoft YaHei"/>
                <a:ea typeface="Microsoft YaHei"/>
                <a:cs typeface="Microsoft YaHei"/>
              </a:rPr>
              <a:t>• 教学重点与解题步骤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3219A0-E182-4F84-BF70-27B18A3F6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305425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0212B"/>
                </a:solidFill>
                <a:latin typeface="Microsoft YaHei"/>
                <a:ea typeface="Microsoft YaHei"/>
                <a:cs typeface="Microsoft YaHei"/>
              </a:rPr>
              <a:t>• 支持教师手动修正</a:t>
            </a:r>
          </a:p>
        </p:txBody>
      </p:sp>
    </p:spTree>
    <p:extLst>
      <p:ext uri="{BB962C8B-B14F-4D97-AF65-F5344CB8AC3E}">
        <p14:creationId xmlns:p14="http://schemas.microsoft.com/office/powerpoint/2010/main" val="1610406973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F0A0D5-51B1-43A7-8E2A-FF70352E6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8B9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35E7E7-164B-4A1C-AF92-6CFED87EB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8B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18B92"/>
                </a:solidFill>
                <a:latin typeface="Microsoft YaHei"/>
                <a:ea typeface="Microsoft YaHei"/>
                <a:cs typeface="Microsoft YaHei"/>
              </a:rPr>
              <a:t>07 系统功能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447E54-49AA-47A5-ACA5-CF7DAEAD9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6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62238"/>
                </a:solidFill>
                <a:latin typeface="Microsoft YaHei"/>
                <a:ea typeface="Microsoft YaHei"/>
                <a:cs typeface="Microsoft YaHei"/>
              </a:rPr>
              <a:t>试卷预览与导出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e77319955d42b1"/>
          <a:stretch xmlns:a="http://schemas.openxmlformats.org/drawingml/2006/main"/>
        </p:blipFill>
        <p:spPr>
          <a:xfrm xmlns:a="http://schemas.openxmlformats.org/drawingml/2006/main">
            <a:off x="2460193" y="1381125"/>
            <a:ext cx="7271614" cy="4429125"/>
          </a:xfrm>
          <a:prstGeom xmlns:a="http://schemas.openxmlformats.org/drawingml/2006/main" prst="roundRect">
            <a:avLst>
              <a:gd name="adj" fmla="val 2151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17015B-FEA8-45D8-8B85-1ED6656DA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6096000"/>
            <a:ext cx="1000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12B"/>
                </a:solidFill>
                <a:latin typeface="Microsoft YaHei"/>
                <a:ea typeface="Microsoft YaHei"/>
                <a:cs typeface="Microsoft YaHei"/>
              </a:rPr>
              <a:t>支持编辑题目、调整顺序和分值，并导出 DOCX、PDF、TXT 及答题卡。</a:t>
            </a:r>
          </a:p>
        </p:txBody>
      </p:sp>
    </p:spTree>
    <p:extLst>
      <p:ext uri="{BB962C8B-B14F-4D97-AF65-F5344CB8AC3E}">
        <p14:creationId xmlns:p14="http://schemas.microsoft.com/office/powerpoint/2010/main" val="2063267884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B17F38-F89B-4336-85BF-14B21F19E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8B9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8F1C58-7EA6-426A-840D-5B885189A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8B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18B92"/>
                </a:solidFill>
                <a:latin typeface="Microsoft YaHei"/>
                <a:ea typeface="Microsoft YaHei"/>
                <a:cs typeface="Microsoft YaHei"/>
              </a:rPr>
              <a:t>08 系统功能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6FF4D5-7C40-436A-A419-76EB1DF03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6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62238"/>
                </a:solidFill>
                <a:latin typeface="Microsoft YaHei"/>
                <a:ea typeface="Microsoft YaHei"/>
                <a:cs typeface="Microsoft YaHei"/>
              </a:rPr>
              <a:t>试卷列表与教学助手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1d7bea28b64cf1"/>
          <a:stretch xmlns:a="http://schemas.openxmlformats.org/drawingml/2006/main"/>
        </p:blipFill>
        <p:spPr>
          <a:xfrm xmlns:a="http://schemas.openxmlformats.org/drawingml/2006/main">
            <a:off x="571500" y="1792711"/>
            <a:ext cx="5238750" cy="3082079"/>
          </a:xfrm>
          <a:prstGeom xmlns:a="http://schemas.openxmlformats.org/drawingml/2006/main" prst="roundRect">
            <a:avLst>
              <a:gd name="adj" fmla="val 2500"/>
            </a:avLst>
          </a:prstGeom>
        </p:spPr>
      </p:pic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dc59e9a8404e81"/>
          <a:stretch xmlns:a="http://schemas.openxmlformats.org/drawingml/2006/main"/>
        </p:blipFill>
        <p:spPr>
          <a:xfrm xmlns:a="http://schemas.openxmlformats.org/drawingml/2006/main">
            <a:off x="6381750" y="1795292"/>
            <a:ext cx="5238750" cy="3076916"/>
          </a:xfrm>
          <a:prstGeom xmlns:a="http://schemas.openxmlformats.org/drawingml/2006/main" prst="roundRect">
            <a:avLst>
              <a:gd name="adj" fmla="val 2500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19068E-7F6A-45E1-9A98-8EB4A81D0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715000"/>
            <a:ext cx="819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12B"/>
                </a:solidFill>
                <a:latin typeface="Microsoft YaHei"/>
                <a:ea typeface="Microsoft YaHei"/>
                <a:cs typeface="Microsoft YaHei"/>
              </a:rPr>
              <a:t>教学助手支持知识问答、题库检索和组卷辅助。</a:t>
            </a:r>
          </a:p>
        </p:txBody>
      </p:sp>
    </p:spTree>
    <p:extLst>
      <p:ext uri="{BB962C8B-B14F-4D97-AF65-F5344CB8AC3E}">
        <p14:creationId xmlns:p14="http://schemas.microsoft.com/office/powerpoint/2010/main" val="1201832900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2618B6-478F-4623-ACC7-21AD6F3E8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8B9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3F3359-64B7-4A0D-A1E9-BD901CC30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8B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18B92"/>
                </a:solidFill>
                <a:latin typeface="Microsoft YaHei"/>
                <a:ea typeface="Microsoft YaHei"/>
                <a:cs typeface="Microsoft YaHei"/>
              </a:rPr>
              <a:t>09 项目总结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783BDD-49E5-45AE-BA0A-B1881506A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6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62238"/>
                </a:solidFill>
                <a:latin typeface="Microsoft YaHei"/>
                <a:ea typeface="Microsoft YaHei"/>
                <a:cs typeface="Microsoft YaHei"/>
              </a:rPr>
              <a:t>项目分工与当前成果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41383E-C503-441A-87CD-EE93F244C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19250"/>
            <a:ext cx="238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8B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8B92"/>
                </a:solidFill>
                <a:latin typeface="Microsoft YaHei"/>
                <a:ea typeface="Microsoft YaHei"/>
                <a:cs typeface="Microsoft YaHei"/>
              </a:rPr>
              <a:t>成员 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61E77F-B9CB-4F21-AA14-F94C7C775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95500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0212B"/>
                </a:solidFill>
                <a:latin typeface="Microsoft YaHei"/>
                <a:ea typeface="Microsoft YaHei"/>
                <a:cs typeface="Microsoft YaHei"/>
              </a:rPr>
              <a:t>前端页面、交互和接口联调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05612D-0C24-45C7-8BEE-B326AACD8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619250"/>
            <a:ext cx="238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8B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8B92"/>
                </a:solidFill>
                <a:latin typeface="Microsoft YaHei"/>
                <a:ea typeface="Microsoft YaHei"/>
                <a:cs typeface="Microsoft YaHei"/>
              </a:rPr>
              <a:t>成员 B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8DDE9B-6770-4E04-BEA3-A4884767B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095500"/>
            <a:ext cx="314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0212B"/>
                </a:solidFill>
                <a:latin typeface="Microsoft YaHei"/>
                <a:ea typeface="Microsoft YaHei"/>
                <a:cs typeface="Microsoft YaHei"/>
              </a:rPr>
              <a:t>后端接口、数据模型和核心业务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64A2BB-C2D6-4E89-8C45-A350863C5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619250"/>
            <a:ext cx="238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8B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8B92"/>
                </a:solidFill>
                <a:latin typeface="Microsoft YaHei"/>
                <a:ea typeface="Microsoft YaHei"/>
                <a:cs typeface="Microsoft YaHei"/>
              </a:rPr>
              <a:t>成员 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7D8D51-CD51-4202-985D-1B298FADE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095500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0212B"/>
                </a:solidFill>
                <a:latin typeface="Microsoft YaHei"/>
                <a:ea typeface="Microsoft YaHei"/>
                <a:cs typeface="Microsoft YaHei"/>
              </a:rPr>
              <a:t>智能能力、测试、文档和演示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86C5D6-FA83-4DF4-817B-E1CED4E46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14750"/>
            <a:ext cx="10287000" cy="14287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4F7F8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F0CC45-BA30-4CE1-A759-3CB32D0F0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048125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8B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8B92"/>
                </a:solidFill>
                <a:latin typeface="Microsoft YaHei"/>
                <a:ea typeface="Microsoft YaHei"/>
                <a:cs typeface="Microsoft YaHei"/>
              </a:rPr>
              <a:t>当前成果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6B8E81-C331-4520-BDA0-7E0D49BFD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524375"/>
            <a:ext cx="9144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62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62238"/>
                </a:solidFill>
                <a:latin typeface="Microsoft YaHei"/>
                <a:ea typeface="Microsoft YaHei"/>
                <a:cs typeface="Microsoft YaHei"/>
              </a:rPr>
              <a:t>已打通“材料 → 知识树 → 题库 → 范围确认 → 组卷 → 审核 → 导出”教师端流程。</a:t>
            </a:r>
          </a:p>
        </p:txBody>
      </p:sp>
    </p:spTree>
    <p:extLst>
      <p:ext uri="{BB962C8B-B14F-4D97-AF65-F5344CB8AC3E}">
        <p14:creationId xmlns:p14="http://schemas.microsoft.com/office/powerpoint/2010/main" val="88013697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6223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5349A2-C3C0-4F4A-8FA9-40FA4C78C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4775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总结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875AA0-D529-45B7-866B-8EBA0942C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90750"/>
            <a:ext cx="10477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系统围绕教师出卷流程组织课程资料、知识点和题库数据，</a:t>
            </a:r>
          </a:p>
          <a:p xmlns:a="http://schemas.openxmlformats.org/drawingml/2006/main">
            <a:pPr algn="l">
              <a:def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通过范围确认和草稿审核保证组卷过程可控。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18D1AB-E3A5-4DA3-9FD9-1F850D506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29250"/>
            <a:ext cx="476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B8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2B84B"/>
                </a:solidFill>
                <a:latin typeface="Microsoft YaHei"/>
                <a:ea typeface="Microsoft YaHei"/>
                <a:cs typeface="Microsoft YaHei"/>
              </a:rPr>
              <a:t>谢谢</a:t>
            </a:r>
          </a:p>
        </p:txBody>
      </p:sp>
    </p:spTree>
    <p:extLst>
      <p:ext uri="{BB962C8B-B14F-4D97-AF65-F5344CB8AC3E}">
        <p14:creationId xmlns:p14="http://schemas.microsoft.com/office/powerpoint/2010/main" val="178962334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2026-09-17T02:58:50.3930000Z</dcterms:created>
  <dcterms:modified xsi:type="dcterms:W3CDTF">2026-09-17T02:58:50.3940000Z</dcterms:modified>
</coreProperties>
</file>