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9" r:id="rId21"/>
    <p:sldId id="274" r:id="rId22"/>
    <p:sldId id="275" r:id="rId23"/>
    <p:sldId id="276" r:id="rId24"/>
    <p:sldId id="277" r:id="rId25"/>
  </p:sldIdLst>
  <p:sldSz cx="12192000" cy="6858000"/>
  <p:notesSz cx="12192000" cy="6858000"/>
  <p:embeddedFontLst>
    <p:embeddedFont>
      <p:font typeface="黑体" panose="02010609060101010101" pitchFamily="49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6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8229600" y="0"/>
            <a:ext cx="3962400" cy="6858000"/>
          </a:xfrm>
          <a:prstGeom prst="rect">
            <a:avLst/>
          </a:prstGeom>
          <a:gradFill rotWithShape="1">
            <a:gsLst>
              <a:gs pos="0">
                <a:srgbClr val="0E7C86"/>
              </a:gs>
              <a:gs pos="100000">
                <a:srgbClr val="0A545D"/>
              </a:gs>
            </a:gsLst>
            <a:lin ang="8100000" scaled="1"/>
          </a:gradFill>
          <a:ln>
            <a:noFill/>
          </a:ln>
        </p:spPr>
      </p:sp>
      <p:sp>
        <p:nvSpPr>
          <p:cNvPr id="4" name="band-rule"/>
          <p:cNvSpPr/>
          <p:nvPr/>
        </p:nvSpPr>
        <p:spPr>
          <a:xfrm>
            <a:off x="9220200" y="3708400"/>
            <a:ext cx="1981200" cy="127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" name="band-keywords"/>
          <p:cNvSpPr txBox="1"/>
          <p:nvPr/>
        </p:nvSpPr>
        <p:spPr>
          <a:xfrm>
            <a:off x="8686800" y="4013200"/>
            <a:ext cx="3048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210000"/>
              </a:lnSpc>
            </a:pPr>
            <a:r>
              <a:rPr lang="en-US" sz="125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材料解析 · 知识提取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210000"/>
              </a:lnSpc>
            </a:pPr>
            <a:r>
              <a:rPr lang="en-US" sz="125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语义检索 · 智能组卷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210000"/>
              </a:lnSpc>
            </a:pPr>
            <a:r>
              <a:rPr lang="en-US" sz="125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审核修复 · 多格式导出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band-bottom"/>
          <p:cNvSpPr txBox="1"/>
          <p:nvPr/>
        </p:nvSpPr>
        <p:spPr>
          <a:xfrm>
            <a:off x="8686800" y="62484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kern="0" spc="200">
                <a:solidFill>
                  <a:srgbClr val="FFFFFF">
                    <a:alpha val="6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DS EXAM SYSTEM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cover-label"/>
          <p:cNvSpPr txBox="1"/>
          <p:nvPr/>
        </p:nvSpPr>
        <p:spPr>
          <a:xfrm>
            <a:off x="812800" y="9144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cover-title"/>
          <p:cNvSpPr txBox="1"/>
          <p:nvPr/>
        </p:nvSpPr>
        <p:spPr>
          <a:xfrm>
            <a:off x="812800" y="1600200"/>
            <a:ext cx="7239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《数据结构》智能出卷系统</a:t>
            </a:r>
            <a:endParaRPr lang="en-US" sz="4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cover-subtitle"/>
          <p:cNvSpPr txBox="1"/>
          <p:nvPr/>
        </p:nvSpPr>
        <p:spPr>
          <a:xfrm>
            <a:off x="812800" y="25654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DS Exam System —— LLM + RAG </a:t>
            </a:r>
            <a:r>
              <a:rPr lang="en-US" sz="14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驱动的智能出卷工作流</a:t>
            </a:r>
            <a:endParaRPr lang="en-US" sz="14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cover-divider"/>
          <p:cNvSpPr/>
          <p:nvPr/>
        </p:nvSpPr>
        <p:spPr>
          <a:xfrm>
            <a:off x="812800" y="3276600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11" name="cover-desc"/>
          <p:cNvSpPr txBox="1"/>
          <p:nvPr/>
        </p:nvSpPr>
        <p:spPr>
          <a:xfrm>
            <a:off x="812800" y="3581400"/>
            <a:ext cx="6654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面向《数据结构》课程教师的智能出卷工具：从教学材料中自动提取知识体系，按出卷需求智能组卷，一键导出标准试卷与答题卡</a:t>
            </a:r>
            <a:r>
              <a:rPr lang="en-US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meta-rule"/>
          <p:cNvSpPr/>
          <p:nvPr/>
        </p:nvSpPr>
        <p:spPr>
          <a:xfrm>
            <a:off x="812800" y="5283200"/>
            <a:ext cx="66548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3" name="cover-meta"/>
          <p:cNvSpPr txBox="1"/>
          <p:nvPr/>
        </p:nvSpPr>
        <p:spPr>
          <a:xfrm>
            <a:off x="812800" y="5511800"/>
            <a:ext cx="6654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汇报小组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摸鱼一家</a:t>
            </a:r>
            <a:endParaRPr lang="en-US" altLang="zh-CN" sz="1400" b="1" dirty="0">
              <a:solidFill>
                <a:srgbClr val="22292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小组成员：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陈天阳</a:t>
            </a:r>
            <a:r>
              <a:rPr lang="en-US" sz="1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· 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黄睿宇</a:t>
            </a:r>
            <a:r>
              <a:rPr lang="en-US" sz="1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· 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张景越</a:t>
            </a:r>
            <a:r>
              <a:rPr lang="en-US" sz="1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· 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赵若涵</a:t>
            </a:r>
            <a:endParaRPr lang="en-US" sz="1400" b="1" dirty="0">
              <a:solidFill>
                <a:srgbClr val="22292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4513A7D-5325-6734-53A0-7DF796366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31" y="830384"/>
            <a:ext cx="2568597" cy="2484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n1"/>
          <p:cNvSpPr txBox="1"/>
          <p:nvPr/>
        </p:nvSpPr>
        <p:spPr>
          <a:xfrm>
            <a:off x="1219200" y="16256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1"/>
          <p:cNvSpPr txBox="1"/>
          <p:nvPr/>
        </p:nvSpPr>
        <p:spPr>
          <a:xfrm>
            <a:off x="2184400" y="1651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项目概述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d1"/>
          <p:cNvSpPr txBox="1"/>
          <p:nvPr/>
        </p:nvSpPr>
        <p:spPr>
          <a:xfrm>
            <a:off x="2184400" y="19812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背景痛点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·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项目目标与完整工作流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·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团队分工与里程碑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1"/>
          <p:cNvSpPr/>
          <p:nvPr/>
        </p:nvSpPr>
        <p:spPr>
          <a:xfrm>
            <a:off x="1219200" y="2336800"/>
            <a:ext cx="9753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0" name="n2"/>
          <p:cNvSpPr txBox="1"/>
          <p:nvPr/>
        </p:nvSpPr>
        <p:spPr>
          <a:xfrm>
            <a:off x="1219200" y="2489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2"/>
          <p:cNvSpPr txBox="1"/>
          <p:nvPr/>
        </p:nvSpPr>
        <p:spPr>
          <a:xfrm>
            <a:off x="2184400" y="2514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d2"/>
          <p:cNvSpPr txBox="1"/>
          <p:nvPr/>
        </p:nvSpPr>
        <p:spPr>
          <a:xfrm>
            <a:off x="2184400" y="28448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需求分析 · 系统总体架构 · 技术选型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2"/>
          <p:cNvSpPr/>
          <p:nvPr/>
        </p:nvSpPr>
        <p:spPr>
          <a:xfrm>
            <a:off x="1219200" y="3200400"/>
            <a:ext cx="9753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4" name="n3"/>
          <p:cNvSpPr txBox="1"/>
          <p:nvPr/>
        </p:nvSpPr>
        <p:spPr>
          <a:xfrm>
            <a:off x="1219200" y="3352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3"/>
          <p:cNvSpPr txBox="1"/>
          <p:nvPr/>
        </p:nvSpPr>
        <p:spPr>
          <a:xfrm>
            <a:off x="2184400" y="33782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d3"/>
          <p:cNvSpPr txBox="1"/>
          <p:nvPr/>
        </p:nvSpPr>
        <p:spPr>
          <a:xfrm>
            <a:off x="2184400" y="3708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适配层与 RAG 管道 · 智能组卷流水线 · 数据存储 · AI 对话助手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3"/>
          <p:cNvSpPr/>
          <p:nvPr/>
        </p:nvSpPr>
        <p:spPr>
          <a:xfrm>
            <a:off x="1219200" y="4064000"/>
            <a:ext cx="9753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8" name="n4"/>
          <p:cNvSpPr txBox="1"/>
          <p:nvPr/>
        </p:nvSpPr>
        <p:spPr>
          <a:xfrm>
            <a:off x="1219200" y="421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4"/>
          <p:cNvSpPr txBox="1"/>
          <p:nvPr/>
        </p:nvSpPr>
        <p:spPr>
          <a:xfrm>
            <a:off x="2184400" y="42418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d4"/>
          <p:cNvSpPr txBox="1"/>
          <p:nvPr/>
        </p:nvSpPr>
        <p:spPr>
          <a:xfrm>
            <a:off x="2184400" y="45720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功能走查 · 测试与性能 · 部署方案与项目成果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4"/>
          <p:cNvSpPr/>
          <p:nvPr/>
        </p:nvSpPr>
        <p:spPr>
          <a:xfrm>
            <a:off x="1219200" y="4927600"/>
            <a:ext cx="9753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2" name="n5"/>
          <p:cNvSpPr txBox="1"/>
          <p:nvPr/>
        </p:nvSpPr>
        <p:spPr>
          <a:xfrm>
            <a:off x="1219200" y="5080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5"/>
          <p:cNvSpPr txBox="1"/>
          <p:nvPr/>
        </p:nvSpPr>
        <p:spPr>
          <a:xfrm>
            <a:off x="2184400" y="510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d5"/>
          <p:cNvSpPr txBox="1"/>
          <p:nvPr/>
        </p:nvSpPr>
        <p:spPr>
          <a:xfrm>
            <a:off x="2184400" y="5435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项目成果回顾 · 不足与改进方向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13AB401-1CD3-5193-84E4-AA8801D22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3354" y="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0" grpId="0"/>
      <p:bldP spid="11" grpId="0"/>
      <p:bldP spid="14" grpId="0"/>
      <p:bldP spid="15" grpId="0"/>
      <p:bldP spid="18" grpId="0"/>
      <p:bldP spid="19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7C86"/>
            </a:gs>
            <a:gs pos="100000">
              <a:srgbClr val="0A545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11200" y="1168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800" b="1" dirty="0">
                <a:solidFill>
                  <a:srgbClr val="FFFFFF">
                    <a:alpha val="28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sz="10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ec-title"/>
          <p:cNvSpPr txBox="1"/>
          <p:nvPr/>
        </p:nvSpPr>
        <p:spPr>
          <a:xfrm>
            <a:off x="812800" y="32766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项目概述</a:t>
            </a:r>
            <a:endParaRPr lang="en-US" sz="3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-en"/>
          <p:cNvSpPr txBox="1"/>
          <p:nvPr/>
        </p:nvSpPr>
        <p:spPr>
          <a:xfrm>
            <a:off x="8128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300">
                <a:solidFill>
                  <a:srgbClr val="FFFFFF">
                    <a:alpha val="7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PROJECT OVERVIEW</a:t>
            </a:r>
            <a:endParaRPr lang="en-US" sz="1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ec-rule"/>
          <p:cNvSpPr/>
          <p:nvPr/>
        </p:nvSpPr>
        <p:spPr>
          <a:xfrm>
            <a:off x="812800" y="4445000"/>
            <a:ext cx="711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sec-items"/>
          <p:cNvSpPr txBox="1"/>
          <p:nvPr/>
        </p:nvSpPr>
        <p:spPr>
          <a:xfrm>
            <a:off x="812800" y="4724400"/>
            <a:ext cx="7874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01-1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背景与痛点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传统出卷为什么难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01-2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目标与工作流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系统要做什么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01-3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团队与进度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十二天如何推进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ec-bottom"/>
          <p:cNvSpPr txBox="1"/>
          <p:nvPr/>
        </p:nvSpPr>
        <p:spPr>
          <a:xfrm>
            <a:off x="7112000" y="6350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FFFFFF">
                    <a:alpha val="5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2026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传统出卷的四大痛点，是本系统要解决的核心问题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6807200" y="406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项目概述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p1-num"/>
          <p:cNvSpPr txBox="1"/>
          <p:nvPr/>
        </p:nvSpPr>
        <p:spPr>
          <a:xfrm>
            <a:off x="685800" y="1485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p1-name"/>
          <p:cNvSpPr txBox="1"/>
          <p:nvPr/>
        </p:nvSpPr>
        <p:spPr>
          <a:xfrm>
            <a:off x="1397000" y="1549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效率低下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p1-desc"/>
          <p:cNvSpPr txBox="1"/>
          <p:nvPr/>
        </p:nvSpPr>
        <p:spPr>
          <a:xfrm>
            <a:off x="797170" y="1970942"/>
            <a:ext cx="6758353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教师需从大量教学材料中手动梳理知识点，逐题编写、排版，耗费大量时间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p1-rule"/>
          <p:cNvSpPr/>
          <p:nvPr/>
        </p:nvSpPr>
        <p:spPr>
          <a:xfrm>
            <a:off x="1397000" y="2438400"/>
            <a:ext cx="5461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9" name="p2-num"/>
          <p:cNvSpPr txBox="1"/>
          <p:nvPr/>
        </p:nvSpPr>
        <p:spPr>
          <a:xfrm>
            <a:off x="711200" y="2641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p2-name"/>
          <p:cNvSpPr txBox="1"/>
          <p:nvPr/>
        </p:nvSpPr>
        <p:spPr>
          <a:xfrm>
            <a:off x="1397000" y="2692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质量不稳定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p2-desc"/>
          <p:cNvSpPr txBox="1"/>
          <p:nvPr/>
        </p:nvSpPr>
        <p:spPr>
          <a:xfrm>
            <a:off x="625230" y="3132992"/>
            <a:ext cx="710223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试卷质量高度依赖教师个人经验，知识点覆盖度和难度分布的合理性难以保证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p2-rule"/>
          <p:cNvSpPr/>
          <p:nvPr/>
        </p:nvSpPr>
        <p:spPr>
          <a:xfrm>
            <a:off x="1397000" y="3581400"/>
            <a:ext cx="5461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3" name="p3-num"/>
          <p:cNvSpPr txBox="1"/>
          <p:nvPr/>
        </p:nvSpPr>
        <p:spPr>
          <a:xfrm>
            <a:off x="711200" y="3784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p3-name"/>
          <p:cNvSpPr txBox="1"/>
          <p:nvPr/>
        </p:nvSpPr>
        <p:spPr>
          <a:xfrm>
            <a:off x="1397000" y="3835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教考分离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p3-desc"/>
          <p:cNvSpPr txBox="1"/>
          <p:nvPr/>
        </p:nvSpPr>
        <p:spPr>
          <a:xfrm>
            <a:off x="1359877" y="4295042"/>
            <a:ext cx="546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出题与教学内容脱节，容易出现「考非所教」的问题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p3-rule"/>
          <p:cNvSpPr/>
          <p:nvPr/>
        </p:nvSpPr>
        <p:spPr>
          <a:xfrm>
            <a:off x="1397000" y="4724400"/>
            <a:ext cx="5461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7" name="p4-num"/>
          <p:cNvSpPr txBox="1"/>
          <p:nvPr/>
        </p:nvSpPr>
        <p:spPr>
          <a:xfrm>
            <a:off x="711200" y="4927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p4-name"/>
          <p:cNvSpPr txBox="1"/>
          <p:nvPr/>
        </p:nvSpPr>
        <p:spPr>
          <a:xfrm>
            <a:off x="1397000" y="4978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复用困难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p4-desc"/>
          <p:cNvSpPr txBox="1"/>
          <p:nvPr/>
        </p:nvSpPr>
        <p:spPr>
          <a:xfrm>
            <a:off x="1397000" y="5308600"/>
            <a:ext cx="546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6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历史试卷和题库缺乏系统管理，题目检索和复用效率低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panel"/>
          <p:cNvSpPr/>
          <p:nvPr/>
        </p:nvSpPr>
        <p:spPr>
          <a:xfrm>
            <a:off x="7555523" y="1555750"/>
            <a:ext cx="4013200" cy="4064000"/>
          </a:xfrm>
          <a:prstGeom prst="rect">
            <a:avLst/>
          </a:prstGeom>
          <a:solidFill>
            <a:srgbClr val="EBF0EF"/>
          </a:solidFill>
          <a:ln w="12700">
            <a:solidFill>
              <a:srgbClr val="DCD7CD"/>
            </a:solidFill>
          </a:ln>
        </p:spPr>
      </p:sp>
      <p:sp>
        <p:nvSpPr>
          <p:cNvPr id="21" name="panel-label"/>
          <p:cNvSpPr txBox="1"/>
          <p:nvPr/>
        </p:nvSpPr>
        <p:spPr>
          <a:xfrm>
            <a:off x="7772400" y="1752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解决思路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panel-big"/>
          <p:cNvSpPr txBox="1"/>
          <p:nvPr/>
        </p:nvSpPr>
        <p:spPr>
          <a:xfrm>
            <a:off x="7772400" y="2032000"/>
            <a:ext cx="3403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+ RAG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双引擎驱动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panel-bullets"/>
          <p:cNvSpPr txBox="1"/>
          <p:nvPr/>
        </p:nvSpPr>
        <p:spPr>
          <a:xfrm>
            <a:off x="7772400" y="3048000"/>
            <a:ext cx="34544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15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大语言模型自动提取知识体系，生成与补全题目</a:t>
            </a:r>
            <a:endParaRPr lang="en-US" sz="11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15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检索增强生成（RAG）在题库中语义匹配候选</a:t>
            </a:r>
            <a:endParaRPr lang="en-US" sz="11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Web + </a:t>
            </a:r>
            <a:r>
              <a:rPr lang="en-US" sz="115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本地混合部署，保障数据隐私</a:t>
            </a:r>
            <a:endParaRPr lang="en-US" sz="11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panel-rule"/>
          <p:cNvSpPr/>
          <p:nvPr/>
        </p:nvSpPr>
        <p:spPr>
          <a:xfrm>
            <a:off x="7772400" y="4597400"/>
            <a:ext cx="3403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5" name="panel-conclusion"/>
          <p:cNvSpPr txBox="1"/>
          <p:nvPr/>
        </p:nvSpPr>
        <p:spPr>
          <a:xfrm>
            <a:off x="7772400" y="4775200"/>
            <a:ext cx="345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让题目源于教学材料本身，从根本上缓解「考非所教」</a:t>
            </a:r>
            <a:endParaRPr lang="en-US" sz="11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07CA53E-70B2-AED4-BD5E-2BF9F6246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6000" y="-3629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21" grpId="0"/>
      <p:bldP spid="22" grpId="0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一条从教学材料到打印试卷的完整工作流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1-num"/>
          <p:cNvSpPr txBox="1"/>
          <p:nvPr/>
        </p:nvSpPr>
        <p:spPr>
          <a:xfrm>
            <a:off x="736600" y="14859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s1-name"/>
          <p:cNvSpPr txBox="1"/>
          <p:nvPr/>
        </p:nvSpPr>
        <p:spPr>
          <a:xfrm>
            <a:off x="7112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材料上传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1-desc"/>
          <p:cNvSpPr txBox="1"/>
          <p:nvPr/>
        </p:nvSpPr>
        <p:spPr>
          <a:xfrm>
            <a:off x="7112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PPTX / DOCX / PDF / MD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解析为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Markdown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a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eyJ2aWV3Qm94IjpbOCw0XSwicG9pbnRzIjoiMCwyIDgsMiIsImN1cnZlIjoic2hhcnAifQ</pptd:line>
              </p:ext>
            </p:extLst>
          </p:nvPr>
        </p:nvSpPr>
        <p:spPr>
          <a:xfrm>
            <a:off x="2387600" y="16510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9050">
            <a:solidFill>
              <a:srgbClr val="0E7C86"/>
            </a:solidFill>
            <a:tailEnd type="arrow"/>
          </a:ln>
        </p:spPr>
      </p:sp>
      <p:sp>
        <p:nvSpPr>
          <p:cNvPr id="9" name="s2-num"/>
          <p:cNvSpPr txBox="1"/>
          <p:nvPr/>
        </p:nvSpPr>
        <p:spPr>
          <a:xfrm>
            <a:off x="2540000" y="15494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s2-name"/>
          <p:cNvSpPr txBox="1"/>
          <p:nvPr/>
        </p:nvSpPr>
        <p:spPr>
          <a:xfrm>
            <a:off x="25400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知识提取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2-desc"/>
          <p:cNvSpPr txBox="1"/>
          <p:nvPr/>
        </p:nvSpPr>
        <p:spPr>
          <a:xfrm>
            <a:off x="25400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抽取章-节-知识点三级结构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a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eyJ2aWV3Qm94IjpbOCw0XSwicG9pbnRzIjoiMCwyIDgsMiIsImN1cnZlIjoic2hhcnAifQ</pptd:line>
              </p:ext>
            </p:extLst>
          </p:nvPr>
        </p:nvSpPr>
        <p:spPr>
          <a:xfrm>
            <a:off x="4216400" y="16510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9050">
            <a:solidFill>
              <a:srgbClr val="0E7C86"/>
            </a:solidFill>
            <a:tailEnd type="arrow"/>
          </a:ln>
        </p:spPr>
      </p:sp>
      <p:sp>
        <p:nvSpPr>
          <p:cNvPr id="13" name="s3-num"/>
          <p:cNvSpPr txBox="1"/>
          <p:nvPr/>
        </p:nvSpPr>
        <p:spPr>
          <a:xfrm>
            <a:off x="4368800" y="15494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s3-name"/>
          <p:cNvSpPr txBox="1"/>
          <p:nvPr/>
        </p:nvSpPr>
        <p:spPr>
          <a:xfrm>
            <a:off x="43688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组卷需求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3-desc"/>
          <p:cNvSpPr txBox="1"/>
          <p:nvPr/>
        </p:nvSpPr>
        <p:spPr>
          <a:xfrm>
            <a:off x="43688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向导配置或自然语言描述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a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eyJ2aWV3Qm94IjpbOCw0XSwicG9pbnRzIjoiMCwyIDgsMiIsImN1cnZlIjoic2hhcnAifQ</pptd:line>
              </p:ext>
            </p:extLst>
          </p:nvPr>
        </p:nvSpPr>
        <p:spPr>
          <a:xfrm>
            <a:off x="6045200" y="16510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9050">
            <a:solidFill>
              <a:srgbClr val="0E7C86"/>
            </a:solidFill>
            <a:tailEnd type="arrow"/>
          </a:ln>
        </p:spPr>
      </p:sp>
      <p:sp>
        <p:nvSpPr>
          <p:cNvPr id="17" name="s4-num"/>
          <p:cNvSpPr txBox="1"/>
          <p:nvPr/>
        </p:nvSpPr>
        <p:spPr>
          <a:xfrm>
            <a:off x="6197600" y="15494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s4-name"/>
          <p:cNvSpPr txBox="1"/>
          <p:nvPr/>
        </p:nvSpPr>
        <p:spPr>
          <a:xfrm>
            <a:off x="61976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智能组卷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s4-desc"/>
          <p:cNvSpPr txBox="1"/>
          <p:nvPr/>
        </p:nvSpPr>
        <p:spPr>
          <a:xfrm>
            <a:off x="61976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RAG 检索 + LLM 编排 + AI 补题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a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eyJ2aWV3Qm94IjpbOCw0XSwicG9pbnRzIjoiMCwyIDgsMiIsImN1cnZlIjoic2hhcnAifQ</pptd:line>
              </p:ext>
            </p:extLst>
          </p:nvPr>
        </p:nvSpPr>
        <p:spPr>
          <a:xfrm>
            <a:off x="7874000" y="16510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9050">
            <a:solidFill>
              <a:srgbClr val="0E7C86"/>
            </a:solidFill>
            <a:tailEnd type="arrow"/>
          </a:ln>
        </p:spPr>
      </p:sp>
      <p:sp>
        <p:nvSpPr>
          <p:cNvPr id="21" name="s5-num"/>
          <p:cNvSpPr txBox="1"/>
          <p:nvPr/>
        </p:nvSpPr>
        <p:spPr>
          <a:xfrm>
            <a:off x="8026400" y="15494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5-name"/>
          <p:cNvSpPr txBox="1"/>
          <p:nvPr/>
        </p:nvSpPr>
        <p:spPr>
          <a:xfrm>
            <a:off x="80264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试卷审核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s5-desc"/>
          <p:cNvSpPr txBox="1"/>
          <p:nvPr/>
        </p:nvSpPr>
        <p:spPr>
          <a:xfrm>
            <a:off x="80264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校验总分题量，支持自动修复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a5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eyJ2aWV3Qm94IjpbOCw0XSwicG9pbnRzIjoiMCwyIDgsMiIsImN1cnZlIjoic2hhcnAifQ</pptd:line>
              </p:ext>
            </p:extLst>
          </p:nvPr>
        </p:nvSpPr>
        <p:spPr>
          <a:xfrm>
            <a:off x="9702800" y="16510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9050">
            <a:solidFill>
              <a:srgbClr val="0E7C86"/>
            </a:solidFill>
            <a:tailEnd type="arrow"/>
          </a:ln>
        </p:spPr>
      </p:sp>
      <p:sp>
        <p:nvSpPr>
          <p:cNvPr id="25" name="s6-num"/>
          <p:cNvSpPr txBox="1"/>
          <p:nvPr/>
        </p:nvSpPr>
        <p:spPr>
          <a:xfrm>
            <a:off x="9855200" y="15494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s6-name"/>
          <p:cNvSpPr txBox="1"/>
          <p:nvPr/>
        </p:nvSpPr>
        <p:spPr>
          <a:xfrm>
            <a:off x="9855200" y="1905000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导出打印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s6-desc"/>
          <p:cNvSpPr txBox="1"/>
          <p:nvPr/>
        </p:nvSpPr>
        <p:spPr>
          <a:xfrm>
            <a:off x="9855200" y="22352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DOCX / PDF / TXT 加标准答题卡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flow-rule"/>
          <p:cNvSpPr/>
          <p:nvPr/>
        </p:nvSpPr>
        <p:spPr>
          <a:xfrm>
            <a:off x="711200" y="3149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9" name="scope-label"/>
          <p:cNvSpPr txBox="1"/>
          <p:nvPr/>
        </p:nvSpPr>
        <p:spPr>
          <a:xfrm>
            <a:off x="7112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项目范围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scope-body"/>
          <p:cNvSpPr txBox="1"/>
          <p:nvPr/>
        </p:nvSpPr>
        <p:spPr>
          <a:xfrm>
            <a:off x="711200" y="3886200"/>
            <a:ext cx="5334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2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聚焦《数据结构》一门课程，目标用户为课程教师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en-US" sz="12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覆盖材料管理、知识体系、题库、组卷、审核、导出、AI</a:t>
            </a:r>
            <a:r>
              <a:rPr lang="en-US" sz="12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2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对话八大模块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80000"/>
              </a:lnSpc>
            </a:pPr>
            <a:r>
              <a:rPr lang="en-US" sz="12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不涉及学生端功能、教务系统对接与多课程扩展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mid-rule"/>
          <p:cNvSpPr/>
          <p:nvPr/>
        </p:nvSpPr>
        <p:spPr>
          <a:xfrm>
            <a:off x="6350000" y="3606800"/>
            <a:ext cx="12700" cy="22860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2" name="kpi-label"/>
          <p:cNvSpPr txBox="1"/>
          <p:nvPr/>
        </p:nvSpPr>
        <p:spPr>
          <a:xfrm>
            <a:off x="6858000" y="35560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关键质量指标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kpi1-num"/>
          <p:cNvSpPr txBox="1"/>
          <p:nvPr/>
        </p:nvSpPr>
        <p:spPr>
          <a:xfrm>
            <a:off x="6858000" y="39370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≥ 85%</a:t>
            </a:r>
            <a:endParaRPr lang="en-US" sz="2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kpi1-text"/>
          <p:cNvSpPr txBox="1"/>
          <p:nvPr/>
        </p:nvSpPr>
        <p:spPr>
          <a:xfrm>
            <a:off x="8382000" y="40132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核心知识点提取准确率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kpi1-rule"/>
          <p:cNvSpPr/>
          <p:nvPr/>
        </p:nvSpPr>
        <p:spPr>
          <a:xfrm>
            <a:off x="6858000" y="4445000"/>
            <a:ext cx="46228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6" name="kpi2-num"/>
          <p:cNvSpPr txBox="1"/>
          <p:nvPr/>
        </p:nvSpPr>
        <p:spPr>
          <a:xfrm>
            <a:off x="6858000" y="46482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≥ 90%</a:t>
            </a:r>
            <a:endParaRPr lang="en-US" sz="2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kpi2-text"/>
          <p:cNvSpPr txBox="1"/>
          <p:nvPr/>
        </p:nvSpPr>
        <p:spPr>
          <a:xfrm>
            <a:off x="8382000" y="47244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生成试卷教师审核可接受率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kpi2-rule"/>
          <p:cNvSpPr/>
          <p:nvPr/>
        </p:nvSpPr>
        <p:spPr>
          <a:xfrm>
            <a:off x="6858000" y="5156200"/>
            <a:ext cx="46228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9" name="kpi3-num"/>
          <p:cNvSpPr txBox="1"/>
          <p:nvPr/>
        </p:nvSpPr>
        <p:spPr>
          <a:xfrm>
            <a:off x="6858000" y="53594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60s</a:t>
            </a:r>
            <a:endParaRPr lang="en-US" sz="2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kpi3-text"/>
          <p:cNvSpPr txBox="1"/>
          <p:nvPr/>
        </p:nvSpPr>
        <p:spPr>
          <a:xfrm>
            <a:off x="8382000" y="54356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常规试卷（20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题内）生成耗时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42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sec">
            <a:extLst>
              <a:ext uri="{FF2B5EF4-FFF2-40B4-BE49-F238E27FC236}">
                <a16:creationId xmlns:a16="http://schemas.microsoft.com/office/drawing/2014/main" id="{38064A39-66F5-3400-880A-DC383895EF9B}"/>
              </a:ext>
            </a:extLst>
          </p:cNvPr>
          <p:cNvSpPr txBox="1"/>
          <p:nvPr/>
        </p:nvSpPr>
        <p:spPr>
          <a:xfrm>
            <a:off x="6807200" y="406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项目概述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FF6687C-6752-730F-9265-ACEF931EB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6000" y="-3629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4" grpId="0"/>
      <p:bldP spid="36" grpId="0"/>
      <p:bldP spid="37" grpId="0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四人小组、十二天：五个里程碑全部按期完成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team-table"/>
          <p:cNvGraphicFramePr>
            <a:graphicFrameLocks noGrp="1"/>
          </p:cNvGraphicFramePr>
          <p:nvPr/>
        </p:nvGraphicFramePr>
        <p:xfrm>
          <a:off x="711200" y="1498600"/>
          <a:ext cx="5384800" cy="2413000"/>
        </p:xfrm>
        <a:graphic>
          <a:graphicData uri="http://schemas.openxmlformats.org/drawingml/2006/table">
            <a:tbl>
              <a:tblPr/>
              <a:tblGrid>
                <a:gridCol w="107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姓名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角色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主要职责</a:t>
                      </a:r>
                      <a:endParaRPr lang="en-US" sz="1200" b="1" dirty="0">
                        <a:solidFill>
                          <a:srgbClr val="0E7C86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陈天阳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负责人 / 后端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架构设计、组卷引擎、知识树提取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黄睿宇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后端 / AI 集成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FastAPI、LLM 适配层与 RAG 管道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张景越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前端开发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Vue 3、Naive UI、路由与状态管理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赵若涵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测试 / 文档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功能测试、文档编写、需求与质量</a:t>
                      </a:r>
                      <a:endParaRPr lang="en-US" sz="1200" dirty="0">
                        <a:solidFill>
                          <a:srgbClr val="22292D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trategy-label"/>
          <p:cNvSpPr txBox="1"/>
          <p:nvPr/>
        </p:nvSpPr>
        <p:spPr>
          <a:xfrm>
            <a:off x="711200" y="4267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开发策略：敏捷迭代 + 模块化并行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trategy-body"/>
          <p:cNvSpPr txBox="1"/>
          <p:nvPr/>
        </p:nvSpPr>
        <p:spPr>
          <a:xfrm>
            <a:off x="711200" y="4572000"/>
            <a:ext cx="538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1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第一阶段 · 分析定义：需求分析、技术选型，搭建项目骨架与 CRUD API</a:t>
            </a:r>
            <a:endParaRPr lang="en-US" sz="11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1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第二阶段 · 功能设计：材料解析、知识树提取、RAG 检索、组卷流水线</a:t>
            </a:r>
            <a:endParaRPr lang="en-US" sz="11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1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第三阶段 · 总结完善：AI 对话、审核修复、测试与文档</a:t>
            </a:r>
            <a:endParaRPr lang="en-US" sz="11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l-line"/>
          <p:cNvSpPr/>
          <p:nvPr/>
        </p:nvSpPr>
        <p:spPr>
          <a:xfrm>
            <a:off x="7188200" y="1676400"/>
            <a:ext cx="25400" cy="41402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9" name="m1-dot"/>
          <p:cNvSpPr/>
          <p:nvPr/>
        </p:nvSpPr>
        <p:spPr>
          <a:xfrm>
            <a:off x="7137400" y="1727200"/>
            <a:ext cx="127000" cy="127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10" name="m1-title"/>
          <p:cNvSpPr txBox="1"/>
          <p:nvPr/>
        </p:nvSpPr>
        <p:spPr>
          <a:xfrm>
            <a:off x="7518400" y="1651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M1 项目启动 · 第 1~2 天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m1-tag"/>
          <p:cNvSpPr txBox="1"/>
          <p:nvPr/>
        </p:nvSpPr>
        <p:spPr>
          <a:xfrm>
            <a:off x="10617200" y="16764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m1-desc"/>
          <p:cNvSpPr txBox="1"/>
          <p:nvPr/>
        </p:nvSpPr>
        <p:spPr>
          <a:xfrm>
            <a:off x="7518400" y="19050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SRS 文档、项目计划书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m2-dot"/>
          <p:cNvSpPr/>
          <p:nvPr/>
        </p:nvSpPr>
        <p:spPr>
          <a:xfrm>
            <a:off x="7137400" y="2565400"/>
            <a:ext cx="127000" cy="127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14" name="m2-title"/>
          <p:cNvSpPr txBox="1"/>
          <p:nvPr/>
        </p:nvSpPr>
        <p:spPr>
          <a:xfrm>
            <a:off x="7518400" y="24892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M2 基础架构 · 第 3~4 天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m2-tag"/>
          <p:cNvSpPr txBox="1"/>
          <p:nvPr/>
        </p:nvSpPr>
        <p:spPr>
          <a:xfrm>
            <a:off x="10617200" y="25146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m2-desc"/>
          <p:cNvSpPr txBox="1"/>
          <p:nvPr/>
        </p:nvSpPr>
        <p:spPr>
          <a:xfrm>
            <a:off x="7518400" y="27432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项目骨架、数据模型、基础 CRUD API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m3-dot"/>
          <p:cNvSpPr/>
          <p:nvPr/>
        </p:nvSpPr>
        <p:spPr>
          <a:xfrm>
            <a:off x="7137400" y="3403600"/>
            <a:ext cx="127000" cy="127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18" name="m3-title"/>
          <p:cNvSpPr txBox="1"/>
          <p:nvPr/>
        </p:nvSpPr>
        <p:spPr>
          <a:xfrm>
            <a:off x="7518400" y="33274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M3 核心功能 · 第 5~8 天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m3-tag"/>
          <p:cNvSpPr txBox="1"/>
          <p:nvPr/>
        </p:nvSpPr>
        <p:spPr>
          <a:xfrm>
            <a:off x="10617200" y="33528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m3-desc"/>
          <p:cNvSpPr txBox="1"/>
          <p:nvPr/>
        </p:nvSpPr>
        <p:spPr>
          <a:xfrm>
            <a:off x="7518400" y="35814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组卷引擎、AI 对话、试卷导出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m4-dot"/>
          <p:cNvSpPr/>
          <p:nvPr/>
        </p:nvSpPr>
        <p:spPr>
          <a:xfrm>
            <a:off x="7137400" y="4241800"/>
            <a:ext cx="127000" cy="127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22" name="m4-title"/>
          <p:cNvSpPr txBox="1"/>
          <p:nvPr/>
        </p:nvSpPr>
        <p:spPr>
          <a:xfrm>
            <a:off x="7518400" y="41656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M4 完善体验 · 第 9~10 天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m4-tag"/>
          <p:cNvSpPr txBox="1"/>
          <p:nvPr/>
        </p:nvSpPr>
        <p:spPr>
          <a:xfrm>
            <a:off x="10617200" y="41910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m4-desc"/>
          <p:cNvSpPr txBox="1"/>
          <p:nvPr/>
        </p:nvSpPr>
        <p:spPr>
          <a:xfrm>
            <a:off x="7518400" y="44196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材料解析、知识树、审核校验、答题卡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m5-dot"/>
          <p:cNvSpPr/>
          <p:nvPr/>
        </p:nvSpPr>
        <p:spPr>
          <a:xfrm>
            <a:off x="7137400" y="5080000"/>
            <a:ext cx="127000" cy="127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26" name="m5-title"/>
          <p:cNvSpPr txBox="1"/>
          <p:nvPr/>
        </p:nvSpPr>
        <p:spPr>
          <a:xfrm>
            <a:off x="7518400" y="50038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M5 测试交付 · 第 11~12 天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m5-tag"/>
          <p:cNvSpPr txBox="1"/>
          <p:nvPr/>
        </p:nvSpPr>
        <p:spPr>
          <a:xfrm>
            <a:off x="10617200" y="5029200"/>
            <a:ext cx="86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m5-desc"/>
          <p:cNvSpPr txBox="1"/>
          <p:nvPr/>
        </p:nvSpPr>
        <p:spPr>
          <a:xfrm>
            <a:off x="7518400" y="5257800"/>
            <a:ext cx="3962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测试报告、部署文档、用户手册、汇报 PPT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0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sec">
            <a:extLst>
              <a:ext uri="{FF2B5EF4-FFF2-40B4-BE49-F238E27FC236}">
                <a16:creationId xmlns:a16="http://schemas.microsoft.com/office/drawing/2014/main" id="{C9BF39C3-EF17-0E62-F4BC-D400349E4864}"/>
              </a:ext>
            </a:extLst>
          </p:cNvPr>
          <p:cNvSpPr txBox="1"/>
          <p:nvPr/>
        </p:nvSpPr>
        <p:spPr>
          <a:xfrm>
            <a:off x="6807200" y="406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项目概述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566B900-D51C-9A68-6E0A-A2E4F7356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6000" y="-3629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/>
      <p:bldP spid="14" grpId="0"/>
      <p:bldP spid="15" grpId="0"/>
      <p:bldP spid="16" grpId="0"/>
      <p:bldP spid="18" grpId="0"/>
      <p:bldP spid="19" grpId="0"/>
      <p:bldP spid="20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7C86"/>
            </a:gs>
            <a:gs pos="100000">
              <a:srgbClr val="0A545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11200" y="1168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800" b="1">
                <a:solidFill>
                  <a:srgbClr val="FFFFFF">
                    <a:alpha val="28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lang="en-US" sz="10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ec-title"/>
          <p:cNvSpPr txBox="1"/>
          <p:nvPr/>
        </p:nvSpPr>
        <p:spPr>
          <a:xfrm>
            <a:off x="812800" y="32766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endParaRPr lang="en-US" sz="3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-en"/>
          <p:cNvSpPr txBox="1"/>
          <p:nvPr/>
        </p:nvSpPr>
        <p:spPr>
          <a:xfrm>
            <a:off x="8128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300">
                <a:solidFill>
                  <a:srgbClr val="FFFFFF">
                    <a:alpha val="7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SYSTEM DESIGN</a:t>
            </a:r>
            <a:endParaRPr lang="en-US" sz="1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ec-rule"/>
          <p:cNvSpPr/>
          <p:nvPr/>
        </p:nvSpPr>
        <p:spPr>
          <a:xfrm>
            <a:off x="812800" y="4445000"/>
            <a:ext cx="711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sec-items"/>
          <p:cNvSpPr txBox="1"/>
          <p:nvPr/>
        </p:nvSpPr>
        <p:spPr>
          <a:xfrm>
            <a:off x="812800" y="4724400"/>
            <a:ext cx="7874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02-1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需求分析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八大功能模块与优先级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02-2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总体架构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前后端分离的四层结构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02-3　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技术选型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300" dirty="0" err="1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轻量、本地优先的技术栈</a:t>
            </a:r>
            <a:endParaRPr lang="en-US" sz="1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ec-bottom"/>
          <p:cNvSpPr txBox="1"/>
          <p:nvPr/>
        </p:nvSpPr>
        <p:spPr>
          <a:xfrm>
            <a:off x="7112000" y="6350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FFFFFF">
                    <a:alpha val="5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2026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八大功能模块，按 P0 / P1 / P2 三级优先级落地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6756400" y="383721"/>
            <a:ext cx="436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q1-name"/>
          <p:cNvSpPr txBox="1"/>
          <p:nvPr/>
        </p:nvSpPr>
        <p:spPr>
          <a:xfrm>
            <a:off x="711200" y="1422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课程材料管理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q1-desc"/>
          <p:cNvSpPr txBox="1"/>
          <p:nvPr/>
        </p:nvSpPr>
        <p:spPr>
          <a:xfrm>
            <a:off x="2870200" y="1447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PPTX / DOCX / PDF / MD 上传解析，按章节分类与版本追踪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q1-p"/>
          <p:cNvSpPr txBox="1"/>
          <p:nvPr/>
        </p:nvSpPr>
        <p:spPr>
          <a:xfrm>
            <a:off x="10312400" y="1422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q1-rule"/>
          <p:cNvSpPr/>
          <p:nvPr/>
        </p:nvSpPr>
        <p:spPr>
          <a:xfrm>
            <a:off x="711200" y="1752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9" name="rq2-name"/>
          <p:cNvSpPr txBox="1"/>
          <p:nvPr/>
        </p:nvSpPr>
        <p:spPr>
          <a:xfrm>
            <a:off x="711200" y="1930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知识体系构建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q2-desc"/>
          <p:cNvSpPr txBox="1"/>
          <p:nvPr/>
        </p:nvSpPr>
        <p:spPr>
          <a:xfrm>
            <a:off x="2870200" y="1955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提取章-节-知识点三级结构，树形浏览与手动修正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q2-p"/>
          <p:cNvSpPr txBox="1"/>
          <p:nvPr/>
        </p:nvSpPr>
        <p:spPr>
          <a:xfrm>
            <a:off x="10312400" y="1930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C474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P1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q2-rule"/>
          <p:cNvSpPr/>
          <p:nvPr/>
        </p:nvSpPr>
        <p:spPr>
          <a:xfrm>
            <a:off x="711200" y="2260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3" name="rq3-name"/>
          <p:cNvSpPr txBox="1"/>
          <p:nvPr/>
        </p:nvSpPr>
        <p:spPr>
          <a:xfrm>
            <a:off x="711200" y="2438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出卷需求输入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q3-desc"/>
          <p:cNvSpPr txBox="1"/>
          <p:nvPr/>
        </p:nvSpPr>
        <p:spPr>
          <a:xfrm>
            <a:off x="2870200" y="2463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向导配置、自然语言输入、知识树勾选直达组卷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q3-p"/>
          <p:cNvSpPr txBox="1"/>
          <p:nvPr/>
        </p:nvSpPr>
        <p:spPr>
          <a:xfrm>
            <a:off x="10312400" y="2438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q3-rule"/>
          <p:cNvSpPr/>
          <p:nvPr/>
        </p:nvSpPr>
        <p:spPr>
          <a:xfrm>
            <a:off x="711200" y="2768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7" name="rq4-name"/>
          <p:cNvSpPr txBox="1"/>
          <p:nvPr/>
        </p:nvSpPr>
        <p:spPr>
          <a:xfrm>
            <a:off x="7112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智能组卷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q4-desc"/>
          <p:cNvSpPr txBox="1"/>
          <p:nvPr/>
        </p:nvSpPr>
        <p:spPr>
          <a:xfrm>
            <a:off x="2870200" y="2971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RAG 检索匹配 + LLM 编排 + AI 补题，支持五种题型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q4-p"/>
          <p:cNvSpPr txBox="1"/>
          <p:nvPr/>
        </p:nvSpPr>
        <p:spPr>
          <a:xfrm>
            <a:off x="10312400" y="2946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q4-rule"/>
          <p:cNvSpPr/>
          <p:nvPr/>
        </p:nvSpPr>
        <p:spPr>
          <a:xfrm>
            <a:off x="711200" y="3276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1" name="rq5-name"/>
          <p:cNvSpPr txBox="1"/>
          <p:nvPr/>
        </p:nvSpPr>
        <p:spPr>
          <a:xfrm>
            <a:off x="711200" y="3454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试卷审核与调整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q5-desc"/>
          <p:cNvSpPr txBox="1"/>
          <p:nvPr/>
        </p:nvSpPr>
        <p:spPr>
          <a:xfrm>
            <a:off x="2870200" y="3479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分组预览、逐题替换与重新生成、二次校验自动修复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q5-p"/>
          <p:cNvSpPr txBox="1"/>
          <p:nvPr/>
        </p:nvSpPr>
        <p:spPr>
          <a:xfrm>
            <a:off x="10312400" y="3454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q5-rule"/>
          <p:cNvSpPr/>
          <p:nvPr/>
        </p:nvSpPr>
        <p:spPr>
          <a:xfrm>
            <a:off x="711200" y="3784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5" name="rq6-name"/>
          <p:cNvSpPr txBox="1"/>
          <p:nvPr/>
        </p:nvSpPr>
        <p:spPr>
          <a:xfrm>
            <a:off x="711200" y="3962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题库管理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q6-desc"/>
          <p:cNvSpPr txBox="1"/>
          <p:nvPr/>
        </p:nvSpPr>
        <p:spPr>
          <a:xfrm>
            <a:off x="2870200" y="3987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CRUD、JSON / Excel 批量导入、语义搜索、材料题目提取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q6-p"/>
          <p:cNvSpPr txBox="1"/>
          <p:nvPr/>
        </p:nvSpPr>
        <p:spPr>
          <a:xfrm>
            <a:off x="10312400" y="3962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q6-rule"/>
          <p:cNvSpPr/>
          <p:nvPr/>
        </p:nvSpPr>
        <p:spPr>
          <a:xfrm>
            <a:off x="711200" y="4292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9" name="rq7-name"/>
          <p:cNvSpPr txBox="1"/>
          <p:nvPr/>
        </p:nvSpPr>
        <p:spPr>
          <a:xfrm>
            <a:off x="711200" y="4470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导出打印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rq7-desc"/>
          <p:cNvSpPr txBox="1"/>
          <p:nvPr/>
        </p:nvSpPr>
        <p:spPr>
          <a:xfrm>
            <a:off x="2870200" y="4495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DOCX / PDF / TXT 三格式，A3 横向双栏排版，答题卡生成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q7-p"/>
          <p:cNvSpPr txBox="1"/>
          <p:nvPr/>
        </p:nvSpPr>
        <p:spPr>
          <a:xfrm>
            <a:off x="10312400" y="4470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P0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q7-rule"/>
          <p:cNvSpPr/>
          <p:nvPr/>
        </p:nvSpPr>
        <p:spPr>
          <a:xfrm>
            <a:off x="711200" y="4800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3" name="rq8-name"/>
          <p:cNvSpPr txBox="1"/>
          <p:nvPr/>
        </p:nvSpPr>
        <p:spPr>
          <a:xfrm>
            <a:off x="711200" y="4978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对话助手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rq8-desc"/>
          <p:cNvSpPr txBox="1"/>
          <p:nvPr/>
        </p:nvSpPr>
        <p:spPr>
          <a:xfrm>
            <a:off x="2870200" y="5003800"/>
            <a:ext cx="7188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Function Calling 意图识别 + SSE 流式响应 + 多轮记忆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rq8-p"/>
          <p:cNvSpPr txBox="1"/>
          <p:nvPr/>
        </p:nvSpPr>
        <p:spPr>
          <a:xfrm>
            <a:off x="10312400" y="49784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C474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P1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rq8-rule"/>
          <p:cNvSpPr/>
          <p:nvPr/>
        </p:nvSpPr>
        <p:spPr>
          <a:xfrm>
            <a:off x="711200" y="53086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7" name="perf-label"/>
          <p:cNvSpPr txBox="1"/>
          <p:nvPr/>
        </p:nvSpPr>
        <p:spPr>
          <a:xfrm>
            <a:off x="838200" y="57277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性能基线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perf-body"/>
          <p:cNvSpPr txBox="1"/>
          <p:nvPr/>
        </p:nvSpPr>
        <p:spPr>
          <a:xfrm>
            <a:off x="2235200" y="5664200"/>
            <a:ext cx="9245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试卷生成（20 题）≤ 60 秒　·　</a:t>
            </a:r>
            <a:r>
              <a:rPr lang="en-US" sz="11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语义搜索</a:t>
            </a:r>
            <a:r>
              <a:rPr lang="en-US" sz="11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≤ 3 秒　·　</a:t>
            </a:r>
            <a:r>
              <a:rPr lang="en-US" sz="11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单题向量化</a:t>
            </a:r>
            <a:r>
              <a:rPr lang="en-US" sz="11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≤ 2 秒　·　</a:t>
            </a:r>
            <a:r>
              <a:rPr lang="en-US" sz="11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前端首屏加载</a:t>
            </a:r>
            <a:r>
              <a:rPr lang="en-US" sz="11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≤ 3 秒　·　</a:t>
            </a:r>
            <a:r>
              <a:rPr lang="en-US" sz="11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核心操作流程完成率</a:t>
            </a:r>
            <a:r>
              <a:rPr lang="en-US" sz="11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≥ 95%</a:t>
            </a:r>
            <a:endParaRPr lang="en-US" sz="11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40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2D31E265-D243-6176-8968-E5BE04A1E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-635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1" grpId="0"/>
      <p:bldP spid="33" grpId="0"/>
      <p:bldP spid="34" grpId="0"/>
      <p:bldP spid="35" grpId="0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前后端分离的 B/S 架构，四层职责清晰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layer-line"/>
          <p:cNvSpPr txBox="1"/>
          <p:nvPr/>
        </p:nvSpPr>
        <p:spPr>
          <a:xfrm>
            <a:off x="711200" y="1295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展示层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Vue 3 + Naive UI　→　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接口层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FastAPI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Routers　→　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业务逻辑层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 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个核心服务类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→　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数据层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SQLite + 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ChromaDB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arch-img"/>
          <p:cNvPicPr/>
          <p:nvPr/>
        </p:nvPicPr>
        <p:blipFill>
          <a:blip r:embed="rId2"/>
          <a:srcRect l="-58" r="-58"/>
          <a:stretch>
            <a:fillRect/>
          </a:stretch>
        </p:blipFill>
        <p:spPr>
          <a:xfrm>
            <a:off x="711200" y="1752600"/>
            <a:ext cx="10769600" cy="3352800"/>
          </a:xfrm>
          <a:prstGeom prst="rect">
            <a:avLst/>
          </a:prstGeom>
          <a:ln>
            <a:noFill/>
          </a:ln>
        </p:spPr>
      </p:pic>
      <p:sp>
        <p:nvSpPr>
          <p:cNvPr id="7" name="arch-caption"/>
          <p:cNvSpPr txBox="1"/>
          <p:nvPr/>
        </p:nvSpPr>
        <p:spPr>
          <a:xfrm>
            <a:off x="711200" y="52070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 1 ·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系统整体架构图（引自项目开发文档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图 6-1）</a:t>
            </a:r>
            <a:endParaRPr lang="en-US" sz="9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note1"/>
          <p:cNvSpPr txBox="1"/>
          <p:nvPr/>
        </p:nvSpPr>
        <p:spPr>
          <a:xfrm>
            <a:off x="711200" y="5613400"/>
            <a:ext cx="5181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前端为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7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个页面视图的单页应用（SPA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）；AI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对话经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EventSource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SSE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流式数据，呈现打字机效果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note-rule"/>
          <p:cNvSpPr/>
          <p:nvPr/>
        </p:nvSpPr>
        <p:spPr>
          <a:xfrm>
            <a:off x="6172200" y="5638800"/>
            <a:ext cx="12700" cy="5588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0" name="note2"/>
          <p:cNvSpPr txBox="1"/>
          <p:nvPr/>
        </p:nvSpPr>
        <p:spPr>
          <a:xfrm>
            <a:off x="6451600" y="5613400"/>
            <a:ext cx="502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后端暴露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30+ RESTful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端点；本地部署仅监听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127.0.0.1，不对外暴露端口，保障数据安全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ec">
            <a:extLst>
              <a:ext uri="{FF2B5EF4-FFF2-40B4-BE49-F238E27FC236}">
                <a16:creationId xmlns:a16="http://schemas.microsoft.com/office/drawing/2014/main" id="{141C7947-19A4-CCBD-6AF4-8007BD82F39E}"/>
              </a:ext>
            </a:extLst>
          </p:cNvPr>
          <p:cNvSpPr txBox="1"/>
          <p:nvPr/>
        </p:nvSpPr>
        <p:spPr>
          <a:xfrm>
            <a:off x="6756400" y="383721"/>
            <a:ext cx="436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A776B8A-246A-B68A-207D-FBEA959B1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-635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轻量、本地优先的技术栈，每层选型都有明确理由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tech-table"/>
          <p:cNvGraphicFramePr>
            <a:graphicFrameLocks noGrp="1"/>
          </p:cNvGraphicFramePr>
          <p:nvPr/>
        </p:nvGraphicFramePr>
        <p:xfrm>
          <a:off x="711200" y="1422400"/>
          <a:ext cx="10769600" cy="4114802"/>
        </p:xfrm>
        <a:graphic>
          <a:graphicData uri="http://schemas.openxmlformats.org/drawingml/2006/table">
            <a:tbl>
              <a:tblPr/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5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层次</a:t>
                      </a:r>
                      <a:endParaRPr lang="en-US" sz="1200" b="1" dirty="0">
                        <a:solidFill>
                          <a:srgbClr val="0E7C86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技术选型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选型理由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前端框架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Vue 3 + Vite + Naive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Composition API 生态成熟，Tree-shaking 减小打包体积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后端框架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FastAPI + SQLAlchemy 2.0 Async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高性能异步框架，自动生成 OpenAPI 文档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关系数据库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SQLite + aiosqlite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零配置单文件存储，适合教学场景本地部署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向量数据库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ChromaDB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轻量嵌入式，支持 HNSW 索引与元数据过滤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大语言模型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DeepSeek API（deepseek-chat）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OpenAI 兼容协议，中文能力强、性价比高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嵌入模型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BAAI/bge-small-zh-v1.5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中文优化，24MB / 512 维，可完全本地运行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74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文档解析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python-pptx / python-docx / PyMuPDF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覆盖 PPTX、DOCX、PDF 主流教学材料格式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文档生成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python-docx / ReportLab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生成</a:t>
                      </a:r>
                      <a:r>
                        <a:rPr lang="en-US" sz="1200" dirty="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 A3 </a:t>
                      </a:r>
                      <a:r>
                        <a:rPr lang="en-US" sz="1200" dirty="0" err="1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双栏试卷、答题卡与</a:t>
                      </a:r>
                      <a:r>
                        <a:rPr lang="en-US" sz="1200" dirty="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 TXT </a:t>
                      </a:r>
                      <a:r>
                        <a:rPr lang="en-US" sz="1200" dirty="0" err="1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文本</a:t>
                      </a:r>
                      <a:endParaRPr lang="en-US" sz="1200" dirty="0">
                        <a:solidFill>
                          <a:srgbClr val="22292D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ch-note"/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注：双数据库通过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questions.embedding_id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字段双向关联；得益于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SQLAlchemy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的方言抽象，未来扩展为多用户场景时可平滑迁移至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PostgreSQL。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8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ec">
            <a:extLst>
              <a:ext uri="{FF2B5EF4-FFF2-40B4-BE49-F238E27FC236}">
                <a16:creationId xmlns:a16="http://schemas.microsoft.com/office/drawing/2014/main" id="{39C9AF10-276D-A170-FBE0-78A8961D237A}"/>
              </a:ext>
            </a:extLst>
          </p:cNvPr>
          <p:cNvSpPr txBox="1"/>
          <p:nvPr/>
        </p:nvSpPr>
        <p:spPr>
          <a:xfrm>
            <a:off x="6756400" y="358321"/>
            <a:ext cx="436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系统设计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A3FE24C-F16D-B37E-1A0C-E6BEE8A8F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-3175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7C86"/>
            </a:gs>
            <a:gs pos="100000">
              <a:srgbClr val="0A545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11200" y="1168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800" b="1">
                <a:solidFill>
                  <a:srgbClr val="FFFFFF">
                    <a:alpha val="28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lang="en-US" sz="10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ec-title"/>
          <p:cNvSpPr txBox="1"/>
          <p:nvPr/>
        </p:nvSpPr>
        <p:spPr>
          <a:xfrm>
            <a:off x="812800" y="32766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3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-en"/>
          <p:cNvSpPr txBox="1"/>
          <p:nvPr/>
        </p:nvSpPr>
        <p:spPr>
          <a:xfrm>
            <a:off x="8128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300">
                <a:solidFill>
                  <a:srgbClr val="FFFFFF">
                    <a:alpha val="7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CORE MECHANISMS</a:t>
            </a:r>
            <a:endParaRPr lang="en-US" sz="1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ec-rule"/>
          <p:cNvSpPr/>
          <p:nvPr/>
        </p:nvSpPr>
        <p:spPr>
          <a:xfrm>
            <a:off x="812800" y="4445000"/>
            <a:ext cx="711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sec-items"/>
          <p:cNvSpPr txBox="1"/>
          <p:nvPr/>
        </p:nvSpPr>
        <p:spPr>
          <a:xfrm>
            <a:off x="812800" y="47244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03-1　LLM 适配层与 RAG 检索增强管道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03-2　智能组卷的五阶段混合流水线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03-3　双数据库协同与数据一致性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03-4　AI 对话助手的意图识别与流式输出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ec-bottom"/>
          <p:cNvSpPr txBox="1"/>
          <p:nvPr/>
        </p:nvSpPr>
        <p:spPr>
          <a:xfrm>
            <a:off x="7112000" y="6350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FFFFFF">
                    <a:alpha val="5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2026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95512" y="66675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适配层：三种调用模式，供应商可一行配置切换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6756400" y="34834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left-label"/>
          <p:cNvSpPr txBox="1"/>
          <p:nvPr/>
        </p:nvSpPr>
        <p:spPr>
          <a:xfrm>
            <a:off x="711200" y="1346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三种调用模式（LLMAdapter</a:t>
            </a:r>
            <a:r>
              <a:rPr lang="en-US" sz="16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m1-name"/>
          <p:cNvSpPr txBox="1"/>
          <p:nvPr/>
        </p:nvSpPr>
        <p:spPr>
          <a:xfrm>
            <a:off x="711200" y="1701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chat() · 标准请求-响应</a:t>
            </a:r>
            <a:endParaRPr 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m1-desc"/>
          <p:cNvSpPr txBox="1"/>
          <p:nvPr/>
        </p:nvSpPr>
        <p:spPr>
          <a:xfrm>
            <a:off x="711200" y="1981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用于知识树提取、题目生成、组卷编排等一次性任务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m1-rule"/>
          <p:cNvSpPr/>
          <p:nvPr/>
        </p:nvSpPr>
        <p:spPr>
          <a:xfrm>
            <a:off x="711200" y="2463800"/>
            <a:ext cx="508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9" name="m2-name"/>
          <p:cNvSpPr txBox="1"/>
          <p:nvPr/>
        </p:nvSpPr>
        <p:spPr>
          <a:xfrm>
            <a:off x="711200" y="264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chat_stream() · 流式输出</a:t>
            </a:r>
            <a:endParaRPr 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m2-desc"/>
          <p:cNvSpPr txBox="1"/>
          <p:nvPr/>
        </p:nvSpPr>
        <p:spPr>
          <a:xfrm>
            <a:off x="711200" y="292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 AI 对话场景，文字逐段推送，配合 SSE 呈现打字机效果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m2-rule"/>
          <p:cNvSpPr/>
          <p:nvPr/>
        </p:nvSpPr>
        <p:spPr>
          <a:xfrm>
            <a:off x="711200" y="3403600"/>
            <a:ext cx="508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m3-name"/>
          <p:cNvSpPr txBox="1"/>
          <p:nvPr/>
        </p:nvSpPr>
        <p:spPr>
          <a:xfrm>
            <a:off x="711200" y="3581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chat_with_tools() · Function Calling</a:t>
            </a:r>
            <a:endParaRPr 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m3-desc"/>
          <p:cNvSpPr txBox="1"/>
          <p:nvPr/>
        </p:nvSpPr>
        <p:spPr>
          <a:xfrm>
            <a:off x="711200" y="38608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识别教师自然语言意图，自动调用搜题、组卷、知识查询工具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m3-rule"/>
          <p:cNvSpPr/>
          <p:nvPr/>
        </p:nvSpPr>
        <p:spPr>
          <a:xfrm>
            <a:off x="711200" y="4343400"/>
            <a:ext cx="508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5" name="left-note"/>
          <p:cNvSpPr txBox="1"/>
          <p:nvPr/>
        </p:nvSpPr>
        <p:spPr>
          <a:xfrm>
            <a:off x="711200" y="4572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OpenAI 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兼容协议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封装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DeepSeek 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API；将来切换其他供应商时</a:t>
            </a:r>
            <a:r>
              <a:rPr lang="en-US" sz="1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仅需修改配置参数</a:t>
            </a:r>
            <a:r>
              <a:rPr lang="en-US" sz="14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，业务代码零改动</a:t>
            </a:r>
            <a:r>
              <a:rPr lang="en-US" sz="14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mid-rule"/>
          <p:cNvSpPr/>
          <p:nvPr/>
        </p:nvSpPr>
        <p:spPr>
          <a:xfrm>
            <a:off x="6172200" y="1422400"/>
            <a:ext cx="12700" cy="43180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7" name="right-label"/>
          <p:cNvSpPr txBox="1"/>
          <p:nvPr/>
        </p:nvSpPr>
        <p:spPr>
          <a:xfrm>
            <a:off x="6527800" y="1346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本地嵌入模型</a:t>
            </a:r>
            <a:r>
              <a:rPr lang="en-US" sz="16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RAG </a:t>
            </a:r>
            <a:r>
              <a:rPr lang="en-US" sz="16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检索增强管道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bge-title"/>
          <p:cNvSpPr txBox="1"/>
          <p:nvPr/>
        </p:nvSpPr>
        <p:spPr>
          <a:xfrm>
            <a:off x="6527800" y="17018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BGE 嵌入模型（bge-small-zh-v1.5）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bge-body"/>
          <p:cNvSpPr txBox="1"/>
          <p:nvPr/>
        </p:nvSpPr>
        <p:spPr>
          <a:xfrm>
            <a:off x="6527800" y="19812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中文优化，24MB / 512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维，完全本地运行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模块级单例加载，避免重复初始化耗时数秒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encode 经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asyncio.to_thread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包装，不阻塞事件循环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国内经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hf-mirror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镜像自动下载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ag-title"/>
          <p:cNvSpPr txBox="1"/>
          <p:nvPr/>
        </p:nvSpPr>
        <p:spPr>
          <a:xfrm>
            <a:off x="6527800" y="31496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RAG </a:t>
            </a: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管道四步（RAGPipeline</a:t>
            </a: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ag-body"/>
          <p:cNvSpPr txBox="1"/>
          <p:nvPr/>
        </p:nvSpPr>
        <p:spPr>
          <a:xfrm>
            <a:off x="6527800" y="3429000"/>
            <a:ext cx="4953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题目按「题干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选项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知识点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章节」拼接后向量化，写入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ChromaDB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查询词向量化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余弦相似度检索，支持按题型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/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难度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/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章节元数据预过滤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组卷时按知识点上下文批量检索候选题目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题库不足时由</a:t>
            </a:r>
            <a:r>
              <a:rPr lang="en-US" sz="1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LLM </a:t>
            </a:r>
            <a:r>
              <a:rPr lang="en-US" sz="1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基于材料生成新题，自动回写题库与向量库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6CC630C-A137-1411-82B8-3DFA84601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-5080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2" grpId="0"/>
      <p:bldP spid="13" grpId="0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混合组卷：RAG 检索 + LLM 编排 + AI 补题的五阶段流水线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t1-num"/>
          <p:cNvSpPr txBox="1"/>
          <p:nvPr/>
        </p:nvSpPr>
        <p:spPr>
          <a:xfrm>
            <a:off x="711200" y="1422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st1-name"/>
          <p:cNvSpPr txBox="1"/>
          <p:nvPr/>
        </p:nvSpPr>
        <p:spPr>
          <a:xfrm>
            <a:off x="1320800" y="1447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构建知识上下文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t1-desc"/>
          <p:cNvSpPr txBox="1"/>
          <p:nvPr/>
        </p:nvSpPr>
        <p:spPr>
          <a:xfrm>
            <a:off x="1320800" y="17272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加载教师选定的知识点信息，拼接为组卷知识上下文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t1-rule"/>
          <p:cNvSpPr/>
          <p:nvPr/>
        </p:nvSpPr>
        <p:spPr>
          <a:xfrm>
            <a:off x="1320800" y="2032000"/>
            <a:ext cx="635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9" name="st2-num"/>
          <p:cNvSpPr txBox="1"/>
          <p:nvPr/>
        </p:nvSpPr>
        <p:spPr>
          <a:xfrm>
            <a:off x="711200" y="22352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st2-name"/>
          <p:cNvSpPr txBox="1"/>
          <p:nvPr/>
        </p:nvSpPr>
        <p:spPr>
          <a:xfrm>
            <a:off x="1320800" y="2260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RAG 候选检索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t2-desc"/>
          <p:cNvSpPr txBox="1"/>
          <p:nvPr/>
        </p:nvSpPr>
        <p:spPr>
          <a:xfrm>
            <a:off x="1320800" y="2540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按每种题型分别向量检索，取 count × 5 条预留冗余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st2-rule"/>
          <p:cNvSpPr/>
          <p:nvPr/>
        </p:nvSpPr>
        <p:spPr>
          <a:xfrm>
            <a:off x="1320800" y="2844800"/>
            <a:ext cx="635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3" name="st3-num"/>
          <p:cNvSpPr txBox="1"/>
          <p:nvPr/>
        </p:nvSpPr>
        <p:spPr>
          <a:xfrm>
            <a:off x="711200" y="30480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st3-name"/>
          <p:cNvSpPr txBox="1"/>
          <p:nvPr/>
        </p:nvSpPr>
        <p:spPr>
          <a:xfrm>
            <a:off x="1320800" y="3073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生成补充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t3-desc"/>
          <p:cNvSpPr txBox="1"/>
          <p:nvPr/>
        </p:nvSpPr>
        <p:spPr>
          <a:xfrm>
            <a:off x="1320800" y="33528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候选不足时由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LLM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基于教学材料生成新题，自动存入题库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st3-rule"/>
          <p:cNvSpPr/>
          <p:nvPr/>
        </p:nvSpPr>
        <p:spPr>
          <a:xfrm>
            <a:off x="1320800" y="3657600"/>
            <a:ext cx="635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7" name="st4-num"/>
          <p:cNvSpPr txBox="1"/>
          <p:nvPr/>
        </p:nvSpPr>
        <p:spPr>
          <a:xfrm>
            <a:off x="711200" y="38608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st4-name"/>
          <p:cNvSpPr txBox="1"/>
          <p:nvPr/>
        </p:nvSpPr>
        <p:spPr>
          <a:xfrm>
            <a:off x="1320800" y="3886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组卷编排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st4-desc"/>
          <p:cNvSpPr txBox="1"/>
          <p:nvPr/>
        </p:nvSpPr>
        <p:spPr>
          <a:xfrm>
            <a:off x="1320800" y="41656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候选以 JSON 交由 LLM 选择最优组合并排序，避免知识点重复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st4-rule"/>
          <p:cNvSpPr/>
          <p:nvPr/>
        </p:nvSpPr>
        <p:spPr>
          <a:xfrm>
            <a:off x="1320800" y="4470400"/>
            <a:ext cx="635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1" name="st5-num"/>
          <p:cNvSpPr txBox="1"/>
          <p:nvPr/>
        </p:nvSpPr>
        <p:spPr>
          <a:xfrm>
            <a:off x="711200" y="46736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t5-name"/>
          <p:cNvSpPr txBox="1"/>
          <p:nvPr/>
        </p:nvSpPr>
        <p:spPr>
          <a:xfrm>
            <a:off x="1320800" y="4699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自动补缺与分数归一化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st5-desc"/>
          <p:cNvSpPr txBox="1"/>
          <p:nvPr/>
        </p:nvSpPr>
        <p:spPr>
          <a:xfrm>
            <a:off x="1320800" y="49784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补齐题型缺口，归一化分值使总分精确匹配目标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st5-rule"/>
          <p:cNvSpPr/>
          <p:nvPr/>
        </p:nvSpPr>
        <p:spPr>
          <a:xfrm>
            <a:off x="1320800" y="5283200"/>
            <a:ext cx="6350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5" name="st-note"/>
          <p:cNvSpPr txBox="1"/>
          <p:nvPr/>
        </p:nvSpPr>
        <p:spPr>
          <a:xfrm>
            <a:off x="711200" y="5537200"/>
            <a:ext cx="695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策略要点：题库充足时优先复用已有题目，不足时才调用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AI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——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兼顾质量、成本与可控性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panel"/>
          <p:cNvSpPr/>
          <p:nvPr/>
        </p:nvSpPr>
        <p:spPr>
          <a:xfrm>
            <a:off x="8128000" y="1422400"/>
            <a:ext cx="3352800" cy="4546600"/>
          </a:xfrm>
          <a:prstGeom prst="rect">
            <a:avLst/>
          </a:prstGeom>
          <a:solidFill>
            <a:srgbClr val="EBF0EF"/>
          </a:solidFill>
          <a:ln w="12700">
            <a:solidFill>
              <a:srgbClr val="DCD7CD"/>
            </a:solidFill>
          </a:ln>
        </p:spPr>
      </p:sp>
      <p:sp>
        <p:nvSpPr>
          <p:cNvPr id="27" name="panel-label"/>
          <p:cNvSpPr txBox="1"/>
          <p:nvPr/>
        </p:nvSpPr>
        <p:spPr>
          <a:xfrm>
            <a:off x="8432800" y="16764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分数归一化算法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panel-formula"/>
          <p:cNvSpPr txBox="1"/>
          <p:nvPr/>
        </p:nvSpPr>
        <p:spPr>
          <a:xfrm>
            <a:off x="8432800" y="1981200"/>
            <a:ext cx="2743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base = total_score ÷ count（整除）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余数 remainder 道题依次各 +1 分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panel-example"/>
          <p:cNvSpPr txBox="1"/>
          <p:nvPr/>
        </p:nvSpPr>
        <p:spPr>
          <a:xfrm>
            <a:off x="8432800" y="3048000"/>
            <a:ext cx="274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例：总分 100、23 道题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→ base = 4，remainder = 8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→ 前 8 题各 5 分，其余各 4 分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panel-rule"/>
          <p:cNvSpPr/>
          <p:nvPr/>
        </p:nvSpPr>
        <p:spPr>
          <a:xfrm>
            <a:off x="8432800" y="4013200"/>
            <a:ext cx="27432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1" name="panel-result"/>
          <p:cNvSpPr txBox="1"/>
          <p:nvPr/>
        </p:nvSpPr>
        <p:spPr>
          <a:xfrm>
            <a:off x="8432800" y="4216400"/>
            <a:ext cx="2743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总分严格等于目标值，任意两题分值差不超过 1 分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panel-note"/>
          <p:cNvSpPr txBox="1"/>
          <p:nvPr/>
        </p:nvSpPr>
        <p:spPr>
          <a:xfrm>
            <a:off x="8432800" y="5080000"/>
            <a:ext cx="2743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 _normalize_scores() 实现，在组卷流程收尾阶段统一校准</a:t>
            </a:r>
            <a:endParaRPr lang="en-US" sz="1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4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sec">
            <a:extLst>
              <a:ext uri="{FF2B5EF4-FFF2-40B4-BE49-F238E27FC236}">
                <a16:creationId xmlns:a16="http://schemas.microsoft.com/office/drawing/2014/main" id="{515CB825-98DD-D868-0542-EA1C222A5991}"/>
              </a:ext>
            </a:extLst>
          </p:cNvPr>
          <p:cNvSpPr txBox="1"/>
          <p:nvPr/>
        </p:nvSpPr>
        <p:spPr>
          <a:xfrm>
            <a:off x="6756400" y="35469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2051E95-E5B0-9538-E8FD-09C9D92B9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-4445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7" grpId="0"/>
      <p:bldP spid="28" grpId="0"/>
      <p:bldP spid="29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SQLite + ChromaDB 双库协同，事务性双写保障一致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db1-title"/>
          <p:cNvSpPr txBox="1"/>
          <p:nvPr/>
        </p:nvSpPr>
        <p:spPr>
          <a:xfrm>
            <a:off x="711199" y="1422400"/>
            <a:ext cx="54801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SQLite · 结构化业务数据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db1-body"/>
          <p:cNvSpPr txBox="1"/>
          <p:nvPr/>
        </p:nvSpPr>
        <p:spPr>
          <a:xfrm>
            <a:off x="711199" y="1727200"/>
            <a:ext cx="5534959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张表：materials / knowledge_nodes / questions / exams / exam_questions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知识节点通过 parent_id 自引用（邻接表）实现章-节-知识点三级树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db1-rule"/>
          <p:cNvSpPr/>
          <p:nvPr/>
        </p:nvSpPr>
        <p:spPr>
          <a:xfrm>
            <a:off x="711199" y="2717800"/>
            <a:ext cx="5534959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8" name="db2-title"/>
          <p:cNvSpPr txBox="1"/>
          <p:nvPr/>
        </p:nvSpPr>
        <p:spPr>
          <a:xfrm>
            <a:off x="711199" y="2921000"/>
            <a:ext cx="54801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ChromaDB · 题目语义向量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db2-body"/>
          <p:cNvSpPr txBox="1"/>
          <p:nvPr/>
        </p:nvSpPr>
        <p:spPr>
          <a:xfrm>
            <a:off x="711199" y="3225800"/>
            <a:ext cx="553495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Collection「questions」：cosine 相似度 + HNSW 索引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512 维 BGE 向量；metadata 支持题型 / 难度 / 章节预过滤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db2-rule"/>
          <p:cNvSpPr/>
          <p:nvPr/>
        </p:nvSpPr>
        <p:spPr>
          <a:xfrm>
            <a:off x="711199" y="4216400"/>
            <a:ext cx="5534959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1" name="db3-title"/>
          <p:cNvSpPr txBox="1"/>
          <p:nvPr/>
        </p:nvSpPr>
        <p:spPr>
          <a:xfrm>
            <a:off x="711199" y="4419600"/>
            <a:ext cx="54801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关联与一致性保障</a:t>
            </a:r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db3-body"/>
          <p:cNvSpPr txBox="1"/>
          <p:nvPr/>
        </p:nvSpPr>
        <p:spPr>
          <a:xfrm>
            <a:off x="711199" y="4724400"/>
            <a:ext cx="5534959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题目记录经 embedding_id 与向量双向关联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写操作顺序：flush 取 ID → 向量化 → ChromaDB upsert → commit，任一失败整体回滚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/api/questions/embed-all 可全量重建索引，修复潜在不一致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er-img"/>
          <p:cNvPicPr/>
          <p:nvPr/>
        </p:nvPicPr>
        <p:blipFill>
          <a:blip r:embed="rId2"/>
          <a:srcRect t="-87" b="-87"/>
          <a:stretch>
            <a:fillRect/>
          </a:stretch>
        </p:blipFill>
        <p:spPr>
          <a:xfrm>
            <a:off x="6451600" y="1422400"/>
            <a:ext cx="5029200" cy="4114800"/>
          </a:xfrm>
          <a:prstGeom prst="rect">
            <a:avLst/>
          </a:prstGeom>
          <a:ln>
            <a:noFill/>
          </a:ln>
        </p:spPr>
      </p:pic>
      <p:sp>
        <p:nvSpPr>
          <p:cNvPr id="14" name="er-caption"/>
          <p:cNvSpPr txBox="1"/>
          <p:nvPr/>
        </p:nvSpPr>
        <p:spPr>
          <a:xfrm>
            <a:off x="6451600" y="5638800"/>
            <a:ext cx="502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 2 ·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ER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图（引自项目开发文档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图 9-1）</a:t>
            </a:r>
            <a:endParaRPr lang="en-US" sz="9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sec">
            <a:extLst>
              <a:ext uri="{FF2B5EF4-FFF2-40B4-BE49-F238E27FC236}">
                <a16:creationId xmlns:a16="http://schemas.microsoft.com/office/drawing/2014/main" id="{5104BA6F-7DFF-1F1A-C6FC-074A8450E2E9}"/>
              </a:ext>
            </a:extLst>
          </p:cNvPr>
          <p:cNvSpPr txBox="1"/>
          <p:nvPr/>
        </p:nvSpPr>
        <p:spPr>
          <a:xfrm>
            <a:off x="6654554" y="36739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31888DF-345C-57D7-EB2B-53F580A76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3354" y="-3175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对话助手：Function</a:t>
            </a: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Calling </a:t>
            </a: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识意图，SSE</a:t>
            </a: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逐字流式输出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ools-label"/>
          <p:cNvSpPr txBox="1"/>
          <p:nvPr/>
        </p:nvSpPr>
        <p:spPr>
          <a:xfrm>
            <a:off x="711200" y="1411568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三个可调用工具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ool1-name"/>
          <p:cNvSpPr txBox="1"/>
          <p:nvPr/>
        </p:nvSpPr>
        <p:spPr>
          <a:xfrm>
            <a:off x="711200" y="1676400"/>
            <a:ext cx="53848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search_questions · 语义搜题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ool1-desc"/>
          <p:cNvSpPr txBox="1"/>
          <p:nvPr/>
        </p:nvSpPr>
        <p:spPr>
          <a:xfrm>
            <a:off x="711200" y="1930400"/>
            <a:ext cx="5384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按搜索词、题型、难度、数量检索题库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ool2-name"/>
          <p:cNvSpPr txBox="1"/>
          <p:nvPr/>
        </p:nvSpPr>
        <p:spPr>
          <a:xfrm>
            <a:off x="711200" y="2260600"/>
            <a:ext cx="53848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generate_exam · 自然语言组卷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ool2-desc"/>
          <p:cNvSpPr txBox="1"/>
          <p:nvPr/>
        </p:nvSpPr>
        <p:spPr>
          <a:xfrm>
            <a:off x="711200" y="2514600"/>
            <a:ext cx="5384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自动解析考试范围、题型数量、总分与时长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ool3-name"/>
          <p:cNvSpPr txBox="1"/>
          <p:nvPr/>
        </p:nvSpPr>
        <p:spPr>
          <a:xfrm>
            <a:off x="711200" y="2844800"/>
            <a:ext cx="53848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query_knowledge · 知识问答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ool3-desc"/>
          <p:cNvSpPr txBox="1"/>
          <p:nvPr/>
        </p:nvSpPr>
        <p:spPr>
          <a:xfrm>
            <a:off x="711200" y="3098800"/>
            <a:ext cx="5384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查询知识点定义、关键术语与教学重点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flow-label"/>
          <p:cNvSpPr txBox="1"/>
          <p:nvPr/>
        </p:nvSpPr>
        <p:spPr>
          <a:xfrm>
            <a:off x="711200" y="35814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一次对话的处理链路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low-body"/>
          <p:cNvSpPr txBox="1"/>
          <p:nvPr/>
        </p:nvSpPr>
        <p:spPr>
          <a:xfrm>
            <a:off x="711199" y="3886200"/>
            <a:ext cx="5595471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chat_with_tools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意图识别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②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执行工具并经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SSE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推送结果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LLM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流式总结，text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事件逐段推送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④ done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事件收尾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支持多轮上下文记忆；System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Prompt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预设「数据结构教学助手」角色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quote-panel"/>
          <p:cNvSpPr/>
          <p:nvPr/>
        </p:nvSpPr>
        <p:spPr>
          <a:xfrm>
            <a:off x="711200" y="5156200"/>
            <a:ext cx="5384800" cy="812800"/>
          </a:xfrm>
          <a:prstGeom prst="rect">
            <a:avLst/>
          </a:prstGeom>
          <a:solidFill>
            <a:srgbClr val="EBF0EF"/>
          </a:solidFill>
          <a:ln w="12700">
            <a:solidFill>
              <a:srgbClr val="DCD7CD"/>
            </a:solidFill>
          </a:ln>
        </p:spPr>
      </p:sp>
      <p:sp>
        <p:nvSpPr>
          <p:cNvPr id="15" name="quote-text"/>
          <p:cNvSpPr txBox="1"/>
          <p:nvPr/>
        </p:nvSpPr>
        <p:spPr>
          <a:xfrm>
            <a:off x="914400" y="5283200"/>
            <a:ext cx="502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「帮我出一份线性表的试卷：10 道选择、5 道填空、3 道简答，总分 100 分」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5000"/>
              </a:lnSpc>
            </a:pPr>
            <a:r>
              <a:rPr lang="en-US" sz="14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 系统自动解析参数并生成试卷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" name="chat-img"/>
          <p:cNvPicPr/>
          <p:nvPr/>
        </p:nvPicPr>
        <p:blipFill>
          <a:blip r:embed="rId2"/>
          <a:srcRect t="-11589" b="-11589"/>
          <a:stretch>
            <a:fillRect/>
          </a:stretch>
        </p:blipFill>
        <p:spPr>
          <a:xfrm>
            <a:off x="6959600" y="1422400"/>
            <a:ext cx="4521200" cy="4318000"/>
          </a:xfrm>
          <a:prstGeom prst="rect">
            <a:avLst/>
          </a:prstGeom>
          <a:ln>
            <a:noFill/>
          </a:ln>
        </p:spPr>
      </p:pic>
      <p:sp>
        <p:nvSpPr>
          <p:cNvPr id="17" name="chat-caption"/>
          <p:cNvSpPr txBox="1"/>
          <p:nvPr/>
        </p:nvSpPr>
        <p:spPr>
          <a:xfrm>
            <a:off x="6959600" y="5816600"/>
            <a:ext cx="4521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 3 · AI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出卷助手对话界面（知识问答场景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9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ec">
            <a:extLst>
              <a:ext uri="{FF2B5EF4-FFF2-40B4-BE49-F238E27FC236}">
                <a16:creationId xmlns:a16="http://schemas.microsoft.com/office/drawing/2014/main" id="{0CD08A28-B7FF-BD64-23A9-9FC7ADF0A4AF}"/>
              </a:ext>
            </a:extLst>
          </p:cNvPr>
          <p:cNvSpPr txBox="1"/>
          <p:nvPr/>
        </p:nvSpPr>
        <p:spPr>
          <a:xfrm>
            <a:off x="6814458" y="334736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核心机制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8F93B2A-D40F-A200-75C2-7108C48BC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3258" y="-64407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7C86"/>
            </a:gs>
            <a:gs pos="100000">
              <a:srgbClr val="0A545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11200" y="1168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800" b="1">
                <a:solidFill>
                  <a:srgbClr val="FFFFFF">
                    <a:alpha val="28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lang="en-US" sz="10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ec-title"/>
          <p:cNvSpPr txBox="1"/>
          <p:nvPr/>
        </p:nvSpPr>
        <p:spPr>
          <a:xfrm>
            <a:off x="812800" y="32766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3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-en"/>
          <p:cNvSpPr txBox="1"/>
          <p:nvPr/>
        </p:nvSpPr>
        <p:spPr>
          <a:xfrm>
            <a:off x="8128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300">
                <a:solidFill>
                  <a:srgbClr val="FFFFFF">
                    <a:alpha val="7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IMPLEMENTATION &amp; VALIDATION</a:t>
            </a:r>
            <a:endParaRPr lang="en-US" sz="11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ec-rule"/>
          <p:cNvSpPr/>
          <p:nvPr/>
        </p:nvSpPr>
        <p:spPr>
          <a:xfrm>
            <a:off x="812800" y="4445000"/>
            <a:ext cx="711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sec-items"/>
          <p:cNvSpPr txBox="1"/>
          <p:nvPr/>
        </p:nvSpPr>
        <p:spPr>
          <a:xfrm>
            <a:off x="812800" y="47244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04-1　功能走查 —— 从教学材料到结构化题库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04-2　功能走查 —— 从组卷向导到打印试卷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04-3　测试策略与性能指标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3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04-4　部署方案与项目成果统计</a:t>
            </a:r>
            <a:endParaRPr lang="en-US" sz="1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ec-bottom"/>
          <p:cNvSpPr txBox="1"/>
          <p:nvPr/>
        </p:nvSpPr>
        <p:spPr>
          <a:xfrm>
            <a:off x="7112000" y="6350000"/>
            <a:ext cx="436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FFFFFF">
                    <a:alpha val="5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2026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功能走查</a:t>
            </a: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1：从教学材料到结构化题库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6770915" y="36718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g-upload"/>
          <p:cNvPicPr/>
          <p:nvPr/>
        </p:nvPicPr>
        <p:blipFill>
          <a:blip r:embed="rId2"/>
          <a:srcRect t="-38" b="-38"/>
          <a:stretch>
            <a:fillRect/>
          </a:stretch>
        </p:blipFill>
        <p:spPr>
          <a:xfrm>
            <a:off x="711200" y="1371600"/>
            <a:ext cx="4826000" cy="4064000"/>
          </a:xfrm>
          <a:prstGeom prst="rect">
            <a:avLst/>
          </a:prstGeom>
          <a:ln>
            <a:noFill/>
          </a:ln>
        </p:spPr>
      </p:pic>
      <p:sp>
        <p:nvSpPr>
          <p:cNvPr id="6" name="cap-upload"/>
          <p:cNvSpPr txBox="1"/>
          <p:nvPr/>
        </p:nvSpPr>
        <p:spPr>
          <a:xfrm>
            <a:off x="724877" y="5537200"/>
            <a:ext cx="4826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材料批量上传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PPTX / DOCX / PDF / MD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拖拽上传，FileParser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自动解析为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Markdown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入库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img-ktree"/>
          <p:cNvPicPr/>
          <p:nvPr/>
        </p:nvPicPr>
        <p:blipFill>
          <a:blip r:embed="rId3"/>
          <a:srcRect l="-73" r="-73"/>
          <a:stretch>
            <a:fillRect/>
          </a:stretch>
        </p:blipFill>
        <p:spPr>
          <a:xfrm>
            <a:off x="5994400" y="1371600"/>
            <a:ext cx="5486400" cy="1701800"/>
          </a:xfrm>
          <a:prstGeom prst="rect">
            <a:avLst/>
          </a:prstGeom>
          <a:ln>
            <a:noFill/>
          </a:ln>
        </p:spPr>
      </p:pic>
      <p:sp>
        <p:nvSpPr>
          <p:cNvPr id="8" name="cap-ktree"/>
          <p:cNvSpPr txBox="1"/>
          <p:nvPr/>
        </p:nvSpPr>
        <p:spPr>
          <a:xfrm>
            <a:off x="5941646" y="3099777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知识树提取</a:t>
            </a: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LLM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识别章-节-知识点结构，可勾选后一键发起组卷</a:t>
            </a:r>
            <a:endParaRPr lang="en-US" sz="1400" dirty="0">
              <a:solidFill>
                <a:srgbClr val="6C74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img-qbank"/>
          <p:cNvPicPr/>
          <p:nvPr/>
        </p:nvPicPr>
        <p:blipFill>
          <a:blip r:embed="rId4"/>
          <a:srcRect b="18000"/>
          <a:stretch>
            <a:fillRect/>
          </a:stretch>
        </p:blipFill>
        <p:spPr>
          <a:xfrm>
            <a:off x="5994400" y="3657600"/>
            <a:ext cx="5486400" cy="2108200"/>
          </a:xfrm>
          <a:prstGeom prst="rect">
            <a:avLst/>
          </a:prstGeom>
          <a:ln>
            <a:noFill/>
          </a:ln>
        </p:spPr>
      </p:pic>
      <p:sp>
        <p:nvSpPr>
          <p:cNvPr id="10" name="cap-qbank"/>
          <p:cNvSpPr txBox="1"/>
          <p:nvPr/>
        </p:nvSpPr>
        <p:spPr>
          <a:xfrm>
            <a:off x="5722815" y="5851769"/>
            <a:ext cx="624644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题库管理</a:t>
            </a: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五种题型分页筛选，BGE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ChromaDB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语义搜索，支持批量导入</a:t>
            </a:r>
            <a:endParaRPr lang="en-US" sz="1400" dirty="0">
              <a:solidFill>
                <a:srgbClr val="6C74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FFFB294-F3F2-D2C8-B96B-63D74A157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3258" y="-64407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1350E-1852-EFFB-39A2-EA7141AD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>
            <a:extLst>
              <a:ext uri="{FF2B5EF4-FFF2-40B4-BE49-F238E27FC236}">
                <a16:creationId xmlns:a16="http://schemas.microsoft.com/office/drawing/2014/main" id="{AD98B9B2-522B-2B66-7EDA-04006B1F9E48}"/>
              </a:ext>
            </a:extLst>
          </p:cNvPr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F4C8114-123D-70CF-8143-EA58BD6F6C55}"/>
              </a:ext>
            </a:extLst>
          </p:cNvPr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功能走查</a:t>
            </a: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2：</a:t>
            </a:r>
            <a:r>
              <a:rPr lang="en-US" altLang="zh-CN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lang="zh-CN" altLang="zh-CN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对话助手</a:t>
            </a:r>
            <a:endParaRPr lang="en-US" sz="2400" b="1" dirty="0">
              <a:solidFill>
                <a:srgbClr val="22292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cap-upload">
            <a:extLst>
              <a:ext uri="{FF2B5EF4-FFF2-40B4-BE49-F238E27FC236}">
                <a16:creationId xmlns:a16="http://schemas.microsoft.com/office/drawing/2014/main" id="{56079074-66B9-80A8-D0F9-7E74E570BF0A}"/>
              </a:ext>
            </a:extLst>
          </p:cNvPr>
          <p:cNvSpPr txBox="1"/>
          <p:nvPr/>
        </p:nvSpPr>
        <p:spPr>
          <a:xfrm>
            <a:off x="5933831" y="2077916"/>
            <a:ext cx="4826000" cy="20417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r>
              <a:rPr lang="zh-CN" alt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打开对话：点击右下角蓝色圆形按钮（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FAB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），展开右侧聊天面板。</a:t>
            </a:r>
          </a:p>
          <a:p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）自然语言搜题：输入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帮我找几道关于二叉树遍历的选择题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自动调用搜索工具返回匹配题目。</a:t>
            </a:r>
          </a:p>
          <a:p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）自然语言组卷：输入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帮我出一份线性表的试卷，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道选择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道填空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道简答，总分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自动解析参数并生成试卷。</a:t>
            </a:r>
          </a:p>
          <a:p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）知识问答：输入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什么是哈夫曼树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</a:t>
            </a:r>
            <a:r>
              <a:rPr lang="zh-CN" altLang="zh-CN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从知识库中查询并返回定义和解释。</a:t>
            </a:r>
          </a:p>
          <a:p>
            <a:pPr>
              <a:lnSpc>
                <a:spcPct val="145000"/>
              </a:lnSpc>
            </a:pP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cap-ktree">
            <a:extLst>
              <a:ext uri="{FF2B5EF4-FFF2-40B4-BE49-F238E27FC236}">
                <a16:creationId xmlns:a16="http://schemas.microsoft.com/office/drawing/2014/main" id="{F2C0ACEC-3B25-85DB-B9A4-3433C8823958}"/>
              </a:ext>
            </a:extLst>
          </p:cNvPr>
          <p:cNvSpPr txBox="1"/>
          <p:nvPr/>
        </p:nvSpPr>
        <p:spPr>
          <a:xfrm>
            <a:off x="6205415" y="5448300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cap-qbank">
            <a:extLst>
              <a:ext uri="{FF2B5EF4-FFF2-40B4-BE49-F238E27FC236}">
                <a16:creationId xmlns:a16="http://schemas.microsoft.com/office/drawing/2014/main" id="{5CA7EF09-FD02-5F4B-DEF6-47E24FC82750}"/>
              </a:ext>
            </a:extLst>
          </p:cNvPr>
          <p:cNvSpPr txBox="1"/>
          <p:nvPr/>
        </p:nvSpPr>
        <p:spPr>
          <a:xfrm>
            <a:off x="5994400" y="5842000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footer-line">
            <a:extLst>
              <a:ext uri="{FF2B5EF4-FFF2-40B4-BE49-F238E27FC236}">
                <a16:creationId xmlns:a16="http://schemas.microsoft.com/office/drawing/2014/main" id="{D63C9D1B-C7AA-597F-7926-77AE902B9E06}"/>
              </a:ext>
            </a:extLst>
          </p:cNvPr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footer-left">
            <a:extLst>
              <a:ext uri="{FF2B5EF4-FFF2-40B4-BE49-F238E27FC236}">
                <a16:creationId xmlns:a16="http://schemas.microsoft.com/office/drawing/2014/main" id="{C159A74A-8CE9-4AED-BBC5-C465977D9D1B}"/>
              </a:ext>
            </a:extLst>
          </p:cNvPr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ooter-page">
            <a:extLst>
              <a:ext uri="{FF2B5EF4-FFF2-40B4-BE49-F238E27FC236}">
                <a16:creationId xmlns:a16="http://schemas.microsoft.com/office/drawing/2014/main" id="{9C714AF1-329D-F360-7633-EAE4BBA5BB9C}"/>
              </a:ext>
            </a:extLst>
          </p:cNvPr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2BD2311-71DB-57E7-8981-4A19BEDD8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36" y="1553826"/>
            <a:ext cx="4837187" cy="3750347"/>
          </a:xfrm>
          <a:prstGeom prst="rect">
            <a:avLst/>
          </a:prstGeom>
        </p:spPr>
      </p:pic>
      <p:sp>
        <p:nvSpPr>
          <p:cNvPr id="16" name="sec">
            <a:extLst>
              <a:ext uri="{FF2B5EF4-FFF2-40B4-BE49-F238E27FC236}">
                <a16:creationId xmlns:a16="http://schemas.microsoft.com/office/drawing/2014/main" id="{9A903B46-24D6-0F2D-228F-842E02030860}"/>
              </a:ext>
            </a:extLst>
          </p:cNvPr>
          <p:cNvSpPr txBox="1"/>
          <p:nvPr/>
        </p:nvSpPr>
        <p:spPr>
          <a:xfrm>
            <a:off x="6770915" y="36718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845E5AC-6EFE-8AEA-1296-31CBAE82E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3258" y="-64407"/>
            <a:ext cx="1168646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436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功能走查</a:t>
            </a:r>
            <a:r>
              <a:rPr 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3：向导式组卷，一键导出可打印试卷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g-wizard"/>
          <p:cNvPicPr/>
          <p:nvPr/>
        </p:nvPicPr>
        <p:blipFill>
          <a:blip r:embed="rId2"/>
          <a:srcRect t="-24" b="-24"/>
          <a:stretch>
            <a:fillRect/>
          </a:stretch>
        </p:blipFill>
        <p:spPr>
          <a:xfrm>
            <a:off x="711200" y="1371600"/>
            <a:ext cx="5740400" cy="2730500"/>
          </a:xfrm>
          <a:prstGeom prst="rect">
            <a:avLst/>
          </a:prstGeom>
          <a:ln>
            <a:noFill/>
          </a:ln>
        </p:spPr>
      </p:pic>
      <p:sp>
        <p:nvSpPr>
          <p:cNvPr id="6" name="cap-wizard"/>
          <p:cNvSpPr txBox="1"/>
          <p:nvPr/>
        </p:nvSpPr>
        <p:spPr>
          <a:xfrm>
            <a:off x="711200" y="4216400"/>
            <a:ext cx="5740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</a:t>
            </a: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组卷向导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题型配比、难度分布滑块可视化配置；生成过程分步可见：检索题库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AI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组卷筛选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校验修复</a:t>
            </a:r>
            <a:endParaRPr lang="en-US" sz="1400" dirty="0">
              <a:solidFill>
                <a:srgbClr val="6C74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export-label"/>
          <p:cNvSpPr txBox="1"/>
          <p:nvPr/>
        </p:nvSpPr>
        <p:spPr>
          <a:xfrm>
            <a:off x="711200" y="5029200"/>
            <a:ext cx="5740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导出与打印能力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export-body"/>
          <p:cNvSpPr txBox="1"/>
          <p:nvPr/>
        </p:nvSpPr>
        <p:spPr>
          <a:xfrm>
            <a:off x="711200" y="5334000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DOCX / PDF / TXT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三种格式，含答案与不含答案两版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A3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横向双栏标准排版，含个人信息栏与题型分组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配套生成标准化答题卡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PDF（填涂区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答题区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img-preview"/>
          <p:cNvPicPr/>
          <p:nvPr/>
        </p:nvPicPr>
        <p:blipFill>
          <a:blip r:embed="rId3"/>
          <a:srcRect b="12000"/>
          <a:stretch>
            <a:fillRect/>
          </a:stretch>
        </p:blipFill>
        <p:spPr>
          <a:xfrm>
            <a:off x="7061200" y="1371600"/>
            <a:ext cx="4419600" cy="4191000"/>
          </a:xfrm>
          <a:prstGeom prst="rect">
            <a:avLst/>
          </a:prstGeom>
          <a:ln>
            <a:noFill/>
          </a:ln>
        </p:spPr>
      </p:pic>
      <p:sp>
        <p:nvSpPr>
          <p:cNvPr id="10" name="cap-preview"/>
          <p:cNvSpPr txBox="1"/>
          <p:nvPr/>
        </p:nvSpPr>
        <p:spPr>
          <a:xfrm>
            <a:off x="7061200" y="5664200"/>
            <a:ext cx="4419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⑤ </a:t>
            </a: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试卷预览与审核</a:t>
            </a:r>
            <a:r>
              <a:rPr lang="en-US" sz="14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4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按题型分组、答案默认折叠；审核校验通过后导出成品试卷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18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ec">
            <a:extLst>
              <a:ext uri="{FF2B5EF4-FFF2-40B4-BE49-F238E27FC236}">
                <a16:creationId xmlns:a16="http://schemas.microsoft.com/office/drawing/2014/main" id="{65BA0DE4-E289-9789-9FDF-48D0ECDB6010}"/>
              </a:ext>
            </a:extLst>
          </p:cNvPr>
          <p:cNvSpPr txBox="1"/>
          <p:nvPr/>
        </p:nvSpPr>
        <p:spPr>
          <a:xfrm>
            <a:off x="6770915" y="38602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0D9C17-582F-9D5C-681A-391566BDB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3258" y="-45567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43DD6-5849-32C7-C1F3-6F8CB9A1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>
            <a:extLst>
              <a:ext uri="{FF2B5EF4-FFF2-40B4-BE49-F238E27FC236}">
                <a16:creationId xmlns:a16="http://schemas.microsoft.com/office/drawing/2014/main" id="{5A6B2A02-8D9B-79B7-27FE-341339CF5F66}"/>
              </a:ext>
            </a:extLst>
          </p:cNvPr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275641C-71AF-8610-C755-2BBBD6D3A09A}"/>
              </a:ext>
            </a:extLst>
          </p:cNvPr>
          <p:cNvSpPr txBox="1"/>
          <p:nvPr/>
        </p:nvSpPr>
        <p:spPr>
          <a:xfrm>
            <a:off x="711200" y="736600"/>
            <a:ext cx="914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最终试卷呈现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>
            <a:extLst>
              <a:ext uri="{FF2B5EF4-FFF2-40B4-BE49-F238E27FC236}">
                <a16:creationId xmlns:a16="http://schemas.microsoft.com/office/drawing/2014/main" id="{B04933F5-F9A8-9A0F-9948-0305DD6A0FCC}"/>
              </a:ext>
            </a:extLst>
          </p:cNvPr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cap-wizard">
            <a:extLst>
              <a:ext uri="{FF2B5EF4-FFF2-40B4-BE49-F238E27FC236}">
                <a16:creationId xmlns:a16="http://schemas.microsoft.com/office/drawing/2014/main" id="{83B02675-6280-8262-1B24-C26F25682ED3}"/>
              </a:ext>
            </a:extLst>
          </p:cNvPr>
          <p:cNvSpPr txBox="1"/>
          <p:nvPr/>
        </p:nvSpPr>
        <p:spPr>
          <a:xfrm>
            <a:off x="711200" y="4216400"/>
            <a:ext cx="5740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endParaRPr lang="en-US" sz="1400" dirty="0">
              <a:solidFill>
                <a:srgbClr val="6C74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export-label">
            <a:extLst>
              <a:ext uri="{FF2B5EF4-FFF2-40B4-BE49-F238E27FC236}">
                <a16:creationId xmlns:a16="http://schemas.microsoft.com/office/drawing/2014/main" id="{55CCA108-7B41-2724-130C-AFD5B2B687C7}"/>
              </a:ext>
            </a:extLst>
          </p:cNvPr>
          <p:cNvSpPr txBox="1"/>
          <p:nvPr/>
        </p:nvSpPr>
        <p:spPr>
          <a:xfrm>
            <a:off x="711200" y="5029200"/>
            <a:ext cx="5740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export-body">
            <a:extLst>
              <a:ext uri="{FF2B5EF4-FFF2-40B4-BE49-F238E27FC236}">
                <a16:creationId xmlns:a16="http://schemas.microsoft.com/office/drawing/2014/main" id="{AB6C9210-C38F-D2FC-FFCF-C63DC0AFC50C}"/>
              </a:ext>
            </a:extLst>
          </p:cNvPr>
          <p:cNvSpPr txBox="1"/>
          <p:nvPr/>
        </p:nvSpPr>
        <p:spPr>
          <a:xfrm>
            <a:off x="711200" y="5334000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cap-preview">
            <a:extLst>
              <a:ext uri="{FF2B5EF4-FFF2-40B4-BE49-F238E27FC236}">
                <a16:creationId xmlns:a16="http://schemas.microsoft.com/office/drawing/2014/main" id="{F0B4FCD6-C178-1E94-6416-016CB2BE77A0}"/>
              </a:ext>
            </a:extLst>
          </p:cNvPr>
          <p:cNvSpPr txBox="1"/>
          <p:nvPr/>
        </p:nvSpPr>
        <p:spPr>
          <a:xfrm>
            <a:off x="7061200" y="5664200"/>
            <a:ext cx="4419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footer-line">
            <a:extLst>
              <a:ext uri="{FF2B5EF4-FFF2-40B4-BE49-F238E27FC236}">
                <a16:creationId xmlns:a16="http://schemas.microsoft.com/office/drawing/2014/main" id="{78329E29-0657-D91C-4929-6E1B3D6458A7}"/>
              </a:ext>
            </a:extLst>
          </p:cNvPr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2" name="footer-left">
            <a:extLst>
              <a:ext uri="{FF2B5EF4-FFF2-40B4-BE49-F238E27FC236}">
                <a16:creationId xmlns:a16="http://schemas.microsoft.com/office/drawing/2014/main" id="{BFAA32A2-CFFD-9203-09F5-DE8AF26E4895}"/>
              </a:ext>
            </a:extLst>
          </p:cNvPr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footer-page">
            <a:extLst>
              <a:ext uri="{FF2B5EF4-FFF2-40B4-BE49-F238E27FC236}">
                <a16:creationId xmlns:a16="http://schemas.microsoft.com/office/drawing/2014/main" id="{FCE9BA1F-8FD9-1B75-ECFC-E7C7792DB696}"/>
              </a:ext>
            </a:extLst>
          </p:cNvPr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18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sec">
            <a:extLst>
              <a:ext uri="{FF2B5EF4-FFF2-40B4-BE49-F238E27FC236}">
                <a16:creationId xmlns:a16="http://schemas.microsoft.com/office/drawing/2014/main" id="{2A220473-7F73-6C7D-E18B-8AA3E93EF589}"/>
              </a:ext>
            </a:extLst>
          </p:cNvPr>
          <p:cNvSpPr txBox="1"/>
          <p:nvPr/>
        </p:nvSpPr>
        <p:spPr>
          <a:xfrm>
            <a:off x="6751159" y="386023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62A609B-A93C-49F0-1E3C-C1140656D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63502" y="-45567"/>
            <a:ext cx="1168646" cy="11303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31F643-179F-B563-169F-DC65C75C3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" y="1347013"/>
            <a:ext cx="3557953" cy="438068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914EE94-CCA0-5B78-5BAF-ACFFA176D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4477" y="1347013"/>
            <a:ext cx="3634154" cy="439742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836E5AE-88B0-5263-E1AE-69C203BB1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673" y="1314371"/>
            <a:ext cx="4368800" cy="447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251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四层测试策略，32 个功能用例覆盖全部八个模块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41029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layer-label"/>
          <p:cNvSpPr txBox="1"/>
          <p:nvPr/>
        </p:nvSpPr>
        <p:spPr>
          <a:xfrm>
            <a:off x="711200" y="1346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测试策略：分层推进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1-name"/>
          <p:cNvSpPr txBox="1"/>
          <p:nvPr/>
        </p:nvSpPr>
        <p:spPr>
          <a:xfrm>
            <a:off x="711200" y="1676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单元测试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1-desc"/>
          <p:cNvSpPr txBox="1"/>
          <p:nvPr/>
        </p:nvSpPr>
        <p:spPr>
          <a:xfrm>
            <a:off x="2362200" y="1701800"/>
            <a:ext cx="3733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Service 层与 Model 层独立测试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2-name"/>
          <p:cNvSpPr txBox="1"/>
          <p:nvPr/>
        </p:nvSpPr>
        <p:spPr>
          <a:xfrm>
            <a:off x="711200" y="2057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集成测试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2-desc"/>
          <p:cNvSpPr txBox="1"/>
          <p:nvPr/>
        </p:nvSpPr>
        <p:spPr>
          <a:xfrm>
            <a:off x="2362200" y="2082800"/>
            <a:ext cx="3733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 端点 + 数据库交互验证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3-name"/>
          <p:cNvSpPr txBox="1"/>
          <p:nvPr/>
        </p:nvSpPr>
        <p:spPr>
          <a:xfrm>
            <a:off x="711200" y="2438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端到端测试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3-desc"/>
          <p:cNvSpPr txBox="1"/>
          <p:nvPr/>
        </p:nvSpPr>
        <p:spPr>
          <a:xfrm>
            <a:off x="2362200" y="2463800"/>
            <a:ext cx="3733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核心业务流程完整走通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4-name"/>
          <p:cNvSpPr txBox="1"/>
          <p:nvPr/>
        </p:nvSpPr>
        <p:spPr>
          <a:xfrm>
            <a:off x="711200" y="2819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用户验收测试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4-desc"/>
          <p:cNvSpPr txBox="1"/>
          <p:nvPr/>
        </p:nvSpPr>
        <p:spPr>
          <a:xfrm>
            <a:off x="2362200" y="2844800"/>
            <a:ext cx="3733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教师真实场景完成 ≥ 3 次完整出卷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compat-note"/>
          <p:cNvSpPr txBox="1"/>
          <p:nvPr/>
        </p:nvSpPr>
        <p:spPr>
          <a:xfrm>
            <a:off x="711200" y="3251200"/>
            <a:ext cx="5384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兼容性范围：Chrome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/ Firefox / Edge 90+，Windows 10/11 与 macOS 12+，1366×768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及以上分辨率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ytest-img"/>
          <p:cNvPicPr/>
          <p:nvPr/>
        </p:nvPicPr>
        <p:blipFill>
          <a:blip r:embed="rId2"/>
          <a:srcRect t="-1" b="-1"/>
          <a:stretch>
            <a:fillRect/>
          </a:stretch>
        </p:blipFill>
        <p:spPr>
          <a:xfrm>
            <a:off x="711200" y="4038600"/>
            <a:ext cx="4064000" cy="1765300"/>
          </a:xfrm>
          <a:prstGeom prst="rect">
            <a:avLst/>
          </a:prstGeom>
          <a:ln>
            <a:noFill/>
          </a:ln>
        </p:spPr>
      </p:pic>
      <p:sp>
        <p:nvSpPr>
          <p:cNvPr id="16" name="pytest-caption"/>
          <p:cNvSpPr txBox="1"/>
          <p:nvPr/>
        </p:nvSpPr>
        <p:spPr>
          <a:xfrm>
            <a:off x="711200" y="5867400"/>
            <a:ext cx="538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后端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pytest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运行实录（智能组卷模块用例：3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/ 1 </a:t>
            </a:r>
            <a:r>
              <a:rPr lang="en-US" sz="9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跳过</a:t>
            </a:r>
            <a:r>
              <a:rPr lang="en-US" sz="9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9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perf-label"/>
          <p:cNvSpPr txBox="1"/>
          <p:nvPr/>
        </p:nvSpPr>
        <p:spPr>
          <a:xfrm>
            <a:off x="6654800" y="13462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性能目标（设计指标）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perf-table"/>
          <p:cNvGraphicFramePr>
            <a:graphicFrameLocks noGrp="1"/>
          </p:cNvGraphicFramePr>
          <p:nvPr/>
        </p:nvGraphicFramePr>
        <p:xfrm>
          <a:off x="6654800" y="1676400"/>
          <a:ext cx="4826000" cy="2667000"/>
        </p:xfrm>
        <a:graphic>
          <a:graphicData uri="http://schemas.openxmlformats.org/drawingml/2006/table">
            <a:tbl>
              <a:tblPr/>
              <a:tblGrid>
                <a:gridCol w="279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测试项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E7C86"/>
                          </a:solidFill>
                          <a:latin typeface="Times New Roman"/>
                          <a:ea typeface="Times New Roman"/>
                        </a:rPr>
                        <a:t>目标指标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2292D"/>
                      </a:solidFill>
                    </a:lnT>
                    <a:lnB w="1270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试卷生成（20 题）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≤ 60 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29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语义搜索响应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≤ 3 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单条题目向量化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≤ 2 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前端首屏加载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≤ 3 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72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DOCX 导出（20 题）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2292D"/>
                          </a:solidFill>
                          <a:latin typeface="Times New Roman"/>
                          <a:ea typeface="Times New Roman"/>
                        </a:rPr>
                        <a:t>≤ 5 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22292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perf-note"/>
          <p:cNvSpPr txBox="1"/>
          <p:nvPr/>
        </p:nvSpPr>
        <p:spPr>
          <a:xfrm>
            <a:off x="6654800" y="45720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功能测试共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32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个用例，覆盖材料、知识树、题库、搜索、组卷、导出、对话、审核八个模块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后端关键模块已通过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pytest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自动化测试（见左图实录</a:t>
            </a: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05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</a:t>
            </a:r>
            <a:r>
              <a:rPr lang="en-US" sz="105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表内为设计目标值；完整性能与兼容性测试列入交付前执行计划</a:t>
            </a:r>
            <a:endParaRPr 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sec">
            <a:extLst>
              <a:ext uri="{FF2B5EF4-FFF2-40B4-BE49-F238E27FC236}">
                <a16:creationId xmlns:a16="http://schemas.microsoft.com/office/drawing/2014/main" id="{2FE3B9FA-0ED6-8EBB-AF94-24BB2F54AE40}"/>
              </a:ext>
            </a:extLst>
          </p:cNvPr>
          <p:cNvSpPr txBox="1"/>
          <p:nvPr/>
        </p:nvSpPr>
        <p:spPr>
          <a:xfrm>
            <a:off x="6731000" y="41889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3A95641-578E-4731-1943-0F5221909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43343" y="-1270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2" grpId="0"/>
      <p:bldP spid="14" grpId="0"/>
      <p:bldP spid="16" grpId="0"/>
      <p:bldP spid="17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本地单机部署：后端一条命令，前端一条命令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7112000" y="53340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deploy-label"/>
          <p:cNvSpPr txBox="1"/>
          <p:nvPr/>
        </p:nvSpPr>
        <p:spPr>
          <a:xfrm>
            <a:off x="711200" y="1346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部署步骤（方案 A · 本地单机）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d1-name"/>
          <p:cNvSpPr txBox="1"/>
          <p:nvPr/>
        </p:nvSpPr>
        <p:spPr>
          <a:xfrm>
            <a:off x="711200" y="1701800"/>
            <a:ext cx="533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安装依赖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d1-desc"/>
          <p:cNvSpPr txBox="1"/>
          <p:nvPr/>
        </p:nvSpPr>
        <p:spPr>
          <a:xfrm>
            <a:off x="711200" y="19685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后端 pip install -r requirements.txt；前端 npm install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d2-name"/>
          <p:cNvSpPr txBox="1"/>
          <p:nvPr/>
        </p:nvSpPr>
        <p:spPr>
          <a:xfrm>
            <a:off x="711200" y="2336800"/>
            <a:ext cx="533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配置密钥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d2-desc"/>
          <p:cNvSpPr txBox="1"/>
          <p:nvPr/>
        </p:nvSpPr>
        <p:spPr>
          <a:xfrm>
            <a:off x="711200" y="26035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.env 填入 DEEPSEEK_API_KEY，敏感信息不硬编码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d3-name"/>
          <p:cNvSpPr txBox="1"/>
          <p:nvPr/>
        </p:nvSpPr>
        <p:spPr>
          <a:xfrm>
            <a:off x="711200" y="2971800"/>
            <a:ext cx="533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启动后端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d3-desc"/>
          <p:cNvSpPr txBox="1"/>
          <p:nvPr/>
        </p:nvSpPr>
        <p:spPr>
          <a:xfrm>
            <a:off x="711200" y="32385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 uvicorn app.main:app，监听 127.0.0.1:8000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d4-name"/>
          <p:cNvSpPr txBox="1"/>
          <p:nvPr/>
        </p:nvSpPr>
        <p:spPr>
          <a:xfrm>
            <a:off x="711200" y="3606800"/>
            <a:ext cx="5334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启动前端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d4-desc"/>
          <p:cNvSpPr txBox="1"/>
          <p:nvPr/>
        </p:nvSpPr>
        <p:spPr>
          <a:xfrm>
            <a:off x="711200" y="38735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npm run dev，浏览器访问 localhost:5173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deploy-note"/>
          <p:cNvSpPr txBox="1"/>
          <p:nvPr/>
        </p:nvSpPr>
        <p:spPr>
          <a:xfrm>
            <a:off x="711200" y="43180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嵌入模型首次运行自动下载（约 24MB，已内置 hf-mirror 国内镜像）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/docs 提供 Swagger 在线 API 文档，/api/health 健康检查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 方案 B（扩展）：部署至教研室服务器，题库与材料多人共享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mid-rule"/>
          <p:cNvSpPr/>
          <p:nvPr/>
        </p:nvSpPr>
        <p:spPr>
          <a:xfrm>
            <a:off x="6477000" y="1422400"/>
            <a:ext cx="12700" cy="43180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6" name="stats-label"/>
          <p:cNvSpPr txBox="1"/>
          <p:nvPr/>
        </p:nvSpPr>
        <p:spPr>
          <a:xfrm>
            <a:off x="6908800" y="1346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项目成果统计</a:t>
            </a:r>
            <a:endParaRPr lang="en-US" sz="1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st1-num"/>
          <p:cNvSpPr txBox="1"/>
          <p:nvPr/>
        </p:nvSpPr>
        <p:spPr>
          <a:xfrm>
            <a:off x="6908800" y="17018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dirty="0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4,500+</a:t>
            </a:r>
            <a:endParaRPr lang="en-US" sz="2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st1-text"/>
          <p:cNvSpPr txBox="1"/>
          <p:nvPr/>
        </p:nvSpPr>
        <p:spPr>
          <a:xfrm>
            <a:off x="8686800" y="17780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行代码（后端 2,500 / 前端 2,000）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st1-rule"/>
          <p:cNvSpPr/>
          <p:nvPr/>
        </p:nvSpPr>
        <p:spPr>
          <a:xfrm>
            <a:off x="6908800" y="2209800"/>
            <a:ext cx="4572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0" name="st2-num"/>
          <p:cNvSpPr txBox="1"/>
          <p:nvPr/>
        </p:nvSpPr>
        <p:spPr>
          <a:xfrm>
            <a:off x="6908800" y="2413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30+</a:t>
            </a:r>
            <a:endParaRPr lang="en-US" sz="2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st2-text"/>
          <p:cNvSpPr txBox="1"/>
          <p:nvPr/>
        </p:nvSpPr>
        <p:spPr>
          <a:xfrm>
            <a:off x="8686800" y="24892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 RESTful API 端点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t2-rule"/>
          <p:cNvSpPr/>
          <p:nvPr/>
        </p:nvSpPr>
        <p:spPr>
          <a:xfrm>
            <a:off x="6908800" y="2921000"/>
            <a:ext cx="4572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3" name="st3-num"/>
          <p:cNvSpPr txBox="1"/>
          <p:nvPr/>
        </p:nvSpPr>
        <p:spPr>
          <a:xfrm>
            <a:off x="6908800" y="3124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sz="2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st3-text"/>
          <p:cNvSpPr txBox="1"/>
          <p:nvPr/>
        </p:nvSpPr>
        <p:spPr>
          <a:xfrm>
            <a:off x="8686800" y="32004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个后端核心服务类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st3-rule"/>
          <p:cNvSpPr/>
          <p:nvPr/>
        </p:nvSpPr>
        <p:spPr>
          <a:xfrm>
            <a:off x="6908800" y="3632200"/>
            <a:ext cx="4572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6" name="st4-num"/>
          <p:cNvSpPr txBox="1"/>
          <p:nvPr/>
        </p:nvSpPr>
        <p:spPr>
          <a:xfrm>
            <a:off x="6908800" y="38354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sz="2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st4-text"/>
          <p:cNvSpPr txBox="1"/>
          <p:nvPr/>
        </p:nvSpPr>
        <p:spPr>
          <a:xfrm>
            <a:off x="8686800" y="39116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张数据表 + ChromaDB 向量库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st4-rule"/>
          <p:cNvSpPr/>
          <p:nvPr/>
        </p:nvSpPr>
        <p:spPr>
          <a:xfrm>
            <a:off x="6908800" y="4343400"/>
            <a:ext cx="4572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29" name="st5-num"/>
          <p:cNvSpPr txBox="1"/>
          <p:nvPr/>
        </p:nvSpPr>
        <p:spPr>
          <a:xfrm>
            <a:off x="6908800" y="45466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+ 6</a:t>
            </a:r>
            <a:endParaRPr lang="en-US" sz="23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st5-text"/>
          <p:cNvSpPr txBox="1"/>
          <p:nvPr/>
        </p:nvSpPr>
        <p:spPr>
          <a:xfrm>
            <a:off x="8686800" y="4622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个前端页面视图 + 可复用组件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st5-rule"/>
          <p:cNvSpPr/>
          <p:nvPr/>
        </p:nvSpPr>
        <p:spPr>
          <a:xfrm>
            <a:off x="6908800" y="5054600"/>
            <a:ext cx="45720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2" name="stats-note"/>
          <p:cNvSpPr txBox="1"/>
          <p:nvPr/>
        </p:nvSpPr>
        <p:spPr>
          <a:xfrm>
            <a:off x="6908800" y="52832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交付物：SRS、项目计划书、详细设计、中期报告、开发文档、用户手册与完整源码。</a:t>
            </a:r>
            <a:endParaRPr 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34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sec">
            <a:extLst>
              <a:ext uri="{FF2B5EF4-FFF2-40B4-BE49-F238E27FC236}">
                <a16:creationId xmlns:a16="http://schemas.microsoft.com/office/drawing/2014/main" id="{31D1748F-6140-DFD0-A91F-8ACDA3747812}"/>
              </a:ext>
            </a:extLst>
          </p:cNvPr>
          <p:cNvSpPr txBox="1"/>
          <p:nvPr/>
        </p:nvSpPr>
        <p:spPr>
          <a:xfrm>
            <a:off x="6727372" y="380790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实现与验证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C7F3E27-2DD0-0ECD-B299-C2D73D1C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9715" y="-5080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  <p:bldP spid="29" grpId="0"/>
      <p:bldP spid="30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"/>
          <p:cNvSpPr/>
          <p:nvPr/>
        </p:nvSpPr>
        <p:spPr>
          <a:xfrm>
            <a:off x="711200" y="584200"/>
            <a:ext cx="3810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11200" y="736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总结：AI 进入了出卷全流程，而不只是「帮忙出题」</a:t>
            </a:r>
            <a:endParaRPr 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ec"/>
          <p:cNvSpPr txBox="1"/>
          <p:nvPr/>
        </p:nvSpPr>
        <p:spPr>
          <a:xfrm>
            <a:off x="6887029" y="357414"/>
            <a:ext cx="436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kern="0" spc="200" dirty="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 · </a:t>
            </a:r>
            <a:r>
              <a:rPr lang="en-US" sz="1000" kern="0" spc="200" dirty="0" err="1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  <a:endParaRPr lang="en-US" sz="1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done-label"/>
          <p:cNvSpPr txBox="1"/>
          <p:nvPr/>
        </p:nvSpPr>
        <p:spPr>
          <a:xfrm>
            <a:off x="711200" y="1422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rgbClr val="0E7C8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done-body"/>
          <p:cNvSpPr txBox="1"/>
          <p:nvPr/>
        </p:nvSpPr>
        <p:spPr>
          <a:xfrm>
            <a:off x="711200" y="1854200"/>
            <a:ext cx="5283200" cy="309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完整闭环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材料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知识树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题库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组卷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审核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导出，六步工作流全部落地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质量保障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RAG + LLM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混合组卷，二次审核校验支持自动修复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需求兑现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需求追溯矩阵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11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项核心需求全部标记「已实现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」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隐私友好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本地部署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本地嵌入模型，教学数据不出本机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mid-bar"/>
          <p:cNvSpPr/>
          <p:nvPr/>
        </p:nvSpPr>
        <p:spPr>
          <a:xfrm>
            <a:off x="5994400" y="1473200"/>
            <a:ext cx="38100" cy="4445000"/>
          </a:xfrm>
          <a:prstGeom prst="rect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8" name="todo-label"/>
          <p:cNvSpPr txBox="1"/>
          <p:nvPr/>
        </p:nvSpPr>
        <p:spPr>
          <a:xfrm>
            <a:off x="6553200" y="14224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474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不足与展望</a:t>
            </a:r>
            <a:endParaRPr 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odo-body"/>
          <p:cNvSpPr txBox="1"/>
          <p:nvPr/>
        </p:nvSpPr>
        <p:spPr>
          <a:xfrm>
            <a:off x="6553200" y="1854200"/>
            <a:ext cx="52197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单课程</a:t>
            </a: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多学科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知识树与题型框架已配置化，可扩展至其他课程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单机</a:t>
            </a: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→ </a:t>
            </a: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共享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可平滑迁移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PostgreSQL，局域网内共享题库与材料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提取稳定性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知识树提取依赖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Prompt，人工修正闭环可进一步加强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P2 </a:t>
            </a:r>
            <a:r>
              <a:rPr lang="en-US" sz="1600" b="1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需求待做</a:t>
            </a:r>
            <a:r>
              <a:rPr lang="en-US" sz="1600" dirty="0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sz="1600" dirty="0" err="1">
                <a:solidFill>
                  <a:srgbClr val="22292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学情数据分析、复习提纲与课后练习生成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footer-line"/>
          <p:cNvSpPr/>
          <p:nvPr/>
        </p:nvSpPr>
        <p:spPr>
          <a:xfrm>
            <a:off x="711200" y="6438900"/>
            <a:ext cx="10769600" cy="12700"/>
          </a:xfrm>
          <a:prstGeom prst="rect">
            <a:avLst/>
          </a:prstGeom>
          <a:solidFill>
            <a:srgbClr val="DCD7CD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27800"/>
            <a:ext cx="431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数据结构智能出卷系统 · 课程展示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footer-page"/>
          <p:cNvSpPr txBox="1"/>
          <p:nvPr/>
        </p:nvSpPr>
        <p:spPr>
          <a:xfrm>
            <a:off x="10414000" y="65278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6C74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 / 22</a:t>
            </a:r>
            <a:endParaRPr lang="en-US" sz="9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18DBE2D-2FE8-05AF-9688-46D0A8A3A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1563" y1="44911" x2="51563" y2="44911"/>
                        <a14:foregroundMark x1="52188" y1="35945" x2="52188" y2="35945"/>
                        <a14:foregroundMark x1="20547" y1="38530" x2="73672" y2="32714"/>
                        <a14:foregroundMark x1="73672" y1="32714" x2="46953" y2="65509"/>
                        <a14:foregroundMark x1="46953" y1="65509" x2="68594" y2="25202"/>
                        <a14:foregroundMark x1="68594" y1="25202" x2="73906" y2="64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9715" y="-50800"/>
            <a:ext cx="1168646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7C86"/>
            </a:gs>
            <a:gs pos="100000">
              <a:srgbClr val="0A545D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2379785" y="2172677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谢谢聆听 · 敬请指正</a:t>
            </a:r>
            <a:endParaRPr lang="en-US" sz="4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inal-rule"/>
          <p:cNvSpPr/>
          <p:nvPr/>
        </p:nvSpPr>
        <p:spPr>
          <a:xfrm>
            <a:off x="5588000" y="3581400"/>
            <a:ext cx="1016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qa"/>
          <p:cNvSpPr txBox="1"/>
          <p:nvPr/>
        </p:nvSpPr>
        <p:spPr>
          <a:xfrm>
            <a:off x="4826000" y="38862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kern="0" spc="600">
                <a:solidFill>
                  <a:srgbClr val="FFFFFF">
                    <a:alpha val="9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 &amp; A</a:t>
            </a:r>
            <a:endParaRPr lang="en-US" sz="17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members"/>
          <p:cNvSpPr txBox="1"/>
          <p:nvPr/>
        </p:nvSpPr>
        <p:spPr>
          <a:xfrm>
            <a:off x="2286000" y="45974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FFFFFF">
                    <a:alpha val="8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汇报小组　陈天阳 · 黄睿宇 · 张景越 · 赵若涵</a:t>
            </a:r>
            <a:endParaRPr lang="en-US" sz="12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inal-bottom"/>
          <p:cNvSpPr txBox="1"/>
          <p:nvPr/>
        </p:nvSpPr>
        <p:spPr>
          <a:xfrm>
            <a:off x="3556000" y="6299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FFFFFF">
                    <a:alpha val="50196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《数据结构》智能出卷系统 · 2026 年 7 月</a:t>
            </a:r>
            <a:endParaRPr lang="en-US" sz="9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1944</Words>
  <Application>Microsoft Office PowerPoint</Application>
  <PresentationFormat>宽屏</PresentationFormat>
  <Paragraphs>411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黑体</vt:lpstr>
      <vt:lpstr>Times New Roman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《数据结构》智能出卷系统 · 课程展示</dc:title>
  <dc:subject>《数据结构》智能出卷系统 · 课程展示</dc:subject>
  <dc:creator>Kimi</dc:creator>
  <cp:lastModifiedBy>Claire zhao</cp:lastModifiedBy>
  <cp:revision>4</cp:revision>
  <dcterms:modified xsi:type="dcterms:W3CDTF">2026-07-19T08:50:43Z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{"Label":"《数据结构》智能出卷系统 · 课程展示","ContentProducer":"001191110108MACG2KBH8F10000","ProduceID":"19f793fd-06f2-86b2-8000-000085f43e7e","ReservedCode1":"","ContentPropagator":"001191110108MACG2KBH8F20000","PropagateID":"19f7921a-e072-858b-8000-09082c5fd9ba","ReservedCode2":""}</vt:lpwstr>
  </property>
</Properties>
</file>