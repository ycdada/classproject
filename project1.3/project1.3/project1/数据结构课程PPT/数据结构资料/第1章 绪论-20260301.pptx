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audio3.wav" ContentType="audio/x-wav"/>
  <Override PartName="/ppt/media/audio4.wav" ContentType="audio/x-wav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645" r:id="rId2"/>
    <p:sldId id="560" r:id="rId3"/>
    <p:sldId id="944" r:id="rId4"/>
    <p:sldId id="1174" r:id="rId5"/>
    <p:sldId id="1175" r:id="rId6"/>
    <p:sldId id="1176" r:id="rId7"/>
    <p:sldId id="1177" r:id="rId8"/>
    <p:sldId id="1178" r:id="rId9"/>
    <p:sldId id="1181" r:id="rId10"/>
    <p:sldId id="1182" r:id="rId11"/>
    <p:sldId id="1183" r:id="rId12"/>
    <p:sldId id="1184" r:id="rId13"/>
    <p:sldId id="1185" r:id="rId14"/>
    <p:sldId id="1186" r:id="rId15"/>
    <p:sldId id="1187" r:id="rId16"/>
    <p:sldId id="1188" r:id="rId17"/>
    <p:sldId id="440" r:id="rId18"/>
    <p:sldId id="509" r:id="rId19"/>
    <p:sldId id="510" r:id="rId20"/>
    <p:sldId id="513" r:id="rId21"/>
    <p:sldId id="511" r:id="rId22"/>
    <p:sldId id="1159" r:id="rId23"/>
    <p:sldId id="512" r:id="rId24"/>
    <p:sldId id="1165" r:id="rId25"/>
    <p:sldId id="1166" r:id="rId26"/>
    <p:sldId id="1172" r:id="rId27"/>
    <p:sldId id="1173" r:id="rId28"/>
    <p:sldId id="541" r:id="rId29"/>
    <p:sldId id="945" r:id="rId30"/>
    <p:sldId id="537" r:id="rId31"/>
    <p:sldId id="447" r:id="rId32"/>
    <p:sldId id="519" r:id="rId33"/>
    <p:sldId id="520" r:id="rId34"/>
    <p:sldId id="523" r:id="rId35"/>
    <p:sldId id="533" r:id="rId36"/>
    <p:sldId id="534" r:id="rId37"/>
    <p:sldId id="535" r:id="rId38"/>
    <p:sldId id="458" r:id="rId39"/>
    <p:sldId id="539" r:id="rId40"/>
    <p:sldId id="1160" r:id="rId41"/>
    <p:sldId id="1161" r:id="rId42"/>
    <p:sldId id="466" r:id="rId43"/>
    <p:sldId id="568" r:id="rId44"/>
    <p:sldId id="467" r:id="rId45"/>
    <p:sldId id="470" r:id="rId46"/>
    <p:sldId id="1169" r:id="rId47"/>
    <p:sldId id="1170" r:id="rId48"/>
    <p:sldId id="1171" r:id="rId49"/>
    <p:sldId id="476" r:id="rId50"/>
    <p:sldId id="477" r:id="rId51"/>
    <p:sldId id="581" r:id="rId52"/>
    <p:sldId id="573" r:id="rId53"/>
    <p:sldId id="947" r:id="rId54"/>
    <p:sldId id="479" r:id="rId55"/>
    <p:sldId id="579" r:id="rId56"/>
    <p:sldId id="1195" r:id="rId57"/>
    <p:sldId id="1196" r:id="rId58"/>
    <p:sldId id="1197" r:id="rId59"/>
    <p:sldId id="483" r:id="rId60"/>
    <p:sldId id="1198" r:id="rId61"/>
    <p:sldId id="1199" r:id="rId62"/>
    <p:sldId id="1200" r:id="rId63"/>
    <p:sldId id="1201" r:id="rId64"/>
    <p:sldId id="1202" r:id="rId65"/>
    <p:sldId id="484" r:id="rId66"/>
    <p:sldId id="575" r:id="rId67"/>
    <p:sldId id="574" r:id="rId68"/>
    <p:sldId id="549" r:id="rId69"/>
    <p:sldId id="559" r:id="rId70"/>
    <p:sldId id="497" r:id="rId71"/>
    <p:sldId id="499" r:id="rId72"/>
    <p:sldId id="577" r:id="rId73"/>
    <p:sldId id="578" r:id="rId74"/>
    <p:sldId id="556" r:id="rId75"/>
    <p:sldId id="582" r:id="rId76"/>
    <p:sldId id="576" r:id="rId77"/>
    <p:sldId id="424" r:id="rId78"/>
    <p:sldId id="586" r:id="rId79"/>
    <p:sldId id="1190" r:id="rId80"/>
    <p:sldId id="1191" r:id="rId81"/>
    <p:sldId id="1193" r:id="rId82"/>
    <p:sldId id="1194" r:id="rId83"/>
    <p:sldId id="357" r:id="rId84"/>
  </p:sldIdLst>
  <p:sldSz cx="9144000" cy="6858000" type="screen4x3"/>
  <p:notesSz cx="6858000" cy="9144000"/>
  <p:custDataLst>
    <p:tags r:id="rId8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6C4C8F"/>
    <a:srgbClr val="8064A2"/>
    <a:srgbClr val="99CCFF"/>
    <a:srgbClr val="9BBB59"/>
    <a:srgbClr val="4BACC6"/>
    <a:srgbClr val="947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/>
    <p:restoredTop sz="94608"/>
  </p:normalViewPr>
  <p:slideViewPr>
    <p:cSldViewPr snapToObjects="1" showGuides="1">
      <p:cViewPr varScale="1">
        <p:scale>
          <a:sx n="80" d="100"/>
          <a:sy n="80" d="100"/>
        </p:scale>
        <p:origin x="-15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gs" Target="tags/tag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noProof="1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27DA4F-ED37-49BA-847A-561F24343EAC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noProof="1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4A457-ED72-444F-8684-E24DAFBB89FA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0034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1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18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0484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19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2531" name="Rectangle 1026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2532" name="Rectangle 1027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21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5604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23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31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32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39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50</a:t>
            </a:fld>
            <a:endParaRPr lang="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809" y="1124744"/>
            <a:ext cx="7983537" cy="5565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idx="10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9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15633" y="404661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595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lIns="0" tIns="0" rIns="0" bIns="0"/>
          <a:lstStyle>
            <a:lvl1pPr marL="12700">
              <a:defRPr sz="12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/>
              <a:t>第</a:t>
            </a:r>
            <a:r>
              <a:rPr lang="zh-CN" altLang="zh-CN"/>
              <a:t>1</a:t>
            </a:r>
            <a:r>
              <a:rPr lang="zh-CN"/>
              <a:t>章 数据结构概述</a:t>
            </a:r>
          </a:p>
        </p:txBody>
      </p:sp>
      <p:sp>
        <p:nvSpPr>
          <p:cNvPr id="3" name="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lIns="0" tIns="0" rIns="0" bIns="0"/>
          <a:lstStyle>
            <a:lvl1pPr marL="138430">
              <a:defRPr sz="1400" b="1" i="0">
                <a:solidFill>
                  <a:srgbClr val="CCFFFF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fld id="{EA61C414-6281-46CA-89EF-A6340645CE9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479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" altLang="zh-CN" dirty="0"/>
              <a:t>单击以编辑</a:t>
            </a:r>
            <a:r>
              <a:rPr lang="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4.emf"/><Relationship Id="rId5" Type="http://schemas.openxmlformats.org/officeDocument/2006/relationships/audio" Target="../media/audio4.wav"/><Relationship Id="rId10" Type="http://schemas.openxmlformats.org/officeDocument/2006/relationships/oleObject" Target="../embeddings/oleObject4.bin"/><Relationship Id="rId4" Type="http://schemas.openxmlformats.org/officeDocument/2006/relationships/audio" Target="../media/audio3.wav"/><Relationship Id="rId9" Type="http://schemas.openxmlformats.org/officeDocument/2006/relationships/image" Target="../media/image2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0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2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4.w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51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50.png"/><Relationship Id="rId2" Type="http://schemas.openxmlformats.org/officeDocument/2006/relationships/tags" Target="../tags/tag3.xml"/><Relationship Id="rId16" Type="http://schemas.openxmlformats.org/officeDocument/2006/relationships/image" Target="../media/image49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48.png"/><Relationship Id="rId10" Type="http://schemas.openxmlformats.org/officeDocument/2006/relationships/tags" Target="../tags/tag11.xml"/><Relationship Id="rId19" Type="http://schemas.openxmlformats.org/officeDocument/2006/relationships/image" Target="../media/image52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image" Target="../media/image52.tmp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image" Target="../media/image52.tmp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10" Type="http://schemas.openxmlformats.org/officeDocument/2006/relationships/tags" Target="../tags/tag58.xml"/><Relationship Id="rId19" Type="http://schemas.openxmlformats.org/officeDocument/2006/relationships/image" Target="../media/image52.tmp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: 圆角 2"/>
          <p:cNvSpPr>
            <a:spLocks noChangeArrowheads="1"/>
          </p:cNvSpPr>
          <p:nvPr/>
        </p:nvSpPr>
        <p:spPr bwMode="auto">
          <a:xfrm>
            <a:off x="3179763" y="2993852"/>
            <a:ext cx="5640388" cy="5794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0" y="764704"/>
            <a:ext cx="9144000" cy="638329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0" y="1519238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222" name="图片 1"/>
          <p:cNvPicPr>
            <a:picLocks noChangeAspect="1"/>
          </p:cNvPicPr>
          <p:nvPr/>
        </p:nvPicPr>
        <p:blipFill>
          <a:blip r:embed="rId3"/>
          <a:srcRect l="36591" t="61440" r="36745" b="14038"/>
          <a:stretch>
            <a:fillRect/>
          </a:stretch>
        </p:blipFill>
        <p:spPr>
          <a:xfrm>
            <a:off x="511175" y="2382838"/>
            <a:ext cx="2282825" cy="2935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矩形 28"/>
          <p:cNvSpPr/>
          <p:nvPr/>
        </p:nvSpPr>
        <p:spPr bwMode="auto">
          <a:xfrm>
            <a:off x="0" y="6121400"/>
            <a:ext cx="9155113" cy="604838"/>
          </a:xfrm>
          <a:prstGeom prst="rect">
            <a:avLst/>
          </a:prstGeom>
          <a:solidFill>
            <a:srgbClr val="76AE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Rectangle 24"/>
          <p:cNvSpPr txBox="1">
            <a:spLocks noChangeArrowheads="1"/>
          </p:cNvSpPr>
          <p:nvPr/>
        </p:nvSpPr>
        <p:spPr bwMode="auto">
          <a:xfrm>
            <a:off x="3294062" y="2927177"/>
            <a:ext cx="5382393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绪论</a:t>
            </a:r>
            <a:endParaRPr kumimoji="1" lang="zh-CN" altLang="en-US" sz="4800" b="1" i="1" kern="0" cap="none" spc="0" normalizeH="0" baseline="0" noProof="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Rectangle 24"/>
          <p:cNvSpPr txBox="1">
            <a:spLocks noChangeArrowheads="1"/>
          </p:cNvSpPr>
          <p:nvPr/>
        </p:nvSpPr>
        <p:spPr bwMode="auto">
          <a:xfrm>
            <a:off x="0" y="641768"/>
            <a:ext cx="9144000" cy="8430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kern="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1" lang="en-US" altLang="zh-CN" sz="3600" kern="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zh-CN" altLang="en-US" sz="3600" kern="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章</a:t>
            </a:r>
            <a:endParaRPr kumimoji="1" lang="zh-CN" altLang="en-US" sz="4800" kern="0" cap="none" spc="0" normalizeH="0" baseline="0" noProof="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0" y="1727200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9476B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6387" name="图片 2"/>
          <p:cNvPicPr>
            <a:picLocks noChangeAspect="1"/>
          </p:cNvPicPr>
          <p:nvPr/>
        </p:nvPicPr>
        <p:blipFill>
          <a:blip r:embed="rId2"/>
          <a:srcRect l="1575" t="11116"/>
          <a:stretch>
            <a:fillRect/>
          </a:stretch>
        </p:blipFill>
        <p:spPr>
          <a:xfrm>
            <a:off x="-4762" y="0"/>
            <a:ext cx="9124950" cy="1627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 bwMode="auto">
          <a:xfrm>
            <a:off x="23813" y="9525"/>
            <a:ext cx="9151938" cy="1609725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82725" y="2762250"/>
            <a:ext cx="7832725" cy="525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了解数据结构研究的主要内容</a:t>
            </a:r>
          </a:p>
        </p:txBody>
      </p:sp>
      <p:sp>
        <p:nvSpPr>
          <p:cNvPr id="15" name="矩形 14"/>
          <p:cNvSpPr/>
          <p:nvPr/>
        </p:nvSpPr>
        <p:spPr>
          <a:xfrm>
            <a:off x="1482725" y="4208463"/>
            <a:ext cx="8064500" cy="525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掌握算法的时间、空间复杂度及其分析的简易方法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C4C8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6392" name="组合 28"/>
          <p:cNvGrpSpPr/>
          <p:nvPr/>
        </p:nvGrpSpPr>
        <p:grpSpPr>
          <a:xfrm>
            <a:off x="846138" y="2773363"/>
            <a:ext cx="590550" cy="627062"/>
            <a:chOff x="6242320" y="1105727"/>
            <a:chExt cx="589786" cy="626517"/>
          </a:xfrm>
        </p:grpSpPr>
        <p:sp>
          <p:nvSpPr>
            <p:cNvPr id="17" name="TextBox 6"/>
            <p:cNvSpPr txBox="1">
              <a:spLocks noChangeArrowheads="1"/>
            </p:cNvSpPr>
            <p:nvPr/>
          </p:nvSpPr>
          <p:spPr bwMode="auto">
            <a:xfrm>
              <a:off x="6327934" y="1105727"/>
              <a:ext cx="447096" cy="49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22"/>
            <p:cNvSpPr txBox="1">
              <a:spLocks noChangeArrowheads="1"/>
            </p:cNvSpPr>
            <p:nvPr/>
          </p:nvSpPr>
          <p:spPr bwMode="auto">
            <a:xfrm>
              <a:off x="6242320" y="1516532"/>
              <a:ext cx="589786" cy="215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393" name="组合 45"/>
          <p:cNvGrpSpPr/>
          <p:nvPr/>
        </p:nvGrpSpPr>
        <p:grpSpPr>
          <a:xfrm>
            <a:off x="846138" y="3463925"/>
            <a:ext cx="590550" cy="631825"/>
            <a:chOff x="6242320" y="2373233"/>
            <a:chExt cx="589786" cy="631741"/>
          </a:xfrm>
        </p:grpSpPr>
        <p:sp>
          <p:nvSpPr>
            <p:cNvPr id="20" name="TextBox 6"/>
            <p:cNvSpPr txBox="1">
              <a:spLocks noChangeArrowheads="1"/>
            </p:cNvSpPr>
            <p:nvPr/>
          </p:nvSpPr>
          <p:spPr bwMode="auto">
            <a:xfrm>
              <a:off x="6327934" y="2373233"/>
              <a:ext cx="447096" cy="492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文本框 23"/>
            <p:cNvSpPr txBox="1">
              <a:spLocks noChangeArrowheads="1"/>
            </p:cNvSpPr>
            <p:nvPr/>
          </p:nvSpPr>
          <p:spPr bwMode="auto">
            <a:xfrm>
              <a:off x="6242320" y="2789103"/>
              <a:ext cx="589786" cy="215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394" name="组合 48"/>
          <p:cNvGrpSpPr/>
          <p:nvPr/>
        </p:nvGrpSpPr>
        <p:grpSpPr>
          <a:xfrm>
            <a:off x="846138" y="4211638"/>
            <a:ext cx="590550" cy="620712"/>
            <a:chOff x="6242320" y="3640739"/>
            <a:chExt cx="589786" cy="620418"/>
          </a:xfrm>
        </p:grpSpPr>
        <p:sp>
          <p:nvSpPr>
            <p:cNvPr id="23" name="TextBox 6"/>
            <p:cNvSpPr txBox="1">
              <a:spLocks noChangeArrowheads="1"/>
            </p:cNvSpPr>
            <p:nvPr/>
          </p:nvSpPr>
          <p:spPr bwMode="auto">
            <a:xfrm>
              <a:off x="6327934" y="3640739"/>
              <a:ext cx="447096" cy="491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EDD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6AED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24"/>
            <p:cNvSpPr txBox="1">
              <a:spLocks noChangeArrowheads="1"/>
            </p:cNvSpPr>
            <p:nvPr/>
          </p:nvSpPr>
          <p:spPr bwMode="auto">
            <a:xfrm>
              <a:off x="6242320" y="4045359"/>
              <a:ext cx="589786" cy="215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395" name="组合 3"/>
          <p:cNvGrpSpPr/>
          <p:nvPr/>
        </p:nvGrpSpPr>
        <p:grpSpPr>
          <a:xfrm>
            <a:off x="3684588" y="336550"/>
            <a:ext cx="1830387" cy="1831975"/>
            <a:chOff x="3117668" y="234317"/>
            <a:chExt cx="2127323" cy="2127323"/>
          </a:xfrm>
        </p:grpSpPr>
        <p:sp>
          <p:nvSpPr>
            <p:cNvPr id="32" name="椭圆 31"/>
            <p:cNvSpPr/>
            <p:nvPr/>
          </p:nvSpPr>
          <p:spPr>
            <a:xfrm>
              <a:off x="3117668" y="234317"/>
              <a:ext cx="2127323" cy="2127323"/>
            </a:xfrm>
            <a:prstGeom prst="ellipse">
              <a:avLst/>
            </a:prstGeom>
            <a:solidFill>
              <a:schemeClr val="tx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372208" y="482505"/>
              <a:ext cx="1630947" cy="16309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65100">
                <a:schemeClr val="tx1">
                  <a:alpha val="27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6401" name="组合 47"/>
            <p:cNvGrpSpPr/>
            <p:nvPr/>
          </p:nvGrpSpPr>
          <p:grpSpPr>
            <a:xfrm>
              <a:off x="3250509" y="768989"/>
              <a:ext cx="1800200" cy="1001573"/>
              <a:chOff x="3896925" y="1033243"/>
              <a:chExt cx="1350150" cy="751179"/>
            </a:xfrm>
          </p:grpSpPr>
          <p:sp>
            <p:nvSpPr>
              <p:cNvPr id="35" name="TextBox 7"/>
              <p:cNvSpPr txBox="1"/>
              <p:nvPr/>
            </p:nvSpPr>
            <p:spPr>
              <a:xfrm>
                <a:off x="4256708" y="1399568"/>
                <a:ext cx="690504" cy="384356"/>
              </a:xfrm>
              <a:prstGeom prst="rect">
                <a:avLst/>
              </a:prstGeom>
              <a:noFill/>
            </p:spPr>
            <p:txBody>
              <a:bodyPr lIns="0" tIns="0" rIns="0" bIns="0" anchor="b">
                <a:normAutofit/>
              </a:bodyPr>
              <a:lstStyle/>
              <a:p>
                <a:pPr marR="0" algn="dist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135" kern="1200" cap="none" spc="0" normalizeH="0" baseline="0" noProof="0" dirty="0">
                    <a:latin typeface="+mn-lt"/>
                    <a:ea typeface="+mn-ea"/>
                    <a:cs typeface="+mn-ea"/>
                    <a:sym typeface="+mn-lt"/>
                  </a:rPr>
                  <a:t>target</a:t>
                </a:r>
              </a:p>
            </p:txBody>
          </p:sp>
          <p:sp>
            <p:nvSpPr>
              <p:cNvPr id="36" name="Rectangle 9"/>
              <p:cNvSpPr/>
              <p:nvPr/>
            </p:nvSpPr>
            <p:spPr>
              <a:xfrm>
                <a:off x="3896926" y="1033186"/>
                <a:ext cx="1350565" cy="692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735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目标</a:t>
                </a:r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1489075" y="3514725"/>
            <a:ext cx="7832725" cy="525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掌握数据结构中涉及的基本概念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327275" y="2847975"/>
            <a:ext cx="5199063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382713" y="284797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dist" defTabSz="914400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目录导航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01775" y="2776538"/>
            <a:ext cx="720725" cy="2241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1.1</a:t>
            </a:r>
            <a:endParaRPr kumimoji="0" lang="zh-CN" altLang="en-US" sz="2400" kern="1200" cap="none" spc="0" normalizeH="0" baseline="0" noProof="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1.2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1.3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1.4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39975" y="2776538"/>
            <a:ext cx="4129088" cy="2243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数据结构的研究内容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抽象数据类型的表示与实现 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算法与算法分析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bject 3"/>
          <p:cNvSpPr>
            <a:spLocks noChangeArrowheads="1"/>
          </p:cNvSpPr>
          <p:nvPr/>
        </p:nvSpPr>
        <p:spPr bwMode="auto">
          <a:xfrm>
            <a:off x="609600" y="1093788"/>
            <a:ext cx="4144963" cy="2590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5123" name="object 4"/>
          <p:cNvSpPr>
            <a:spLocks noChangeArrowheads="1"/>
          </p:cNvSpPr>
          <p:nvPr/>
        </p:nvSpPr>
        <p:spPr bwMode="auto">
          <a:xfrm>
            <a:off x="5715000" y="1016000"/>
            <a:ext cx="2514600" cy="2794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5124" name="object 5"/>
          <p:cNvSpPr>
            <a:spLocks noChangeArrowheads="1"/>
          </p:cNvSpPr>
          <p:nvPr/>
        </p:nvSpPr>
        <p:spPr bwMode="auto">
          <a:xfrm>
            <a:off x="2389684" y="3810000"/>
            <a:ext cx="4233863" cy="275272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5125" name="TextBox 7"/>
          <p:cNvSpPr txBox="1">
            <a:spLocks noChangeArrowheads="1"/>
          </p:cNvSpPr>
          <p:nvPr/>
        </p:nvSpPr>
        <p:spPr bwMode="auto">
          <a:xfrm>
            <a:off x="827584" y="188640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闲话结构</a:t>
            </a:r>
          </a:p>
        </p:txBody>
      </p:sp>
    </p:spTree>
    <p:extLst>
      <p:ext uri="{BB962C8B-B14F-4D97-AF65-F5344CB8AC3E}">
        <p14:creationId xmlns:p14="http://schemas.microsoft.com/office/powerpoint/2010/main" val="212343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bject 3"/>
          <p:cNvSpPr>
            <a:spLocks noChangeArrowheads="1"/>
          </p:cNvSpPr>
          <p:nvPr/>
        </p:nvSpPr>
        <p:spPr bwMode="auto">
          <a:xfrm>
            <a:off x="323850" y="1989138"/>
            <a:ext cx="4048125" cy="26543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grpSp>
        <p:nvGrpSpPr>
          <p:cNvPr id="6148" name="组合 1"/>
          <p:cNvGrpSpPr>
            <a:grpSpLocks/>
          </p:cNvGrpSpPr>
          <p:nvPr/>
        </p:nvGrpSpPr>
        <p:grpSpPr bwMode="auto">
          <a:xfrm>
            <a:off x="4654550" y="1150938"/>
            <a:ext cx="4132263" cy="4506912"/>
            <a:chOff x="4643628" y="1203960"/>
            <a:chExt cx="4131945" cy="3379176"/>
          </a:xfrm>
        </p:grpSpPr>
        <p:sp>
          <p:nvSpPr>
            <p:cNvPr id="6151" name="object 4"/>
            <p:cNvSpPr txBox="1">
              <a:spLocks noChangeArrowheads="1"/>
            </p:cNvSpPr>
            <p:nvPr/>
          </p:nvSpPr>
          <p:spPr bwMode="auto">
            <a:xfrm>
              <a:off x="4643628" y="1203960"/>
              <a:ext cx="4131945" cy="277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5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b="1">
                  <a:latin typeface="黑体" pitchFamily="49" charset="-122"/>
                  <a:ea typeface="黑体" pitchFamily="49" charset="-122"/>
                </a:rPr>
                <a:t>导航系统</a:t>
              </a:r>
              <a:endParaRPr lang="zh-CN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6152" name="object 5"/>
            <p:cNvSpPr>
              <a:spLocks noChangeArrowheads="1"/>
            </p:cNvSpPr>
            <p:nvPr/>
          </p:nvSpPr>
          <p:spPr bwMode="auto">
            <a:xfrm>
              <a:off x="4643628" y="1203960"/>
              <a:ext cx="4131564" cy="3096768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53" name="object 6"/>
            <p:cNvSpPr>
              <a:spLocks noChangeArrowheads="1"/>
            </p:cNvSpPr>
            <p:nvPr/>
          </p:nvSpPr>
          <p:spPr bwMode="auto">
            <a:xfrm>
              <a:off x="5246636" y="2922968"/>
              <a:ext cx="1045095" cy="1104163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54" name="object 7"/>
            <p:cNvSpPr>
              <a:spLocks noChangeArrowheads="1"/>
            </p:cNvSpPr>
            <p:nvPr/>
          </p:nvSpPr>
          <p:spPr bwMode="auto">
            <a:xfrm>
              <a:off x="6142050" y="1319022"/>
              <a:ext cx="1601774" cy="2917037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55" name="object 8"/>
            <p:cNvSpPr>
              <a:spLocks/>
            </p:cNvSpPr>
            <p:nvPr/>
          </p:nvSpPr>
          <p:spPr bwMode="auto">
            <a:xfrm>
              <a:off x="5405221" y="2025421"/>
              <a:ext cx="2163445" cy="1153160"/>
            </a:xfrm>
            <a:custGeom>
              <a:avLst/>
              <a:gdLst>
                <a:gd name="T0" fmla="*/ 17627 w 2163445"/>
                <a:gd name="T1" fmla="*/ 1153058 h 1153160"/>
                <a:gd name="T2" fmla="*/ 0 w 2163445"/>
                <a:gd name="T3" fmla="*/ 1119276 h 1153160"/>
                <a:gd name="T4" fmla="*/ 2145322 w 2163445"/>
                <a:gd name="T5" fmla="*/ 0 h 1153160"/>
                <a:gd name="T6" fmla="*/ 2162937 w 2163445"/>
                <a:gd name="T7" fmla="*/ 33769 h 1153160"/>
                <a:gd name="T8" fmla="*/ 17627 w 2163445"/>
                <a:gd name="T9" fmla="*/ 1153058 h 1153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3445" h="1153160">
                  <a:moveTo>
                    <a:pt x="17627" y="1153058"/>
                  </a:moveTo>
                  <a:lnTo>
                    <a:pt x="0" y="1119276"/>
                  </a:lnTo>
                  <a:lnTo>
                    <a:pt x="2145322" y="0"/>
                  </a:lnTo>
                  <a:lnTo>
                    <a:pt x="2162937" y="33769"/>
                  </a:lnTo>
                  <a:lnTo>
                    <a:pt x="17627" y="11530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56" name="object 9"/>
            <p:cNvSpPr>
              <a:spLocks/>
            </p:cNvSpPr>
            <p:nvPr/>
          </p:nvSpPr>
          <p:spPr bwMode="auto">
            <a:xfrm>
              <a:off x="6128613" y="3271329"/>
              <a:ext cx="925194" cy="602615"/>
            </a:xfrm>
            <a:custGeom>
              <a:avLst/>
              <a:gdLst>
                <a:gd name="T0" fmla="*/ 20320 w 925195"/>
                <a:gd name="T1" fmla="*/ 602577 h 602614"/>
                <a:gd name="T2" fmla="*/ 0 w 925195"/>
                <a:gd name="T3" fmla="*/ 570358 h 602614"/>
                <a:gd name="T4" fmla="*/ 904594 w 925195"/>
                <a:gd name="T5" fmla="*/ 0 h 602614"/>
                <a:gd name="T6" fmla="*/ 924914 w 925195"/>
                <a:gd name="T7" fmla="*/ 32232 h 602614"/>
                <a:gd name="T8" fmla="*/ 20320 w 925195"/>
                <a:gd name="T9" fmla="*/ 602577 h 6026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5195" h="602614">
                  <a:moveTo>
                    <a:pt x="20320" y="602576"/>
                  </a:moveTo>
                  <a:lnTo>
                    <a:pt x="0" y="570357"/>
                  </a:lnTo>
                  <a:lnTo>
                    <a:pt x="904595" y="0"/>
                  </a:lnTo>
                  <a:lnTo>
                    <a:pt x="924915" y="32232"/>
                  </a:lnTo>
                  <a:lnTo>
                    <a:pt x="20320" y="6025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57" name="object 10"/>
            <p:cNvSpPr>
              <a:spLocks/>
            </p:cNvSpPr>
            <p:nvPr/>
          </p:nvSpPr>
          <p:spPr bwMode="auto">
            <a:xfrm>
              <a:off x="6135382" y="3839044"/>
              <a:ext cx="1015365" cy="219710"/>
            </a:xfrm>
            <a:custGeom>
              <a:avLst/>
              <a:gdLst>
                <a:gd name="T0" fmla="*/ 1008329 w 1015365"/>
                <a:gd name="T1" fmla="*/ 219583 h 219710"/>
                <a:gd name="T2" fmla="*/ 0 w 1015365"/>
                <a:gd name="T3" fmla="*/ 37503 h 219710"/>
                <a:gd name="T4" fmla="*/ 6769 w 1015365"/>
                <a:gd name="T5" fmla="*/ 0 h 219710"/>
                <a:gd name="T6" fmla="*/ 1015098 w 1015365"/>
                <a:gd name="T7" fmla="*/ 182092 h 219710"/>
                <a:gd name="T8" fmla="*/ 1008329 w 1015365"/>
                <a:gd name="T9" fmla="*/ 219583 h 2197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5365" h="219710">
                  <a:moveTo>
                    <a:pt x="1008329" y="219583"/>
                  </a:moveTo>
                  <a:lnTo>
                    <a:pt x="0" y="37503"/>
                  </a:lnTo>
                  <a:lnTo>
                    <a:pt x="6769" y="0"/>
                  </a:lnTo>
                  <a:lnTo>
                    <a:pt x="1015098" y="182092"/>
                  </a:lnTo>
                  <a:lnTo>
                    <a:pt x="1008329" y="2195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58" name="object 11"/>
            <p:cNvSpPr>
              <a:spLocks/>
            </p:cNvSpPr>
            <p:nvPr/>
          </p:nvSpPr>
          <p:spPr bwMode="auto">
            <a:xfrm>
              <a:off x="5399430" y="1977859"/>
              <a:ext cx="947419" cy="1121410"/>
            </a:xfrm>
            <a:custGeom>
              <a:avLst/>
              <a:gdLst>
                <a:gd name="T0" fmla="*/ 29222 w 947420"/>
                <a:gd name="T1" fmla="*/ 1120978 h 1121410"/>
                <a:gd name="T2" fmla="*/ 0 w 947420"/>
                <a:gd name="T3" fmla="*/ 1096530 h 1121410"/>
                <a:gd name="T4" fmla="*/ 917726 w 947420"/>
                <a:gd name="T5" fmla="*/ 0 h 1121410"/>
                <a:gd name="T6" fmla="*/ 946949 w 947420"/>
                <a:gd name="T7" fmla="*/ 24460 h 1121410"/>
                <a:gd name="T8" fmla="*/ 29222 w 947420"/>
                <a:gd name="T9" fmla="*/ 1120978 h 1121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7420" h="1121410">
                  <a:moveTo>
                    <a:pt x="29222" y="1120978"/>
                  </a:moveTo>
                  <a:lnTo>
                    <a:pt x="0" y="1096530"/>
                  </a:lnTo>
                  <a:lnTo>
                    <a:pt x="917727" y="0"/>
                  </a:lnTo>
                  <a:lnTo>
                    <a:pt x="946950" y="24460"/>
                  </a:lnTo>
                  <a:lnTo>
                    <a:pt x="29222" y="11209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59" name="object 12"/>
            <p:cNvSpPr>
              <a:spLocks/>
            </p:cNvSpPr>
            <p:nvPr/>
          </p:nvSpPr>
          <p:spPr bwMode="auto">
            <a:xfrm>
              <a:off x="5412168" y="3098444"/>
              <a:ext cx="1473200" cy="182880"/>
            </a:xfrm>
            <a:custGeom>
              <a:avLst/>
              <a:gdLst>
                <a:gd name="T0" fmla="*/ 1469161 w 1473200"/>
                <a:gd name="T1" fmla="*/ 182525 h 182879"/>
                <a:gd name="T2" fmla="*/ 0 w 1473200"/>
                <a:gd name="T3" fmla="*/ 37922 h 182879"/>
                <a:gd name="T4" fmla="*/ 3733 w 1473200"/>
                <a:gd name="T5" fmla="*/ 0 h 182879"/>
                <a:gd name="T6" fmla="*/ 1472895 w 1473200"/>
                <a:gd name="T7" fmla="*/ 144603 h 182879"/>
                <a:gd name="T8" fmla="*/ 1469161 w 1473200"/>
                <a:gd name="T9" fmla="*/ 182525 h 1828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3200" h="182879">
                  <a:moveTo>
                    <a:pt x="1469161" y="182524"/>
                  </a:moveTo>
                  <a:lnTo>
                    <a:pt x="0" y="37922"/>
                  </a:lnTo>
                  <a:lnTo>
                    <a:pt x="3733" y="0"/>
                  </a:lnTo>
                  <a:lnTo>
                    <a:pt x="1472895" y="144602"/>
                  </a:lnTo>
                  <a:lnTo>
                    <a:pt x="1469161" y="1825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60" name="object 13"/>
            <p:cNvSpPr>
              <a:spLocks/>
            </p:cNvSpPr>
            <p:nvPr/>
          </p:nvSpPr>
          <p:spPr bwMode="auto">
            <a:xfrm>
              <a:off x="7246213" y="1968068"/>
              <a:ext cx="913765" cy="2146300"/>
            </a:xfrm>
            <a:custGeom>
              <a:avLst/>
              <a:gdLst>
                <a:gd name="T0" fmla="*/ 622058 w 913765"/>
                <a:gd name="T1" fmla="*/ 304800 h 2146300"/>
                <a:gd name="T2" fmla="*/ 572630 w 913765"/>
                <a:gd name="T3" fmla="*/ 254000 h 2146300"/>
                <a:gd name="T4" fmla="*/ 520776 w 913765"/>
                <a:gd name="T5" fmla="*/ 203200 h 2146300"/>
                <a:gd name="T6" fmla="*/ 439585 w 913765"/>
                <a:gd name="T7" fmla="*/ 127000 h 2146300"/>
                <a:gd name="T8" fmla="*/ 520763 w 913765"/>
                <a:gd name="T9" fmla="*/ 152400 h 2146300"/>
                <a:gd name="T10" fmla="*/ 686409 w 913765"/>
                <a:gd name="T11" fmla="*/ 330200 h 2146300"/>
                <a:gd name="T12" fmla="*/ 27584 w 913765"/>
                <a:gd name="T13" fmla="*/ 2146300 h 2146300"/>
                <a:gd name="T14" fmla="*/ 190487 w 913765"/>
                <a:gd name="T15" fmla="*/ 1917700 h 2146300"/>
                <a:gd name="T16" fmla="*/ 337337 w 913765"/>
                <a:gd name="T17" fmla="*/ 1752600 h 2146300"/>
                <a:gd name="T18" fmla="*/ 474687 w 913765"/>
                <a:gd name="T19" fmla="*/ 1600200 h 2146300"/>
                <a:gd name="T20" fmla="*/ 538505 w 913765"/>
                <a:gd name="T21" fmla="*/ 1524000 h 2146300"/>
                <a:gd name="T22" fmla="*/ 583755 w 913765"/>
                <a:gd name="T23" fmla="*/ 1460500 h 2146300"/>
                <a:gd name="T24" fmla="*/ 640308 w 913765"/>
                <a:gd name="T25" fmla="*/ 1384300 h 2146300"/>
                <a:gd name="T26" fmla="*/ 691984 w 913765"/>
                <a:gd name="T27" fmla="*/ 1308100 h 2146300"/>
                <a:gd name="T28" fmla="*/ 738276 w 913765"/>
                <a:gd name="T29" fmla="*/ 1231900 h 2146300"/>
                <a:gd name="T30" fmla="*/ 778662 w 913765"/>
                <a:gd name="T31" fmla="*/ 1168400 h 2146300"/>
                <a:gd name="T32" fmla="*/ 796467 w 913765"/>
                <a:gd name="T33" fmla="*/ 1130300 h 2146300"/>
                <a:gd name="T34" fmla="*/ 812622 w 913765"/>
                <a:gd name="T35" fmla="*/ 1092200 h 2146300"/>
                <a:gd name="T36" fmla="*/ 827036 w 913765"/>
                <a:gd name="T37" fmla="*/ 1066800 h 2146300"/>
                <a:gd name="T38" fmla="*/ 839660 w 913765"/>
                <a:gd name="T39" fmla="*/ 1028700 h 2146300"/>
                <a:gd name="T40" fmla="*/ 850442 w 913765"/>
                <a:gd name="T41" fmla="*/ 990600 h 2146300"/>
                <a:gd name="T42" fmla="*/ 863015 w 913765"/>
                <a:gd name="T43" fmla="*/ 939800 h 2146300"/>
                <a:gd name="T44" fmla="*/ 872845 w 913765"/>
                <a:gd name="T45" fmla="*/ 876300 h 2146300"/>
                <a:gd name="T46" fmla="*/ 874877 w 913765"/>
                <a:gd name="T47" fmla="*/ 812800 h 2146300"/>
                <a:gd name="T48" fmla="*/ 869632 w 913765"/>
                <a:gd name="T49" fmla="*/ 762000 h 2146300"/>
                <a:gd name="T50" fmla="*/ 857605 w 913765"/>
                <a:gd name="T51" fmla="*/ 698500 h 2146300"/>
                <a:gd name="T52" fmla="*/ 849337 w 913765"/>
                <a:gd name="T53" fmla="*/ 673100 h 2146300"/>
                <a:gd name="T54" fmla="*/ 839406 w 913765"/>
                <a:gd name="T55" fmla="*/ 635000 h 2146300"/>
                <a:gd name="T56" fmla="*/ 828014 w 913765"/>
                <a:gd name="T57" fmla="*/ 609600 h 2146300"/>
                <a:gd name="T58" fmla="*/ 815187 w 913765"/>
                <a:gd name="T59" fmla="*/ 584200 h 2146300"/>
                <a:gd name="T60" fmla="*/ 801014 w 913765"/>
                <a:gd name="T61" fmla="*/ 558800 h 2146300"/>
                <a:gd name="T62" fmla="*/ 785533 w 913765"/>
                <a:gd name="T63" fmla="*/ 520700 h 2146300"/>
                <a:gd name="T64" fmla="*/ 768807 w 913765"/>
                <a:gd name="T65" fmla="*/ 495300 h 2146300"/>
                <a:gd name="T66" fmla="*/ 750912 w 913765"/>
                <a:gd name="T67" fmla="*/ 469900 h 2146300"/>
                <a:gd name="T68" fmla="*/ 731888 w 913765"/>
                <a:gd name="T69" fmla="*/ 444500 h 2146300"/>
                <a:gd name="T70" fmla="*/ 711809 w 913765"/>
                <a:gd name="T71" fmla="*/ 419100 h 2146300"/>
                <a:gd name="T72" fmla="*/ 690752 w 913765"/>
                <a:gd name="T73" fmla="*/ 393700 h 2146300"/>
                <a:gd name="T74" fmla="*/ 657301 w 913765"/>
                <a:gd name="T75" fmla="*/ 342900 h 2146300"/>
                <a:gd name="T76" fmla="*/ 791972 w 913765"/>
                <a:gd name="T77" fmla="*/ 469900 h 2146300"/>
                <a:gd name="T78" fmla="*/ 856500 w 913765"/>
                <a:gd name="T79" fmla="*/ 584200 h 2146300"/>
                <a:gd name="T80" fmla="*/ 880592 w 913765"/>
                <a:gd name="T81" fmla="*/ 647700 h 2146300"/>
                <a:gd name="T82" fmla="*/ 898461 w 913765"/>
                <a:gd name="T83" fmla="*/ 698500 h 2146300"/>
                <a:gd name="T84" fmla="*/ 909510 w 913765"/>
                <a:gd name="T85" fmla="*/ 774700 h 2146300"/>
                <a:gd name="T86" fmla="*/ 913168 w 913765"/>
                <a:gd name="T87" fmla="*/ 838200 h 2146300"/>
                <a:gd name="T88" fmla="*/ 908875 w 913765"/>
                <a:gd name="T89" fmla="*/ 901700 h 2146300"/>
                <a:gd name="T90" fmla="*/ 896353 w 913765"/>
                <a:gd name="T91" fmla="*/ 965200 h 2146300"/>
                <a:gd name="T92" fmla="*/ 875525 w 913765"/>
                <a:gd name="T93" fmla="*/ 1041400 h 2146300"/>
                <a:gd name="T94" fmla="*/ 847344 w 913765"/>
                <a:gd name="T95" fmla="*/ 1117600 h 2146300"/>
                <a:gd name="T96" fmla="*/ 812266 w 913765"/>
                <a:gd name="T97" fmla="*/ 1181100 h 2146300"/>
                <a:gd name="T98" fmla="*/ 770851 w 913765"/>
                <a:gd name="T99" fmla="*/ 1257300 h 2146300"/>
                <a:gd name="T100" fmla="*/ 723620 w 913765"/>
                <a:gd name="T101" fmla="*/ 1333500 h 2146300"/>
                <a:gd name="T102" fmla="*/ 671118 w 913765"/>
                <a:gd name="T103" fmla="*/ 1409700 h 2146300"/>
                <a:gd name="T104" fmla="*/ 613841 w 913765"/>
                <a:gd name="T105" fmla="*/ 1485900 h 2146300"/>
                <a:gd name="T106" fmla="*/ 503707 w 913765"/>
                <a:gd name="T107" fmla="*/ 1625600 h 2146300"/>
                <a:gd name="T108" fmla="*/ 365544 w 913765"/>
                <a:gd name="T109" fmla="*/ 1778000 h 2146300"/>
                <a:gd name="T110" fmla="*/ 180454 w 913765"/>
                <a:gd name="T111" fmla="*/ 1981200 h 214630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913765" h="2146300">
                  <a:moveTo>
                    <a:pt x="657428" y="355600"/>
                  </a:moveTo>
                  <a:lnTo>
                    <a:pt x="645769" y="330200"/>
                  </a:lnTo>
                  <a:lnTo>
                    <a:pt x="645947" y="330200"/>
                  </a:lnTo>
                  <a:lnTo>
                    <a:pt x="622058" y="304800"/>
                  </a:lnTo>
                  <a:lnTo>
                    <a:pt x="622287" y="304800"/>
                  </a:lnTo>
                  <a:lnTo>
                    <a:pt x="597674" y="279400"/>
                  </a:lnTo>
                  <a:lnTo>
                    <a:pt x="597877" y="279400"/>
                  </a:lnTo>
                  <a:lnTo>
                    <a:pt x="572630" y="254000"/>
                  </a:lnTo>
                  <a:lnTo>
                    <a:pt x="572808" y="254000"/>
                  </a:lnTo>
                  <a:lnTo>
                    <a:pt x="546976" y="228600"/>
                  </a:lnTo>
                  <a:lnTo>
                    <a:pt x="547128" y="228600"/>
                  </a:lnTo>
                  <a:lnTo>
                    <a:pt x="520776" y="203200"/>
                  </a:lnTo>
                  <a:lnTo>
                    <a:pt x="520915" y="203200"/>
                  </a:lnTo>
                  <a:lnTo>
                    <a:pt x="494106" y="177800"/>
                  </a:lnTo>
                  <a:lnTo>
                    <a:pt x="467017" y="152400"/>
                  </a:lnTo>
                  <a:lnTo>
                    <a:pt x="439585" y="127000"/>
                  </a:lnTo>
                  <a:lnTo>
                    <a:pt x="383921" y="76200"/>
                  </a:lnTo>
                  <a:lnTo>
                    <a:pt x="327710" y="25400"/>
                  </a:lnTo>
                  <a:lnTo>
                    <a:pt x="465810" y="101600"/>
                  </a:lnTo>
                  <a:lnTo>
                    <a:pt x="520763" y="152400"/>
                  </a:lnTo>
                  <a:lnTo>
                    <a:pt x="574243" y="203200"/>
                  </a:lnTo>
                  <a:lnTo>
                    <a:pt x="625728" y="254000"/>
                  </a:lnTo>
                  <a:lnTo>
                    <a:pt x="674624" y="304800"/>
                  </a:lnTo>
                  <a:lnTo>
                    <a:pt x="686409" y="330200"/>
                  </a:lnTo>
                  <a:lnTo>
                    <a:pt x="697992" y="342900"/>
                  </a:lnTo>
                  <a:lnTo>
                    <a:pt x="657301" y="342900"/>
                  </a:lnTo>
                  <a:lnTo>
                    <a:pt x="657428" y="355600"/>
                  </a:lnTo>
                  <a:close/>
                </a:path>
                <a:path w="913765" h="2146300">
                  <a:moveTo>
                    <a:pt x="27584" y="2146300"/>
                  </a:moveTo>
                  <a:lnTo>
                    <a:pt x="0" y="2108200"/>
                  </a:lnTo>
                  <a:lnTo>
                    <a:pt x="76669" y="2032000"/>
                  </a:lnTo>
                  <a:lnTo>
                    <a:pt x="152806" y="1955800"/>
                  </a:lnTo>
                  <a:lnTo>
                    <a:pt x="190487" y="1917700"/>
                  </a:lnTo>
                  <a:lnTo>
                    <a:pt x="227863" y="1866900"/>
                  </a:lnTo>
                  <a:lnTo>
                    <a:pt x="264833" y="1828800"/>
                  </a:lnTo>
                  <a:lnTo>
                    <a:pt x="301345" y="1790700"/>
                  </a:lnTo>
                  <a:lnTo>
                    <a:pt x="337337" y="1752600"/>
                  </a:lnTo>
                  <a:lnTo>
                    <a:pt x="372719" y="1714500"/>
                  </a:lnTo>
                  <a:lnTo>
                    <a:pt x="407454" y="1676400"/>
                  </a:lnTo>
                  <a:lnTo>
                    <a:pt x="441464" y="1638300"/>
                  </a:lnTo>
                  <a:lnTo>
                    <a:pt x="474687" y="1600200"/>
                  </a:lnTo>
                  <a:lnTo>
                    <a:pt x="474560" y="1600200"/>
                  </a:lnTo>
                  <a:lnTo>
                    <a:pt x="507060" y="1562100"/>
                  </a:lnTo>
                  <a:lnTo>
                    <a:pt x="506920" y="1562100"/>
                  </a:lnTo>
                  <a:lnTo>
                    <a:pt x="538505" y="1524000"/>
                  </a:lnTo>
                  <a:lnTo>
                    <a:pt x="538352" y="1524000"/>
                  </a:lnTo>
                  <a:lnTo>
                    <a:pt x="568960" y="1485900"/>
                  </a:lnTo>
                  <a:lnTo>
                    <a:pt x="568832" y="1485900"/>
                  </a:lnTo>
                  <a:lnTo>
                    <a:pt x="583755" y="1460500"/>
                  </a:lnTo>
                  <a:lnTo>
                    <a:pt x="598322" y="1447800"/>
                  </a:lnTo>
                  <a:lnTo>
                    <a:pt x="612609" y="1422400"/>
                  </a:lnTo>
                  <a:lnTo>
                    <a:pt x="626605" y="1409700"/>
                  </a:lnTo>
                  <a:lnTo>
                    <a:pt x="640308" y="1384300"/>
                  </a:lnTo>
                  <a:lnTo>
                    <a:pt x="653694" y="1371600"/>
                  </a:lnTo>
                  <a:lnTo>
                    <a:pt x="666788" y="1346200"/>
                  </a:lnTo>
                  <a:lnTo>
                    <a:pt x="679551" y="1333500"/>
                  </a:lnTo>
                  <a:lnTo>
                    <a:pt x="691984" y="1308100"/>
                  </a:lnTo>
                  <a:lnTo>
                    <a:pt x="704088" y="1295400"/>
                  </a:lnTo>
                  <a:lnTo>
                    <a:pt x="715835" y="1270000"/>
                  </a:lnTo>
                  <a:lnTo>
                    <a:pt x="727240" y="1257300"/>
                  </a:lnTo>
                  <a:lnTo>
                    <a:pt x="738276" y="1231900"/>
                  </a:lnTo>
                  <a:lnTo>
                    <a:pt x="748944" y="1219200"/>
                  </a:lnTo>
                  <a:lnTo>
                    <a:pt x="759231" y="1206500"/>
                  </a:lnTo>
                  <a:lnTo>
                    <a:pt x="769137" y="1181100"/>
                  </a:lnTo>
                  <a:lnTo>
                    <a:pt x="778662" y="1168400"/>
                  </a:lnTo>
                  <a:lnTo>
                    <a:pt x="778522" y="1168400"/>
                  </a:lnTo>
                  <a:lnTo>
                    <a:pt x="787768" y="1143000"/>
                  </a:lnTo>
                  <a:lnTo>
                    <a:pt x="787628" y="1143000"/>
                  </a:lnTo>
                  <a:lnTo>
                    <a:pt x="796467" y="1130300"/>
                  </a:lnTo>
                  <a:lnTo>
                    <a:pt x="796328" y="1130300"/>
                  </a:lnTo>
                  <a:lnTo>
                    <a:pt x="804760" y="1117600"/>
                  </a:lnTo>
                  <a:lnTo>
                    <a:pt x="804608" y="1117600"/>
                  </a:lnTo>
                  <a:lnTo>
                    <a:pt x="812622" y="1092200"/>
                  </a:lnTo>
                  <a:lnTo>
                    <a:pt x="812469" y="1092200"/>
                  </a:lnTo>
                  <a:lnTo>
                    <a:pt x="820039" y="1079500"/>
                  </a:lnTo>
                  <a:lnTo>
                    <a:pt x="819899" y="1079500"/>
                  </a:lnTo>
                  <a:lnTo>
                    <a:pt x="827036" y="1066800"/>
                  </a:lnTo>
                  <a:lnTo>
                    <a:pt x="826897" y="1066800"/>
                  </a:lnTo>
                  <a:lnTo>
                    <a:pt x="833577" y="1041400"/>
                  </a:lnTo>
                  <a:lnTo>
                    <a:pt x="833437" y="1041400"/>
                  </a:lnTo>
                  <a:lnTo>
                    <a:pt x="839660" y="1028700"/>
                  </a:lnTo>
                  <a:lnTo>
                    <a:pt x="839520" y="1028700"/>
                  </a:lnTo>
                  <a:lnTo>
                    <a:pt x="845286" y="1016000"/>
                  </a:lnTo>
                  <a:lnTo>
                    <a:pt x="845146" y="1016000"/>
                  </a:lnTo>
                  <a:lnTo>
                    <a:pt x="850442" y="990600"/>
                  </a:lnTo>
                  <a:lnTo>
                    <a:pt x="850303" y="990600"/>
                  </a:lnTo>
                  <a:lnTo>
                    <a:pt x="855116" y="977900"/>
                  </a:lnTo>
                  <a:lnTo>
                    <a:pt x="859307" y="965200"/>
                  </a:lnTo>
                  <a:lnTo>
                    <a:pt x="863015" y="939800"/>
                  </a:lnTo>
                  <a:lnTo>
                    <a:pt x="866228" y="927100"/>
                  </a:lnTo>
                  <a:lnTo>
                    <a:pt x="868934" y="914400"/>
                  </a:lnTo>
                  <a:lnTo>
                    <a:pt x="871131" y="901700"/>
                  </a:lnTo>
                  <a:lnTo>
                    <a:pt x="872845" y="876300"/>
                  </a:lnTo>
                  <a:lnTo>
                    <a:pt x="874064" y="863600"/>
                  </a:lnTo>
                  <a:lnTo>
                    <a:pt x="874801" y="850900"/>
                  </a:lnTo>
                  <a:lnTo>
                    <a:pt x="875068" y="838200"/>
                  </a:lnTo>
                  <a:lnTo>
                    <a:pt x="874877" y="812800"/>
                  </a:lnTo>
                  <a:lnTo>
                    <a:pt x="874229" y="800100"/>
                  </a:lnTo>
                  <a:lnTo>
                    <a:pt x="873137" y="787400"/>
                  </a:lnTo>
                  <a:lnTo>
                    <a:pt x="871601" y="774700"/>
                  </a:lnTo>
                  <a:lnTo>
                    <a:pt x="869632" y="762000"/>
                  </a:lnTo>
                  <a:lnTo>
                    <a:pt x="867244" y="736600"/>
                  </a:lnTo>
                  <a:lnTo>
                    <a:pt x="864438" y="723900"/>
                  </a:lnTo>
                  <a:lnTo>
                    <a:pt x="861225" y="711200"/>
                  </a:lnTo>
                  <a:lnTo>
                    <a:pt x="857605" y="698500"/>
                  </a:lnTo>
                  <a:lnTo>
                    <a:pt x="853592" y="685800"/>
                  </a:lnTo>
                  <a:lnTo>
                    <a:pt x="853732" y="685800"/>
                  </a:lnTo>
                  <a:lnTo>
                    <a:pt x="849198" y="673100"/>
                  </a:lnTo>
                  <a:lnTo>
                    <a:pt x="849337" y="673100"/>
                  </a:lnTo>
                  <a:lnTo>
                    <a:pt x="844410" y="660400"/>
                  </a:lnTo>
                  <a:lnTo>
                    <a:pt x="844562" y="660400"/>
                  </a:lnTo>
                  <a:lnTo>
                    <a:pt x="839254" y="635000"/>
                  </a:lnTo>
                  <a:lnTo>
                    <a:pt x="839406" y="635000"/>
                  </a:lnTo>
                  <a:lnTo>
                    <a:pt x="833729" y="622300"/>
                  </a:lnTo>
                  <a:lnTo>
                    <a:pt x="833894" y="622300"/>
                  </a:lnTo>
                  <a:lnTo>
                    <a:pt x="827836" y="609600"/>
                  </a:lnTo>
                  <a:lnTo>
                    <a:pt x="828014" y="609600"/>
                  </a:lnTo>
                  <a:lnTo>
                    <a:pt x="821601" y="596900"/>
                  </a:lnTo>
                  <a:lnTo>
                    <a:pt x="821766" y="596900"/>
                  </a:lnTo>
                  <a:lnTo>
                    <a:pt x="815009" y="584200"/>
                  </a:lnTo>
                  <a:lnTo>
                    <a:pt x="815187" y="584200"/>
                  </a:lnTo>
                  <a:lnTo>
                    <a:pt x="808088" y="571500"/>
                  </a:lnTo>
                  <a:lnTo>
                    <a:pt x="808266" y="571500"/>
                  </a:lnTo>
                  <a:lnTo>
                    <a:pt x="800836" y="558800"/>
                  </a:lnTo>
                  <a:lnTo>
                    <a:pt x="801014" y="558800"/>
                  </a:lnTo>
                  <a:lnTo>
                    <a:pt x="793254" y="546100"/>
                  </a:lnTo>
                  <a:lnTo>
                    <a:pt x="793432" y="546100"/>
                  </a:lnTo>
                  <a:lnTo>
                    <a:pt x="785355" y="520700"/>
                  </a:lnTo>
                  <a:lnTo>
                    <a:pt x="785533" y="520700"/>
                  </a:lnTo>
                  <a:lnTo>
                    <a:pt x="777151" y="508000"/>
                  </a:lnTo>
                  <a:lnTo>
                    <a:pt x="777316" y="508000"/>
                  </a:lnTo>
                  <a:lnTo>
                    <a:pt x="768642" y="495300"/>
                  </a:lnTo>
                  <a:lnTo>
                    <a:pt x="768807" y="495300"/>
                  </a:lnTo>
                  <a:lnTo>
                    <a:pt x="759828" y="482600"/>
                  </a:lnTo>
                  <a:lnTo>
                    <a:pt x="760006" y="482600"/>
                  </a:lnTo>
                  <a:lnTo>
                    <a:pt x="750747" y="469900"/>
                  </a:lnTo>
                  <a:lnTo>
                    <a:pt x="750912" y="469900"/>
                  </a:lnTo>
                  <a:lnTo>
                    <a:pt x="741375" y="457200"/>
                  </a:lnTo>
                  <a:lnTo>
                    <a:pt x="741527" y="457200"/>
                  </a:lnTo>
                  <a:lnTo>
                    <a:pt x="731735" y="444500"/>
                  </a:lnTo>
                  <a:lnTo>
                    <a:pt x="731888" y="444500"/>
                  </a:lnTo>
                  <a:lnTo>
                    <a:pt x="721829" y="431800"/>
                  </a:lnTo>
                  <a:lnTo>
                    <a:pt x="721982" y="431800"/>
                  </a:lnTo>
                  <a:lnTo>
                    <a:pt x="711657" y="419100"/>
                  </a:lnTo>
                  <a:lnTo>
                    <a:pt x="711809" y="419100"/>
                  </a:lnTo>
                  <a:lnTo>
                    <a:pt x="701255" y="406400"/>
                  </a:lnTo>
                  <a:lnTo>
                    <a:pt x="701395" y="406400"/>
                  </a:lnTo>
                  <a:lnTo>
                    <a:pt x="690600" y="393700"/>
                  </a:lnTo>
                  <a:lnTo>
                    <a:pt x="690752" y="393700"/>
                  </a:lnTo>
                  <a:lnTo>
                    <a:pt x="679729" y="381000"/>
                  </a:lnTo>
                  <a:lnTo>
                    <a:pt x="668616" y="368300"/>
                  </a:lnTo>
                  <a:lnTo>
                    <a:pt x="668756" y="368300"/>
                  </a:lnTo>
                  <a:lnTo>
                    <a:pt x="657301" y="342900"/>
                  </a:lnTo>
                  <a:lnTo>
                    <a:pt x="697992" y="342900"/>
                  </a:lnTo>
                  <a:lnTo>
                    <a:pt x="731469" y="381000"/>
                  </a:lnTo>
                  <a:lnTo>
                    <a:pt x="762876" y="419100"/>
                  </a:lnTo>
                  <a:lnTo>
                    <a:pt x="791972" y="469900"/>
                  </a:lnTo>
                  <a:lnTo>
                    <a:pt x="801116" y="482600"/>
                  </a:lnTo>
                  <a:lnTo>
                    <a:pt x="826770" y="520700"/>
                  </a:lnTo>
                  <a:lnTo>
                    <a:pt x="849579" y="571500"/>
                  </a:lnTo>
                  <a:lnTo>
                    <a:pt x="856500" y="584200"/>
                  </a:lnTo>
                  <a:lnTo>
                    <a:pt x="863079" y="596900"/>
                  </a:lnTo>
                  <a:lnTo>
                    <a:pt x="869289" y="609600"/>
                  </a:lnTo>
                  <a:lnTo>
                    <a:pt x="875131" y="622300"/>
                  </a:lnTo>
                  <a:lnTo>
                    <a:pt x="880592" y="647700"/>
                  </a:lnTo>
                  <a:lnTo>
                    <a:pt x="885672" y="660400"/>
                  </a:lnTo>
                  <a:lnTo>
                    <a:pt x="890346" y="673100"/>
                  </a:lnTo>
                  <a:lnTo>
                    <a:pt x="894613" y="685800"/>
                  </a:lnTo>
                  <a:lnTo>
                    <a:pt x="898461" y="698500"/>
                  </a:lnTo>
                  <a:lnTo>
                    <a:pt x="901890" y="723900"/>
                  </a:lnTo>
                  <a:lnTo>
                    <a:pt x="904875" y="736600"/>
                  </a:lnTo>
                  <a:lnTo>
                    <a:pt x="907415" y="749300"/>
                  </a:lnTo>
                  <a:lnTo>
                    <a:pt x="909510" y="774700"/>
                  </a:lnTo>
                  <a:lnTo>
                    <a:pt x="911136" y="787400"/>
                  </a:lnTo>
                  <a:lnTo>
                    <a:pt x="912266" y="800100"/>
                  </a:lnTo>
                  <a:lnTo>
                    <a:pt x="912977" y="812800"/>
                  </a:lnTo>
                  <a:lnTo>
                    <a:pt x="913168" y="838200"/>
                  </a:lnTo>
                  <a:lnTo>
                    <a:pt x="912876" y="850900"/>
                  </a:lnTo>
                  <a:lnTo>
                    <a:pt x="912037" y="863600"/>
                  </a:lnTo>
                  <a:lnTo>
                    <a:pt x="910717" y="889000"/>
                  </a:lnTo>
                  <a:lnTo>
                    <a:pt x="908875" y="901700"/>
                  </a:lnTo>
                  <a:lnTo>
                    <a:pt x="906500" y="914400"/>
                  </a:lnTo>
                  <a:lnTo>
                    <a:pt x="903604" y="939800"/>
                  </a:lnTo>
                  <a:lnTo>
                    <a:pt x="900176" y="952500"/>
                  </a:lnTo>
                  <a:lnTo>
                    <a:pt x="896353" y="965200"/>
                  </a:lnTo>
                  <a:lnTo>
                    <a:pt x="891781" y="990600"/>
                  </a:lnTo>
                  <a:lnTo>
                    <a:pt x="886980" y="1003300"/>
                  </a:lnTo>
                  <a:lnTo>
                    <a:pt x="881418" y="1028700"/>
                  </a:lnTo>
                  <a:lnTo>
                    <a:pt x="875525" y="1041400"/>
                  </a:lnTo>
                  <a:lnTo>
                    <a:pt x="869149" y="1054100"/>
                  </a:lnTo>
                  <a:lnTo>
                    <a:pt x="862329" y="1079500"/>
                  </a:lnTo>
                  <a:lnTo>
                    <a:pt x="855052" y="1092200"/>
                  </a:lnTo>
                  <a:lnTo>
                    <a:pt x="847344" y="1117600"/>
                  </a:lnTo>
                  <a:lnTo>
                    <a:pt x="839203" y="1130300"/>
                  </a:lnTo>
                  <a:lnTo>
                    <a:pt x="830630" y="1143000"/>
                  </a:lnTo>
                  <a:lnTo>
                    <a:pt x="821651" y="1168400"/>
                  </a:lnTo>
                  <a:lnTo>
                    <a:pt x="812266" y="1181100"/>
                  </a:lnTo>
                  <a:lnTo>
                    <a:pt x="802487" y="1206500"/>
                  </a:lnTo>
                  <a:lnTo>
                    <a:pt x="792314" y="1219200"/>
                  </a:lnTo>
                  <a:lnTo>
                    <a:pt x="781773" y="1244600"/>
                  </a:lnTo>
                  <a:lnTo>
                    <a:pt x="770851" y="1257300"/>
                  </a:lnTo>
                  <a:lnTo>
                    <a:pt x="759574" y="1282700"/>
                  </a:lnTo>
                  <a:lnTo>
                    <a:pt x="748055" y="1295400"/>
                  </a:lnTo>
                  <a:lnTo>
                    <a:pt x="735939" y="1308100"/>
                  </a:lnTo>
                  <a:lnTo>
                    <a:pt x="723620" y="1333500"/>
                  </a:lnTo>
                  <a:lnTo>
                    <a:pt x="710971" y="1346200"/>
                  </a:lnTo>
                  <a:lnTo>
                    <a:pt x="697992" y="1371600"/>
                  </a:lnTo>
                  <a:lnTo>
                    <a:pt x="684707" y="1384300"/>
                  </a:lnTo>
                  <a:lnTo>
                    <a:pt x="671118" y="1409700"/>
                  </a:lnTo>
                  <a:lnTo>
                    <a:pt x="657225" y="1422400"/>
                  </a:lnTo>
                  <a:lnTo>
                    <a:pt x="643039" y="1447800"/>
                  </a:lnTo>
                  <a:lnTo>
                    <a:pt x="628573" y="1460500"/>
                  </a:lnTo>
                  <a:lnTo>
                    <a:pt x="613841" y="1485900"/>
                  </a:lnTo>
                  <a:lnTo>
                    <a:pt x="598804" y="1498600"/>
                  </a:lnTo>
                  <a:lnTo>
                    <a:pt x="568045" y="1549400"/>
                  </a:lnTo>
                  <a:lnTo>
                    <a:pt x="536321" y="1587500"/>
                  </a:lnTo>
                  <a:lnTo>
                    <a:pt x="503707" y="1625600"/>
                  </a:lnTo>
                  <a:lnTo>
                    <a:pt x="470255" y="1663700"/>
                  </a:lnTo>
                  <a:lnTo>
                    <a:pt x="436029" y="1701800"/>
                  </a:lnTo>
                  <a:lnTo>
                    <a:pt x="401104" y="1739900"/>
                  </a:lnTo>
                  <a:lnTo>
                    <a:pt x="365544" y="1778000"/>
                  </a:lnTo>
                  <a:lnTo>
                    <a:pt x="329412" y="1816100"/>
                  </a:lnTo>
                  <a:lnTo>
                    <a:pt x="292773" y="1854200"/>
                  </a:lnTo>
                  <a:lnTo>
                    <a:pt x="255701" y="1905000"/>
                  </a:lnTo>
                  <a:lnTo>
                    <a:pt x="180454" y="1981200"/>
                  </a:lnTo>
                  <a:lnTo>
                    <a:pt x="104254" y="2057400"/>
                  </a:lnTo>
                  <a:lnTo>
                    <a:pt x="27584" y="21463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61" name="object 14"/>
            <p:cNvSpPr>
              <a:spLocks noChangeArrowheads="1"/>
            </p:cNvSpPr>
            <p:nvPr/>
          </p:nvSpPr>
          <p:spPr bwMode="auto">
            <a:xfrm>
              <a:off x="5263540" y="1337779"/>
              <a:ext cx="1881746" cy="2069503"/>
            </a:xfrm>
            <a:prstGeom prst="rect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62" name="object 15"/>
            <p:cNvSpPr txBox="1">
              <a:spLocks noChangeArrowheads="1"/>
            </p:cNvSpPr>
            <p:nvPr/>
          </p:nvSpPr>
          <p:spPr bwMode="auto">
            <a:xfrm>
              <a:off x="5379300" y="3003449"/>
              <a:ext cx="198755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7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D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6783413" y="1387262"/>
              <a:ext cx="182549" cy="208297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>
                <a:defRPr/>
              </a:pPr>
              <a:r>
                <a:rPr sz="1800" b="1" spc="-5" dirty="0">
                  <a:latin typeface="Tahoma"/>
                  <a:cs typeface="Tahoma"/>
                </a:rPr>
                <a:t>A</a:t>
              </a:r>
              <a:endParaRPr sz="1800">
                <a:latin typeface="Tahoma"/>
                <a:cs typeface="Tahoma"/>
              </a:endParaRPr>
            </a:p>
          </p:txBody>
        </p:sp>
        <p:sp>
          <p:nvSpPr>
            <p:cNvPr id="6164" name="object 17"/>
            <p:cNvSpPr>
              <a:spLocks noChangeArrowheads="1"/>
            </p:cNvSpPr>
            <p:nvPr/>
          </p:nvSpPr>
          <p:spPr bwMode="auto">
            <a:xfrm>
              <a:off x="7385227" y="1814258"/>
              <a:ext cx="346938" cy="325119"/>
            </a:xfrm>
            <a:prstGeom prst="rect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65" name="object 18"/>
            <p:cNvSpPr txBox="1">
              <a:spLocks noChangeArrowheads="1"/>
            </p:cNvSpPr>
            <p:nvPr/>
          </p:nvSpPr>
          <p:spPr bwMode="auto">
            <a:xfrm>
              <a:off x="7490815" y="1876121"/>
              <a:ext cx="178435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7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C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166" name="object 19"/>
            <p:cNvSpPr>
              <a:spLocks noChangeArrowheads="1"/>
            </p:cNvSpPr>
            <p:nvPr/>
          </p:nvSpPr>
          <p:spPr bwMode="auto">
            <a:xfrm>
              <a:off x="7038606" y="3902037"/>
              <a:ext cx="348259" cy="323850"/>
            </a:xfrm>
            <a:prstGeom prst="rect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67" name="object 20"/>
            <p:cNvSpPr txBox="1">
              <a:spLocks noChangeArrowheads="1"/>
            </p:cNvSpPr>
            <p:nvPr/>
          </p:nvSpPr>
          <p:spPr bwMode="auto">
            <a:xfrm>
              <a:off x="6738967" y="3971337"/>
              <a:ext cx="939728" cy="61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619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F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  <a:p>
              <a:pPr algn="ctr">
                <a:lnSpc>
                  <a:spcPts val="2838"/>
                </a:lnSpc>
                <a:spcBef>
                  <a:spcPts val="1425"/>
                </a:spcBef>
              </a:pPr>
              <a:r>
                <a:rPr lang="zh-CN">
                  <a:latin typeface="黑体" pitchFamily="49" charset="-122"/>
                  <a:ea typeface="黑体" pitchFamily="49" charset="-122"/>
                </a:rPr>
                <a:t>图结构</a:t>
              </a:r>
            </a:p>
          </p:txBody>
        </p:sp>
        <p:sp>
          <p:nvSpPr>
            <p:cNvPr id="6168" name="object 21"/>
            <p:cNvSpPr txBox="1">
              <a:spLocks noChangeArrowheads="1"/>
            </p:cNvSpPr>
            <p:nvPr/>
          </p:nvSpPr>
          <p:spPr bwMode="auto">
            <a:xfrm>
              <a:off x="6274587" y="1860055"/>
              <a:ext cx="182245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7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B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169" name="object 22"/>
            <p:cNvSpPr>
              <a:spLocks noChangeArrowheads="1"/>
            </p:cNvSpPr>
            <p:nvPr/>
          </p:nvSpPr>
          <p:spPr bwMode="auto">
            <a:xfrm>
              <a:off x="5931827" y="3692677"/>
              <a:ext cx="348246" cy="325120"/>
            </a:xfrm>
            <a:prstGeom prst="rect">
              <a:avLst/>
            </a:prstGeom>
            <a:blipFill dpi="0" rotWithShape="1">
              <a:blip r:embed="rId9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6170" name="object 23"/>
            <p:cNvSpPr txBox="1">
              <a:spLocks noChangeArrowheads="1"/>
            </p:cNvSpPr>
            <p:nvPr/>
          </p:nvSpPr>
          <p:spPr bwMode="auto">
            <a:xfrm>
              <a:off x="6047587" y="3754540"/>
              <a:ext cx="166370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7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E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171" name="object 24"/>
            <p:cNvSpPr txBox="1">
              <a:spLocks noChangeArrowheads="1"/>
            </p:cNvSpPr>
            <p:nvPr/>
          </p:nvSpPr>
          <p:spPr bwMode="auto">
            <a:xfrm>
              <a:off x="6900926" y="3144025"/>
              <a:ext cx="196215" cy="20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127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zh-CN" sz="1800" b="1">
                  <a:latin typeface="Tahoma" pitchFamily="34" charset="0"/>
                  <a:cs typeface="Tahoma" pitchFamily="34" charset="0"/>
                </a:rPr>
                <a:t>G</a:t>
              </a:r>
              <a:endParaRPr lang="zh-CN" altLang="zh-CN" sz="1800"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6149" name="object 25"/>
          <p:cNvSpPr txBox="1">
            <a:spLocks noChangeArrowheads="1"/>
          </p:cNvSpPr>
          <p:nvPr/>
        </p:nvSpPr>
        <p:spPr bwMode="auto">
          <a:xfrm>
            <a:off x="1411288" y="5043488"/>
            <a:ext cx="15494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38"/>
              </a:lnSpc>
            </a:pPr>
            <a:r>
              <a:rPr lang="zh-CN">
                <a:latin typeface="黑体" pitchFamily="49" charset="-122"/>
                <a:ea typeface="黑体" pitchFamily="49" charset="-122"/>
              </a:rPr>
              <a:t>车载导航仪</a:t>
            </a:r>
          </a:p>
        </p:txBody>
      </p:sp>
      <p:sp>
        <p:nvSpPr>
          <p:cNvPr id="6150" name="TextBox 27"/>
          <p:cNvSpPr txBox="1">
            <a:spLocks noChangeArrowheads="1"/>
          </p:cNvSpPr>
          <p:nvPr/>
        </p:nvSpPr>
        <p:spPr bwMode="auto">
          <a:xfrm>
            <a:off x="971600" y="180504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闲话结构</a:t>
            </a:r>
          </a:p>
        </p:txBody>
      </p:sp>
    </p:spTree>
    <p:extLst>
      <p:ext uri="{BB962C8B-B14F-4D97-AF65-F5344CB8AC3E}">
        <p14:creationId xmlns:p14="http://schemas.microsoft.com/office/powerpoint/2010/main" val="349183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bject 3"/>
          <p:cNvSpPr txBox="1">
            <a:spLocks noChangeArrowheads="1"/>
          </p:cNvSpPr>
          <p:nvPr/>
        </p:nvSpPr>
        <p:spPr bwMode="auto">
          <a:xfrm>
            <a:off x="6380163" y="5619750"/>
            <a:ext cx="9398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38"/>
              </a:lnSpc>
            </a:pPr>
            <a:r>
              <a:rPr lang="zh-CN">
                <a:latin typeface="黑体" pitchFamily="49" charset="-122"/>
                <a:ea typeface="黑体" pitchFamily="49" charset="-122"/>
              </a:rPr>
              <a:t>树结构</a:t>
            </a:r>
          </a:p>
        </p:txBody>
      </p:sp>
      <p:sp>
        <p:nvSpPr>
          <p:cNvPr id="7171" name="object 4"/>
          <p:cNvSpPr>
            <a:spLocks noChangeArrowheads="1"/>
          </p:cNvSpPr>
          <p:nvPr/>
        </p:nvSpPr>
        <p:spPr bwMode="auto">
          <a:xfrm>
            <a:off x="5465763" y="1784350"/>
            <a:ext cx="2952750" cy="31908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5" name="object 5"/>
          <p:cNvSpPr txBox="1"/>
          <p:nvPr/>
        </p:nvSpPr>
        <p:spPr>
          <a:xfrm>
            <a:off x="6415088" y="1930400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中</a:t>
            </a:r>
            <a:r>
              <a:rPr sz="1200" b="1" spc="-5" dirty="0">
                <a:latin typeface="宋体"/>
                <a:cs typeface="宋体"/>
              </a:rPr>
              <a:t>国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038" y="2743200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北</a:t>
            </a:r>
            <a:r>
              <a:rPr sz="1200" b="1" spc="-5" dirty="0">
                <a:latin typeface="宋体"/>
                <a:cs typeface="宋体"/>
              </a:rPr>
              <a:t>京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0688" y="3675063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常</a:t>
            </a:r>
            <a:r>
              <a:rPr sz="1200" b="1" spc="-5" dirty="0">
                <a:latin typeface="宋体"/>
                <a:cs typeface="宋体"/>
              </a:rPr>
              <a:t>州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0488" y="2743200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江</a:t>
            </a:r>
            <a:r>
              <a:rPr sz="1200" b="1" spc="-5" dirty="0">
                <a:latin typeface="宋体"/>
                <a:cs typeface="宋体"/>
              </a:rPr>
              <a:t>苏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6938" y="2743200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上</a:t>
            </a:r>
            <a:r>
              <a:rPr sz="1200" b="1" spc="-5" dirty="0">
                <a:latin typeface="宋体"/>
                <a:cs typeface="宋体"/>
              </a:rPr>
              <a:t>海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3388" y="2743200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天</a:t>
            </a:r>
            <a:r>
              <a:rPr sz="1200" b="1" spc="-5" dirty="0">
                <a:latin typeface="宋体"/>
                <a:cs typeface="宋体"/>
              </a:rPr>
              <a:t>津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3963" y="3675063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南</a:t>
            </a:r>
            <a:r>
              <a:rPr sz="1200" b="1" spc="-5" dirty="0">
                <a:latin typeface="宋体"/>
                <a:cs typeface="宋体"/>
              </a:rPr>
              <a:t>京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48488" y="3675063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苏</a:t>
            </a:r>
            <a:r>
              <a:rPr sz="1200" b="1" spc="-5" dirty="0">
                <a:latin typeface="宋体"/>
                <a:cs typeface="宋体"/>
              </a:rPr>
              <a:t>州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76900" y="4589463"/>
            <a:ext cx="1985963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tabLst>
                <a:tab pos="564515" algn="l"/>
                <a:tab pos="1115695" algn="l"/>
                <a:tab pos="1668145" algn="l"/>
              </a:tabLst>
              <a:defRPr/>
            </a:pPr>
            <a:r>
              <a:rPr sz="1200" b="1" dirty="0">
                <a:latin typeface="宋体"/>
                <a:cs typeface="宋体"/>
              </a:rPr>
              <a:t>鼓</a:t>
            </a:r>
            <a:r>
              <a:rPr sz="1200" b="1" spc="-5" dirty="0">
                <a:latin typeface="宋体"/>
                <a:cs typeface="宋体"/>
              </a:rPr>
              <a:t>楼</a:t>
            </a:r>
            <a:r>
              <a:rPr sz="1200" b="1" dirty="0">
                <a:latin typeface="宋体"/>
                <a:cs typeface="宋体"/>
              </a:rPr>
              <a:t>	江</a:t>
            </a:r>
            <a:r>
              <a:rPr sz="1200" b="1" spc="-5" dirty="0">
                <a:latin typeface="宋体"/>
                <a:cs typeface="宋体"/>
              </a:rPr>
              <a:t>宁</a:t>
            </a:r>
            <a:r>
              <a:rPr sz="1200" b="1" dirty="0">
                <a:latin typeface="宋体"/>
                <a:cs typeface="宋体"/>
              </a:rPr>
              <a:t>	秦</a:t>
            </a:r>
            <a:r>
              <a:rPr sz="1200" b="1" spc="-5" dirty="0">
                <a:latin typeface="宋体"/>
                <a:cs typeface="宋体"/>
              </a:rPr>
              <a:t>淮</a:t>
            </a:r>
            <a:r>
              <a:rPr sz="1200" b="1" dirty="0">
                <a:latin typeface="宋体"/>
                <a:cs typeface="宋体"/>
              </a:rPr>
              <a:t>	玄</a:t>
            </a:r>
            <a:r>
              <a:rPr sz="1200" b="1" spc="-5" dirty="0">
                <a:latin typeface="宋体"/>
                <a:cs typeface="宋体"/>
              </a:rPr>
              <a:t>武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2388" y="3675063"/>
            <a:ext cx="330200" cy="1841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200" b="1" dirty="0">
                <a:latin typeface="宋体"/>
                <a:cs typeface="宋体"/>
              </a:rPr>
              <a:t>无</a:t>
            </a:r>
            <a:r>
              <a:rPr sz="1200" b="1" spc="-5" dirty="0">
                <a:latin typeface="宋体"/>
                <a:cs typeface="宋体"/>
              </a:rPr>
              <a:t>锡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7182" name="object 15"/>
          <p:cNvSpPr>
            <a:spLocks noChangeArrowheads="1"/>
          </p:cNvSpPr>
          <p:nvPr/>
        </p:nvSpPr>
        <p:spPr bwMode="auto">
          <a:xfrm>
            <a:off x="900113" y="1220788"/>
            <a:ext cx="3154362" cy="485298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7184" name="TextBox 17"/>
          <p:cNvSpPr txBox="1">
            <a:spLocks noChangeArrowheads="1"/>
          </p:cNvSpPr>
          <p:nvPr/>
        </p:nvSpPr>
        <p:spPr bwMode="auto">
          <a:xfrm>
            <a:off x="866128" y="178916"/>
            <a:ext cx="312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闲话结构</a:t>
            </a:r>
          </a:p>
        </p:txBody>
      </p:sp>
    </p:spTree>
    <p:extLst>
      <p:ext uri="{BB962C8B-B14F-4D97-AF65-F5344CB8AC3E}">
        <p14:creationId xmlns:p14="http://schemas.microsoft.com/office/powerpoint/2010/main" val="119912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bject 3"/>
          <p:cNvSpPr>
            <a:spLocks/>
          </p:cNvSpPr>
          <p:nvPr/>
        </p:nvSpPr>
        <p:spPr bwMode="auto">
          <a:xfrm>
            <a:off x="2843213" y="5613400"/>
            <a:ext cx="3513137" cy="0"/>
          </a:xfrm>
          <a:custGeom>
            <a:avLst/>
            <a:gdLst>
              <a:gd name="T0" fmla="*/ 0 w 3512820"/>
              <a:gd name="T1" fmla="*/ 3512641 w 351282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3512820">
                <a:moveTo>
                  <a:pt x="0" y="0"/>
                </a:moveTo>
                <a:lnTo>
                  <a:pt x="3512324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8195" name="object 4"/>
          <p:cNvSpPr>
            <a:spLocks noChangeArrowheads="1"/>
          </p:cNvSpPr>
          <p:nvPr/>
        </p:nvSpPr>
        <p:spPr bwMode="auto">
          <a:xfrm>
            <a:off x="2843213" y="5507038"/>
            <a:ext cx="207962" cy="225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196" name="object 5"/>
          <p:cNvSpPr>
            <a:spLocks noChangeArrowheads="1"/>
          </p:cNvSpPr>
          <p:nvPr/>
        </p:nvSpPr>
        <p:spPr bwMode="auto">
          <a:xfrm>
            <a:off x="3532188" y="5492750"/>
            <a:ext cx="207962" cy="22542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197" name="object 6"/>
          <p:cNvSpPr>
            <a:spLocks noChangeArrowheads="1"/>
          </p:cNvSpPr>
          <p:nvPr/>
        </p:nvSpPr>
        <p:spPr bwMode="auto">
          <a:xfrm>
            <a:off x="4167188" y="5514975"/>
            <a:ext cx="207962" cy="22383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198" name="object 7"/>
          <p:cNvSpPr>
            <a:spLocks noChangeArrowheads="1"/>
          </p:cNvSpPr>
          <p:nvPr/>
        </p:nvSpPr>
        <p:spPr bwMode="auto">
          <a:xfrm>
            <a:off x="4883150" y="5500688"/>
            <a:ext cx="207963" cy="223837"/>
          </a:xfrm>
          <a:prstGeom prst="rect">
            <a:avLst/>
          </a:prstGeom>
          <a:blipFill dpi="0" rotWithShape="1">
            <a:blip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199" name="object 8"/>
          <p:cNvSpPr>
            <a:spLocks noChangeArrowheads="1"/>
          </p:cNvSpPr>
          <p:nvPr/>
        </p:nvSpPr>
        <p:spPr bwMode="auto">
          <a:xfrm>
            <a:off x="5619750" y="5514975"/>
            <a:ext cx="207963" cy="223838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200" name="object 9"/>
          <p:cNvSpPr>
            <a:spLocks noChangeArrowheads="1"/>
          </p:cNvSpPr>
          <p:nvPr/>
        </p:nvSpPr>
        <p:spPr bwMode="auto">
          <a:xfrm>
            <a:off x="6313488" y="5507038"/>
            <a:ext cx="207962" cy="225425"/>
          </a:xfrm>
          <a:prstGeom prst="rect">
            <a:avLst/>
          </a:prstGeom>
          <a:blipFill dpi="0" rotWithShape="1">
            <a:blip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zh-CN"/>
          </a:p>
        </p:txBody>
      </p:sp>
      <p:sp>
        <p:nvSpPr>
          <p:cNvPr id="8201" name="object 10"/>
          <p:cNvSpPr txBox="1">
            <a:spLocks noChangeArrowheads="1"/>
          </p:cNvSpPr>
          <p:nvPr/>
        </p:nvSpPr>
        <p:spPr bwMode="auto">
          <a:xfrm>
            <a:off x="4075113" y="5811838"/>
            <a:ext cx="1893887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ts val="2838"/>
              </a:lnSpc>
            </a:pPr>
            <a:r>
              <a:rPr lang="zh-CN" altLang="en-US">
                <a:latin typeface="黑体" pitchFamily="49" charset="-122"/>
                <a:ea typeface="黑体" pitchFamily="49" charset="-122"/>
              </a:rPr>
              <a:t>线性</a:t>
            </a:r>
            <a:r>
              <a:rPr lang="zh-CN">
                <a:latin typeface="黑体" pitchFamily="49" charset="-122"/>
                <a:ea typeface="黑体" pitchFamily="49" charset="-122"/>
              </a:rPr>
              <a:t>结构</a:t>
            </a:r>
          </a:p>
        </p:txBody>
      </p:sp>
      <p:sp>
        <p:nvSpPr>
          <p:cNvPr id="8203" name="object 11"/>
          <p:cNvSpPr txBox="1">
            <a:spLocks noChangeArrowheads="1"/>
          </p:cNvSpPr>
          <p:nvPr/>
        </p:nvSpPr>
        <p:spPr bwMode="auto">
          <a:xfrm>
            <a:off x="1259632" y="1682674"/>
            <a:ext cx="4156075" cy="207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5900" indent="-203200"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81075" algn="l"/>
                <a:tab pos="2041525" algn="l"/>
                <a:tab pos="3295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49000"/>
              </a:lnSpc>
            </a:pPr>
            <a:r>
              <a:rPr lang="en-US" altLang="zh-CN" sz="2700" b="1" baseline="2000" dirty="0">
                <a:latin typeface="宋体" pitchFamily="2" charset="-122"/>
              </a:rPr>
              <a:t>   </a:t>
            </a:r>
            <a:r>
              <a:rPr lang="zh-CN" sz="2700" b="1" baseline="2000" dirty="0">
                <a:latin typeface="宋体" pitchFamily="2" charset="-122"/>
              </a:rPr>
              <a:t>	</a:t>
            </a:r>
            <a:r>
              <a:rPr lang="zh-CN" altLang="zh-CN" sz="1800" b="1" dirty="0">
                <a:cs typeface="Times New Roman" pitchFamily="18" charset="0"/>
              </a:rPr>
              <a:t>name	number	chinese </a:t>
            </a:r>
            <a:r>
              <a:rPr lang="en-US" altLang="zh-CN" sz="18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endParaRPr lang="zh-CN" altLang="zh-CN" sz="1800" dirty="0">
              <a:cs typeface="Times New Roman" pitchFamily="18" charset="0"/>
            </a:endParaRPr>
          </a:p>
          <a:p>
            <a:pPr algn="ctr">
              <a:spcBef>
                <a:spcPts val="1075"/>
              </a:spcBef>
            </a:pPr>
            <a:r>
              <a:rPr lang="zh-CN" altLang="zh-CN" sz="1800" b="1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endParaRPr lang="zh-CN" altLang="zh-CN" sz="1800" dirty="0">
              <a:cs typeface="Times New Roman" pitchFamily="18" charset="0"/>
            </a:endParaRPr>
          </a:p>
          <a:p>
            <a:pPr algn="ctr">
              <a:spcBef>
                <a:spcPts val="1075"/>
              </a:spcBef>
            </a:pPr>
            <a:r>
              <a:rPr lang="zh-CN" altLang="zh-CN" sz="1800" b="1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endParaRPr lang="zh-CN" altLang="zh-CN" sz="1800" dirty="0">
              <a:cs typeface="Times New Roman" pitchFamily="18" charset="0"/>
            </a:endParaRPr>
          </a:p>
          <a:p>
            <a:pPr algn="ctr">
              <a:spcBef>
                <a:spcPts val="1038"/>
              </a:spcBef>
            </a:pP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…</a:t>
            </a:r>
            <a:endParaRPr lang="zh-CN" altLang="zh-CN" sz="1800" dirty="0">
              <a:latin typeface="宋体" pitchFamily="2" charset="-122"/>
            </a:endParaRPr>
          </a:p>
          <a:p>
            <a:pPr algn="ctr">
              <a:spcBef>
                <a:spcPts val="1100"/>
              </a:spcBef>
            </a:pPr>
            <a:r>
              <a:rPr lang="zh-CN" altLang="zh-CN" sz="1800" b="1" dirty="0">
                <a:solidFill>
                  <a:srgbClr val="0000FF"/>
                </a:solidFill>
                <a:cs typeface="Times New Roman" pitchFamily="18" charset="0"/>
              </a:rPr>
              <a:t>n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-</a:t>
            </a:r>
            <a:r>
              <a:rPr lang="zh-CN" altLang="zh-CN" sz="1800" b="1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endParaRPr lang="zh-CN" altLang="zh-CN" sz="1800" dirty="0">
              <a:cs typeface="Times New Roman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53088" y="1758950"/>
            <a:ext cx="633412" cy="2841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850" b="1" spc="204" dirty="0">
                <a:latin typeface="Times New Roman"/>
                <a:cs typeface="Times New Roman"/>
              </a:rPr>
              <a:t>m</a:t>
            </a:r>
            <a:r>
              <a:rPr sz="1850" b="1" spc="160" dirty="0">
                <a:latin typeface="Times New Roman"/>
                <a:cs typeface="Times New Roman"/>
              </a:rPr>
              <a:t>a</a:t>
            </a:r>
            <a:r>
              <a:rPr sz="1850" b="1" spc="125" dirty="0">
                <a:latin typeface="Times New Roman"/>
                <a:cs typeface="Times New Roman"/>
              </a:rPr>
              <a:t>t</a:t>
            </a:r>
            <a:r>
              <a:rPr sz="1850" b="1" spc="165" dirty="0">
                <a:latin typeface="Times New Roman"/>
                <a:cs typeface="Times New Roman"/>
              </a:rPr>
              <a:t>h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4950" y="1758950"/>
            <a:ext cx="1536700" cy="2841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tabLst>
                <a:tab pos="751840" algn="l"/>
              </a:tabLst>
              <a:defRPr/>
            </a:pPr>
            <a:r>
              <a:rPr sz="1850" b="1" spc="120" dirty="0">
                <a:latin typeface="Times New Roman"/>
                <a:cs typeface="Times New Roman"/>
              </a:rPr>
              <a:t>e</a:t>
            </a:r>
            <a:r>
              <a:rPr sz="1850" b="1" spc="145" dirty="0">
                <a:latin typeface="Times New Roman"/>
                <a:cs typeface="Times New Roman"/>
              </a:rPr>
              <a:t>n</a:t>
            </a:r>
            <a:r>
              <a:rPr sz="1850" b="1" spc="150" dirty="0">
                <a:latin typeface="Times New Roman"/>
                <a:cs typeface="Times New Roman"/>
              </a:rPr>
              <a:t>g</a:t>
            </a:r>
            <a:r>
              <a:rPr sz="1850" b="1" dirty="0">
                <a:latin typeface="Times New Roman"/>
                <a:cs typeface="Times New Roman"/>
              </a:rPr>
              <a:t>	</a:t>
            </a:r>
            <a:r>
              <a:rPr lang="en-US" sz="1850" b="1" spc="110" dirty="0">
                <a:latin typeface="Times New Roman"/>
                <a:cs typeface="Times New Roman"/>
              </a:rPr>
              <a:t> </a:t>
            </a:r>
            <a:r>
              <a:rPr sz="1850" b="1" spc="160" dirty="0">
                <a:latin typeface="Times New Roman"/>
                <a:cs typeface="Times New Roman"/>
              </a:rPr>
              <a:t>g</a:t>
            </a:r>
            <a:r>
              <a:rPr sz="1850" b="1" spc="120" dirty="0">
                <a:latin typeface="Times New Roman"/>
                <a:cs typeface="Times New Roman"/>
              </a:rPr>
              <a:t>r</a:t>
            </a:r>
            <a:r>
              <a:rPr sz="1850" b="1" spc="135" dirty="0">
                <a:latin typeface="Times New Roman"/>
                <a:cs typeface="Times New Roman"/>
              </a:rPr>
              <a:t>a</a:t>
            </a:r>
            <a:r>
              <a:rPr sz="1850" b="1" spc="145" dirty="0">
                <a:latin typeface="Times New Roman"/>
                <a:cs typeface="Times New Roman"/>
              </a:rPr>
              <a:t>d</a:t>
            </a:r>
            <a:r>
              <a:rPr sz="1850" b="1" spc="130" dirty="0">
                <a:latin typeface="Times New Roman"/>
                <a:cs typeface="Times New Roman"/>
              </a:rPr>
              <a:t>e</a:t>
            </a:r>
            <a:endParaRPr sz="1850" dirty="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908175" y="2178050"/>
          <a:ext cx="6362701" cy="280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72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70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655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361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0418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59237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张</a:t>
                      </a:r>
                      <a:r>
                        <a:rPr sz="2500" b="1" spc="15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500" b="1" dirty="0">
                          <a:latin typeface="宋体"/>
                          <a:cs typeface="宋体"/>
                        </a:rPr>
                        <a:t>一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2500" b="1" spc="-1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9237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2500" b="1" spc="25" dirty="0">
                          <a:latin typeface="宋体"/>
                          <a:cs typeface="宋体"/>
                        </a:rPr>
                        <a:t>吴</a:t>
                      </a:r>
                      <a:r>
                        <a:rPr sz="2500" b="1" dirty="0">
                          <a:latin typeface="宋体"/>
                          <a:cs typeface="宋体"/>
                        </a:rPr>
                        <a:t>小宁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2500" b="1" spc="-1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228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2500" b="1" spc="25" dirty="0">
                          <a:latin typeface="宋体"/>
                          <a:cs typeface="宋体"/>
                        </a:rPr>
                        <a:t>王</a:t>
                      </a:r>
                      <a:r>
                        <a:rPr sz="2500" b="1" dirty="0">
                          <a:latin typeface="宋体"/>
                          <a:cs typeface="宋体"/>
                        </a:rPr>
                        <a:t>君明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2500" b="1" spc="-1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1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宋体"/>
                          <a:cs typeface="宋体"/>
                        </a:rPr>
                        <a:t>…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1328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2500" b="1" spc="25" dirty="0">
                          <a:latin typeface="宋体"/>
                          <a:cs typeface="宋体"/>
                        </a:rPr>
                        <a:t>尚</a:t>
                      </a:r>
                      <a:r>
                        <a:rPr sz="2500" b="1" dirty="0">
                          <a:latin typeface="宋体"/>
                          <a:cs typeface="宋体"/>
                        </a:rPr>
                        <a:t>静静</a:t>
                      </a:r>
                      <a:endParaRPr sz="25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2500" b="1" spc="-1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500" b="1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5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4579">
                      <a:solidFill>
                        <a:srgbClr val="000000"/>
                      </a:solidFill>
                      <a:prstDash val="solid"/>
                    </a:lnL>
                    <a:lnR w="14579">
                      <a:solidFill>
                        <a:srgbClr val="000000"/>
                      </a:solidFill>
                      <a:prstDash val="solid"/>
                    </a:lnR>
                    <a:lnT w="12522">
                      <a:solidFill>
                        <a:srgbClr val="000000"/>
                      </a:solidFill>
                      <a:prstDash val="solid"/>
                    </a:lnT>
                    <a:lnB w="12522">
                      <a:solidFill>
                        <a:srgbClr val="000000"/>
                      </a:solidFill>
                      <a:prstDash val="solid"/>
                    </a:lnB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8250" name="TextBox 16"/>
          <p:cNvSpPr txBox="1">
            <a:spLocks noChangeArrowheads="1"/>
          </p:cNvSpPr>
          <p:nvPr/>
        </p:nvSpPr>
        <p:spPr bwMode="auto">
          <a:xfrm>
            <a:off x="953534" y="109538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闲话结构</a:t>
            </a:r>
          </a:p>
        </p:txBody>
      </p:sp>
    </p:spTree>
    <p:extLst>
      <p:ext uri="{BB962C8B-B14F-4D97-AF65-F5344CB8AC3E}">
        <p14:creationId xmlns:p14="http://schemas.microsoft.com/office/powerpoint/2010/main" val="386451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bject 2"/>
          <p:cNvSpPr>
            <a:spLocks/>
          </p:cNvSpPr>
          <p:nvPr/>
        </p:nvSpPr>
        <p:spPr bwMode="auto">
          <a:xfrm>
            <a:off x="203200" y="3298825"/>
            <a:ext cx="8458200" cy="2743200"/>
          </a:xfrm>
          <a:custGeom>
            <a:avLst/>
            <a:gdLst>
              <a:gd name="T0" fmla="*/ 0 w 8458200"/>
              <a:gd name="T1" fmla="*/ 0 h 2057400"/>
              <a:gd name="T2" fmla="*/ 8458200 w 8458200"/>
              <a:gd name="T3" fmla="*/ 0 h 2057400"/>
              <a:gd name="T4" fmla="*/ 8458200 w 8458200"/>
              <a:gd name="T5" fmla="*/ 2743200 h 2057400"/>
              <a:gd name="T6" fmla="*/ 0 w 8458200"/>
              <a:gd name="T7" fmla="*/ 2743200 h 2057400"/>
              <a:gd name="T8" fmla="*/ 0 w 8458200"/>
              <a:gd name="T9" fmla="*/ 0 h 2057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458200" h="2057400">
                <a:moveTo>
                  <a:pt x="0" y="0"/>
                </a:moveTo>
                <a:lnTo>
                  <a:pt x="8458200" y="0"/>
                </a:lnTo>
                <a:lnTo>
                  <a:pt x="84582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219" name="object 3"/>
          <p:cNvSpPr>
            <a:spLocks/>
          </p:cNvSpPr>
          <p:nvPr/>
        </p:nvSpPr>
        <p:spPr bwMode="auto">
          <a:xfrm>
            <a:off x="190500" y="3281363"/>
            <a:ext cx="8483600" cy="2776537"/>
          </a:xfrm>
          <a:custGeom>
            <a:avLst/>
            <a:gdLst>
              <a:gd name="T0" fmla="*/ 8470900 w 8483600"/>
              <a:gd name="T1" fmla="*/ 2776537 h 2082800"/>
              <a:gd name="T2" fmla="*/ 12700 w 8483600"/>
              <a:gd name="T3" fmla="*/ 2776537 h 2082800"/>
              <a:gd name="T4" fmla="*/ 10223 w 8483600"/>
              <a:gd name="T5" fmla="*/ 2776214 h 2082800"/>
              <a:gd name="T6" fmla="*/ 0 w 8483600"/>
              <a:gd name="T7" fmla="*/ 2759607 h 2082800"/>
              <a:gd name="T8" fmla="*/ 0 w 8483600"/>
              <a:gd name="T9" fmla="*/ 16930 h 2082800"/>
              <a:gd name="T10" fmla="*/ 12700 w 8483600"/>
              <a:gd name="T11" fmla="*/ 0 h 2082800"/>
              <a:gd name="T12" fmla="*/ 8470900 w 8483600"/>
              <a:gd name="T13" fmla="*/ 0 h 2082800"/>
              <a:gd name="T14" fmla="*/ 8483600 w 8483600"/>
              <a:gd name="T15" fmla="*/ 16930 h 2082800"/>
              <a:gd name="T16" fmla="*/ 25400 w 8483600"/>
              <a:gd name="T17" fmla="*/ 16930 h 2082800"/>
              <a:gd name="T18" fmla="*/ 12700 w 8483600"/>
              <a:gd name="T19" fmla="*/ 33860 h 2082800"/>
              <a:gd name="T20" fmla="*/ 25400 w 8483600"/>
              <a:gd name="T21" fmla="*/ 33860 h 2082800"/>
              <a:gd name="T22" fmla="*/ 25400 w 8483600"/>
              <a:gd name="T23" fmla="*/ 2742677 h 2082800"/>
              <a:gd name="T24" fmla="*/ 12700 w 8483600"/>
              <a:gd name="T25" fmla="*/ 2742677 h 2082800"/>
              <a:gd name="T26" fmla="*/ 25400 w 8483600"/>
              <a:gd name="T27" fmla="*/ 2759607 h 2082800"/>
              <a:gd name="T28" fmla="*/ 8483600 w 8483600"/>
              <a:gd name="T29" fmla="*/ 2759607 h 2082800"/>
              <a:gd name="T30" fmla="*/ 8483358 w 8483600"/>
              <a:gd name="T31" fmla="*/ 2762908 h 2082800"/>
              <a:gd name="T32" fmla="*/ 8473376 w 8483600"/>
              <a:gd name="T33" fmla="*/ 2776214 h 2082800"/>
              <a:gd name="T34" fmla="*/ 8470900 w 8483600"/>
              <a:gd name="T35" fmla="*/ 2776537 h 2082800"/>
              <a:gd name="T36" fmla="*/ 25400 w 8483600"/>
              <a:gd name="T37" fmla="*/ 33860 h 2082800"/>
              <a:gd name="T38" fmla="*/ 12700 w 8483600"/>
              <a:gd name="T39" fmla="*/ 33860 h 2082800"/>
              <a:gd name="T40" fmla="*/ 25400 w 8483600"/>
              <a:gd name="T41" fmla="*/ 16930 h 2082800"/>
              <a:gd name="T42" fmla="*/ 25400 w 8483600"/>
              <a:gd name="T43" fmla="*/ 33860 h 2082800"/>
              <a:gd name="T44" fmla="*/ 8458200 w 8483600"/>
              <a:gd name="T45" fmla="*/ 33860 h 2082800"/>
              <a:gd name="T46" fmla="*/ 25400 w 8483600"/>
              <a:gd name="T47" fmla="*/ 33860 h 2082800"/>
              <a:gd name="T48" fmla="*/ 25400 w 8483600"/>
              <a:gd name="T49" fmla="*/ 16930 h 2082800"/>
              <a:gd name="T50" fmla="*/ 8458200 w 8483600"/>
              <a:gd name="T51" fmla="*/ 16930 h 2082800"/>
              <a:gd name="T52" fmla="*/ 8458200 w 8483600"/>
              <a:gd name="T53" fmla="*/ 33860 h 2082800"/>
              <a:gd name="T54" fmla="*/ 8458200 w 8483600"/>
              <a:gd name="T55" fmla="*/ 2759607 h 2082800"/>
              <a:gd name="T56" fmla="*/ 8458200 w 8483600"/>
              <a:gd name="T57" fmla="*/ 16930 h 2082800"/>
              <a:gd name="T58" fmla="*/ 8470900 w 8483600"/>
              <a:gd name="T59" fmla="*/ 33860 h 2082800"/>
              <a:gd name="T60" fmla="*/ 8483600 w 8483600"/>
              <a:gd name="T61" fmla="*/ 33860 h 2082800"/>
              <a:gd name="T62" fmla="*/ 8483600 w 8483600"/>
              <a:gd name="T63" fmla="*/ 2742677 h 2082800"/>
              <a:gd name="T64" fmla="*/ 8470900 w 8483600"/>
              <a:gd name="T65" fmla="*/ 2742677 h 2082800"/>
              <a:gd name="T66" fmla="*/ 8458200 w 8483600"/>
              <a:gd name="T67" fmla="*/ 2759607 h 2082800"/>
              <a:gd name="T68" fmla="*/ 8483600 w 8483600"/>
              <a:gd name="T69" fmla="*/ 33860 h 2082800"/>
              <a:gd name="T70" fmla="*/ 8470900 w 8483600"/>
              <a:gd name="T71" fmla="*/ 33860 h 2082800"/>
              <a:gd name="T72" fmla="*/ 8458200 w 8483600"/>
              <a:gd name="T73" fmla="*/ 16930 h 2082800"/>
              <a:gd name="T74" fmla="*/ 8483600 w 8483600"/>
              <a:gd name="T75" fmla="*/ 16930 h 2082800"/>
              <a:gd name="T76" fmla="*/ 8483600 w 8483600"/>
              <a:gd name="T77" fmla="*/ 33860 h 2082800"/>
              <a:gd name="T78" fmla="*/ 25400 w 8483600"/>
              <a:gd name="T79" fmla="*/ 2759607 h 2082800"/>
              <a:gd name="T80" fmla="*/ 12700 w 8483600"/>
              <a:gd name="T81" fmla="*/ 2742677 h 2082800"/>
              <a:gd name="T82" fmla="*/ 25400 w 8483600"/>
              <a:gd name="T83" fmla="*/ 2742677 h 2082800"/>
              <a:gd name="T84" fmla="*/ 25400 w 8483600"/>
              <a:gd name="T85" fmla="*/ 2759607 h 2082800"/>
              <a:gd name="T86" fmla="*/ 8458200 w 8483600"/>
              <a:gd name="T87" fmla="*/ 2759607 h 2082800"/>
              <a:gd name="T88" fmla="*/ 25400 w 8483600"/>
              <a:gd name="T89" fmla="*/ 2759607 h 2082800"/>
              <a:gd name="T90" fmla="*/ 25400 w 8483600"/>
              <a:gd name="T91" fmla="*/ 2742677 h 2082800"/>
              <a:gd name="T92" fmla="*/ 8458200 w 8483600"/>
              <a:gd name="T93" fmla="*/ 2742677 h 2082800"/>
              <a:gd name="T94" fmla="*/ 8458200 w 8483600"/>
              <a:gd name="T95" fmla="*/ 2759607 h 2082800"/>
              <a:gd name="T96" fmla="*/ 8483600 w 8483600"/>
              <a:gd name="T97" fmla="*/ 2759607 h 2082800"/>
              <a:gd name="T98" fmla="*/ 8458200 w 8483600"/>
              <a:gd name="T99" fmla="*/ 2759607 h 2082800"/>
              <a:gd name="T100" fmla="*/ 8470900 w 8483600"/>
              <a:gd name="T101" fmla="*/ 2742677 h 2082800"/>
              <a:gd name="T102" fmla="*/ 8483600 w 8483600"/>
              <a:gd name="T103" fmla="*/ 2742677 h 2082800"/>
              <a:gd name="T104" fmla="*/ 8483600 w 8483600"/>
              <a:gd name="T105" fmla="*/ 2759607 h 208280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8483600" h="2082800">
                <a:moveTo>
                  <a:pt x="8470900" y="2082800"/>
                </a:moveTo>
                <a:lnTo>
                  <a:pt x="12700" y="2082800"/>
                </a:lnTo>
                <a:lnTo>
                  <a:pt x="10223" y="2082558"/>
                </a:lnTo>
                <a:lnTo>
                  <a:pt x="0" y="2070100"/>
                </a:lnTo>
                <a:lnTo>
                  <a:pt x="0" y="12700"/>
                </a:lnTo>
                <a:lnTo>
                  <a:pt x="12700" y="0"/>
                </a:lnTo>
                <a:lnTo>
                  <a:pt x="8470900" y="0"/>
                </a:lnTo>
                <a:lnTo>
                  <a:pt x="84836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2057400"/>
                </a:lnTo>
                <a:lnTo>
                  <a:pt x="12700" y="2057400"/>
                </a:lnTo>
                <a:lnTo>
                  <a:pt x="25400" y="2070100"/>
                </a:lnTo>
                <a:lnTo>
                  <a:pt x="8483600" y="2070100"/>
                </a:lnTo>
                <a:lnTo>
                  <a:pt x="8483358" y="2072576"/>
                </a:lnTo>
                <a:lnTo>
                  <a:pt x="8473376" y="2082558"/>
                </a:lnTo>
                <a:lnTo>
                  <a:pt x="8470900" y="2082800"/>
                </a:lnTo>
                <a:close/>
              </a:path>
              <a:path w="8483600" h="20828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8483600" h="2082800">
                <a:moveTo>
                  <a:pt x="84582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8458200" y="12700"/>
                </a:lnTo>
                <a:lnTo>
                  <a:pt x="8458200" y="25400"/>
                </a:lnTo>
                <a:close/>
              </a:path>
              <a:path w="8483600" h="2082800">
                <a:moveTo>
                  <a:pt x="8458200" y="2070100"/>
                </a:moveTo>
                <a:lnTo>
                  <a:pt x="8458200" y="12700"/>
                </a:lnTo>
                <a:lnTo>
                  <a:pt x="8470900" y="25400"/>
                </a:lnTo>
                <a:lnTo>
                  <a:pt x="8483600" y="25400"/>
                </a:lnTo>
                <a:lnTo>
                  <a:pt x="8483600" y="2057400"/>
                </a:lnTo>
                <a:lnTo>
                  <a:pt x="8470900" y="2057400"/>
                </a:lnTo>
                <a:lnTo>
                  <a:pt x="8458200" y="2070100"/>
                </a:lnTo>
                <a:close/>
              </a:path>
              <a:path w="8483600" h="2082800">
                <a:moveTo>
                  <a:pt x="8483600" y="25400"/>
                </a:moveTo>
                <a:lnTo>
                  <a:pt x="8470900" y="25400"/>
                </a:lnTo>
                <a:lnTo>
                  <a:pt x="8458200" y="12700"/>
                </a:lnTo>
                <a:lnTo>
                  <a:pt x="8483600" y="12700"/>
                </a:lnTo>
                <a:lnTo>
                  <a:pt x="8483600" y="25400"/>
                </a:lnTo>
                <a:close/>
              </a:path>
              <a:path w="8483600" h="2082800">
                <a:moveTo>
                  <a:pt x="25400" y="2070100"/>
                </a:moveTo>
                <a:lnTo>
                  <a:pt x="12700" y="2057400"/>
                </a:lnTo>
                <a:lnTo>
                  <a:pt x="25400" y="2057400"/>
                </a:lnTo>
                <a:lnTo>
                  <a:pt x="25400" y="2070100"/>
                </a:lnTo>
                <a:close/>
              </a:path>
              <a:path w="8483600" h="2082800">
                <a:moveTo>
                  <a:pt x="8458200" y="2070100"/>
                </a:moveTo>
                <a:lnTo>
                  <a:pt x="25400" y="2070100"/>
                </a:lnTo>
                <a:lnTo>
                  <a:pt x="25400" y="2057400"/>
                </a:lnTo>
                <a:lnTo>
                  <a:pt x="8458200" y="2057400"/>
                </a:lnTo>
                <a:lnTo>
                  <a:pt x="8458200" y="2070100"/>
                </a:lnTo>
                <a:close/>
              </a:path>
              <a:path w="8483600" h="2082800">
                <a:moveTo>
                  <a:pt x="8483600" y="2070100"/>
                </a:moveTo>
                <a:lnTo>
                  <a:pt x="8458200" y="2070100"/>
                </a:lnTo>
                <a:lnTo>
                  <a:pt x="8470900" y="2057400"/>
                </a:lnTo>
                <a:lnTo>
                  <a:pt x="8483600" y="2057400"/>
                </a:lnTo>
                <a:lnTo>
                  <a:pt x="8483600" y="2070100"/>
                </a:lnTo>
                <a:close/>
              </a:path>
            </a:pathLst>
          </a:custGeom>
          <a:solidFill>
            <a:srgbClr val="2164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00" y="808038"/>
            <a:ext cx="8485188" cy="1079500"/>
          </a:xfrm>
        </p:spPr>
        <p:txBody>
          <a:bodyPr lIns="0" tIns="333375" rIns="0" bIns="0" rtlCol="0">
            <a:spAutoFit/>
          </a:bodyPr>
          <a:lstStyle/>
          <a:p>
            <a:pPr marL="696595" indent="-342900">
              <a:lnSpc>
                <a:spcPts val="2855"/>
              </a:lnSpc>
              <a:buFont typeface="Arial" pitchFamily="34" charset="0"/>
              <a:buChar char="•"/>
              <a:defRPr/>
            </a:pPr>
            <a:r>
              <a:rPr dirty="0" err="1">
                <a:solidFill>
                  <a:srgbClr val="FF0000"/>
                </a:solidFill>
                <a:latin typeface="宋体"/>
                <a:cs typeface="宋体"/>
              </a:rPr>
              <a:t>定量</a:t>
            </a:r>
            <a:r>
              <a:rPr dirty="0" err="1">
                <a:latin typeface="宋体"/>
                <a:cs typeface="宋体"/>
              </a:rPr>
              <a:t>模型：可以用数值方程表示的</a:t>
            </a:r>
            <a:r>
              <a:rPr spc="-10" dirty="0">
                <a:latin typeface="宋体"/>
                <a:cs typeface="宋体"/>
              </a:rPr>
              <a:t>。</a:t>
            </a:r>
          </a:p>
        </p:txBody>
      </p:sp>
      <p:sp>
        <p:nvSpPr>
          <p:cNvPr id="9221" name="object 7"/>
          <p:cNvSpPr txBox="1">
            <a:spLocks noChangeArrowheads="1"/>
          </p:cNvSpPr>
          <p:nvPr/>
        </p:nvSpPr>
        <p:spPr bwMode="auto">
          <a:xfrm>
            <a:off x="874713" y="1857375"/>
            <a:ext cx="8269287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5600" indent="-342900"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6863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zh-CN" altLang="en-US" sz="2000">
                <a:latin typeface="宋体" pitchFamily="2" charset="-122"/>
              </a:rPr>
              <a:t>二元一次方程（代数）：鸡兔同笼问题，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……</a:t>
            </a:r>
          </a:p>
          <a:p>
            <a:pPr>
              <a:buFont typeface="Arial" pitchFamily="34" charset="0"/>
              <a:buChar char="•"/>
            </a:pPr>
            <a:r>
              <a:rPr lang="zh-CN" sz="2000">
                <a:latin typeface="宋体" pitchFamily="2" charset="-122"/>
              </a:rPr>
              <a:t>微分方程（</a:t>
            </a:r>
            <a:r>
              <a:rPr lang="zh-CN" altLang="zh-CN" sz="2000">
                <a:latin typeface="宋体" pitchFamily="2" charset="-122"/>
              </a:rPr>
              <a:t>《</a:t>
            </a:r>
            <a:r>
              <a:rPr lang="zh-CN" sz="2000">
                <a:latin typeface="宋体" pitchFamily="2" charset="-122"/>
              </a:rPr>
              <a:t>高等数学</a:t>
            </a:r>
            <a:r>
              <a:rPr lang="zh-CN" altLang="zh-CN" sz="2000">
                <a:latin typeface="宋体" pitchFamily="2" charset="-122"/>
              </a:rPr>
              <a:t>》</a:t>
            </a:r>
            <a:r>
              <a:rPr lang="zh-CN" sz="2000">
                <a:latin typeface="宋体" pitchFamily="2" charset="-122"/>
              </a:rPr>
              <a:t>）：火箭高度问题、扫</a:t>
            </a:r>
            <a:r>
              <a:rPr lang="zh-CN" altLang="en-US" sz="2000">
                <a:latin typeface="宋体" pitchFamily="2" charset="-122"/>
              </a:rPr>
              <a:t>雷</a:t>
            </a:r>
            <a:r>
              <a:rPr lang="zh-CN" sz="2000">
                <a:latin typeface="宋体" pitchFamily="2" charset="-122"/>
              </a:rPr>
              <a:t>时间</a:t>
            </a:r>
            <a:r>
              <a:rPr lang="zh-CN" altLang="en-US" sz="2000">
                <a:latin typeface="宋体" pitchFamily="2" charset="-122"/>
              </a:rPr>
              <a:t>问题，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……</a:t>
            </a:r>
            <a:endParaRPr lang="zh-CN" altLang="zh-CN" sz="2000">
              <a:latin typeface="宋体" pitchFamily="2" charset="-122"/>
            </a:endParaRPr>
          </a:p>
          <a:p>
            <a:pPr>
              <a:spcBef>
                <a:spcPts val="475"/>
              </a:spcBef>
              <a:buFont typeface="Arial" pitchFamily="34" charset="0"/>
              <a:buChar char="•"/>
            </a:pPr>
            <a:r>
              <a:rPr lang="zh-CN" sz="2000">
                <a:latin typeface="宋体" pitchFamily="2" charset="-122"/>
              </a:rPr>
              <a:t>力学公式（</a:t>
            </a:r>
            <a:r>
              <a:rPr lang="zh-CN" altLang="zh-CN" sz="2000">
                <a:latin typeface="宋体" pitchFamily="2" charset="-122"/>
              </a:rPr>
              <a:t>《</a:t>
            </a:r>
            <a:r>
              <a:rPr lang="zh-CN" sz="2000">
                <a:latin typeface="宋体" pitchFamily="2" charset="-122"/>
              </a:rPr>
              <a:t>物理</a:t>
            </a:r>
            <a:r>
              <a:rPr lang="zh-CN" altLang="zh-CN" sz="2000">
                <a:latin typeface="宋体" pitchFamily="2" charset="-122"/>
              </a:rPr>
              <a:t>》</a:t>
            </a:r>
            <a:r>
              <a:rPr lang="zh-CN" sz="2000">
                <a:latin typeface="宋体" pitchFamily="2" charset="-122"/>
              </a:rPr>
              <a:t>）：</a:t>
            </a:r>
            <a:r>
              <a:rPr lang="zh-CN" altLang="zh-CN" sz="2000">
                <a:latin typeface="黑体" pitchFamily="49" charset="-122"/>
                <a:ea typeface="黑体" pitchFamily="49" charset="-122"/>
              </a:rPr>
              <a:t>……</a:t>
            </a:r>
          </a:p>
        </p:txBody>
      </p:sp>
      <p:sp>
        <p:nvSpPr>
          <p:cNvPr id="9222" name="object 8"/>
          <p:cNvSpPr txBox="1">
            <a:spLocks noChangeArrowheads="1"/>
          </p:cNvSpPr>
          <p:nvPr/>
        </p:nvSpPr>
        <p:spPr bwMode="auto">
          <a:xfrm>
            <a:off x="7239000" y="2311400"/>
            <a:ext cx="1530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endParaRPr lang="zh-CN" altLang="zh-CN" sz="20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656" y="3779838"/>
            <a:ext cx="6821487" cy="19184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5600" indent="-342900">
              <a:buFont typeface="Arial" pitchFamily="34" charset="0"/>
              <a:buChar char="•"/>
              <a:defRPr/>
            </a:pPr>
            <a:r>
              <a:rPr b="1" dirty="0" err="1">
                <a:solidFill>
                  <a:srgbClr val="FF0000"/>
                </a:solidFill>
                <a:latin typeface="宋体"/>
                <a:cs typeface="宋体"/>
              </a:rPr>
              <a:t>定性</a:t>
            </a:r>
            <a:r>
              <a:rPr b="1" dirty="0" err="1">
                <a:latin typeface="宋体"/>
                <a:cs typeface="宋体"/>
              </a:rPr>
              <a:t>模型：非数值性的数据结构及其运</a:t>
            </a:r>
            <a:r>
              <a:rPr b="1" spc="-10" dirty="0" err="1">
                <a:latin typeface="宋体"/>
                <a:cs typeface="宋体"/>
              </a:rPr>
              <a:t>算</a:t>
            </a:r>
            <a:endParaRPr dirty="0">
              <a:latin typeface="宋体"/>
              <a:cs typeface="宋体"/>
            </a:endParaRPr>
          </a:p>
          <a:p>
            <a:pPr marL="812800" indent="-342900">
              <a:spcBef>
                <a:spcPts val="505"/>
              </a:spcBef>
              <a:buFont typeface="Arial" pitchFamily="34" charset="0"/>
              <a:buChar char="•"/>
              <a:tabLst>
                <a:tab pos="755015" algn="l"/>
              </a:tabLst>
              <a:defRPr/>
            </a:pPr>
            <a:r>
              <a:rPr sz="2000" dirty="0" err="1">
                <a:latin typeface="宋体"/>
                <a:cs typeface="宋体"/>
              </a:rPr>
              <a:t>电子导航问题</a:t>
            </a:r>
            <a:r>
              <a:rPr sz="2000" spc="5" dirty="0">
                <a:latin typeface="宋体"/>
                <a:cs typeface="宋体"/>
              </a:rPr>
              <a:t>？</a:t>
            </a:r>
            <a:endParaRPr sz="2000" dirty="0">
              <a:latin typeface="宋体"/>
              <a:cs typeface="宋体"/>
            </a:endParaRPr>
          </a:p>
          <a:p>
            <a:pPr marL="812800" indent="-342900">
              <a:spcBef>
                <a:spcPts val="480"/>
              </a:spcBef>
              <a:buFont typeface="Arial" pitchFamily="34" charset="0"/>
              <a:buChar char="•"/>
              <a:tabLst>
                <a:tab pos="755015" algn="l"/>
              </a:tabLst>
              <a:defRPr/>
            </a:pPr>
            <a:r>
              <a:rPr sz="2000" dirty="0" err="1">
                <a:latin typeface="宋体"/>
                <a:cs typeface="宋体"/>
              </a:rPr>
              <a:t>文件管理、字符处理问题</a:t>
            </a:r>
            <a:r>
              <a:rPr sz="2000" spc="5" dirty="0">
                <a:latin typeface="宋体"/>
                <a:cs typeface="宋体"/>
              </a:rPr>
              <a:t>？</a:t>
            </a:r>
            <a:endParaRPr sz="2000" dirty="0">
              <a:latin typeface="宋体"/>
              <a:cs typeface="宋体"/>
            </a:endParaRPr>
          </a:p>
          <a:p>
            <a:pPr marL="812800" indent="-342900">
              <a:spcBef>
                <a:spcPts val="480"/>
              </a:spcBef>
              <a:buFont typeface="Arial" pitchFamily="34" charset="0"/>
              <a:buChar char="•"/>
              <a:tabLst>
                <a:tab pos="755015" algn="l"/>
              </a:tabLst>
              <a:defRPr/>
            </a:pPr>
            <a:r>
              <a:rPr sz="2000" dirty="0" err="1">
                <a:latin typeface="宋体"/>
                <a:cs typeface="宋体"/>
              </a:rPr>
              <a:t>排序问题</a:t>
            </a:r>
            <a:r>
              <a:rPr sz="2000" spc="5" dirty="0">
                <a:latin typeface="宋体"/>
                <a:cs typeface="宋体"/>
              </a:rPr>
              <a:t>？</a:t>
            </a:r>
            <a:endParaRPr sz="2000" dirty="0">
              <a:latin typeface="宋体"/>
              <a:cs typeface="宋体"/>
            </a:endParaRPr>
          </a:p>
          <a:p>
            <a:pPr marL="812800" indent="-342900">
              <a:spcBef>
                <a:spcPts val="480"/>
              </a:spcBef>
              <a:buFont typeface="Arial" pitchFamily="34" charset="0"/>
              <a:buChar char="•"/>
              <a:tabLst>
                <a:tab pos="755015" algn="l"/>
              </a:tabLst>
              <a:defRPr/>
            </a:pPr>
            <a:r>
              <a:rPr sz="2000" dirty="0" err="1">
                <a:latin typeface="宋体"/>
                <a:cs typeface="宋体"/>
              </a:rPr>
              <a:t>视频、音频问题</a:t>
            </a:r>
            <a:r>
              <a:rPr sz="2000" spc="5" dirty="0">
                <a:latin typeface="宋体"/>
                <a:cs typeface="宋体"/>
              </a:rPr>
              <a:t>？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8026400" y="3170238"/>
            <a:ext cx="47625" cy="609600"/>
          </a:xfrm>
          <a:custGeom>
            <a:avLst/>
            <a:gdLst>
              <a:gd name="T0" fmla="*/ 35051 w 47625"/>
              <a:gd name="T1" fmla="*/ 579119 h 457200"/>
              <a:gd name="T2" fmla="*/ 12191 w 47625"/>
              <a:gd name="T3" fmla="*/ 579119 h 457200"/>
              <a:gd name="T4" fmla="*/ 12191 w 47625"/>
              <a:gd name="T5" fmla="*/ 0 h 457200"/>
              <a:gd name="T6" fmla="*/ 35051 w 47625"/>
              <a:gd name="T7" fmla="*/ 0 h 457200"/>
              <a:gd name="T8" fmla="*/ 35051 w 47625"/>
              <a:gd name="T9" fmla="*/ 579119 h 457200"/>
              <a:gd name="T10" fmla="*/ 22859 w 47625"/>
              <a:gd name="T11" fmla="*/ 609600 h 457200"/>
              <a:gd name="T12" fmla="*/ 0 w 47625"/>
              <a:gd name="T13" fmla="*/ 579119 h 457200"/>
              <a:gd name="T14" fmla="*/ 47243 w 47625"/>
              <a:gd name="T15" fmla="*/ 579119 h 457200"/>
              <a:gd name="T16" fmla="*/ 22859 w 47625"/>
              <a:gd name="T17" fmla="*/ 609600 h 4572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7625" h="457200">
                <a:moveTo>
                  <a:pt x="35051" y="434339"/>
                </a:moveTo>
                <a:lnTo>
                  <a:pt x="12191" y="434339"/>
                </a:lnTo>
                <a:lnTo>
                  <a:pt x="12191" y="0"/>
                </a:lnTo>
                <a:lnTo>
                  <a:pt x="35051" y="0"/>
                </a:lnTo>
                <a:lnTo>
                  <a:pt x="35051" y="434339"/>
                </a:lnTo>
                <a:close/>
              </a:path>
              <a:path w="47625" h="457200">
                <a:moveTo>
                  <a:pt x="22859" y="457200"/>
                </a:moveTo>
                <a:lnTo>
                  <a:pt x="0" y="434339"/>
                </a:lnTo>
                <a:lnTo>
                  <a:pt x="47243" y="434339"/>
                </a:lnTo>
                <a:lnTo>
                  <a:pt x="22859" y="457200"/>
                </a:lnTo>
                <a:close/>
              </a:path>
            </a:pathLst>
          </a:custGeom>
          <a:solidFill>
            <a:srgbClr val="318B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225" name="object 16"/>
          <p:cNvSpPr txBox="1">
            <a:spLocks noChangeArrowheads="1"/>
          </p:cNvSpPr>
          <p:nvPr/>
        </p:nvSpPr>
        <p:spPr bwMode="auto">
          <a:xfrm>
            <a:off x="8869363" y="6530975"/>
            <a:ext cx="1397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zh-CN" sz="1400" b="1">
                <a:solidFill>
                  <a:srgbClr val="CCFFFF"/>
                </a:solidFill>
                <a:latin typeface="Tahoma" pitchFamily="34" charset="0"/>
                <a:cs typeface="Tahoma" pitchFamily="34" charset="0"/>
              </a:rPr>
              <a:t>6</a:t>
            </a:r>
            <a:endParaRPr lang="zh-CN" altLang="zh-CN" sz="14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9226" name="TextBox 18"/>
          <p:cNvSpPr txBox="1">
            <a:spLocks noChangeArrowheads="1"/>
          </p:cNvSpPr>
          <p:nvPr/>
        </p:nvSpPr>
        <p:spPr bwMode="auto">
          <a:xfrm>
            <a:off x="1115616" y="151343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问题与模型</a:t>
            </a:r>
          </a:p>
        </p:txBody>
      </p:sp>
      <p:sp>
        <p:nvSpPr>
          <p:cNvPr id="4" name="单圆角矩形 3"/>
          <p:cNvSpPr/>
          <p:nvPr/>
        </p:nvSpPr>
        <p:spPr>
          <a:xfrm>
            <a:off x="7356475" y="2632075"/>
            <a:ext cx="1295400" cy="560388"/>
          </a:xfrm>
          <a:prstGeom prst="round1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数值计算</a:t>
            </a:r>
          </a:p>
        </p:txBody>
      </p:sp>
      <p:sp>
        <p:nvSpPr>
          <p:cNvPr id="20" name="单圆角矩形 19"/>
          <p:cNvSpPr/>
          <p:nvPr/>
        </p:nvSpPr>
        <p:spPr>
          <a:xfrm>
            <a:off x="7366000" y="3400425"/>
            <a:ext cx="1295400" cy="560388"/>
          </a:xfrm>
          <a:prstGeom prst="round1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数据管理</a:t>
            </a:r>
          </a:p>
        </p:txBody>
      </p:sp>
    </p:spTree>
    <p:extLst>
      <p:ext uri="{BB962C8B-B14F-4D97-AF65-F5344CB8AC3E}">
        <p14:creationId xmlns:p14="http://schemas.microsoft.com/office/powerpoint/2010/main" val="231264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bject 4"/>
          <p:cNvSpPr txBox="1">
            <a:spLocks noChangeArrowheads="1"/>
          </p:cNvSpPr>
          <p:nvPr/>
        </p:nvSpPr>
        <p:spPr bwMode="auto">
          <a:xfrm>
            <a:off x="762000" y="1092200"/>
            <a:ext cx="746760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699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70000"/>
              </a:lnSpc>
              <a:buFont typeface="Arial" pitchFamily="34" charset="0"/>
              <a:buChar char="•"/>
            </a:pPr>
            <a:r>
              <a:rPr lang="zh-CN" altLang="en-US" sz="2800" b="1">
                <a:latin typeface="宋体" pitchFamily="2" charset="-122"/>
              </a:rPr>
              <a:t>对谁做处理？（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数据集合</a:t>
            </a:r>
            <a:r>
              <a:rPr lang="zh-CN" altLang="en-US" sz="2800" b="1">
                <a:latin typeface="宋体" pitchFamily="2" charset="-122"/>
              </a:rPr>
              <a:t>）</a:t>
            </a:r>
            <a:endParaRPr lang="en-US" sz="2800" b="1">
              <a:solidFill>
                <a:srgbClr val="9DC03B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7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数据之间的关系是怎样的？（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数据模型</a:t>
            </a:r>
            <a:r>
              <a:rPr lang="zh-CN" sz="2800" b="1">
                <a:latin typeface="宋体" pitchFamily="2" charset="-122"/>
              </a:rPr>
              <a:t>） </a:t>
            </a:r>
            <a:endParaRPr lang="en-US" sz="2800" b="1">
              <a:latin typeface="宋体" pitchFamily="2" charset="-122"/>
            </a:endParaRPr>
          </a:p>
          <a:p>
            <a:pPr>
              <a:lnSpc>
                <a:spcPct val="17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需要什么样的处理工作？（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干什么？</a:t>
            </a:r>
            <a:r>
              <a:rPr lang="zh-CN" sz="2800" b="1">
                <a:latin typeface="宋体" pitchFamily="2" charset="-122"/>
              </a:rPr>
              <a:t>）</a:t>
            </a:r>
            <a:endParaRPr lang="zh-CN" sz="2800">
              <a:latin typeface="宋体" pitchFamily="2" charset="-122"/>
            </a:endParaRPr>
          </a:p>
          <a:p>
            <a:pPr>
              <a:spcBef>
                <a:spcPts val="2350"/>
              </a:spcBef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处理的方法和步骤如何？（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怎么干？</a:t>
            </a:r>
            <a:r>
              <a:rPr lang="zh-CN" sz="2800" b="1">
                <a:latin typeface="宋体" pitchFamily="2" charset="-122"/>
              </a:rPr>
              <a:t>）</a:t>
            </a:r>
            <a:endParaRPr lang="zh-CN" sz="2800">
              <a:latin typeface="宋体" pitchFamily="2" charset="-122"/>
            </a:endParaRPr>
          </a:p>
          <a:p>
            <a:pPr>
              <a:spcBef>
                <a:spcPts val="38"/>
              </a:spcBef>
              <a:buFont typeface="Arial" pitchFamily="34" charset="0"/>
              <a:buChar char="•"/>
            </a:pPr>
            <a:endParaRPr lang="zh-CN" sz="2200"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zh-CN" sz="3200" b="1">
                <a:latin typeface="宋体" pitchFamily="2" charset="-122"/>
              </a:rPr>
              <a:t>算法效率？（</a:t>
            </a:r>
            <a:r>
              <a:rPr lang="zh-CN" sz="3200" b="1">
                <a:solidFill>
                  <a:srgbClr val="FF0000"/>
                </a:solidFill>
                <a:latin typeface="宋体" pitchFamily="2" charset="-122"/>
              </a:rPr>
              <a:t>干的如何？</a:t>
            </a:r>
            <a:r>
              <a:rPr lang="zh-CN" sz="3200" b="1">
                <a:latin typeface="宋体" pitchFamily="2" charset="-122"/>
              </a:rPr>
              <a:t>）</a:t>
            </a:r>
            <a:endParaRPr lang="zh-CN" sz="3200">
              <a:latin typeface="宋体" pitchFamily="2" charset="-122"/>
            </a:endParaRPr>
          </a:p>
        </p:txBody>
      </p:sp>
      <p:sp>
        <p:nvSpPr>
          <p:cNvPr id="12291" name="TextBox 6"/>
          <p:cNvSpPr txBox="1">
            <a:spLocks noChangeArrowheads="1"/>
          </p:cNvSpPr>
          <p:nvPr/>
        </p:nvSpPr>
        <p:spPr bwMode="auto">
          <a:xfrm>
            <a:off x="971600" y="109538"/>
            <a:ext cx="601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为什么要学习数据结构</a:t>
            </a:r>
          </a:p>
        </p:txBody>
      </p:sp>
    </p:spTree>
    <p:extLst>
      <p:ext uri="{BB962C8B-B14F-4D97-AF65-F5344CB8AC3E}">
        <p14:creationId xmlns:p14="http://schemas.microsoft.com/office/powerpoint/2010/main" val="123488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bject 3"/>
          <p:cNvSpPr txBox="1">
            <a:spLocks noChangeArrowheads="1"/>
          </p:cNvSpPr>
          <p:nvPr/>
        </p:nvSpPr>
        <p:spPr bwMode="auto">
          <a:xfrm>
            <a:off x="990600" y="1397000"/>
            <a:ext cx="6396038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699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数据元素的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集合</a:t>
            </a:r>
            <a:endParaRPr lang="zh-CN" sz="2800">
              <a:latin typeface="宋体" pitchFamily="2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数据元素</a:t>
            </a:r>
            <a:r>
              <a:rPr lang="zh-CN" sz="2800" b="1">
                <a:solidFill>
                  <a:srgbClr val="6F2F9F"/>
                </a:solidFill>
                <a:latin typeface="宋体" pitchFamily="2" charset="-122"/>
              </a:rPr>
              <a:t>之间</a:t>
            </a:r>
            <a:r>
              <a:rPr lang="zh-CN" sz="2800" b="1">
                <a:latin typeface="宋体" pitchFamily="2" charset="-122"/>
              </a:rPr>
              <a:t>的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关系</a:t>
            </a:r>
            <a:endParaRPr lang="zh-CN" sz="2800">
              <a:latin typeface="宋体" pitchFamily="2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对数据集合进行哪些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运算 </a:t>
            </a:r>
            <a:endParaRPr lang="en-US" sz="2800" b="1">
              <a:solidFill>
                <a:srgbClr val="FF0000"/>
              </a:solidFill>
              <a:latin typeface="宋体" pitchFamily="2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实现运算的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算法</a:t>
            </a:r>
            <a:endParaRPr lang="zh-CN" sz="2800">
              <a:latin typeface="宋体" pitchFamily="2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sz="2800" b="1">
                <a:latin typeface="宋体" pitchFamily="2" charset="-122"/>
              </a:rPr>
              <a:t>算法</a:t>
            </a:r>
            <a:r>
              <a:rPr lang="zh-CN" sz="2800" b="1">
                <a:solidFill>
                  <a:srgbClr val="FF0000"/>
                </a:solidFill>
                <a:latin typeface="宋体" pitchFamily="2" charset="-122"/>
              </a:rPr>
              <a:t>评价</a:t>
            </a:r>
            <a:endParaRPr lang="zh-CN" sz="2800">
              <a:latin typeface="宋体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6650" y="6530975"/>
            <a:ext cx="252413" cy="2143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400" b="1" spc="-5" dirty="0">
                <a:solidFill>
                  <a:srgbClr val="CCFFFF"/>
                </a:solidFill>
                <a:latin typeface="Tahoma"/>
                <a:cs typeface="Tahoma"/>
              </a:rPr>
              <a:t>1</a:t>
            </a:r>
            <a:r>
              <a:rPr sz="1400" b="1" dirty="0">
                <a:solidFill>
                  <a:srgbClr val="CCFFFF"/>
                </a:solidFill>
                <a:latin typeface="Tahoma"/>
                <a:cs typeface="Tahoma"/>
              </a:rPr>
              <a:t>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317" name="TextBox 6"/>
          <p:cNvSpPr txBox="1">
            <a:spLocks noChangeArrowheads="1"/>
          </p:cNvSpPr>
          <p:nvPr/>
        </p:nvSpPr>
        <p:spPr bwMode="auto">
          <a:xfrm>
            <a:off x="1178719" y="180504"/>
            <a:ext cx="601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数据结构课程研究的对象</a:t>
            </a:r>
          </a:p>
        </p:txBody>
      </p:sp>
    </p:spTree>
    <p:extLst>
      <p:ext uri="{BB962C8B-B14F-4D97-AF65-F5344CB8AC3E}">
        <p14:creationId xmlns:p14="http://schemas.microsoft.com/office/powerpoint/2010/main" val="144894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1"/>
          <p:cNvSpPr txBox="1">
            <a:spLocks noChangeArrowheads="1"/>
          </p:cNvSpPr>
          <p:nvPr/>
        </p:nvSpPr>
        <p:spPr bwMode="auto">
          <a:xfrm>
            <a:off x="500063" y="1146175"/>
            <a:ext cx="71437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zh-CN" sz="2000" b="1" dirty="0">
                <a:solidFill>
                  <a:srgbClr val="0000FF"/>
                </a:solidFill>
                <a:latin typeface="Arial" pitchFamily="34" charset="0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Arial" pitchFamily="34" charset="0"/>
              </a:rPr>
              <a:t>1.1] </a:t>
            </a:r>
            <a:r>
              <a:rPr lang="zh-CN" altLang="zh-CN" sz="2000" b="1" dirty="0"/>
              <a:t>该</a:t>
            </a:r>
            <a:r>
              <a:rPr lang="zh-CN" altLang="zh-CN" sz="2000" b="1" dirty="0">
                <a:solidFill>
                  <a:srgbClr val="0000FF"/>
                </a:solidFill>
              </a:rPr>
              <a:t>如何摆放书</a:t>
            </a:r>
            <a:r>
              <a:rPr lang="zh-CN" altLang="zh-CN" sz="2000" b="1" dirty="0"/>
              <a:t>，才能让读者很方便地找到你手里这本《数据结构》？</a:t>
            </a:r>
          </a:p>
        </p:txBody>
      </p:sp>
      <p:pic>
        <p:nvPicPr>
          <p:cNvPr id="2101" name="Picture 53" descr="55996225201011161651193526184650306_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286000"/>
            <a:ext cx="5919788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971600" y="109538"/>
            <a:ext cx="601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为什么要学习数据结构</a:t>
            </a:r>
          </a:p>
        </p:txBody>
      </p:sp>
    </p:spTree>
    <p:extLst>
      <p:ext uri="{BB962C8B-B14F-4D97-AF65-F5344CB8AC3E}">
        <p14:creationId xmlns:p14="http://schemas.microsoft.com/office/powerpoint/2010/main" val="38309986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899592" y="260648"/>
            <a:ext cx="1357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itchFamily="34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latin typeface="Arial" pitchFamily="34" charset="0"/>
              </a:rPr>
              <a:t>分析</a:t>
            </a:r>
            <a:r>
              <a:rPr lang="en-US" altLang="zh-CN" b="1" dirty="0">
                <a:solidFill>
                  <a:schemeClr val="bg1"/>
                </a:solidFill>
                <a:latin typeface="Arial" pitchFamily="34" charset="0"/>
              </a:rPr>
              <a:t>】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8" name="Text Box 51"/>
          <p:cNvSpPr txBox="1">
            <a:spLocks noChangeArrowheads="1"/>
          </p:cNvSpPr>
          <p:nvPr/>
        </p:nvSpPr>
        <p:spPr bwMode="auto">
          <a:xfrm>
            <a:off x="611188" y="1341438"/>
            <a:ext cx="800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sz="2000" b="1" dirty="0">
                <a:solidFill>
                  <a:srgbClr val="0000FF"/>
                </a:solidFill>
                <a:latin typeface="Arial" pitchFamily="34" charset="0"/>
              </a:rPr>
              <a:t>方法</a:t>
            </a:r>
            <a:r>
              <a:rPr lang="en-US" altLang="zh-CN" sz="2000" b="1" dirty="0">
                <a:solidFill>
                  <a:srgbClr val="0000FF"/>
                </a:solidFill>
                <a:latin typeface="Arial" pitchFamily="34" charset="0"/>
              </a:rPr>
              <a:t>1]   </a:t>
            </a:r>
            <a:r>
              <a:rPr lang="zh-CN" altLang="en-US" sz="2000" b="1" dirty="0">
                <a:solidFill>
                  <a:srgbClr val="0000FF"/>
                </a:solidFill>
                <a:latin typeface="Arial" pitchFamily="34" charset="0"/>
              </a:rPr>
              <a:t>随便放</a:t>
            </a:r>
            <a:r>
              <a:rPr lang="en-US" altLang="zh-CN" sz="2000" b="1" dirty="0">
                <a:latin typeface="Arial" pitchFamily="34" charset="0"/>
              </a:rPr>
              <a:t>——</a:t>
            </a:r>
            <a:r>
              <a:rPr lang="zh-CN" altLang="zh-CN" sz="2000" b="1" dirty="0"/>
              <a:t>任何时候有新书进来，哪里有空就把书插到哪里</a:t>
            </a:r>
            <a:r>
              <a:rPr lang="zh-CN" altLang="en-US" sz="2000" b="1" dirty="0"/>
              <a:t>。</a:t>
            </a:r>
            <a:endParaRPr lang="en-US" altLang="zh-CN" sz="2000" b="1" dirty="0">
              <a:latin typeface="Arial" pitchFamily="34" charset="0"/>
            </a:endParaRPr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642938" y="2571750"/>
            <a:ext cx="800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sz="2000" b="1">
                <a:solidFill>
                  <a:srgbClr val="0000FF"/>
                </a:solidFill>
                <a:latin typeface="Arial" pitchFamily="34" charset="0"/>
              </a:rPr>
              <a:t>方法</a:t>
            </a:r>
            <a:r>
              <a:rPr lang="en-US" altLang="zh-CN" sz="2000" b="1">
                <a:solidFill>
                  <a:srgbClr val="0000FF"/>
                </a:solidFill>
                <a:latin typeface="Arial" pitchFamily="34" charset="0"/>
              </a:rPr>
              <a:t>2]   </a:t>
            </a:r>
            <a:r>
              <a:rPr lang="zh-CN" altLang="zh-CN" sz="2000" b="1"/>
              <a:t>按照书名的</a:t>
            </a:r>
            <a:r>
              <a:rPr lang="zh-CN" altLang="zh-CN" sz="2000" b="1">
                <a:solidFill>
                  <a:srgbClr val="0000FF"/>
                </a:solidFill>
              </a:rPr>
              <a:t>拼音字母顺序</a:t>
            </a:r>
            <a:r>
              <a:rPr lang="zh-CN" altLang="zh-CN" sz="2000" b="1"/>
              <a:t>排放。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714375" y="4071938"/>
            <a:ext cx="8135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sz="2000" b="1">
                <a:solidFill>
                  <a:srgbClr val="0000FF"/>
                </a:solidFill>
                <a:latin typeface="Arial" pitchFamily="34" charset="0"/>
              </a:rPr>
              <a:t>方法</a:t>
            </a:r>
            <a:r>
              <a:rPr lang="en-US" altLang="zh-CN" sz="2000" b="1">
                <a:solidFill>
                  <a:srgbClr val="0000FF"/>
                </a:solidFill>
                <a:latin typeface="Arial" pitchFamily="34" charset="0"/>
              </a:rPr>
              <a:t>3]  </a:t>
            </a:r>
            <a:r>
              <a:rPr lang="zh-CN" altLang="zh-CN" sz="2000" b="1"/>
              <a:t>把书架</a:t>
            </a:r>
            <a:r>
              <a:rPr lang="zh-CN" altLang="zh-CN" sz="2000" b="1">
                <a:solidFill>
                  <a:srgbClr val="0000FF"/>
                </a:solidFill>
              </a:rPr>
              <a:t>划分成几块区域</a:t>
            </a:r>
            <a:r>
              <a:rPr lang="zh-CN" altLang="zh-CN" sz="2000" b="1"/>
              <a:t>，每块区域指定摆放某种类别的图书；在每种类别内，按照书名的拼音字母顺序排放。</a:t>
            </a:r>
          </a:p>
        </p:txBody>
      </p:sp>
      <p:sp>
        <p:nvSpPr>
          <p:cNvPr id="11" name="Text Box 51"/>
          <p:cNvSpPr txBox="1">
            <a:spLocks noChangeArrowheads="1"/>
          </p:cNvSpPr>
          <p:nvPr/>
        </p:nvSpPr>
        <p:spPr bwMode="auto">
          <a:xfrm>
            <a:off x="4214813" y="1714500"/>
            <a:ext cx="2571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Arial" pitchFamily="34" charset="0"/>
              </a:rPr>
              <a:t>  </a:t>
            </a:r>
            <a:r>
              <a:rPr lang="zh-CN" altLang="en-US" sz="2000" b="1" dirty="0">
                <a:latin typeface="Arial" pitchFamily="34" charset="0"/>
              </a:rPr>
              <a:t>查找效率极低！</a:t>
            </a:r>
            <a:endParaRPr lang="zh-CN" altLang="zh-CN" sz="2000" dirty="0"/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4143375" y="3000375"/>
            <a:ext cx="411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itchFamily="34" charset="0"/>
              </a:rPr>
              <a:t>  </a:t>
            </a:r>
            <a:r>
              <a:rPr lang="zh-CN" altLang="en-US" sz="2000" b="1">
                <a:latin typeface="Arial" pitchFamily="34" charset="0"/>
              </a:rPr>
              <a:t>有时插入新书很困难！</a:t>
            </a:r>
            <a:endParaRPr lang="zh-CN" altLang="zh-CN" sz="2000"/>
          </a:p>
        </p:txBody>
      </p: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4286250" y="4857750"/>
            <a:ext cx="3143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itchFamily="34" charset="0"/>
              </a:rPr>
              <a:t>  </a:t>
            </a:r>
            <a:r>
              <a:rPr lang="zh-CN" altLang="en-US" sz="2000" b="1">
                <a:latin typeface="Arial" pitchFamily="34" charset="0"/>
              </a:rPr>
              <a:t>可能造成空间的浪费！</a:t>
            </a:r>
            <a:endParaRPr lang="zh-CN" altLang="zh-CN" sz="2000"/>
          </a:p>
        </p:txBody>
      </p:sp>
    </p:spTree>
    <p:extLst>
      <p:ext uri="{BB962C8B-B14F-4D97-AF65-F5344CB8AC3E}">
        <p14:creationId xmlns:p14="http://schemas.microsoft.com/office/powerpoint/2010/main" val="59914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utoUpdateAnimBg="0"/>
      <p:bldP spid="10" grpId="0" autoUpdateAnimBg="0"/>
      <p:bldP spid="11" grpId="0" autoUpdateAnimBg="0"/>
      <p:bldP spid="13" grpId="0" autoUpdateAnimBg="0"/>
      <p:bldP spid="1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42875" y="928688"/>
            <a:ext cx="8358188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>
              <a:spcBef>
                <a:spcPct val="20000"/>
              </a:spcBef>
            </a:pPr>
            <a:r>
              <a:rPr lang="en-US" altLang="zh-CN" b="1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b="1">
                <a:solidFill>
                  <a:srgbClr val="0000FF"/>
                </a:solidFill>
                <a:latin typeface="Arial" pitchFamily="34" charset="0"/>
              </a:rPr>
              <a:t>例</a:t>
            </a:r>
            <a:r>
              <a:rPr lang="en-US" altLang="zh-CN" b="1">
                <a:solidFill>
                  <a:srgbClr val="0000FF"/>
                </a:solidFill>
                <a:latin typeface="Arial" pitchFamily="34" charset="0"/>
              </a:rPr>
              <a:t>1.2] </a:t>
            </a:r>
            <a:r>
              <a:rPr lang="zh-CN" altLang="en-US" b="1"/>
              <a:t>写程序实现一个函数</a:t>
            </a:r>
            <a:r>
              <a:rPr lang="en-US" altLang="zh-CN" b="1">
                <a:solidFill>
                  <a:srgbClr val="0000FF"/>
                </a:solidFill>
              </a:rPr>
              <a:t>PrintN</a:t>
            </a:r>
            <a:r>
              <a:rPr lang="zh-CN" altLang="en-US" b="1"/>
              <a:t>，使得传入一个正整数为</a:t>
            </a:r>
            <a:r>
              <a:rPr lang="en-US" altLang="zh-CN" b="1"/>
              <a:t>N</a:t>
            </a:r>
            <a:r>
              <a:rPr lang="zh-CN" altLang="en-US" b="1"/>
              <a:t>的参数后，能顺序</a:t>
            </a:r>
            <a:r>
              <a:rPr lang="zh-CN" altLang="en-US" b="1">
                <a:solidFill>
                  <a:srgbClr val="0000FF"/>
                </a:solidFill>
              </a:rPr>
              <a:t>打印从</a:t>
            </a: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>
                <a:solidFill>
                  <a:srgbClr val="0000FF"/>
                </a:solidFill>
              </a:rPr>
              <a:t>到</a:t>
            </a:r>
            <a:r>
              <a:rPr lang="en-US" altLang="zh-CN" b="1">
                <a:solidFill>
                  <a:srgbClr val="0000FF"/>
                </a:solidFill>
              </a:rPr>
              <a:t>N</a:t>
            </a:r>
            <a:r>
              <a:rPr lang="zh-CN" altLang="en-US" b="1"/>
              <a:t>的全部正整数。</a:t>
            </a:r>
            <a:r>
              <a:rPr lang="zh-CN" altLang="en-US"/>
              <a:t> 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57250" y="2643188"/>
            <a:ext cx="4005263" cy="193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altLang="zh-CN" sz="2000" b="1">
                <a:latin typeface="Courier New" pitchFamily="49" charset="0"/>
              </a:rPr>
              <a:t> PrintN (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altLang="zh-CN" sz="2000" b="1">
                <a:latin typeface="Courier New" pitchFamily="49" charset="0"/>
              </a:rPr>
              <a:t> N )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{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altLang="zh-CN" sz="2000" b="1">
                <a:latin typeface="Courier New" pitchFamily="49" charset="0"/>
              </a:rPr>
              <a:t> i;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for</a:t>
            </a:r>
            <a:r>
              <a:rPr lang="en-US" altLang="zh-CN" sz="2000" b="1">
                <a:latin typeface="Courier New" pitchFamily="49" charset="0"/>
              </a:rPr>
              <a:t> ( i=1; i&lt;=N; i++ )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  printf(“%d\n”, i );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altLang="zh-CN" sz="2000" b="1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} 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938713" y="2643188"/>
            <a:ext cx="3505200" cy="193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altLang="zh-CN" sz="2000" b="1">
                <a:latin typeface="Courier New" pitchFamily="49" charset="0"/>
              </a:rPr>
              <a:t> PrintN (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altLang="zh-CN" sz="2000" b="1">
                <a:latin typeface="Courier New" pitchFamily="49" charset="0"/>
              </a:rPr>
              <a:t> N )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{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altLang="zh-CN" sz="2000" b="1">
                <a:latin typeface="Courier New" pitchFamily="49" charset="0"/>
              </a:rPr>
              <a:t> ( !N )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altLang="zh-CN" sz="2000" b="1">
                <a:latin typeface="Courier New" pitchFamily="49" charset="0"/>
              </a:rPr>
              <a:t>; 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PrintN( N – 1 ); 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printf(“%d\n”, N ); 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altLang="zh-CN" sz="2000" b="1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zh-CN" sz="2000" b="1">
                <a:latin typeface="Courier New" pitchFamily="49" charset="0"/>
              </a:rPr>
              <a:t>} 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638800" y="2571750"/>
            <a:ext cx="1676400" cy="2133600"/>
            <a:chOff x="3552" y="2160"/>
            <a:chExt cx="1056" cy="1344"/>
          </a:xfrm>
        </p:grpSpPr>
        <p:sp>
          <p:nvSpPr>
            <p:cNvPr id="16392" name="Line 10"/>
            <p:cNvSpPr>
              <a:spLocks noChangeShapeType="1"/>
            </p:cNvSpPr>
            <p:nvPr/>
          </p:nvSpPr>
          <p:spPr bwMode="auto">
            <a:xfrm>
              <a:off x="3552" y="2160"/>
              <a:ext cx="1008" cy="134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Line 11"/>
            <p:cNvSpPr>
              <a:spLocks noChangeShapeType="1"/>
            </p:cNvSpPr>
            <p:nvPr/>
          </p:nvSpPr>
          <p:spPr bwMode="auto">
            <a:xfrm flipH="1">
              <a:off x="3600" y="2160"/>
              <a:ext cx="1008" cy="134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094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1"/>
          <p:cNvSpPr txBox="1">
            <a:spLocks noChangeArrowheads="1"/>
          </p:cNvSpPr>
          <p:nvPr/>
        </p:nvSpPr>
        <p:spPr bwMode="auto">
          <a:xfrm>
            <a:off x="611188" y="724297"/>
            <a:ext cx="8001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latin typeface="Arial" pitchFamily="34" charset="0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1.3]   </a:t>
            </a:r>
            <a:r>
              <a:rPr lang="zh-CN" altLang="zh-CN" b="1" dirty="0"/>
              <a:t>多项式的标准表达式可以写为：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           </a:t>
            </a:r>
            <a:r>
              <a:rPr lang="en-US" altLang="zh-CN" b="1" i="1" dirty="0"/>
              <a:t>f(x) = a</a:t>
            </a:r>
            <a:r>
              <a:rPr lang="en-US" altLang="zh-CN" b="1" baseline="-25000" dirty="0"/>
              <a:t>0</a:t>
            </a:r>
            <a:r>
              <a:rPr lang="en-US" altLang="zh-CN" b="1" i="1" dirty="0"/>
              <a:t> + a</a:t>
            </a:r>
            <a:r>
              <a:rPr lang="en-US" altLang="zh-CN" b="1" baseline="-25000" dirty="0"/>
              <a:t>1</a:t>
            </a:r>
            <a:r>
              <a:rPr lang="en-US" altLang="zh-CN" b="1" i="1" dirty="0"/>
              <a:t>x + a</a:t>
            </a:r>
            <a:r>
              <a:rPr lang="en-US" altLang="zh-CN" b="1" baseline="-25000" dirty="0"/>
              <a:t>2</a:t>
            </a:r>
            <a:r>
              <a:rPr lang="en-US" altLang="zh-CN" b="1" i="1" dirty="0"/>
              <a:t>x</a:t>
            </a:r>
            <a:r>
              <a:rPr lang="en-US" altLang="zh-CN" b="1" i="1" baseline="30000" dirty="0"/>
              <a:t>2</a:t>
            </a:r>
            <a:r>
              <a:rPr lang="en-US" altLang="zh-CN" b="1" i="1" dirty="0"/>
              <a:t> +…+ </a:t>
            </a:r>
            <a:r>
              <a:rPr lang="en-US" altLang="zh-CN" b="1" i="1" dirty="0" err="1"/>
              <a:t>a</a:t>
            </a:r>
            <a:r>
              <a:rPr lang="en-US" altLang="zh-CN" b="1" i="1" baseline="-25000" dirty="0" err="1"/>
              <a:t>n</a:t>
            </a:r>
            <a:r>
              <a:rPr lang="en-US" altLang="zh-CN" b="1" i="1" dirty="0" err="1"/>
              <a:t>x</a:t>
            </a:r>
            <a:r>
              <a:rPr lang="en-US" altLang="zh-CN" b="1" i="1" baseline="30000" dirty="0" err="1"/>
              <a:t>n</a:t>
            </a:r>
            <a:endParaRPr lang="en-US" altLang="zh-CN" b="1" i="1" dirty="0"/>
          </a:p>
          <a:p>
            <a:pPr eaLnBrk="1" hangingPunct="1"/>
            <a:r>
              <a:rPr lang="zh-CN" altLang="zh-CN" b="1" dirty="0"/>
              <a:t>现给定一个多项式的阶数</a:t>
            </a:r>
            <a:r>
              <a:rPr lang="en-US" altLang="zh-CN" b="1" dirty="0"/>
              <a:t> </a:t>
            </a:r>
            <a:r>
              <a:rPr lang="en-US" altLang="zh-CN" b="1" i="1" dirty="0"/>
              <a:t>n</a:t>
            </a:r>
            <a:r>
              <a:rPr lang="zh-CN" altLang="zh-CN" b="1" dirty="0"/>
              <a:t>，并将全体系数存放在数组</a:t>
            </a:r>
            <a:r>
              <a:rPr lang="en-US" altLang="zh-CN" b="1" dirty="0"/>
              <a:t> a[ ]</a:t>
            </a:r>
            <a:r>
              <a:rPr lang="zh-CN" altLang="zh-CN" b="1" dirty="0"/>
              <a:t>里。请写程序计算这个多项式在</a:t>
            </a:r>
            <a:r>
              <a:rPr lang="zh-CN" altLang="zh-CN" b="1" dirty="0">
                <a:solidFill>
                  <a:srgbClr val="0000FF"/>
                </a:solidFill>
              </a:rPr>
              <a:t>给定点</a:t>
            </a:r>
            <a:r>
              <a:rPr lang="en-US" altLang="zh-CN" b="1" i="1" dirty="0">
                <a:solidFill>
                  <a:srgbClr val="0000FF"/>
                </a:solidFill>
              </a:rPr>
              <a:t> x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zh-CN" b="1" dirty="0">
                <a:solidFill>
                  <a:srgbClr val="0000FF"/>
                </a:solidFill>
              </a:rPr>
              <a:t>处的值</a:t>
            </a:r>
            <a:r>
              <a:rPr lang="zh-CN" altLang="zh-CN" b="1" dirty="0"/>
              <a:t>。</a:t>
            </a:r>
            <a:endParaRPr lang="en-US" altLang="zh-CN" b="1" dirty="0"/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611188" y="2349500"/>
            <a:ext cx="800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latin typeface="Arial" pitchFamily="34" charset="0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1] </a:t>
            </a:r>
            <a:r>
              <a:rPr lang="zh-CN" altLang="zh-CN" b="1" dirty="0"/>
              <a:t>计算多项式函数值的</a:t>
            </a:r>
            <a:r>
              <a:rPr lang="zh-CN" altLang="zh-CN" b="1" dirty="0">
                <a:solidFill>
                  <a:srgbClr val="0000FF"/>
                </a:solidFill>
              </a:rPr>
              <a:t>直接法</a:t>
            </a:r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684213" y="2924175"/>
            <a:ext cx="7704137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latin typeface="Arial" pitchFamily="34" charset="0"/>
              </a:rPr>
              <a:t>  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f( </a:t>
            </a:r>
            <a:r>
              <a:rPr lang="en-US" altLang="zh-CN" b="1" dirty="0" err="1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n, 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a[], 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x )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sz="2000" b="1" dirty="0"/>
              <a:t>{   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/* </a:t>
            </a:r>
            <a:r>
              <a:rPr lang="zh-CN" altLang="zh-CN" sz="2000" b="1" dirty="0">
                <a:solidFill>
                  <a:schemeClr val="bg2">
                    <a:lumMod val="75000"/>
                  </a:schemeClr>
                </a:solidFill>
              </a:rPr>
              <a:t>计算阶数为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n</a:t>
            </a:r>
            <a:r>
              <a:rPr lang="zh-CN" altLang="zh-CN" sz="2000" b="1" dirty="0">
                <a:solidFill>
                  <a:schemeClr val="bg2">
                    <a:lumMod val="75000"/>
                  </a:schemeClr>
                </a:solidFill>
              </a:rPr>
              <a:t>，系数为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a[0]...a[n]</a:t>
            </a:r>
            <a:r>
              <a:rPr lang="zh-CN" altLang="zh-CN" sz="2000" b="1" dirty="0">
                <a:solidFill>
                  <a:schemeClr val="bg2">
                    <a:lumMod val="75000"/>
                  </a:schemeClr>
                </a:solidFill>
              </a:rPr>
              <a:t>的多项式在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x</a:t>
            </a:r>
            <a:r>
              <a:rPr lang="zh-CN" altLang="zh-CN" sz="2000" b="1" dirty="0">
                <a:solidFill>
                  <a:schemeClr val="bg2">
                    <a:lumMod val="75000"/>
                  </a:schemeClr>
                </a:solidFill>
              </a:rPr>
              <a:t>点的值 </a:t>
            </a: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</a:rPr>
              <a:t>*/</a:t>
            </a:r>
            <a:endParaRPr lang="zh-CN" altLang="zh-CN" sz="2000" b="1" dirty="0">
              <a:solidFill>
                <a:schemeClr val="bg2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 err="1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p = a[0];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 ( </a:t>
            </a:r>
            <a:r>
              <a:rPr lang="en-US" altLang="zh-CN" b="1" dirty="0" err="1"/>
              <a:t>i</a:t>
            </a:r>
            <a:r>
              <a:rPr lang="en-US" altLang="zh-CN" b="1" dirty="0"/>
              <a:t>=1; </a:t>
            </a:r>
            <a:r>
              <a:rPr lang="en-US" altLang="zh-CN" b="1" dirty="0" err="1"/>
              <a:t>i</a:t>
            </a:r>
            <a:r>
              <a:rPr lang="en-US" altLang="zh-CN" b="1" dirty="0"/>
              <a:t>&lt;=n; </a:t>
            </a:r>
            <a:r>
              <a:rPr lang="en-US" altLang="zh-CN" b="1" dirty="0" err="1"/>
              <a:t>i</a:t>
            </a:r>
            <a:r>
              <a:rPr lang="en-US" altLang="zh-CN" b="1" dirty="0"/>
              <a:t>++ )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	p += a[</a:t>
            </a:r>
            <a:r>
              <a:rPr lang="en-US" altLang="zh-CN" b="1" dirty="0" err="1"/>
              <a:t>i</a:t>
            </a:r>
            <a:r>
              <a:rPr lang="en-US" altLang="zh-CN" b="1" dirty="0"/>
              <a:t>]*</a:t>
            </a:r>
            <a:r>
              <a:rPr lang="en-US" altLang="zh-CN" b="1" dirty="0" err="1"/>
              <a:t>pow</a:t>
            </a:r>
            <a:r>
              <a:rPr lang="en-US" altLang="zh-CN" b="1" dirty="0"/>
              <a:t>(x, </a:t>
            </a:r>
            <a:r>
              <a:rPr lang="en-US" altLang="zh-CN" b="1" dirty="0" err="1"/>
              <a:t>i</a:t>
            </a:r>
            <a:r>
              <a:rPr lang="en-US" altLang="zh-CN" b="1" dirty="0"/>
              <a:t>);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return</a:t>
            </a:r>
            <a:r>
              <a:rPr lang="en-US" altLang="zh-CN" b="1" dirty="0"/>
              <a:t> p;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}</a:t>
            </a:r>
            <a:endParaRPr lang="zh-CN" altLang="zh-CN" b="1" dirty="0"/>
          </a:p>
          <a:p>
            <a:pPr eaLnBrk="1" hangingPunct="1">
              <a:defRPr/>
            </a:pPr>
            <a:endParaRPr lang="zh-CN" altLang="zh-CN" b="1" dirty="0"/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1691680" y="2924175"/>
            <a:ext cx="7705725" cy="3743325"/>
          </a:xfrm>
          <a:prstGeom prst="rect">
            <a:avLst/>
          </a:prstGeom>
          <a:solidFill>
            <a:schemeClr val="accent3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latin typeface="Arial" pitchFamily="34" charset="0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latin typeface="Arial" pitchFamily="34" charset="0"/>
              </a:rPr>
              <a:t>2] </a:t>
            </a:r>
            <a:r>
              <a:rPr lang="zh-CN" altLang="zh-CN" b="1" dirty="0">
                <a:solidFill>
                  <a:srgbClr val="0000FF"/>
                </a:solidFill>
              </a:rPr>
              <a:t>秦九韶法</a:t>
            </a:r>
          </a:p>
          <a:p>
            <a:pPr eaLnBrk="1" hangingPunct="1">
              <a:defRPr/>
            </a:pPr>
            <a:r>
              <a:rPr lang="en-US" altLang="zh-CN" b="1" dirty="0"/>
              <a:t>            </a:t>
            </a:r>
            <a:r>
              <a:rPr lang="en-US" altLang="zh-CN" b="1" i="1" dirty="0"/>
              <a:t>f</a:t>
            </a:r>
            <a:r>
              <a:rPr lang="en-US" altLang="zh-CN" b="1" dirty="0"/>
              <a:t>(</a:t>
            </a:r>
            <a:r>
              <a:rPr lang="en-US" altLang="zh-CN" b="1" i="1" dirty="0"/>
              <a:t>x</a:t>
            </a:r>
            <a:r>
              <a:rPr lang="en-US" altLang="zh-CN" b="1" dirty="0"/>
              <a:t>)</a:t>
            </a:r>
            <a:r>
              <a:rPr lang="en-US" altLang="zh-CN" b="1" i="1" dirty="0"/>
              <a:t> = a</a:t>
            </a:r>
            <a:r>
              <a:rPr lang="en-US" altLang="zh-CN" b="1" baseline="-25000" dirty="0"/>
              <a:t>0</a:t>
            </a:r>
            <a:r>
              <a:rPr lang="en-US" altLang="zh-CN" b="1" i="1" dirty="0"/>
              <a:t> + x </a:t>
            </a:r>
            <a:r>
              <a:rPr lang="en-US" altLang="zh-CN" b="1" dirty="0"/>
              <a:t>(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i="1" dirty="0"/>
              <a:t>+ x </a:t>
            </a:r>
            <a:r>
              <a:rPr lang="en-US" altLang="zh-CN" b="1" dirty="0"/>
              <a:t>(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i="1" dirty="0"/>
              <a:t> +… + x </a:t>
            </a:r>
            <a:r>
              <a:rPr lang="en-US" altLang="zh-CN" b="1" dirty="0"/>
              <a:t>(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) …)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f( </a:t>
            </a:r>
            <a:r>
              <a:rPr lang="en-US" altLang="zh-CN" b="1" dirty="0" err="1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n, 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a[], 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x )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{   </a:t>
            </a:r>
            <a:r>
              <a:rPr lang="en-US" altLang="zh-CN" sz="2000" b="1" dirty="0">
                <a:solidFill>
                  <a:srgbClr val="4D4D26"/>
                </a:solidFill>
              </a:rPr>
              <a:t>/* </a:t>
            </a:r>
            <a:r>
              <a:rPr lang="zh-CN" altLang="zh-CN" sz="2000" b="1" dirty="0">
                <a:solidFill>
                  <a:srgbClr val="4D4D26"/>
                </a:solidFill>
              </a:rPr>
              <a:t>计算阶数为</a:t>
            </a:r>
            <a:r>
              <a:rPr lang="en-US" altLang="zh-CN" sz="2000" b="1" dirty="0">
                <a:solidFill>
                  <a:srgbClr val="4D4D26"/>
                </a:solidFill>
              </a:rPr>
              <a:t>n</a:t>
            </a:r>
            <a:r>
              <a:rPr lang="zh-CN" altLang="zh-CN" sz="2000" b="1" dirty="0">
                <a:solidFill>
                  <a:srgbClr val="4D4D26"/>
                </a:solidFill>
              </a:rPr>
              <a:t>，系数为</a:t>
            </a:r>
            <a:r>
              <a:rPr lang="en-US" altLang="zh-CN" sz="2000" b="1" dirty="0">
                <a:solidFill>
                  <a:srgbClr val="4D4D26"/>
                </a:solidFill>
              </a:rPr>
              <a:t>a[0]...a[n]</a:t>
            </a:r>
            <a:r>
              <a:rPr lang="zh-CN" altLang="zh-CN" sz="2000" b="1" dirty="0">
                <a:solidFill>
                  <a:srgbClr val="4D4D26"/>
                </a:solidFill>
              </a:rPr>
              <a:t>的多项式在</a:t>
            </a:r>
            <a:r>
              <a:rPr lang="en-US" altLang="zh-CN" sz="2000" b="1" dirty="0">
                <a:solidFill>
                  <a:srgbClr val="4D4D26"/>
                </a:solidFill>
              </a:rPr>
              <a:t>x</a:t>
            </a:r>
            <a:r>
              <a:rPr lang="zh-CN" altLang="zh-CN" sz="2000" b="1" dirty="0">
                <a:solidFill>
                  <a:srgbClr val="4D4D26"/>
                </a:solidFill>
              </a:rPr>
              <a:t>点的值</a:t>
            </a:r>
            <a:r>
              <a:rPr lang="en-US" altLang="zh-CN" sz="2000" b="1" dirty="0">
                <a:solidFill>
                  <a:srgbClr val="4D4D26"/>
                </a:solidFill>
              </a:rPr>
              <a:t> */</a:t>
            </a:r>
            <a:endParaRPr lang="zh-CN" altLang="zh-CN" sz="2000" b="1" dirty="0">
              <a:solidFill>
                <a:srgbClr val="4D4D26"/>
              </a:solidFill>
            </a:endParaRPr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 err="1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i;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en-US" altLang="zh-CN" b="1" dirty="0"/>
              <a:t> p = a[n];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 (i=n; i&gt;0; i--)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	p = a[i-1] + x*p;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0000FF"/>
                </a:solidFill>
              </a:rPr>
              <a:t>return</a:t>
            </a:r>
            <a:r>
              <a:rPr lang="en-US" altLang="zh-CN" b="1" dirty="0"/>
              <a:t> p;</a:t>
            </a:r>
            <a:endParaRPr lang="zh-CN" altLang="zh-CN" b="1" dirty="0"/>
          </a:p>
          <a:p>
            <a:pPr eaLnBrk="1" hangingPunct="1">
              <a:defRPr/>
            </a:pPr>
            <a:r>
              <a:rPr lang="en-US" altLang="zh-CN" b="1" dirty="0"/>
              <a:t>}</a:t>
            </a:r>
            <a:endParaRPr lang="zh-CN" altLang="zh-CN" b="1" dirty="0"/>
          </a:p>
        </p:txBody>
      </p:sp>
    </p:spTree>
    <p:extLst>
      <p:ext uri="{BB962C8B-B14F-4D97-AF65-F5344CB8AC3E}">
        <p14:creationId xmlns:p14="http://schemas.microsoft.com/office/powerpoint/2010/main" val="386729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3" grpId="0" autoUpdateAnimBg="0"/>
      <p:bldP spid="1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9750" y="4725144"/>
            <a:ext cx="8291513" cy="2044701"/>
            <a:chOff x="240" y="3024"/>
            <a:chExt cx="5223" cy="1288"/>
          </a:xfrm>
        </p:grpSpPr>
        <p:grpSp>
          <p:nvGrpSpPr>
            <p:cNvPr id="18440" name="Group 4"/>
            <p:cNvGrpSpPr>
              <a:grpSpLocks/>
            </p:cNvGrpSpPr>
            <p:nvPr/>
          </p:nvGrpSpPr>
          <p:grpSpPr bwMode="auto">
            <a:xfrm>
              <a:off x="240" y="3024"/>
              <a:ext cx="864" cy="1008"/>
              <a:chOff x="624" y="2647"/>
              <a:chExt cx="1242" cy="1289"/>
            </a:xfrm>
          </p:grpSpPr>
          <p:grpSp>
            <p:nvGrpSpPr>
              <p:cNvPr id="18442" name="Group 5"/>
              <p:cNvGrpSpPr>
                <a:grpSpLocks/>
              </p:cNvGrpSpPr>
              <p:nvPr/>
            </p:nvGrpSpPr>
            <p:grpSpPr bwMode="auto">
              <a:xfrm>
                <a:off x="624" y="3312"/>
                <a:ext cx="528" cy="624"/>
                <a:chOff x="2016" y="3024"/>
                <a:chExt cx="528" cy="624"/>
              </a:xfrm>
            </p:grpSpPr>
            <p:sp>
              <p:nvSpPr>
                <p:cNvPr id="18505" name="AutoShape 6"/>
                <p:cNvSpPr>
                  <a:spLocks noChangeArrowheads="1"/>
                </p:cNvSpPr>
                <p:nvPr/>
              </p:nvSpPr>
              <p:spPr bwMode="auto">
                <a:xfrm flipH="1">
                  <a:off x="2016" y="3072"/>
                  <a:ext cx="480" cy="576"/>
                </a:xfrm>
                <a:prstGeom prst="rtTriangle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8506" name="Group 7"/>
                <p:cNvGrpSpPr>
                  <a:grpSpLocks/>
                </p:cNvGrpSpPr>
                <p:nvPr/>
              </p:nvGrpSpPr>
              <p:grpSpPr bwMode="auto">
                <a:xfrm>
                  <a:off x="2016" y="3024"/>
                  <a:ext cx="528" cy="624"/>
                  <a:chOff x="576" y="3312"/>
                  <a:chExt cx="528" cy="624"/>
                </a:xfrm>
              </p:grpSpPr>
              <p:sp>
                <p:nvSpPr>
                  <p:cNvPr id="18507" name="Freeform 8"/>
                  <p:cNvSpPr>
                    <a:spLocks/>
                  </p:cNvSpPr>
                  <p:nvPr/>
                </p:nvSpPr>
                <p:spPr bwMode="auto">
                  <a:xfrm>
                    <a:off x="576" y="3312"/>
                    <a:ext cx="528" cy="624"/>
                  </a:xfrm>
                  <a:custGeom>
                    <a:avLst/>
                    <a:gdLst>
                      <a:gd name="T0" fmla="*/ 528 w 528"/>
                      <a:gd name="T1" fmla="*/ 0 h 624"/>
                      <a:gd name="T2" fmla="*/ 384 w 528"/>
                      <a:gd name="T3" fmla="*/ 96 h 624"/>
                      <a:gd name="T4" fmla="*/ 192 w 528"/>
                      <a:gd name="T5" fmla="*/ 336 h 624"/>
                      <a:gd name="T6" fmla="*/ 0 w 528"/>
                      <a:gd name="T7" fmla="*/ 624 h 62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28"/>
                      <a:gd name="T13" fmla="*/ 0 h 624"/>
                      <a:gd name="T14" fmla="*/ 528 w 528"/>
                      <a:gd name="T15" fmla="*/ 624 h 62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28" h="624">
                        <a:moveTo>
                          <a:pt x="528" y="0"/>
                        </a:moveTo>
                        <a:cubicBezTo>
                          <a:pt x="484" y="20"/>
                          <a:pt x="440" y="40"/>
                          <a:pt x="384" y="96"/>
                        </a:cubicBezTo>
                        <a:cubicBezTo>
                          <a:pt x="328" y="152"/>
                          <a:pt x="256" y="248"/>
                          <a:pt x="192" y="336"/>
                        </a:cubicBezTo>
                        <a:cubicBezTo>
                          <a:pt x="128" y="424"/>
                          <a:pt x="64" y="524"/>
                          <a:pt x="0" y="624"/>
                        </a:cubicBezTo>
                      </a:path>
                    </a:pathLst>
                  </a:cu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08" name="Freeform 9"/>
                  <p:cNvSpPr>
                    <a:spLocks/>
                  </p:cNvSpPr>
                  <p:nvPr/>
                </p:nvSpPr>
                <p:spPr bwMode="auto">
                  <a:xfrm>
                    <a:off x="672" y="3696"/>
                    <a:ext cx="192" cy="240"/>
                  </a:xfrm>
                  <a:custGeom>
                    <a:avLst/>
                    <a:gdLst>
                      <a:gd name="T0" fmla="*/ 192 w 192"/>
                      <a:gd name="T1" fmla="*/ 0 h 240"/>
                      <a:gd name="T2" fmla="*/ 96 w 192"/>
                      <a:gd name="T3" fmla="*/ 48 h 240"/>
                      <a:gd name="T4" fmla="*/ 48 w 192"/>
                      <a:gd name="T5" fmla="*/ 144 h 240"/>
                      <a:gd name="T6" fmla="*/ 0 w 192"/>
                      <a:gd name="T7" fmla="*/ 240 h 2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92"/>
                      <a:gd name="T13" fmla="*/ 0 h 240"/>
                      <a:gd name="T14" fmla="*/ 192 w 192"/>
                      <a:gd name="T15" fmla="*/ 240 h 2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92" h="240">
                        <a:moveTo>
                          <a:pt x="192" y="0"/>
                        </a:moveTo>
                        <a:cubicBezTo>
                          <a:pt x="156" y="12"/>
                          <a:pt x="120" y="24"/>
                          <a:pt x="96" y="48"/>
                        </a:cubicBezTo>
                        <a:cubicBezTo>
                          <a:pt x="72" y="72"/>
                          <a:pt x="64" y="112"/>
                          <a:pt x="48" y="144"/>
                        </a:cubicBezTo>
                        <a:cubicBezTo>
                          <a:pt x="32" y="176"/>
                          <a:pt x="16" y="208"/>
                          <a:pt x="0" y="240"/>
                        </a:cubicBezTo>
                      </a:path>
                    </a:pathLst>
                  </a:cu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0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3936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443" name="Group 11"/>
              <p:cNvGrpSpPr>
                <a:grpSpLocks/>
              </p:cNvGrpSpPr>
              <p:nvPr/>
            </p:nvGrpSpPr>
            <p:grpSpPr bwMode="auto">
              <a:xfrm>
                <a:off x="1134" y="2647"/>
                <a:ext cx="732" cy="823"/>
                <a:chOff x="1134" y="2647"/>
                <a:chExt cx="732" cy="823"/>
              </a:xfrm>
            </p:grpSpPr>
            <p:grpSp>
              <p:nvGrpSpPr>
                <p:cNvPr id="18470" name="Group 12"/>
                <p:cNvGrpSpPr>
                  <a:grpSpLocks/>
                </p:cNvGrpSpPr>
                <p:nvPr/>
              </p:nvGrpSpPr>
              <p:grpSpPr bwMode="auto">
                <a:xfrm>
                  <a:off x="1134" y="2647"/>
                  <a:ext cx="732" cy="823"/>
                  <a:chOff x="1134" y="2647"/>
                  <a:chExt cx="732" cy="823"/>
                </a:xfrm>
              </p:grpSpPr>
              <p:grpSp>
                <p:nvGrpSpPr>
                  <p:cNvPr id="18477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1134" y="2647"/>
                    <a:ext cx="721" cy="823"/>
                    <a:chOff x="1134" y="2647"/>
                    <a:chExt cx="721" cy="823"/>
                  </a:xfrm>
                </p:grpSpPr>
                <p:grpSp>
                  <p:nvGrpSpPr>
                    <p:cNvPr id="18482" name="Group 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34" y="2647"/>
                      <a:ext cx="721" cy="823"/>
                      <a:chOff x="1134" y="2647"/>
                      <a:chExt cx="721" cy="823"/>
                    </a:xfrm>
                  </p:grpSpPr>
                  <p:sp>
                    <p:nvSpPr>
                      <p:cNvPr id="18503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34" y="2647"/>
                        <a:ext cx="721" cy="823"/>
                      </a:xfrm>
                      <a:custGeom>
                        <a:avLst/>
                        <a:gdLst>
                          <a:gd name="T0" fmla="*/ 0 w 1442"/>
                          <a:gd name="T1" fmla="*/ 1 h 1645"/>
                          <a:gd name="T2" fmla="*/ 1 w 1442"/>
                          <a:gd name="T3" fmla="*/ 1 h 1645"/>
                          <a:gd name="T4" fmla="*/ 1 w 1442"/>
                          <a:gd name="T5" fmla="*/ 1 h 1645"/>
                          <a:gd name="T6" fmla="*/ 1 w 1442"/>
                          <a:gd name="T7" fmla="*/ 1 h 1645"/>
                          <a:gd name="T8" fmla="*/ 1 w 1442"/>
                          <a:gd name="T9" fmla="*/ 1 h 1645"/>
                          <a:gd name="T10" fmla="*/ 1 w 1442"/>
                          <a:gd name="T11" fmla="*/ 1 h 1645"/>
                          <a:gd name="T12" fmla="*/ 1 w 1442"/>
                          <a:gd name="T13" fmla="*/ 1 h 1645"/>
                          <a:gd name="T14" fmla="*/ 1 w 1442"/>
                          <a:gd name="T15" fmla="*/ 1 h 1645"/>
                          <a:gd name="T16" fmla="*/ 1 w 1442"/>
                          <a:gd name="T17" fmla="*/ 1 h 1645"/>
                          <a:gd name="T18" fmla="*/ 1 w 1442"/>
                          <a:gd name="T19" fmla="*/ 1 h 1645"/>
                          <a:gd name="T20" fmla="*/ 1 w 1442"/>
                          <a:gd name="T21" fmla="*/ 1 h 1645"/>
                          <a:gd name="T22" fmla="*/ 1 w 1442"/>
                          <a:gd name="T23" fmla="*/ 1 h 1645"/>
                          <a:gd name="T24" fmla="*/ 1 w 1442"/>
                          <a:gd name="T25" fmla="*/ 1 h 1645"/>
                          <a:gd name="T26" fmla="*/ 1 w 1442"/>
                          <a:gd name="T27" fmla="*/ 1 h 1645"/>
                          <a:gd name="T28" fmla="*/ 1 w 1442"/>
                          <a:gd name="T29" fmla="*/ 1 h 1645"/>
                          <a:gd name="T30" fmla="*/ 1 w 1442"/>
                          <a:gd name="T31" fmla="*/ 1 h 1645"/>
                          <a:gd name="T32" fmla="*/ 1 w 1442"/>
                          <a:gd name="T33" fmla="*/ 1 h 1645"/>
                          <a:gd name="T34" fmla="*/ 1 w 1442"/>
                          <a:gd name="T35" fmla="*/ 1 h 1645"/>
                          <a:gd name="T36" fmla="*/ 1 w 1442"/>
                          <a:gd name="T37" fmla="*/ 1 h 1645"/>
                          <a:gd name="T38" fmla="*/ 1 w 1442"/>
                          <a:gd name="T39" fmla="*/ 0 h 1645"/>
                          <a:gd name="T40" fmla="*/ 1 w 1442"/>
                          <a:gd name="T41" fmla="*/ 1 h 1645"/>
                          <a:gd name="T42" fmla="*/ 1 w 1442"/>
                          <a:gd name="T43" fmla="*/ 1 h 1645"/>
                          <a:gd name="T44" fmla="*/ 1 w 1442"/>
                          <a:gd name="T45" fmla="*/ 1 h 1645"/>
                          <a:gd name="T46" fmla="*/ 1 w 1442"/>
                          <a:gd name="T47" fmla="*/ 1 h 1645"/>
                          <a:gd name="T48" fmla="*/ 1 w 1442"/>
                          <a:gd name="T49" fmla="*/ 1 h 1645"/>
                          <a:gd name="T50" fmla="*/ 1 w 1442"/>
                          <a:gd name="T51" fmla="*/ 1 h 1645"/>
                          <a:gd name="T52" fmla="*/ 1 w 1442"/>
                          <a:gd name="T53" fmla="*/ 1 h 1645"/>
                          <a:gd name="T54" fmla="*/ 1 w 1442"/>
                          <a:gd name="T55" fmla="*/ 1 h 1645"/>
                          <a:gd name="T56" fmla="*/ 1 w 1442"/>
                          <a:gd name="T57" fmla="*/ 1 h 1645"/>
                          <a:gd name="T58" fmla="*/ 1 w 1442"/>
                          <a:gd name="T59" fmla="*/ 1 h 1645"/>
                          <a:gd name="T60" fmla="*/ 1 w 1442"/>
                          <a:gd name="T61" fmla="*/ 1 h 1645"/>
                          <a:gd name="T62" fmla="*/ 1 w 1442"/>
                          <a:gd name="T63" fmla="*/ 1 h 1645"/>
                          <a:gd name="T64" fmla="*/ 1 w 1442"/>
                          <a:gd name="T65" fmla="*/ 1 h 1645"/>
                          <a:gd name="T66" fmla="*/ 1 w 1442"/>
                          <a:gd name="T67" fmla="*/ 1 h 1645"/>
                          <a:gd name="T68" fmla="*/ 1 w 1442"/>
                          <a:gd name="T69" fmla="*/ 1 h 1645"/>
                          <a:gd name="T70" fmla="*/ 1 w 1442"/>
                          <a:gd name="T71" fmla="*/ 1 h 1645"/>
                          <a:gd name="T72" fmla="*/ 1 w 1442"/>
                          <a:gd name="T73" fmla="*/ 1 h 1645"/>
                          <a:gd name="T74" fmla="*/ 1 w 1442"/>
                          <a:gd name="T75" fmla="*/ 1 h 1645"/>
                          <a:gd name="T76" fmla="*/ 1 w 1442"/>
                          <a:gd name="T77" fmla="*/ 1 h 1645"/>
                          <a:gd name="T78" fmla="*/ 1 w 1442"/>
                          <a:gd name="T79" fmla="*/ 1 h 1645"/>
                          <a:gd name="T80" fmla="*/ 1 w 1442"/>
                          <a:gd name="T81" fmla="*/ 1 h 1645"/>
                          <a:gd name="T82" fmla="*/ 1 w 1442"/>
                          <a:gd name="T83" fmla="*/ 1 h 1645"/>
                          <a:gd name="T84" fmla="*/ 1 w 1442"/>
                          <a:gd name="T85" fmla="*/ 1 h 1645"/>
                          <a:gd name="T86" fmla="*/ 1 w 1442"/>
                          <a:gd name="T87" fmla="*/ 1 h 1645"/>
                          <a:gd name="T88" fmla="*/ 1 w 1442"/>
                          <a:gd name="T89" fmla="*/ 1 h 1645"/>
                          <a:gd name="T90" fmla="*/ 1 w 1442"/>
                          <a:gd name="T91" fmla="*/ 1 h 1645"/>
                          <a:gd name="T92" fmla="*/ 1 w 1442"/>
                          <a:gd name="T93" fmla="*/ 1 h 1645"/>
                          <a:gd name="T94" fmla="*/ 1 w 1442"/>
                          <a:gd name="T95" fmla="*/ 1 h 1645"/>
                          <a:gd name="T96" fmla="*/ 1 w 1442"/>
                          <a:gd name="T97" fmla="*/ 1 h 1645"/>
                          <a:gd name="T98" fmla="*/ 0 w 1442"/>
                          <a:gd name="T99" fmla="*/ 1 h 1645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  <a:gd name="T150" fmla="*/ 0 w 1442"/>
                          <a:gd name="T151" fmla="*/ 0 h 1645"/>
                          <a:gd name="T152" fmla="*/ 1442 w 1442"/>
                          <a:gd name="T153" fmla="*/ 1645 h 1645"/>
                        </a:gdLst>
                        <a:ahLst/>
                        <a:cxnLst>
                          <a:cxn ang="T100">
                            <a:pos x="T0" y="T1"/>
                          </a:cxn>
                          <a:cxn ang="T101">
                            <a:pos x="T2" y="T3"/>
                          </a:cxn>
                          <a:cxn ang="T102">
                            <a:pos x="T4" y="T5"/>
                          </a:cxn>
                          <a:cxn ang="T103">
                            <a:pos x="T6" y="T7"/>
                          </a:cxn>
                          <a:cxn ang="T104">
                            <a:pos x="T8" y="T9"/>
                          </a:cxn>
                          <a:cxn ang="T105">
                            <a:pos x="T10" y="T11"/>
                          </a:cxn>
                          <a:cxn ang="T106">
                            <a:pos x="T12" y="T13"/>
                          </a:cxn>
                          <a:cxn ang="T107">
                            <a:pos x="T14" y="T15"/>
                          </a:cxn>
                          <a:cxn ang="T108">
                            <a:pos x="T16" y="T17"/>
                          </a:cxn>
                          <a:cxn ang="T109">
                            <a:pos x="T18" y="T19"/>
                          </a:cxn>
                          <a:cxn ang="T110">
                            <a:pos x="T20" y="T21"/>
                          </a:cxn>
                          <a:cxn ang="T111">
                            <a:pos x="T22" y="T23"/>
                          </a:cxn>
                          <a:cxn ang="T112">
                            <a:pos x="T24" y="T25"/>
                          </a:cxn>
                          <a:cxn ang="T113">
                            <a:pos x="T26" y="T27"/>
                          </a:cxn>
                          <a:cxn ang="T114">
                            <a:pos x="T28" y="T29"/>
                          </a:cxn>
                          <a:cxn ang="T115">
                            <a:pos x="T30" y="T31"/>
                          </a:cxn>
                          <a:cxn ang="T116">
                            <a:pos x="T32" y="T33"/>
                          </a:cxn>
                          <a:cxn ang="T117">
                            <a:pos x="T34" y="T35"/>
                          </a:cxn>
                          <a:cxn ang="T118">
                            <a:pos x="T36" y="T37"/>
                          </a:cxn>
                          <a:cxn ang="T119">
                            <a:pos x="T38" y="T39"/>
                          </a:cxn>
                          <a:cxn ang="T120">
                            <a:pos x="T40" y="T41"/>
                          </a:cxn>
                          <a:cxn ang="T121">
                            <a:pos x="T42" y="T43"/>
                          </a:cxn>
                          <a:cxn ang="T122">
                            <a:pos x="T44" y="T45"/>
                          </a:cxn>
                          <a:cxn ang="T123">
                            <a:pos x="T46" y="T47"/>
                          </a:cxn>
                          <a:cxn ang="T124">
                            <a:pos x="T48" y="T49"/>
                          </a:cxn>
                          <a:cxn ang="T125">
                            <a:pos x="T50" y="T51"/>
                          </a:cxn>
                          <a:cxn ang="T126">
                            <a:pos x="T52" y="T53"/>
                          </a:cxn>
                          <a:cxn ang="T127">
                            <a:pos x="T54" y="T55"/>
                          </a:cxn>
                          <a:cxn ang="T128">
                            <a:pos x="T56" y="T57"/>
                          </a:cxn>
                          <a:cxn ang="T129">
                            <a:pos x="T58" y="T59"/>
                          </a:cxn>
                          <a:cxn ang="T130">
                            <a:pos x="T60" y="T61"/>
                          </a:cxn>
                          <a:cxn ang="T131">
                            <a:pos x="T62" y="T63"/>
                          </a:cxn>
                          <a:cxn ang="T132">
                            <a:pos x="T64" y="T65"/>
                          </a:cxn>
                          <a:cxn ang="T133">
                            <a:pos x="T66" y="T67"/>
                          </a:cxn>
                          <a:cxn ang="T134">
                            <a:pos x="T68" y="T69"/>
                          </a:cxn>
                          <a:cxn ang="T135">
                            <a:pos x="T70" y="T71"/>
                          </a:cxn>
                          <a:cxn ang="T136">
                            <a:pos x="T72" y="T73"/>
                          </a:cxn>
                          <a:cxn ang="T137">
                            <a:pos x="T74" y="T75"/>
                          </a:cxn>
                          <a:cxn ang="T138">
                            <a:pos x="T76" y="T77"/>
                          </a:cxn>
                          <a:cxn ang="T139">
                            <a:pos x="T78" y="T79"/>
                          </a:cxn>
                          <a:cxn ang="T140">
                            <a:pos x="T80" y="T81"/>
                          </a:cxn>
                          <a:cxn ang="T141">
                            <a:pos x="T82" y="T83"/>
                          </a:cxn>
                          <a:cxn ang="T142">
                            <a:pos x="T84" y="T85"/>
                          </a:cxn>
                          <a:cxn ang="T143">
                            <a:pos x="T86" y="T87"/>
                          </a:cxn>
                          <a:cxn ang="T144">
                            <a:pos x="T88" y="T89"/>
                          </a:cxn>
                          <a:cxn ang="T145">
                            <a:pos x="T90" y="T91"/>
                          </a:cxn>
                          <a:cxn ang="T146">
                            <a:pos x="T92" y="T93"/>
                          </a:cxn>
                          <a:cxn ang="T147">
                            <a:pos x="T94" y="T95"/>
                          </a:cxn>
                          <a:cxn ang="T148">
                            <a:pos x="T96" y="T97"/>
                          </a:cxn>
                          <a:cxn ang="T149">
                            <a:pos x="T98" y="T99"/>
                          </a:cxn>
                        </a:cxnLst>
                        <a:rect l="T150" t="T151" r="T152" b="T153"/>
                        <a:pathLst>
                          <a:path w="1442" h="1645">
                            <a:moveTo>
                              <a:pt x="0" y="1375"/>
                            </a:moveTo>
                            <a:lnTo>
                              <a:pt x="140" y="1196"/>
                            </a:lnTo>
                            <a:lnTo>
                              <a:pt x="238" y="1089"/>
                            </a:lnTo>
                            <a:lnTo>
                              <a:pt x="300" y="1011"/>
                            </a:lnTo>
                            <a:lnTo>
                              <a:pt x="305" y="918"/>
                            </a:lnTo>
                            <a:lnTo>
                              <a:pt x="276" y="840"/>
                            </a:lnTo>
                            <a:lnTo>
                              <a:pt x="233" y="773"/>
                            </a:lnTo>
                            <a:lnTo>
                              <a:pt x="213" y="710"/>
                            </a:lnTo>
                            <a:lnTo>
                              <a:pt x="191" y="663"/>
                            </a:lnTo>
                            <a:lnTo>
                              <a:pt x="170" y="554"/>
                            </a:lnTo>
                            <a:lnTo>
                              <a:pt x="172" y="485"/>
                            </a:lnTo>
                            <a:lnTo>
                              <a:pt x="182" y="387"/>
                            </a:lnTo>
                            <a:lnTo>
                              <a:pt x="211" y="304"/>
                            </a:lnTo>
                            <a:lnTo>
                              <a:pt x="257" y="216"/>
                            </a:lnTo>
                            <a:lnTo>
                              <a:pt x="305" y="165"/>
                            </a:lnTo>
                            <a:lnTo>
                              <a:pt x="379" y="97"/>
                            </a:lnTo>
                            <a:lnTo>
                              <a:pt x="484" y="48"/>
                            </a:lnTo>
                            <a:lnTo>
                              <a:pt x="577" y="22"/>
                            </a:lnTo>
                            <a:lnTo>
                              <a:pt x="689" y="1"/>
                            </a:lnTo>
                            <a:lnTo>
                              <a:pt x="801" y="0"/>
                            </a:lnTo>
                            <a:lnTo>
                              <a:pt x="891" y="8"/>
                            </a:lnTo>
                            <a:lnTo>
                              <a:pt x="1003" y="34"/>
                            </a:lnTo>
                            <a:lnTo>
                              <a:pt x="1108" y="71"/>
                            </a:lnTo>
                            <a:lnTo>
                              <a:pt x="1183" y="112"/>
                            </a:lnTo>
                            <a:lnTo>
                              <a:pt x="1271" y="182"/>
                            </a:lnTo>
                            <a:lnTo>
                              <a:pt x="1344" y="273"/>
                            </a:lnTo>
                            <a:lnTo>
                              <a:pt x="1393" y="366"/>
                            </a:lnTo>
                            <a:lnTo>
                              <a:pt x="1425" y="433"/>
                            </a:lnTo>
                            <a:lnTo>
                              <a:pt x="1442" y="551"/>
                            </a:lnTo>
                            <a:lnTo>
                              <a:pt x="1437" y="674"/>
                            </a:lnTo>
                            <a:lnTo>
                              <a:pt x="1426" y="768"/>
                            </a:lnTo>
                            <a:lnTo>
                              <a:pt x="1393" y="891"/>
                            </a:lnTo>
                            <a:lnTo>
                              <a:pt x="1350" y="1015"/>
                            </a:lnTo>
                            <a:lnTo>
                              <a:pt x="1297" y="1109"/>
                            </a:lnTo>
                            <a:lnTo>
                              <a:pt x="1226" y="1210"/>
                            </a:lnTo>
                            <a:lnTo>
                              <a:pt x="1141" y="1272"/>
                            </a:lnTo>
                            <a:lnTo>
                              <a:pt x="1056" y="1304"/>
                            </a:lnTo>
                            <a:lnTo>
                              <a:pt x="962" y="1324"/>
                            </a:lnTo>
                            <a:lnTo>
                              <a:pt x="879" y="1323"/>
                            </a:lnTo>
                            <a:lnTo>
                              <a:pt x="811" y="1298"/>
                            </a:lnTo>
                            <a:lnTo>
                              <a:pt x="752" y="1265"/>
                            </a:lnTo>
                            <a:lnTo>
                              <a:pt x="724" y="1254"/>
                            </a:lnTo>
                            <a:lnTo>
                              <a:pt x="748" y="1319"/>
                            </a:lnTo>
                            <a:lnTo>
                              <a:pt x="791" y="1381"/>
                            </a:lnTo>
                            <a:lnTo>
                              <a:pt x="811" y="1469"/>
                            </a:lnTo>
                            <a:lnTo>
                              <a:pt x="811" y="1645"/>
                            </a:lnTo>
                            <a:lnTo>
                              <a:pt x="625" y="1631"/>
                            </a:lnTo>
                            <a:lnTo>
                              <a:pt x="441" y="1557"/>
                            </a:lnTo>
                            <a:lnTo>
                              <a:pt x="305" y="1474"/>
                            </a:lnTo>
                            <a:lnTo>
                              <a:pt x="0" y="1375"/>
                            </a:lnTo>
                            <a:close/>
                          </a:path>
                        </a:pathLst>
                      </a:custGeom>
                      <a:solidFill>
                        <a:srgbClr val="E0A080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504" name="Freeform 1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3" y="2952"/>
                        <a:ext cx="43" cy="139"/>
                      </a:xfrm>
                      <a:custGeom>
                        <a:avLst/>
                        <a:gdLst>
                          <a:gd name="T0" fmla="*/ 1 w 86"/>
                          <a:gd name="T1" fmla="*/ 1 h 277"/>
                          <a:gd name="T2" fmla="*/ 1 w 86"/>
                          <a:gd name="T3" fmla="*/ 1 h 277"/>
                          <a:gd name="T4" fmla="*/ 1 w 86"/>
                          <a:gd name="T5" fmla="*/ 1 h 277"/>
                          <a:gd name="T6" fmla="*/ 1 w 86"/>
                          <a:gd name="T7" fmla="*/ 1 h 277"/>
                          <a:gd name="T8" fmla="*/ 0 w 86"/>
                          <a:gd name="T9" fmla="*/ 1 h 277"/>
                          <a:gd name="T10" fmla="*/ 1 w 86"/>
                          <a:gd name="T11" fmla="*/ 1 h 277"/>
                          <a:gd name="T12" fmla="*/ 1 w 86"/>
                          <a:gd name="T13" fmla="*/ 1 h 277"/>
                          <a:gd name="T14" fmla="*/ 1 w 86"/>
                          <a:gd name="T15" fmla="*/ 1 h 277"/>
                          <a:gd name="T16" fmla="*/ 1 w 86"/>
                          <a:gd name="T17" fmla="*/ 0 h 27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86"/>
                          <a:gd name="T28" fmla="*/ 0 h 277"/>
                          <a:gd name="T29" fmla="*/ 86 w 86"/>
                          <a:gd name="T30" fmla="*/ 277 h 27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86" h="277">
                            <a:moveTo>
                              <a:pt x="86" y="277"/>
                            </a:moveTo>
                            <a:lnTo>
                              <a:pt x="46" y="265"/>
                            </a:lnTo>
                            <a:lnTo>
                              <a:pt x="24" y="241"/>
                            </a:lnTo>
                            <a:lnTo>
                              <a:pt x="7" y="202"/>
                            </a:lnTo>
                            <a:lnTo>
                              <a:pt x="0" y="153"/>
                            </a:lnTo>
                            <a:lnTo>
                              <a:pt x="3" y="96"/>
                            </a:lnTo>
                            <a:lnTo>
                              <a:pt x="16" y="60"/>
                            </a:lnTo>
                            <a:lnTo>
                              <a:pt x="39" y="24"/>
                            </a:lnTo>
                            <a:lnTo>
                              <a:pt x="65" y="0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8483" name="Group 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9" y="2649"/>
                      <a:ext cx="630" cy="526"/>
                      <a:chOff x="1159" y="2649"/>
                      <a:chExt cx="630" cy="526"/>
                    </a:xfrm>
                  </p:grpSpPr>
                  <p:grpSp>
                    <p:nvGrpSpPr>
                      <p:cNvPr id="18484" name="Group 1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14" y="2649"/>
                        <a:ext cx="414" cy="152"/>
                        <a:chOff x="1314" y="2649"/>
                        <a:chExt cx="414" cy="152"/>
                      </a:xfrm>
                    </p:grpSpPr>
                    <p:sp>
                      <p:nvSpPr>
                        <p:cNvPr id="18501" name="Freeform 1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2671"/>
                          <a:ext cx="384" cy="130"/>
                        </a:xfrm>
                        <a:custGeom>
                          <a:avLst/>
                          <a:gdLst>
                            <a:gd name="T0" fmla="*/ 0 w 768"/>
                            <a:gd name="T1" fmla="*/ 1 h 259"/>
                            <a:gd name="T2" fmla="*/ 1 w 768"/>
                            <a:gd name="T3" fmla="*/ 1 h 259"/>
                            <a:gd name="T4" fmla="*/ 1 w 768"/>
                            <a:gd name="T5" fmla="*/ 1 h 259"/>
                            <a:gd name="T6" fmla="*/ 1 w 768"/>
                            <a:gd name="T7" fmla="*/ 1 h 259"/>
                            <a:gd name="T8" fmla="*/ 1 w 768"/>
                            <a:gd name="T9" fmla="*/ 1 h 259"/>
                            <a:gd name="T10" fmla="*/ 1 w 768"/>
                            <a:gd name="T11" fmla="*/ 1 h 259"/>
                            <a:gd name="T12" fmla="*/ 1 w 768"/>
                            <a:gd name="T13" fmla="*/ 0 h 259"/>
                            <a:gd name="T14" fmla="*/ 1 w 768"/>
                            <a:gd name="T15" fmla="*/ 1 h 259"/>
                            <a:gd name="T16" fmla="*/ 1 w 768"/>
                            <a:gd name="T17" fmla="*/ 1 h 259"/>
                            <a:gd name="T18" fmla="*/ 0 60000 65536"/>
                            <a:gd name="T19" fmla="*/ 0 60000 65536"/>
                            <a:gd name="T20" fmla="*/ 0 60000 65536"/>
                            <a:gd name="T21" fmla="*/ 0 60000 65536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  <a:gd name="T27" fmla="*/ 0 w 768"/>
                            <a:gd name="T28" fmla="*/ 0 h 259"/>
                            <a:gd name="T29" fmla="*/ 768 w 768"/>
                            <a:gd name="T30" fmla="*/ 259 h 259"/>
                          </a:gdLst>
                          <a:ahLst/>
                          <a:cxnLst>
                            <a:cxn ang="T18">
                              <a:pos x="T0" y="T1"/>
                            </a:cxn>
                            <a:cxn ang="T19">
                              <a:pos x="T2" y="T3"/>
                            </a:cxn>
                            <a:cxn ang="T20">
                              <a:pos x="T4" y="T5"/>
                            </a:cxn>
                            <a:cxn ang="T21">
                              <a:pos x="T6" y="T7"/>
                            </a:cxn>
                            <a:cxn ang="T22">
                              <a:pos x="T8" y="T9"/>
                            </a:cxn>
                            <a:cxn ang="T23">
                              <a:pos x="T10" y="T11"/>
                            </a:cxn>
                            <a:cxn ang="T24">
                              <a:pos x="T12" y="T13"/>
                            </a:cxn>
                            <a:cxn ang="T25">
                              <a:pos x="T14" y="T15"/>
                            </a:cxn>
                            <a:cxn ang="T26">
                              <a:pos x="T16" y="T17"/>
                            </a:cxn>
                          </a:cxnLst>
                          <a:rect l="T27" t="T28" r="T29" b="T30"/>
                          <a:pathLst>
                            <a:path w="768" h="259">
                              <a:moveTo>
                                <a:pt x="0" y="259"/>
                              </a:moveTo>
                              <a:lnTo>
                                <a:pt x="64" y="176"/>
                              </a:lnTo>
                              <a:lnTo>
                                <a:pt x="140" y="115"/>
                              </a:lnTo>
                              <a:lnTo>
                                <a:pt x="229" y="64"/>
                              </a:lnTo>
                              <a:lnTo>
                                <a:pt x="321" y="29"/>
                              </a:lnTo>
                              <a:lnTo>
                                <a:pt x="427" y="11"/>
                              </a:lnTo>
                              <a:lnTo>
                                <a:pt x="556" y="0"/>
                              </a:lnTo>
                              <a:lnTo>
                                <a:pt x="649" y="16"/>
                              </a:lnTo>
                              <a:lnTo>
                                <a:pt x="768" y="56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804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8502" name="Freeform 2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14" y="2649"/>
                          <a:ext cx="389" cy="142"/>
                        </a:xfrm>
                        <a:custGeom>
                          <a:avLst/>
                          <a:gdLst>
                            <a:gd name="T0" fmla="*/ 0 w 776"/>
                            <a:gd name="T1" fmla="*/ 0 h 285"/>
                            <a:gd name="T2" fmla="*/ 1 w 776"/>
                            <a:gd name="T3" fmla="*/ 0 h 285"/>
                            <a:gd name="T4" fmla="*/ 1 w 776"/>
                            <a:gd name="T5" fmla="*/ 0 h 285"/>
                            <a:gd name="T6" fmla="*/ 1 w 776"/>
                            <a:gd name="T7" fmla="*/ 0 h 285"/>
                            <a:gd name="T8" fmla="*/ 1 w 776"/>
                            <a:gd name="T9" fmla="*/ 0 h 285"/>
                            <a:gd name="T10" fmla="*/ 1 w 776"/>
                            <a:gd name="T11" fmla="*/ 0 h 285"/>
                            <a:gd name="T12" fmla="*/ 1 w 776"/>
                            <a:gd name="T13" fmla="*/ 0 h 285"/>
                            <a:gd name="T14" fmla="*/ 1 w 776"/>
                            <a:gd name="T15" fmla="*/ 0 h 285"/>
                            <a:gd name="T16" fmla="*/ 1 w 776"/>
                            <a:gd name="T17" fmla="*/ 0 h 285"/>
                            <a:gd name="T18" fmla="*/ 1 w 776"/>
                            <a:gd name="T19" fmla="*/ 0 h 285"/>
                            <a:gd name="T20" fmla="*/ 1 w 776"/>
                            <a:gd name="T21" fmla="*/ 0 h 285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  <a:gd name="T27" fmla="*/ 0 60000 65536"/>
                            <a:gd name="T28" fmla="*/ 0 60000 65536"/>
                            <a:gd name="T29" fmla="*/ 0 60000 65536"/>
                            <a:gd name="T30" fmla="*/ 0 60000 65536"/>
                            <a:gd name="T31" fmla="*/ 0 60000 65536"/>
                            <a:gd name="T32" fmla="*/ 0 60000 65536"/>
                            <a:gd name="T33" fmla="*/ 0 w 776"/>
                            <a:gd name="T34" fmla="*/ 0 h 285"/>
                            <a:gd name="T35" fmla="*/ 776 w 776"/>
                            <a:gd name="T36" fmla="*/ 285 h 285"/>
                          </a:gdLst>
                          <a:ahLst/>
                          <a:cxnLst>
                            <a:cxn ang="T22">
                              <a:pos x="T0" y="T1"/>
                            </a:cxn>
                            <a:cxn ang="T23">
                              <a:pos x="T2" y="T3"/>
                            </a:cxn>
                            <a:cxn ang="T24">
                              <a:pos x="T4" y="T5"/>
                            </a:cxn>
                            <a:cxn ang="T25">
                              <a:pos x="T6" y="T7"/>
                            </a:cxn>
                            <a:cxn ang="T26">
                              <a:pos x="T8" y="T9"/>
                            </a:cxn>
                            <a:cxn ang="T27">
                              <a:pos x="T10" y="T11"/>
                            </a:cxn>
                            <a:cxn ang="T28">
                              <a:pos x="T12" y="T13"/>
                            </a:cxn>
                            <a:cxn ang="T29">
                              <a:pos x="T14" y="T15"/>
                            </a:cxn>
                            <a:cxn ang="T30">
                              <a:pos x="T16" y="T17"/>
                            </a:cxn>
                            <a:cxn ang="T31">
                              <a:pos x="T18" y="T19"/>
                            </a:cxn>
                            <a:cxn ang="T32">
                              <a:pos x="T20" y="T21"/>
                            </a:cxn>
                          </a:cxnLst>
                          <a:rect l="T33" t="T34" r="T35" b="T36"/>
                          <a:pathLst>
                            <a:path w="776" h="285">
                              <a:moveTo>
                                <a:pt x="0" y="285"/>
                              </a:moveTo>
                              <a:lnTo>
                                <a:pt x="40" y="205"/>
                              </a:lnTo>
                              <a:lnTo>
                                <a:pt x="88" y="141"/>
                              </a:lnTo>
                              <a:lnTo>
                                <a:pt x="147" y="84"/>
                              </a:lnTo>
                              <a:lnTo>
                                <a:pt x="227" y="35"/>
                              </a:lnTo>
                              <a:lnTo>
                                <a:pt x="341" y="5"/>
                              </a:lnTo>
                              <a:lnTo>
                                <a:pt x="450" y="0"/>
                              </a:lnTo>
                              <a:lnTo>
                                <a:pt x="568" y="14"/>
                              </a:lnTo>
                              <a:lnTo>
                                <a:pt x="668" y="38"/>
                              </a:lnTo>
                              <a:lnTo>
                                <a:pt x="726" y="62"/>
                              </a:lnTo>
                              <a:lnTo>
                                <a:pt x="776" y="86"/>
                              </a:lnTo>
                            </a:path>
                          </a:pathLst>
                        </a:custGeom>
                        <a:noFill/>
                        <a:ln w="6350">
                          <a:solidFill>
                            <a:srgbClr val="804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18485" name="Group 2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9" y="2743"/>
                        <a:ext cx="630" cy="432"/>
                        <a:chOff x="1159" y="2743"/>
                        <a:chExt cx="630" cy="432"/>
                      </a:xfrm>
                    </p:grpSpPr>
                    <p:grpSp>
                      <p:nvGrpSpPr>
                        <p:cNvPr id="18486" name="Group 2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59" y="2743"/>
                          <a:ext cx="225" cy="249"/>
                          <a:chOff x="1159" y="2743"/>
                          <a:chExt cx="225" cy="249"/>
                        </a:xfrm>
                      </p:grpSpPr>
                      <p:sp>
                        <p:nvSpPr>
                          <p:cNvPr id="18494" name="Freeform 2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159" y="2743"/>
                            <a:ext cx="225" cy="249"/>
                          </a:xfrm>
                          <a:custGeom>
                            <a:avLst/>
                            <a:gdLst>
                              <a:gd name="T0" fmla="*/ 1 w 449"/>
                              <a:gd name="T1" fmla="*/ 1 h 498"/>
                              <a:gd name="T2" fmla="*/ 1 w 449"/>
                              <a:gd name="T3" fmla="*/ 1 h 498"/>
                              <a:gd name="T4" fmla="*/ 1 w 449"/>
                              <a:gd name="T5" fmla="*/ 1 h 498"/>
                              <a:gd name="T6" fmla="*/ 1 w 449"/>
                              <a:gd name="T7" fmla="*/ 1 h 498"/>
                              <a:gd name="T8" fmla="*/ 1 w 449"/>
                              <a:gd name="T9" fmla="*/ 0 h 498"/>
                              <a:gd name="T10" fmla="*/ 1 w 449"/>
                              <a:gd name="T11" fmla="*/ 1 h 498"/>
                              <a:gd name="T12" fmla="*/ 1 w 449"/>
                              <a:gd name="T13" fmla="*/ 1 h 498"/>
                              <a:gd name="T14" fmla="*/ 1 w 449"/>
                              <a:gd name="T15" fmla="*/ 1 h 498"/>
                              <a:gd name="T16" fmla="*/ 1 w 449"/>
                              <a:gd name="T17" fmla="*/ 1 h 498"/>
                              <a:gd name="T18" fmla="*/ 1 w 449"/>
                              <a:gd name="T19" fmla="*/ 1 h 498"/>
                              <a:gd name="T20" fmla="*/ 1 w 449"/>
                              <a:gd name="T21" fmla="*/ 1 h 498"/>
                              <a:gd name="T22" fmla="*/ 1 w 449"/>
                              <a:gd name="T23" fmla="*/ 1 h 498"/>
                              <a:gd name="T24" fmla="*/ 1 w 449"/>
                              <a:gd name="T25" fmla="*/ 1 h 498"/>
                              <a:gd name="T26" fmla="*/ 1 w 449"/>
                              <a:gd name="T27" fmla="*/ 1 h 498"/>
                              <a:gd name="T28" fmla="*/ 1 w 449"/>
                              <a:gd name="T29" fmla="*/ 1 h 498"/>
                              <a:gd name="T30" fmla="*/ 1 w 449"/>
                              <a:gd name="T31" fmla="*/ 1 h 498"/>
                              <a:gd name="T32" fmla="*/ 1 w 449"/>
                              <a:gd name="T33" fmla="*/ 1 h 498"/>
                              <a:gd name="T34" fmla="*/ 1 w 449"/>
                              <a:gd name="T35" fmla="*/ 1 h 498"/>
                              <a:gd name="T36" fmla="*/ 1 w 449"/>
                              <a:gd name="T37" fmla="*/ 1 h 498"/>
                              <a:gd name="T38" fmla="*/ 1 w 449"/>
                              <a:gd name="T39" fmla="*/ 1 h 498"/>
                              <a:gd name="T40" fmla="*/ 1 w 449"/>
                              <a:gd name="T41" fmla="*/ 1 h 498"/>
                              <a:gd name="T42" fmla="*/ 1 w 449"/>
                              <a:gd name="T43" fmla="*/ 1 h 498"/>
                              <a:gd name="T44" fmla="*/ 1 w 449"/>
                              <a:gd name="T45" fmla="*/ 1 h 498"/>
                              <a:gd name="T46" fmla="*/ 1 w 449"/>
                              <a:gd name="T47" fmla="*/ 1 h 498"/>
                              <a:gd name="T48" fmla="*/ 1 w 449"/>
                              <a:gd name="T49" fmla="*/ 1 h 498"/>
                              <a:gd name="T50" fmla="*/ 1 w 449"/>
                              <a:gd name="T51" fmla="*/ 1 h 498"/>
                              <a:gd name="T52" fmla="*/ 1 w 449"/>
                              <a:gd name="T53" fmla="*/ 1 h 498"/>
                              <a:gd name="T54" fmla="*/ 1 w 449"/>
                              <a:gd name="T55" fmla="*/ 1 h 498"/>
                              <a:gd name="T56" fmla="*/ 1 w 449"/>
                              <a:gd name="T57" fmla="*/ 1 h 498"/>
                              <a:gd name="T58" fmla="*/ 1 w 449"/>
                              <a:gd name="T59" fmla="*/ 1 h 498"/>
                              <a:gd name="T60" fmla="*/ 1 w 449"/>
                              <a:gd name="T61" fmla="*/ 1 h 498"/>
                              <a:gd name="T62" fmla="*/ 1 w 449"/>
                              <a:gd name="T63" fmla="*/ 1 h 498"/>
                              <a:gd name="T64" fmla="*/ 1 w 449"/>
                              <a:gd name="T65" fmla="*/ 1 h 498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w 449"/>
                              <a:gd name="T100" fmla="*/ 0 h 498"/>
                              <a:gd name="T101" fmla="*/ 449 w 449"/>
                              <a:gd name="T102" fmla="*/ 498 h 498"/>
                            </a:gdLst>
                            <a:ahLst/>
                            <a:cxnLst>
                              <a:cxn ang="T66">
                                <a:pos x="T0" y="T1"/>
                              </a:cxn>
                              <a:cxn ang="T67">
                                <a:pos x="T2" y="T3"/>
                              </a:cxn>
                              <a:cxn ang="T68">
                                <a:pos x="T4" y="T5"/>
                              </a:cxn>
                              <a:cxn ang="T69">
                                <a:pos x="T6" y="T7"/>
                              </a:cxn>
                              <a:cxn ang="T70">
                                <a:pos x="T8" y="T9"/>
                              </a:cxn>
                              <a:cxn ang="T71">
                                <a:pos x="T10" y="T11"/>
                              </a:cxn>
                              <a:cxn ang="T72">
                                <a:pos x="T12" y="T13"/>
                              </a:cxn>
                              <a:cxn ang="T73">
                                <a:pos x="T14" y="T15"/>
                              </a:cxn>
                              <a:cxn ang="T74">
                                <a:pos x="T16" y="T17"/>
                              </a:cxn>
                              <a:cxn ang="T75">
                                <a:pos x="T18" y="T19"/>
                              </a:cxn>
                              <a:cxn ang="T76">
                                <a:pos x="T20" y="T21"/>
                              </a:cxn>
                              <a:cxn ang="T77">
                                <a:pos x="T22" y="T23"/>
                              </a:cxn>
                              <a:cxn ang="T78">
                                <a:pos x="T24" y="T25"/>
                              </a:cxn>
                              <a:cxn ang="T79">
                                <a:pos x="T26" y="T27"/>
                              </a:cxn>
                              <a:cxn ang="T80">
                                <a:pos x="T28" y="T29"/>
                              </a:cxn>
                              <a:cxn ang="T81">
                                <a:pos x="T30" y="T31"/>
                              </a:cxn>
                              <a:cxn ang="T82">
                                <a:pos x="T32" y="T33"/>
                              </a:cxn>
                              <a:cxn ang="T83">
                                <a:pos x="T34" y="T35"/>
                              </a:cxn>
                              <a:cxn ang="T84">
                                <a:pos x="T36" y="T37"/>
                              </a:cxn>
                              <a:cxn ang="T85">
                                <a:pos x="T38" y="T39"/>
                              </a:cxn>
                              <a:cxn ang="T86">
                                <a:pos x="T40" y="T41"/>
                              </a:cxn>
                              <a:cxn ang="T87">
                                <a:pos x="T42" y="T43"/>
                              </a:cxn>
                              <a:cxn ang="T88">
                                <a:pos x="T44" y="T45"/>
                              </a:cxn>
                              <a:cxn ang="T89">
                                <a:pos x="T46" y="T47"/>
                              </a:cxn>
                              <a:cxn ang="T90">
                                <a:pos x="T48" y="T49"/>
                              </a:cxn>
                              <a:cxn ang="T91">
                                <a:pos x="T50" y="T51"/>
                              </a:cxn>
                              <a:cxn ang="T92">
                                <a:pos x="T52" y="T53"/>
                              </a:cxn>
                              <a:cxn ang="T93">
                                <a:pos x="T54" y="T55"/>
                              </a:cxn>
                              <a:cxn ang="T94">
                                <a:pos x="T56" y="T57"/>
                              </a:cxn>
                              <a:cxn ang="T95">
                                <a:pos x="T58" y="T59"/>
                              </a:cxn>
                              <a:cxn ang="T96">
                                <a:pos x="T60" y="T61"/>
                              </a:cxn>
                              <a:cxn ang="T97">
                                <a:pos x="T62" y="T63"/>
                              </a:cxn>
                              <a:cxn ang="T98">
                                <a:pos x="T64" y="T65"/>
                              </a:cxn>
                            </a:cxnLst>
                            <a:rect l="T99" t="T100" r="T101" b="T102"/>
                            <a:pathLst>
                              <a:path w="449" h="498">
                                <a:moveTo>
                                  <a:pt x="83" y="472"/>
                                </a:moveTo>
                                <a:lnTo>
                                  <a:pt x="24" y="408"/>
                                </a:lnTo>
                                <a:lnTo>
                                  <a:pt x="0" y="323"/>
                                </a:lnTo>
                                <a:lnTo>
                                  <a:pt x="16" y="215"/>
                                </a:lnTo>
                                <a:lnTo>
                                  <a:pt x="49" y="134"/>
                                </a:lnTo>
                                <a:lnTo>
                                  <a:pt x="75" y="93"/>
                                </a:lnTo>
                                <a:lnTo>
                                  <a:pt x="104" y="40"/>
                                </a:lnTo>
                                <a:lnTo>
                                  <a:pt x="119" y="23"/>
                                </a:lnTo>
                                <a:lnTo>
                                  <a:pt x="140" y="1"/>
                                </a:lnTo>
                                <a:lnTo>
                                  <a:pt x="162" y="0"/>
                                </a:lnTo>
                                <a:lnTo>
                                  <a:pt x="174" y="19"/>
                                </a:lnTo>
                                <a:lnTo>
                                  <a:pt x="185" y="44"/>
                                </a:lnTo>
                                <a:lnTo>
                                  <a:pt x="195" y="28"/>
                                </a:lnTo>
                                <a:lnTo>
                                  <a:pt x="220" y="25"/>
                                </a:lnTo>
                                <a:lnTo>
                                  <a:pt x="235" y="44"/>
                                </a:lnTo>
                                <a:lnTo>
                                  <a:pt x="242" y="70"/>
                                </a:lnTo>
                                <a:lnTo>
                                  <a:pt x="248" y="110"/>
                                </a:lnTo>
                                <a:lnTo>
                                  <a:pt x="265" y="99"/>
                                </a:lnTo>
                                <a:lnTo>
                                  <a:pt x="286" y="113"/>
                                </a:lnTo>
                                <a:lnTo>
                                  <a:pt x="291" y="126"/>
                                </a:lnTo>
                                <a:lnTo>
                                  <a:pt x="290" y="149"/>
                                </a:lnTo>
                                <a:lnTo>
                                  <a:pt x="286" y="168"/>
                                </a:lnTo>
                                <a:lnTo>
                                  <a:pt x="300" y="152"/>
                                </a:lnTo>
                                <a:lnTo>
                                  <a:pt x="319" y="142"/>
                                </a:lnTo>
                                <a:lnTo>
                                  <a:pt x="348" y="149"/>
                                </a:lnTo>
                                <a:lnTo>
                                  <a:pt x="351" y="166"/>
                                </a:lnTo>
                                <a:lnTo>
                                  <a:pt x="354" y="181"/>
                                </a:lnTo>
                                <a:lnTo>
                                  <a:pt x="354" y="200"/>
                                </a:lnTo>
                                <a:lnTo>
                                  <a:pt x="371" y="194"/>
                                </a:lnTo>
                                <a:lnTo>
                                  <a:pt x="391" y="205"/>
                                </a:lnTo>
                                <a:lnTo>
                                  <a:pt x="399" y="220"/>
                                </a:lnTo>
                                <a:lnTo>
                                  <a:pt x="404" y="245"/>
                                </a:lnTo>
                                <a:lnTo>
                                  <a:pt x="423" y="253"/>
                                </a:lnTo>
                                <a:lnTo>
                                  <a:pt x="433" y="283"/>
                                </a:lnTo>
                                <a:lnTo>
                                  <a:pt x="429" y="312"/>
                                </a:lnTo>
                                <a:lnTo>
                                  <a:pt x="423" y="366"/>
                                </a:lnTo>
                                <a:lnTo>
                                  <a:pt x="427" y="398"/>
                                </a:lnTo>
                                <a:lnTo>
                                  <a:pt x="438" y="422"/>
                                </a:lnTo>
                                <a:lnTo>
                                  <a:pt x="449" y="445"/>
                                </a:lnTo>
                                <a:lnTo>
                                  <a:pt x="446" y="471"/>
                                </a:lnTo>
                                <a:lnTo>
                                  <a:pt x="433" y="491"/>
                                </a:lnTo>
                                <a:lnTo>
                                  <a:pt x="417" y="498"/>
                                </a:lnTo>
                                <a:lnTo>
                                  <a:pt x="398" y="498"/>
                                </a:lnTo>
                                <a:lnTo>
                                  <a:pt x="381" y="492"/>
                                </a:lnTo>
                                <a:lnTo>
                                  <a:pt x="360" y="472"/>
                                </a:lnTo>
                                <a:lnTo>
                                  <a:pt x="351" y="455"/>
                                </a:lnTo>
                                <a:lnTo>
                                  <a:pt x="348" y="445"/>
                                </a:lnTo>
                                <a:lnTo>
                                  <a:pt x="328" y="450"/>
                                </a:lnTo>
                                <a:lnTo>
                                  <a:pt x="306" y="449"/>
                                </a:lnTo>
                                <a:lnTo>
                                  <a:pt x="290" y="440"/>
                                </a:lnTo>
                                <a:lnTo>
                                  <a:pt x="284" y="433"/>
                                </a:lnTo>
                                <a:lnTo>
                                  <a:pt x="265" y="433"/>
                                </a:lnTo>
                                <a:lnTo>
                                  <a:pt x="254" y="428"/>
                                </a:lnTo>
                                <a:lnTo>
                                  <a:pt x="248" y="423"/>
                                </a:lnTo>
                                <a:lnTo>
                                  <a:pt x="233" y="423"/>
                                </a:lnTo>
                                <a:lnTo>
                                  <a:pt x="220" y="417"/>
                                </a:lnTo>
                                <a:lnTo>
                                  <a:pt x="210" y="398"/>
                                </a:lnTo>
                                <a:lnTo>
                                  <a:pt x="200" y="385"/>
                                </a:lnTo>
                                <a:lnTo>
                                  <a:pt x="195" y="398"/>
                                </a:lnTo>
                                <a:lnTo>
                                  <a:pt x="187" y="418"/>
                                </a:lnTo>
                                <a:lnTo>
                                  <a:pt x="172" y="428"/>
                                </a:lnTo>
                                <a:lnTo>
                                  <a:pt x="158" y="429"/>
                                </a:lnTo>
                                <a:lnTo>
                                  <a:pt x="148" y="429"/>
                                </a:lnTo>
                                <a:lnTo>
                                  <a:pt x="144" y="440"/>
                                </a:lnTo>
                                <a:lnTo>
                                  <a:pt x="134" y="455"/>
                                </a:lnTo>
                                <a:lnTo>
                                  <a:pt x="119" y="472"/>
                                </a:lnTo>
                                <a:lnTo>
                                  <a:pt x="83" y="47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18495" name="Group 24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171" y="2756"/>
                            <a:ext cx="169" cy="217"/>
                            <a:chOff x="1171" y="2756"/>
                            <a:chExt cx="169" cy="217"/>
                          </a:xfrm>
                        </p:grpSpPr>
                        <p:sp>
                          <p:nvSpPr>
                            <p:cNvPr id="18496" name="Freeform 2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306" y="2899"/>
                              <a:ext cx="34" cy="46"/>
                            </a:xfrm>
                            <a:custGeom>
                              <a:avLst/>
                              <a:gdLst>
                                <a:gd name="T0" fmla="*/ 1 w 66"/>
                                <a:gd name="T1" fmla="*/ 0 h 93"/>
                                <a:gd name="T2" fmla="*/ 1 w 66"/>
                                <a:gd name="T3" fmla="*/ 0 h 93"/>
                                <a:gd name="T4" fmla="*/ 1 w 66"/>
                                <a:gd name="T5" fmla="*/ 0 h 93"/>
                                <a:gd name="T6" fmla="*/ 1 w 66"/>
                                <a:gd name="T7" fmla="*/ 0 h 93"/>
                                <a:gd name="T8" fmla="*/ 1 w 66"/>
                                <a:gd name="T9" fmla="*/ 0 h 93"/>
                                <a:gd name="T10" fmla="*/ 1 w 66"/>
                                <a:gd name="T11" fmla="*/ 0 h 93"/>
                                <a:gd name="T12" fmla="*/ 0 w 66"/>
                                <a:gd name="T13" fmla="*/ 0 h 93"/>
                                <a:gd name="T14" fmla="*/ 1 w 66"/>
                                <a:gd name="T15" fmla="*/ 0 h 93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66"/>
                                <a:gd name="T25" fmla="*/ 0 h 93"/>
                                <a:gd name="T26" fmla="*/ 66 w 66"/>
                                <a:gd name="T27" fmla="*/ 93 h 93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66" h="93">
                                  <a:moveTo>
                                    <a:pt x="19" y="93"/>
                                  </a:moveTo>
                                  <a:lnTo>
                                    <a:pt x="14" y="47"/>
                                  </a:lnTo>
                                  <a:lnTo>
                                    <a:pt x="29" y="20"/>
                                  </a:lnTo>
                                  <a:lnTo>
                                    <a:pt x="66" y="0"/>
                                  </a:lnTo>
                                  <a:lnTo>
                                    <a:pt x="43" y="4"/>
                                  </a:lnTo>
                                  <a:lnTo>
                                    <a:pt x="12" y="14"/>
                                  </a:lnTo>
                                  <a:lnTo>
                                    <a:pt x="0" y="38"/>
                                  </a:lnTo>
                                  <a:lnTo>
                                    <a:pt x="19" y="9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7" name="Freeform 2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243" y="2827"/>
                              <a:ext cx="54" cy="108"/>
                            </a:xfrm>
                            <a:custGeom>
                              <a:avLst/>
                              <a:gdLst>
                                <a:gd name="T0" fmla="*/ 1 w 108"/>
                                <a:gd name="T1" fmla="*/ 0 h 217"/>
                                <a:gd name="T2" fmla="*/ 1 w 108"/>
                                <a:gd name="T3" fmla="*/ 0 h 217"/>
                                <a:gd name="T4" fmla="*/ 1 w 108"/>
                                <a:gd name="T5" fmla="*/ 0 h 217"/>
                                <a:gd name="T6" fmla="*/ 1 w 108"/>
                                <a:gd name="T7" fmla="*/ 0 h 217"/>
                                <a:gd name="T8" fmla="*/ 1 w 108"/>
                                <a:gd name="T9" fmla="*/ 0 h 217"/>
                                <a:gd name="T10" fmla="*/ 1 w 108"/>
                                <a:gd name="T11" fmla="*/ 0 h 217"/>
                                <a:gd name="T12" fmla="*/ 1 w 108"/>
                                <a:gd name="T13" fmla="*/ 0 h 217"/>
                                <a:gd name="T14" fmla="*/ 0 w 108"/>
                                <a:gd name="T15" fmla="*/ 0 h 217"/>
                                <a:gd name="T16" fmla="*/ 1 w 108"/>
                                <a:gd name="T17" fmla="*/ 0 h 217"/>
                                <a:gd name="T18" fmla="*/ 1 w 108"/>
                                <a:gd name="T19" fmla="*/ 0 h 217"/>
                                <a:gd name="T20" fmla="*/ 1 w 108"/>
                                <a:gd name="T21" fmla="*/ 0 h 217"/>
                                <a:gd name="T22" fmla="*/ 1 w 108"/>
                                <a:gd name="T23" fmla="*/ 0 h 217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w 108"/>
                                <a:gd name="T37" fmla="*/ 0 h 217"/>
                                <a:gd name="T38" fmla="*/ 108 w 108"/>
                                <a:gd name="T39" fmla="*/ 217 h 217"/>
                              </a:gdLst>
                              <a:ahLst/>
                              <a:cxnLst>
                                <a:cxn ang="T24">
                                  <a:pos x="T0" y="T1"/>
                                </a:cxn>
                                <a:cxn ang="T25">
                                  <a:pos x="T2" y="T3"/>
                                </a:cxn>
                                <a:cxn ang="T26">
                                  <a:pos x="T4" y="T5"/>
                                </a:cxn>
                                <a:cxn ang="T27">
                                  <a:pos x="T6" y="T7"/>
                                </a:cxn>
                                <a:cxn ang="T28">
                                  <a:pos x="T8" y="T9"/>
                                </a:cxn>
                                <a:cxn ang="T29">
                                  <a:pos x="T10" y="T11"/>
                                </a:cxn>
                                <a:cxn ang="T30">
                                  <a:pos x="T12" y="T13"/>
                                </a:cxn>
                                <a:cxn ang="T31">
                                  <a:pos x="T14" y="T15"/>
                                </a:cxn>
                                <a:cxn ang="T32">
                                  <a:pos x="T16" y="T17"/>
                                </a:cxn>
                                <a:cxn ang="T33">
                                  <a:pos x="T18" y="T19"/>
                                </a:cxn>
                                <a:cxn ang="T34">
                                  <a:pos x="T20" y="T21"/>
                                </a:cxn>
                                <a:cxn ang="T35">
                                  <a:pos x="T22" y="T23"/>
                                </a:cxn>
                              </a:cxnLst>
                              <a:rect l="T36" t="T37" r="T38" b="T39"/>
                              <a:pathLst>
                                <a:path w="108" h="217">
                                  <a:moveTo>
                                    <a:pt x="43" y="217"/>
                                  </a:moveTo>
                                  <a:lnTo>
                                    <a:pt x="22" y="171"/>
                                  </a:lnTo>
                                  <a:lnTo>
                                    <a:pt x="26" y="104"/>
                                  </a:lnTo>
                                  <a:lnTo>
                                    <a:pt x="60" y="52"/>
                                  </a:lnTo>
                                  <a:lnTo>
                                    <a:pt x="108" y="0"/>
                                  </a:lnTo>
                                  <a:lnTo>
                                    <a:pt x="81" y="30"/>
                                  </a:lnTo>
                                  <a:lnTo>
                                    <a:pt x="32" y="65"/>
                                  </a:lnTo>
                                  <a:lnTo>
                                    <a:pt x="0" y="97"/>
                                  </a:lnTo>
                                  <a:lnTo>
                                    <a:pt x="5" y="121"/>
                                  </a:lnTo>
                                  <a:lnTo>
                                    <a:pt x="4" y="154"/>
                                  </a:lnTo>
                                  <a:lnTo>
                                    <a:pt x="4" y="186"/>
                                  </a:lnTo>
                                  <a:lnTo>
                                    <a:pt x="43" y="21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8" name="Freeform 2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171" y="2886"/>
                              <a:ext cx="37" cy="87"/>
                            </a:xfrm>
                            <a:custGeom>
                              <a:avLst/>
                              <a:gdLst>
                                <a:gd name="T0" fmla="*/ 1 w 74"/>
                                <a:gd name="T1" fmla="*/ 1 h 174"/>
                                <a:gd name="T2" fmla="*/ 0 w 74"/>
                                <a:gd name="T3" fmla="*/ 1 h 174"/>
                                <a:gd name="T4" fmla="*/ 1 w 74"/>
                                <a:gd name="T5" fmla="*/ 1 h 174"/>
                                <a:gd name="T6" fmla="*/ 1 w 74"/>
                                <a:gd name="T7" fmla="*/ 0 h 174"/>
                                <a:gd name="T8" fmla="*/ 1 w 74"/>
                                <a:gd name="T9" fmla="*/ 1 h 174"/>
                                <a:gd name="T10" fmla="*/ 1 w 74"/>
                                <a:gd name="T11" fmla="*/ 1 h 174"/>
                                <a:gd name="T12" fmla="*/ 1 w 74"/>
                                <a:gd name="T13" fmla="*/ 1 h 174"/>
                                <a:gd name="T14" fmla="*/ 1 w 74"/>
                                <a:gd name="T15" fmla="*/ 1 h 174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74"/>
                                <a:gd name="T25" fmla="*/ 0 h 174"/>
                                <a:gd name="T26" fmla="*/ 74 w 74"/>
                                <a:gd name="T27" fmla="*/ 174 h 174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74" h="174">
                                  <a:moveTo>
                                    <a:pt x="33" y="144"/>
                                  </a:moveTo>
                                  <a:lnTo>
                                    <a:pt x="0" y="90"/>
                                  </a:lnTo>
                                  <a:lnTo>
                                    <a:pt x="12" y="53"/>
                                  </a:lnTo>
                                  <a:lnTo>
                                    <a:pt x="42" y="0"/>
                                  </a:lnTo>
                                  <a:lnTo>
                                    <a:pt x="17" y="92"/>
                                  </a:lnTo>
                                  <a:lnTo>
                                    <a:pt x="36" y="132"/>
                                  </a:lnTo>
                                  <a:lnTo>
                                    <a:pt x="74" y="174"/>
                                  </a:lnTo>
                                  <a:lnTo>
                                    <a:pt x="33" y="14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9" name="Freeform 2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201" y="2756"/>
                              <a:ext cx="49" cy="86"/>
                            </a:xfrm>
                            <a:custGeom>
                              <a:avLst/>
                              <a:gdLst>
                                <a:gd name="T0" fmla="*/ 0 w 99"/>
                                <a:gd name="T1" fmla="*/ 0 h 171"/>
                                <a:gd name="T2" fmla="*/ 0 w 99"/>
                                <a:gd name="T3" fmla="*/ 1 h 171"/>
                                <a:gd name="T4" fmla="*/ 0 w 99"/>
                                <a:gd name="T5" fmla="*/ 1 h 171"/>
                                <a:gd name="T6" fmla="*/ 0 w 99"/>
                                <a:gd name="T7" fmla="*/ 1 h 171"/>
                                <a:gd name="T8" fmla="*/ 0 w 99"/>
                                <a:gd name="T9" fmla="*/ 1 h 171"/>
                                <a:gd name="T10" fmla="*/ 0 w 99"/>
                                <a:gd name="T11" fmla="*/ 1 h 171"/>
                                <a:gd name="T12" fmla="*/ 0 w 99"/>
                                <a:gd name="T13" fmla="*/ 1 h 171"/>
                                <a:gd name="T14" fmla="*/ 0 w 99"/>
                                <a:gd name="T15" fmla="*/ 1 h 171"/>
                                <a:gd name="T16" fmla="*/ 0 w 99"/>
                                <a:gd name="T17" fmla="*/ 0 h 171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w 99"/>
                                <a:gd name="T28" fmla="*/ 0 h 171"/>
                                <a:gd name="T29" fmla="*/ 99 w 99"/>
                                <a:gd name="T30" fmla="*/ 171 h 171"/>
                              </a:gdLst>
                              <a:ahLst/>
                              <a:cxnLst>
                                <a:cxn ang="T18">
                                  <a:pos x="T0" y="T1"/>
                                </a:cxn>
                                <a:cxn ang="T19">
                                  <a:pos x="T2" y="T3"/>
                                </a:cxn>
                                <a:cxn ang="T20">
                                  <a:pos x="T4" y="T5"/>
                                </a:cxn>
                                <a:cxn ang="T21">
                                  <a:pos x="T6" y="T7"/>
                                </a:cxn>
                                <a:cxn ang="T22">
                                  <a:pos x="T8" y="T9"/>
                                </a:cxn>
                                <a:cxn ang="T23">
                                  <a:pos x="T10" y="T11"/>
                                </a:cxn>
                                <a:cxn ang="T24">
                                  <a:pos x="T12" y="T13"/>
                                </a:cxn>
                                <a:cxn ang="T25">
                                  <a:pos x="T14" y="T15"/>
                                </a:cxn>
                                <a:cxn ang="T26">
                                  <a:pos x="T16" y="T17"/>
                                </a:cxn>
                              </a:cxnLst>
                              <a:rect l="T27" t="T28" r="T29" b="T30"/>
                              <a:pathLst>
                                <a:path w="99" h="171">
                                  <a:moveTo>
                                    <a:pt x="99" y="0"/>
                                  </a:moveTo>
                                  <a:lnTo>
                                    <a:pt x="52" y="42"/>
                                  </a:lnTo>
                                  <a:lnTo>
                                    <a:pt x="14" y="83"/>
                                  </a:lnTo>
                                  <a:lnTo>
                                    <a:pt x="6" y="122"/>
                                  </a:lnTo>
                                  <a:lnTo>
                                    <a:pt x="0" y="171"/>
                                  </a:lnTo>
                                  <a:lnTo>
                                    <a:pt x="16" y="130"/>
                                  </a:lnTo>
                                  <a:lnTo>
                                    <a:pt x="31" y="87"/>
                                  </a:lnTo>
                                  <a:lnTo>
                                    <a:pt x="72" y="37"/>
                                  </a:lnTo>
                                  <a:lnTo>
                                    <a:pt x="9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500" name="Freeform 2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195" y="2917"/>
                              <a:ext cx="28" cy="56"/>
                            </a:xfrm>
                            <a:custGeom>
                              <a:avLst/>
                              <a:gdLst>
                                <a:gd name="T0" fmla="*/ 0 w 57"/>
                                <a:gd name="T1" fmla="*/ 1 h 112"/>
                                <a:gd name="T2" fmla="*/ 0 w 57"/>
                                <a:gd name="T3" fmla="*/ 1 h 112"/>
                                <a:gd name="T4" fmla="*/ 0 w 57"/>
                                <a:gd name="T5" fmla="*/ 1 h 112"/>
                                <a:gd name="T6" fmla="*/ 0 w 57"/>
                                <a:gd name="T7" fmla="*/ 1 h 112"/>
                                <a:gd name="T8" fmla="*/ 0 w 57"/>
                                <a:gd name="T9" fmla="*/ 0 h 112"/>
                                <a:gd name="T10" fmla="*/ 0 w 57"/>
                                <a:gd name="T11" fmla="*/ 1 h 112"/>
                                <a:gd name="T12" fmla="*/ 0 w 57"/>
                                <a:gd name="T13" fmla="*/ 1 h 112"/>
                                <a:gd name="T14" fmla="*/ 0 w 57"/>
                                <a:gd name="T15" fmla="*/ 1 h 112"/>
                                <a:gd name="T16" fmla="*/ 0 w 57"/>
                                <a:gd name="T17" fmla="*/ 1 h 112"/>
                                <a:gd name="T18" fmla="*/ 0 w 57"/>
                                <a:gd name="T19" fmla="*/ 1 h 112"/>
                                <a:gd name="T20" fmla="*/ 0 w 57"/>
                                <a:gd name="T21" fmla="*/ 1 h 112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w 57"/>
                                <a:gd name="T34" fmla="*/ 0 h 112"/>
                                <a:gd name="T35" fmla="*/ 57 w 57"/>
                                <a:gd name="T36" fmla="*/ 112 h 112"/>
                              </a:gdLst>
                              <a:ahLst/>
                              <a:cxnLst>
                                <a:cxn ang="T22">
                                  <a:pos x="T0" y="T1"/>
                                </a:cxn>
                                <a:cxn ang="T23">
                                  <a:pos x="T2" y="T3"/>
                                </a:cxn>
                                <a:cxn ang="T24">
                                  <a:pos x="T4" y="T5"/>
                                </a:cxn>
                                <a:cxn ang="T25">
                                  <a:pos x="T6" y="T7"/>
                                </a:cxn>
                                <a:cxn ang="T26">
                                  <a:pos x="T8" y="T9"/>
                                </a:cxn>
                                <a:cxn ang="T27">
                                  <a:pos x="T10" y="T11"/>
                                </a:cxn>
                                <a:cxn ang="T28">
                                  <a:pos x="T12" y="T13"/>
                                </a:cxn>
                                <a:cxn ang="T29">
                                  <a:pos x="T14" y="T15"/>
                                </a:cxn>
                                <a:cxn ang="T30">
                                  <a:pos x="T16" y="T17"/>
                                </a:cxn>
                                <a:cxn ang="T31">
                                  <a:pos x="T18" y="T19"/>
                                </a:cxn>
                                <a:cxn ang="T32">
                                  <a:pos x="T20" y="T21"/>
                                </a:cxn>
                              </a:cxnLst>
                              <a:rect l="T33" t="T34" r="T35" b="T36"/>
                              <a:pathLst>
                                <a:path w="57" h="112">
                                  <a:moveTo>
                                    <a:pt x="21" y="112"/>
                                  </a:moveTo>
                                  <a:lnTo>
                                    <a:pt x="7" y="78"/>
                                  </a:lnTo>
                                  <a:lnTo>
                                    <a:pt x="0" y="53"/>
                                  </a:lnTo>
                                  <a:lnTo>
                                    <a:pt x="16" y="23"/>
                                  </a:lnTo>
                                  <a:lnTo>
                                    <a:pt x="50" y="0"/>
                                  </a:lnTo>
                                  <a:lnTo>
                                    <a:pt x="31" y="32"/>
                                  </a:lnTo>
                                  <a:lnTo>
                                    <a:pt x="18" y="64"/>
                                  </a:lnTo>
                                  <a:lnTo>
                                    <a:pt x="36" y="78"/>
                                  </a:lnTo>
                                  <a:lnTo>
                                    <a:pt x="57" y="47"/>
                                  </a:lnTo>
                                  <a:lnTo>
                                    <a:pt x="47" y="71"/>
                                  </a:lnTo>
                                  <a:lnTo>
                                    <a:pt x="21" y="11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18487" name="Group 3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49" y="3046"/>
                          <a:ext cx="240" cy="129"/>
                          <a:chOff x="1549" y="3046"/>
                          <a:chExt cx="240" cy="129"/>
                        </a:xfrm>
                      </p:grpSpPr>
                      <p:sp>
                        <p:nvSpPr>
                          <p:cNvPr id="18488" name="Freeform 3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1549" y="3046"/>
                            <a:ext cx="240" cy="129"/>
                          </a:xfrm>
                          <a:custGeom>
                            <a:avLst/>
                            <a:gdLst>
                              <a:gd name="T0" fmla="*/ 1 w 480"/>
                              <a:gd name="T1" fmla="*/ 0 h 259"/>
                              <a:gd name="T2" fmla="*/ 1 w 480"/>
                              <a:gd name="T3" fmla="*/ 0 h 259"/>
                              <a:gd name="T4" fmla="*/ 1 w 480"/>
                              <a:gd name="T5" fmla="*/ 0 h 259"/>
                              <a:gd name="T6" fmla="*/ 1 w 480"/>
                              <a:gd name="T7" fmla="*/ 0 h 259"/>
                              <a:gd name="T8" fmla="*/ 1 w 480"/>
                              <a:gd name="T9" fmla="*/ 0 h 259"/>
                              <a:gd name="T10" fmla="*/ 1 w 480"/>
                              <a:gd name="T11" fmla="*/ 0 h 259"/>
                              <a:gd name="T12" fmla="*/ 1 w 480"/>
                              <a:gd name="T13" fmla="*/ 0 h 259"/>
                              <a:gd name="T14" fmla="*/ 1 w 480"/>
                              <a:gd name="T15" fmla="*/ 0 h 259"/>
                              <a:gd name="T16" fmla="*/ 1 w 480"/>
                              <a:gd name="T17" fmla="*/ 0 h 259"/>
                              <a:gd name="T18" fmla="*/ 1 w 480"/>
                              <a:gd name="T19" fmla="*/ 0 h 259"/>
                              <a:gd name="T20" fmla="*/ 1 w 480"/>
                              <a:gd name="T21" fmla="*/ 0 h 259"/>
                              <a:gd name="T22" fmla="*/ 1 w 480"/>
                              <a:gd name="T23" fmla="*/ 0 h 259"/>
                              <a:gd name="T24" fmla="*/ 1 w 480"/>
                              <a:gd name="T25" fmla="*/ 0 h 259"/>
                              <a:gd name="T26" fmla="*/ 1 w 480"/>
                              <a:gd name="T27" fmla="*/ 0 h 259"/>
                              <a:gd name="T28" fmla="*/ 1 w 480"/>
                              <a:gd name="T29" fmla="*/ 0 h 259"/>
                              <a:gd name="T30" fmla="*/ 1 w 480"/>
                              <a:gd name="T31" fmla="*/ 0 h 259"/>
                              <a:gd name="T32" fmla="*/ 1 w 480"/>
                              <a:gd name="T33" fmla="*/ 0 h 259"/>
                              <a:gd name="T34" fmla="*/ 1 w 480"/>
                              <a:gd name="T35" fmla="*/ 0 h 259"/>
                              <a:gd name="T36" fmla="*/ 1 w 480"/>
                              <a:gd name="T37" fmla="*/ 0 h 259"/>
                              <a:gd name="T38" fmla="*/ 1 w 480"/>
                              <a:gd name="T39" fmla="*/ 0 h 259"/>
                              <a:gd name="T40" fmla="*/ 1 w 480"/>
                              <a:gd name="T41" fmla="*/ 0 h 259"/>
                              <a:gd name="T42" fmla="*/ 1 w 480"/>
                              <a:gd name="T43" fmla="*/ 0 h 259"/>
                              <a:gd name="T44" fmla="*/ 1 w 480"/>
                              <a:gd name="T45" fmla="*/ 0 h 259"/>
                              <a:gd name="T46" fmla="*/ 1 w 480"/>
                              <a:gd name="T47" fmla="*/ 0 h 259"/>
                              <a:gd name="T48" fmla="*/ 1 w 480"/>
                              <a:gd name="T49" fmla="*/ 0 h 259"/>
                              <a:gd name="T50" fmla="*/ 1 w 480"/>
                              <a:gd name="T51" fmla="*/ 0 h 259"/>
                              <a:gd name="T52" fmla="*/ 1 w 480"/>
                              <a:gd name="T53" fmla="*/ 0 h 259"/>
                              <a:gd name="T54" fmla="*/ 1 w 480"/>
                              <a:gd name="T55" fmla="*/ 0 h 259"/>
                              <a:gd name="T56" fmla="*/ 1 w 480"/>
                              <a:gd name="T57" fmla="*/ 0 h 259"/>
                              <a:gd name="T58" fmla="*/ 1 w 480"/>
                              <a:gd name="T59" fmla="*/ 0 h 259"/>
                              <a:gd name="T60" fmla="*/ 1 w 480"/>
                              <a:gd name="T61" fmla="*/ 0 h 259"/>
                              <a:gd name="T62" fmla="*/ 1 w 480"/>
                              <a:gd name="T63" fmla="*/ 0 h 259"/>
                              <a:gd name="T64" fmla="*/ 1 w 480"/>
                              <a:gd name="T65" fmla="*/ 0 h 259"/>
                              <a:gd name="T66" fmla="*/ 1 w 480"/>
                              <a:gd name="T67" fmla="*/ 0 h 259"/>
                              <a:gd name="T68" fmla="*/ 0 w 480"/>
                              <a:gd name="T69" fmla="*/ 0 h 259"/>
                              <a:gd name="T70" fmla="*/ 1 w 480"/>
                              <a:gd name="T71" fmla="*/ 0 h 259"/>
                              <a:gd name="T72" fmla="*/ 1 w 480"/>
                              <a:gd name="T73" fmla="*/ 0 h 259"/>
                              <a:gd name="T74" fmla="*/ 1 w 480"/>
                              <a:gd name="T75" fmla="*/ 0 h 259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480"/>
                              <a:gd name="T115" fmla="*/ 0 h 259"/>
                              <a:gd name="T116" fmla="*/ 480 w 480"/>
                              <a:gd name="T117" fmla="*/ 259 h 259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480" h="259">
                                <a:moveTo>
                                  <a:pt x="30" y="63"/>
                                </a:moveTo>
                                <a:lnTo>
                                  <a:pt x="117" y="67"/>
                                </a:lnTo>
                                <a:lnTo>
                                  <a:pt x="176" y="66"/>
                                </a:lnTo>
                                <a:lnTo>
                                  <a:pt x="250" y="31"/>
                                </a:lnTo>
                                <a:lnTo>
                                  <a:pt x="309" y="4"/>
                                </a:lnTo>
                                <a:lnTo>
                                  <a:pt x="363" y="0"/>
                                </a:lnTo>
                                <a:lnTo>
                                  <a:pt x="387" y="25"/>
                                </a:lnTo>
                                <a:lnTo>
                                  <a:pt x="425" y="43"/>
                                </a:lnTo>
                                <a:lnTo>
                                  <a:pt x="469" y="46"/>
                                </a:lnTo>
                                <a:lnTo>
                                  <a:pt x="480" y="67"/>
                                </a:lnTo>
                                <a:lnTo>
                                  <a:pt x="473" y="117"/>
                                </a:lnTo>
                                <a:lnTo>
                                  <a:pt x="465" y="149"/>
                                </a:lnTo>
                                <a:lnTo>
                                  <a:pt x="444" y="175"/>
                                </a:lnTo>
                                <a:lnTo>
                                  <a:pt x="413" y="207"/>
                                </a:lnTo>
                                <a:lnTo>
                                  <a:pt x="397" y="238"/>
                                </a:lnTo>
                                <a:lnTo>
                                  <a:pt x="375" y="256"/>
                                </a:lnTo>
                                <a:lnTo>
                                  <a:pt x="357" y="259"/>
                                </a:lnTo>
                                <a:lnTo>
                                  <a:pt x="330" y="233"/>
                                </a:lnTo>
                                <a:lnTo>
                                  <a:pt x="311" y="243"/>
                                </a:lnTo>
                                <a:lnTo>
                                  <a:pt x="284" y="244"/>
                                </a:lnTo>
                                <a:lnTo>
                                  <a:pt x="264" y="206"/>
                                </a:lnTo>
                                <a:lnTo>
                                  <a:pt x="252" y="212"/>
                                </a:lnTo>
                                <a:lnTo>
                                  <a:pt x="232" y="212"/>
                                </a:lnTo>
                                <a:lnTo>
                                  <a:pt x="224" y="191"/>
                                </a:lnTo>
                                <a:lnTo>
                                  <a:pt x="202" y="206"/>
                                </a:lnTo>
                                <a:lnTo>
                                  <a:pt x="181" y="218"/>
                                </a:lnTo>
                                <a:lnTo>
                                  <a:pt x="158" y="206"/>
                                </a:lnTo>
                                <a:lnTo>
                                  <a:pt x="151" y="186"/>
                                </a:lnTo>
                                <a:lnTo>
                                  <a:pt x="149" y="163"/>
                                </a:lnTo>
                                <a:lnTo>
                                  <a:pt x="110" y="168"/>
                                </a:lnTo>
                                <a:lnTo>
                                  <a:pt x="81" y="175"/>
                                </a:lnTo>
                                <a:lnTo>
                                  <a:pt x="74" y="159"/>
                                </a:lnTo>
                                <a:lnTo>
                                  <a:pt x="50" y="159"/>
                                </a:lnTo>
                                <a:lnTo>
                                  <a:pt x="14" y="134"/>
                                </a:lnTo>
                                <a:lnTo>
                                  <a:pt x="0" y="104"/>
                                </a:lnTo>
                                <a:lnTo>
                                  <a:pt x="7" y="91"/>
                                </a:lnTo>
                                <a:lnTo>
                                  <a:pt x="2" y="66"/>
                                </a:lnTo>
                                <a:lnTo>
                                  <a:pt x="30" y="6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18489" name="Group 3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585" y="3067"/>
                            <a:ext cx="180" cy="98"/>
                            <a:chOff x="1585" y="3067"/>
                            <a:chExt cx="180" cy="98"/>
                          </a:xfrm>
                        </p:grpSpPr>
                        <p:sp>
                          <p:nvSpPr>
                            <p:cNvPr id="18490" name="Freeform 3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585" y="3097"/>
                              <a:ext cx="55" cy="28"/>
                            </a:xfrm>
                            <a:custGeom>
                              <a:avLst/>
                              <a:gdLst>
                                <a:gd name="T0" fmla="*/ 0 w 110"/>
                                <a:gd name="T1" fmla="*/ 1 h 55"/>
                                <a:gd name="T2" fmla="*/ 1 w 110"/>
                                <a:gd name="T3" fmla="*/ 1 h 55"/>
                                <a:gd name="T4" fmla="*/ 1 w 110"/>
                                <a:gd name="T5" fmla="*/ 0 h 55"/>
                                <a:gd name="T6" fmla="*/ 1 w 110"/>
                                <a:gd name="T7" fmla="*/ 1 h 55"/>
                                <a:gd name="T8" fmla="*/ 1 w 110"/>
                                <a:gd name="T9" fmla="*/ 1 h 55"/>
                                <a:gd name="T10" fmla="*/ 0 w 110"/>
                                <a:gd name="T11" fmla="*/ 1 h 55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  <a:gd name="T18" fmla="*/ 0 w 110"/>
                                <a:gd name="T19" fmla="*/ 0 h 55"/>
                                <a:gd name="T20" fmla="*/ 110 w 110"/>
                                <a:gd name="T21" fmla="*/ 55 h 55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T18" t="T19" r="T20" b="T21"/>
                              <a:pathLst>
                                <a:path w="110" h="55">
                                  <a:moveTo>
                                    <a:pt x="0" y="55"/>
                                  </a:moveTo>
                                  <a:lnTo>
                                    <a:pt x="58" y="40"/>
                                  </a:lnTo>
                                  <a:lnTo>
                                    <a:pt x="110" y="0"/>
                                  </a:lnTo>
                                  <a:lnTo>
                                    <a:pt x="90" y="30"/>
                                  </a:lnTo>
                                  <a:lnTo>
                                    <a:pt x="67" y="50"/>
                                  </a:lnTo>
                                  <a:lnTo>
                                    <a:pt x="0" y="5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1" name="Freeform 3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659" y="3067"/>
                              <a:ext cx="44" cy="78"/>
                            </a:xfrm>
                            <a:custGeom>
                              <a:avLst/>
                              <a:gdLst>
                                <a:gd name="T0" fmla="*/ 0 w 88"/>
                                <a:gd name="T1" fmla="*/ 0 h 157"/>
                                <a:gd name="T2" fmla="*/ 1 w 88"/>
                                <a:gd name="T3" fmla="*/ 0 h 157"/>
                                <a:gd name="T4" fmla="*/ 1 w 88"/>
                                <a:gd name="T5" fmla="*/ 0 h 157"/>
                                <a:gd name="T6" fmla="*/ 1 w 88"/>
                                <a:gd name="T7" fmla="*/ 0 h 157"/>
                                <a:gd name="T8" fmla="*/ 1 w 88"/>
                                <a:gd name="T9" fmla="*/ 0 h 157"/>
                                <a:gd name="T10" fmla="*/ 0 w 88"/>
                                <a:gd name="T11" fmla="*/ 0 h 157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  <a:gd name="T18" fmla="*/ 0 w 88"/>
                                <a:gd name="T19" fmla="*/ 0 h 157"/>
                                <a:gd name="T20" fmla="*/ 88 w 88"/>
                                <a:gd name="T21" fmla="*/ 157 h 157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T18" t="T19" r="T20" b="T21"/>
                              <a:pathLst>
                                <a:path w="88" h="157">
                                  <a:moveTo>
                                    <a:pt x="0" y="157"/>
                                  </a:moveTo>
                                  <a:lnTo>
                                    <a:pt x="31" y="103"/>
                                  </a:lnTo>
                                  <a:lnTo>
                                    <a:pt x="88" y="0"/>
                                  </a:lnTo>
                                  <a:lnTo>
                                    <a:pt x="71" y="57"/>
                                  </a:lnTo>
                                  <a:lnTo>
                                    <a:pt x="59" y="106"/>
                                  </a:lnTo>
                                  <a:lnTo>
                                    <a:pt x="0" y="15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2" name="Freeform 3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711" y="3069"/>
                              <a:ext cx="32" cy="96"/>
                            </a:xfrm>
                            <a:custGeom>
                              <a:avLst/>
                              <a:gdLst>
                                <a:gd name="T0" fmla="*/ 0 w 65"/>
                                <a:gd name="T1" fmla="*/ 1 h 192"/>
                                <a:gd name="T2" fmla="*/ 0 w 65"/>
                                <a:gd name="T3" fmla="*/ 1 h 192"/>
                                <a:gd name="T4" fmla="*/ 0 w 65"/>
                                <a:gd name="T5" fmla="*/ 1 h 192"/>
                                <a:gd name="T6" fmla="*/ 0 w 65"/>
                                <a:gd name="T7" fmla="*/ 0 h 192"/>
                                <a:gd name="T8" fmla="*/ 0 w 65"/>
                                <a:gd name="T9" fmla="*/ 1 h 192"/>
                                <a:gd name="T10" fmla="*/ 0 w 65"/>
                                <a:gd name="T11" fmla="*/ 1 h 192"/>
                                <a:gd name="T12" fmla="*/ 0 w 65"/>
                                <a:gd name="T13" fmla="*/ 1 h 192"/>
                                <a:gd name="T14" fmla="*/ 0 w 65"/>
                                <a:gd name="T15" fmla="*/ 1 h 192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65"/>
                                <a:gd name="T25" fmla="*/ 0 h 192"/>
                                <a:gd name="T26" fmla="*/ 65 w 65"/>
                                <a:gd name="T27" fmla="*/ 192 h 192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65" h="192">
                                  <a:moveTo>
                                    <a:pt x="0" y="192"/>
                                  </a:moveTo>
                                  <a:lnTo>
                                    <a:pt x="48" y="150"/>
                                  </a:lnTo>
                                  <a:lnTo>
                                    <a:pt x="46" y="59"/>
                                  </a:lnTo>
                                  <a:lnTo>
                                    <a:pt x="15" y="0"/>
                                  </a:lnTo>
                                  <a:lnTo>
                                    <a:pt x="53" y="57"/>
                                  </a:lnTo>
                                  <a:lnTo>
                                    <a:pt x="65" y="116"/>
                                  </a:lnTo>
                                  <a:lnTo>
                                    <a:pt x="63" y="166"/>
                                  </a:lnTo>
                                  <a:lnTo>
                                    <a:pt x="0" y="19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493" name="Freeform 3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756" y="3099"/>
                              <a:ext cx="9" cy="37"/>
                            </a:xfrm>
                            <a:custGeom>
                              <a:avLst/>
                              <a:gdLst>
                                <a:gd name="T0" fmla="*/ 0 w 19"/>
                                <a:gd name="T1" fmla="*/ 0 h 74"/>
                                <a:gd name="T2" fmla="*/ 0 w 19"/>
                                <a:gd name="T3" fmla="*/ 1 h 74"/>
                                <a:gd name="T4" fmla="*/ 0 w 19"/>
                                <a:gd name="T5" fmla="*/ 1 h 74"/>
                                <a:gd name="T6" fmla="*/ 0 60000 65536"/>
                                <a:gd name="T7" fmla="*/ 0 60000 65536"/>
                                <a:gd name="T8" fmla="*/ 0 60000 65536"/>
                                <a:gd name="T9" fmla="*/ 0 w 19"/>
                                <a:gd name="T10" fmla="*/ 0 h 74"/>
                                <a:gd name="T11" fmla="*/ 19 w 19"/>
                                <a:gd name="T12" fmla="*/ 74 h 74"/>
                              </a:gdLst>
                              <a:ahLst/>
                              <a:cxnLst>
                                <a:cxn ang="T6">
                                  <a:pos x="T0" y="T1"/>
                                </a:cxn>
                                <a:cxn ang="T7">
                                  <a:pos x="T2" y="T3"/>
                                </a:cxn>
                                <a:cxn ang="T8">
                                  <a:pos x="T4" y="T5"/>
                                </a:cxn>
                              </a:cxnLst>
                              <a:rect l="T9" t="T10" r="T11" b="T12"/>
                              <a:pathLst>
                                <a:path w="19" h="74">
                                  <a:moveTo>
                                    <a:pt x="0" y="0"/>
                                  </a:moveTo>
                                  <a:lnTo>
                                    <a:pt x="19" y="51"/>
                                  </a:lnTo>
                                  <a:lnTo>
                                    <a:pt x="12" y="74"/>
                                  </a:lnTo>
                                </a:path>
                              </a:pathLst>
                            </a:custGeom>
                            <a:noFill/>
                            <a:ln w="635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</p:grpSp>
                </p:grpSp>
              </p:grpSp>
              <p:grpSp>
                <p:nvGrpSpPr>
                  <p:cNvPr id="18478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1718" y="2805"/>
                    <a:ext cx="148" cy="215"/>
                    <a:chOff x="1718" y="2805"/>
                    <a:chExt cx="148" cy="215"/>
                  </a:xfrm>
                </p:grpSpPr>
                <p:sp>
                  <p:nvSpPr>
                    <p:cNvPr id="18479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1718" y="2854"/>
                      <a:ext cx="132" cy="166"/>
                    </a:xfrm>
                    <a:custGeom>
                      <a:avLst/>
                      <a:gdLst>
                        <a:gd name="T0" fmla="*/ 1 w 263"/>
                        <a:gd name="T1" fmla="*/ 0 h 333"/>
                        <a:gd name="T2" fmla="*/ 1 w 263"/>
                        <a:gd name="T3" fmla="*/ 0 h 333"/>
                        <a:gd name="T4" fmla="*/ 1 w 263"/>
                        <a:gd name="T5" fmla="*/ 0 h 333"/>
                        <a:gd name="T6" fmla="*/ 1 w 263"/>
                        <a:gd name="T7" fmla="*/ 0 h 333"/>
                        <a:gd name="T8" fmla="*/ 1 w 263"/>
                        <a:gd name="T9" fmla="*/ 0 h 333"/>
                        <a:gd name="T10" fmla="*/ 1 w 263"/>
                        <a:gd name="T11" fmla="*/ 0 h 333"/>
                        <a:gd name="T12" fmla="*/ 1 w 263"/>
                        <a:gd name="T13" fmla="*/ 0 h 333"/>
                        <a:gd name="T14" fmla="*/ 1 w 263"/>
                        <a:gd name="T15" fmla="*/ 0 h 333"/>
                        <a:gd name="T16" fmla="*/ 1 w 263"/>
                        <a:gd name="T17" fmla="*/ 0 h 333"/>
                        <a:gd name="T18" fmla="*/ 1 w 263"/>
                        <a:gd name="T19" fmla="*/ 0 h 333"/>
                        <a:gd name="T20" fmla="*/ 1 w 263"/>
                        <a:gd name="T21" fmla="*/ 0 h 333"/>
                        <a:gd name="T22" fmla="*/ 1 w 263"/>
                        <a:gd name="T23" fmla="*/ 0 h 333"/>
                        <a:gd name="T24" fmla="*/ 1 w 263"/>
                        <a:gd name="T25" fmla="*/ 0 h 333"/>
                        <a:gd name="T26" fmla="*/ 1 w 263"/>
                        <a:gd name="T27" fmla="*/ 0 h 333"/>
                        <a:gd name="T28" fmla="*/ 1 w 263"/>
                        <a:gd name="T29" fmla="*/ 0 h 333"/>
                        <a:gd name="T30" fmla="*/ 1 w 263"/>
                        <a:gd name="T31" fmla="*/ 0 h 333"/>
                        <a:gd name="T32" fmla="*/ 1 w 263"/>
                        <a:gd name="T33" fmla="*/ 0 h 333"/>
                        <a:gd name="T34" fmla="*/ 0 w 263"/>
                        <a:gd name="T35" fmla="*/ 0 h 333"/>
                        <a:gd name="T36" fmla="*/ 1 w 263"/>
                        <a:gd name="T37" fmla="*/ 0 h 333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263"/>
                        <a:gd name="T58" fmla="*/ 0 h 333"/>
                        <a:gd name="T59" fmla="*/ 263 w 263"/>
                        <a:gd name="T60" fmla="*/ 333 h 333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263" h="333">
                          <a:moveTo>
                            <a:pt x="15" y="141"/>
                          </a:moveTo>
                          <a:lnTo>
                            <a:pt x="43" y="77"/>
                          </a:lnTo>
                          <a:lnTo>
                            <a:pt x="64" y="53"/>
                          </a:lnTo>
                          <a:lnTo>
                            <a:pt x="92" y="17"/>
                          </a:lnTo>
                          <a:lnTo>
                            <a:pt x="139" y="0"/>
                          </a:lnTo>
                          <a:lnTo>
                            <a:pt x="180" y="6"/>
                          </a:lnTo>
                          <a:lnTo>
                            <a:pt x="212" y="26"/>
                          </a:lnTo>
                          <a:lnTo>
                            <a:pt x="241" y="63"/>
                          </a:lnTo>
                          <a:lnTo>
                            <a:pt x="262" y="123"/>
                          </a:lnTo>
                          <a:lnTo>
                            <a:pt x="263" y="169"/>
                          </a:lnTo>
                          <a:lnTo>
                            <a:pt x="248" y="214"/>
                          </a:lnTo>
                          <a:lnTo>
                            <a:pt x="221" y="256"/>
                          </a:lnTo>
                          <a:lnTo>
                            <a:pt x="196" y="288"/>
                          </a:lnTo>
                          <a:lnTo>
                            <a:pt x="149" y="324"/>
                          </a:lnTo>
                          <a:lnTo>
                            <a:pt x="96" y="333"/>
                          </a:lnTo>
                          <a:lnTo>
                            <a:pt x="47" y="320"/>
                          </a:lnTo>
                          <a:lnTo>
                            <a:pt x="7" y="281"/>
                          </a:lnTo>
                          <a:lnTo>
                            <a:pt x="0" y="228"/>
                          </a:lnTo>
                          <a:lnTo>
                            <a:pt x="15" y="141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80" name="Oval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7" y="2902"/>
                      <a:ext cx="37" cy="41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8481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1737" y="2805"/>
                      <a:ext cx="129" cy="105"/>
                    </a:xfrm>
                    <a:custGeom>
                      <a:avLst/>
                      <a:gdLst>
                        <a:gd name="T0" fmla="*/ 1 w 258"/>
                        <a:gd name="T1" fmla="*/ 1 h 210"/>
                        <a:gd name="T2" fmla="*/ 1 w 258"/>
                        <a:gd name="T3" fmla="*/ 1 h 210"/>
                        <a:gd name="T4" fmla="*/ 1 w 258"/>
                        <a:gd name="T5" fmla="*/ 1 h 210"/>
                        <a:gd name="T6" fmla="*/ 1 w 258"/>
                        <a:gd name="T7" fmla="*/ 0 h 210"/>
                        <a:gd name="T8" fmla="*/ 1 w 258"/>
                        <a:gd name="T9" fmla="*/ 1 h 210"/>
                        <a:gd name="T10" fmla="*/ 1 w 258"/>
                        <a:gd name="T11" fmla="*/ 1 h 210"/>
                        <a:gd name="T12" fmla="*/ 0 w 258"/>
                        <a:gd name="T13" fmla="*/ 1 h 210"/>
                        <a:gd name="T14" fmla="*/ 1 w 258"/>
                        <a:gd name="T15" fmla="*/ 1 h 210"/>
                        <a:gd name="T16" fmla="*/ 1 w 258"/>
                        <a:gd name="T17" fmla="*/ 1 h 210"/>
                        <a:gd name="T18" fmla="*/ 1 w 258"/>
                        <a:gd name="T19" fmla="*/ 1 h 210"/>
                        <a:gd name="T20" fmla="*/ 1 w 258"/>
                        <a:gd name="T21" fmla="*/ 1 h 210"/>
                        <a:gd name="T22" fmla="*/ 1 w 258"/>
                        <a:gd name="T23" fmla="*/ 1 h 210"/>
                        <a:gd name="T24" fmla="*/ 1 w 258"/>
                        <a:gd name="T25" fmla="*/ 1 h 210"/>
                        <a:gd name="T26" fmla="*/ 1 w 258"/>
                        <a:gd name="T27" fmla="*/ 1 h 210"/>
                        <a:gd name="T28" fmla="*/ 1 w 258"/>
                        <a:gd name="T29" fmla="*/ 1 h 210"/>
                        <a:gd name="T30" fmla="*/ 1 w 258"/>
                        <a:gd name="T31" fmla="*/ 1 h 210"/>
                        <a:gd name="T32" fmla="*/ 1 w 258"/>
                        <a:gd name="T33" fmla="*/ 1 h 210"/>
                        <a:gd name="T34" fmla="*/ 1 w 258"/>
                        <a:gd name="T35" fmla="*/ 1 h 210"/>
                        <a:gd name="T36" fmla="*/ 1 w 258"/>
                        <a:gd name="T37" fmla="*/ 1 h 210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258"/>
                        <a:gd name="T58" fmla="*/ 0 h 210"/>
                        <a:gd name="T59" fmla="*/ 258 w 258"/>
                        <a:gd name="T60" fmla="*/ 210 h 210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258" h="210">
                          <a:moveTo>
                            <a:pt x="256" y="144"/>
                          </a:moveTo>
                          <a:lnTo>
                            <a:pt x="250" y="127"/>
                          </a:lnTo>
                          <a:lnTo>
                            <a:pt x="65" y="1"/>
                          </a:lnTo>
                          <a:lnTo>
                            <a:pt x="48" y="0"/>
                          </a:lnTo>
                          <a:lnTo>
                            <a:pt x="30" y="7"/>
                          </a:lnTo>
                          <a:lnTo>
                            <a:pt x="12" y="21"/>
                          </a:lnTo>
                          <a:lnTo>
                            <a:pt x="0" y="44"/>
                          </a:lnTo>
                          <a:lnTo>
                            <a:pt x="3" y="64"/>
                          </a:lnTo>
                          <a:lnTo>
                            <a:pt x="9" y="85"/>
                          </a:lnTo>
                          <a:lnTo>
                            <a:pt x="20" y="97"/>
                          </a:lnTo>
                          <a:lnTo>
                            <a:pt x="37" y="107"/>
                          </a:lnTo>
                          <a:lnTo>
                            <a:pt x="175" y="202"/>
                          </a:lnTo>
                          <a:lnTo>
                            <a:pt x="187" y="208"/>
                          </a:lnTo>
                          <a:lnTo>
                            <a:pt x="203" y="210"/>
                          </a:lnTo>
                          <a:lnTo>
                            <a:pt x="223" y="208"/>
                          </a:lnTo>
                          <a:lnTo>
                            <a:pt x="240" y="196"/>
                          </a:lnTo>
                          <a:lnTo>
                            <a:pt x="254" y="178"/>
                          </a:lnTo>
                          <a:lnTo>
                            <a:pt x="258" y="159"/>
                          </a:lnTo>
                          <a:lnTo>
                            <a:pt x="256" y="144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8471" name="Group 41"/>
                <p:cNvGrpSpPr>
                  <a:grpSpLocks/>
                </p:cNvGrpSpPr>
                <p:nvPr/>
              </p:nvGrpSpPr>
              <p:grpSpPr bwMode="auto">
                <a:xfrm>
                  <a:off x="1559" y="2806"/>
                  <a:ext cx="302" cy="273"/>
                  <a:chOff x="1559" y="2806"/>
                  <a:chExt cx="302" cy="273"/>
                </a:xfrm>
              </p:grpSpPr>
              <p:sp>
                <p:nvSpPr>
                  <p:cNvPr id="18472" name="Freeform 42"/>
                  <p:cNvSpPr>
                    <a:spLocks/>
                  </p:cNvSpPr>
                  <p:nvPr/>
                </p:nvSpPr>
                <p:spPr bwMode="auto">
                  <a:xfrm>
                    <a:off x="1659" y="2863"/>
                    <a:ext cx="202" cy="216"/>
                  </a:xfrm>
                  <a:custGeom>
                    <a:avLst/>
                    <a:gdLst>
                      <a:gd name="T0" fmla="*/ 1 w 403"/>
                      <a:gd name="T1" fmla="*/ 0 h 432"/>
                      <a:gd name="T2" fmla="*/ 1 w 403"/>
                      <a:gd name="T3" fmla="*/ 1 h 432"/>
                      <a:gd name="T4" fmla="*/ 1 w 403"/>
                      <a:gd name="T5" fmla="*/ 1 h 432"/>
                      <a:gd name="T6" fmla="*/ 1 w 403"/>
                      <a:gd name="T7" fmla="*/ 1 h 432"/>
                      <a:gd name="T8" fmla="*/ 1 w 403"/>
                      <a:gd name="T9" fmla="*/ 1 h 432"/>
                      <a:gd name="T10" fmla="*/ 1 w 403"/>
                      <a:gd name="T11" fmla="*/ 1 h 432"/>
                      <a:gd name="T12" fmla="*/ 1 w 403"/>
                      <a:gd name="T13" fmla="*/ 1 h 432"/>
                      <a:gd name="T14" fmla="*/ 1 w 403"/>
                      <a:gd name="T15" fmla="*/ 1 h 432"/>
                      <a:gd name="T16" fmla="*/ 1 w 403"/>
                      <a:gd name="T17" fmla="*/ 1 h 432"/>
                      <a:gd name="T18" fmla="*/ 1 w 403"/>
                      <a:gd name="T19" fmla="*/ 1 h 432"/>
                      <a:gd name="T20" fmla="*/ 1 w 403"/>
                      <a:gd name="T21" fmla="*/ 1 h 432"/>
                      <a:gd name="T22" fmla="*/ 1 w 403"/>
                      <a:gd name="T23" fmla="*/ 1 h 432"/>
                      <a:gd name="T24" fmla="*/ 1 w 403"/>
                      <a:gd name="T25" fmla="*/ 1 h 432"/>
                      <a:gd name="T26" fmla="*/ 1 w 403"/>
                      <a:gd name="T27" fmla="*/ 1 h 432"/>
                      <a:gd name="T28" fmla="*/ 1 w 403"/>
                      <a:gd name="T29" fmla="*/ 1 h 432"/>
                      <a:gd name="T30" fmla="*/ 0 w 403"/>
                      <a:gd name="T31" fmla="*/ 1 h 432"/>
                      <a:gd name="T32" fmla="*/ 1 w 403"/>
                      <a:gd name="T33" fmla="*/ 1 h 432"/>
                      <a:gd name="T34" fmla="*/ 1 w 403"/>
                      <a:gd name="T35" fmla="*/ 1 h 432"/>
                      <a:gd name="T36" fmla="*/ 1 w 403"/>
                      <a:gd name="T37" fmla="*/ 0 h 432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03"/>
                      <a:gd name="T58" fmla="*/ 0 h 432"/>
                      <a:gd name="T59" fmla="*/ 403 w 403"/>
                      <a:gd name="T60" fmla="*/ 432 h 432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03" h="432">
                        <a:moveTo>
                          <a:pt x="146" y="0"/>
                        </a:moveTo>
                        <a:lnTo>
                          <a:pt x="215" y="49"/>
                        </a:lnTo>
                        <a:lnTo>
                          <a:pt x="302" y="141"/>
                        </a:lnTo>
                        <a:lnTo>
                          <a:pt x="344" y="194"/>
                        </a:lnTo>
                        <a:lnTo>
                          <a:pt x="373" y="235"/>
                        </a:lnTo>
                        <a:lnTo>
                          <a:pt x="396" y="277"/>
                        </a:lnTo>
                        <a:lnTo>
                          <a:pt x="403" y="323"/>
                        </a:lnTo>
                        <a:lnTo>
                          <a:pt x="403" y="365"/>
                        </a:lnTo>
                        <a:lnTo>
                          <a:pt x="384" y="402"/>
                        </a:lnTo>
                        <a:lnTo>
                          <a:pt x="357" y="424"/>
                        </a:lnTo>
                        <a:lnTo>
                          <a:pt x="294" y="432"/>
                        </a:lnTo>
                        <a:lnTo>
                          <a:pt x="214" y="410"/>
                        </a:lnTo>
                        <a:lnTo>
                          <a:pt x="141" y="386"/>
                        </a:lnTo>
                        <a:lnTo>
                          <a:pt x="103" y="359"/>
                        </a:lnTo>
                        <a:lnTo>
                          <a:pt x="45" y="317"/>
                        </a:lnTo>
                        <a:lnTo>
                          <a:pt x="0" y="242"/>
                        </a:lnTo>
                        <a:lnTo>
                          <a:pt x="34" y="230"/>
                        </a:lnTo>
                        <a:lnTo>
                          <a:pt x="72" y="96"/>
                        </a:lnTo>
                        <a:lnTo>
                          <a:pt x="146" y="0"/>
                        </a:lnTo>
                        <a:close/>
                      </a:path>
                    </a:pathLst>
                  </a:custGeom>
                  <a:solidFill>
                    <a:srgbClr val="E0A080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8473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1559" y="2806"/>
                    <a:ext cx="187" cy="193"/>
                    <a:chOff x="1559" y="2806"/>
                    <a:chExt cx="187" cy="193"/>
                  </a:xfrm>
                </p:grpSpPr>
                <p:sp>
                  <p:nvSpPr>
                    <p:cNvPr id="18474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1584" y="2846"/>
                      <a:ext cx="132" cy="153"/>
                    </a:xfrm>
                    <a:custGeom>
                      <a:avLst/>
                      <a:gdLst>
                        <a:gd name="T0" fmla="*/ 1 w 264"/>
                        <a:gd name="T1" fmla="*/ 0 h 308"/>
                        <a:gd name="T2" fmla="*/ 1 w 264"/>
                        <a:gd name="T3" fmla="*/ 0 h 308"/>
                        <a:gd name="T4" fmla="*/ 1 w 264"/>
                        <a:gd name="T5" fmla="*/ 0 h 308"/>
                        <a:gd name="T6" fmla="*/ 1 w 264"/>
                        <a:gd name="T7" fmla="*/ 0 h 308"/>
                        <a:gd name="T8" fmla="*/ 1 w 264"/>
                        <a:gd name="T9" fmla="*/ 0 h 308"/>
                        <a:gd name="T10" fmla="*/ 1 w 264"/>
                        <a:gd name="T11" fmla="*/ 0 h 308"/>
                        <a:gd name="T12" fmla="*/ 1 w 264"/>
                        <a:gd name="T13" fmla="*/ 0 h 308"/>
                        <a:gd name="T14" fmla="*/ 1 w 264"/>
                        <a:gd name="T15" fmla="*/ 0 h 308"/>
                        <a:gd name="T16" fmla="*/ 1 w 264"/>
                        <a:gd name="T17" fmla="*/ 0 h 308"/>
                        <a:gd name="T18" fmla="*/ 1 w 264"/>
                        <a:gd name="T19" fmla="*/ 0 h 308"/>
                        <a:gd name="T20" fmla="*/ 1 w 264"/>
                        <a:gd name="T21" fmla="*/ 0 h 308"/>
                        <a:gd name="T22" fmla="*/ 1 w 264"/>
                        <a:gd name="T23" fmla="*/ 0 h 308"/>
                        <a:gd name="T24" fmla="*/ 1 w 264"/>
                        <a:gd name="T25" fmla="*/ 0 h 308"/>
                        <a:gd name="T26" fmla="*/ 1 w 264"/>
                        <a:gd name="T27" fmla="*/ 0 h 308"/>
                        <a:gd name="T28" fmla="*/ 1 w 264"/>
                        <a:gd name="T29" fmla="*/ 0 h 308"/>
                        <a:gd name="T30" fmla="*/ 1 w 264"/>
                        <a:gd name="T31" fmla="*/ 0 h 308"/>
                        <a:gd name="T32" fmla="*/ 0 w 264"/>
                        <a:gd name="T33" fmla="*/ 0 h 308"/>
                        <a:gd name="T34" fmla="*/ 1 w 264"/>
                        <a:gd name="T35" fmla="*/ 0 h 308"/>
                        <a:gd name="T36" fmla="*/ 1 w 264"/>
                        <a:gd name="T37" fmla="*/ 0 h 308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264"/>
                        <a:gd name="T58" fmla="*/ 0 h 308"/>
                        <a:gd name="T59" fmla="*/ 264 w 264"/>
                        <a:gd name="T60" fmla="*/ 308 h 308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264" h="308">
                          <a:moveTo>
                            <a:pt x="18" y="118"/>
                          </a:moveTo>
                          <a:lnTo>
                            <a:pt x="41" y="67"/>
                          </a:lnTo>
                          <a:lnTo>
                            <a:pt x="67" y="37"/>
                          </a:lnTo>
                          <a:lnTo>
                            <a:pt x="103" y="14"/>
                          </a:lnTo>
                          <a:lnTo>
                            <a:pt x="156" y="0"/>
                          </a:lnTo>
                          <a:lnTo>
                            <a:pt x="204" y="4"/>
                          </a:lnTo>
                          <a:lnTo>
                            <a:pt x="233" y="15"/>
                          </a:lnTo>
                          <a:lnTo>
                            <a:pt x="249" y="42"/>
                          </a:lnTo>
                          <a:lnTo>
                            <a:pt x="264" y="83"/>
                          </a:lnTo>
                          <a:lnTo>
                            <a:pt x="261" y="139"/>
                          </a:lnTo>
                          <a:lnTo>
                            <a:pt x="249" y="190"/>
                          </a:lnTo>
                          <a:lnTo>
                            <a:pt x="229" y="235"/>
                          </a:lnTo>
                          <a:lnTo>
                            <a:pt x="195" y="278"/>
                          </a:lnTo>
                          <a:lnTo>
                            <a:pt x="140" y="308"/>
                          </a:lnTo>
                          <a:lnTo>
                            <a:pt x="75" y="302"/>
                          </a:lnTo>
                          <a:lnTo>
                            <a:pt x="32" y="282"/>
                          </a:lnTo>
                          <a:lnTo>
                            <a:pt x="0" y="235"/>
                          </a:lnTo>
                          <a:lnTo>
                            <a:pt x="2" y="175"/>
                          </a:lnTo>
                          <a:lnTo>
                            <a:pt x="18" y="118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5" name="Oval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09" y="2932"/>
                      <a:ext cx="37" cy="42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8476" name="Freeform 46"/>
                    <p:cNvSpPr>
                      <a:spLocks/>
                    </p:cNvSpPr>
                    <p:nvPr/>
                  </p:nvSpPr>
                  <p:spPr bwMode="auto">
                    <a:xfrm>
                      <a:off x="1559" y="2806"/>
                      <a:ext cx="187" cy="104"/>
                    </a:xfrm>
                    <a:custGeom>
                      <a:avLst/>
                      <a:gdLst>
                        <a:gd name="T0" fmla="*/ 1 w 373"/>
                        <a:gd name="T1" fmla="*/ 1 h 208"/>
                        <a:gd name="T2" fmla="*/ 1 w 373"/>
                        <a:gd name="T3" fmla="*/ 1 h 208"/>
                        <a:gd name="T4" fmla="*/ 1 w 373"/>
                        <a:gd name="T5" fmla="*/ 1 h 208"/>
                        <a:gd name="T6" fmla="*/ 1 w 373"/>
                        <a:gd name="T7" fmla="*/ 0 h 208"/>
                        <a:gd name="T8" fmla="*/ 1 w 373"/>
                        <a:gd name="T9" fmla="*/ 1 h 208"/>
                        <a:gd name="T10" fmla="*/ 1 w 373"/>
                        <a:gd name="T11" fmla="*/ 1 h 208"/>
                        <a:gd name="T12" fmla="*/ 1 w 373"/>
                        <a:gd name="T13" fmla="*/ 1 h 208"/>
                        <a:gd name="T14" fmla="*/ 1 w 373"/>
                        <a:gd name="T15" fmla="*/ 1 h 208"/>
                        <a:gd name="T16" fmla="*/ 1 w 373"/>
                        <a:gd name="T17" fmla="*/ 1 h 208"/>
                        <a:gd name="T18" fmla="*/ 1 w 373"/>
                        <a:gd name="T19" fmla="*/ 1 h 208"/>
                        <a:gd name="T20" fmla="*/ 1 w 373"/>
                        <a:gd name="T21" fmla="*/ 1 h 208"/>
                        <a:gd name="T22" fmla="*/ 1 w 373"/>
                        <a:gd name="T23" fmla="*/ 1 h 208"/>
                        <a:gd name="T24" fmla="*/ 1 w 373"/>
                        <a:gd name="T25" fmla="*/ 1 h 208"/>
                        <a:gd name="T26" fmla="*/ 1 w 373"/>
                        <a:gd name="T27" fmla="*/ 1 h 208"/>
                        <a:gd name="T28" fmla="*/ 1 w 373"/>
                        <a:gd name="T29" fmla="*/ 1 h 208"/>
                        <a:gd name="T30" fmla="*/ 1 w 373"/>
                        <a:gd name="T31" fmla="*/ 1 h 208"/>
                        <a:gd name="T32" fmla="*/ 0 w 373"/>
                        <a:gd name="T33" fmla="*/ 1 h 208"/>
                        <a:gd name="T34" fmla="*/ 1 w 373"/>
                        <a:gd name="T35" fmla="*/ 1 h 208"/>
                        <a:gd name="T36" fmla="*/ 1 w 373"/>
                        <a:gd name="T37" fmla="*/ 1 h 208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373"/>
                        <a:gd name="T58" fmla="*/ 0 h 208"/>
                        <a:gd name="T59" fmla="*/ 373 w 373"/>
                        <a:gd name="T60" fmla="*/ 208 h 208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373" h="208">
                          <a:moveTo>
                            <a:pt x="11" y="122"/>
                          </a:moveTo>
                          <a:lnTo>
                            <a:pt x="30" y="110"/>
                          </a:lnTo>
                          <a:lnTo>
                            <a:pt x="307" y="1"/>
                          </a:lnTo>
                          <a:lnTo>
                            <a:pt x="325" y="0"/>
                          </a:lnTo>
                          <a:lnTo>
                            <a:pt x="343" y="8"/>
                          </a:lnTo>
                          <a:lnTo>
                            <a:pt x="361" y="21"/>
                          </a:lnTo>
                          <a:lnTo>
                            <a:pt x="373" y="44"/>
                          </a:lnTo>
                          <a:lnTo>
                            <a:pt x="371" y="64"/>
                          </a:lnTo>
                          <a:lnTo>
                            <a:pt x="365" y="85"/>
                          </a:lnTo>
                          <a:lnTo>
                            <a:pt x="354" y="97"/>
                          </a:lnTo>
                          <a:lnTo>
                            <a:pt x="336" y="107"/>
                          </a:lnTo>
                          <a:lnTo>
                            <a:pt x="71" y="207"/>
                          </a:lnTo>
                          <a:lnTo>
                            <a:pt x="55" y="208"/>
                          </a:lnTo>
                          <a:lnTo>
                            <a:pt x="37" y="203"/>
                          </a:lnTo>
                          <a:lnTo>
                            <a:pt x="23" y="195"/>
                          </a:lnTo>
                          <a:lnTo>
                            <a:pt x="8" y="182"/>
                          </a:lnTo>
                          <a:lnTo>
                            <a:pt x="0" y="164"/>
                          </a:lnTo>
                          <a:lnTo>
                            <a:pt x="3" y="140"/>
                          </a:lnTo>
                          <a:lnTo>
                            <a:pt x="11" y="122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8444" name="Group 47"/>
              <p:cNvGrpSpPr>
                <a:grpSpLocks/>
              </p:cNvGrpSpPr>
              <p:nvPr/>
            </p:nvGrpSpPr>
            <p:grpSpPr bwMode="auto">
              <a:xfrm>
                <a:off x="884" y="3323"/>
                <a:ext cx="824" cy="610"/>
                <a:chOff x="884" y="3323"/>
                <a:chExt cx="824" cy="610"/>
              </a:xfrm>
            </p:grpSpPr>
            <p:sp>
              <p:nvSpPr>
                <p:cNvPr id="18460" name="Freeform 48"/>
                <p:cNvSpPr>
                  <a:spLocks/>
                </p:cNvSpPr>
                <p:nvPr/>
              </p:nvSpPr>
              <p:spPr bwMode="auto">
                <a:xfrm>
                  <a:off x="884" y="3323"/>
                  <a:ext cx="824" cy="610"/>
                </a:xfrm>
                <a:custGeom>
                  <a:avLst/>
                  <a:gdLst>
                    <a:gd name="T0" fmla="*/ 1 w 1648"/>
                    <a:gd name="T1" fmla="*/ 1 h 1220"/>
                    <a:gd name="T2" fmla="*/ 1 w 1648"/>
                    <a:gd name="T3" fmla="*/ 1 h 1220"/>
                    <a:gd name="T4" fmla="*/ 1 w 1648"/>
                    <a:gd name="T5" fmla="*/ 1 h 1220"/>
                    <a:gd name="T6" fmla="*/ 1 w 1648"/>
                    <a:gd name="T7" fmla="*/ 1 h 1220"/>
                    <a:gd name="T8" fmla="*/ 1 w 1648"/>
                    <a:gd name="T9" fmla="*/ 1 h 1220"/>
                    <a:gd name="T10" fmla="*/ 1 w 1648"/>
                    <a:gd name="T11" fmla="*/ 1 h 1220"/>
                    <a:gd name="T12" fmla="*/ 1 w 1648"/>
                    <a:gd name="T13" fmla="*/ 1 h 1220"/>
                    <a:gd name="T14" fmla="*/ 1 w 1648"/>
                    <a:gd name="T15" fmla="*/ 1 h 1220"/>
                    <a:gd name="T16" fmla="*/ 1 w 1648"/>
                    <a:gd name="T17" fmla="*/ 1 h 1220"/>
                    <a:gd name="T18" fmla="*/ 1 w 1648"/>
                    <a:gd name="T19" fmla="*/ 1 h 1220"/>
                    <a:gd name="T20" fmla="*/ 1 w 1648"/>
                    <a:gd name="T21" fmla="*/ 0 h 1220"/>
                    <a:gd name="T22" fmla="*/ 1 w 1648"/>
                    <a:gd name="T23" fmla="*/ 1 h 1220"/>
                    <a:gd name="T24" fmla="*/ 1 w 1648"/>
                    <a:gd name="T25" fmla="*/ 1 h 1220"/>
                    <a:gd name="T26" fmla="*/ 1 w 1648"/>
                    <a:gd name="T27" fmla="*/ 1 h 1220"/>
                    <a:gd name="T28" fmla="*/ 1 w 1648"/>
                    <a:gd name="T29" fmla="*/ 1 h 1220"/>
                    <a:gd name="T30" fmla="*/ 1 w 1648"/>
                    <a:gd name="T31" fmla="*/ 1 h 1220"/>
                    <a:gd name="T32" fmla="*/ 1 w 1648"/>
                    <a:gd name="T33" fmla="*/ 1 h 1220"/>
                    <a:gd name="T34" fmla="*/ 1 w 1648"/>
                    <a:gd name="T35" fmla="*/ 1 h 1220"/>
                    <a:gd name="T36" fmla="*/ 1 w 1648"/>
                    <a:gd name="T37" fmla="*/ 1 h 1220"/>
                    <a:gd name="T38" fmla="*/ 1 w 1648"/>
                    <a:gd name="T39" fmla="*/ 1 h 1220"/>
                    <a:gd name="T40" fmla="*/ 1 w 1648"/>
                    <a:gd name="T41" fmla="*/ 1 h 1220"/>
                    <a:gd name="T42" fmla="*/ 0 w 1648"/>
                    <a:gd name="T43" fmla="*/ 1 h 1220"/>
                    <a:gd name="T44" fmla="*/ 1 w 1648"/>
                    <a:gd name="T45" fmla="*/ 1 h 1220"/>
                    <a:gd name="T46" fmla="*/ 1 w 1648"/>
                    <a:gd name="T47" fmla="*/ 1 h 1220"/>
                    <a:gd name="T48" fmla="*/ 1 w 1648"/>
                    <a:gd name="T49" fmla="*/ 1 h 1220"/>
                    <a:gd name="T50" fmla="*/ 1 w 1648"/>
                    <a:gd name="T51" fmla="*/ 1 h 1220"/>
                    <a:gd name="T52" fmla="*/ 1 w 1648"/>
                    <a:gd name="T53" fmla="*/ 1 h 1220"/>
                    <a:gd name="T54" fmla="*/ 1 w 1648"/>
                    <a:gd name="T55" fmla="*/ 1 h 1220"/>
                    <a:gd name="T56" fmla="*/ 1 w 1648"/>
                    <a:gd name="T57" fmla="*/ 1 h 122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1648"/>
                    <a:gd name="T88" fmla="*/ 0 h 1220"/>
                    <a:gd name="T89" fmla="*/ 1648 w 1648"/>
                    <a:gd name="T90" fmla="*/ 1220 h 1220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1648" h="1220">
                      <a:moveTo>
                        <a:pt x="439" y="586"/>
                      </a:moveTo>
                      <a:lnTo>
                        <a:pt x="531" y="627"/>
                      </a:lnTo>
                      <a:lnTo>
                        <a:pt x="568" y="573"/>
                      </a:lnTo>
                      <a:lnTo>
                        <a:pt x="626" y="498"/>
                      </a:lnTo>
                      <a:lnTo>
                        <a:pt x="696" y="422"/>
                      </a:lnTo>
                      <a:lnTo>
                        <a:pt x="788" y="350"/>
                      </a:lnTo>
                      <a:lnTo>
                        <a:pt x="902" y="268"/>
                      </a:lnTo>
                      <a:lnTo>
                        <a:pt x="1039" y="189"/>
                      </a:lnTo>
                      <a:lnTo>
                        <a:pt x="1188" y="101"/>
                      </a:lnTo>
                      <a:lnTo>
                        <a:pt x="1353" y="4"/>
                      </a:lnTo>
                      <a:lnTo>
                        <a:pt x="1416" y="0"/>
                      </a:lnTo>
                      <a:lnTo>
                        <a:pt x="1492" y="34"/>
                      </a:lnTo>
                      <a:lnTo>
                        <a:pt x="1560" y="117"/>
                      </a:lnTo>
                      <a:lnTo>
                        <a:pt x="1608" y="226"/>
                      </a:lnTo>
                      <a:lnTo>
                        <a:pt x="1631" y="350"/>
                      </a:lnTo>
                      <a:lnTo>
                        <a:pt x="1648" y="541"/>
                      </a:lnTo>
                      <a:lnTo>
                        <a:pt x="1642" y="663"/>
                      </a:lnTo>
                      <a:lnTo>
                        <a:pt x="1615" y="818"/>
                      </a:lnTo>
                      <a:lnTo>
                        <a:pt x="1563" y="969"/>
                      </a:lnTo>
                      <a:lnTo>
                        <a:pt x="1498" y="1108"/>
                      </a:lnTo>
                      <a:lnTo>
                        <a:pt x="1424" y="1220"/>
                      </a:lnTo>
                      <a:lnTo>
                        <a:pt x="0" y="1220"/>
                      </a:lnTo>
                      <a:lnTo>
                        <a:pt x="127" y="941"/>
                      </a:lnTo>
                      <a:lnTo>
                        <a:pt x="199" y="974"/>
                      </a:lnTo>
                      <a:lnTo>
                        <a:pt x="271" y="919"/>
                      </a:lnTo>
                      <a:lnTo>
                        <a:pt x="343" y="854"/>
                      </a:lnTo>
                      <a:lnTo>
                        <a:pt x="375" y="814"/>
                      </a:lnTo>
                      <a:lnTo>
                        <a:pt x="415" y="743"/>
                      </a:lnTo>
                      <a:lnTo>
                        <a:pt x="439" y="586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8461" name="Group 49"/>
                <p:cNvGrpSpPr>
                  <a:grpSpLocks/>
                </p:cNvGrpSpPr>
                <p:nvPr/>
              </p:nvGrpSpPr>
              <p:grpSpPr bwMode="auto">
                <a:xfrm>
                  <a:off x="1130" y="3517"/>
                  <a:ext cx="333" cy="320"/>
                  <a:chOff x="1130" y="3517"/>
                  <a:chExt cx="333" cy="320"/>
                </a:xfrm>
              </p:grpSpPr>
              <p:sp>
                <p:nvSpPr>
                  <p:cNvPr id="18468" name="Freeform 50"/>
                  <p:cNvSpPr>
                    <a:spLocks/>
                  </p:cNvSpPr>
                  <p:nvPr/>
                </p:nvSpPr>
                <p:spPr bwMode="auto">
                  <a:xfrm>
                    <a:off x="1130" y="3521"/>
                    <a:ext cx="333" cy="316"/>
                  </a:xfrm>
                  <a:custGeom>
                    <a:avLst/>
                    <a:gdLst>
                      <a:gd name="T0" fmla="*/ 0 w 667"/>
                      <a:gd name="T1" fmla="*/ 1 h 630"/>
                      <a:gd name="T2" fmla="*/ 0 w 667"/>
                      <a:gd name="T3" fmla="*/ 1 h 630"/>
                      <a:gd name="T4" fmla="*/ 0 w 667"/>
                      <a:gd name="T5" fmla="*/ 1 h 630"/>
                      <a:gd name="T6" fmla="*/ 0 w 667"/>
                      <a:gd name="T7" fmla="*/ 1 h 630"/>
                      <a:gd name="T8" fmla="*/ 0 w 667"/>
                      <a:gd name="T9" fmla="*/ 1 h 630"/>
                      <a:gd name="T10" fmla="*/ 0 w 667"/>
                      <a:gd name="T11" fmla="*/ 1 h 630"/>
                      <a:gd name="T12" fmla="*/ 0 w 667"/>
                      <a:gd name="T13" fmla="*/ 1 h 630"/>
                      <a:gd name="T14" fmla="*/ 0 w 667"/>
                      <a:gd name="T15" fmla="*/ 1 h 630"/>
                      <a:gd name="T16" fmla="*/ 0 w 667"/>
                      <a:gd name="T17" fmla="*/ 1 h 630"/>
                      <a:gd name="T18" fmla="*/ 0 w 667"/>
                      <a:gd name="T19" fmla="*/ 1 h 630"/>
                      <a:gd name="T20" fmla="*/ 0 w 667"/>
                      <a:gd name="T21" fmla="*/ 1 h 630"/>
                      <a:gd name="T22" fmla="*/ 0 w 667"/>
                      <a:gd name="T23" fmla="*/ 1 h 630"/>
                      <a:gd name="T24" fmla="*/ 0 w 667"/>
                      <a:gd name="T25" fmla="*/ 1 h 630"/>
                      <a:gd name="T26" fmla="*/ 0 w 667"/>
                      <a:gd name="T27" fmla="*/ 1 h 630"/>
                      <a:gd name="T28" fmla="*/ 0 w 667"/>
                      <a:gd name="T29" fmla="*/ 1 h 630"/>
                      <a:gd name="T30" fmla="*/ 0 w 667"/>
                      <a:gd name="T31" fmla="*/ 1 h 630"/>
                      <a:gd name="T32" fmla="*/ 0 w 667"/>
                      <a:gd name="T33" fmla="*/ 1 h 630"/>
                      <a:gd name="T34" fmla="*/ 0 w 667"/>
                      <a:gd name="T35" fmla="*/ 1 h 630"/>
                      <a:gd name="T36" fmla="*/ 0 w 667"/>
                      <a:gd name="T37" fmla="*/ 1 h 630"/>
                      <a:gd name="T38" fmla="*/ 0 w 667"/>
                      <a:gd name="T39" fmla="*/ 1 h 630"/>
                      <a:gd name="T40" fmla="*/ 0 w 667"/>
                      <a:gd name="T41" fmla="*/ 1 h 630"/>
                      <a:gd name="T42" fmla="*/ 0 w 667"/>
                      <a:gd name="T43" fmla="*/ 1 h 630"/>
                      <a:gd name="T44" fmla="*/ 0 w 667"/>
                      <a:gd name="T45" fmla="*/ 1 h 630"/>
                      <a:gd name="T46" fmla="*/ 0 w 667"/>
                      <a:gd name="T47" fmla="*/ 1 h 630"/>
                      <a:gd name="T48" fmla="*/ 0 w 667"/>
                      <a:gd name="T49" fmla="*/ 1 h 630"/>
                      <a:gd name="T50" fmla="*/ 0 w 667"/>
                      <a:gd name="T51" fmla="*/ 1 h 630"/>
                      <a:gd name="T52" fmla="*/ 0 w 667"/>
                      <a:gd name="T53" fmla="*/ 1 h 630"/>
                      <a:gd name="T54" fmla="*/ 0 w 667"/>
                      <a:gd name="T55" fmla="*/ 1 h 630"/>
                      <a:gd name="T56" fmla="*/ 0 w 667"/>
                      <a:gd name="T57" fmla="*/ 0 h 630"/>
                      <a:gd name="T58" fmla="*/ 0 w 667"/>
                      <a:gd name="T59" fmla="*/ 1 h 630"/>
                      <a:gd name="T60" fmla="*/ 0 w 667"/>
                      <a:gd name="T61" fmla="*/ 1 h 630"/>
                      <a:gd name="T62" fmla="*/ 0 w 667"/>
                      <a:gd name="T63" fmla="*/ 1 h 630"/>
                      <a:gd name="T64" fmla="*/ 0 w 667"/>
                      <a:gd name="T65" fmla="*/ 1 h 630"/>
                      <a:gd name="T66" fmla="*/ 0 w 667"/>
                      <a:gd name="T67" fmla="*/ 1 h 630"/>
                      <a:gd name="T68" fmla="*/ 0 w 667"/>
                      <a:gd name="T69" fmla="*/ 1 h 630"/>
                      <a:gd name="T70" fmla="*/ 0 w 667"/>
                      <a:gd name="T71" fmla="*/ 1 h 630"/>
                      <a:gd name="T72" fmla="*/ 0 w 667"/>
                      <a:gd name="T73" fmla="*/ 1 h 630"/>
                      <a:gd name="T74" fmla="*/ 0 w 667"/>
                      <a:gd name="T75" fmla="*/ 1 h 630"/>
                      <a:gd name="T76" fmla="*/ 0 w 667"/>
                      <a:gd name="T77" fmla="*/ 1 h 630"/>
                      <a:gd name="T78" fmla="*/ 0 w 667"/>
                      <a:gd name="T79" fmla="*/ 1 h 630"/>
                      <a:gd name="T80" fmla="*/ 0 w 667"/>
                      <a:gd name="T81" fmla="*/ 1 h 630"/>
                      <a:gd name="T82" fmla="*/ 0 w 667"/>
                      <a:gd name="T83" fmla="*/ 1 h 630"/>
                      <a:gd name="T84" fmla="*/ 0 w 667"/>
                      <a:gd name="T85" fmla="*/ 1 h 630"/>
                      <a:gd name="T86" fmla="*/ 0 w 667"/>
                      <a:gd name="T87" fmla="*/ 1 h 630"/>
                      <a:gd name="T88" fmla="*/ 0 w 667"/>
                      <a:gd name="T89" fmla="*/ 1 h 630"/>
                      <a:gd name="T90" fmla="*/ 0 w 667"/>
                      <a:gd name="T91" fmla="*/ 1 h 630"/>
                      <a:gd name="T92" fmla="*/ 0 w 667"/>
                      <a:gd name="T93" fmla="*/ 1 h 63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667"/>
                      <a:gd name="T142" fmla="*/ 0 h 630"/>
                      <a:gd name="T143" fmla="*/ 667 w 667"/>
                      <a:gd name="T144" fmla="*/ 630 h 630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667" h="630">
                        <a:moveTo>
                          <a:pt x="0" y="214"/>
                        </a:moveTo>
                        <a:lnTo>
                          <a:pt x="32" y="239"/>
                        </a:lnTo>
                        <a:lnTo>
                          <a:pt x="63" y="258"/>
                        </a:lnTo>
                        <a:lnTo>
                          <a:pt x="131" y="306"/>
                        </a:lnTo>
                        <a:lnTo>
                          <a:pt x="188" y="354"/>
                        </a:lnTo>
                        <a:lnTo>
                          <a:pt x="223" y="394"/>
                        </a:lnTo>
                        <a:lnTo>
                          <a:pt x="260" y="442"/>
                        </a:lnTo>
                        <a:lnTo>
                          <a:pt x="264" y="481"/>
                        </a:lnTo>
                        <a:lnTo>
                          <a:pt x="296" y="476"/>
                        </a:lnTo>
                        <a:lnTo>
                          <a:pt x="304" y="494"/>
                        </a:lnTo>
                        <a:lnTo>
                          <a:pt x="323" y="522"/>
                        </a:lnTo>
                        <a:lnTo>
                          <a:pt x="331" y="538"/>
                        </a:lnTo>
                        <a:lnTo>
                          <a:pt x="323" y="550"/>
                        </a:lnTo>
                        <a:lnTo>
                          <a:pt x="352" y="556"/>
                        </a:lnTo>
                        <a:lnTo>
                          <a:pt x="400" y="590"/>
                        </a:lnTo>
                        <a:lnTo>
                          <a:pt x="404" y="630"/>
                        </a:lnTo>
                        <a:lnTo>
                          <a:pt x="409" y="556"/>
                        </a:lnTo>
                        <a:lnTo>
                          <a:pt x="381" y="534"/>
                        </a:lnTo>
                        <a:lnTo>
                          <a:pt x="388" y="469"/>
                        </a:lnTo>
                        <a:lnTo>
                          <a:pt x="388" y="464"/>
                        </a:lnTo>
                        <a:lnTo>
                          <a:pt x="397" y="433"/>
                        </a:lnTo>
                        <a:lnTo>
                          <a:pt x="415" y="354"/>
                        </a:lnTo>
                        <a:lnTo>
                          <a:pt x="443" y="298"/>
                        </a:lnTo>
                        <a:lnTo>
                          <a:pt x="489" y="267"/>
                        </a:lnTo>
                        <a:lnTo>
                          <a:pt x="543" y="218"/>
                        </a:lnTo>
                        <a:lnTo>
                          <a:pt x="615" y="145"/>
                        </a:lnTo>
                        <a:lnTo>
                          <a:pt x="643" y="84"/>
                        </a:lnTo>
                        <a:lnTo>
                          <a:pt x="659" y="41"/>
                        </a:lnTo>
                        <a:lnTo>
                          <a:pt x="667" y="0"/>
                        </a:lnTo>
                        <a:lnTo>
                          <a:pt x="618" y="92"/>
                        </a:lnTo>
                        <a:lnTo>
                          <a:pt x="571" y="161"/>
                        </a:lnTo>
                        <a:lnTo>
                          <a:pt x="507" y="205"/>
                        </a:lnTo>
                        <a:lnTo>
                          <a:pt x="461" y="230"/>
                        </a:lnTo>
                        <a:lnTo>
                          <a:pt x="415" y="269"/>
                        </a:lnTo>
                        <a:lnTo>
                          <a:pt x="368" y="326"/>
                        </a:lnTo>
                        <a:lnTo>
                          <a:pt x="344" y="369"/>
                        </a:lnTo>
                        <a:lnTo>
                          <a:pt x="340" y="426"/>
                        </a:lnTo>
                        <a:lnTo>
                          <a:pt x="331" y="481"/>
                        </a:lnTo>
                        <a:lnTo>
                          <a:pt x="344" y="497"/>
                        </a:lnTo>
                        <a:lnTo>
                          <a:pt x="319" y="481"/>
                        </a:lnTo>
                        <a:lnTo>
                          <a:pt x="313" y="449"/>
                        </a:lnTo>
                        <a:lnTo>
                          <a:pt x="288" y="454"/>
                        </a:lnTo>
                        <a:lnTo>
                          <a:pt x="285" y="421"/>
                        </a:lnTo>
                        <a:lnTo>
                          <a:pt x="239" y="378"/>
                        </a:lnTo>
                        <a:lnTo>
                          <a:pt x="176" y="322"/>
                        </a:lnTo>
                        <a:lnTo>
                          <a:pt x="96" y="255"/>
                        </a:lnTo>
                        <a:lnTo>
                          <a:pt x="0" y="214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6350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69" name="Freeform 51"/>
                  <p:cNvSpPr>
                    <a:spLocks/>
                  </p:cNvSpPr>
                  <p:nvPr/>
                </p:nvSpPr>
                <p:spPr bwMode="auto">
                  <a:xfrm>
                    <a:off x="1132" y="3517"/>
                    <a:ext cx="330" cy="283"/>
                  </a:xfrm>
                  <a:custGeom>
                    <a:avLst/>
                    <a:gdLst>
                      <a:gd name="T0" fmla="*/ 0 w 661"/>
                      <a:gd name="T1" fmla="*/ 0 h 567"/>
                      <a:gd name="T2" fmla="*/ 0 w 661"/>
                      <a:gd name="T3" fmla="*/ 0 h 567"/>
                      <a:gd name="T4" fmla="*/ 0 w 661"/>
                      <a:gd name="T5" fmla="*/ 0 h 567"/>
                      <a:gd name="T6" fmla="*/ 0 w 661"/>
                      <a:gd name="T7" fmla="*/ 0 h 567"/>
                      <a:gd name="T8" fmla="*/ 0 w 661"/>
                      <a:gd name="T9" fmla="*/ 0 h 567"/>
                      <a:gd name="T10" fmla="*/ 0 w 661"/>
                      <a:gd name="T11" fmla="*/ 0 h 567"/>
                      <a:gd name="T12" fmla="*/ 0 w 661"/>
                      <a:gd name="T13" fmla="*/ 0 h 567"/>
                      <a:gd name="T14" fmla="*/ 0 w 661"/>
                      <a:gd name="T15" fmla="*/ 0 h 567"/>
                      <a:gd name="T16" fmla="*/ 0 w 661"/>
                      <a:gd name="T17" fmla="*/ 0 h 567"/>
                      <a:gd name="T18" fmla="*/ 0 w 661"/>
                      <a:gd name="T19" fmla="*/ 0 h 567"/>
                      <a:gd name="T20" fmla="*/ 0 w 661"/>
                      <a:gd name="T21" fmla="*/ 0 h 567"/>
                      <a:gd name="T22" fmla="*/ 0 w 661"/>
                      <a:gd name="T23" fmla="*/ 0 h 567"/>
                      <a:gd name="T24" fmla="*/ 0 w 661"/>
                      <a:gd name="T25" fmla="*/ 0 h 567"/>
                      <a:gd name="T26" fmla="*/ 0 w 661"/>
                      <a:gd name="T27" fmla="*/ 0 h 567"/>
                      <a:gd name="T28" fmla="*/ 0 w 661"/>
                      <a:gd name="T29" fmla="*/ 0 h 567"/>
                      <a:gd name="T30" fmla="*/ 0 w 661"/>
                      <a:gd name="T31" fmla="*/ 0 h 567"/>
                      <a:gd name="T32" fmla="*/ 0 w 661"/>
                      <a:gd name="T33" fmla="*/ 0 h 567"/>
                      <a:gd name="T34" fmla="*/ 0 w 661"/>
                      <a:gd name="T35" fmla="*/ 0 h 567"/>
                      <a:gd name="T36" fmla="*/ 0 w 661"/>
                      <a:gd name="T37" fmla="*/ 0 h 567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1"/>
                      <a:gd name="T58" fmla="*/ 0 h 567"/>
                      <a:gd name="T59" fmla="*/ 661 w 661"/>
                      <a:gd name="T60" fmla="*/ 567 h 567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1" h="567">
                        <a:moveTo>
                          <a:pt x="0" y="227"/>
                        </a:moveTo>
                        <a:lnTo>
                          <a:pt x="56" y="235"/>
                        </a:lnTo>
                        <a:lnTo>
                          <a:pt x="104" y="272"/>
                        </a:lnTo>
                        <a:lnTo>
                          <a:pt x="195" y="339"/>
                        </a:lnTo>
                        <a:lnTo>
                          <a:pt x="280" y="426"/>
                        </a:lnTo>
                        <a:lnTo>
                          <a:pt x="283" y="457"/>
                        </a:lnTo>
                        <a:lnTo>
                          <a:pt x="310" y="450"/>
                        </a:lnTo>
                        <a:lnTo>
                          <a:pt x="327" y="487"/>
                        </a:lnTo>
                        <a:lnTo>
                          <a:pt x="331" y="511"/>
                        </a:lnTo>
                        <a:lnTo>
                          <a:pt x="390" y="567"/>
                        </a:lnTo>
                        <a:lnTo>
                          <a:pt x="331" y="507"/>
                        </a:lnTo>
                        <a:lnTo>
                          <a:pt x="324" y="474"/>
                        </a:lnTo>
                        <a:lnTo>
                          <a:pt x="336" y="376"/>
                        </a:lnTo>
                        <a:lnTo>
                          <a:pt x="387" y="294"/>
                        </a:lnTo>
                        <a:lnTo>
                          <a:pt x="464" y="230"/>
                        </a:lnTo>
                        <a:lnTo>
                          <a:pt x="539" y="185"/>
                        </a:lnTo>
                        <a:lnTo>
                          <a:pt x="591" y="123"/>
                        </a:lnTo>
                        <a:lnTo>
                          <a:pt x="628" y="74"/>
                        </a:lnTo>
                        <a:lnTo>
                          <a:pt x="661" y="0"/>
                        </a:lnTo>
                      </a:path>
                    </a:pathLst>
                  </a:cu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462" name="Group 52"/>
                <p:cNvGrpSpPr>
                  <a:grpSpLocks/>
                </p:cNvGrpSpPr>
                <p:nvPr/>
              </p:nvGrpSpPr>
              <p:grpSpPr bwMode="auto">
                <a:xfrm>
                  <a:off x="939" y="3808"/>
                  <a:ext cx="131" cy="125"/>
                  <a:chOff x="939" y="3808"/>
                  <a:chExt cx="131" cy="125"/>
                </a:xfrm>
              </p:grpSpPr>
              <p:sp>
                <p:nvSpPr>
                  <p:cNvPr id="18466" name="Freeform 53"/>
                  <p:cNvSpPr>
                    <a:spLocks/>
                  </p:cNvSpPr>
                  <p:nvPr/>
                </p:nvSpPr>
                <p:spPr bwMode="auto">
                  <a:xfrm>
                    <a:off x="939" y="3808"/>
                    <a:ext cx="131" cy="123"/>
                  </a:xfrm>
                  <a:custGeom>
                    <a:avLst/>
                    <a:gdLst>
                      <a:gd name="T0" fmla="*/ 0 w 262"/>
                      <a:gd name="T1" fmla="*/ 0 h 245"/>
                      <a:gd name="T2" fmla="*/ 1 w 262"/>
                      <a:gd name="T3" fmla="*/ 1 h 245"/>
                      <a:gd name="T4" fmla="*/ 1 w 262"/>
                      <a:gd name="T5" fmla="*/ 1 h 245"/>
                      <a:gd name="T6" fmla="*/ 1 w 262"/>
                      <a:gd name="T7" fmla="*/ 1 h 245"/>
                      <a:gd name="T8" fmla="*/ 1 w 262"/>
                      <a:gd name="T9" fmla="*/ 1 h 245"/>
                      <a:gd name="T10" fmla="*/ 1 w 262"/>
                      <a:gd name="T11" fmla="*/ 1 h 245"/>
                      <a:gd name="T12" fmla="*/ 1 w 262"/>
                      <a:gd name="T13" fmla="*/ 1 h 245"/>
                      <a:gd name="T14" fmla="*/ 1 w 262"/>
                      <a:gd name="T15" fmla="*/ 1 h 245"/>
                      <a:gd name="T16" fmla="*/ 1 w 262"/>
                      <a:gd name="T17" fmla="*/ 1 h 245"/>
                      <a:gd name="T18" fmla="*/ 1 w 262"/>
                      <a:gd name="T19" fmla="*/ 1 h 245"/>
                      <a:gd name="T20" fmla="*/ 1 w 262"/>
                      <a:gd name="T21" fmla="*/ 1 h 245"/>
                      <a:gd name="T22" fmla="*/ 1 w 262"/>
                      <a:gd name="T23" fmla="*/ 1 h 245"/>
                      <a:gd name="T24" fmla="*/ 1 w 262"/>
                      <a:gd name="T25" fmla="*/ 1 h 245"/>
                      <a:gd name="T26" fmla="*/ 1 w 262"/>
                      <a:gd name="T27" fmla="*/ 1 h 245"/>
                      <a:gd name="T28" fmla="*/ 1 w 262"/>
                      <a:gd name="T29" fmla="*/ 1 h 245"/>
                      <a:gd name="T30" fmla="*/ 1 w 262"/>
                      <a:gd name="T31" fmla="*/ 1 h 245"/>
                      <a:gd name="T32" fmla="*/ 1 w 262"/>
                      <a:gd name="T33" fmla="*/ 1 h 245"/>
                      <a:gd name="T34" fmla="*/ 1 w 262"/>
                      <a:gd name="T35" fmla="*/ 1 h 245"/>
                      <a:gd name="T36" fmla="*/ 0 w 262"/>
                      <a:gd name="T37" fmla="*/ 0 h 245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262"/>
                      <a:gd name="T58" fmla="*/ 0 h 245"/>
                      <a:gd name="T59" fmla="*/ 262 w 262"/>
                      <a:gd name="T60" fmla="*/ 245 h 245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262" h="245">
                        <a:moveTo>
                          <a:pt x="0" y="0"/>
                        </a:moveTo>
                        <a:lnTo>
                          <a:pt x="128" y="33"/>
                        </a:lnTo>
                        <a:lnTo>
                          <a:pt x="160" y="57"/>
                        </a:lnTo>
                        <a:lnTo>
                          <a:pt x="188" y="133"/>
                        </a:lnTo>
                        <a:lnTo>
                          <a:pt x="192" y="137"/>
                        </a:lnTo>
                        <a:lnTo>
                          <a:pt x="213" y="161"/>
                        </a:lnTo>
                        <a:lnTo>
                          <a:pt x="229" y="184"/>
                        </a:lnTo>
                        <a:lnTo>
                          <a:pt x="251" y="198"/>
                        </a:lnTo>
                        <a:lnTo>
                          <a:pt x="251" y="222"/>
                        </a:lnTo>
                        <a:lnTo>
                          <a:pt x="262" y="245"/>
                        </a:lnTo>
                        <a:lnTo>
                          <a:pt x="241" y="245"/>
                        </a:lnTo>
                        <a:lnTo>
                          <a:pt x="240" y="235"/>
                        </a:lnTo>
                        <a:lnTo>
                          <a:pt x="240" y="206"/>
                        </a:lnTo>
                        <a:lnTo>
                          <a:pt x="204" y="188"/>
                        </a:lnTo>
                        <a:lnTo>
                          <a:pt x="176" y="141"/>
                        </a:lnTo>
                        <a:lnTo>
                          <a:pt x="160" y="109"/>
                        </a:lnTo>
                        <a:lnTo>
                          <a:pt x="135" y="57"/>
                        </a:lnTo>
                        <a:lnTo>
                          <a:pt x="87" y="2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6350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67" name="Freeform 54"/>
                  <p:cNvSpPr>
                    <a:spLocks/>
                  </p:cNvSpPr>
                  <p:nvPr/>
                </p:nvSpPr>
                <p:spPr bwMode="auto">
                  <a:xfrm>
                    <a:off x="946" y="3810"/>
                    <a:ext cx="112" cy="123"/>
                  </a:xfrm>
                  <a:custGeom>
                    <a:avLst/>
                    <a:gdLst>
                      <a:gd name="T0" fmla="*/ 0 w 222"/>
                      <a:gd name="T1" fmla="*/ 0 h 245"/>
                      <a:gd name="T2" fmla="*/ 1 w 222"/>
                      <a:gd name="T3" fmla="*/ 1 h 245"/>
                      <a:gd name="T4" fmla="*/ 1 w 222"/>
                      <a:gd name="T5" fmla="*/ 1 h 245"/>
                      <a:gd name="T6" fmla="*/ 1 w 222"/>
                      <a:gd name="T7" fmla="*/ 1 h 245"/>
                      <a:gd name="T8" fmla="*/ 1 w 222"/>
                      <a:gd name="T9" fmla="*/ 1 h 245"/>
                      <a:gd name="T10" fmla="*/ 1 w 222"/>
                      <a:gd name="T11" fmla="*/ 1 h 245"/>
                      <a:gd name="T12" fmla="*/ 1 w 222"/>
                      <a:gd name="T13" fmla="*/ 1 h 245"/>
                      <a:gd name="T14" fmla="*/ 1 w 222"/>
                      <a:gd name="T15" fmla="*/ 1 h 245"/>
                      <a:gd name="T16" fmla="*/ 1 w 222"/>
                      <a:gd name="T17" fmla="*/ 1 h 24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22"/>
                      <a:gd name="T28" fmla="*/ 0 h 245"/>
                      <a:gd name="T29" fmla="*/ 222 w 222"/>
                      <a:gd name="T30" fmla="*/ 245 h 24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22" h="245">
                        <a:moveTo>
                          <a:pt x="0" y="0"/>
                        </a:moveTo>
                        <a:lnTo>
                          <a:pt x="85" y="36"/>
                        </a:lnTo>
                        <a:lnTo>
                          <a:pt x="122" y="58"/>
                        </a:lnTo>
                        <a:lnTo>
                          <a:pt x="141" y="96"/>
                        </a:lnTo>
                        <a:lnTo>
                          <a:pt x="160" y="147"/>
                        </a:lnTo>
                        <a:lnTo>
                          <a:pt x="178" y="176"/>
                        </a:lnTo>
                        <a:lnTo>
                          <a:pt x="204" y="195"/>
                        </a:lnTo>
                        <a:lnTo>
                          <a:pt x="219" y="210"/>
                        </a:lnTo>
                        <a:lnTo>
                          <a:pt x="222" y="245"/>
                        </a:lnTo>
                      </a:path>
                    </a:pathLst>
                  </a:cu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463" name="Group 55"/>
                <p:cNvGrpSpPr>
                  <a:grpSpLocks/>
                </p:cNvGrpSpPr>
                <p:nvPr/>
              </p:nvGrpSpPr>
              <p:grpSpPr bwMode="auto">
                <a:xfrm>
                  <a:off x="1512" y="3664"/>
                  <a:ext cx="194" cy="269"/>
                  <a:chOff x="1512" y="3664"/>
                  <a:chExt cx="194" cy="269"/>
                </a:xfrm>
              </p:grpSpPr>
              <p:sp>
                <p:nvSpPr>
                  <p:cNvPr id="18464" name="Freeform 56"/>
                  <p:cNvSpPr>
                    <a:spLocks/>
                  </p:cNvSpPr>
                  <p:nvPr/>
                </p:nvSpPr>
                <p:spPr bwMode="auto">
                  <a:xfrm>
                    <a:off x="1516" y="3667"/>
                    <a:ext cx="189" cy="264"/>
                  </a:xfrm>
                  <a:custGeom>
                    <a:avLst/>
                    <a:gdLst>
                      <a:gd name="T0" fmla="*/ 1 w 378"/>
                      <a:gd name="T1" fmla="*/ 0 h 530"/>
                      <a:gd name="T2" fmla="*/ 1 w 378"/>
                      <a:gd name="T3" fmla="*/ 0 h 530"/>
                      <a:gd name="T4" fmla="*/ 1 w 378"/>
                      <a:gd name="T5" fmla="*/ 0 h 530"/>
                      <a:gd name="T6" fmla="*/ 1 w 378"/>
                      <a:gd name="T7" fmla="*/ 0 h 530"/>
                      <a:gd name="T8" fmla="*/ 1 w 378"/>
                      <a:gd name="T9" fmla="*/ 0 h 530"/>
                      <a:gd name="T10" fmla="*/ 1 w 378"/>
                      <a:gd name="T11" fmla="*/ 0 h 530"/>
                      <a:gd name="T12" fmla="*/ 1 w 378"/>
                      <a:gd name="T13" fmla="*/ 0 h 530"/>
                      <a:gd name="T14" fmla="*/ 1 w 378"/>
                      <a:gd name="T15" fmla="*/ 0 h 530"/>
                      <a:gd name="T16" fmla="*/ 1 w 378"/>
                      <a:gd name="T17" fmla="*/ 0 h 530"/>
                      <a:gd name="T18" fmla="*/ 1 w 378"/>
                      <a:gd name="T19" fmla="*/ 0 h 530"/>
                      <a:gd name="T20" fmla="*/ 1 w 378"/>
                      <a:gd name="T21" fmla="*/ 0 h 530"/>
                      <a:gd name="T22" fmla="*/ 1 w 378"/>
                      <a:gd name="T23" fmla="*/ 0 h 530"/>
                      <a:gd name="T24" fmla="*/ 0 w 378"/>
                      <a:gd name="T25" fmla="*/ 0 h 530"/>
                      <a:gd name="T26" fmla="*/ 1 w 378"/>
                      <a:gd name="T27" fmla="*/ 0 h 530"/>
                      <a:gd name="T28" fmla="*/ 1 w 378"/>
                      <a:gd name="T29" fmla="*/ 0 h 530"/>
                      <a:gd name="T30" fmla="*/ 1 w 378"/>
                      <a:gd name="T31" fmla="*/ 0 h 530"/>
                      <a:gd name="T32" fmla="*/ 1 w 378"/>
                      <a:gd name="T33" fmla="*/ 0 h 530"/>
                      <a:gd name="T34" fmla="*/ 1 w 378"/>
                      <a:gd name="T35" fmla="*/ 0 h 530"/>
                      <a:gd name="T36" fmla="*/ 1 w 378"/>
                      <a:gd name="T37" fmla="*/ 0 h 530"/>
                      <a:gd name="T38" fmla="*/ 1 w 378"/>
                      <a:gd name="T39" fmla="*/ 0 h 530"/>
                      <a:gd name="T40" fmla="*/ 1 w 378"/>
                      <a:gd name="T41" fmla="*/ 0 h 530"/>
                      <a:gd name="T42" fmla="*/ 1 w 378"/>
                      <a:gd name="T43" fmla="*/ 0 h 530"/>
                      <a:gd name="T44" fmla="*/ 1 w 378"/>
                      <a:gd name="T45" fmla="*/ 0 h 530"/>
                      <a:gd name="T46" fmla="*/ 1 w 378"/>
                      <a:gd name="T47" fmla="*/ 0 h 530"/>
                      <a:gd name="T48" fmla="*/ 1 w 378"/>
                      <a:gd name="T49" fmla="*/ 0 h 530"/>
                      <a:gd name="T50" fmla="*/ 1 w 378"/>
                      <a:gd name="T51" fmla="*/ 0 h 530"/>
                      <a:gd name="T52" fmla="*/ 1 w 378"/>
                      <a:gd name="T53" fmla="*/ 0 h 530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378"/>
                      <a:gd name="T82" fmla="*/ 0 h 530"/>
                      <a:gd name="T83" fmla="*/ 378 w 378"/>
                      <a:gd name="T84" fmla="*/ 530 h 530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378" h="530">
                        <a:moveTo>
                          <a:pt x="378" y="0"/>
                        </a:moveTo>
                        <a:lnTo>
                          <a:pt x="366" y="62"/>
                        </a:lnTo>
                        <a:lnTo>
                          <a:pt x="342" y="105"/>
                        </a:lnTo>
                        <a:lnTo>
                          <a:pt x="298" y="144"/>
                        </a:lnTo>
                        <a:lnTo>
                          <a:pt x="245" y="188"/>
                        </a:lnTo>
                        <a:lnTo>
                          <a:pt x="184" y="233"/>
                        </a:lnTo>
                        <a:lnTo>
                          <a:pt x="134" y="272"/>
                        </a:lnTo>
                        <a:lnTo>
                          <a:pt x="95" y="336"/>
                        </a:lnTo>
                        <a:lnTo>
                          <a:pt x="67" y="393"/>
                        </a:lnTo>
                        <a:lnTo>
                          <a:pt x="54" y="445"/>
                        </a:lnTo>
                        <a:lnTo>
                          <a:pt x="38" y="487"/>
                        </a:lnTo>
                        <a:lnTo>
                          <a:pt x="20" y="522"/>
                        </a:lnTo>
                        <a:lnTo>
                          <a:pt x="0" y="530"/>
                        </a:lnTo>
                        <a:lnTo>
                          <a:pt x="27" y="527"/>
                        </a:lnTo>
                        <a:lnTo>
                          <a:pt x="47" y="527"/>
                        </a:lnTo>
                        <a:lnTo>
                          <a:pt x="79" y="482"/>
                        </a:lnTo>
                        <a:lnTo>
                          <a:pt x="91" y="434"/>
                        </a:lnTo>
                        <a:lnTo>
                          <a:pt x="107" y="393"/>
                        </a:lnTo>
                        <a:lnTo>
                          <a:pt x="134" y="341"/>
                        </a:lnTo>
                        <a:lnTo>
                          <a:pt x="171" y="304"/>
                        </a:lnTo>
                        <a:lnTo>
                          <a:pt x="196" y="268"/>
                        </a:lnTo>
                        <a:lnTo>
                          <a:pt x="241" y="237"/>
                        </a:lnTo>
                        <a:lnTo>
                          <a:pt x="286" y="212"/>
                        </a:lnTo>
                        <a:lnTo>
                          <a:pt x="325" y="157"/>
                        </a:lnTo>
                        <a:lnTo>
                          <a:pt x="345" y="117"/>
                        </a:lnTo>
                        <a:lnTo>
                          <a:pt x="363" y="82"/>
                        </a:lnTo>
                        <a:lnTo>
                          <a:pt x="378" y="0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6350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65" name="Freeform 57"/>
                  <p:cNvSpPr>
                    <a:spLocks/>
                  </p:cNvSpPr>
                  <p:nvPr/>
                </p:nvSpPr>
                <p:spPr bwMode="auto">
                  <a:xfrm>
                    <a:off x="1512" y="3664"/>
                    <a:ext cx="194" cy="269"/>
                  </a:xfrm>
                  <a:custGeom>
                    <a:avLst/>
                    <a:gdLst>
                      <a:gd name="T0" fmla="*/ 0 w 386"/>
                      <a:gd name="T1" fmla="*/ 0 h 539"/>
                      <a:gd name="T2" fmla="*/ 1 w 386"/>
                      <a:gd name="T3" fmla="*/ 0 h 539"/>
                      <a:gd name="T4" fmla="*/ 1 w 386"/>
                      <a:gd name="T5" fmla="*/ 0 h 539"/>
                      <a:gd name="T6" fmla="*/ 1 w 386"/>
                      <a:gd name="T7" fmla="*/ 0 h 539"/>
                      <a:gd name="T8" fmla="*/ 1 w 386"/>
                      <a:gd name="T9" fmla="*/ 0 h 539"/>
                      <a:gd name="T10" fmla="*/ 1 w 386"/>
                      <a:gd name="T11" fmla="*/ 0 h 539"/>
                      <a:gd name="T12" fmla="*/ 1 w 386"/>
                      <a:gd name="T13" fmla="*/ 0 h 539"/>
                      <a:gd name="T14" fmla="*/ 1 w 386"/>
                      <a:gd name="T15" fmla="*/ 0 h 539"/>
                      <a:gd name="T16" fmla="*/ 1 w 386"/>
                      <a:gd name="T17" fmla="*/ 0 h 539"/>
                      <a:gd name="T18" fmla="*/ 1 w 386"/>
                      <a:gd name="T19" fmla="*/ 0 h 539"/>
                      <a:gd name="T20" fmla="*/ 1 w 386"/>
                      <a:gd name="T21" fmla="*/ 0 h 53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86"/>
                      <a:gd name="T34" fmla="*/ 0 h 539"/>
                      <a:gd name="T35" fmla="*/ 386 w 386"/>
                      <a:gd name="T36" fmla="*/ 539 h 53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86" h="539">
                        <a:moveTo>
                          <a:pt x="0" y="539"/>
                        </a:moveTo>
                        <a:lnTo>
                          <a:pt x="36" y="523"/>
                        </a:lnTo>
                        <a:lnTo>
                          <a:pt x="58" y="491"/>
                        </a:lnTo>
                        <a:lnTo>
                          <a:pt x="70" y="436"/>
                        </a:lnTo>
                        <a:lnTo>
                          <a:pt x="102" y="341"/>
                        </a:lnTo>
                        <a:lnTo>
                          <a:pt x="154" y="267"/>
                        </a:lnTo>
                        <a:lnTo>
                          <a:pt x="255" y="196"/>
                        </a:lnTo>
                        <a:lnTo>
                          <a:pt x="299" y="163"/>
                        </a:lnTo>
                        <a:lnTo>
                          <a:pt x="364" y="93"/>
                        </a:lnTo>
                        <a:lnTo>
                          <a:pt x="380" y="35"/>
                        </a:lnTo>
                        <a:lnTo>
                          <a:pt x="386" y="0"/>
                        </a:lnTo>
                      </a:path>
                    </a:pathLst>
                  </a:cu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445" name="Group 58"/>
              <p:cNvGrpSpPr>
                <a:grpSpLocks/>
              </p:cNvGrpSpPr>
              <p:nvPr/>
            </p:nvGrpSpPr>
            <p:grpSpPr bwMode="auto">
              <a:xfrm>
                <a:off x="1209" y="2947"/>
                <a:ext cx="128" cy="172"/>
                <a:chOff x="1209" y="2947"/>
                <a:chExt cx="128" cy="172"/>
              </a:xfrm>
            </p:grpSpPr>
            <p:sp>
              <p:nvSpPr>
                <p:cNvPr id="18458" name="Freeform 59"/>
                <p:cNvSpPr>
                  <a:spLocks/>
                </p:cNvSpPr>
                <p:nvPr/>
              </p:nvSpPr>
              <p:spPr bwMode="auto">
                <a:xfrm>
                  <a:off x="1209" y="2947"/>
                  <a:ext cx="119" cy="172"/>
                </a:xfrm>
                <a:custGeom>
                  <a:avLst/>
                  <a:gdLst>
                    <a:gd name="T0" fmla="*/ 0 w 239"/>
                    <a:gd name="T1" fmla="*/ 0 h 346"/>
                    <a:gd name="T2" fmla="*/ 0 w 239"/>
                    <a:gd name="T3" fmla="*/ 0 h 346"/>
                    <a:gd name="T4" fmla="*/ 0 w 239"/>
                    <a:gd name="T5" fmla="*/ 0 h 346"/>
                    <a:gd name="T6" fmla="*/ 0 w 239"/>
                    <a:gd name="T7" fmla="*/ 0 h 346"/>
                    <a:gd name="T8" fmla="*/ 0 w 239"/>
                    <a:gd name="T9" fmla="*/ 0 h 346"/>
                    <a:gd name="T10" fmla="*/ 0 w 239"/>
                    <a:gd name="T11" fmla="*/ 0 h 346"/>
                    <a:gd name="T12" fmla="*/ 0 w 239"/>
                    <a:gd name="T13" fmla="*/ 0 h 346"/>
                    <a:gd name="T14" fmla="*/ 0 w 239"/>
                    <a:gd name="T15" fmla="*/ 0 h 346"/>
                    <a:gd name="T16" fmla="*/ 0 w 239"/>
                    <a:gd name="T17" fmla="*/ 0 h 346"/>
                    <a:gd name="T18" fmla="*/ 0 w 239"/>
                    <a:gd name="T19" fmla="*/ 0 h 346"/>
                    <a:gd name="T20" fmla="*/ 0 w 239"/>
                    <a:gd name="T21" fmla="*/ 0 h 346"/>
                    <a:gd name="T22" fmla="*/ 0 w 239"/>
                    <a:gd name="T23" fmla="*/ 0 h 346"/>
                    <a:gd name="T24" fmla="*/ 0 w 239"/>
                    <a:gd name="T25" fmla="*/ 0 h 346"/>
                    <a:gd name="T26" fmla="*/ 0 w 239"/>
                    <a:gd name="T27" fmla="*/ 0 h 346"/>
                    <a:gd name="T28" fmla="*/ 0 w 239"/>
                    <a:gd name="T29" fmla="*/ 0 h 346"/>
                    <a:gd name="T30" fmla="*/ 0 w 239"/>
                    <a:gd name="T31" fmla="*/ 0 h 346"/>
                    <a:gd name="T32" fmla="*/ 0 w 239"/>
                    <a:gd name="T33" fmla="*/ 0 h 346"/>
                    <a:gd name="T34" fmla="*/ 0 w 239"/>
                    <a:gd name="T35" fmla="*/ 0 h 346"/>
                    <a:gd name="T36" fmla="*/ 0 w 239"/>
                    <a:gd name="T37" fmla="*/ 0 h 346"/>
                    <a:gd name="T38" fmla="*/ 0 w 239"/>
                    <a:gd name="T39" fmla="*/ 0 h 346"/>
                    <a:gd name="T40" fmla="*/ 0 w 239"/>
                    <a:gd name="T41" fmla="*/ 0 h 34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39"/>
                    <a:gd name="T64" fmla="*/ 0 h 346"/>
                    <a:gd name="T65" fmla="*/ 239 w 239"/>
                    <a:gd name="T66" fmla="*/ 346 h 34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39" h="346">
                      <a:moveTo>
                        <a:pt x="196" y="57"/>
                      </a:moveTo>
                      <a:lnTo>
                        <a:pt x="166" y="16"/>
                      </a:lnTo>
                      <a:lnTo>
                        <a:pt x="128" y="1"/>
                      </a:lnTo>
                      <a:lnTo>
                        <a:pt x="80" y="0"/>
                      </a:lnTo>
                      <a:lnTo>
                        <a:pt x="38" y="27"/>
                      </a:lnTo>
                      <a:lnTo>
                        <a:pt x="9" y="74"/>
                      </a:lnTo>
                      <a:lnTo>
                        <a:pt x="0" y="129"/>
                      </a:lnTo>
                      <a:lnTo>
                        <a:pt x="5" y="208"/>
                      </a:lnTo>
                      <a:lnTo>
                        <a:pt x="35" y="250"/>
                      </a:lnTo>
                      <a:lnTo>
                        <a:pt x="63" y="275"/>
                      </a:lnTo>
                      <a:lnTo>
                        <a:pt x="104" y="296"/>
                      </a:lnTo>
                      <a:lnTo>
                        <a:pt x="126" y="331"/>
                      </a:lnTo>
                      <a:lnTo>
                        <a:pt x="156" y="346"/>
                      </a:lnTo>
                      <a:lnTo>
                        <a:pt x="195" y="344"/>
                      </a:lnTo>
                      <a:lnTo>
                        <a:pt x="220" y="320"/>
                      </a:lnTo>
                      <a:lnTo>
                        <a:pt x="235" y="288"/>
                      </a:lnTo>
                      <a:lnTo>
                        <a:pt x="239" y="249"/>
                      </a:lnTo>
                      <a:lnTo>
                        <a:pt x="225" y="211"/>
                      </a:lnTo>
                      <a:lnTo>
                        <a:pt x="229" y="159"/>
                      </a:lnTo>
                      <a:lnTo>
                        <a:pt x="218" y="103"/>
                      </a:lnTo>
                      <a:lnTo>
                        <a:pt x="196" y="57"/>
                      </a:lnTo>
                      <a:close/>
                    </a:path>
                  </a:pathLst>
                </a:custGeom>
                <a:solidFill>
                  <a:srgbClr val="E0A08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59" name="Freeform 60"/>
                <p:cNvSpPr>
                  <a:spLocks/>
                </p:cNvSpPr>
                <p:nvPr/>
              </p:nvSpPr>
              <p:spPr bwMode="auto">
                <a:xfrm>
                  <a:off x="1239" y="2947"/>
                  <a:ext cx="98" cy="163"/>
                </a:xfrm>
                <a:custGeom>
                  <a:avLst/>
                  <a:gdLst>
                    <a:gd name="T0" fmla="*/ 0 w 197"/>
                    <a:gd name="T1" fmla="*/ 1 h 326"/>
                    <a:gd name="T2" fmla="*/ 0 w 197"/>
                    <a:gd name="T3" fmla="*/ 1 h 326"/>
                    <a:gd name="T4" fmla="*/ 0 w 197"/>
                    <a:gd name="T5" fmla="*/ 1 h 326"/>
                    <a:gd name="T6" fmla="*/ 0 w 197"/>
                    <a:gd name="T7" fmla="*/ 0 h 326"/>
                    <a:gd name="T8" fmla="*/ 0 w 197"/>
                    <a:gd name="T9" fmla="*/ 1 h 326"/>
                    <a:gd name="T10" fmla="*/ 0 w 197"/>
                    <a:gd name="T11" fmla="*/ 1 h 326"/>
                    <a:gd name="T12" fmla="*/ 0 w 197"/>
                    <a:gd name="T13" fmla="*/ 1 h 326"/>
                    <a:gd name="T14" fmla="*/ 0 w 197"/>
                    <a:gd name="T15" fmla="*/ 1 h 326"/>
                    <a:gd name="T16" fmla="*/ 0 w 197"/>
                    <a:gd name="T17" fmla="*/ 1 h 326"/>
                    <a:gd name="T18" fmla="*/ 0 w 197"/>
                    <a:gd name="T19" fmla="*/ 1 h 326"/>
                    <a:gd name="T20" fmla="*/ 0 w 197"/>
                    <a:gd name="T21" fmla="*/ 1 h 326"/>
                    <a:gd name="T22" fmla="*/ 0 w 197"/>
                    <a:gd name="T23" fmla="*/ 1 h 326"/>
                    <a:gd name="T24" fmla="*/ 0 w 197"/>
                    <a:gd name="T25" fmla="*/ 1 h 326"/>
                    <a:gd name="T26" fmla="*/ 0 w 197"/>
                    <a:gd name="T27" fmla="*/ 1 h 326"/>
                    <a:gd name="T28" fmla="*/ 0 w 197"/>
                    <a:gd name="T29" fmla="*/ 1 h 326"/>
                    <a:gd name="T30" fmla="*/ 0 w 197"/>
                    <a:gd name="T31" fmla="*/ 1 h 326"/>
                    <a:gd name="T32" fmla="*/ 0 w 197"/>
                    <a:gd name="T33" fmla="*/ 1 h 326"/>
                    <a:gd name="T34" fmla="*/ 0 w 197"/>
                    <a:gd name="T35" fmla="*/ 1 h 326"/>
                    <a:gd name="T36" fmla="*/ 0 w 197"/>
                    <a:gd name="T37" fmla="*/ 1 h 326"/>
                    <a:gd name="T38" fmla="*/ 0 w 197"/>
                    <a:gd name="T39" fmla="*/ 1 h 326"/>
                    <a:gd name="T40" fmla="*/ 0 w 197"/>
                    <a:gd name="T41" fmla="*/ 1 h 32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97"/>
                    <a:gd name="T64" fmla="*/ 0 h 326"/>
                    <a:gd name="T65" fmla="*/ 197 w 197"/>
                    <a:gd name="T66" fmla="*/ 326 h 32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97" h="326">
                      <a:moveTo>
                        <a:pt x="161" y="53"/>
                      </a:moveTo>
                      <a:lnTo>
                        <a:pt x="137" y="15"/>
                      </a:lnTo>
                      <a:lnTo>
                        <a:pt x="106" y="1"/>
                      </a:lnTo>
                      <a:lnTo>
                        <a:pt x="67" y="0"/>
                      </a:lnTo>
                      <a:lnTo>
                        <a:pt x="32" y="26"/>
                      </a:lnTo>
                      <a:lnTo>
                        <a:pt x="8" y="70"/>
                      </a:lnTo>
                      <a:lnTo>
                        <a:pt x="0" y="122"/>
                      </a:lnTo>
                      <a:lnTo>
                        <a:pt x="4" y="196"/>
                      </a:lnTo>
                      <a:lnTo>
                        <a:pt x="29" y="235"/>
                      </a:lnTo>
                      <a:lnTo>
                        <a:pt x="52" y="259"/>
                      </a:lnTo>
                      <a:lnTo>
                        <a:pt x="85" y="278"/>
                      </a:lnTo>
                      <a:lnTo>
                        <a:pt x="104" y="313"/>
                      </a:lnTo>
                      <a:lnTo>
                        <a:pt x="129" y="326"/>
                      </a:lnTo>
                      <a:lnTo>
                        <a:pt x="160" y="324"/>
                      </a:lnTo>
                      <a:lnTo>
                        <a:pt x="182" y="302"/>
                      </a:lnTo>
                      <a:lnTo>
                        <a:pt x="195" y="272"/>
                      </a:lnTo>
                      <a:lnTo>
                        <a:pt x="197" y="235"/>
                      </a:lnTo>
                      <a:lnTo>
                        <a:pt x="186" y="198"/>
                      </a:lnTo>
                      <a:lnTo>
                        <a:pt x="189" y="150"/>
                      </a:lnTo>
                      <a:lnTo>
                        <a:pt x="180" y="97"/>
                      </a:lnTo>
                      <a:lnTo>
                        <a:pt x="161" y="53"/>
                      </a:lnTo>
                      <a:close/>
                    </a:path>
                  </a:pathLst>
                </a:custGeom>
                <a:solidFill>
                  <a:srgbClr val="E0A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46" name="Group 61"/>
              <p:cNvGrpSpPr>
                <a:grpSpLocks/>
              </p:cNvGrpSpPr>
              <p:nvPr/>
            </p:nvGrpSpPr>
            <p:grpSpPr bwMode="auto">
              <a:xfrm>
                <a:off x="741" y="3199"/>
                <a:ext cx="811" cy="623"/>
                <a:chOff x="741" y="3199"/>
                <a:chExt cx="811" cy="623"/>
              </a:xfrm>
            </p:grpSpPr>
            <p:sp>
              <p:nvSpPr>
                <p:cNvPr id="18447" name="Freeform 62"/>
                <p:cNvSpPr>
                  <a:spLocks/>
                </p:cNvSpPr>
                <p:nvPr/>
              </p:nvSpPr>
              <p:spPr bwMode="auto">
                <a:xfrm>
                  <a:off x="1055" y="3199"/>
                  <a:ext cx="497" cy="419"/>
                </a:xfrm>
                <a:custGeom>
                  <a:avLst/>
                  <a:gdLst>
                    <a:gd name="T0" fmla="*/ 1 w 994"/>
                    <a:gd name="T1" fmla="*/ 0 h 838"/>
                    <a:gd name="T2" fmla="*/ 1 w 994"/>
                    <a:gd name="T3" fmla="*/ 1 h 838"/>
                    <a:gd name="T4" fmla="*/ 1 w 994"/>
                    <a:gd name="T5" fmla="*/ 1 h 838"/>
                    <a:gd name="T6" fmla="*/ 0 w 994"/>
                    <a:gd name="T7" fmla="*/ 1 h 838"/>
                    <a:gd name="T8" fmla="*/ 1 w 994"/>
                    <a:gd name="T9" fmla="*/ 1 h 838"/>
                    <a:gd name="T10" fmla="*/ 1 w 994"/>
                    <a:gd name="T11" fmla="*/ 1 h 838"/>
                    <a:gd name="T12" fmla="*/ 1 w 994"/>
                    <a:gd name="T13" fmla="*/ 1 h 838"/>
                    <a:gd name="T14" fmla="*/ 1 w 994"/>
                    <a:gd name="T15" fmla="*/ 1 h 838"/>
                    <a:gd name="T16" fmla="*/ 1 w 994"/>
                    <a:gd name="T17" fmla="*/ 1 h 838"/>
                    <a:gd name="T18" fmla="*/ 1 w 994"/>
                    <a:gd name="T19" fmla="*/ 1 h 838"/>
                    <a:gd name="T20" fmla="*/ 1 w 994"/>
                    <a:gd name="T21" fmla="*/ 1 h 838"/>
                    <a:gd name="T22" fmla="*/ 1 w 994"/>
                    <a:gd name="T23" fmla="*/ 1 h 838"/>
                    <a:gd name="T24" fmla="*/ 1 w 994"/>
                    <a:gd name="T25" fmla="*/ 1 h 838"/>
                    <a:gd name="T26" fmla="*/ 1 w 994"/>
                    <a:gd name="T27" fmla="*/ 1 h 838"/>
                    <a:gd name="T28" fmla="*/ 1 w 994"/>
                    <a:gd name="T29" fmla="*/ 1 h 838"/>
                    <a:gd name="T30" fmla="*/ 1 w 994"/>
                    <a:gd name="T31" fmla="*/ 1 h 838"/>
                    <a:gd name="T32" fmla="*/ 1 w 994"/>
                    <a:gd name="T33" fmla="*/ 1 h 838"/>
                    <a:gd name="T34" fmla="*/ 1 w 994"/>
                    <a:gd name="T35" fmla="*/ 1 h 838"/>
                    <a:gd name="T36" fmla="*/ 1 w 994"/>
                    <a:gd name="T37" fmla="*/ 1 h 838"/>
                    <a:gd name="T38" fmla="*/ 1 w 994"/>
                    <a:gd name="T39" fmla="*/ 1 h 838"/>
                    <a:gd name="T40" fmla="*/ 1 w 994"/>
                    <a:gd name="T41" fmla="*/ 1 h 838"/>
                    <a:gd name="T42" fmla="*/ 1 w 994"/>
                    <a:gd name="T43" fmla="*/ 1 h 838"/>
                    <a:gd name="T44" fmla="*/ 1 w 994"/>
                    <a:gd name="T45" fmla="*/ 0 h 838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994"/>
                    <a:gd name="T70" fmla="*/ 0 h 838"/>
                    <a:gd name="T71" fmla="*/ 994 w 994"/>
                    <a:gd name="T72" fmla="*/ 838 h 838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994" h="838">
                      <a:moveTo>
                        <a:pt x="380" y="0"/>
                      </a:moveTo>
                      <a:lnTo>
                        <a:pt x="188" y="165"/>
                      </a:lnTo>
                      <a:lnTo>
                        <a:pt x="71" y="319"/>
                      </a:lnTo>
                      <a:lnTo>
                        <a:pt x="0" y="582"/>
                      </a:lnTo>
                      <a:lnTo>
                        <a:pt x="188" y="443"/>
                      </a:lnTo>
                      <a:lnTo>
                        <a:pt x="292" y="345"/>
                      </a:lnTo>
                      <a:lnTo>
                        <a:pt x="349" y="282"/>
                      </a:lnTo>
                      <a:lnTo>
                        <a:pt x="292" y="441"/>
                      </a:lnTo>
                      <a:lnTo>
                        <a:pt x="278" y="586"/>
                      </a:lnTo>
                      <a:lnTo>
                        <a:pt x="273" y="838"/>
                      </a:lnTo>
                      <a:lnTo>
                        <a:pt x="305" y="766"/>
                      </a:lnTo>
                      <a:lnTo>
                        <a:pt x="369" y="661"/>
                      </a:lnTo>
                      <a:lnTo>
                        <a:pt x="473" y="582"/>
                      </a:lnTo>
                      <a:lnTo>
                        <a:pt x="568" y="541"/>
                      </a:lnTo>
                      <a:lnTo>
                        <a:pt x="799" y="433"/>
                      </a:lnTo>
                      <a:lnTo>
                        <a:pt x="994" y="252"/>
                      </a:lnTo>
                      <a:lnTo>
                        <a:pt x="934" y="209"/>
                      </a:lnTo>
                      <a:lnTo>
                        <a:pt x="879" y="230"/>
                      </a:lnTo>
                      <a:lnTo>
                        <a:pt x="787" y="234"/>
                      </a:lnTo>
                      <a:lnTo>
                        <a:pt x="675" y="221"/>
                      </a:lnTo>
                      <a:lnTo>
                        <a:pt x="577" y="193"/>
                      </a:lnTo>
                      <a:lnTo>
                        <a:pt x="424" y="205"/>
                      </a:lnTo>
                      <a:lnTo>
                        <a:pt x="380" y="0"/>
                      </a:lnTo>
                      <a:close/>
                    </a:path>
                  </a:pathLst>
                </a:custGeom>
                <a:solidFill>
                  <a:srgbClr val="E0E0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48" name="Freeform 63"/>
                <p:cNvSpPr>
                  <a:spLocks/>
                </p:cNvSpPr>
                <p:nvPr/>
              </p:nvSpPr>
              <p:spPr bwMode="auto">
                <a:xfrm>
                  <a:off x="982" y="3334"/>
                  <a:ext cx="268" cy="462"/>
                </a:xfrm>
                <a:custGeom>
                  <a:avLst/>
                  <a:gdLst>
                    <a:gd name="T0" fmla="*/ 0 w 537"/>
                    <a:gd name="T1" fmla="*/ 0 h 925"/>
                    <a:gd name="T2" fmla="*/ 0 w 537"/>
                    <a:gd name="T3" fmla="*/ 0 h 925"/>
                    <a:gd name="T4" fmla="*/ 0 w 537"/>
                    <a:gd name="T5" fmla="*/ 0 h 925"/>
                    <a:gd name="T6" fmla="*/ 0 w 537"/>
                    <a:gd name="T7" fmla="*/ 0 h 925"/>
                    <a:gd name="T8" fmla="*/ 0 w 537"/>
                    <a:gd name="T9" fmla="*/ 0 h 925"/>
                    <a:gd name="T10" fmla="*/ 0 w 537"/>
                    <a:gd name="T11" fmla="*/ 0 h 925"/>
                    <a:gd name="T12" fmla="*/ 0 w 537"/>
                    <a:gd name="T13" fmla="*/ 0 h 925"/>
                    <a:gd name="T14" fmla="*/ 0 w 537"/>
                    <a:gd name="T15" fmla="*/ 0 h 925"/>
                    <a:gd name="T16" fmla="*/ 0 w 537"/>
                    <a:gd name="T17" fmla="*/ 0 h 925"/>
                    <a:gd name="T18" fmla="*/ 0 w 537"/>
                    <a:gd name="T19" fmla="*/ 0 h 92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537"/>
                    <a:gd name="T31" fmla="*/ 0 h 925"/>
                    <a:gd name="T32" fmla="*/ 537 w 537"/>
                    <a:gd name="T33" fmla="*/ 925 h 92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537" h="925">
                      <a:moveTo>
                        <a:pt x="473" y="0"/>
                      </a:moveTo>
                      <a:lnTo>
                        <a:pt x="537" y="48"/>
                      </a:lnTo>
                      <a:lnTo>
                        <a:pt x="531" y="180"/>
                      </a:lnTo>
                      <a:lnTo>
                        <a:pt x="406" y="280"/>
                      </a:lnTo>
                      <a:lnTo>
                        <a:pt x="316" y="606"/>
                      </a:lnTo>
                      <a:lnTo>
                        <a:pt x="0" y="925"/>
                      </a:lnTo>
                      <a:lnTo>
                        <a:pt x="145" y="476"/>
                      </a:lnTo>
                      <a:lnTo>
                        <a:pt x="305" y="231"/>
                      </a:lnTo>
                      <a:lnTo>
                        <a:pt x="330" y="80"/>
                      </a:lnTo>
                      <a:lnTo>
                        <a:pt x="473" y="0"/>
                      </a:lnTo>
                      <a:close/>
                    </a:path>
                  </a:pathLst>
                </a:custGeom>
                <a:solidFill>
                  <a:srgbClr val="FF00A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8449" name="Group 64"/>
                <p:cNvGrpSpPr>
                  <a:grpSpLocks/>
                </p:cNvGrpSpPr>
                <p:nvPr/>
              </p:nvGrpSpPr>
              <p:grpSpPr bwMode="auto">
                <a:xfrm>
                  <a:off x="741" y="3360"/>
                  <a:ext cx="391" cy="462"/>
                  <a:chOff x="741" y="3360"/>
                  <a:chExt cx="391" cy="462"/>
                </a:xfrm>
              </p:grpSpPr>
              <p:grpSp>
                <p:nvGrpSpPr>
                  <p:cNvPr id="18450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741" y="3360"/>
                    <a:ext cx="335" cy="372"/>
                    <a:chOff x="741" y="3360"/>
                    <a:chExt cx="335" cy="372"/>
                  </a:xfrm>
                </p:grpSpPr>
                <p:sp>
                  <p:nvSpPr>
                    <p:cNvPr id="18452" name="Freeform 66"/>
                    <p:cNvSpPr>
                      <a:spLocks/>
                    </p:cNvSpPr>
                    <p:nvPr/>
                  </p:nvSpPr>
                  <p:spPr bwMode="auto">
                    <a:xfrm>
                      <a:off x="741" y="3360"/>
                      <a:ext cx="335" cy="372"/>
                    </a:xfrm>
                    <a:custGeom>
                      <a:avLst/>
                      <a:gdLst>
                        <a:gd name="T0" fmla="*/ 1 w 669"/>
                        <a:gd name="T1" fmla="*/ 0 h 745"/>
                        <a:gd name="T2" fmla="*/ 1 w 669"/>
                        <a:gd name="T3" fmla="*/ 0 h 745"/>
                        <a:gd name="T4" fmla="*/ 1 w 669"/>
                        <a:gd name="T5" fmla="*/ 0 h 745"/>
                        <a:gd name="T6" fmla="*/ 1 w 669"/>
                        <a:gd name="T7" fmla="*/ 0 h 745"/>
                        <a:gd name="T8" fmla="*/ 1 w 669"/>
                        <a:gd name="T9" fmla="*/ 0 h 745"/>
                        <a:gd name="T10" fmla="*/ 1 w 669"/>
                        <a:gd name="T11" fmla="*/ 0 h 745"/>
                        <a:gd name="T12" fmla="*/ 1 w 669"/>
                        <a:gd name="T13" fmla="*/ 0 h 745"/>
                        <a:gd name="T14" fmla="*/ 1 w 669"/>
                        <a:gd name="T15" fmla="*/ 0 h 745"/>
                        <a:gd name="T16" fmla="*/ 1 w 669"/>
                        <a:gd name="T17" fmla="*/ 0 h 745"/>
                        <a:gd name="T18" fmla="*/ 1 w 669"/>
                        <a:gd name="T19" fmla="*/ 0 h 745"/>
                        <a:gd name="T20" fmla="*/ 1 w 669"/>
                        <a:gd name="T21" fmla="*/ 0 h 745"/>
                        <a:gd name="T22" fmla="*/ 0 w 669"/>
                        <a:gd name="T23" fmla="*/ 0 h 745"/>
                        <a:gd name="T24" fmla="*/ 1 w 669"/>
                        <a:gd name="T25" fmla="*/ 0 h 745"/>
                        <a:gd name="T26" fmla="*/ 1 w 669"/>
                        <a:gd name="T27" fmla="*/ 0 h 745"/>
                        <a:gd name="T28" fmla="*/ 1 w 669"/>
                        <a:gd name="T29" fmla="*/ 0 h 745"/>
                        <a:gd name="T30" fmla="*/ 1 w 669"/>
                        <a:gd name="T31" fmla="*/ 0 h 745"/>
                        <a:gd name="T32" fmla="*/ 1 w 669"/>
                        <a:gd name="T33" fmla="*/ 0 h 745"/>
                        <a:gd name="T34" fmla="*/ 1 w 669"/>
                        <a:gd name="T35" fmla="*/ 0 h 745"/>
                        <a:gd name="T36" fmla="*/ 1 w 669"/>
                        <a:gd name="T37" fmla="*/ 0 h 745"/>
                        <a:gd name="T38" fmla="*/ 1 w 669"/>
                        <a:gd name="T39" fmla="*/ 0 h 745"/>
                        <a:gd name="T40" fmla="*/ 1 w 669"/>
                        <a:gd name="T41" fmla="*/ 0 h 745"/>
                        <a:gd name="T42" fmla="*/ 1 w 669"/>
                        <a:gd name="T43" fmla="*/ 0 h 745"/>
                        <a:gd name="T44" fmla="*/ 1 w 669"/>
                        <a:gd name="T45" fmla="*/ 0 h 745"/>
                        <a:gd name="T46" fmla="*/ 1 w 669"/>
                        <a:gd name="T47" fmla="*/ 0 h 745"/>
                        <a:gd name="T48" fmla="*/ 1 w 669"/>
                        <a:gd name="T49" fmla="*/ 0 h 745"/>
                        <a:gd name="T50" fmla="*/ 1 w 669"/>
                        <a:gd name="T51" fmla="*/ 0 h 745"/>
                        <a:gd name="T52" fmla="*/ 1 w 669"/>
                        <a:gd name="T53" fmla="*/ 0 h 745"/>
                        <a:gd name="T54" fmla="*/ 1 w 669"/>
                        <a:gd name="T55" fmla="*/ 0 h 745"/>
                        <a:gd name="T56" fmla="*/ 1 w 669"/>
                        <a:gd name="T57" fmla="*/ 0 h 745"/>
                        <a:gd name="T58" fmla="*/ 1 w 669"/>
                        <a:gd name="T59" fmla="*/ 0 h 745"/>
                        <a:gd name="T60" fmla="*/ 1 w 669"/>
                        <a:gd name="T61" fmla="*/ 0 h 745"/>
                        <a:gd name="T62" fmla="*/ 1 w 669"/>
                        <a:gd name="T63" fmla="*/ 0 h 745"/>
                        <a:gd name="T64" fmla="*/ 1 w 669"/>
                        <a:gd name="T65" fmla="*/ 0 h 745"/>
                        <a:gd name="T66" fmla="*/ 1 w 669"/>
                        <a:gd name="T67" fmla="*/ 0 h 745"/>
                        <a:gd name="T68" fmla="*/ 1 w 669"/>
                        <a:gd name="T69" fmla="*/ 0 h 745"/>
                        <a:gd name="T70" fmla="*/ 1 w 669"/>
                        <a:gd name="T71" fmla="*/ 0 h 745"/>
                        <a:gd name="T72" fmla="*/ 1 w 669"/>
                        <a:gd name="T73" fmla="*/ 0 h 745"/>
                        <a:gd name="T74" fmla="*/ 1 w 669"/>
                        <a:gd name="T75" fmla="*/ 0 h 745"/>
                        <a:gd name="T76" fmla="*/ 1 w 669"/>
                        <a:gd name="T77" fmla="*/ 0 h 745"/>
                        <a:gd name="T78" fmla="*/ 1 w 669"/>
                        <a:gd name="T79" fmla="*/ 0 h 745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w 669"/>
                        <a:gd name="T121" fmla="*/ 0 h 745"/>
                        <a:gd name="T122" fmla="*/ 669 w 669"/>
                        <a:gd name="T123" fmla="*/ 745 h 745"/>
                      </a:gdLst>
                      <a:ahLst/>
                      <a:cxnLst>
                        <a:cxn ang="T80">
                          <a:pos x="T0" y="T1"/>
                        </a:cxn>
                        <a:cxn ang="T81">
                          <a:pos x="T2" y="T3"/>
                        </a:cxn>
                        <a:cxn ang="T82">
                          <a:pos x="T4" y="T5"/>
                        </a:cxn>
                        <a:cxn ang="T83">
                          <a:pos x="T6" y="T7"/>
                        </a:cxn>
                        <a:cxn ang="T84">
                          <a:pos x="T8" y="T9"/>
                        </a:cxn>
                        <a:cxn ang="T85">
                          <a:pos x="T10" y="T11"/>
                        </a:cxn>
                        <a:cxn ang="T86">
                          <a:pos x="T12" y="T13"/>
                        </a:cxn>
                        <a:cxn ang="T87">
                          <a:pos x="T14" y="T15"/>
                        </a:cxn>
                        <a:cxn ang="T88">
                          <a:pos x="T16" y="T17"/>
                        </a:cxn>
                        <a:cxn ang="T89">
                          <a:pos x="T18" y="T19"/>
                        </a:cxn>
                        <a:cxn ang="T90">
                          <a:pos x="T20" y="T21"/>
                        </a:cxn>
                        <a:cxn ang="T91">
                          <a:pos x="T22" y="T23"/>
                        </a:cxn>
                        <a:cxn ang="T92">
                          <a:pos x="T24" y="T25"/>
                        </a:cxn>
                        <a:cxn ang="T93">
                          <a:pos x="T26" y="T27"/>
                        </a:cxn>
                        <a:cxn ang="T94">
                          <a:pos x="T28" y="T29"/>
                        </a:cxn>
                        <a:cxn ang="T95">
                          <a:pos x="T30" y="T31"/>
                        </a:cxn>
                        <a:cxn ang="T96">
                          <a:pos x="T32" y="T33"/>
                        </a:cxn>
                        <a:cxn ang="T97">
                          <a:pos x="T34" y="T35"/>
                        </a:cxn>
                        <a:cxn ang="T98">
                          <a:pos x="T36" y="T37"/>
                        </a:cxn>
                        <a:cxn ang="T99">
                          <a:pos x="T38" y="T39"/>
                        </a:cxn>
                        <a:cxn ang="T100">
                          <a:pos x="T40" y="T41"/>
                        </a:cxn>
                        <a:cxn ang="T101">
                          <a:pos x="T42" y="T43"/>
                        </a:cxn>
                        <a:cxn ang="T102">
                          <a:pos x="T44" y="T45"/>
                        </a:cxn>
                        <a:cxn ang="T103">
                          <a:pos x="T46" y="T47"/>
                        </a:cxn>
                        <a:cxn ang="T104">
                          <a:pos x="T48" y="T49"/>
                        </a:cxn>
                        <a:cxn ang="T105">
                          <a:pos x="T50" y="T51"/>
                        </a:cxn>
                        <a:cxn ang="T106">
                          <a:pos x="T52" y="T53"/>
                        </a:cxn>
                        <a:cxn ang="T107">
                          <a:pos x="T54" y="T55"/>
                        </a:cxn>
                        <a:cxn ang="T108">
                          <a:pos x="T56" y="T57"/>
                        </a:cxn>
                        <a:cxn ang="T109">
                          <a:pos x="T58" y="T59"/>
                        </a:cxn>
                        <a:cxn ang="T110">
                          <a:pos x="T60" y="T61"/>
                        </a:cxn>
                        <a:cxn ang="T111">
                          <a:pos x="T62" y="T63"/>
                        </a:cxn>
                        <a:cxn ang="T112">
                          <a:pos x="T64" y="T65"/>
                        </a:cxn>
                        <a:cxn ang="T113">
                          <a:pos x="T66" y="T67"/>
                        </a:cxn>
                        <a:cxn ang="T114">
                          <a:pos x="T68" y="T69"/>
                        </a:cxn>
                        <a:cxn ang="T115">
                          <a:pos x="T70" y="T71"/>
                        </a:cxn>
                        <a:cxn ang="T116">
                          <a:pos x="T72" y="T73"/>
                        </a:cxn>
                        <a:cxn ang="T117">
                          <a:pos x="T74" y="T75"/>
                        </a:cxn>
                        <a:cxn ang="T118">
                          <a:pos x="T76" y="T77"/>
                        </a:cxn>
                        <a:cxn ang="T119">
                          <a:pos x="T78" y="T79"/>
                        </a:cxn>
                      </a:cxnLst>
                      <a:rect l="T120" t="T121" r="T122" b="T123"/>
                      <a:pathLst>
                        <a:path w="669" h="745">
                          <a:moveTo>
                            <a:pt x="571" y="72"/>
                          </a:moveTo>
                          <a:lnTo>
                            <a:pt x="511" y="192"/>
                          </a:lnTo>
                          <a:lnTo>
                            <a:pt x="409" y="169"/>
                          </a:lnTo>
                          <a:lnTo>
                            <a:pt x="314" y="140"/>
                          </a:lnTo>
                          <a:lnTo>
                            <a:pt x="229" y="102"/>
                          </a:lnTo>
                          <a:lnTo>
                            <a:pt x="167" y="75"/>
                          </a:lnTo>
                          <a:lnTo>
                            <a:pt x="52" y="0"/>
                          </a:lnTo>
                          <a:lnTo>
                            <a:pt x="20" y="12"/>
                          </a:lnTo>
                          <a:lnTo>
                            <a:pt x="16" y="85"/>
                          </a:lnTo>
                          <a:lnTo>
                            <a:pt x="64" y="153"/>
                          </a:lnTo>
                          <a:lnTo>
                            <a:pt x="25" y="144"/>
                          </a:lnTo>
                          <a:lnTo>
                            <a:pt x="0" y="176"/>
                          </a:lnTo>
                          <a:lnTo>
                            <a:pt x="7" y="208"/>
                          </a:lnTo>
                          <a:lnTo>
                            <a:pt x="41" y="249"/>
                          </a:lnTo>
                          <a:lnTo>
                            <a:pt x="25" y="265"/>
                          </a:lnTo>
                          <a:lnTo>
                            <a:pt x="7" y="289"/>
                          </a:lnTo>
                          <a:lnTo>
                            <a:pt x="7" y="319"/>
                          </a:lnTo>
                          <a:lnTo>
                            <a:pt x="25" y="368"/>
                          </a:lnTo>
                          <a:lnTo>
                            <a:pt x="80" y="415"/>
                          </a:lnTo>
                          <a:lnTo>
                            <a:pt x="55" y="431"/>
                          </a:lnTo>
                          <a:lnTo>
                            <a:pt x="44" y="472"/>
                          </a:lnTo>
                          <a:lnTo>
                            <a:pt x="59" y="512"/>
                          </a:lnTo>
                          <a:lnTo>
                            <a:pt x="109" y="537"/>
                          </a:lnTo>
                          <a:lnTo>
                            <a:pt x="173" y="561"/>
                          </a:lnTo>
                          <a:lnTo>
                            <a:pt x="225" y="605"/>
                          </a:lnTo>
                          <a:lnTo>
                            <a:pt x="265" y="645"/>
                          </a:lnTo>
                          <a:lnTo>
                            <a:pt x="301" y="685"/>
                          </a:lnTo>
                          <a:lnTo>
                            <a:pt x="343" y="730"/>
                          </a:lnTo>
                          <a:lnTo>
                            <a:pt x="417" y="745"/>
                          </a:lnTo>
                          <a:lnTo>
                            <a:pt x="560" y="561"/>
                          </a:lnTo>
                          <a:lnTo>
                            <a:pt x="584" y="424"/>
                          </a:lnTo>
                          <a:lnTo>
                            <a:pt x="593" y="344"/>
                          </a:lnTo>
                          <a:lnTo>
                            <a:pt x="629" y="303"/>
                          </a:lnTo>
                          <a:lnTo>
                            <a:pt x="656" y="261"/>
                          </a:lnTo>
                          <a:lnTo>
                            <a:pt x="669" y="197"/>
                          </a:lnTo>
                          <a:lnTo>
                            <a:pt x="666" y="154"/>
                          </a:lnTo>
                          <a:lnTo>
                            <a:pt x="652" y="118"/>
                          </a:lnTo>
                          <a:lnTo>
                            <a:pt x="629" y="83"/>
                          </a:lnTo>
                          <a:lnTo>
                            <a:pt x="602" y="68"/>
                          </a:lnTo>
                          <a:lnTo>
                            <a:pt x="571" y="72"/>
                          </a:lnTo>
                          <a:close/>
                        </a:path>
                      </a:pathLst>
                    </a:custGeom>
                    <a:solidFill>
                      <a:srgbClr val="E0A08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8453" name="Group 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62" y="3416"/>
                      <a:ext cx="249" cy="182"/>
                      <a:chOff x="762" y="3416"/>
                      <a:chExt cx="249" cy="182"/>
                    </a:xfrm>
                  </p:grpSpPr>
                  <p:sp>
                    <p:nvSpPr>
                      <p:cNvPr id="18454" name="Freeform 6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69" y="3432"/>
                        <a:ext cx="177" cy="62"/>
                      </a:xfrm>
                      <a:custGeom>
                        <a:avLst/>
                        <a:gdLst>
                          <a:gd name="T0" fmla="*/ 0 w 354"/>
                          <a:gd name="T1" fmla="*/ 0 h 124"/>
                          <a:gd name="T2" fmla="*/ 1 w 354"/>
                          <a:gd name="T3" fmla="*/ 1 h 124"/>
                          <a:gd name="T4" fmla="*/ 1 w 354"/>
                          <a:gd name="T5" fmla="*/ 1 h 124"/>
                          <a:gd name="T6" fmla="*/ 1 w 354"/>
                          <a:gd name="T7" fmla="*/ 1 h 124"/>
                          <a:gd name="T8" fmla="*/ 1 w 354"/>
                          <a:gd name="T9" fmla="*/ 1 h 12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4"/>
                          <a:gd name="T16" fmla="*/ 0 h 124"/>
                          <a:gd name="T17" fmla="*/ 354 w 354"/>
                          <a:gd name="T18" fmla="*/ 124 h 12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4" h="124">
                            <a:moveTo>
                              <a:pt x="0" y="0"/>
                            </a:moveTo>
                            <a:lnTo>
                              <a:pt x="79" y="59"/>
                            </a:lnTo>
                            <a:lnTo>
                              <a:pt x="175" y="105"/>
                            </a:lnTo>
                            <a:lnTo>
                              <a:pt x="275" y="124"/>
                            </a:lnTo>
                            <a:lnTo>
                              <a:pt x="354" y="124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455" name="Freeform 6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62" y="3488"/>
                        <a:ext cx="128" cy="57"/>
                      </a:xfrm>
                      <a:custGeom>
                        <a:avLst/>
                        <a:gdLst>
                          <a:gd name="T0" fmla="*/ 0 w 257"/>
                          <a:gd name="T1" fmla="*/ 0 h 116"/>
                          <a:gd name="T2" fmla="*/ 0 w 257"/>
                          <a:gd name="T3" fmla="*/ 0 h 116"/>
                          <a:gd name="T4" fmla="*/ 0 w 257"/>
                          <a:gd name="T5" fmla="*/ 0 h 116"/>
                          <a:gd name="T6" fmla="*/ 0 w 257"/>
                          <a:gd name="T7" fmla="*/ 0 h 116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257"/>
                          <a:gd name="T13" fmla="*/ 0 h 116"/>
                          <a:gd name="T14" fmla="*/ 257 w 257"/>
                          <a:gd name="T15" fmla="*/ 116 h 11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257" h="116">
                            <a:moveTo>
                              <a:pt x="0" y="0"/>
                            </a:moveTo>
                            <a:lnTo>
                              <a:pt x="59" y="47"/>
                            </a:lnTo>
                            <a:lnTo>
                              <a:pt x="148" y="91"/>
                            </a:lnTo>
                            <a:lnTo>
                              <a:pt x="257" y="116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456" name="Freeform 7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81" y="3567"/>
                        <a:ext cx="87" cy="31"/>
                      </a:xfrm>
                      <a:custGeom>
                        <a:avLst/>
                        <a:gdLst>
                          <a:gd name="T0" fmla="*/ 0 w 172"/>
                          <a:gd name="T1" fmla="*/ 0 h 62"/>
                          <a:gd name="T2" fmla="*/ 1 w 172"/>
                          <a:gd name="T3" fmla="*/ 1 h 62"/>
                          <a:gd name="T4" fmla="*/ 1 w 172"/>
                          <a:gd name="T5" fmla="*/ 1 h 62"/>
                          <a:gd name="T6" fmla="*/ 0 60000 65536"/>
                          <a:gd name="T7" fmla="*/ 0 60000 65536"/>
                          <a:gd name="T8" fmla="*/ 0 60000 65536"/>
                          <a:gd name="T9" fmla="*/ 0 w 172"/>
                          <a:gd name="T10" fmla="*/ 0 h 62"/>
                          <a:gd name="T11" fmla="*/ 172 w 172"/>
                          <a:gd name="T12" fmla="*/ 62 h 62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172" h="62">
                            <a:moveTo>
                              <a:pt x="0" y="0"/>
                            </a:moveTo>
                            <a:lnTo>
                              <a:pt x="81" y="41"/>
                            </a:lnTo>
                            <a:lnTo>
                              <a:pt x="172" y="62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457" name="Freeform 7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005" y="3416"/>
                        <a:ext cx="6" cy="38"/>
                      </a:xfrm>
                      <a:custGeom>
                        <a:avLst/>
                        <a:gdLst>
                          <a:gd name="T0" fmla="*/ 1 w 12"/>
                          <a:gd name="T1" fmla="*/ 1 h 75"/>
                          <a:gd name="T2" fmla="*/ 0 w 12"/>
                          <a:gd name="T3" fmla="*/ 1 h 75"/>
                          <a:gd name="T4" fmla="*/ 1 w 12"/>
                          <a:gd name="T5" fmla="*/ 1 h 75"/>
                          <a:gd name="T6" fmla="*/ 1 w 12"/>
                          <a:gd name="T7" fmla="*/ 0 h 75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75"/>
                          <a:gd name="T14" fmla="*/ 12 w 12"/>
                          <a:gd name="T15" fmla="*/ 75 h 75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75">
                            <a:moveTo>
                              <a:pt x="6" y="75"/>
                            </a:moveTo>
                            <a:lnTo>
                              <a:pt x="0" y="43"/>
                            </a:lnTo>
                            <a:lnTo>
                              <a:pt x="1" y="25"/>
                            </a:lnTo>
                            <a:lnTo>
                              <a:pt x="12" y="0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18451" name="Freeform 72"/>
                  <p:cNvSpPr>
                    <a:spLocks/>
                  </p:cNvSpPr>
                  <p:nvPr/>
                </p:nvSpPr>
                <p:spPr bwMode="auto">
                  <a:xfrm>
                    <a:off x="898" y="3547"/>
                    <a:ext cx="234" cy="275"/>
                  </a:xfrm>
                  <a:custGeom>
                    <a:avLst/>
                    <a:gdLst>
                      <a:gd name="T0" fmla="*/ 1 w 467"/>
                      <a:gd name="T1" fmla="*/ 0 h 549"/>
                      <a:gd name="T2" fmla="*/ 1 w 467"/>
                      <a:gd name="T3" fmla="*/ 1 h 549"/>
                      <a:gd name="T4" fmla="*/ 1 w 467"/>
                      <a:gd name="T5" fmla="*/ 1 h 549"/>
                      <a:gd name="T6" fmla="*/ 1 w 467"/>
                      <a:gd name="T7" fmla="*/ 1 h 549"/>
                      <a:gd name="T8" fmla="*/ 1 w 467"/>
                      <a:gd name="T9" fmla="*/ 1 h 549"/>
                      <a:gd name="T10" fmla="*/ 1 w 467"/>
                      <a:gd name="T11" fmla="*/ 1 h 549"/>
                      <a:gd name="T12" fmla="*/ 1 w 467"/>
                      <a:gd name="T13" fmla="*/ 1 h 549"/>
                      <a:gd name="T14" fmla="*/ 1 w 467"/>
                      <a:gd name="T15" fmla="*/ 1 h 549"/>
                      <a:gd name="T16" fmla="*/ 1 w 467"/>
                      <a:gd name="T17" fmla="*/ 1 h 549"/>
                      <a:gd name="T18" fmla="*/ 1 w 467"/>
                      <a:gd name="T19" fmla="*/ 1 h 549"/>
                      <a:gd name="T20" fmla="*/ 0 w 467"/>
                      <a:gd name="T21" fmla="*/ 1 h 549"/>
                      <a:gd name="T22" fmla="*/ 0 w 467"/>
                      <a:gd name="T23" fmla="*/ 1 h 549"/>
                      <a:gd name="T24" fmla="*/ 1 w 467"/>
                      <a:gd name="T25" fmla="*/ 1 h 549"/>
                      <a:gd name="T26" fmla="*/ 1 w 467"/>
                      <a:gd name="T27" fmla="*/ 1 h 549"/>
                      <a:gd name="T28" fmla="*/ 1 w 467"/>
                      <a:gd name="T29" fmla="*/ 1 h 549"/>
                      <a:gd name="T30" fmla="*/ 1 w 467"/>
                      <a:gd name="T31" fmla="*/ 1 h 549"/>
                      <a:gd name="T32" fmla="*/ 1 w 467"/>
                      <a:gd name="T33" fmla="*/ 0 h 54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67"/>
                      <a:gd name="T52" fmla="*/ 0 h 549"/>
                      <a:gd name="T53" fmla="*/ 467 w 467"/>
                      <a:gd name="T54" fmla="*/ 549 h 549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67" h="549">
                        <a:moveTo>
                          <a:pt x="279" y="0"/>
                        </a:moveTo>
                        <a:lnTo>
                          <a:pt x="375" y="66"/>
                        </a:lnTo>
                        <a:lnTo>
                          <a:pt x="467" y="152"/>
                        </a:lnTo>
                        <a:lnTo>
                          <a:pt x="464" y="203"/>
                        </a:lnTo>
                        <a:lnTo>
                          <a:pt x="443" y="249"/>
                        </a:lnTo>
                        <a:lnTo>
                          <a:pt x="395" y="346"/>
                        </a:lnTo>
                        <a:lnTo>
                          <a:pt x="304" y="465"/>
                        </a:lnTo>
                        <a:lnTo>
                          <a:pt x="203" y="549"/>
                        </a:lnTo>
                        <a:lnTo>
                          <a:pt x="95" y="520"/>
                        </a:lnTo>
                        <a:lnTo>
                          <a:pt x="29" y="474"/>
                        </a:lnTo>
                        <a:lnTo>
                          <a:pt x="0" y="416"/>
                        </a:lnTo>
                        <a:lnTo>
                          <a:pt x="0" y="337"/>
                        </a:lnTo>
                        <a:lnTo>
                          <a:pt x="29" y="346"/>
                        </a:lnTo>
                        <a:lnTo>
                          <a:pt x="95" y="314"/>
                        </a:lnTo>
                        <a:lnTo>
                          <a:pt x="143" y="257"/>
                        </a:lnTo>
                        <a:lnTo>
                          <a:pt x="234" y="149"/>
                        </a:lnTo>
                        <a:lnTo>
                          <a:pt x="279" y="0"/>
                        </a:lnTo>
                        <a:close/>
                      </a:path>
                    </a:pathLst>
                  </a:custGeom>
                  <a:solidFill>
                    <a:srgbClr val="C0E0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aphicFrame>
          <p:nvGraphicFramePr>
            <p:cNvPr id="1844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0602234"/>
                </p:ext>
              </p:extLst>
            </p:nvPr>
          </p:nvGraphicFramePr>
          <p:xfrm>
            <a:off x="4416" y="3207"/>
            <a:ext cx="1047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剪辑" r:id="rId4" imgW="2166845" imgH="2287575" progId="">
                    <p:embed/>
                  </p:oleObj>
                </mc:Choice>
                <mc:Fallback>
                  <p:oleObj name="剪辑" r:id="rId4" imgW="2166845" imgH="228757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3207"/>
                          <a:ext cx="1047" cy="1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83" name="AutoShape 79"/>
          <p:cNvSpPr>
            <a:spLocks noChangeArrowheads="1"/>
          </p:cNvSpPr>
          <p:nvPr/>
        </p:nvSpPr>
        <p:spPr bwMode="auto">
          <a:xfrm flipH="1">
            <a:off x="1572315" y="2204864"/>
            <a:ext cx="6324600" cy="2362200"/>
          </a:xfrm>
          <a:prstGeom prst="cloudCallout">
            <a:avLst>
              <a:gd name="adj1" fmla="val -45435"/>
              <a:gd name="adj2" fmla="val 64444"/>
            </a:avLst>
          </a:prstGeom>
          <a:gradFill rotWithShape="0">
            <a:gsLst>
              <a:gs pos="0">
                <a:srgbClr val="91B59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rgbClr val="CCFFFF"/>
            </a:solidFill>
            <a:round/>
            <a:headEnd/>
            <a:tailEnd/>
          </a:ln>
        </p:spPr>
        <p:txBody>
          <a:bodyPr wrap="none" lIns="0" tIns="10800" rIns="0" bIns="10800" anchor="ctr"/>
          <a:lstStyle/>
          <a:p>
            <a:pPr algn="ctr" eaLnBrk="1" hangingPunct="1"/>
            <a:r>
              <a:rPr lang="zh-CN" altLang="zh-CN" b="1"/>
              <a:t>秦九韶算法的计算速度明显比</a:t>
            </a:r>
            <a:endParaRPr lang="en-US" altLang="zh-CN" b="1"/>
          </a:p>
          <a:p>
            <a:pPr algn="ctr" eaLnBrk="1" hangingPunct="1"/>
            <a:r>
              <a:rPr lang="zh-CN" altLang="zh-CN" b="1"/>
              <a:t>直接法</a:t>
            </a:r>
            <a:r>
              <a:rPr lang="zh-CN" altLang="zh-CN" b="1">
                <a:solidFill>
                  <a:srgbClr val="0000FF"/>
                </a:solidFill>
              </a:rPr>
              <a:t>快了一个数量级</a:t>
            </a:r>
            <a:r>
              <a:rPr lang="zh-CN" altLang="en-US" b="1"/>
              <a:t>！</a:t>
            </a:r>
            <a:endParaRPr lang="zh-CN" altLang="zh-CN" b="1"/>
          </a:p>
          <a:p>
            <a:pPr algn="ctr" eaLnBrk="1" hangingPunct="1"/>
            <a:endParaRPr lang="en-US" altLang="zh-CN" b="1"/>
          </a:p>
          <a:p>
            <a:pPr algn="ctr" eaLnBrk="1" hangingPunct="1"/>
            <a:r>
              <a:rPr lang="zh-CN" altLang="zh-CN" b="1"/>
              <a:t>为什么会这样？</a:t>
            </a:r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101021" y="878555"/>
            <a:ext cx="9017000" cy="5078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#</a:t>
            </a:r>
            <a:r>
              <a:rPr lang="en-US" altLang="zh-CN" sz="1800" b="1" dirty="0">
                <a:solidFill>
                  <a:srgbClr val="0000FF"/>
                </a:solidFill>
                <a:latin typeface="Courier New" pitchFamily="49" charset="0"/>
              </a:rPr>
              <a:t>include</a:t>
            </a:r>
            <a:r>
              <a:rPr lang="en-US" altLang="zh-CN" sz="1800" b="1" dirty="0">
                <a:latin typeface="Courier New" pitchFamily="49" charset="0"/>
              </a:rPr>
              <a:t> &lt;</a:t>
            </a:r>
            <a:r>
              <a:rPr lang="en-US" altLang="zh-CN" sz="1800" b="1" dirty="0" err="1">
                <a:latin typeface="Courier New" pitchFamily="49" charset="0"/>
              </a:rPr>
              <a:t>stdio.h</a:t>
            </a:r>
            <a:r>
              <a:rPr lang="en-US" altLang="zh-CN" sz="1800" b="1" dirty="0">
                <a:latin typeface="Courier New" pitchFamily="49" charset="0"/>
              </a:rPr>
              <a:t>&gt;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#</a:t>
            </a:r>
            <a:r>
              <a:rPr lang="en-US" altLang="zh-CN" sz="1800" b="1" dirty="0">
                <a:solidFill>
                  <a:srgbClr val="0000FF"/>
                </a:solidFill>
                <a:latin typeface="Courier New" pitchFamily="49" charset="0"/>
              </a:rPr>
              <a:t>include</a:t>
            </a:r>
            <a:r>
              <a:rPr lang="en-US" altLang="zh-CN" sz="1800" b="1" dirty="0">
                <a:latin typeface="Courier New" pitchFamily="49" charset="0"/>
              </a:rPr>
              <a:t> &lt;</a:t>
            </a:r>
            <a:r>
              <a:rPr lang="en-US" altLang="zh-CN" sz="1800" b="1" dirty="0" err="1">
                <a:latin typeface="Courier New" pitchFamily="49" charset="0"/>
              </a:rPr>
              <a:t>time.h</a:t>
            </a:r>
            <a:r>
              <a:rPr lang="en-US" altLang="zh-CN" sz="1800" b="1" dirty="0">
                <a:latin typeface="Courier New" pitchFamily="49" charset="0"/>
              </a:rPr>
              <a:t>&gt;</a:t>
            </a:r>
          </a:p>
          <a:p>
            <a:pPr indent="266700" eaLnBrk="1" hangingPunct="1">
              <a:defRPr/>
            </a:pPr>
            <a:endParaRPr lang="en-US" altLang="zh-CN" sz="1800" b="1" dirty="0">
              <a:latin typeface="Courier New" pitchFamily="49" charset="0"/>
            </a:endParaRPr>
          </a:p>
          <a:p>
            <a:pPr indent="266700" eaLnBrk="1" hangingPunct="1">
              <a:defRPr/>
            </a:pPr>
            <a:r>
              <a:rPr lang="en-US" altLang="zh-CN" sz="1800" b="1" dirty="0" err="1">
                <a:latin typeface="Courier New" pitchFamily="49" charset="0"/>
              </a:rPr>
              <a:t>clock_t</a:t>
            </a:r>
            <a:r>
              <a:rPr lang="en-US" altLang="zh-CN" sz="1800" b="1" dirty="0">
                <a:latin typeface="Courier New" pitchFamily="49" charset="0"/>
              </a:rPr>
              <a:t>  start, stop; /* </a:t>
            </a:r>
            <a:r>
              <a:rPr lang="en-US" altLang="zh-CN" sz="1800" b="1" dirty="0" err="1">
                <a:latin typeface="Courier New" pitchFamily="49" charset="0"/>
              </a:rPr>
              <a:t>clock_t</a:t>
            </a:r>
            <a:r>
              <a:rPr lang="zh-CN" altLang="en-US" sz="1800" b="1" dirty="0">
                <a:latin typeface="Courier New" pitchFamily="49" charset="0"/>
              </a:rPr>
              <a:t>是</a:t>
            </a:r>
            <a:r>
              <a:rPr lang="en-US" altLang="zh-CN" sz="1800" b="1" dirty="0">
                <a:latin typeface="Courier New" pitchFamily="49" charset="0"/>
              </a:rPr>
              <a:t>clock()</a:t>
            </a:r>
            <a:r>
              <a:rPr lang="zh-CN" altLang="en-US" sz="1800" b="1" dirty="0">
                <a:latin typeface="Courier New" pitchFamily="49" charset="0"/>
              </a:rPr>
              <a:t>函数返回的变量类型 *</a:t>
            </a:r>
            <a:r>
              <a:rPr lang="en-US" altLang="zh-CN" sz="1800" b="1" dirty="0"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en-US" altLang="zh-CN" sz="1800" b="1" dirty="0">
                <a:latin typeface="Courier New" pitchFamily="49" charset="0"/>
              </a:rPr>
              <a:t>  duration; 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记录被测函数运行时间，以秒为单位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endParaRPr lang="en-US" altLang="zh-CN" sz="1800" b="1" dirty="0">
              <a:latin typeface="Courier New" pitchFamily="49" charset="0"/>
            </a:endParaRPr>
          </a:p>
          <a:p>
            <a:pPr indent="266700" eaLnBrk="1" hangingPunct="1">
              <a:defRPr/>
            </a:pPr>
            <a:r>
              <a:rPr lang="en-US" altLang="zh-CN" sz="18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altLang="zh-CN" sz="1800" b="1" dirty="0">
                <a:latin typeface="Courier New" pitchFamily="49" charset="0"/>
              </a:rPr>
              <a:t> main ()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{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不在测试范围内的准备工作写在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clock()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调用之前*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endParaRPr lang="en-US" altLang="zh-CN" sz="1800" b="1" dirty="0">
              <a:latin typeface="Courier New" pitchFamily="49" charset="0"/>
            </a:endParaRP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start = clock();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开始计时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function();     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把被测函数加在这里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stop = clock();	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停止计时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duration = ((double)(stop - start))/CLK_TCK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;/*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计算运行时间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endParaRPr lang="en-US" altLang="zh-CN" sz="1800" b="1" dirty="0">
              <a:latin typeface="Courier New" pitchFamily="49" charset="0"/>
            </a:endParaRP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/*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其他不在测试范围的处理写在后面，例如输出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duration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的值 *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  <a:latin typeface="Courier New" pitchFamily="49" charset="0"/>
              </a:rPr>
              <a:t>/</a:t>
            </a:r>
          </a:p>
          <a:p>
            <a:pPr indent="266700" eaLnBrk="1" hangingPunct="1">
              <a:defRPr/>
            </a:pPr>
            <a:endParaRPr lang="en-US" altLang="zh-CN" sz="1800" b="1" dirty="0">
              <a:latin typeface="Courier New" pitchFamily="49" charset="0"/>
            </a:endParaRP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altLang="zh-CN" sz="1800" b="1" dirty="0">
                <a:latin typeface="Courier New" pitchFamily="49" charset="0"/>
              </a:rPr>
              <a:t> 0;</a:t>
            </a:r>
          </a:p>
          <a:p>
            <a:pPr indent="266700" eaLnBrk="1" hangingPunct="1">
              <a:defRPr/>
            </a:pPr>
            <a:r>
              <a:rPr lang="en-US" altLang="zh-CN" sz="1800" b="1" dirty="0">
                <a:latin typeface="Courier New" pitchFamily="49" charset="0"/>
              </a:rPr>
              <a:t>} </a:t>
            </a:r>
          </a:p>
        </p:txBody>
      </p:sp>
      <p:sp>
        <p:nvSpPr>
          <p:cNvPr id="18439" name="Rectangle 77"/>
          <p:cNvSpPr>
            <a:spLocks noChangeArrowheads="1"/>
          </p:cNvSpPr>
          <p:nvPr/>
        </p:nvSpPr>
        <p:spPr bwMode="auto">
          <a:xfrm>
            <a:off x="1714500" y="285750"/>
            <a:ext cx="514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</a:rPr>
              <a:t>测试函数</a:t>
            </a:r>
            <a:r>
              <a:rPr lang="en-US" altLang="zh-CN" sz="2000" b="1" dirty="0">
                <a:solidFill>
                  <a:schemeClr val="bg1"/>
                </a:solidFill>
                <a:latin typeface="Courier"/>
              </a:rPr>
              <a:t>function()</a:t>
            </a:r>
            <a:r>
              <a:rPr lang="zh-CN" altLang="en-US" sz="2000" b="1" dirty="0">
                <a:solidFill>
                  <a:schemeClr val="bg1"/>
                </a:solidFill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运行时间</a:t>
            </a:r>
          </a:p>
        </p:txBody>
      </p:sp>
    </p:spTree>
    <p:extLst>
      <p:ext uri="{BB962C8B-B14F-4D97-AF65-F5344CB8AC3E}">
        <p14:creationId xmlns:p14="http://schemas.microsoft.com/office/powerpoint/2010/main" val="211227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83" grpId="0" animBg="1"/>
      <p:bldP spid="7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3043238"/>
          </a:xfrm>
          <a:prstGeom prst="rect">
            <a:avLst/>
          </a:prstGeom>
        </p:spPr>
        <p:txBody>
          <a:bodyPr/>
          <a:lstStyle/>
          <a:p>
            <a:pPr marL="742950" lvl="1" indent="-285750">
              <a:spcBef>
                <a:spcPct val="30000"/>
              </a:spcBef>
              <a:buFontTx/>
              <a:buChar char="–"/>
              <a:defRPr/>
            </a:pPr>
            <a:r>
              <a:rPr lang="zh-CN" altLang="en-US" b="1" kern="0" dirty="0">
                <a:latin typeface="+mn-lt"/>
                <a:ea typeface="+mn-ea"/>
              </a:rPr>
              <a:t>即使解决一个非常简单的问题，往往也有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多种方法</a:t>
            </a:r>
            <a:r>
              <a:rPr lang="zh-CN" altLang="en-US" b="1" kern="0" dirty="0">
                <a:latin typeface="+mn-lt"/>
                <a:ea typeface="+mn-ea"/>
              </a:rPr>
              <a:t>，且不同方法之间的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效率可能相差甚远</a:t>
            </a:r>
          </a:p>
          <a:p>
            <a:pPr marL="742950" lvl="1" indent="-285750">
              <a:spcBef>
                <a:spcPct val="30000"/>
              </a:spcBef>
              <a:buFontTx/>
              <a:buChar char="–"/>
              <a:defRPr/>
            </a:pPr>
            <a:r>
              <a:rPr lang="zh-CN" altLang="en-US" b="1" kern="0" dirty="0">
                <a:latin typeface="+mn-lt"/>
                <a:ea typeface="+mn-ea"/>
              </a:rPr>
              <a:t>解决问题方法的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效率</a:t>
            </a:r>
          </a:p>
          <a:p>
            <a:pPr marL="1143000" lvl="2" indent="-228600">
              <a:spcBef>
                <a:spcPct val="30000"/>
              </a:spcBef>
              <a:buFontTx/>
              <a:buChar char="•"/>
              <a:defRPr/>
            </a:pPr>
            <a:r>
              <a:rPr lang="zh-CN" altLang="en-US" b="1" kern="0" dirty="0">
                <a:latin typeface="+mn-lt"/>
                <a:ea typeface="+mn-ea"/>
              </a:rPr>
              <a:t>跟数据的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组织方式</a:t>
            </a:r>
            <a:r>
              <a:rPr lang="zh-CN" altLang="en-US" b="1" kern="0" dirty="0">
                <a:latin typeface="+mn-lt"/>
                <a:ea typeface="+mn-ea"/>
              </a:rPr>
              <a:t>有关（如例</a:t>
            </a:r>
            <a:r>
              <a:rPr lang="en-US" altLang="zh-CN" b="1" kern="0" dirty="0">
                <a:latin typeface="+mn-lt"/>
                <a:ea typeface="+mn-ea"/>
              </a:rPr>
              <a:t>1.1</a:t>
            </a:r>
            <a:r>
              <a:rPr lang="zh-CN" altLang="en-US" b="1" kern="0" dirty="0">
                <a:latin typeface="+mn-lt"/>
                <a:ea typeface="+mn-ea"/>
              </a:rPr>
              <a:t>）</a:t>
            </a:r>
          </a:p>
          <a:p>
            <a:pPr marL="1143000" lvl="2" indent="-228600">
              <a:spcBef>
                <a:spcPct val="30000"/>
              </a:spcBef>
              <a:buFontTx/>
              <a:buChar char="•"/>
              <a:defRPr/>
            </a:pPr>
            <a:r>
              <a:rPr lang="zh-CN" altLang="en-US" b="1" kern="0" dirty="0">
                <a:latin typeface="+mn-lt"/>
                <a:ea typeface="+mn-ea"/>
              </a:rPr>
              <a:t>跟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空间的利用效率</a:t>
            </a:r>
            <a:r>
              <a:rPr lang="zh-CN" altLang="en-US" b="1" kern="0" dirty="0">
                <a:latin typeface="+mn-lt"/>
                <a:ea typeface="+mn-ea"/>
              </a:rPr>
              <a:t>有关（如例</a:t>
            </a:r>
            <a:r>
              <a:rPr lang="en-US" altLang="zh-CN" b="1" kern="0" dirty="0">
                <a:latin typeface="+mn-lt"/>
                <a:ea typeface="+mn-ea"/>
              </a:rPr>
              <a:t>1.2</a:t>
            </a:r>
            <a:r>
              <a:rPr lang="zh-CN" altLang="en-US" b="1" kern="0" dirty="0">
                <a:latin typeface="+mn-lt"/>
                <a:ea typeface="+mn-ea"/>
              </a:rPr>
              <a:t>）</a:t>
            </a:r>
          </a:p>
          <a:p>
            <a:pPr marL="1143000" lvl="2" indent="-228600">
              <a:spcBef>
                <a:spcPct val="30000"/>
              </a:spcBef>
              <a:buFontTx/>
              <a:buChar char="•"/>
              <a:defRPr/>
            </a:pPr>
            <a:r>
              <a:rPr lang="zh-CN" altLang="en-US" b="1" kern="0" dirty="0">
                <a:latin typeface="+mn-lt"/>
                <a:ea typeface="+mn-ea"/>
              </a:rPr>
              <a:t>跟</a:t>
            </a:r>
            <a:r>
              <a:rPr lang="zh-CN" altLang="en-US" b="1" kern="0" dirty="0">
                <a:solidFill>
                  <a:srgbClr val="0000FF"/>
                </a:solidFill>
                <a:latin typeface="+mn-lt"/>
                <a:ea typeface="+mn-ea"/>
              </a:rPr>
              <a:t>算法的巧妙</a:t>
            </a:r>
            <a:r>
              <a:rPr lang="zh-CN" altLang="en-US" b="1" kern="0" dirty="0">
                <a:latin typeface="+mn-lt"/>
                <a:ea typeface="+mn-ea"/>
              </a:rPr>
              <a:t>程度有关（如例</a:t>
            </a:r>
            <a:r>
              <a:rPr lang="en-US" altLang="zh-CN" b="1" kern="0" dirty="0">
                <a:latin typeface="+mn-lt"/>
                <a:ea typeface="+mn-ea"/>
              </a:rPr>
              <a:t>1.3</a:t>
            </a:r>
            <a:r>
              <a:rPr lang="zh-CN" altLang="en-US" b="1" kern="0" dirty="0">
                <a:latin typeface="+mn-lt"/>
                <a:ea typeface="+mn-ea"/>
              </a:rPr>
              <a:t>）</a:t>
            </a:r>
            <a:endParaRPr lang="zh-CN" altLang="en-US" kern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65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5" name="Rectangle 5"/>
          <p:cNvSpPr>
            <a:spLocks noChangeArrowheads="1"/>
          </p:cNvSpPr>
          <p:nvPr/>
        </p:nvSpPr>
        <p:spPr bwMode="auto">
          <a:xfrm>
            <a:off x="539750" y="1268413"/>
            <a:ext cx="8064500" cy="64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&amp;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沃思（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Niklaus  Wirth)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教授提出：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435" name="标题 3"/>
          <p:cNvSpPr txBox="1"/>
          <p:nvPr/>
        </p:nvSpPr>
        <p:spPr>
          <a:xfrm>
            <a:off x="844550" y="2349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sym typeface="+mn-lt"/>
              </a:rPr>
              <a:t>1.1 </a:t>
            </a: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数据结构的研究内容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042988" y="2112963"/>
            <a:ext cx="38893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程序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</a:t>
            </a:r>
            <a:endParaRPr kumimoji="0" lang="zh-CN" altLang="en-US" sz="2400" b="0" i="0" u="sng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9750" y="2886075"/>
            <a:ext cx="8064500" cy="5762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&amp;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电子计算机的主要用途：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9750" y="3708400"/>
            <a:ext cx="8064500" cy="1376784"/>
          </a:xfrm>
          <a:prstGeom prst="roundRect">
            <a:avLst>
              <a:gd name="adj" fmla="val 409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早期：主要用于数值计算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后来：非数值计算，复杂的具有一定结构关系的数据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8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1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5" grpId="0" build="p" animBg="1"/>
      <p:bldP spid="4" grpId="0" build="p"/>
      <p:bldP spid="5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ChangeArrowheads="1"/>
          </p:cNvSpPr>
          <p:nvPr/>
        </p:nvSpPr>
        <p:spPr bwMode="auto">
          <a:xfrm>
            <a:off x="850900" y="249238"/>
            <a:ext cx="399256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书目自动检索系统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1338263" y="2112963"/>
            <a:ext cx="5753100" cy="3754437"/>
            <a:chOff x="1668" y="900"/>
            <a:chExt cx="3624" cy="2736"/>
          </a:xfrm>
        </p:grpSpPr>
        <p:sp>
          <p:nvSpPr>
            <p:cNvPr id="17411" name="AutoShape 4"/>
            <p:cNvSpPr>
              <a:spLocks noChangeArrowheads="1"/>
            </p:cNvSpPr>
            <p:nvPr/>
          </p:nvSpPr>
          <p:spPr bwMode="auto">
            <a:xfrm>
              <a:off x="1668" y="900"/>
              <a:ext cx="3624" cy="2736"/>
            </a:xfrm>
            <a:prstGeom prst="roundRect">
              <a:avLst>
                <a:gd name="adj" fmla="val 548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412" name="Text Box 5"/>
            <p:cNvSpPr txBox="1">
              <a:spLocks noChangeArrowheads="1"/>
            </p:cNvSpPr>
            <p:nvPr/>
          </p:nvSpPr>
          <p:spPr bwMode="auto">
            <a:xfrm>
              <a:off x="2198" y="1321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登录号：</a:t>
              </a:r>
            </a:p>
          </p:txBody>
        </p:sp>
        <p:sp>
          <p:nvSpPr>
            <p:cNvPr id="17413" name="Text Box 6"/>
            <p:cNvSpPr txBox="1">
              <a:spLocks noChangeArrowheads="1"/>
            </p:cNvSpPr>
            <p:nvPr/>
          </p:nvSpPr>
          <p:spPr bwMode="auto">
            <a:xfrm>
              <a:off x="2198" y="1647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书名：</a:t>
              </a:r>
            </a:p>
          </p:txBody>
        </p:sp>
        <p:sp>
          <p:nvSpPr>
            <p:cNvPr id="17414" name="Text Box 7"/>
            <p:cNvSpPr txBox="1">
              <a:spLocks noChangeArrowheads="1"/>
            </p:cNvSpPr>
            <p:nvPr/>
          </p:nvSpPr>
          <p:spPr bwMode="auto">
            <a:xfrm>
              <a:off x="2198" y="1972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作者名：</a:t>
              </a:r>
            </a:p>
          </p:txBody>
        </p:sp>
        <p:sp>
          <p:nvSpPr>
            <p:cNvPr id="17415" name="Text Box 8"/>
            <p:cNvSpPr txBox="1">
              <a:spLocks noChangeArrowheads="1"/>
            </p:cNvSpPr>
            <p:nvPr/>
          </p:nvSpPr>
          <p:spPr bwMode="auto">
            <a:xfrm>
              <a:off x="2198" y="2299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分类号：</a:t>
              </a:r>
            </a:p>
          </p:txBody>
        </p:sp>
        <p:sp>
          <p:nvSpPr>
            <p:cNvPr id="17416" name="Text Box 9"/>
            <p:cNvSpPr txBox="1">
              <a:spLocks noChangeArrowheads="1"/>
            </p:cNvSpPr>
            <p:nvPr/>
          </p:nvSpPr>
          <p:spPr bwMode="auto">
            <a:xfrm>
              <a:off x="2198" y="2625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出版单位：</a:t>
              </a:r>
            </a:p>
          </p:txBody>
        </p:sp>
        <p:sp>
          <p:nvSpPr>
            <p:cNvPr id="17417" name="Text Box 10"/>
            <p:cNvSpPr txBox="1">
              <a:spLocks noChangeArrowheads="1"/>
            </p:cNvSpPr>
            <p:nvPr/>
          </p:nvSpPr>
          <p:spPr bwMode="auto">
            <a:xfrm>
              <a:off x="2198" y="2951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出版时间：</a:t>
              </a:r>
            </a:p>
          </p:txBody>
        </p:sp>
        <p:sp>
          <p:nvSpPr>
            <p:cNvPr id="17418" name="Text Box 11"/>
            <p:cNvSpPr txBox="1">
              <a:spLocks noChangeArrowheads="1"/>
            </p:cNvSpPr>
            <p:nvPr/>
          </p:nvSpPr>
          <p:spPr bwMode="auto">
            <a:xfrm>
              <a:off x="2202" y="3252"/>
              <a:ext cx="1070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价格：</a:t>
              </a:r>
            </a:p>
          </p:txBody>
        </p:sp>
        <p:sp>
          <p:nvSpPr>
            <p:cNvPr id="17419" name="Text Box 12"/>
            <p:cNvSpPr txBox="1">
              <a:spLocks noChangeArrowheads="1"/>
            </p:cNvSpPr>
            <p:nvPr/>
          </p:nvSpPr>
          <p:spPr bwMode="auto">
            <a:xfrm>
              <a:off x="1680" y="907"/>
              <a:ext cx="3602" cy="448"/>
            </a:xfrm>
            <a:prstGeom prst="roundRect">
              <a:avLst>
                <a:gd name="adj" fmla="val 2633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书目卡片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1219200" y="1103313"/>
            <a:ext cx="7469188" cy="3468687"/>
            <a:chOff x="841" y="1176"/>
            <a:chExt cx="4705" cy="2185"/>
          </a:xfrm>
        </p:grpSpPr>
        <p:graphicFrame>
          <p:nvGraphicFramePr>
            <p:cNvPr id="19472" name="Object 63"/>
            <p:cNvGraphicFramePr/>
            <p:nvPr/>
          </p:nvGraphicFramePr>
          <p:xfrm>
            <a:off x="841" y="1812"/>
            <a:ext cx="4171" cy="1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0" r:id="rId6" imgW="7172325" imgH="2665730" progId="Word.Document.8">
                    <p:embed/>
                  </p:oleObj>
                </mc:Choice>
                <mc:Fallback>
                  <p:oleObj r:id="rId6" imgW="7172325" imgH="2665730" progId="Word.Document.8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41" y="1812"/>
                          <a:ext cx="4171" cy="15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2" name="AutoShape 15"/>
            <p:cNvSpPr>
              <a:spLocks noChangeArrowheads="1"/>
            </p:cNvSpPr>
            <p:nvPr/>
          </p:nvSpPr>
          <p:spPr bwMode="auto">
            <a:xfrm>
              <a:off x="4476" y="1176"/>
              <a:ext cx="1070" cy="356"/>
            </a:xfrm>
            <a:prstGeom prst="wedgeEllipseCallout">
              <a:avLst>
                <a:gd name="adj1" fmla="val -69157"/>
                <a:gd name="adj2" fmla="val 79380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  <a:miter lim="800000"/>
            </a:ln>
          </p:spPr>
          <p:txBody>
            <a:bodyPr wrap="none" lIns="90000" tIns="46800" rIns="90000" bIns="4680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书目文件</a:t>
              </a: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169863" y="3294063"/>
            <a:ext cx="8909050" cy="3306762"/>
            <a:chOff x="86" y="2285"/>
            <a:chExt cx="5612" cy="2083"/>
          </a:xfrm>
        </p:grpSpPr>
        <p:grpSp>
          <p:nvGrpSpPr>
            <p:cNvPr id="19463" name="Group 17"/>
            <p:cNvGrpSpPr/>
            <p:nvPr/>
          </p:nvGrpSpPr>
          <p:grpSpPr>
            <a:xfrm>
              <a:off x="86" y="2814"/>
              <a:ext cx="5612" cy="388"/>
              <a:chOff x="86" y="2814"/>
              <a:chExt cx="5612" cy="388"/>
            </a:xfrm>
          </p:grpSpPr>
          <p:sp>
            <p:nvSpPr>
              <p:cNvPr id="17425" name="AutoShape 18"/>
              <p:cNvSpPr>
                <a:spLocks noChangeArrowheads="1"/>
              </p:cNvSpPr>
              <p:nvPr/>
            </p:nvSpPr>
            <p:spPr bwMode="auto">
              <a:xfrm>
                <a:off x="86" y="2834"/>
                <a:ext cx="843" cy="356"/>
              </a:xfrm>
              <a:prstGeom prst="wedgeEllipseCallout">
                <a:avLst>
                  <a:gd name="adj1" fmla="val 27431"/>
                  <a:gd name="adj2" fmla="val 90208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按书名</a:t>
                </a:r>
              </a:p>
            </p:txBody>
          </p:sp>
          <p:sp>
            <p:nvSpPr>
              <p:cNvPr id="17426" name="AutoShape 19"/>
              <p:cNvSpPr>
                <a:spLocks noChangeArrowheads="1"/>
              </p:cNvSpPr>
              <p:nvPr/>
            </p:nvSpPr>
            <p:spPr bwMode="auto">
              <a:xfrm>
                <a:off x="2879" y="2846"/>
                <a:ext cx="1070" cy="356"/>
              </a:xfrm>
              <a:prstGeom prst="wedgeEllipseCallout">
                <a:avLst>
                  <a:gd name="adj1" fmla="val -60856"/>
                  <a:gd name="adj2" fmla="val 7950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按作者名</a:t>
                </a:r>
              </a:p>
            </p:txBody>
          </p:sp>
          <p:sp>
            <p:nvSpPr>
              <p:cNvPr id="17427" name="AutoShape 20"/>
              <p:cNvSpPr>
                <a:spLocks noChangeArrowheads="1"/>
              </p:cNvSpPr>
              <p:nvPr/>
            </p:nvSpPr>
            <p:spPr bwMode="auto">
              <a:xfrm>
                <a:off x="4628" y="2814"/>
                <a:ext cx="1070" cy="356"/>
              </a:xfrm>
              <a:prstGeom prst="wedgeEllipseCallout">
                <a:avLst>
                  <a:gd name="adj1" fmla="val -50347"/>
                  <a:gd name="adj2" fmla="val 8681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按分类号</a:t>
                </a:r>
              </a:p>
            </p:txBody>
          </p:sp>
        </p:grpSp>
        <p:grpSp>
          <p:nvGrpSpPr>
            <p:cNvPr id="19464" name="Group 21"/>
            <p:cNvGrpSpPr/>
            <p:nvPr/>
          </p:nvGrpSpPr>
          <p:grpSpPr>
            <a:xfrm>
              <a:off x="191" y="2285"/>
              <a:ext cx="5105" cy="2083"/>
              <a:chOff x="191" y="2285"/>
              <a:chExt cx="5105" cy="2083"/>
            </a:xfrm>
          </p:grpSpPr>
          <p:graphicFrame>
            <p:nvGraphicFramePr>
              <p:cNvPr id="19465" name="Object 60"/>
              <p:cNvGraphicFramePr/>
              <p:nvPr/>
            </p:nvGraphicFramePr>
            <p:xfrm>
              <a:off x="191" y="3269"/>
              <a:ext cx="3006" cy="10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1" r:id="rId8" imgW="4881880" imgH="1788795" progId="Word.Document.8">
                      <p:embed/>
                    </p:oleObj>
                  </mc:Choice>
                  <mc:Fallback>
                    <p:oleObj r:id="rId8" imgW="4881880" imgH="1788795" progId="Word.Document.8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91" y="3269"/>
                            <a:ext cx="3006" cy="10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6" name="Object 61"/>
              <p:cNvGraphicFramePr/>
              <p:nvPr/>
            </p:nvGraphicFramePr>
            <p:xfrm>
              <a:off x="2197" y="3269"/>
              <a:ext cx="1470" cy="10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" r:id="rId10" imgW="2386330" imgH="1778635" progId="Word.Document.8">
                      <p:embed/>
                    </p:oleObj>
                  </mc:Choice>
                  <mc:Fallback>
                    <p:oleObj r:id="rId10" imgW="2386330" imgH="1778635" progId="Word.Document.8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197" y="3269"/>
                            <a:ext cx="1470" cy="10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7" name="Object 62"/>
              <p:cNvGraphicFramePr/>
              <p:nvPr/>
            </p:nvGraphicFramePr>
            <p:xfrm>
              <a:off x="3673" y="3256"/>
              <a:ext cx="1623" cy="8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3" r:id="rId12" imgW="2621280" imgH="1397000" progId="Word.Document.8">
                      <p:embed/>
                    </p:oleObj>
                  </mc:Choice>
                  <mc:Fallback>
                    <p:oleObj r:id="rId12" imgW="2621280" imgH="1397000" progId="Word.Document.8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673" y="3256"/>
                            <a:ext cx="1623" cy="8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32" name="AutoShape 25"/>
              <p:cNvSpPr>
                <a:spLocks noChangeArrowheads="1"/>
              </p:cNvSpPr>
              <p:nvPr/>
            </p:nvSpPr>
            <p:spPr bwMode="auto">
              <a:xfrm>
                <a:off x="4349" y="2285"/>
                <a:ext cx="843" cy="356"/>
              </a:xfrm>
              <a:prstGeom prst="wedgeEllipseCallout">
                <a:avLst>
                  <a:gd name="adj1" fmla="val -64546"/>
                  <a:gd name="adj2" fmla="val 235028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索引表</a:t>
                </a:r>
              </a:p>
            </p:txBody>
          </p:sp>
        </p:grpSp>
      </p:grpSp>
      <p:sp>
        <p:nvSpPr>
          <p:cNvPr id="17434" name="AutoShape 27"/>
          <p:cNvSpPr>
            <a:spLocks noChangeArrowheads="1"/>
          </p:cNvSpPr>
          <p:nvPr/>
        </p:nvSpPr>
        <p:spPr bwMode="auto">
          <a:xfrm>
            <a:off x="4405313" y="860425"/>
            <a:ext cx="2565400" cy="1038225"/>
          </a:xfrm>
          <a:prstGeom prst="irregularSeal2">
            <a:avLst/>
          </a:prstGeom>
          <a:solidFill>
            <a:srgbClr val="7030A0"/>
          </a:solidFill>
          <a:ln w="9525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 bldLvl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idx="1"/>
          </p:nvPr>
        </p:nvSpPr>
        <p:spPr>
          <a:xfrm>
            <a:off x="715963" y="203200"/>
            <a:ext cx="3929063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4572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人机对奕问题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19475" y="850900"/>
            <a:ext cx="1524000" cy="1371600"/>
            <a:chOff x="2171" y="994"/>
            <a:chExt cx="960" cy="864"/>
          </a:xfrm>
        </p:grpSpPr>
        <p:sp>
          <p:nvSpPr>
            <p:cNvPr id="19459" name="Rectangle 4"/>
            <p:cNvSpPr>
              <a:spLocks noChangeArrowheads="1"/>
            </p:cNvSpPr>
            <p:nvPr/>
          </p:nvSpPr>
          <p:spPr bwMode="auto">
            <a:xfrm>
              <a:off x="2171" y="99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0" name="Line 5"/>
            <p:cNvSpPr>
              <a:spLocks noChangeShapeType="1"/>
            </p:cNvSpPr>
            <p:nvPr/>
          </p:nvSpPr>
          <p:spPr bwMode="auto">
            <a:xfrm>
              <a:off x="2171" y="128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1" name="Line 6"/>
            <p:cNvSpPr>
              <a:spLocks noChangeShapeType="1"/>
            </p:cNvSpPr>
            <p:nvPr/>
          </p:nvSpPr>
          <p:spPr bwMode="auto">
            <a:xfrm>
              <a:off x="2171" y="157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2" name="Line 7"/>
            <p:cNvSpPr>
              <a:spLocks noChangeShapeType="1"/>
            </p:cNvSpPr>
            <p:nvPr/>
          </p:nvSpPr>
          <p:spPr bwMode="auto">
            <a:xfrm>
              <a:off x="2459" y="99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3" name="Line 8"/>
            <p:cNvSpPr>
              <a:spLocks noChangeShapeType="1"/>
            </p:cNvSpPr>
            <p:nvPr/>
          </p:nvSpPr>
          <p:spPr bwMode="auto">
            <a:xfrm>
              <a:off x="2795" y="99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4" name="Oval 9"/>
            <p:cNvSpPr>
              <a:spLocks noChangeArrowheads="1"/>
            </p:cNvSpPr>
            <p:nvPr/>
          </p:nvSpPr>
          <p:spPr bwMode="auto">
            <a:xfrm>
              <a:off x="2891" y="109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5" name="Oval 10"/>
            <p:cNvSpPr>
              <a:spLocks noChangeArrowheads="1"/>
            </p:cNvSpPr>
            <p:nvPr/>
          </p:nvSpPr>
          <p:spPr bwMode="auto">
            <a:xfrm>
              <a:off x="2540" y="136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6" name="Oval 11"/>
            <p:cNvSpPr>
              <a:spLocks noChangeArrowheads="1"/>
            </p:cNvSpPr>
            <p:nvPr/>
          </p:nvSpPr>
          <p:spPr bwMode="auto">
            <a:xfrm>
              <a:off x="2241" y="165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7" name="Oval 12"/>
            <p:cNvSpPr>
              <a:spLocks noChangeArrowheads="1"/>
            </p:cNvSpPr>
            <p:nvPr/>
          </p:nvSpPr>
          <p:spPr bwMode="auto">
            <a:xfrm>
              <a:off x="2573" y="1664"/>
              <a:ext cx="166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557" name="Oval 13"/>
          <p:cNvSpPr>
            <a:spLocks noChangeArrowheads="1"/>
          </p:cNvSpPr>
          <p:nvPr/>
        </p:nvSpPr>
        <p:spPr bwMode="auto">
          <a:xfrm>
            <a:off x="444500" y="3617913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58" name="Oval 14"/>
          <p:cNvSpPr>
            <a:spLocks noChangeArrowheads="1"/>
          </p:cNvSpPr>
          <p:nvPr/>
        </p:nvSpPr>
        <p:spPr bwMode="auto">
          <a:xfrm>
            <a:off x="2236788" y="3189288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59" name="Oval 15"/>
          <p:cNvSpPr>
            <a:spLocks noChangeArrowheads="1"/>
          </p:cNvSpPr>
          <p:nvPr/>
        </p:nvSpPr>
        <p:spPr bwMode="auto">
          <a:xfrm>
            <a:off x="4371975" y="3136900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60" name="Oval 16"/>
          <p:cNvSpPr>
            <a:spLocks noChangeArrowheads="1"/>
          </p:cNvSpPr>
          <p:nvPr/>
        </p:nvSpPr>
        <p:spPr bwMode="auto">
          <a:xfrm>
            <a:off x="6594475" y="3559175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61" name="Oval 17"/>
          <p:cNvSpPr>
            <a:spLocks noChangeArrowheads="1"/>
          </p:cNvSpPr>
          <p:nvPr/>
        </p:nvSpPr>
        <p:spPr bwMode="auto">
          <a:xfrm>
            <a:off x="8224838" y="4005263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354013" y="2244725"/>
            <a:ext cx="3195637" cy="2173288"/>
            <a:chOff x="232" y="1863"/>
            <a:chExt cx="2013" cy="1369"/>
          </a:xfrm>
        </p:grpSpPr>
        <p:sp>
          <p:nvSpPr>
            <p:cNvPr id="19474" name="Line 19"/>
            <p:cNvSpPr>
              <a:spLocks noChangeShapeType="1"/>
            </p:cNvSpPr>
            <p:nvPr/>
          </p:nvSpPr>
          <p:spPr bwMode="auto">
            <a:xfrm>
              <a:off x="232" y="265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5" name="Line 20"/>
            <p:cNvSpPr>
              <a:spLocks noChangeShapeType="1"/>
            </p:cNvSpPr>
            <p:nvPr/>
          </p:nvSpPr>
          <p:spPr bwMode="auto">
            <a:xfrm>
              <a:off x="232" y="29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6" name="Line 21"/>
            <p:cNvSpPr>
              <a:spLocks noChangeShapeType="1"/>
            </p:cNvSpPr>
            <p:nvPr/>
          </p:nvSpPr>
          <p:spPr bwMode="auto">
            <a:xfrm>
              <a:off x="520" y="23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7" name="Line 22"/>
            <p:cNvSpPr>
              <a:spLocks noChangeShapeType="1"/>
            </p:cNvSpPr>
            <p:nvPr/>
          </p:nvSpPr>
          <p:spPr bwMode="auto">
            <a:xfrm>
              <a:off x="856" y="23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8" name="Rectangle 23"/>
            <p:cNvSpPr>
              <a:spLocks noChangeArrowheads="1"/>
            </p:cNvSpPr>
            <p:nvPr/>
          </p:nvSpPr>
          <p:spPr bwMode="auto">
            <a:xfrm>
              <a:off x="232" y="2368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9" name="Oval 24"/>
            <p:cNvSpPr>
              <a:spLocks noChangeArrowheads="1"/>
            </p:cNvSpPr>
            <p:nvPr/>
          </p:nvSpPr>
          <p:spPr bwMode="auto">
            <a:xfrm>
              <a:off x="952" y="246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0" name="Oval 25"/>
            <p:cNvSpPr>
              <a:spLocks noChangeArrowheads="1"/>
            </p:cNvSpPr>
            <p:nvPr/>
          </p:nvSpPr>
          <p:spPr bwMode="auto">
            <a:xfrm>
              <a:off x="601" y="2741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1" name="Oval 26"/>
            <p:cNvSpPr>
              <a:spLocks noChangeArrowheads="1"/>
            </p:cNvSpPr>
            <p:nvPr/>
          </p:nvSpPr>
          <p:spPr bwMode="auto">
            <a:xfrm>
              <a:off x="302" y="3029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2" name="Oval 27"/>
            <p:cNvSpPr>
              <a:spLocks noChangeArrowheads="1"/>
            </p:cNvSpPr>
            <p:nvPr/>
          </p:nvSpPr>
          <p:spPr bwMode="auto">
            <a:xfrm>
              <a:off x="634" y="3038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3" name="Line 28"/>
            <p:cNvSpPr>
              <a:spLocks noChangeShapeType="1"/>
            </p:cNvSpPr>
            <p:nvPr/>
          </p:nvSpPr>
          <p:spPr bwMode="auto">
            <a:xfrm flipH="1">
              <a:off x="700" y="1863"/>
              <a:ext cx="1545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2095500" y="2249488"/>
            <a:ext cx="1738313" cy="2166937"/>
            <a:chOff x="1361" y="1863"/>
            <a:chExt cx="1095" cy="1365"/>
          </a:xfrm>
        </p:grpSpPr>
        <p:sp>
          <p:nvSpPr>
            <p:cNvPr id="19485" name="Line 30"/>
            <p:cNvSpPr>
              <a:spLocks noChangeShapeType="1"/>
            </p:cNvSpPr>
            <p:nvPr/>
          </p:nvSpPr>
          <p:spPr bwMode="auto">
            <a:xfrm>
              <a:off x="1361" y="26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6" name="Line 31"/>
            <p:cNvSpPr>
              <a:spLocks noChangeShapeType="1"/>
            </p:cNvSpPr>
            <p:nvPr/>
          </p:nvSpPr>
          <p:spPr bwMode="auto">
            <a:xfrm>
              <a:off x="1361" y="29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7" name="Line 32"/>
            <p:cNvSpPr>
              <a:spLocks noChangeShapeType="1"/>
            </p:cNvSpPr>
            <p:nvPr/>
          </p:nvSpPr>
          <p:spPr bwMode="auto">
            <a:xfrm>
              <a:off x="1649" y="23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8" name="Line 33"/>
            <p:cNvSpPr>
              <a:spLocks noChangeShapeType="1"/>
            </p:cNvSpPr>
            <p:nvPr/>
          </p:nvSpPr>
          <p:spPr bwMode="auto">
            <a:xfrm>
              <a:off x="1985" y="23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9" name="Rectangle 34"/>
            <p:cNvSpPr>
              <a:spLocks noChangeArrowheads="1"/>
            </p:cNvSpPr>
            <p:nvPr/>
          </p:nvSpPr>
          <p:spPr bwMode="auto">
            <a:xfrm>
              <a:off x="1361" y="23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0" name="Oval 35"/>
            <p:cNvSpPr>
              <a:spLocks noChangeArrowheads="1"/>
            </p:cNvSpPr>
            <p:nvPr/>
          </p:nvSpPr>
          <p:spPr bwMode="auto">
            <a:xfrm>
              <a:off x="2081" y="24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1" name="Oval 36"/>
            <p:cNvSpPr>
              <a:spLocks noChangeArrowheads="1"/>
            </p:cNvSpPr>
            <p:nvPr/>
          </p:nvSpPr>
          <p:spPr bwMode="auto">
            <a:xfrm>
              <a:off x="1730" y="27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2" name="Oval 37"/>
            <p:cNvSpPr>
              <a:spLocks noChangeArrowheads="1"/>
            </p:cNvSpPr>
            <p:nvPr/>
          </p:nvSpPr>
          <p:spPr bwMode="auto">
            <a:xfrm>
              <a:off x="1431" y="30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3" name="Oval 38"/>
            <p:cNvSpPr>
              <a:spLocks noChangeArrowheads="1"/>
            </p:cNvSpPr>
            <p:nvPr/>
          </p:nvSpPr>
          <p:spPr bwMode="auto">
            <a:xfrm>
              <a:off x="1763" y="30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4" name="Line 39"/>
            <p:cNvSpPr>
              <a:spLocks noChangeShapeType="1"/>
            </p:cNvSpPr>
            <p:nvPr/>
          </p:nvSpPr>
          <p:spPr bwMode="auto">
            <a:xfrm flipH="1">
              <a:off x="1778" y="1863"/>
              <a:ext cx="678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3792538" y="2230438"/>
            <a:ext cx="1524000" cy="2149475"/>
            <a:chOff x="2406" y="1863"/>
            <a:chExt cx="960" cy="1354"/>
          </a:xfrm>
        </p:grpSpPr>
        <p:sp>
          <p:nvSpPr>
            <p:cNvPr id="19496" name="Line 41"/>
            <p:cNvSpPr>
              <a:spLocks noChangeShapeType="1"/>
            </p:cNvSpPr>
            <p:nvPr/>
          </p:nvSpPr>
          <p:spPr bwMode="auto">
            <a:xfrm>
              <a:off x="2406" y="2641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7" name="Line 42"/>
            <p:cNvSpPr>
              <a:spLocks noChangeShapeType="1"/>
            </p:cNvSpPr>
            <p:nvPr/>
          </p:nvSpPr>
          <p:spPr bwMode="auto">
            <a:xfrm>
              <a:off x="2406" y="2929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8" name="Line 43"/>
            <p:cNvSpPr>
              <a:spLocks noChangeShapeType="1"/>
            </p:cNvSpPr>
            <p:nvPr/>
          </p:nvSpPr>
          <p:spPr bwMode="auto">
            <a:xfrm>
              <a:off x="2694" y="235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9" name="Line 44"/>
            <p:cNvSpPr>
              <a:spLocks noChangeShapeType="1"/>
            </p:cNvSpPr>
            <p:nvPr/>
          </p:nvSpPr>
          <p:spPr bwMode="auto">
            <a:xfrm>
              <a:off x="3030" y="235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0" name="Rectangle 45"/>
            <p:cNvSpPr>
              <a:spLocks noChangeArrowheads="1"/>
            </p:cNvSpPr>
            <p:nvPr/>
          </p:nvSpPr>
          <p:spPr bwMode="auto">
            <a:xfrm>
              <a:off x="2406" y="2353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1" name="Oval 46"/>
            <p:cNvSpPr>
              <a:spLocks noChangeArrowheads="1"/>
            </p:cNvSpPr>
            <p:nvPr/>
          </p:nvSpPr>
          <p:spPr bwMode="auto">
            <a:xfrm>
              <a:off x="3126" y="2449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2" name="Oval 47"/>
            <p:cNvSpPr>
              <a:spLocks noChangeArrowheads="1"/>
            </p:cNvSpPr>
            <p:nvPr/>
          </p:nvSpPr>
          <p:spPr bwMode="auto">
            <a:xfrm>
              <a:off x="2775" y="2726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3" name="Oval 48"/>
            <p:cNvSpPr>
              <a:spLocks noChangeArrowheads="1"/>
            </p:cNvSpPr>
            <p:nvPr/>
          </p:nvSpPr>
          <p:spPr bwMode="auto">
            <a:xfrm>
              <a:off x="2476" y="301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4" name="Oval 49"/>
            <p:cNvSpPr>
              <a:spLocks noChangeArrowheads="1"/>
            </p:cNvSpPr>
            <p:nvPr/>
          </p:nvSpPr>
          <p:spPr bwMode="auto">
            <a:xfrm>
              <a:off x="2808" y="3023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5" name="Line 50"/>
            <p:cNvSpPr>
              <a:spLocks noChangeShapeType="1"/>
            </p:cNvSpPr>
            <p:nvPr/>
          </p:nvSpPr>
          <p:spPr bwMode="auto">
            <a:xfrm>
              <a:off x="2634" y="1863"/>
              <a:ext cx="133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51"/>
          <p:cNvGrpSpPr/>
          <p:nvPr/>
        </p:nvGrpSpPr>
        <p:grpSpPr>
          <a:xfrm>
            <a:off x="4559300" y="2230438"/>
            <a:ext cx="2433638" cy="2114550"/>
            <a:chOff x="2889" y="1863"/>
            <a:chExt cx="1533" cy="1332"/>
          </a:xfrm>
        </p:grpSpPr>
        <p:sp>
          <p:nvSpPr>
            <p:cNvPr id="19507" name="Line 52"/>
            <p:cNvSpPr>
              <a:spLocks noChangeShapeType="1"/>
            </p:cNvSpPr>
            <p:nvPr/>
          </p:nvSpPr>
          <p:spPr bwMode="auto">
            <a:xfrm>
              <a:off x="3462" y="2619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8" name="Line 53"/>
            <p:cNvSpPr>
              <a:spLocks noChangeShapeType="1"/>
            </p:cNvSpPr>
            <p:nvPr/>
          </p:nvSpPr>
          <p:spPr bwMode="auto">
            <a:xfrm>
              <a:off x="3462" y="2907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9" name="Line 54"/>
            <p:cNvSpPr>
              <a:spLocks noChangeShapeType="1"/>
            </p:cNvSpPr>
            <p:nvPr/>
          </p:nvSpPr>
          <p:spPr bwMode="auto">
            <a:xfrm>
              <a:off x="3750" y="2331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0" name="Line 55"/>
            <p:cNvSpPr>
              <a:spLocks noChangeShapeType="1"/>
            </p:cNvSpPr>
            <p:nvPr/>
          </p:nvSpPr>
          <p:spPr bwMode="auto">
            <a:xfrm>
              <a:off x="4086" y="2331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1" name="Rectangle 56"/>
            <p:cNvSpPr>
              <a:spLocks noChangeArrowheads="1"/>
            </p:cNvSpPr>
            <p:nvPr/>
          </p:nvSpPr>
          <p:spPr bwMode="auto">
            <a:xfrm>
              <a:off x="3462" y="2331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2" name="Oval 57"/>
            <p:cNvSpPr>
              <a:spLocks noChangeArrowheads="1"/>
            </p:cNvSpPr>
            <p:nvPr/>
          </p:nvSpPr>
          <p:spPr bwMode="auto">
            <a:xfrm>
              <a:off x="4182" y="2427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3" name="Oval 58"/>
            <p:cNvSpPr>
              <a:spLocks noChangeArrowheads="1"/>
            </p:cNvSpPr>
            <p:nvPr/>
          </p:nvSpPr>
          <p:spPr bwMode="auto">
            <a:xfrm>
              <a:off x="3831" y="2704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4" name="Oval 59"/>
            <p:cNvSpPr>
              <a:spLocks noChangeArrowheads="1"/>
            </p:cNvSpPr>
            <p:nvPr/>
          </p:nvSpPr>
          <p:spPr bwMode="auto">
            <a:xfrm>
              <a:off x="3532" y="2992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5" name="Oval 60"/>
            <p:cNvSpPr>
              <a:spLocks noChangeArrowheads="1"/>
            </p:cNvSpPr>
            <p:nvPr/>
          </p:nvSpPr>
          <p:spPr bwMode="auto">
            <a:xfrm>
              <a:off x="3864" y="3001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6" name="Line 61"/>
            <p:cNvSpPr>
              <a:spLocks noChangeShapeType="1"/>
            </p:cNvSpPr>
            <p:nvPr/>
          </p:nvSpPr>
          <p:spPr bwMode="auto">
            <a:xfrm>
              <a:off x="2889" y="1863"/>
              <a:ext cx="989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62"/>
          <p:cNvGrpSpPr/>
          <p:nvPr/>
        </p:nvGrpSpPr>
        <p:grpSpPr>
          <a:xfrm>
            <a:off x="4930775" y="2230438"/>
            <a:ext cx="3727450" cy="2119312"/>
            <a:chOff x="3123" y="1863"/>
            <a:chExt cx="2348" cy="1335"/>
          </a:xfrm>
        </p:grpSpPr>
        <p:sp>
          <p:nvSpPr>
            <p:cNvPr id="19518" name="Line 63"/>
            <p:cNvSpPr>
              <a:spLocks noChangeShapeType="1"/>
            </p:cNvSpPr>
            <p:nvPr/>
          </p:nvSpPr>
          <p:spPr bwMode="auto">
            <a:xfrm>
              <a:off x="4511" y="262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9" name="Line 64"/>
            <p:cNvSpPr>
              <a:spLocks noChangeShapeType="1"/>
            </p:cNvSpPr>
            <p:nvPr/>
          </p:nvSpPr>
          <p:spPr bwMode="auto">
            <a:xfrm>
              <a:off x="4511" y="291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0" name="Line 65"/>
            <p:cNvSpPr>
              <a:spLocks noChangeShapeType="1"/>
            </p:cNvSpPr>
            <p:nvPr/>
          </p:nvSpPr>
          <p:spPr bwMode="auto">
            <a:xfrm>
              <a:off x="4799" y="233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1" name="Line 66"/>
            <p:cNvSpPr>
              <a:spLocks noChangeShapeType="1"/>
            </p:cNvSpPr>
            <p:nvPr/>
          </p:nvSpPr>
          <p:spPr bwMode="auto">
            <a:xfrm>
              <a:off x="5135" y="233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2" name="Rectangle 67"/>
            <p:cNvSpPr>
              <a:spLocks noChangeArrowheads="1"/>
            </p:cNvSpPr>
            <p:nvPr/>
          </p:nvSpPr>
          <p:spPr bwMode="auto">
            <a:xfrm>
              <a:off x="4511" y="233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3" name="Oval 68"/>
            <p:cNvSpPr>
              <a:spLocks noChangeArrowheads="1"/>
            </p:cNvSpPr>
            <p:nvPr/>
          </p:nvSpPr>
          <p:spPr bwMode="auto">
            <a:xfrm>
              <a:off x="5231" y="243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4" name="Oval 69"/>
            <p:cNvSpPr>
              <a:spLocks noChangeArrowheads="1"/>
            </p:cNvSpPr>
            <p:nvPr/>
          </p:nvSpPr>
          <p:spPr bwMode="auto">
            <a:xfrm>
              <a:off x="4880" y="270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5" name="Oval 70"/>
            <p:cNvSpPr>
              <a:spLocks noChangeArrowheads="1"/>
            </p:cNvSpPr>
            <p:nvPr/>
          </p:nvSpPr>
          <p:spPr bwMode="auto">
            <a:xfrm>
              <a:off x="4581" y="299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6" name="Oval 71"/>
            <p:cNvSpPr>
              <a:spLocks noChangeArrowheads="1"/>
            </p:cNvSpPr>
            <p:nvPr/>
          </p:nvSpPr>
          <p:spPr bwMode="auto">
            <a:xfrm>
              <a:off x="4913" y="300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7" name="Line 72"/>
            <p:cNvSpPr>
              <a:spLocks noChangeShapeType="1"/>
            </p:cNvSpPr>
            <p:nvPr/>
          </p:nvSpPr>
          <p:spPr bwMode="auto">
            <a:xfrm>
              <a:off x="3123" y="1863"/>
              <a:ext cx="1878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17" name="Oval 73"/>
          <p:cNvSpPr>
            <a:spLocks noChangeArrowheads="1"/>
          </p:cNvSpPr>
          <p:nvPr/>
        </p:nvSpPr>
        <p:spPr bwMode="auto">
          <a:xfrm>
            <a:off x="1549400" y="57277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74"/>
          <p:cNvGrpSpPr/>
          <p:nvPr/>
        </p:nvGrpSpPr>
        <p:grpSpPr>
          <a:xfrm>
            <a:off x="1438275" y="4356100"/>
            <a:ext cx="2514600" cy="2133600"/>
            <a:chOff x="960" y="2784"/>
            <a:chExt cx="1584" cy="1344"/>
          </a:xfrm>
        </p:grpSpPr>
        <p:sp>
          <p:nvSpPr>
            <p:cNvPr id="19530" name="Line 75"/>
            <p:cNvSpPr>
              <a:spLocks noChangeShapeType="1"/>
            </p:cNvSpPr>
            <p:nvPr/>
          </p:nvSpPr>
          <p:spPr bwMode="auto">
            <a:xfrm>
              <a:off x="960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1" name="Line 76"/>
            <p:cNvSpPr>
              <a:spLocks noChangeShapeType="1"/>
            </p:cNvSpPr>
            <p:nvPr/>
          </p:nvSpPr>
          <p:spPr bwMode="auto">
            <a:xfrm>
              <a:off x="960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2" name="Line 77"/>
            <p:cNvSpPr>
              <a:spLocks noChangeShapeType="1"/>
            </p:cNvSpPr>
            <p:nvPr/>
          </p:nvSpPr>
          <p:spPr bwMode="auto">
            <a:xfrm>
              <a:off x="1248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3" name="Line 78"/>
            <p:cNvSpPr>
              <a:spLocks noChangeShapeType="1"/>
            </p:cNvSpPr>
            <p:nvPr/>
          </p:nvSpPr>
          <p:spPr bwMode="auto">
            <a:xfrm>
              <a:off x="1584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4" name="Rectangle 79"/>
            <p:cNvSpPr>
              <a:spLocks noChangeArrowheads="1"/>
            </p:cNvSpPr>
            <p:nvPr/>
          </p:nvSpPr>
          <p:spPr bwMode="auto">
            <a:xfrm>
              <a:off x="960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5" name="Oval 80"/>
            <p:cNvSpPr>
              <a:spLocks noChangeArrowheads="1"/>
            </p:cNvSpPr>
            <p:nvPr/>
          </p:nvSpPr>
          <p:spPr bwMode="auto">
            <a:xfrm>
              <a:off x="1680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6" name="Oval 81"/>
            <p:cNvSpPr>
              <a:spLocks noChangeArrowheads="1"/>
            </p:cNvSpPr>
            <p:nvPr/>
          </p:nvSpPr>
          <p:spPr bwMode="auto">
            <a:xfrm>
              <a:off x="1344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7" name="Oval 82"/>
            <p:cNvSpPr>
              <a:spLocks noChangeArrowheads="1"/>
            </p:cNvSpPr>
            <p:nvPr/>
          </p:nvSpPr>
          <p:spPr bwMode="auto">
            <a:xfrm>
              <a:off x="1030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8" name="Oval 83"/>
            <p:cNvSpPr>
              <a:spLocks noChangeArrowheads="1"/>
            </p:cNvSpPr>
            <p:nvPr/>
          </p:nvSpPr>
          <p:spPr bwMode="auto">
            <a:xfrm>
              <a:off x="1366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9" name="Oval 84"/>
            <p:cNvSpPr>
              <a:spLocks noChangeArrowheads="1"/>
            </p:cNvSpPr>
            <p:nvPr/>
          </p:nvSpPr>
          <p:spPr bwMode="auto">
            <a:xfrm>
              <a:off x="1344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0" name="Line 85"/>
            <p:cNvSpPr>
              <a:spLocks noChangeShapeType="1"/>
            </p:cNvSpPr>
            <p:nvPr/>
          </p:nvSpPr>
          <p:spPr bwMode="auto">
            <a:xfrm flipH="1">
              <a:off x="1440" y="2784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30" name="Oval 86"/>
          <p:cNvSpPr>
            <a:spLocks noChangeArrowheads="1"/>
          </p:cNvSpPr>
          <p:nvPr/>
        </p:nvSpPr>
        <p:spPr bwMode="auto">
          <a:xfrm>
            <a:off x="3225800" y="5254625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87"/>
          <p:cNvGrpSpPr/>
          <p:nvPr/>
        </p:nvGrpSpPr>
        <p:grpSpPr>
          <a:xfrm>
            <a:off x="3114675" y="4356100"/>
            <a:ext cx="1524000" cy="2133600"/>
            <a:chOff x="2016" y="2784"/>
            <a:chExt cx="960" cy="1344"/>
          </a:xfrm>
        </p:grpSpPr>
        <p:sp>
          <p:nvSpPr>
            <p:cNvPr id="19543" name="Line 88"/>
            <p:cNvSpPr>
              <a:spLocks noChangeShapeType="1"/>
            </p:cNvSpPr>
            <p:nvPr/>
          </p:nvSpPr>
          <p:spPr bwMode="auto">
            <a:xfrm>
              <a:off x="2016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4" name="Line 89"/>
            <p:cNvSpPr>
              <a:spLocks noChangeShapeType="1"/>
            </p:cNvSpPr>
            <p:nvPr/>
          </p:nvSpPr>
          <p:spPr bwMode="auto">
            <a:xfrm>
              <a:off x="2016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5" name="Line 90"/>
            <p:cNvSpPr>
              <a:spLocks noChangeShapeType="1"/>
            </p:cNvSpPr>
            <p:nvPr/>
          </p:nvSpPr>
          <p:spPr bwMode="auto">
            <a:xfrm>
              <a:off x="2304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6" name="Line 91"/>
            <p:cNvSpPr>
              <a:spLocks noChangeShapeType="1"/>
            </p:cNvSpPr>
            <p:nvPr/>
          </p:nvSpPr>
          <p:spPr bwMode="auto">
            <a:xfrm>
              <a:off x="2640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7" name="Rectangle 92"/>
            <p:cNvSpPr>
              <a:spLocks noChangeArrowheads="1"/>
            </p:cNvSpPr>
            <p:nvPr/>
          </p:nvSpPr>
          <p:spPr bwMode="auto">
            <a:xfrm>
              <a:off x="2016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8" name="Oval 93"/>
            <p:cNvSpPr>
              <a:spLocks noChangeArrowheads="1"/>
            </p:cNvSpPr>
            <p:nvPr/>
          </p:nvSpPr>
          <p:spPr bwMode="auto">
            <a:xfrm>
              <a:off x="2736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9" name="Oval 94"/>
            <p:cNvSpPr>
              <a:spLocks noChangeArrowheads="1"/>
            </p:cNvSpPr>
            <p:nvPr/>
          </p:nvSpPr>
          <p:spPr bwMode="auto">
            <a:xfrm>
              <a:off x="2400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0" name="Oval 95"/>
            <p:cNvSpPr>
              <a:spLocks noChangeArrowheads="1"/>
            </p:cNvSpPr>
            <p:nvPr/>
          </p:nvSpPr>
          <p:spPr bwMode="auto">
            <a:xfrm>
              <a:off x="2086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1" name="Oval 96"/>
            <p:cNvSpPr>
              <a:spLocks noChangeArrowheads="1"/>
            </p:cNvSpPr>
            <p:nvPr/>
          </p:nvSpPr>
          <p:spPr bwMode="auto">
            <a:xfrm>
              <a:off x="2422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2" name="Oval 97"/>
            <p:cNvSpPr>
              <a:spLocks noChangeArrowheads="1"/>
            </p:cNvSpPr>
            <p:nvPr/>
          </p:nvSpPr>
          <p:spPr bwMode="auto">
            <a:xfrm>
              <a:off x="2400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3" name="Line 98"/>
            <p:cNvSpPr>
              <a:spLocks noChangeShapeType="1"/>
            </p:cNvSpPr>
            <p:nvPr/>
          </p:nvSpPr>
          <p:spPr bwMode="auto">
            <a:xfrm flipH="1">
              <a:off x="2448" y="278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43" name="Oval 99"/>
          <p:cNvSpPr>
            <a:spLocks noChangeArrowheads="1"/>
          </p:cNvSpPr>
          <p:nvPr/>
        </p:nvSpPr>
        <p:spPr bwMode="auto">
          <a:xfrm>
            <a:off x="5934075" y="57277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" name="Group 100"/>
          <p:cNvGrpSpPr/>
          <p:nvPr/>
        </p:nvGrpSpPr>
        <p:grpSpPr>
          <a:xfrm>
            <a:off x="4562475" y="4356100"/>
            <a:ext cx="1752600" cy="2133600"/>
            <a:chOff x="2928" y="2784"/>
            <a:chExt cx="1104" cy="1344"/>
          </a:xfrm>
        </p:grpSpPr>
        <p:sp>
          <p:nvSpPr>
            <p:cNvPr id="19556" name="Line 101"/>
            <p:cNvSpPr>
              <a:spLocks noChangeShapeType="1"/>
            </p:cNvSpPr>
            <p:nvPr/>
          </p:nvSpPr>
          <p:spPr bwMode="auto">
            <a:xfrm>
              <a:off x="3072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7" name="Line 102"/>
            <p:cNvSpPr>
              <a:spLocks noChangeShapeType="1"/>
            </p:cNvSpPr>
            <p:nvPr/>
          </p:nvSpPr>
          <p:spPr bwMode="auto">
            <a:xfrm>
              <a:off x="3072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8" name="Line 103"/>
            <p:cNvSpPr>
              <a:spLocks noChangeShapeType="1"/>
            </p:cNvSpPr>
            <p:nvPr/>
          </p:nvSpPr>
          <p:spPr bwMode="auto">
            <a:xfrm>
              <a:off x="3360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9" name="Line 104"/>
            <p:cNvSpPr>
              <a:spLocks noChangeShapeType="1"/>
            </p:cNvSpPr>
            <p:nvPr/>
          </p:nvSpPr>
          <p:spPr bwMode="auto">
            <a:xfrm>
              <a:off x="3696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0" name="Rectangle 105"/>
            <p:cNvSpPr>
              <a:spLocks noChangeArrowheads="1"/>
            </p:cNvSpPr>
            <p:nvPr/>
          </p:nvSpPr>
          <p:spPr bwMode="auto">
            <a:xfrm>
              <a:off x="3072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1" name="Oval 106"/>
            <p:cNvSpPr>
              <a:spLocks noChangeArrowheads="1"/>
            </p:cNvSpPr>
            <p:nvPr/>
          </p:nvSpPr>
          <p:spPr bwMode="auto">
            <a:xfrm>
              <a:off x="3792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2" name="Oval 107"/>
            <p:cNvSpPr>
              <a:spLocks noChangeArrowheads="1"/>
            </p:cNvSpPr>
            <p:nvPr/>
          </p:nvSpPr>
          <p:spPr bwMode="auto">
            <a:xfrm>
              <a:off x="3456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3" name="Oval 108"/>
            <p:cNvSpPr>
              <a:spLocks noChangeArrowheads="1"/>
            </p:cNvSpPr>
            <p:nvPr/>
          </p:nvSpPr>
          <p:spPr bwMode="auto">
            <a:xfrm>
              <a:off x="3142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4" name="Oval 109"/>
            <p:cNvSpPr>
              <a:spLocks noChangeArrowheads="1"/>
            </p:cNvSpPr>
            <p:nvPr/>
          </p:nvSpPr>
          <p:spPr bwMode="auto">
            <a:xfrm>
              <a:off x="3478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5" name="Oval 110"/>
            <p:cNvSpPr>
              <a:spLocks noChangeArrowheads="1"/>
            </p:cNvSpPr>
            <p:nvPr/>
          </p:nvSpPr>
          <p:spPr bwMode="auto">
            <a:xfrm>
              <a:off x="3456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6" name="Line 111"/>
            <p:cNvSpPr>
              <a:spLocks noChangeShapeType="1"/>
            </p:cNvSpPr>
            <p:nvPr/>
          </p:nvSpPr>
          <p:spPr bwMode="auto">
            <a:xfrm>
              <a:off x="2928" y="2784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56" name="Oval 112"/>
          <p:cNvSpPr>
            <a:spLocks noChangeArrowheads="1"/>
          </p:cNvSpPr>
          <p:nvPr/>
        </p:nvSpPr>
        <p:spPr bwMode="auto">
          <a:xfrm>
            <a:off x="7610475" y="61849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Group 113"/>
          <p:cNvGrpSpPr/>
          <p:nvPr/>
        </p:nvGrpSpPr>
        <p:grpSpPr>
          <a:xfrm>
            <a:off x="5095875" y="4356100"/>
            <a:ext cx="2895600" cy="2133600"/>
            <a:chOff x="3264" y="2784"/>
            <a:chExt cx="1824" cy="1344"/>
          </a:xfrm>
        </p:grpSpPr>
        <p:sp>
          <p:nvSpPr>
            <p:cNvPr id="19569" name="Line 114"/>
            <p:cNvSpPr>
              <a:spLocks noChangeShapeType="1"/>
            </p:cNvSpPr>
            <p:nvPr/>
          </p:nvSpPr>
          <p:spPr bwMode="auto">
            <a:xfrm>
              <a:off x="4128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0" name="Line 115"/>
            <p:cNvSpPr>
              <a:spLocks noChangeShapeType="1"/>
            </p:cNvSpPr>
            <p:nvPr/>
          </p:nvSpPr>
          <p:spPr bwMode="auto">
            <a:xfrm>
              <a:off x="4128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1" name="Line 116"/>
            <p:cNvSpPr>
              <a:spLocks noChangeShapeType="1"/>
            </p:cNvSpPr>
            <p:nvPr/>
          </p:nvSpPr>
          <p:spPr bwMode="auto">
            <a:xfrm>
              <a:off x="4416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2" name="Line 117"/>
            <p:cNvSpPr>
              <a:spLocks noChangeShapeType="1"/>
            </p:cNvSpPr>
            <p:nvPr/>
          </p:nvSpPr>
          <p:spPr bwMode="auto">
            <a:xfrm>
              <a:off x="4752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3" name="Rectangle 118"/>
            <p:cNvSpPr>
              <a:spLocks noChangeArrowheads="1"/>
            </p:cNvSpPr>
            <p:nvPr/>
          </p:nvSpPr>
          <p:spPr bwMode="auto">
            <a:xfrm>
              <a:off x="4128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4" name="Oval 119"/>
            <p:cNvSpPr>
              <a:spLocks noChangeArrowheads="1"/>
            </p:cNvSpPr>
            <p:nvPr/>
          </p:nvSpPr>
          <p:spPr bwMode="auto">
            <a:xfrm>
              <a:off x="4848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5" name="Oval 120"/>
            <p:cNvSpPr>
              <a:spLocks noChangeArrowheads="1"/>
            </p:cNvSpPr>
            <p:nvPr/>
          </p:nvSpPr>
          <p:spPr bwMode="auto">
            <a:xfrm>
              <a:off x="4512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6" name="Oval 121"/>
            <p:cNvSpPr>
              <a:spLocks noChangeArrowheads="1"/>
            </p:cNvSpPr>
            <p:nvPr/>
          </p:nvSpPr>
          <p:spPr bwMode="auto">
            <a:xfrm>
              <a:off x="4198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7" name="Oval 122"/>
            <p:cNvSpPr>
              <a:spLocks noChangeArrowheads="1"/>
            </p:cNvSpPr>
            <p:nvPr/>
          </p:nvSpPr>
          <p:spPr bwMode="auto">
            <a:xfrm>
              <a:off x="4534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8" name="Oval 123"/>
            <p:cNvSpPr>
              <a:spLocks noChangeArrowheads="1"/>
            </p:cNvSpPr>
            <p:nvPr/>
          </p:nvSpPr>
          <p:spPr bwMode="auto">
            <a:xfrm>
              <a:off x="4512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9" name="Line 124"/>
            <p:cNvSpPr>
              <a:spLocks noChangeShapeType="1"/>
            </p:cNvSpPr>
            <p:nvPr/>
          </p:nvSpPr>
          <p:spPr bwMode="auto">
            <a:xfrm>
              <a:off x="3264" y="2784"/>
              <a:ext cx="13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9581" name="AutoShape 126"/>
          <p:cNvSpPr>
            <a:spLocks noChangeArrowheads="1"/>
          </p:cNvSpPr>
          <p:nvPr/>
        </p:nvSpPr>
        <p:spPr bwMode="auto">
          <a:xfrm>
            <a:off x="6638925" y="1117600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</a:t>
            </a:r>
          </a:p>
        </p:txBody>
      </p:sp>
      <p:grpSp>
        <p:nvGrpSpPr>
          <p:cNvPr id="13" name="Group 128"/>
          <p:cNvGrpSpPr/>
          <p:nvPr/>
        </p:nvGrpSpPr>
        <p:grpSpPr>
          <a:xfrm>
            <a:off x="314325" y="4394200"/>
            <a:ext cx="8515350" cy="2400300"/>
            <a:chOff x="252" y="2808"/>
            <a:chExt cx="5364" cy="1512"/>
          </a:xfrm>
        </p:grpSpPr>
        <p:grpSp>
          <p:nvGrpSpPr>
            <p:cNvPr id="21528" name="Group 129"/>
            <p:cNvGrpSpPr/>
            <p:nvPr/>
          </p:nvGrpSpPr>
          <p:grpSpPr>
            <a:xfrm>
              <a:off x="4512" y="2808"/>
              <a:ext cx="1104" cy="403"/>
              <a:chOff x="168" y="2820"/>
              <a:chExt cx="1104" cy="403"/>
            </a:xfrm>
          </p:grpSpPr>
          <p:sp>
            <p:nvSpPr>
              <p:cNvPr id="19585" name="Line 130"/>
              <p:cNvSpPr>
                <a:spLocks noChangeShapeType="1"/>
              </p:cNvSpPr>
              <p:nvPr/>
            </p:nvSpPr>
            <p:spPr bwMode="auto">
              <a:xfrm flipH="1">
                <a:off x="168" y="2832"/>
                <a:ext cx="30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86" name="Line 131"/>
              <p:cNvSpPr>
                <a:spLocks noChangeShapeType="1"/>
              </p:cNvSpPr>
              <p:nvPr/>
            </p:nvSpPr>
            <p:spPr bwMode="auto">
              <a:xfrm>
                <a:off x="924" y="2820"/>
                <a:ext cx="348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87" name="Text Box 132"/>
              <p:cNvSpPr txBox="1">
                <a:spLocks noChangeArrowheads="1"/>
              </p:cNvSpPr>
              <p:nvPr/>
            </p:nvSpPr>
            <p:spPr bwMode="auto">
              <a:xfrm>
                <a:off x="506" y="2973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……..</a:t>
                </a:r>
              </a:p>
            </p:txBody>
          </p:sp>
        </p:grpSp>
        <p:grpSp>
          <p:nvGrpSpPr>
            <p:cNvPr id="21529" name="Group 133"/>
            <p:cNvGrpSpPr/>
            <p:nvPr/>
          </p:nvGrpSpPr>
          <p:grpSpPr>
            <a:xfrm>
              <a:off x="252" y="2820"/>
              <a:ext cx="1104" cy="403"/>
              <a:chOff x="168" y="2820"/>
              <a:chExt cx="1104" cy="403"/>
            </a:xfrm>
          </p:grpSpPr>
          <p:sp>
            <p:nvSpPr>
              <p:cNvPr id="19589" name="Line 134"/>
              <p:cNvSpPr>
                <a:spLocks noChangeShapeType="1"/>
              </p:cNvSpPr>
              <p:nvPr/>
            </p:nvSpPr>
            <p:spPr bwMode="auto">
              <a:xfrm flipH="1">
                <a:off x="168" y="2832"/>
                <a:ext cx="30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0" name="Line 135"/>
              <p:cNvSpPr>
                <a:spLocks noChangeShapeType="1"/>
              </p:cNvSpPr>
              <p:nvPr/>
            </p:nvSpPr>
            <p:spPr bwMode="auto">
              <a:xfrm>
                <a:off x="924" y="2820"/>
                <a:ext cx="348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1" name="Text Box 136"/>
              <p:cNvSpPr txBox="1">
                <a:spLocks noChangeArrowheads="1"/>
              </p:cNvSpPr>
              <p:nvPr/>
            </p:nvSpPr>
            <p:spPr bwMode="auto">
              <a:xfrm>
                <a:off x="506" y="2973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……..</a:t>
                </a:r>
              </a:p>
            </p:txBody>
          </p:sp>
        </p:grpSp>
        <p:grpSp>
          <p:nvGrpSpPr>
            <p:cNvPr id="21530" name="Group 137"/>
            <p:cNvGrpSpPr/>
            <p:nvPr/>
          </p:nvGrpSpPr>
          <p:grpSpPr>
            <a:xfrm>
              <a:off x="1080" y="4070"/>
              <a:ext cx="672" cy="250"/>
              <a:chOff x="1080" y="4070"/>
              <a:chExt cx="672" cy="250"/>
            </a:xfrm>
          </p:grpSpPr>
          <p:sp>
            <p:nvSpPr>
              <p:cNvPr id="19593" name="Line 138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4" name="Line 139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5" name="Text Box 140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1" name="Group 141"/>
            <p:cNvGrpSpPr/>
            <p:nvPr/>
          </p:nvGrpSpPr>
          <p:grpSpPr>
            <a:xfrm>
              <a:off x="2148" y="4070"/>
              <a:ext cx="672" cy="250"/>
              <a:chOff x="1080" y="4070"/>
              <a:chExt cx="672" cy="250"/>
            </a:xfrm>
          </p:grpSpPr>
          <p:sp>
            <p:nvSpPr>
              <p:cNvPr id="19597" name="Line 142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8" name="Line 143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9" name="Text Box 144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2" name="Group 145"/>
            <p:cNvGrpSpPr/>
            <p:nvPr/>
          </p:nvGrpSpPr>
          <p:grpSpPr>
            <a:xfrm>
              <a:off x="3204" y="4070"/>
              <a:ext cx="672" cy="250"/>
              <a:chOff x="1080" y="4070"/>
              <a:chExt cx="672" cy="250"/>
            </a:xfrm>
          </p:grpSpPr>
          <p:sp>
            <p:nvSpPr>
              <p:cNvPr id="19601" name="Line 146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2" name="Line 147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3" name="Text Box 148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3" name="Group 149"/>
            <p:cNvGrpSpPr/>
            <p:nvPr/>
          </p:nvGrpSpPr>
          <p:grpSpPr>
            <a:xfrm>
              <a:off x="4284" y="4070"/>
              <a:ext cx="672" cy="250"/>
              <a:chOff x="1080" y="4070"/>
              <a:chExt cx="672" cy="250"/>
            </a:xfrm>
          </p:grpSpPr>
          <p:sp>
            <p:nvSpPr>
              <p:cNvPr id="19605" name="Line 150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6" name="Line 151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7" name="Text Box 152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6" grpId="0" build="p"/>
      <p:bldP spid="364557" grpId="0" animBg="1"/>
      <p:bldP spid="364558" grpId="0" animBg="1"/>
      <p:bldP spid="364559" grpId="0" animBg="1"/>
      <p:bldP spid="364560" grpId="0" animBg="1"/>
      <p:bldP spid="364561" grpId="0" animBg="1"/>
      <p:bldP spid="364617" grpId="0" animBg="1"/>
      <p:bldP spid="364630" grpId="0" animBg="1"/>
      <p:bldP spid="364643" grpId="0" animBg="1"/>
      <p:bldP spid="3646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 bwMode="auto">
          <a:xfrm>
            <a:off x="-7937" y="1547813"/>
            <a:ext cx="9155113" cy="4624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5" name="Line 2"/>
          <p:cNvSpPr>
            <a:spLocks noChangeShapeType="1"/>
          </p:cNvSpPr>
          <p:nvPr/>
        </p:nvSpPr>
        <p:spPr bwMode="auto">
          <a:xfrm>
            <a:off x="5059363" y="4649788"/>
            <a:ext cx="1562100" cy="635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Line 3"/>
          <p:cNvSpPr>
            <a:spLocks noChangeShapeType="1"/>
          </p:cNvSpPr>
          <p:nvPr/>
        </p:nvSpPr>
        <p:spPr bwMode="auto">
          <a:xfrm>
            <a:off x="4894263" y="4624388"/>
            <a:ext cx="977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7" name="Line 4"/>
          <p:cNvSpPr>
            <a:spLocks noChangeShapeType="1"/>
          </p:cNvSpPr>
          <p:nvPr/>
        </p:nvSpPr>
        <p:spPr bwMode="auto">
          <a:xfrm flipH="1">
            <a:off x="3827463" y="4598988"/>
            <a:ext cx="850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8" name="Line 5"/>
          <p:cNvSpPr>
            <a:spLocks noChangeShapeType="1"/>
          </p:cNvSpPr>
          <p:nvPr/>
        </p:nvSpPr>
        <p:spPr bwMode="auto">
          <a:xfrm>
            <a:off x="4767263" y="4611688"/>
            <a:ext cx="88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9" name="Line 6"/>
          <p:cNvSpPr>
            <a:spLocks noChangeShapeType="1"/>
          </p:cNvSpPr>
          <p:nvPr/>
        </p:nvSpPr>
        <p:spPr bwMode="auto">
          <a:xfrm>
            <a:off x="7929563" y="3278188"/>
            <a:ext cx="457200" cy="787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0" name="Line 7"/>
          <p:cNvSpPr>
            <a:spLocks noChangeShapeType="1"/>
          </p:cNvSpPr>
          <p:nvPr/>
        </p:nvSpPr>
        <p:spPr bwMode="auto">
          <a:xfrm>
            <a:off x="7764463" y="3290888"/>
            <a:ext cx="266700" cy="787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1" name="Line 8"/>
          <p:cNvSpPr>
            <a:spLocks noChangeShapeType="1"/>
          </p:cNvSpPr>
          <p:nvPr/>
        </p:nvSpPr>
        <p:spPr bwMode="auto">
          <a:xfrm>
            <a:off x="7586663" y="3303588"/>
            <a:ext cx="127000" cy="800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2" name="Line 9"/>
          <p:cNvSpPr>
            <a:spLocks noChangeShapeType="1"/>
          </p:cNvSpPr>
          <p:nvPr/>
        </p:nvSpPr>
        <p:spPr bwMode="auto">
          <a:xfrm flipH="1">
            <a:off x="7104063" y="3265488"/>
            <a:ext cx="2159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3" name="Line 10"/>
          <p:cNvSpPr>
            <a:spLocks noChangeShapeType="1"/>
          </p:cNvSpPr>
          <p:nvPr/>
        </p:nvSpPr>
        <p:spPr bwMode="auto">
          <a:xfrm flipH="1">
            <a:off x="7358063" y="3265488"/>
            <a:ext cx="1143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6024563" y="3265488"/>
            <a:ext cx="457200" cy="901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 flipH="1">
            <a:off x="4983163" y="3240088"/>
            <a:ext cx="596900" cy="939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6" name="Line 13"/>
          <p:cNvSpPr>
            <a:spLocks noChangeShapeType="1"/>
          </p:cNvSpPr>
          <p:nvPr/>
        </p:nvSpPr>
        <p:spPr bwMode="auto">
          <a:xfrm flipH="1">
            <a:off x="5745163" y="3265488"/>
            <a:ext cx="25400" cy="901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7" name="Line 14"/>
          <p:cNvSpPr>
            <a:spLocks noChangeShapeType="1"/>
          </p:cNvSpPr>
          <p:nvPr/>
        </p:nvSpPr>
        <p:spPr bwMode="auto">
          <a:xfrm>
            <a:off x="3840163" y="3278188"/>
            <a:ext cx="2159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3624263" y="3278188"/>
            <a:ext cx="10160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19" name="Line 16"/>
          <p:cNvSpPr>
            <a:spLocks noChangeShapeType="1"/>
          </p:cNvSpPr>
          <p:nvPr/>
        </p:nvSpPr>
        <p:spPr bwMode="auto">
          <a:xfrm flipH="1">
            <a:off x="3395663" y="3252788"/>
            <a:ext cx="76200" cy="876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0" name="Line 17"/>
          <p:cNvSpPr>
            <a:spLocks noChangeShapeType="1"/>
          </p:cNvSpPr>
          <p:nvPr/>
        </p:nvSpPr>
        <p:spPr bwMode="auto">
          <a:xfrm flipH="1">
            <a:off x="3116263" y="3265488"/>
            <a:ext cx="215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1" name="Line 18"/>
          <p:cNvSpPr>
            <a:spLocks noChangeShapeType="1"/>
          </p:cNvSpPr>
          <p:nvPr/>
        </p:nvSpPr>
        <p:spPr bwMode="auto">
          <a:xfrm>
            <a:off x="2074863" y="3265488"/>
            <a:ext cx="800100" cy="800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2" name="Line 19"/>
          <p:cNvSpPr>
            <a:spLocks noChangeShapeType="1"/>
          </p:cNvSpPr>
          <p:nvPr/>
        </p:nvSpPr>
        <p:spPr bwMode="auto">
          <a:xfrm>
            <a:off x="1897063" y="3265488"/>
            <a:ext cx="57150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3" name="Line 20"/>
          <p:cNvSpPr>
            <a:spLocks noChangeShapeType="1"/>
          </p:cNvSpPr>
          <p:nvPr/>
        </p:nvSpPr>
        <p:spPr bwMode="auto">
          <a:xfrm>
            <a:off x="1681163" y="3265488"/>
            <a:ext cx="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4" name="Line 21"/>
          <p:cNvSpPr>
            <a:spLocks noChangeShapeType="1"/>
          </p:cNvSpPr>
          <p:nvPr/>
        </p:nvSpPr>
        <p:spPr bwMode="auto">
          <a:xfrm flipH="1">
            <a:off x="944563" y="3265488"/>
            <a:ext cx="55880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5" name="Line 22"/>
          <p:cNvSpPr>
            <a:spLocks noChangeShapeType="1"/>
          </p:cNvSpPr>
          <p:nvPr/>
        </p:nvSpPr>
        <p:spPr bwMode="auto">
          <a:xfrm>
            <a:off x="4995863" y="2109788"/>
            <a:ext cx="2247900" cy="71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6" name="Line 23"/>
          <p:cNvSpPr>
            <a:spLocks noChangeShapeType="1"/>
          </p:cNvSpPr>
          <p:nvPr/>
        </p:nvSpPr>
        <p:spPr bwMode="auto">
          <a:xfrm>
            <a:off x="4589463" y="2109788"/>
            <a:ext cx="109220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7" name="Line 24"/>
          <p:cNvSpPr>
            <a:spLocks noChangeShapeType="1"/>
          </p:cNvSpPr>
          <p:nvPr/>
        </p:nvSpPr>
        <p:spPr bwMode="auto">
          <a:xfrm flipH="1">
            <a:off x="3586163" y="2097088"/>
            <a:ext cx="723900" cy="723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28" name="Line 25"/>
          <p:cNvSpPr>
            <a:spLocks noChangeShapeType="1"/>
          </p:cNvSpPr>
          <p:nvPr/>
        </p:nvSpPr>
        <p:spPr bwMode="auto">
          <a:xfrm flipH="1">
            <a:off x="2112963" y="2097088"/>
            <a:ext cx="195580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15" name="Rectangle 27"/>
          <p:cNvSpPr>
            <a:spLocks noChangeArrowheads="1"/>
          </p:cNvSpPr>
          <p:nvPr/>
        </p:nvSpPr>
        <p:spPr bwMode="auto">
          <a:xfrm>
            <a:off x="3865563" y="1665288"/>
            <a:ext cx="1282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30" name="Text Box 28"/>
          <p:cNvSpPr txBox="1">
            <a:spLocks noChangeArrowheads="1"/>
          </p:cNvSpPr>
          <p:nvPr/>
        </p:nvSpPr>
        <p:spPr bwMode="auto">
          <a:xfrm>
            <a:off x="4027488" y="1617663"/>
            <a:ext cx="1103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(root)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17" name="Rectangle 29"/>
          <p:cNvSpPr>
            <a:spLocks noChangeArrowheads="1"/>
          </p:cNvSpPr>
          <p:nvPr/>
        </p:nvSpPr>
        <p:spPr bwMode="auto">
          <a:xfrm>
            <a:off x="1325563" y="2833688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18" name="Rectangle 30"/>
          <p:cNvSpPr>
            <a:spLocks noChangeArrowheads="1"/>
          </p:cNvSpPr>
          <p:nvPr/>
        </p:nvSpPr>
        <p:spPr bwMode="auto">
          <a:xfrm>
            <a:off x="3128963" y="2833688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19" name="Rectangle 31"/>
          <p:cNvSpPr>
            <a:spLocks noChangeArrowheads="1"/>
          </p:cNvSpPr>
          <p:nvPr/>
        </p:nvSpPr>
        <p:spPr bwMode="auto">
          <a:xfrm>
            <a:off x="5287963" y="2833688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0" name="Rectangle 32"/>
          <p:cNvSpPr>
            <a:spLocks noChangeArrowheads="1"/>
          </p:cNvSpPr>
          <p:nvPr/>
        </p:nvSpPr>
        <p:spPr bwMode="auto">
          <a:xfrm>
            <a:off x="7116763" y="2833688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35" name="Text Box 33"/>
          <p:cNvSpPr txBox="1">
            <a:spLocks noChangeArrowheads="1"/>
          </p:cNvSpPr>
          <p:nvPr/>
        </p:nvSpPr>
        <p:spPr bwMode="auto">
          <a:xfrm>
            <a:off x="1436688" y="2773363"/>
            <a:ext cx="67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bin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36" name="Text Box 34"/>
          <p:cNvSpPr txBox="1">
            <a:spLocks noChangeArrowheads="1"/>
          </p:cNvSpPr>
          <p:nvPr/>
        </p:nvSpPr>
        <p:spPr bwMode="auto">
          <a:xfrm>
            <a:off x="3290888" y="2786063"/>
            <a:ext cx="579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lib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37" name="Text Box 35"/>
          <p:cNvSpPr txBox="1">
            <a:spLocks noChangeArrowheads="1"/>
          </p:cNvSpPr>
          <p:nvPr/>
        </p:nvSpPr>
        <p:spPr bwMode="auto">
          <a:xfrm>
            <a:off x="5335588" y="2760663"/>
            <a:ext cx="835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user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38" name="Text Box 36"/>
          <p:cNvSpPr txBox="1">
            <a:spLocks noChangeArrowheads="1"/>
          </p:cNvSpPr>
          <p:nvPr/>
        </p:nvSpPr>
        <p:spPr bwMode="auto">
          <a:xfrm>
            <a:off x="7278688" y="2773363"/>
            <a:ext cx="617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etc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5" name="Rectangle 37"/>
          <p:cNvSpPr>
            <a:spLocks noChangeArrowheads="1"/>
          </p:cNvSpPr>
          <p:nvPr/>
        </p:nvSpPr>
        <p:spPr bwMode="auto">
          <a:xfrm>
            <a:off x="461963" y="41925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6" name="Rectangle 38"/>
          <p:cNvSpPr>
            <a:spLocks noChangeArrowheads="1"/>
          </p:cNvSpPr>
          <p:nvPr/>
        </p:nvSpPr>
        <p:spPr bwMode="auto">
          <a:xfrm>
            <a:off x="1363663" y="41925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7" name="Rectangle 39"/>
          <p:cNvSpPr>
            <a:spLocks noChangeArrowheads="1"/>
          </p:cNvSpPr>
          <p:nvPr/>
        </p:nvSpPr>
        <p:spPr bwMode="auto">
          <a:xfrm>
            <a:off x="2252663" y="41925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8" name="Rectangle 40"/>
          <p:cNvSpPr>
            <a:spLocks noChangeArrowheads="1"/>
          </p:cNvSpPr>
          <p:nvPr/>
        </p:nvSpPr>
        <p:spPr bwMode="auto">
          <a:xfrm>
            <a:off x="5389563" y="41798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29" name="Rectangle 41"/>
          <p:cNvSpPr>
            <a:spLocks noChangeArrowheads="1"/>
          </p:cNvSpPr>
          <p:nvPr/>
        </p:nvSpPr>
        <p:spPr bwMode="auto">
          <a:xfrm>
            <a:off x="4500563" y="41798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30" name="Rectangle 42"/>
          <p:cNvSpPr>
            <a:spLocks noChangeArrowheads="1"/>
          </p:cNvSpPr>
          <p:nvPr/>
        </p:nvSpPr>
        <p:spPr bwMode="auto">
          <a:xfrm>
            <a:off x="6265863" y="4167188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45" name="Text Box 43"/>
          <p:cNvSpPr txBox="1">
            <a:spLocks noChangeArrowheads="1"/>
          </p:cNvSpPr>
          <p:nvPr/>
        </p:nvSpPr>
        <p:spPr bwMode="auto">
          <a:xfrm>
            <a:off x="395288" y="4157663"/>
            <a:ext cx="86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math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46" name="Text Box 44"/>
          <p:cNvSpPr txBox="1">
            <a:spLocks noChangeArrowheads="1"/>
          </p:cNvSpPr>
          <p:nvPr/>
        </p:nvSpPr>
        <p:spPr bwMode="auto">
          <a:xfrm>
            <a:off x="1487488" y="4170363"/>
            <a:ext cx="473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ds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47" name="Text Box 45"/>
          <p:cNvSpPr txBox="1">
            <a:spLocks noChangeArrowheads="1"/>
          </p:cNvSpPr>
          <p:nvPr/>
        </p:nvSpPr>
        <p:spPr bwMode="auto">
          <a:xfrm>
            <a:off x="2376488" y="41449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sw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48" name="Text Box 46"/>
          <p:cNvSpPr txBox="1">
            <a:spLocks noChangeArrowheads="1"/>
          </p:cNvSpPr>
          <p:nvPr/>
        </p:nvSpPr>
        <p:spPr bwMode="auto">
          <a:xfrm>
            <a:off x="4586288" y="4144963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yin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49" name="Text Box 47"/>
          <p:cNvSpPr txBox="1">
            <a:spLocks noChangeArrowheads="1"/>
          </p:cNvSpPr>
          <p:nvPr/>
        </p:nvSpPr>
        <p:spPr bwMode="auto">
          <a:xfrm>
            <a:off x="5475288" y="4144963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tao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0" name="Text Box 48"/>
          <p:cNvSpPr txBox="1">
            <a:spLocks noChangeArrowheads="1"/>
          </p:cNvSpPr>
          <p:nvPr/>
        </p:nvSpPr>
        <p:spPr bwMode="auto">
          <a:xfrm>
            <a:off x="6364288" y="4144963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xie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37" name="Rectangle 49"/>
          <p:cNvSpPr>
            <a:spLocks noChangeArrowheads="1"/>
          </p:cNvSpPr>
          <p:nvPr/>
        </p:nvSpPr>
        <p:spPr bwMode="auto">
          <a:xfrm>
            <a:off x="4144963" y="5475288"/>
            <a:ext cx="14351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2" name="Text Box 50"/>
          <p:cNvSpPr txBox="1">
            <a:spLocks noChangeArrowheads="1"/>
          </p:cNvSpPr>
          <p:nvPr/>
        </p:nvSpPr>
        <p:spPr bwMode="auto">
          <a:xfrm>
            <a:off x="4154488" y="5440363"/>
            <a:ext cx="146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Stack.cpp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39" name="Rectangle 51"/>
          <p:cNvSpPr>
            <a:spLocks noChangeArrowheads="1"/>
          </p:cNvSpPr>
          <p:nvPr/>
        </p:nvSpPr>
        <p:spPr bwMode="auto">
          <a:xfrm>
            <a:off x="5757863" y="5475288"/>
            <a:ext cx="13335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40" name="Rectangle 52"/>
          <p:cNvSpPr>
            <a:spLocks noChangeArrowheads="1"/>
          </p:cNvSpPr>
          <p:nvPr/>
        </p:nvSpPr>
        <p:spPr bwMode="auto">
          <a:xfrm>
            <a:off x="2481263" y="5462588"/>
            <a:ext cx="14986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5" name="Text Box 53"/>
          <p:cNvSpPr txBox="1">
            <a:spLocks noChangeArrowheads="1"/>
          </p:cNvSpPr>
          <p:nvPr/>
        </p:nvSpPr>
        <p:spPr bwMode="auto">
          <a:xfrm>
            <a:off x="2452688" y="5440363"/>
            <a:ext cx="1581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Queue.cpp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6" name="Text Box 54"/>
          <p:cNvSpPr txBox="1">
            <a:spLocks noChangeArrowheads="1"/>
          </p:cNvSpPr>
          <p:nvPr/>
        </p:nvSpPr>
        <p:spPr bwMode="auto">
          <a:xfrm>
            <a:off x="5754688" y="5453063"/>
            <a:ext cx="1343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Tree.cpp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7" name="Line 55"/>
          <p:cNvSpPr>
            <a:spLocks noChangeShapeType="1"/>
          </p:cNvSpPr>
          <p:nvPr/>
        </p:nvSpPr>
        <p:spPr bwMode="auto">
          <a:xfrm flipH="1">
            <a:off x="3167063" y="4611688"/>
            <a:ext cx="1358900" cy="711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58" name="Rectangle 56"/>
          <p:cNvSpPr>
            <a:spLocks noChangeArrowheads="1"/>
          </p:cNvSpPr>
          <p:nvPr/>
        </p:nvSpPr>
        <p:spPr bwMode="auto">
          <a:xfrm>
            <a:off x="403225" y="200025"/>
            <a:ext cx="48323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文件系统的系统结构图</a:t>
            </a:r>
          </a:p>
        </p:txBody>
      </p:sp>
      <p:sp>
        <p:nvSpPr>
          <p:cNvPr id="21560" name="AutoShape 58"/>
          <p:cNvSpPr>
            <a:spLocks noChangeArrowheads="1"/>
          </p:cNvSpPr>
          <p:nvPr/>
        </p:nvSpPr>
        <p:spPr bwMode="auto">
          <a:xfrm>
            <a:off x="6715125" y="917575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idx="1"/>
          </p:nvPr>
        </p:nvSpPr>
        <p:spPr>
          <a:xfrm>
            <a:off x="601663" y="211138"/>
            <a:ext cx="5027613" cy="504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4572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多叉路口交通灯管理问题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5046663" y="1176338"/>
            <a:ext cx="3467100" cy="2647950"/>
            <a:chOff x="1107" y="888"/>
            <a:chExt cx="2184" cy="1668"/>
          </a:xfrm>
        </p:grpSpPr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1878" y="955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>
              <a:off x="2196" y="963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1874" y="1929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2192" y="1937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 flipH="1" flipV="1">
              <a:off x="1256" y="1255"/>
              <a:ext cx="622" cy="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 flipH="1" flipV="1">
              <a:off x="1107" y="1596"/>
              <a:ext cx="745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 flipV="1">
              <a:off x="2523" y="1233"/>
              <a:ext cx="555" cy="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2545" y="1778"/>
              <a:ext cx="744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>
              <a:off x="2189" y="1933"/>
              <a:ext cx="923" cy="4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V="1">
              <a:off x="2200" y="1000"/>
              <a:ext cx="578" cy="5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2" name="AutoShape 14"/>
            <p:cNvSpPr>
              <a:spLocks noChangeArrowheads="1"/>
            </p:cNvSpPr>
            <p:nvPr/>
          </p:nvSpPr>
          <p:spPr bwMode="auto">
            <a:xfrm>
              <a:off x="1987" y="1122"/>
              <a:ext cx="92" cy="422"/>
            </a:xfrm>
            <a:prstGeom prst="upArrow">
              <a:avLst>
                <a:gd name="adj1" fmla="val 50000"/>
                <a:gd name="adj2" fmla="val 114631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3" name="AutoShape 15"/>
            <p:cNvSpPr>
              <a:spLocks noChangeArrowheads="1"/>
            </p:cNvSpPr>
            <p:nvPr/>
          </p:nvSpPr>
          <p:spPr bwMode="auto">
            <a:xfrm rot="-3877650">
              <a:off x="2805" y="1885"/>
              <a:ext cx="92" cy="422"/>
            </a:xfrm>
            <a:prstGeom prst="upArrow">
              <a:avLst>
                <a:gd name="adj1" fmla="val 50000"/>
                <a:gd name="adj2" fmla="val 114631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1934" y="888"/>
              <a:ext cx="1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3077" y="2139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22546" name="Text Box 18"/>
            <p:cNvSpPr txBox="1">
              <a:spLocks noChangeArrowheads="1"/>
            </p:cNvSpPr>
            <p:nvPr/>
          </p:nvSpPr>
          <p:spPr bwMode="auto">
            <a:xfrm>
              <a:off x="2743" y="105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1910" y="230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22548" name="Text Box 20"/>
            <p:cNvSpPr txBox="1">
              <a:spLocks noChangeArrowheads="1"/>
            </p:cNvSpPr>
            <p:nvPr/>
          </p:nvSpPr>
          <p:spPr bwMode="auto">
            <a:xfrm>
              <a:off x="1120" y="1284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</p:grpSp>
      <p:sp>
        <p:nvSpPr>
          <p:cNvPr id="366613" name="Oval 21"/>
          <p:cNvSpPr>
            <a:spLocks noChangeArrowheads="1"/>
          </p:cNvSpPr>
          <p:nvPr/>
        </p:nvSpPr>
        <p:spPr bwMode="auto">
          <a:xfrm>
            <a:off x="1587500" y="2898775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4" name="Oval 22"/>
          <p:cNvSpPr>
            <a:spLocks noChangeArrowheads="1"/>
          </p:cNvSpPr>
          <p:nvPr/>
        </p:nvSpPr>
        <p:spPr bwMode="auto">
          <a:xfrm>
            <a:off x="2320925" y="28813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5" name="Oval 23"/>
          <p:cNvSpPr>
            <a:spLocks noChangeArrowheads="1"/>
          </p:cNvSpPr>
          <p:nvPr/>
        </p:nvSpPr>
        <p:spPr bwMode="auto">
          <a:xfrm>
            <a:off x="3141663" y="28813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6" name="Oval 24"/>
          <p:cNvSpPr>
            <a:spLocks noChangeArrowheads="1"/>
          </p:cNvSpPr>
          <p:nvPr/>
        </p:nvSpPr>
        <p:spPr bwMode="auto">
          <a:xfrm>
            <a:off x="801688" y="3790950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7" name="Oval 25"/>
          <p:cNvSpPr>
            <a:spLocks noChangeArrowheads="1"/>
          </p:cNvSpPr>
          <p:nvPr/>
        </p:nvSpPr>
        <p:spPr bwMode="auto">
          <a:xfrm>
            <a:off x="1538288" y="3790950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8" name="Oval 26"/>
          <p:cNvSpPr>
            <a:spLocks noChangeArrowheads="1"/>
          </p:cNvSpPr>
          <p:nvPr/>
        </p:nvSpPr>
        <p:spPr bwMode="auto">
          <a:xfrm>
            <a:off x="2376488" y="3790950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9" name="Oval 27"/>
          <p:cNvSpPr>
            <a:spLocks noChangeArrowheads="1"/>
          </p:cNvSpPr>
          <p:nvPr/>
        </p:nvSpPr>
        <p:spPr bwMode="auto">
          <a:xfrm>
            <a:off x="1624013" y="4754563"/>
            <a:ext cx="369888" cy="3698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0" name="Oval 28"/>
          <p:cNvSpPr>
            <a:spLocks noChangeArrowheads="1"/>
          </p:cNvSpPr>
          <p:nvPr/>
        </p:nvSpPr>
        <p:spPr bwMode="auto">
          <a:xfrm>
            <a:off x="2359025" y="4754563"/>
            <a:ext cx="369888" cy="3698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1" name="Oval 29"/>
          <p:cNvSpPr>
            <a:spLocks noChangeArrowheads="1"/>
          </p:cNvSpPr>
          <p:nvPr/>
        </p:nvSpPr>
        <p:spPr bwMode="auto">
          <a:xfrm>
            <a:off x="3198813" y="475456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2" name="Oval 30"/>
          <p:cNvSpPr>
            <a:spLocks noChangeArrowheads="1"/>
          </p:cNvSpPr>
          <p:nvPr/>
        </p:nvSpPr>
        <p:spPr bwMode="auto">
          <a:xfrm>
            <a:off x="841375" y="5578475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3" name="Oval 31"/>
          <p:cNvSpPr>
            <a:spLocks noChangeArrowheads="1"/>
          </p:cNvSpPr>
          <p:nvPr/>
        </p:nvSpPr>
        <p:spPr bwMode="auto">
          <a:xfrm>
            <a:off x="1577975" y="5578475"/>
            <a:ext cx="369888" cy="369888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4" name="Oval 32"/>
          <p:cNvSpPr>
            <a:spLocks noChangeArrowheads="1"/>
          </p:cNvSpPr>
          <p:nvPr/>
        </p:nvSpPr>
        <p:spPr bwMode="auto">
          <a:xfrm>
            <a:off x="2416175" y="5576888"/>
            <a:ext cx="369888" cy="369888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5" name="Oval 33"/>
          <p:cNvSpPr>
            <a:spLocks noChangeArrowheads="1"/>
          </p:cNvSpPr>
          <p:nvPr/>
        </p:nvSpPr>
        <p:spPr bwMode="auto">
          <a:xfrm>
            <a:off x="3275013" y="56245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34"/>
          <p:cNvGrpSpPr/>
          <p:nvPr/>
        </p:nvGrpSpPr>
        <p:grpSpPr>
          <a:xfrm>
            <a:off x="973138" y="3117850"/>
            <a:ext cx="1446212" cy="2470150"/>
            <a:chOff x="1367" y="1578"/>
            <a:chExt cx="911" cy="1556"/>
          </a:xfrm>
        </p:grpSpPr>
        <p:sp>
          <p:nvSpPr>
            <p:cNvPr id="22563" name="Line 35"/>
            <p:cNvSpPr>
              <a:spLocks noChangeShapeType="1"/>
            </p:cNvSpPr>
            <p:nvPr/>
          </p:nvSpPr>
          <p:spPr bwMode="auto">
            <a:xfrm flipH="1">
              <a:off x="1367" y="1611"/>
              <a:ext cx="389" cy="1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4" name="Line 36"/>
            <p:cNvSpPr>
              <a:spLocks noChangeShapeType="1"/>
            </p:cNvSpPr>
            <p:nvPr/>
          </p:nvSpPr>
          <p:spPr bwMode="auto">
            <a:xfrm>
              <a:off x="1856" y="1656"/>
              <a:ext cx="0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5" name="Freeform 37"/>
            <p:cNvSpPr>
              <a:spLocks noChangeArrowheads="1"/>
            </p:cNvSpPr>
            <p:nvPr/>
          </p:nvSpPr>
          <p:spPr bwMode="auto">
            <a:xfrm>
              <a:off x="1945" y="1634"/>
              <a:ext cx="112" cy="1022"/>
            </a:xfrm>
            <a:custGeom>
              <a:avLst/>
              <a:gdLst>
                <a:gd name="T0" fmla="*/ 0 w 116"/>
                <a:gd name="T1" fmla="*/ 0 h 1022"/>
                <a:gd name="T2" fmla="*/ 111 w 116"/>
                <a:gd name="T3" fmla="*/ 244 h 1022"/>
                <a:gd name="T4" fmla="*/ 33 w 116"/>
                <a:gd name="T5" fmla="*/ 1022 h 1022"/>
                <a:gd name="connsiteX0" fmla="*/ 0 w 9651"/>
                <a:gd name="connsiteY0" fmla="*/ 0 h 10000"/>
                <a:gd name="connsiteX1" fmla="*/ 9569 w 9651"/>
                <a:gd name="connsiteY1" fmla="*/ 2387 h 10000"/>
                <a:gd name="connsiteX2" fmla="*/ 2845 w 965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1" h="10000">
                  <a:moveTo>
                    <a:pt x="0" y="0"/>
                  </a:moveTo>
                  <a:cubicBezTo>
                    <a:pt x="4569" y="362"/>
                    <a:pt x="9138" y="724"/>
                    <a:pt x="9569" y="2387"/>
                  </a:cubicBezTo>
                  <a:cubicBezTo>
                    <a:pt x="10000" y="4051"/>
                    <a:pt x="8879" y="8824"/>
                    <a:pt x="2845" y="1000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6" name="Line 38"/>
            <p:cNvSpPr>
              <a:spLocks noChangeShapeType="1"/>
            </p:cNvSpPr>
            <p:nvPr/>
          </p:nvSpPr>
          <p:spPr bwMode="auto">
            <a:xfrm>
              <a:off x="1978" y="1578"/>
              <a:ext cx="300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39"/>
          <p:cNvGrpSpPr/>
          <p:nvPr/>
        </p:nvGrpSpPr>
        <p:grpSpPr>
          <a:xfrm>
            <a:off x="579438" y="2244725"/>
            <a:ext cx="2446337" cy="3413125"/>
            <a:chOff x="1119" y="1028"/>
            <a:chExt cx="1541" cy="2150"/>
          </a:xfrm>
        </p:grpSpPr>
        <p:sp>
          <p:nvSpPr>
            <p:cNvPr id="22568" name="Freeform 40"/>
            <p:cNvSpPr>
              <a:spLocks noChangeArrowheads="1"/>
            </p:cNvSpPr>
            <p:nvPr/>
          </p:nvSpPr>
          <p:spPr bwMode="auto">
            <a:xfrm>
              <a:off x="1119" y="1028"/>
              <a:ext cx="1182" cy="2139"/>
            </a:xfrm>
            <a:custGeom>
              <a:avLst/>
              <a:gdLst>
                <a:gd name="T0" fmla="*/ 1182 w 1182"/>
                <a:gd name="T1" fmla="*/ 428 h 2139"/>
                <a:gd name="T2" fmla="*/ 1015 w 1182"/>
                <a:gd name="T3" fmla="*/ 161 h 2139"/>
                <a:gd name="T4" fmla="*/ 348 w 1182"/>
                <a:gd name="T5" fmla="*/ 106 h 2139"/>
                <a:gd name="T6" fmla="*/ 26 w 1182"/>
                <a:gd name="T7" fmla="*/ 795 h 2139"/>
                <a:gd name="T8" fmla="*/ 193 w 1182"/>
                <a:gd name="T9" fmla="*/ 2139 h 2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2" h="2139">
                  <a:moveTo>
                    <a:pt x="1182" y="428"/>
                  </a:moveTo>
                  <a:cubicBezTo>
                    <a:pt x="1168" y="321"/>
                    <a:pt x="1154" y="215"/>
                    <a:pt x="1015" y="161"/>
                  </a:cubicBezTo>
                  <a:cubicBezTo>
                    <a:pt x="876" y="107"/>
                    <a:pt x="513" y="0"/>
                    <a:pt x="348" y="106"/>
                  </a:cubicBezTo>
                  <a:cubicBezTo>
                    <a:pt x="183" y="212"/>
                    <a:pt x="52" y="456"/>
                    <a:pt x="26" y="795"/>
                  </a:cubicBezTo>
                  <a:cubicBezTo>
                    <a:pt x="0" y="1134"/>
                    <a:pt x="96" y="1636"/>
                    <a:pt x="193" y="2139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9" name="Line 41"/>
            <p:cNvSpPr>
              <a:spLocks noChangeShapeType="1"/>
            </p:cNvSpPr>
            <p:nvPr/>
          </p:nvSpPr>
          <p:spPr bwMode="auto">
            <a:xfrm>
              <a:off x="2334" y="1667"/>
              <a:ext cx="11" cy="3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0" name="Freeform 42"/>
            <p:cNvSpPr>
              <a:spLocks noChangeArrowheads="1"/>
            </p:cNvSpPr>
            <p:nvPr/>
          </p:nvSpPr>
          <p:spPr bwMode="auto">
            <a:xfrm>
              <a:off x="2445" y="1578"/>
              <a:ext cx="215" cy="1122"/>
            </a:xfrm>
            <a:custGeom>
              <a:avLst/>
              <a:gdLst>
                <a:gd name="T0" fmla="*/ 0 w 215"/>
                <a:gd name="T1" fmla="*/ 0 h 1122"/>
                <a:gd name="T2" fmla="*/ 211 w 215"/>
                <a:gd name="T3" fmla="*/ 433 h 1122"/>
                <a:gd name="T4" fmla="*/ 22 w 215"/>
                <a:gd name="T5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" h="1122">
                  <a:moveTo>
                    <a:pt x="0" y="0"/>
                  </a:moveTo>
                  <a:cubicBezTo>
                    <a:pt x="103" y="123"/>
                    <a:pt x="207" y="246"/>
                    <a:pt x="211" y="433"/>
                  </a:cubicBezTo>
                  <a:cubicBezTo>
                    <a:pt x="215" y="620"/>
                    <a:pt x="24" y="1011"/>
                    <a:pt x="22" y="1122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1" name="Line 43"/>
            <p:cNvSpPr>
              <a:spLocks noChangeShapeType="1"/>
            </p:cNvSpPr>
            <p:nvPr/>
          </p:nvSpPr>
          <p:spPr bwMode="auto">
            <a:xfrm flipH="1">
              <a:off x="1989" y="1634"/>
              <a:ext cx="256" cy="105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2" name="Line 44"/>
            <p:cNvSpPr>
              <a:spLocks noChangeShapeType="1"/>
            </p:cNvSpPr>
            <p:nvPr/>
          </p:nvSpPr>
          <p:spPr bwMode="auto">
            <a:xfrm flipH="1">
              <a:off x="1945" y="1656"/>
              <a:ext cx="322" cy="152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420688" y="1993900"/>
            <a:ext cx="4210050" cy="4551363"/>
            <a:chOff x="1019" y="870"/>
            <a:chExt cx="2652" cy="2867"/>
          </a:xfrm>
        </p:grpSpPr>
        <p:sp>
          <p:nvSpPr>
            <p:cNvPr id="22574" name="Freeform 46"/>
            <p:cNvSpPr>
              <a:spLocks noChangeArrowheads="1"/>
            </p:cNvSpPr>
            <p:nvPr/>
          </p:nvSpPr>
          <p:spPr bwMode="auto">
            <a:xfrm>
              <a:off x="1019" y="870"/>
              <a:ext cx="1748" cy="2498"/>
            </a:xfrm>
            <a:custGeom>
              <a:avLst/>
              <a:gdLst>
                <a:gd name="T0" fmla="*/ 1748 w 1748"/>
                <a:gd name="T1" fmla="*/ 586 h 2498"/>
                <a:gd name="T2" fmla="*/ 1526 w 1748"/>
                <a:gd name="T3" fmla="*/ 264 h 2498"/>
                <a:gd name="T4" fmla="*/ 904 w 1748"/>
                <a:gd name="T5" fmla="*/ 30 h 2498"/>
                <a:gd name="T6" fmla="*/ 215 w 1748"/>
                <a:gd name="T7" fmla="*/ 141 h 2498"/>
                <a:gd name="T8" fmla="*/ 4 w 1748"/>
                <a:gd name="T9" fmla="*/ 875 h 2498"/>
                <a:gd name="T10" fmla="*/ 193 w 1748"/>
                <a:gd name="T11" fmla="*/ 2252 h 2498"/>
                <a:gd name="T12" fmla="*/ 281 w 1748"/>
                <a:gd name="T13" fmla="*/ 2352 h 2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8" h="2498">
                  <a:moveTo>
                    <a:pt x="1748" y="586"/>
                  </a:moveTo>
                  <a:cubicBezTo>
                    <a:pt x="1707" y="471"/>
                    <a:pt x="1667" y="357"/>
                    <a:pt x="1526" y="264"/>
                  </a:cubicBezTo>
                  <a:cubicBezTo>
                    <a:pt x="1385" y="171"/>
                    <a:pt x="1122" y="50"/>
                    <a:pt x="904" y="30"/>
                  </a:cubicBezTo>
                  <a:cubicBezTo>
                    <a:pt x="686" y="10"/>
                    <a:pt x="365" y="0"/>
                    <a:pt x="215" y="141"/>
                  </a:cubicBezTo>
                  <a:cubicBezTo>
                    <a:pt x="65" y="282"/>
                    <a:pt x="8" y="523"/>
                    <a:pt x="4" y="875"/>
                  </a:cubicBezTo>
                  <a:cubicBezTo>
                    <a:pt x="0" y="1227"/>
                    <a:pt x="147" y="2006"/>
                    <a:pt x="193" y="2252"/>
                  </a:cubicBezTo>
                  <a:cubicBezTo>
                    <a:pt x="239" y="2498"/>
                    <a:pt x="260" y="2425"/>
                    <a:pt x="281" y="2352"/>
                  </a:cubicBezTo>
                </a:path>
              </a:pathLst>
            </a:cu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5" name="Line 47"/>
            <p:cNvSpPr>
              <a:spLocks noChangeShapeType="1"/>
            </p:cNvSpPr>
            <p:nvPr/>
          </p:nvSpPr>
          <p:spPr bwMode="auto">
            <a:xfrm flipH="1">
              <a:off x="2489" y="1667"/>
              <a:ext cx="345" cy="155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6" name="Freeform 48"/>
            <p:cNvSpPr>
              <a:spLocks noChangeArrowheads="1"/>
            </p:cNvSpPr>
            <p:nvPr/>
          </p:nvSpPr>
          <p:spPr bwMode="auto">
            <a:xfrm>
              <a:off x="1900" y="1556"/>
              <a:ext cx="1771" cy="2181"/>
            </a:xfrm>
            <a:custGeom>
              <a:avLst/>
              <a:gdLst>
                <a:gd name="T0" fmla="*/ 1056 w 1771"/>
                <a:gd name="T1" fmla="*/ 0 h 2181"/>
                <a:gd name="T2" fmla="*/ 1545 w 1771"/>
                <a:gd name="T3" fmla="*/ 355 h 2181"/>
                <a:gd name="T4" fmla="*/ 1567 w 1771"/>
                <a:gd name="T5" fmla="*/ 1877 h 2181"/>
                <a:gd name="T6" fmla="*/ 323 w 1771"/>
                <a:gd name="T7" fmla="*/ 2166 h 2181"/>
                <a:gd name="T8" fmla="*/ 0 w 1771"/>
                <a:gd name="T9" fmla="*/ 1789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2181">
                  <a:moveTo>
                    <a:pt x="1056" y="0"/>
                  </a:moveTo>
                  <a:cubicBezTo>
                    <a:pt x="1258" y="21"/>
                    <a:pt x="1460" y="42"/>
                    <a:pt x="1545" y="355"/>
                  </a:cubicBezTo>
                  <a:cubicBezTo>
                    <a:pt x="1630" y="668"/>
                    <a:pt x="1771" y="1575"/>
                    <a:pt x="1567" y="1877"/>
                  </a:cubicBezTo>
                  <a:cubicBezTo>
                    <a:pt x="1363" y="2179"/>
                    <a:pt x="584" y="2181"/>
                    <a:pt x="323" y="2166"/>
                  </a:cubicBezTo>
                  <a:cubicBezTo>
                    <a:pt x="62" y="2151"/>
                    <a:pt x="35" y="1894"/>
                    <a:pt x="0" y="1789"/>
                  </a:cubicBezTo>
                </a:path>
              </a:pathLst>
            </a:cu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49"/>
          <p:cNvGrpSpPr/>
          <p:nvPr/>
        </p:nvGrpSpPr>
        <p:grpSpPr>
          <a:xfrm>
            <a:off x="1408113" y="4117975"/>
            <a:ext cx="1135062" cy="1574800"/>
            <a:chOff x="1641" y="2208"/>
            <a:chExt cx="715" cy="992"/>
          </a:xfrm>
        </p:grpSpPr>
        <p:sp>
          <p:nvSpPr>
            <p:cNvPr id="22578" name="Line 50"/>
            <p:cNvSpPr>
              <a:spLocks noChangeShapeType="1"/>
            </p:cNvSpPr>
            <p:nvPr/>
          </p:nvSpPr>
          <p:spPr bwMode="auto">
            <a:xfrm>
              <a:off x="1920" y="2208"/>
              <a:ext cx="436" cy="40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9" name="Freeform 51"/>
            <p:cNvSpPr>
              <a:spLocks noChangeArrowheads="1"/>
            </p:cNvSpPr>
            <p:nvPr/>
          </p:nvSpPr>
          <p:spPr bwMode="auto">
            <a:xfrm>
              <a:off x="1641" y="2211"/>
              <a:ext cx="148" cy="989"/>
            </a:xfrm>
            <a:custGeom>
              <a:avLst/>
              <a:gdLst>
                <a:gd name="T0" fmla="*/ 148 w 148"/>
                <a:gd name="T1" fmla="*/ 0 h 989"/>
                <a:gd name="T2" fmla="*/ 4 w 148"/>
                <a:gd name="T3" fmla="*/ 223 h 989"/>
                <a:gd name="T4" fmla="*/ 126 w 148"/>
                <a:gd name="T5" fmla="*/ 989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989">
                  <a:moveTo>
                    <a:pt x="148" y="0"/>
                  </a:moveTo>
                  <a:cubicBezTo>
                    <a:pt x="78" y="29"/>
                    <a:pt x="8" y="58"/>
                    <a:pt x="4" y="223"/>
                  </a:cubicBezTo>
                  <a:cubicBezTo>
                    <a:pt x="0" y="388"/>
                    <a:pt x="109" y="865"/>
                    <a:pt x="126" y="989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52"/>
          <p:cNvGrpSpPr/>
          <p:nvPr/>
        </p:nvGrpSpPr>
        <p:grpSpPr>
          <a:xfrm>
            <a:off x="1731963" y="5057775"/>
            <a:ext cx="776287" cy="600075"/>
            <a:chOff x="1845" y="2800"/>
            <a:chExt cx="489" cy="378"/>
          </a:xfrm>
        </p:grpSpPr>
        <p:sp>
          <p:nvSpPr>
            <p:cNvPr id="22581" name="Line 53"/>
            <p:cNvSpPr>
              <a:spLocks noChangeShapeType="1"/>
            </p:cNvSpPr>
            <p:nvPr/>
          </p:nvSpPr>
          <p:spPr bwMode="auto">
            <a:xfrm>
              <a:off x="1845" y="2834"/>
              <a:ext cx="0" cy="31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2" name="Line 54"/>
            <p:cNvSpPr>
              <a:spLocks noChangeShapeType="1"/>
            </p:cNvSpPr>
            <p:nvPr/>
          </p:nvSpPr>
          <p:spPr bwMode="auto">
            <a:xfrm>
              <a:off x="1956" y="2800"/>
              <a:ext cx="378" cy="37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6647" name="Line 55"/>
          <p:cNvSpPr>
            <a:spLocks noChangeShapeType="1"/>
          </p:cNvSpPr>
          <p:nvPr/>
        </p:nvSpPr>
        <p:spPr bwMode="auto">
          <a:xfrm>
            <a:off x="2578100" y="5111750"/>
            <a:ext cx="0" cy="511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56"/>
          <p:cNvGrpSpPr/>
          <p:nvPr/>
        </p:nvGrpSpPr>
        <p:grpSpPr>
          <a:xfrm>
            <a:off x="1766888" y="4052888"/>
            <a:ext cx="1192212" cy="1781175"/>
            <a:chOff x="1867" y="2167"/>
            <a:chExt cx="751" cy="1122"/>
          </a:xfrm>
        </p:grpSpPr>
        <p:sp>
          <p:nvSpPr>
            <p:cNvPr id="22585" name="Line 57"/>
            <p:cNvSpPr>
              <a:spLocks noChangeShapeType="1"/>
            </p:cNvSpPr>
            <p:nvPr/>
          </p:nvSpPr>
          <p:spPr bwMode="auto">
            <a:xfrm flipV="1">
              <a:off x="1867" y="2222"/>
              <a:ext cx="511" cy="378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6" name="Freeform 58"/>
            <p:cNvSpPr>
              <a:spLocks noChangeArrowheads="1"/>
            </p:cNvSpPr>
            <p:nvPr/>
          </p:nvSpPr>
          <p:spPr bwMode="auto">
            <a:xfrm>
              <a:off x="2434" y="2167"/>
              <a:ext cx="184" cy="1089"/>
            </a:xfrm>
            <a:custGeom>
              <a:avLst/>
              <a:gdLst>
                <a:gd name="T0" fmla="*/ 0 w 184"/>
                <a:gd name="T1" fmla="*/ 0 h 1089"/>
                <a:gd name="T2" fmla="*/ 133 w 184"/>
                <a:gd name="T3" fmla="*/ 222 h 1089"/>
                <a:gd name="T4" fmla="*/ 167 w 184"/>
                <a:gd name="T5" fmla="*/ 933 h 1089"/>
                <a:gd name="T6" fmla="*/ 33 w 184"/>
                <a:gd name="T7" fmla="*/ 1089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1089">
                  <a:moveTo>
                    <a:pt x="0" y="0"/>
                  </a:moveTo>
                  <a:cubicBezTo>
                    <a:pt x="52" y="33"/>
                    <a:pt x="105" y="67"/>
                    <a:pt x="133" y="222"/>
                  </a:cubicBezTo>
                  <a:cubicBezTo>
                    <a:pt x="161" y="377"/>
                    <a:pt x="184" y="789"/>
                    <a:pt x="167" y="933"/>
                  </a:cubicBezTo>
                  <a:cubicBezTo>
                    <a:pt x="150" y="1077"/>
                    <a:pt x="64" y="1067"/>
                    <a:pt x="33" y="1089"/>
                  </a:cubicBezTo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7" name="Line 59"/>
            <p:cNvSpPr>
              <a:spLocks noChangeShapeType="1"/>
            </p:cNvSpPr>
            <p:nvPr/>
          </p:nvSpPr>
          <p:spPr bwMode="auto">
            <a:xfrm flipH="1">
              <a:off x="1934" y="2189"/>
              <a:ext cx="378" cy="110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Group 60"/>
          <p:cNvGrpSpPr/>
          <p:nvPr/>
        </p:nvGrpSpPr>
        <p:grpSpPr>
          <a:xfrm>
            <a:off x="739775" y="2544763"/>
            <a:ext cx="2941638" cy="3444875"/>
            <a:chOff x="553" y="1061"/>
            <a:chExt cx="1853" cy="2170"/>
          </a:xfrm>
        </p:grpSpPr>
        <p:sp>
          <p:nvSpPr>
            <p:cNvPr id="22589" name="Text Box 61"/>
            <p:cNvSpPr txBox="1">
              <a:spLocks noChangeArrowheads="1"/>
            </p:cNvSpPr>
            <p:nvPr/>
          </p:nvSpPr>
          <p:spPr bwMode="auto">
            <a:xfrm>
              <a:off x="1042" y="1061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AB</a:t>
              </a:r>
            </a:p>
          </p:txBody>
        </p:sp>
        <p:sp>
          <p:nvSpPr>
            <p:cNvPr id="22590" name="Text Box 62"/>
            <p:cNvSpPr txBox="1">
              <a:spLocks noChangeArrowheads="1"/>
            </p:cNvSpPr>
            <p:nvPr/>
          </p:nvSpPr>
          <p:spPr bwMode="auto">
            <a:xfrm>
              <a:off x="1531" y="107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AC</a:t>
              </a:r>
            </a:p>
          </p:txBody>
        </p:sp>
        <p:sp>
          <p:nvSpPr>
            <p:cNvPr id="22591" name="Text Box 63"/>
            <p:cNvSpPr txBox="1">
              <a:spLocks noChangeArrowheads="1"/>
            </p:cNvSpPr>
            <p:nvPr/>
          </p:nvSpPr>
          <p:spPr bwMode="auto">
            <a:xfrm>
              <a:off x="2009" y="1072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</a:t>
              </a:r>
            </a:p>
          </p:txBody>
        </p:sp>
        <p:sp>
          <p:nvSpPr>
            <p:cNvPr id="22592" name="Text Box 64"/>
            <p:cNvSpPr txBox="1">
              <a:spLocks noChangeArrowheads="1"/>
            </p:cNvSpPr>
            <p:nvPr/>
          </p:nvSpPr>
          <p:spPr bwMode="auto">
            <a:xfrm>
              <a:off x="553" y="1628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</a:t>
              </a:r>
            </a:p>
          </p:txBody>
        </p:sp>
        <p:sp>
          <p:nvSpPr>
            <p:cNvPr id="22593" name="Text Box 65"/>
            <p:cNvSpPr txBox="1">
              <a:spLocks noChangeArrowheads="1"/>
            </p:cNvSpPr>
            <p:nvPr/>
          </p:nvSpPr>
          <p:spPr bwMode="auto">
            <a:xfrm>
              <a:off x="1009" y="1628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BC</a:t>
              </a:r>
            </a:p>
          </p:txBody>
        </p:sp>
        <p:sp>
          <p:nvSpPr>
            <p:cNvPr id="22594" name="Text Box 66"/>
            <p:cNvSpPr txBox="1">
              <a:spLocks noChangeArrowheads="1"/>
            </p:cNvSpPr>
            <p:nvPr/>
          </p:nvSpPr>
          <p:spPr bwMode="auto">
            <a:xfrm>
              <a:off x="1542" y="1628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BD</a:t>
              </a:r>
            </a:p>
          </p:txBody>
        </p:sp>
        <p:sp>
          <p:nvSpPr>
            <p:cNvPr id="22595" name="Text Box 67"/>
            <p:cNvSpPr txBox="1">
              <a:spLocks noChangeArrowheads="1"/>
            </p:cNvSpPr>
            <p:nvPr/>
          </p:nvSpPr>
          <p:spPr bwMode="auto">
            <a:xfrm>
              <a:off x="1064" y="2250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DA</a:t>
              </a:r>
            </a:p>
          </p:txBody>
        </p:sp>
        <p:sp>
          <p:nvSpPr>
            <p:cNvPr id="22596" name="Text Box 68"/>
            <p:cNvSpPr txBox="1">
              <a:spLocks noChangeArrowheads="1"/>
            </p:cNvSpPr>
            <p:nvPr/>
          </p:nvSpPr>
          <p:spPr bwMode="auto">
            <a:xfrm>
              <a:off x="1509" y="225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DB</a:t>
              </a:r>
            </a:p>
          </p:txBody>
        </p:sp>
        <p:sp>
          <p:nvSpPr>
            <p:cNvPr id="22597" name="Text Box 69"/>
            <p:cNvSpPr txBox="1">
              <a:spLocks noChangeArrowheads="1"/>
            </p:cNvSpPr>
            <p:nvPr/>
          </p:nvSpPr>
          <p:spPr bwMode="auto">
            <a:xfrm>
              <a:off x="2053" y="225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DC</a:t>
              </a:r>
            </a:p>
          </p:txBody>
        </p:sp>
        <p:sp>
          <p:nvSpPr>
            <p:cNvPr id="22598" name="Text Box 70"/>
            <p:cNvSpPr txBox="1">
              <a:spLocks noChangeArrowheads="1"/>
            </p:cNvSpPr>
            <p:nvPr/>
          </p:nvSpPr>
          <p:spPr bwMode="auto">
            <a:xfrm>
              <a:off x="564" y="2761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EA</a:t>
              </a:r>
            </a:p>
          </p:txBody>
        </p:sp>
        <p:sp>
          <p:nvSpPr>
            <p:cNvPr id="22599" name="Text Box 71"/>
            <p:cNvSpPr txBox="1">
              <a:spLocks noChangeArrowheads="1"/>
            </p:cNvSpPr>
            <p:nvPr/>
          </p:nvSpPr>
          <p:spPr bwMode="auto">
            <a:xfrm>
              <a:off x="1042" y="2761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EB</a:t>
              </a:r>
            </a:p>
          </p:txBody>
        </p:sp>
        <p:sp>
          <p:nvSpPr>
            <p:cNvPr id="22600" name="Text Box 72"/>
            <p:cNvSpPr txBox="1">
              <a:spLocks noChangeArrowheads="1"/>
            </p:cNvSpPr>
            <p:nvPr/>
          </p:nvSpPr>
          <p:spPr bwMode="auto">
            <a:xfrm>
              <a:off x="1542" y="2772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EC</a:t>
              </a:r>
            </a:p>
          </p:txBody>
        </p:sp>
        <p:sp>
          <p:nvSpPr>
            <p:cNvPr id="22601" name="Text Box 73"/>
            <p:cNvSpPr txBox="1">
              <a:spLocks noChangeArrowheads="1"/>
            </p:cNvSpPr>
            <p:nvPr/>
          </p:nvSpPr>
          <p:spPr bwMode="auto">
            <a:xfrm>
              <a:off x="2076" y="2772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ED</a:t>
              </a:r>
            </a:p>
          </p:txBody>
        </p:sp>
        <p:sp>
          <p:nvSpPr>
            <p:cNvPr id="22602" name="Oval 74"/>
            <p:cNvSpPr>
              <a:spLocks noChangeArrowheads="1"/>
            </p:cNvSpPr>
            <p:nvPr/>
          </p:nvSpPr>
          <p:spPr bwMode="auto">
            <a:xfrm>
              <a:off x="1085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3" name="Oval 75"/>
            <p:cNvSpPr>
              <a:spLocks noChangeArrowheads="1"/>
            </p:cNvSpPr>
            <p:nvPr/>
          </p:nvSpPr>
          <p:spPr bwMode="auto">
            <a:xfrm>
              <a:off x="1548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4" name="Oval 76"/>
            <p:cNvSpPr>
              <a:spLocks noChangeArrowheads="1"/>
            </p:cNvSpPr>
            <p:nvPr/>
          </p:nvSpPr>
          <p:spPr bwMode="auto">
            <a:xfrm>
              <a:off x="2077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5" name="Oval 77"/>
            <p:cNvSpPr>
              <a:spLocks noChangeArrowheads="1"/>
            </p:cNvSpPr>
            <p:nvPr/>
          </p:nvSpPr>
          <p:spPr bwMode="auto">
            <a:xfrm>
              <a:off x="592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6" name="Oval 78"/>
            <p:cNvSpPr>
              <a:spLocks noChangeArrowheads="1"/>
            </p:cNvSpPr>
            <p:nvPr/>
          </p:nvSpPr>
          <p:spPr bwMode="auto">
            <a:xfrm>
              <a:off x="1055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7" name="Oval 79"/>
            <p:cNvSpPr>
              <a:spLocks noChangeArrowheads="1"/>
            </p:cNvSpPr>
            <p:nvPr/>
          </p:nvSpPr>
          <p:spPr bwMode="auto">
            <a:xfrm>
              <a:off x="1584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8" name="Oval 80"/>
            <p:cNvSpPr>
              <a:spLocks noChangeArrowheads="1"/>
            </p:cNvSpPr>
            <p:nvPr/>
          </p:nvSpPr>
          <p:spPr bwMode="auto">
            <a:xfrm>
              <a:off x="1110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9" name="Oval 81"/>
            <p:cNvSpPr>
              <a:spLocks noChangeArrowheads="1"/>
            </p:cNvSpPr>
            <p:nvPr/>
          </p:nvSpPr>
          <p:spPr bwMode="auto">
            <a:xfrm>
              <a:off x="1573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0" name="Oval 82"/>
            <p:cNvSpPr>
              <a:spLocks noChangeArrowheads="1"/>
            </p:cNvSpPr>
            <p:nvPr/>
          </p:nvSpPr>
          <p:spPr bwMode="auto">
            <a:xfrm>
              <a:off x="2102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1" name="Oval 83"/>
            <p:cNvSpPr>
              <a:spLocks noChangeArrowheads="1"/>
            </p:cNvSpPr>
            <p:nvPr/>
          </p:nvSpPr>
          <p:spPr bwMode="auto">
            <a:xfrm>
              <a:off x="617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2" name="Oval 84"/>
            <p:cNvSpPr>
              <a:spLocks noChangeArrowheads="1"/>
            </p:cNvSpPr>
            <p:nvPr/>
          </p:nvSpPr>
          <p:spPr bwMode="auto">
            <a:xfrm>
              <a:off x="1080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3" name="Oval 85"/>
            <p:cNvSpPr>
              <a:spLocks noChangeArrowheads="1"/>
            </p:cNvSpPr>
            <p:nvPr/>
          </p:nvSpPr>
          <p:spPr bwMode="auto">
            <a:xfrm>
              <a:off x="1609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4" name="Oval 86"/>
            <p:cNvSpPr>
              <a:spLocks noChangeArrowheads="1"/>
            </p:cNvSpPr>
            <p:nvPr/>
          </p:nvSpPr>
          <p:spPr bwMode="auto">
            <a:xfrm>
              <a:off x="2149" y="2998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2616" name="AutoShape 88"/>
          <p:cNvSpPr>
            <a:spLocks noChangeArrowheads="1"/>
          </p:cNvSpPr>
          <p:nvPr/>
        </p:nvSpPr>
        <p:spPr bwMode="auto">
          <a:xfrm>
            <a:off x="3173413" y="1114425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</a:t>
            </a:r>
          </a:p>
        </p:txBody>
      </p:sp>
      <p:grpSp>
        <p:nvGrpSpPr>
          <p:cNvPr id="11" name="Group 90"/>
          <p:cNvGrpSpPr/>
          <p:nvPr/>
        </p:nvGrpSpPr>
        <p:grpSpPr>
          <a:xfrm>
            <a:off x="5389563" y="1938338"/>
            <a:ext cx="1219200" cy="1676400"/>
            <a:chOff x="3792" y="1488"/>
            <a:chExt cx="768" cy="1056"/>
          </a:xfrm>
        </p:grpSpPr>
        <p:sp>
          <p:nvSpPr>
            <p:cNvPr id="22619" name="Line 91"/>
            <p:cNvSpPr>
              <a:spLocks noChangeShapeType="1"/>
            </p:cNvSpPr>
            <p:nvPr/>
          </p:nvSpPr>
          <p:spPr bwMode="auto">
            <a:xfrm flipV="1">
              <a:off x="4560" y="187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20" name="Line 92"/>
            <p:cNvSpPr>
              <a:spLocks noChangeShapeType="1"/>
            </p:cNvSpPr>
            <p:nvPr/>
          </p:nvSpPr>
          <p:spPr bwMode="auto">
            <a:xfrm flipH="1" flipV="1">
              <a:off x="3792" y="1488"/>
              <a:ext cx="76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6685" name="Rectangle 93"/>
          <p:cNvSpPr>
            <a:spLocks noChangeArrowheads="1"/>
          </p:cNvSpPr>
          <p:nvPr/>
        </p:nvSpPr>
        <p:spPr bwMode="auto">
          <a:xfrm>
            <a:off x="4835525" y="4327525"/>
            <a:ext cx="4021138" cy="2019300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顶点：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一条通路</a:t>
            </a:r>
          </a:p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连线：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不能同时通行</a:t>
            </a:r>
          </a:p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染色：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有连线的两个顶点不能具有相同颜色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366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366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366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66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366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3666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366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3666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500"/>
                                        <p:tgtEl>
                                          <p:spTgt spid="366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366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366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8" dur="500"/>
                                        <p:tgtEl>
                                          <p:spTgt spid="366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3" dur="500"/>
                                        <p:tgtEl>
                                          <p:spTgt spid="366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13" grpId="0" animBg="1"/>
      <p:bldP spid="366614" grpId="0" animBg="1"/>
      <p:bldP spid="366615" grpId="0" animBg="1"/>
      <p:bldP spid="366616" grpId="0" animBg="1"/>
      <p:bldP spid="366617" grpId="0" animBg="1"/>
      <p:bldP spid="366618" grpId="0" animBg="1"/>
      <p:bldP spid="366619" grpId="0" animBg="1"/>
      <p:bldP spid="366620" grpId="0" animBg="1"/>
      <p:bldP spid="366621" grpId="0" animBg="1"/>
      <p:bldP spid="366622" grpId="0" animBg="1"/>
      <p:bldP spid="366623" grpId="0" animBg="1"/>
      <p:bldP spid="366624" grpId="0" animBg="1"/>
      <p:bldP spid="366625" grpId="0" animBg="1"/>
      <p:bldP spid="36668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54"/>
          <p:cNvSpPr txBox="1">
            <a:spLocks noChangeArrowheads="1"/>
          </p:cNvSpPr>
          <p:nvPr/>
        </p:nvSpPr>
        <p:spPr bwMode="auto">
          <a:xfrm>
            <a:off x="862013" y="188913"/>
            <a:ext cx="493395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六度空间理论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23850" y="4832350"/>
            <a:ext cx="8640763" cy="973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你和任何一个陌生人之间所间隔的人不会超过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个，也就是说，最多通过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个中间人你就能够认识任何一个陌生人。</a:t>
            </a:r>
          </a:p>
        </p:txBody>
      </p:sp>
      <p:pic>
        <p:nvPicPr>
          <p:cNvPr id="12902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435100"/>
            <a:ext cx="3211512" cy="269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1" descr="C:\Users\Administrator\AppData\Roaming\Tencent\Users\597999009\QQ\WinTemp\RichOle\]P$UM_UWH`ZMN}7VZS`UEW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81113"/>
            <a:ext cx="3816350" cy="28463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2774" name="直接连接符 2"/>
          <p:cNvCxnSpPr/>
          <p:nvPr/>
        </p:nvCxnSpPr>
        <p:spPr>
          <a:xfrm>
            <a:off x="323850" y="4522788"/>
            <a:ext cx="8424863" cy="0"/>
          </a:xfrm>
          <a:prstGeom prst="line">
            <a:avLst/>
          </a:prstGeom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AutoShape 88">
            <a:extLst>
              <a:ext uri="{FF2B5EF4-FFF2-40B4-BE49-F238E27FC236}">
                <a16:creationId xmlns:a16="http://schemas.microsoft.com/office/drawing/2014/main" xmlns="" id="{8078D8C1-0D00-629C-8BB6-75B2219FA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62" y="1030932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1026"/>
          <p:cNvSpPr>
            <a:spLocks noGrp="1" noChangeArrowheads="1"/>
          </p:cNvSpPr>
          <p:nvPr>
            <p:ph idx="1"/>
          </p:nvPr>
        </p:nvSpPr>
        <p:spPr>
          <a:xfrm>
            <a:off x="234950" y="1477963"/>
            <a:ext cx="8674100" cy="1187450"/>
          </a:xfr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&amp;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设计出合适的数据结构及相应的算法</a:t>
            </a:r>
          </a:p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即：首先要考虑</a:t>
            </a:r>
            <a:r>
              <a:rPr kumimoji="0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对相关的各种信息如何表示、组织和存储？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47663" y="241300"/>
            <a:ext cx="502761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求解非数值计算的问题</a:t>
            </a:r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 bwMode="auto">
          <a:xfrm>
            <a:off x="234950" y="3122613"/>
            <a:ext cx="8674100" cy="666750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 anchor="ctr"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53848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数据结构的研究内容为：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026"/>
          <p:cNvSpPr txBox="1">
            <a:spLocks noChangeArrowheads="1"/>
          </p:cNvSpPr>
          <p:nvPr/>
        </p:nvSpPr>
        <p:spPr bwMode="auto">
          <a:xfrm>
            <a:off x="234950" y="3789363"/>
            <a:ext cx="8674100" cy="1250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miter lim="800000"/>
          </a:ln>
        </p:spPr>
        <p:txBody>
          <a:bodyPr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研究非数值计算的程序设计问题中计算机的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操作对象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以及它们之间的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关系和操作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800" b="0" i="0" u="sng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8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2" grpId="0" build="p" animBg="1"/>
      <p:bldP spid="5" grpId="0" build="p" animBg="1"/>
      <p:bldP spid="8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B5E9575F-9174-D65A-3F4F-D8A923BC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008" y="903708"/>
            <a:ext cx="2136142" cy="292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7521532D-338F-2A73-7FEE-D4FA90396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79" y="1268760"/>
            <a:ext cx="4044171" cy="403244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69098F24-673B-37D6-9D7D-DF3F02FDC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A5F59AE9-547C-4D81-B856-F115CB236C15}"/>
              </a:ext>
            </a:extLst>
          </p:cNvPr>
          <p:cNvSpPr txBox="1"/>
          <p:nvPr/>
        </p:nvSpPr>
        <p:spPr>
          <a:xfrm>
            <a:off x="4642343" y="4327278"/>
            <a:ext cx="41878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程序设计是一门</a:t>
            </a:r>
            <a:r>
              <a:rPr lang="zh-CN" altLang="en-US" dirty="0">
                <a:solidFill>
                  <a:srgbClr val="FF0000"/>
                </a:solidFill>
              </a:rPr>
              <a:t>艺术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如音乐和文学作品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xmlns="" id="{928E44F7-BFB2-C7AC-19B4-6241B96F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2885"/>
            <a:ext cx="9155113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Bill Gates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“如果你学会了这本书，就直接给微软发</a:t>
            </a:r>
            <a:r>
              <a:rPr lang="zh-CN" altLang="en-US" sz="2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简历！”</a:t>
            </a:r>
          </a:p>
        </p:txBody>
      </p:sp>
    </p:spTree>
    <p:extLst>
      <p:ext uri="{BB962C8B-B14F-4D97-AF65-F5344CB8AC3E}">
        <p14:creationId xmlns:p14="http://schemas.microsoft.com/office/powerpoint/2010/main" val="2108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F497202-0A5C-E3E0-65FB-8FB1BD88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1" y="2255381"/>
            <a:ext cx="4392487" cy="29700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lvl="0">
              <a:spcBef>
                <a:spcPct val="50000"/>
              </a:spcBef>
              <a:defRPr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1968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年，</a:t>
            </a:r>
            <a:r>
              <a:rPr lang="zh-CN" altLang="en-US" sz="22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第一卷</a:t>
            </a:r>
            <a:r>
              <a:rPr lang="en-US" altLang="zh-CN" sz="22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lang="zh-CN" altLang="en-US" sz="22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基本算法</a:t>
            </a:r>
            <a:r>
              <a:rPr lang="en-US" altLang="zh-CN" sz="22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spcBef>
                <a:spcPct val="50000"/>
              </a:spcBef>
              <a:defRPr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1969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年，第二卷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半数字化算法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spcBef>
                <a:spcPct val="50000"/>
              </a:spcBef>
              <a:defRPr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1973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年，第三卷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排序与搜索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spcBef>
                <a:spcPct val="50000"/>
              </a:spcBef>
              <a:defRPr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2011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年，第四卷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A《</a:t>
            </a: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组合算法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spcBef>
                <a:spcPct val="50000"/>
              </a:spcBef>
              <a:defRPr/>
            </a:pPr>
            <a:r>
              <a:rPr lang="en-US" altLang="zh-CN" sz="2200" dirty="0">
                <a:solidFill>
                  <a:srgbClr val="FF33CC"/>
                </a:solidFill>
                <a:latin typeface="+mn-lt"/>
                <a:ea typeface="+mn-ea"/>
                <a:cs typeface="+mn-ea"/>
                <a:sym typeface="+mn-lt"/>
              </a:rPr>
              <a:t>……</a:t>
            </a:r>
          </a:p>
          <a:p>
            <a:pPr lvl="0">
              <a:spcBef>
                <a:spcPct val="50000"/>
              </a:spcBef>
              <a:defRPr/>
            </a:pP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计划七卷</a:t>
            </a:r>
            <a:endParaRPr lang="en-US" altLang="zh-CN" sz="22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EB94221-F353-0AEC-57F6-6068839F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948" y="2233904"/>
            <a:ext cx="3716116" cy="2925224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双向链表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字符串模式匹配算法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KMP</a:t>
            </a:r>
          </a:p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编译器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LR</a:t>
            </a:r>
          </a:p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</a:t>
            </a:r>
          </a:p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en-US" altLang="zh-CN" sz="2400" dirty="0" err="1">
                <a:latin typeface="+mn-lt"/>
                <a:ea typeface="+mn-ea"/>
                <a:cs typeface="+mn-ea"/>
                <a:sym typeface="+mn-lt"/>
              </a:rPr>
              <a:t>TeX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LaTeX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xmlns="" id="{940CB529-2F2A-2C35-1A20-5E1B22B47D2B}"/>
              </a:ext>
            </a:extLst>
          </p:cNvPr>
          <p:cNvSpPr/>
          <p:nvPr/>
        </p:nvSpPr>
        <p:spPr bwMode="auto">
          <a:xfrm>
            <a:off x="4672307" y="3497451"/>
            <a:ext cx="504056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33E1D706-2A81-20B1-13AC-ED550592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xmlns="" id="{2AE2AC07-C7BA-05AA-1B54-DDD54ABEF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5819"/>
            <a:ext cx="9155113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1938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年出生，斯坦福大学计算机系教授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岁图灵奖</a:t>
            </a:r>
          </a:p>
        </p:txBody>
      </p:sp>
    </p:spTree>
    <p:extLst>
      <p:ext uri="{BB962C8B-B14F-4D97-AF65-F5344CB8AC3E}">
        <p14:creationId xmlns:p14="http://schemas.microsoft.com/office/powerpoint/2010/main" val="53025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 advAuto="100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37FC83D3-E336-7D7A-87B5-5A99B40FC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3783" y="1526981"/>
            <a:ext cx="2387698" cy="1311995"/>
          </a:xfrm>
          <a:prstGeom prst="rect">
            <a:avLst/>
          </a:prstGeom>
        </p:spPr>
      </p:pic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CAE60975-3C1E-0F43-75DA-CE61FAB359FB}"/>
              </a:ext>
            </a:extLst>
          </p:cNvPr>
          <p:cNvSpPr/>
          <p:nvPr/>
        </p:nvSpPr>
        <p:spPr>
          <a:xfrm>
            <a:off x="179511" y="3263985"/>
            <a:ext cx="2387697" cy="2579208"/>
          </a:xfrm>
          <a:prstGeom prst="roundRect">
            <a:avLst>
              <a:gd name="adj" fmla="val 7195"/>
            </a:avLst>
          </a:prstGeom>
          <a:solidFill>
            <a:srgbClr val="FFFFFF">
              <a:alpha val="100000"/>
            </a:srgbClr>
          </a:solidFill>
          <a:ln/>
          <a:effectLst>
            <a:outerShdw blurRad="3429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9990E626-890B-F5F6-2717-7F047753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4002" y="1601314"/>
            <a:ext cx="2387698" cy="1311995"/>
          </a:xfrm>
          <a:prstGeom prst="rect">
            <a:avLst/>
          </a:prstGeom>
        </p:spPr>
      </p:pic>
      <p:sp>
        <p:nvSpPr>
          <p:cNvPr id="7" name="AutoShape 5">
            <a:extLst>
              <a:ext uri="{FF2B5EF4-FFF2-40B4-BE49-F238E27FC236}">
                <a16:creationId xmlns:a16="http://schemas.microsoft.com/office/drawing/2014/main" xmlns="" id="{6A0D84DB-8BED-184B-D9A3-C9B41D0F4440}"/>
              </a:ext>
            </a:extLst>
          </p:cNvPr>
          <p:cNvSpPr/>
          <p:nvPr/>
        </p:nvSpPr>
        <p:spPr>
          <a:xfrm>
            <a:off x="6240014" y="3286085"/>
            <a:ext cx="2220418" cy="2579208"/>
          </a:xfrm>
          <a:prstGeom prst="roundRect">
            <a:avLst>
              <a:gd name="adj" fmla="val 7195"/>
            </a:avLst>
          </a:prstGeom>
          <a:solidFill>
            <a:srgbClr val="FFFFFF">
              <a:alpha val="100000"/>
            </a:srgbClr>
          </a:solidFill>
          <a:ln/>
          <a:effectLst>
            <a:outerShdw blurRad="3429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51DCB56-09D1-1221-2CFF-E8FB0415DC22}"/>
              </a:ext>
            </a:extLst>
          </p:cNvPr>
          <p:cNvSpPr txBox="1"/>
          <p:nvPr/>
        </p:nvSpPr>
        <p:spPr>
          <a:xfrm>
            <a:off x="202649" y="3284493"/>
            <a:ext cx="1940011" cy="50477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经典著作</a:t>
            </a:r>
            <a:endParaRPr lang="en-US" sz="2400" b="1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155D991-F39A-5EFC-97FA-20FF2DAF68C2}"/>
              </a:ext>
            </a:extLst>
          </p:cNvPr>
          <p:cNvSpPr txBox="1"/>
          <p:nvPr/>
        </p:nvSpPr>
        <p:spPr>
          <a:xfrm>
            <a:off x="220741" y="4098270"/>
            <a:ext cx="2119011" cy="145596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 fontScale="92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500" dirty="0" err="1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Knuth撰写了多部具有里程碑意义的经典著作，如《计算机程序设计艺术</a:t>
            </a:r>
            <a:r>
              <a:rPr lang="en-US" sz="1500" dirty="0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》，</a:t>
            </a:r>
            <a:r>
              <a:rPr lang="en-US" sz="1500" dirty="0" err="1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成为计算机科学领域的必读之作</a:t>
            </a:r>
            <a:r>
              <a:rPr lang="en-US" sz="1500" dirty="0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916B1A9-CE33-82C6-CAB4-E0D122399B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77" b="8477"/>
          <a:stretch>
            <a:fillRect/>
          </a:stretch>
        </p:blipFill>
        <p:spPr>
          <a:xfrm>
            <a:off x="3335733" y="1555356"/>
            <a:ext cx="2220418" cy="1311995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xmlns="" id="{D026A95A-CE00-BB03-710A-CA204316F6FC}"/>
              </a:ext>
            </a:extLst>
          </p:cNvPr>
          <p:cNvSpPr/>
          <p:nvPr/>
        </p:nvSpPr>
        <p:spPr>
          <a:xfrm>
            <a:off x="3307704" y="3263985"/>
            <a:ext cx="2220418" cy="2579208"/>
          </a:xfrm>
          <a:prstGeom prst="roundRect">
            <a:avLst>
              <a:gd name="adj" fmla="val 7195"/>
            </a:avLst>
          </a:prstGeom>
          <a:solidFill>
            <a:srgbClr val="FFFFFF">
              <a:alpha val="100000"/>
            </a:srgbClr>
          </a:solidFill>
          <a:ln/>
          <a:effectLst>
            <a:outerShdw blurRad="3429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0B08334-0BA2-774C-99DE-517C3B5B7AA7}"/>
              </a:ext>
            </a:extLst>
          </p:cNvPr>
          <p:cNvSpPr txBox="1"/>
          <p:nvPr/>
        </p:nvSpPr>
        <p:spPr>
          <a:xfrm>
            <a:off x="3330841" y="3284493"/>
            <a:ext cx="1940011" cy="50477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创立新理论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4482DE8-7F1C-07A3-67EB-A9359BA7A94C}"/>
              </a:ext>
            </a:extLst>
          </p:cNvPr>
          <p:cNvSpPr txBox="1"/>
          <p:nvPr/>
        </p:nvSpPr>
        <p:spPr>
          <a:xfrm>
            <a:off x="6263152" y="3306593"/>
            <a:ext cx="1940011" cy="50477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推广新技术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C8C011B-996C-88BE-0FCD-6BFEB145D296}"/>
              </a:ext>
            </a:extLst>
          </p:cNvPr>
          <p:cNvSpPr txBox="1"/>
          <p:nvPr/>
        </p:nvSpPr>
        <p:spPr>
          <a:xfrm>
            <a:off x="3348933" y="4098270"/>
            <a:ext cx="2015155" cy="145596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 fontScale="850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500" dirty="0" err="1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他在算法分析、数据结构等领域创立了新理论，如算法的时间复杂度和空间复杂度分析，为后来的研究提供了重要指导</a:t>
            </a:r>
            <a:r>
              <a:rPr lang="en-US" sz="1500" dirty="0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2B00F9A-93A9-1F55-9749-0430F222D24C}"/>
              </a:ext>
            </a:extLst>
          </p:cNvPr>
          <p:cNvSpPr txBox="1"/>
          <p:nvPr/>
        </p:nvSpPr>
        <p:spPr>
          <a:xfrm>
            <a:off x="6281243" y="4120370"/>
            <a:ext cx="2095887" cy="145596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 fontScale="92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500" dirty="0" err="1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Knuth积极推广新技术和新方法，如TeX排版系统和METAFONT字体设计系统，对出版印刷领域产生了深远影响</a:t>
            </a:r>
            <a:r>
              <a:rPr lang="en-US" sz="1500" dirty="0">
                <a:solidFill>
                  <a:srgbClr val="000000">
                    <a:alpha val="69804"/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xmlns="" id="{0036DD8A-E1C0-F56A-4BDD-775DA2226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591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EC4C28-44E9-48C9-B337-C5B85FDA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xmlns="" id="{C7EB6023-1991-A0C2-7082-6C3F00ADA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432A5AE1-DDBC-7763-BB89-2FB69F95E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33" b="17133"/>
          <a:stretch>
            <a:fillRect/>
          </a:stretch>
        </p:blipFill>
        <p:spPr>
          <a:xfrm>
            <a:off x="55793" y="1412777"/>
            <a:ext cx="3705356" cy="3355658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8C0222DE-B0CF-0A77-20B9-46C223F4EF22}"/>
              </a:ext>
            </a:extLst>
          </p:cNvPr>
          <p:cNvSpPr txBox="1"/>
          <p:nvPr/>
        </p:nvSpPr>
        <p:spPr>
          <a:xfrm>
            <a:off x="3995936" y="1602978"/>
            <a:ext cx="4608512" cy="89832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Knuth在研究过程中遇到许多困难和挫折，但他始终坚定信念，持之以恒地解决问题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xmlns="" id="{7C078370-C23D-EEDA-C3D2-D63EF0235738}"/>
              </a:ext>
            </a:extLst>
          </p:cNvPr>
          <p:cNvSpPr txBox="1"/>
          <p:nvPr/>
        </p:nvSpPr>
        <p:spPr>
          <a:xfrm>
            <a:off x="3995936" y="1050376"/>
            <a:ext cx="5064406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坚持不懈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xmlns="" id="{6BEE7A30-B64F-200B-30C8-36213105F9C6}"/>
              </a:ext>
            </a:extLst>
          </p:cNvPr>
          <p:cNvSpPr txBox="1"/>
          <p:nvPr/>
        </p:nvSpPr>
        <p:spPr>
          <a:xfrm>
            <a:off x="3982604" y="3105525"/>
            <a:ext cx="4559941" cy="88454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他对自己的研究成果要求极高，不断追求精益求精，力求做到最好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xmlns="" id="{23556D8A-C182-ABFE-A742-0BDF41D14BA7}"/>
              </a:ext>
            </a:extLst>
          </p:cNvPr>
          <p:cNvSpPr txBox="1"/>
          <p:nvPr/>
        </p:nvSpPr>
        <p:spPr>
          <a:xfrm>
            <a:off x="3995936" y="2686244"/>
            <a:ext cx="5064406" cy="43618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精益求精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xmlns="" id="{F3EF533C-A523-8B94-F07E-CA5CC0288BDD}"/>
              </a:ext>
            </a:extLst>
          </p:cNvPr>
          <p:cNvSpPr txBox="1"/>
          <p:nvPr/>
        </p:nvSpPr>
        <p:spPr>
          <a:xfrm>
            <a:off x="3982604" y="4623196"/>
            <a:ext cx="4405820" cy="89832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Knuth在数据结构领域的研究投入了大量的时间和精力，长期坚持不懈，最终取得了显著的成果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xmlns="" id="{29F275B4-E069-14AE-E21B-5F9C8DE788D7}"/>
              </a:ext>
            </a:extLst>
          </p:cNvPr>
          <p:cNvSpPr txBox="1"/>
          <p:nvPr/>
        </p:nvSpPr>
        <p:spPr>
          <a:xfrm>
            <a:off x="3982604" y="4170458"/>
            <a:ext cx="5064406" cy="42240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长期投入</a:t>
            </a:r>
          </a:p>
        </p:txBody>
      </p:sp>
    </p:spTree>
    <p:extLst>
      <p:ext uri="{BB962C8B-B14F-4D97-AF65-F5344CB8AC3E}">
        <p14:creationId xmlns:p14="http://schemas.microsoft.com/office/powerpoint/2010/main" val="2212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7"/>
          <p:cNvSpPr txBox="1">
            <a:spLocks noChangeArrowheads="1"/>
          </p:cNvSpPr>
          <p:nvPr/>
        </p:nvSpPr>
        <p:spPr bwMode="auto">
          <a:xfrm>
            <a:off x="1050925" y="1527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0389" name="Rectangle 1029"/>
          <p:cNvSpPr>
            <a:spLocks noChangeArrowheads="1"/>
          </p:cNvSpPr>
          <p:nvPr/>
        </p:nvSpPr>
        <p:spPr bwMode="auto">
          <a:xfrm>
            <a:off x="1495425" y="1557338"/>
            <a:ext cx="7191375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能够分析研究计算机加工的对象的特性，获得其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，根据需求，选择合适</a:t>
            </a:r>
            <a:r>
              <a:rPr lang="zh-CN" altLang="en-US" sz="2200" noProof="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存储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结构及其相应的算法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0725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课程目的</a:t>
            </a:r>
          </a:p>
        </p:txBody>
      </p:sp>
      <p:grpSp>
        <p:nvGrpSpPr>
          <p:cNvPr id="11" name="组合 16"/>
          <p:cNvGrpSpPr/>
          <p:nvPr/>
        </p:nvGrpSpPr>
        <p:grpSpPr>
          <a:xfrm>
            <a:off x="690563" y="1681163"/>
            <a:ext cx="657225" cy="663575"/>
            <a:chOff x="4929188" y="1303338"/>
            <a:chExt cx="501650" cy="506412"/>
          </a:xfrm>
        </p:grpSpPr>
        <p:sp>
          <p:nvSpPr>
            <p:cNvPr id="12" name="Freeform 6"/>
            <p:cNvSpPr/>
            <p:nvPr/>
          </p:nvSpPr>
          <p:spPr bwMode="auto">
            <a:xfrm>
              <a:off x="4929188" y="1303338"/>
              <a:ext cx="501650" cy="506412"/>
            </a:xfrm>
            <a:custGeom>
              <a:avLst/>
              <a:gdLst>
                <a:gd name="T0" fmla="*/ 134 w 134"/>
                <a:gd name="T1" fmla="*/ 36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6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6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6"/>
                  </a:lnTo>
                  <a:close/>
                </a:path>
              </a:pathLst>
            </a:custGeom>
            <a:solidFill>
              <a:srgbClr val="65A5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4995832" y="1359068"/>
              <a:ext cx="371997" cy="205957"/>
            </a:xfrm>
            <a:custGeom>
              <a:avLst/>
              <a:gdLst>
                <a:gd name="T0" fmla="*/ 97 w 99"/>
                <a:gd name="T1" fmla="*/ 44 h 55"/>
                <a:gd name="T2" fmla="*/ 50 w 99"/>
                <a:gd name="T3" fmla="*/ 0 h 55"/>
                <a:gd name="T4" fmla="*/ 3 w 99"/>
                <a:gd name="T5" fmla="*/ 44 h 55"/>
                <a:gd name="T6" fmla="*/ 3 w 99"/>
                <a:gd name="T7" fmla="*/ 53 h 55"/>
                <a:gd name="T8" fmla="*/ 8 w 99"/>
                <a:gd name="T9" fmla="*/ 55 h 55"/>
                <a:gd name="T10" fmla="*/ 12 w 99"/>
                <a:gd name="T11" fmla="*/ 53 h 55"/>
                <a:gd name="T12" fmla="*/ 50 w 99"/>
                <a:gd name="T13" fmla="*/ 18 h 55"/>
                <a:gd name="T14" fmla="*/ 87 w 99"/>
                <a:gd name="T15" fmla="*/ 53 h 55"/>
                <a:gd name="T16" fmla="*/ 92 w 99"/>
                <a:gd name="T17" fmla="*/ 55 h 55"/>
                <a:gd name="T18" fmla="*/ 97 w 99"/>
                <a:gd name="T19" fmla="*/ 53 h 55"/>
                <a:gd name="T20" fmla="*/ 97 w 99"/>
                <a:gd name="T2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55">
                  <a:moveTo>
                    <a:pt x="97" y="44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1" y="46"/>
                    <a:pt x="0" y="50"/>
                    <a:pt x="3" y="53"/>
                  </a:cubicBezTo>
                  <a:cubicBezTo>
                    <a:pt x="4" y="54"/>
                    <a:pt x="6" y="55"/>
                    <a:pt x="8" y="55"/>
                  </a:cubicBezTo>
                  <a:cubicBezTo>
                    <a:pt x="9" y="55"/>
                    <a:pt x="11" y="54"/>
                    <a:pt x="12" y="53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89" y="54"/>
                    <a:pt x="90" y="55"/>
                    <a:pt x="92" y="55"/>
                  </a:cubicBezTo>
                  <a:cubicBezTo>
                    <a:pt x="94" y="55"/>
                    <a:pt x="96" y="54"/>
                    <a:pt x="97" y="53"/>
                  </a:cubicBezTo>
                  <a:cubicBezTo>
                    <a:pt x="99" y="50"/>
                    <a:pt x="99" y="46"/>
                    <a:pt x="97" y="44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5056418" y="1446296"/>
              <a:ext cx="255672" cy="265321"/>
            </a:xfrm>
            <a:custGeom>
              <a:avLst/>
              <a:gdLst>
                <a:gd name="T0" fmla="*/ 0 w 68"/>
                <a:gd name="T1" fmla="*/ 32 h 71"/>
                <a:gd name="T2" fmla="*/ 0 w 68"/>
                <a:gd name="T3" fmla="*/ 68 h 71"/>
                <a:gd name="T4" fmla="*/ 5 w 68"/>
                <a:gd name="T5" fmla="*/ 71 h 71"/>
                <a:gd name="T6" fmla="*/ 22 w 68"/>
                <a:gd name="T7" fmla="*/ 71 h 71"/>
                <a:gd name="T8" fmla="*/ 22 w 68"/>
                <a:gd name="T9" fmla="*/ 44 h 71"/>
                <a:gd name="T10" fmla="*/ 46 w 68"/>
                <a:gd name="T11" fmla="*/ 44 h 71"/>
                <a:gd name="T12" fmla="*/ 46 w 68"/>
                <a:gd name="T13" fmla="*/ 71 h 71"/>
                <a:gd name="T14" fmla="*/ 63 w 68"/>
                <a:gd name="T15" fmla="*/ 71 h 71"/>
                <a:gd name="T16" fmla="*/ 68 w 68"/>
                <a:gd name="T17" fmla="*/ 68 h 71"/>
                <a:gd name="T18" fmla="*/ 68 w 68"/>
                <a:gd name="T19" fmla="*/ 32 h 71"/>
                <a:gd name="T20" fmla="*/ 34 w 68"/>
                <a:gd name="T21" fmla="*/ 0 h 71"/>
                <a:gd name="T22" fmla="*/ 0 w 68"/>
                <a:gd name="T2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71">
                  <a:moveTo>
                    <a:pt x="0" y="32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70"/>
                    <a:pt x="2" y="71"/>
                    <a:pt x="5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6" y="71"/>
                    <a:pt x="68" y="70"/>
                    <a:pt x="68" y="6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组合 20"/>
          <p:cNvGrpSpPr/>
          <p:nvPr/>
        </p:nvGrpSpPr>
        <p:grpSpPr>
          <a:xfrm>
            <a:off x="684213" y="2708275"/>
            <a:ext cx="663575" cy="661988"/>
            <a:chOff x="1339850" y="2163763"/>
            <a:chExt cx="506413" cy="506412"/>
          </a:xfrm>
        </p:grpSpPr>
        <p:sp>
          <p:nvSpPr>
            <p:cNvPr id="16" name="Freeform 13"/>
            <p:cNvSpPr/>
            <p:nvPr/>
          </p:nvSpPr>
          <p:spPr bwMode="auto">
            <a:xfrm>
              <a:off x="1339850" y="2163763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7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7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1499770" y="2276704"/>
              <a:ext cx="176881" cy="104440"/>
            </a:xfrm>
            <a:custGeom>
              <a:avLst/>
              <a:gdLst>
                <a:gd name="T0" fmla="*/ 111 w 111"/>
                <a:gd name="T1" fmla="*/ 0 h 66"/>
                <a:gd name="T2" fmla="*/ 55 w 111"/>
                <a:gd name="T3" fmla="*/ 0 h 66"/>
                <a:gd name="T4" fmla="*/ 55 w 111"/>
                <a:gd name="T5" fmla="*/ 54 h 66"/>
                <a:gd name="T6" fmla="*/ 14 w 111"/>
                <a:gd name="T7" fmla="*/ 54 h 66"/>
                <a:gd name="T8" fmla="*/ 14 w 111"/>
                <a:gd name="T9" fmla="*/ 0 h 66"/>
                <a:gd name="T10" fmla="*/ 0 w 111"/>
                <a:gd name="T11" fmla="*/ 0 h 66"/>
                <a:gd name="T12" fmla="*/ 0 w 111"/>
                <a:gd name="T13" fmla="*/ 66 h 66"/>
                <a:gd name="T14" fmla="*/ 111 w 111"/>
                <a:gd name="T15" fmla="*/ 66 h 66"/>
                <a:gd name="T16" fmla="*/ 111 w 111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66">
                  <a:moveTo>
                    <a:pt x="111" y="0"/>
                  </a:moveTo>
                  <a:lnTo>
                    <a:pt x="55" y="0"/>
                  </a:lnTo>
                  <a:lnTo>
                    <a:pt x="55" y="54"/>
                  </a:lnTo>
                  <a:lnTo>
                    <a:pt x="14" y="54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11" y="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5"/>
            <p:cNvSpPr>
              <a:spLocks noEditPoints="1"/>
            </p:cNvSpPr>
            <p:nvPr/>
          </p:nvSpPr>
          <p:spPr bwMode="auto">
            <a:xfrm>
              <a:off x="1447674" y="2276704"/>
              <a:ext cx="289552" cy="278101"/>
            </a:xfrm>
            <a:custGeom>
              <a:avLst/>
              <a:gdLst>
                <a:gd name="T0" fmla="*/ 72 w 77"/>
                <a:gd name="T1" fmla="*/ 0 h 74"/>
                <a:gd name="T2" fmla="*/ 64 w 77"/>
                <a:gd name="T3" fmla="*/ 0 h 74"/>
                <a:gd name="T4" fmla="*/ 64 w 77"/>
                <a:gd name="T5" fmla="*/ 31 h 74"/>
                <a:gd name="T6" fmla="*/ 10 w 77"/>
                <a:gd name="T7" fmla="*/ 31 h 74"/>
                <a:gd name="T8" fmla="*/ 10 w 77"/>
                <a:gd name="T9" fmla="*/ 0 h 74"/>
                <a:gd name="T10" fmla="*/ 5 w 77"/>
                <a:gd name="T11" fmla="*/ 0 h 74"/>
                <a:gd name="T12" fmla="*/ 0 w 77"/>
                <a:gd name="T13" fmla="*/ 6 h 74"/>
                <a:gd name="T14" fmla="*/ 0 w 77"/>
                <a:gd name="T15" fmla="*/ 68 h 74"/>
                <a:gd name="T16" fmla="*/ 5 w 77"/>
                <a:gd name="T17" fmla="*/ 74 h 74"/>
                <a:gd name="T18" fmla="*/ 72 w 77"/>
                <a:gd name="T19" fmla="*/ 74 h 74"/>
                <a:gd name="T20" fmla="*/ 77 w 77"/>
                <a:gd name="T21" fmla="*/ 68 h 74"/>
                <a:gd name="T22" fmla="*/ 77 w 77"/>
                <a:gd name="T23" fmla="*/ 6 h 74"/>
                <a:gd name="T24" fmla="*/ 72 w 77"/>
                <a:gd name="T25" fmla="*/ 0 h 74"/>
                <a:gd name="T26" fmla="*/ 38 w 77"/>
                <a:gd name="T27" fmla="*/ 65 h 74"/>
                <a:gd name="T28" fmla="*/ 22 w 77"/>
                <a:gd name="T29" fmla="*/ 49 h 74"/>
                <a:gd name="T30" fmla="*/ 38 w 77"/>
                <a:gd name="T31" fmla="*/ 33 h 74"/>
                <a:gd name="T32" fmla="*/ 54 w 77"/>
                <a:gd name="T33" fmla="*/ 49 h 74"/>
                <a:gd name="T34" fmla="*/ 38 w 77"/>
                <a:gd name="T35" fmla="*/ 6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4">
                  <a:moveTo>
                    <a:pt x="72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2" y="74"/>
                    <a:pt x="5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75" y="74"/>
                    <a:pt x="77" y="72"/>
                    <a:pt x="77" y="68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5" y="0"/>
                    <a:pt x="72" y="0"/>
                  </a:cubicBezTo>
                  <a:close/>
                  <a:moveTo>
                    <a:pt x="38" y="65"/>
                  </a:moveTo>
                  <a:cubicBezTo>
                    <a:pt x="29" y="65"/>
                    <a:pt x="22" y="58"/>
                    <a:pt x="22" y="49"/>
                  </a:cubicBezTo>
                  <a:cubicBezTo>
                    <a:pt x="22" y="40"/>
                    <a:pt x="29" y="33"/>
                    <a:pt x="38" y="33"/>
                  </a:cubicBezTo>
                  <a:cubicBezTo>
                    <a:pt x="46" y="33"/>
                    <a:pt x="54" y="40"/>
                    <a:pt x="54" y="49"/>
                  </a:cubicBezTo>
                  <a:cubicBezTo>
                    <a:pt x="54" y="58"/>
                    <a:pt x="46" y="65"/>
                    <a:pt x="38" y="65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1549442" y="2418790"/>
              <a:ext cx="82383" cy="82580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组合 25"/>
          <p:cNvGrpSpPr/>
          <p:nvPr/>
        </p:nvGrpSpPr>
        <p:grpSpPr>
          <a:xfrm>
            <a:off x="690563" y="3770313"/>
            <a:ext cx="657225" cy="663575"/>
            <a:chOff x="5093055" y="2766720"/>
            <a:chExt cx="501650" cy="506413"/>
          </a:xfrm>
        </p:grpSpPr>
        <p:sp>
          <p:nvSpPr>
            <p:cNvPr id="21" name="Freeform 21"/>
            <p:cNvSpPr/>
            <p:nvPr/>
          </p:nvSpPr>
          <p:spPr bwMode="auto">
            <a:xfrm>
              <a:off x="5093055" y="2766720"/>
              <a:ext cx="501650" cy="506413"/>
            </a:xfrm>
            <a:custGeom>
              <a:avLst/>
              <a:gdLst>
                <a:gd name="T0" fmla="*/ 134 w 134"/>
                <a:gd name="T1" fmla="*/ 37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7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7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7"/>
                  </a:lnTo>
                  <a:close/>
                </a:path>
              </a:pathLst>
            </a:custGeom>
            <a:solidFill>
              <a:srgbClr val="947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5200897" y="3069599"/>
              <a:ext cx="98149" cy="99344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5211803" y="2970254"/>
              <a:ext cx="181757" cy="179304"/>
            </a:xfrm>
            <a:custGeom>
              <a:avLst/>
              <a:gdLst>
                <a:gd name="T0" fmla="*/ 6 w 48"/>
                <a:gd name="T1" fmla="*/ 0 h 48"/>
                <a:gd name="T2" fmla="*/ 0 w 48"/>
                <a:gd name="T3" fmla="*/ 7 h 48"/>
                <a:gd name="T4" fmla="*/ 6 w 48"/>
                <a:gd name="T5" fmla="*/ 13 h 48"/>
                <a:gd name="T6" fmla="*/ 35 w 48"/>
                <a:gd name="T7" fmla="*/ 42 h 48"/>
                <a:gd name="T8" fmla="*/ 42 w 48"/>
                <a:gd name="T9" fmla="*/ 48 h 48"/>
                <a:gd name="T10" fmla="*/ 48 w 48"/>
                <a:gd name="T11" fmla="*/ 42 h 48"/>
                <a:gd name="T12" fmla="*/ 6 w 4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22" y="13"/>
                    <a:pt x="35" y="26"/>
                    <a:pt x="35" y="42"/>
                  </a:cubicBezTo>
                  <a:cubicBezTo>
                    <a:pt x="35" y="45"/>
                    <a:pt x="38" y="48"/>
                    <a:pt x="42" y="48"/>
                  </a:cubicBezTo>
                  <a:cubicBezTo>
                    <a:pt x="45" y="48"/>
                    <a:pt x="48" y="45"/>
                    <a:pt x="48" y="42"/>
                  </a:cubicBezTo>
                  <a:cubicBezTo>
                    <a:pt x="48" y="19"/>
                    <a:pt x="29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5211803" y="2870910"/>
              <a:ext cx="278694" cy="278648"/>
            </a:xfrm>
            <a:custGeom>
              <a:avLst/>
              <a:gdLst>
                <a:gd name="T0" fmla="*/ 6 w 74"/>
                <a:gd name="T1" fmla="*/ 0 h 74"/>
                <a:gd name="T2" fmla="*/ 0 w 74"/>
                <a:gd name="T3" fmla="*/ 7 h 74"/>
                <a:gd name="T4" fmla="*/ 6 w 74"/>
                <a:gd name="T5" fmla="*/ 13 h 74"/>
                <a:gd name="T6" fmla="*/ 61 w 74"/>
                <a:gd name="T7" fmla="*/ 68 h 74"/>
                <a:gd name="T8" fmla="*/ 68 w 74"/>
                <a:gd name="T9" fmla="*/ 74 h 74"/>
                <a:gd name="T10" fmla="*/ 74 w 74"/>
                <a:gd name="T11" fmla="*/ 68 h 74"/>
                <a:gd name="T12" fmla="*/ 6 w 74"/>
                <a:gd name="T1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74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37" y="13"/>
                    <a:pt x="61" y="38"/>
                    <a:pt x="61" y="68"/>
                  </a:cubicBezTo>
                  <a:cubicBezTo>
                    <a:pt x="61" y="71"/>
                    <a:pt x="64" y="74"/>
                    <a:pt x="68" y="74"/>
                  </a:cubicBezTo>
                  <a:cubicBezTo>
                    <a:pt x="71" y="74"/>
                    <a:pt x="74" y="71"/>
                    <a:pt x="74" y="68"/>
                  </a:cubicBezTo>
                  <a:cubicBezTo>
                    <a:pt x="74" y="30"/>
                    <a:pt x="44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组合 30"/>
          <p:cNvGrpSpPr/>
          <p:nvPr/>
        </p:nvGrpSpPr>
        <p:grpSpPr>
          <a:xfrm>
            <a:off x="684213" y="4854575"/>
            <a:ext cx="663575" cy="661988"/>
            <a:chOff x="6137274" y="1900165"/>
            <a:chExt cx="506413" cy="506412"/>
          </a:xfrm>
        </p:grpSpPr>
        <p:sp>
          <p:nvSpPr>
            <p:cNvPr id="26" name="Freeform 29"/>
            <p:cNvSpPr/>
            <p:nvPr/>
          </p:nvSpPr>
          <p:spPr bwMode="auto">
            <a:xfrm>
              <a:off x="6137274" y="1900165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6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6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rgbClr val="6C4C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30"/>
            <p:cNvSpPr>
              <a:spLocks noEditPoints="1"/>
            </p:cNvSpPr>
            <p:nvPr/>
          </p:nvSpPr>
          <p:spPr bwMode="auto">
            <a:xfrm>
              <a:off x="6208753" y="1979102"/>
              <a:ext cx="327109" cy="325464"/>
            </a:xfrm>
            <a:custGeom>
              <a:avLst/>
              <a:gdLst>
                <a:gd name="T0" fmla="*/ 64 w 87"/>
                <a:gd name="T1" fmla="*/ 14 h 87"/>
                <a:gd name="T2" fmla="*/ 14 w 87"/>
                <a:gd name="T3" fmla="*/ 14 h 87"/>
                <a:gd name="T4" fmla="*/ 14 w 87"/>
                <a:gd name="T5" fmla="*/ 64 h 87"/>
                <a:gd name="T6" fmla="*/ 59 w 87"/>
                <a:gd name="T7" fmla="*/ 69 h 87"/>
                <a:gd name="T8" fmla="*/ 74 w 87"/>
                <a:gd name="T9" fmla="*/ 84 h 87"/>
                <a:gd name="T10" fmla="*/ 83 w 87"/>
                <a:gd name="T11" fmla="*/ 84 h 87"/>
                <a:gd name="T12" fmla="*/ 84 w 87"/>
                <a:gd name="T13" fmla="*/ 83 h 87"/>
                <a:gd name="T14" fmla="*/ 84 w 87"/>
                <a:gd name="T15" fmla="*/ 74 h 87"/>
                <a:gd name="T16" fmla="*/ 69 w 87"/>
                <a:gd name="T17" fmla="*/ 59 h 87"/>
                <a:gd name="T18" fmla="*/ 64 w 87"/>
                <a:gd name="T19" fmla="*/ 14 h 87"/>
                <a:gd name="T20" fmla="*/ 58 w 87"/>
                <a:gd name="T21" fmla="*/ 58 h 87"/>
                <a:gd name="T22" fmla="*/ 20 w 87"/>
                <a:gd name="T23" fmla="*/ 58 h 87"/>
                <a:gd name="T24" fmla="*/ 20 w 87"/>
                <a:gd name="T25" fmla="*/ 21 h 87"/>
                <a:gd name="T26" fmla="*/ 58 w 87"/>
                <a:gd name="T27" fmla="*/ 21 h 87"/>
                <a:gd name="T28" fmla="*/ 58 w 87"/>
                <a:gd name="T29" fmla="*/ 5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87">
                  <a:moveTo>
                    <a:pt x="64" y="14"/>
                  </a:moveTo>
                  <a:cubicBezTo>
                    <a:pt x="50" y="0"/>
                    <a:pt x="28" y="0"/>
                    <a:pt x="14" y="14"/>
                  </a:cubicBezTo>
                  <a:cubicBezTo>
                    <a:pt x="0" y="28"/>
                    <a:pt x="0" y="51"/>
                    <a:pt x="14" y="64"/>
                  </a:cubicBezTo>
                  <a:cubicBezTo>
                    <a:pt x="26" y="77"/>
                    <a:pt x="45" y="78"/>
                    <a:pt x="59" y="69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6" y="87"/>
                    <a:pt x="80" y="87"/>
                    <a:pt x="83" y="84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7" y="81"/>
                    <a:pt x="87" y="77"/>
                    <a:pt x="84" y="74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78" y="45"/>
                    <a:pt x="76" y="26"/>
                    <a:pt x="64" y="14"/>
                  </a:cubicBezTo>
                  <a:close/>
                  <a:moveTo>
                    <a:pt x="58" y="58"/>
                  </a:moveTo>
                  <a:cubicBezTo>
                    <a:pt x="47" y="68"/>
                    <a:pt x="31" y="68"/>
                    <a:pt x="20" y="58"/>
                  </a:cubicBezTo>
                  <a:cubicBezTo>
                    <a:pt x="10" y="48"/>
                    <a:pt x="10" y="31"/>
                    <a:pt x="20" y="21"/>
                  </a:cubicBezTo>
                  <a:cubicBezTo>
                    <a:pt x="31" y="10"/>
                    <a:pt x="47" y="10"/>
                    <a:pt x="58" y="21"/>
                  </a:cubicBezTo>
                  <a:cubicBezTo>
                    <a:pt x="68" y="31"/>
                    <a:pt x="68" y="48"/>
                    <a:pt x="58" y="58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1029"/>
          <p:cNvSpPr>
            <a:spLocks noChangeArrowheads="1"/>
          </p:cNvSpPr>
          <p:nvPr/>
        </p:nvSpPr>
        <p:spPr bwMode="auto">
          <a:xfrm>
            <a:off x="1436688" y="2784475"/>
            <a:ext cx="3414713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学习一些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常用的算法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3" name="Rectangle 1029"/>
          <p:cNvSpPr>
            <a:spLocks noChangeArrowheads="1"/>
          </p:cNvSpPr>
          <p:nvPr/>
        </p:nvSpPr>
        <p:spPr bwMode="auto">
          <a:xfrm>
            <a:off x="1489075" y="3648075"/>
            <a:ext cx="71262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复杂程序设计的训练过程，要求编写的程序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结构清楚和正确易读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4" name="Rectangle 1029"/>
          <p:cNvSpPr>
            <a:spLocks noChangeArrowheads="1"/>
          </p:cNvSpPr>
          <p:nvPr/>
        </p:nvSpPr>
        <p:spPr bwMode="auto">
          <a:xfrm>
            <a:off x="1560513" y="4899025"/>
            <a:ext cx="7126288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初步掌握算法的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时间分析和空间分析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技术</a:t>
            </a:r>
            <a:r>
              <a:rPr lang="zh-CN" altLang="en-US" sz="2200" dirty="0">
                <a:solidFill>
                  <a:srgbClr val="003300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9" grpId="0"/>
      <p:bldP spid="32" grpId="0"/>
      <p:bldP spid="33" grpId="0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327275" y="3429000"/>
            <a:ext cx="5199063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382713" y="3429000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dist" defTabSz="914400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目录导航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01775" y="2776538"/>
            <a:ext cx="720725" cy="2241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1.1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1.2</a:t>
            </a:r>
            <a:endParaRPr kumimoji="0" lang="zh-CN" altLang="en-US" sz="2400" kern="1200" cap="none" spc="0" normalizeH="0" baseline="0" noProof="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1.3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1.4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39975" y="2776538"/>
            <a:ext cx="4129088" cy="2243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数据结构的研究内容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抽象数据类型的表示与实现 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算法与算法分析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216525"/>
            <a:ext cx="9144000" cy="1641475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5268" name="Rectangle 1028"/>
          <p:cNvSpPr>
            <a:spLocks noChangeArrowheads="1"/>
          </p:cNvSpPr>
          <p:nvPr/>
        </p:nvSpPr>
        <p:spPr bwMode="auto">
          <a:xfrm>
            <a:off x="1092200" y="5514975"/>
            <a:ext cx="7315200" cy="4238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三者之间的关系：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数据项</a:t>
            </a:r>
          </a:p>
        </p:txBody>
      </p:sp>
      <p:sp>
        <p:nvSpPr>
          <p:cNvPr id="395269" name="Text Box 1029"/>
          <p:cNvSpPr txBox="1">
            <a:spLocks noChangeArrowheads="1"/>
          </p:cNvSpPr>
          <p:nvPr/>
        </p:nvSpPr>
        <p:spPr bwMode="auto">
          <a:xfrm>
            <a:off x="1092200" y="6051550"/>
            <a:ext cx="7056438" cy="4254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例：学生表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个人记录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学号、姓名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3072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</p:txBody>
      </p:sp>
      <p:sp>
        <p:nvSpPr>
          <p:cNvPr id="25" name="文本框 17"/>
          <p:cNvSpPr txBox="1"/>
          <p:nvPr/>
        </p:nvSpPr>
        <p:spPr>
          <a:xfrm>
            <a:off x="406400" y="1770063"/>
            <a:ext cx="4546600" cy="1595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所有能输入到计算机中去的描述客观事物的符号。</a:t>
            </a:r>
            <a:endParaRPr kumimoji="0" lang="en-US" altLang="zh-CN" sz="200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25000"/>
              </a:lnSpc>
              <a:buClr>
                <a:srgbClr val="6C4C8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数值性数据</a:t>
            </a:r>
          </a:p>
          <a:p>
            <a:pPr marL="285750" marR="0" indent="-285750" defTabSz="914400">
              <a:lnSpc>
                <a:spcPct val="125000"/>
              </a:lnSpc>
              <a:buClr>
                <a:srgbClr val="6C4C8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非数值性数据（多媒体信息处理）</a:t>
            </a:r>
          </a:p>
        </p:txBody>
      </p:sp>
      <p:sp>
        <p:nvSpPr>
          <p:cNvPr id="26" name="文本框 18"/>
          <p:cNvSpPr txBox="1"/>
          <p:nvPr/>
        </p:nvSpPr>
        <p:spPr>
          <a:xfrm>
            <a:off x="419100" y="4181475"/>
            <a:ext cx="52816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pitchFamily="34" charset="-122"/>
              </a:rPr>
              <a:t>有独立含义的数据最小单位，也称域</a:t>
            </a:r>
            <a:r>
              <a:rPr lang="en-US" altLang="zh-CN" sz="2000" dirty="0">
                <a:latin typeface="微软雅黑" panose="020B0503020204020204" pitchFamily="34" charset="-122"/>
              </a:rPr>
              <a:t>(field)</a:t>
            </a:r>
            <a:endParaRPr lang="zh-CN" altLang="en-US" sz="2000" dirty="0">
              <a:latin typeface="微软雅黑" panose="020B0503020204020204" pitchFamily="34" charset="-122"/>
            </a:endParaRPr>
          </a:p>
        </p:txBody>
      </p:sp>
      <p:sp>
        <p:nvSpPr>
          <p:cNvPr id="27" name="文本框 19"/>
          <p:cNvSpPr txBox="1"/>
          <p:nvPr/>
        </p:nvSpPr>
        <p:spPr>
          <a:xfrm>
            <a:off x="6402388" y="3013075"/>
            <a:ext cx="2470150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pitchFamily="34" charset="-122"/>
              </a:rPr>
              <a:t>数据的基本单位，也称结点（</a:t>
            </a:r>
            <a:r>
              <a:rPr lang="en-US" altLang="zh-CN" sz="2000" dirty="0">
                <a:latin typeface="微软雅黑" panose="020B0503020204020204" pitchFamily="34" charset="-122"/>
              </a:rPr>
              <a:t>node</a:t>
            </a:r>
            <a:r>
              <a:rPr lang="zh-CN" altLang="en-US" sz="2000" dirty="0">
                <a:latin typeface="微软雅黑" panose="020B0503020204020204" pitchFamily="34" charset="-122"/>
              </a:rPr>
              <a:t>）或记录（</a:t>
            </a:r>
            <a:r>
              <a:rPr lang="en-US" altLang="zh-CN" sz="2000" dirty="0">
                <a:latin typeface="微软雅黑" panose="020B0503020204020204" pitchFamily="34" charset="-122"/>
              </a:rPr>
              <a:t>record</a:t>
            </a:r>
            <a:r>
              <a:rPr lang="zh-CN" altLang="en-US" sz="2000" dirty="0"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28" name="文本框 34"/>
          <p:cNvSpPr txBox="1"/>
          <p:nvPr/>
        </p:nvSpPr>
        <p:spPr>
          <a:xfrm>
            <a:off x="387350" y="1327150"/>
            <a:ext cx="25971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</a:rPr>
              <a:t>数据（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</a:rPr>
              <a:t>data)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35"/>
          <p:cNvSpPr txBox="1"/>
          <p:nvPr/>
        </p:nvSpPr>
        <p:spPr>
          <a:xfrm>
            <a:off x="396875" y="3729038"/>
            <a:ext cx="36893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、数据项（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data item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30" name="文本框 36"/>
          <p:cNvSpPr txBox="1"/>
          <p:nvPr/>
        </p:nvSpPr>
        <p:spPr>
          <a:xfrm>
            <a:off x="6232525" y="2181225"/>
            <a:ext cx="308292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、数据元素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/>
            </a:r>
            <a:b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</a:b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data element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）</a:t>
            </a:r>
          </a:p>
        </p:txBody>
      </p:sp>
      <p:grpSp>
        <p:nvGrpSpPr>
          <p:cNvPr id="32780" name="组合 3"/>
          <p:cNvGrpSpPr/>
          <p:nvPr/>
        </p:nvGrpSpPr>
        <p:grpSpPr>
          <a:xfrm>
            <a:off x="4760913" y="2911475"/>
            <a:ext cx="1182687" cy="1212850"/>
            <a:chOff x="2453474" y="753981"/>
            <a:chExt cx="4340338" cy="4452581"/>
          </a:xfrm>
        </p:grpSpPr>
        <p:sp>
          <p:nvSpPr>
            <p:cNvPr id="15" name="任意多边形 73"/>
            <p:cNvSpPr/>
            <p:nvPr/>
          </p:nvSpPr>
          <p:spPr>
            <a:xfrm>
              <a:off x="2482602" y="2723840"/>
              <a:ext cx="3478100" cy="2482722"/>
            </a:xfrm>
            <a:custGeom>
              <a:avLst/>
              <a:gdLst>
                <a:gd name="connsiteX0" fmla="*/ 2235020 w 3495090"/>
                <a:gd name="connsiteY0" fmla="*/ 0 h 2480677"/>
                <a:gd name="connsiteX1" fmla="*/ 2725817 w 3495090"/>
                <a:gd name="connsiteY1" fmla="*/ 0 h 2480677"/>
                <a:gd name="connsiteX2" fmla="*/ 2977970 w 3495090"/>
                <a:gd name="connsiteY2" fmla="*/ 1351284 h 2480677"/>
                <a:gd name="connsiteX3" fmla="*/ 3495090 w 3495090"/>
                <a:gd name="connsiteY3" fmla="*/ 2132465 h 2480677"/>
                <a:gd name="connsiteX4" fmla="*/ 3380398 w 3495090"/>
                <a:gd name="connsiteY4" fmla="*/ 2202142 h 2480677"/>
                <a:gd name="connsiteX5" fmla="*/ 2280377 w 3495090"/>
                <a:gd name="connsiteY5" fmla="*/ 2480677 h 2480677"/>
                <a:gd name="connsiteX6" fmla="*/ 19492 w 3495090"/>
                <a:gd name="connsiteY6" fmla="*/ 638002 h 2480677"/>
                <a:gd name="connsiteX7" fmla="*/ 0 w 3495090"/>
                <a:gd name="connsiteY7" fmla="*/ 510287 h 2480677"/>
                <a:gd name="connsiteX8" fmla="*/ 2235020 w 3495090"/>
                <a:gd name="connsiteY8" fmla="*/ 189234 h 2480677"/>
                <a:gd name="connsiteX9" fmla="*/ 2235020 w 3495090"/>
                <a:gd name="connsiteY9" fmla="*/ 0 h 2480677"/>
                <a:gd name="connsiteX0-1" fmla="*/ 2235020 w 3476040"/>
                <a:gd name="connsiteY0-2" fmla="*/ 0 h 2480677"/>
                <a:gd name="connsiteX1-3" fmla="*/ 2725817 w 3476040"/>
                <a:gd name="connsiteY1-4" fmla="*/ 0 h 2480677"/>
                <a:gd name="connsiteX2-5" fmla="*/ 2977970 w 3476040"/>
                <a:gd name="connsiteY2-6" fmla="*/ 1351284 h 2480677"/>
                <a:gd name="connsiteX3-7" fmla="*/ 3476040 w 3476040"/>
                <a:gd name="connsiteY3-8" fmla="*/ 2088015 h 2480677"/>
                <a:gd name="connsiteX4-9" fmla="*/ 3380398 w 3476040"/>
                <a:gd name="connsiteY4-10" fmla="*/ 2202142 h 2480677"/>
                <a:gd name="connsiteX5-11" fmla="*/ 2280377 w 3476040"/>
                <a:gd name="connsiteY5-12" fmla="*/ 2480677 h 2480677"/>
                <a:gd name="connsiteX6-13" fmla="*/ 19492 w 3476040"/>
                <a:gd name="connsiteY6-14" fmla="*/ 638002 h 2480677"/>
                <a:gd name="connsiteX7-15" fmla="*/ 0 w 3476040"/>
                <a:gd name="connsiteY7-16" fmla="*/ 510287 h 2480677"/>
                <a:gd name="connsiteX8-17" fmla="*/ 2235020 w 3476040"/>
                <a:gd name="connsiteY8-18" fmla="*/ 189234 h 2480677"/>
                <a:gd name="connsiteX9-19" fmla="*/ 2235020 w 3476040"/>
                <a:gd name="connsiteY9-20" fmla="*/ 0 h 2480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3476040" h="2480677">
                  <a:moveTo>
                    <a:pt x="2235020" y="0"/>
                  </a:moveTo>
                  <a:lnTo>
                    <a:pt x="2725817" y="0"/>
                  </a:lnTo>
                  <a:lnTo>
                    <a:pt x="2977970" y="1351284"/>
                  </a:lnTo>
                  <a:lnTo>
                    <a:pt x="3476040" y="2088015"/>
                  </a:lnTo>
                  <a:cubicBezTo>
                    <a:pt x="3437809" y="2111241"/>
                    <a:pt x="3418629" y="2178916"/>
                    <a:pt x="3380398" y="2202142"/>
                  </a:cubicBezTo>
                  <a:cubicBezTo>
                    <a:pt x="3053402" y="2379776"/>
                    <a:pt x="2678673" y="2480677"/>
                    <a:pt x="2280377" y="2480677"/>
                  </a:cubicBezTo>
                  <a:cubicBezTo>
                    <a:pt x="1165149" y="2480677"/>
                    <a:pt x="234683" y="1689615"/>
                    <a:pt x="19492" y="638002"/>
                  </a:cubicBezTo>
                  <a:lnTo>
                    <a:pt x="0" y="510287"/>
                  </a:lnTo>
                  <a:lnTo>
                    <a:pt x="2235020" y="189234"/>
                  </a:lnTo>
                  <a:lnTo>
                    <a:pt x="223502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6" name="任意多边形 74"/>
            <p:cNvSpPr/>
            <p:nvPr/>
          </p:nvSpPr>
          <p:spPr>
            <a:xfrm>
              <a:off x="4428472" y="753981"/>
              <a:ext cx="2365340" cy="4254429"/>
            </a:xfrm>
            <a:custGeom>
              <a:avLst/>
              <a:gdLst>
                <a:gd name="connsiteX0" fmla="*/ 45357 w 2353128"/>
                <a:gd name="connsiteY0" fmla="*/ 0 h 4267330"/>
                <a:gd name="connsiteX1" fmla="*/ 92873 w 2353128"/>
                <a:gd name="connsiteY1" fmla="*/ 2399 h 4267330"/>
                <a:gd name="connsiteX2" fmla="*/ 281313 w 2353128"/>
                <a:gd name="connsiteY2" fmla="*/ 11915 h 4267330"/>
                <a:gd name="connsiteX3" fmla="*/ 2353128 w 2353128"/>
                <a:gd name="connsiteY3" fmla="*/ 2307771 h 4267330"/>
                <a:gd name="connsiteX4" fmla="*/ 1335654 w 2353128"/>
                <a:gd name="connsiteY4" fmla="*/ 4221411 h 4267330"/>
                <a:gd name="connsiteX5" fmla="*/ 1260070 w 2353128"/>
                <a:gd name="connsiteY5" fmla="*/ 4267330 h 4267330"/>
                <a:gd name="connsiteX6" fmla="*/ 742950 w 2353128"/>
                <a:gd name="connsiteY6" fmla="*/ 3486149 h 4267330"/>
                <a:gd name="connsiteX7" fmla="*/ 490797 w 2353128"/>
                <a:gd name="connsiteY7" fmla="*/ 2134865 h 4267330"/>
                <a:gd name="connsiteX8" fmla="*/ 0 w 2353128"/>
                <a:gd name="connsiteY8" fmla="*/ 2134865 h 4267330"/>
                <a:gd name="connsiteX9" fmla="*/ 0 w 2353128"/>
                <a:gd name="connsiteY9" fmla="*/ 2290 h 4267330"/>
                <a:gd name="connsiteX0-1" fmla="*/ 58057 w 2365828"/>
                <a:gd name="connsiteY0-2" fmla="*/ 0 h 4267330"/>
                <a:gd name="connsiteX1-3" fmla="*/ 105573 w 2365828"/>
                <a:gd name="connsiteY1-4" fmla="*/ 2399 h 4267330"/>
                <a:gd name="connsiteX2-5" fmla="*/ 294013 w 2365828"/>
                <a:gd name="connsiteY2-6" fmla="*/ 11915 h 4267330"/>
                <a:gd name="connsiteX3-7" fmla="*/ 2365828 w 2365828"/>
                <a:gd name="connsiteY3-8" fmla="*/ 2307771 h 4267330"/>
                <a:gd name="connsiteX4-9" fmla="*/ 1348354 w 2365828"/>
                <a:gd name="connsiteY4-10" fmla="*/ 4221411 h 4267330"/>
                <a:gd name="connsiteX5-11" fmla="*/ 1272770 w 2365828"/>
                <a:gd name="connsiteY5-12" fmla="*/ 4267330 h 4267330"/>
                <a:gd name="connsiteX6-13" fmla="*/ 755650 w 2365828"/>
                <a:gd name="connsiteY6-14" fmla="*/ 3486149 h 4267330"/>
                <a:gd name="connsiteX7-15" fmla="*/ 503497 w 2365828"/>
                <a:gd name="connsiteY7-16" fmla="*/ 2134865 h 4267330"/>
                <a:gd name="connsiteX8-17" fmla="*/ 12700 w 2365828"/>
                <a:gd name="connsiteY8-18" fmla="*/ 2134865 h 4267330"/>
                <a:gd name="connsiteX9-19" fmla="*/ 0 w 2365828"/>
                <a:gd name="connsiteY9-20" fmla="*/ 103890 h 4267330"/>
                <a:gd name="connsiteX10" fmla="*/ 58057 w 2365828"/>
                <a:gd name="connsiteY10" fmla="*/ 0 h 4267330"/>
                <a:gd name="connsiteX0-21" fmla="*/ 58057 w 2365828"/>
                <a:gd name="connsiteY0-22" fmla="*/ 99201 h 4264931"/>
                <a:gd name="connsiteX1-23" fmla="*/ 105573 w 2365828"/>
                <a:gd name="connsiteY1-24" fmla="*/ 0 h 4264931"/>
                <a:gd name="connsiteX2-25" fmla="*/ 294013 w 2365828"/>
                <a:gd name="connsiteY2-26" fmla="*/ 9516 h 4264931"/>
                <a:gd name="connsiteX3-27" fmla="*/ 2365828 w 2365828"/>
                <a:gd name="connsiteY3-28" fmla="*/ 2305372 h 4264931"/>
                <a:gd name="connsiteX4-29" fmla="*/ 1348354 w 2365828"/>
                <a:gd name="connsiteY4-30" fmla="*/ 4219012 h 4264931"/>
                <a:gd name="connsiteX5-31" fmla="*/ 1272770 w 2365828"/>
                <a:gd name="connsiteY5-32" fmla="*/ 4264931 h 4264931"/>
                <a:gd name="connsiteX6-33" fmla="*/ 755650 w 2365828"/>
                <a:gd name="connsiteY6-34" fmla="*/ 3483750 h 4264931"/>
                <a:gd name="connsiteX7-35" fmla="*/ 503497 w 2365828"/>
                <a:gd name="connsiteY7-36" fmla="*/ 2132466 h 4264931"/>
                <a:gd name="connsiteX8-37" fmla="*/ 12700 w 2365828"/>
                <a:gd name="connsiteY8-38" fmla="*/ 2132466 h 4264931"/>
                <a:gd name="connsiteX9-39" fmla="*/ 0 w 2365828"/>
                <a:gd name="connsiteY9-40" fmla="*/ 101491 h 4264931"/>
                <a:gd name="connsiteX10-41" fmla="*/ 58057 w 2365828"/>
                <a:gd name="connsiteY10-42" fmla="*/ 99201 h 4264931"/>
                <a:gd name="connsiteX0-43" fmla="*/ 58057 w 2365828"/>
                <a:gd name="connsiteY0-44" fmla="*/ 89685 h 4255415"/>
                <a:gd name="connsiteX1-45" fmla="*/ 105573 w 2365828"/>
                <a:gd name="connsiteY1-46" fmla="*/ 92084 h 4255415"/>
                <a:gd name="connsiteX2-47" fmla="*/ 294013 w 2365828"/>
                <a:gd name="connsiteY2-48" fmla="*/ 0 h 4255415"/>
                <a:gd name="connsiteX3-49" fmla="*/ 2365828 w 2365828"/>
                <a:gd name="connsiteY3-50" fmla="*/ 2295856 h 4255415"/>
                <a:gd name="connsiteX4-51" fmla="*/ 1348354 w 2365828"/>
                <a:gd name="connsiteY4-52" fmla="*/ 4209496 h 4255415"/>
                <a:gd name="connsiteX5-53" fmla="*/ 1272770 w 2365828"/>
                <a:gd name="connsiteY5-54" fmla="*/ 4255415 h 4255415"/>
                <a:gd name="connsiteX6-55" fmla="*/ 755650 w 2365828"/>
                <a:gd name="connsiteY6-56" fmla="*/ 3474234 h 4255415"/>
                <a:gd name="connsiteX7-57" fmla="*/ 503497 w 2365828"/>
                <a:gd name="connsiteY7-58" fmla="*/ 2122950 h 4255415"/>
                <a:gd name="connsiteX8-59" fmla="*/ 12700 w 2365828"/>
                <a:gd name="connsiteY8-60" fmla="*/ 2122950 h 4255415"/>
                <a:gd name="connsiteX9-61" fmla="*/ 0 w 2365828"/>
                <a:gd name="connsiteY9-62" fmla="*/ 91975 h 4255415"/>
                <a:gd name="connsiteX10-63" fmla="*/ 58057 w 2365828"/>
                <a:gd name="connsiteY10-64" fmla="*/ 89685 h 42554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41" y="connsiteY10-42"/>
                </a:cxn>
              </a:cxnLst>
              <a:rect l="l" t="t" r="r" b="b"/>
              <a:pathLst>
                <a:path w="2365828" h="4255415">
                  <a:moveTo>
                    <a:pt x="58057" y="89685"/>
                  </a:moveTo>
                  <a:lnTo>
                    <a:pt x="105573" y="92084"/>
                  </a:lnTo>
                  <a:lnTo>
                    <a:pt x="294013" y="0"/>
                  </a:lnTo>
                  <a:cubicBezTo>
                    <a:pt x="1457721" y="118181"/>
                    <a:pt x="2365828" y="1100968"/>
                    <a:pt x="2365828" y="2295856"/>
                  </a:cubicBezTo>
                  <a:cubicBezTo>
                    <a:pt x="2365828" y="3092448"/>
                    <a:pt x="1962225" y="3794773"/>
                    <a:pt x="1348354" y="4209496"/>
                  </a:cubicBezTo>
                  <a:lnTo>
                    <a:pt x="1272770" y="4255415"/>
                  </a:lnTo>
                  <a:lnTo>
                    <a:pt x="755650" y="3474234"/>
                  </a:lnTo>
                  <a:lnTo>
                    <a:pt x="503497" y="2122950"/>
                  </a:lnTo>
                  <a:lnTo>
                    <a:pt x="12700" y="2122950"/>
                  </a:lnTo>
                  <a:cubicBezTo>
                    <a:pt x="8467" y="1445958"/>
                    <a:pt x="4233" y="768967"/>
                    <a:pt x="0" y="91975"/>
                  </a:cubicBezTo>
                  <a:cubicBezTo>
                    <a:pt x="15119" y="91212"/>
                    <a:pt x="42938" y="90448"/>
                    <a:pt x="58057" y="8968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7" name="任意多边形 75"/>
            <p:cNvSpPr/>
            <p:nvPr/>
          </p:nvSpPr>
          <p:spPr>
            <a:xfrm>
              <a:off x="2453474" y="771467"/>
              <a:ext cx="2260472" cy="2645905"/>
            </a:xfrm>
            <a:custGeom>
              <a:avLst/>
              <a:gdLst>
                <a:gd name="connsiteX0" fmla="*/ 2262414 w 2262414"/>
                <a:gd name="connsiteY0" fmla="*/ 0 h 2642862"/>
                <a:gd name="connsiteX1" fmla="*/ 2262414 w 2262414"/>
                <a:gd name="connsiteY1" fmla="*/ 2321809 h 2642862"/>
                <a:gd name="connsiteX2" fmla="*/ 27394 w 2262414"/>
                <a:gd name="connsiteY2" fmla="*/ 2642862 h 2642862"/>
                <a:gd name="connsiteX3" fmla="*/ 11915 w 2262414"/>
                <a:gd name="connsiteY3" fmla="*/ 2541437 h 2642862"/>
                <a:gd name="connsiteX4" fmla="*/ 0 w 2262414"/>
                <a:gd name="connsiteY4" fmla="*/ 2305481 h 2642862"/>
                <a:gd name="connsiteX5" fmla="*/ 2071815 w 2262414"/>
                <a:gd name="connsiteY5" fmla="*/ 9625 h 2642862"/>
                <a:gd name="connsiteX6" fmla="*/ 2262414 w 2262414"/>
                <a:gd name="connsiteY6" fmla="*/ 0 h 264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2414" h="2642862">
                  <a:moveTo>
                    <a:pt x="2262414" y="0"/>
                  </a:moveTo>
                  <a:lnTo>
                    <a:pt x="2262414" y="2321809"/>
                  </a:lnTo>
                  <a:lnTo>
                    <a:pt x="27394" y="2642862"/>
                  </a:lnTo>
                  <a:lnTo>
                    <a:pt x="11915" y="2541437"/>
                  </a:lnTo>
                  <a:cubicBezTo>
                    <a:pt x="4036" y="2463857"/>
                    <a:pt x="0" y="2385140"/>
                    <a:pt x="0" y="2305481"/>
                  </a:cubicBezTo>
                  <a:cubicBezTo>
                    <a:pt x="0" y="1110593"/>
                    <a:pt x="908107" y="127806"/>
                    <a:pt x="2071815" y="9625"/>
                  </a:cubicBezTo>
                  <a:lnTo>
                    <a:pt x="226241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292412" y="1587385"/>
              <a:ext cx="3198450" cy="31937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33809" name="Freeform 342"/>
            <p:cNvSpPr/>
            <p:nvPr/>
          </p:nvSpPr>
          <p:spPr>
            <a:xfrm>
              <a:off x="3925296" y="2169468"/>
              <a:ext cx="1691952" cy="2021986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3526" h="16157">
                  <a:moveTo>
                    <a:pt x="13526" y="9859"/>
                  </a:moveTo>
                  <a:lnTo>
                    <a:pt x="13525" y="9923"/>
                  </a:lnTo>
                  <a:lnTo>
                    <a:pt x="13521" y="9987"/>
                  </a:lnTo>
                  <a:lnTo>
                    <a:pt x="13515" y="10048"/>
                  </a:lnTo>
                  <a:lnTo>
                    <a:pt x="13507" y="10110"/>
                  </a:lnTo>
                  <a:lnTo>
                    <a:pt x="13495" y="10172"/>
                  </a:lnTo>
                  <a:lnTo>
                    <a:pt x="13482" y="10233"/>
                  </a:lnTo>
                  <a:lnTo>
                    <a:pt x="13467" y="10292"/>
                  </a:lnTo>
                  <a:lnTo>
                    <a:pt x="13449" y="10352"/>
                  </a:lnTo>
                  <a:lnTo>
                    <a:pt x="13429" y="10411"/>
                  </a:lnTo>
                  <a:lnTo>
                    <a:pt x="13405" y="10470"/>
                  </a:lnTo>
                  <a:lnTo>
                    <a:pt x="13380" y="10527"/>
                  </a:lnTo>
                  <a:lnTo>
                    <a:pt x="13353" y="10584"/>
                  </a:lnTo>
                  <a:lnTo>
                    <a:pt x="13323" y="10641"/>
                  </a:lnTo>
                  <a:lnTo>
                    <a:pt x="13291" y="10696"/>
                  </a:lnTo>
                  <a:lnTo>
                    <a:pt x="13255" y="10751"/>
                  </a:lnTo>
                  <a:lnTo>
                    <a:pt x="13219" y="10806"/>
                  </a:lnTo>
                  <a:lnTo>
                    <a:pt x="13179" y="10859"/>
                  </a:lnTo>
                  <a:lnTo>
                    <a:pt x="13137" y="10913"/>
                  </a:lnTo>
                  <a:lnTo>
                    <a:pt x="13093" y="10966"/>
                  </a:lnTo>
                  <a:lnTo>
                    <a:pt x="13047" y="11017"/>
                  </a:lnTo>
                  <a:lnTo>
                    <a:pt x="12997" y="11069"/>
                  </a:lnTo>
                  <a:lnTo>
                    <a:pt x="12945" y="11120"/>
                  </a:lnTo>
                  <a:lnTo>
                    <a:pt x="12891" y="11170"/>
                  </a:lnTo>
                  <a:lnTo>
                    <a:pt x="12836" y="11220"/>
                  </a:lnTo>
                  <a:lnTo>
                    <a:pt x="12777" y="11268"/>
                  </a:lnTo>
                  <a:lnTo>
                    <a:pt x="12716" y="11317"/>
                  </a:lnTo>
                  <a:lnTo>
                    <a:pt x="12652" y="11365"/>
                  </a:lnTo>
                  <a:lnTo>
                    <a:pt x="12587" y="11412"/>
                  </a:lnTo>
                  <a:lnTo>
                    <a:pt x="12519" y="11459"/>
                  </a:lnTo>
                  <a:lnTo>
                    <a:pt x="12449" y="11504"/>
                  </a:lnTo>
                  <a:lnTo>
                    <a:pt x="12376" y="11549"/>
                  </a:lnTo>
                  <a:lnTo>
                    <a:pt x="12301" y="11593"/>
                  </a:lnTo>
                  <a:lnTo>
                    <a:pt x="12234" y="11631"/>
                  </a:lnTo>
                  <a:lnTo>
                    <a:pt x="12166" y="11667"/>
                  </a:lnTo>
                  <a:lnTo>
                    <a:pt x="12099" y="11702"/>
                  </a:lnTo>
                  <a:lnTo>
                    <a:pt x="12032" y="11735"/>
                  </a:lnTo>
                  <a:lnTo>
                    <a:pt x="11964" y="11769"/>
                  </a:lnTo>
                  <a:lnTo>
                    <a:pt x="11898" y="11800"/>
                  </a:lnTo>
                  <a:lnTo>
                    <a:pt x="11830" y="11829"/>
                  </a:lnTo>
                  <a:lnTo>
                    <a:pt x="11763" y="11859"/>
                  </a:lnTo>
                  <a:lnTo>
                    <a:pt x="11695" y="11886"/>
                  </a:lnTo>
                  <a:lnTo>
                    <a:pt x="11627" y="11913"/>
                  </a:lnTo>
                  <a:lnTo>
                    <a:pt x="11559" y="11939"/>
                  </a:lnTo>
                  <a:lnTo>
                    <a:pt x="11492" y="11963"/>
                  </a:lnTo>
                  <a:lnTo>
                    <a:pt x="11423" y="11986"/>
                  </a:lnTo>
                  <a:lnTo>
                    <a:pt x="11355" y="12008"/>
                  </a:lnTo>
                  <a:lnTo>
                    <a:pt x="11288" y="12029"/>
                  </a:lnTo>
                  <a:lnTo>
                    <a:pt x="11220" y="12048"/>
                  </a:lnTo>
                  <a:lnTo>
                    <a:pt x="11151" y="12066"/>
                  </a:lnTo>
                  <a:lnTo>
                    <a:pt x="11083" y="12084"/>
                  </a:lnTo>
                  <a:lnTo>
                    <a:pt x="11014" y="12100"/>
                  </a:lnTo>
                  <a:lnTo>
                    <a:pt x="10946" y="12115"/>
                  </a:lnTo>
                  <a:lnTo>
                    <a:pt x="10877" y="12128"/>
                  </a:lnTo>
                  <a:lnTo>
                    <a:pt x="10808" y="12141"/>
                  </a:lnTo>
                  <a:lnTo>
                    <a:pt x="10739" y="12152"/>
                  </a:lnTo>
                  <a:lnTo>
                    <a:pt x="10671" y="12162"/>
                  </a:lnTo>
                  <a:lnTo>
                    <a:pt x="10602" y="12172"/>
                  </a:lnTo>
                  <a:lnTo>
                    <a:pt x="10533" y="12179"/>
                  </a:lnTo>
                  <a:lnTo>
                    <a:pt x="10464" y="12186"/>
                  </a:lnTo>
                  <a:lnTo>
                    <a:pt x="10394" y="12191"/>
                  </a:lnTo>
                  <a:lnTo>
                    <a:pt x="10325" y="12195"/>
                  </a:lnTo>
                  <a:lnTo>
                    <a:pt x="10255" y="12198"/>
                  </a:lnTo>
                  <a:lnTo>
                    <a:pt x="10185" y="12200"/>
                  </a:lnTo>
                  <a:lnTo>
                    <a:pt x="10115" y="12200"/>
                  </a:lnTo>
                  <a:lnTo>
                    <a:pt x="10061" y="12200"/>
                  </a:lnTo>
                  <a:lnTo>
                    <a:pt x="10006" y="12199"/>
                  </a:lnTo>
                  <a:lnTo>
                    <a:pt x="9951" y="12197"/>
                  </a:lnTo>
                  <a:lnTo>
                    <a:pt x="9897" y="12195"/>
                  </a:lnTo>
                  <a:lnTo>
                    <a:pt x="9844" y="12193"/>
                  </a:lnTo>
                  <a:lnTo>
                    <a:pt x="9790" y="12189"/>
                  </a:lnTo>
                  <a:lnTo>
                    <a:pt x="9737" y="12185"/>
                  </a:lnTo>
                  <a:lnTo>
                    <a:pt x="9685" y="12180"/>
                  </a:lnTo>
                  <a:lnTo>
                    <a:pt x="9633" y="12175"/>
                  </a:lnTo>
                  <a:lnTo>
                    <a:pt x="9581" y="12169"/>
                  </a:lnTo>
                  <a:lnTo>
                    <a:pt x="9531" y="12162"/>
                  </a:lnTo>
                  <a:lnTo>
                    <a:pt x="9480" y="12155"/>
                  </a:lnTo>
                  <a:lnTo>
                    <a:pt x="9429" y="12147"/>
                  </a:lnTo>
                  <a:lnTo>
                    <a:pt x="9380" y="12139"/>
                  </a:lnTo>
                  <a:lnTo>
                    <a:pt x="9330" y="12130"/>
                  </a:lnTo>
                  <a:lnTo>
                    <a:pt x="9280" y="12121"/>
                  </a:lnTo>
                  <a:lnTo>
                    <a:pt x="9232" y="12111"/>
                  </a:lnTo>
                  <a:lnTo>
                    <a:pt x="9184" y="12100"/>
                  </a:lnTo>
                  <a:lnTo>
                    <a:pt x="9135" y="12089"/>
                  </a:lnTo>
                  <a:lnTo>
                    <a:pt x="9089" y="12076"/>
                  </a:lnTo>
                  <a:lnTo>
                    <a:pt x="9041" y="12063"/>
                  </a:lnTo>
                  <a:lnTo>
                    <a:pt x="8995" y="12050"/>
                  </a:lnTo>
                  <a:lnTo>
                    <a:pt x="8949" y="12037"/>
                  </a:lnTo>
                  <a:lnTo>
                    <a:pt x="8903" y="12022"/>
                  </a:lnTo>
                  <a:lnTo>
                    <a:pt x="8858" y="12008"/>
                  </a:lnTo>
                  <a:lnTo>
                    <a:pt x="8813" y="11991"/>
                  </a:lnTo>
                  <a:lnTo>
                    <a:pt x="8769" y="11975"/>
                  </a:lnTo>
                  <a:lnTo>
                    <a:pt x="8724" y="11959"/>
                  </a:lnTo>
                  <a:lnTo>
                    <a:pt x="8681" y="11941"/>
                  </a:lnTo>
                  <a:lnTo>
                    <a:pt x="8638" y="11924"/>
                  </a:lnTo>
                  <a:lnTo>
                    <a:pt x="8594" y="11904"/>
                  </a:lnTo>
                  <a:lnTo>
                    <a:pt x="8553" y="11885"/>
                  </a:lnTo>
                  <a:lnTo>
                    <a:pt x="8498" y="11860"/>
                  </a:lnTo>
                  <a:lnTo>
                    <a:pt x="8446" y="11833"/>
                  </a:lnTo>
                  <a:lnTo>
                    <a:pt x="8396" y="11806"/>
                  </a:lnTo>
                  <a:lnTo>
                    <a:pt x="8347" y="11778"/>
                  </a:lnTo>
                  <a:lnTo>
                    <a:pt x="8300" y="11749"/>
                  </a:lnTo>
                  <a:lnTo>
                    <a:pt x="8255" y="11720"/>
                  </a:lnTo>
                  <a:lnTo>
                    <a:pt x="8210" y="11690"/>
                  </a:lnTo>
                  <a:lnTo>
                    <a:pt x="8169" y="11658"/>
                  </a:lnTo>
                  <a:lnTo>
                    <a:pt x="8128" y="11627"/>
                  </a:lnTo>
                  <a:lnTo>
                    <a:pt x="8090" y="11595"/>
                  </a:lnTo>
                  <a:lnTo>
                    <a:pt x="8053" y="11562"/>
                  </a:lnTo>
                  <a:lnTo>
                    <a:pt x="8018" y="11529"/>
                  </a:lnTo>
                  <a:lnTo>
                    <a:pt x="7984" y="11494"/>
                  </a:lnTo>
                  <a:lnTo>
                    <a:pt x="7952" y="11459"/>
                  </a:lnTo>
                  <a:lnTo>
                    <a:pt x="7923" y="11423"/>
                  </a:lnTo>
                  <a:lnTo>
                    <a:pt x="7894" y="11387"/>
                  </a:lnTo>
                  <a:lnTo>
                    <a:pt x="7867" y="11349"/>
                  </a:lnTo>
                  <a:lnTo>
                    <a:pt x="7843" y="11312"/>
                  </a:lnTo>
                  <a:lnTo>
                    <a:pt x="7819" y="11272"/>
                  </a:lnTo>
                  <a:lnTo>
                    <a:pt x="7797" y="11233"/>
                  </a:lnTo>
                  <a:lnTo>
                    <a:pt x="7778" y="11194"/>
                  </a:lnTo>
                  <a:lnTo>
                    <a:pt x="7760" y="11152"/>
                  </a:lnTo>
                  <a:lnTo>
                    <a:pt x="7743" y="11110"/>
                  </a:lnTo>
                  <a:lnTo>
                    <a:pt x="7728" y="11068"/>
                  </a:lnTo>
                  <a:lnTo>
                    <a:pt x="7716" y="11025"/>
                  </a:lnTo>
                  <a:lnTo>
                    <a:pt x="7704" y="10982"/>
                  </a:lnTo>
                  <a:lnTo>
                    <a:pt x="7695" y="10937"/>
                  </a:lnTo>
                  <a:lnTo>
                    <a:pt x="7687" y="10892"/>
                  </a:lnTo>
                  <a:lnTo>
                    <a:pt x="7680" y="10846"/>
                  </a:lnTo>
                  <a:lnTo>
                    <a:pt x="7676" y="10800"/>
                  </a:lnTo>
                  <a:lnTo>
                    <a:pt x="7674" y="10752"/>
                  </a:lnTo>
                  <a:lnTo>
                    <a:pt x="7673" y="10703"/>
                  </a:lnTo>
                  <a:lnTo>
                    <a:pt x="7674" y="10644"/>
                  </a:lnTo>
                  <a:lnTo>
                    <a:pt x="7678" y="10584"/>
                  </a:lnTo>
                  <a:lnTo>
                    <a:pt x="7685" y="10525"/>
                  </a:lnTo>
                  <a:lnTo>
                    <a:pt x="7694" y="10468"/>
                  </a:lnTo>
                  <a:lnTo>
                    <a:pt x="7706" y="10410"/>
                  </a:lnTo>
                  <a:lnTo>
                    <a:pt x="7720" y="10353"/>
                  </a:lnTo>
                  <a:lnTo>
                    <a:pt x="7736" y="10297"/>
                  </a:lnTo>
                  <a:lnTo>
                    <a:pt x="7755" y="10243"/>
                  </a:lnTo>
                  <a:lnTo>
                    <a:pt x="7778" y="10188"/>
                  </a:lnTo>
                  <a:lnTo>
                    <a:pt x="7802" y="10134"/>
                  </a:lnTo>
                  <a:lnTo>
                    <a:pt x="7829" y="10081"/>
                  </a:lnTo>
                  <a:lnTo>
                    <a:pt x="7859" y="10029"/>
                  </a:lnTo>
                  <a:lnTo>
                    <a:pt x="7891" y="9978"/>
                  </a:lnTo>
                  <a:lnTo>
                    <a:pt x="7926" y="9926"/>
                  </a:lnTo>
                  <a:lnTo>
                    <a:pt x="7963" y="9876"/>
                  </a:lnTo>
                  <a:lnTo>
                    <a:pt x="8004" y="9827"/>
                  </a:lnTo>
                  <a:lnTo>
                    <a:pt x="8046" y="9777"/>
                  </a:lnTo>
                  <a:lnTo>
                    <a:pt x="8091" y="9729"/>
                  </a:lnTo>
                  <a:lnTo>
                    <a:pt x="8138" y="9682"/>
                  </a:lnTo>
                  <a:lnTo>
                    <a:pt x="8189" y="9635"/>
                  </a:lnTo>
                  <a:lnTo>
                    <a:pt x="8242" y="9589"/>
                  </a:lnTo>
                  <a:lnTo>
                    <a:pt x="8297" y="9544"/>
                  </a:lnTo>
                  <a:lnTo>
                    <a:pt x="8354" y="9500"/>
                  </a:lnTo>
                  <a:lnTo>
                    <a:pt x="8415" y="9455"/>
                  </a:lnTo>
                  <a:lnTo>
                    <a:pt x="8478" y="9413"/>
                  </a:lnTo>
                  <a:lnTo>
                    <a:pt x="8544" y="9370"/>
                  </a:lnTo>
                  <a:lnTo>
                    <a:pt x="8612" y="9328"/>
                  </a:lnTo>
                  <a:lnTo>
                    <a:pt x="8683" y="9287"/>
                  </a:lnTo>
                  <a:lnTo>
                    <a:pt x="8756" y="9246"/>
                  </a:lnTo>
                  <a:lnTo>
                    <a:pt x="8832" y="9207"/>
                  </a:lnTo>
                  <a:lnTo>
                    <a:pt x="8910" y="9169"/>
                  </a:lnTo>
                  <a:lnTo>
                    <a:pt x="8991" y="9130"/>
                  </a:lnTo>
                  <a:lnTo>
                    <a:pt x="9056" y="9100"/>
                  </a:lnTo>
                  <a:lnTo>
                    <a:pt x="9123" y="9070"/>
                  </a:lnTo>
                  <a:lnTo>
                    <a:pt x="9189" y="9042"/>
                  </a:lnTo>
                  <a:lnTo>
                    <a:pt x="9256" y="9014"/>
                  </a:lnTo>
                  <a:lnTo>
                    <a:pt x="9322" y="8987"/>
                  </a:lnTo>
                  <a:lnTo>
                    <a:pt x="9389" y="8962"/>
                  </a:lnTo>
                  <a:lnTo>
                    <a:pt x="9456" y="8938"/>
                  </a:lnTo>
                  <a:lnTo>
                    <a:pt x="9522" y="8913"/>
                  </a:lnTo>
                  <a:lnTo>
                    <a:pt x="9588" y="8891"/>
                  </a:lnTo>
                  <a:lnTo>
                    <a:pt x="9655" y="8869"/>
                  </a:lnTo>
                  <a:lnTo>
                    <a:pt x="9722" y="8849"/>
                  </a:lnTo>
                  <a:lnTo>
                    <a:pt x="9789" y="8828"/>
                  </a:lnTo>
                  <a:lnTo>
                    <a:pt x="9856" y="8810"/>
                  </a:lnTo>
                  <a:lnTo>
                    <a:pt x="9923" y="8792"/>
                  </a:lnTo>
                  <a:lnTo>
                    <a:pt x="9990" y="8775"/>
                  </a:lnTo>
                  <a:lnTo>
                    <a:pt x="10056" y="8758"/>
                  </a:lnTo>
                  <a:lnTo>
                    <a:pt x="10124" y="8744"/>
                  </a:lnTo>
                  <a:lnTo>
                    <a:pt x="10191" y="8730"/>
                  </a:lnTo>
                  <a:lnTo>
                    <a:pt x="10258" y="8717"/>
                  </a:lnTo>
                  <a:lnTo>
                    <a:pt x="10326" y="8705"/>
                  </a:lnTo>
                  <a:lnTo>
                    <a:pt x="10394" y="8694"/>
                  </a:lnTo>
                  <a:lnTo>
                    <a:pt x="10461" y="8684"/>
                  </a:lnTo>
                  <a:lnTo>
                    <a:pt x="10529" y="8674"/>
                  </a:lnTo>
                  <a:lnTo>
                    <a:pt x="10597" y="8666"/>
                  </a:lnTo>
                  <a:lnTo>
                    <a:pt x="10664" y="8659"/>
                  </a:lnTo>
                  <a:lnTo>
                    <a:pt x="10732" y="8652"/>
                  </a:lnTo>
                  <a:lnTo>
                    <a:pt x="10800" y="8647"/>
                  </a:lnTo>
                  <a:lnTo>
                    <a:pt x="10868" y="8643"/>
                  </a:lnTo>
                  <a:lnTo>
                    <a:pt x="10936" y="8639"/>
                  </a:lnTo>
                  <a:lnTo>
                    <a:pt x="11004" y="8637"/>
                  </a:lnTo>
                  <a:lnTo>
                    <a:pt x="11073" y="8636"/>
                  </a:lnTo>
                  <a:lnTo>
                    <a:pt x="11141" y="8635"/>
                  </a:lnTo>
                  <a:lnTo>
                    <a:pt x="11237" y="8636"/>
                  </a:lnTo>
                  <a:lnTo>
                    <a:pt x="11332" y="8639"/>
                  </a:lnTo>
                  <a:lnTo>
                    <a:pt x="11426" y="8644"/>
                  </a:lnTo>
                  <a:lnTo>
                    <a:pt x="11519" y="8650"/>
                  </a:lnTo>
                  <a:lnTo>
                    <a:pt x="11564" y="8654"/>
                  </a:lnTo>
                  <a:lnTo>
                    <a:pt x="11609" y="8658"/>
                  </a:lnTo>
                  <a:lnTo>
                    <a:pt x="11653" y="8663"/>
                  </a:lnTo>
                  <a:lnTo>
                    <a:pt x="11698" y="8669"/>
                  </a:lnTo>
                  <a:lnTo>
                    <a:pt x="11786" y="8682"/>
                  </a:lnTo>
                  <a:lnTo>
                    <a:pt x="11872" y="8695"/>
                  </a:lnTo>
                  <a:lnTo>
                    <a:pt x="11915" y="8703"/>
                  </a:lnTo>
                  <a:lnTo>
                    <a:pt x="11957" y="8711"/>
                  </a:lnTo>
                  <a:lnTo>
                    <a:pt x="11999" y="8720"/>
                  </a:lnTo>
                  <a:lnTo>
                    <a:pt x="12041" y="8729"/>
                  </a:lnTo>
                  <a:lnTo>
                    <a:pt x="12082" y="8738"/>
                  </a:lnTo>
                  <a:lnTo>
                    <a:pt x="12122" y="8748"/>
                  </a:lnTo>
                  <a:lnTo>
                    <a:pt x="12163" y="8758"/>
                  </a:lnTo>
                  <a:lnTo>
                    <a:pt x="12204" y="8770"/>
                  </a:lnTo>
                  <a:lnTo>
                    <a:pt x="12243" y="8781"/>
                  </a:lnTo>
                  <a:lnTo>
                    <a:pt x="12283" y="8793"/>
                  </a:lnTo>
                  <a:lnTo>
                    <a:pt x="12322" y="8805"/>
                  </a:lnTo>
                  <a:lnTo>
                    <a:pt x="12361" y="8817"/>
                  </a:lnTo>
                  <a:lnTo>
                    <a:pt x="12399" y="8830"/>
                  </a:lnTo>
                  <a:lnTo>
                    <a:pt x="12437" y="8845"/>
                  </a:lnTo>
                  <a:lnTo>
                    <a:pt x="12474" y="8859"/>
                  </a:lnTo>
                  <a:lnTo>
                    <a:pt x="12512" y="8873"/>
                  </a:lnTo>
                  <a:lnTo>
                    <a:pt x="12512" y="3835"/>
                  </a:lnTo>
                  <a:lnTo>
                    <a:pt x="5784" y="6812"/>
                  </a:lnTo>
                  <a:lnTo>
                    <a:pt x="5784" y="13773"/>
                  </a:lnTo>
                  <a:lnTo>
                    <a:pt x="5783" y="13837"/>
                  </a:lnTo>
                  <a:lnTo>
                    <a:pt x="5779" y="13899"/>
                  </a:lnTo>
                  <a:lnTo>
                    <a:pt x="5774" y="13961"/>
                  </a:lnTo>
                  <a:lnTo>
                    <a:pt x="5764" y="14022"/>
                  </a:lnTo>
                  <a:lnTo>
                    <a:pt x="5754" y="14083"/>
                  </a:lnTo>
                  <a:lnTo>
                    <a:pt x="5741" y="14144"/>
                  </a:lnTo>
                  <a:lnTo>
                    <a:pt x="5726" y="14204"/>
                  </a:lnTo>
                  <a:lnTo>
                    <a:pt x="5709" y="14262"/>
                  </a:lnTo>
                  <a:lnTo>
                    <a:pt x="5688" y="14321"/>
                  </a:lnTo>
                  <a:lnTo>
                    <a:pt x="5666" y="14379"/>
                  </a:lnTo>
                  <a:lnTo>
                    <a:pt x="5642" y="14437"/>
                  </a:lnTo>
                  <a:lnTo>
                    <a:pt x="5615" y="14493"/>
                  </a:lnTo>
                  <a:lnTo>
                    <a:pt x="5586" y="14550"/>
                  </a:lnTo>
                  <a:lnTo>
                    <a:pt x="5554" y="14606"/>
                  </a:lnTo>
                  <a:lnTo>
                    <a:pt x="5520" y="14660"/>
                  </a:lnTo>
                  <a:lnTo>
                    <a:pt x="5484" y="14715"/>
                  </a:lnTo>
                  <a:lnTo>
                    <a:pt x="5445" y="14770"/>
                  </a:lnTo>
                  <a:lnTo>
                    <a:pt x="5404" y="14823"/>
                  </a:lnTo>
                  <a:lnTo>
                    <a:pt x="5360" y="14876"/>
                  </a:lnTo>
                  <a:lnTo>
                    <a:pt x="5315" y="14929"/>
                  </a:lnTo>
                  <a:lnTo>
                    <a:pt x="5267" y="14980"/>
                  </a:lnTo>
                  <a:lnTo>
                    <a:pt x="5216" y="15032"/>
                  </a:lnTo>
                  <a:lnTo>
                    <a:pt x="5164" y="15083"/>
                  </a:lnTo>
                  <a:lnTo>
                    <a:pt x="5108" y="15133"/>
                  </a:lnTo>
                  <a:lnTo>
                    <a:pt x="5050" y="15183"/>
                  </a:lnTo>
                  <a:lnTo>
                    <a:pt x="4990" y="15232"/>
                  </a:lnTo>
                  <a:lnTo>
                    <a:pt x="4929" y="15281"/>
                  </a:lnTo>
                  <a:lnTo>
                    <a:pt x="4864" y="15329"/>
                  </a:lnTo>
                  <a:lnTo>
                    <a:pt x="4797" y="15376"/>
                  </a:lnTo>
                  <a:lnTo>
                    <a:pt x="4728" y="15424"/>
                  </a:lnTo>
                  <a:lnTo>
                    <a:pt x="4656" y="15470"/>
                  </a:lnTo>
                  <a:lnTo>
                    <a:pt x="4582" y="15516"/>
                  </a:lnTo>
                  <a:lnTo>
                    <a:pt x="4515" y="15555"/>
                  </a:lnTo>
                  <a:lnTo>
                    <a:pt x="4449" y="15593"/>
                  </a:lnTo>
                  <a:lnTo>
                    <a:pt x="4382" y="15630"/>
                  </a:lnTo>
                  <a:lnTo>
                    <a:pt x="4317" y="15666"/>
                  </a:lnTo>
                  <a:lnTo>
                    <a:pt x="4250" y="15700"/>
                  </a:lnTo>
                  <a:lnTo>
                    <a:pt x="4184" y="15734"/>
                  </a:lnTo>
                  <a:lnTo>
                    <a:pt x="4117" y="15765"/>
                  </a:lnTo>
                  <a:lnTo>
                    <a:pt x="4050" y="15795"/>
                  </a:lnTo>
                  <a:lnTo>
                    <a:pt x="3983" y="15826"/>
                  </a:lnTo>
                  <a:lnTo>
                    <a:pt x="3916" y="15853"/>
                  </a:lnTo>
                  <a:lnTo>
                    <a:pt x="3849" y="15880"/>
                  </a:lnTo>
                  <a:lnTo>
                    <a:pt x="3783" y="15906"/>
                  </a:lnTo>
                  <a:lnTo>
                    <a:pt x="3716" y="15930"/>
                  </a:lnTo>
                  <a:lnTo>
                    <a:pt x="3649" y="15953"/>
                  </a:lnTo>
                  <a:lnTo>
                    <a:pt x="3582" y="15976"/>
                  </a:lnTo>
                  <a:lnTo>
                    <a:pt x="3515" y="15996"/>
                  </a:lnTo>
                  <a:lnTo>
                    <a:pt x="3448" y="16015"/>
                  </a:lnTo>
                  <a:lnTo>
                    <a:pt x="3380" y="16033"/>
                  </a:lnTo>
                  <a:lnTo>
                    <a:pt x="3313" y="16050"/>
                  </a:lnTo>
                  <a:lnTo>
                    <a:pt x="3246" y="16067"/>
                  </a:lnTo>
                  <a:lnTo>
                    <a:pt x="3179" y="16081"/>
                  </a:lnTo>
                  <a:lnTo>
                    <a:pt x="3111" y="16094"/>
                  </a:lnTo>
                  <a:lnTo>
                    <a:pt x="3043" y="16106"/>
                  </a:lnTo>
                  <a:lnTo>
                    <a:pt x="2976" y="16116"/>
                  </a:lnTo>
                  <a:lnTo>
                    <a:pt x="2908" y="16126"/>
                  </a:lnTo>
                  <a:lnTo>
                    <a:pt x="2840" y="16135"/>
                  </a:lnTo>
                  <a:lnTo>
                    <a:pt x="2772" y="16141"/>
                  </a:lnTo>
                  <a:lnTo>
                    <a:pt x="2704" y="16147"/>
                  </a:lnTo>
                  <a:lnTo>
                    <a:pt x="2636" y="16151"/>
                  </a:lnTo>
                  <a:lnTo>
                    <a:pt x="2568" y="16154"/>
                  </a:lnTo>
                  <a:lnTo>
                    <a:pt x="2500" y="16156"/>
                  </a:lnTo>
                  <a:lnTo>
                    <a:pt x="2431" y="16157"/>
                  </a:lnTo>
                  <a:lnTo>
                    <a:pt x="2376" y="16157"/>
                  </a:lnTo>
                  <a:lnTo>
                    <a:pt x="2323" y="16156"/>
                  </a:lnTo>
                  <a:lnTo>
                    <a:pt x="2269" y="16154"/>
                  </a:lnTo>
                  <a:lnTo>
                    <a:pt x="2215" y="16152"/>
                  </a:lnTo>
                  <a:lnTo>
                    <a:pt x="2162" y="16150"/>
                  </a:lnTo>
                  <a:lnTo>
                    <a:pt x="2110" y="16146"/>
                  </a:lnTo>
                  <a:lnTo>
                    <a:pt x="2057" y="16142"/>
                  </a:lnTo>
                  <a:lnTo>
                    <a:pt x="2005" y="16138"/>
                  </a:lnTo>
                  <a:lnTo>
                    <a:pt x="1954" y="16132"/>
                  </a:lnTo>
                  <a:lnTo>
                    <a:pt x="1903" y="16126"/>
                  </a:lnTo>
                  <a:lnTo>
                    <a:pt x="1852" y="16120"/>
                  </a:lnTo>
                  <a:lnTo>
                    <a:pt x="1802" y="16113"/>
                  </a:lnTo>
                  <a:lnTo>
                    <a:pt x="1752" y="16105"/>
                  </a:lnTo>
                  <a:lnTo>
                    <a:pt x="1702" y="16097"/>
                  </a:lnTo>
                  <a:lnTo>
                    <a:pt x="1654" y="16088"/>
                  </a:lnTo>
                  <a:lnTo>
                    <a:pt x="1605" y="16079"/>
                  </a:lnTo>
                  <a:lnTo>
                    <a:pt x="1557" y="16069"/>
                  </a:lnTo>
                  <a:lnTo>
                    <a:pt x="1509" y="16058"/>
                  </a:lnTo>
                  <a:lnTo>
                    <a:pt x="1461" y="16046"/>
                  </a:lnTo>
                  <a:lnTo>
                    <a:pt x="1414" y="16034"/>
                  </a:lnTo>
                  <a:lnTo>
                    <a:pt x="1367" y="16022"/>
                  </a:lnTo>
                  <a:lnTo>
                    <a:pt x="1321" y="16009"/>
                  </a:lnTo>
                  <a:lnTo>
                    <a:pt x="1275" y="15995"/>
                  </a:lnTo>
                  <a:lnTo>
                    <a:pt x="1229" y="15981"/>
                  </a:lnTo>
                  <a:lnTo>
                    <a:pt x="1185" y="15965"/>
                  </a:lnTo>
                  <a:lnTo>
                    <a:pt x="1140" y="15949"/>
                  </a:lnTo>
                  <a:lnTo>
                    <a:pt x="1096" y="15933"/>
                  </a:lnTo>
                  <a:lnTo>
                    <a:pt x="1051" y="15916"/>
                  </a:lnTo>
                  <a:lnTo>
                    <a:pt x="1007" y="15899"/>
                  </a:lnTo>
                  <a:lnTo>
                    <a:pt x="965" y="15880"/>
                  </a:lnTo>
                  <a:lnTo>
                    <a:pt x="922" y="15861"/>
                  </a:lnTo>
                  <a:lnTo>
                    <a:pt x="880" y="15842"/>
                  </a:lnTo>
                  <a:lnTo>
                    <a:pt x="826" y="15818"/>
                  </a:lnTo>
                  <a:lnTo>
                    <a:pt x="773" y="15791"/>
                  </a:lnTo>
                  <a:lnTo>
                    <a:pt x="723" y="15765"/>
                  </a:lnTo>
                  <a:lnTo>
                    <a:pt x="674" y="15738"/>
                  </a:lnTo>
                  <a:lnTo>
                    <a:pt x="627" y="15710"/>
                  </a:lnTo>
                  <a:lnTo>
                    <a:pt x="582" y="15681"/>
                  </a:lnTo>
                  <a:lnTo>
                    <a:pt x="538" y="15652"/>
                  </a:lnTo>
                  <a:lnTo>
                    <a:pt x="496" y="15621"/>
                  </a:lnTo>
                  <a:lnTo>
                    <a:pt x="455" y="15590"/>
                  </a:lnTo>
                  <a:lnTo>
                    <a:pt x="417" y="15558"/>
                  </a:lnTo>
                  <a:lnTo>
                    <a:pt x="380" y="15526"/>
                  </a:lnTo>
                  <a:lnTo>
                    <a:pt x="345" y="15493"/>
                  </a:lnTo>
                  <a:lnTo>
                    <a:pt x="311" y="15458"/>
                  </a:lnTo>
                  <a:lnTo>
                    <a:pt x="280" y="15423"/>
                  </a:lnTo>
                  <a:lnTo>
                    <a:pt x="249" y="15387"/>
                  </a:lnTo>
                  <a:lnTo>
                    <a:pt x="221" y="15351"/>
                  </a:lnTo>
                  <a:lnTo>
                    <a:pt x="195" y="15313"/>
                  </a:lnTo>
                  <a:lnTo>
                    <a:pt x="169" y="15275"/>
                  </a:lnTo>
                  <a:lnTo>
                    <a:pt x="146" y="15236"/>
                  </a:lnTo>
                  <a:lnTo>
                    <a:pt x="125" y="15196"/>
                  </a:lnTo>
                  <a:lnTo>
                    <a:pt x="105" y="15156"/>
                  </a:lnTo>
                  <a:lnTo>
                    <a:pt x="86" y="15115"/>
                  </a:lnTo>
                  <a:lnTo>
                    <a:pt x="70" y="15072"/>
                  </a:lnTo>
                  <a:lnTo>
                    <a:pt x="56" y="15030"/>
                  </a:lnTo>
                  <a:lnTo>
                    <a:pt x="43" y="14986"/>
                  </a:lnTo>
                  <a:lnTo>
                    <a:pt x="32" y="14942"/>
                  </a:lnTo>
                  <a:lnTo>
                    <a:pt x="22" y="14897"/>
                  </a:lnTo>
                  <a:lnTo>
                    <a:pt x="14" y="14851"/>
                  </a:lnTo>
                  <a:lnTo>
                    <a:pt x="8" y="14804"/>
                  </a:lnTo>
                  <a:lnTo>
                    <a:pt x="3" y="14758"/>
                  </a:lnTo>
                  <a:lnTo>
                    <a:pt x="1" y="14709"/>
                  </a:lnTo>
                  <a:lnTo>
                    <a:pt x="0" y="14660"/>
                  </a:lnTo>
                  <a:lnTo>
                    <a:pt x="1" y="14601"/>
                  </a:lnTo>
                  <a:lnTo>
                    <a:pt x="5" y="14542"/>
                  </a:lnTo>
                  <a:lnTo>
                    <a:pt x="11" y="14484"/>
                  </a:lnTo>
                  <a:lnTo>
                    <a:pt x="20" y="14426"/>
                  </a:lnTo>
                  <a:lnTo>
                    <a:pt x="33" y="14370"/>
                  </a:lnTo>
                  <a:lnTo>
                    <a:pt x="46" y="14314"/>
                  </a:lnTo>
                  <a:lnTo>
                    <a:pt x="63" y="14258"/>
                  </a:lnTo>
                  <a:lnTo>
                    <a:pt x="82" y="14204"/>
                  </a:lnTo>
                  <a:lnTo>
                    <a:pt x="104" y="14150"/>
                  </a:lnTo>
                  <a:lnTo>
                    <a:pt x="128" y="14096"/>
                  </a:lnTo>
                  <a:lnTo>
                    <a:pt x="155" y="14044"/>
                  </a:lnTo>
                  <a:lnTo>
                    <a:pt x="185" y="13992"/>
                  </a:lnTo>
                  <a:lnTo>
                    <a:pt x="216" y="13940"/>
                  </a:lnTo>
                  <a:lnTo>
                    <a:pt x="250" y="13890"/>
                  </a:lnTo>
                  <a:lnTo>
                    <a:pt x="288" y="13839"/>
                  </a:lnTo>
                  <a:lnTo>
                    <a:pt x="327" y="13790"/>
                  </a:lnTo>
                  <a:lnTo>
                    <a:pt x="370" y="13741"/>
                  </a:lnTo>
                  <a:lnTo>
                    <a:pt x="415" y="13693"/>
                  </a:lnTo>
                  <a:lnTo>
                    <a:pt x="461" y="13646"/>
                  </a:lnTo>
                  <a:lnTo>
                    <a:pt x="511" y="13599"/>
                  </a:lnTo>
                  <a:lnTo>
                    <a:pt x="564" y="13553"/>
                  </a:lnTo>
                  <a:lnTo>
                    <a:pt x="618" y="13507"/>
                  </a:lnTo>
                  <a:lnTo>
                    <a:pt x="676" y="13463"/>
                  </a:lnTo>
                  <a:lnTo>
                    <a:pt x="736" y="13418"/>
                  </a:lnTo>
                  <a:lnTo>
                    <a:pt x="799" y="13374"/>
                  </a:lnTo>
                  <a:lnTo>
                    <a:pt x="863" y="13331"/>
                  </a:lnTo>
                  <a:lnTo>
                    <a:pt x="930" y="13289"/>
                  </a:lnTo>
                  <a:lnTo>
                    <a:pt x="1000" y="13247"/>
                  </a:lnTo>
                  <a:lnTo>
                    <a:pt x="1073" y="13206"/>
                  </a:lnTo>
                  <a:lnTo>
                    <a:pt x="1148" y="13166"/>
                  </a:lnTo>
                  <a:lnTo>
                    <a:pt x="1226" y="13126"/>
                  </a:lnTo>
                  <a:lnTo>
                    <a:pt x="1306" y="13087"/>
                  </a:lnTo>
                  <a:lnTo>
                    <a:pt x="1372" y="13057"/>
                  </a:lnTo>
                  <a:lnTo>
                    <a:pt x="1438" y="13027"/>
                  </a:lnTo>
                  <a:lnTo>
                    <a:pt x="1505" y="12998"/>
                  </a:lnTo>
                  <a:lnTo>
                    <a:pt x="1572" y="12970"/>
                  </a:lnTo>
                  <a:lnTo>
                    <a:pt x="1638" y="12944"/>
                  </a:lnTo>
                  <a:lnTo>
                    <a:pt x="1704" y="12919"/>
                  </a:lnTo>
                  <a:lnTo>
                    <a:pt x="1770" y="12894"/>
                  </a:lnTo>
                  <a:lnTo>
                    <a:pt x="1837" y="12870"/>
                  </a:lnTo>
                  <a:lnTo>
                    <a:pt x="1904" y="12848"/>
                  </a:lnTo>
                  <a:lnTo>
                    <a:pt x="1971" y="12826"/>
                  </a:lnTo>
                  <a:lnTo>
                    <a:pt x="2038" y="12805"/>
                  </a:lnTo>
                  <a:lnTo>
                    <a:pt x="2105" y="12785"/>
                  </a:lnTo>
                  <a:lnTo>
                    <a:pt x="2172" y="12766"/>
                  </a:lnTo>
                  <a:lnTo>
                    <a:pt x="2238" y="12749"/>
                  </a:lnTo>
                  <a:lnTo>
                    <a:pt x="2305" y="12732"/>
                  </a:lnTo>
                  <a:lnTo>
                    <a:pt x="2372" y="12715"/>
                  </a:lnTo>
                  <a:lnTo>
                    <a:pt x="2440" y="12700"/>
                  </a:lnTo>
                  <a:lnTo>
                    <a:pt x="2507" y="12687"/>
                  </a:lnTo>
                  <a:lnTo>
                    <a:pt x="2574" y="12674"/>
                  </a:lnTo>
                  <a:lnTo>
                    <a:pt x="2642" y="12662"/>
                  </a:lnTo>
                  <a:lnTo>
                    <a:pt x="2709" y="12651"/>
                  </a:lnTo>
                  <a:lnTo>
                    <a:pt x="2776" y="12640"/>
                  </a:lnTo>
                  <a:lnTo>
                    <a:pt x="2844" y="12631"/>
                  </a:lnTo>
                  <a:lnTo>
                    <a:pt x="2912" y="12622"/>
                  </a:lnTo>
                  <a:lnTo>
                    <a:pt x="2980" y="12615"/>
                  </a:lnTo>
                  <a:lnTo>
                    <a:pt x="3048" y="12609"/>
                  </a:lnTo>
                  <a:lnTo>
                    <a:pt x="3116" y="12604"/>
                  </a:lnTo>
                  <a:lnTo>
                    <a:pt x="3184" y="12599"/>
                  </a:lnTo>
                  <a:lnTo>
                    <a:pt x="3252" y="12596"/>
                  </a:lnTo>
                  <a:lnTo>
                    <a:pt x="3320" y="12594"/>
                  </a:lnTo>
                  <a:lnTo>
                    <a:pt x="3388" y="12592"/>
                  </a:lnTo>
                  <a:lnTo>
                    <a:pt x="3456" y="12592"/>
                  </a:lnTo>
                  <a:lnTo>
                    <a:pt x="3549" y="12593"/>
                  </a:lnTo>
                  <a:lnTo>
                    <a:pt x="3640" y="12595"/>
                  </a:lnTo>
                  <a:lnTo>
                    <a:pt x="3730" y="12600"/>
                  </a:lnTo>
                  <a:lnTo>
                    <a:pt x="3818" y="12606"/>
                  </a:lnTo>
                  <a:lnTo>
                    <a:pt x="3905" y="12614"/>
                  </a:lnTo>
                  <a:lnTo>
                    <a:pt x="3991" y="12624"/>
                  </a:lnTo>
                  <a:lnTo>
                    <a:pt x="4076" y="12635"/>
                  </a:lnTo>
                  <a:lnTo>
                    <a:pt x="4160" y="12648"/>
                  </a:lnTo>
                  <a:lnTo>
                    <a:pt x="4242" y="12664"/>
                  </a:lnTo>
                  <a:lnTo>
                    <a:pt x="4324" y="12681"/>
                  </a:lnTo>
                  <a:lnTo>
                    <a:pt x="4403" y="12699"/>
                  </a:lnTo>
                  <a:lnTo>
                    <a:pt x="4482" y="12719"/>
                  </a:lnTo>
                  <a:lnTo>
                    <a:pt x="4560" y="12742"/>
                  </a:lnTo>
                  <a:lnTo>
                    <a:pt x="4636" y="12765"/>
                  </a:lnTo>
                  <a:lnTo>
                    <a:pt x="4711" y="12791"/>
                  </a:lnTo>
                  <a:lnTo>
                    <a:pt x="4786" y="12818"/>
                  </a:lnTo>
                  <a:lnTo>
                    <a:pt x="4786" y="3846"/>
                  </a:lnTo>
                  <a:lnTo>
                    <a:pt x="13526" y="0"/>
                  </a:lnTo>
                  <a:lnTo>
                    <a:pt x="13526" y="9859"/>
                  </a:lnTo>
                </a:path>
              </a:pathLst>
            </a:custGeom>
            <a:solidFill>
              <a:srgbClr val="584F59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95268" grpId="0"/>
      <p:bldP spid="395269" grpId="0" animBg="1"/>
      <p:bldP spid="25" grpId="0" build="p" bldLvl="5"/>
      <p:bldP spid="26" grpId="0" build="p" bldLvl="5"/>
      <p:bldP spid="27" grpId="0" build="p" bldLvl="5"/>
      <p:bldP spid="28" grpId="0" build="p" bldLvl="5"/>
      <p:bldP spid="29" grpId="0" build="p" bldLvl="5"/>
      <p:bldP spid="30" grpId="0" build="p" bldLvl="5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0" y="5014913"/>
            <a:ext cx="9144000" cy="1843088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916113"/>
            <a:ext cx="4092575" cy="846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整数数据对象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4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N = { 0,  1, 2, … }</a:t>
            </a:r>
          </a:p>
        </p:txBody>
      </p:sp>
      <p:sp>
        <p:nvSpPr>
          <p:cNvPr id="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84213" y="2762250"/>
            <a:ext cx="3441700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学生数据对象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学生记录的集合</a:t>
            </a:r>
          </a:p>
        </p:txBody>
      </p:sp>
      <p:sp>
        <p:nvSpPr>
          <p:cNvPr id="34822" name="Rectangle 5"/>
          <p:cNvSpPr/>
          <p:nvPr/>
        </p:nvSpPr>
        <p:spPr>
          <a:xfrm>
            <a:off x="838200" y="981075"/>
            <a:ext cx="47418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5841C"/>
                </a:solidFill>
                <a:latin typeface="微软雅黑" panose="020B0503020204020204" pitchFamily="34" charset="-122"/>
                <a:sym typeface="+mn-lt"/>
              </a:rPr>
              <a:t>4</a:t>
            </a:r>
            <a:r>
              <a:rPr lang="zh-CN" altLang="en-US" dirty="0">
                <a:solidFill>
                  <a:srgbClr val="F5841C"/>
                </a:solidFill>
                <a:latin typeface="微软雅黑" panose="020B0503020204020204" pitchFamily="34" charset="-122"/>
                <a:sym typeface="+mn-lt"/>
              </a:rPr>
              <a:t>、数据对象</a:t>
            </a:r>
            <a:r>
              <a:rPr lang="en-US" altLang="zh-CN" dirty="0">
                <a:solidFill>
                  <a:srgbClr val="F5841C"/>
                </a:solidFill>
                <a:latin typeface="微软雅黑" panose="020B0503020204020204" pitchFamily="34" charset="-122"/>
                <a:sym typeface="+mn-lt"/>
              </a:rPr>
              <a:t>(Data Object)</a:t>
            </a:r>
            <a:r>
              <a:rPr lang="zh-CN" altLang="en-US" dirty="0">
                <a:solidFill>
                  <a:srgbClr val="F5841C"/>
                </a:solidFill>
                <a:latin typeface="微软雅黑" panose="020B0503020204020204" pitchFamily="34" charset="-122"/>
                <a:sym typeface="+mn-lt"/>
              </a:rPr>
              <a:t>：</a:t>
            </a:r>
            <a:endParaRPr lang="en-US" altLang="zh-CN" dirty="0">
              <a:solidFill>
                <a:srgbClr val="F5841C"/>
              </a:solidFill>
              <a:latin typeface="微软雅黑" panose="020B0503020204020204" pitchFamily="34" charset="-122"/>
              <a:sym typeface="+mn-lt"/>
            </a:endParaRPr>
          </a:p>
        </p:txBody>
      </p:sp>
      <p:sp>
        <p:nvSpPr>
          <p:cNvPr id="34823" name="Rectangle 5"/>
          <p:cNvSpPr/>
          <p:nvPr/>
        </p:nvSpPr>
        <p:spPr>
          <a:xfrm>
            <a:off x="838200" y="1403350"/>
            <a:ext cx="6397625" cy="511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sym typeface="+mn-lt"/>
              </a:rPr>
              <a:t>相同特性数据元素的集合，是数据的一个子集</a:t>
            </a: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657225" y="5300663"/>
            <a:ext cx="83835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数据结构是带“结构”的数据元素的集合，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“结构”就是指数据元素之间存在的关系。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838200" y="3702050"/>
            <a:ext cx="80010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112903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、数据结构（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Data Structure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C4C8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是相互之间存在一种或多种特定关系的数据元素的集合。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数据结构的两个层次</a:t>
            </a:r>
          </a:p>
        </p:txBody>
      </p:sp>
      <p:sp>
        <p:nvSpPr>
          <p:cNvPr id="24" name="i$liḋe-Oval 8"/>
          <p:cNvSpPr/>
          <p:nvPr/>
        </p:nvSpPr>
        <p:spPr>
          <a:xfrm>
            <a:off x="5646738" y="2119213"/>
            <a:ext cx="1123950" cy="1123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6869" name="i$liḋe-Freeform: Shape 9"/>
          <p:cNvSpPr/>
          <p:nvPr/>
        </p:nvSpPr>
        <p:spPr>
          <a:xfrm>
            <a:off x="5929313" y="2441476"/>
            <a:ext cx="558800" cy="4794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28" h="196">
                <a:moveTo>
                  <a:pt x="223" y="0"/>
                </a:moveTo>
                <a:cubicBezTo>
                  <a:pt x="210" y="0"/>
                  <a:pt x="210" y="0"/>
                  <a:pt x="210" y="0"/>
                </a:cubicBezTo>
                <a:cubicBezTo>
                  <a:pt x="207" y="0"/>
                  <a:pt x="205" y="2"/>
                  <a:pt x="205" y="5"/>
                </a:cubicBezTo>
                <a:cubicBezTo>
                  <a:pt x="205" y="10"/>
                  <a:pt x="205" y="10"/>
                  <a:pt x="205" y="1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37"/>
                  <a:pt x="18" y="35"/>
                  <a:pt x="15" y="35"/>
                </a:cubicBezTo>
                <a:cubicBezTo>
                  <a:pt x="5" y="35"/>
                  <a:pt x="5" y="35"/>
                  <a:pt x="5" y="35"/>
                </a:cubicBezTo>
                <a:cubicBezTo>
                  <a:pt x="2" y="35"/>
                  <a:pt x="0" y="37"/>
                  <a:pt x="0" y="40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3"/>
                  <a:pt x="2" y="145"/>
                  <a:pt x="5" y="145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8" y="145"/>
                  <a:pt x="20" y="143"/>
                  <a:pt x="20" y="140"/>
                </a:cubicBezTo>
                <a:cubicBezTo>
                  <a:pt x="20" y="138"/>
                  <a:pt x="20" y="138"/>
                  <a:pt x="20" y="138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8"/>
                  <a:pt x="70" y="148"/>
                </a:cubicBezTo>
                <a:cubicBezTo>
                  <a:pt x="70" y="175"/>
                  <a:pt x="91" y="196"/>
                  <a:pt x="117" y="196"/>
                </a:cubicBezTo>
                <a:cubicBezTo>
                  <a:pt x="138" y="196"/>
                  <a:pt x="156" y="182"/>
                  <a:pt x="162" y="162"/>
                </a:cubicBezTo>
                <a:cubicBezTo>
                  <a:pt x="205" y="170"/>
                  <a:pt x="205" y="170"/>
                  <a:pt x="205" y="170"/>
                </a:cubicBezTo>
                <a:cubicBezTo>
                  <a:pt x="205" y="175"/>
                  <a:pt x="205" y="175"/>
                  <a:pt x="205" y="175"/>
                </a:cubicBezTo>
                <a:cubicBezTo>
                  <a:pt x="205" y="178"/>
                  <a:pt x="207" y="180"/>
                  <a:pt x="210" y="180"/>
                </a:cubicBezTo>
                <a:cubicBezTo>
                  <a:pt x="223" y="180"/>
                  <a:pt x="223" y="180"/>
                  <a:pt x="223" y="180"/>
                </a:cubicBezTo>
                <a:cubicBezTo>
                  <a:pt x="226" y="180"/>
                  <a:pt x="228" y="178"/>
                  <a:pt x="228" y="175"/>
                </a:cubicBezTo>
                <a:cubicBezTo>
                  <a:pt x="228" y="5"/>
                  <a:pt x="228" y="5"/>
                  <a:pt x="228" y="5"/>
                </a:cubicBezTo>
                <a:cubicBezTo>
                  <a:pt x="228" y="2"/>
                  <a:pt x="226" y="0"/>
                  <a:pt x="223" y="0"/>
                </a:cubicBezTo>
                <a:moveTo>
                  <a:pt x="117" y="177"/>
                </a:moveTo>
                <a:cubicBezTo>
                  <a:pt x="102" y="177"/>
                  <a:pt x="90" y="165"/>
                  <a:pt x="89" y="150"/>
                </a:cubicBezTo>
                <a:cubicBezTo>
                  <a:pt x="143" y="159"/>
                  <a:pt x="143" y="159"/>
                  <a:pt x="143" y="159"/>
                </a:cubicBezTo>
                <a:cubicBezTo>
                  <a:pt x="139" y="170"/>
                  <a:pt x="129" y="177"/>
                  <a:pt x="117" y="177"/>
                </a:cubicBezTo>
                <a:moveTo>
                  <a:pt x="199" y="53"/>
                </a:moveTo>
                <a:cubicBezTo>
                  <a:pt x="31" y="76"/>
                  <a:pt x="31" y="76"/>
                  <a:pt x="31" y="76"/>
                </a:cubicBezTo>
                <a:cubicBezTo>
                  <a:pt x="30" y="76"/>
                  <a:pt x="30" y="76"/>
                  <a:pt x="30" y="76"/>
                </a:cubicBezTo>
                <a:cubicBezTo>
                  <a:pt x="26" y="76"/>
                  <a:pt x="23" y="73"/>
                  <a:pt x="23" y="70"/>
                </a:cubicBezTo>
                <a:cubicBezTo>
                  <a:pt x="22" y="66"/>
                  <a:pt x="25" y="62"/>
                  <a:pt x="29" y="62"/>
                </a:cubicBezTo>
                <a:cubicBezTo>
                  <a:pt x="197" y="39"/>
                  <a:pt x="197" y="39"/>
                  <a:pt x="197" y="39"/>
                </a:cubicBezTo>
                <a:cubicBezTo>
                  <a:pt x="201" y="38"/>
                  <a:pt x="204" y="41"/>
                  <a:pt x="205" y="45"/>
                </a:cubicBezTo>
                <a:cubicBezTo>
                  <a:pt x="205" y="49"/>
                  <a:pt x="203" y="52"/>
                  <a:pt x="199" y="53"/>
                </a:cubicBezTo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i$liḋe-Oval 10"/>
          <p:cNvSpPr/>
          <p:nvPr/>
        </p:nvSpPr>
        <p:spPr>
          <a:xfrm>
            <a:off x="1901825" y="2119213"/>
            <a:ext cx="1123950" cy="1123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6871" name="i$liḋe-Freeform: Shape 11"/>
          <p:cNvSpPr/>
          <p:nvPr/>
        </p:nvSpPr>
        <p:spPr>
          <a:xfrm>
            <a:off x="2170113" y="2347813"/>
            <a:ext cx="587375" cy="6651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40" h="272">
                <a:moveTo>
                  <a:pt x="62" y="62"/>
                </a:moveTo>
                <a:cubicBezTo>
                  <a:pt x="66" y="58"/>
                  <a:pt x="66" y="52"/>
                  <a:pt x="62" y="49"/>
                </a:cubicBezTo>
                <a:cubicBezTo>
                  <a:pt x="49" y="35"/>
                  <a:pt x="49" y="35"/>
                  <a:pt x="49" y="35"/>
                </a:cubicBezTo>
                <a:cubicBezTo>
                  <a:pt x="45" y="32"/>
                  <a:pt x="39" y="32"/>
                  <a:pt x="35" y="35"/>
                </a:cubicBezTo>
                <a:cubicBezTo>
                  <a:pt x="32" y="39"/>
                  <a:pt x="32" y="45"/>
                  <a:pt x="35" y="49"/>
                </a:cubicBezTo>
                <a:cubicBezTo>
                  <a:pt x="49" y="62"/>
                  <a:pt x="49" y="62"/>
                  <a:pt x="49" y="62"/>
                </a:cubicBezTo>
                <a:cubicBezTo>
                  <a:pt x="50" y="64"/>
                  <a:pt x="53" y="65"/>
                  <a:pt x="55" y="65"/>
                </a:cubicBezTo>
                <a:cubicBezTo>
                  <a:pt x="58" y="65"/>
                  <a:pt x="60" y="64"/>
                  <a:pt x="62" y="62"/>
                </a:cubicBezTo>
                <a:moveTo>
                  <a:pt x="28" y="111"/>
                </a:moveTo>
                <a:cubicBezTo>
                  <a:pt x="9" y="111"/>
                  <a:pt x="9" y="111"/>
                  <a:pt x="9" y="111"/>
                </a:cubicBezTo>
                <a:cubicBezTo>
                  <a:pt x="4" y="111"/>
                  <a:pt x="0" y="115"/>
                  <a:pt x="0" y="120"/>
                </a:cubicBezTo>
                <a:cubicBezTo>
                  <a:pt x="0" y="125"/>
                  <a:pt x="4" y="130"/>
                  <a:pt x="9" y="130"/>
                </a:cubicBezTo>
                <a:cubicBezTo>
                  <a:pt x="28" y="130"/>
                  <a:pt x="28" y="130"/>
                  <a:pt x="28" y="130"/>
                </a:cubicBezTo>
                <a:cubicBezTo>
                  <a:pt x="34" y="130"/>
                  <a:pt x="38" y="125"/>
                  <a:pt x="38" y="120"/>
                </a:cubicBezTo>
                <a:cubicBezTo>
                  <a:pt x="38" y="115"/>
                  <a:pt x="34" y="111"/>
                  <a:pt x="28" y="111"/>
                </a:cubicBezTo>
                <a:moveTo>
                  <a:pt x="120" y="38"/>
                </a:moveTo>
                <a:cubicBezTo>
                  <a:pt x="125" y="38"/>
                  <a:pt x="129" y="34"/>
                  <a:pt x="129" y="29"/>
                </a:cubicBezTo>
                <a:cubicBezTo>
                  <a:pt x="129" y="10"/>
                  <a:pt x="129" y="10"/>
                  <a:pt x="129" y="10"/>
                </a:cubicBezTo>
                <a:cubicBezTo>
                  <a:pt x="129" y="4"/>
                  <a:pt x="125" y="0"/>
                  <a:pt x="120" y="0"/>
                </a:cubicBezTo>
                <a:cubicBezTo>
                  <a:pt x="115" y="0"/>
                  <a:pt x="111" y="4"/>
                  <a:pt x="111" y="10"/>
                </a:cubicBezTo>
                <a:cubicBezTo>
                  <a:pt x="111" y="29"/>
                  <a:pt x="111" y="29"/>
                  <a:pt x="111" y="29"/>
                </a:cubicBezTo>
                <a:cubicBezTo>
                  <a:pt x="111" y="34"/>
                  <a:pt x="115" y="38"/>
                  <a:pt x="120" y="38"/>
                </a:cubicBezTo>
                <a:moveTo>
                  <a:pt x="87" y="253"/>
                </a:moveTo>
                <a:cubicBezTo>
                  <a:pt x="87" y="264"/>
                  <a:pt x="96" y="272"/>
                  <a:pt x="107" y="272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44" y="272"/>
                  <a:pt x="153" y="264"/>
                  <a:pt x="153" y="253"/>
                </a:cubicBezTo>
                <a:cubicBezTo>
                  <a:pt x="153" y="244"/>
                  <a:pt x="153" y="244"/>
                  <a:pt x="153" y="244"/>
                </a:cubicBezTo>
                <a:cubicBezTo>
                  <a:pt x="87" y="244"/>
                  <a:pt x="87" y="244"/>
                  <a:pt x="87" y="244"/>
                </a:cubicBezTo>
                <a:cubicBezTo>
                  <a:pt x="87" y="253"/>
                  <a:pt x="87" y="253"/>
                  <a:pt x="87" y="253"/>
                </a:cubicBezTo>
                <a:close/>
                <a:moveTo>
                  <a:pt x="205" y="35"/>
                </a:moveTo>
                <a:cubicBezTo>
                  <a:pt x="201" y="32"/>
                  <a:pt x="195" y="32"/>
                  <a:pt x="192" y="35"/>
                </a:cubicBezTo>
                <a:cubicBezTo>
                  <a:pt x="178" y="49"/>
                  <a:pt x="178" y="49"/>
                  <a:pt x="178" y="49"/>
                </a:cubicBezTo>
                <a:cubicBezTo>
                  <a:pt x="174" y="52"/>
                  <a:pt x="174" y="58"/>
                  <a:pt x="178" y="62"/>
                </a:cubicBezTo>
                <a:cubicBezTo>
                  <a:pt x="180" y="64"/>
                  <a:pt x="182" y="65"/>
                  <a:pt x="185" y="65"/>
                </a:cubicBezTo>
                <a:cubicBezTo>
                  <a:pt x="187" y="65"/>
                  <a:pt x="190" y="64"/>
                  <a:pt x="192" y="62"/>
                </a:cubicBezTo>
                <a:cubicBezTo>
                  <a:pt x="205" y="49"/>
                  <a:pt x="205" y="49"/>
                  <a:pt x="205" y="49"/>
                </a:cubicBezTo>
                <a:cubicBezTo>
                  <a:pt x="209" y="45"/>
                  <a:pt x="209" y="39"/>
                  <a:pt x="205" y="35"/>
                </a:cubicBezTo>
                <a:moveTo>
                  <a:pt x="120" y="49"/>
                </a:moveTo>
                <a:cubicBezTo>
                  <a:pt x="81" y="49"/>
                  <a:pt x="50" y="80"/>
                  <a:pt x="50" y="118"/>
                </a:cubicBezTo>
                <a:cubicBezTo>
                  <a:pt x="50" y="132"/>
                  <a:pt x="54" y="145"/>
                  <a:pt x="61" y="156"/>
                </a:cubicBezTo>
                <a:cubicBezTo>
                  <a:pt x="62" y="157"/>
                  <a:pt x="62" y="158"/>
                  <a:pt x="62" y="158"/>
                </a:cubicBezTo>
                <a:cubicBezTo>
                  <a:pt x="75" y="176"/>
                  <a:pt x="78" y="182"/>
                  <a:pt x="78" y="186"/>
                </a:cubicBezTo>
                <a:cubicBezTo>
                  <a:pt x="78" y="199"/>
                  <a:pt x="78" y="199"/>
                  <a:pt x="78" y="199"/>
                </a:cubicBezTo>
                <a:cubicBezTo>
                  <a:pt x="75" y="199"/>
                  <a:pt x="75" y="199"/>
                  <a:pt x="75" y="199"/>
                </a:cubicBezTo>
                <a:cubicBezTo>
                  <a:pt x="71" y="199"/>
                  <a:pt x="69" y="200"/>
                  <a:pt x="69" y="204"/>
                </a:cubicBezTo>
                <a:cubicBezTo>
                  <a:pt x="69" y="229"/>
                  <a:pt x="69" y="229"/>
                  <a:pt x="69" y="229"/>
                </a:cubicBezTo>
                <a:cubicBezTo>
                  <a:pt x="69" y="233"/>
                  <a:pt x="71" y="235"/>
                  <a:pt x="75" y="235"/>
                </a:cubicBezTo>
                <a:cubicBezTo>
                  <a:pt x="166" y="235"/>
                  <a:pt x="166" y="235"/>
                  <a:pt x="166" y="235"/>
                </a:cubicBezTo>
                <a:cubicBezTo>
                  <a:pt x="169" y="235"/>
                  <a:pt x="171" y="233"/>
                  <a:pt x="171" y="229"/>
                </a:cubicBezTo>
                <a:cubicBezTo>
                  <a:pt x="171" y="204"/>
                  <a:pt x="171" y="204"/>
                  <a:pt x="171" y="204"/>
                </a:cubicBezTo>
                <a:cubicBezTo>
                  <a:pt x="171" y="200"/>
                  <a:pt x="169" y="199"/>
                  <a:pt x="166" y="199"/>
                </a:cubicBezTo>
                <a:cubicBezTo>
                  <a:pt x="162" y="199"/>
                  <a:pt x="162" y="199"/>
                  <a:pt x="162" y="199"/>
                </a:cubicBezTo>
                <a:cubicBezTo>
                  <a:pt x="162" y="186"/>
                  <a:pt x="162" y="186"/>
                  <a:pt x="162" y="186"/>
                </a:cubicBezTo>
                <a:cubicBezTo>
                  <a:pt x="162" y="183"/>
                  <a:pt x="163" y="178"/>
                  <a:pt x="178" y="158"/>
                </a:cubicBezTo>
                <a:cubicBezTo>
                  <a:pt x="186" y="146"/>
                  <a:pt x="190" y="133"/>
                  <a:pt x="190" y="118"/>
                </a:cubicBezTo>
                <a:cubicBezTo>
                  <a:pt x="190" y="80"/>
                  <a:pt x="159" y="49"/>
                  <a:pt x="120" y="49"/>
                </a:cubicBezTo>
                <a:moveTo>
                  <a:pt x="120" y="170"/>
                </a:moveTo>
                <a:cubicBezTo>
                  <a:pt x="117" y="136"/>
                  <a:pt x="117" y="136"/>
                  <a:pt x="117" y="136"/>
                </a:cubicBezTo>
                <a:cubicBezTo>
                  <a:pt x="124" y="136"/>
                  <a:pt x="124" y="136"/>
                  <a:pt x="124" y="136"/>
                </a:cubicBezTo>
                <a:lnTo>
                  <a:pt x="120" y="170"/>
                </a:lnTo>
                <a:close/>
                <a:moveTo>
                  <a:pt x="162" y="147"/>
                </a:moveTo>
                <a:cubicBezTo>
                  <a:pt x="147" y="168"/>
                  <a:pt x="143" y="176"/>
                  <a:pt x="143" y="186"/>
                </a:cubicBezTo>
                <a:cubicBezTo>
                  <a:pt x="143" y="199"/>
                  <a:pt x="143" y="199"/>
                  <a:pt x="143" y="199"/>
                </a:cubicBezTo>
                <a:cubicBezTo>
                  <a:pt x="127" y="199"/>
                  <a:pt x="127" y="199"/>
                  <a:pt x="127" y="199"/>
                </a:cubicBezTo>
                <a:cubicBezTo>
                  <a:pt x="134" y="136"/>
                  <a:pt x="134" y="136"/>
                  <a:pt x="134" y="136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49" y="136"/>
                  <a:pt x="156" y="130"/>
                  <a:pt x="156" y="122"/>
                </a:cubicBezTo>
                <a:cubicBezTo>
                  <a:pt x="156" y="113"/>
                  <a:pt x="149" y="107"/>
                  <a:pt x="141" y="107"/>
                </a:cubicBezTo>
                <a:cubicBezTo>
                  <a:pt x="137" y="107"/>
                  <a:pt x="134" y="108"/>
                  <a:pt x="131" y="111"/>
                </a:cubicBezTo>
                <a:cubicBezTo>
                  <a:pt x="127" y="115"/>
                  <a:pt x="125" y="122"/>
                  <a:pt x="125" y="127"/>
                </a:cubicBezTo>
                <a:cubicBezTo>
                  <a:pt x="116" y="127"/>
                  <a:pt x="116" y="127"/>
                  <a:pt x="116" y="127"/>
                </a:cubicBezTo>
                <a:cubicBezTo>
                  <a:pt x="116" y="122"/>
                  <a:pt x="115" y="116"/>
                  <a:pt x="111" y="111"/>
                </a:cubicBezTo>
                <a:cubicBezTo>
                  <a:pt x="108" y="108"/>
                  <a:pt x="104" y="107"/>
                  <a:pt x="100" y="107"/>
                </a:cubicBezTo>
                <a:cubicBezTo>
                  <a:pt x="92" y="107"/>
                  <a:pt x="85" y="113"/>
                  <a:pt x="85" y="122"/>
                </a:cubicBezTo>
                <a:cubicBezTo>
                  <a:pt x="85" y="130"/>
                  <a:pt x="92" y="136"/>
                  <a:pt x="100" y="136"/>
                </a:cubicBezTo>
                <a:cubicBezTo>
                  <a:pt x="107" y="136"/>
                  <a:pt x="107" y="136"/>
                  <a:pt x="107" y="136"/>
                </a:cubicBezTo>
                <a:cubicBezTo>
                  <a:pt x="114" y="199"/>
                  <a:pt x="114" y="199"/>
                  <a:pt x="114" y="199"/>
                </a:cubicBezTo>
                <a:cubicBezTo>
                  <a:pt x="97" y="199"/>
                  <a:pt x="97" y="199"/>
                  <a:pt x="97" y="199"/>
                </a:cubicBezTo>
                <a:cubicBezTo>
                  <a:pt x="97" y="186"/>
                  <a:pt x="97" y="186"/>
                  <a:pt x="97" y="186"/>
                </a:cubicBezTo>
                <a:cubicBezTo>
                  <a:pt x="97" y="177"/>
                  <a:pt x="93" y="168"/>
                  <a:pt x="78" y="147"/>
                </a:cubicBezTo>
                <a:cubicBezTo>
                  <a:pt x="78" y="147"/>
                  <a:pt x="78" y="147"/>
                  <a:pt x="78" y="147"/>
                </a:cubicBezTo>
                <a:cubicBezTo>
                  <a:pt x="77" y="146"/>
                  <a:pt x="77" y="146"/>
                  <a:pt x="77" y="146"/>
                </a:cubicBezTo>
                <a:cubicBezTo>
                  <a:pt x="71" y="138"/>
                  <a:pt x="68" y="128"/>
                  <a:pt x="68" y="118"/>
                </a:cubicBezTo>
                <a:cubicBezTo>
                  <a:pt x="68" y="91"/>
                  <a:pt x="92" y="68"/>
                  <a:pt x="120" y="68"/>
                </a:cubicBezTo>
                <a:cubicBezTo>
                  <a:pt x="148" y="68"/>
                  <a:pt x="172" y="91"/>
                  <a:pt x="172" y="118"/>
                </a:cubicBezTo>
                <a:cubicBezTo>
                  <a:pt x="172" y="129"/>
                  <a:pt x="168" y="139"/>
                  <a:pt x="162" y="147"/>
                </a:cubicBezTo>
                <a:moveTo>
                  <a:pt x="135" y="127"/>
                </a:moveTo>
                <a:cubicBezTo>
                  <a:pt x="135" y="124"/>
                  <a:pt x="136" y="119"/>
                  <a:pt x="138" y="117"/>
                </a:cubicBezTo>
                <a:cubicBezTo>
                  <a:pt x="139" y="116"/>
                  <a:pt x="140" y="116"/>
                  <a:pt x="141" y="116"/>
                </a:cubicBezTo>
                <a:cubicBezTo>
                  <a:pt x="144" y="116"/>
                  <a:pt x="147" y="119"/>
                  <a:pt x="147" y="122"/>
                </a:cubicBezTo>
                <a:cubicBezTo>
                  <a:pt x="147" y="125"/>
                  <a:pt x="144" y="127"/>
                  <a:pt x="141" y="127"/>
                </a:cubicBezTo>
                <a:cubicBezTo>
                  <a:pt x="135" y="127"/>
                  <a:pt x="135" y="127"/>
                  <a:pt x="135" y="127"/>
                </a:cubicBezTo>
                <a:close/>
                <a:moveTo>
                  <a:pt x="107" y="127"/>
                </a:moveTo>
                <a:cubicBezTo>
                  <a:pt x="100" y="127"/>
                  <a:pt x="100" y="127"/>
                  <a:pt x="100" y="127"/>
                </a:cubicBezTo>
                <a:cubicBezTo>
                  <a:pt x="97" y="127"/>
                  <a:pt x="94" y="125"/>
                  <a:pt x="94" y="122"/>
                </a:cubicBezTo>
                <a:cubicBezTo>
                  <a:pt x="94" y="119"/>
                  <a:pt x="97" y="116"/>
                  <a:pt x="100" y="116"/>
                </a:cubicBezTo>
                <a:cubicBezTo>
                  <a:pt x="102" y="116"/>
                  <a:pt x="103" y="117"/>
                  <a:pt x="104" y="118"/>
                </a:cubicBezTo>
                <a:cubicBezTo>
                  <a:pt x="106" y="120"/>
                  <a:pt x="107" y="124"/>
                  <a:pt x="107" y="127"/>
                </a:cubicBezTo>
                <a:moveTo>
                  <a:pt x="231" y="111"/>
                </a:moveTo>
                <a:cubicBezTo>
                  <a:pt x="212" y="111"/>
                  <a:pt x="212" y="111"/>
                  <a:pt x="212" y="111"/>
                </a:cubicBezTo>
                <a:cubicBezTo>
                  <a:pt x="206" y="111"/>
                  <a:pt x="202" y="115"/>
                  <a:pt x="202" y="120"/>
                </a:cubicBezTo>
                <a:cubicBezTo>
                  <a:pt x="202" y="125"/>
                  <a:pt x="206" y="130"/>
                  <a:pt x="212" y="130"/>
                </a:cubicBezTo>
                <a:cubicBezTo>
                  <a:pt x="231" y="130"/>
                  <a:pt x="231" y="130"/>
                  <a:pt x="231" y="130"/>
                </a:cubicBezTo>
                <a:cubicBezTo>
                  <a:pt x="236" y="130"/>
                  <a:pt x="240" y="125"/>
                  <a:pt x="240" y="120"/>
                </a:cubicBezTo>
                <a:cubicBezTo>
                  <a:pt x="240" y="115"/>
                  <a:pt x="236" y="111"/>
                  <a:pt x="231" y="111"/>
                </a:cubicBezTo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i$liḋe-Rectangle 12"/>
          <p:cNvSpPr/>
          <p:nvPr/>
        </p:nvSpPr>
        <p:spPr>
          <a:xfrm>
            <a:off x="1547813" y="1412776"/>
            <a:ext cx="1711325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逻辑结构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i$liḋe-Rectangle 13"/>
          <p:cNvSpPr/>
          <p:nvPr/>
        </p:nvSpPr>
        <p:spPr>
          <a:xfrm>
            <a:off x="4854575" y="1412776"/>
            <a:ext cx="3044825" cy="3540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存储结构（物理结构）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i$liḋe-TextBox 36"/>
          <p:cNvSpPr txBox="1"/>
          <p:nvPr/>
        </p:nvSpPr>
        <p:spPr bwMode="auto">
          <a:xfrm>
            <a:off x="948380" y="3399313"/>
            <a:ext cx="3030133" cy="2267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1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数据元素间抽象化的相互关系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，与数据的存储无关，独立于计算机，它是从具体问题抽象出来的数学模型。</a:t>
            </a:r>
          </a:p>
        </p:txBody>
      </p:sp>
      <p:sp>
        <p:nvSpPr>
          <p:cNvPr id="17" name="iS1ide-TextBox 34"/>
          <p:cNvSpPr txBox="1"/>
          <p:nvPr/>
        </p:nvSpPr>
        <p:spPr bwMode="auto">
          <a:xfrm>
            <a:off x="4604894" y="3375447"/>
            <a:ext cx="3440503" cy="11235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1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数据元素及其关系在计算机存储器中的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存储方式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nimBg="1"/>
      <p:bldP spid="26" grpId="0" build="p" animBg="1"/>
      <p:bldP spid="28" grpId="0" build="p"/>
      <p:bldP spid="29" grpId="0" build="p"/>
      <p:bldP spid="19" grpId="0" build="p"/>
      <p:bldP spid="1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ChangeArrowheads="1"/>
          </p:cNvSpPr>
          <p:nvPr/>
        </p:nvSpPr>
        <p:spPr bwMode="auto">
          <a:xfrm>
            <a:off x="677863" y="896938"/>
            <a:ext cx="2881313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划分方法一</a:t>
            </a:r>
          </a:p>
        </p:txBody>
      </p:sp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827088" y="144463"/>
            <a:ext cx="24638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73400" y="1673225"/>
            <a:ext cx="5884863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----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有且仅有一个开始和一个终端结点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/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，并 且所有结点都最多只有一个直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/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接前趋和一个后继。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例如：线性表、栈、队列、串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非线性结构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----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一个结点可能有多个直接前趋和直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/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接后继。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例如：树、图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3227388" y="4552950"/>
            <a:ext cx="579437" cy="631825"/>
            <a:chOff x="6242320" y="2373233"/>
            <a:chExt cx="579005" cy="631762"/>
          </a:xfrm>
        </p:grpSpPr>
        <p:sp>
          <p:nvSpPr>
            <p:cNvPr id="38925" name="TextBox 6"/>
            <p:cNvSpPr txBox="1"/>
            <p:nvPr/>
          </p:nvSpPr>
          <p:spPr>
            <a:xfrm>
              <a:off x="6327223" y="2373233"/>
              <a:ext cx="465921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eaLnBrk="1" hangingPunct="1">
                <a:lnSpc>
                  <a:spcPct val="100000"/>
                </a:lnSpc>
              </a:pPr>
              <a:r>
                <a:rPr lang="en-US" altLang="zh-CN" sz="3200" dirty="0">
                  <a:solidFill>
                    <a:srgbClr val="3333CC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333CC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926" name="文本框 23"/>
            <p:cNvSpPr txBox="1"/>
            <p:nvPr/>
          </p:nvSpPr>
          <p:spPr>
            <a:xfrm>
              <a:off x="6242320" y="2789551"/>
              <a:ext cx="579005" cy="215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eaLnBrk="1" hangingPunct="1">
                <a:lnSpc>
                  <a:spcPct val="100000"/>
                </a:lnSpc>
              </a:pPr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ea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ea typeface="Leelawadee" panose="020B0502040204020203" pitchFamily="34" charset="-34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4089400" y="5068888"/>
            <a:ext cx="4783138" cy="0"/>
          </a:xfrm>
          <a:prstGeom prst="line">
            <a:avLst/>
          </a:prstGeom>
          <a:ln w="6350">
            <a:solidFill>
              <a:srgbClr val="3333C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089400" y="2209800"/>
            <a:ext cx="4608513" cy="0"/>
          </a:xfrm>
          <a:prstGeom prst="line">
            <a:avLst/>
          </a:prstGeom>
          <a:ln w="63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68350" y="1557338"/>
            <a:ext cx="7929563" cy="0"/>
          </a:xfrm>
          <a:prstGeom prst="line">
            <a:avLst/>
          </a:prstGeom>
          <a:ln w="38100">
            <a:solidFill>
              <a:srgbClr val="33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423863" y="2706688"/>
            <a:ext cx="2152650" cy="2235200"/>
          </a:xfrm>
          <a:custGeom>
            <a:avLst/>
            <a:gdLst>
              <a:gd name="T0" fmla="*/ 150 w 578"/>
              <a:gd name="T1" fmla="*/ 130 h 566"/>
              <a:gd name="T2" fmla="*/ 141 w 578"/>
              <a:gd name="T3" fmla="*/ 288 h 566"/>
              <a:gd name="T4" fmla="*/ 68 w 578"/>
              <a:gd name="T5" fmla="*/ 228 h 566"/>
              <a:gd name="T6" fmla="*/ 51 w 578"/>
              <a:gd name="T7" fmla="*/ 121 h 566"/>
              <a:gd name="T8" fmla="*/ 61 w 578"/>
              <a:gd name="T9" fmla="*/ 229 h 566"/>
              <a:gd name="T10" fmla="*/ 21 w 578"/>
              <a:gd name="T11" fmla="*/ 297 h 566"/>
              <a:gd name="T12" fmla="*/ 40 w 578"/>
              <a:gd name="T13" fmla="*/ 297 h 566"/>
              <a:gd name="T14" fmla="*/ 123 w 578"/>
              <a:gd name="T15" fmla="*/ 301 h 566"/>
              <a:gd name="T16" fmla="*/ 55 w 578"/>
              <a:gd name="T17" fmla="*/ 393 h 566"/>
              <a:gd name="T18" fmla="*/ 80 w 578"/>
              <a:gd name="T19" fmla="*/ 400 h 566"/>
              <a:gd name="T20" fmla="*/ 225 w 578"/>
              <a:gd name="T21" fmla="*/ 308 h 566"/>
              <a:gd name="T22" fmla="*/ 360 w 578"/>
              <a:gd name="T23" fmla="*/ 362 h 566"/>
              <a:gd name="T24" fmla="*/ 210 w 578"/>
              <a:gd name="T25" fmla="*/ 454 h 566"/>
              <a:gd name="T26" fmla="*/ 153 w 578"/>
              <a:gd name="T27" fmla="*/ 504 h 566"/>
              <a:gd name="T28" fmla="*/ 297 w 578"/>
              <a:gd name="T29" fmla="*/ 563 h 566"/>
              <a:gd name="T30" fmla="*/ 172 w 578"/>
              <a:gd name="T31" fmla="*/ 487 h 566"/>
              <a:gd name="T32" fmla="*/ 312 w 578"/>
              <a:gd name="T33" fmla="*/ 453 h 566"/>
              <a:gd name="T34" fmla="*/ 366 w 578"/>
              <a:gd name="T35" fmla="*/ 510 h 566"/>
              <a:gd name="T36" fmla="*/ 381 w 578"/>
              <a:gd name="T37" fmla="*/ 525 h 566"/>
              <a:gd name="T38" fmla="*/ 413 w 578"/>
              <a:gd name="T39" fmla="*/ 461 h 566"/>
              <a:gd name="T40" fmla="*/ 311 w 578"/>
              <a:gd name="T41" fmla="*/ 422 h 566"/>
              <a:gd name="T42" fmla="*/ 421 w 578"/>
              <a:gd name="T43" fmla="*/ 382 h 566"/>
              <a:gd name="T44" fmla="*/ 514 w 578"/>
              <a:gd name="T45" fmla="*/ 445 h 566"/>
              <a:gd name="T46" fmla="*/ 437 w 578"/>
              <a:gd name="T47" fmla="*/ 359 h 566"/>
              <a:gd name="T48" fmla="*/ 500 w 578"/>
              <a:gd name="T49" fmla="*/ 367 h 566"/>
              <a:gd name="T50" fmla="*/ 436 w 578"/>
              <a:gd name="T51" fmla="*/ 335 h 566"/>
              <a:gd name="T52" fmla="*/ 489 w 578"/>
              <a:gd name="T53" fmla="*/ 322 h 566"/>
              <a:gd name="T54" fmla="*/ 572 w 578"/>
              <a:gd name="T55" fmla="*/ 328 h 566"/>
              <a:gd name="T56" fmla="*/ 490 w 578"/>
              <a:gd name="T57" fmla="*/ 311 h 566"/>
              <a:gd name="T58" fmla="*/ 385 w 578"/>
              <a:gd name="T59" fmla="*/ 311 h 566"/>
              <a:gd name="T60" fmla="*/ 312 w 578"/>
              <a:gd name="T61" fmla="*/ 220 h 566"/>
              <a:gd name="T62" fmla="*/ 391 w 578"/>
              <a:gd name="T63" fmla="*/ 202 h 566"/>
              <a:gd name="T64" fmla="*/ 523 w 578"/>
              <a:gd name="T65" fmla="*/ 220 h 566"/>
              <a:gd name="T66" fmla="*/ 522 w 578"/>
              <a:gd name="T67" fmla="*/ 216 h 566"/>
              <a:gd name="T68" fmla="*/ 441 w 578"/>
              <a:gd name="T69" fmla="*/ 131 h 566"/>
              <a:gd name="T70" fmla="*/ 397 w 578"/>
              <a:gd name="T71" fmla="*/ 108 h 566"/>
              <a:gd name="T72" fmla="*/ 394 w 578"/>
              <a:gd name="T73" fmla="*/ 197 h 566"/>
              <a:gd name="T74" fmla="*/ 313 w 578"/>
              <a:gd name="T75" fmla="*/ 112 h 566"/>
              <a:gd name="T76" fmla="*/ 354 w 578"/>
              <a:gd name="T77" fmla="*/ 31 h 566"/>
              <a:gd name="T78" fmla="*/ 353 w 578"/>
              <a:gd name="T79" fmla="*/ 28 h 566"/>
              <a:gd name="T80" fmla="*/ 189 w 578"/>
              <a:gd name="T81" fmla="*/ 50 h 566"/>
              <a:gd name="T82" fmla="*/ 50 w 578"/>
              <a:gd name="T83" fmla="*/ 314 h 566"/>
              <a:gd name="T84" fmla="*/ 50 w 578"/>
              <a:gd name="T85" fmla="*/ 314 h 566"/>
              <a:gd name="T86" fmla="*/ 376 w 578"/>
              <a:gd name="T87" fmla="*/ 527 h 566"/>
              <a:gd name="T88" fmla="*/ 247 w 578"/>
              <a:gd name="T89" fmla="*/ 401 h 566"/>
              <a:gd name="T90" fmla="*/ 568 w 578"/>
              <a:gd name="T91" fmla="*/ 203 h 566"/>
              <a:gd name="T92" fmla="*/ 477 w 578"/>
              <a:gd name="T93" fmla="*/ 211 h 566"/>
              <a:gd name="T94" fmla="*/ 477 w 578"/>
              <a:gd name="T95" fmla="*/ 211 h 566"/>
              <a:gd name="T96" fmla="*/ 182 w 578"/>
              <a:gd name="T97" fmla="*/ 218 h 566"/>
              <a:gd name="T98" fmla="*/ 160 w 578"/>
              <a:gd name="T99" fmla="*/ 286 h 566"/>
              <a:gd name="T100" fmla="*/ 288 w 578"/>
              <a:gd name="T101" fmla="*/ 158 h 566"/>
              <a:gd name="T102" fmla="*/ 262 w 578"/>
              <a:gd name="T103" fmla="*/ 218 h 566"/>
              <a:gd name="T104" fmla="*/ 295 w 578"/>
              <a:gd name="T105" fmla="*/ 85 h 566"/>
              <a:gd name="T106" fmla="*/ 220 w 578"/>
              <a:gd name="T107" fmla="*/ 169 h 566"/>
              <a:gd name="T108" fmla="*/ 173 w 578"/>
              <a:gd name="T109" fmla="*/ 72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78" h="566">
                <a:moveTo>
                  <a:pt x="143" y="58"/>
                </a:moveTo>
                <a:cubicBezTo>
                  <a:pt x="146" y="67"/>
                  <a:pt x="154" y="73"/>
                  <a:pt x="163" y="73"/>
                </a:cubicBezTo>
                <a:cubicBezTo>
                  <a:pt x="162" y="127"/>
                  <a:pt x="162" y="127"/>
                  <a:pt x="162" y="127"/>
                </a:cubicBezTo>
                <a:cubicBezTo>
                  <a:pt x="158" y="128"/>
                  <a:pt x="154" y="128"/>
                  <a:pt x="150" y="130"/>
                </a:cubicBezTo>
                <a:cubicBezTo>
                  <a:pt x="123" y="140"/>
                  <a:pt x="109" y="170"/>
                  <a:pt x="119" y="197"/>
                </a:cubicBezTo>
                <a:cubicBezTo>
                  <a:pt x="124" y="211"/>
                  <a:pt x="133" y="221"/>
                  <a:pt x="146" y="227"/>
                </a:cubicBezTo>
                <a:cubicBezTo>
                  <a:pt x="147" y="287"/>
                  <a:pt x="147" y="287"/>
                  <a:pt x="147" y="287"/>
                </a:cubicBezTo>
                <a:cubicBezTo>
                  <a:pt x="145" y="287"/>
                  <a:pt x="143" y="288"/>
                  <a:pt x="141" y="288"/>
                </a:cubicBezTo>
                <a:cubicBezTo>
                  <a:pt x="135" y="291"/>
                  <a:pt x="130" y="294"/>
                  <a:pt x="126" y="298"/>
                </a:cubicBezTo>
                <a:cubicBezTo>
                  <a:pt x="85" y="262"/>
                  <a:pt x="85" y="262"/>
                  <a:pt x="85" y="262"/>
                </a:cubicBezTo>
                <a:cubicBezTo>
                  <a:pt x="90" y="256"/>
                  <a:pt x="91" y="249"/>
                  <a:pt x="88" y="242"/>
                </a:cubicBezTo>
                <a:cubicBezTo>
                  <a:pt x="85" y="233"/>
                  <a:pt x="77" y="228"/>
                  <a:pt x="68" y="228"/>
                </a:cubicBezTo>
                <a:cubicBezTo>
                  <a:pt x="60" y="152"/>
                  <a:pt x="60" y="152"/>
                  <a:pt x="60" y="152"/>
                </a:cubicBezTo>
                <a:cubicBezTo>
                  <a:pt x="61" y="152"/>
                  <a:pt x="61" y="152"/>
                  <a:pt x="62" y="152"/>
                </a:cubicBezTo>
                <a:cubicBezTo>
                  <a:pt x="70" y="149"/>
                  <a:pt x="75" y="139"/>
                  <a:pt x="72" y="131"/>
                </a:cubicBezTo>
                <a:cubicBezTo>
                  <a:pt x="69" y="122"/>
                  <a:pt x="59" y="118"/>
                  <a:pt x="51" y="121"/>
                </a:cubicBezTo>
                <a:cubicBezTo>
                  <a:pt x="42" y="124"/>
                  <a:pt x="38" y="133"/>
                  <a:pt x="41" y="142"/>
                </a:cubicBezTo>
                <a:cubicBezTo>
                  <a:pt x="43" y="149"/>
                  <a:pt x="49" y="153"/>
                  <a:pt x="56" y="153"/>
                </a:cubicBezTo>
                <a:cubicBezTo>
                  <a:pt x="64" y="229"/>
                  <a:pt x="64" y="229"/>
                  <a:pt x="64" y="229"/>
                </a:cubicBezTo>
                <a:cubicBezTo>
                  <a:pt x="63" y="229"/>
                  <a:pt x="62" y="229"/>
                  <a:pt x="61" y="229"/>
                </a:cubicBezTo>
                <a:cubicBezTo>
                  <a:pt x="50" y="233"/>
                  <a:pt x="45" y="245"/>
                  <a:pt x="49" y="256"/>
                </a:cubicBezTo>
                <a:cubicBezTo>
                  <a:pt x="50" y="260"/>
                  <a:pt x="52" y="263"/>
                  <a:pt x="55" y="265"/>
                </a:cubicBezTo>
                <a:cubicBezTo>
                  <a:pt x="36" y="296"/>
                  <a:pt x="36" y="296"/>
                  <a:pt x="36" y="296"/>
                </a:cubicBezTo>
                <a:cubicBezTo>
                  <a:pt x="31" y="295"/>
                  <a:pt x="26" y="295"/>
                  <a:pt x="21" y="297"/>
                </a:cubicBezTo>
                <a:cubicBezTo>
                  <a:pt x="7" y="302"/>
                  <a:pt x="0" y="317"/>
                  <a:pt x="5" y="331"/>
                </a:cubicBezTo>
                <a:cubicBezTo>
                  <a:pt x="10" y="345"/>
                  <a:pt x="25" y="352"/>
                  <a:pt x="39" y="347"/>
                </a:cubicBezTo>
                <a:cubicBezTo>
                  <a:pt x="53" y="342"/>
                  <a:pt x="60" y="327"/>
                  <a:pt x="55" y="313"/>
                </a:cubicBezTo>
                <a:cubicBezTo>
                  <a:pt x="52" y="305"/>
                  <a:pt x="47" y="300"/>
                  <a:pt x="40" y="297"/>
                </a:cubicBezTo>
                <a:cubicBezTo>
                  <a:pt x="58" y="268"/>
                  <a:pt x="58" y="268"/>
                  <a:pt x="58" y="268"/>
                </a:cubicBezTo>
                <a:cubicBezTo>
                  <a:pt x="63" y="270"/>
                  <a:pt x="70" y="271"/>
                  <a:pt x="76" y="269"/>
                </a:cubicBezTo>
                <a:cubicBezTo>
                  <a:pt x="78" y="268"/>
                  <a:pt x="81" y="267"/>
                  <a:pt x="83" y="265"/>
                </a:cubicBezTo>
                <a:cubicBezTo>
                  <a:pt x="123" y="301"/>
                  <a:pt x="123" y="301"/>
                  <a:pt x="123" y="301"/>
                </a:cubicBezTo>
                <a:cubicBezTo>
                  <a:pt x="115" y="311"/>
                  <a:pt x="112" y="326"/>
                  <a:pt x="117" y="340"/>
                </a:cubicBezTo>
                <a:cubicBezTo>
                  <a:pt x="118" y="345"/>
                  <a:pt x="120" y="348"/>
                  <a:pt x="123" y="352"/>
                </a:cubicBezTo>
                <a:cubicBezTo>
                  <a:pt x="76" y="396"/>
                  <a:pt x="76" y="396"/>
                  <a:pt x="76" y="396"/>
                </a:cubicBezTo>
                <a:cubicBezTo>
                  <a:pt x="70" y="392"/>
                  <a:pt x="62" y="391"/>
                  <a:pt x="55" y="393"/>
                </a:cubicBezTo>
                <a:cubicBezTo>
                  <a:pt x="43" y="398"/>
                  <a:pt x="37" y="411"/>
                  <a:pt x="42" y="423"/>
                </a:cubicBezTo>
                <a:cubicBezTo>
                  <a:pt x="46" y="435"/>
                  <a:pt x="59" y="441"/>
                  <a:pt x="71" y="437"/>
                </a:cubicBezTo>
                <a:cubicBezTo>
                  <a:pt x="83" y="432"/>
                  <a:pt x="89" y="419"/>
                  <a:pt x="85" y="407"/>
                </a:cubicBezTo>
                <a:cubicBezTo>
                  <a:pt x="84" y="404"/>
                  <a:pt x="82" y="402"/>
                  <a:pt x="80" y="400"/>
                </a:cubicBezTo>
                <a:cubicBezTo>
                  <a:pt x="127" y="356"/>
                  <a:pt x="127" y="356"/>
                  <a:pt x="127" y="356"/>
                </a:cubicBezTo>
                <a:cubicBezTo>
                  <a:pt x="138" y="366"/>
                  <a:pt x="154" y="370"/>
                  <a:pt x="168" y="365"/>
                </a:cubicBezTo>
                <a:cubicBezTo>
                  <a:pt x="188" y="358"/>
                  <a:pt x="198" y="338"/>
                  <a:pt x="195" y="319"/>
                </a:cubicBezTo>
                <a:cubicBezTo>
                  <a:pt x="225" y="308"/>
                  <a:pt x="225" y="308"/>
                  <a:pt x="225" y="308"/>
                </a:cubicBezTo>
                <a:cubicBezTo>
                  <a:pt x="239" y="339"/>
                  <a:pt x="274" y="354"/>
                  <a:pt x="307" y="342"/>
                </a:cubicBezTo>
                <a:cubicBezTo>
                  <a:pt x="319" y="338"/>
                  <a:pt x="330" y="330"/>
                  <a:pt x="337" y="320"/>
                </a:cubicBezTo>
                <a:cubicBezTo>
                  <a:pt x="360" y="335"/>
                  <a:pt x="360" y="335"/>
                  <a:pt x="360" y="335"/>
                </a:cubicBezTo>
                <a:cubicBezTo>
                  <a:pt x="357" y="344"/>
                  <a:pt x="357" y="353"/>
                  <a:pt x="360" y="362"/>
                </a:cubicBezTo>
                <a:cubicBezTo>
                  <a:pt x="361" y="365"/>
                  <a:pt x="362" y="367"/>
                  <a:pt x="363" y="369"/>
                </a:cubicBezTo>
                <a:cubicBezTo>
                  <a:pt x="301" y="405"/>
                  <a:pt x="301" y="405"/>
                  <a:pt x="301" y="405"/>
                </a:cubicBezTo>
                <a:cubicBezTo>
                  <a:pt x="287" y="389"/>
                  <a:pt x="264" y="382"/>
                  <a:pt x="243" y="390"/>
                </a:cubicBezTo>
                <a:cubicBezTo>
                  <a:pt x="217" y="399"/>
                  <a:pt x="203" y="427"/>
                  <a:pt x="210" y="454"/>
                </a:cubicBezTo>
                <a:cubicBezTo>
                  <a:pt x="173" y="463"/>
                  <a:pt x="173" y="463"/>
                  <a:pt x="173" y="463"/>
                </a:cubicBezTo>
                <a:cubicBezTo>
                  <a:pt x="167" y="447"/>
                  <a:pt x="148" y="438"/>
                  <a:pt x="132" y="444"/>
                </a:cubicBezTo>
                <a:cubicBezTo>
                  <a:pt x="115" y="450"/>
                  <a:pt x="107" y="468"/>
                  <a:pt x="113" y="485"/>
                </a:cubicBezTo>
                <a:cubicBezTo>
                  <a:pt x="119" y="501"/>
                  <a:pt x="137" y="510"/>
                  <a:pt x="153" y="504"/>
                </a:cubicBezTo>
                <a:cubicBezTo>
                  <a:pt x="161" y="501"/>
                  <a:pt x="166" y="496"/>
                  <a:pt x="170" y="490"/>
                </a:cubicBezTo>
                <a:cubicBezTo>
                  <a:pt x="279" y="546"/>
                  <a:pt x="279" y="546"/>
                  <a:pt x="279" y="546"/>
                </a:cubicBezTo>
                <a:cubicBezTo>
                  <a:pt x="278" y="549"/>
                  <a:pt x="278" y="552"/>
                  <a:pt x="279" y="555"/>
                </a:cubicBezTo>
                <a:cubicBezTo>
                  <a:pt x="282" y="562"/>
                  <a:pt x="290" y="566"/>
                  <a:pt x="297" y="563"/>
                </a:cubicBezTo>
                <a:cubicBezTo>
                  <a:pt x="303" y="561"/>
                  <a:pt x="307" y="553"/>
                  <a:pt x="305" y="546"/>
                </a:cubicBezTo>
                <a:cubicBezTo>
                  <a:pt x="302" y="539"/>
                  <a:pt x="294" y="535"/>
                  <a:pt x="288" y="538"/>
                </a:cubicBezTo>
                <a:cubicBezTo>
                  <a:pt x="285" y="539"/>
                  <a:pt x="283" y="541"/>
                  <a:pt x="281" y="543"/>
                </a:cubicBezTo>
                <a:cubicBezTo>
                  <a:pt x="172" y="487"/>
                  <a:pt x="172" y="487"/>
                  <a:pt x="172" y="487"/>
                </a:cubicBezTo>
                <a:cubicBezTo>
                  <a:pt x="174" y="481"/>
                  <a:pt x="175" y="475"/>
                  <a:pt x="174" y="469"/>
                </a:cubicBezTo>
                <a:cubicBezTo>
                  <a:pt x="212" y="459"/>
                  <a:pt x="212" y="459"/>
                  <a:pt x="212" y="459"/>
                </a:cubicBezTo>
                <a:cubicBezTo>
                  <a:pt x="223" y="485"/>
                  <a:pt x="252" y="498"/>
                  <a:pt x="279" y="489"/>
                </a:cubicBezTo>
                <a:cubicBezTo>
                  <a:pt x="296" y="483"/>
                  <a:pt x="308" y="469"/>
                  <a:pt x="312" y="453"/>
                </a:cubicBezTo>
                <a:cubicBezTo>
                  <a:pt x="367" y="458"/>
                  <a:pt x="367" y="458"/>
                  <a:pt x="367" y="458"/>
                </a:cubicBezTo>
                <a:cubicBezTo>
                  <a:pt x="364" y="464"/>
                  <a:pt x="363" y="471"/>
                  <a:pt x="365" y="478"/>
                </a:cubicBezTo>
                <a:cubicBezTo>
                  <a:pt x="367" y="483"/>
                  <a:pt x="371" y="487"/>
                  <a:pt x="375" y="490"/>
                </a:cubicBezTo>
                <a:cubicBezTo>
                  <a:pt x="366" y="510"/>
                  <a:pt x="366" y="510"/>
                  <a:pt x="366" y="510"/>
                </a:cubicBezTo>
                <a:cubicBezTo>
                  <a:pt x="360" y="507"/>
                  <a:pt x="353" y="507"/>
                  <a:pt x="347" y="509"/>
                </a:cubicBezTo>
                <a:cubicBezTo>
                  <a:pt x="333" y="514"/>
                  <a:pt x="326" y="529"/>
                  <a:pt x="331" y="543"/>
                </a:cubicBezTo>
                <a:cubicBezTo>
                  <a:pt x="335" y="557"/>
                  <a:pt x="351" y="564"/>
                  <a:pt x="365" y="559"/>
                </a:cubicBezTo>
                <a:cubicBezTo>
                  <a:pt x="378" y="554"/>
                  <a:pt x="386" y="539"/>
                  <a:pt x="381" y="525"/>
                </a:cubicBezTo>
                <a:cubicBezTo>
                  <a:pt x="379" y="519"/>
                  <a:pt x="375" y="515"/>
                  <a:pt x="370" y="512"/>
                </a:cubicBezTo>
                <a:cubicBezTo>
                  <a:pt x="378" y="492"/>
                  <a:pt x="378" y="492"/>
                  <a:pt x="378" y="492"/>
                </a:cubicBezTo>
                <a:cubicBezTo>
                  <a:pt x="384" y="495"/>
                  <a:pt x="391" y="496"/>
                  <a:pt x="398" y="493"/>
                </a:cubicBezTo>
                <a:cubicBezTo>
                  <a:pt x="411" y="489"/>
                  <a:pt x="418" y="474"/>
                  <a:pt x="413" y="461"/>
                </a:cubicBezTo>
                <a:cubicBezTo>
                  <a:pt x="408" y="448"/>
                  <a:pt x="394" y="441"/>
                  <a:pt x="381" y="446"/>
                </a:cubicBezTo>
                <a:cubicBezTo>
                  <a:pt x="376" y="448"/>
                  <a:pt x="372" y="451"/>
                  <a:pt x="369" y="455"/>
                </a:cubicBezTo>
                <a:cubicBezTo>
                  <a:pt x="313" y="449"/>
                  <a:pt x="313" y="449"/>
                  <a:pt x="313" y="449"/>
                </a:cubicBezTo>
                <a:cubicBezTo>
                  <a:pt x="315" y="440"/>
                  <a:pt x="314" y="431"/>
                  <a:pt x="311" y="422"/>
                </a:cubicBezTo>
                <a:cubicBezTo>
                  <a:pt x="310" y="419"/>
                  <a:pt x="309" y="417"/>
                  <a:pt x="308" y="415"/>
                </a:cubicBezTo>
                <a:cubicBezTo>
                  <a:pt x="371" y="379"/>
                  <a:pt x="371" y="379"/>
                  <a:pt x="371" y="379"/>
                </a:cubicBezTo>
                <a:cubicBezTo>
                  <a:pt x="382" y="388"/>
                  <a:pt x="397" y="392"/>
                  <a:pt x="412" y="387"/>
                </a:cubicBezTo>
                <a:cubicBezTo>
                  <a:pt x="415" y="386"/>
                  <a:pt x="419" y="384"/>
                  <a:pt x="421" y="382"/>
                </a:cubicBezTo>
                <a:cubicBezTo>
                  <a:pt x="466" y="436"/>
                  <a:pt x="466" y="436"/>
                  <a:pt x="466" y="436"/>
                </a:cubicBezTo>
                <a:cubicBezTo>
                  <a:pt x="460" y="444"/>
                  <a:pt x="457" y="454"/>
                  <a:pt x="461" y="464"/>
                </a:cubicBezTo>
                <a:cubicBezTo>
                  <a:pt x="466" y="479"/>
                  <a:pt x="482" y="486"/>
                  <a:pt x="497" y="481"/>
                </a:cubicBezTo>
                <a:cubicBezTo>
                  <a:pt x="512" y="476"/>
                  <a:pt x="520" y="460"/>
                  <a:pt x="514" y="445"/>
                </a:cubicBezTo>
                <a:cubicBezTo>
                  <a:pt x="509" y="430"/>
                  <a:pt x="493" y="422"/>
                  <a:pt x="478" y="428"/>
                </a:cubicBezTo>
                <a:cubicBezTo>
                  <a:pt x="475" y="429"/>
                  <a:pt x="473" y="430"/>
                  <a:pt x="470" y="432"/>
                </a:cubicBezTo>
                <a:cubicBezTo>
                  <a:pt x="426" y="378"/>
                  <a:pt x="426" y="378"/>
                  <a:pt x="426" y="378"/>
                </a:cubicBezTo>
                <a:cubicBezTo>
                  <a:pt x="432" y="373"/>
                  <a:pt x="436" y="366"/>
                  <a:pt x="437" y="359"/>
                </a:cubicBezTo>
                <a:cubicBezTo>
                  <a:pt x="476" y="369"/>
                  <a:pt x="476" y="369"/>
                  <a:pt x="476" y="369"/>
                </a:cubicBezTo>
                <a:cubicBezTo>
                  <a:pt x="476" y="371"/>
                  <a:pt x="476" y="373"/>
                  <a:pt x="477" y="375"/>
                </a:cubicBezTo>
                <a:cubicBezTo>
                  <a:pt x="479" y="381"/>
                  <a:pt x="486" y="385"/>
                  <a:pt x="493" y="382"/>
                </a:cubicBezTo>
                <a:cubicBezTo>
                  <a:pt x="499" y="380"/>
                  <a:pt x="502" y="373"/>
                  <a:pt x="500" y="367"/>
                </a:cubicBezTo>
                <a:cubicBezTo>
                  <a:pt x="498" y="360"/>
                  <a:pt x="491" y="357"/>
                  <a:pt x="485" y="359"/>
                </a:cubicBezTo>
                <a:cubicBezTo>
                  <a:pt x="481" y="361"/>
                  <a:pt x="479" y="363"/>
                  <a:pt x="477" y="366"/>
                </a:cubicBezTo>
                <a:cubicBezTo>
                  <a:pt x="438" y="355"/>
                  <a:pt x="438" y="355"/>
                  <a:pt x="438" y="355"/>
                </a:cubicBezTo>
                <a:cubicBezTo>
                  <a:pt x="439" y="349"/>
                  <a:pt x="439" y="342"/>
                  <a:pt x="436" y="335"/>
                </a:cubicBezTo>
                <a:cubicBezTo>
                  <a:pt x="436" y="334"/>
                  <a:pt x="435" y="332"/>
                  <a:pt x="435" y="331"/>
                </a:cubicBezTo>
                <a:cubicBezTo>
                  <a:pt x="465" y="321"/>
                  <a:pt x="465" y="321"/>
                  <a:pt x="465" y="321"/>
                </a:cubicBezTo>
                <a:cubicBezTo>
                  <a:pt x="468" y="327"/>
                  <a:pt x="475" y="331"/>
                  <a:pt x="482" y="328"/>
                </a:cubicBezTo>
                <a:cubicBezTo>
                  <a:pt x="485" y="327"/>
                  <a:pt x="488" y="325"/>
                  <a:pt x="489" y="322"/>
                </a:cubicBezTo>
                <a:cubicBezTo>
                  <a:pt x="514" y="331"/>
                  <a:pt x="514" y="331"/>
                  <a:pt x="514" y="331"/>
                </a:cubicBezTo>
                <a:cubicBezTo>
                  <a:pt x="513" y="337"/>
                  <a:pt x="513" y="343"/>
                  <a:pt x="515" y="349"/>
                </a:cubicBezTo>
                <a:cubicBezTo>
                  <a:pt x="521" y="364"/>
                  <a:pt x="538" y="373"/>
                  <a:pt x="554" y="367"/>
                </a:cubicBezTo>
                <a:cubicBezTo>
                  <a:pt x="569" y="361"/>
                  <a:pt x="578" y="344"/>
                  <a:pt x="572" y="328"/>
                </a:cubicBezTo>
                <a:cubicBezTo>
                  <a:pt x="566" y="312"/>
                  <a:pt x="549" y="304"/>
                  <a:pt x="533" y="310"/>
                </a:cubicBezTo>
                <a:cubicBezTo>
                  <a:pt x="525" y="313"/>
                  <a:pt x="518" y="320"/>
                  <a:pt x="515" y="328"/>
                </a:cubicBezTo>
                <a:cubicBezTo>
                  <a:pt x="490" y="318"/>
                  <a:pt x="490" y="318"/>
                  <a:pt x="490" y="318"/>
                </a:cubicBezTo>
                <a:cubicBezTo>
                  <a:pt x="491" y="316"/>
                  <a:pt x="491" y="314"/>
                  <a:pt x="490" y="311"/>
                </a:cubicBezTo>
                <a:cubicBezTo>
                  <a:pt x="487" y="304"/>
                  <a:pt x="480" y="301"/>
                  <a:pt x="473" y="303"/>
                </a:cubicBezTo>
                <a:cubicBezTo>
                  <a:pt x="467" y="305"/>
                  <a:pt x="463" y="312"/>
                  <a:pt x="464" y="318"/>
                </a:cubicBezTo>
                <a:cubicBezTo>
                  <a:pt x="433" y="328"/>
                  <a:pt x="433" y="328"/>
                  <a:pt x="433" y="328"/>
                </a:cubicBezTo>
                <a:cubicBezTo>
                  <a:pt x="423" y="312"/>
                  <a:pt x="403" y="304"/>
                  <a:pt x="385" y="311"/>
                </a:cubicBezTo>
                <a:cubicBezTo>
                  <a:pt x="377" y="313"/>
                  <a:pt x="370" y="318"/>
                  <a:pt x="366" y="325"/>
                </a:cubicBezTo>
                <a:cubicBezTo>
                  <a:pt x="343" y="309"/>
                  <a:pt x="343" y="309"/>
                  <a:pt x="343" y="309"/>
                </a:cubicBezTo>
                <a:cubicBezTo>
                  <a:pt x="351" y="294"/>
                  <a:pt x="353" y="276"/>
                  <a:pt x="347" y="258"/>
                </a:cubicBezTo>
                <a:cubicBezTo>
                  <a:pt x="340" y="241"/>
                  <a:pt x="328" y="227"/>
                  <a:pt x="312" y="220"/>
                </a:cubicBezTo>
                <a:cubicBezTo>
                  <a:pt x="321" y="191"/>
                  <a:pt x="321" y="191"/>
                  <a:pt x="321" y="191"/>
                </a:cubicBezTo>
                <a:cubicBezTo>
                  <a:pt x="328" y="191"/>
                  <a:pt x="334" y="191"/>
                  <a:pt x="341" y="189"/>
                </a:cubicBezTo>
                <a:cubicBezTo>
                  <a:pt x="348" y="186"/>
                  <a:pt x="353" y="182"/>
                  <a:pt x="358" y="177"/>
                </a:cubicBezTo>
                <a:cubicBezTo>
                  <a:pt x="391" y="202"/>
                  <a:pt x="391" y="202"/>
                  <a:pt x="391" y="202"/>
                </a:cubicBezTo>
                <a:cubicBezTo>
                  <a:pt x="385" y="214"/>
                  <a:pt x="384" y="229"/>
                  <a:pt x="389" y="243"/>
                </a:cubicBezTo>
                <a:cubicBezTo>
                  <a:pt x="399" y="270"/>
                  <a:pt x="429" y="284"/>
                  <a:pt x="456" y="275"/>
                </a:cubicBezTo>
                <a:cubicBezTo>
                  <a:pt x="478" y="267"/>
                  <a:pt x="492" y="245"/>
                  <a:pt x="491" y="223"/>
                </a:cubicBezTo>
                <a:cubicBezTo>
                  <a:pt x="523" y="220"/>
                  <a:pt x="523" y="220"/>
                  <a:pt x="523" y="220"/>
                </a:cubicBezTo>
                <a:cubicBezTo>
                  <a:pt x="528" y="233"/>
                  <a:pt x="543" y="240"/>
                  <a:pt x="556" y="235"/>
                </a:cubicBezTo>
                <a:cubicBezTo>
                  <a:pt x="570" y="230"/>
                  <a:pt x="577" y="215"/>
                  <a:pt x="573" y="201"/>
                </a:cubicBezTo>
                <a:cubicBezTo>
                  <a:pt x="568" y="187"/>
                  <a:pt x="552" y="180"/>
                  <a:pt x="539" y="185"/>
                </a:cubicBezTo>
                <a:cubicBezTo>
                  <a:pt x="525" y="189"/>
                  <a:pt x="518" y="203"/>
                  <a:pt x="522" y="216"/>
                </a:cubicBezTo>
                <a:cubicBezTo>
                  <a:pt x="491" y="219"/>
                  <a:pt x="491" y="219"/>
                  <a:pt x="491" y="219"/>
                </a:cubicBezTo>
                <a:cubicBezTo>
                  <a:pt x="490" y="215"/>
                  <a:pt x="490" y="211"/>
                  <a:pt x="488" y="207"/>
                </a:cubicBezTo>
                <a:cubicBezTo>
                  <a:pt x="481" y="188"/>
                  <a:pt x="464" y="175"/>
                  <a:pt x="445" y="173"/>
                </a:cubicBezTo>
                <a:cubicBezTo>
                  <a:pt x="441" y="131"/>
                  <a:pt x="441" y="131"/>
                  <a:pt x="441" y="131"/>
                </a:cubicBezTo>
                <a:cubicBezTo>
                  <a:pt x="442" y="131"/>
                  <a:pt x="443" y="131"/>
                  <a:pt x="444" y="130"/>
                </a:cubicBezTo>
                <a:cubicBezTo>
                  <a:pt x="463" y="124"/>
                  <a:pt x="472" y="103"/>
                  <a:pt x="466" y="84"/>
                </a:cubicBezTo>
                <a:cubicBezTo>
                  <a:pt x="459" y="65"/>
                  <a:pt x="438" y="55"/>
                  <a:pt x="419" y="62"/>
                </a:cubicBezTo>
                <a:cubicBezTo>
                  <a:pt x="400" y="68"/>
                  <a:pt x="390" y="89"/>
                  <a:pt x="397" y="108"/>
                </a:cubicBezTo>
                <a:cubicBezTo>
                  <a:pt x="402" y="122"/>
                  <a:pt x="415" y="131"/>
                  <a:pt x="429" y="132"/>
                </a:cubicBezTo>
                <a:cubicBezTo>
                  <a:pt x="432" y="173"/>
                  <a:pt x="432" y="173"/>
                  <a:pt x="432" y="173"/>
                </a:cubicBezTo>
                <a:cubicBezTo>
                  <a:pt x="429" y="173"/>
                  <a:pt x="425" y="174"/>
                  <a:pt x="421" y="175"/>
                </a:cubicBezTo>
                <a:cubicBezTo>
                  <a:pt x="409" y="180"/>
                  <a:pt x="400" y="187"/>
                  <a:pt x="394" y="197"/>
                </a:cubicBezTo>
                <a:cubicBezTo>
                  <a:pt x="362" y="172"/>
                  <a:pt x="362" y="172"/>
                  <a:pt x="362" y="172"/>
                </a:cubicBezTo>
                <a:cubicBezTo>
                  <a:pt x="368" y="162"/>
                  <a:pt x="370" y="149"/>
                  <a:pt x="365" y="137"/>
                </a:cubicBezTo>
                <a:cubicBezTo>
                  <a:pt x="358" y="116"/>
                  <a:pt x="335" y="105"/>
                  <a:pt x="314" y="112"/>
                </a:cubicBezTo>
                <a:cubicBezTo>
                  <a:pt x="314" y="112"/>
                  <a:pt x="313" y="112"/>
                  <a:pt x="313" y="112"/>
                </a:cubicBezTo>
                <a:cubicBezTo>
                  <a:pt x="302" y="81"/>
                  <a:pt x="302" y="81"/>
                  <a:pt x="302" y="81"/>
                </a:cubicBezTo>
                <a:cubicBezTo>
                  <a:pt x="311" y="74"/>
                  <a:pt x="315" y="62"/>
                  <a:pt x="311" y="51"/>
                </a:cubicBezTo>
                <a:cubicBezTo>
                  <a:pt x="311" y="51"/>
                  <a:pt x="311" y="51"/>
                  <a:pt x="311" y="51"/>
                </a:cubicBezTo>
                <a:cubicBezTo>
                  <a:pt x="354" y="31"/>
                  <a:pt x="354" y="31"/>
                  <a:pt x="354" y="31"/>
                </a:cubicBezTo>
                <a:cubicBezTo>
                  <a:pt x="359" y="39"/>
                  <a:pt x="368" y="42"/>
                  <a:pt x="377" y="39"/>
                </a:cubicBezTo>
                <a:cubicBezTo>
                  <a:pt x="387" y="36"/>
                  <a:pt x="392" y="25"/>
                  <a:pt x="388" y="15"/>
                </a:cubicBezTo>
                <a:cubicBezTo>
                  <a:pt x="385" y="5"/>
                  <a:pt x="374" y="0"/>
                  <a:pt x="364" y="4"/>
                </a:cubicBezTo>
                <a:cubicBezTo>
                  <a:pt x="355" y="7"/>
                  <a:pt x="350" y="18"/>
                  <a:pt x="353" y="28"/>
                </a:cubicBezTo>
                <a:cubicBezTo>
                  <a:pt x="309" y="47"/>
                  <a:pt x="309" y="47"/>
                  <a:pt x="309" y="47"/>
                </a:cubicBezTo>
                <a:cubicBezTo>
                  <a:pt x="303" y="36"/>
                  <a:pt x="290" y="31"/>
                  <a:pt x="277" y="35"/>
                </a:cubicBezTo>
                <a:cubicBezTo>
                  <a:pt x="268" y="38"/>
                  <a:pt x="262" y="47"/>
                  <a:pt x="260" y="56"/>
                </a:cubicBezTo>
                <a:cubicBezTo>
                  <a:pt x="189" y="50"/>
                  <a:pt x="189" y="50"/>
                  <a:pt x="189" y="50"/>
                </a:cubicBezTo>
                <a:cubicBezTo>
                  <a:pt x="189" y="47"/>
                  <a:pt x="189" y="44"/>
                  <a:pt x="188" y="42"/>
                </a:cubicBezTo>
                <a:cubicBezTo>
                  <a:pt x="183" y="29"/>
                  <a:pt x="170" y="23"/>
                  <a:pt x="157" y="27"/>
                </a:cubicBezTo>
                <a:cubicBezTo>
                  <a:pt x="145" y="32"/>
                  <a:pt x="138" y="45"/>
                  <a:pt x="143" y="58"/>
                </a:cubicBezTo>
                <a:close/>
                <a:moveTo>
                  <a:pt x="50" y="314"/>
                </a:moveTo>
                <a:cubicBezTo>
                  <a:pt x="54" y="326"/>
                  <a:pt x="48" y="338"/>
                  <a:pt x="37" y="342"/>
                </a:cubicBezTo>
                <a:cubicBezTo>
                  <a:pt x="26" y="346"/>
                  <a:pt x="13" y="340"/>
                  <a:pt x="9" y="329"/>
                </a:cubicBezTo>
                <a:cubicBezTo>
                  <a:pt x="5" y="318"/>
                  <a:pt x="11" y="305"/>
                  <a:pt x="23" y="301"/>
                </a:cubicBezTo>
                <a:cubicBezTo>
                  <a:pt x="34" y="297"/>
                  <a:pt x="46" y="303"/>
                  <a:pt x="50" y="314"/>
                </a:cubicBezTo>
                <a:close/>
                <a:moveTo>
                  <a:pt x="363" y="555"/>
                </a:moveTo>
                <a:cubicBezTo>
                  <a:pt x="352" y="559"/>
                  <a:pt x="339" y="553"/>
                  <a:pt x="335" y="542"/>
                </a:cubicBezTo>
                <a:cubicBezTo>
                  <a:pt x="331" y="530"/>
                  <a:pt x="337" y="518"/>
                  <a:pt x="348" y="514"/>
                </a:cubicBezTo>
                <a:cubicBezTo>
                  <a:pt x="360" y="510"/>
                  <a:pt x="372" y="516"/>
                  <a:pt x="376" y="527"/>
                </a:cubicBezTo>
                <a:cubicBezTo>
                  <a:pt x="380" y="538"/>
                  <a:pt x="374" y="551"/>
                  <a:pt x="363" y="555"/>
                </a:cubicBezTo>
                <a:close/>
                <a:moveTo>
                  <a:pt x="275" y="477"/>
                </a:moveTo>
                <a:cubicBezTo>
                  <a:pt x="254" y="485"/>
                  <a:pt x="231" y="474"/>
                  <a:pt x="223" y="453"/>
                </a:cubicBezTo>
                <a:cubicBezTo>
                  <a:pt x="215" y="432"/>
                  <a:pt x="226" y="409"/>
                  <a:pt x="247" y="401"/>
                </a:cubicBezTo>
                <a:cubicBezTo>
                  <a:pt x="269" y="394"/>
                  <a:pt x="292" y="405"/>
                  <a:pt x="299" y="426"/>
                </a:cubicBezTo>
                <a:cubicBezTo>
                  <a:pt x="307" y="447"/>
                  <a:pt x="296" y="470"/>
                  <a:pt x="275" y="477"/>
                </a:cubicBezTo>
                <a:close/>
                <a:moveTo>
                  <a:pt x="540" y="189"/>
                </a:moveTo>
                <a:cubicBezTo>
                  <a:pt x="551" y="185"/>
                  <a:pt x="564" y="191"/>
                  <a:pt x="568" y="203"/>
                </a:cubicBezTo>
                <a:cubicBezTo>
                  <a:pt x="572" y="214"/>
                  <a:pt x="566" y="226"/>
                  <a:pt x="555" y="230"/>
                </a:cubicBezTo>
                <a:cubicBezTo>
                  <a:pt x="543" y="234"/>
                  <a:pt x="531" y="229"/>
                  <a:pt x="527" y="217"/>
                </a:cubicBezTo>
                <a:cubicBezTo>
                  <a:pt x="523" y="206"/>
                  <a:pt x="529" y="193"/>
                  <a:pt x="540" y="189"/>
                </a:cubicBezTo>
                <a:close/>
                <a:moveTo>
                  <a:pt x="477" y="211"/>
                </a:moveTo>
                <a:cubicBezTo>
                  <a:pt x="484" y="232"/>
                  <a:pt x="473" y="256"/>
                  <a:pt x="452" y="263"/>
                </a:cubicBezTo>
                <a:cubicBezTo>
                  <a:pt x="431" y="271"/>
                  <a:pt x="408" y="260"/>
                  <a:pt x="400" y="239"/>
                </a:cubicBezTo>
                <a:cubicBezTo>
                  <a:pt x="393" y="218"/>
                  <a:pt x="404" y="194"/>
                  <a:pt x="425" y="187"/>
                </a:cubicBezTo>
                <a:cubicBezTo>
                  <a:pt x="446" y="179"/>
                  <a:pt x="469" y="190"/>
                  <a:pt x="477" y="211"/>
                </a:cubicBezTo>
                <a:close/>
                <a:moveTo>
                  <a:pt x="130" y="193"/>
                </a:moveTo>
                <a:cubicBezTo>
                  <a:pt x="123" y="172"/>
                  <a:pt x="134" y="149"/>
                  <a:pt x="155" y="141"/>
                </a:cubicBezTo>
                <a:cubicBezTo>
                  <a:pt x="176" y="134"/>
                  <a:pt x="199" y="145"/>
                  <a:pt x="206" y="166"/>
                </a:cubicBezTo>
                <a:cubicBezTo>
                  <a:pt x="214" y="187"/>
                  <a:pt x="203" y="210"/>
                  <a:pt x="182" y="218"/>
                </a:cubicBezTo>
                <a:cubicBezTo>
                  <a:pt x="161" y="225"/>
                  <a:pt x="138" y="214"/>
                  <a:pt x="130" y="193"/>
                </a:cubicBezTo>
                <a:close/>
                <a:moveTo>
                  <a:pt x="221" y="297"/>
                </a:moveTo>
                <a:cubicBezTo>
                  <a:pt x="190" y="307"/>
                  <a:pt x="190" y="307"/>
                  <a:pt x="190" y="307"/>
                </a:cubicBezTo>
                <a:cubicBezTo>
                  <a:pt x="184" y="295"/>
                  <a:pt x="172" y="288"/>
                  <a:pt x="160" y="286"/>
                </a:cubicBezTo>
                <a:cubicBezTo>
                  <a:pt x="158" y="231"/>
                  <a:pt x="158" y="231"/>
                  <a:pt x="158" y="231"/>
                </a:cubicBezTo>
                <a:cubicBezTo>
                  <a:pt x="167" y="233"/>
                  <a:pt x="177" y="232"/>
                  <a:pt x="186" y="229"/>
                </a:cubicBezTo>
                <a:cubicBezTo>
                  <a:pt x="209" y="221"/>
                  <a:pt x="223" y="198"/>
                  <a:pt x="221" y="175"/>
                </a:cubicBezTo>
                <a:cubicBezTo>
                  <a:pt x="288" y="158"/>
                  <a:pt x="288" y="158"/>
                  <a:pt x="288" y="158"/>
                </a:cubicBezTo>
                <a:cubicBezTo>
                  <a:pt x="288" y="160"/>
                  <a:pt x="288" y="162"/>
                  <a:pt x="289" y="164"/>
                </a:cubicBezTo>
                <a:cubicBezTo>
                  <a:pt x="293" y="175"/>
                  <a:pt x="300" y="182"/>
                  <a:pt x="310" y="187"/>
                </a:cubicBezTo>
                <a:cubicBezTo>
                  <a:pt x="301" y="216"/>
                  <a:pt x="301" y="216"/>
                  <a:pt x="301" y="216"/>
                </a:cubicBezTo>
                <a:cubicBezTo>
                  <a:pt x="288" y="213"/>
                  <a:pt x="275" y="213"/>
                  <a:pt x="262" y="218"/>
                </a:cubicBezTo>
                <a:cubicBezTo>
                  <a:pt x="230" y="230"/>
                  <a:pt x="212" y="264"/>
                  <a:pt x="221" y="297"/>
                </a:cubicBezTo>
                <a:close/>
                <a:moveTo>
                  <a:pt x="260" y="59"/>
                </a:moveTo>
                <a:cubicBezTo>
                  <a:pt x="260" y="62"/>
                  <a:pt x="260" y="66"/>
                  <a:pt x="261" y="69"/>
                </a:cubicBezTo>
                <a:cubicBezTo>
                  <a:pt x="266" y="82"/>
                  <a:pt x="281" y="89"/>
                  <a:pt x="295" y="85"/>
                </a:cubicBezTo>
                <a:cubicBezTo>
                  <a:pt x="296" y="84"/>
                  <a:pt x="296" y="84"/>
                  <a:pt x="297" y="84"/>
                </a:cubicBezTo>
                <a:cubicBezTo>
                  <a:pt x="308" y="115"/>
                  <a:pt x="308" y="115"/>
                  <a:pt x="308" y="115"/>
                </a:cubicBezTo>
                <a:cubicBezTo>
                  <a:pt x="294" y="122"/>
                  <a:pt x="286" y="137"/>
                  <a:pt x="287" y="152"/>
                </a:cubicBezTo>
                <a:cubicBezTo>
                  <a:pt x="220" y="169"/>
                  <a:pt x="220" y="169"/>
                  <a:pt x="220" y="169"/>
                </a:cubicBezTo>
                <a:cubicBezTo>
                  <a:pt x="219" y="166"/>
                  <a:pt x="219" y="164"/>
                  <a:pt x="218" y="162"/>
                </a:cubicBezTo>
                <a:cubicBezTo>
                  <a:pt x="210" y="139"/>
                  <a:pt x="188" y="126"/>
                  <a:pt x="166" y="127"/>
                </a:cubicBezTo>
                <a:cubicBezTo>
                  <a:pt x="167" y="74"/>
                  <a:pt x="167" y="74"/>
                  <a:pt x="167" y="74"/>
                </a:cubicBezTo>
                <a:cubicBezTo>
                  <a:pt x="169" y="73"/>
                  <a:pt x="171" y="73"/>
                  <a:pt x="173" y="72"/>
                </a:cubicBezTo>
                <a:cubicBezTo>
                  <a:pt x="182" y="69"/>
                  <a:pt x="187" y="62"/>
                  <a:pt x="189" y="54"/>
                </a:cubicBezTo>
                <a:lnTo>
                  <a:pt x="260" y="5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206750" y="1724025"/>
            <a:ext cx="579438" cy="625475"/>
            <a:chOff x="6242320" y="1105727"/>
            <a:chExt cx="579005" cy="626656"/>
          </a:xfrm>
        </p:grpSpPr>
        <p:sp>
          <p:nvSpPr>
            <p:cNvPr id="38923" name="TextBox 6"/>
            <p:cNvSpPr txBox="1"/>
            <p:nvPr/>
          </p:nvSpPr>
          <p:spPr>
            <a:xfrm>
              <a:off x="6327224" y="1105727"/>
              <a:ext cx="448425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eaLnBrk="1" hangingPunct="1">
                <a:lnSpc>
                  <a:spcPct val="100000"/>
                </a:lnSpc>
              </a:pPr>
              <a:r>
                <a:rPr lang="en-US" altLang="zh-CN" sz="3200" dirty="0">
                  <a:solidFill>
                    <a:srgbClr val="FF0000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924" name="文本框 22"/>
            <p:cNvSpPr txBox="1"/>
            <p:nvPr/>
          </p:nvSpPr>
          <p:spPr>
            <a:xfrm>
              <a:off x="6242320" y="1516939"/>
              <a:ext cx="579005" cy="215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eaLnBrk="1" hangingPunct="1">
                <a:lnSpc>
                  <a:spcPct val="100000"/>
                </a:lnSpc>
              </a:pPr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ea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ea typeface="Leelawadee" panose="020B0502040204020203" pitchFamily="34" charset="-3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8" grpId="0" build="p"/>
      <p:bldP spid="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555340" y="2268917"/>
            <a:ext cx="2161649" cy="781623"/>
            <a:chOff x="3774" y="1092"/>
            <a:chExt cx="1064" cy="1084"/>
          </a:xfrm>
          <a:solidFill>
            <a:srgbClr val="6C4C8F"/>
          </a:solidFill>
        </p:grpSpPr>
        <p:sp>
          <p:nvSpPr>
            <p:cNvPr id="35842" name="Oval 3"/>
            <p:cNvSpPr>
              <a:spLocks noChangeArrowheads="1"/>
            </p:cNvSpPr>
            <p:nvPr/>
          </p:nvSpPr>
          <p:spPr bwMode="auto">
            <a:xfrm>
              <a:off x="3774" y="1147"/>
              <a:ext cx="164" cy="463"/>
            </a:xfrm>
            <a:prstGeom prst="ellipse">
              <a:avLst/>
            </a:prstGeom>
            <a:grpFill/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43" name="Oval 4"/>
            <p:cNvSpPr>
              <a:spLocks noChangeArrowheads="1"/>
            </p:cNvSpPr>
            <p:nvPr/>
          </p:nvSpPr>
          <p:spPr bwMode="auto">
            <a:xfrm>
              <a:off x="4096" y="1092"/>
              <a:ext cx="164" cy="463"/>
            </a:xfrm>
            <a:prstGeom prst="ellipse">
              <a:avLst/>
            </a:prstGeom>
            <a:grpFill/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44" name="Oval 5"/>
            <p:cNvSpPr>
              <a:spLocks noChangeArrowheads="1"/>
            </p:cNvSpPr>
            <p:nvPr/>
          </p:nvSpPr>
          <p:spPr bwMode="auto">
            <a:xfrm>
              <a:off x="4025" y="1713"/>
              <a:ext cx="164" cy="463"/>
            </a:xfrm>
            <a:prstGeom prst="ellipse">
              <a:avLst/>
            </a:prstGeom>
            <a:grpFill/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45" name="Oval 6"/>
            <p:cNvSpPr>
              <a:spLocks noChangeArrowheads="1"/>
            </p:cNvSpPr>
            <p:nvPr/>
          </p:nvSpPr>
          <p:spPr bwMode="auto">
            <a:xfrm>
              <a:off x="4373" y="1236"/>
              <a:ext cx="164" cy="463"/>
            </a:xfrm>
            <a:prstGeom prst="ellipse">
              <a:avLst/>
            </a:prstGeom>
            <a:grpFill/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46" name="Oval 7"/>
            <p:cNvSpPr>
              <a:spLocks noChangeArrowheads="1"/>
            </p:cNvSpPr>
            <p:nvPr/>
          </p:nvSpPr>
          <p:spPr bwMode="auto">
            <a:xfrm>
              <a:off x="4674" y="1225"/>
              <a:ext cx="164" cy="463"/>
            </a:xfrm>
            <a:prstGeom prst="ellipse">
              <a:avLst/>
            </a:prstGeom>
            <a:grpFill/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6623607" y="3818028"/>
            <a:ext cx="2196865" cy="262009"/>
            <a:chOff x="3056" y="1935"/>
            <a:chExt cx="1449" cy="463"/>
          </a:xfrm>
          <a:solidFill>
            <a:srgbClr val="3333CC"/>
          </a:solidFill>
        </p:grpSpPr>
        <p:sp>
          <p:nvSpPr>
            <p:cNvPr id="35848" name="Oval 9"/>
            <p:cNvSpPr>
              <a:spLocks noChangeArrowheads="1"/>
            </p:cNvSpPr>
            <p:nvPr/>
          </p:nvSpPr>
          <p:spPr bwMode="auto">
            <a:xfrm>
              <a:off x="3056" y="1935"/>
              <a:ext cx="164" cy="463"/>
            </a:xfrm>
            <a:prstGeom prst="ellips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49" name="Oval 10"/>
            <p:cNvSpPr>
              <a:spLocks noChangeArrowheads="1"/>
            </p:cNvSpPr>
            <p:nvPr/>
          </p:nvSpPr>
          <p:spPr bwMode="auto">
            <a:xfrm>
              <a:off x="3474" y="1935"/>
              <a:ext cx="164" cy="463"/>
            </a:xfrm>
            <a:prstGeom prst="ellips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50" name="Oval 11"/>
            <p:cNvSpPr>
              <a:spLocks noChangeArrowheads="1"/>
            </p:cNvSpPr>
            <p:nvPr/>
          </p:nvSpPr>
          <p:spPr bwMode="auto">
            <a:xfrm>
              <a:off x="3919" y="1935"/>
              <a:ext cx="164" cy="463"/>
            </a:xfrm>
            <a:prstGeom prst="ellips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51" name="Oval 12"/>
            <p:cNvSpPr>
              <a:spLocks noChangeArrowheads="1"/>
            </p:cNvSpPr>
            <p:nvPr/>
          </p:nvSpPr>
          <p:spPr bwMode="auto">
            <a:xfrm>
              <a:off x="4341" y="1935"/>
              <a:ext cx="164" cy="463"/>
            </a:xfrm>
            <a:prstGeom prst="ellips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52" name="Line 13"/>
            <p:cNvSpPr>
              <a:spLocks noChangeShapeType="1"/>
            </p:cNvSpPr>
            <p:nvPr/>
          </p:nvSpPr>
          <p:spPr bwMode="auto">
            <a:xfrm>
              <a:off x="3220" y="2166"/>
              <a:ext cx="247" cy="0"/>
            </a:xfrm>
            <a:prstGeom prst="lin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53" name="Line 14"/>
            <p:cNvSpPr>
              <a:spLocks noChangeShapeType="1"/>
            </p:cNvSpPr>
            <p:nvPr/>
          </p:nvSpPr>
          <p:spPr bwMode="auto">
            <a:xfrm>
              <a:off x="3638" y="2166"/>
              <a:ext cx="285" cy="0"/>
            </a:xfrm>
            <a:prstGeom prst="lin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854" name="Line 15"/>
            <p:cNvSpPr>
              <a:spLocks noChangeShapeType="1"/>
            </p:cNvSpPr>
            <p:nvPr/>
          </p:nvSpPr>
          <p:spPr bwMode="auto">
            <a:xfrm>
              <a:off x="4078" y="2166"/>
              <a:ext cx="256" cy="0"/>
            </a:xfrm>
            <a:prstGeom prst="line">
              <a:avLst/>
            </a:prstGeom>
            <a:grpFill/>
            <a:ln w="38100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80969" name="Rectangle 41"/>
          <p:cNvSpPr>
            <a:spLocks noChangeArrowheads="1"/>
          </p:cNvSpPr>
          <p:nvPr/>
        </p:nvSpPr>
        <p:spPr bwMode="auto">
          <a:xfrm>
            <a:off x="2341563" y="3343275"/>
            <a:ext cx="41925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一个对一个，如线性表、栈、队列</a:t>
            </a:r>
          </a:p>
        </p:txBody>
      </p:sp>
      <p:sp>
        <p:nvSpPr>
          <p:cNvPr id="380970" name="Rectangle 42"/>
          <p:cNvSpPr>
            <a:spLocks noChangeArrowheads="1"/>
          </p:cNvSpPr>
          <p:nvPr/>
        </p:nvSpPr>
        <p:spPr bwMode="auto">
          <a:xfrm>
            <a:off x="3011488" y="4513263"/>
            <a:ext cx="22367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树形结构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一个对多个，如树</a:t>
            </a:r>
          </a:p>
        </p:txBody>
      </p:sp>
      <p:sp>
        <p:nvSpPr>
          <p:cNvPr id="380971" name="Rectangle 43"/>
          <p:cNvSpPr>
            <a:spLocks noChangeArrowheads="1"/>
          </p:cNvSpPr>
          <p:nvPr/>
        </p:nvSpPr>
        <p:spPr bwMode="auto">
          <a:xfrm>
            <a:off x="1958975" y="1879600"/>
            <a:ext cx="40354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集合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C4C8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数据元素间除“同属于一个集合”外，无其它关系</a:t>
            </a:r>
          </a:p>
        </p:txBody>
      </p:sp>
      <p:sp>
        <p:nvSpPr>
          <p:cNvPr id="380972" name="Rectangle 44"/>
          <p:cNvSpPr>
            <a:spLocks noChangeArrowheads="1"/>
          </p:cNvSpPr>
          <p:nvPr/>
        </p:nvSpPr>
        <p:spPr bwMode="auto">
          <a:xfrm>
            <a:off x="3502025" y="5514975"/>
            <a:ext cx="22367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图形结构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C4C8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多个对多个，如图</a:t>
            </a:r>
          </a:p>
        </p:txBody>
      </p:sp>
      <p:sp>
        <p:nvSpPr>
          <p:cNvPr id="35884" name="Rectangle 45"/>
          <p:cNvSpPr>
            <a:spLocks noChangeArrowheads="1"/>
          </p:cNvSpPr>
          <p:nvPr/>
        </p:nvSpPr>
        <p:spPr bwMode="auto">
          <a:xfrm>
            <a:off x="827088" y="204788"/>
            <a:ext cx="234632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</a:p>
        </p:txBody>
      </p:sp>
      <p:sp>
        <p:nvSpPr>
          <p:cNvPr id="35885" name="Rectangle 46"/>
          <p:cNvSpPr>
            <a:spLocks noChangeArrowheads="1"/>
          </p:cNvSpPr>
          <p:nvPr/>
        </p:nvSpPr>
        <p:spPr bwMode="auto">
          <a:xfrm>
            <a:off x="263525" y="1017588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划分方法二</a:t>
            </a:r>
          </a:p>
        </p:txBody>
      </p:sp>
      <p:grpSp>
        <p:nvGrpSpPr>
          <p:cNvPr id="39946" name="组合 6"/>
          <p:cNvGrpSpPr/>
          <p:nvPr/>
        </p:nvGrpSpPr>
        <p:grpSpPr>
          <a:xfrm>
            <a:off x="231775" y="1700213"/>
            <a:ext cx="3001963" cy="4665662"/>
            <a:chOff x="356891" y="1907949"/>
            <a:chExt cx="3001452" cy="4665743"/>
          </a:xfrm>
        </p:grpSpPr>
        <p:sp>
          <p:nvSpPr>
            <p:cNvPr id="53" name="Oval 35"/>
            <p:cNvSpPr>
              <a:spLocks noChangeArrowheads="1"/>
            </p:cNvSpPr>
            <p:nvPr/>
          </p:nvSpPr>
          <p:spPr bwMode="auto">
            <a:xfrm>
              <a:off x="2566315" y="5781516"/>
              <a:ext cx="792028" cy="792176"/>
            </a:xfrm>
            <a:prstGeom prst="ellipse">
              <a:avLst/>
            </a:prstGeom>
            <a:solidFill>
              <a:srgbClr val="E5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4" name="Oval 36"/>
            <p:cNvSpPr>
              <a:spLocks noChangeArrowheads="1"/>
            </p:cNvSpPr>
            <p:nvPr/>
          </p:nvSpPr>
          <p:spPr bwMode="auto">
            <a:xfrm>
              <a:off x="2620281" y="5835492"/>
              <a:ext cx="684097" cy="68104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6" name="Oval 38"/>
            <p:cNvSpPr>
              <a:spLocks noChangeArrowheads="1"/>
            </p:cNvSpPr>
            <p:nvPr/>
          </p:nvSpPr>
          <p:spPr bwMode="auto">
            <a:xfrm>
              <a:off x="1883806" y="4705173"/>
              <a:ext cx="988845" cy="990617"/>
            </a:xfrm>
            <a:prstGeom prst="ellipse">
              <a:avLst/>
            </a:prstGeom>
            <a:solidFill>
              <a:srgbClr val="E5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7" name="Oval 39"/>
            <p:cNvSpPr>
              <a:spLocks noChangeArrowheads="1"/>
            </p:cNvSpPr>
            <p:nvPr/>
          </p:nvSpPr>
          <p:spPr bwMode="auto">
            <a:xfrm>
              <a:off x="1950470" y="4773436"/>
              <a:ext cx="853930" cy="84932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9" name="Oval 41"/>
            <p:cNvSpPr>
              <a:spLocks noChangeArrowheads="1"/>
            </p:cNvSpPr>
            <p:nvPr/>
          </p:nvSpPr>
          <p:spPr bwMode="auto">
            <a:xfrm>
              <a:off x="1112412" y="3435151"/>
              <a:ext cx="1234865" cy="1238271"/>
            </a:xfrm>
            <a:prstGeom prst="ellipse">
              <a:avLst/>
            </a:prstGeom>
            <a:solidFill>
              <a:srgbClr val="E5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0" name="Oval 42"/>
            <p:cNvSpPr>
              <a:spLocks noChangeArrowheads="1"/>
            </p:cNvSpPr>
            <p:nvPr/>
          </p:nvSpPr>
          <p:spPr bwMode="auto">
            <a:xfrm>
              <a:off x="1199711" y="3520877"/>
              <a:ext cx="1060269" cy="10652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2" name="Oval 44"/>
            <p:cNvSpPr>
              <a:spLocks noChangeArrowheads="1"/>
            </p:cNvSpPr>
            <p:nvPr/>
          </p:nvSpPr>
          <p:spPr bwMode="auto">
            <a:xfrm>
              <a:off x="356891" y="1907949"/>
              <a:ext cx="1544375" cy="1544664"/>
            </a:xfrm>
            <a:prstGeom prst="ellipse">
              <a:avLst/>
            </a:prstGeom>
            <a:solidFill>
              <a:srgbClr val="E5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3" name="Oval 45"/>
            <p:cNvSpPr>
              <a:spLocks noChangeArrowheads="1"/>
            </p:cNvSpPr>
            <p:nvPr/>
          </p:nvSpPr>
          <p:spPr bwMode="auto">
            <a:xfrm>
              <a:off x="466410" y="2017488"/>
              <a:ext cx="1326924" cy="13271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4" name="Freeform 46"/>
            <p:cNvSpPr>
              <a:spLocks noEditPoints="1"/>
            </p:cNvSpPr>
            <p:nvPr/>
          </p:nvSpPr>
          <p:spPr bwMode="auto">
            <a:xfrm>
              <a:off x="466410" y="2017488"/>
              <a:ext cx="696793" cy="693750"/>
            </a:xfrm>
            <a:custGeom>
              <a:avLst/>
              <a:gdLst>
                <a:gd name="T0" fmla="*/ 0 w 194"/>
                <a:gd name="T1" fmla="*/ 193 h 193"/>
                <a:gd name="T2" fmla="*/ 0 w 194"/>
                <a:gd name="T3" fmla="*/ 193 h 193"/>
                <a:gd name="T4" fmla="*/ 0 w 194"/>
                <a:gd name="T5" fmla="*/ 192 h 193"/>
                <a:gd name="T6" fmla="*/ 0 w 194"/>
                <a:gd name="T7" fmla="*/ 192 h 193"/>
                <a:gd name="T8" fmla="*/ 0 w 194"/>
                <a:gd name="T9" fmla="*/ 192 h 193"/>
                <a:gd name="T10" fmla="*/ 0 w 194"/>
                <a:gd name="T11" fmla="*/ 192 h 193"/>
                <a:gd name="T12" fmla="*/ 0 w 194"/>
                <a:gd name="T13" fmla="*/ 191 h 193"/>
                <a:gd name="T14" fmla="*/ 0 w 194"/>
                <a:gd name="T15" fmla="*/ 191 h 193"/>
                <a:gd name="T16" fmla="*/ 0 w 194"/>
                <a:gd name="T17" fmla="*/ 191 h 193"/>
                <a:gd name="T18" fmla="*/ 0 w 194"/>
                <a:gd name="T19" fmla="*/ 190 h 193"/>
                <a:gd name="T20" fmla="*/ 0 w 194"/>
                <a:gd name="T21" fmla="*/ 190 h 193"/>
                <a:gd name="T22" fmla="*/ 0 w 194"/>
                <a:gd name="T23" fmla="*/ 190 h 193"/>
                <a:gd name="T24" fmla="*/ 0 w 194"/>
                <a:gd name="T25" fmla="*/ 189 h 193"/>
                <a:gd name="T26" fmla="*/ 0 w 194"/>
                <a:gd name="T27" fmla="*/ 189 h 193"/>
                <a:gd name="T28" fmla="*/ 0 w 194"/>
                <a:gd name="T29" fmla="*/ 189 h 193"/>
                <a:gd name="T30" fmla="*/ 0 w 194"/>
                <a:gd name="T31" fmla="*/ 189 h 193"/>
                <a:gd name="T32" fmla="*/ 0 w 194"/>
                <a:gd name="T33" fmla="*/ 188 h 193"/>
                <a:gd name="T34" fmla="*/ 0 w 194"/>
                <a:gd name="T35" fmla="*/ 188 h 193"/>
                <a:gd name="T36" fmla="*/ 0 w 194"/>
                <a:gd name="T37" fmla="*/ 188 h 193"/>
                <a:gd name="T38" fmla="*/ 0 w 194"/>
                <a:gd name="T39" fmla="*/ 187 h 193"/>
                <a:gd name="T40" fmla="*/ 0 w 194"/>
                <a:gd name="T41" fmla="*/ 187 h 193"/>
                <a:gd name="T42" fmla="*/ 0 w 194"/>
                <a:gd name="T43" fmla="*/ 187 h 193"/>
                <a:gd name="T44" fmla="*/ 0 w 194"/>
                <a:gd name="T45" fmla="*/ 186 h 193"/>
                <a:gd name="T46" fmla="*/ 0 w 194"/>
                <a:gd name="T47" fmla="*/ 186 h 193"/>
                <a:gd name="T48" fmla="*/ 0 w 194"/>
                <a:gd name="T49" fmla="*/ 186 h 193"/>
                <a:gd name="T50" fmla="*/ 0 w 194"/>
                <a:gd name="T51" fmla="*/ 186 h 193"/>
                <a:gd name="T52" fmla="*/ 0 w 194"/>
                <a:gd name="T53" fmla="*/ 185 h 193"/>
                <a:gd name="T54" fmla="*/ 0 w 194"/>
                <a:gd name="T55" fmla="*/ 185 h 193"/>
                <a:gd name="T56" fmla="*/ 0 w 194"/>
                <a:gd name="T57" fmla="*/ 184 h 193"/>
                <a:gd name="T58" fmla="*/ 194 w 194"/>
                <a:gd name="T59" fmla="*/ 0 h 193"/>
                <a:gd name="T60" fmla="*/ 193 w 194"/>
                <a:gd name="T61" fmla="*/ 0 h 193"/>
                <a:gd name="T62" fmla="*/ 193 w 194"/>
                <a:gd name="T63" fmla="*/ 0 h 193"/>
                <a:gd name="T64" fmla="*/ 192 w 194"/>
                <a:gd name="T65" fmla="*/ 0 h 193"/>
                <a:gd name="T66" fmla="*/ 192 w 194"/>
                <a:gd name="T67" fmla="*/ 0 h 193"/>
                <a:gd name="T68" fmla="*/ 192 w 194"/>
                <a:gd name="T69" fmla="*/ 0 h 193"/>
                <a:gd name="T70" fmla="*/ 191 w 194"/>
                <a:gd name="T71" fmla="*/ 0 h 193"/>
                <a:gd name="T72" fmla="*/ 191 w 194"/>
                <a:gd name="T73" fmla="*/ 0 h 193"/>
                <a:gd name="T74" fmla="*/ 191 w 194"/>
                <a:gd name="T75" fmla="*/ 0 h 193"/>
                <a:gd name="T76" fmla="*/ 190 w 194"/>
                <a:gd name="T77" fmla="*/ 0 h 193"/>
                <a:gd name="T78" fmla="*/ 190 w 194"/>
                <a:gd name="T79" fmla="*/ 0 h 193"/>
                <a:gd name="T80" fmla="*/ 190 w 194"/>
                <a:gd name="T81" fmla="*/ 0 h 193"/>
                <a:gd name="T82" fmla="*/ 189 w 194"/>
                <a:gd name="T83" fmla="*/ 0 h 193"/>
                <a:gd name="T84" fmla="*/ 189 w 194"/>
                <a:gd name="T85" fmla="*/ 0 h 193"/>
                <a:gd name="T86" fmla="*/ 189 w 194"/>
                <a:gd name="T87" fmla="*/ 0 h 193"/>
                <a:gd name="T88" fmla="*/ 189 w 194"/>
                <a:gd name="T89" fmla="*/ 0 h 193"/>
                <a:gd name="T90" fmla="*/ 188 w 194"/>
                <a:gd name="T91" fmla="*/ 0 h 193"/>
                <a:gd name="T92" fmla="*/ 188 w 194"/>
                <a:gd name="T93" fmla="*/ 0 h 193"/>
                <a:gd name="T94" fmla="*/ 188 w 194"/>
                <a:gd name="T95" fmla="*/ 0 h 193"/>
                <a:gd name="T96" fmla="*/ 187 w 194"/>
                <a:gd name="T97" fmla="*/ 0 h 193"/>
                <a:gd name="T98" fmla="*/ 187 w 194"/>
                <a:gd name="T99" fmla="*/ 0 h 193"/>
                <a:gd name="T100" fmla="*/ 187 w 194"/>
                <a:gd name="T101" fmla="*/ 0 h 193"/>
                <a:gd name="T102" fmla="*/ 186 w 194"/>
                <a:gd name="T103" fmla="*/ 0 h 193"/>
                <a:gd name="T104" fmla="*/ 186 w 194"/>
                <a:gd name="T105" fmla="*/ 0 h 193"/>
                <a:gd name="T106" fmla="*/ 186 w 194"/>
                <a:gd name="T107" fmla="*/ 0 h 193"/>
                <a:gd name="T108" fmla="*/ 185 w 194"/>
                <a:gd name="T109" fmla="*/ 0 h 193"/>
                <a:gd name="T110" fmla="*/ 185 w 194"/>
                <a:gd name="T111" fmla="*/ 0 h 193"/>
                <a:gd name="T112" fmla="*/ 0 w 194"/>
                <a:gd name="T113" fmla="*/ 184 h 193"/>
                <a:gd name="T114" fmla="*/ 185 w 194"/>
                <a:gd name="T115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4" h="193">
                  <a:moveTo>
                    <a:pt x="0" y="193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moveTo>
                    <a:pt x="0" y="193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moveTo>
                    <a:pt x="0" y="192"/>
                  </a:moveTo>
                  <a:cubicBezTo>
                    <a:pt x="0" y="192"/>
                    <a:pt x="0" y="193"/>
                    <a:pt x="0" y="193"/>
                  </a:cubicBezTo>
                  <a:cubicBezTo>
                    <a:pt x="0" y="193"/>
                    <a:pt x="0" y="192"/>
                    <a:pt x="0" y="192"/>
                  </a:cubicBezTo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moveTo>
                    <a:pt x="0" y="191"/>
                  </a:move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moveTo>
                    <a:pt x="0" y="191"/>
                  </a:move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moveTo>
                    <a:pt x="0" y="191"/>
                  </a:move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moveTo>
                    <a:pt x="0" y="190"/>
                  </a:move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moveTo>
                    <a:pt x="0" y="190"/>
                  </a:move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moveTo>
                    <a:pt x="0" y="190"/>
                  </a:move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moveTo>
                    <a:pt x="0" y="189"/>
                  </a:moveTo>
                  <a:cubicBezTo>
                    <a:pt x="0" y="189"/>
                    <a:pt x="0" y="190"/>
                    <a:pt x="0" y="190"/>
                  </a:cubicBezTo>
                  <a:cubicBezTo>
                    <a:pt x="0" y="190"/>
                    <a:pt x="0" y="189"/>
                    <a:pt x="0" y="189"/>
                  </a:cubicBezTo>
                  <a:moveTo>
                    <a:pt x="0" y="189"/>
                  </a:move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moveTo>
                    <a:pt x="0" y="189"/>
                  </a:move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moveTo>
                    <a:pt x="0" y="189"/>
                  </a:move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moveTo>
                    <a:pt x="0" y="188"/>
                  </a:move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moveTo>
                    <a:pt x="0" y="188"/>
                  </a:move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moveTo>
                    <a:pt x="0" y="188"/>
                  </a:move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moveTo>
                    <a:pt x="0" y="187"/>
                  </a:moveTo>
                  <a:cubicBezTo>
                    <a:pt x="0" y="187"/>
                    <a:pt x="0" y="187"/>
                    <a:pt x="0" y="188"/>
                  </a:cubicBezTo>
                  <a:cubicBezTo>
                    <a:pt x="0" y="187"/>
                    <a:pt x="0" y="187"/>
                    <a:pt x="0" y="187"/>
                  </a:cubicBezTo>
                  <a:moveTo>
                    <a:pt x="0" y="187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moveTo>
                    <a:pt x="0" y="187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moveTo>
                    <a:pt x="0" y="186"/>
                  </a:moveTo>
                  <a:cubicBezTo>
                    <a:pt x="0" y="186"/>
                    <a:pt x="0" y="187"/>
                    <a:pt x="0" y="187"/>
                  </a:cubicBezTo>
                  <a:cubicBezTo>
                    <a:pt x="0" y="187"/>
                    <a:pt x="0" y="187"/>
                    <a:pt x="0" y="186"/>
                  </a:cubicBezTo>
                  <a:moveTo>
                    <a:pt x="0" y="186"/>
                  </a:move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moveTo>
                    <a:pt x="0" y="186"/>
                  </a:move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moveTo>
                    <a:pt x="0" y="186"/>
                  </a:move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moveTo>
                    <a:pt x="0" y="184"/>
                  </a:moveTo>
                  <a:cubicBezTo>
                    <a:pt x="0" y="184"/>
                    <a:pt x="0" y="184"/>
                    <a:pt x="0" y="185"/>
                  </a:cubicBezTo>
                  <a:cubicBezTo>
                    <a:pt x="0" y="184"/>
                    <a:pt x="0" y="184"/>
                    <a:pt x="0" y="184"/>
                  </a:cubicBezTo>
                  <a:moveTo>
                    <a:pt x="194" y="0"/>
                  </a:moveTo>
                  <a:cubicBezTo>
                    <a:pt x="194" y="0"/>
                    <a:pt x="194" y="0"/>
                    <a:pt x="194" y="0"/>
                  </a:cubicBezTo>
                  <a:cubicBezTo>
                    <a:pt x="194" y="0"/>
                    <a:pt x="194" y="0"/>
                    <a:pt x="194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2" y="0"/>
                  </a:moveTo>
                  <a:cubicBezTo>
                    <a:pt x="192" y="0"/>
                    <a:pt x="192" y="0"/>
                    <a:pt x="193" y="0"/>
                  </a:cubicBezTo>
                  <a:cubicBezTo>
                    <a:pt x="193" y="0"/>
                    <a:pt x="192" y="0"/>
                    <a:pt x="192" y="0"/>
                  </a:cubicBezTo>
                  <a:moveTo>
                    <a:pt x="192" y="0"/>
                  </a:move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moveTo>
                    <a:pt x="192" y="0"/>
                  </a:move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moveTo>
                    <a:pt x="191" y="0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moveTo>
                    <a:pt x="191" y="0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moveTo>
                    <a:pt x="191" y="0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moveTo>
                    <a:pt x="190" y="0"/>
                  </a:moveTo>
                  <a:cubicBezTo>
                    <a:pt x="190" y="0"/>
                    <a:pt x="190" y="0"/>
                    <a:pt x="191" y="0"/>
                  </a:cubicBezTo>
                  <a:cubicBezTo>
                    <a:pt x="190" y="0"/>
                    <a:pt x="190" y="0"/>
                    <a:pt x="190" y="0"/>
                  </a:cubicBezTo>
                  <a:moveTo>
                    <a:pt x="190" y="0"/>
                  </a:move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moveTo>
                    <a:pt x="190" y="0"/>
                  </a:move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moveTo>
                    <a:pt x="189" y="0"/>
                  </a:move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89" y="0"/>
                  </a:cubicBezTo>
                  <a:moveTo>
                    <a:pt x="189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moveTo>
                    <a:pt x="189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moveTo>
                    <a:pt x="189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moveTo>
                    <a:pt x="188" y="0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moveTo>
                    <a:pt x="188" y="0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moveTo>
                    <a:pt x="188" y="0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moveTo>
                    <a:pt x="187" y="0"/>
                  </a:moveTo>
                  <a:cubicBezTo>
                    <a:pt x="187" y="0"/>
                    <a:pt x="187" y="0"/>
                    <a:pt x="188" y="0"/>
                  </a:cubicBezTo>
                  <a:cubicBezTo>
                    <a:pt x="187" y="0"/>
                    <a:pt x="187" y="0"/>
                    <a:pt x="187" y="0"/>
                  </a:cubicBezTo>
                  <a:moveTo>
                    <a:pt x="187" y="0"/>
                  </a:move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moveTo>
                    <a:pt x="187" y="0"/>
                  </a:move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moveTo>
                    <a:pt x="186" y="0"/>
                  </a:move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6" y="0"/>
                  </a:cubicBezTo>
                  <a:moveTo>
                    <a:pt x="186" y="0"/>
                  </a:move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moveTo>
                    <a:pt x="186" y="0"/>
                  </a:move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moveTo>
                    <a:pt x="185" y="0"/>
                  </a:moveTo>
                  <a:cubicBezTo>
                    <a:pt x="185" y="0"/>
                    <a:pt x="186" y="0"/>
                    <a:pt x="186" y="0"/>
                  </a:cubicBezTo>
                  <a:cubicBezTo>
                    <a:pt x="186" y="0"/>
                    <a:pt x="185" y="0"/>
                    <a:pt x="185" y="0"/>
                  </a:cubicBezTo>
                  <a:moveTo>
                    <a:pt x="185" y="0"/>
                  </a:move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moveTo>
                    <a:pt x="185" y="0"/>
                  </a:moveTo>
                  <a:cubicBezTo>
                    <a:pt x="83" y="0"/>
                    <a:pt x="0" y="82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82"/>
                    <a:pt x="83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</a:path>
              </a:pathLst>
            </a:custGeom>
            <a:solidFill>
              <a:srgbClr val="B0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5" name="Freeform 47"/>
            <p:cNvSpPr/>
            <p:nvPr/>
          </p:nvSpPr>
          <p:spPr bwMode="auto">
            <a:xfrm>
              <a:off x="466410" y="2017488"/>
              <a:ext cx="1199946" cy="1196996"/>
            </a:xfrm>
            <a:custGeom>
              <a:avLst/>
              <a:gdLst>
                <a:gd name="T0" fmla="*/ 0 w 334"/>
                <a:gd name="T1" fmla="*/ 184 h 333"/>
                <a:gd name="T2" fmla="*/ 0 w 334"/>
                <a:gd name="T3" fmla="*/ 185 h 333"/>
                <a:gd name="T4" fmla="*/ 0 w 334"/>
                <a:gd name="T5" fmla="*/ 185 h 333"/>
                <a:gd name="T6" fmla="*/ 0 w 334"/>
                <a:gd name="T7" fmla="*/ 185 h 333"/>
                <a:gd name="T8" fmla="*/ 0 w 334"/>
                <a:gd name="T9" fmla="*/ 186 h 333"/>
                <a:gd name="T10" fmla="*/ 0 w 334"/>
                <a:gd name="T11" fmla="*/ 186 h 333"/>
                <a:gd name="T12" fmla="*/ 0 w 334"/>
                <a:gd name="T13" fmla="*/ 186 h 333"/>
                <a:gd name="T14" fmla="*/ 0 w 334"/>
                <a:gd name="T15" fmla="*/ 187 h 333"/>
                <a:gd name="T16" fmla="*/ 0 w 334"/>
                <a:gd name="T17" fmla="*/ 187 h 333"/>
                <a:gd name="T18" fmla="*/ 0 w 334"/>
                <a:gd name="T19" fmla="*/ 187 h 333"/>
                <a:gd name="T20" fmla="*/ 0 w 334"/>
                <a:gd name="T21" fmla="*/ 188 h 333"/>
                <a:gd name="T22" fmla="*/ 0 w 334"/>
                <a:gd name="T23" fmla="*/ 188 h 333"/>
                <a:gd name="T24" fmla="*/ 0 w 334"/>
                <a:gd name="T25" fmla="*/ 188 h 333"/>
                <a:gd name="T26" fmla="*/ 0 w 334"/>
                <a:gd name="T27" fmla="*/ 188 h 333"/>
                <a:gd name="T28" fmla="*/ 0 w 334"/>
                <a:gd name="T29" fmla="*/ 189 h 333"/>
                <a:gd name="T30" fmla="*/ 0 w 334"/>
                <a:gd name="T31" fmla="*/ 189 h 333"/>
                <a:gd name="T32" fmla="*/ 0 w 334"/>
                <a:gd name="T33" fmla="*/ 189 h 333"/>
                <a:gd name="T34" fmla="*/ 0 w 334"/>
                <a:gd name="T35" fmla="*/ 190 h 333"/>
                <a:gd name="T36" fmla="*/ 0 w 334"/>
                <a:gd name="T37" fmla="*/ 190 h 333"/>
                <a:gd name="T38" fmla="*/ 0 w 334"/>
                <a:gd name="T39" fmla="*/ 190 h 333"/>
                <a:gd name="T40" fmla="*/ 0 w 334"/>
                <a:gd name="T41" fmla="*/ 190 h 333"/>
                <a:gd name="T42" fmla="*/ 0 w 334"/>
                <a:gd name="T43" fmla="*/ 191 h 333"/>
                <a:gd name="T44" fmla="*/ 0 w 334"/>
                <a:gd name="T45" fmla="*/ 191 h 333"/>
                <a:gd name="T46" fmla="*/ 0 w 334"/>
                <a:gd name="T47" fmla="*/ 191 h 333"/>
                <a:gd name="T48" fmla="*/ 0 w 334"/>
                <a:gd name="T49" fmla="*/ 192 h 333"/>
                <a:gd name="T50" fmla="*/ 0 w 334"/>
                <a:gd name="T51" fmla="*/ 192 h 333"/>
                <a:gd name="T52" fmla="*/ 0 w 334"/>
                <a:gd name="T53" fmla="*/ 192 h 333"/>
                <a:gd name="T54" fmla="*/ 0 w 334"/>
                <a:gd name="T55" fmla="*/ 193 h 333"/>
                <a:gd name="T56" fmla="*/ 0 w 334"/>
                <a:gd name="T57" fmla="*/ 193 h 333"/>
                <a:gd name="T58" fmla="*/ 0 w 334"/>
                <a:gd name="T59" fmla="*/ 193 h 333"/>
                <a:gd name="T60" fmla="*/ 40 w 334"/>
                <a:gd name="T61" fmla="*/ 224 h 333"/>
                <a:gd name="T62" fmla="*/ 334 w 334"/>
                <a:gd name="T63" fmla="*/ 75 h 333"/>
                <a:gd name="T64" fmla="*/ 194 w 334"/>
                <a:gd name="T65" fmla="*/ 0 h 333"/>
                <a:gd name="T66" fmla="*/ 193 w 334"/>
                <a:gd name="T67" fmla="*/ 0 h 333"/>
                <a:gd name="T68" fmla="*/ 193 w 334"/>
                <a:gd name="T69" fmla="*/ 0 h 333"/>
                <a:gd name="T70" fmla="*/ 192 w 334"/>
                <a:gd name="T71" fmla="*/ 0 h 333"/>
                <a:gd name="T72" fmla="*/ 192 w 334"/>
                <a:gd name="T73" fmla="*/ 0 h 333"/>
                <a:gd name="T74" fmla="*/ 192 w 334"/>
                <a:gd name="T75" fmla="*/ 0 h 333"/>
                <a:gd name="T76" fmla="*/ 191 w 334"/>
                <a:gd name="T77" fmla="*/ 0 h 333"/>
                <a:gd name="T78" fmla="*/ 191 w 334"/>
                <a:gd name="T79" fmla="*/ 0 h 333"/>
                <a:gd name="T80" fmla="*/ 191 w 334"/>
                <a:gd name="T81" fmla="*/ 0 h 333"/>
                <a:gd name="T82" fmla="*/ 190 w 334"/>
                <a:gd name="T83" fmla="*/ 0 h 333"/>
                <a:gd name="T84" fmla="*/ 190 w 334"/>
                <a:gd name="T85" fmla="*/ 0 h 333"/>
                <a:gd name="T86" fmla="*/ 190 w 334"/>
                <a:gd name="T87" fmla="*/ 0 h 333"/>
                <a:gd name="T88" fmla="*/ 189 w 334"/>
                <a:gd name="T89" fmla="*/ 0 h 333"/>
                <a:gd name="T90" fmla="*/ 189 w 334"/>
                <a:gd name="T91" fmla="*/ 0 h 333"/>
                <a:gd name="T92" fmla="*/ 189 w 334"/>
                <a:gd name="T93" fmla="*/ 0 h 333"/>
                <a:gd name="T94" fmla="*/ 189 w 334"/>
                <a:gd name="T95" fmla="*/ 0 h 333"/>
                <a:gd name="T96" fmla="*/ 188 w 334"/>
                <a:gd name="T97" fmla="*/ 0 h 333"/>
                <a:gd name="T98" fmla="*/ 188 w 334"/>
                <a:gd name="T99" fmla="*/ 0 h 333"/>
                <a:gd name="T100" fmla="*/ 188 w 334"/>
                <a:gd name="T101" fmla="*/ 0 h 333"/>
                <a:gd name="T102" fmla="*/ 187 w 334"/>
                <a:gd name="T103" fmla="*/ 0 h 333"/>
                <a:gd name="T104" fmla="*/ 187 w 334"/>
                <a:gd name="T105" fmla="*/ 0 h 333"/>
                <a:gd name="T106" fmla="*/ 187 w 334"/>
                <a:gd name="T107" fmla="*/ 0 h 333"/>
                <a:gd name="T108" fmla="*/ 186 w 334"/>
                <a:gd name="T109" fmla="*/ 0 h 333"/>
                <a:gd name="T110" fmla="*/ 186 w 334"/>
                <a:gd name="T111" fmla="*/ 0 h 333"/>
                <a:gd name="T112" fmla="*/ 186 w 334"/>
                <a:gd name="T113" fmla="*/ 0 h 333"/>
                <a:gd name="T114" fmla="*/ 185 w 334"/>
                <a:gd name="T115" fmla="*/ 0 h 333"/>
                <a:gd name="T116" fmla="*/ 185 w 334"/>
                <a:gd name="T117" fmla="*/ 0 h 333"/>
                <a:gd name="T118" fmla="*/ 185 w 334"/>
                <a:gd name="T119" fmla="*/ 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4" h="333">
                  <a:moveTo>
                    <a:pt x="185" y="0"/>
                  </a:moveTo>
                  <a:cubicBezTo>
                    <a:pt x="83" y="0"/>
                    <a:pt x="0" y="82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84"/>
                    <a:pt x="0" y="184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5"/>
                    <a:pt x="0" y="185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0" y="188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1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2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3" y="251"/>
                    <a:pt x="32" y="301"/>
                    <a:pt x="76" y="333"/>
                  </a:cubicBezTo>
                  <a:cubicBezTo>
                    <a:pt x="53" y="303"/>
                    <a:pt x="40" y="265"/>
                    <a:pt x="40" y="224"/>
                  </a:cubicBezTo>
                  <a:cubicBezTo>
                    <a:pt x="40" y="122"/>
                    <a:pt x="123" y="40"/>
                    <a:pt x="225" y="40"/>
                  </a:cubicBezTo>
                  <a:cubicBezTo>
                    <a:pt x="265" y="40"/>
                    <a:pt x="303" y="53"/>
                    <a:pt x="334" y="75"/>
                  </a:cubicBezTo>
                  <a:cubicBezTo>
                    <a:pt x="302" y="32"/>
                    <a:pt x="251" y="3"/>
                    <a:pt x="194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0"/>
                    <a:pt x="190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6" name="Freeform 48"/>
            <p:cNvSpPr>
              <a:spLocks noEditPoints="1"/>
            </p:cNvSpPr>
            <p:nvPr/>
          </p:nvSpPr>
          <p:spPr bwMode="auto">
            <a:xfrm>
              <a:off x="1950470" y="4773436"/>
              <a:ext cx="450773" cy="454033"/>
            </a:xfrm>
            <a:custGeom>
              <a:avLst/>
              <a:gdLst>
                <a:gd name="T0" fmla="*/ 1 w 125"/>
                <a:gd name="T1" fmla="*/ 126 h 126"/>
                <a:gd name="T2" fmla="*/ 1 w 125"/>
                <a:gd name="T3" fmla="*/ 125 h 126"/>
                <a:gd name="T4" fmla="*/ 0 w 125"/>
                <a:gd name="T5" fmla="*/ 125 h 126"/>
                <a:gd name="T6" fmla="*/ 0 w 125"/>
                <a:gd name="T7" fmla="*/ 124 h 126"/>
                <a:gd name="T8" fmla="*/ 0 w 125"/>
                <a:gd name="T9" fmla="*/ 124 h 126"/>
                <a:gd name="T10" fmla="*/ 0 w 125"/>
                <a:gd name="T11" fmla="*/ 124 h 126"/>
                <a:gd name="T12" fmla="*/ 0 w 125"/>
                <a:gd name="T13" fmla="*/ 123 h 126"/>
                <a:gd name="T14" fmla="*/ 0 w 125"/>
                <a:gd name="T15" fmla="*/ 123 h 126"/>
                <a:gd name="T16" fmla="*/ 0 w 125"/>
                <a:gd name="T17" fmla="*/ 123 h 126"/>
                <a:gd name="T18" fmla="*/ 0 w 125"/>
                <a:gd name="T19" fmla="*/ 122 h 126"/>
                <a:gd name="T20" fmla="*/ 0 w 125"/>
                <a:gd name="T21" fmla="*/ 122 h 126"/>
                <a:gd name="T22" fmla="*/ 0 w 125"/>
                <a:gd name="T23" fmla="*/ 122 h 126"/>
                <a:gd name="T24" fmla="*/ 0 w 125"/>
                <a:gd name="T25" fmla="*/ 122 h 126"/>
                <a:gd name="T26" fmla="*/ 0 w 125"/>
                <a:gd name="T27" fmla="*/ 121 h 126"/>
                <a:gd name="T28" fmla="*/ 0 w 125"/>
                <a:gd name="T29" fmla="*/ 121 h 126"/>
                <a:gd name="T30" fmla="*/ 0 w 125"/>
                <a:gd name="T31" fmla="*/ 121 h 126"/>
                <a:gd name="T32" fmla="*/ 0 w 125"/>
                <a:gd name="T33" fmla="*/ 121 h 126"/>
                <a:gd name="T34" fmla="*/ 0 w 125"/>
                <a:gd name="T35" fmla="*/ 120 h 126"/>
                <a:gd name="T36" fmla="*/ 0 w 125"/>
                <a:gd name="T37" fmla="*/ 120 h 126"/>
                <a:gd name="T38" fmla="*/ 0 w 125"/>
                <a:gd name="T39" fmla="*/ 120 h 126"/>
                <a:gd name="T40" fmla="*/ 0 w 125"/>
                <a:gd name="T41" fmla="*/ 120 h 126"/>
                <a:gd name="T42" fmla="*/ 0 w 125"/>
                <a:gd name="T43" fmla="*/ 119 h 126"/>
                <a:gd name="T44" fmla="*/ 0 w 125"/>
                <a:gd name="T45" fmla="*/ 119 h 126"/>
                <a:gd name="T46" fmla="*/ 0 w 125"/>
                <a:gd name="T47" fmla="*/ 119 h 126"/>
                <a:gd name="T48" fmla="*/ 0 w 125"/>
                <a:gd name="T49" fmla="*/ 119 h 126"/>
                <a:gd name="T50" fmla="*/ 0 w 125"/>
                <a:gd name="T51" fmla="*/ 118 h 126"/>
                <a:gd name="T52" fmla="*/ 125 w 125"/>
                <a:gd name="T53" fmla="*/ 0 h 126"/>
                <a:gd name="T54" fmla="*/ 125 w 125"/>
                <a:gd name="T55" fmla="*/ 0 h 126"/>
                <a:gd name="T56" fmla="*/ 124 w 125"/>
                <a:gd name="T57" fmla="*/ 0 h 126"/>
                <a:gd name="T58" fmla="*/ 124 w 125"/>
                <a:gd name="T59" fmla="*/ 0 h 126"/>
                <a:gd name="T60" fmla="*/ 123 w 125"/>
                <a:gd name="T61" fmla="*/ 0 h 126"/>
                <a:gd name="T62" fmla="*/ 123 w 125"/>
                <a:gd name="T63" fmla="*/ 0 h 126"/>
                <a:gd name="T64" fmla="*/ 123 w 125"/>
                <a:gd name="T65" fmla="*/ 0 h 126"/>
                <a:gd name="T66" fmla="*/ 122 w 125"/>
                <a:gd name="T67" fmla="*/ 0 h 126"/>
                <a:gd name="T68" fmla="*/ 122 w 125"/>
                <a:gd name="T69" fmla="*/ 0 h 126"/>
                <a:gd name="T70" fmla="*/ 122 w 125"/>
                <a:gd name="T71" fmla="*/ 0 h 126"/>
                <a:gd name="T72" fmla="*/ 122 w 125"/>
                <a:gd name="T73" fmla="*/ 0 h 126"/>
                <a:gd name="T74" fmla="*/ 121 w 125"/>
                <a:gd name="T75" fmla="*/ 0 h 126"/>
                <a:gd name="T76" fmla="*/ 121 w 125"/>
                <a:gd name="T77" fmla="*/ 0 h 126"/>
                <a:gd name="T78" fmla="*/ 121 w 125"/>
                <a:gd name="T79" fmla="*/ 0 h 126"/>
                <a:gd name="T80" fmla="*/ 121 w 125"/>
                <a:gd name="T81" fmla="*/ 0 h 126"/>
                <a:gd name="T82" fmla="*/ 120 w 125"/>
                <a:gd name="T83" fmla="*/ 0 h 126"/>
                <a:gd name="T84" fmla="*/ 120 w 125"/>
                <a:gd name="T85" fmla="*/ 0 h 126"/>
                <a:gd name="T86" fmla="*/ 120 w 125"/>
                <a:gd name="T87" fmla="*/ 0 h 126"/>
                <a:gd name="T88" fmla="*/ 120 w 125"/>
                <a:gd name="T89" fmla="*/ 0 h 126"/>
                <a:gd name="T90" fmla="*/ 120 w 125"/>
                <a:gd name="T91" fmla="*/ 0 h 126"/>
                <a:gd name="T92" fmla="*/ 119 w 125"/>
                <a:gd name="T93" fmla="*/ 0 h 126"/>
                <a:gd name="T94" fmla="*/ 119 w 125"/>
                <a:gd name="T95" fmla="*/ 0 h 126"/>
                <a:gd name="T96" fmla="*/ 119 w 125"/>
                <a:gd name="T9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5" h="126">
                  <a:moveTo>
                    <a:pt x="1" y="126"/>
                  </a:moveTo>
                  <a:cubicBezTo>
                    <a:pt x="1" y="126"/>
                    <a:pt x="1" y="126"/>
                    <a:pt x="1" y="126"/>
                  </a:cubicBezTo>
                  <a:cubicBezTo>
                    <a:pt x="1" y="126"/>
                    <a:pt x="1" y="126"/>
                    <a:pt x="1" y="126"/>
                  </a:cubicBezTo>
                  <a:moveTo>
                    <a:pt x="1" y="125"/>
                  </a:moveTo>
                  <a:cubicBezTo>
                    <a:pt x="1" y="125"/>
                    <a:pt x="1" y="125"/>
                    <a:pt x="1" y="125"/>
                  </a:cubicBezTo>
                  <a:cubicBezTo>
                    <a:pt x="1" y="125"/>
                    <a:pt x="1" y="125"/>
                    <a:pt x="1" y="125"/>
                  </a:cubicBezTo>
                  <a:moveTo>
                    <a:pt x="0" y="125"/>
                  </a:move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0" y="125"/>
                    <a:pt x="0" y="125"/>
                  </a:cubicBezTo>
                  <a:moveTo>
                    <a:pt x="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moveTo>
                    <a:pt x="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moveTo>
                    <a:pt x="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moveTo>
                    <a:pt x="0" y="123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moveTo>
                    <a:pt x="0" y="123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moveTo>
                    <a:pt x="0" y="123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moveTo>
                    <a:pt x="0" y="122"/>
                  </a:moveTo>
                  <a:cubicBezTo>
                    <a:pt x="0" y="122"/>
                    <a:pt x="0" y="122"/>
                    <a:pt x="0" y="123"/>
                  </a:cubicBezTo>
                  <a:cubicBezTo>
                    <a:pt x="0" y="122"/>
                    <a:pt x="0" y="122"/>
                    <a:pt x="0" y="122"/>
                  </a:cubicBezTo>
                  <a:moveTo>
                    <a:pt x="0" y="122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moveTo>
                    <a:pt x="0" y="122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moveTo>
                    <a:pt x="0" y="122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moveTo>
                    <a:pt x="0" y="120"/>
                  </a:move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moveTo>
                    <a:pt x="0" y="120"/>
                  </a:move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moveTo>
                    <a:pt x="0" y="120"/>
                  </a:move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moveTo>
                    <a:pt x="0" y="120"/>
                  </a:move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moveTo>
                    <a:pt x="0" y="119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moveTo>
                    <a:pt x="0" y="119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moveTo>
                    <a:pt x="0" y="119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moveTo>
                    <a:pt x="0" y="119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moveTo>
                    <a:pt x="0" y="118"/>
                  </a:moveTo>
                  <a:cubicBezTo>
                    <a:pt x="0" y="118"/>
                    <a:pt x="0" y="118"/>
                    <a:pt x="0" y="119"/>
                  </a:cubicBezTo>
                  <a:cubicBezTo>
                    <a:pt x="0" y="118"/>
                    <a:pt x="0" y="118"/>
                    <a:pt x="0" y="118"/>
                  </a:cubicBezTo>
                  <a:moveTo>
                    <a:pt x="125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5" y="0"/>
                    <a:pt x="125" y="0"/>
                    <a:pt x="125" y="0"/>
                  </a:cubicBezTo>
                  <a:moveTo>
                    <a:pt x="125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5" y="0"/>
                    <a:pt x="125" y="0"/>
                    <a:pt x="125" y="0"/>
                  </a:cubicBezTo>
                  <a:moveTo>
                    <a:pt x="124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4" y="0"/>
                    <a:pt x="124" y="0"/>
                  </a:cubicBezTo>
                  <a:moveTo>
                    <a:pt x="124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4" y="0"/>
                    <a:pt x="124" y="0"/>
                  </a:cubicBezTo>
                  <a:moveTo>
                    <a:pt x="123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moveTo>
                    <a:pt x="123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moveTo>
                    <a:pt x="123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moveTo>
                    <a:pt x="122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moveTo>
                    <a:pt x="122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moveTo>
                    <a:pt x="122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moveTo>
                    <a:pt x="122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moveTo>
                    <a:pt x="12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moveTo>
                    <a:pt x="12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moveTo>
                    <a:pt x="12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moveTo>
                    <a:pt x="12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moveTo>
                    <a:pt x="12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B0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7" name="Freeform 49"/>
            <p:cNvSpPr/>
            <p:nvPr/>
          </p:nvSpPr>
          <p:spPr bwMode="auto">
            <a:xfrm>
              <a:off x="1950470" y="4773436"/>
              <a:ext cx="777743" cy="777889"/>
            </a:xfrm>
            <a:custGeom>
              <a:avLst/>
              <a:gdLst>
                <a:gd name="T0" fmla="*/ 96 w 216"/>
                <a:gd name="T1" fmla="*/ 2 h 216"/>
                <a:gd name="T2" fmla="*/ 2 w 216"/>
                <a:gd name="T3" fmla="*/ 96 h 216"/>
                <a:gd name="T4" fmla="*/ 0 w 216"/>
                <a:gd name="T5" fmla="*/ 118 h 216"/>
                <a:gd name="T6" fmla="*/ 0 w 216"/>
                <a:gd name="T7" fmla="*/ 119 h 216"/>
                <a:gd name="T8" fmla="*/ 0 w 216"/>
                <a:gd name="T9" fmla="*/ 119 h 216"/>
                <a:gd name="T10" fmla="*/ 0 w 216"/>
                <a:gd name="T11" fmla="*/ 119 h 216"/>
                <a:gd name="T12" fmla="*/ 0 w 216"/>
                <a:gd name="T13" fmla="*/ 119 h 216"/>
                <a:gd name="T14" fmla="*/ 0 w 216"/>
                <a:gd name="T15" fmla="*/ 119 h 216"/>
                <a:gd name="T16" fmla="*/ 0 w 216"/>
                <a:gd name="T17" fmla="*/ 120 h 216"/>
                <a:gd name="T18" fmla="*/ 0 w 216"/>
                <a:gd name="T19" fmla="*/ 120 h 216"/>
                <a:gd name="T20" fmla="*/ 0 w 216"/>
                <a:gd name="T21" fmla="*/ 120 h 216"/>
                <a:gd name="T22" fmla="*/ 0 w 216"/>
                <a:gd name="T23" fmla="*/ 120 h 216"/>
                <a:gd name="T24" fmla="*/ 0 w 216"/>
                <a:gd name="T25" fmla="*/ 121 h 216"/>
                <a:gd name="T26" fmla="*/ 0 w 216"/>
                <a:gd name="T27" fmla="*/ 121 h 216"/>
                <a:gd name="T28" fmla="*/ 0 w 216"/>
                <a:gd name="T29" fmla="*/ 121 h 216"/>
                <a:gd name="T30" fmla="*/ 0 w 216"/>
                <a:gd name="T31" fmla="*/ 121 h 216"/>
                <a:gd name="T32" fmla="*/ 0 w 216"/>
                <a:gd name="T33" fmla="*/ 122 h 216"/>
                <a:gd name="T34" fmla="*/ 0 w 216"/>
                <a:gd name="T35" fmla="*/ 122 h 216"/>
                <a:gd name="T36" fmla="*/ 0 w 216"/>
                <a:gd name="T37" fmla="*/ 122 h 216"/>
                <a:gd name="T38" fmla="*/ 0 w 216"/>
                <a:gd name="T39" fmla="*/ 123 h 216"/>
                <a:gd name="T40" fmla="*/ 0 w 216"/>
                <a:gd name="T41" fmla="*/ 123 h 216"/>
                <a:gd name="T42" fmla="*/ 0 w 216"/>
                <a:gd name="T43" fmla="*/ 123 h 216"/>
                <a:gd name="T44" fmla="*/ 0 w 216"/>
                <a:gd name="T45" fmla="*/ 123 h 216"/>
                <a:gd name="T46" fmla="*/ 0 w 216"/>
                <a:gd name="T47" fmla="*/ 124 h 216"/>
                <a:gd name="T48" fmla="*/ 0 w 216"/>
                <a:gd name="T49" fmla="*/ 124 h 216"/>
                <a:gd name="T50" fmla="*/ 0 w 216"/>
                <a:gd name="T51" fmla="*/ 124 h 216"/>
                <a:gd name="T52" fmla="*/ 0 w 216"/>
                <a:gd name="T53" fmla="*/ 125 h 216"/>
                <a:gd name="T54" fmla="*/ 1 w 216"/>
                <a:gd name="T55" fmla="*/ 125 h 216"/>
                <a:gd name="T56" fmla="*/ 1 w 216"/>
                <a:gd name="T57" fmla="*/ 126 h 216"/>
                <a:gd name="T58" fmla="*/ 31 w 216"/>
                <a:gd name="T59" fmla="*/ 149 h 216"/>
                <a:gd name="T60" fmla="*/ 216 w 216"/>
                <a:gd name="T61" fmla="*/ 51 h 216"/>
                <a:gd name="T62" fmla="*/ 125 w 216"/>
                <a:gd name="T63" fmla="*/ 0 h 216"/>
                <a:gd name="T64" fmla="*/ 125 w 216"/>
                <a:gd name="T65" fmla="*/ 0 h 216"/>
                <a:gd name="T66" fmla="*/ 124 w 216"/>
                <a:gd name="T67" fmla="*/ 0 h 216"/>
                <a:gd name="T68" fmla="*/ 124 w 216"/>
                <a:gd name="T69" fmla="*/ 0 h 216"/>
                <a:gd name="T70" fmla="*/ 123 w 216"/>
                <a:gd name="T71" fmla="*/ 0 h 216"/>
                <a:gd name="T72" fmla="*/ 123 w 216"/>
                <a:gd name="T73" fmla="*/ 0 h 216"/>
                <a:gd name="T74" fmla="*/ 123 w 216"/>
                <a:gd name="T75" fmla="*/ 0 h 216"/>
                <a:gd name="T76" fmla="*/ 122 w 216"/>
                <a:gd name="T77" fmla="*/ 0 h 216"/>
                <a:gd name="T78" fmla="*/ 122 w 216"/>
                <a:gd name="T79" fmla="*/ 0 h 216"/>
                <a:gd name="T80" fmla="*/ 122 w 216"/>
                <a:gd name="T81" fmla="*/ 0 h 216"/>
                <a:gd name="T82" fmla="*/ 122 w 216"/>
                <a:gd name="T83" fmla="*/ 0 h 216"/>
                <a:gd name="T84" fmla="*/ 121 w 216"/>
                <a:gd name="T85" fmla="*/ 0 h 216"/>
                <a:gd name="T86" fmla="*/ 121 w 216"/>
                <a:gd name="T87" fmla="*/ 0 h 216"/>
                <a:gd name="T88" fmla="*/ 121 w 216"/>
                <a:gd name="T89" fmla="*/ 0 h 216"/>
                <a:gd name="T90" fmla="*/ 121 w 216"/>
                <a:gd name="T91" fmla="*/ 0 h 216"/>
                <a:gd name="T92" fmla="*/ 120 w 216"/>
                <a:gd name="T93" fmla="*/ 0 h 216"/>
                <a:gd name="T94" fmla="*/ 120 w 216"/>
                <a:gd name="T95" fmla="*/ 0 h 216"/>
                <a:gd name="T96" fmla="*/ 120 w 216"/>
                <a:gd name="T97" fmla="*/ 0 h 216"/>
                <a:gd name="T98" fmla="*/ 120 w 216"/>
                <a:gd name="T99" fmla="*/ 0 h 216"/>
                <a:gd name="T100" fmla="*/ 120 w 216"/>
                <a:gd name="T101" fmla="*/ 0 h 216"/>
                <a:gd name="T102" fmla="*/ 119 w 216"/>
                <a:gd name="T103" fmla="*/ 0 h 216"/>
                <a:gd name="T104" fmla="*/ 119 w 216"/>
                <a:gd name="T105" fmla="*/ 0 h 216"/>
                <a:gd name="T106" fmla="*/ 119 w 216"/>
                <a:gd name="T107" fmla="*/ 0 h 216"/>
                <a:gd name="T108" fmla="*/ 119 w 216"/>
                <a:gd name="T10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6" h="216">
                  <a:moveTo>
                    <a:pt x="119" y="0"/>
                  </a:moveTo>
                  <a:cubicBezTo>
                    <a:pt x="111" y="0"/>
                    <a:pt x="103" y="1"/>
                    <a:pt x="96" y="2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49" y="11"/>
                    <a:pt x="12" y="48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1" y="103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0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0" y="121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2"/>
                    <a:pt x="0" y="122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5"/>
                    <a:pt x="0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1" y="125"/>
                    <a:pt x="1" y="125"/>
                    <a:pt x="1" y="125"/>
                  </a:cubicBezTo>
                  <a:cubicBezTo>
                    <a:pt x="1" y="125"/>
                    <a:pt x="1" y="125"/>
                    <a:pt x="1" y="125"/>
                  </a:cubicBezTo>
                  <a:cubicBezTo>
                    <a:pt x="1" y="125"/>
                    <a:pt x="1" y="125"/>
                    <a:pt x="1" y="126"/>
                  </a:cubicBezTo>
                  <a:cubicBezTo>
                    <a:pt x="1" y="126"/>
                    <a:pt x="1" y="126"/>
                    <a:pt x="1" y="126"/>
                  </a:cubicBezTo>
                  <a:cubicBezTo>
                    <a:pt x="3" y="163"/>
                    <a:pt x="23" y="196"/>
                    <a:pt x="52" y="216"/>
                  </a:cubicBezTo>
                  <a:cubicBezTo>
                    <a:pt x="39" y="197"/>
                    <a:pt x="31" y="174"/>
                    <a:pt x="31" y="149"/>
                  </a:cubicBezTo>
                  <a:cubicBezTo>
                    <a:pt x="31" y="84"/>
                    <a:pt x="84" y="31"/>
                    <a:pt x="149" y="31"/>
                  </a:cubicBezTo>
                  <a:cubicBezTo>
                    <a:pt x="174" y="31"/>
                    <a:pt x="197" y="38"/>
                    <a:pt x="216" y="51"/>
                  </a:cubicBezTo>
                  <a:cubicBezTo>
                    <a:pt x="196" y="22"/>
                    <a:pt x="163" y="2"/>
                    <a:pt x="125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8" name="Freeform 50"/>
            <p:cNvSpPr>
              <a:spLocks noEditPoints="1"/>
            </p:cNvSpPr>
            <p:nvPr/>
          </p:nvSpPr>
          <p:spPr bwMode="auto">
            <a:xfrm>
              <a:off x="2620281" y="5835492"/>
              <a:ext cx="357127" cy="357193"/>
            </a:xfrm>
            <a:custGeom>
              <a:avLst/>
              <a:gdLst>
                <a:gd name="T0" fmla="*/ 1 w 99"/>
                <a:gd name="T1" fmla="*/ 99 h 99"/>
                <a:gd name="T2" fmla="*/ 0 w 99"/>
                <a:gd name="T3" fmla="*/ 98 h 99"/>
                <a:gd name="T4" fmla="*/ 0 w 99"/>
                <a:gd name="T5" fmla="*/ 98 h 99"/>
                <a:gd name="T6" fmla="*/ 0 w 99"/>
                <a:gd name="T7" fmla="*/ 97 h 99"/>
                <a:gd name="T8" fmla="*/ 0 w 99"/>
                <a:gd name="T9" fmla="*/ 97 h 99"/>
                <a:gd name="T10" fmla="*/ 0 w 99"/>
                <a:gd name="T11" fmla="*/ 97 h 99"/>
                <a:gd name="T12" fmla="*/ 0 w 99"/>
                <a:gd name="T13" fmla="*/ 97 h 99"/>
                <a:gd name="T14" fmla="*/ 0 w 99"/>
                <a:gd name="T15" fmla="*/ 97 h 99"/>
                <a:gd name="T16" fmla="*/ 0 w 99"/>
                <a:gd name="T17" fmla="*/ 96 h 99"/>
                <a:gd name="T18" fmla="*/ 0 w 99"/>
                <a:gd name="T19" fmla="*/ 96 h 99"/>
                <a:gd name="T20" fmla="*/ 0 w 99"/>
                <a:gd name="T21" fmla="*/ 96 h 99"/>
                <a:gd name="T22" fmla="*/ 0 w 99"/>
                <a:gd name="T23" fmla="*/ 96 h 99"/>
                <a:gd name="T24" fmla="*/ 0 w 99"/>
                <a:gd name="T25" fmla="*/ 96 h 99"/>
                <a:gd name="T26" fmla="*/ 0 w 99"/>
                <a:gd name="T27" fmla="*/ 95 h 99"/>
                <a:gd name="T28" fmla="*/ 0 w 99"/>
                <a:gd name="T29" fmla="*/ 95 h 99"/>
                <a:gd name="T30" fmla="*/ 0 w 99"/>
                <a:gd name="T31" fmla="*/ 95 h 99"/>
                <a:gd name="T32" fmla="*/ 0 w 99"/>
                <a:gd name="T33" fmla="*/ 95 h 99"/>
                <a:gd name="T34" fmla="*/ 0 w 99"/>
                <a:gd name="T35" fmla="*/ 95 h 99"/>
                <a:gd name="T36" fmla="*/ 0 w 99"/>
                <a:gd name="T37" fmla="*/ 94 h 99"/>
                <a:gd name="T38" fmla="*/ 0 w 99"/>
                <a:gd name="T39" fmla="*/ 94 h 99"/>
                <a:gd name="T40" fmla="*/ 0 w 99"/>
                <a:gd name="T41" fmla="*/ 94 h 99"/>
                <a:gd name="T42" fmla="*/ 0 w 99"/>
                <a:gd name="T43" fmla="*/ 94 h 99"/>
                <a:gd name="T44" fmla="*/ 0 w 99"/>
                <a:gd name="T45" fmla="*/ 94 h 99"/>
                <a:gd name="T46" fmla="*/ 0 w 99"/>
                <a:gd name="T47" fmla="*/ 94 h 99"/>
                <a:gd name="T48" fmla="*/ 0 w 99"/>
                <a:gd name="T49" fmla="*/ 94 h 99"/>
                <a:gd name="T50" fmla="*/ 0 w 99"/>
                <a:gd name="T51" fmla="*/ 93 h 99"/>
                <a:gd name="T52" fmla="*/ 99 w 99"/>
                <a:gd name="T53" fmla="*/ 0 h 99"/>
                <a:gd name="T54" fmla="*/ 98 w 99"/>
                <a:gd name="T55" fmla="*/ 0 h 99"/>
                <a:gd name="T56" fmla="*/ 98 w 99"/>
                <a:gd name="T57" fmla="*/ 0 h 99"/>
                <a:gd name="T58" fmla="*/ 98 w 99"/>
                <a:gd name="T59" fmla="*/ 0 h 99"/>
                <a:gd name="T60" fmla="*/ 98 w 99"/>
                <a:gd name="T61" fmla="*/ 0 h 99"/>
                <a:gd name="T62" fmla="*/ 97 w 99"/>
                <a:gd name="T63" fmla="*/ 0 h 99"/>
                <a:gd name="T64" fmla="*/ 97 w 99"/>
                <a:gd name="T65" fmla="*/ 0 h 99"/>
                <a:gd name="T66" fmla="*/ 97 w 99"/>
                <a:gd name="T67" fmla="*/ 0 h 99"/>
                <a:gd name="T68" fmla="*/ 97 w 99"/>
                <a:gd name="T69" fmla="*/ 0 h 99"/>
                <a:gd name="T70" fmla="*/ 97 w 99"/>
                <a:gd name="T71" fmla="*/ 0 h 99"/>
                <a:gd name="T72" fmla="*/ 96 w 99"/>
                <a:gd name="T73" fmla="*/ 0 h 99"/>
                <a:gd name="T74" fmla="*/ 94 w 99"/>
                <a:gd name="T75" fmla="*/ 0 h 99"/>
                <a:gd name="T76" fmla="*/ 96 w 99"/>
                <a:gd name="T77" fmla="*/ 0 h 99"/>
                <a:gd name="T78" fmla="*/ 94 w 99"/>
                <a:gd name="T79" fmla="*/ 0 h 99"/>
                <a:gd name="T80" fmla="*/ 94 w 99"/>
                <a:gd name="T81" fmla="*/ 0 h 99"/>
                <a:gd name="T82" fmla="*/ 96 w 99"/>
                <a:gd name="T83" fmla="*/ 0 h 99"/>
                <a:gd name="T84" fmla="*/ 94 w 99"/>
                <a:gd name="T85" fmla="*/ 0 h 99"/>
                <a:gd name="T86" fmla="*/ 96 w 99"/>
                <a:gd name="T87" fmla="*/ 0 h 99"/>
                <a:gd name="T88" fmla="*/ 94 w 99"/>
                <a:gd name="T89" fmla="*/ 0 h 99"/>
                <a:gd name="T90" fmla="*/ 96 w 99"/>
                <a:gd name="T91" fmla="*/ 0 h 99"/>
                <a:gd name="T92" fmla="*/ 94 w 99"/>
                <a:gd name="T93" fmla="*/ 0 h 99"/>
                <a:gd name="T94" fmla="*/ 95 w 99"/>
                <a:gd name="T95" fmla="*/ 0 h 99"/>
                <a:gd name="T96" fmla="*/ 95 w 99"/>
                <a:gd name="T97" fmla="*/ 0 h 99"/>
                <a:gd name="T98" fmla="*/ 95 w 99"/>
                <a:gd name="T99" fmla="*/ 0 h 99"/>
                <a:gd name="T100" fmla="*/ 95 w 99"/>
                <a:gd name="T101" fmla="*/ 0 h 99"/>
                <a:gd name="T102" fmla="*/ 95 w 99"/>
                <a:gd name="T103" fmla="*/ 0 h 99"/>
                <a:gd name="T104" fmla="*/ 95 w 99"/>
                <a:gd name="T10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9" h="99">
                  <a:moveTo>
                    <a:pt x="1" y="99"/>
                  </a:moveTo>
                  <a:cubicBezTo>
                    <a:pt x="1" y="99"/>
                    <a:pt x="1" y="99"/>
                    <a:pt x="1" y="99"/>
                  </a:cubicBezTo>
                  <a:cubicBezTo>
                    <a:pt x="1" y="99"/>
                    <a:pt x="1" y="99"/>
                    <a:pt x="1" y="99"/>
                  </a:cubicBezTo>
                  <a:moveTo>
                    <a:pt x="0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moveTo>
                    <a:pt x="0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moveTo>
                    <a:pt x="0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moveTo>
                    <a:pt x="0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moveTo>
                    <a:pt x="0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moveTo>
                    <a:pt x="0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moveTo>
                    <a:pt x="0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moveTo>
                    <a:pt x="0" y="96"/>
                  </a:move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moveTo>
                    <a:pt x="0" y="96"/>
                  </a:move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moveTo>
                    <a:pt x="0" y="96"/>
                  </a:move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moveTo>
                    <a:pt x="0" y="96"/>
                  </a:move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moveTo>
                    <a:pt x="0" y="96"/>
                  </a:move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moveTo>
                    <a:pt x="0" y="93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moveTo>
                    <a:pt x="98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moveTo>
                    <a:pt x="98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moveTo>
                    <a:pt x="98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moveTo>
                    <a:pt x="97" y="0"/>
                  </a:moveTo>
                  <a:cubicBezTo>
                    <a:pt x="97" y="0"/>
                    <a:pt x="98" y="0"/>
                    <a:pt x="98" y="0"/>
                  </a:cubicBezTo>
                  <a:cubicBezTo>
                    <a:pt x="98" y="0"/>
                    <a:pt x="97" y="0"/>
                    <a:pt x="97" y="0"/>
                  </a:cubicBezTo>
                  <a:moveTo>
                    <a:pt x="9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9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9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9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9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96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moveTo>
                    <a:pt x="96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moveTo>
                    <a:pt x="96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moveTo>
                    <a:pt x="96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moveTo>
                    <a:pt x="94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moveTo>
                    <a:pt x="96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moveTo>
                    <a:pt x="95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5" y="0"/>
                  </a:cubicBezTo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</a:path>
              </a:pathLst>
            </a:custGeom>
            <a:solidFill>
              <a:srgbClr val="B0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9" name="Freeform 51"/>
            <p:cNvSpPr/>
            <p:nvPr/>
          </p:nvSpPr>
          <p:spPr bwMode="auto">
            <a:xfrm>
              <a:off x="2620281" y="5835492"/>
              <a:ext cx="626956" cy="625486"/>
            </a:xfrm>
            <a:custGeom>
              <a:avLst/>
              <a:gdLst>
                <a:gd name="T0" fmla="*/ 95 w 174"/>
                <a:gd name="T1" fmla="*/ 0 h 174"/>
                <a:gd name="T2" fmla="*/ 95 w 174"/>
                <a:gd name="T3" fmla="*/ 0 h 174"/>
                <a:gd name="T4" fmla="*/ 95 w 174"/>
                <a:gd name="T5" fmla="*/ 0 h 174"/>
                <a:gd name="T6" fmla="*/ 94 w 174"/>
                <a:gd name="T7" fmla="*/ 0 h 174"/>
                <a:gd name="T8" fmla="*/ 94 w 174"/>
                <a:gd name="T9" fmla="*/ 0 h 174"/>
                <a:gd name="T10" fmla="*/ 94 w 174"/>
                <a:gd name="T11" fmla="*/ 0 h 174"/>
                <a:gd name="T12" fmla="*/ 94 w 174"/>
                <a:gd name="T13" fmla="*/ 0 h 174"/>
                <a:gd name="T14" fmla="*/ 94 w 174"/>
                <a:gd name="T15" fmla="*/ 0 h 174"/>
                <a:gd name="T16" fmla="*/ 94 w 174"/>
                <a:gd name="T17" fmla="*/ 0 h 174"/>
                <a:gd name="T18" fmla="*/ 79 w 174"/>
                <a:gd name="T19" fmla="*/ 2 h 174"/>
                <a:gd name="T20" fmla="*/ 20 w 174"/>
                <a:gd name="T21" fmla="*/ 37 h 174"/>
                <a:gd name="T22" fmla="*/ 2 w 174"/>
                <a:gd name="T23" fmla="*/ 78 h 174"/>
                <a:gd name="T24" fmla="*/ 0 w 174"/>
                <a:gd name="T25" fmla="*/ 93 h 174"/>
                <a:gd name="T26" fmla="*/ 0 w 174"/>
                <a:gd name="T27" fmla="*/ 94 h 174"/>
                <a:gd name="T28" fmla="*/ 0 w 174"/>
                <a:gd name="T29" fmla="*/ 94 h 174"/>
                <a:gd name="T30" fmla="*/ 0 w 174"/>
                <a:gd name="T31" fmla="*/ 94 h 174"/>
                <a:gd name="T32" fmla="*/ 0 w 174"/>
                <a:gd name="T33" fmla="*/ 94 h 174"/>
                <a:gd name="T34" fmla="*/ 0 w 174"/>
                <a:gd name="T35" fmla="*/ 94 h 174"/>
                <a:gd name="T36" fmla="*/ 0 w 174"/>
                <a:gd name="T37" fmla="*/ 94 h 174"/>
                <a:gd name="T38" fmla="*/ 0 w 174"/>
                <a:gd name="T39" fmla="*/ 94 h 174"/>
                <a:gd name="T40" fmla="*/ 0 w 174"/>
                <a:gd name="T41" fmla="*/ 95 h 174"/>
                <a:gd name="T42" fmla="*/ 0 w 174"/>
                <a:gd name="T43" fmla="*/ 95 h 174"/>
                <a:gd name="T44" fmla="*/ 0 w 174"/>
                <a:gd name="T45" fmla="*/ 95 h 174"/>
                <a:gd name="T46" fmla="*/ 0 w 174"/>
                <a:gd name="T47" fmla="*/ 95 h 174"/>
                <a:gd name="T48" fmla="*/ 0 w 174"/>
                <a:gd name="T49" fmla="*/ 95 h 174"/>
                <a:gd name="T50" fmla="*/ 0 w 174"/>
                <a:gd name="T51" fmla="*/ 96 h 174"/>
                <a:gd name="T52" fmla="*/ 0 w 174"/>
                <a:gd name="T53" fmla="*/ 96 h 174"/>
                <a:gd name="T54" fmla="*/ 0 w 174"/>
                <a:gd name="T55" fmla="*/ 96 h 174"/>
                <a:gd name="T56" fmla="*/ 0 w 174"/>
                <a:gd name="T57" fmla="*/ 96 h 174"/>
                <a:gd name="T58" fmla="*/ 0 w 174"/>
                <a:gd name="T59" fmla="*/ 96 h 174"/>
                <a:gd name="T60" fmla="*/ 0 w 174"/>
                <a:gd name="T61" fmla="*/ 97 h 174"/>
                <a:gd name="T62" fmla="*/ 0 w 174"/>
                <a:gd name="T63" fmla="*/ 97 h 174"/>
                <a:gd name="T64" fmla="*/ 0 w 174"/>
                <a:gd name="T65" fmla="*/ 97 h 174"/>
                <a:gd name="T66" fmla="*/ 0 w 174"/>
                <a:gd name="T67" fmla="*/ 97 h 174"/>
                <a:gd name="T68" fmla="*/ 0 w 174"/>
                <a:gd name="T69" fmla="*/ 97 h 174"/>
                <a:gd name="T70" fmla="*/ 0 w 174"/>
                <a:gd name="T71" fmla="*/ 98 h 174"/>
                <a:gd name="T72" fmla="*/ 0 w 174"/>
                <a:gd name="T73" fmla="*/ 98 h 174"/>
                <a:gd name="T74" fmla="*/ 1 w 174"/>
                <a:gd name="T75" fmla="*/ 99 h 174"/>
                <a:gd name="T76" fmla="*/ 27 w 174"/>
                <a:gd name="T77" fmla="*/ 121 h 174"/>
                <a:gd name="T78" fmla="*/ 174 w 174"/>
                <a:gd name="T79" fmla="*/ 42 h 174"/>
                <a:gd name="T80" fmla="*/ 99 w 174"/>
                <a:gd name="T81" fmla="*/ 0 h 174"/>
                <a:gd name="T82" fmla="*/ 98 w 174"/>
                <a:gd name="T83" fmla="*/ 0 h 174"/>
                <a:gd name="T84" fmla="*/ 98 w 174"/>
                <a:gd name="T85" fmla="*/ 0 h 174"/>
                <a:gd name="T86" fmla="*/ 98 w 174"/>
                <a:gd name="T87" fmla="*/ 0 h 174"/>
                <a:gd name="T88" fmla="*/ 97 w 174"/>
                <a:gd name="T89" fmla="*/ 0 h 174"/>
                <a:gd name="T90" fmla="*/ 97 w 174"/>
                <a:gd name="T91" fmla="*/ 0 h 174"/>
                <a:gd name="T92" fmla="*/ 97 w 174"/>
                <a:gd name="T93" fmla="*/ 0 h 174"/>
                <a:gd name="T94" fmla="*/ 97 w 174"/>
                <a:gd name="T95" fmla="*/ 0 h 174"/>
                <a:gd name="T96" fmla="*/ 97 w 174"/>
                <a:gd name="T97" fmla="*/ 0 h 174"/>
                <a:gd name="T98" fmla="*/ 97 w 174"/>
                <a:gd name="T99" fmla="*/ 0 h 174"/>
                <a:gd name="T100" fmla="*/ 96 w 174"/>
                <a:gd name="T101" fmla="*/ 0 h 174"/>
                <a:gd name="T102" fmla="*/ 96 w 174"/>
                <a:gd name="T103" fmla="*/ 0 h 174"/>
                <a:gd name="T104" fmla="*/ 96 w 174"/>
                <a:gd name="T105" fmla="*/ 0 h 174"/>
                <a:gd name="T106" fmla="*/ 96 w 174"/>
                <a:gd name="T107" fmla="*/ 0 h 174"/>
                <a:gd name="T108" fmla="*/ 96 w 174"/>
                <a:gd name="T109" fmla="*/ 0 h 174"/>
                <a:gd name="T110" fmla="*/ 95 w 174"/>
                <a:gd name="T111" fmla="*/ 0 h 174"/>
                <a:gd name="T112" fmla="*/ 95 w 174"/>
                <a:gd name="T113" fmla="*/ 0 h 174"/>
                <a:gd name="T114" fmla="*/ 95 w 174"/>
                <a:gd name="T115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4" h="174">
                  <a:moveTo>
                    <a:pt x="95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89" y="0"/>
                    <a:pt x="84" y="1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3" y="4"/>
                    <a:pt x="49" y="11"/>
                    <a:pt x="37" y="20"/>
                  </a:cubicBezTo>
                  <a:cubicBezTo>
                    <a:pt x="32" y="26"/>
                    <a:pt x="26" y="32"/>
                    <a:pt x="20" y="37"/>
                  </a:cubicBezTo>
                  <a:cubicBezTo>
                    <a:pt x="11" y="49"/>
                    <a:pt x="5" y="63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1" y="83"/>
                    <a:pt x="0" y="88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6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9"/>
                    <a:pt x="1" y="99"/>
                  </a:cubicBezTo>
                  <a:cubicBezTo>
                    <a:pt x="1" y="99"/>
                    <a:pt x="1" y="99"/>
                    <a:pt x="1" y="99"/>
                  </a:cubicBezTo>
                  <a:cubicBezTo>
                    <a:pt x="2" y="130"/>
                    <a:pt x="18" y="157"/>
                    <a:pt x="43" y="174"/>
                  </a:cubicBezTo>
                  <a:cubicBezTo>
                    <a:pt x="33" y="159"/>
                    <a:pt x="27" y="141"/>
                    <a:pt x="27" y="121"/>
                  </a:cubicBezTo>
                  <a:cubicBezTo>
                    <a:pt x="27" y="69"/>
                    <a:pt x="69" y="27"/>
                    <a:pt x="122" y="27"/>
                  </a:cubicBezTo>
                  <a:cubicBezTo>
                    <a:pt x="141" y="27"/>
                    <a:pt x="159" y="33"/>
                    <a:pt x="174" y="42"/>
                  </a:cubicBezTo>
                  <a:cubicBezTo>
                    <a:pt x="158" y="18"/>
                    <a:pt x="130" y="1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0" name="Freeform 52"/>
            <p:cNvSpPr/>
            <p:nvPr/>
          </p:nvSpPr>
          <p:spPr bwMode="auto">
            <a:xfrm>
              <a:off x="2691706" y="5906930"/>
              <a:ext cx="61901" cy="61914"/>
            </a:xfrm>
            <a:custGeom>
              <a:avLst/>
              <a:gdLst>
                <a:gd name="T0" fmla="*/ 17 w 17"/>
                <a:gd name="T1" fmla="*/ 0 h 17"/>
                <a:gd name="T2" fmla="*/ 17 w 17"/>
                <a:gd name="T3" fmla="*/ 0 h 17"/>
                <a:gd name="T4" fmla="*/ 0 w 17"/>
                <a:gd name="T5" fmla="*/ 17 h 17"/>
                <a:gd name="T6" fmla="*/ 0 w 17"/>
                <a:gd name="T7" fmla="*/ 17 h 17"/>
                <a:gd name="T8" fmla="*/ 17 w 17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2" y="6"/>
                    <a:pt x="6" y="12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2"/>
                    <a:pt x="12" y="6"/>
                    <a:pt x="17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1" name="Freeform 53"/>
            <p:cNvSpPr>
              <a:spLocks noEditPoints="1"/>
            </p:cNvSpPr>
            <p:nvPr/>
          </p:nvSpPr>
          <p:spPr bwMode="auto">
            <a:xfrm>
              <a:off x="1199711" y="3520877"/>
              <a:ext cx="560292" cy="565160"/>
            </a:xfrm>
            <a:custGeom>
              <a:avLst/>
              <a:gdLst>
                <a:gd name="T0" fmla="*/ 0 w 156"/>
                <a:gd name="T1" fmla="*/ 156 h 157"/>
                <a:gd name="T2" fmla="*/ 0 w 156"/>
                <a:gd name="T3" fmla="*/ 156 h 157"/>
                <a:gd name="T4" fmla="*/ 0 w 156"/>
                <a:gd name="T5" fmla="*/ 155 h 157"/>
                <a:gd name="T6" fmla="*/ 0 w 156"/>
                <a:gd name="T7" fmla="*/ 155 h 157"/>
                <a:gd name="T8" fmla="*/ 0 w 156"/>
                <a:gd name="T9" fmla="*/ 154 h 157"/>
                <a:gd name="T10" fmla="*/ 0 w 156"/>
                <a:gd name="T11" fmla="*/ 154 h 157"/>
                <a:gd name="T12" fmla="*/ 0 w 156"/>
                <a:gd name="T13" fmla="*/ 153 h 157"/>
                <a:gd name="T14" fmla="*/ 0 w 156"/>
                <a:gd name="T15" fmla="*/ 153 h 157"/>
                <a:gd name="T16" fmla="*/ 0 w 156"/>
                <a:gd name="T17" fmla="*/ 152 h 157"/>
                <a:gd name="T18" fmla="*/ 0 w 156"/>
                <a:gd name="T19" fmla="*/ 152 h 157"/>
                <a:gd name="T20" fmla="*/ 0 w 156"/>
                <a:gd name="T21" fmla="*/ 151 h 157"/>
                <a:gd name="T22" fmla="*/ 0 w 156"/>
                <a:gd name="T23" fmla="*/ 151 h 157"/>
                <a:gd name="T24" fmla="*/ 0 w 156"/>
                <a:gd name="T25" fmla="*/ 150 h 157"/>
                <a:gd name="T26" fmla="*/ 0 w 156"/>
                <a:gd name="T27" fmla="*/ 150 h 157"/>
                <a:gd name="T28" fmla="*/ 0 w 156"/>
                <a:gd name="T29" fmla="*/ 149 h 157"/>
                <a:gd name="T30" fmla="*/ 0 w 156"/>
                <a:gd name="T31" fmla="*/ 149 h 157"/>
                <a:gd name="T32" fmla="*/ 0 w 156"/>
                <a:gd name="T33" fmla="*/ 149 h 157"/>
                <a:gd name="T34" fmla="*/ 0 w 156"/>
                <a:gd name="T35" fmla="*/ 148 h 157"/>
                <a:gd name="T36" fmla="*/ 0 w 156"/>
                <a:gd name="T37" fmla="*/ 148 h 157"/>
                <a:gd name="T38" fmla="*/ 0 w 156"/>
                <a:gd name="T39" fmla="*/ 147 h 157"/>
                <a:gd name="T40" fmla="*/ 0 w 156"/>
                <a:gd name="T41" fmla="*/ 147 h 157"/>
                <a:gd name="T42" fmla="*/ 0 w 156"/>
                <a:gd name="T43" fmla="*/ 146 h 157"/>
                <a:gd name="T44" fmla="*/ 0 w 156"/>
                <a:gd name="T45" fmla="*/ 146 h 157"/>
                <a:gd name="T46" fmla="*/ 0 w 156"/>
                <a:gd name="T47" fmla="*/ 145 h 157"/>
                <a:gd name="T48" fmla="*/ 0 w 156"/>
                <a:gd name="T49" fmla="*/ 145 h 157"/>
                <a:gd name="T50" fmla="*/ 0 w 156"/>
                <a:gd name="T51" fmla="*/ 144 h 157"/>
                <a:gd name="T52" fmla="*/ 0 w 156"/>
                <a:gd name="T53" fmla="*/ 143 h 157"/>
                <a:gd name="T54" fmla="*/ 156 w 156"/>
                <a:gd name="T55" fmla="*/ 0 h 157"/>
                <a:gd name="T56" fmla="*/ 155 w 156"/>
                <a:gd name="T57" fmla="*/ 0 h 157"/>
                <a:gd name="T58" fmla="*/ 155 w 156"/>
                <a:gd name="T59" fmla="*/ 0 h 157"/>
                <a:gd name="T60" fmla="*/ 154 w 156"/>
                <a:gd name="T61" fmla="*/ 0 h 157"/>
                <a:gd name="T62" fmla="*/ 154 w 156"/>
                <a:gd name="T63" fmla="*/ 0 h 157"/>
                <a:gd name="T64" fmla="*/ 153 w 156"/>
                <a:gd name="T65" fmla="*/ 0 h 157"/>
                <a:gd name="T66" fmla="*/ 153 w 156"/>
                <a:gd name="T67" fmla="*/ 0 h 157"/>
                <a:gd name="T68" fmla="*/ 142 w 156"/>
                <a:gd name="T69" fmla="*/ 0 h 157"/>
                <a:gd name="T70" fmla="*/ 143 w 156"/>
                <a:gd name="T71" fmla="*/ 0 h 157"/>
                <a:gd name="T72" fmla="*/ 152 w 156"/>
                <a:gd name="T73" fmla="*/ 0 h 157"/>
                <a:gd name="T74" fmla="*/ 152 w 156"/>
                <a:gd name="T75" fmla="*/ 0 h 157"/>
                <a:gd name="T76" fmla="*/ 151 w 156"/>
                <a:gd name="T77" fmla="*/ 0 h 157"/>
                <a:gd name="T78" fmla="*/ 144 w 156"/>
                <a:gd name="T79" fmla="*/ 0 h 157"/>
                <a:gd name="T80" fmla="*/ 144 w 156"/>
                <a:gd name="T81" fmla="*/ 0 h 157"/>
                <a:gd name="T82" fmla="*/ 150 w 156"/>
                <a:gd name="T83" fmla="*/ 0 h 157"/>
                <a:gd name="T84" fmla="*/ 145 w 156"/>
                <a:gd name="T85" fmla="*/ 0 h 157"/>
                <a:gd name="T86" fmla="*/ 145 w 156"/>
                <a:gd name="T87" fmla="*/ 0 h 157"/>
                <a:gd name="T88" fmla="*/ 150 w 156"/>
                <a:gd name="T89" fmla="*/ 0 h 157"/>
                <a:gd name="T90" fmla="*/ 145 w 156"/>
                <a:gd name="T91" fmla="*/ 0 h 157"/>
                <a:gd name="T92" fmla="*/ 145 w 156"/>
                <a:gd name="T93" fmla="*/ 0 h 157"/>
                <a:gd name="T94" fmla="*/ 149 w 156"/>
                <a:gd name="T95" fmla="*/ 0 h 157"/>
                <a:gd name="T96" fmla="*/ 146 w 156"/>
                <a:gd name="T97" fmla="*/ 0 h 157"/>
                <a:gd name="T98" fmla="*/ 146 w 156"/>
                <a:gd name="T99" fmla="*/ 0 h 157"/>
                <a:gd name="T100" fmla="*/ 148 w 156"/>
                <a:gd name="T101" fmla="*/ 0 h 157"/>
                <a:gd name="T102" fmla="*/ 147 w 156"/>
                <a:gd name="T103" fmla="*/ 0 h 157"/>
                <a:gd name="T104" fmla="*/ 147 w 156"/>
                <a:gd name="T105" fmla="*/ 0 h 157"/>
                <a:gd name="T106" fmla="*/ 147 w 156"/>
                <a:gd name="T10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6" h="157">
                  <a:moveTo>
                    <a:pt x="0" y="157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0" y="157"/>
                    <a:pt x="0" y="157"/>
                  </a:cubicBezTo>
                  <a:moveTo>
                    <a:pt x="0" y="156"/>
                  </a:move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moveTo>
                    <a:pt x="0" y="156"/>
                  </a:move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moveTo>
                    <a:pt x="0" y="156"/>
                  </a:move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moveTo>
                    <a:pt x="0" y="156"/>
                  </a:move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moveTo>
                    <a:pt x="0" y="155"/>
                  </a:move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moveTo>
                    <a:pt x="0" y="155"/>
                  </a:move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moveTo>
                    <a:pt x="0" y="155"/>
                  </a:move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moveTo>
                    <a:pt x="0" y="155"/>
                  </a:move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moveTo>
                    <a:pt x="0" y="154"/>
                  </a:move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moveTo>
                    <a:pt x="0" y="154"/>
                  </a:move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moveTo>
                    <a:pt x="0" y="154"/>
                  </a:move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moveTo>
                    <a:pt x="0" y="154"/>
                  </a:move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moveTo>
                    <a:pt x="0" y="152"/>
                  </a:moveTo>
                  <a:cubicBezTo>
                    <a:pt x="0" y="152"/>
                    <a:pt x="0" y="152"/>
                    <a:pt x="0" y="153"/>
                  </a:cubicBezTo>
                  <a:cubicBezTo>
                    <a:pt x="0" y="152"/>
                    <a:pt x="0" y="152"/>
                    <a:pt x="0" y="152"/>
                  </a:cubicBezTo>
                  <a:moveTo>
                    <a:pt x="0" y="152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moveTo>
                    <a:pt x="0" y="152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moveTo>
                    <a:pt x="0" y="152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moveTo>
                    <a:pt x="0" y="151"/>
                  </a:moveTo>
                  <a:cubicBezTo>
                    <a:pt x="0" y="151"/>
                    <a:pt x="0" y="152"/>
                    <a:pt x="0" y="152"/>
                  </a:cubicBezTo>
                  <a:cubicBezTo>
                    <a:pt x="0" y="152"/>
                    <a:pt x="0" y="151"/>
                    <a:pt x="0" y="151"/>
                  </a:cubicBezTo>
                  <a:moveTo>
                    <a:pt x="0" y="151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moveTo>
                    <a:pt x="0" y="151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moveTo>
                    <a:pt x="0" y="151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moveTo>
                    <a:pt x="0" y="15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0"/>
                  </a:cubicBezTo>
                  <a:moveTo>
                    <a:pt x="0" y="15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moveTo>
                    <a:pt x="0" y="15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moveTo>
                    <a:pt x="0" y="15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moveTo>
                    <a:pt x="0" y="149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49"/>
                  </a:cubicBezTo>
                  <a:moveTo>
                    <a:pt x="0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moveTo>
                    <a:pt x="0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moveTo>
                    <a:pt x="0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moveTo>
                    <a:pt x="0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moveTo>
                    <a:pt x="0" y="148"/>
                  </a:moveTo>
                  <a:cubicBezTo>
                    <a:pt x="0" y="148"/>
                    <a:pt x="0" y="148"/>
                    <a:pt x="0" y="149"/>
                  </a:cubicBezTo>
                  <a:cubicBezTo>
                    <a:pt x="0" y="148"/>
                    <a:pt x="0" y="148"/>
                    <a:pt x="0" y="148"/>
                  </a:cubicBezTo>
                  <a:moveTo>
                    <a:pt x="0" y="148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moveTo>
                    <a:pt x="0" y="148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moveTo>
                    <a:pt x="0" y="148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moveTo>
                    <a:pt x="0" y="147"/>
                  </a:moveTo>
                  <a:cubicBezTo>
                    <a:pt x="0" y="147"/>
                    <a:pt x="0" y="147"/>
                    <a:pt x="0" y="148"/>
                  </a:cubicBezTo>
                  <a:cubicBezTo>
                    <a:pt x="0" y="147"/>
                    <a:pt x="0" y="147"/>
                    <a:pt x="0" y="147"/>
                  </a:cubicBezTo>
                  <a:moveTo>
                    <a:pt x="0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moveTo>
                    <a:pt x="0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moveTo>
                    <a:pt x="0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moveTo>
                    <a:pt x="0" y="146"/>
                  </a:moveTo>
                  <a:cubicBezTo>
                    <a:pt x="0" y="146"/>
                    <a:pt x="0" y="147"/>
                    <a:pt x="0" y="147"/>
                  </a:cubicBezTo>
                  <a:cubicBezTo>
                    <a:pt x="0" y="147"/>
                    <a:pt x="0" y="146"/>
                    <a:pt x="0" y="146"/>
                  </a:cubicBezTo>
                  <a:moveTo>
                    <a:pt x="0" y="146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moveTo>
                    <a:pt x="0" y="146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moveTo>
                    <a:pt x="0" y="146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moveTo>
                    <a:pt x="0" y="145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5"/>
                  </a:cubicBezTo>
                  <a:moveTo>
                    <a:pt x="0" y="145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moveTo>
                    <a:pt x="0" y="145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moveTo>
                    <a:pt x="0" y="145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moveTo>
                    <a:pt x="0" y="145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moveTo>
                    <a:pt x="0" y="144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moveTo>
                    <a:pt x="0" y="144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moveTo>
                    <a:pt x="0" y="143"/>
                  </a:move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moveTo>
                    <a:pt x="0" y="143"/>
                  </a:move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moveTo>
                    <a:pt x="156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moveTo>
                    <a:pt x="155" y="0"/>
                  </a:move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moveTo>
                    <a:pt x="155" y="0"/>
                  </a:move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moveTo>
                    <a:pt x="155" y="0"/>
                  </a:move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moveTo>
                    <a:pt x="155" y="0"/>
                  </a:move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moveTo>
                    <a:pt x="153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moveTo>
                    <a:pt x="153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moveTo>
                    <a:pt x="153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moveTo>
                    <a:pt x="153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moveTo>
                    <a:pt x="152" y="0"/>
                  </a:moveTo>
                  <a:cubicBezTo>
                    <a:pt x="152" y="0"/>
                    <a:pt x="153" y="0"/>
                    <a:pt x="153" y="0"/>
                  </a:cubicBezTo>
                  <a:cubicBezTo>
                    <a:pt x="153" y="0"/>
                    <a:pt x="152" y="0"/>
                    <a:pt x="152" y="0"/>
                  </a:cubicBezTo>
                  <a:moveTo>
                    <a:pt x="143" y="0"/>
                  </a:moveTo>
                  <a:cubicBezTo>
                    <a:pt x="143" y="0"/>
                    <a:pt x="142" y="0"/>
                    <a:pt x="142" y="0"/>
                  </a:cubicBezTo>
                  <a:cubicBezTo>
                    <a:pt x="143" y="0"/>
                    <a:pt x="143" y="0"/>
                    <a:pt x="143" y="0"/>
                  </a:cubicBezTo>
                  <a:moveTo>
                    <a:pt x="152" y="0"/>
                  </a:move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moveTo>
                    <a:pt x="143" y="0"/>
                  </a:move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moveTo>
                    <a:pt x="152" y="0"/>
                  </a:move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moveTo>
                    <a:pt x="152" y="0"/>
                  </a:move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moveTo>
                    <a:pt x="143" y="0"/>
                  </a:move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moveTo>
                    <a:pt x="151" y="0"/>
                  </a:move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1" y="0"/>
                  </a:cubicBezTo>
                  <a:moveTo>
                    <a:pt x="143" y="0"/>
                  </a:move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moveTo>
                    <a:pt x="151" y="0"/>
                  </a:move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moveTo>
                    <a:pt x="151" y="0"/>
                  </a:move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moveTo>
                    <a:pt x="144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moveTo>
                    <a:pt x="151" y="0"/>
                  </a:move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moveTo>
                    <a:pt x="144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moveTo>
                    <a:pt x="150" y="0"/>
                  </a:move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0" y="0"/>
                  </a:cubicBezTo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moveTo>
                    <a:pt x="144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moveTo>
                    <a:pt x="145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moveTo>
                    <a:pt x="145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moveTo>
                    <a:pt x="145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moveTo>
                    <a:pt x="145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moveTo>
                    <a:pt x="146" y="0"/>
                  </a:moveTo>
                  <a:cubicBezTo>
                    <a:pt x="146" y="0"/>
                    <a:pt x="146" y="0"/>
                    <a:pt x="145" y="0"/>
                  </a:cubicBezTo>
                  <a:cubicBezTo>
                    <a:pt x="146" y="0"/>
                    <a:pt x="146" y="0"/>
                    <a:pt x="146" y="0"/>
                  </a:cubicBezTo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moveTo>
                    <a:pt x="146" y="0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moveTo>
                    <a:pt x="146" y="0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moveTo>
                    <a:pt x="146" y="0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moveTo>
                    <a:pt x="148" y="0"/>
                  </a:moveTo>
                  <a:cubicBezTo>
                    <a:pt x="148" y="0"/>
                    <a:pt x="148" y="0"/>
                    <a:pt x="149" y="0"/>
                  </a:cubicBezTo>
                  <a:cubicBezTo>
                    <a:pt x="148" y="0"/>
                    <a:pt x="148" y="0"/>
                    <a:pt x="148" y="0"/>
                  </a:cubicBezTo>
                  <a:moveTo>
                    <a:pt x="148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moveTo>
                    <a:pt x="147" y="0"/>
                  </a:moveTo>
                  <a:cubicBezTo>
                    <a:pt x="147" y="0"/>
                    <a:pt x="147" y="0"/>
                    <a:pt x="146" y="0"/>
                  </a:cubicBezTo>
                  <a:cubicBezTo>
                    <a:pt x="147" y="0"/>
                    <a:pt x="147" y="0"/>
                    <a:pt x="147" y="0"/>
                  </a:cubicBezTo>
                  <a:moveTo>
                    <a:pt x="147" y="0"/>
                  </a:move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moveTo>
                    <a:pt x="148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moveTo>
                    <a:pt x="147" y="0"/>
                  </a:move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moveTo>
                    <a:pt x="148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moveTo>
                    <a:pt x="147" y="0"/>
                  </a:move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8" y="0"/>
                    <a:pt x="148" y="0"/>
                  </a:cubicBezTo>
                  <a:cubicBezTo>
                    <a:pt x="148" y="0"/>
                    <a:pt x="147" y="0"/>
                    <a:pt x="147" y="0"/>
                  </a:cubicBezTo>
                </a:path>
              </a:pathLst>
            </a:custGeom>
            <a:solidFill>
              <a:srgbClr val="B0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2" name="Freeform 54"/>
            <p:cNvSpPr/>
            <p:nvPr/>
          </p:nvSpPr>
          <p:spPr bwMode="auto">
            <a:xfrm>
              <a:off x="1199711" y="3520877"/>
              <a:ext cx="966622" cy="971567"/>
            </a:xfrm>
            <a:custGeom>
              <a:avLst/>
              <a:gdLst>
                <a:gd name="T0" fmla="*/ 147 w 269"/>
                <a:gd name="T1" fmla="*/ 0 h 270"/>
                <a:gd name="T2" fmla="*/ 146 w 269"/>
                <a:gd name="T3" fmla="*/ 0 h 270"/>
                <a:gd name="T4" fmla="*/ 146 w 269"/>
                <a:gd name="T5" fmla="*/ 0 h 270"/>
                <a:gd name="T6" fmla="*/ 145 w 269"/>
                <a:gd name="T7" fmla="*/ 0 h 270"/>
                <a:gd name="T8" fmla="*/ 145 w 269"/>
                <a:gd name="T9" fmla="*/ 0 h 270"/>
                <a:gd name="T10" fmla="*/ 145 w 269"/>
                <a:gd name="T11" fmla="*/ 0 h 270"/>
                <a:gd name="T12" fmla="*/ 144 w 269"/>
                <a:gd name="T13" fmla="*/ 0 h 270"/>
                <a:gd name="T14" fmla="*/ 143 w 269"/>
                <a:gd name="T15" fmla="*/ 0 h 270"/>
                <a:gd name="T16" fmla="*/ 143 w 269"/>
                <a:gd name="T17" fmla="*/ 0 h 270"/>
                <a:gd name="T18" fmla="*/ 112 w 269"/>
                <a:gd name="T19" fmla="*/ 5 h 270"/>
                <a:gd name="T20" fmla="*/ 4 w 269"/>
                <a:gd name="T21" fmla="*/ 113 h 270"/>
                <a:gd name="T22" fmla="*/ 0 w 269"/>
                <a:gd name="T23" fmla="*/ 143 h 270"/>
                <a:gd name="T24" fmla="*/ 0 w 269"/>
                <a:gd name="T25" fmla="*/ 144 h 270"/>
                <a:gd name="T26" fmla="*/ 0 w 269"/>
                <a:gd name="T27" fmla="*/ 145 h 270"/>
                <a:gd name="T28" fmla="*/ 0 w 269"/>
                <a:gd name="T29" fmla="*/ 145 h 270"/>
                <a:gd name="T30" fmla="*/ 0 w 269"/>
                <a:gd name="T31" fmla="*/ 146 h 270"/>
                <a:gd name="T32" fmla="*/ 0 w 269"/>
                <a:gd name="T33" fmla="*/ 146 h 270"/>
                <a:gd name="T34" fmla="*/ 0 w 269"/>
                <a:gd name="T35" fmla="*/ 147 h 270"/>
                <a:gd name="T36" fmla="*/ 0 w 269"/>
                <a:gd name="T37" fmla="*/ 147 h 270"/>
                <a:gd name="T38" fmla="*/ 0 w 269"/>
                <a:gd name="T39" fmla="*/ 148 h 270"/>
                <a:gd name="T40" fmla="*/ 0 w 269"/>
                <a:gd name="T41" fmla="*/ 148 h 270"/>
                <a:gd name="T42" fmla="*/ 0 w 269"/>
                <a:gd name="T43" fmla="*/ 149 h 270"/>
                <a:gd name="T44" fmla="*/ 0 w 269"/>
                <a:gd name="T45" fmla="*/ 149 h 270"/>
                <a:gd name="T46" fmla="*/ 0 w 269"/>
                <a:gd name="T47" fmla="*/ 150 h 270"/>
                <a:gd name="T48" fmla="*/ 0 w 269"/>
                <a:gd name="T49" fmla="*/ 150 h 270"/>
                <a:gd name="T50" fmla="*/ 0 w 269"/>
                <a:gd name="T51" fmla="*/ 151 h 270"/>
                <a:gd name="T52" fmla="*/ 0 w 269"/>
                <a:gd name="T53" fmla="*/ 151 h 270"/>
                <a:gd name="T54" fmla="*/ 0 w 269"/>
                <a:gd name="T55" fmla="*/ 152 h 270"/>
                <a:gd name="T56" fmla="*/ 0 w 269"/>
                <a:gd name="T57" fmla="*/ 152 h 270"/>
                <a:gd name="T58" fmla="*/ 0 w 269"/>
                <a:gd name="T59" fmla="*/ 153 h 270"/>
                <a:gd name="T60" fmla="*/ 0 w 269"/>
                <a:gd name="T61" fmla="*/ 153 h 270"/>
                <a:gd name="T62" fmla="*/ 0 w 269"/>
                <a:gd name="T63" fmla="*/ 153 h 270"/>
                <a:gd name="T64" fmla="*/ 0 w 269"/>
                <a:gd name="T65" fmla="*/ 154 h 270"/>
                <a:gd name="T66" fmla="*/ 0 w 269"/>
                <a:gd name="T67" fmla="*/ 154 h 270"/>
                <a:gd name="T68" fmla="*/ 0 w 269"/>
                <a:gd name="T69" fmla="*/ 155 h 270"/>
                <a:gd name="T70" fmla="*/ 0 w 269"/>
                <a:gd name="T71" fmla="*/ 155 h 270"/>
                <a:gd name="T72" fmla="*/ 0 w 269"/>
                <a:gd name="T73" fmla="*/ 156 h 270"/>
                <a:gd name="T74" fmla="*/ 0 w 269"/>
                <a:gd name="T75" fmla="*/ 156 h 270"/>
                <a:gd name="T76" fmla="*/ 38 w 269"/>
                <a:gd name="T77" fmla="*/ 187 h 270"/>
                <a:gd name="T78" fmla="*/ 156 w 269"/>
                <a:gd name="T79" fmla="*/ 0 h 270"/>
                <a:gd name="T80" fmla="*/ 155 w 269"/>
                <a:gd name="T81" fmla="*/ 0 h 270"/>
                <a:gd name="T82" fmla="*/ 155 w 269"/>
                <a:gd name="T83" fmla="*/ 0 h 270"/>
                <a:gd name="T84" fmla="*/ 154 w 269"/>
                <a:gd name="T85" fmla="*/ 0 h 270"/>
                <a:gd name="T86" fmla="*/ 154 w 269"/>
                <a:gd name="T87" fmla="*/ 0 h 270"/>
                <a:gd name="T88" fmla="*/ 153 w 269"/>
                <a:gd name="T89" fmla="*/ 0 h 270"/>
                <a:gd name="T90" fmla="*/ 153 w 269"/>
                <a:gd name="T91" fmla="*/ 0 h 270"/>
                <a:gd name="T92" fmla="*/ 152 w 269"/>
                <a:gd name="T93" fmla="*/ 0 h 270"/>
                <a:gd name="T94" fmla="*/ 152 w 269"/>
                <a:gd name="T95" fmla="*/ 0 h 270"/>
                <a:gd name="T96" fmla="*/ 151 w 269"/>
                <a:gd name="T97" fmla="*/ 0 h 270"/>
                <a:gd name="T98" fmla="*/ 151 w 269"/>
                <a:gd name="T99" fmla="*/ 0 h 270"/>
                <a:gd name="T100" fmla="*/ 150 w 269"/>
                <a:gd name="T101" fmla="*/ 0 h 270"/>
                <a:gd name="T102" fmla="*/ 150 w 269"/>
                <a:gd name="T103" fmla="*/ 0 h 270"/>
                <a:gd name="T104" fmla="*/ 149 w 269"/>
                <a:gd name="T105" fmla="*/ 0 h 270"/>
                <a:gd name="T106" fmla="*/ 149 w 269"/>
                <a:gd name="T107" fmla="*/ 0 h 270"/>
                <a:gd name="T108" fmla="*/ 148 w 269"/>
                <a:gd name="T109" fmla="*/ 0 h 270"/>
                <a:gd name="T110" fmla="*/ 148 w 269"/>
                <a:gd name="T111" fmla="*/ 0 h 270"/>
                <a:gd name="T112" fmla="*/ 147 w 269"/>
                <a:gd name="T1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9" h="270">
                  <a:moveTo>
                    <a:pt x="147" y="0"/>
                  </a:move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47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6" y="0"/>
                    <a:pt x="146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5" y="0"/>
                    <a:pt x="145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144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3" y="0"/>
                    <a:pt x="142" y="0"/>
                  </a:cubicBezTo>
                  <a:cubicBezTo>
                    <a:pt x="132" y="1"/>
                    <a:pt x="122" y="2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95" y="9"/>
                    <a:pt x="78" y="16"/>
                    <a:pt x="64" y="26"/>
                  </a:cubicBezTo>
                  <a:cubicBezTo>
                    <a:pt x="53" y="40"/>
                    <a:pt x="40" y="53"/>
                    <a:pt x="25" y="65"/>
                  </a:cubicBezTo>
                  <a:cubicBezTo>
                    <a:pt x="16" y="79"/>
                    <a:pt x="8" y="95"/>
                    <a:pt x="4" y="113"/>
                  </a:cubicBezTo>
                  <a:cubicBezTo>
                    <a:pt x="4" y="113"/>
                    <a:pt x="4" y="113"/>
                    <a:pt x="4" y="113"/>
                  </a:cubicBezTo>
                  <a:cubicBezTo>
                    <a:pt x="1" y="122"/>
                    <a:pt x="0" y="13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4"/>
                    <a:pt x="0" y="144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6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0" y="147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3" y="204"/>
                    <a:pt x="27" y="245"/>
                    <a:pt x="64" y="270"/>
                  </a:cubicBezTo>
                  <a:cubicBezTo>
                    <a:pt x="48" y="246"/>
                    <a:pt x="38" y="218"/>
                    <a:pt x="38" y="187"/>
                  </a:cubicBezTo>
                  <a:cubicBezTo>
                    <a:pt x="38" y="105"/>
                    <a:pt x="104" y="39"/>
                    <a:pt x="186" y="39"/>
                  </a:cubicBezTo>
                  <a:cubicBezTo>
                    <a:pt x="217" y="39"/>
                    <a:pt x="246" y="48"/>
                    <a:pt x="269" y="65"/>
                  </a:cubicBezTo>
                  <a:cubicBezTo>
                    <a:pt x="244" y="28"/>
                    <a:pt x="203" y="3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4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0"/>
                    <a:pt x="152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7" y="0"/>
                    <a:pt x="147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3" name="Freeform 55"/>
            <p:cNvSpPr/>
            <p:nvPr/>
          </p:nvSpPr>
          <p:spPr bwMode="auto">
            <a:xfrm>
              <a:off x="1288595" y="3614541"/>
              <a:ext cx="141263" cy="141290"/>
            </a:xfrm>
            <a:custGeom>
              <a:avLst/>
              <a:gdLst>
                <a:gd name="T0" fmla="*/ 39 w 39"/>
                <a:gd name="T1" fmla="*/ 0 h 39"/>
                <a:gd name="T2" fmla="*/ 39 w 39"/>
                <a:gd name="T3" fmla="*/ 0 h 39"/>
                <a:gd name="T4" fmla="*/ 0 w 39"/>
                <a:gd name="T5" fmla="*/ 39 h 39"/>
                <a:gd name="T6" fmla="*/ 0 w 39"/>
                <a:gd name="T7" fmla="*/ 39 h 39"/>
                <a:gd name="T8" fmla="*/ 0 w 39"/>
                <a:gd name="T9" fmla="*/ 39 h 39"/>
                <a:gd name="T10" fmla="*/ 0 w 39"/>
                <a:gd name="T11" fmla="*/ 39 h 39"/>
                <a:gd name="T12" fmla="*/ 0 w 39"/>
                <a:gd name="T13" fmla="*/ 39 h 39"/>
                <a:gd name="T14" fmla="*/ 0 w 39"/>
                <a:gd name="T15" fmla="*/ 39 h 39"/>
                <a:gd name="T16" fmla="*/ 39 w 39"/>
                <a:gd name="T17" fmla="*/ 0 h 39"/>
                <a:gd name="T18" fmla="*/ 39 w 39"/>
                <a:gd name="T19" fmla="*/ 0 h 39"/>
                <a:gd name="T20" fmla="*/ 39 w 39"/>
                <a:gd name="T2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8" y="14"/>
                    <a:pt x="15" y="27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5" y="27"/>
                    <a:pt x="28" y="14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6" name="Freeform 58"/>
            <p:cNvSpPr/>
            <p:nvPr/>
          </p:nvSpPr>
          <p:spPr bwMode="auto">
            <a:xfrm>
              <a:off x="1429858" y="3538339"/>
              <a:ext cx="173009" cy="76201"/>
            </a:xfrm>
            <a:custGeom>
              <a:avLst/>
              <a:gdLst>
                <a:gd name="T0" fmla="*/ 48 w 48"/>
                <a:gd name="T1" fmla="*/ 0 h 21"/>
                <a:gd name="T2" fmla="*/ 0 w 48"/>
                <a:gd name="T3" fmla="*/ 21 h 21"/>
                <a:gd name="T4" fmla="*/ 0 w 48"/>
                <a:gd name="T5" fmla="*/ 21 h 21"/>
                <a:gd name="T6" fmla="*/ 48 w 48"/>
                <a:gd name="T7" fmla="*/ 0 h 21"/>
                <a:gd name="T8" fmla="*/ 48 w 48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1">
                  <a:moveTo>
                    <a:pt x="48" y="0"/>
                  </a:moveTo>
                  <a:cubicBezTo>
                    <a:pt x="31" y="4"/>
                    <a:pt x="14" y="1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4" y="11"/>
                    <a:pt x="31" y="4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</a:path>
              </a:pathLst>
            </a:custGeom>
            <a:solidFill>
              <a:srgbClr val="A9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7" name="Freeform 59"/>
            <p:cNvSpPr/>
            <p:nvPr/>
          </p:nvSpPr>
          <p:spPr bwMode="auto">
            <a:xfrm>
              <a:off x="1429858" y="3363711"/>
              <a:ext cx="139676" cy="250829"/>
            </a:xfrm>
            <a:custGeom>
              <a:avLst/>
              <a:gdLst>
                <a:gd name="T0" fmla="*/ 39 w 39"/>
                <a:gd name="T1" fmla="*/ 0 h 70"/>
                <a:gd name="T2" fmla="*/ 39 w 39"/>
                <a:gd name="T3" fmla="*/ 0 h 70"/>
                <a:gd name="T4" fmla="*/ 0 w 39"/>
                <a:gd name="T5" fmla="*/ 70 h 70"/>
                <a:gd name="T6" fmla="*/ 0 w 39"/>
                <a:gd name="T7" fmla="*/ 70 h 70"/>
                <a:gd name="T8" fmla="*/ 0 w 39"/>
                <a:gd name="T9" fmla="*/ 70 h 70"/>
                <a:gd name="T10" fmla="*/ 26 w 39"/>
                <a:gd name="T11" fmla="*/ 30 h 70"/>
                <a:gd name="T12" fmla="*/ 39 w 39"/>
                <a:gd name="T1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70"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0" y="26"/>
                    <a:pt x="17" y="49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0" y="57"/>
                    <a:pt x="19" y="44"/>
                    <a:pt x="26" y="30"/>
                  </a:cubicBezTo>
                  <a:cubicBezTo>
                    <a:pt x="31" y="20"/>
                    <a:pt x="36" y="10"/>
                    <a:pt x="39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8" name="Freeform 60"/>
            <p:cNvSpPr/>
            <p:nvPr/>
          </p:nvSpPr>
          <p:spPr bwMode="auto">
            <a:xfrm>
              <a:off x="1429858" y="3538339"/>
              <a:ext cx="173009" cy="76201"/>
            </a:xfrm>
            <a:custGeom>
              <a:avLst/>
              <a:gdLst>
                <a:gd name="T0" fmla="*/ 48 w 48"/>
                <a:gd name="T1" fmla="*/ 0 h 21"/>
                <a:gd name="T2" fmla="*/ 0 w 48"/>
                <a:gd name="T3" fmla="*/ 21 h 21"/>
                <a:gd name="T4" fmla="*/ 0 w 48"/>
                <a:gd name="T5" fmla="*/ 21 h 21"/>
                <a:gd name="T6" fmla="*/ 48 w 48"/>
                <a:gd name="T7" fmla="*/ 0 h 21"/>
                <a:gd name="T8" fmla="*/ 48 w 48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1">
                  <a:moveTo>
                    <a:pt x="48" y="0"/>
                  </a:moveTo>
                  <a:cubicBezTo>
                    <a:pt x="31" y="4"/>
                    <a:pt x="14" y="1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4" y="11"/>
                    <a:pt x="31" y="4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</a:path>
              </a:pathLst>
            </a:custGeom>
            <a:solidFill>
              <a:srgbClr val="894D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79" name="Oval 61"/>
            <p:cNvSpPr>
              <a:spLocks noChangeArrowheads="1"/>
            </p:cNvSpPr>
            <p:nvPr/>
          </p:nvSpPr>
          <p:spPr bwMode="auto">
            <a:xfrm>
              <a:off x="1429858" y="3614541"/>
              <a:ext cx="0" cy="1588"/>
            </a:xfrm>
            <a:prstGeom prst="ellipse">
              <a:avLst/>
            </a:prstGeom>
            <a:solidFill>
              <a:srgbClr val="97A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2" name="Freeform 64"/>
            <p:cNvSpPr/>
            <p:nvPr/>
          </p:nvSpPr>
          <p:spPr bwMode="auto">
            <a:xfrm>
              <a:off x="1213995" y="3755831"/>
              <a:ext cx="74600" cy="171453"/>
            </a:xfrm>
            <a:custGeom>
              <a:avLst/>
              <a:gdLst>
                <a:gd name="T0" fmla="*/ 21 w 21"/>
                <a:gd name="T1" fmla="*/ 0 h 48"/>
                <a:gd name="T2" fmla="*/ 21 w 21"/>
                <a:gd name="T3" fmla="*/ 0 h 48"/>
                <a:gd name="T4" fmla="*/ 0 w 21"/>
                <a:gd name="T5" fmla="*/ 48 h 48"/>
                <a:gd name="T6" fmla="*/ 0 w 21"/>
                <a:gd name="T7" fmla="*/ 48 h 48"/>
                <a:gd name="T8" fmla="*/ 21 w 21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8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1" y="14"/>
                    <a:pt x="4" y="30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30"/>
                    <a:pt x="11" y="14"/>
                    <a:pt x="21" y="0"/>
                  </a:cubicBezTo>
                </a:path>
              </a:pathLst>
            </a:custGeom>
            <a:solidFill>
              <a:srgbClr val="A958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3" name="Freeform 65"/>
            <p:cNvSpPr/>
            <p:nvPr/>
          </p:nvSpPr>
          <p:spPr bwMode="auto">
            <a:xfrm>
              <a:off x="1037813" y="3755831"/>
              <a:ext cx="250782" cy="139702"/>
            </a:xfrm>
            <a:custGeom>
              <a:avLst/>
              <a:gdLst>
                <a:gd name="T0" fmla="*/ 70 w 70"/>
                <a:gd name="T1" fmla="*/ 0 h 39"/>
                <a:gd name="T2" fmla="*/ 0 w 70"/>
                <a:gd name="T3" fmla="*/ 39 h 39"/>
                <a:gd name="T4" fmla="*/ 0 w 70"/>
                <a:gd name="T5" fmla="*/ 39 h 39"/>
                <a:gd name="T6" fmla="*/ 30 w 70"/>
                <a:gd name="T7" fmla="*/ 26 h 39"/>
                <a:gd name="T8" fmla="*/ 70 w 70"/>
                <a:gd name="T9" fmla="*/ 0 h 39"/>
                <a:gd name="T10" fmla="*/ 70 w 70"/>
                <a:gd name="T11" fmla="*/ 0 h 39"/>
                <a:gd name="T12" fmla="*/ 70 w 7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39">
                  <a:moveTo>
                    <a:pt x="70" y="0"/>
                  </a:moveTo>
                  <a:cubicBezTo>
                    <a:pt x="49" y="16"/>
                    <a:pt x="26" y="30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1" y="35"/>
                    <a:pt x="21" y="31"/>
                    <a:pt x="30" y="26"/>
                  </a:cubicBezTo>
                  <a:cubicBezTo>
                    <a:pt x="44" y="18"/>
                    <a:pt x="58" y="1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4" name="Freeform 66"/>
            <p:cNvSpPr/>
            <p:nvPr/>
          </p:nvSpPr>
          <p:spPr bwMode="auto">
            <a:xfrm>
              <a:off x="1213995" y="3755831"/>
              <a:ext cx="74600" cy="171453"/>
            </a:xfrm>
            <a:custGeom>
              <a:avLst/>
              <a:gdLst>
                <a:gd name="T0" fmla="*/ 21 w 21"/>
                <a:gd name="T1" fmla="*/ 0 h 48"/>
                <a:gd name="T2" fmla="*/ 21 w 21"/>
                <a:gd name="T3" fmla="*/ 0 h 48"/>
                <a:gd name="T4" fmla="*/ 0 w 21"/>
                <a:gd name="T5" fmla="*/ 48 h 48"/>
                <a:gd name="T6" fmla="*/ 0 w 21"/>
                <a:gd name="T7" fmla="*/ 48 h 48"/>
                <a:gd name="T8" fmla="*/ 21 w 21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48"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1" y="14"/>
                    <a:pt x="4" y="30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30"/>
                    <a:pt x="12" y="14"/>
                    <a:pt x="21" y="0"/>
                  </a:cubicBezTo>
                </a:path>
              </a:pathLst>
            </a:custGeom>
            <a:solidFill>
              <a:srgbClr val="894D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5" name="Oval 67"/>
            <p:cNvSpPr>
              <a:spLocks noChangeArrowheads="1"/>
            </p:cNvSpPr>
            <p:nvPr/>
          </p:nvSpPr>
          <p:spPr bwMode="auto">
            <a:xfrm>
              <a:off x="1288595" y="3755831"/>
              <a:ext cx="1587" cy="0"/>
            </a:xfrm>
            <a:prstGeom prst="ellipse">
              <a:avLst/>
            </a:prstGeom>
            <a:solidFill>
              <a:srgbClr val="97A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6" name="Freeform 68"/>
            <p:cNvSpPr>
              <a:spLocks noEditPoints="1"/>
            </p:cNvSpPr>
            <p:nvPr/>
          </p:nvSpPr>
          <p:spPr bwMode="auto">
            <a:xfrm>
              <a:off x="1804445" y="4408304"/>
              <a:ext cx="88885" cy="11113"/>
            </a:xfrm>
            <a:custGeom>
              <a:avLst/>
              <a:gdLst>
                <a:gd name="T0" fmla="*/ 0 w 25"/>
                <a:gd name="T1" fmla="*/ 3 h 3"/>
                <a:gd name="T2" fmla="*/ 0 w 25"/>
                <a:gd name="T3" fmla="*/ 3 h 3"/>
                <a:gd name="T4" fmla="*/ 0 w 25"/>
                <a:gd name="T5" fmla="*/ 3 h 3"/>
                <a:gd name="T6" fmla="*/ 0 w 25"/>
                <a:gd name="T7" fmla="*/ 3 h 3"/>
                <a:gd name="T8" fmla="*/ 0 w 25"/>
                <a:gd name="T9" fmla="*/ 3 h 3"/>
                <a:gd name="T10" fmla="*/ 0 w 25"/>
                <a:gd name="T11" fmla="*/ 3 h 3"/>
                <a:gd name="T12" fmla="*/ 1 w 25"/>
                <a:gd name="T13" fmla="*/ 3 h 3"/>
                <a:gd name="T14" fmla="*/ 0 w 25"/>
                <a:gd name="T15" fmla="*/ 3 h 3"/>
                <a:gd name="T16" fmla="*/ 1 w 25"/>
                <a:gd name="T17" fmla="*/ 3 h 3"/>
                <a:gd name="T18" fmla="*/ 25 w 25"/>
                <a:gd name="T19" fmla="*/ 0 h 3"/>
                <a:gd name="T20" fmla="*/ 1 w 25"/>
                <a:gd name="T21" fmla="*/ 3 h 3"/>
                <a:gd name="T22" fmla="*/ 25 w 25"/>
                <a:gd name="T23" fmla="*/ 0 h 3"/>
                <a:gd name="T24" fmla="*/ 25 w 25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1" y="3"/>
                  </a:move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moveTo>
                    <a:pt x="25" y="0"/>
                  </a:moveTo>
                  <a:cubicBezTo>
                    <a:pt x="17" y="0"/>
                    <a:pt x="9" y="1"/>
                    <a:pt x="1" y="3"/>
                  </a:cubicBezTo>
                  <a:cubicBezTo>
                    <a:pt x="9" y="1"/>
                    <a:pt x="17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97A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9" name="Freeform 71"/>
            <p:cNvSpPr/>
            <p:nvPr/>
          </p:nvSpPr>
          <p:spPr bwMode="auto">
            <a:xfrm>
              <a:off x="1829840" y="4651197"/>
              <a:ext cx="406331" cy="406407"/>
            </a:xfrm>
            <a:custGeom>
              <a:avLst/>
              <a:gdLst>
                <a:gd name="T0" fmla="*/ 113 w 113"/>
                <a:gd name="T1" fmla="*/ 0 h 113"/>
                <a:gd name="T2" fmla="*/ 113 w 113"/>
                <a:gd name="T3" fmla="*/ 0 h 113"/>
                <a:gd name="T4" fmla="*/ 0 w 113"/>
                <a:gd name="T5" fmla="*/ 113 h 113"/>
                <a:gd name="T6" fmla="*/ 0 w 113"/>
                <a:gd name="T7" fmla="*/ 113 h 113"/>
                <a:gd name="T8" fmla="*/ 25 w 113"/>
                <a:gd name="T9" fmla="*/ 101 h 113"/>
                <a:gd name="T10" fmla="*/ 102 w 113"/>
                <a:gd name="T11" fmla="*/ 24 h 113"/>
                <a:gd name="T12" fmla="*/ 113 w 113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13">
                  <a:moveTo>
                    <a:pt x="113" y="0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93" y="52"/>
                    <a:pt x="52" y="93"/>
                    <a:pt x="0" y="113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10"/>
                    <a:pt x="17" y="106"/>
                    <a:pt x="25" y="101"/>
                  </a:cubicBezTo>
                  <a:cubicBezTo>
                    <a:pt x="57" y="84"/>
                    <a:pt x="84" y="57"/>
                    <a:pt x="102" y="24"/>
                  </a:cubicBezTo>
                  <a:cubicBezTo>
                    <a:pt x="106" y="16"/>
                    <a:pt x="110" y="8"/>
                    <a:pt x="113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0" name="Freeform 72"/>
            <p:cNvSpPr/>
            <p:nvPr/>
          </p:nvSpPr>
          <p:spPr bwMode="auto">
            <a:xfrm>
              <a:off x="1958406" y="4781374"/>
              <a:ext cx="338079" cy="338143"/>
            </a:xfrm>
            <a:custGeom>
              <a:avLst/>
              <a:gdLst>
                <a:gd name="T0" fmla="*/ 94 w 94"/>
                <a:gd name="T1" fmla="*/ 0 h 94"/>
                <a:gd name="T2" fmla="*/ 0 w 94"/>
                <a:gd name="T3" fmla="*/ 94 h 94"/>
                <a:gd name="T4" fmla="*/ 0 w 94"/>
                <a:gd name="T5" fmla="*/ 94 h 94"/>
                <a:gd name="T6" fmla="*/ 94 w 94"/>
                <a:gd name="T7" fmla="*/ 0 h 94"/>
                <a:gd name="T8" fmla="*/ 94 w 94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4">
                  <a:moveTo>
                    <a:pt x="94" y="0"/>
                  </a:moveTo>
                  <a:cubicBezTo>
                    <a:pt x="47" y="9"/>
                    <a:pt x="10" y="46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0" y="46"/>
                    <a:pt x="47" y="9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</a:path>
              </a:pathLst>
            </a:custGeom>
            <a:solidFill>
              <a:srgbClr val="2D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3" name="Freeform 75"/>
            <p:cNvSpPr/>
            <p:nvPr/>
          </p:nvSpPr>
          <p:spPr bwMode="auto">
            <a:xfrm>
              <a:off x="2753608" y="5843429"/>
              <a:ext cx="152374" cy="63501"/>
            </a:xfrm>
            <a:custGeom>
              <a:avLst/>
              <a:gdLst>
                <a:gd name="T0" fmla="*/ 42 w 42"/>
                <a:gd name="T1" fmla="*/ 0 h 18"/>
                <a:gd name="T2" fmla="*/ 0 w 42"/>
                <a:gd name="T3" fmla="*/ 18 h 18"/>
                <a:gd name="T4" fmla="*/ 0 w 42"/>
                <a:gd name="T5" fmla="*/ 18 h 18"/>
                <a:gd name="T6" fmla="*/ 42 w 42"/>
                <a:gd name="T7" fmla="*/ 0 h 18"/>
                <a:gd name="T8" fmla="*/ 42 w 4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8">
                  <a:moveTo>
                    <a:pt x="42" y="0"/>
                  </a:moveTo>
                  <a:cubicBezTo>
                    <a:pt x="26" y="2"/>
                    <a:pt x="12" y="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2" y="9"/>
                    <a:pt x="26" y="2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378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6" name="Oval 78"/>
            <p:cNvSpPr>
              <a:spLocks noChangeArrowheads="1"/>
            </p:cNvSpPr>
            <p:nvPr/>
          </p:nvSpPr>
          <p:spPr bwMode="auto">
            <a:xfrm>
              <a:off x="2753608" y="5906930"/>
              <a:ext cx="1588" cy="1588"/>
            </a:xfrm>
            <a:prstGeom prst="ellipse">
              <a:avLst/>
            </a:prstGeom>
            <a:solidFill>
              <a:srgbClr val="97A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9" name="Freeform 81"/>
            <p:cNvSpPr/>
            <p:nvPr/>
          </p:nvSpPr>
          <p:spPr bwMode="auto">
            <a:xfrm>
              <a:off x="2628217" y="5968844"/>
              <a:ext cx="63489" cy="147640"/>
            </a:xfrm>
            <a:custGeom>
              <a:avLst/>
              <a:gdLst>
                <a:gd name="T0" fmla="*/ 18 w 18"/>
                <a:gd name="T1" fmla="*/ 0 h 41"/>
                <a:gd name="T2" fmla="*/ 18 w 18"/>
                <a:gd name="T3" fmla="*/ 0 h 41"/>
                <a:gd name="T4" fmla="*/ 0 w 18"/>
                <a:gd name="T5" fmla="*/ 41 h 41"/>
                <a:gd name="T6" fmla="*/ 0 w 18"/>
                <a:gd name="T7" fmla="*/ 41 h 41"/>
                <a:gd name="T8" fmla="*/ 18 w 18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1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9" y="12"/>
                    <a:pt x="3" y="26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26"/>
                    <a:pt x="9" y="12"/>
                    <a:pt x="18" y="0"/>
                  </a:cubicBezTo>
                </a:path>
              </a:pathLst>
            </a:custGeom>
            <a:solidFill>
              <a:srgbClr val="378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0" name="Freeform 82"/>
            <p:cNvSpPr/>
            <p:nvPr/>
          </p:nvSpPr>
          <p:spPr bwMode="auto">
            <a:xfrm>
              <a:off x="2520286" y="5968844"/>
              <a:ext cx="171421" cy="100014"/>
            </a:xfrm>
            <a:custGeom>
              <a:avLst/>
              <a:gdLst>
                <a:gd name="T0" fmla="*/ 48 w 48"/>
                <a:gd name="T1" fmla="*/ 0 h 28"/>
                <a:gd name="T2" fmla="*/ 0 w 48"/>
                <a:gd name="T3" fmla="*/ 28 h 28"/>
                <a:gd name="T4" fmla="*/ 0 w 48"/>
                <a:gd name="T5" fmla="*/ 28 h 28"/>
                <a:gd name="T6" fmla="*/ 20 w 48"/>
                <a:gd name="T7" fmla="*/ 19 h 28"/>
                <a:gd name="T8" fmla="*/ 48 w 48"/>
                <a:gd name="T9" fmla="*/ 0 h 28"/>
                <a:gd name="T10" fmla="*/ 48 w 48"/>
                <a:gd name="T11" fmla="*/ 0 h 28"/>
                <a:gd name="T12" fmla="*/ 48 w 48"/>
                <a:gd name="T13" fmla="*/ 0 h 28"/>
                <a:gd name="T14" fmla="*/ 48 w 48"/>
                <a:gd name="T15" fmla="*/ 0 h 28"/>
                <a:gd name="T16" fmla="*/ 48 w 48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28">
                  <a:moveTo>
                    <a:pt x="48" y="0"/>
                  </a:moveTo>
                  <a:cubicBezTo>
                    <a:pt x="34" y="12"/>
                    <a:pt x="18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7" y="26"/>
                    <a:pt x="14" y="23"/>
                    <a:pt x="20" y="19"/>
                  </a:cubicBezTo>
                  <a:cubicBezTo>
                    <a:pt x="30" y="14"/>
                    <a:pt x="39" y="7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</a:path>
              </a:pathLst>
            </a:custGeom>
            <a:solidFill>
              <a:srgbClr val="C5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1" name="Freeform 83"/>
            <p:cNvSpPr/>
            <p:nvPr/>
          </p:nvSpPr>
          <p:spPr bwMode="auto">
            <a:xfrm>
              <a:off x="2628217" y="5968844"/>
              <a:ext cx="63489" cy="147640"/>
            </a:xfrm>
            <a:custGeom>
              <a:avLst/>
              <a:gdLst>
                <a:gd name="T0" fmla="*/ 18 w 18"/>
                <a:gd name="T1" fmla="*/ 0 h 41"/>
                <a:gd name="T2" fmla="*/ 18 w 18"/>
                <a:gd name="T3" fmla="*/ 0 h 41"/>
                <a:gd name="T4" fmla="*/ 0 w 18"/>
                <a:gd name="T5" fmla="*/ 41 h 41"/>
                <a:gd name="T6" fmla="*/ 0 w 18"/>
                <a:gd name="T7" fmla="*/ 41 h 41"/>
                <a:gd name="T8" fmla="*/ 18 w 18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1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9" y="12"/>
                    <a:pt x="3" y="26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26"/>
                    <a:pt x="9" y="12"/>
                    <a:pt x="18" y="0"/>
                  </a:cubicBezTo>
                </a:path>
              </a:pathLst>
            </a:custGeom>
            <a:solidFill>
              <a:srgbClr val="2575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2" name="Oval 84"/>
            <p:cNvSpPr>
              <a:spLocks noChangeArrowheads="1"/>
            </p:cNvSpPr>
            <p:nvPr/>
          </p:nvSpPr>
          <p:spPr bwMode="auto">
            <a:xfrm>
              <a:off x="2691706" y="5968844"/>
              <a:ext cx="1587" cy="0"/>
            </a:xfrm>
            <a:prstGeom prst="ellipse">
              <a:avLst/>
            </a:prstGeom>
            <a:solidFill>
              <a:srgbClr val="97A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3" name="Freeform 85"/>
            <p:cNvSpPr>
              <a:spLocks noEditPoints="1"/>
            </p:cNvSpPr>
            <p:nvPr/>
          </p:nvSpPr>
          <p:spPr bwMode="auto">
            <a:xfrm>
              <a:off x="2807574" y="6008532"/>
              <a:ext cx="303161" cy="334969"/>
            </a:xfrm>
            <a:custGeom>
              <a:avLst/>
              <a:gdLst>
                <a:gd name="T0" fmla="*/ 67 w 84"/>
                <a:gd name="T1" fmla="*/ 13 h 93"/>
                <a:gd name="T2" fmla="*/ 59 w 84"/>
                <a:gd name="T3" fmla="*/ 23 h 93"/>
                <a:gd name="T4" fmla="*/ 71 w 84"/>
                <a:gd name="T5" fmla="*/ 47 h 93"/>
                <a:gd name="T6" fmla="*/ 43 w 84"/>
                <a:gd name="T7" fmla="*/ 76 h 93"/>
                <a:gd name="T8" fmla="*/ 43 w 84"/>
                <a:gd name="T9" fmla="*/ 71 h 93"/>
                <a:gd name="T10" fmla="*/ 24 w 84"/>
                <a:gd name="T11" fmla="*/ 82 h 93"/>
                <a:gd name="T12" fmla="*/ 43 w 84"/>
                <a:gd name="T13" fmla="*/ 93 h 93"/>
                <a:gd name="T14" fmla="*/ 43 w 84"/>
                <a:gd name="T15" fmla="*/ 89 h 93"/>
                <a:gd name="T16" fmla="*/ 84 w 84"/>
                <a:gd name="T17" fmla="*/ 47 h 93"/>
                <a:gd name="T18" fmla="*/ 67 w 84"/>
                <a:gd name="T19" fmla="*/ 13 h 93"/>
                <a:gd name="T20" fmla="*/ 38 w 84"/>
                <a:gd name="T21" fmla="*/ 0 h 93"/>
                <a:gd name="T22" fmla="*/ 38 w 84"/>
                <a:gd name="T23" fmla="*/ 5 h 93"/>
                <a:gd name="T24" fmla="*/ 0 w 84"/>
                <a:gd name="T25" fmla="*/ 47 h 93"/>
                <a:gd name="T26" fmla="*/ 14 w 84"/>
                <a:gd name="T27" fmla="*/ 78 h 93"/>
                <a:gd name="T28" fmla="*/ 23 w 84"/>
                <a:gd name="T29" fmla="*/ 69 h 93"/>
                <a:gd name="T30" fmla="*/ 13 w 84"/>
                <a:gd name="T31" fmla="*/ 47 h 93"/>
                <a:gd name="T32" fmla="*/ 38 w 84"/>
                <a:gd name="T33" fmla="*/ 18 h 93"/>
                <a:gd name="T34" fmla="*/ 38 w 84"/>
                <a:gd name="T35" fmla="*/ 22 h 93"/>
                <a:gd name="T36" fmla="*/ 57 w 84"/>
                <a:gd name="T37" fmla="*/ 11 h 93"/>
                <a:gd name="T38" fmla="*/ 38 w 84"/>
                <a:gd name="T3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93">
                  <a:moveTo>
                    <a:pt x="67" y="13"/>
                  </a:moveTo>
                  <a:cubicBezTo>
                    <a:pt x="59" y="23"/>
                    <a:pt x="59" y="23"/>
                    <a:pt x="59" y="23"/>
                  </a:cubicBezTo>
                  <a:cubicBezTo>
                    <a:pt x="66" y="29"/>
                    <a:pt x="71" y="37"/>
                    <a:pt x="71" y="47"/>
                  </a:cubicBezTo>
                  <a:cubicBezTo>
                    <a:pt x="71" y="62"/>
                    <a:pt x="59" y="75"/>
                    <a:pt x="43" y="76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66" y="88"/>
                    <a:pt x="84" y="69"/>
                    <a:pt x="84" y="47"/>
                  </a:cubicBezTo>
                  <a:cubicBezTo>
                    <a:pt x="84" y="33"/>
                    <a:pt x="77" y="21"/>
                    <a:pt x="67" y="13"/>
                  </a:cubicBezTo>
                  <a:moveTo>
                    <a:pt x="38" y="0"/>
                  </a:moveTo>
                  <a:cubicBezTo>
                    <a:pt x="38" y="5"/>
                    <a:pt x="38" y="5"/>
                    <a:pt x="38" y="5"/>
                  </a:cubicBezTo>
                  <a:cubicBezTo>
                    <a:pt x="17" y="7"/>
                    <a:pt x="0" y="25"/>
                    <a:pt x="0" y="47"/>
                  </a:cubicBezTo>
                  <a:cubicBezTo>
                    <a:pt x="0" y="59"/>
                    <a:pt x="5" y="70"/>
                    <a:pt x="14" y="78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17" y="63"/>
                    <a:pt x="13" y="55"/>
                    <a:pt x="13" y="47"/>
                  </a:cubicBezTo>
                  <a:cubicBezTo>
                    <a:pt x="13" y="32"/>
                    <a:pt x="24" y="20"/>
                    <a:pt x="38" y="18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38" y="0"/>
                    <a:pt x="38" y="0"/>
                    <a:pt x="3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4" name="Freeform 86"/>
            <p:cNvSpPr>
              <a:spLocks noEditPoints="1"/>
            </p:cNvSpPr>
            <p:nvPr/>
          </p:nvSpPr>
          <p:spPr bwMode="auto">
            <a:xfrm>
              <a:off x="799729" y="2398495"/>
              <a:ext cx="687270" cy="571510"/>
            </a:xfrm>
            <a:custGeom>
              <a:avLst/>
              <a:gdLst>
                <a:gd name="T0" fmla="*/ 25 w 191"/>
                <a:gd name="T1" fmla="*/ 89 h 159"/>
                <a:gd name="T2" fmla="*/ 113 w 191"/>
                <a:gd name="T3" fmla="*/ 89 h 159"/>
                <a:gd name="T4" fmla="*/ 80 w 191"/>
                <a:gd name="T5" fmla="*/ 20 h 159"/>
                <a:gd name="T6" fmla="*/ 58 w 191"/>
                <a:gd name="T7" fmla="*/ 33 h 159"/>
                <a:gd name="T8" fmla="*/ 28 w 191"/>
                <a:gd name="T9" fmla="*/ 33 h 159"/>
                <a:gd name="T10" fmla="*/ 21 w 191"/>
                <a:gd name="T11" fmla="*/ 57 h 159"/>
                <a:gd name="T12" fmla="*/ 0 w 191"/>
                <a:gd name="T13" fmla="*/ 79 h 159"/>
                <a:gd name="T14" fmla="*/ 12 w 191"/>
                <a:gd name="T15" fmla="*/ 100 h 159"/>
                <a:gd name="T16" fmla="*/ 12 w 191"/>
                <a:gd name="T17" fmla="*/ 131 h 159"/>
                <a:gd name="T18" fmla="*/ 37 w 191"/>
                <a:gd name="T19" fmla="*/ 137 h 159"/>
                <a:gd name="T20" fmla="*/ 58 w 191"/>
                <a:gd name="T21" fmla="*/ 159 h 159"/>
                <a:gd name="T22" fmla="*/ 80 w 191"/>
                <a:gd name="T23" fmla="*/ 146 h 159"/>
                <a:gd name="T24" fmla="*/ 110 w 191"/>
                <a:gd name="T25" fmla="*/ 146 h 159"/>
                <a:gd name="T26" fmla="*/ 116 w 191"/>
                <a:gd name="T27" fmla="*/ 122 h 159"/>
                <a:gd name="T28" fmla="*/ 138 w 191"/>
                <a:gd name="T29" fmla="*/ 100 h 159"/>
                <a:gd name="T30" fmla="*/ 125 w 191"/>
                <a:gd name="T31" fmla="*/ 79 h 159"/>
                <a:gd name="T32" fmla="*/ 126 w 191"/>
                <a:gd name="T33" fmla="*/ 48 h 159"/>
                <a:gd name="T34" fmla="*/ 101 w 191"/>
                <a:gd name="T35" fmla="*/ 42 h 159"/>
                <a:gd name="T36" fmla="*/ 80 w 191"/>
                <a:gd name="T37" fmla="*/ 20 h 159"/>
                <a:gd name="T38" fmla="*/ 141 w 191"/>
                <a:gd name="T39" fmla="*/ 34 h 159"/>
                <a:gd name="T40" fmla="*/ 175 w 191"/>
                <a:gd name="T41" fmla="*/ 34 h 159"/>
                <a:gd name="T42" fmla="*/ 163 w 191"/>
                <a:gd name="T43" fmla="*/ 0 h 159"/>
                <a:gd name="T44" fmla="*/ 153 w 191"/>
                <a:gd name="T45" fmla="*/ 7 h 159"/>
                <a:gd name="T46" fmla="*/ 138 w 191"/>
                <a:gd name="T47" fmla="*/ 7 h 159"/>
                <a:gd name="T48" fmla="*/ 135 w 191"/>
                <a:gd name="T49" fmla="*/ 18 h 159"/>
                <a:gd name="T50" fmla="*/ 125 w 191"/>
                <a:gd name="T51" fmla="*/ 29 h 159"/>
                <a:gd name="T52" fmla="*/ 131 w 191"/>
                <a:gd name="T53" fmla="*/ 39 h 159"/>
                <a:gd name="T54" fmla="*/ 131 w 191"/>
                <a:gd name="T55" fmla="*/ 54 h 159"/>
                <a:gd name="T56" fmla="*/ 143 w 191"/>
                <a:gd name="T57" fmla="*/ 57 h 159"/>
                <a:gd name="T58" fmla="*/ 153 w 191"/>
                <a:gd name="T59" fmla="*/ 67 h 159"/>
                <a:gd name="T60" fmla="*/ 163 w 191"/>
                <a:gd name="T61" fmla="*/ 61 h 159"/>
                <a:gd name="T62" fmla="*/ 178 w 191"/>
                <a:gd name="T63" fmla="*/ 61 h 159"/>
                <a:gd name="T64" fmla="*/ 181 w 191"/>
                <a:gd name="T65" fmla="*/ 49 h 159"/>
                <a:gd name="T66" fmla="*/ 191 w 191"/>
                <a:gd name="T67" fmla="*/ 39 h 159"/>
                <a:gd name="T68" fmla="*/ 185 w 191"/>
                <a:gd name="T69" fmla="*/ 29 h 159"/>
                <a:gd name="T70" fmla="*/ 185 w 191"/>
                <a:gd name="T71" fmla="*/ 14 h 159"/>
                <a:gd name="T72" fmla="*/ 174 w 191"/>
                <a:gd name="T73" fmla="*/ 11 h 159"/>
                <a:gd name="T74" fmla="*/ 163 w 191"/>
                <a:gd name="T7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1" h="159">
                  <a:moveTo>
                    <a:pt x="69" y="133"/>
                  </a:moveTo>
                  <a:cubicBezTo>
                    <a:pt x="45" y="133"/>
                    <a:pt x="25" y="114"/>
                    <a:pt x="25" y="89"/>
                  </a:cubicBezTo>
                  <a:cubicBezTo>
                    <a:pt x="25" y="65"/>
                    <a:pt x="45" y="46"/>
                    <a:pt x="69" y="46"/>
                  </a:cubicBezTo>
                  <a:cubicBezTo>
                    <a:pt x="93" y="46"/>
                    <a:pt x="113" y="65"/>
                    <a:pt x="113" y="89"/>
                  </a:cubicBezTo>
                  <a:cubicBezTo>
                    <a:pt x="113" y="114"/>
                    <a:pt x="93" y="133"/>
                    <a:pt x="69" y="133"/>
                  </a:cubicBezTo>
                  <a:moveTo>
                    <a:pt x="80" y="20"/>
                  </a:moveTo>
                  <a:cubicBezTo>
                    <a:pt x="58" y="20"/>
                    <a:pt x="58" y="20"/>
                    <a:pt x="58" y="20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0" y="35"/>
                    <a:pt x="43" y="38"/>
                    <a:pt x="37" y="42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17" y="64"/>
                    <a:pt x="14" y="71"/>
                    <a:pt x="12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4" y="108"/>
                    <a:pt x="17" y="115"/>
                    <a:pt x="21" y="122"/>
                  </a:cubicBezTo>
                  <a:cubicBezTo>
                    <a:pt x="12" y="131"/>
                    <a:pt x="12" y="131"/>
                    <a:pt x="12" y="13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37" y="137"/>
                    <a:pt x="37" y="137"/>
                    <a:pt x="37" y="137"/>
                  </a:cubicBezTo>
                  <a:cubicBezTo>
                    <a:pt x="43" y="141"/>
                    <a:pt x="50" y="144"/>
                    <a:pt x="58" y="146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7" y="144"/>
                    <a:pt x="95" y="141"/>
                    <a:pt x="101" y="137"/>
                  </a:cubicBezTo>
                  <a:cubicBezTo>
                    <a:pt x="110" y="146"/>
                    <a:pt x="110" y="146"/>
                    <a:pt x="110" y="146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16" y="122"/>
                    <a:pt x="116" y="122"/>
                    <a:pt x="116" y="122"/>
                  </a:cubicBezTo>
                  <a:cubicBezTo>
                    <a:pt x="121" y="115"/>
                    <a:pt x="124" y="108"/>
                    <a:pt x="125" y="100"/>
                  </a:cubicBezTo>
                  <a:cubicBezTo>
                    <a:pt x="138" y="100"/>
                    <a:pt x="138" y="100"/>
                    <a:pt x="138" y="100"/>
                  </a:cubicBezTo>
                  <a:cubicBezTo>
                    <a:pt x="138" y="79"/>
                    <a:pt x="138" y="79"/>
                    <a:pt x="138" y="79"/>
                  </a:cubicBezTo>
                  <a:cubicBezTo>
                    <a:pt x="125" y="79"/>
                    <a:pt x="125" y="79"/>
                    <a:pt x="125" y="79"/>
                  </a:cubicBezTo>
                  <a:cubicBezTo>
                    <a:pt x="124" y="71"/>
                    <a:pt x="121" y="64"/>
                    <a:pt x="116" y="57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10" y="33"/>
                    <a:pt x="110" y="33"/>
                    <a:pt x="110" y="33"/>
                  </a:cubicBezTo>
                  <a:cubicBezTo>
                    <a:pt x="101" y="42"/>
                    <a:pt x="101" y="42"/>
                    <a:pt x="101" y="42"/>
                  </a:cubicBezTo>
                  <a:cubicBezTo>
                    <a:pt x="95" y="38"/>
                    <a:pt x="87" y="35"/>
                    <a:pt x="80" y="33"/>
                  </a:cubicBezTo>
                  <a:cubicBezTo>
                    <a:pt x="80" y="20"/>
                    <a:pt x="80" y="20"/>
                    <a:pt x="80" y="20"/>
                  </a:cubicBezTo>
                  <a:moveTo>
                    <a:pt x="158" y="51"/>
                  </a:moveTo>
                  <a:cubicBezTo>
                    <a:pt x="149" y="51"/>
                    <a:pt x="141" y="43"/>
                    <a:pt x="141" y="34"/>
                  </a:cubicBezTo>
                  <a:cubicBezTo>
                    <a:pt x="141" y="24"/>
                    <a:pt x="149" y="17"/>
                    <a:pt x="158" y="17"/>
                  </a:cubicBezTo>
                  <a:cubicBezTo>
                    <a:pt x="168" y="17"/>
                    <a:pt x="175" y="24"/>
                    <a:pt x="175" y="34"/>
                  </a:cubicBezTo>
                  <a:cubicBezTo>
                    <a:pt x="175" y="43"/>
                    <a:pt x="168" y="51"/>
                    <a:pt x="158" y="51"/>
                  </a:cubicBezTo>
                  <a:moveTo>
                    <a:pt x="163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153" y="7"/>
                    <a:pt x="153" y="7"/>
                    <a:pt x="153" y="7"/>
                  </a:cubicBezTo>
                  <a:cubicBezTo>
                    <a:pt x="149" y="7"/>
                    <a:pt x="146" y="9"/>
                    <a:pt x="143" y="11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1" y="14"/>
                    <a:pt x="131" y="14"/>
                    <a:pt x="131" y="14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3" y="21"/>
                    <a:pt x="132" y="25"/>
                    <a:pt x="131" y="29"/>
                  </a:cubicBezTo>
                  <a:cubicBezTo>
                    <a:pt x="125" y="29"/>
                    <a:pt x="125" y="29"/>
                    <a:pt x="125" y="2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2" y="43"/>
                    <a:pt x="133" y="46"/>
                    <a:pt x="135" y="49"/>
                  </a:cubicBezTo>
                  <a:cubicBezTo>
                    <a:pt x="131" y="54"/>
                    <a:pt x="131" y="54"/>
                    <a:pt x="131" y="54"/>
                  </a:cubicBezTo>
                  <a:cubicBezTo>
                    <a:pt x="138" y="61"/>
                    <a:pt x="138" y="61"/>
                    <a:pt x="138" y="61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46" y="59"/>
                    <a:pt x="149" y="60"/>
                    <a:pt x="153" y="61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1"/>
                    <a:pt x="163" y="61"/>
                    <a:pt x="163" y="61"/>
                  </a:cubicBezTo>
                  <a:cubicBezTo>
                    <a:pt x="167" y="60"/>
                    <a:pt x="171" y="59"/>
                    <a:pt x="174" y="57"/>
                  </a:cubicBezTo>
                  <a:cubicBezTo>
                    <a:pt x="178" y="61"/>
                    <a:pt x="178" y="61"/>
                    <a:pt x="178" y="61"/>
                  </a:cubicBezTo>
                  <a:cubicBezTo>
                    <a:pt x="185" y="54"/>
                    <a:pt x="185" y="54"/>
                    <a:pt x="185" y="54"/>
                  </a:cubicBezTo>
                  <a:cubicBezTo>
                    <a:pt x="181" y="49"/>
                    <a:pt x="181" y="49"/>
                    <a:pt x="181" y="49"/>
                  </a:cubicBezTo>
                  <a:cubicBezTo>
                    <a:pt x="183" y="46"/>
                    <a:pt x="185" y="43"/>
                    <a:pt x="185" y="39"/>
                  </a:cubicBezTo>
                  <a:cubicBezTo>
                    <a:pt x="191" y="39"/>
                    <a:pt x="191" y="39"/>
                    <a:pt x="191" y="39"/>
                  </a:cubicBezTo>
                  <a:cubicBezTo>
                    <a:pt x="191" y="29"/>
                    <a:pt x="191" y="29"/>
                    <a:pt x="191" y="29"/>
                  </a:cubicBezTo>
                  <a:cubicBezTo>
                    <a:pt x="185" y="29"/>
                    <a:pt x="185" y="29"/>
                    <a:pt x="185" y="29"/>
                  </a:cubicBezTo>
                  <a:cubicBezTo>
                    <a:pt x="185" y="25"/>
                    <a:pt x="183" y="21"/>
                    <a:pt x="181" y="18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74" y="11"/>
                    <a:pt x="174" y="11"/>
                    <a:pt x="174" y="11"/>
                  </a:cubicBezTo>
                  <a:cubicBezTo>
                    <a:pt x="171" y="9"/>
                    <a:pt x="167" y="7"/>
                    <a:pt x="163" y="7"/>
                  </a:cubicBezTo>
                  <a:cubicBezTo>
                    <a:pt x="163" y="0"/>
                    <a:pt x="163" y="0"/>
                    <a:pt x="163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5" name="Freeform 87"/>
            <p:cNvSpPr>
              <a:spLocks noEditPoints="1"/>
            </p:cNvSpPr>
            <p:nvPr/>
          </p:nvSpPr>
          <p:spPr bwMode="auto">
            <a:xfrm>
              <a:off x="2174270" y="5040140"/>
              <a:ext cx="395220" cy="352431"/>
            </a:xfrm>
            <a:custGeom>
              <a:avLst/>
              <a:gdLst>
                <a:gd name="T0" fmla="*/ 23 w 110"/>
                <a:gd name="T1" fmla="*/ 40 h 98"/>
                <a:gd name="T2" fmla="*/ 34 w 110"/>
                <a:gd name="T3" fmla="*/ 55 h 98"/>
                <a:gd name="T4" fmla="*/ 50 w 110"/>
                <a:gd name="T5" fmla="*/ 44 h 98"/>
                <a:gd name="T6" fmla="*/ 39 w 110"/>
                <a:gd name="T7" fmla="*/ 30 h 98"/>
                <a:gd name="T8" fmla="*/ 50 w 110"/>
                <a:gd name="T9" fmla="*/ 22 h 98"/>
                <a:gd name="T10" fmla="*/ 8 w 110"/>
                <a:gd name="T11" fmla="*/ 0 h 98"/>
                <a:gd name="T12" fmla="*/ 11 w 110"/>
                <a:gd name="T13" fmla="*/ 48 h 98"/>
                <a:gd name="T14" fmla="*/ 23 w 110"/>
                <a:gd name="T15" fmla="*/ 40 h 98"/>
                <a:gd name="T16" fmla="*/ 88 w 110"/>
                <a:gd name="T17" fmla="*/ 41 h 98"/>
                <a:gd name="T18" fmla="*/ 100 w 110"/>
                <a:gd name="T19" fmla="*/ 49 h 98"/>
                <a:gd name="T20" fmla="*/ 105 w 110"/>
                <a:gd name="T21" fmla="*/ 1 h 98"/>
                <a:gd name="T22" fmla="*/ 62 w 110"/>
                <a:gd name="T23" fmla="*/ 22 h 98"/>
                <a:gd name="T24" fmla="*/ 73 w 110"/>
                <a:gd name="T25" fmla="*/ 30 h 98"/>
                <a:gd name="T26" fmla="*/ 0 w 110"/>
                <a:gd name="T27" fmla="*/ 78 h 98"/>
                <a:gd name="T28" fmla="*/ 4 w 110"/>
                <a:gd name="T29" fmla="*/ 96 h 98"/>
                <a:gd name="T30" fmla="*/ 88 w 110"/>
                <a:gd name="T31" fmla="*/ 41 h 98"/>
                <a:gd name="T32" fmla="*/ 77 w 110"/>
                <a:gd name="T33" fmla="*/ 66 h 98"/>
                <a:gd name="T34" fmla="*/ 62 w 110"/>
                <a:gd name="T35" fmla="*/ 78 h 98"/>
                <a:gd name="T36" fmla="*/ 105 w 110"/>
                <a:gd name="T37" fmla="*/ 98 h 98"/>
                <a:gd name="T38" fmla="*/ 110 w 110"/>
                <a:gd name="T39" fmla="*/ 80 h 98"/>
                <a:gd name="T40" fmla="*/ 77 w 110"/>
                <a:gd name="T41" fmla="*/ 6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98">
                  <a:moveTo>
                    <a:pt x="23" y="40"/>
                  </a:moveTo>
                  <a:cubicBezTo>
                    <a:pt x="27" y="45"/>
                    <a:pt x="30" y="50"/>
                    <a:pt x="34" y="55"/>
                  </a:cubicBezTo>
                  <a:cubicBezTo>
                    <a:pt x="40" y="52"/>
                    <a:pt x="45" y="48"/>
                    <a:pt x="50" y="44"/>
                  </a:cubicBezTo>
                  <a:cubicBezTo>
                    <a:pt x="46" y="40"/>
                    <a:pt x="42" y="35"/>
                    <a:pt x="39" y="30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48"/>
                    <a:pt x="11" y="48"/>
                    <a:pt x="11" y="48"/>
                  </a:cubicBezTo>
                  <a:lnTo>
                    <a:pt x="23" y="40"/>
                  </a:lnTo>
                  <a:close/>
                  <a:moveTo>
                    <a:pt x="88" y="41"/>
                  </a:moveTo>
                  <a:cubicBezTo>
                    <a:pt x="100" y="49"/>
                    <a:pt x="100" y="49"/>
                    <a:pt x="100" y="4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46" y="68"/>
                    <a:pt x="1" y="78"/>
                    <a:pt x="0" y="78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6" y="96"/>
                    <a:pt x="57" y="85"/>
                    <a:pt x="88" y="41"/>
                  </a:cubicBezTo>
                  <a:close/>
                  <a:moveTo>
                    <a:pt x="77" y="66"/>
                  </a:moveTo>
                  <a:cubicBezTo>
                    <a:pt x="72" y="70"/>
                    <a:pt x="67" y="75"/>
                    <a:pt x="62" y="78"/>
                  </a:cubicBezTo>
                  <a:cubicBezTo>
                    <a:pt x="84" y="93"/>
                    <a:pt x="104" y="98"/>
                    <a:pt x="105" y="98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09" y="80"/>
                    <a:pt x="95" y="76"/>
                    <a:pt x="77" y="6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6" name="Freeform 88"/>
            <p:cNvSpPr>
              <a:spLocks noEditPoints="1"/>
            </p:cNvSpPr>
            <p:nvPr/>
          </p:nvSpPr>
          <p:spPr bwMode="auto">
            <a:xfrm>
              <a:off x="1390178" y="3873308"/>
              <a:ext cx="676160" cy="342906"/>
            </a:xfrm>
            <a:custGeom>
              <a:avLst/>
              <a:gdLst>
                <a:gd name="T0" fmla="*/ 26 w 188"/>
                <a:gd name="T1" fmla="*/ 37 h 95"/>
                <a:gd name="T2" fmla="*/ 17 w 188"/>
                <a:gd name="T3" fmla="*/ 46 h 95"/>
                <a:gd name="T4" fmla="*/ 20 w 188"/>
                <a:gd name="T5" fmla="*/ 53 h 95"/>
                <a:gd name="T6" fmla="*/ 4 w 188"/>
                <a:gd name="T7" fmla="*/ 78 h 95"/>
                <a:gd name="T8" fmla="*/ 6 w 188"/>
                <a:gd name="T9" fmla="*/ 78 h 95"/>
                <a:gd name="T10" fmla="*/ 16 w 188"/>
                <a:gd name="T11" fmla="*/ 69 h 95"/>
                <a:gd name="T12" fmla="*/ 11 w 188"/>
                <a:gd name="T13" fmla="*/ 95 h 95"/>
                <a:gd name="T14" fmla="*/ 19 w 188"/>
                <a:gd name="T15" fmla="*/ 95 h 95"/>
                <a:gd name="T16" fmla="*/ 26 w 188"/>
                <a:gd name="T17" fmla="*/ 84 h 95"/>
                <a:gd name="T18" fmla="*/ 32 w 188"/>
                <a:gd name="T19" fmla="*/ 95 h 95"/>
                <a:gd name="T20" fmla="*/ 40 w 188"/>
                <a:gd name="T21" fmla="*/ 95 h 95"/>
                <a:gd name="T22" fmla="*/ 35 w 188"/>
                <a:gd name="T23" fmla="*/ 69 h 95"/>
                <a:gd name="T24" fmla="*/ 46 w 188"/>
                <a:gd name="T25" fmla="*/ 78 h 95"/>
                <a:gd name="T26" fmla="*/ 47 w 188"/>
                <a:gd name="T27" fmla="*/ 78 h 95"/>
                <a:gd name="T28" fmla="*/ 31 w 188"/>
                <a:gd name="T29" fmla="*/ 53 h 95"/>
                <a:gd name="T30" fmla="*/ 35 w 188"/>
                <a:gd name="T31" fmla="*/ 46 h 95"/>
                <a:gd name="T32" fmla="*/ 26 w 188"/>
                <a:gd name="T33" fmla="*/ 37 h 95"/>
                <a:gd name="T34" fmla="*/ 163 w 188"/>
                <a:gd name="T35" fmla="*/ 37 h 95"/>
                <a:gd name="T36" fmla="*/ 154 w 188"/>
                <a:gd name="T37" fmla="*/ 46 h 95"/>
                <a:gd name="T38" fmla="*/ 157 w 188"/>
                <a:gd name="T39" fmla="*/ 53 h 95"/>
                <a:gd name="T40" fmla="*/ 141 w 188"/>
                <a:gd name="T41" fmla="*/ 78 h 95"/>
                <a:gd name="T42" fmla="*/ 143 w 188"/>
                <a:gd name="T43" fmla="*/ 78 h 95"/>
                <a:gd name="T44" fmla="*/ 153 w 188"/>
                <a:gd name="T45" fmla="*/ 69 h 95"/>
                <a:gd name="T46" fmla="*/ 148 w 188"/>
                <a:gd name="T47" fmla="*/ 95 h 95"/>
                <a:gd name="T48" fmla="*/ 157 w 188"/>
                <a:gd name="T49" fmla="*/ 95 h 95"/>
                <a:gd name="T50" fmla="*/ 163 w 188"/>
                <a:gd name="T51" fmla="*/ 84 h 95"/>
                <a:gd name="T52" fmla="*/ 169 w 188"/>
                <a:gd name="T53" fmla="*/ 95 h 95"/>
                <a:gd name="T54" fmla="*/ 177 w 188"/>
                <a:gd name="T55" fmla="*/ 95 h 95"/>
                <a:gd name="T56" fmla="*/ 173 w 188"/>
                <a:gd name="T57" fmla="*/ 69 h 95"/>
                <a:gd name="T58" fmla="*/ 183 w 188"/>
                <a:gd name="T59" fmla="*/ 78 h 95"/>
                <a:gd name="T60" fmla="*/ 185 w 188"/>
                <a:gd name="T61" fmla="*/ 78 h 95"/>
                <a:gd name="T62" fmla="*/ 169 w 188"/>
                <a:gd name="T63" fmla="*/ 53 h 95"/>
                <a:gd name="T64" fmla="*/ 172 w 188"/>
                <a:gd name="T65" fmla="*/ 46 h 95"/>
                <a:gd name="T66" fmla="*/ 163 w 188"/>
                <a:gd name="T67" fmla="*/ 37 h 95"/>
                <a:gd name="T68" fmla="*/ 96 w 188"/>
                <a:gd name="T69" fmla="*/ 0 h 95"/>
                <a:gd name="T70" fmla="*/ 81 w 188"/>
                <a:gd name="T71" fmla="*/ 14 h 95"/>
                <a:gd name="T72" fmla="*/ 87 w 188"/>
                <a:gd name="T73" fmla="*/ 26 h 95"/>
                <a:gd name="T74" fmla="*/ 60 w 188"/>
                <a:gd name="T75" fmla="*/ 67 h 95"/>
                <a:gd name="T76" fmla="*/ 63 w 188"/>
                <a:gd name="T77" fmla="*/ 68 h 95"/>
                <a:gd name="T78" fmla="*/ 80 w 188"/>
                <a:gd name="T79" fmla="*/ 53 h 95"/>
                <a:gd name="T80" fmla="*/ 72 w 188"/>
                <a:gd name="T81" fmla="*/ 95 h 95"/>
                <a:gd name="T82" fmla="*/ 86 w 188"/>
                <a:gd name="T83" fmla="*/ 95 h 95"/>
                <a:gd name="T84" fmla="*/ 96 w 188"/>
                <a:gd name="T85" fmla="*/ 78 h 95"/>
                <a:gd name="T86" fmla="*/ 106 w 188"/>
                <a:gd name="T87" fmla="*/ 95 h 95"/>
                <a:gd name="T88" fmla="*/ 119 w 188"/>
                <a:gd name="T89" fmla="*/ 95 h 95"/>
                <a:gd name="T90" fmla="*/ 112 w 188"/>
                <a:gd name="T91" fmla="*/ 53 h 95"/>
                <a:gd name="T92" fmla="*/ 128 w 188"/>
                <a:gd name="T93" fmla="*/ 68 h 95"/>
                <a:gd name="T94" fmla="*/ 131 w 188"/>
                <a:gd name="T95" fmla="*/ 67 h 95"/>
                <a:gd name="T96" fmla="*/ 105 w 188"/>
                <a:gd name="T97" fmla="*/ 26 h 95"/>
                <a:gd name="T98" fmla="*/ 111 w 188"/>
                <a:gd name="T99" fmla="*/ 14 h 95"/>
                <a:gd name="T100" fmla="*/ 96 w 188"/>
                <a:gd name="T10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8" h="95">
                  <a:moveTo>
                    <a:pt x="26" y="37"/>
                  </a:moveTo>
                  <a:cubicBezTo>
                    <a:pt x="21" y="37"/>
                    <a:pt x="17" y="41"/>
                    <a:pt x="17" y="46"/>
                  </a:cubicBezTo>
                  <a:cubicBezTo>
                    <a:pt x="17" y="49"/>
                    <a:pt x="18" y="51"/>
                    <a:pt x="20" y="53"/>
                  </a:cubicBezTo>
                  <a:cubicBezTo>
                    <a:pt x="11" y="56"/>
                    <a:pt x="0" y="74"/>
                    <a:pt x="4" y="78"/>
                  </a:cubicBezTo>
                  <a:cubicBezTo>
                    <a:pt x="4" y="78"/>
                    <a:pt x="5" y="78"/>
                    <a:pt x="6" y="78"/>
                  </a:cubicBezTo>
                  <a:cubicBezTo>
                    <a:pt x="9" y="78"/>
                    <a:pt x="13" y="74"/>
                    <a:pt x="16" y="69"/>
                  </a:cubicBezTo>
                  <a:cubicBezTo>
                    <a:pt x="14" y="78"/>
                    <a:pt x="12" y="87"/>
                    <a:pt x="11" y="95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20" y="91"/>
                    <a:pt x="22" y="84"/>
                    <a:pt x="26" y="84"/>
                  </a:cubicBezTo>
                  <a:cubicBezTo>
                    <a:pt x="29" y="84"/>
                    <a:pt x="32" y="91"/>
                    <a:pt x="32" y="95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39" y="87"/>
                    <a:pt x="38" y="78"/>
                    <a:pt x="35" y="69"/>
                  </a:cubicBezTo>
                  <a:cubicBezTo>
                    <a:pt x="39" y="74"/>
                    <a:pt x="43" y="78"/>
                    <a:pt x="46" y="78"/>
                  </a:cubicBezTo>
                  <a:cubicBezTo>
                    <a:pt x="46" y="78"/>
                    <a:pt x="47" y="78"/>
                    <a:pt x="47" y="78"/>
                  </a:cubicBezTo>
                  <a:cubicBezTo>
                    <a:pt x="51" y="74"/>
                    <a:pt x="41" y="56"/>
                    <a:pt x="31" y="53"/>
                  </a:cubicBezTo>
                  <a:cubicBezTo>
                    <a:pt x="33" y="51"/>
                    <a:pt x="35" y="49"/>
                    <a:pt x="35" y="46"/>
                  </a:cubicBezTo>
                  <a:cubicBezTo>
                    <a:pt x="35" y="41"/>
                    <a:pt x="31" y="37"/>
                    <a:pt x="26" y="37"/>
                  </a:cubicBezTo>
                  <a:moveTo>
                    <a:pt x="163" y="37"/>
                  </a:moveTo>
                  <a:cubicBezTo>
                    <a:pt x="158" y="37"/>
                    <a:pt x="154" y="41"/>
                    <a:pt x="154" y="46"/>
                  </a:cubicBezTo>
                  <a:cubicBezTo>
                    <a:pt x="154" y="49"/>
                    <a:pt x="155" y="51"/>
                    <a:pt x="157" y="53"/>
                  </a:cubicBezTo>
                  <a:cubicBezTo>
                    <a:pt x="148" y="56"/>
                    <a:pt x="138" y="74"/>
                    <a:pt x="141" y="78"/>
                  </a:cubicBezTo>
                  <a:cubicBezTo>
                    <a:pt x="142" y="78"/>
                    <a:pt x="142" y="78"/>
                    <a:pt x="143" y="78"/>
                  </a:cubicBezTo>
                  <a:cubicBezTo>
                    <a:pt x="146" y="78"/>
                    <a:pt x="150" y="74"/>
                    <a:pt x="153" y="69"/>
                  </a:cubicBezTo>
                  <a:cubicBezTo>
                    <a:pt x="151" y="78"/>
                    <a:pt x="149" y="87"/>
                    <a:pt x="148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1"/>
                    <a:pt x="160" y="84"/>
                    <a:pt x="163" y="84"/>
                  </a:cubicBezTo>
                  <a:cubicBezTo>
                    <a:pt x="166" y="84"/>
                    <a:pt x="169" y="91"/>
                    <a:pt x="169" y="95"/>
                  </a:cubicBezTo>
                  <a:cubicBezTo>
                    <a:pt x="177" y="95"/>
                    <a:pt x="177" y="95"/>
                    <a:pt x="177" y="95"/>
                  </a:cubicBezTo>
                  <a:cubicBezTo>
                    <a:pt x="177" y="87"/>
                    <a:pt x="175" y="78"/>
                    <a:pt x="173" y="69"/>
                  </a:cubicBezTo>
                  <a:cubicBezTo>
                    <a:pt x="176" y="74"/>
                    <a:pt x="180" y="78"/>
                    <a:pt x="183" y="78"/>
                  </a:cubicBezTo>
                  <a:cubicBezTo>
                    <a:pt x="184" y="78"/>
                    <a:pt x="184" y="78"/>
                    <a:pt x="185" y="78"/>
                  </a:cubicBezTo>
                  <a:cubicBezTo>
                    <a:pt x="188" y="74"/>
                    <a:pt x="178" y="56"/>
                    <a:pt x="169" y="53"/>
                  </a:cubicBezTo>
                  <a:cubicBezTo>
                    <a:pt x="171" y="51"/>
                    <a:pt x="172" y="49"/>
                    <a:pt x="172" y="46"/>
                  </a:cubicBezTo>
                  <a:cubicBezTo>
                    <a:pt x="172" y="41"/>
                    <a:pt x="168" y="37"/>
                    <a:pt x="163" y="37"/>
                  </a:cubicBezTo>
                  <a:moveTo>
                    <a:pt x="96" y="0"/>
                  </a:moveTo>
                  <a:cubicBezTo>
                    <a:pt x="88" y="0"/>
                    <a:pt x="81" y="6"/>
                    <a:pt x="81" y="14"/>
                  </a:cubicBezTo>
                  <a:cubicBezTo>
                    <a:pt x="81" y="19"/>
                    <a:pt x="83" y="23"/>
                    <a:pt x="87" y="26"/>
                  </a:cubicBezTo>
                  <a:cubicBezTo>
                    <a:pt x="72" y="31"/>
                    <a:pt x="55" y="61"/>
                    <a:pt x="60" y="67"/>
                  </a:cubicBezTo>
                  <a:cubicBezTo>
                    <a:pt x="61" y="68"/>
                    <a:pt x="62" y="68"/>
                    <a:pt x="63" y="68"/>
                  </a:cubicBezTo>
                  <a:cubicBezTo>
                    <a:pt x="68" y="68"/>
                    <a:pt x="75" y="60"/>
                    <a:pt x="80" y="53"/>
                  </a:cubicBezTo>
                  <a:cubicBezTo>
                    <a:pt x="76" y="67"/>
                    <a:pt x="74" y="82"/>
                    <a:pt x="72" y="95"/>
                  </a:cubicBezTo>
                  <a:cubicBezTo>
                    <a:pt x="86" y="95"/>
                    <a:pt x="86" y="95"/>
                    <a:pt x="86" y="95"/>
                  </a:cubicBezTo>
                  <a:cubicBezTo>
                    <a:pt x="86" y="88"/>
                    <a:pt x="91" y="78"/>
                    <a:pt x="96" y="78"/>
                  </a:cubicBezTo>
                  <a:cubicBezTo>
                    <a:pt x="101" y="78"/>
                    <a:pt x="106" y="88"/>
                    <a:pt x="106" y="95"/>
                  </a:cubicBezTo>
                  <a:cubicBezTo>
                    <a:pt x="119" y="95"/>
                    <a:pt x="119" y="95"/>
                    <a:pt x="119" y="95"/>
                  </a:cubicBezTo>
                  <a:cubicBezTo>
                    <a:pt x="118" y="82"/>
                    <a:pt x="115" y="67"/>
                    <a:pt x="112" y="53"/>
                  </a:cubicBezTo>
                  <a:cubicBezTo>
                    <a:pt x="117" y="60"/>
                    <a:pt x="124" y="68"/>
                    <a:pt x="128" y="68"/>
                  </a:cubicBezTo>
                  <a:cubicBezTo>
                    <a:pt x="130" y="68"/>
                    <a:pt x="131" y="68"/>
                    <a:pt x="131" y="67"/>
                  </a:cubicBezTo>
                  <a:cubicBezTo>
                    <a:pt x="137" y="61"/>
                    <a:pt x="120" y="31"/>
                    <a:pt x="105" y="26"/>
                  </a:cubicBezTo>
                  <a:cubicBezTo>
                    <a:pt x="108" y="23"/>
                    <a:pt x="111" y="19"/>
                    <a:pt x="111" y="14"/>
                  </a:cubicBezTo>
                  <a:cubicBezTo>
                    <a:pt x="111" y="6"/>
                    <a:pt x="104" y="0"/>
                    <a:pt x="96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cxnSp>
        <p:nvCxnSpPr>
          <p:cNvPr id="108" name="直接连接符 107"/>
          <p:cNvCxnSpPr/>
          <p:nvPr/>
        </p:nvCxnSpPr>
        <p:spPr>
          <a:xfrm>
            <a:off x="341313" y="1557338"/>
            <a:ext cx="8375650" cy="0"/>
          </a:xfrm>
          <a:prstGeom prst="line">
            <a:avLst/>
          </a:prstGeom>
          <a:ln w="38100">
            <a:solidFill>
              <a:srgbClr val="33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29"/>
          <p:cNvGrpSpPr/>
          <p:nvPr/>
        </p:nvGrpSpPr>
        <p:grpSpPr bwMode="auto">
          <a:xfrm>
            <a:off x="6726146" y="5631700"/>
            <a:ext cx="1658937" cy="882650"/>
            <a:chOff x="4363" y="2073"/>
            <a:chExt cx="1045" cy="5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1" name="Oval 30"/>
            <p:cNvSpPr>
              <a:spLocks noChangeArrowheads="1"/>
            </p:cNvSpPr>
            <p:nvPr/>
          </p:nvSpPr>
          <p:spPr bwMode="auto">
            <a:xfrm>
              <a:off x="4819" y="2073"/>
              <a:ext cx="156" cy="144"/>
            </a:xfrm>
            <a:prstGeom prst="ellips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2" name="Oval 31"/>
            <p:cNvSpPr>
              <a:spLocks noChangeArrowheads="1"/>
            </p:cNvSpPr>
            <p:nvPr/>
          </p:nvSpPr>
          <p:spPr bwMode="auto">
            <a:xfrm>
              <a:off x="4385" y="2485"/>
              <a:ext cx="156" cy="144"/>
            </a:xfrm>
            <a:prstGeom prst="ellips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4" name="Oval 32"/>
            <p:cNvSpPr>
              <a:spLocks noChangeArrowheads="1"/>
            </p:cNvSpPr>
            <p:nvPr/>
          </p:nvSpPr>
          <p:spPr bwMode="auto">
            <a:xfrm>
              <a:off x="4841" y="2474"/>
              <a:ext cx="156" cy="144"/>
            </a:xfrm>
            <a:prstGeom prst="ellips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5" name="Oval 33"/>
            <p:cNvSpPr>
              <a:spLocks noChangeArrowheads="1"/>
            </p:cNvSpPr>
            <p:nvPr/>
          </p:nvSpPr>
          <p:spPr bwMode="auto">
            <a:xfrm>
              <a:off x="5252" y="2252"/>
              <a:ext cx="156" cy="144"/>
            </a:xfrm>
            <a:prstGeom prst="ellips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4363" y="2107"/>
              <a:ext cx="156" cy="144"/>
            </a:xfrm>
            <a:prstGeom prst="ellips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8" name="Line 35"/>
            <p:cNvSpPr>
              <a:spLocks noChangeShapeType="1"/>
            </p:cNvSpPr>
            <p:nvPr/>
          </p:nvSpPr>
          <p:spPr bwMode="auto">
            <a:xfrm>
              <a:off x="4445" y="2266"/>
              <a:ext cx="0" cy="245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7" name="Line 36"/>
            <p:cNvSpPr>
              <a:spLocks noChangeShapeType="1"/>
            </p:cNvSpPr>
            <p:nvPr/>
          </p:nvSpPr>
          <p:spPr bwMode="auto">
            <a:xfrm>
              <a:off x="4512" y="2211"/>
              <a:ext cx="366" cy="289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9" name="Line 37"/>
            <p:cNvSpPr>
              <a:spLocks noChangeShapeType="1"/>
            </p:cNvSpPr>
            <p:nvPr/>
          </p:nvSpPr>
          <p:spPr bwMode="auto">
            <a:xfrm>
              <a:off x="4967" y="2189"/>
              <a:ext cx="300" cy="133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0" name="Line 38"/>
            <p:cNvSpPr>
              <a:spLocks noChangeShapeType="1"/>
            </p:cNvSpPr>
            <p:nvPr/>
          </p:nvSpPr>
          <p:spPr bwMode="auto">
            <a:xfrm flipH="1">
              <a:off x="4523" y="2200"/>
              <a:ext cx="322" cy="322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1" name="Line 39"/>
            <p:cNvSpPr>
              <a:spLocks noChangeShapeType="1"/>
            </p:cNvSpPr>
            <p:nvPr/>
          </p:nvSpPr>
          <p:spPr bwMode="auto">
            <a:xfrm flipH="1">
              <a:off x="5001" y="2400"/>
              <a:ext cx="277" cy="144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2" name="Line 40"/>
            <p:cNvSpPr>
              <a:spLocks noChangeShapeType="1"/>
            </p:cNvSpPr>
            <p:nvPr/>
          </p:nvSpPr>
          <p:spPr bwMode="auto">
            <a:xfrm>
              <a:off x="4512" y="2144"/>
              <a:ext cx="311" cy="0"/>
            </a:xfrm>
            <a:prstGeom prst="line">
              <a:avLst/>
            </a:prstGeom>
            <a:grp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13" name="Group 16"/>
          <p:cNvGrpSpPr/>
          <p:nvPr/>
        </p:nvGrpSpPr>
        <p:grpSpPr bwMode="auto">
          <a:xfrm>
            <a:off x="6491195" y="4382794"/>
            <a:ext cx="1941513" cy="1000125"/>
            <a:chOff x="4185" y="2055"/>
            <a:chExt cx="1223" cy="630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14" name="Group 17"/>
            <p:cNvGrpSpPr/>
            <p:nvPr/>
          </p:nvGrpSpPr>
          <p:grpSpPr bwMode="auto">
            <a:xfrm>
              <a:off x="4185" y="2055"/>
              <a:ext cx="629" cy="336"/>
              <a:chOff x="2474" y="2489"/>
              <a:chExt cx="629" cy="336"/>
            </a:xfrm>
            <a:grpFill/>
          </p:grpSpPr>
          <p:sp>
            <p:nvSpPr>
              <p:cNvPr id="123" name="Oval 18"/>
              <p:cNvSpPr>
                <a:spLocks noChangeArrowheads="1"/>
              </p:cNvSpPr>
              <p:nvPr/>
            </p:nvSpPr>
            <p:spPr bwMode="auto">
              <a:xfrm>
                <a:off x="2711" y="2489"/>
                <a:ext cx="156" cy="144"/>
              </a:xfrm>
              <a:prstGeom prst="ellipse">
                <a:avLst/>
              </a:prstGeom>
              <a:grpFill/>
              <a:ln w="38100">
                <a:solidFill>
                  <a:schemeClr val="tx1">
                    <a:lumMod val="50000"/>
                    <a:lumOff val="50000"/>
                  </a:schemeClr>
                </a:solidFill>
                <a:round/>
              </a:ln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  <p:sp>
            <p:nvSpPr>
              <p:cNvPr id="124" name="Oval 19"/>
              <p:cNvSpPr>
                <a:spLocks noChangeArrowheads="1"/>
              </p:cNvSpPr>
              <p:nvPr/>
            </p:nvSpPr>
            <p:spPr bwMode="auto">
              <a:xfrm>
                <a:off x="2474" y="2674"/>
                <a:ext cx="156" cy="144"/>
              </a:xfrm>
              <a:prstGeom prst="ellipse">
                <a:avLst/>
              </a:prstGeom>
              <a:grpFill/>
              <a:ln w="38100">
                <a:solidFill>
                  <a:schemeClr val="tx1">
                    <a:lumMod val="50000"/>
                    <a:lumOff val="50000"/>
                  </a:schemeClr>
                </a:solidFill>
                <a:round/>
              </a:ln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  <p:sp>
            <p:nvSpPr>
              <p:cNvPr id="125" name="Oval 20"/>
              <p:cNvSpPr>
                <a:spLocks noChangeArrowheads="1"/>
              </p:cNvSpPr>
              <p:nvPr/>
            </p:nvSpPr>
            <p:spPr bwMode="auto">
              <a:xfrm>
                <a:off x="2947" y="2681"/>
                <a:ext cx="156" cy="144"/>
              </a:xfrm>
              <a:prstGeom prst="ellipse">
                <a:avLst/>
              </a:prstGeom>
              <a:grpFill/>
              <a:ln w="38100">
                <a:solidFill>
                  <a:schemeClr val="tx1">
                    <a:lumMod val="50000"/>
                    <a:lumOff val="50000"/>
                  </a:schemeClr>
                </a:solidFill>
                <a:round/>
              </a:ln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</p:grpSp>
        <p:sp>
          <p:nvSpPr>
            <p:cNvPr id="115" name="Oval 21"/>
            <p:cNvSpPr>
              <a:spLocks noChangeArrowheads="1"/>
            </p:cNvSpPr>
            <p:nvPr/>
          </p:nvSpPr>
          <p:spPr bwMode="auto">
            <a:xfrm>
              <a:off x="4374" y="2519"/>
              <a:ext cx="156" cy="144"/>
            </a:xfrm>
            <a:prstGeom prst="ellips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6" name="Oval 22"/>
            <p:cNvSpPr>
              <a:spLocks noChangeArrowheads="1"/>
            </p:cNvSpPr>
            <p:nvPr/>
          </p:nvSpPr>
          <p:spPr bwMode="auto">
            <a:xfrm>
              <a:off x="4897" y="2530"/>
              <a:ext cx="156" cy="144"/>
            </a:xfrm>
            <a:prstGeom prst="ellips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7" name="Oval 23"/>
            <p:cNvSpPr>
              <a:spLocks noChangeArrowheads="1"/>
            </p:cNvSpPr>
            <p:nvPr/>
          </p:nvSpPr>
          <p:spPr bwMode="auto">
            <a:xfrm>
              <a:off x="5252" y="2541"/>
              <a:ext cx="156" cy="144"/>
            </a:xfrm>
            <a:prstGeom prst="ellips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8" name="Line 24"/>
            <p:cNvSpPr>
              <a:spLocks noChangeShapeType="1"/>
            </p:cNvSpPr>
            <p:nvPr/>
          </p:nvSpPr>
          <p:spPr bwMode="auto">
            <a:xfrm flipH="1">
              <a:off x="4334" y="2189"/>
              <a:ext cx="111" cy="111"/>
            </a:xfrm>
            <a:prstGeom prst="lin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9" name="Line 25"/>
            <p:cNvSpPr>
              <a:spLocks noChangeShapeType="1"/>
            </p:cNvSpPr>
            <p:nvPr/>
          </p:nvSpPr>
          <p:spPr bwMode="auto">
            <a:xfrm flipH="1">
              <a:off x="4501" y="2378"/>
              <a:ext cx="166" cy="166"/>
            </a:xfrm>
            <a:prstGeom prst="lin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20" name="Line 26"/>
            <p:cNvSpPr>
              <a:spLocks noChangeShapeType="1"/>
            </p:cNvSpPr>
            <p:nvPr/>
          </p:nvSpPr>
          <p:spPr bwMode="auto">
            <a:xfrm>
              <a:off x="4534" y="2178"/>
              <a:ext cx="122" cy="122"/>
            </a:xfrm>
            <a:prstGeom prst="lin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21" name="Line 27"/>
            <p:cNvSpPr>
              <a:spLocks noChangeShapeType="1"/>
            </p:cNvSpPr>
            <p:nvPr/>
          </p:nvSpPr>
          <p:spPr bwMode="auto">
            <a:xfrm>
              <a:off x="4778" y="2366"/>
              <a:ext cx="178" cy="178"/>
            </a:xfrm>
            <a:prstGeom prst="lin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22" name="Line 28"/>
            <p:cNvSpPr>
              <a:spLocks noChangeShapeType="1"/>
            </p:cNvSpPr>
            <p:nvPr/>
          </p:nvSpPr>
          <p:spPr bwMode="auto">
            <a:xfrm>
              <a:off x="4812" y="2333"/>
              <a:ext cx="466" cy="233"/>
            </a:xfrm>
            <a:prstGeom prst="line">
              <a:avLst/>
            </a:prstGeom>
            <a:grpFill/>
            <a:ln w="3810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69" grpId="0"/>
      <p:bldP spid="380970" grpId="0"/>
      <p:bldP spid="380971" grpId="0"/>
      <p:bldP spid="3809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ChangeArrowheads="1"/>
          </p:cNvSpPr>
          <p:nvPr/>
        </p:nvSpPr>
        <p:spPr bwMode="auto">
          <a:xfrm>
            <a:off x="871538" y="188913"/>
            <a:ext cx="2332038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</a:t>
            </a:r>
          </a:p>
        </p:txBody>
      </p:sp>
      <p:grpSp>
        <p:nvGrpSpPr>
          <p:cNvPr id="40963" name="Group 10"/>
          <p:cNvGrpSpPr/>
          <p:nvPr/>
        </p:nvGrpSpPr>
        <p:grpSpPr>
          <a:xfrm>
            <a:off x="1765300" y="2175793"/>
            <a:ext cx="2355850" cy="2276475"/>
            <a:chOff x="43" y="28"/>
            <a:chExt cx="3141" cy="3037"/>
          </a:xfrm>
        </p:grpSpPr>
        <p:sp>
          <p:nvSpPr>
            <p:cNvPr id="40978" name="Rectangle 11"/>
            <p:cNvSpPr/>
            <p:nvPr/>
          </p:nvSpPr>
          <p:spPr>
            <a:xfrm>
              <a:off x="61" y="28"/>
              <a:ext cx="3123" cy="379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90000"/>
                </a:lnSpc>
              </a:pPr>
              <a:r>
                <a:rPr lang="zh-CN" altLang="en-US" sz="2800" dirty="0">
                  <a:solidFill>
                    <a:srgbClr val="3333CC"/>
                  </a:solidFill>
                  <a:latin typeface="微软雅黑" panose="020B0503020204020204" pitchFamily="34" charset="-122"/>
                  <a:ea typeface="Lato Regular"/>
                  <a:sym typeface="Lato Regular"/>
                </a:rPr>
                <a:t>顺序存储结构</a:t>
              </a:r>
              <a:endParaRPr lang="en-US" altLang="zh-CN" sz="2800" dirty="0">
                <a:solidFill>
                  <a:srgbClr val="3333CC"/>
                </a:solidFill>
                <a:latin typeface="微软雅黑" panose="020B0503020204020204" pitchFamily="34" charset="-122"/>
                <a:ea typeface="Lato Regular"/>
                <a:sym typeface="Lato Regular"/>
              </a:endParaRPr>
            </a:p>
          </p:txBody>
        </p:sp>
        <p:sp>
          <p:nvSpPr>
            <p:cNvPr id="8" name="Rectangle 12"/>
            <p:cNvSpPr/>
            <p:nvPr/>
          </p:nvSpPr>
          <p:spPr bwMode="auto">
            <a:xfrm>
              <a:off x="43" y="577"/>
              <a:ext cx="3141" cy="2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借助元素在存储器中的相对位置来表示数据元素间的逻辑关系。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(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隐式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)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</p:grpSp>
      <p:grpSp>
        <p:nvGrpSpPr>
          <p:cNvPr id="40964" name="Group 13"/>
          <p:cNvGrpSpPr/>
          <p:nvPr/>
        </p:nvGrpSpPr>
        <p:grpSpPr>
          <a:xfrm>
            <a:off x="1098550" y="2137693"/>
            <a:ext cx="438150" cy="438150"/>
            <a:chOff x="0" y="0"/>
            <a:chExt cx="584" cy="584"/>
          </a:xfrm>
        </p:grpSpPr>
        <p:sp>
          <p:nvSpPr>
            <p:cNvPr id="10" name="Oval 14"/>
            <p:cNvSpPr/>
            <p:nvPr/>
          </p:nvSpPr>
          <p:spPr bwMode="auto">
            <a:xfrm>
              <a:off x="0" y="0"/>
              <a:ext cx="584" cy="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  <p:sp>
          <p:nvSpPr>
            <p:cNvPr id="11" name="Rectangle 15"/>
            <p:cNvSpPr/>
            <p:nvPr/>
          </p:nvSpPr>
          <p:spPr bwMode="auto">
            <a:xfrm>
              <a:off x="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Lato Light" panose="020F0502020204030203" charset="0"/>
                  <a:sym typeface="Lato Light" panose="020F0502020204030203" charset="0"/>
                </a:rPr>
                <a:t>1</a:t>
              </a:r>
            </a:p>
          </p:txBody>
        </p:sp>
      </p:grpSp>
      <p:grpSp>
        <p:nvGrpSpPr>
          <p:cNvPr id="12" name="Group 4"/>
          <p:cNvGrpSpPr/>
          <p:nvPr/>
        </p:nvGrpSpPr>
        <p:grpSpPr>
          <a:xfrm>
            <a:off x="678822" y="1519387"/>
            <a:ext cx="7889520" cy="210166"/>
            <a:chOff x="899592" y="2852807"/>
            <a:chExt cx="7344815" cy="213386"/>
          </a:xfrm>
          <a:solidFill>
            <a:srgbClr val="969696"/>
          </a:solidFill>
        </p:grpSpPr>
        <p:sp>
          <p:nvSpPr>
            <p:cNvPr id="13" name="Rectangle 61"/>
            <p:cNvSpPr/>
            <p:nvPr/>
          </p:nvSpPr>
          <p:spPr bwMode="auto">
            <a:xfrm>
              <a:off x="899592" y="2852807"/>
              <a:ext cx="7344815" cy="32031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11518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7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  <p:sp>
          <p:nvSpPr>
            <p:cNvPr id="14" name="Flowchart: Merge 3"/>
            <p:cNvSpPr/>
            <p:nvPr/>
          </p:nvSpPr>
          <p:spPr bwMode="auto">
            <a:xfrm>
              <a:off x="2803279" y="2874792"/>
              <a:ext cx="210541" cy="191401"/>
            </a:xfrm>
            <a:prstGeom prst="flowChartMerge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11518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7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  <p:sp>
          <p:nvSpPr>
            <p:cNvPr id="16" name="Flowchart: Merge 65"/>
            <p:cNvSpPr/>
            <p:nvPr/>
          </p:nvSpPr>
          <p:spPr bwMode="auto">
            <a:xfrm>
              <a:off x="6174461" y="2874792"/>
              <a:ext cx="210541" cy="191401"/>
            </a:xfrm>
            <a:prstGeom prst="flowChartMerge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11518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7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</p:grpSp>
      <p:grpSp>
        <p:nvGrpSpPr>
          <p:cNvPr id="40966" name="Group 10"/>
          <p:cNvGrpSpPr/>
          <p:nvPr/>
        </p:nvGrpSpPr>
        <p:grpSpPr>
          <a:xfrm>
            <a:off x="5580063" y="2134518"/>
            <a:ext cx="2322512" cy="2030413"/>
            <a:chOff x="0" y="0"/>
            <a:chExt cx="3096" cy="2706"/>
          </a:xfrm>
        </p:grpSpPr>
        <p:sp>
          <p:nvSpPr>
            <p:cNvPr id="40974" name="Rectangle 11"/>
            <p:cNvSpPr/>
            <p:nvPr/>
          </p:nvSpPr>
          <p:spPr>
            <a:xfrm>
              <a:off x="0" y="0"/>
              <a:ext cx="3096" cy="416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 anchor="ctr" anchorCtr="0"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90000"/>
                </a:lnSpc>
              </a:pPr>
              <a:r>
                <a:rPr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Lato Regular"/>
                  <a:sym typeface="Lato Regular"/>
                </a:rPr>
                <a:t>链式存储结构</a:t>
              </a:r>
              <a:endPara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Lato Regular"/>
                <a:sym typeface="Lato Regular"/>
              </a:endParaRPr>
            </a:p>
          </p:txBody>
        </p:sp>
        <p:sp>
          <p:nvSpPr>
            <p:cNvPr id="25" name="Rectangle 12"/>
            <p:cNvSpPr/>
            <p:nvPr/>
          </p:nvSpPr>
          <p:spPr bwMode="auto">
            <a:xfrm>
              <a:off x="42" y="571"/>
              <a:ext cx="3054" cy="2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借助指示元素存储地址的指针表示数据元素间的逻辑关系。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(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显式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Gill Sans" charset="0"/>
                </a:rPr>
                <a:t>)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</p:grpSp>
      <p:sp>
        <p:nvSpPr>
          <p:cNvPr id="30" name="Rectangle 59"/>
          <p:cNvSpPr/>
          <p:nvPr/>
        </p:nvSpPr>
        <p:spPr bwMode="auto">
          <a:xfrm>
            <a:off x="678822" y="1340768"/>
            <a:ext cx="7898308" cy="55520"/>
          </a:xfrm>
          <a:prstGeom prst="rect">
            <a:avLst/>
          </a:prstGeom>
          <a:blipFill>
            <a:blip r:embed="rId2"/>
            <a:srcRect/>
            <a:stretch>
              <a:fillRect l="-10797" t="-6521" b="-6346"/>
            </a:stretch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15214" tIns="57607" rIns="115214" bIns="57607"/>
          <a:lstStyle/>
          <a:p>
            <a:pPr marL="0" marR="0" lvl="0" indent="0" algn="l" defTabSz="115189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7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xmlns="" id="{18A53FE1-F90D-8BE3-1D7D-C6BDB2310E95}"/>
              </a:ext>
            </a:extLst>
          </p:cNvPr>
          <p:cNvGrpSpPr/>
          <p:nvPr/>
        </p:nvGrpSpPr>
        <p:grpSpPr>
          <a:xfrm>
            <a:off x="4932040" y="2134518"/>
            <a:ext cx="438150" cy="438150"/>
            <a:chOff x="0" y="0"/>
            <a:chExt cx="584" cy="584"/>
          </a:xfrm>
        </p:grpSpPr>
        <p:sp>
          <p:nvSpPr>
            <p:cNvPr id="3" name="Oval 14">
              <a:extLst>
                <a:ext uri="{FF2B5EF4-FFF2-40B4-BE49-F238E27FC236}">
                  <a16:creationId xmlns:a16="http://schemas.microsoft.com/office/drawing/2014/main" xmlns="" id="{994511CA-BC8A-D3DD-413A-E9E901F291C9}"/>
                </a:ext>
              </a:extLst>
            </p:cNvPr>
            <p:cNvSpPr/>
            <p:nvPr/>
          </p:nvSpPr>
          <p:spPr bwMode="auto">
            <a:xfrm>
              <a:off x="0" y="0"/>
              <a:ext cx="584" cy="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Gill Sans" charset="0"/>
              </a:endParaRP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xmlns="" id="{E1E17D97-B52F-763A-C712-ED41BEBFFB8D}"/>
                </a:ext>
              </a:extLst>
            </p:cNvPr>
            <p:cNvSpPr/>
            <p:nvPr/>
          </p:nvSpPr>
          <p:spPr bwMode="auto">
            <a:xfrm>
              <a:off x="0" y="8"/>
              <a:ext cx="5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Lato Light" panose="020F0502020204030203" charset="0"/>
                  <a:sym typeface="Lato Light" panose="020F0502020204030203" charset="0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 bwMode="auto">
          <a:xfrm>
            <a:off x="-11112" y="1222375"/>
            <a:ext cx="320675" cy="56356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1987" name="Group 2"/>
          <p:cNvGrpSpPr/>
          <p:nvPr/>
        </p:nvGrpSpPr>
        <p:grpSpPr>
          <a:xfrm>
            <a:off x="1692275" y="1222375"/>
            <a:ext cx="5180013" cy="5443538"/>
            <a:chOff x="1137" y="312"/>
            <a:chExt cx="2753" cy="3429"/>
          </a:xfrm>
        </p:grpSpPr>
        <p:sp>
          <p:nvSpPr>
            <p:cNvPr id="37890" name="Rectangle 3"/>
            <p:cNvSpPr>
              <a:spLocks noChangeArrowheads="1"/>
            </p:cNvSpPr>
            <p:nvPr/>
          </p:nvSpPr>
          <p:spPr bwMode="auto">
            <a:xfrm>
              <a:off x="2952" y="2757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37891" name="Rectangle 4"/>
            <p:cNvSpPr>
              <a:spLocks noChangeArrowheads="1"/>
            </p:cNvSpPr>
            <p:nvPr/>
          </p:nvSpPr>
          <p:spPr bwMode="auto">
            <a:xfrm>
              <a:off x="2952" y="2331"/>
              <a:ext cx="816" cy="42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……..</a:t>
              </a:r>
            </a:p>
          </p:txBody>
        </p:sp>
        <p:sp>
          <p:nvSpPr>
            <p:cNvPr id="37892" name="Rectangle 5"/>
            <p:cNvSpPr>
              <a:spLocks noChangeArrowheads="1"/>
            </p:cNvSpPr>
            <p:nvPr/>
          </p:nvSpPr>
          <p:spPr bwMode="auto">
            <a:xfrm>
              <a:off x="2952" y="1904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</a:p>
          </p:txBody>
        </p:sp>
        <p:sp>
          <p:nvSpPr>
            <p:cNvPr id="37893" name="Rectangle 6"/>
            <p:cNvSpPr>
              <a:spLocks noChangeArrowheads="1"/>
            </p:cNvSpPr>
            <p:nvPr/>
          </p:nvSpPr>
          <p:spPr bwMode="auto">
            <a:xfrm>
              <a:off x="2952" y="1477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……..</a:t>
              </a:r>
            </a:p>
          </p:txBody>
        </p:sp>
        <p:sp>
          <p:nvSpPr>
            <p:cNvPr id="37894" name="Rectangle 7"/>
            <p:cNvSpPr>
              <a:spLocks noChangeArrowheads="1"/>
            </p:cNvSpPr>
            <p:nvPr/>
          </p:nvSpPr>
          <p:spPr bwMode="auto">
            <a:xfrm>
              <a:off x="2952" y="1051"/>
              <a:ext cx="816" cy="42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7895" name="Rectangle 8"/>
            <p:cNvSpPr>
              <a:spLocks noChangeArrowheads="1"/>
            </p:cNvSpPr>
            <p:nvPr/>
          </p:nvSpPr>
          <p:spPr bwMode="auto">
            <a:xfrm>
              <a:off x="2952" y="624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7896" name="Line 9"/>
            <p:cNvSpPr>
              <a:spLocks noChangeShapeType="1"/>
            </p:cNvSpPr>
            <p:nvPr/>
          </p:nvSpPr>
          <p:spPr bwMode="auto">
            <a:xfrm>
              <a:off x="2952" y="62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7" name="Line 10"/>
            <p:cNvSpPr>
              <a:spLocks noChangeShapeType="1"/>
            </p:cNvSpPr>
            <p:nvPr/>
          </p:nvSpPr>
          <p:spPr bwMode="auto">
            <a:xfrm>
              <a:off x="2952" y="105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8" name="Line 11"/>
            <p:cNvSpPr>
              <a:spLocks noChangeShapeType="1"/>
            </p:cNvSpPr>
            <p:nvPr/>
          </p:nvSpPr>
          <p:spPr bwMode="auto">
            <a:xfrm>
              <a:off x="2952" y="147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9" name="Line 12"/>
            <p:cNvSpPr>
              <a:spLocks noChangeShapeType="1"/>
            </p:cNvSpPr>
            <p:nvPr/>
          </p:nvSpPr>
          <p:spPr bwMode="auto">
            <a:xfrm>
              <a:off x="2952" y="19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0" name="Line 13"/>
            <p:cNvSpPr>
              <a:spLocks noChangeShapeType="1"/>
            </p:cNvSpPr>
            <p:nvPr/>
          </p:nvSpPr>
          <p:spPr bwMode="auto">
            <a:xfrm>
              <a:off x="2952" y="233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1" name="Line 14"/>
            <p:cNvSpPr>
              <a:spLocks noChangeShapeType="1"/>
            </p:cNvSpPr>
            <p:nvPr/>
          </p:nvSpPr>
          <p:spPr bwMode="auto">
            <a:xfrm>
              <a:off x="2952" y="275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2" name="Line 15"/>
            <p:cNvSpPr>
              <a:spLocks noChangeShapeType="1"/>
            </p:cNvSpPr>
            <p:nvPr/>
          </p:nvSpPr>
          <p:spPr bwMode="auto">
            <a:xfrm>
              <a:off x="2952" y="318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3" name="Line 16"/>
            <p:cNvSpPr>
              <a:spLocks noChangeShapeType="1"/>
            </p:cNvSpPr>
            <p:nvPr/>
          </p:nvSpPr>
          <p:spPr bwMode="auto">
            <a:xfrm>
              <a:off x="2952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4" name="Line 17"/>
            <p:cNvSpPr>
              <a:spLocks noChangeShapeType="1"/>
            </p:cNvSpPr>
            <p:nvPr/>
          </p:nvSpPr>
          <p:spPr bwMode="auto">
            <a:xfrm>
              <a:off x="3768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5" name="Text Box 18"/>
            <p:cNvSpPr txBox="1">
              <a:spLocks noChangeArrowheads="1"/>
            </p:cNvSpPr>
            <p:nvPr/>
          </p:nvSpPr>
          <p:spPr bwMode="auto">
            <a:xfrm>
              <a:off x="2528" y="72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6" name="Text Box 19"/>
            <p:cNvSpPr txBox="1">
              <a:spLocks noChangeArrowheads="1"/>
            </p:cNvSpPr>
            <p:nvPr/>
          </p:nvSpPr>
          <p:spPr bwMode="auto">
            <a:xfrm>
              <a:off x="2336" y="115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+m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7" name="Text Box 20"/>
            <p:cNvSpPr txBox="1">
              <a:spLocks noChangeArrowheads="1"/>
            </p:cNvSpPr>
            <p:nvPr/>
          </p:nvSpPr>
          <p:spPr bwMode="auto">
            <a:xfrm>
              <a:off x="1976" y="2016"/>
              <a:ext cx="10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+(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i-1)*m</a:t>
              </a:r>
            </a:p>
          </p:txBody>
        </p:sp>
        <p:sp>
          <p:nvSpPr>
            <p:cNvPr id="37908" name="Text Box 21"/>
            <p:cNvSpPr txBox="1">
              <a:spLocks noChangeArrowheads="1"/>
            </p:cNvSpPr>
            <p:nvPr/>
          </p:nvSpPr>
          <p:spPr bwMode="auto">
            <a:xfrm>
              <a:off x="1880" y="2880"/>
              <a:ext cx="11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（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n-1)*m</a:t>
              </a:r>
            </a:p>
          </p:txBody>
        </p:sp>
        <p:sp>
          <p:nvSpPr>
            <p:cNvPr id="37909" name="Text Box 22"/>
            <p:cNvSpPr txBox="1">
              <a:spLocks noChangeArrowheads="1"/>
            </p:cNvSpPr>
            <p:nvPr/>
          </p:nvSpPr>
          <p:spPr bwMode="auto">
            <a:xfrm>
              <a:off x="2036" y="312"/>
              <a:ext cx="9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存储地址</a:t>
              </a:r>
            </a:p>
          </p:txBody>
        </p:sp>
        <p:sp>
          <p:nvSpPr>
            <p:cNvPr id="37910" name="Text Box 23"/>
            <p:cNvSpPr txBox="1">
              <a:spLocks noChangeArrowheads="1"/>
            </p:cNvSpPr>
            <p:nvPr/>
          </p:nvSpPr>
          <p:spPr bwMode="auto">
            <a:xfrm>
              <a:off x="2978" y="312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存储内容</a:t>
              </a:r>
            </a:p>
          </p:txBody>
        </p:sp>
        <p:sp>
          <p:nvSpPr>
            <p:cNvPr id="37911" name="Line 24"/>
            <p:cNvSpPr>
              <a:spLocks noChangeShapeType="1"/>
            </p:cNvSpPr>
            <p:nvPr/>
          </p:nvSpPr>
          <p:spPr bwMode="auto">
            <a:xfrm flipH="1">
              <a:off x="1896" y="1048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2" name="Line 25"/>
            <p:cNvSpPr>
              <a:spLocks noChangeShapeType="1"/>
            </p:cNvSpPr>
            <p:nvPr/>
          </p:nvSpPr>
          <p:spPr bwMode="auto">
            <a:xfrm flipH="1">
              <a:off x="1896" y="1480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3" name="Line 26"/>
            <p:cNvSpPr>
              <a:spLocks noChangeShapeType="1"/>
            </p:cNvSpPr>
            <p:nvPr/>
          </p:nvSpPr>
          <p:spPr bwMode="auto">
            <a:xfrm flipH="1">
              <a:off x="1896" y="2328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4" name="Line 27"/>
            <p:cNvSpPr>
              <a:spLocks noChangeShapeType="1"/>
            </p:cNvSpPr>
            <p:nvPr/>
          </p:nvSpPr>
          <p:spPr bwMode="auto">
            <a:xfrm flipH="1">
              <a:off x="1896" y="3184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5" name="Text Box 28"/>
            <p:cNvSpPr txBox="1">
              <a:spLocks noChangeArrowheads="1"/>
            </p:cNvSpPr>
            <p:nvPr/>
          </p:nvSpPr>
          <p:spPr bwMode="auto">
            <a:xfrm>
              <a:off x="1137" y="3453"/>
              <a:ext cx="2640" cy="288"/>
            </a:xfrm>
            <a:prstGeom prst="rect">
              <a:avLst/>
            </a:prstGeom>
            <a:solidFill>
              <a:srgbClr val="6C4C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Loc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(</a:t>
              </a: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i)=</a:t>
              </a: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（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i-1)*m</a:t>
              </a:r>
            </a:p>
          </p:txBody>
        </p:sp>
      </p:grpSp>
      <p:sp>
        <p:nvSpPr>
          <p:cNvPr id="41988" name="Text Box 29" descr="蓝色砂纸"/>
          <p:cNvSpPr txBox="1"/>
          <p:nvPr/>
        </p:nvSpPr>
        <p:spPr>
          <a:xfrm>
            <a:off x="885825" y="227013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顺序存储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8853488" y="1220788"/>
            <a:ext cx="320675" cy="56356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ChangeArrowheads="1"/>
          </p:cNvSpPr>
          <p:nvPr/>
        </p:nvSpPr>
        <p:spPr bwMode="auto">
          <a:xfrm>
            <a:off x="3657600" y="2320925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1536</a:t>
            </a:r>
          </a:p>
        </p:txBody>
      </p:sp>
      <p:sp>
        <p:nvSpPr>
          <p:cNvPr id="38914" name="Rectangle 3"/>
          <p:cNvSpPr>
            <a:spLocks noChangeArrowheads="1"/>
          </p:cNvSpPr>
          <p:nvPr/>
        </p:nvSpPr>
        <p:spPr bwMode="auto">
          <a:xfrm>
            <a:off x="2667000" y="2320925"/>
            <a:ext cx="9906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</a:p>
        </p:txBody>
      </p:sp>
      <p:sp>
        <p:nvSpPr>
          <p:cNvPr id="38915" name="Line 4"/>
          <p:cNvSpPr>
            <a:spLocks noChangeShapeType="1"/>
          </p:cNvSpPr>
          <p:nvPr/>
        </p:nvSpPr>
        <p:spPr bwMode="auto">
          <a:xfrm>
            <a:off x="2667000" y="2320925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6" name="Line 5"/>
          <p:cNvSpPr>
            <a:spLocks noChangeShapeType="1"/>
          </p:cNvSpPr>
          <p:nvPr/>
        </p:nvSpPr>
        <p:spPr bwMode="auto">
          <a:xfrm>
            <a:off x="2667000" y="2776538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7" name="Line 6"/>
          <p:cNvSpPr>
            <a:spLocks noChangeShapeType="1"/>
          </p:cNvSpPr>
          <p:nvPr/>
        </p:nvSpPr>
        <p:spPr bwMode="auto">
          <a:xfrm>
            <a:off x="2667000" y="2320925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9" name="Line 8"/>
          <p:cNvSpPr>
            <a:spLocks noChangeShapeType="1"/>
          </p:cNvSpPr>
          <p:nvPr/>
        </p:nvSpPr>
        <p:spPr bwMode="auto">
          <a:xfrm>
            <a:off x="4495800" y="2320925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1371600" y="2322513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1400</a:t>
            </a:r>
          </a:p>
        </p:txBody>
      </p:sp>
      <p:sp>
        <p:nvSpPr>
          <p:cNvPr id="38921" name="Rectangle 10"/>
          <p:cNvSpPr>
            <a:spLocks noChangeArrowheads="1"/>
          </p:cNvSpPr>
          <p:nvPr/>
        </p:nvSpPr>
        <p:spPr bwMode="auto">
          <a:xfrm>
            <a:off x="381000" y="2322513"/>
            <a:ext cx="9906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</a:p>
        </p:txBody>
      </p:sp>
      <p:sp>
        <p:nvSpPr>
          <p:cNvPr id="38922" name="Line 11"/>
          <p:cNvSpPr>
            <a:spLocks noChangeShapeType="1"/>
          </p:cNvSpPr>
          <p:nvPr/>
        </p:nvSpPr>
        <p:spPr bwMode="auto">
          <a:xfrm>
            <a:off x="381000" y="2322513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381000" y="2778125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>
            <a:off x="381000" y="2322513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6" name="Line 15"/>
          <p:cNvSpPr>
            <a:spLocks noChangeShapeType="1"/>
          </p:cNvSpPr>
          <p:nvPr/>
        </p:nvSpPr>
        <p:spPr bwMode="auto">
          <a:xfrm>
            <a:off x="2209800" y="2322513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7" name="Rectangle 16"/>
          <p:cNvSpPr>
            <a:spLocks noChangeArrowheads="1"/>
          </p:cNvSpPr>
          <p:nvPr/>
        </p:nvSpPr>
        <p:spPr bwMode="auto">
          <a:xfrm>
            <a:off x="5867400" y="2320925"/>
            <a:ext cx="838200" cy="45720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1346</a:t>
            </a:r>
          </a:p>
        </p:txBody>
      </p:sp>
      <p:sp>
        <p:nvSpPr>
          <p:cNvPr id="38928" name="Rectangle 17"/>
          <p:cNvSpPr>
            <a:spLocks noChangeArrowheads="1"/>
          </p:cNvSpPr>
          <p:nvPr/>
        </p:nvSpPr>
        <p:spPr bwMode="auto">
          <a:xfrm>
            <a:off x="4876800" y="2320925"/>
            <a:ext cx="990600" cy="45720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</a:p>
        </p:txBody>
      </p:sp>
      <p:sp>
        <p:nvSpPr>
          <p:cNvPr id="38929" name="Line 18"/>
          <p:cNvSpPr>
            <a:spLocks noChangeShapeType="1"/>
          </p:cNvSpPr>
          <p:nvPr/>
        </p:nvSpPr>
        <p:spPr bwMode="auto">
          <a:xfrm>
            <a:off x="4876800" y="2320925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0" name="Line 19"/>
          <p:cNvSpPr>
            <a:spLocks noChangeShapeType="1"/>
          </p:cNvSpPr>
          <p:nvPr/>
        </p:nvSpPr>
        <p:spPr bwMode="auto">
          <a:xfrm>
            <a:off x="4876800" y="2778125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1" name="Line 20"/>
          <p:cNvSpPr>
            <a:spLocks noChangeShapeType="1"/>
          </p:cNvSpPr>
          <p:nvPr/>
        </p:nvSpPr>
        <p:spPr bwMode="auto">
          <a:xfrm>
            <a:off x="4876800" y="2320925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3" name="Line 22"/>
          <p:cNvSpPr>
            <a:spLocks noChangeShapeType="1"/>
          </p:cNvSpPr>
          <p:nvPr/>
        </p:nvSpPr>
        <p:spPr bwMode="auto">
          <a:xfrm>
            <a:off x="6705600" y="2320925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4" name="Rectangle 23"/>
          <p:cNvSpPr>
            <a:spLocks noChangeArrowheads="1"/>
          </p:cNvSpPr>
          <p:nvPr/>
        </p:nvSpPr>
        <p:spPr bwMode="auto">
          <a:xfrm>
            <a:off x="7885113" y="2320925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∧</a:t>
            </a:r>
          </a:p>
        </p:txBody>
      </p:sp>
      <p:sp>
        <p:nvSpPr>
          <p:cNvPr id="38935" name="Rectangle 24"/>
          <p:cNvSpPr>
            <a:spLocks noChangeArrowheads="1"/>
          </p:cNvSpPr>
          <p:nvPr/>
        </p:nvSpPr>
        <p:spPr bwMode="auto">
          <a:xfrm>
            <a:off x="7086600" y="2320925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</a:p>
        </p:txBody>
      </p:sp>
      <p:sp>
        <p:nvSpPr>
          <p:cNvPr id="38936" name="Line 25"/>
          <p:cNvSpPr>
            <a:spLocks noChangeShapeType="1"/>
          </p:cNvSpPr>
          <p:nvPr/>
        </p:nvSpPr>
        <p:spPr bwMode="auto">
          <a:xfrm>
            <a:off x="7086600" y="2320925"/>
            <a:ext cx="1662113" cy="15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7" name="Line 26"/>
          <p:cNvSpPr>
            <a:spLocks noChangeShapeType="1"/>
          </p:cNvSpPr>
          <p:nvPr/>
        </p:nvSpPr>
        <p:spPr bwMode="auto">
          <a:xfrm>
            <a:off x="7086600" y="2776538"/>
            <a:ext cx="16621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8" name="Line 27"/>
          <p:cNvSpPr>
            <a:spLocks noChangeShapeType="1"/>
          </p:cNvSpPr>
          <p:nvPr/>
        </p:nvSpPr>
        <p:spPr bwMode="auto">
          <a:xfrm>
            <a:off x="7086600" y="2320925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40" name="Line 29"/>
          <p:cNvSpPr>
            <a:spLocks noChangeShapeType="1"/>
          </p:cNvSpPr>
          <p:nvPr/>
        </p:nvSpPr>
        <p:spPr bwMode="auto">
          <a:xfrm>
            <a:off x="8748713" y="2320925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41" name="Rectangle 30"/>
          <p:cNvSpPr>
            <a:spLocks noChangeArrowheads="1"/>
          </p:cNvSpPr>
          <p:nvPr/>
        </p:nvSpPr>
        <p:spPr bwMode="auto">
          <a:xfrm>
            <a:off x="1981200" y="1425575"/>
            <a:ext cx="990600" cy="40005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1345</a:t>
            </a:r>
          </a:p>
        </p:txBody>
      </p:sp>
      <p:sp>
        <p:nvSpPr>
          <p:cNvPr id="38942" name="Text Box 31" descr="蓝色砂纸"/>
          <p:cNvSpPr txBox="1">
            <a:spLocks noChangeArrowheads="1"/>
          </p:cNvSpPr>
          <p:nvPr/>
        </p:nvSpPr>
        <p:spPr bwMode="auto">
          <a:xfrm>
            <a:off x="457200" y="1711325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</a:p>
        </p:txBody>
      </p:sp>
      <p:cxnSp>
        <p:nvCxnSpPr>
          <p:cNvPr id="43036" name="AutoShape 32"/>
          <p:cNvCxnSpPr>
            <a:stCxn id="38920" idx="3"/>
            <a:endCxn id="38914" idx="1"/>
          </p:cNvCxnSpPr>
          <p:nvPr/>
        </p:nvCxnSpPr>
        <p:spPr>
          <a:xfrm flipV="1">
            <a:off x="2209800" y="2549525"/>
            <a:ext cx="457200" cy="1588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3037" name="AutoShape 33"/>
          <p:cNvCxnSpPr>
            <a:stCxn id="38913" idx="3"/>
            <a:endCxn id="38928" idx="1"/>
          </p:cNvCxnSpPr>
          <p:nvPr/>
        </p:nvCxnSpPr>
        <p:spPr>
          <a:xfrm>
            <a:off x="4495800" y="2549525"/>
            <a:ext cx="381000" cy="0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3038" name="AutoShape 34"/>
          <p:cNvCxnSpPr>
            <a:stCxn id="38927" idx="3"/>
            <a:endCxn id="38935" idx="1"/>
          </p:cNvCxnSpPr>
          <p:nvPr/>
        </p:nvCxnSpPr>
        <p:spPr>
          <a:xfrm flipV="1">
            <a:off x="6705600" y="2549525"/>
            <a:ext cx="381000" cy="0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3039" name="Text Box 69"/>
          <p:cNvSpPr txBox="1"/>
          <p:nvPr/>
        </p:nvSpPr>
        <p:spPr>
          <a:xfrm>
            <a:off x="736600" y="212725"/>
            <a:ext cx="1800225" cy="523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sym typeface="+mn-lt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链式存储 </a:t>
            </a:r>
          </a:p>
        </p:txBody>
      </p:sp>
      <p:sp>
        <p:nvSpPr>
          <p:cNvPr id="38981" name="Line 71"/>
          <p:cNvSpPr>
            <a:spLocks noChangeShapeType="1"/>
          </p:cNvSpPr>
          <p:nvPr/>
        </p:nvSpPr>
        <p:spPr bwMode="auto">
          <a:xfrm>
            <a:off x="1066800" y="1989138"/>
            <a:ext cx="0" cy="3317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82" name="Text Box 72" descr="蓝色砂纸"/>
          <p:cNvSpPr txBox="1">
            <a:spLocks noChangeArrowheads="1"/>
          </p:cNvSpPr>
          <p:nvPr/>
        </p:nvSpPr>
        <p:spPr bwMode="auto">
          <a:xfrm>
            <a:off x="2298700" y="10128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</a:p>
        </p:txBody>
      </p:sp>
      <p:graphicFrame>
        <p:nvGraphicFramePr>
          <p:cNvPr id="41" name="表格 40"/>
          <p:cNvGraphicFramePr/>
          <p:nvPr>
            <p:extLst>
              <p:ext uri="{D42A27DB-BD31-4B8C-83A1-F6EECF244321}">
                <p14:modId xmlns:p14="http://schemas.microsoft.com/office/powerpoint/2010/main" val="1836535787"/>
              </p:ext>
            </p:extLst>
          </p:nvPr>
        </p:nvGraphicFramePr>
        <p:xfrm>
          <a:off x="352425" y="3027363"/>
          <a:ext cx="8370888" cy="35179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18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608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082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9016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存储地址</a:t>
                      </a:r>
                    </a:p>
                  </a:txBody>
                  <a:tcPr marL="90024" marR="90024" marT="46841" marB="4684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存储内容</a:t>
                      </a:r>
                    </a:p>
                  </a:txBody>
                  <a:tcPr marL="90024" marR="90024" marT="46841" marB="4684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下一个元素的地址</a:t>
                      </a:r>
                    </a:p>
                  </a:txBody>
                  <a:tcPr marL="90024" marR="90024" marT="46841" marB="4684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4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sym typeface="+mn-lt"/>
                        </a:rPr>
                        <a:t>  1345</a:t>
                      </a:r>
                    </a:p>
                  </a:txBody>
                  <a:tcPr marL="90024" marR="90024" marT="46841" marB="4684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1400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1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1346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4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∧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  ……..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</a:t>
                      </a: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1400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2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</a:t>
                      </a: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1536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  ……..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1536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3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1346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8613" y="1196975"/>
            <a:ext cx="8540750" cy="1077913"/>
          </a:xfrm>
          <a:solidFill>
            <a:srgbClr val="EBE9EE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逻辑结构和存储结构都相同，但运算不同，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则数据结构不同。例如，栈与队列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827088" y="188913"/>
            <a:ext cx="23463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数据的运算</a:t>
            </a:r>
          </a:p>
        </p:txBody>
      </p:sp>
      <p:grpSp>
        <p:nvGrpSpPr>
          <p:cNvPr id="44036" name="组合 2"/>
          <p:cNvGrpSpPr/>
          <p:nvPr/>
        </p:nvGrpSpPr>
        <p:grpSpPr>
          <a:xfrm>
            <a:off x="539750" y="3760788"/>
            <a:ext cx="7981950" cy="1911350"/>
            <a:chOff x="538973" y="3933056"/>
            <a:chExt cx="7982771" cy="1910743"/>
          </a:xfrm>
        </p:grpSpPr>
        <p:sp>
          <p:nvSpPr>
            <p:cNvPr id="44038" name="Freeform 5"/>
            <p:cNvSpPr>
              <a:spLocks noEditPoints="1"/>
            </p:cNvSpPr>
            <p:nvPr/>
          </p:nvSpPr>
          <p:spPr>
            <a:xfrm>
              <a:off x="5856673" y="3950173"/>
              <a:ext cx="653469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8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8" y="99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29" y="97"/>
                    <a:pt x="9" y="77"/>
                    <a:pt x="9" y="53"/>
                  </a:cubicBezTo>
                  <a:cubicBezTo>
                    <a:pt x="9" y="28"/>
                    <a:pt x="29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4C6062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0"/>
            <p:cNvSpPr>
              <a:spLocks noEditPoints="1"/>
            </p:cNvSpPr>
            <p:nvPr/>
          </p:nvSpPr>
          <p:spPr bwMode="auto">
            <a:xfrm>
              <a:off x="4190599" y="3933056"/>
              <a:ext cx="658881" cy="887130"/>
            </a:xfrm>
            <a:custGeom>
              <a:avLst/>
              <a:gdLst>
                <a:gd name="T0" fmla="*/ 55 w 109"/>
                <a:gd name="T1" fmla="*/ 0 h 145"/>
                <a:gd name="T2" fmla="*/ 0 w 109"/>
                <a:gd name="T3" fmla="*/ 54 h 145"/>
                <a:gd name="T4" fmla="*/ 55 w 109"/>
                <a:gd name="T5" fmla="*/ 145 h 145"/>
                <a:gd name="T6" fmla="*/ 109 w 109"/>
                <a:gd name="T7" fmla="*/ 54 h 145"/>
                <a:gd name="T8" fmla="*/ 55 w 109"/>
                <a:gd name="T9" fmla="*/ 0 h 145"/>
                <a:gd name="T10" fmla="*/ 55 w 109"/>
                <a:gd name="T11" fmla="*/ 97 h 145"/>
                <a:gd name="T12" fmla="*/ 10 w 109"/>
                <a:gd name="T13" fmla="*/ 53 h 145"/>
                <a:gd name="T14" fmla="*/ 55 w 109"/>
                <a:gd name="T15" fmla="*/ 8 h 145"/>
                <a:gd name="T16" fmla="*/ 99 w 109"/>
                <a:gd name="T17" fmla="*/ 53 h 145"/>
                <a:gd name="T18" fmla="*/ 55 w 109"/>
                <a:gd name="T19" fmla="*/ 9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45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99"/>
                    <a:pt x="55" y="145"/>
                    <a:pt x="55" y="145"/>
                  </a:cubicBezTo>
                  <a:cubicBezTo>
                    <a:pt x="55" y="145"/>
                    <a:pt x="109" y="99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55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5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5" y="97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4040" name="Freeform 14"/>
            <p:cNvSpPr>
              <a:spLocks noEditPoints="1"/>
            </p:cNvSpPr>
            <p:nvPr/>
          </p:nvSpPr>
          <p:spPr>
            <a:xfrm>
              <a:off x="2514552" y="3951414"/>
              <a:ext cx="658888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9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9" y="99"/>
                    <a:pt x="109" y="54"/>
                  </a:cubicBezTo>
                  <a:cubicBezTo>
                    <a:pt x="109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EBAC0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Freeform 18"/>
            <p:cNvSpPr>
              <a:spLocks noEditPoints="1"/>
            </p:cNvSpPr>
            <p:nvPr/>
          </p:nvSpPr>
          <p:spPr>
            <a:xfrm>
              <a:off x="979531" y="3975075"/>
              <a:ext cx="653469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8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8" y="99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29" y="97"/>
                    <a:pt x="9" y="77"/>
                    <a:pt x="9" y="53"/>
                  </a:cubicBezTo>
                  <a:cubicBezTo>
                    <a:pt x="9" y="28"/>
                    <a:pt x="29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6C4C8F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Rectangle 22"/>
            <p:cNvSpPr/>
            <p:nvPr/>
          </p:nvSpPr>
          <p:spPr>
            <a:xfrm>
              <a:off x="5342763" y="4958232"/>
              <a:ext cx="1671297" cy="59137"/>
            </a:xfrm>
            <a:prstGeom prst="rect">
              <a:avLst/>
            </a:prstGeom>
            <a:solidFill>
              <a:srgbClr val="4C6062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11" name="Rectangle 23"/>
            <p:cNvSpPr>
              <a:spLocks noChangeArrowheads="1"/>
            </p:cNvSpPr>
            <p:nvPr/>
          </p:nvSpPr>
          <p:spPr bwMode="auto">
            <a:xfrm>
              <a:off x="3685722" y="4958255"/>
              <a:ext cx="1576550" cy="5871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4044" name="Rectangle 24"/>
            <p:cNvSpPr/>
            <p:nvPr/>
          </p:nvSpPr>
          <p:spPr>
            <a:xfrm>
              <a:off x="2185108" y="4958232"/>
              <a:ext cx="1419018" cy="59137"/>
            </a:xfrm>
            <a:prstGeom prst="rect">
              <a:avLst/>
            </a:prstGeom>
            <a:solidFill>
              <a:srgbClr val="EBAC07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45" name="Rectangle 25"/>
            <p:cNvSpPr/>
            <p:nvPr/>
          </p:nvSpPr>
          <p:spPr>
            <a:xfrm>
              <a:off x="538973" y="4958232"/>
              <a:ext cx="1559507" cy="59137"/>
            </a:xfrm>
            <a:prstGeom prst="rect">
              <a:avLst/>
            </a:prstGeom>
            <a:solidFill>
              <a:srgbClr val="6C4C8F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46" name="文本框 25"/>
            <p:cNvSpPr txBox="1"/>
            <p:nvPr/>
          </p:nvSpPr>
          <p:spPr>
            <a:xfrm>
              <a:off x="1147045" y="4091894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F83003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sz="2000" dirty="0">
                <a:solidFill>
                  <a:srgbClr val="F83003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7" name="文本框 26"/>
            <p:cNvSpPr txBox="1"/>
            <p:nvPr/>
          </p:nvSpPr>
          <p:spPr>
            <a:xfrm>
              <a:off x="2672315" y="4068232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EBAC07"/>
                  </a:solidFill>
                  <a:latin typeface="微软雅黑" panose="020B0503020204020204" pitchFamily="34" charset="-122"/>
                </a:rPr>
                <a:t>2</a:t>
              </a:r>
              <a:endParaRPr lang="zh-CN" altLang="en-US" sz="2000" dirty="0">
                <a:solidFill>
                  <a:srgbClr val="EBAC07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8" name="文本框 27"/>
            <p:cNvSpPr txBox="1"/>
            <p:nvPr/>
          </p:nvSpPr>
          <p:spPr>
            <a:xfrm>
              <a:off x="4348400" y="4049874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A2B932"/>
                  </a:solidFill>
                  <a:latin typeface="微软雅黑" panose="020B0503020204020204" pitchFamily="34" charset="-122"/>
                </a:rPr>
                <a:t>3</a:t>
              </a:r>
              <a:endParaRPr lang="zh-CN" altLang="en-US" sz="2000" dirty="0">
                <a:solidFill>
                  <a:srgbClr val="A2B932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9" name="文本框 28"/>
            <p:cNvSpPr txBox="1"/>
            <p:nvPr/>
          </p:nvSpPr>
          <p:spPr>
            <a:xfrm>
              <a:off x="6011724" y="4109010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4C6062"/>
                  </a:solidFill>
                  <a:latin typeface="微软雅黑" panose="020B0503020204020204" pitchFamily="34" charset="-122"/>
                </a:rPr>
                <a:t>4</a:t>
              </a:r>
              <a:endParaRPr lang="zh-CN" altLang="en-US" sz="2000" dirty="0">
                <a:solidFill>
                  <a:srgbClr val="4C6062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50" name="文本框 29"/>
            <p:cNvSpPr txBox="1"/>
            <p:nvPr/>
          </p:nvSpPr>
          <p:spPr>
            <a:xfrm>
              <a:off x="709282" y="5197468"/>
              <a:ext cx="1264039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插入</a:t>
              </a:r>
            </a:p>
          </p:txBody>
        </p:sp>
        <p:sp>
          <p:nvSpPr>
            <p:cNvPr id="44051" name="文本框 30"/>
            <p:cNvSpPr txBox="1"/>
            <p:nvPr/>
          </p:nvSpPr>
          <p:spPr>
            <a:xfrm>
              <a:off x="5358740" y="5197468"/>
              <a:ext cx="1671297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查找</a:t>
              </a:r>
            </a:p>
          </p:txBody>
        </p:sp>
        <p:sp>
          <p:nvSpPr>
            <p:cNvPr id="44052" name="文本框 31"/>
            <p:cNvSpPr txBox="1"/>
            <p:nvPr/>
          </p:nvSpPr>
          <p:spPr>
            <a:xfrm>
              <a:off x="2307468" y="5197468"/>
              <a:ext cx="1251206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44053" name="文本框 32"/>
            <p:cNvSpPr txBox="1"/>
            <p:nvPr/>
          </p:nvSpPr>
          <p:spPr>
            <a:xfrm>
              <a:off x="3918580" y="5197468"/>
              <a:ext cx="1227215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修改</a:t>
              </a:r>
            </a:p>
          </p:txBody>
        </p:sp>
        <p:sp>
          <p:nvSpPr>
            <p:cNvPr id="44054" name="Freeform 14"/>
            <p:cNvSpPr>
              <a:spLocks noEditPoints="1"/>
            </p:cNvSpPr>
            <p:nvPr/>
          </p:nvSpPr>
          <p:spPr>
            <a:xfrm>
              <a:off x="7432170" y="3951414"/>
              <a:ext cx="658888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9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9" y="99"/>
                    <a:pt x="109" y="54"/>
                  </a:cubicBezTo>
                  <a:cubicBezTo>
                    <a:pt x="109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EBAC0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Rectangle 24"/>
            <p:cNvSpPr/>
            <p:nvPr/>
          </p:nvSpPr>
          <p:spPr>
            <a:xfrm>
              <a:off x="7102726" y="4958232"/>
              <a:ext cx="1419018" cy="59137"/>
            </a:xfrm>
            <a:prstGeom prst="rect">
              <a:avLst/>
            </a:prstGeom>
            <a:solidFill>
              <a:srgbClr val="EBAC07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56" name="文本框 31"/>
            <p:cNvSpPr txBox="1"/>
            <p:nvPr/>
          </p:nvSpPr>
          <p:spPr>
            <a:xfrm>
              <a:off x="7203878" y="5197468"/>
              <a:ext cx="1251206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排序</a:t>
              </a:r>
            </a:p>
          </p:txBody>
        </p:sp>
        <p:sp>
          <p:nvSpPr>
            <p:cNvPr id="44057" name="文本框 26"/>
            <p:cNvSpPr txBox="1"/>
            <p:nvPr/>
          </p:nvSpPr>
          <p:spPr>
            <a:xfrm>
              <a:off x="7589932" y="4081247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EBAC07"/>
                  </a:solidFill>
                  <a:latin typeface="微软雅黑" panose="020B0503020204020204" pitchFamily="34" charset="-122"/>
                </a:rPr>
                <a:t>5</a:t>
              </a:r>
              <a:endParaRPr lang="zh-CN" altLang="en-US" sz="2000" dirty="0">
                <a:solidFill>
                  <a:srgbClr val="EBAC07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249238" y="2708275"/>
            <a:ext cx="85407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对于一种数据结构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常见的运算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02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build="p" bldLvl="2" animBg="1"/>
      <p:bldP spid="27" grpId="0" build="p" bldLvl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25"/>
          <p:cNvSpPr/>
          <p:nvPr/>
        </p:nvSpPr>
        <p:spPr>
          <a:xfrm>
            <a:off x="2352675" y="3321050"/>
            <a:ext cx="2419350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5059" name="矩形 2"/>
          <p:cNvSpPr/>
          <p:nvPr/>
        </p:nvSpPr>
        <p:spPr>
          <a:xfrm>
            <a:off x="2371725" y="1516063"/>
            <a:ext cx="2417763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0963" name="Text Box 5" descr="花岗岩"/>
          <p:cNvSpPr txBox="1">
            <a:spLocks noChangeArrowheads="1"/>
          </p:cNvSpPr>
          <p:nvPr/>
        </p:nvSpPr>
        <p:spPr bwMode="auto">
          <a:xfrm>
            <a:off x="2297113" y="1516063"/>
            <a:ext cx="249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数据的逻辑结构 </a:t>
            </a:r>
          </a:p>
        </p:txBody>
      </p:sp>
      <p:sp>
        <p:nvSpPr>
          <p:cNvPr id="40964" name="Text Box 6" descr="花岗岩"/>
          <p:cNvSpPr txBox="1">
            <a:spLocks noChangeArrowheads="1"/>
          </p:cNvSpPr>
          <p:nvPr/>
        </p:nvSpPr>
        <p:spPr bwMode="auto">
          <a:xfrm>
            <a:off x="2346325" y="3316288"/>
            <a:ext cx="24939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数据的存储结构 </a:t>
            </a:r>
          </a:p>
        </p:txBody>
      </p:sp>
      <p:sp>
        <p:nvSpPr>
          <p:cNvPr id="45062" name="矩形 26"/>
          <p:cNvSpPr/>
          <p:nvPr/>
        </p:nvSpPr>
        <p:spPr>
          <a:xfrm>
            <a:off x="2365375" y="4956175"/>
            <a:ext cx="1846263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0962" name="AutoShape 4"/>
          <p:cNvSpPr/>
          <p:nvPr/>
        </p:nvSpPr>
        <p:spPr bwMode="auto">
          <a:xfrm>
            <a:off x="1973263" y="1824038"/>
            <a:ext cx="309563" cy="3443288"/>
          </a:xfrm>
          <a:prstGeom prst="leftBrace">
            <a:avLst>
              <a:gd name="adj1" fmla="val 53735"/>
              <a:gd name="adj2" fmla="val 50000"/>
            </a:avLst>
          </a:prstGeom>
          <a:noFill/>
          <a:ln w="38100">
            <a:solidFill>
              <a:srgbClr val="6C4C8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5" name="Text Box 7" descr="花岗岩"/>
          <p:cNvSpPr txBox="1">
            <a:spLocks noChangeArrowheads="1"/>
          </p:cNvSpPr>
          <p:nvPr/>
        </p:nvSpPr>
        <p:spPr bwMode="auto">
          <a:xfrm>
            <a:off x="2339975" y="4959350"/>
            <a:ext cx="6416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数据的运算：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插入、删除、修改、查找、排序 </a:t>
            </a:r>
          </a:p>
        </p:txBody>
      </p:sp>
      <p:sp>
        <p:nvSpPr>
          <p:cNvPr id="40966" name="AutoShape 8"/>
          <p:cNvSpPr/>
          <p:nvPr/>
        </p:nvSpPr>
        <p:spPr bwMode="auto">
          <a:xfrm>
            <a:off x="4979988" y="3103563"/>
            <a:ext cx="114300" cy="944563"/>
          </a:xfrm>
          <a:prstGeom prst="leftBrace">
            <a:avLst>
              <a:gd name="adj1" fmla="val 68789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7" name="AutoShape 9"/>
          <p:cNvSpPr/>
          <p:nvPr/>
        </p:nvSpPr>
        <p:spPr bwMode="auto">
          <a:xfrm>
            <a:off x="4911725" y="1055688"/>
            <a:ext cx="249238" cy="1343025"/>
          </a:xfrm>
          <a:prstGeom prst="leftBrace">
            <a:avLst>
              <a:gd name="adj1" fmla="val 20290"/>
              <a:gd name="adj2" fmla="val 49282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8" name="AutoShape 10"/>
          <p:cNvSpPr/>
          <p:nvPr/>
        </p:nvSpPr>
        <p:spPr bwMode="auto">
          <a:xfrm>
            <a:off x="6932613" y="336550"/>
            <a:ext cx="152400" cy="1360488"/>
          </a:xfrm>
          <a:prstGeom prst="leftBrace">
            <a:avLst>
              <a:gd name="adj1" fmla="val 74310"/>
              <a:gd name="adj2" fmla="val 50000"/>
            </a:avLst>
          </a:prstGeom>
          <a:noFill/>
          <a:ln w="38100">
            <a:solidFill>
              <a:schemeClr val="bg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9" name="AutoShape 11"/>
          <p:cNvSpPr/>
          <p:nvPr/>
        </p:nvSpPr>
        <p:spPr bwMode="auto">
          <a:xfrm>
            <a:off x="6970713" y="1936750"/>
            <a:ext cx="114300" cy="944563"/>
          </a:xfrm>
          <a:prstGeom prst="leftBrace">
            <a:avLst>
              <a:gd name="adj1" fmla="val 68789"/>
              <a:gd name="adj2" fmla="val 50000"/>
            </a:avLst>
          </a:prstGeom>
          <a:noFill/>
          <a:ln w="38100">
            <a:solidFill>
              <a:schemeClr val="bg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0" name="Text Box 12" descr="花岗岩"/>
          <p:cNvSpPr txBox="1">
            <a:spLocks noChangeArrowheads="1"/>
          </p:cNvSpPr>
          <p:nvPr/>
        </p:nvSpPr>
        <p:spPr bwMode="auto">
          <a:xfrm>
            <a:off x="5084763" y="809625"/>
            <a:ext cx="1570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 </a:t>
            </a:r>
          </a:p>
        </p:txBody>
      </p:sp>
      <p:sp>
        <p:nvSpPr>
          <p:cNvPr id="40971" name="Text Box 13" descr="花岗岩"/>
          <p:cNvSpPr txBox="1">
            <a:spLocks noChangeArrowheads="1"/>
          </p:cNvSpPr>
          <p:nvPr/>
        </p:nvSpPr>
        <p:spPr bwMode="auto">
          <a:xfrm>
            <a:off x="5106988" y="2159000"/>
            <a:ext cx="180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非线性结构</a:t>
            </a:r>
          </a:p>
        </p:txBody>
      </p:sp>
      <p:sp>
        <p:nvSpPr>
          <p:cNvPr id="40972" name="Text Box 14" descr="花岗岩"/>
          <p:cNvSpPr txBox="1">
            <a:spLocks noChangeArrowheads="1"/>
          </p:cNvSpPr>
          <p:nvPr/>
        </p:nvSpPr>
        <p:spPr bwMode="auto">
          <a:xfrm>
            <a:off x="5124450" y="2881313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顺序存储</a:t>
            </a:r>
          </a:p>
        </p:txBody>
      </p:sp>
      <p:sp>
        <p:nvSpPr>
          <p:cNvPr id="40973" name="Text Box 15" descr="花岗岩"/>
          <p:cNvSpPr txBox="1">
            <a:spLocks noChangeArrowheads="1"/>
          </p:cNvSpPr>
          <p:nvPr/>
        </p:nvSpPr>
        <p:spPr bwMode="auto">
          <a:xfrm>
            <a:off x="5076825" y="3817938"/>
            <a:ext cx="1646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链式存储 </a:t>
            </a:r>
          </a:p>
        </p:txBody>
      </p:sp>
      <p:sp>
        <p:nvSpPr>
          <p:cNvPr id="40974" name="Text Box 16" descr="花岗岩"/>
          <p:cNvSpPr txBox="1">
            <a:spLocks noChangeArrowheads="1"/>
          </p:cNvSpPr>
          <p:nvPr/>
        </p:nvSpPr>
        <p:spPr bwMode="auto">
          <a:xfrm>
            <a:off x="7218363" y="169863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</a:p>
        </p:txBody>
      </p:sp>
      <p:sp>
        <p:nvSpPr>
          <p:cNvPr id="40977" name="Text Box 19" descr="花岗岩"/>
          <p:cNvSpPr txBox="1">
            <a:spLocks noChangeArrowheads="1"/>
          </p:cNvSpPr>
          <p:nvPr/>
        </p:nvSpPr>
        <p:spPr bwMode="auto">
          <a:xfrm>
            <a:off x="7215188" y="19367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树形结构</a:t>
            </a:r>
          </a:p>
        </p:txBody>
      </p:sp>
      <p:sp>
        <p:nvSpPr>
          <p:cNvPr id="40978" name="Text Box 20" descr="花岗岩"/>
          <p:cNvSpPr txBox="1">
            <a:spLocks noChangeArrowheads="1"/>
          </p:cNvSpPr>
          <p:nvPr/>
        </p:nvSpPr>
        <p:spPr bwMode="auto">
          <a:xfrm>
            <a:off x="7215188" y="24701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图形结构</a:t>
            </a:r>
          </a:p>
        </p:txBody>
      </p:sp>
      <p:sp>
        <p:nvSpPr>
          <p:cNvPr id="397336" name="Text Box 24"/>
          <p:cNvSpPr txBox="1">
            <a:spLocks noChangeArrowheads="1"/>
          </p:cNvSpPr>
          <p:nvPr/>
        </p:nvSpPr>
        <p:spPr bwMode="auto">
          <a:xfrm>
            <a:off x="151066" y="1016794"/>
            <a:ext cx="20288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唯一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不唯一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运算的实现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依赖存储结构</a:t>
            </a:r>
          </a:p>
        </p:txBody>
      </p:sp>
      <p:sp>
        <p:nvSpPr>
          <p:cNvPr id="397337" name="AutoShape 25"/>
          <p:cNvSpPr>
            <a:spLocks noChangeArrowheads="1"/>
          </p:cNvSpPr>
          <p:nvPr/>
        </p:nvSpPr>
        <p:spPr bwMode="auto">
          <a:xfrm>
            <a:off x="922465" y="3759994"/>
            <a:ext cx="139700" cy="1039813"/>
          </a:xfrm>
          <a:prstGeom prst="upArrow">
            <a:avLst>
              <a:gd name="adj1" fmla="val 50000"/>
              <a:gd name="adj2" fmla="val 1860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Text Box 16" descr="花岗岩"/>
          <p:cNvSpPr txBox="1">
            <a:spLocks noChangeArrowheads="1"/>
          </p:cNvSpPr>
          <p:nvPr/>
        </p:nvSpPr>
        <p:spPr bwMode="auto">
          <a:xfrm>
            <a:off x="7116763" y="785813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栈、队列</a:t>
            </a:r>
          </a:p>
        </p:txBody>
      </p:sp>
      <p:sp>
        <p:nvSpPr>
          <p:cNvPr id="24" name="Text Box 16" descr="花岗岩"/>
          <p:cNvSpPr txBox="1">
            <a:spLocks noChangeArrowheads="1"/>
          </p:cNvSpPr>
          <p:nvPr/>
        </p:nvSpPr>
        <p:spPr bwMode="auto">
          <a:xfrm>
            <a:off x="7126288" y="1397000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串、数组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0" y="6380163"/>
            <a:ext cx="9144000" cy="431800"/>
            <a:chOff x="0" y="6379908"/>
            <a:chExt cx="9144000" cy="432048"/>
          </a:xfrm>
        </p:grpSpPr>
        <p:grpSp>
          <p:nvGrpSpPr>
            <p:cNvPr id="45081" name="组合 5"/>
            <p:cNvGrpSpPr/>
            <p:nvPr/>
          </p:nvGrpSpPr>
          <p:grpSpPr>
            <a:xfrm>
              <a:off x="0" y="6379908"/>
              <a:ext cx="9144000" cy="432048"/>
              <a:chOff x="0" y="6165304"/>
              <a:chExt cx="9144000" cy="432048"/>
            </a:xfrm>
          </p:grpSpPr>
          <p:cxnSp>
            <p:nvCxnSpPr>
              <p:cNvPr id="45083" name="直接连接符 6"/>
              <p:cNvCxnSpPr/>
              <p:nvPr/>
            </p:nvCxnSpPr>
            <p:spPr>
              <a:xfrm>
                <a:off x="0" y="6597352"/>
                <a:ext cx="9144000" cy="0"/>
              </a:xfrm>
              <a:prstGeom prst="line">
                <a:avLst/>
              </a:prstGeom>
              <a:ln w="1428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2" name="直接连接符 31"/>
              <p:cNvCxnSpPr/>
              <p:nvPr/>
            </p:nvCxnSpPr>
            <p:spPr bwMode="auto">
              <a:xfrm>
                <a:off x="2339975" y="6381328"/>
                <a:ext cx="6804025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85" name="直接连接符 8"/>
              <p:cNvCxnSpPr/>
              <p:nvPr/>
            </p:nvCxnSpPr>
            <p:spPr>
              <a:xfrm>
                <a:off x="4283968" y="6165304"/>
                <a:ext cx="4860032" cy="0"/>
              </a:xfrm>
              <a:prstGeom prst="line">
                <a:avLst/>
              </a:prstGeom>
              <a:ln w="57150" cap="flat" cmpd="sng">
                <a:solidFill>
                  <a:srgbClr val="E2D9EB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30" name="Shape 26"/>
            <p:cNvSpPr/>
            <p:nvPr/>
          </p:nvSpPr>
          <p:spPr>
            <a:xfrm flipH="1">
              <a:off x="0" y="6449798"/>
              <a:ext cx="2128838" cy="292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0" y="102222"/>
                  </a:lnTo>
                  <a:lnTo>
                    <a:pt x="583" y="102222"/>
                  </a:lnTo>
                  <a:lnTo>
                    <a:pt x="583" y="89777"/>
                  </a:lnTo>
                  <a:lnTo>
                    <a:pt x="4166" y="89777"/>
                  </a:lnTo>
                  <a:lnTo>
                    <a:pt x="4166" y="79111"/>
                  </a:lnTo>
                  <a:lnTo>
                    <a:pt x="6416" y="79111"/>
                  </a:lnTo>
                  <a:lnTo>
                    <a:pt x="6416" y="91111"/>
                  </a:lnTo>
                  <a:lnTo>
                    <a:pt x="7625" y="91111"/>
                  </a:lnTo>
                  <a:lnTo>
                    <a:pt x="7625" y="79111"/>
                  </a:lnTo>
                  <a:lnTo>
                    <a:pt x="8958" y="79111"/>
                  </a:lnTo>
                  <a:lnTo>
                    <a:pt x="8958" y="45333"/>
                  </a:lnTo>
                  <a:lnTo>
                    <a:pt x="9541" y="45333"/>
                  </a:lnTo>
                  <a:lnTo>
                    <a:pt x="9541" y="39111"/>
                  </a:lnTo>
                  <a:lnTo>
                    <a:pt x="10958" y="39111"/>
                  </a:lnTo>
                  <a:lnTo>
                    <a:pt x="10958" y="45333"/>
                  </a:lnTo>
                  <a:lnTo>
                    <a:pt x="11583" y="45333"/>
                  </a:lnTo>
                  <a:lnTo>
                    <a:pt x="11583" y="76000"/>
                  </a:lnTo>
                  <a:lnTo>
                    <a:pt x="12083" y="76000"/>
                  </a:lnTo>
                  <a:lnTo>
                    <a:pt x="12083" y="95555"/>
                  </a:lnTo>
                  <a:lnTo>
                    <a:pt x="13250" y="95555"/>
                  </a:lnTo>
                  <a:lnTo>
                    <a:pt x="13250" y="60000"/>
                  </a:lnTo>
                  <a:lnTo>
                    <a:pt x="14041" y="60000"/>
                  </a:lnTo>
                  <a:lnTo>
                    <a:pt x="14041" y="45333"/>
                  </a:lnTo>
                  <a:lnTo>
                    <a:pt x="14583" y="45333"/>
                  </a:lnTo>
                  <a:lnTo>
                    <a:pt x="14583" y="27555"/>
                  </a:lnTo>
                  <a:lnTo>
                    <a:pt x="14958" y="27555"/>
                  </a:lnTo>
                  <a:lnTo>
                    <a:pt x="14958" y="14222"/>
                  </a:lnTo>
                  <a:lnTo>
                    <a:pt x="15333" y="14222"/>
                  </a:lnTo>
                  <a:lnTo>
                    <a:pt x="15333" y="0"/>
                  </a:lnTo>
                  <a:lnTo>
                    <a:pt x="15958" y="0"/>
                  </a:lnTo>
                  <a:lnTo>
                    <a:pt x="15958" y="13777"/>
                  </a:lnTo>
                  <a:lnTo>
                    <a:pt x="16416" y="13777"/>
                  </a:lnTo>
                  <a:lnTo>
                    <a:pt x="16416" y="24888"/>
                  </a:lnTo>
                  <a:lnTo>
                    <a:pt x="16791" y="24888"/>
                  </a:lnTo>
                  <a:lnTo>
                    <a:pt x="16791" y="46222"/>
                  </a:lnTo>
                  <a:lnTo>
                    <a:pt x="17333" y="46222"/>
                  </a:lnTo>
                  <a:lnTo>
                    <a:pt x="17333" y="61333"/>
                  </a:lnTo>
                  <a:lnTo>
                    <a:pt x="17916" y="61333"/>
                  </a:lnTo>
                  <a:lnTo>
                    <a:pt x="17916" y="101333"/>
                  </a:lnTo>
                  <a:lnTo>
                    <a:pt x="18875" y="101333"/>
                  </a:lnTo>
                  <a:lnTo>
                    <a:pt x="18875" y="92000"/>
                  </a:lnTo>
                  <a:lnTo>
                    <a:pt x="20958" y="92000"/>
                  </a:lnTo>
                  <a:lnTo>
                    <a:pt x="20958" y="96444"/>
                  </a:lnTo>
                  <a:lnTo>
                    <a:pt x="21750" y="96444"/>
                  </a:lnTo>
                  <a:lnTo>
                    <a:pt x="21750" y="54666"/>
                  </a:lnTo>
                  <a:lnTo>
                    <a:pt x="22333" y="54666"/>
                  </a:lnTo>
                  <a:lnTo>
                    <a:pt x="22333" y="42666"/>
                  </a:lnTo>
                  <a:lnTo>
                    <a:pt x="24166" y="42666"/>
                  </a:lnTo>
                  <a:lnTo>
                    <a:pt x="24166" y="53777"/>
                  </a:lnTo>
                  <a:lnTo>
                    <a:pt x="24583" y="56888"/>
                  </a:lnTo>
                  <a:lnTo>
                    <a:pt x="24583" y="85777"/>
                  </a:lnTo>
                  <a:lnTo>
                    <a:pt x="25291" y="85777"/>
                  </a:lnTo>
                  <a:lnTo>
                    <a:pt x="25291" y="79555"/>
                  </a:lnTo>
                  <a:lnTo>
                    <a:pt x="27125" y="79555"/>
                  </a:lnTo>
                  <a:lnTo>
                    <a:pt x="27125" y="86222"/>
                  </a:lnTo>
                  <a:lnTo>
                    <a:pt x="28208" y="86222"/>
                  </a:lnTo>
                  <a:lnTo>
                    <a:pt x="28208" y="92000"/>
                  </a:lnTo>
                  <a:lnTo>
                    <a:pt x="29416" y="92000"/>
                  </a:lnTo>
                  <a:lnTo>
                    <a:pt x="29416" y="83555"/>
                  </a:lnTo>
                  <a:lnTo>
                    <a:pt x="30250" y="83555"/>
                  </a:lnTo>
                  <a:lnTo>
                    <a:pt x="30250" y="65777"/>
                  </a:lnTo>
                  <a:lnTo>
                    <a:pt x="35041" y="65777"/>
                  </a:lnTo>
                  <a:lnTo>
                    <a:pt x="35041" y="83555"/>
                  </a:lnTo>
                  <a:lnTo>
                    <a:pt x="35875" y="83555"/>
                  </a:lnTo>
                  <a:lnTo>
                    <a:pt x="35875" y="65777"/>
                  </a:lnTo>
                  <a:lnTo>
                    <a:pt x="39916" y="65777"/>
                  </a:lnTo>
                  <a:lnTo>
                    <a:pt x="39916" y="72888"/>
                  </a:lnTo>
                  <a:lnTo>
                    <a:pt x="41041" y="72888"/>
                  </a:lnTo>
                  <a:lnTo>
                    <a:pt x="41041" y="99555"/>
                  </a:lnTo>
                  <a:lnTo>
                    <a:pt x="42583" y="99555"/>
                  </a:lnTo>
                  <a:lnTo>
                    <a:pt x="42583" y="76888"/>
                  </a:lnTo>
                  <a:lnTo>
                    <a:pt x="45250" y="56000"/>
                  </a:lnTo>
                  <a:lnTo>
                    <a:pt x="47875" y="76888"/>
                  </a:lnTo>
                  <a:lnTo>
                    <a:pt x="47875" y="88888"/>
                  </a:lnTo>
                  <a:lnTo>
                    <a:pt x="48666" y="88888"/>
                  </a:lnTo>
                  <a:lnTo>
                    <a:pt x="48666" y="104000"/>
                  </a:lnTo>
                  <a:lnTo>
                    <a:pt x="49208" y="104000"/>
                  </a:lnTo>
                  <a:lnTo>
                    <a:pt x="49208" y="73333"/>
                  </a:lnTo>
                  <a:lnTo>
                    <a:pt x="51500" y="73333"/>
                  </a:lnTo>
                  <a:lnTo>
                    <a:pt x="51500" y="85777"/>
                  </a:lnTo>
                  <a:lnTo>
                    <a:pt x="53708" y="85777"/>
                  </a:lnTo>
                  <a:lnTo>
                    <a:pt x="53708" y="94666"/>
                  </a:lnTo>
                  <a:lnTo>
                    <a:pt x="54500" y="94666"/>
                  </a:lnTo>
                  <a:lnTo>
                    <a:pt x="54500" y="85777"/>
                  </a:lnTo>
                  <a:lnTo>
                    <a:pt x="57125" y="85777"/>
                  </a:lnTo>
                  <a:lnTo>
                    <a:pt x="57125" y="102222"/>
                  </a:lnTo>
                  <a:lnTo>
                    <a:pt x="57625" y="102222"/>
                  </a:lnTo>
                  <a:lnTo>
                    <a:pt x="57625" y="104888"/>
                  </a:lnTo>
                  <a:lnTo>
                    <a:pt x="58875" y="104888"/>
                  </a:lnTo>
                  <a:lnTo>
                    <a:pt x="58875" y="94222"/>
                  </a:lnTo>
                  <a:lnTo>
                    <a:pt x="61666" y="94222"/>
                  </a:lnTo>
                  <a:lnTo>
                    <a:pt x="61666" y="89777"/>
                  </a:lnTo>
                  <a:lnTo>
                    <a:pt x="62250" y="89777"/>
                  </a:lnTo>
                  <a:lnTo>
                    <a:pt x="62250" y="84000"/>
                  </a:lnTo>
                  <a:lnTo>
                    <a:pt x="62833" y="84000"/>
                  </a:lnTo>
                  <a:lnTo>
                    <a:pt x="62833" y="88888"/>
                  </a:lnTo>
                  <a:lnTo>
                    <a:pt x="63500" y="88888"/>
                  </a:lnTo>
                  <a:lnTo>
                    <a:pt x="63500" y="83111"/>
                  </a:lnTo>
                  <a:lnTo>
                    <a:pt x="64999" y="83111"/>
                  </a:lnTo>
                  <a:lnTo>
                    <a:pt x="64999" y="88444"/>
                  </a:lnTo>
                  <a:lnTo>
                    <a:pt x="65666" y="88444"/>
                  </a:lnTo>
                  <a:lnTo>
                    <a:pt x="65666" y="103111"/>
                  </a:lnTo>
                  <a:lnTo>
                    <a:pt x="66916" y="103111"/>
                  </a:lnTo>
                  <a:lnTo>
                    <a:pt x="66916" y="82666"/>
                  </a:lnTo>
                  <a:lnTo>
                    <a:pt x="69375" y="82666"/>
                  </a:lnTo>
                  <a:lnTo>
                    <a:pt x="69375" y="88888"/>
                  </a:lnTo>
                  <a:lnTo>
                    <a:pt x="70416" y="88888"/>
                  </a:lnTo>
                  <a:lnTo>
                    <a:pt x="70416" y="46222"/>
                  </a:lnTo>
                  <a:lnTo>
                    <a:pt x="71500" y="35111"/>
                  </a:lnTo>
                  <a:lnTo>
                    <a:pt x="72458" y="45777"/>
                  </a:lnTo>
                  <a:lnTo>
                    <a:pt x="72458" y="103111"/>
                  </a:lnTo>
                  <a:lnTo>
                    <a:pt x="73583" y="103111"/>
                  </a:lnTo>
                  <a:lnTo>
                    <a:pt x="73583" y="47555"/>
                  </a:lnTo>
                  <a:lnTo>
                    <a:pt x="76916" y="47555"/>
                  </a:lnTo>
                  <a:lnTo>
                    <a:pt x="76916" y="97777"/>
                  </a:lnTo>
                  <a:lnTo>
                    <a:pt x="77541" y="97777"/>
                  </a:lnTo>
                  <a:lnTo>
                    <a:pt x="77541" y="85777"/>
                  </a:lnTo>
                  <a:lnTo>
                    <a:pt x="79000" y="85777"/>
                  </a:lnTo>
                  <a:lnTo>
                    <a:pt x="79000" y="92888"/>
                  </a:lnTo>
                  <a:lnTo>
                    <a:pt x="82000" y="92888"/>
                  </a:lnTo>
                  <a:lnTo>
                    <a:pt x="82000" y="102222"/>
                  </a:lnTo>
                  <a:lnTo>
                    <a:pt x="84333" y="102222"/>
                  </a:lnTo>
                  <a:lnTo>
                    <a:pt x="84333" y="88000"/>
                  </a:lnTo>
                  <a:lnTo>
                    <a:pt x="85583" y="88000"/>
                  </a:lnTo>
                  <a:lnTo>
                    <a:pt x="85583" y="96000"/>
                  </a:lnTo>
                  <a:lnTo>
                    <a:pt x="86500" y="96000"/>
                  </a:lnTo>
                  <a:lnTo>
                    <a:pt x="86500" y="91111"/>
                  </a:lnTo>
                  <a:lnTo>
                    <a:pt x="87791" y="91111"/>
                  </a:lnTo>
                  <a:lnTo>
                    <a:pt x="87791" y="84888"/>
                  </a:lnTo>
                  <a:lnTo>
                    <a:pt x="89375" y="84888"/>
                  </a:lnTo>
                  <a:lnTo>
                    <a:pt x="89375" y="100888"/>
                  </a:lnTo>
                  <a:lnTo>
                    <a:pt x="90541" y="100888"/>
                  </a:lnTo>
                  <a:lnTo>
                    <a:pt x="90541" y="63111"/>
                  </a:lnTo>
                  <a:lnTo>
                    <a:pt x="92458" y="63555"/>
                  </a:lnTo>
                  <a:lnTo>
                    <a:pt x="92458" y="84444"/>
                  </a:lnTo>
                  <a:lnTo>
                    <a:pt x="93750" y="84444"/>
                  </a:lnTo>
                  <a:lnTo>
                    <a:pt x="93750" y="97333"/>
                  </a:lnTo>
                  <a:lnTo>
                    <a:pt x="95375" y="97333"/>
                  </a:lnTo>
                  <a:lnTo>
                    <a:pt x="95375" y="83111"/>
                  </a:lnTo>
                  <a:lnTo>
                    <a:pt x="96500" y="83111"/>
                  </a:lnTo>
                  <a:lnTo>
                    <a:pt x="96500" y="77333"/>
                  </a:lnTo>
                  <a:lnTo>
                    <a:pt x="98000" y="77333"/>
                  </a:lnTo>
                  <a:lnTo>
                    <a:pt x="98000" y="81333"/>
                  </a:lnTo>
                  <a:lnTo>
                    <a:pt x="99041" y="81333"/>
                  </a:lnTo>
                  <a:lnTo>
                    <a:pt x="99041" y="75111"/>
                  </a:lnTo>
                  <a:lnTo>
                    <a:pt x="101000" y="59555"/>
                  </a:lnTo>
                  <a:lnTo>
                    <a:pt x="102916" y="75111"/>
                  </a:lnTo>
                  <a:lnTo>
                    <a:pt x="102916" y="96444"/>
                  </a:lnTo>
                  <a:lnTo>
                    <a:pt x="103250" y="96444"/>
                  </a:lnTo>
                  <a:lnTo>
                    <a:pt x="103250" y="92000"/>
                  </a:lnTo>
                  <a:lnTo>
                    <a:pt x="104750" y="92000"/>
                  </a:lnTo>
                  <a:lnTo>
                    <a:pt x="104750" y="111111"/>
                  </a:lnTo>
                  <a:lnTo>
                    <a:pt x="105125" y="111111"/>
                  </a:lnTo>
                  <a:lnTo>
                    <a:pt x="105125" y="101777"/>
                  </a:lnTo>
                  <a:lnTo>
                    <a:pt x="106291" y="101777"/>
                  </a:lnTo>
                  <a:lnTo>
                    <a:pt x="106291" y="81777"/>
                  </a:lnTo>
                  <a:lnTo>
                    <a:pt x="107791" y="81777"/>
                  </a:lnTo>
                  <a:lnTo>
                    <a:pt x="107791" y="101777"/>
                  </a:lnTo>
                  <a:lnTo>
                    <a:pt x="107833" y="101777"/>
                  </a:lnTo>
                  <a:lnTo>
                    <a:pt x="107833" y="93777"/>
                  </a:lnTo>
                  <a:lnTo>
                    <a:pt x="108583" y="93777"/>
                  </a:lnTo>
                  <a:lnTo>
                    <a:pt x="108583" y="89777"/>
                  </a:lnTo>
                  <a:lnTo>
                    <a:pt x="110166" y="89777"/>
                  </a:lnTo>
                  <a:lnTo>
                    <a:pt x="110166" y="103111"/>
                  </a:lnTo>
                  <a:lnTo>
                    <a:pt x="110416" y="103111"/>
                  </a:lnTo>
                  <a:lnTo>
                    <a:pt x="110416" y="93777"/>
                  </a:lnTo>
                  <a:lnTo>
                    <a:pt x="110625" y="93777"/>
                  </a:lnTo>
                  <a:lnTo>
                    <a:pt x="110625" y="76444"/>
                  </a:lnTo>
                  <a:lnTo>
                    <a:pt x="111416" y="76444"/>
                  </a:lnTo>
                  <a:lnTo>
                    <a:pt x="111416" y="68444"/>
                  </a:lnTo>
                  <a:lnTo>
                    <a:pt x="111833" y="68444"/>
                  </a:lnTo>
                  <a:lnTo>
                    <a:pt x="111833" y="64000"/>
                  </a:lnTo>
                  <a:lnTo>
                    <a:pt x="112916" y="64000"/>
                  </a:lnTo>
                  <a:lnTo>
                    <a:pt x="112916" y="68444"/>
                  </a:lnTo>
                  <a:lnTo>
                    <a:pt x="113375" y="68444"/>
                  </a:lnTo>
                  <a:lnTo>
                    <a:pt x="113375" y="91555"/>
                  </a:lnTo>
                  <a:lnTo>
                    <a:pt x="113416" y="91555"/>
                  </a:lnTo>
                  <a:lnTo>
                    <a:pt x="113416" y="91555"/>
                  </a:lnTo>
                  <a:lnTo>
                    <a:pt x="114666" y="91555"/>
                  </a:lnTo>
                  <a:lnTo>
                    <a:pt x="114666" y="79555"/>
                  </a:lnTo>
                  <a:lnTo>
                    <a:pt x="115250" y="79555"/>
                  </a:lnTo>
                  <a:lnTo>
                    <a:pt x="115250" y="68444"/>
                  </a:lnTo>
                  <a:lnTo>
                    <a:pt x="115625" y="68444"/>
                  </a:lnTo>
                  <a:lnTo>
                    <a:pt x="115625" y="55111"/>
                  </a:lnTo>
                  <a:lnTo>
                    <a:pt x="115916" y="55111"/>
                  </a:lnTo>
                  <a:lnTo>
                    <a:pt x="115916" y="44888"/>
                  </a:lnTo>
                  <a:lnTo>
                    <a:pt x="116250" y="44888"/>
                  </a:lnTo>
                  <a:lnTo>
                    <a:pt x="116250" y="34222"/>
                  </a:lnTo>
                  <a:lnTo>
                    <a:pt x="116666" y="34222"/>
                  </a:lnTo>
                  <a:lnTo>
                    <a:pt x="116666" y="44444"/>
                  </a:lnTo>
                  <a:lnTo>
                    <a:pt x="117000" y="44444"/>
                  </a:lnTo>
                  <a:lnTo>
                    <a:pt x="117000" y="52888"/>
                  </a:lnTo>
                  <a:lnTo>
                    <a:pt x="117333" y="52888"/>
                  </a:lnTo>
                  <a:lnTo>
                    <a:pt x="117333" y="68888"/>
                  </a:lnTo>
                  <a:lnTo>
                    <a:pt x="117708" y="68888"/>
                  </a:lnTo>
                  <a:lnTo>
                    <a:pt x="117708" y="80444"/>
                  </a:lnTo>
                  <a:lnTo>
                    <a:pt x="118166" y="80444"/>
                  </a:lnTo>
                  <a:lnTo>
                    <a:pt x="118166" y="92000"/>
                  </a:lnTo>
                  <a:lnTo>
                    <a:pt x="120000" y="92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34275" rIns="68569" bIns="34275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015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7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7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7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7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7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73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73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73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73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36" grpId="0" build="p" advAuto="1000"/>
      <p:bldP spid="3973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5">
            <a:extLst>
              <a:ext uri="{FF2B5EF4-FFF2-40B4-BE49-F238E27FC236}">
                <a16:creationId xmlns:a16="http://schemas.microsoft.com/office/drawing/2014/main" xmlns="" id="{BD381686-AFFE-9026-1A08-CF4B44A80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595" y="397192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: 圆角 16">
            <a:extLst>
              <a:ext uri="{FF2B5EF4-FFF2-40B4-BE49-F238E27FC236}">
                <a16:creationId xmlns:a16="http://schemas.microsoft.com/office/drawing/2014/main" xmlns="" id="{ED314B08-9C3B-20AA-803D-6FB796353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4" y="3971925"/>
            <a:ext cx="5199063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2770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dist" defTabSz="914400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目录导航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01775" y="2776538"/>
            <a:ext cx="720725" cy="2241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1.1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1.2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1.3</a:t>
            </a:r>
            <a:endParaRPr kumimoji="0" lang="zh-CN" altLang="en-US" sz="2400" kern="1200" cap="none" spc="0" normalizeH="0" baseline="0" noProof="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1.4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39975" y="2776538"/>
            <a:ext cx="4129088" cy="2243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数据结构的研究内容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抽象数据类型的表示与实现 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算法与算法分析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23167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数据类型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36CEE3BE-063D-6D0E-C63A-615929F0A2D8}"/>
              </a:ext>
            </a:extLst>
          </p:cNvPr>
          <p:cNvSpPr/>
          <p:nvPr/>
        </p:nvSpPr>
        <p:spPr>
          <a:xfrm>
            <a:off x="28444" y="5731931"/>
            <a:ext cx="9144000" cy="110895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24" name="Rectangle 1027">
            <a:extLst>
              <a:ext uri="{FF2B5EF4-FFF2-40B4-BE49-F238E27FC236}">
                <a16:creationId xmlns:a16="http://schemas.microsoft.com/office/drawing/2014/main" xmlns="" id="{73EC7082-7426-4449-AE50-F3D29B1A3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239" y="1032997"/>
            <a:ext cx="4935503" cy="345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#include&lt;</a:t>
            </a: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stdio.h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&gt;	 	 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int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 main( )			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{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    int  x, y, m;	</a:t>
            </a:r>
            <a:r>
              <a:rPr kumimoji="1" lang="en-US" altLang="zh-CN" sz="2000" u="sng" kern="0" dirty="0">
                <a:solidFill>
                  <a:srgbClr val="FF0000"/>
                </a:solidFill>
                <a:ea typeface="+mn-ea"/>
                <a:cs typeface="+mn-ea"/>
                <a:sym typeface="+mn-lt"/>
              </a:rPr>
              <a:t>//float x, y, m; 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	  	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scanf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(“%d %</a:t>
            </a: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d”,&amp;x,&amp;y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);		 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solidFill>
                  <a:srgbClr val="FF0000"/>
                </a:solidFill>
                <a:ea typeface="+mn-ea"/>
                <a:cs typeface="+mn-ea"/>
                <a:sym typeface="+mn-lt"/>
              </a:rPr>
              <a:t>    m=</a:t>
            </a:r>
            <a:r>
              <a:rPr kumimoji="1" lang="en-US" altLang="zh-CN" sz="2000" kern="0" dirty="0" err="1">
                <a:solidFill>
                  <a:srgbClr val="FF0000"/>
                </a:solidFill>
                <a:ea typeface="+mn-ea"/>
                <a:cs typeface="+mn-ea"/>
                <a:sym typeface="+mn-lt"/>
              </a:rPr>
              <a:t>x%y</a:t>
            </a:r>
            <a:r>
              <a:rPr kumimoji="1" lang="en-US" altLang="zh-CN" sz="2000" kern="0" dirty="0">
                <a:solidFill>
                  <a:srgbClr val="FF0000"/>
                </a:solidFill>
                <a:ea typeface="+mn-ea"/>
                <a:cs typeface="+mn-ea"/>
                <a:sym typeface="+mn-lt"/>
              </a:rPr>
              <a:t>;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	      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printf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(“%d\</a:t>
            </a:r>
            <a:r>
              <a:rPr kumimoji="1" lang="en-US" altLang="zh-CN" sz="2000" kern="0" dirty="0" err="1">
                <a:ea typeface="+mn-ea"/>
                <a:cs typeface="+mn-ea"/>
                <a:sym typeface="+mn-lt"/>
              </a:rPr>
              <a:t>n”,m</a:t>
            </a: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);	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    return 0;		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}</a:t>
            </a:r>
            <a:endParaRPr kumimoji="1" lang="zh-CN" altLang="en-US" sz="2000" kern="0" dirty="0">
              <a:solidFill>
                <a:srgbClr val="FF0000"/>
              </a:solidFill>
              <a:ea typeface="+mn-ea"/>
              <a:cs typeface="+mn-ea"/>
              <a:sym typeface="+mn-lt"/>
            </a:endParaRP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xmlns="" id="{603975E9-072B-4DE3-A137-5738D3BD0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5029628"/>
            <a:ext cx="9144001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Error: invalid operands of types 'float' and 'float' to binary 'operator%'</a:t>
            </a: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xmlns="" id="{F95219B1-433C-49D0-92F0-ABC08D662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805264"/>
            <a:ext cx="7731125" cy="100559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数据类型是一组性质相同的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值的集合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以及定义于这个集合上的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一组运算的总称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11914260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3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052513"/>
            <a:ext cx="6862763" cy="10080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(ADTs: Abstract  Data Types)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>
          <a:xfrm>
            <a:off x="2627313" y="2493963"/>
            <a:ext cx="6091238" cy="3371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更高层次的数据抽象。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由用户定义，用以表示应用问题的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数据模型。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由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基本的数据类型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组成，并包括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一组相关的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操作。</a:t>
            </a:r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827088" y="188913"/>
            <a:ext cx="32226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</a:p>
        </p:txBody>
      </p:sp>
      <p:grpSp>
        <p:nvGrpSpPr>
          <p:cNvPr id="48133" name="组合 43007"/>
          <p:cNvGrpSpPr/>
          <p:nvPr/>
        </p:nvGrpSpPr>
        <p:grpSpPr>
          <a:xfrm>
            <a:off x="682625" y="2400300"/>
            <a:ext cx="2063750" cy="3282950"/>
            <a:chOff x="682373" y="2400105"/>
            <a:chExt cx="2064027" cy="3283483"/>
          </a:xfrm>
        </p:grpSpPr>
        <p:sp>
          <p:nvSpPr>
            <p:cNvPr id="57" name="流程图: 决策 56"/>
            <p:cNvSpPr/>
            <p:nvPr/>
          </p:nvSpPr>
          <p:spPr>
            <a:xfrm>
              <a:off x="777636" y="2400105"/>
              <a:ext cx="1355907" cy="1268619"/>
            </a:xfrm>
            <a:prstGeom prst="flowChartDecision">
              <a:avLst/>
            </a:prstGeom>
            <a:solidFill>
              <a:srgbClr val="FF8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58" name="流程图: 决策 57"/>
            <p:cNvSpPr/>
            <p:nvPr/>
          </p:nvSpPr>
          <p:spPr>
            <a:xfrm>
              <a:off x="682373" y="4079953"/>
              <a:ext cx="1646459" cy="1603635"/>
            </a:xfrm>
            <a:prstGeom prst="flowChartDecision">
              <a:avLst/>
            </a:prstGeom>
            <a:solidFill>
              <a:srgbClr val="D331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60" name="流程图: 决策 59"/>
            <p:cNvSpPr/>
            <p:nvPr/>
          </p:nvSpPr>
          <p:spPr>
            <a:xfrm>
              <a:off x="1639764" y="3401981"/>
              <a:ext cx="1106636" cy="1035218"/>
            </a:xfrm>
            <a:prstGeom prst="flowChartDecision">
              <a:avLst/>
            </a:prstGeom>
            <a:solidFill>
              <a:srgbClr val="ED45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48140" name="Freeform 25"/>
            <p:cNvSpPr>
              <a:spLocks noEditPoints="1"/>
            </p:cNvSpPr>
            <p:nvPr/>
          </p:nvSpPr>
          <p:spPr>
            <a:xfrm>
              <a:off x="1273315" y="2831538"/>
              <a:ext cx="390306" cy="372704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16" h="206">
                  <a:moveTo>
                    <a:pt x="74" y="3"/>
                  </a:moveTo>
                  <a:cubicBezTo>
                    <a:pt x="60" y="5"/>
                    <a:pt x="49" y="30"/>
                    <a:pt x="37" y="49"/>
                  </a:cubicBezTo>
                  <a:cubicBezTo>
                    <a:pt x="37" y="49"/>
                    <a:pt x="78" y="74"/>
                    <a:pt x="78" y="74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94" y="0"/>
                    <a:pt x="74" y="3"/>
                  </a:cubicBezTo>
                  <a:close/>
                  <a:moveTo>
                    <a:pt x="171" y="34"/>
                  </a:moveTo>
                  <a:cubicBezTo>
                    <a:pt x="167" y="28"/>
                    <a:pt x="158" y="11"/>
                    <a:pt x="152" y="7"/>
                  </a:cubicBezTo>
                  <a:cubicBezTo>
                    <a:pt x="145" y="3"/>
                    <a:pt x="91" y="3"/>
                    <a:pt x="91" y="3"/>
                  </a:cubicBezTo>
                  <a:cubicBezTo>
                    <a:pt x="91" y="3"/>
                    <a:pt x="93" y="4"/>
                    <a:pt x="103" y="13"/>
                  </a:cubicBezTo>
                  <a:cubicBezTo>
                    <a:pt x="111" y="21"/>
                    <a:pt x="124" y="50"/>
                    <a:pt x="128" y="58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61" y="69"/>
                    <a:pt x="161" y="69"/>
                    <a:pt x="161" y="69"/>
                  </a:cubicBezTo>
                  <a:cubicBezTo>
                    <a:pt x="188" y="25"/>
                    <a:pt x="188" y="25"/>
                    <a:pt x="188" y="25"/>
                  </a:cubicBezTo>
                  <a:lnTo>
                    <a:pt x="171" y="34"/>
                  </a:lnTo>
                  <a:close/>
                  <a:moveTo>
                    <a:pt x="40" y="177"/>
                  </a:moveTo>
                  <a:cubicBezTo>
                    <a:pt x="49" y="188"/>
                    <a:pt x="76" y="185"/>
                    <a:pt x="98" y="185"/>
                  </a:cubicBezTo>
                  <a:cubicBezTo>
                    <a:pt x="99" y="185"/>
                    <a:pt x="99" y="137"/>
                    <a:pt x="99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7"/>
                    <a:pt x="27" y="161"/>
                    <a:pt x="40" y="177"/>
                  </a:cubicBezTo>
                  <a:close/>
                  <a:moveTo>
                    <a:pt x="16" y="78"/>
                  </a:moveTo>
                  <a:cubicBezTo>
                    <a:pt x="13" y="84"/>
                    <a:pt x="3" y="101"/>
                    <a:pt x="3" y="108"/>
                  </a:cubicBezTo>
                  <a:cubicBezTo>
                    <a:pt x="3" y="116"/>
                    <a:pt x="31" y="162"/>
                    <a:pt x="31" y="162"/>
                  </a:cubicBezTo>
                  <a:cubicBezTo>
                    <a:pt x="31" y="162"/>
                    <a:pt x="31" y="160"/>
                    <a:pt x="34" y="147"/>
                  </a:cubicBezTo>
                  <a:cubicBezTo>
                    <a:pt x="36" y="135"/>
                    <a:pt x="54" y="109"/>
                    <a:pt x="59" y="102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16" y="78"/>
                  </a:lnTo>
                  <a:close/>
                  <a:moveTo>
                    <a:pt x="211" y="116"/>
                  </a:moveTo>
                  <a:cubicBezTo>
                    <a:pt x="216" y="104"/>
                    <a:pt x="199" y="81"/>
                    <a:pt x="188" y="62"/>
                  </a:cubicBezTo>
                  <a:cubicBezTo>
                    <a:pt x="188" y="62"/>
                    <a:pt x="146" y="86"/>
                    <a:pt x="146" y="86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5"/>
                    <a:pt x="203" y="136"/>
                    <a:pt x="211" y="116"/>
                  </a:cubicBezTo>
                  <a:close/>
                  <a:moveTo>
                    <a:pt x="137" y="187"/>
                  </a:moveTo>
                  <a:cubicBezTo>
                    <a:pt x="143" y="187"/>
                    <a:pt x="163" y="186"/>
                    <a:pt x="169" y="183"/>
                  </a:cubicBezTo>
                  <a:cubicBezTo>
                    <a:pt x="176" y="179"/>
                    <a:pt x="202" y="132"/>
                    <a:pt x="202" y="132"/>
                  </a:cubicBezTo>
                  <a:cubicBezTo>
                    <a:pt x="202" y="132"/>
                    <a:pt x="201" y="133"/>
                    <a:pt x="187" y="137"/>
                  </a:cubicBezTo>
                  <a:cubicBezTo>
                    <a:pt x="176" y="141"/>
                    <a:pt x="145" y="138"/>
                    <a:pt x="136" y="137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37" y="206"/>
                    <a:pt x="137" y="206"/>
                    <a:pt x="137" y="206"/>
                  </a:cubicBezTo>
                  <a:lnTo>
                    <a:pt x="137" y="187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Freeform 24"/>
            <p:cNvSpPr>
              <a:spLocks noEditPoints="1"/>
            </p:cNvSpPr>
            <p:nvPr/>
          </p:nvSpPr>
          <p:spPr>
            <a:xfrm>
              <a:off x="1254591" y="4636755"/>
              <a:ext cx="502510" cy="514366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33" h="239">
                  <a:moveTo>
                    <a:pt x="75" y="42"/>
                  </a:moveTo>
                  <a:cubicBezTo>
                    <a:pt x="85" y="46"/>
                    <a:pt x="97" y="40"/>
                    <a:pt x="101" y="30"/>
                  </a:cubicBezTo>
                  <a:cubicBezTo>
                    <a:pt x="104" y="19"/>
                    <a:pt x="99" y="8"/>
                    <a:pt x="89" y="4"/>
                  </a:cubicBezTo>
                  <a:cubicBezTo>
                    <a:pt x="78" y="0"/>
                    <a:pt x="66" y="5"/>
                    <a:pt x="63" y="16"/>
                  </a:cubicBezTo>
                  <a:cubicBezTo>
                    <a:pt x="59" y="26"/>
                    <a:pt x="64" y="38"/>
                    <a:pt x="75" y="42"/>
                  </a:cubicBezTo>
                  <a:close/>
                  <a:moveTo>
                    <a:pt x="162" y="129"/>
                  </a:moveTo>
                  <a:cubicBezTo>
                    <a:pt x="177" y="155"/>
                    <a:pt x="177" y="155"/>
                    <a:pt x="177" y="155"/>
                  </a:cubicBezTo>
                  <a:cubicBezTo>
                    <a:pt x="178" y="158"/>
                    <a:pt x="181" y="159"/>
                    <a:pt x="184" y="157"/>
                  </a:cubicBezTo>
                  <a:cubicBezTo>
                    <a:pt x="188" y="155"/>
                    <a:pt x="188" y="155"/>
                    <a:pt x="188" y="155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1" y="123"/>
                    <a:pt x="160" y="126"/>
                    <a:pt x="162" y="129"/>
                  </a:cubicBezTo>
                  <a:close/>
                  <a:moveTo>
                    <a:pt x="214" y="174"/>
                  </a:moveTo>
                  <a:cubicBezTo>
                    <a:pt x="213" y="169"/>
                    <a:pt x="209" y="166"/>
                    <a:pt x="205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148" y="159"/>
                    <a:pt x="148" y="159"/>
                    <a:pt x="148" y="159"/>
                  </a:cubicBezTo>
                  <a:cubicBezTo>
                    <a:pt x="141" y="136"/>
                    <a:pt x="141" y="136"/>
                    <a:pt x="141" y="136"/>
                  </a:cubicBezTo>
                  <a:cubicBezTo>
                    <a:pt x="144" y="131"/>
                    <a:pt x="144" y="125"/>
                    <a:pt x="142" y="119"/>
                  </a:cubicBezTo>
                  <a:cubicBezTo>
                    <a:pt x="122" y="68"/>
                    <a:pt x="122" y="68"/>
                    <a:pt x="122" y="68"/>
                  </a:cubicBezTo>
                  <a:cubicBezTo>
                    <a:pt x="156" y="66"/>
                    <a:pt x="156" y="66"/>
                    <a:pt x="156" y="66"/>
                  </a:cubicBezTo>
                  <a:cubicBezTo>
                    <a:pt x="168" y="99"/>
                    <a:pt x="168" y="99"/>
                    <a:pt x="168" y="99"/>
                  </a:cubicBezTo>
                  <a:cubicBezTo>
                    <a:pt x="167" y="101"/>
                    <a:pt x="166" y="105"/>
                    <a:pt x="168" y="107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75" y="112"/>
                    <a:pt x="175" y="112"/>
                    <a:pt x="175" y="112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4"/>
                    <a:pt x="171" y="104"/>
                  </a:cubicBezTo>
                  <a:cubicBezTo>
                    <a:pt x="174" y="107"/>
                    <a:pt x="179" y="108"/>
                    <a:pt x="183" y="106"/>
                  </a:cubicBezTo>
                  <a:cubicBezTo>
                    <a:pt x="188" y="104"/>
                    <a:pt x="191" y="98"/>
                    <a:pt x="190" y="92"/>
                  </a:cubicBezTo>
                  <a:cubicBezTo>
                    <a:pt x="191" y="93"/>
                    <a:pt x="191" y="93"/>
                    <a:pt x="191" y="94"/>
                  </a:cubicBezTo>
                  <a:cubicBezTo>
                    <a:pt x="195" y="100"/>
                    <a:pt x="195" y="100"/>
                    <a:pt x="195" y="100"/>
                  </a:cubicBezTo>
                  <a:cubicBezTo>
                    <a:pt x="199" y="98"/>
                    <a:pt x="199" y="98"/>
                    <a:pt x="199" y="98"/>
                  </a:cubicBezTo>
                  <a:cubicBezTo>
                    <a:pt x="195" y="92"/>
                    <a:pt x="195" y="92"/>
                    <a:pt x="195" y="92"/>
                  </a:cubicBezTo>
                  <a:cubicBezTo>
                    <a:pt x="194" y="89"/>
                    <a:pt x="191" y="88"/>
                    <a:pt x="188" y="88"/>
                  </a:cubicBezTo>
                  <a:cubicBezTo>
                    <a:pt x="174" y="50"/>
                    <a:pt x="174" y="50"/>
                    <a:pt x="174" y="50"/>
                  </a:cubicBezTo>
                  <a:cubicBezTo>
                    <a:pt x="172" y="45"/>
                    <a:pt x="167" y="43"/>
                    <a:pt x="162" y="43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98" y="46"/>
                    <a:pt x="96" y="46"/>
                    <a:pt x="94" y="47"/>
                  </a:cubicBezTo>
                  <a:cubicBezTo>
                    <a:pt x="93" y="46"/>
                    <a:pt x="93" y="46"/>
                    <a:pt x="93" y="46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0" y="48"/>
                    <a:pt x="88" y="50"/>
                    <a:pt x="86" y="5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15" y="48"/>
                    <a:pt x="8" y="49"/>
                    <a:pt x="4" y="54"/>
                  </a:cubicBezTo>
                  <a:cubicBezTo>
                    <a:pt x="0" y="59"/>
                    <a:pt x="0" y="66"/>
                    <a:pt x="5" y="70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43" y="101"/>
                    <a:pt x="48" y="102"/>
                    <a:pt x="53" y="99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100" y="124"/>
                    <a:pt x="100" y="124"/>
                    <a:pt x="100" y="124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72" y="141"/>
                    <a:pt x="68" y="146"/>
                    <a:pt x="68" y="151"/>
                  </a:cubicBezTo>
                  <a:cubicBezTo>
                    <a:pt x="68" y="151"/>
                    <a:pt x="68" y="151"/>
                    <a:pt x="68" y="151"/>
                  </a:cubicBezTo>
                  <a:cubicBezTo>
                    <a:pt x="68" y="151"/>
                    <a:pt x="68" y="151"/>
                    <a:pt x="68" y="152"/>
                  </a:cubicBezTo>
                  <a:cubicBezTo>
                    <a:pt x="66" y="208"/>
                    <a:pt x="66" y="208"/>
                    <a:pt x="66" y="208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1" y="214"/>
                    <a:pt x="47" y="222"/>
                    <a:pt x="50" y="229"/>
                  </a:cubicBezTo>
                  <a:cubicBezTo>
                    <a:pt x="53" y="235"/>
                    <a:pt x="60" y="239"/>
                    <a:pt x="67" y="236"/>
                  </a:cubicBezTo>
                  <a:cubicBezTo>
                    <a:pt x="84" y="229"/>
                    <a:pt x="84" y="229"/>
                    <a:pt x="84" y="229"/>
                  </a:cubicBezTo>
                  <a:cubicBezTo>
                    <a:pt x="89" y="228"/>
                    <a:pt x="92" y="224"/>
                    <a:pt x="92" y="219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26" y="175"/>
                    <a:pt x="126" y="175"/>
                    <a:pt x="126" y="175"/>
                  </a:cubicBezTo>
                  <a:cubicBezTo>
                    <a:pt x="128" y="181"/>
                    <a:pt x="133" y="184"/>
                    <a:pt x="138" y="184"/>
                  </a:cubicBezTo>
                  <a:cubicBezTo>
                    <a:pt x="192" y="190"/>
                    <a:pt x="192" y="190"/>
                    <a:pt x="192" y="190"/>
                  </a:cubicBezTo>
                  <a:cubicBezTo>
                    <a:pt x="196" y="201"/>
                    <a:pt x="196" y="201"/>
                    <a:pt x="196" y="201"/>
                  </a:cubicBezTo>
                  <a:cubicBezTo>
                    <a:pt x="198" y="208"/>
                    <a:pt x="205" y="211"/>
                    <a:pt x="212" y="209"/>
                  </a:cubicBezTo>
                  <a:cubicBezTo>
                    <a:pt x="219" y="207"/>
                    <a:pt x="222" y="200"/>
                    <a:pt x="220" y="193"/>
                  </a:cubicBezTo>
                  <a:lnTo>
                    <a:pt x="214" y="174"/>
                  </a:lnTo>
                  <a:close/>
                  <a:moveTo>
                    <a:pt x="170" y="118"/>
                  </a:moveTo>
                  <a:cubicBezTo>
                    <a:pt x="190" y="154"/>
                    <a:pt x="190" y="154"/>
                    <a:pt x="190" y="154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05" y="98"/>
                    <a:pt x="205" y="98"/>
                    <a:pt x="205" y="98"/>
                  </a:cubicBezTo>
                  <a:lnTo>
                    <a:pt x="170" y="118"/>
                  </a:lnTo>
                  <a:close/>
                  <a:moveTo>
                    <a:pt x="232" y="124"/>
                  </a:moveTo>
                  <a:cubicBezTo>
                    <a:pt x="217" y="98"/>
                    <a:pt x="217" y="98"/>
                    <a:pt x="217" y="98"/>
                  </a:cubicBezTo>
                  <a:cubicBezTo>
                    <a:pt x="215" y="95"/>
                    <a:pt x="212" y="94"/>
                    <a:pt x="209" y="96"/>
                  </a:cubicBezTo>
                  <a:cubicBezTo>
                    <a:pt x="208" y="96"/>
                    <a:pt x="208" y="96"/>
                    <a:pt x="208" y="96"/>
                  </a:cubicBezTo>
                  <a:cubicBezTo>
                    <a:pt x="228" y="132"/>
                    <a:pt x="228" y="132"/>
                    <a:pt x="228" y="132"/>
                  </a:cubicBezTo>
                  <a:cubicBezTo>
                    <a:pt x="230" y="131"/>
                    <a:pt x="230" y="131"/>
                    <a:pt x="230" y="131"/>
                  </a:cubicBezTo>
                  <a:cubicBezTo>
                    <a:pt x="232" y="130"/>
                    <a:pt x="233" y="127"/>
                    <a:pt x="232" y="124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Freeform 27"/>
            <p:cNvSpPr>
              <a:spLocks noEditPoints="1"/>
            </p:cNvSpPr>
            <p:nvPr/>
          </p:nvSpPr>
          <p:spPr>
            <a:xfrm>
              <a:off x="2038408" y="3813999"/>
              <a:ext cx="315409" cy="2262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62" h="188">
                  <a:moveTo>
                    <a:pt x="232" y="98"/>
                  </a:moveTo>
                  <a:cubicBezTo>
                    <a:pt x="232" y="110"/>
                    <a:pt x="223" y="119"/>
                    <a:pt x="212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33" y="119"/>
                    <a:pt x="24" y="110"/>
                    <a:pt x="24" y="98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22"/>
                    <a:pt x="33" y="13"/>
                    <a:pt x="44" y="13"/>
                  </a:cubicBezTo>
                  <a:cubicBezTo>
                    <a:pt x="212" y="13"/>
                    <a:pt x="212" y="13"/>
                    <a:pt x="212" y="13"/>
                  </a:cubicBezTo>
                  <a:cubicBezTo>
                    <a:pt x="223" y="13"/>
                    <a:pt x="232" y="22"/>
                    <a:pt x="232" y="33"/>
                  </a:cubicBezTo>
                  <a:lnTo>
                    <a:pt x="232" y="98"/>
                  </a:lnTo>
                  <a:close/>
                  <a:moveTo>
                    <a:pt x="260" y="172"/>
                  </a:moveTo>
                  <a:cubicBezTo>
                    <a:pt x="259" y="175"/>
                    <a:pt x="252" y="178"/>
                    <a:pt x="242" y="178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10" y="178"/>
                    <a:pt x="3" y="175"/>
                    <a:pt x="2" y="172"/>
                  </a:cubicBezTo>
                  <a:cubicBezTo>
                    <a:pt x="2" y="180"/>
                    <a:pt x="2" y="180"/>
                    <a:pt x="2" y="180"/>
                  </a:cubicBezTo>
                  <a:cubicBezTo>
                    <a:pt x="0" y="185"/>
                    <a:pt x="9" y="188"/>
                    <a:pt x="20" y="188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54" y="188"/>
                    <a:pt x="262" y="185"/>
                    <a:pt x="260" y="180"/>
                  </a:cubicBezTo>
                  <a:lnTo>
                    <a:pt x="260" y="172"/>
                  </a:lnTo>
                  <a:close/>
                  <a:moveTo>
                    <a:pt x="242" y="172"/>
                  </a:moveTo>
                  <a:cubicBezTo>
                    <a:pt x="20" y="172"/>
                    <a:pt x="20" y="172"/>
                    <a:pt x="20" y="172"/>
                  </a:cubicBezTo>
                  <a:cubicBezTo>
                    <a:pt x="9" y="172"/>
                    <a:pt x="0" y="169"/>
                    <a:pt x="2" y="164"/>
                  </a:cubicBezTo>
                  <a:cubicBezTo>
                    <a:pt x="13" y="134"/>
                    <a:pt x="13" y="134"/>
                    <a:pt x="13" y="134"/>
                  </a:cubicBezTo>
                  <a:cubicBezTo>
                    <a:pt x="14" y="131"/>
                    <a:pt x="21" y="128"/>
                    <a:pt x="29" y="127"/>
                  </a:cubicBezTo>
                  <a:cubicBezTo>
                    <a:pt x="19" y="122"/>
                    <a:pt x="12" y="111"/>
                    <a:pt x="12" y="98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24"/>
                    <a:pt x="16" y="16"/>
                    <a:pt x="22" y="10"/>
                  </a:cubicBezTo>
                  <a:cubicBezTo>
                    <a:pt x="27" y="4"/>
                    <a:pt x="35" y="0"/>
                    <a:pt x="44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30" y="0"/>
                    <a:pt x="244" y="15"/>
                    <a:pt x="244" y="33"/>
                  </a:cubicBezTo>
                  <a:cubicBezTo>
                    <a:pt x="244" y="98"/>
                    <a:pt x="244" y="98"/>
                    <a:pt x="244" y="98"/>
                  </a:cubicBezTo>
                  <a:cubicBezTo>
                    <a:pt x="244" y="110"/>
                    <a:pt x="237" y="121"/>
                    <a:pt x="228" y="127"/>
                  </a:cubicBezTo>
                  <a:cubicBezTo>
                    <a:pt x="228" y="127"/>
                    <a:pt x="228" y="127"/>
                    <a:pt x="228" y="127"/>
                  </a:cubicBezTo>
                  <a:cubicBezTo>
                    <a:pt x="238" y="127"/>
                    <a:pt x="248" y="130"/>
                    <a:pt x="249" y="134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2" y="169"/>
                    <a:pt x="254" y="172"/>
                    <a:pt x="242" y="172"/>
                  </a:cubicBezTo>
                  <a:close/>
                  <a:moveTo>
                    <a:pt x="83" y="153"/>
                  </a:moveTo>
                  <a:cubicBezTo>
                    <a:pt x="89" y="153"/>
                    <a:pt x="94" y="151"/>
                    <a:pt x="95" y="149"/>
                  </a:cubicBezTo>
                  <a:cubicBezTo>
                    <a:pt x="95" y="146"/>
                    <a:pt x="90" y="144"/>
                    <a:pt x="84" y="144"/>
                  </a:cubicBezTo>
                  <a:cubicBezTo>
                    <a:pt x="78" y="144"/>
                    <a:pt x="72" y="146"/>
                    <a:pt x="72" y="149"/>
                  </a:cubicBezTo>
                  <a:cubicBezTo>
                    <a:pt x="71" y="151"/>
                    <a:pt x="76" y="153"/>
                    <a:pt x="83" y="153"/>
                  </a:cubicBezTo>
                  <a:close/>
                  <a:moveTo>
                    <a:pt x="81" y="137"/>
                  </a:moveTo>
                  <a:cubicBezTo>
                    <a:pt x="81" y="134"/>
                    <a:pt x="77" y="132"/>
                    <a:pt x="71" y="132"/>
                  </a:cubicBezTo>
                  <a:cubicBezTo>
                    <a:pt x="65" y="132"/>
                    <a:pt x="60" y="134"/>
                    <a:pt x="59" y="137"/>
                  </a:cubicBezTo>
                  <a:cubicBezTo>
                    <a:pt x="59" y="139"/>
                    <a:pt x="63" y="141"/>
                    <a:pt x="69" y="141"/>
                  </a:cubicBezTo>
                  <a:cubicBezTo>
                    <a:pt x="75" y="141"/>
                    <a:pt x="81" y="139"/>
                    <a:pt x="81" y="137"/>
                  </a:cubicBezTo>
                  <a:close/>
                  <a:moveTo>
                    <a:pt x="100" y="141"/>
                  </a:moveTo>
                  <a:cubicBezTo>
                    <a:pt x="106" y="141"/>
                    <a:pt x="111" y="139"/>
                    <a:pt x="112" y="137"/>
                  </a:cubicBezTo>
                  <a:cubicBezTo>
                    <a:pt x="112" y="134"/>
                    <a:pt x="107" y="132"/>
                    <a:pt x="101" y="132"/>
                  </a:cubicBezTo>
                  <a:cubicBezTo>
                    <a:pt x="95" y="132"/>
                    <a:pt x="90" y="134"/>
                    <a:pt x="90" y="137"/>
                  </a:cubicBezTo>
                  <a:cubicBezTo>
                    <a:pt x="89" y="139"/>
                    <a:pt x="94" y="141"/>
                    <a:pt x="100" y="141"/>
                  </a:cubicBezTo>
                  <a:close/>
                  <a:moveTo>
                    <a:pt x="103" y="149"/>
                  </a:moveTo>
                  <a:cubicBezTo>
                    <a:pt x="103" y="151"/>
                    <a:pt x="108" y="153"/>
                    <a:pt x="115" y="153"/>
                  </a:cubicBezTo>
                  <a:cubicBezTo>
                    <a:pt x="121" y="153"/>
                    <a:pt x="126" y="151"/>
                    <a:pt x="126" y="149"/>
                  </a:cubicBezTo>
                  <a:cubicBezTo>
                    <a:pt x="126" y="146"/>
                    <a:pt x="121" y="144"/>
                    <a:pt x="115" y="144"/>
                  </a:cubicBezTo>
                  <a:cubicBezTo>
                    <a:pt x="109" y="144"/>
                    <a:pt x="104" y="146"/>
                    <a:pt x="103" y="149"/>
                  </a:cubicBezTo>
                  <a:close/>
                  <a:moveTo>
                    <a:pt x="131" y="141"/>
                  </a:moveTo>
                  <a:cubicBezTo>
                    <a:pt x="137" y="141"/>
                    <a:pt x="142" y="139"/>
                    <a:pt x="142" y="137"/>
                  </a:cubicBezTo>
                  <a:cubicBezTo>
                    <a:pt x="142" y="134"/>
                    <a:pt x="137" y="132"/>
                    <a:pt x="131" y="132"/>
                  </a:cubicBezTo>
                  <a:cubicBezTo>
                    <a:pt x="125" y="132"/>
                    <a:pt x="120" y="134"/>
                    <a:pt x="120" y="137"/>
                  </a:cubicBezTo>
                  <a:cubicBezTo>
                    <a:pt x="120" y="139"/>
                    <a:pt x="125" y="141"/>
                    <a:pt x="131" y="141"/>
                  </a:cubicBezTo>
                  <a:close/>
                  <a:moveTo>
                    <a:pt x="135" y="149"/>
                  </a:moveTo>
                  <a:cubicBezTo>
                    <a:pt x="135" y="151"/>
                    <a:pt x="140" y="153"/>
                    <a:pt x="147" y="153"/>
                  </a:cubicBezTo>
                  <a:cubicBezTo>
                    <a:pt x="153" y="153"/>
                    <a:pt x="158" y="151"/>
                    <a:pt x="158" y="149"/>
                  </a:cubicBezTo>
                  <a:cubicBezTo>
                    <a:pt x="158" y="146"/>
                    <a:pt x="152" y="144"/>
                    <a:pt x="146" y="144"/>
                  </a:cubicBezTo>
                  <a:cubicBezTo>
                    <a:pt x="140" y="144"/>
                    <a:pt x="135" y="146"/>
                    <a:pt x="135" y="149"/>
                  </a:cubicBezTo>
                  <a:close/>
                  <a:moveTo>
                    <a:pt x="162" y="141"/>
                  </a:moveTo>
                  <a:cubicBezTo>
                    <a:pt x="168" y="141"/>
                    <a:pt x="173" y="139"/>
                    <a:pt x="173" y="137"/>
                  </a:cubicBezTo>
                  <a:cubicBezTo>
                    <a:pt x="172" y="134"/>
                    <a:pt x="167" y="132"/>
                    <a:pt x="161" y="132"/>
                  </a:cubicBezTo>
                  <a:cubicBezTo>
                    <a:pt x="155" y="132"/>
                    <a:pt x="150" y="134"/>
                    <a:pt x="151" y="137"/>
                  </a:cubicBezTo>
                  <a:cubicBezTo>
                    <a:pt x="151" y="139"/>
                    <a:pt x="156" y="141"/>
                    <a:pt x="162" y="141"/>
                  </a:cubicBezTo>
                  <a:close/>
                  <a:moveTo>
                    <a:pt x="167" y="149"/>
                  </a:moveTo>
                  <a:cubicBezTo>
                    <a:pt x="167" y="151"/>
                    <a:pt x="172" y="153"/>
                    <a:pt x="179" y="153"/>
                  </a:cubicBezTo>
                  <a:cubicBezTo>
                    <a:pt x="185" y="153"/>
                    <a:pt x="190" y="151"/>
                    <a:pt x="189" y="149"/>
                  </a:cubicBezTo>
                  <a:cubicBezTo>
                    <a:pt x="189" y="146"/>
                    <a:pt x="184" y="144"/>
                    <a:pt x="177" y="144"/>
                  </a:cubicBezTo>
                  <a:cubicBezTo>
                    <a:pt x="171" y="144"/>
                    <a:pt x="166" y="146"/>
                    <a:pt x="167" y="149"/>
                  </a:cubicBezTo>
                  <a:close/>
                  <a:moveTo>
                    <a:pt x="193" y="141"/>
                  </a:moveTo>
                  <a:cubicBezTo>
                    <a:pt x="199" y="141"/>
                    <a:pt x="204" y="139"/>
                    <a:pt x="203" y="137"/>
                  </a:cubicBezTo>
                  <a:cubicBezTo>
                    <a:pt x="203" y="134"/>
                    <a:pt x="197" y="132"/>
                    <a:pt x="191" y="132"/>
                  </a:cubicBezTo>
                  <a:cubicBezTo>
                    <a:pt x="185" y="132"/>
                    <a:pt x="181" y="134"/>
                    <a:pt x="181" y="137"/>
                  </a:cubicBezTo>
                  <a:cubicBezTo>
                    <a:pt x="181" y="139"/>
                    <a:pt x="187" y="141"/>
                    <a:pt x="193" y="141"/>
                  </a:cubicBezTo>
                  <a:close/>
                  <a:moveTo>
                    <a:pt x="44" y="127"/>
                  </a:moveTo>
                  <a:cubicBezTo>
                    <a:pt x="212" y="127"/>
                    <a:pt x="212" y="127"/>
                    <a:pt x="212" y="127"/>
                  </a:cubicBezTo>
                  <a:cubicBezTo>
                    <a:pt x="227" y="127"/>
                    <a:pt x="239" y="114"/>
                    <a:pt x="239" y="98"/>
                  </a:cubicBezTo>
                  <a:cubicBezTo>
                    <a:pt x="239" y="33"/>
                    <a:pt x="239" y="33"/>
                    <a:pt x="239" y="33"/>
                  </a:cubicBezTo>
                  <a:cubicBezTo>
                    <a:pt x="239" y="17"/>
                    <a:pt x="227" y="5"/>
                    <a:pt x="212" y="5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6" y="5"/>
                    <a:pt x="30" y="7"/>
                    <a:pt x="24" y="13"/>
                  </a:cubicBezTo>
                  <a:cubicBezTo>
                    <a:pt x="19" y="18"/>
                    <a:pt x="17" y="25"/>
                    <a:pt x="17" y="33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4"/>
                    <a:pt x="29" y="127"/>
                    <a:pt x="44" y="127"/>
                  </a:cubicBezTo>
                  <a:close/>
                  <a:moveTo>
                    <a:pt x="38" y="141"/>
                  </a:moveTo>
                  <a:cubicBezTo>
                    <a:pt x="44" y="141"/>
                    <a:pt x="50" y="139"/>
                    <a:pt x="51" y="137"/>
                  </a:cubicBezTo>
                  <a:cubicBezTo>
                    <a:pt x="51" y="134"/>
                    <a:pt x="47" y="132"/>
                    <a:pt x="41" y="132"/>
                  </a:cubicBezTo>
                  <a:cubicBezTo>
                    <a:pt x="35" y="132"/>
                    <a:pt x="29" y="134"/>
                    <a:pt x="29" y="137"/>
                  </a:cubicBezTo>
                  <a:cubicBezTo>
                    <a:pt x="28" y="139"/>
                    <a:pt x="32" y="141"/>
                    <a:pt x="38" y="141"/>
                  </a:cubicBezTo>
                  <a:close/>
                  <a:moveTo>
                    <a:pt x="51" y="153"/>
                  </a:moveTo>
                  <a:cubicBezTo>
                    <a:pt x="57" y="153"/>
                    <a:pt x="62" y="151"/>
                    <a:pt x="63" y="149"/>
                  </a:cubicBezTo>
                  <a:cubicBezTo>
                    <a:pt x="63" y="146"/>
                    <a:pt x="59" y="144"/>
                    <a:pt x="53" y="144"/>
                  </a:cubicBezTo>
                  <a:cubicBezTo>
                    <a:pt x="46" y="144"/>
                    <a:pt x="41" y="146"/>
                    <a:pt x="40" y="149"/>
                  </a:cubicBezTo>
                  <a:cubicBezTo>
                    <a:pt x="40" y="151"/>
                    <a:pt x="44" y="153"/>
                    <a:pt x="51" y="153"/>
                  </a:cubicBezTo>
                  <a:close/>
                  <a:moveTo>
                    <a:pt x="207" y="163"/>
                  </a:moveTo>
                  <a:cubicBezTo>
                    <a:pt x="207" y="161"/>
                    <a:pt x="202" y="159"/>
                    <a:pt x="196" y="159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61" y="159"/>
                    <a:pt x="55" y="161"/>
                    <a:pt x="55" y="163"/>
                  </a:cubicBezTo>
                  <a:cubicBezTo>
                    <a:pt x="54" y="165"/>
                    <a:pt x="59" y="167"/>
                    <a:pt x="65" y="167"/>
                  </a:cubicBezTo>
                  <a:cubicBezTo>
                    <a:pt x="197" y="167"/>
                    <a:pt x="197" y="167"/>
                    <a:pt x="197" y="167"/>
                  </a:cubicBezTo>
                  <a:cubicBezTo>
                    <a:pt x="203" y="167"/>
                    <a:pt x="208" y="165"/>
                    <a:pt x="207" y="163"/>
                  </a:cubicBezTo>
                  <a:close/>
                  <a:moveTo>
                    <a:pt x="221" y="149"/>
                  </a:moveTo>
                  <a:cubicBezTo>
                    <a:pt x="220" y="146"/>
                    <a:pt x="215" y="144"/>
                    <a:pt x="209" y="144"/>
                  </a:cubicBezTo>
                  <a:cubicBezTo>
                    <a:pt x="202" y="144"/>
                    <a:pt x="198" y="146"/>
                    <a:pt x="198" y="149"/>
                  </a:cubicBezTo>
                  <a:cubicBezTo>
                    <a:pt x="199" y="151"/>
                    <a:pt x="204" y="153"/>
                    <a:pt x="211" y="153"/>
                  </a:cubicBezTo>
                  <a:cubicBezTo>
                    <a:pt x="217" y="153"/>
                    <a:pt x="222" y="151"/>
                    <a:pt x="221" y="149"/>
                  </a:cubicBezTo>
                  <a:close/>
                  <a:moveTo>
                    <a:pt x="234" y="137"/>
                  </a:moveTo>
                  <a:cubicBezTo>
                    <a:pt x="233" y="134"/>
                    <a:pt x="227" y="132"/>
                    <a:pt x="221" y="132"/>
                  </a:cubicBezTo>
                  <a:cubicBezTo>
                    <a:pt x="215" y="132"/>
                    <a:pt x="211" y="134"/>
                    <a:pt x="212" y="137"/>
                  </a:cubicBezTo>
                  <a:cubicBezTo>
                    <a:pt x="212" y="139"/>
                    <a:pt x="218" y="141"/>
                    <a:pt x="224" y="141"/>
                  </a:cubicBezTo>
                  <a:cubicBezTo>
                    <a:pt x="230" y="141"/>
                    <a:pt x="234" y="139"/>
                    <a:pt x="234" y="137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8134" name="直接连接符 2"/>
          <p:cNvCxnSpPr/>
          <p:nvPr/>
        </p:nvCxnSpPr>
        <p:spPr>
          <a:xfrm>
            <a:off x="3224213" y="3146425"/>
            <a:ext cx="5235575" cy="0"/>
          </a:xfrm>
          <a:prstGeom prst="line">
            <a:avLst/>
          </a:prstGeom>
          <a:ln w="9525" cap="flat" cmpd="sng">
            <a:solidFill>
              <a:srgbClr val="FF897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35" name="直接连接符 76"/>
          <p:cNvCxnSpPr/>
          <p:nvPr/>
        </p:nvCxnSpPr>
        <p:spPr>
          <a:xfrm>
            <a:off x="3224213" y="4538663"/>
            <a:ext cx="5235575" cy="0"/>
          </a:xfrm>
          <a:prstGeom prst="line">
            <a:avLst/>
          </a:prstGeom>
          <a:ln w="9525" cap="flat" cmpd="sng">
            <a:solidFill>
              <a:srgbClr val="ED454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36" name="直接连接符 77"/>
          <p:cNvCxnSpPr/>
          <p:nvPr/>
        </p:nvCxnSpPr>
        <p:spPr>
          <a:xfrm>
            <a:off x="3224213" y="5883275"/>
            <a:ext cx="5235575" cy="0"/>
          </a:xfrm>
          <a:prstGeom prst="line">
            <a:avLst/>
          </a:prstGeom>
          <a:ln w="9525" cap="flat" cmpd="sng">
            <a:solidFill>
              <a:srgbClr val="D3313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541338" y="968375"/>
            <a:ext cx="838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可以用以下的三元组来表示：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 =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数据对象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上的关系集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上的操作集 </a:t>
            </a:r>
          </a:p>
        </p:txBody>
      </p:sp>
      <p:sp>
        <p:nvSpPr>
          <p:cNvPr id="430086" name="Rectangle 6"/>
          <p:cNvSpPr>
            <a:spLocks noChangeArrowheads="1"/>
          </p:cNvSpPr>
          <p:nvPr/>
        </p:nvSpPr>
        <p:spPr bwMode="auto">
          <a:xfrm>
            <a:off x="685800" y="4143375"/>
            <a:ext cx="7986713" cy="2462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抽象数据类型名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对象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数据对象的定义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数据关系的定义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基本操作的定义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} ADT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抽象数据类型名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87" name="Rectangle 7"/>
          <p:cNvSpPr>
            <a:spLocks noChangeArrowheads="1"/>
          </p:cNvSpPr>
          <p:nvPr/>
        </p:nvSpPr>
        <p:spPr bwMode="auto">
          <a:xfrm>
            <a:off x="682625" y="3678238"/>
            <a:ext cx="7988300" cy="461963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常用定义格式</a:t>
            </a:r>
          </a:p>
        </p:txBody>
      </p:sp>
      <p:sp>
        <p:nvSpPr>
          <p:cNvPr id="430088" name="Line 8"/>
          <p:cNvSpPr>
            <a:spLocks noChangeShapeType="1"/>
          </p:cNvSpPr>
          <p:nvPr/>
        </p:nvSpPr>
        <p:spPr bwMode="auto">
          <a:xfrm flipH="1">
            <a:off x="3062288" y="2278063"/>
            <a:ext cx="714375" cy="460375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89" name="Line 9"/>
          <p:cNvSpPr>
            <a:spLocks noChangeShapeType="1"/>
          </p:cNvSpPr>
          <p:nvPr/>
        </p:nvSpPr>
        <p:spPr bwMode="auto">
          <a:xfrm>
            <a:off x="4430713" y="2260600"/>
            <a:ext cx="0" cy="53340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90" name="Line 10"/>
          <p:cNvSpPr>
            <a:spLocks noChangeShapeType="1"/>
          </p:cNvSpPr>
          <p:nvPr/>
        </p:nvSpPr>
        <p:spPr bwMode="auto">
          <a:xfrm>
            <a:off x="5083175" y="2260600"/>
            <a:ext cx="855663" cy="550863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7088" y="188913"/>
            <a:ext cx="32226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30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30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30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4300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430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430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0"/>
                            </p:stCondLst>
                            <p:childTnLst>
                              <p:par>
                                <p:cTn id="49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430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430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build="p" advAuto="1000"/>
      <p:bldP spid="430086" grpId="0" build="p" animBg="1" advAuto="1000"/>
      <p:bldP spid="43008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/>
          <p:cNvSpPr txBox="1">
            <a:spLocks noChangeArrowheads="1"/>
          </p:cNvSpPr>
          <p:nvPr/>
        </p:nvSpPr>
        <p:spPr bwMode="auto">
          <a:xfrm>
            <a:off x="250825" y="1096963"/>
            <a:ext cx="3259138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1" name="Oval 3"/>
          <p:cNvSpPr>
            <a:spLocks noChangeArrowheads="1"/>
          </p:cNvSpPr>
          <p:nvPr/>
        </p:nvSpPr>
        <p:spPr bwMode="auto">
          <a:xfrm>
            <a:off x="1925638" y="2357438"/>
            <a:ext cx="762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2" name="Oval 4"/>
          <p:cNvSpPr>
            <a:spLocks noChangeArrowheads="1"/>
          </p:cNvSpPr>
          <p:nvPr/>
        </p:nvSpPr>
        <p:spPr bwMode="auto">
          <a:xfrm>
            <a:off x="3221038" y="2024063"/>
            <a:ext cx="8382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3" name="Oval 5"/>
          <p:cNvSpPr>
            <a:spLocks noChangeArrowheads="1"/>
          </p:cNvSpPr>
          <p:nvPr/>
        </p:nvSpPr>
        <p:spPr bwMode="auto">
          <a:xfrm>
            <a:off x="4579938" y="2836863"/>
            <a:ext cx="762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4" name="Oval 6"/>
          <p:cNvSpPr>
            <a:spLocks noChangeArrowheads="1"/>
          </p:cNvSpPr>
          <p:nvPr/>
        </p:nvSpPr>
        <p:spPr bwMode="auto">
          <a:xfrm>
            <a:off x="5065713" y="1757363"/>
            <a:ext cx="762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5" name="Oval 7"/>
          <p:cNvSpPr>
            <a:spLocks noChangeArrowheads="1"/>
          </p:cNvSpPr>
          <p:nvPr/>
        </p:nvSpPr>
        <p:spPr bwMode="auto">
          <a:xfrm>
            <a:off x="7234238" y="2913063"/>
            <a:ext cx="8382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6" name="Oval 8"/>
          <p:cNvSpPr>
            <a:spLocks noChangeArrowheads="1"/>
          </p:cNvSpPr>
          <p:nvPr/>
        </p:nvSpPr>
        <p:spPr bwMode="auto">
          <a:xfrm>
            <a:off x="6726238" y="1643063"/>
            <a:ext cx="762000" cy="3810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497" name="Oval 9"/>
          <p:cNvSpPr>
            <a:spLocks noChangeArrowheads="1"/>
          </p:cNvSpPr>
          <p:nvPr/>
        </p:nvSpPr>
        <p:spPr bwMode="auto">
          <a:xfrm>
            <a:off x="8135938" y="2154238"/>
            <a:ext cx="762000" cy="3048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0" name="Text Box 15"/>
          <p:cNvSpPr txBox="1">
            <a:spLocks noChangeArrowheads="1"/>
          </p:cNvSpPr>
          <p:nvPr/>
        </p:nvSpPr>
        <p:spPr bwMode="auto">
          <a:xfrm>
            <a:off x="2573338" y="4056063"/>
            <a:ext cx="5218113" cy="5238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   　插入　  删除         修改 </a:t>
            </a:r>
          </a:p>
        </p:txBody>
      </p:sp>
      <p:cxnSp>
        <p:nvCxnSpPr>
          <p:cNvPr id="50187" name="AutoShape 16"/>
          <p:cNvCxnSpPr/>
          <p:nvPr/>
        </p:nvCxnSpPr>
        <p:spPr>
          <a:xfrm rot="5400000">
            <a:off x="7435850" y="2746375"/>
            <a:ext cx="1400175" cy="1143000"/>
          </a:xfrm>
          <a:prstGeom prst="curvedConnector3">
            <a:avLst>
              <a:gd name="adj1" fmla="val 50000"/>
            </a:avLst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45072" name="Line 17"/>
          <p:cNvSpPr>
            <a:spLocks noChangeShapeType="1"/>
          </p:cNvSpPr>
          <p:nvPr/>
        </p:nvSpPr>
        <p:spPr bwMode="auto">
          <a:xfrm>
            <a:off x="2462213" y="2870200"/>
            <a:ext cx="301625" cy="1147763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3" name="Line 18"/>
          <p:cNvSpPr>
            <a:spLocks noChangeShapeType="1"/>
          </p:cNvSpPr>
          <p:nvPr/>
        </p:nvSpPr>
        <p:spPr bwMode="auto">
          <a:xfrm flipH="1">
            <a:off x="2916238" y="2570163"/>
            <a:ext cx="663575" cy="144780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4" name="Line 19"/>
          <p:cNvSpPr>
            <a:spLocks noChangeShapeType="1"/>
          </p:cNvSpPr>
          <p:nvPr/>
        </p:nvSpPr>
        <p:spPr bwMode="auto">
          <a:xfrm flipH="1">
            <a:off x="2992438" y="2265363"/>
            <a:ext cx="2362200" cy="1752600"/>
          </a:xfrm>
          <a:prstGeom prst="line">
            <a:avLst/>
          </a:prstGeom>
          <a:noFill/>
          <a:ln w="19050">
            <a:solidFill>
              <a:srgbClr val="00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5" name="Line 20"/>
          <p:cNvSpPr>
            <a:spLocks noChangeShapeType="1"/>
          </p:cNvSpPr>
          <p:nvPr/>
        </p:nvSpPr>
        <p:spPr bwMode="auto">
          <a:xfrm flipH="1">
            <a:off x="3297238" y="3332163"/>
            <a:ext cx="1498600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6" name="Line 21"/>
          <p:cNvSpPr>
            <a:spLocks noChangeShapeType="1"/>
          </p:cNvSpPr>
          <p:nvPr/>
        </p:nvSpPr>
        <p:spPr bwMode="auto">
          <a:xfrm flipH="1">
            <a:off x="3525838" y="2357438"/>
            <a:ext cx="4572000" cy="1660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7" name="Line 22"/>
          <p:cNvSpPr>
            <a:spLocks noChangeShapeType="1"/>
          </p:cNvSpPr>
          <p:nvPr/>
        </p:nvSpPr>
        <p:spPr bwMode="auto">
          <a:xfrm>
            <a:off x="3744913" y="2570163"/>
            <a:ext cx="466725" cy="144780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8" name="Line 23"/>
          <p:cNvSpPr>
            <a:spLocks noChangeShapeType="1"/>
          </p:cNvSpPr>
          <p:nvPr/>
        </p:nvSpPr>
        <p:spPr bwMode="auto">
          <a:xfrm flipH="1">
            <a:off x="4364038" y="2535238"/>
            <a:ext cx="3898900" cy="1406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79" name="Line 24"/>
          <p:cNvSpPr>
            <a:spLocks noChangeShapeType="1"/>
          </p:cNvSpPr>
          <p:nvPr/>
        </p:nvSpPr>
        <p:spPr bwMode="auto">
          <a:xfrm>
            <a:off x="4948238" y="3370263"/>
            <a:ext cx="558800" cy="6477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0" name="Line 25"/>
          <p:cNvSpPr>
            <a:spLocks noChangeShapeType="1"/>
          </p:cNvSpPr>
          <p:nvPr/>
        </p:nvSpPr>
        <p:spPr bwMode="auto">
          <a:xfrm>
            <a:off x="5507038" y="2265363"/>
            <a:ext cx="1219200" cy="1752600"/>
          </a:xfrm>
          <a:prstGeom prst="line">
            <a:avLst/>
          </a:prstGeom>
          <a:noFill/>
          <a:ln w="19050">
            <a:solidFill>
              <a:srgbClr val="0033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1" name="Line 26"/>
          <p:cNvSpPr>
            <a:spLocks noChangeShapeType="1"/>
          </p:cNvSpPr>
          <p:nvPr/>
        </p:nvSpPr>
        <p:spPr bwMode="auto">
          <a:xfrm flipH="1">
            <a:off x="6878638" y="2176463"/>
            <a:ext cx="228600" cy="1841500"/>
          </a:xfrm>
          <a:prstGeom prst="line">
            <a:avLst/>
          </a:prstGeom>
          <a:noFill/>
          <a:ln w="19050">
            <a:solidFill>
              <a:srgbClr val="80008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2" name="Line 27"/>
          <p:cNvSpPr>
            <a:spLocks noChangeShapeType="1"/>
          </p:cNvSpPr>
          <p:nvPr/>
        </p:nvSpPr>
        <p:spPr bwMode="auto">
          <a:xfrm flipH="1">
            <a:off x="7259638" y="3446463"/>
            <a:ext cx="266700" cy="571500"/>
          </a:xfrm>
          <a:prstGeom prst="line">
            <a:avLst/>
          </a:prstGeom>
          <a:noFill/>
          <a:ln w="19050">
            <a:solidFill>
              <a:srgbClr val="808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9519" name="Rectangle 31"/>
          <p:cNvSpPr>
            <a:spLocks noChangeArrowheads="1"/>
          </p:cNvSpPr>
          <p:nvPr/>
        </p:nvSpPr>
        <p:spPr bwMode="auto">
          <a:xfrm>
            <a:off x="2573338" y="5456238"/>
            <a:ext cx="5218113" cy="533400"/>
          </a:xfrm>
          <a:prstGeom prst="rect">
            <a:avLst/>
          </a:prstGeom>
          <a:solidFill>
            <a:srgbClr val="99CCFF"/>
          </a:solidFill>
          <a:ln w="9525" cap="rnd">
            <a:solidFill>
              <a:schemeClr val="tx1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7" name="Line 32"/>
          <p:cNvSpPr>
            <a:spLocks noChangeShapeType="1"/>
          </p:cNvSpPr>
          <p:nvPr/>
        </p:nvSpPr>
        <p:spPr bwMode="auto">
          <a:xfrm flipH="1" flipV="1">
            <a:off x="3076575" y="4654550"/>
            <a:ext cx="304800" cy="762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8" name="Line 33"/>
          <p:cNvSpPr>
            <a:spLocks noChangeShapeType="1"/>
          </p:cNvSpPr>
          <p:nvPr/>
        </p:nvSpPr>
        <p:spPr bwMode="auto">
          <a:xfrm>
            <a:off x="4406900" y="4648200"/>
            <a:ext cx="304800" cy="762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89" name="Line 34"/>
          <p:cNvSpPr>
            <a:spLocks noChangeShapeType="1"/>
          </p:cNvSpPr>
          <p:nvPr/>
        </p:nvSpPr>
        <p:spPr bwMode="auto">
          <a:xfrm flipH="1">
            <a:off x="5359400" y="4654550"/>
            <a:ext cx="300038" cy="752475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90" name="Line 35"/>
          <p:cNvSpPr>
            <a:spLocks noChangeShapeType="1"/>
          </p:cNvSpPr>
          <p:nvPr/>
        </p:nvSpPr>
        <p:spPr bwMode="auto">
          <a:xfrm flipH="1">
            <a:off x="6457950" y="4645025"/>
            <a:ext cx="609600" cy="762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91" name="AutoShape 36"/>
          <p:cNvSpPr/>
          <p:nvPr/>
        </p:nvSpPr>
        <p:spPr bwMode="auto">
          <a:xfrm>
            <a:off x="142875" y="4024313"/>
            <a:ext cx="2022475" cy="638175"/>
          </a:xfrm>
          <a:prstGeom prst="borderCallout2">
            <a:avLst>
              <a:gd name="adj1" fmla="val 65981"/>
              <a:gd name="adj2" fmla="val 102370"/>
              <a:gd name="adj3" fmla="val 65980"/>
              <a:gd name="adj4" fmla="val 130143"/>
              <a:gd name="adj5" fmla="val 65980"/>
              <a:gd name="adj6" fmla="val 153654"/>
            </a:avLst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接口或用户界面</a:t>
            </a:r>
          </a:p>
        </p:txBody>
      </p:sp>
      <p:sp>
        <p:nvSpPr>
          <p:cNvPr id="45092" name="AutoShape 37"/>
          <p:cNvSpPr/>
          <p:nvPr/>
        </p:nvSpPr>
        <p:spPr bwMode="auto">
          <a:xfrm>
            <a:off x="269875" y="5257800"/>
            <a:ext cx="1895475" cy="963613"/>
          </a:xfrm>
          <a:prstGeom prst="borderCallout2">
            <a:avLst>
              <a:gd name="adj1" fmla="val 50007"/>
              <a:gd name="adj2" fmla="val 104924"/>
              <a:gd name="adj3" fmla="val 50007"/>
              <a:gd name="adj4" fmla="val 130148"/>
              <a:gd name="adj5" fmla="val 50007"/>
              <a:gd name="adj6" fmla="val 148608"/>
            </a:avLst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数据类型的物理实现封装</a:t>
            </a: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827088" y="188913"/>
            <a:ext cx="709771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信息隐蔽和数据封装，使用与实现相分离</a:t>
            </a:r>
          </a:p>
        </p:txBody>
      </p:sp>
      <p:cxnSp>
        <p:nvCxnSpPr>
          <p:cNvPr id="6" name="直接连接符 5"/>
          <p:cNvCxnSpPr>
            <a:stCxn id="45091" idx="4"/>
          </p:cNvCxnSpPr>
          <p:nvPr/>
        </p:nvCxnSpPr>
        <p:spPr bwMode="auto">
          <a:xfrm>
            <a:off x="2165350" y="4343400"/>
            <a:ext cx="29686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直接连接符 45"/>
          <p:cNvCxnSpPr/>
          <p:nvPr/>
        </p:nvCxnSpPr>
        <p:spPr bwMode="auto">
          <a:xfrm>
            <a:off x="2165350" y="5722938"/>
            <a:ext cx="29686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9" name="Rectangle 9"/>
          <p:cNvSpPr>
            <a:spLocks noChangeArrowheads="1"/>
          </p:cNvSpPr>
          <p:nvPr/>
        </p:nvSpPr>
        <p:spPr bwMode="auto">
          <a:xfrm>
            <a:off x="1824038" y="1563688"/>
            <a:ext cx="6607175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抽象数据类型可以通过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固有的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数据类型（如整型、实型、字符型等）来表示和实现。</a:t>
            </a:r>
          </a:p>
        </p:txBody>
      </p:sp>
      <p:sp>
        <p:nvSpPr>
          <p:cNvPr id="322570" name="Rectangle 10"/>
          <p:cNvSpPr>
            <a:spLocks noChangeArrowheads="1"/>
          </p:cNvSpPr>
          <p:nvPr/>
        </p:nvSpPr>
        <p:spPr bwMode="auto">
          <a:xfrm>
            <a:off x="1781175" y="2995613"/>
            <a:ext cx="68945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50925" indent="-1050925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它有些类似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语言中的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结构（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，但增加了相关的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教材中用的是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语言（介于伪码和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语言之间）作为描述工具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2571" name="Rectangle 11"/>
          <p:cNvSpPr>
            <a:spLocks noChangeArrowheads="1"/>
          </p:cNvSpPr>
          <p:nvPr/>
        </p:nvSpPr>
        <p:spPr bwMode="auto">
          <a:xfrm>
            <a:off x="2253695" y="5200650"/>
            <a:ext cx="50064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但上机时要用具体语言实现，如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等</a:t>
            </a:r>
          </a:p>
        </p:txBody>
      </p:sp>
      <p:grpSp>
        <p:nvGrpSpPr>
          <p:cNvPr id="37" name="Group 32"/>
          <p:cNvGrpSpPr/>
          <p:nvPr/>
        </p:nvGrpSpPr>
        <p:grpSpPr>
          <a:xfrm>
            <a:off x="693738" y="3292475"/>
            <a:ext cx="914400" cy="914400"/>
            <a:chOff x="6528170" y="3281715"/>
            <a:chExt cx="914400" cy="914400"/>
          </a:xfrm>
        </p:grpSpPr>
        <p:sp>
          <p:nvSpPr>
            <p:cNvPr id="38" name="Rounded Rectangle 8"/>
            <p:cNvSpPr/>
            <p:nvPr/>
          </p:nvSpPr>
          <p:spPr>
            <a:xfrm>
              <a:off x="6528170" y="3281715"/>
              <a:ext cx="914400" cy="914400"/>
            </a:xfrm>
            <a:prstGeom prst="roundRect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9" name="Group 69"/>
            <p:cNvGrpSpPr/>
            <p:nvPr/>
          </p:nvGrpSpPr>
          <p:grpSpPr>
            <a:xfrm>
              <a:off x="6759757" y="3506346"/>
              <a:ext cx="464344" cy="465138"/>
              <a:chOff x="7287419" y="3505994"/>
              <a:chExt cx="464344" cy="465138"/>
            </a:xfrm>
            <a:solidFill>
              <a:srgbClr val="EEECE1"/>
            </a:solidFill>
          </p:grpSpPr>
          <p:sp>
            <p:nvSpPr>
              <p:cNvPr id="40" name="AutoShape 37"/>
              <p:cNvSpPr/>
              <p:nvPr/>
            </p:nvSpPr>
            <p:spPr bwMode="auto">
              <a:xfrm>
                <a:off x="7287419" y="3549650"/>
                <a:ext cx="423069" cy="421482"/>
              </a:xfrm>
              <a:custGeom>
                <a:avLst/>
                <a:gdLst>
                  <a:gd name="T0" fmla="+- 0 10849 98"/>
                  <a:gd name="T1" fmla="*/ T0 w 21502"/>
                  <a:gd name="T2" fmla="*/ 10800 h 21600"/>
                  <a:gd name="T3" fmla="+- 0 10849 98"/>
                  <a:gd name="T4" fmla="*/ T3 w 21502"/>
                  <a:gd name="T5" fmla="*/ 10800 h 21600"/>
                  <a:gd name="T6" fmla="+- 0 10849 98"/>
                  <a:gd name="T7" fmla="*/ T6 w 21502"/>
                  <a:gd name="T8" fmla="*/ 10800 h 21600"/>
                  <a:gd name="T9" fmla="+- 0 10849 98"/>
                  <a:gd name="T10" fmla="*/ T9 w 21502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02" h="21600">
                    <a:moveTo>
                      <a:pt x="19917" y="7880"/>
                    </a:moveTo>
                    <a:lnTo>
                      <a:pt x="18875" y="8932"/>
                    </a:lnTo>
                    <a:cubicBezTo>
                      <a:pt x="18730" y="9079"/>
                      <a:pt x="18497" y="9079"/>
                      <a:pt x="18353" y="8932"/>
                    </a:cubicBezTo>
                    <a:lnTo>
                      <a:pt x="17048" y="7617"/>
                    </a:lnTo>
                    <a:lnTo>
                      <a:pt x="15991" y="10290"/>
                    </a:lnTo>
                    <a:lnTo>
                      <a:pt x="16080" y="10064"/>
                    </a:lnTo>
                    <a:cubicBezTo>
                      <a:pt x="13859" y="7826"/>
                      <a:pt x="11601" y="7544"/>
                      <a:pt x="9565" y="7291"/>
                    </a:cubicBezTo>
                    <a:cubicBezTo>
                      <a:pt x="8910" y="7210"/>
                      <a:pt x="8276" y="7126"/>
                      <a:pt x="7652" y="6990"/>
                    </a:cubicBezTo>
                    <a:lnTo>
                      <a:pt x="13918" y="4456"/>
                    </a:lnTo>
                    <a:lnTo>
                      <a:pt x="12652" y="3179"/>
                    </a:lnTo>
                    <a:cubicBezTo>
                      <a:pt x="12508" y="3033"/>
                      <a:pt x="12508" y="2798"/>
                      <a:pt x="12652" y="2652"/>
                    </a:cubicBezTo>
                    <a:lnTo>
                      <a:pt x="13695" y="1598"/>
                    </a:lnTo>
                    <a:cubicBezTo>
                      <a:pt x="13840" y="1453"/>
                      <a:pt x="14073" y="1453"/>
                      <a:pt x="14217" y="1598"/>
                    </a:cubicBezTo>
                    <a:lnTo>
                      <a:pt x="19917" y="7353"/>
                    </a:lnTo>
                    <a:cubicBezTo>
                      <a:pt x="20062" y="7499"/>
                      <a:pt x="20062" y="7734"/>
                      <a:pt x="19917" y="7880"/>
                    </a:cubicBezTo>
                    <a:moveTo>
                      <a:pt x="12292" y="19639"/>
                    </a:moveTo>
                    <a:cubicBezTo>
                      <a:pt x="12200" y="19872"/>
                      <a:pt x="11999" y="20044"/>
                      <a:pt x="11756" y="20095"/>
                    </a:cubicBezTo>
                    <a:cubicBezTo>
                      <a:pt x="11700" y="20106"/>
                      <a:pt x="11643" y="20111"/>
                      <a:pt x="11587" y="20110"/>
                    </a:cubicBezTo>
                    <a:cubicBezTo>
                      <a:pt x="11400" y="20105"/>
                      <a:pt x="11219" y="20030"/>
                      <a:pt x="11084" y="19892"/>
                    </a:cubicBezTo>
                    <a:lnTo>
                      <a:pt x="1692" y="10517"/>
                    </a:lnTo>
                    <a:cubicBezTo>
                      <a:pt x="1519" y="10343"/>
                      <a:pt x="1443" y="10094"/>
                      <a:pt x="1488" y="9852"/>
                    </a:cubicBezTo>
                    <a:cubicBezTo>
                      <a:pt x="1533" y="9610"/>
                      <a:pt x="1695" y="9407"/>
                      <a:pt x="1917" y="9308"/>
                    </a:cubicBezTo>
                    <a:lnTo>
                      <a:pt x="6505" y="7453"/>
                    </a:lnTo>
                    <a:cubicBezTo>
                      <a:pt x="9597" y="8490"/>
                      <a:pt x="12689" y="7491"/>
                      <a:pt x="15781" y="10821"/>
                    </a:cubicBezTo>
                    <a:cubicBezTo>
                      <a:pt x="15781" y="10821"/>
                      <a:pt x="12292" y="19639"/>
                      <a:pt x="12292" y="19639"/>
                    </a:cubicBezTo>
                    <a:close/>
                    <a:moveTo>
                      <a:pt x="15260" y="545"/>
                    </a:moveTo>
                    <a:cubicBezTo>
                      <a:pt x="14912" y="193"/>
                      <a:pt x="14449" y="0"/>
                      <a:pt x="13956" y="0"/>
                    </a:cubicBezTo>
                    <a:cubicBezTo>
                      <a:pt x="13463" y="0"/>
                      <a:pt x="13000" y="193"/>
                      <a:pt x="12651" y="546"/>
                    </a:cubicBezTo>
                    <a:lnTo>
                      <a:pt x="11610" y="1598"/>
                    </a:lnTo>
                    <a:cubicBezTo>
                      <a:pt x="11261" y="1949"/>
                      <a:pt x="11068" y="2417"/>
                      <a:pt x="11068" y="2915"/>
                    </a:cubicBezTo>
                    <a:cubicBezTo>
                      <a:pt x="11068" y="3265"/>
                      <a:pt x="11164" y="3601"/>
                      <a:pt x="11342" y="3893"/>
                    </a:cubicBezTo>
                    <a:lnTo>
                      <a:pt x="1324" y="7944"/>
                    </a:lnTo>
                    <a:cubicBezTo>
                      <a:pt x="654" y="8241"/>
                      <a:pt x="173" y="8851"/>
                      <a:pt x="38" y="9575"/>
                    </a:cubicBezTo>
                    <a:cubicBezTo>
                      <a:pt x="-98" y="10302"/>
                      <a:pt x="130" y="11048"/>
                      <a:pt x="654" y="11576"/>
                    </a:cubicBezTo>
                    <a:lnTo>
                      <a:pt x="10041" y="20946"/>
                    </a:lnTo>
                    <a:cubicBezTo>
                      <a:pt x="10445" y="21354"/>
                      <a:pt x="10982" y="21586"/>
                      <a:pt x="11549" y="21599"/>
                    </a:cubicBezTo>
                    <a:cubicBezTo>
                      <a:pt x="11562" y="21599"/>
                      <a:pt x="11593" y="21599"/>
                      <a:pt x="11605" y="21599"/>
                    </a:cubicBezTo>
                    <a:cubicBezTo>
                      <a:pt x="11754" y="21599"/>
                      <a:pt x="11906" y="21584"/>
                      <a:pt x="12056" y="21553"/>
                    </a:cubicBezTo>
                    <a:cubicBezTo>
                      <a:pt x="12789" y="21399"/>
                      <a:pt x="13390" y="20888"/>
                      <a:pt x="13662" y="20191"/>
                    </a:cubicBezTo>
                    <a:lnTo>
                      <a:pt x="17604" y="10229"/>
                    </a:lnTo>
                    <a:cubicBezTo>
                      <a:pt x="17902" y="10426"/>
                      <a:pt x="18250" y="10532"/>
                      <a:pt x="18613" y="10532"/>
                    </a:cubicBezTo>
                    <a:cubicBezTo>
                      <a:pt x="19107" y="10532"/>
                      <a:pt x="19570" y="10338"/>
                      <a:pt x="19918" y="9986"/>
                    </a:cubicBezTo>
                    <a:lnTo>
                      <a:pt x="20957" y="8937"/>
                    </a:lnTo>
                    <a:cubicBezTo>
                      <a:pt x="21308" y="8585"/>
                      <a:pt x="21502" y="8116"/>
                      <a:pt x="21502" y="7617"/>
                    </a:cubicBezTo>
                    <a:cubicBezTo>
                      <a:pt x="21502" y="7117"/>
                      <a:pt x="21308" y="6648"/>
                      <a:pt x="20961" y="6300"/>
                    </a:cubicBezTo>
                    <a:cubicBezTo>
                      <a:pt x="20961" y="6300"/>
                      <a:pt x="15260" y="545"/>
                      <a:pt x="15260" y="5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1" name="AutoShape 38"/>
              <p:cNvSpPr/>
              <p:nvPr/>
            </p:nvSpPr>
            <p:spPr bwMode="auto">
              <a:xfrm>
                <a:off x="7490619" y="3738563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4320"/>
                    </a:moveTo>
                    <a:cubicBezTo>
                      <a:pt x="14381" y="4320"/>
                      <a:pt x="17279" y="7222"/>
                      <a:pt x="17279" y="10800"/>
                    </a:cubicBezTo>
                    <a:cubicBezTo>
                      <a:pt x="17279" y="14377"/>
                      <a:pt x="14381" y="17279"/>
                      <a:pt x="10800" y="17279"/>
                    </a:cubicBezTo>
                    <a:cubicBezTo>
                      <a:pt x="7218" y="17279"/>
                      <a:pt x="4319" y="14377"/>
                      <a:pt x="4319" y="10800"/>
                    </a:cubicBezTo>
                    <a:cubicBezTo>
                      <a:pt x="4319" y="7222"/>
                      <a:pt x="7218" y="4320"/>
                      <a:pt x="10800" y="4320"/>
                    </a:cubicBezTo>
                    <a:moveTo>
                      <a:pt x="10800" y="21599"/>
                    </a:move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2" name="AutoShape 39"/>
              <p:cNvSpPr/>
              <p:nvPr/>
            </p:nvSpPr>
            <p:spPr bwMode="auto">
              <a:xfrm>
                <a:off x="7679532" y="3505994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7279"/>
                    </a:moveTo>
                    <a:cubicBezTo>
                      <a:pt x="7218" y="17279"/>
                      <a:pt x="4320" y="14377"/>
                      <a:pt x="4320" y="10800"/>
                    </a:cubicBezTo>
                    <a:cubicBezTo>
                      <a:pt x="4320" y="7222"/>
                      <a:pt x="7218" y="4320"/>
                      <a:pt x="10800" y="4320"/>
                    </a:cubicBezTo>
                    <a:cubicBezTo>
                      <a:pt x="14381" y="4320"/>
                      <a:pt x="17280" y="7222"/>
                      <a:pt x="17280" y="10800"/>
                    </a:cubicBezTo>
                    <a:cubicBezTo>
                      <a:pt x="17280" y="14377"/>
                      <a:pt x="14381" y="17279"/>
                      <a:pt x="10800" y="17279"/>
                    </a:cubicBezTo>
                    <a:moveTo>
                      <a:pt x="10800" y="0"/>
                    </a:move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3" name="AutoShape 40"/>
              <p:cNvSpPr/>
              <p:nvPr/>
            </p:nvSpPr>
            <p:spPr bwMode="auto">
              <a:xfrm>
                <a:off x="7403307" y="3724275"/>
                <a:ext cx="57944" cy="579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5400"/>
                    </a:moveTo>
                    <a:cubicBezTo>
                      <a:pt x="13779" y="5400"/>
                      <a:pt x="16199" y="7815"/>
                      <a:pt x="16199" y="10800"/>
                    </a:cubicBezTo>
                    <a:cubicBezTo>
                      <a:pt x="16199" y="13784"/>
                      <a:pt x="13779" y="16200"/>
                      <a:pt x="10800" y="16200"/>
                    </a:cubicBezTo>
                    <a:cubicBezTo>
                      <a:pt x="7820" y="16200"/>
                      <a:pt x="5399" y="13784"/>
                      <a:pt x="5399" y="10800"/>
                    </a:cubicBezTo>
                    <a:cubicBezTo>
                      <a:pt x="5399" y="7815"/>
                      <a:pt x="7820" y="5400"/>
                      <a:pt x="10800" y="5400"/>
                    </a:cubicBezTo>
                    <a:moveTo>
                      <a:pt x="0" y="10800"/>
                    </a:moveTo>
                    <a:cubicBezTo>
                      <a:pt x="0" y="16753"/>
                      <a:pt x="4843" y="21599"/>
                      <a:pt x="10800" y="21599"/>
                    </a:cubicBezTo>
                    <a:cubicBezTo>
                      <a:pt x="16756" y="21599"/>
                      <a:pt x="21600" y="16753"/>
                      <a:pt x="21600" y="10800"/>
                    </a:cubicBezTo>
                    <a:cubicBezTo>
                      <a:pt x="21600" y="4846"/>
                      <a:pt x="16756" y="0"/>
                      <a:pt x="10800" y="0"/>
                    </a:cubicBezTo>
                    <a:cubicBezTo>
                      <a:pt x="4843" y="0"/>
                      <a:pt x="0" y="4846"/>
                      <a:pt x="0" y="1080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4" name="AutoShape 41"/>
              <p:cNvSpPr/>
              <p:nvPr/>
            </p:nvSpPr>
            <p:spPr bwMode="auto">
              <a:xfrm>
                <a:off x="7461250" y="3825875"/>
                <a:ext cx="29369" cy="285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1599"/>
                    </a:move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5" name="AutoShape 42"/>
              <p:cNvSpPr/>
              <p:nvPr/>
            </p:nvSpPr>
            <p:spPr bwMode="auto">
              <a:xfrm>
                <a:off x="7693819" y="3607594"/>
                <a:ext cx="28575" cy="293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46" name="Group 33"/>
          <p:cNvGrpSpPr/>
          <p:nvPr/>
        </p:nvGrpSpPr>
        <p:grpSpPr>
          <a:xfrm>
            <a:off x="693738" y="4968875"/>
            <a:ext cx="914400" cy="915988"/>
            <a:chOff x="6528170" y="4684221"/>
            <a:chExt cx="914400" cy="914400"/>
          </a:xfrm>
        </p:grpSpPr>
        <p:sp>
          <p:nvSpPr>
            <p:cNvPr id="47" name="Rounded Rectangle 9"/>
            <p:cNvSpPr/>
            <p:nvPr/>
          </p:nvSpPr>
          <p:spPr>
            <a:xfrm>
              <a:off x="6528170" y="4684221"/>
              <a:ext cx="914400" cy="914400"/>
            </a:xfrm>
            <a:prstGeom prst="roundRect">
              <a:avLst/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76"/>
            <p:cNvGrpSpPr/>
            <p:nvPr/>
          </p:nvGrpSpPr>
          <p:grpSpPr>
            <a:xfrm>
              <a:off x="6748385" y="4909249"/>
              <a:ext cx="464344" cy="464344"/>
              <a:chOff x="7287419" y="2577307"/>
              <a:chExt cx="464344" cy="464344"/>
            </a:xfrm>
            <a:solidFill>
              <a:srgbClr val="EEECE1"/>
            </a:solidFill>
          </p:grpSpPr>
          <p:sp>
            <p:nvSpPr>
              <p:cNvPr id="49" name="AutoShape 56"/>
              <p:cNvSpPr/>
              <p:nvPr/>
            </p:nvSpPr>
            <p:spPr bwMode="auto">
              <a:xfrm>
                <a:off x="7287419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50" name="AutoShape 57"/>
              <p:cNvSpPr/>
              <p:nvPr/>
            </p:nvSpPr>
            <p:spPr bwMode="auto">
              <a:xfrm>
                <a:off x="7606507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51" name="AutoShape 58"/>
              <p:cNvSpPr/>
              <p:nvPr/>
            </p:nvSpPr>
            <p:spPr bwMode="auto">
              <a:xfrm>
                <a:off x="7446963" y="257730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52" name="Group 31"/>
          <p:cNvGrpSpPr/>
          <p:nvPr/>
        </p:nvGrpSpPr>
        <p:grpSpPr>
          <a:xfrm>
            <a:off x="693738" y="1633538"/>
            <a:ext cx="914400" cy="914400"/>
            <a:chOff x="6528170" y="1885071"/>
            <a:chExt cx="914400" cy="914400"/>
          </a:xfrm>
        </p:grpSpPr>
        <p:sp>
          <p:nvSpPr>
            <p:cNvPr id="53" name="Rounded Rectangle 7"/>
            <p:cNvSpPr/>
            <p:nvPr/>
          </p:nvSpPr>
          <p:spPr>
            <a:xfrm>
              <a:off x="6528170" y="1885071"/>
              <a:ext cx="914400" cy="914400"/>
            </a:xfrm>
            <a:prstGeom prst="round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" name="Group 83"/>
            <p:cNvGrpSpPr/>
            <p:nvPr/>
          </p:nvGrpSpPr>
          <p:grpSpPr>
            <a:xfrm>
              <a:off x="6758963" y="2110099"/>
              <a:ext cx="465138" cy="464344"/>
              <a:chOff x="2581275" y="2582069"/>
              <a:chExt cx="465138" cy="464344"/>
            </a:xfrm>
            <a:solidFill>
              <a:srgbClr val="EEECE1"/>
            </a:solidFill>
          </p:grpSpPr>
          <p:sp>
            <p:nvSpPr>
              <p:cNvPr id="55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56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E4ADC34B-2C4F-2C89-E73C-3D18696F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抽象数据类型的表示与实现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2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2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2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2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5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9" grpId="0" build="p"/>
      <p:bldP spid="322570" grpId="0" build="p"/>
      <p:bldP spid="32257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9606FD60-0433-721E-03B0-C60D326D3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24744"/>
            <a:ext cx="6477000" cy="4962525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DEF2BFF-4CFA-7179-03C4-750A92B6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复数</a:t>
            </a:r>
            <a:r>
              <a:rPr lang="en-US" altLang="zh-CN" dirty="0"/>
              <a:t>---</a:t>
            </a:r>
            <a:r>
              <a:rPr lang="zh-CN" altLang="en-US" dirty="0"/>
              <a:t>抽象数据类型的定义</a:t>
            </a:r>
          </a:p>
        </p:txBody>
      </p:sp>
    </p:spTree>
    <p:extLst>
      <p:ext uri="{BB962C8B-B14F-4D97-AF65-F5344CB8AC3E}">
        <p14:creationId xmlns:p14="http://schemas.microsoft.com/office/powerpoint/2010/main" val="350930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DEF2BFF-4CFA-7179-03C4-750A92B6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复数</a:t>
            </a:r>
            <a:r>
              <a:rPr lang="en-US" altLang="zh-CN" dirty="0"/>
              <a:t>---</a:t>
            </a:r>
            <a:r>
              <a:rPr lang="zh-CN" altLang="en-US" dirty="0"/>
              <a:t>抽象数据类型的表示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9B6934A-BF36-D60C-E65F-BCC464B9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3" y="1916832"/>
            <a:ext cx="7298163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0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DEF2BFF-4CFA-7179-03C4-750A92B6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复数</a:t>
            </a:r>
            <a:r>
              <a:rPr lang="en-US" altLang="zh-CN" dirty="0"/>
              <a:t>---</a:t>
            </a:r>
            <a:r>
              <a:rPr lang="zh-CN" altLang="en-US" dirty="0"/>
              <a:t>抽象数据类型的实现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875B6265-4D60-3BCD-597E-0EE59687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815417"/>
            <a:ext cx="6017178" cy="285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8B4689E6-974B-F1A7-3B2B-0F769CBF8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1101166"/>
            <a:ext cx="6017178" cy="571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16"/>
          <p:cNvSpPr>
            <a:spLocks noChangeArrowheads="1"/>
          </p:cNvSpPr>
          <p:nvPr/>
        </p:nvSpPr>
        <p:spPr bwMode="auto">
          <a:xfrm>
            <a:off x="900113" y="2293938"/>
            <a:ext cx="7416800" cy="39147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: 圆角 16"/>
          <p:cNvSpPr>
            <a:spLocks noChangeArrowheads="1"/>
          </p:cNvSpPr>
          <p:nvPr/>
        </p:nvSpPr>
        <p:spPr bwMode="auto">
          <a:xfrm>
            <a:off x="900113" y="1420813"/>
            <a:ext cx="74168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105" name="Rectangle 7"/>
          <p:cNvSpPr>
            <a:spLocks noGrp="1" noChangeArrowheads="1"/>
          </p:cNvSpPr>
          <p:nvPr>
            <p:ph idx="1"/>
          </p:nvPr>
        </p:nvSpPr>
        <p:spPr>
          <a:xfrm>
            <a:off x="395288" y="1377950"/>
            <a:ext cx="8299450" cy="5046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(1)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预定义常量及类型</a:t>
            </a:r>
          </a:p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函数结果状态代码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#define OK 1 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#define ERROR 0 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#define OVERFLOW -2 </a:t>
            </a:r>
          </a:p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// Status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是函数返回值类型，其值是函数结果状态代码。 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typedef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Status; </a:t>
            </a:r>
          </a:p>
        </p:txBody>
      </p:sp>
      <p:sp>
        <p:nvSpPr>
          <p:cNvPr id="53253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抽象数据类型的表示与实现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抽象数据类型的表示与实现</a:t>
            </a: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317500" y="1457325"/>
            <a:ext cx="8534400" cy="1054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 type="none" w="lg" len="med"/>
          </a:ln>
        </p:spPr>
        <p:txBody>
          <a:bodyPr lIns="90000" tIns="46800" rIns="90000" bIns="46800">
            <a:spAutoFit/>
          </a:bodyPr>
          <a:lstStyle/>
          <a:p>
            <a:pPr marR="0" defTabSz="914400">
              <a:lnSpc>
                <a:spcPct val="13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(2)</a:t>
            </a:r>
            <a:r>
              <a:rPr kumimoji="1" lang="zh-CN" altLang="en-US" sz="2400" kern="120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数据元素被约定为</a:t>
            </a:r>
            <a:r>
              <a:rPr kumimoji="1" lang="en-US" altLang="zh-CN" sz="2400" kern="1200" cap="none" spc="0" normalizeH="0" baseline="0" noProof="0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1" lang="en-US" altLang="zh-CN" sz="2400" kern="120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sz="2400" kern="120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</a:t>
            </a:r>
            <a:r>
              <a:rPr kumimoji="1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，用户需要根据具体情况  </a:t>
            </a:r>
            <a:r>
              <a:rPr kumimoji="1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kumimoji="1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</a:br>
            <a:r>
              <a:rPr kumimoji="1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1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，自行定义该数据类型。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17500" y="2997200"/>
            <a:ext cx="8534400" cy="3384550"/>
            <a:chOff x="3995936" y="1341439"/>
            <a:chExt cx="8534723" cy="1994003"/>
          </a:xfrm>
        </p:grpSpPr>
        <p:sp>
          <p:nvSpPr>
            <p:cNvPr id="54281" name="矩形 5"/>
            <p:cNvSpPr/>
            <p:nvPr/>
          </p:nvSpPr>
          <p:spPr>
            <a:xfrm>
              <a:off x="3995936" y="1341439"/>
              <a:ext cx="8534723" cy="1994003"/>
            </a:xfrm>
            <a:prstGeom prst="rect">
              <a:avLst/>
            </a:prstGeom>
            <a:solidFill>
              <a:srgbClr val="76AEDD">
                <a:alpha val="50195"/>
              </a:srgbClr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8" name="Text Box 29"/>
            <p:cNvSpPr txBox="1">
              <a:spLocks noChangeArrowheads="1"/>
            </p:cNvSpPr>
            <p:nvPr/>
          </p:nvSpPr>
          <p:spPr bwMode="auto">
            <a:xfrm>
              <a:off x="4211844" y="1379786"/>
              <a:ext cx="8174347" cy="1470250"/>
            </a:xfrm>
            <a:prstGeom prst="rect">
              <a:avLst/>
            </a:prstGeom>
            <a:noFill/>
            <a:ln w="57150">
              <a:noFill/>
              <a:miter lim="800000"/>
              <a:headEnd type="none" w="lg" len="med"/>
            </a:ln>
          </p:spPr>
          <p:txBody>
            <a:bodyPr lIns="90000" tIns="46800" rIns="90000" bIns="4680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(3)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算法描述为以下的函数形式：</a:t>
              </a:r>
            </a:p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函数类型 函数名（函数参数表）</a:t>
              </a:r>
            </a:p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{</a:t>
              </a:r>
            </a:p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 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语句序列；</a:t>
              </a:r>
            </a:p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}</a:t>
              </a:r>
            </a:p>
          </p:txBody>
        </p:sp>
      </p:grpSp>
      <p:grpSp>
        <p:nvGrpSpPr>
          <p:cNvPr id="54277" name="组合 1"/>
          <p:cNvGrpSpPr/>
          <p:nvPr/>
        </p:nvGrpSpPr>
        <p:grpSpPr>
          <a:xfrm>
            <a:off x="317500" y="5932488"/>
            <a:ext cx="8521700" cy="376237"/>
            <a:chOff x="4882008" y="5373216"/>
            <a:chExt cx="3925887" cy="376238"/>
          </a:xfrm>
        </p:grpSpPr>
        <p:sp>
          <p:nvSpPr>
            <p:cNvPr id="54278" name="矩形 1"/>
            <p:cNvSpPr/>
            <p:nvPr/>
          </p:nvSpPr>
          <p:spPr>
            <a:xfrm>
              <a:off x="4882008" y="5676429"/>
              <a:ext cx="3925887" cy="730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54279" name="矩形 10"/>
            <p:cNvSpPr/>
            <p:nvPr/>
          </p:nvSpPr>
          <p:spPr>
            <a:xfrm>
              <a:off x="4882008" y="5530379"/>
              <a:ext cx="3925887" cy="714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54280" name="矩形 11"/>
            <p:cNvSpPr/>
            <p:nvPr/>
          </p:nvSpPr>
          <p:spPr>
            <a:xfrm>
              <a:off x="4882008" y="5373216"/>
              <a:ext cx="3925887" cy="7143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4"/>
          <p:cNvSpPr>
            <a:spLocks noChangeArrowheads="1"/>
          </p:cNvSpPr>
          <p:nvPr/>
        </p:nvSpPr>
        <p:spPr bwMode="auto">
          <a:xfrm>
            <a:off x="0" y="1038225"/>
            <a:ext cx="9144000" cy="2012950"/>
          </a:xfrm>
          <a:prstGeom prst="rect">
            <a:avLst/>
          </a:prstGeom>
          <a:solidFill>
            <a:srgbClr val="EBE9EE"/>
          </a:solidFill>
          <a:ln>
            <a:noFill/>
          </a:ln>
        </p:spPr>
        <p:txBody>
          <a:bodyPr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）内存的动态分配与释放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动态分配和释放内存空间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分配空间　指针变量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=new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释放空间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  <p:sp>
        <p:nvSpPr>
          <p:cNvPr id="443397" name="Rectangle 5"/>
          <p:cNvSpPr>
            <a:spLocks noChangeArrowheads="1"/>
          </p:cNvSpPr>
          <p:nvPr/>
        </p:nvSpPr>
        <p:spPr bwMode="auto">
          <a:xfrm>
            <a:off x="0" y="3051175"/>
            <a:ext cx="9144000" cy="1533525"/>
          </a:xfrm>
          <a:prstGeom prst="rect">
            <a:avLst/>
          </a:prstGeom>
          <a:solidFill>
            <a:srgbClr val="EBE9EE"/>
          </a:solidFill>
          <a:ln>
            <a:noFill/>
          </a:ln>
        </p:spPr>
        <p:txBody>
          <a:bodyPr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）赋值语句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）选择语句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）循环语句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844550" y="260350"/>
            <a:ext cx="6400800" cy="457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抽象数据类型的表示与实现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4584700"/>
            <a:ext cx="9144000" cy="2012950"/>
          </a:xfrm>
          <a:prstGeom prst="rect">
            <a:avLst/>
          </a:prstGeom>
          <a:solidFill>
            <a:srgbClr val="EBE9EE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）使用的结束语句形式有：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函数结束语句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循环结束语句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break;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异常结束语句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exit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（异常代码）；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341320" y="5064625"/>
            <a:ext cx="1788392" cy="1532727"/>
            <a:chOff x="3546346" y="2339026"/>
            <a:chExt cx="897787" cy="769842"/>
          </a:xfrm>
          <a:solidFill>
            <a:srgbClr val="6C4C8F"/>
          </a:solidFill>
        </p:grpSpPr>
        <p:sp>
          <p:nvSpPr>
            <p:cNvPr id="7" name="Rectangle 227"/>
            <p:cNvSpPr>
              <a:spLocks noChangeArrowheads="1"/>
            </p:cNvSpPr>
            <p:nvPr/>
          </p:nvSpPr>
          <p:spPr bwMode="auto">
            <a:xfrm>
              <a:off x="3561526" y="3077423"/>
              <a:ext cx="882607" cy="314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8" name="Freeform 228"/>
            <p:cNvSpPr/>
            <p:nvPr/>
          </p:nvSpPr>
          <p:spPr bwMode="auto">
            <a:xfrm>
              <a:off x="3617909" y="2844302"/>
              <a:ext cx="125777" cy="210351"/>
            </a:xfrm>
            <a:custGeom>
              <a:avLst/>
              <a:gdLst>
                <a:gd name="T0" fmla="*/ 6 w 49"/>
                <a:gd name="T1" fmla="*/ 82 h 82"/>
                <a:gd name="T2" fmla="*/ 43 w 49"/>
                <a:gd name="T3" fmla="*/ 82 h 82"/>
                <a:gd name="T4" fmla="*/ 49 w 49"/>
                <a:gd name="T5" fmla="*/ 76 h 82"/>
                <a:gd name="T6" fmla="*/ 49 w 49"/>
                <a:gd name="T7" fmla="*/ 0 h 82"/>
                <a:gd name="T8" fmla="*/ 0 w 49"/>
                <a:gd name="T9" fmla="*/ 49 h 82"/>
                <a:gd name="T10" fmla="*/ 0 w 49"/>
                <a:gd name="T11" fmla="*/ 76 h 82"/>
                <a:gd name="T12" fmla="*/ 6 w 49"/>
                <a:gd name="T1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82">
                  <a:moveTo>
                    <a:pt x="6" y="82"/>
                  </a:moveTo>
                  <a:cubicBezTo>
                    <a:pt x="43" y="82"/>
                    <a:pt x="43" y="82"/>
                    <a:pt x="43" y="82"/>
                  </a:cubicBezTo>
                  <a:cubicBezTo>
                    <a:pt x="46" y="82"/>
                    <a:pt x="49" y="79"/>
                    <a:pt x="49" y="7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3" y="82"/>
                    <a:pt x="6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9" name="Freeform 229"/>
            <p:cNvSpPr/>
            <p:nvPr/>
          </p:nvSpPr>
          <p:spPr bwMode="auto">
            <a:xfrm>
              <a:off x="3779467" y="2682744"/>
              <a:ext cx="122524" cy="371910"/>
            </a:xfrm>
            <a:custGeom>
              <a:avLst/>
              <a:gdLst>
                <a:gd name="T0" fmla="*/ 5 w 48"/>
                <a:gd name="T1" fmla="*/ 145 h 145"/>
                <a:gd name="T2" fmla="*/ 43 w 48"/>
                <a:gd name="T3" fmla="*/ 145 h 145"/>
                <a:gd name="T4" fmla="*/ 48 w 48"/>
                <a:gd name="T5" fmla="*/ 139 h 145"/>
                <a:gd name="T6" fmla="*/ 48 w 48"/>
                <a:gd name="T7" fmla="*/ 0 h 145"/>
                <a:gd name="T8" fmla="*/ 0 w 48"/>
                <a:gd name="T9" fmla="*/ 49 h 145"/>
                <a:gd name="T10" fmla="*/ 0 w 48"/>
                <a:gd name="T11" fmla="*/ 139 h 145"/>
                <a:gd name="T12" fmla="*/ 5 w 48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5">
                  <a:moveTo>
                    <a:pt x="5" y="145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6" y="145"/>
                    <a:pt x="48" y="142"/>
                    <a:pt x="48" y="139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2"/>
                    <a:pt x="2" y="145"/>
                    <a:pt x="5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0" name="Freeform 230"/>
            <p:cNvSpPr/>
            <p:nvPr/>
          </p:nvSpPr>
          <p:spPr bwMode="auto">
            <a:xfrm>
              <a:off x="3938857" y="2713104"/>
              <a:ext cx="124693" cy="341550"/>
            </a:xfrm>
            <a:custGeom>
              <a:avLst/>
              <a:gdLst>
                <a:gd name="T0" fmla="*/ 22 w 49"/>
                <a:gd name="T1" fmla="*/ 22 h 133"/>
                <a:gd name="T2" fmla="*/ 0 w 49"/>
                <a:gd name="T3" fmla="*/ 0 h 133"/>
                <a:gd name="T4" fmla="*/ 0 w 49"/>
                <a:gd name="T5" fmla="*/ 127 h 133"/>
                <a:gd name="T6" fmla="*/ 6 w 49"/>
                <a:gd name="T7" fmla="*/ 133 h 133"/>
                <a:gd name="T8" fmla="*/ 43 w 49"/>
                <a:gd name="T9" fmla="*/ 133 h 133"/>
                <a:gd name="T10" fmla="*/ 49 w 49"/>
                <a:gd name="T11" fmla="*/ 127 h 133"/>
                <a:gd name="T12" fmla="*/ 49 w 49"/>
                <a:gd name="T13" fmla="*/ 26 h 133"/>
                <a:gd name="T14" fmla="*/ 38 w 49"/>
                <a:gd name="T15" fmla="*/ 29 h 133"/>
                <a:gd name="T16" fmla="*/ 22 w 49"/>
                <a:gd name="T17" fmla="*/ 2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133">
                  <a:moveTo>
                    <a:pt x="22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0"/>
                    <a:pt x="3" y="133"/>
                    <a:pt x="6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6" y="133"/>
                    <a:pt x="49" y="130"/>
                    <a:pt x="49" y="127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6" y="28"/>
                    <a:pt x="42" y="29"/>
                    <a:pt x="38" y="29"/>
                  </a:cubicBezTo>
                  <a:cubicBezTo>
                    <a:pt x="32" y="29"/>
                    <a:pt x="27" y="26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1" name="Freeform 231"/>
            <p:cNvSpPr/>
            <p:nvPr/>
          </p:nvSpPr>
          <p:spPr bwMode="auto">
            <a:xfrm>
              <a:off x="4100415" y="2624193"/>
              <a:ext cx="122524" cy="430461"/>
            </a:xfrm>
            <a:custGeom>
              <a:avLst/>
              <a:gdLst>
                <a:gd name="T0" fmla="*/ 5 w 48"/>
                <a:gd name="T1" fmla="*/ 168 h 168"/>
                <a:gd name="T2" fmla="*/ 43 w 48"/>
                <a:gd name="T3" fmla="*/ 168 h 168"/>
                <a:gd name="T4" fmla="*/ 48 w 48"/>
                <a:gd name="T5" fmla="*/ 162 h 168"/>
                <a:gd name="T6" fmla="*/ 48 w 48"/>
                <a:gd name="T7" fmla="*/ 0 h 168"/>
                <a:gd name="T8" fmla="*/ 0 w 48"/>
                <a:gd name="T9" fmla="*/ 48 h 168"/>
                <a:gd name="T10" fmla="*/ 0 w 48"/>
                <a:gd name="T11" fmla="*/ 162 h 168"/>
                <a:gd name="T12" fmla="*/ 5 w 48"/>
                <a:gd name="T1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68">
                  <a:moveTo>
                    <a:pt x="5" y="168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46" y="168"/>
                    <a:pt x="48" y="165"/>
                    <a:pt x="48" y="16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5"/>
                    <a:pt x="2" y="168"/>
                    <a:pt x="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2" name="Freeform 232"/>
            <p:cNvSpPr/>
            <p:nvPr/>
          </p:nvSpPr>
          <p:spPr bwMode="auto">
            <a:xfrm>
              <a:off x="4258721" y="2513596"/>
              <a:ext cx="125777" cy="541058"/>
            </a:xfrm>
            <a:custGeom>
              <a:avLst/>
              <a:gdLst>
                <a:gd name="T0" fmla="*/ 29 w 49"/>
                <a:gd name="T1" fmla="*/ 0 h 211"/>
                <a:gd name="T2" fmla="*/ 0 w 49"/>
                <a:gd name="T3" fmla="*/ 29 h 211"/>
                <a:gd name="T4" fmla="*/ 0 w 49"/>
                <a:gd name="T5" fmla="*/ 205 h 211"/>
                <a:gd name="T6" fmla="*/ 6 w 49"/>
                <a:gd name="T7" fmla="*/ 211 h 211"/>
                <a:gd name="T8" fmla="*/ 43 w 49"/>
                <a:gd name="T9" fmla="*/ 211 h 211"/>
                <a:gd name="T10" fmla="*/ 49 w 49"/>
                <a:gd name="T11" fmla="*/ 205 h 211"/>
                <a:gd name="T12" fmla="*/ 49 w 49"/>
                <a:gd name="T13" fmla="*/ 22 h 211"/>
                <a:gd name="T14" fmla="*/ 29 w 49"/>
                <a:gd name="T1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11">
                  <a:moveTo>
                    <a:pt x="29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08"/>
                    <a:pt x="3" y="211"/>
                    <a:pt x="6" y="211"/>
                  </a:cubicBezTo>
                  <a:cubicBezTo>
                    <a:pt x="43" y="211"/>
                    <a:pt x="43" y="211"/>
                    <a:pt x="43" y="211"/>
                  </a:cubicBezTo>
                  <a:cubicBezTo>
                    <a:pt x="46" y="211"/>
                    <a:pt x="49" y="208"/>
                    <a:pt x="49" y="205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8" y="21"/>
                    <a:pt x="29" y="1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3" name="Freeform 233"/>
            <p:cNvSpPr/>
            <p:nvPr/>
          </p:nvSpPr>
          <p:spPr bwMode="auto">
            <a:xfrm>
              <a:off x="3546346" y="2339026"/>
              <a:ext cx="871764" cy="610452"/>
            </a:xfrm>
            <a:custGeom>
              <a:avLst/>
              <a:gdLst>
                <a:gd name="T0" fmla="*/ 20 w 340"/>
                <a:gd name="T1" fmla="*/ 234 h 238"/>
                <a:gd name="T2" fmla="*/ 140 w 340"/>
                <a:gd name="T3" fmla="*/ 113 h 238"/>
                <a:gd name="T4" fmla="*/ 183 w 340"/>
                <a:gd name="T5" fmla="*/ 156 h 238"/>
                <a:gd name="T6" fmla="*/ 199 w 340"/>
                <a:gd name="T7" fmla="*/ 156 h 238"/>
                <a:gd name="T8" fmla="*/ 318 w 340"/>
                <a:gd name="T9" fmla="*/ 37 h 238"/>
                <a:gd name="T10" fmla="*/ 318 w 340"/>
                <a:gd name="T11" fmla="*/ 64 h 238"/>
                <a:gd name="T12" fmla="*/ 329 w 340"/>
                <a:gd name="T13" fmla="*/ 75 h 238"/>
                <a:gd name="T14" fmla="*/ 340 w 340"/>
                <a:gd name="T15" fmla="*/ 64 h 238"/>
                <a:gd name="T16" fmla="*/ 340 w 340"/>
                <a:gd name="T17" fmla="*/ 11 h 238"/>
                <a:gd name="T18" fmla="*/ 337 w 340"/>
                <a:gd name="T19" fmla="*/ 3 h 238"/>
                <a:gd name="T20" fmla="*/ 329 w 340"/>
                <a:gd name="T21" fmla="*/ 0 h 238"/>
                <a:gd name="T22" fmla="*/ 276 w 340"/>
                <a:gd name="T23" fmla="*/ 0 h 238"/>
                <a:gd name="T24" fmla="*/ 265 w 340"/>
                <a:gd name="T25" fmla="*/ 11 h 238"/>
                <a:gd name="T26" fmla="*/ 276 w 340"/>
                <a:gd name="T27" fmla="*/ 22 h 238"/>
                <a:gd name="T28" fmla="*/ 302 w 340"/>
                <a:gd name="T29" fmla="*/ 22 h 238"/>
                <a:gd name="T30" fmla="*/ 191 w 340"/>
                <a:gd name="T31" fmla="*/ 133 h 238"/>
                <a:gd name="T32" fmla="*/ 148 w 340"/>
                <a:gd name="T33" fmla="*/ 90 h 238"/>
                <a:gd name="T34" fmla="*/ 133 w 340"/>
                <a:gd name="T35" fmla="*/ 90 h 238"/>
                <a:gd name="T36" fmla="*/ 4 w 340"/>
                <a:gd name="T37" fmla="*/ 219 h 238"/>
                <a:gd name="T38" fmla="*/ 4 w 340"/>
                <a:gd name="T39" fmla="*/ 234 h 238"/>
                <a:gd name="T40" fmla="*/ 20 w 340"/>
                <a:gd name="T41" fmla="*/ 2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238">
                  <a:moveTo>
                    <a:pt x="20" y="234"/>
                  </a:moveTo>
                  <a:cubicBezTo>
                    <a:pt x="140" y="113"/>
                    <a:pt x="140" y="113"/>
                    <a:pt x="140" y="113"/>
                  </a:cubicBezTo>
                  <a:cubicBezTo>
                    <a:pt x="183" y="156"/>
                    <a:pt x="183" y="156"/>
                    <a:pt x="183" y="156"/>
                  </a:cubicBezTo>
                  <a:cubicBezTo>
                    <a:pt x="188" y="160"/>
                    <a:pt x="195" y="160"/>
                    <a:pt x="199" y="156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64"/>
                    <a:pt x="318" y="64"/>
                    <a:pt x="318" y="64"/>
                  </a:cubicBezTo>
                  <a:cubicBezTo>
                    <a:pt x="318" y="70"/>
                    <a:pt x="323" y="75"/>
                    <a:pt x="329" y="75"/>
                  </a:cubicBezTo>
                  <a:cubicBezTo>
                    <a:pt x="335" y="75"/>
                    <a:pt x="340" y="70"/>
                    <a:pt x="340" y="64"/>
                  </a:cubicBezTo>
                  <a:cubicBezTo>
                    <a:pt x="340" y="11"/>
                    <a:pt x="340" y="11"/>
                    <a:pt x="340" y="11"/>
                  </a:cubicBezTo>
                  <a:cubicBezTo>
                    <a:pt x="340" y="8"/>
                    <a:pt x="339" y="5"/>
                    <a:pt x="337" y="3"/>
                  </a:cubicBezTo>
                  <a:cubicBezTo>
                    <a:pt x="335" y="1"/>
                    <a:pt x="332" y="0"/>
                    <a:pt x="329" y="0"/>
                  </a:cubicBezTo>
                  <a:cubicBezTo>
                    <a:pt x="276" y="0"/>
                    <a:pt x="276" y="0"/>
                    <a:pt x="276" y="0"/>
                  </a:cubicBezTo>
                  <a:cubicBezTo>
                    <a:pt x="270" y="0"/>
                    <a:pt x="265" y="4"/>
                    <a:pt x="265" y="11"/>
                  </a:cubicBezTo>
                  <a:cubicBezTo>
                    <a:pt x="265" y="17"/>
                    <a:pt x="270" y="22"/>
                    <a:pt x="276" y="22"/>
                  </a:cubicBezTo>
                  <a:cubicBezTo>
                    <a:pt x="302" y="22"/>
                    <a:pt x="302" y="22"/>
                    <a:pt x="302" y="22"/>
                  </a:cubicBezTo>
                  <a:cubicBezTo>
                    <a:pt x="191" y="133"/>
                    <a:pt x="191" y="133"/>
                    <a:pt x="191" y="133"/>
                  </a:cubicBezTo>
                  <a:cubicBezTo>
                    <a:pt x="148" y="90"/>
                    <a:pt x="148" y="90"/>
                    <a:pt x="148" y="90"/>
                  </a:cubicBezTo>
                  <a:cubicBezTo>
                    <a:pt x="144" y="86"/>
                    <a:pt x="137" y="86"/>
                    <a:pt x="133" y="90"/>
                  </a:cubicBezTo>
                  <a:cubicBezTo>
                    <a:pt x="4" y="219"/>
                    <a:pt x="4" y="219"/>
                    <a:pt x="4" y="219"/>
                  </a:cubicBezTo>
                  <a:cubicBezTo>
                    <a:pt x="0" y="223"/>
                    <a:pt x="0" y="230"/>
                    <a:pt x="4" y="234"/>
                  </a:cubicBezTo>
                  <a:cubicBezTo>
                    <a:pt x="8" y="238"/>
                    <a:pt x="15" y="238"/>
                    <a:pt x="20" y="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3" grpId="0" animBg="1"/>
      <p:bldP spid="443397" grpId="0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5"/>
          <p:cNvSpPr>
            <a:spLocks noChangeArrowheads="1"/>
          </p:cNvSpPr>
          <p:nvPr/>
        </p:nvSpPr>
        <p:spPr bwMode="auto">
          <a:xfrm>
            <a:off x="4763" y="1835150"/>
            <a:ext cx="9144000" cy="41862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）输入输出语句形式有：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输入语句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scanf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输出语句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cout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printf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）扩展函数有：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求最大值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max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求最小值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min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844550" y="260350"/>
            <a:ext cx="6400800" cy="457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抽象数据类型的表示与实现</a:t>
            </a:r>
          </a:p>
        </p:txBody>
      </p:sp>
      <p:grpSp>
        <p:nvGrpSpPr>
          <p:cNvPr id="57348" name="组合 7"/>
          <p:cNvGrpSpPr/>
          <p:nvPr/>
        </p:nvGrpSpPr>
        <p:grpSpPr>
          <a:xfrm>
            <a:off x="0" y="5557838"/>
            <a:ext cx="9144000" cy="376237"/>
            <a:chOff x="4882008" y="5373216"/>
            <a:chExt cx="3925887" cy="376238"/>
          </a:xfrm>
        </p:grpSpPr>
        <p:sp>
          <p:nvSpPr>
            <p:cNvPr id="57350" name="矩形 1"/>
            <p:cNvSpPr/>
            <p:nvPr/>
          </p:nvSpPr>
          <p:spPr>
            <a:xfrm>
              <a:off x="4882008" y="5676429"/>
              <a:ext cx="3925887" cy="730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57351" name="矩形 10"/>
            <p:cNvSpPr/>
            <p:nvPr/>
          </p:nvSpPr>
          <p:spPr>
            <a:xfrm>
              <a:off x="4882008" y="5530379"/>
              <a:ext cx="3925887" cy="714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57352" name="矩形 11"/>
            <p:cNvSpPr/>
            <p:nvPr/>
          </p:nvSpPr>
          <p:spPr>
            <a:xfrm>
              <a:off x="4882008" y="5373216"/>
              <a:ext cx="3925887" cy="7143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lvl="0" indent="-34290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435554" y="4958321"/>
            <a:ext cx="708446" cy="607167"/>
            <a:chOff x="3546346" y="2339026"/>
            <a:chExt cx="897787" cy="769842"/>
          </a:xfrm>
          <a:solidFill>
            <a:srgbClr val="6C4C8F"/>
          </a:solidFill>
        </p:grpSpPr>
        <p:sp>
          <p:nvSpPr>
            <p:cNvPr id="13" name="Rectangle 227"/>
            <p:cNvSpPr>
              <a:spLocks noChangeArrowheads="1"/>
            </p:cNvSpPr>
            <p:nvPr/>
          </p:nvSpPr>
          <p:spPr bwMode="auto">
            <a:xfrm>
              <a:off x="3561526" y="3077423"/>
              <a:ext cx="882607" cy="314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4" name="Freeform 228"/>
            <p:cNvSpPr/>
            <p:nvPr/>
          </p:nvSpPr>
          <p:spPr bwMode="auto">
            <a:xfrm>
              <a:off x="3617909" y="2844302"/>
              <a:ext cx="125777" cy="210351"/>
            </a:xfrm>
            <a:custGeom>
              <a:avLst/>
              <a:gdLst>
                <a:gd name="T0" fmla="*/ 6 w 49"/>
                <a:gd name="T1" fmla="*/ 82 h 82"/>
                <a:gd name="T2" fmla="*/ 43 w 49"/>
                <a:gd name="T3" fmla="*/ 82 h 82"/>
                <a:gd name="T4" fmla="*/ 49 w 49"/>
                <a:gd name="T5" fmla="*/ 76 h 82"/>
                <a:gd name="T6" fmla="*/ 49 w 49"/>
                <a:gd name="T7" fmla="*/ 0 h 82"/>
                <a:gd name="T8" fmla="*/ 0 w 49"/>
                <a:gd name="T9" fmla="*/ 49 h 82"/>
                <a:gd name="T10" fmla="*/ 0 w 49"/>
                <a:gd name="T11" fmla="*/ 76 h 82"/>
                <a:gd name="T12" fmla="*/ 6 w 49"/>
                <a:gd name="T1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82">
                  <a:moveTo>
                    <a:pt x="6" y="82"/>
                  </a:moveTo>
                  <a:cubicBezTo>
                    <a:pt x="43" y="82"/>
                    <a:pt x="43" y="82"/>
                    <a:pt x="43" y="82"/>
                  </a:cubicBezTo>
                  <a:cubicBezTo>
                    <a:pt x="46" y="82"/>
                    <a:pt x="49" y="79"/>
                    <a:pt x="49" y="7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3" y="82"/>
                    <a:pt x="6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5" name="Freeform 229"/>
            <p:cNvSpPr/>
            <p:nvPr/>
          </p:nvSpPr>
          <p:spPr bwMode="auto">
            <a:xfrm>
              <a:off x="3779467" y="2682744"/>
              <a:ext cx="122524" cy="371910"/>
            </a:xfrm>
            <a:custGeom>
              <a:avLst/>
              <a:gdLst>
                <a:gd name="T0" fmla="*/ 5 w 48"/>
                <a:gd name="T1" fmla="*/ 145 h 145"/>
                <a:gd name="T2" fmla="*/ 43 w 48"/>
                <a:gd name="T3" fmla="*/ 145 h 145"/>
                <a:gd name="T4" fmla="*/ 48 w 48"/>
                <a:gd name="T5" fmla="*/ 139 h 145"/>
                <a:gd name="T6" fmla="*/ 48 w 48"/>
                <a:gd name="T7" fmla="*/ 0 h 145"/>
                <a:gd name="T8" fmla="*/ 0 w 48"/>
                <a:gd name="T9" fmla="*/ 49 h 145"/>
                <a:gd name="T10" fmla="*/ 0 w 48"/>
                <a:gd name="T11" fmla="*/ 139 h 145"/>
                <a:gd name="T12" fmla="*/ 5 w 48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5">
                  <a:moveTo>
                    <a:pt x="5" y="145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6" y="145"/>
                    <a:pt x="48" y="142"/>
                    <a:pt x="48" y="139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2"/>
                    <a:pt x="2" y="145"/>
                    <a:pt x="5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6" name="Freeform 230"/>
            <p:cNvSpPr/>
            <p:nvPr/>
          </p:nvSpPr>
          <p:spPr bwMode="auto">
            <a:xfrm>
              <a:off x="3938857" y="2713104"/>
              <a:ext cx="124693" cy="341550"/>
            </a:xfrm>
            <a:custGeom>
              <a:avLst/>
              <a:gdLst>
                <a:gd name="T0" fmla="*/ 22 w 49"/>
                <a:gd name="T1" fmla="*/ 22 h 133"/>
                <a:gd name="T2" fmla="*/ 0 w 49"/>
                <a:gd name="T3" fmla="*/ 0 h 133"/>
                <a:gd name="T4" fmla="*/ 0 w 49"/>
                <a:gd name="T5" fmla="*/ 127 h 133"/>
                <a:gd name="T6" fmla="*/ 6 w 49"/>
                <a:gd name="T7" fmla="*/ 133 h 133"/>
                <a:gd name="T8" fmla="*/ 43 w 49"/>
                <a:gd name="T9" fmla="*/ 133 h 133"/>
                <a:gd name="T10" fmla="*/ 49 w 49"/>
                <a:gd name="T11" fmla="*/ 127 h 133"/>
                <a:gd name="T12" fmla="*/ 49 w 49"/>
                <a:gd name="T13" fmla="*/ 26 h 133"/>
                <a:gd name="T14" fmla="*/ 38 w 49"/>
                <a:gd name="T15" fmla="*/ 29 h 133"/>
                <a:gd name="T16" fmla="*/ 22 w 49"/>
                <a:gd name="T17" fmla="*/ 2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133">
                  <a:moveTo>
                    <a:pt x="22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0"/>
                    <a:pt x="3" y="133"/>
                    <a:pt x="6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6" y="133"/>
                    <a:pt x="49" y="130"/>
                    <a:pt x="49" y="127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6" y="28"/>
                    <a:pt x="42" y="29"/>
                    <a:pt x="38" y="29"/>
                  </a:cubicBezTo>
                  <a:cubicBezTo>
                    <a:pt x="32" y="29"/>
                    <a:pt x="27" y="26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7" name="Freeform 231"/>
            <p:cNvSpPr/>
            <p:nvPr/>
          </p:nvSpPr>
          <p:spPr bwMode="auto">
            <a:xfrm>
              <a:off x="4100415" y="2624193"/>
              <a:ext cx="122524" cy="430461"/>
            </a:xfrm>
            <a:custGeom>
              <a:avLst/>
              <a:gdLst>
                <a:gd name="T0" fmla="*/ 5 w 48"/>
                <a:gd name="T1" fmla="*/ 168 h 168"/>
                <a:gd name="T2" fmla="*/ 43 w 48"/>
                <a:gd name="T3" fmla="*/ 168 h 168"/>
                <a:gd name="T4" fmla="*/ 48 w 48"/>
                <a:gd name="T5" fmla="*/ 162 h 168"/>
                <a:gd name="T6" fmla="*/ 48 w 48"/>
                <a:gd name="T7" fmla="*/ 0 h 168"/>
                <a:gd name="T8" fmla="*/ 0 w 48"/>
                <a:gd name="T9" fmla="*/ 48 h 168"/>
                <a:gd name="T10" fmla="*/ 0 w 48"/>
                <a:gd name="T11" fmla="*/ 162 h 168"/>
                <a:gd name="T12" fmla="*/ 5 w 48"/>
                <a:gd name="T1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68">
                  <a:moveTo>
                    <a:pt x="5" y="168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46" y="168"/>
                    <a:pt x="48" y="165"/>
                    <a:pt x="48" y="16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5"/>
                    <a:pt x="2" y="168"/>
                    <a:pt x="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8" name="Freeform 232"/>
            <p:cNvSpPr/>
            <p:nvPr/>
          </p:nvSpPr>
          <p:spPr bwMode="auto">
            <a:xfrm>
              <a:off x="4258721" y="2513596"/>
              <a:ext cx="125777" cy="541058"/>
            </a:xfrm>
            <a:custGeom>
              <a:avLst/>
              <a:gdLst>
                <a:gd name="T0" fmla="*/ 29 w 49"/>
                <a:gd name="T1" fmla="*/ 0 h 211"/>
                <a:gd name="T2" fmla="*/ 0 w 49"/>
                <a:gd name="T3" fmla="*/ 29 h 211"/>
                <a:gd name="T4" fmla="*/ 0 w 49"/>
                <a:gd name="T5" fmla="*/ 205 h 211"/>
                <a:gd name="T6" fmla="*/ 6 w 49"/>
                <a:gd name="T7" fmla="*/ 211 h 211"/>
                <a:gd name="T8" fmla="*/ 43 w 49"/>
                <a:gd name="T9" fmla="*/ 211 h 211"/>
                <a:gd name="T10" fmla="*/ 49 w 49"/>
                <a:gd name="T11" fmla="*/ 205 h 211"/>
                <a:gd name="T12" fmla="*/ 49 w 49"/>
                <a:gd name="T13" fmla="*/ 22 h 211"/>
                <a:gd name="T14" fmla="*/ 29 w 49"/>
                <a:gd name="T1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11">
                  <a:moveTo>
                    <a:pt x="29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08"/>
                    <a:pt x="3" y="211"/>
                    <a:pt x="6" y="211"/>
                  </a:cubicBezTo>
                  <a:cubicBezTo>
                    <a:pt x="43" y="211"/>
                    <a:pt x="43" y="211"/>
                    <a:pt x="43" y="211"/>
                  </a:cubicBezTo>
                  <a:cubicBezTo>
                    <a:pt x="46" y="211"/>
                    <a:pt x="49" y="208"/>
                    <a:pt x="49" y="205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8" y="21"/>
                    <a:pt x="29" y="1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9" name="Freeform 233"/>
            <p:cNvSpPr/>
            <p:nvPr/>
          </p:nvSpPr>
          <p:spPr bwMode="auto">
            <a:xfrm>
              <a:off x="3546346" y="2339026"/>
              <a:ext cx="871764" cy="610452"/>
            </a:xfrm>
            <a:custGeom>
              <a:avLst/>
              <a:gdLst>
                <a:gd name="T0" fmla="*/ 20 w 340"/>
                <a:gd name="T1" fmla="*/ 234 h 238"/>
                <a:gd name="T2" fmla="*/ 140 w 340"/>
                <a:gd name="T3" fmla="*/ 113 h 238"/>
                <a:gd name="T4" fmla="*/ 183 w 340"/>
                <a:gd name="T5" fmla="*/ 156 h 238"/>
                <a:gd name="T6" fmla="*/ 199 w 340"/>
                <a:gd name="T7" fmla="*/ 156 h 238"/>
                <a:gd name="T8" fmla="*/ 318 w 340"/>
                <a:gd name="T9" fmla="*/ 37 h 238"/>
                <a:gd name="T10" fmla="*/ 318 w 340"/>
                <a:gd name="T11" fmla="*/ 64 h 238"/>
                <a:gd name="T12" fmla="*/ 329 w 340"/>
                <a:gd name="T13" fmla="*/ 75 h 238"/>
                <a:gd name="T14" fmla="*/ 340 w 340"/>
                <a:gd name="T15" fmla="*/ 64 h 238"/>
                <a:gd name="T16" fmla="*/ 340 w 340"/>
                <a:gd name="T17" fmla="*/ 11 h 238"/>
                <a:gd name="T18" fmla="*/ 337 w 340"/>
                <a:gd name="T19" fmla="*/ 3 h 238"/>
                <a:gd name="T20" fmla="*/ 329 w 340"/>
                <a:gd name="T21" fmla="*/ 0 h 238"/>
                <a:gd name="T22" fmla="*/ 276 w 340"/>
                <a:gd name="T23" fmla="*/ 0 h 238"/>
                <a:gd name="T24" fmla="*/ 265 w 340"/>
                <a:gd name="T25" fmla="*/ 11 h 238"/>
                <a:gd name="T26" fmla="*/ 276 w 340"/>
                <a:gd name="T27" fmla="*/ 22 h 238"/>
                <a:gd name="T28" fmla="*/ 302 w 340"/>
                <a:gd name="T29" fmla="*/ 22 h 238"/>
                <a:gd name="T30" fmla="*/ 191 w 340"/>
                <a:gd name="T31" fmla="*/ 133 h 238"/>
                <a:gd name="T32" fmla="*/ 148 w 340"/>
                <a:gd name="T33" fmla="*/ 90 h 238"/>
                <a:gd name="T34" fmla="*/ 133 w 340"/>
                <a:gd name="T35" fmla="*/ 90 h 238"/>
                <a:gd name="T36" fmla="*/ 4 w 340"/>
                <a:gd name="T37" fmla="*/ 219 h 238"/>
                <a:gd name="T38" fmla="*/ 4 w 340"/>
                <a:gd name="T39" fmla="*/ 234 h 238"/>
                <a:gd name="T40" fmla="*/ 20 w 340"/>
                <a:gd name="T41" fmla="*/ 2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238">
                  <a:moveTo>
                    <a:pt x="20" y="234"/>
                  </a:moveTo>
                  <a:cubicBezTo>
                    <a:pt x="140" y="113"/>
                    <a:pt x="140" y="113"/>
                    <a:pt x="140" y="113"/>
                  </a:cubicBezTo>
                  <a:cubicBezTo>
                    <a:pt x="183" y="156"/>
                    <a:pt x="183" y="156"/>
                    <a:pt x="183" y="156"/>
                  </a:cubicBezTo>
                  <a:cubicBezTo>
                    <a:pt x="188" y="160"/>
                    <a:pt x="195" y="160"/>
                    <a:pt x="199" y="156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64"/>
                    <a:pt x="318" y="64"/>
                    <a:pt x="318" y="64"/>
                  </a:cubicBezTo>
                  <a:cubicBezTo>
                    <a:pt x="318" y="70"/>
                    <a:pt x="323" y="75"/>
                    <a:pt x="329" y="75"/>
                  </a:cubicBezTo>
                  <a:cubicBezTo>
                    <a:pt x="335" y="75"/>
                    <a:pt x="340" y="70"/>
                    <a:pt x="340" y="64"/>
                  </a:cubicBezTo>
                  <a:cubicBezTo>
                    <a:pt x="340" y="11"/>
                    <a:pt x="340" y="11"/>
                    <a:pt x="340" y="11"/>
                  </a:cubicBezTo>
                  <a:cubicBezTo>
                    <a:pt x="340" y="8"/>
                    <a:pt x="339" y="5"/>
                    <a:pt x="337" y="3"/>
                  </a:cubicBezTo>
                  <a:cubicBezTo>
                    <a:pt x="335" y="1"/>
                    <a:pt x="332" y="0"/>
                    <a:pt x="329" y="0"/>
                  </a:cubicBezTo>
                  <a:cubicBezTo>
                    <a:pt x="276" y="0"/>
                    <a:pt x="276" y="0"/>
                    <a:pt x="276" y="0"/>
                  </a:cubicBezTo>
                  <a:cubicBezTo>
                    <a:pt x="270" y="0"/>
                    <a:pt x="265" y="4"/>
                    <a:pt x="265" y="11"/>
                  </a:cubicBezTo>
                  <a:cubicBezTo>
                    <a:pt x="265" y="17"/>
                    <a:pt x="270" y="22"/>
                    <a:pt x="276" y="22"/>
                  </a:cubicBezTo>
                  <a:cubicBezTo>
                    <a:pt x="302" y="22"/>
                    <a:pt x="302" y="22"/>
                    <a:pt x="302" y="22"/>
                  </a:cubicBezTo>
                  <a:cubicBezTo>
                    <a:pt x="191" y="133"/>
                    <a:pt x="191" y="133"/>
                    <a:pt x="191" y="133"/>
                  </a:cubicBezTo>
                  <a:cubicBezTo>
                    <a:pt x="148" y="90"/>
                    <a:pt x="148" y="90"/>
                    <a:pt x="148" y="90"/>
                  </a:cubicBezTo>
                  <a:cubicBezTo>
                    <a:pt x="144" y="86"/>
                    <a:pt x="137" y="86"/>
                    <a:pt x="133" y="90"/>
                  </a:cubicBezTo>
                  <a:cubicBezTo>
                    <a:pt x="4" y="219"/>
                    <a:pt x="4" y="219"/>
                    <a:pt x="4" y="219"/>
                  </a:cubicBezTo>
                  <a:cubicBezTo>
                    <a:pt x="0" y="223"/>
                    <a:pt x="0" y="230"/>
                    <a:pt x="4" y="234"/>
                  </a:cubicBezTo>
                  <a:cubicBezTo>
                    <a:pt x="8" y="238"/>
                    <a:pt x="15" y="238"/>
                    <a:pt x="20" y="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327275" y="4521200"/>
            <a:ext cx="5199063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382713" y="4521200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dist" defTabSz="914400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目录导航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01775" y="2776538"/>
            <a:ext cx="720725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1.1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1.2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1.3</a:t>
            </a:r>
            <a:endParaRPr kumimoji="0" lang="zh-CN" altLang="en-US" sz="2400" kern="1200" cap="none" spc="0" normalizeH="0" baseline="0" noProof="0" dirty="0">
              <a:latin typeface="+mn-lt"/>
              <a:ea typeface="+mn-ea"/>
              <a:cs typeface="+mn-ea"/>
              <a:sym typeface="+mn-lt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1.4</a:t>
            </a:r>
            <a:endParaRPr kumimoji="0" lang="zh-CN" altLang="en-US" sz="2400" kern="1200" cap="none" spc="0" normalizeH="0" baseline="0" noProof="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39975" y="2776538"/>
            <a:ext cx="4129088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数据结构的研究内容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基本概念和术语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lt"/>
                <a:ea typeface="+mn-ea"/>
                <a:cs typeface="+mn-ea"/>
                <a:sym typeface="+mn-lt"/>
              </a:rPr>
              <a:t>抽象数据类型的表示与实现 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算法与算法分析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104900" y="1892300"/>
            <a:ext cx="2808288" cy="3656013"/>
            <a:chOff x="8988322" y="1808820"/>
            <a:chExt cx="3242376" cy="4220722"/>
          </a:xfrm>
        </p:grpSpPr>
        <p:sp>
          <p:nvSpPr>
            <p:cNvPr id="21" name="íślíḋè-圆角矩形 46"/>
            <p:cNvSpPr/>
            <p:nvPr/>
          </p:nvSpPr>
          <p:spPr>
            <a:xfrm>
              <a:off x="8988322" y="1808820"/>
              <a:ext cx="3242376" cy="4220722"/>
            </a:xfrm>
            <a:prstGeom prst="roundRect">
              <a:avLst>
                <a:gd name="adj" fmla="val 3485"/>
              </a:avLst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íślíḋè-任意多边形 47"/>
            <p:cNvSpPr/>
            <p:nvPr/>
          </p:nvSpPr>
          <p:spPr>
            <a:xfrm>
              <a:off x="8988322" y="2734337"/>
              <a:ext cx="3242376" cy="3165082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íślíḋè-文本框 48"/>
            <p:cNvSpPr txBox="1"/>
            <p:nvPr/>
          </p:nvSpPr>
          <p:spPr>
            <a:xfrm>
              <a:off x="10229186" y="2453932"/>
              <a:ext cx="755149" cy="707424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kern="0" cap="none" spc="0" normalizeH="0" baseline="0" noProof="0" dirty="0">
                  <a:solidFill>
                    <a:srgbClr val="EEECE1"/>
                  </a:solidFill>
                  <a:latin typeface="Calibri" panose="020F0502020204030204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5" name="íślíḋè-任意多边形 50"/>
            <p:cNvSpPr/>
            <p:nvPr/>
          </p:nvSpPr>
          <p:spPr>
            <a:xfrm>
              <a:off x="10401478" y="5287296"/>
              <a:ext cx="460054" cy="445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4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4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795838" y="1890713"/>
            <a:ext cx="2844800" cy="3656012"/>
            <a:chOff x="8988319" y="1808820"/>
            <a:chExt cx="3283944" cy="4220722"/>
          </a:xfrm>
        </p:grpSpPr>
        <p:sp>
          <p:nvSpPr>
            <p:cNvPr id="27" name="íślíḋè-圆角矩形 41"/>
            <p:cNvSpPr/>
            <p:nvPr/>
          </p:nvSpPr>
          <p:spPr>
            <a:xfrm>
              <a:off x="8988319" y="1808820"/>
              <a:ext cx="3283944" cy="4220722"/>
            </a:xfrm>
            <a:prstGeom prst="roundRect">
              <a:avLst>
                <a:gd name="adj" fmla="val 3485"/>
              </a:avLst>
            </a:prstGeom>
            <a:solidFill>
              <a:srgbClr val="4BACC6">
                <a:lumMod val="10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íślíḋè-任意多边形 42"/>
            <p:cNvSpPr/>
            <p:nvPr/>
          </p:nvSpPr>
          <p:spPr>
            <a:xfrm>
              <a:off x="8988319" y="2734336"/>
              <a:ext cx="3283944" cy="3165084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íślíḋè-文本框 43"/>
            <p:cNvSpPr txBox="1"/>
            <p:nvPr/>
          </p:nvSpPr>
          <p:spPr>
            <a:xfrm>
              <a:off x="10247286" y="2453933"/>
              <a:ext cx="777005" cy="707425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kern="0" cap="none" spc="0" normalizeH="0" baseline="0" noProof="0" dirty="0">
                  <a:solidFill>
                    <a:srgbClr val="EEECE1"/>
                  </a:solidFill>
                  <a:latin typeface="Calibri" panose="020F0502020204030204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1" name="íślíḋè-任意多边形 45"/>
            <p:cNvSpPr/>
            <p:nvPr/>
          </p:nvSpPr>
          <p:spPr>
            <a:xfrm>
              <a:off x="10472691" y="5331281"/>
              <a:ext cx="459971" cy="456343"/>
            </a:xfrm>
            <a:custGeom>
              <a:avLst/>
              <a:gdLst>
                <a:gd name="connsiteX0" fmla="*/ 173038 w 331788"/>
                <a:gd name="connsiteY0" fmla="*/ 204788 h 330200"/>
                <a:gd name="connsiteX1" fmla="*/ 185738 w 331788"/>
                <a:gd name="connsiteY1" fmla="*/ 215901 h 330200"/>
                <a:gd name="connsiteX2" fmla="*/ 173038 w 331788"/>
                <a:gd name="connsiteY2" fmla="*/ 227014 h 330200"/>
                <a:gd name="connsiteX3" fmla="*/ 160338 w 331788"/>
                <a:gd name="connsiteY3" fmla="*/ 215901 h 330200"/>
                <a:gd name="connsiteX4" fmla="*/ 173038 w 331788"/>
                <a:gd name="connsiteY4" fmla="*/ 204788 h 330200"/>
                <a:gd name="connsiteX5" fmla="*/ 169690 w 331788"/>
                <a:gd name="connsiteY5" fmla="*/ 184150 h 330200"/>
                <a:gd name="connsiteX6" fmla="*/ 165860 w 331788"/>
                <a:gd name="connsiteY6" fmla="*/ 188084 h 330200"/>
                <a:gd name="connsiteX7" fmla="*/ 165860 w 331788"/>
                <a:gd name="connsiteY7" fmla="*/ 192019 h 330200"/>
                <a:gd name="connsiteX8" fmla="*/ 160752 w 331788"/>
                <a:gd name="connsiteY8" fmla="*/ 194642 h 330200"/>
                <a:gd name="connsiteX9" fmla="*/ 158198 w 331788"/>
                <a:gd name="connsiteY9" fmla="*/ 192019 h 330200"/>
                <a:gd name="connsiteX10" fmla="*/ 154367 w 331788"/>
                <a:gd name="connsiteY10" fmla="*/ 192019 h 330200"/>
                <a:gd name="connsiteX11" fmla="*/ 149260 w 331788"/>
                <a:gd name="connsiteY11" fmla="*/ 197264 h 330200"/>
                <a:gd name="connsiteX12" fmla="*/ 149260 w 331788"/>
                <a:gd name="connsiteY12" fmla="*/ 201199 h 330200"/>
                <a:gd name="connsiteX13" fmla="*/ 153091 w 331788"/>
                <a:gd name="connsiteY13" fmla="*/ 203821 h 330200"/>
                <a:gd name="connsiteX14" fmla="*/ 150537 w 331788"/>
                <a:gd name="connsiteY14" fmla="*/ 211690 h 330200"/>
                <a:gd name="connsiteX15" fmla="*/ 145429 w 331788"/>
                <a:gd name="connsiteY15" fmla="*/ 211690 h 330200"/>
                <a:gd name="connsiteX16" fmla="*/ 142875 w 331788"/>
                <a:gd name="connsiteY16" fmla="*/ 211690 h 330200"/>
                <a:gd name="connsiteX17" fmla="*/ 142875 w 331788"/>
                <a:gd name="connsiteY17" fmla="*/ 219558 h 330200"/>
                <a:gd name="connsiteX18" fmla="*/ 145429 w 331788"/>
                <a:gd name="connsiteY18" fmla="*/ 222181 h 330200"/>
                <a:gd name="connsiteX19" fmla="*/ 150537 w 331788"/>
                <a:gd name="connsiteY19" fmla="*/ 222181 h 330200"/>
                <a:gd name="connsiteX20" fmla="*/ 153091 w 331788"/>
                <a:gd name="connsiteY20" fmla="*/ 227427 h 330200"/>
                <a:gd name="connsiteX21" fmla="*/ 149260 w 331788"/>
                <a:gd name="connsiteY21" fmla="*/ 231361 h 330200"/>
                <a:gd name="connsiteX22" fmla="*/ 149260 w 331788"/>
                <a:gd name="connsiteY22" fmla="*/ 235295 h 330200"/>
                <a:gd name="connsiteX23" fmla="*/ 154367 w 331788"/>
                <a:gd name="connsiteY23" fmla="*/ 239230 h 330200"/>
                <a:gd name="connsiteX24" fmla="*/ 158198 w 331788"/>
                <a:gd name="connsiteY24" fmla="*/ 239230 h 330200"/>
                <a:gd name="connsiteX25" fmla="*/ 160752 w 331788"/>
                <a:gd name="connsiteY25" fmla="*/ 236607 h 330200"/>
                <a:gd name="connsiteX26" fmla="*/ 165860 w 331788"/>
                <a:gd name="connsiteY26" fmla="*/ 239230 h 330200"/>
                <a:gd name="connsiteX27" fmla="*/ 165860 w 331788"/>
                <a:gd name="connsiteY27" fmla="*/ 243164 h 330200"/>
                <a:gd name="connsiteX28" fmla="*/ 169690 w 331788"/>
                <a:gd name="connsiteY28" fmla="*/ 244475 h 330200"/>
                <a:gd name="connsiteX29" fmla="*/ 176075 w 331788"/>
                <a:gd name="connsiteY29" fmla="*/ 244475 h 330200"/>
                <a:gd name="connsiteX30" fmla="*/ 178629 w 331788"/>
                <a:gd name="connsiteY30" fmla="*/ 243164 h 330200"/>
                <a:gd name="connsiteX31" fmla="*/ 178629 w 331788"/>
                <a:gd name="connsiteY31" fmla="*/ 239230 h 330200"/>
                <a:gd name="connsiteX32" fmla="*/ 185013 w 331788"/>
                <a:gd name="connsiteY32" fmla="*/ 236607 h 330200"/>
                <a:gd name="connsiteX33" fmla="*/ 187567 w 331788"/>
                <a:gd name="connsiteY33" fmla="*/ 239230 h 330200"/>
                <a:gd name="connsiteX34" fmla="*/ 191398 w 331788"/>
                <a:gd name="connsiteY34" fmla="*/ 239230 h 330200"/>
                <a:gd name="connsiteX35" fmla="*/ 196506 w 331788"/>
                <a:gd name="connsiteY35" fmla="*/ 233984 h 330200"/>
                <a:gd name="connsiteX36" fmla="*/ 196506 w 331788"/>
                <a:gd name="connsiteY36" fmla="*/ 231361 h 330200"/>
                <a:gd name="connsiteX37" fmla="*/ 192675 w 331788"/>
                <a:gd name="connsiteY37" fmla="*/ 227427 h 330200"/>
                <a:gd name="connsiteX38" fmla="*/ 195229 w 331788"/>
                <a:gd name="connsiteY38" fmla="*/ 222181 h 330200"/>
                <a:gd name="connsiteX39" fmla="*/ 200336 w 331788"/>
                <a:gd name="connsiteY39" fmla="*/ 222181 h 330200"/>
                <a:gd name="connsiteX40" fmla="*/ 201613 w 331788"/>
                <a:gd name="connsiteY40" fmla="*/ 219558 h 330200"/>
                <a:gd name="connsiteX41" fmla="*/ 201613 w 331788"/>
                <a:gd name="connsiteY41" fmla="*/ 211690 h 330200"/>
                <a:gd name="connsiteX42" fmla="*/ 200336 w 331788"/>
                <a:gd name="connsiteY42" fmla="*/ 211690 h 330200"/>
                <a:gd name="connsiteX43" fmla="*/ 195229 w 331788"/>
                <a:gd name="connsiteY43" fmla="*/ 211690 h 330200"/>
                <a:gd name="connsiteX44" fmla="*/ 192675 w 331788"/>
                <a:gd name="connsiteY44" fmla="*/ 203821 h 330200"/>
                <a:gd name="connsiteX45" fmla="*/ 196506 w 331788"/>
                <a:gd name="connsiteY45" fmla="*/ 199887 h 330200"/>
                <a:gd name="connsiteX46" fmla="*/ 196506 w 331788"/>
                <a:gd name="connsiteY46" fmla="*/ 197264 h 330200"/>
                <a:gd name="connsiteX47" fmla="*/ 191398 w 331788"/>
                <a:gd name="connsiteY47" fmla="*/ 192019 h 330200"/>
                <a:gd name="connsiteX48" fmla="*/ 187567 w 331788"/>
                <a:gd name="connsiteY48" fmla="*/ 192019 h 330200"/>
                <a:gd name="connsiteX49" fmla="*/ 185013 w 331788"/>
                <a:gd name="connsiteY49" fmla="*/ 194642 h 330200"/>
                <a:gd name="connsiteX50" fmla="*/ 178629 w 331788"/>
                <a:gd name="connsiteY50" fmla="*/ 192019 h 330200"/>
                <a:gd name="connsiteX51" fmla="*/ 178629 w 331788"/>
                <a:gd name="connsiteY51" fmla="*/ 188084 h 330200"/>
                <a:gd name="connsiteX52" fmla="*/ 176075 w 331788"/>
                <a:gd name="connsiteY52" fmla="*/ 184150 h 330200"/>
                <a:gd name="connsiteX53" fmla="*/ 169690 w 331788"/>
                <a:gd name="connsiteY53" fmla="*/ 184150 h 330200"/>
                <a:gd name="connsiteX54" fmla="*/ 123825 w 331788"/>
                <a:gd name="connsiteY54" fmla="*/ 165100 h 330200"/>
                <a:gd name="connsiteX55" fmla="*/ 123825 w 331788"/>
                <a:gd name="connsiteY55" fmla="*/ 176213 h 330200"/>
                <a:gd name="connsiteX56" fmla="*/ 223838 w 331788"/>
                <a:gd name="connsiteY56" fmla="*/ 176213 h 330200"/>
                <a:gd name="connsiteX57" fmla="*/ 223838 w 331788"/>
                <a:gd name="connsiteY57" fmla="*/ 165100 h 330200"/>
                <a:gd name="connsiteX58" fmla="*/ 123825 w 331788"/>
                <a:gd name="connsiteY58" fmla="*/ 146050 h 330200"/>
                <a:gd name="connsiteX59" fmla="*/ 123825 w 331788"/>
                <a:gd name="connsiteY59" fmla="*/ 155575 h 330200"/>
                <a:gd name="connsiteX60" fmla="*/ 223838 w 331788"/>
                <a:gd name="connsiteY60" fmla="*/ 155575 h 330200"/>
                <a:gd name="connsiteX61" fmla="*/ 223838 w 331788"/>
                <a:gd name="connsiteY61" fmla="*/ 146050 h 330200"/>
                <a:gd name="connsiteX62" fmla="*/ 123825 w 331788"/>
                <a:gd name="connsiteY62" fmla="*/ 131763 h 330200"/>
                <a:gd name="connsiteX63" fmla="*/ 123825 w 331788"/>
                <a:gd name="connsiteY63" fmla="*/ 139701 h 330200"/>
                <a:gd name="connsiteX64" fmla="*/ 166688 w 331788"/>
                <a:gd name="connsiteY64" fmla="*/ 139701 h 330200"/>
                <a:gd name="connsiteX65" fmla="*/ 166688 w 331788"/>
                <a:gd name="connsiteY65" fmla="*/ 131763 h 330200"/>
                <a:gd name="connsiteX66" fmla="*/ 123825 w 331788"/>
                <a:gd name="connsiteY66" fmla="*/ 115888 h 330200"/>
                <a:gd name="connsiteX67" fmla="*/ 123825 w 331788"/>
                <a:gd name="connsiteY67" fmla="*/ 122238 h 330200"/>
                <a:gd name="connsiteX68" fmla="*/ 166688 w 331788"/>
                <a:gd name="connsiteY68" fmla="*/ 122238 h 330200"/>
                <a:gd name="connsiteX69" fmla="*/ 166688 w 331788"/>
                <a:gd name="connsiteY69" fmla="*/ 115888 h 330200"/>
                <a:gd name="connsiteX70" fmla="*/ 179388 w 331788"/>
                <a:gd name="connsiteY70" fmla="*/ 100013 h 330200"/>
                <a:gd name="connsiteX71" fmla="*/ 179388 w 331788"/>
                <a:gd name="connsiteY71" fmla="*/ 139701 h 330200"/>
                <a:gd name="connsiteX72" fmla="*/ 223838 w 331788"/>
                <a:gd name="connsiteY72" fmla="*/ 139701 h 330200"/>
                <a:gd name="connsiteX73" fmla="*/ 223838 w 331788"/>
                <a:gd name="connsiteY73" fmla="*/ 100013 h 330200"/>
                <a:gd name="connsiteX74" fmla="*/ 123825 w 331788"/>
                <a:gd name="connsiteY74" fmla="*/ 100013 h 330200"/>
                <a:gd name="connsiteX75" fmla="*/ 123825 w 331788"/>
                <a:gd name="connsiteY75" fmla="*/ 106363 h 330200"/>
                <a:gd name="connsiteX76" fmla="*/ 166688 w 331788"/>
                <a:gd name="connsiteY76" fmla="*/ 106363 h 330200"/>
                <a:gd name="connsiteX77" fmla="*/ 166688 w 331788"/>
                <a:gd name="connsiteY77" fmla="*/ 100013 h 330200"/>
                <a:gd name="connsiteX78" fmla="*/ 106363 w 331788"/>
                <a:gd name="connsiteY78" fmla="*/ 76200 h 330200"/>
                <a:gd name="connsiteX79" fmla="*/ 238126 w 331788"/>
                <a:gd name="connsiteY79" fmla="*/ 76200 h 330200"/>
                <a:gd name="connsiteX80" fmla="*/ 238126 w 331788"/>
                <a:gd name="connsiteY80" fmla="*/ 254000 h 330200"/>
                <a:gd name="connsiteX81" fmla="*/ 106363 w 331788"/>
                <a:gd name="connsiteY81" fmla="*/ 254000 h 330200"/>
                <a:gd name="connsiteX82" fmla="*/ 103296 w 331788"/>
                <a:gd name="connsiteY82" fmla="*/ 65088 h 330200"/>
                <a:gd name="connsiteX83" fmla="*/ 96838 w 331788"/>
                <a:gd name="connsiteY83" fmla="*/ 71583 h 330200"/>
                <a:gd name="connsiteX84" fmla="*/ 96838 w 331788"/>
                <a:gd name="connsiteY84" fmla="*/ 258619 h 330200"/>
                <a:gd name="connsiteX85" fmla="*/ 103296 w 331788"/>
                <a:gd name="connsiteY85" fmla="*/ 265113 h 330200"/>
                <a:gd name="connsiteX86" fmla="*/ 242781 w 331788"/>
                <a:gd name="connsiteY86" fmla="*/ 265113 h 330200"/>
                <a:gd name="connsiteX87" fmla="*/ 246655 w 331788"/>
                <a:gd name="connsiteY87" fmla="*/ 263814 h 330200"/>
                <a:gd name="connsiteX88" fmla="*/ 247947 w 331788"/>
                <a:gd name="connsiteY88" fmla="*/ 263814 h 330200"/>
                <a:gd name="connsiteX89" fmla="*/ 247947 w 331788"/>
                <a:gd name="connsiteY89" fmla="*/ 262516 h 330200"/>
                <a:gd name="connsiteX90" fmla="*/ 249238 w 331788"/>
                <a:gd name="connsiteY90" fmla="*/ 258619 h 330200"/>
                <a:gd name="connsiteX91" fmla="*/ 249238 w 331788"/>
                <a:gd name="connsiteY91" fmla="*/ 71583 h 330200"/>
                <a:gd name="connsiteX92" fmla="*/ 242781 w 331788"/>
                <a:gd name="connsiteY92" fmla="*/ 65088 h 330200"/>
                <a:gd name="connsiteX93" fmla="*/ 103296 w 331788"/>
                <a:gd name="connsiteY93" fmla="*/ 65088 h 330200"/>
                <a:gd name="connsiteX94" fmla="*/ 165894 w 331788"/>
                <a:gd name="connsiteY94" fmla="*/ 0 h 330200"/>
                <a:gd name="connsiteX95" fmla="*/ 331788 w 331788"/>
                <a:gd name="connsiteY95" fmla="*/ 165100 h 330200"/>
                <a:gd name="connsiteX96" fmla="*/ 165894 w 331788"/>
                <a:gd name="connsiteY96" fmla="*/ 330200 h 330200"/>
                <a:gd name="connsiteX97" fmla="*/ 0 w 331788"/>
                <a:gd name="connsiteY97" fmla="*/ 165100 h 330200"/>
                <a:gd name="connsiteX98" fmla="*/ 165894 w 331788"/>
                <a:gd name="connsiteY98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31788" h="330200">
                  <a:moveTo>
                    <a:pt x="173038" y="204788"/>
                  </a:moveTo>
                  <a:cubicBezTo>
                    <a:pt x="180052" y="204788"/>
                    <a:pt x="185738" y="209763"/>
                    <a:pt x="185738" y="215901"/>
                  </a:cubicBezTo>
                  <a:cubicBezTo>
                    <a:pt x="185738" y="222039"/>
                    <a:pt x="180052" y="227014"/>
                    <a:pt x="173038" y="227014"/>
                  </a:cubicBezTo>
                  <a:cubicBezTo>
                    <a:pt x="166024" y="227014"/>
                    <a:pt x="160338" y="222039"/>
                    <a:pt x="160338" y="215901"/>
                  </a:cubicBezTo>
                  <a:cubicBezTo>
                    <a:pt x="160338" y="209763"/>
                    <a:pt x="166024" y="204788"/>
                    <a:pt x="173038" y="204788"/>
                  </a:cubicBezTo>
                  <a:close/>
                  <a:moveTo>
                    <a:pt x="169690" y="184150"/>
                  </a:moveTo>
                  <a:cubicBezTo>
                    <a:pt x="168414" y="184150"/>
                    <a:pt x="165860" y="186773"/>
                    <a:pt x="165860" y="188084"/>
                  </a:cubicBezTo>
                  <a:cubicBezTo>
                    <a:pt x="165860" y="188084"/>
                    <a:pt x="165860" y="188084"/>
                    <a:pt x="165860" y="192019"/>
                  </a:cubicBezTo>
                  <a:cubicBezTo>
                    <a:pt x="165860" y="193330"/>
                    <a:pt x="162029" y="193330"/>
                    <a:pt x="160752" y="194642"/>
                  </a:cubicBezTo>
                  <a:cubicBezTo>
                    <a:pt x="160752" y="194642"/>
                    <a:pt x="160752" y="194642"/>
                    <a:pt x="158198" y="192019"/>
                  </a:cubicBezTo>
                  <a:cubicBezTo>
                    <a:pt x="156921" y="190707"/>
                    <a:pt x="155644" y="190707"/>
                    <a:pt x="154367" y="192019"/>
                  </a:cubicBezTo>
                  <a:cubicBezTo>
                    <a:pt x="154367" y="192019"/>
                    <a:pt x="154367" y="192019"/>
                    <a:pt x="149260" y="197264"/>
                  </a:cubicBezTo>
                  <a:cubicBezTo>
                    <a:pt x="149260" y="198576"/>
                    <a:pt x="149260" y="199887"/>
                    <a:pt x="149260" y="201199"/>
                  </a:cubicBezTo>
                  <a:cubicBezTo>
                    <a:pt x="149260" y="201199"/>
                    <a:pt x="149260" y="201199"/>
                    <a:pt x="153091" y="203821"/>
                  </a:cubicBezTo>
                  <a:cubicBezTo>
                    <a:pt x="151814" y="206444"/>
                    <a:pt x="150537" y="207756"/>
                    <a:pt x="150537" y="211690"/>
                  </a:cubicBezTo>
                  <a:cubicBezTo>
                    <a:pt x="150537" y="211690"/>
                    <a:pt x="150537" y="211690"/>
                    <a:pt x="145429" y="211690"/>
                  </a:cubicBezTo>
                  <a:cubicBezTo>
                    <a:pt x="144152" y="211690"/>
                    <a:pt x="142875" y="210379"/>
                    <a:pt x="142875" y="211690"/>
                  </a:cubicBezTo>
                  <a:cubicBezTo>
                    <a:pt x="142875" y="211690"/>
                    <a:pt x="142875" y="211690"/>
                    <a:pt x="142875" y="219558"/>
                  </a:cubicBezTo>
                  <a:cubicBezTo>
                    <a:pt x="142875" y="220870"/>
                    <a:pt x="144152" y="222181"/>
                    <a:pt x="145429" y="222181"/>
                  </a:cubicBezTo>
                  <a:cubicBezTo>
                    <a:pt x="145429" y="222181"/>
                    <a:pt x="145429" y="222181"/>
                    <a:pt x="150537" y="222181"/>
                  </a:cubicBezTo>
                  <a:cubicBezTo>
                    <a:pt x="150537" y="224804"/>
                    <a:pt x="151814" y="226115"/>
                    <a:pt x="153091" y="227427"/>
                  </a:cubicBezTo>
                  <a:cubicBezTo>
                    <a:pt x="153091" y="227427"/>
                    <a:pt x="153091" y="227427"/>
                    <a:pt x="149260" y="231361"/>
                  </a:cubicBezTo>
                  <a:cubicBezTo>
                    <a:pt x="147983" y="232673"/>
                    <a:pt x="147983" y="233984"/>
                    <a:pt x="149260" y="235295"/>
                  </a:cubicBezTo>
                  <a:cubicBezTo>
                    <a:pt x="149260" y="235295"/>
                    <a:pt x="149260" y="235295"/>
                    <a:pt x="154367" y="239230"/>
                  </a:cubicBezTo>
                  <a:cubicBezTo>
                    <a:pt x="155644" y="240541"/>
                    <a:pt x="156921" y="240541"/>
                    <a:pt x="158198" y="239230"/>
                  </a:cubicBezTo>
                  <a:cubicBezTo>
                    <a:pt x="158198" y="239230"/>
                    <a:pt x="158198" y="239230"/>
                    <a:pt x="160752" y="236607"/>
                  </a:cubicBezTo>
                  <a:cubicBezTo>
                    <a:pt x="162029" y="237918"/>
                    <a:pt x="165860" y="239230"/>
                    <a:pt x="165860" y="239230"/>
                  </a:cubicBezTo>
                  <a:cubicBezTo>
                    <a:pt x="165860" y="239230"/>
                    <a:pt x="165860" y="239230"/>
                    <a:pt x="165860" y="243164"/>
                  </a:cubicBezTo>
                  <a:cubicBezTo>
                    <a:pt x="165860" y="244475"/>
                    <a:pt x="168414" y="244475"/>
                    <a:pt x="169690" y="244475"/>
                  </a:cubicBezTo>
                  <a:cubicBezTo>
                    <a:pt x="169690" y="244475"/>
                    <a:pt x="169690" y="244475"/>
                    <a:pt x="176075" y="244475"/>
                  </a:cubicBezTo>
                  <a:cubicBezTo>
                    <a:pt x="177352" y="244475"/>
                    <a:pt x="178629" y="244475"/>
                    <a:pt x="178629" y="243164"/>
                  </a:cubicBezTo>
                  <a:cubicBezTo>
                    <a:pt x="178629" y="243164"/>
                    <a:pt x="178629" y="243164"/>
                    <a:pt x="178629" y="239230"/>
                  </a:cubicBezTo>
                  <a:cubicBezTo>
                    <a:pt x="182460" y="239230"/>
                    <a:pt x="182460" y="237918"/>
                    <a:pt x="185013" y="236607"/>
                  </a:cubicBezTo>
                  <a:cubicBezTo>
                    <a:pt x="185013" y="236607"/>
                    <a:pt x="185013" y="236607"/>
                    <a:pt x="187567" y="239230"/>
                  </a:cubicBezTo>
                  <a:cubicBezTo>
                    <a:pt x="188844" y="240541"/>
                    <a:pt x="190121" y="240541"/>
                    <a:pt x="191398" y="239230"/>
                  </a:cubicBezTo>
                  <a:cubicBezTo>
                    <a:pt x="191398" y="239230"/>
                    <a:pt x="191398" y="239230"/>
                    <a:pt x="196506" y="233984"/>
                  </a:cubicBezTo>
                  <a:cubicBezTo>
                    <a:pt x="196506" y="233984"/>
                    <a:pt x="196506" y="232673"/>
                    <a:pt x="196506" y="231361"/>
                  </a:cubicBezTo>
                  <a:cubicBezTo>
                    <a:pt x="196506" y="231361"/>
                    <a:pt x="196506" y="231361"/>
                    <a:pt x="192675" y="227427"/>
                  </a:cubicBezTo>
                  <a:cubicBezTo>
                    <a:pt x="193952" y="226115"/>
                    <a:pt x="195229" y="224804"/>
                    <a:pt x="195229" y="222181"/>
                  </a:cubicBezTo>
                  <a:cubicBezTo>
                    <a:pt x="195229" y="222181"/>
                    <a:pt x="195229" y="222181"/>
                    <a:pt x="200336" y="222181"/>
                  </a:cubicBezTo>
                  <a:cubicBezTo>
                    <a:pt x="201613" y="222181"/>
                    <a:pt x="201613" y="220870"/>
                    <a:pt x="201613" y="219558"/>
                  </a:cubicBezTo>
                  <a:lnTo>
                    <a:pt x="201613" y="211690"/>
                  </a:lnTo>
                  <a:cubicBezTo>
                    <a:pt x="201613" y="210379"/>
                    <a:pt x="201613" y="211690"/>
                    <a:pt x="200336" y="211690"/>
                  </a:cubicBezTo>
                  <a:cubicBezTo>
                    <a:pt x="200336" y="211690"/>
                    <a:pt x="200336" y="211690"/>
                    <a:pt x="195229" y="211690"/>
                  </a:cubicBezTo>
                  <a:cubicBezTo>
                    <a:pt x="195229" y="207756"/>
                    <a:pt x="193952" y="206444"/>
                    <a:pt x="192675" y="203821"/>
                  </a:cubicBezTo>
                  <a:cubicBezTo>
                    <a:pt x="192675" y="203821"/>
                    <a:pt x="192675" y="203821"/>
                    <a:pt x="196506" y="199887"/>
                  </a:cubicBezTo>
                  <a:cubicBezTo>
                    <a:pt x="196506" y="199887"/>
                    <a:pt x="196506" y="198576"/>
                    <a:pt x="196506" y="197264"/>
                  </a:cubicBezTo>
                  <a:cubicBezTo>
                    <a:pt x="196506" y="197264"/>
                    <a:pt x="196506" y="197264"/>
                    <a:pt x="191398" y="192019"/>
                  </a:cubicBezTo>
                  <a:cubicBezTo>
                    <a:pt x="190121" y="190707"/>
                    <a:pt x="188844" y="190707"/>
                    <a:pt x="187567" y="192019"/>
                  </a:cubicBezTo>
                  <a:cubicBezTo>
                    <a:pt x="187567" y="192019"/>
                    <a:pt x="187567" y="192019"/>
                    <a:pt x="185013" y="194642"/>
                  </a:cubicBezTo>
                  <a:cubicBezTo>
                    <a:pt x="182460" y="193330"/>
                    <a:pt x="182460" y="193330"/>
                    <a:pt x="178629" y="192019"/>
                  </a:cubicBezTo>
                  <a:cubicBezTo>
                    <a:pt x="178629" y="192019"/>
                    <a:pt x="178629" y="192019"/>
                    <a:pt x="178629" y="188084"/>
                  </a:cubicBezTo>
                  <a:cubicBezTo>
                    <a:pt x="178629" y="186773"/>
                    <a:pt x="177352" y="184150"/>
                    <a:pt x="176075" y="184150"/>
                  </a:cubicBezTo>
                  <a:cubicBezTo>
                    <a:pt x="176075" y="184150"/>
                    <a:pt x="176075" y="184150"/>
                    <a:pt x="169690" y="184150"/>
                  </a:cubicBezTo>
                  <a:close/>
                  <a:moveTo>
                    <a:pt x="123825" y="165100"/>
                  </a:moveTo>
                  <a:lnTo>
                    <a:pt x="123825" y="176213"/>
                  </a:lnTo>
                  <a:lnTo>
                    <a:pt x="223838" y="176213"/>
                  </a:lnTo>
                  <a:lnTo>
                    <a:pt x="223838" y="165100"/>
                  </a:lnTo>
                  <a:close/>
                  <a:moveTo>
                    <a:pt x="123825" y="146050"/>
                  </a:moveTo>
                  <a:lnTo>
                    <a:pt x="123825" y="155575"/>
                  </a:lnTo>
                  <a:lnTo>
                    <a:pt x="223838" y="155575"/>
                  </a:lnTo>
                  <a:lnTo>
                    <a:pt x="223838" y="146050"/>
                  </a:lnTo>
                  <a:close/>
                  <a:moveTo>
                    <a:pt x="123825" y="131763"/>
                  </a:moveTo>
                  <a:lnTo>
                    <a:pt x="123825" y="139701"/>
                  </a:lnTo>
                  <a:lnTo>
                    <a:pt x="166688" y="139701"/>
                  </a:lnTo>
                  <a:lnTo>
                    <a:pt x="166688" y="131763"/>
                  </a:lnTo>
                  <a:close/>
                  <a:moveTo>
                    <a:pt x="123825" y="115888"/>
                  </a:moveTo>
                  <a:lnTo>
                    <a:pt x="123825" y="122238"/>
                  </a:lnTo>
                  <a:lnTo>
                    <a:pt x="166688" y="122238"/>
                  </a:lnTo>
                  <a:lnTo>
                    <a:pt x="166688" y="115888"/>
                  </a:lnTo>
                  <a:close/>
                  <a:moveTo>
                    <a:pt x="179388" y="100013"/>
                  </a:moveTo>
                  <a:lnTo>
                    <a:pt x="179388" y="139701"/>
                  </a:lnTo>
                  <a:lnTo>
                    <a:pt x="223838" y="139701"/>
                  </a:lnTo>
                  <a:lnTo>
                    <a:pt x="223838" y="100013"/>
                  </a:lnTo>
                  <a:close/>
                  <a:moveTo>
                    <a:pt x="123825" y="100013"/>
                  </a:moveTo>
                  <a:lnTo>
                    <a:pt x="123825" y="106363"/>
                  </a:lnTo>
                  <a:lnTo>
                    <a:pt x="166688" y="106363"/>
                  </a:lnTo>
                  <a:lnTo>
                    <a:pt x="166688" y="100013"/>
                  </a:lnTo>
                  <a:close/>
                  <a:moveTo>
                    <a:pt x="106363" y="76200"/>
                  </a:moveTo>
                  <a:lnTo>
                    <a:pt x="238126" y="76200"/>
                  </a:lnTo>
                  <a:lnTo>
                    <a:pt x="238126" y="254000"/>
                  </a:lnTo>
                  <a:lnTo>
                    <a:pt x="106363" y="254000"/>
                  </a:lnTo>
                  <a:close/>
                  <a:moveTo>
                    <a:pt x="103296" y="65088"/>
                  </a:moveTo>
                  <a:cubicBezTo>
                    <a:pt x="99421" y="65088"/>
                    <a:pt x="96838" y="67686"/>
                    <a:pt x="96838" y="71583"/>
                  </a:cubicBezTo>
                  <a:cubicBezTo>
                    <a:pt x="96838" y="71583"/>
                    <a:pt x="96838" y="71583"/>
                    <a:pt x="96838" y="258619"/>
                  </a:cubicBezTo>
                  <a:cubicBezTo>
                    <a:pt x="96838" y="262516"/>
                    <a:pt x="99421" y="265113"/>
                    <a:pt x="103296" y="265113"/>
                  </a:cubicBezTo>
                  <a:cubicBezTo>
                    <a:pt x="103296" y="265113"/>
                    <a:pt x="103296" y="265113"/>
                    <a:pt x="242781" y="265113"/>
                  </a:cubicBezTo>
                  <a:cubicBezTo>
                    <a:pt x="245364" y="265113"/>
                    <a:pt x="246655" y="263814"/>
                    <a:pt x="246655" y="263814"/>
                  </a:cubicBezTo>
                  <a:cubicBezTo>
                    <a:pt x="246655" y="263814"/>
                    <a:pt x="247947" y="263814"/>
                    <a:pt x="247947" y="263814"/>
                  </a:cubicBezTo>
                  <a:cubicBezTo>
                    <a:pt x="247947" y="262516"/>
                    <a:pt x="247947" y="262516"/>
                    <a:pt x="247947" y="262516"/>
                  </a:cubicBezTo>
                  <a:cubicBezTo>
                    <a:pt x="247947" y="262516"/>
                    <a:pt x="249238" y="261217"/>
                    <a:pt x="249238" y="258619"/>
                  </a:cubicBezTo>
                  <a:lnTo>
                    <a:pt x="249238" y="71583"/>
                  </a:lnTo>
                  <a:cubicBezTo>
                    <a:pt x="249238" y="67686"/>
                    <a:pt x="246655" y="65088"/>
                    <a:pt x="242781" y="65088"/>
                  </a:cubicBezTo>
                  <a:cubicBezTo>
                    <a:pt x="242781" y="65088"/>
                    <a:pt x="242781" y="65088"/>
                    <a:pt x="103296" y="65088"/>
                  </a:cubicBezTo>
                  <a:close/>
                  <a:moveTo>
                    <a:pt x="165894" y="0"/>
                  </a:moveTo>
                  <a:cubicBezTo>
                    <a:pt x="257515" y="0"/>
                    <a:pt x="331788" y="73918"/>
                    <a:pt x="331788" y="165100"/>
                  </a:cubicBezTo>
                  <a:cubicBezTo>
                    <a:pt x="331788" y="256282"/>
                    <a:pt x="257515" y="330200"/>
                    <a:pt x="165894" y="330200"/>
                  </a:cubicBezTo>
                  <a:cubicBezTo>
                    <a:pt x="74273" y="330200"/>
                    <a:pt x="0" y="256282"/>
                    <a:pt x="0" y="165100"/>
                  </a:cubicBezTo>
                  <a:cubicBezTo>
                    <a:pt x="0" y="73918"/>
                    <a:pt x="74273" y="0"/>
                    <a:pt x="165894" y="0"/>
                  </a:cubicBezTo>
                  <a:close/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Rectangle 1027"/>
          <p:cNvSpPr txBox="1">
            <a:spLocks noChangeArrowheads="1"/>
          </p:cNvSpPr>
          <p:nvPr/>
        </p:nvSpPr>
        <p:spPr bwMode="auto">
          <a:xfrm>
            <a:off x="1257300" y="3152775"/>
            <a:ext cx="26257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一个有穷的指令集，这些指令为解决某一特定任务规定了一个运算序列</a:t>
            </a:r>
          </a:p>
        </p:txBody>
      </p:sp>
      <p:sp>
        <p:nvSpPr>
          <p:cNvPr id="331779" name="Rectangle 1027"/>
          <p:cNvSpPr>
            <a:spLocks noGrp="1" noChangeArrowheads="1"/>
          </p:cNvSpPr>
          <p:nvPr>
            <p:ph idx="1"/>
          </p:nvPr>
        </p:nvSpPr>
        <p:spPr>
          <a:xfrm>
            <a:off x="1792288" y="1890713"/>
            <a:ext cx="1858963" cy="558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算法定义</a:t>
            </a:r>
          </a:p>
        </p:txBody>
      </p:sp>
      <p:sp>
        <p:nvSpPr>
          <p:cNvPr id="33" name="Rectangle 1027"/>
          <p:cNvSpPr txBox="1">
            <a:spLocks noChangeArrowheads="1"/>
          </p:cNvSpPr>
          <p:nvPr/>
        </p:nvSpPr>
        <p:spPr bwMode="auto">
          <a:xfrm>
            <a:off x="5335588" y="1936750"/>
            <a:ext cx="20510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算法的描述</a:t>
            </a:r>
          </a:p>
        </p:txBody>
      </p:sp>
      <p:sp>
        <p:nvSpPr>
          <p:cNvPr id="34" name="Rectangle 1027"/>
          <p:cNvSpPr txBox="1">
            <a:spLocks noChangeArrowheads="1"/>
          </p:cNvSpPr>
          <p:nvPr/>
        </p:nvSpPr>
        <p:spPr bwMode="auto">
          <a:xfrm>
            <a:off x="4972050" y="3197225"/>
            <a:ext cx="2597150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自然语言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流程图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程序设计语言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伪码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bldLvl="2"/>
      <p:bldP spid="331779" grpId="0" build="p" bldLvl="2"/>
      <p:bldP spid="33" grpId="0" build="p" bldLvl="2"/>
      <p:bldP spid="34" grpId="0" build="p" bldLvl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16"/>
          <p:cNvSpPr>
            <a:spLocks noChangeArrowheads="1"/>
          </p:cNvSpPr>
          <p:nvPr/>
        </p:nvSpPr>
        <p:spPr bwMode="auto">
          <a:xfrm>
            <a:off x="1111250" y="1346200"/>
            <a:ext cx="64135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1348" name="Rectangle 4"/>
          <p:cNvSpPr>
            <a:spLocks noChangeArrowheads="1"/>
          </p:cNvSpPr>
          <p:nvPr/>
        </p:nvSpPr>
        <p:spPr bwMode="auto">
          <a:xfrm>
            <a:off x="1333500" y="1300163"/>
            <a:ext cx="6838950" cy="663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算法的特性：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098550" y="2187575"/>
            <a:ext cx="487363" cy="584200"/>
            <a:chOff x="685009" y="1514252"/>
            <a:chExt cx="365522" cy="438150"/>
          </a:xfrm>
        </p:grpSpPr>
        <p:sp>
          <p:nvSpPr>
            <p:cNvPr id="17" name="Flowchart: Off-page Connector 108"/>
            <p:cNvSpPr/>
            <p:nvPr/>
          </p:nvSpPr>
          <p:spPr bwMode="auto">
            <a:xfrm>
              <a:off x="704059" y="1529731"/>
              <a:ext cx="317897" cy="422672"/>
            </a:xfrm>
            <a:prstGeom prst="flowChartOffpageConnector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Oval 111"/>
            <p:cNvSpPr/>
            <p:nvPr/>
          </p:nvSpPr>
          <p:spPr bwMode="auto">
            <a:xfrm>
              <a:off x="685009" y="1514252"/>
              <a:ext cx="365522" cy="419100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92200" y="2949575"/>
            <a:ext cx="487363" cy="601663"/>
            <a:chOff x="685009" y="2261965"/>
            <a:chExt cx="365522" cy="451246"/>
          </a:xfrm>
        </p:grpSpPr>
        <p:sp>
          <p:nvSpPr>
            <p:cNvPr id="20" name="Flowchart: Off-page Connector 109"/>
            <p:cNvSpPr/>
            <p:nvPr/>
          </p:nvSpPr>
          <p:spPr bwMode="auto">
            <a:xfrm>
              <a:off x="704059" y="2290540"/>
              <a:ext cx="317897" cy="422671"/>
            </a:xfrm>
            <a:prstGeom prst="flowChartOffpageConnector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Oval 112"/>
            <p:cNvSpPr/>
            <p:nvPr/>
          </p:nvSpPr>
          <p:spPr bwMode="auto">
            <a:xfrm>
              <a:off x="685009" y="2261965"/>
              <a:ext cx="365522" cy="419099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92200" y="3795713"/>
            <a:ext cx="487363" cy="601662"/>
            <a:chOff x="680246" y="3021584"/>
            <a:chExt cx="365522" cy="451246"/>
          </a:xfrm>
        </p:grpSpPr>
        <p:sp>
          <p:nvSpPr>
            <p:cNvPr id="23" name="Flowchart: Off-page Connector 110"/>
            <p:cNvSpPr/>
            <p:nvPr/>
          </p:nvSpPr>
          <p:spPr bwMode="auto">
            <a:xfrm>
              <a:off x="704058" y="3050159"/>
              <a:ext cx="317897" cy="422671"/>
            </a:xfrm>
            <a:prstGeom prst="flowChartOffpageConnector">
              <a:avLst/>
            </a:prstGeom>
            <a:solidFill>
              <a:srgbClr val="9BBB59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Oval 113"/>
            <p:cNvSpPr/>
            <p:nvPr/>
          </p:nvSpPr>
          <p:spPr bwMode="auto">
            <a:xfrm>
              <a:off x="680246" y="3021584"/>
              <a:ext cx="365522" cy="419100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092200" y="4637088"/>
            <a:ext cx="488950" cy="576262"/>
            <a:chOff x="704059" y="3810967"/>
            <a:chExt cx="366713" cy="432198"/>
          </a:xfrm>
        </p:grpSpPr>
        <p:sp>
          <p:nvSpPr>
            <p:cNvPr id="26" name="Flowchart: Off-page Connector 104"/>
            <p:cNvSpPr/>
            <p:nvPr/>
          </p:nvSpPr>
          <p:spPr bwMode="auto">
            <a:xfrm>
              <a:off x="727872" y="3862164"/>
              <a:ext cx="317898" cy="381001"/>
            </a:xfrm>
            <a:prstGeom prst="flowChartOffpageConnector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Oval 107"/>
            <p:cNvSpPr/>
            <p:nvPr/>
          </p:nvSpPr>
          <p:spPr bwMode="auto">
            <a:xfrm>
              <a:off x="704059" y="3810967"/>
              <a:ext cx="366713" cy="419101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092200" y="5505450"/>
            <a:ext cx="487363" cy="601663"/>
            <a:chOff x="685009" y="2261965"/>
            <a:chExt cx="365522" cy="451246"/>
          </a:xfrm>
        </p:grpSpPr>
        <p:sp>
          <p:nvSpPr>
            <p:cNvPr id="33" name="Flowchart: Off-page Connector 109"/>
            <p:cNvSpPr/>
            <p:nvPr/>
          </p:nvSpPr>
          <p:spPr bwMode="auto">
            <a:xfrm>
              <a:off x="704059" y="2290540"/>
              <a:ext cx="317897" cy="422671"/>
            </a:xfrm>
            <a:prstGeom prst="flowChartOffpageConnector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4" name="Oval 112"/>
            <p:cNvSpPr/>
            <p:nvPr/>
          </p:nvSpPr>
          <p:spPr bwMode="auto">
            <a:xfrm>
              <a:off x="685009" y="2261965"/>
              <a:ext cx="365522" cy="419099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981200" y="2187575"/>
            <a:ext cx="68389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个或多个输入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1981200" y="2938463"/>
            <a:ext cx="5686425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输出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有一个或多个输出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处理结果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1981200" y="3814763"/>
            <a:ext cx="6838950" cy="541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确定性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每步定义都是确切、无歧义的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1981200" y="4606925"/>
            <a:ext cx="6838950" cy="608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有穷性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算法应在执行有穷步后结束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981200" y="5481638"/>
            <a:ext cx="6838950" cy="684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有效性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每一条运算应足够基本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 bldLvl="2" animBg="1"/>
      <p:bldP spid="441348" grpId="0" build="p" bldLvl="2"/>
      <p:bldP spid="35" grpId="0" build="p" bldLvl="2"/>
      <p:bldP spid="36" grpId="0" build="p" bldLvl="2"/>
      <p:bldP spid="37" grpId="0" build="p" bldLvl="2"/>
      <p:bldP spid="38" grpId="0" build="p" bldLvl="2"/>
      <p:bldP spid="39" grpId="0" build="p" bldLvl="2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317955" y="1144464"/>
            <a:ext cx="8578850" cy="20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有穷性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对于任意一组合法输入值，在执行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有穷步骤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之后一定能结束，即：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算法中的每个步骤都能在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有限时间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内完成；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0650" y="3212976"/>
            <a:ext cx="8763000" cy="345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确定性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对于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每种情况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下所应执行的操作，在算法中都有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确切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的规定，使算法的执行者或阅读者都能明确其含义及如何执行。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并且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在任何条件下，算法都只有一条执行路径；</a:t>
            </a:r>
          </a:p>
        </p:txBody>
      </p:sp>
    </p:spTree>
    <p:extLst>
      <p:ext uri="{BB962C8B-B14F-4D97-AF65-F5344CB8AC3E}">
        <p14:creationId xmlns:p14="http://schemas.microsoft.com/office/powerpoint/2010/main" val="367571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94589" y="1052736"/>
            <a:ext cx="8515350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可行性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算法中的所有操作都必须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足够基本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，都可以通过已经实现的基本操作运算有限次实现之；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409574" y="3212976"/>
            <a:ext cx="858202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有输入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作为算法加工对象的量值，通常体现为算法中的一组变量。有些输入量需要在算法执行过程中输入，而有的算法表面上可以没有输入，实际上已被嵌入算法之中；</a:t>
            </a:r>
          </a:p>
        </p:txBody>
      </p:sp>
    </p:spTree>
    <p:extLst>
      <p:ext uri="{BB962C8B-B14F-4D97-AF65-F5344CB8AC3E}">
        <p14:creationId xmlns:p14="http://schemas.microsoft.com/office/powerpoint/2010/main" val="643422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16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533400" y="1203325"/>
            <a:ext cx="82296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4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有输出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 它是一组与</a:t>
            </a:r>
            <a:r>
              <a:rPr lang="zh-CN" altLang="en-US" sz="4000" dirty="0">
                <a:latin typeface="Times New Roman"/>
                <a:ea typeface="楷体_GB2312" pitchFamily="49" charset="-122"/>
              </a:rPr>
              <a:t>“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输入</a:t>
            </a:r>
            <a:r>
              <a:rPr lang="zh-CN" altLang="en-US" sz="4000" dirty="0"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zh-CN" altLang="en-US" sz="4000" dirty="0" smtClean="0">
                <a:latin typeface="楷体_GB2312" pitchFamily="49" charset="-122"/>
                <a:ea typeface="楷体_GB2312" pitchFamily="49" charset="-122"/>
              </a:rPr>
              <a:t>确定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关系的量值，是算法进行信息加工后得到的结果，这种确定关系即为算法的功能。</a:t>
            </a:r>
          </a:p>
        </p:txBody>
      </p:sp>
    </p:spTree>
    <p:extLst>
      <p:ext uri="{BB962C8B-B14F-4D97-AF65-F5344CB8AC3E}">
        <p14:creationId xmlns:p14="http://schemas.microsoft.com/office/powerpoint/2010/main" val="263746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90613" y="1752600"/>
            <a:ext cx="2859088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算法的评价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5875" name="Rectangle 1027"/>
          <p:cNvSpPr>
            <a:spLocks noGrp="1" noChangeArrowheads="1"/>
          </p:cNvSpPr>
          <p:nvPr>
            <p:ph idx="1"/>
          </p:nvPr>
        </p:nvSpPr>
        <p:spPr>
          <a:xfrm>
            <a:off x="1279525" y="4248150"/>
            <a:ext cx="1241425" cy="666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正确性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grpSp>
        <p:nvGrpSpPr>
          <p:cNvPr id="61445" name="组合 53"/>
          <p:cNvGrpSpPr/>
          <p:nvPr/>
        </p:nvGrpSpPr>
        <p:grpSpPr>
          <a:xfrm>
            <a:off x="1171575" y="2622550"/>
            <a:ext cx="1276350" cy="1436688"/>
            <a:chOff x="1168053" y="2217316"/>
            <a:chExt cx="1901372" cy="2140857"/>
          </a:xfrm>
        </p:grpSpPr>
        <p:sp>
          <p:nvSpPr>
            <p:cNvPr id="55" name="íṡľíḍè-Rectangle 22"/>
            <p:cNvSpPr/>
            <p:nvPr/>
          </p:nvSpPr>
          <p:spPr>
            <a:xfrm>
              <a:off x="1168053" y="2217316"/>
              <a:ext cx="1901372" cy="1901932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6" name="íṡľíḍè-Freeform: Shape 23"/>
            <p:cNvSpPr/>
            <p:nvPr/>
          </p:nvSpPr>
          <p:spPr>
            <a:xfrm rot="10800000">
              <a:off x="1168053" y="3989141"/>
              <a:ext cx="1901372" cy="369032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4F81B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9" name="îŝḷîḓé-Freeform: Shape 42"/>
            <p:cNvSpPr/>
            <p:nvPr/>
          </p:nvSpPr>
          <p:spPr bwMode="auto">
            <a:xfrm>
              <a:off x="1690695" y="2470435"/>
              <a:ext cx="943591" cy="943868"/>
            </a:xfrm>
            <a:custGeom>
              <a:avLst/>
              <a:gdLst>
                <a:gd name="T0" fmla="*/ 184 w 260"/>
                <a:gd name="T1" fmla="*/ 106 h 260"/>
                <a:gd name="T2" fmla="*/ 193 w 260"/>
                <a:gd name="T3" fmla="*/ 143 h 260"/>
                <a:gd name="T4" fmla="*/ 117 w 260"/>
                <a:gd name="T5" fmla="*/ 219 h 260"/>
                <a:gd name="T6" fmla="*/ 42 w 260"/>
                <a:gd name="T7" fmla="*/ 143 h 260"/>
                <a:gd name="T8" fmla="*/ 117 w 260"/>
                <a:gd name="T9" fmla="*/ 66 h 260"/>
                <a:gd name="T10" fmla="*/ 154 w 260"/>
                <a:gd name="T11" fmla="*/ 76 h 260"/>
                <a:gd name="T12" fmla="*/ 183 w 260"/>
                <a:gd name="T13" fmla="*/ 46 h 260"/>
                <a:gd name="T14" fmla="*/ 117 w 260"/>
                <a:gd name="T15" fmla="*/ 25 h 260"/>
                <a:gd name="T16" fmla="*/ 0 w 260"/>
                <a:gd name="T17" fmla="*/ 143 h 260"/>
                <a:gd name="T18" fmla="*/ 117 w 260"/>
                <a:gd name="T19" fmla="*/ 260 h 260"/>
                <a:gd name="T20" fmla="*/ 233 w 260"/>
                <a:gd name="T21" fmla="*/ 143 h 260"/>
                <a:gd name="T22" fmla="*/ 213 w 260"/>
                <a:gd name="T23" fmla="*/ 77 h 260"/>
                <a:gd name="T24" fmla="*/ 184 w 260"/>
                <a:gd name="T25" fmla="*/ 106 h 260"/>
                <a:gd name="T26" fmla="*/ 225 w 260"/>
                <a:gd name="T27" fmla="*/ 35 h 260"/>
                <a:gd name="T28" fmla="*/ 225 w 260"/>
                <a:gd name="T29" fmla="*/ 35 h 260"/>
                <a:gd name="T30" fmla="*/ 225 w 260"/>
                <a:gd name="T31" fmla="*/ 0 h 260"/>
                <a:gd name="T32" fmla="*/ 203 w 260"/>
                <a:gd name="T33" fmla="*/ 23 h 260"/>
                <a:gd name="T34" fmla="*/ 203 w 260"/>
                <a:gd name="T35" fmla="*/ 46 h 260"/>
                <a:gd name="T36" fmla="*/ 139 w 260"/>
                <a:gd name="T37" fmla="*/ 111 h 260"/>
                <a:gd name="T38" fmla="*/ 117 w 260"/>
                <a:gd name="T39" fmla="*/ 104 h 260"/>
                <a:gd name="T40" fmla="*/ 79 w 260"/>
                <a:gd name="T41" fmla="*/ 143 h 260"/>
                <a:gd name="T42" fmla="*/ 117 w 260"/>
                <a:gd name="T43" fmla="*/ 181 h 260"/>
                <a:gd name="T44" fmla="*/ 155 w 260"/>
                <a:gd name="T45" fmla="*/ 143 h 260"/>
                <a:gd name="T46" fmla="*/ 150 w 260"/>
                <a:gd name="T47" fmla="*/ 123 h 260"/>
                <a:gd name="T48" fmla="*/ 215 w 260"/>
                <a:gd name="T49" fmla="*/ 58 h 260"/>
                <a:gd name="T50" fmla="*/ 237 w 260"/>
                <a:gd name="T51" fmla="*/ 58 h 260"/>
                <a:gd name="T52" fmla="*/ 260 w 260"/>
                <a:gd name="T53" fmla="*/ 35 h 260"/>
                <a:gd name="T54" fmla="*/ 225 w 260"/>
                <a:gd name="T55" fmla="*/ 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" h="260">
                  <a:moveTo>
                    <a:pt x="184" y="106"/>
                  </a:moveTo>
                  <a:cubicBezTo>
                    <a:pt x="190" y="117"/>
                    <a:pt x="193" y="129"/>
                    <a:pt x="193" y="143"/>
                  </a:cubicBezTo>
                  <a:cubicBezTo>
                    <a:pt x="193" y="185"/>
                    <a:pt x="159" y="219"/>
                    <a:pt x="117" y="219"/>
                  </a:cubicBezTo>
                  <a:cubicBezTo>
                    <a:pt x="76" y="219"/>
                    <a:pt x="42" y="185"/>
                    <a:pt x="42" y="143"/>
                  </a:cubicBezTo>
                  <a:cubicBezTo>
                    <a:pt x="42" y="100"/>
                    <a:pt x="76" y="66"/>
                    <a:pt x="117" y="66"/>
                  </a:cubicBezTo>
                  <a:cubicBezTo>
                    <a:pt x="131" y="66"/>
                    <a:pt x="143" y="70"/>
                    <a:pt x="154" y="76"/>
                  </a:cubicBezTo>
                  <a:cubicBezTo>
                    <a:pt x="183" y="46"/>
                    <a:pt x="183" y="46"/>
                    <a:pt x="183" y="46"/>
                  </a:cubicBezTo>
                  <a:cubicBezTo>
                    <a:pt x="165" y="33"/>
                    <a:pt x="141" y="25"/>
                    <a:pt x="117" y="25"/>
                  </a:cubicBezTo>
                  <a:cubicBezTo>
                    <a:pt x="52" y="25"/>
                    <a:pt x="0" y="78"/>
                    <a:pt x="0" y="143"/>
                  </a:cubicBezTo>
                  <a:cubicBezTo>
                    <a:pt x="0" y="207"/>
                    <a:pt x="52" y="260"/>
                    <a:pt x="117" y="260"/>
                  </a:cubicBezTo>
                  <a:cubicBezTo>
                    <a:pt x="181" y="260"/>
                    <a:pt x="233" y="207"/>
                    <a:pt x="233" y="143"/>
                  </a:cubicBezTo>
                  <a:cubicBezTo>
                    <a:pt x="233" y="118"/>
                    <a:pt x="226" y="96"/>
                    <a:pt x="213" y="77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225" y="35"/>
                  </a:moveTo>
                  <a:cubicBezTo>
                    <a:pt x="225" y="35"/>
                    <a:pt x="225" y="35"/>
                    <a:pt x="225" y="35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3" y="46"/>
                    <a:pt x="203" y="46"/>
                    <a:pt x="203" y="46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3" y="106"/>
                    <a:pt x="125" y="104"/>
                    <a:pt x="117" y="104"/>
                  </a:cubicBezTo>
                  <a:cubicBezTo>
                    <a:pt x="96" y="104"/>
                    <a:pt x="79" y="121"/>
                    <a:pt x="79" y="143"/>
                  </a:cubicBezTo>
                  <a:cubicBezTo>
                    <a:pt x="79" y="164"/>
                    <a:pt x="96" y="181"/>
                    <a:pt x="117" y="181"/>
                  </a:cubicBezTo>
                  <a:cubicBezTo>
                    <a:pt x="138" y="181"/>
                    <a:pt x="155" y="164"/>
                    <a:pt x="155" y="143"/>
                  </a:cubicBezTo>
                  <a:cubicBezTo>
                    <a:pt x="155" y="136"/>
                    <a:pt x="154" y="129"/>
                    <a:pt x="150" y="123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25" y="35"/>
                    <a:pt x="225" y="35"/>
                    <a:pt x="225" y="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6" name="组合 59"/>
          <p:cNvGrpSpPr/>
          <p:nvPr/>
        </p:nvGrpSpPr>
        <p:grpSpPr>
          <a:xfrm>
            <a:off x="6610350" y="2622550"/>
            <a:ext cx="1277938" cy="1463675"/>
            <a:chOff x="9271092" y="2217316"/>
            <a:chExt cx="1901375" cy="2180771"/>
          </a:xfrm>
        </p:grpSpPr>
        <p:sp>
          <p:nvSpPr>
            <p:cNvPr id="61" name="íṡľíḍè-Rectangle 30"/>
            <p:cNvSpPr/>
            <p:nvPr/>
          </p:nvSpPr>
          <p:spPr>
            <a:xfrm>
              <a:off x="9271092" y="2217316"/>
              <a:ext cx="1901375" cy="1901670"/>
            </a:xfrm>
            <a:prstGeom prst="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2" name="íṡľíḍè-Freeform: Shape 31"/>
            <p:cNvSpPr/>
            <p:nvPr/>
          </p:nvSpPr>
          <p:spPr>
            <a:xfrm rot="10800000">
              <a:off x="9271092" y="4029106"/>
              <a:ext cx="1901375" cy="368981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8064A2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5" name="îŝḷîḓé-Freeform: Shape 43"/>
            <p:cNvSpPr/>
            <p:nvPr/>
          </p:nvSpPr>
          <p:spPr bwMode="auto">
            <a:xfrm>
              <a:off x="9762379" y="2560280"/>
              <a:ext cx="838495" cy="83966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7" name="组合 65"/>
          <p:cNvGrpSpPr/>
          <p:nvPr/>
        </p:nvGrpSpPr>
        <p:grpSpPr>
          <a:xfrm>
            <a:off x="2984500" y="2622550"/>
            <a:ext cx="1276350" cy="1439863"/>
            <a:chOff x="3869067" y="2217316"/>
            <a:chExt cx="1901372" cy="2144485"/>
          </a:xfrm>
        </p:grpSpPr>
        <p:sp>
          <p:nvSpPr>
            <p:cNvPr id="67" name="íṡľíḍè-Rectangle 18"/>
            <p:cNvSpPr/>
            <p:nvPr/>
          </p:nvSpPr>
          <p:spPr>
            <a:xfrm>
              <a:off x="3869067" y="2217316"/>
              <a:ext cx="1901372" cy="1900954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8" name="íṡľíḍè-Freeform: Shape 19"/>
            <p:cNvSpPr/>
            <p:nvPr/>
          </p:nvSpPr>
          <p:spPr>
            <a:xfrm rot="10800000">
              <a:off x="3869067" y="3990594"/>
              <a:ext cx="1901372" cy="371207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1" name="îŝḷîḓé-Freeform: Shape 44"/>
            <p:cNvSpPr/>
            <p:nvPr/>
          </p:nvSpPr>
          <p:spPr bwMode="auto">
            <a:xfrm>
              <a:off x="4389343" y="2567243"/>
              <a:ext cx="851361" cy="851173"/>
            </a:xfrm>
            <a:custGeom>
              <a:avLst/>
              <a:gdLst>
                <a:gd name="T0" fmla="*/ 187 w 228"/>
                <a:gd name="T1" fmla="*/ 114 h 240"/>
                <a:gd name="T2" fmla="*/ 114 w 228"/>
                <a:gd name="T3" fmla="*/ 40 h 240"/>
                <a:gd name="T4" fmla="*/ 40 w 228"/>
                <a:gd name="T5" fmla="*/ 114 h 240"/>
                <a:gd name="T6" fmla="*/ 68 w 228"/>
                <a:gd name="T7" fmla="*/ 171 h 240"/>
                <a:gd name="T8" fmla="*/ 74 w 228"/>
                <a:gd name="T9" fmla="*/ 173 h 240"/>
                <a:gd name="T10" fmla="*/ 81 w 228"/>
                <a:gd name="T11" fmla="*/ 169 h 240"/>
                <a:gd name="T12" fmla="*/ 79 w 228"/>
                <a:gd name="T13" fmla="*/ 156 h 240"/>
                <a:gd name="T14" fmla="*/ 59 w 228"/>
                <a:gd name="T15" fmla="*/ 114 h 240"/>
                <a:gd name="T16" fmla="*/ 114 w 228"/>
                <a:gd name="T17" fmla="*/ 59 h 240"/>
                <a:gd name="T18" fmla="*/ 169 w 228"/>
                <a:gd name="T19" fmla="*/ 114 h 240"/>
                <a:gd name="T20" fmla="*/ 152 w 228"/>
                <a:gd name="T21" fmla="*/ 153 h 240"/>
                <a:gd name="T22" fmla="*/ 151 w 228"/>
                <a:gd name="T23" fmla="*/ 166 h 240"/>
                <a:gd name="T24" fmla="*/ 165 w 228"/>
                <a:gd name="T25" fmla="*/ 167 h 240"/>
                <a:gd name="T26" fmla="*/ 187 w 228"/>
                <a:gd name="T27" fmla="*/ 114 h 240"/>
                <a:gd name="T28" fmla="*/ 116 w 228"/>
                <a:gd name="T29" fmla="*/ 79 h 240"/>
                <a:gd name="T30" fmla="*/ 81 w 228"/>
                <a:gd name="T31" fmla="*/ 114 h 240"/>
                <a:gd name="T32" fmla="*/ 101 w 228"/>
                <a:gd name="T33" fmla="*/ 144 h 240"/>
                <a:gd name="T34" fmla="*/ 101 w 228"/>
                <a:gd name="T35" fmla="*/ 226 h 240"/>
                <a:gd name="T36" fmla="*/ 115 w 228"/>
                <a:gd name="T37" fmla="*/ 240 h 240"/>
                <a:gd name="T38" fmla="*/ 129 w 228"/>
                <a:gd name="T39" fmla="*/ 226 h 240"/>
                <a:gd name="T40" fmla="*/ 129 w 228"/>
                <a:gd name="T41" fmla="*/ 145 h 240"/>
                <a:gd name="T42" fmla="*/ 150 w 228"/>
                <a:gd name="T43" fmla="*/ 114 h 240"/>
                <a:gd name="T44" fmla="*/ 116 w 228"/>
                <a:gd name="T45" fmla="*/ 79 h 240"/>
                <a:gd name="T46" fmla="*/ 114 w 228"/>
                <a:gd name="T47" fmla="*/ 0 h 240"/>
                <a:gd name="T48" fmla="*/ 0 w 228"/>
                <a:gd name="T49" fmla="*/ 114 h 240"/>
                <a:gd name="T50" fmla="*/ 52 w 228"/>
                <a:gd name="T51" fmla="*/ 209 h 240"/>
                <a:gd name="T52" fmla="*/ 57 w 228"/>
                <a:gd name="T53" fmla="*/ 211 h 240"/>
                <a:gd name="T54" fmla="*/ 65 w 228"/>
                <a:gd name="T55" fmla="*/ 206 h 240"/>
                <a:gd name="T56" fmla="*/ 62 w 228"/>
                <a:gd name="T57" fmla="*/ 193 h 240"/>
                <a:gd name="T58" fmla="*/ 19 w 228"/>
                <a:gd name="T59" fmla="*/ 114 h 240"/>
                <a:gd name="T60" fmla="*/ 114 w 228"/>
                <a:gd name="T61" fmla="*/ 18 h 240"/>
                <a:gd name="T62" fmla="*/ 209 w 228"/>
                <a:gd name="T63" fmla="*/ 114 h 240"/>
                <a:gd name="T64" fmla="*/ 168 w 228"/>
                <a:gd name="T65" fmla="*/ 192 h 240"/>
                <a:gd name="T66" fmla="*/ 165 w 228"/>
                <a:gd name="T67" fmla="*/ 205 h 240"/>
                <a:gd name="T68" fmla="*/ 178 w 228"/>
                <a:gd name="T69" fmla="*/ 208 h 240"/>
                <a:gd name="T70" fmla="*/ 228 w 228"/>
                <a:gd name="T71" fmla="*/ 114 h 240"/>
                <a:gd name="T72" fmla="*/ 114 w 228"/>
                <a:gd name="T7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240">
                  <a:moveTo>
                    <a:pt x="187" y="114"/>
                  </a:moveTo>
                  <a:cubicBezTo>
                    <a:pt x="187" y="73"/>
                    <a:pt x="154" y="40"/>
                    <a:pt x="114" y="40"/>
                  </a:cubicBezTo>
                  <a:cubicBezTo>
                    <a:pt x="73" y="40"/>
                    <a:pt x="40" y="73"/>
                    <a:pt x="40" y="114"/>
                  </a:cubicBezTo>
                  <a:cubicBezTo>
                    <a:pt x="40" y="136"/>
                    <a:pt x="50" y="157"/>
                    <a:pt x="68" y="171"/>
                  </a:cubicBezTo>
                  <a:cubicBezTo>
                    <a:pt x="69" y="172"/>
                    <a:pt x="71" y="173"/>
                    <a:pt x="74" y="173"/>
                  </a:cubicBezTo>
                  <a:cubicBezTo>
                    <a:pt x="76" y="173"/>
                    <a:pt x="79" y="171"/>
                    <a:pt x="81" y="169"/>
                  </a:cubicBezTo>
                  <a:cubicBezTo>
                    <a:pt x="84" y="165"/>
                    <a:pt x="83" y="159"/>
                    <a:pt x="79" y="156"/>
                  </a:cubicBezTo>
                  <a:cubicBezTo>
                    <a:pt x="67" y="146"/>
                    <a:pt x="59" y="130"/>
                    <a:pt x="59" y="114"/>
                  </a:cubicBezTo>
                  <a:cubicBezTo>
                    <a:pt x="59" y="83"/>
                    <a:pt x="84" y="59"/>
                    <a:pt x="114" y="59"/>
                  </a:cubicBezTo>
                  <a:cubicBezTo>
                    <a:pt x="144" y="59"/>
                    <a:pt x="169" y="83"/>
                    <a:pt x="169" y="114"/>
                  </a:cubicBezTo>
                  <a:cubicBezTo>
                    <a:pt x="169" y="129"/>
                    <a:pt x="163" y="143"/>
                    <a:pt x="152" y="153"/>
                  </a:cubicBezTo>
                  <a:cubicBezTo>
                    <a:pt x="148" y="157"/>
                    <a:pt x="148" y="163"/>
                    <a:pt x="151" y="166"/>
                  </a:cubicBezTo>
                  <a:cubicBezTo>
                    <a:pt x="155" y="170"/>
                    <a:pt x="161" y="170"/>
                    <a:pt x="165" y="167"/>
                  </a:cubicBezTo>
                  <a:cubicBezTo>
                    <a:pt x="179" y="153"/>
                    <a:pt x="187" y="134"/>
                    <a:pt x="187" y="114"/>
                  </a:cubicBezTo>
                  <a:close/>
                  <a:moveTo>
                    <a:pt x="116" y="79"/>
                  </a:moveTo>
                  <a:cubicBezTo>
                    <a:pt x="97" y="79"/>
                    <a:pt x="81" y="95"/>
                    <a:pt x="81" y="114"/>
                  </a:cubicBezTo>
                  <a:cubicBezTo>
                    <a:pt x="81" y="127"/>
                    <a:pt x="89" y="139"/>
                    <a:pt x="101" y="144"/>
                  </a:cubicBezTo>
                  <a:cubicBezTo>
                    <a:pt x="101" y="226"/>
                    <a:pt x="101" y="226"/>
                    <a:pt x="101" y="226"/>
                  </a:cubicBezTo>
                  <a:cubicBezTo>
                    <a:pt x="101" y="233"/>
                    <a:pt x="107" y="240"/>
                    <a:pt x="115" y="240"/>
                  </a:cubicBezTo>
                  <a:cubicBezTo>
                    <a:pt x="123" y="240"/>
                    <a:pt x="129" y="233"/>
                    <a:pt x="129" y="22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41" y="140"/>
                    <a:pt x="150" y="128"/>
                    <a:pt x="150" y="114"/>
                  </a:cubicBezTo>
                  <a:cubicBezTo>
                    <a:pt x="150" y="95"/>
                    <a:pt x="134" y="79"/>
                    <a:pt x="116" y="79"/>
                  </a:cubicBezTo>
                  <a:close/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52"/>
                    <a:pt x="19" y="188"/>
                    <a:pt x="52" y="209"/>
                  </a:cubicBezTo>
                  <a:cubicBezTo>
                    <a:pt x="54" y="210"/>
                    <a:pt x="55" y="211"/>
                    <a:pt x="57" y="211"/>
                  </a:cubicBezTo>
                  <a:cubicBezTo>
                    <a:pt x="60" y="211"/>
                    <a:pt x="63" y="209"/>
                    <a:pt x="65" y="206"/>
                  </a:cubicBezTo>
                  <a:cubicBezTo>
                    <a:pt x="68" y="202"/>
                    <a:pt x="67" y="196"/>
                    <a:pt x="62" y="193"/>
                  </a:cubicBezTo>
                  <a:cubicBezTo>
                    <a:pt x="35" y="176"/>
                    <a:pt x="19" y="146"/>
                    <a:pt x="19" y="114"/>
                  </a:cubicBezTo>
                  <a:cubicBezTo>
                    <a:pt x="19" y="61"/>
                    <a:pt x="61" y="18"/>
                    <a:pt x="114" y="18"/>
                  </a:cubicBezTo>
                  <a:cubicBezTo>
                    <a:pt x="166" y="18"/>
                    <a:pt x="209" y="61"/>
                    <a:pt x="209" y="114"/>
                  </a:cubicBezTo>
                  <a:cubicBezTo>
                    <a:pt x="209" y="145"/>
                    <a:pt x="194" y="174"/>
                    <a:pt x="168" y="192"/>
                  </a:cubicBezTo>
                  <a:cubicBezTo>
                    <a:pt x="163" y="195"/>
                    <a:pt x="162" y="201"/>
                    <a:pt x="165" y="205"/>
                  </a:cubicBezTo>
                  <a:cubicBezTo>
                    <a:pt x="168" y="209"/>
                    <a:pt x="174" y="211"/>
                    <a:pt x="178" y="208"/>
                  </a:cubicBezTo>
                  <a:cubicBezTo>
                    <a:pt x="209" y="186"/>
                    <a:pt x="228" y="151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8" name="组合 71"/>
          <p:cNvGrpSpPr/>
          <p:nvPr/>
        </p:nvGrpSpPr>
        <p:grpSpPr>
          <a:xfrm>
            <a:off x="4797425" y="2622550"/>
            <a:ext cx="1276350" cy="1436688"/>
            <a:chOff x="6570080" y="2217316"/>
            <a:chExt cx="1901373" cy="2140857"/>
          </a:xfrm>
        </p:grpSpPr>
        <p:sp>
          <p:nvSpPr>
            <p:cNvPr id="73" name="íṡľíḍè-Rectangle 26"/>
            <p:cNvSpPr/>
            <p:nvPr/>
          </p:nvSpPr>
          <p:spPr>
            <a:xfrm>
              <a:off x="6570080" y="2217316"/>
              <a:ext cx="1901373" cy="1901932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4" name="íṡľíḍè-Freeform: Shape 27"/>
            <p:cNvSpPr/>
            <p:nvPr/>
          </p:nvSpPr>
          <p:spPr>
            <a:xfrm rot="10800000">
              <a:off x="6570080" y="3989141"/>
              <a:ext cx="1901373" cy="369032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9BBB59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7" name="îŝḷîḓé-Freeform: Shape 45"/>
            <p:cNvSpPr/>
            <p:nvPr/>
          </p:nvSpPr>
          <p:spPr bwMode="auto">
            <a:xfrm>
              <a:off x="7092722" y="2560327"/>
              <a:ext cx="851361" cy="851611"/>
            </a:xfrm>
            <a:custGeom>
              <a:avLst/>
              <a:gdLst>
                <a:gd name="T0" fmla="*/ 74 w 236"/>
                <a:gd name="T1" fmla="*/ 160 h 236"/>
                <a:gd name="T2" fmla="*/ 93 w 236"/>
                <a:gd name="T3" fmla="*/ 160 h 236"/>
                <a:gd name="T4" fmla="*/ 93 w 236"/>
                <a:gd name="T5" fmla="*/ 103 h 236"/>
                <a:gd name="T6" fmla="*/ 74 w 236"/>
                <a:gd name="T7" fmla="*/ 103 h 236"/>
                <a:gd name="T8" fmla="*/ 74 w 236"/>
                <a:gd name="T9" fmla="*/ 160 h 236"/>
                <a:gd name="T10" fmla="*/ 140 w 236"/>
                <a:gd name="T11" fmla="*/ 102 h 236"/>
                <a:gd name="T12" fmla="*/ 122 w 236"/>
                <a:gd name="T13" fmla="*/ 111 h 236"/>
                <a:gd name="T14" fmla="*/ 122 w 236"/>
                <a:gd name="T15" fmla="*/ 103 h 236"/>
                <a:gd name="T16" fmla="*/ 103 w 236"/>
                <a:gd name="T17" fmla="*/ 103 h 236"/>
                <a:gd name="T18" fmla="*/ 103 w 236"/>
                <a:gd name="T19" fmla="*/ 160 h 236"/>
                <a:gd name="T20" fmla="*/ 122 w 236"/>
                <a:gd name="T21" fmla="*/ 160 h 236"/>
                <a:gd name="T22" fmla="*/ 122 w 236"/>
                <a:gd name="T23" fmla="*/ 128 h 236"/>
                <a:gd name="T24" fmla="*/ 123 w 236"/>
                <a:gd name="T25" fmla="*/ 124 h 236"/>
                <a:gd name="T26" fmla="*/ 133 w 236"/>
                <a:gd name="T27" fmla="*/ 117 h 236"/>
                <a:gd name="T28" fmla="*/ 142 w 236"/>
                <a:gd name="T29" fmla="*/ 130 h 236"/>
                <a:gd name="T30" fmla="*/ 142 w 236"/>
                <a:gd name="T31" fmla="*/ 160 h 236"/>
                <a:gd name="T32" fmla="*/ 161 w 236"/>
                <a:gd name="T33" fmla="*/ 160 h 236"/>
                <a:gd name="T34" fmla="*/ 161 w 236"/>
                <a:gd name="T35" fmla="*/ 160 h 236"/>
                <a:gd name="T36" fmla="*/ 161 w 236"/>
                <a:gd name="T37" fmla="*/ 127 h 236"/>
                <a:gd name="T38" fmla="*/ 140 w 236"/>
                <a:gd name="T39" fmla="*/ 102 h 236"/>
                <a:gd name="T40" fmla="*/ 122 w 236"/>
                <a:gd name="T41" fmla="*/ 111 h 236"/>
                <a:gd name="T42" fmla="*/ 122 w 236"/>
                <a:gd name="T43" fmla="*/ 111 h 236"/>
                <a:gd name="T44" fmla="*/ 122 w 236"/>
                <a:gd name="T45" fmla="*/ 111 h 236"/>
                <a:gd name="T46" fmla="*/ 83 w 236"/>
                <a:gd name="T47" fmla="*/ 75 h 236"/>
                <a:gd name="T48" fmla="*/ 73 w 236"/>
                <a:gd name="T49" fmla="*/ 85 h 236"/>
                <a:gd name="T50" fmla="*/ 83 w 236"/>
                <a:gd name="T51" fmla="*/ 95 h 236"/>
                <a:gd name="T52" fmla="*/ 83 w 236"/>
                <a:gd name="T53" fmla="*/ 95 h 236"/>
                <a:gd name="T54" fmla="*/ 94 w 236"/>
                <a:gd name="T55" fmla="*/ 85 h 236"/>
                <a:gd name="T56" fmla="*/ 83 w 236"/>
                <a:gd name="T57" fmla="*/ 75 h 236"/>
                <a:gd name="T58" fmla="*/ 118 w 236"/>
                <a:gd name="T59" fmla="*/ 0 h 236"/>
                <a:gd name="T60" fmla="*/ 0 w 236"/>
                <a:gd name="T61" fmla="*/ 118 h 236"/>
                <a:gd name="T62" fmla="*/ 118 w 236"/>
                <a:gd name="T63" fmla="*/ 236 h 236"/>
                <a:gd name="T64" fmla="*/ 236 w 236"/>
                <a:gd name="T65" fmla="*/ 118 h 236"/>
                <a:gd name="T66" fmla="*/ 118 w 236"/>
                <a:gd name="T67" fmla="*/ 0 h 236"/>
                <a:gd name="T68" fmla="*/ 181 w 236"/>
                <a:gd name="T69" fmla="*/ 172 h 236"/>
                <a:gd name="T70" fmla="*/ 171 w 236"/>
                <a:gd name="T71" fmla="*/ 181 h 236"/>
                <a:gd name="T72" fmla="*/ 64 w 236"/>
                <a:gd name="T73" fmla="*/ 181 h 236"/>
                <a:gd name="T74" fmla="*/ 55 w 236"/>
                <a:gd name="T75" fmla="*/ 172 h 236"/>
                <a:gd name="T76" fmla="*/ 55 w 236"/>
                <a:gd name="T77" fmla="*/ 63 h 236"/>
                <a:gd name="T78" fmla="*/ 64 w 236"/>
                <a:gd name="T79" fmla="*/ 54 h 236"/>
                <a:gd name="T80" fmla="*/ 171 w 236"/>
                <a:gd name="T81" fmla="*/ 54 h 236"/>
                <a:gd name="T82" fmla="*/ 181 w 236"/>
                <a:gd name="T83" fmla="*/ 63 h 236"/>
                <a:gd name="T84" fmla="*/ 181 w 236"/>
                <a:gd name="T85" fmla="*/ 17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6" h="236">
                  <a:moveTo>
                    <a:pt x="74" y="16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93" y="103"/>
                    <a:pt x="93" y="103"/>
                    <a:pt x="93" y="103"/>
                  </a:cubicBezTo>
                  <a:cubicBezTo>
                    <a:pt x="74" y="103"/>
                    <a:pt x="74" y="103"/>
                    <a:pt x="74" y="103"/>
                  </a:cubicBezTo>
                  <a:lnTo>
                    <a:pt x="74" y="160"/>
                  </a:lnTo>
                  <a:close/>
                  <a:moveTo>
                    <a:pt x="140" y="102"/>
                  </a:moveTo>
                  <a:cubicBezTo>
                    <a:pt x="129" y="102"/>
                    <a:pt x="125" y="107"/>
                    <a:pt x="122" y="111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04" y="108"/>
                    <a:pt x="103" y="160"/>
                    <a:pt x="103" y="160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2" y="127"/>
                    <a:pt x="123" y="125"/>
                    <a:pt x="123" y="124"/>
                  </a:cubicBezTo>
                  <a:cubicBezTo>
                    <a:pt x="124" y="120"/>
                    <a:pt x="128" y="117"/>
                    <a:pt x="133" y="117"/>
                  </a:cubicBezTo>
                  <a:cubicBezTo>
                    <a:pt x="140" y="117"/>
                    <a:pt x="142" y="122"/>
                    <a:pt x="142" y="13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1" y="127"/>
                    <a:pt x="161" y="127"/>
                    <a:pt x="161" y="127"/>
                  </a:cubicBezTo>
                  <a:cubicBezTo>
                    <a:pt x="161" y="110"/>
                    <a:pt x="152" y="102"/>
                    <a:pt x="140" y="102"/>
                  </a:cubicBezTo>
                  <a:close/>
                  <a:moveTo>
                    <a:pt x="122" y="111"/>
                  </a:moveTo>
                  <a:cubicBezTo>
                    <a:pt x="122" y="111"/>
                    <a:pt x="122" y="111"/>
                    <a:pt x="122" y="111"/>
                  </a:cubicBezTo>
                  <a:cubicBezTo>
                    <a:pt x="122" y="111"/>
                    <a:pt x="122" y="111"/>
                    <a:pt x="122" y="111"/>
                  </a:cubicBezTo>
                  <a:close/>
                  <a:moveTo>
                    <a:pt x="83" y="75"/>
                  </a:moveTo>
                  <a:cubicBezTo>
                    <a:pt x="77" y="75"/>
                    <a:pt x="73" y="80"/>
                    <a:pt x="73" y="85"/>
                  </a:cubicBezTo>
                  <a:cubicBezTo>
                    <a:pt x="73" y="91"/>
                    <a:pt x="77" y="95"/>
                    <a:pt x="83" y="95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0" y="95"/>
                    <a:pt x="94" y="91"/>
                    <a:pt x="94" y="85"/>
                  </a:cubicBezTo>
                  <a:cubicBezTo>
                    <a:pt x="94" y="80"/>
                    <a:pt x="90" y="75"/>
                    <a:pt x="83" y="75"/>
                  </a:cubicBez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1" y="172"/>
                  </a:moveTo>
                  <a:cubicBezTo>
                    <a:pt x="181" y="177"/>
                    <a:pt x="176" y="181"/>
                    <a:pt x="171" y="181"/>
                  </a:cubicBezTo>
                  <a:cubicBezTo>
                    <a:pt x="64" y="181"/>
                    <a:pt x="64" y="181"/>
                    <a:pt x="64" y="181"/>
                  </a:cubicBezTo>
                  <a:cubicBezTo>
                    <a:pt x="59" y="181"/>
                    <a:pt x="55" y="177"/>
                    <a:pt x="55" y="172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58"/>
                    <a:pt x="59" y="54"/>
                    <a:pt x="64" y="54"/>
                  </a:cubicBezTo>
                  <a:cubicBezTo>
                    <a:pt x="171" y="54"/>
                    <a:pt x="171" y="54"/>
                    <a:pt x="171" y="54"/>
                  </a:cubicBezTo>
                  <a:cubicBezTo>
                    <a:pt x="176" y="54"/>
                    <a:pt x="181" y="58"/>
                    <a:pt x="181" y="63"/>
                  </a:cubicBezTo>
                  <a:cubicBezTo>
                    <a:pt x="181" y="172"/>
                    <a:pt x="181" y="172"/>
                    <a:pt x="181" y="172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9" name="Rectangle 1027"/>
          <p:cNvSpPr txBox="1">
            <a:spLocks noChangeArrowheads="1"/>
          </p:cNvSpPr>
          <p:nvPr/>
        </p:nvSpPr>
        <p:spPr bwMode="auto">
          <a:xfrm>
            <a:off x="2954338" y="4248150"/>
            <a:ext cx="1306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可读性</a:t>
            </a:r>
          </a:p>
        </p:txBody>
      </p:sp>
      <p:sp>
        <p:nvSpPr>
          <p:cNvPr id="80" name="Rectangle 1027"/>
          <p:cNvSpPr txBox="1">
            <a:spLocks noChangeArrowheads="1"/>
          </p:cNvSpPr>
          <p:nvPr/>
        </p:nvSpPr>
        <p:spPr bwMode="auto">
          <a:xfrm>
            <a:off x="4856163" y="4238625"/>
            <a:ext cx="13366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健壮性</a:t>
            </a:r>
          </a:p>
        </p:txBody>
      </p:sp>
      <p:sp>
        <p:nvSpPr>
          <p:cNvPr id="81" name="Rectangle 1027"/>
          <p:cNvSpPr txBox="1">
            <a:spLocks noChangeArrowheads="1"/>
          </p:cNvSpPr>
          <p:nvPr/>
        </p:nvSpPr>
        <p:spPr bwMode="auto">
          <a:xfrm>
            <a:off x="6777038" y="4238625"/>
            <a:ext cx="157638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高效性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8064A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时间代价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空间代价</a:t>
            </a:r>
          </a:p>
        </p:txBody>
      </p:sp>
    </p:spTree>
  </p:cSld>
  <p:clrMapOvr>
    <a:masterClrMapping/>
  </p:clrMapOvr>
  <p:transition>
    <p:spli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693377" y="940757"/>
            <a:ext cx="63309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44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正确性</a:t>
            </a:r>
            <a:r>
              <a:rPr lang="en-US" altLang="zh-CN" sz="4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(Correctness)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28600" y="1702757"/>
            <a:ext cx="85344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首先，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算法应当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以特定的</a:t>
            </a:r>
            <a:r>
              <a:rPr lang="zh-CN" altLang="en-US" b="1" dirty="0">
                <a:latin typeface="Times New Roman"/>
                <a:ea typeface="楷体_GB2312" pitchFamily="49" charset="-122"/>
              </a:rPr>
              <a:t>“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规格说明</a:t>
            </a:r>
            <a:r>
              <a:rPr lang="zh-CN" altLang="en-US" b="1" dirty="0">
                <a:latin typeface="Times New Roman"/>
                <a:ea typeface="楷体_GB2312" pitchFamily="49" charset="-122"/>
              </a:rPr>
              <a:t>”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方式给出的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需求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06374" y="3116690"/>
            <a:ext cx="85502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其次，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对算法是否</a:t>
            </a:r>
            <a:r>
              <a:rPr lang="zh-CN" altLang="en-US" b="1" dirty="0">
                <a:latin typeface="Times New Roman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</a:t>
            </a:r>
            <a:r>
              <a:rPr lang="zh-CN" altLang="en-US" b="1" dirty="0">
                <a:latin typeface="Times New Roman"/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理解可以有以下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四个层次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004887" y="4211814"/>
            <a:ext cx="6981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程序中不含语法错误；</a:t>
            </a:r>
            <a:endParaRPr lang="zh-CN" altLang="en-US" sz="2400"/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974725" y="4752975"/>
            <a:ext cx="76358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程序对于几组输入数据能够得出满足要求的结果；</a:t>
            </a:r>
          </a:p>
        </p:txBody>
      </p:sp>
    </p:spTree>
    <p:extLst>
      <p:ext uri="{BB962C8B-B14F-4D97-AF65-F5344CB8AC3E}">
        <p14:creationId xmlns:p14="http://schemas.microsoft.com/office/powerpoint/2010/main" val="2747093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  <p:bldP spid="43012" grpId="0" autoUpdateAnimBg="0"/>
      <p:bldP spid="43013" grpId="0" autoUpdateAnimBg="0"/>
      <p:bldP spid="43014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28600" y="1124744"/>
            <a:ext cx="8686800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c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．程序对于精心选择的、典型、苛刻且带有刁难性的几组输入数据能够得出满足要求的结果；</a:t>
            </a:r>
            <a:endParaRPr lang="zh-CN" altLang="en-US" sz="2400" dirty="0"/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568325" y="4403725"/>
            <a:ext cx="82708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000">
                <a:latin typeface="楷体_GB2312" pitchFamily="49" charset="-122"/>
                <a:ea typeface="楷体_GB2312" pitchFamily="49" charset="-122"/>
              </a:rPr>
              <a:t>通常以</a:t>
            </a:r>
            <a:r>
              <a:rPr lang="zh-CN" altLang="en-US" sz="400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zh-CN" altLang="en-US" sz="4000" b="1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4000" b="1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c </a:t>
            </a:r>
            <a:r>
              <a:rPr lang="zh-CN" altLang="en-US" sz="400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  <a:r>
              <a:rPr lang="zh-CN" altLang="en-US" sz="4000">
                <a:latin typeface="楷体_GB2312" pitchFamily="49" charset="-122"/>
                <a:ea typeface="楷体_GB2312" pitchFamily="49" charset="-122"/>
              </a:rPr>
              <a:t>意义的正确性作为衡量一个算法是否合格的标准。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365125" y="2711450"/>
            <a:ext cx="87788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程序对于一切合法的输入数据都能得出满足要求的结果；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436838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6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95288" y="990600"/>
            <a:ext cx="7727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5400" b="1" dirty="0">
                <a:ea typeface="楷体_GB2312" pitchFamily="49" charset="-122"/>
              </a:rPr>
              <a:t>2</a:t>
            </a:r>
            <a:r>
              <a:rPr lang="en-US" altLang="zh-CN" sz="5400" b="1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可读性</a:t>
            </a:r>
            <a:r>
              <a:rPr lang="en-US" altLang="zh-CN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(Readability)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28600" y="1905000"/>
            <a:ext cx="8610600" cy="384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算法主要是为了人的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阅读与交流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其次才是为计算机执行。因此算法应该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易于</a:t>
            </a:r>
            <a:r>
              <a:rPr lang="zh-CN" altLang="en-US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人的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理解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；另一方面，晦涩难读的程序易于隐藏较多错误而难以调试；</a:t>
            </a:r>
          </a:p>
          <a:p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833049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827088" y="908720"/>
            <a:ext cx="7385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5400" b="1" dirty="0">
                <a:ea typeface="楷体_GB2312" pitchFamily="49" charset="-122"/>
              </a:rPr>
              <a:t>3</a:t>
            </a:r>
            <a:r>
              <a:rPr lang="zh-CN" altLang="en-US" sz="54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健壮性</a:t>
            </a:r>
            <a:r>
              <a:rPr lang="en-US" altLang="zh-CN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(Robustness)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57200" y="1988840"/>
            <a:ext cx="8305800" cy="478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40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输入的数据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非法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时，算法应当恰当地作出反映或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进行相应处理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，而不是产生莫名奇妙的输出结果。并且，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处理出错的方法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不应是中断程序的执行，而应是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返回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表示错误或错误性质的值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，以便在更高的抽象层次上进行处理。</a:t>
            </a:r>
          </a:p>
        </p:txBody>
      </p:sp>
    </p:spTree>
    <p:extLst>
      <p:ext uri="{BB962C8B-B14F-4D97-AF65-F5344CB8AC3E}">
        <p14:creationId xmlns:p14="http://schemas.microsoft.com/office/powerpoint/2010/main" val="3694692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533400" y="980728"/>
            <a:ext cx="81232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5400" b="1">
                <a:ea typeface="楷体_GB2312" pitchFamily="49" charset="-122"/>
              </a:rPr>
              <a:t>4</a:t>
            </a:r>
            <a:r>
              <a:rPr lang="zh-CN" altLang="en-US" sz="5400" b="1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5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高效率与低存储量需求</a:t>
            </a:r>
            <a:endParaRPr lang="zh-CN" altLang="en-US" sz="24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838200" y="2060575"/>
            <a:ext cx="7194550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4000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通常，效率指的是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算法执行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时间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；存储量指的是算法执行过程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所需的最大存储空间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。两者都与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问题的规模有关。</a:t>
            </a:r>
          </a:p>
        </p:txBody>
      </p:sp>
    </p:spTree>
    <p:extLst>
      <p:ext uri="{BB962C8B-B14F-4D97-AF65-F5344CB8AC3E}">
        <p14:creationId xmlns:p14="http://schemas.microsoft.com/office/powerpoint/2010/main" val="3855713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-19050" y="3190875"/>
            <a:ext cx="9144000" cy="27352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36902" name="Rectangle 2054"/>
          <p:cNvSpPr>
            <a:spLocks noGrp="1" noChangeArrowheads="1"/>
          </p:cNvSpPr>
          <p:nvPr>
            <p:ph type="title"/>
          </p:nvPr>
        </p:nvSpPr>
        <p:spPr>
          <a:xfrm>
            <a:off x="879475" y="1187450"/>
            <a:ext cx="4454525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算法的效率的度量</a:t>
            </a:r>
          </a:p>
        </p:txBody>
      </p:sp>
      <p:sp>
        <p:nvSpPr>
          <p:cNvPr id="55297" name="Rectangle 2053"/>
          <p:cNvSpPr>
            <a:spLocks noGrp="1" noChangeArrowheads="1"/>
          </p:cNvSpPr>
          <p:nvPr>
            <p:ph idx="1"/>
          </p:nvPr>
        </p:nvSpPr>
        <p:spPr>
          <a:xfrm>
            <a:off x="-19050" y="1863725"/>
            <a:ext cx="9144000" cy="1090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用依据该算法编制的程序在计算机上执行所消耗的时间来度量	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2122488" y="5100638"/>
            <a:ext cx="17113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事后统计</a:t>
            </a:r>
          </a:p>
        </p:txBody>
      </p:sp>
      <p:grpSp>
        <p:nvGrpSpPr>
          <p:cNvPr id="62471" name="组合 6"/>
          <p:cNvGrpSpPr/>
          <p:nvPr/>
        </p:nvGrpSpPr>
        <p:grpSpPr>
          <a:xfrm>
            <a:off x="2139950" y="3475038"/>
            <a:ext cx="1276350" cy="1438275"/>
            <a:chOff x="1168053" y="2217316"/>
            <a:chExt cx="1901372" cy="2140857"/>
          </a:xfrm>
        </p:grpSpPr>
        <p:sp>
          <p:nvSpPr>
            <p:cNvPr id="8" name="íṡľíḍè-Rectangle 22"/>
            <p:cNvSpPr/>
            <p:nvPr/>
          </p:nvSpPr>
          <p:spPr>
            <a:xfrm>
              <a:off x="1168053" y="2217316"/>
              <a:ext cx="1901372" cy="190219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íṡľíḍè-Freeform: Shape 23"/>
            <p:cNvSpPr/>
            <p:nvPr/>
          </p:nvSpPr>
          <p:spPr>
            <a:xfrm rot="10800000">
              <a:off x="1168053" y="3987185"/>
              <a:ext cx="1901372" cy="370988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4F81B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îŝḷîḓé-Freeform: Shape 42"/>
            <p:cNvSpPr/>
            <p:nvPr/>
          </p:nvSpPr>
          <p:spPr bwMode="auto">
            <a:xfrm>
              <a:off x="1690695" y="2470154"/>
              <a:ext cx="943591" cy="942828"/>
            </a:xfrm>
            <a:custGeom>
              <a:avLst/>
              <a:gdLst>
                <a:gd name="T0" fmla="*/ 184 w 260"/>
                <a:gd name="T1" fmla="*/ 106 h 260"/>
                <a:gd name="T2" fmla="*/ 193 w 260"/>
                <a:gd name="T3" fmla="*/ 143 h 260"/>
                <a:gd name="T4" fmla="*/ 117 w 260"/>
                <a:gd name="T5" fmla="*/ 219 h 260"/>
                <a:gd name="T6" fmla="*/ 42 w 260"/>
                <a:gd name="T7" fmla="*/ 143 h 260"/>
                <a:gd name="T8" fmla="*/ 117 w 260"/>
                <a:gd name="T9" fmla="*/ 66 h 260"/>
                <a:gd name="T10" fmla="*/ 154 w 260"/>
                <a:gd name="T11" fmla="*/ 76 h 260"/>
                <a:gd name="T12" fmla="*/ 183 w 260"/>
                <a:gd name="T13" fmla="*/ 46 h 260"/>
                <a:gd name="T14" fmla="*/ 117 w 260"/>
                <a:gd name="T15" fmla="*/ 25 h 260"/>
                <a:gd name="T16" fmla="*/ 0 w 260"/>
                <a:gd name="T17" fmla="*/ 143 h 260"/>
                <a:gd name="T18" fmla="*/ 117 w 260"/>
                <a:gd name="T19" fmla="*/ 260 h 260"/>
                <a:gd name="T20" fmla="*/ 233 w 260"/>
                <a:gd name="T21" fmla="*/ 143 h 260"/>
                <a:gd name="T22" fmla="*/ 213 w 260"/>
                <a:gd name="T23" fmla="*/ 77 h 260"/>
                <a:gd name="T24" fmla="*/ 184 w 260"/>
                <a:gd name="T25" fmla="*/ 106 h 260"/>
                <a:gd name="T26" fmla="*/ 225 w 260"/>
                <a:gd name="T27" fmla="*/ 35 h 260"/>
                <a:gd name="T28" fmla="*/ 225 w 260"/>
                <a:gd name="T29" fmla="*/ 35 h 260"/>
                <a:gd name="T30" fmla="*/ 225 w 260"/>
                <a:gd name="T31" fmla="*/ 0 h 260"/>
                <a:gd name="T32" fmla="*/ 203 w 260"/>
                <a:gd name="T33" fmla="*/ 23 h 260"/>
                <a:gd name="T34" fmla="*/ 203 w 260"/>
                <a:gd name="T35" fmla="*/ 46 h 260"/>
                <a:gd name="T36" fmla="*/ 139 w 260"/>
                <a:gd name="T37" fmla="*/ 111 h 260"/>
                <a:gd name="T38" fmla="*/ 117 w 260"/>
                <a:gd name="T39" fmla="*/ 104 h 260"/>
                <a:gd name="T40" fmla="*/ 79 w 260"/>
                <a:gd name="T41" fmla="*/ 143 h 260"/>
                <a:gd name="T42" fmla="*/ 117 w 260"/>
                <a:gd name="T43" fmla="*/ 181 h 260"/>
                <a:gd name="T44" fmla="*/ 155 w 260"/>
                <a:gd name="T45" fmla="*/ 143 h 260"/>
                <a:gd name="T46" fmla="*/ 150 w 260"/>
                <a:gd name="T47" fmla="*/ 123 h 260"/>
                <a:gd name="T48" fmla="*/ 215 w 260"/>
                <a:gd name="T49" fmla="*/ 58 h 260"/>
                <a:gd name="T50" fmla="*/ 237 w 260"/>
                <a:gd name="T51" fmla="*/ 58 h 260"/>
                <a:gd name="T52" fmla="*/ 260 w 260"/>
                <a:gd name="T53" fmla="*/ 35 h 260"/>
                <a:gd name="T54" fmla="*/ 225 w 260"/>
                <a:gd name="T55" fmla="*/ 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" h="260">
                  <a:moveTo>
                    <a:pt x="184" y="106"/>
                  </a:moveTo>
                  <a:cubicBezTo>
                    <a:pt x="190" y="117"/>
                    <a:pt x="193" y="129"/>
                    <a:pt x="193" y="143"/>
                  </a:cubicBezTo>
                  <a:cubicBezTo>
                    <a:pt x="193" y="185"/>
                    <a:pt x="159" y="219"/>
                    <a:pt x="117" y="219"/>
                  </a:cubicBezTo>
                  <a:cubicBezTo>
                    <a:pt x="76" y="219"/>
                    <a:pt x="42" y="185"/>
                    <a:pt x="42" y="143"/>
                  </a:cubicBezTo>
                  <a:cubicBezTo>
                    <a:pt x="42" y="100"/>
                    <a:pt x="76" y="66"/>
                    <a:pt x="117" y="66"/>
                  </a:cubicBezTo>
                  <a:cubicBezTo>
                    <a:pt x="131" y="66"/>
                    <a:pt x="143" y="70"/>
                    <a:pt x="154" y="76"/>
                  </a:cubicBezTo>
                  <a:cubicBezTo>
                    <a:pt x="183" y="46"/>
                    <a:pt x="183" y="46"/>
                    <a:pt x="183" y="46"/>
                  </a:cubicBezTo>
                  <a:cubicBezTo>
                    <a:pt x="165" y="33"/>
                    <a:pt x="141" y="25"/>
                    <a:pt x="117" y="25"/>
                  </a:cubicBezTo>
                  <a:cubicBezTo>
                    <a:pt x="52" y="25"/>
                    <a:pt x="0" y="78"/>
                    <a:pt x="0" y="143"/>
                  </a:cubicBezTo>
                  <a:cubicBezTo>
                    <a:pt x="0" y="207"/>
                    <a:pt x="52" y="260"/>
                    <a:pt x="117" y="260"/>
                  </a:cubicBezTo>
                  <a:cubicBezTo>
                    <a:pt x="181" y="260"/>
                    <a:pt x="233" y="207"/>
                    <a:pt x="233" y="143"/>
                  </a:cubicBezTo>
                  <a:cubicBezTo>
                    <a:pt x="233" y="118"/>
                    <a:pt x="226" y="96"/>
                    <a:pt x="213" y="77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225" y="35"/>
                  </a:moveTo>
                  <a:cubicBezTo>
                    <a:pt x="225" y="35"/>
                    <a:pt x="225" y="35"/>
                    <a:pt x="225" y="35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3" y="46"/>
                    <a:pt x="203" y="46"/>
                    <a:pt x="203" y="46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3" y="106"/>
                    <a:pt x="125" y="104"/>
                    <a:pt x="117" y="104"/>
                  </a:cubicBezTo>
                  <a:cubicBezTo>
                    <a:pt x="96" y="104"/>
                    <a:pt x="79" y="121"/>
                    <a:pt x="79" y="143"/>
                  </a:cubicBezTo>
                  <a:cubicBezTo>
                    <a:pt x="79" y="164"/>
                    <a:pt x="96" y="181"/>
                    <a:pt x="117" y="181"/>
                  </a:cubicBezTo>
                  <a:cubicBezTo>
                    <a:pt x="138" y="181"/>
                    <a:pt x="155" y="164"/>
                    <a:pt x="155" y="143"/>
                  </a:cubicBezTo>
                  <a:cubicBezTo>
                    <a:pt x="155" y="136"/>
                    <a:pt x="154" y="129"/>
                    <a:pt x="150" y="123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25" y="35"/>
                    <a:pt x="225" y="35"/>
                    <a:pt x="225" y="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2472" name="组合 10"/>
          <p:cNvGrpSpPr/>
          <p:nvPr/>
        </p:nvGrpSpPr>
        <p:grpSpPr>
          <a:xfrm>
            <a:off x="5154613" y="3475038"/>
            <a:ext cx="1276350" cy="1439862"/>
            <a:chOff x="3869067" y="2217316"/>
            <a:chExt cx="1901372" cy="2144485"/>
          </a:xfrm>
        </p:grpSpPr>
        <p:sp>
          <p:nvSpPr>
            <p:cNvPr id="12" name="íṡľíḍè-Rectangle 18"/>
            <p:cNvSpPr/>
            <p:nvPr/>
          </p:nvSpPr>
          <p:spPr>
            <a:xfrm>
              <a:off x="3869067" y="2217316"/>
              <a:ext cx="1901372" cy="1900955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íṡľíḍè-Freeform: Shape 19"/>
            <p:cNvSpPr/>
            <p:nvPr/>
          </p:nvSpPr>
          <p:spPr>
            <a:xfrm rot="10800000">
              <a:off x="3869067" y="3990595"/>
              <a:ext cx="1901372" cy="371206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îŝḷîḓé-Freeform: Shape 44"/>
            <p:cNvSpPr/>
            <p:nvPr/>
          </p:nvSpPr>
          <p:spPr bwMode="auto">
            <a:xfrm>
              <a:off x="4389343" y="2567243"/>
              <a:ext cx="851361" cy="851174"/>
            </a:xfrm>
            <a:custGeom>
              <a:avLst/>
              <a:gdLst>
                <a:gd name="T0" fmla="*/ 187 w 228"/>
                <a:gd name="T1" fmla="*/ 114 h 240"/>
                <a:gd name="T2" fmla="*/ 114 w 228"/>
                <a:gd name="T3" fmla="*/ 40 h 240"/>
                <a:gd name="T4" fmla="*/ 40 w 228"/>
                <a:gd name="T5" fmla="*/ 114 h 240"/>
                <a:gd name="T6" fmla="*/ 68 w 228"/>
                <a:gd name="T7" fmla="*/ 171 h 240"/>
                <a:gd name="T8" fmla="*/ 74 w 228"/>
                <a:gd name="T9" fmla="*/ 173 h 240"/>
                <a:gd name="T10" fmla="*/ 81 w 228"/>
                <a:gd name="T11" fmla="*/ 169 h 240"/>
                <a:gd name="T12" fmla="*/ 79 w 228"/>
                <a:gd name="T13" fmla="*/ 156 h 240"/>
                <a:gd name="T14" fmla="*/ 59 w 228"/>
                <a:gd name="T15" fmla="*/ 114 h 240"/>
                <a:gd name="T16" fmla="*/ 114 w 228"/>
                <a:gd name="T17" fmla="*/ 59 h 240"/>
                <a:gd name="T18" fmla="*/ 169 w 228"/>
                <a:gd name="T19" fmla="*/ 114 h 240"/>
                <a:gd name="T20" fmla="*/ 152 w 228"/>
                <a:gd name="T21" fmla="*/ 153 h 240"/>
                <a:gd name="T22" fmla="*/ 151 w 228"/>
                <a:gd name="T23" fmla="*/ 166 h 240"/>
                <a:gd name="T24" fmla="*/ 165 w 228"/>
                <a:gd name="T25" fmla="*/ 167 h 240"/>
                <a:gd name="T26" fmla="*/ 187 w 228"/>
                <a:gd name="T27" fmla="*/ 114 h 240"/>
                <a:gd name="T28" fmla="*/ 116 w 228"/>
                <a:gd name="T29" fmla="*/ 79 h 240"/>
                <a:gd name="T30" fmla="*/ 81 w 228"/>
                <a:gd name="T31" fmla="*/ 114 h 240"/>
                <a:gd name="T32" fmla="*/ 101 w 228"/>
                <a:gd name="T33" fmla="*/ 144 h 240"/>
                <a:gd name="T34" fmla="*/ 101 w 228"/>
                <a:gd name="T35" fmla="*/ 226 h 240"/>
                <a:gd name="T36" fmla="*/ 115 w 228"/>
                <a:gd name="T37" fmla="*/ 240 h 240"/>
                <a:gd name="T38" fmla="*/ 129 w 228"/>
                <a:gd name="T39" fmla="*/ 226 h 240"/>
                <a:gd name="T40" fmla="*/ 129 w 228"/>
                <a:gd name="T41" fmla="*/ 145 h 240"/>
                <a:gd name="T42" fmla="*/ 150 w 228"/>
                <a:gd name="T43" fmla="*/ 114 h 240"/>
                <a:gd name="T44" fmla="*/ 116 w 228"/>
                <a:gd name="T45" fmla="*/ 79 h 240"/>
                <a:gd name="T46" fmla="*/ 114 w 228"/>
                <a:gd name="T47" fmla="*/ 0 h 240"/>
                <a:gd name="T48" fmla="*/ 0 w 228"/>
                <a:gd name="T49" fmla="*/ 114 h 240"/>
                <a:gd name="T50" fmla="*/ 52 w 228"/>
                <a:gd name="T51" fmla="*/ 209 h 240"/>
                <a:gd name="T52" fmla="*/ 57 w 228"/>
                <a:gd name="T53" fmla="*/ 211 h 240"/>
                <a:gd name="T54" fmla="*/ 65 w 228"/>
                <a:gd name="T55" fmla="*/ 206 h 240"/>
                <a:gd name="T56" fmla="*/ 62 w 228"/>
                <a:gd name="T57" fmla="*/ 193 h 240"/>
                <a:gd name="T58" fmla="*/ 19 w 228"/>
                <a:gd name="T59" fmla="*/ 114 h 240"/>
                <a:gd name="T60" fmla="*/ 114 w 228"/>
                <a:gd name="T61" fmla="*/ 18 h 240"/>
                <a:gd name="T62" fmla="*/ 209 w 228"/>
                <a:gd name="T63" fmla="*/ 114 h 240"/>
                <a:gd name="T64" fmla="*/ 168 w 228"/>
                <a:gd name="T65" fmla="*/ 192 h 240"/>
                <a:gd name="T66" fmla="*/ 165 w 228"/>
                <a:gd name="T67" fmla="*/ 205 h 240"/>
                <a:gd name="T68" fmla="*/ 178 w 228"/>
                <a:gd name="T69" fmla="*/ 208 h 240"/>
                <a:gd name="T70" fmla="*/ 228 w 228"/>
                <a:gd name="T71" fmla="*/ 114 h 240"/>
                <a:gd name="T72" fmla="*/ 114 w 228"/>
                <a:gd name="T7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240">
                  <a:moveTo>
                    <a:pt x="187" y="114"/>
                  </a:moveTo>
                  <a:cubicBezTo>
                    <a:pt x="187" y="73"/>
                    <a:pt x="154" y="40"/>
                    <a:pt x="114" y="40"/>
                  </a:cubicBezTo>
                  <a:cubicBezTo>
                    <a:pt x="73" y="40"/>
                    <a:pt x="40" y="73"/>
                    <a:pt x="40" y="114"/>
                  </a:cubicBezTo>
                  <a:cubicBezTo>
                    <a:pt x="40" y="136"/>
                    <a:pt x="50" y="157"/>
                    <a:pt x="68" y="171"/>
                  </a:cubicBezTo>
                  <a:cubicBezTo>
                    <a:pt x="69" y="172"/>
                    <a:pt x="71" y="173"/>
                    <a:pt x="74" y="173"/>
                  </a:cubicBezTo>
                  <a:cubicBezTo>
                    <a:pt x="76" y="173"/>
                    <a:pt x="79" y="171"/>
                    <a:pt x="81" y="169"/>
                  </a:cubicBezTo>
                  <a:cubicBezTo>
                    <a:pt x="84" y="165"/>
                    <a:pt x="83" y="159"/>
                    <a:pt x="79" y="156"/>
                  </a:cubicBezTo>
                  <a:cubicBezTo>
                    <a:pt x="67" y="146"/>
                    <a:pt x="59" y="130"/>
                    <a:pt x="59" y="114"/>
                  </a:cubicBezTo>
                  <a:cubicBezTo>
                    <a:pt x="59" y="83"/>
                    <a:pt x="84" y="59"/>
                    <a:pt x="114" y="59"/>
                  </a:cubicBezTo>
                  <a:cubicBezTo>
                    <a:pt x="144" y="59"/>
                    <a:pt x="169" y="83"/>
                    <a:pt x="169" y="114"/>
                  </a:cubicBezTo>
                  <a:cubicBezTo>
                    <a:pt x="169" y="129"/>
                    <a:pt x="163" y="143"/>
                    <a:pt x="152" y="153"/>
                  </a:cubicBezTo>
                  <a:cubicBezTo>
                    <a:pt x="148" y="157"/>
                    <a:pt x="148" y="163"/>
                    <a:pt x="151" y="166"/>
                  </a:cubicBezTo>
                  <a:cubicBezTo>
                    <a:pt x="155" y="170"/>
                    <a:pt x="161" y="170"/>
                    <a:pt x="165" y="167"/>
                  </a:cubicBezTo>
                  <a:cubicBezTo>
                    <a:pt x="179" y="153"/>
                    <a:pt x="187" y="134"/>
                    <a:pt x="187" y="114"/>
                  </a:cubicBezTo>
                  <a:close/>
                  <a:moveTo>
                    <a:pt x="116" y="79"/>
                  </a:moveTo>
                  <a:cubicBezTo>
                    <a:pt x="97" y="79"/>
                    <a:pt x="81" y="95"/>
                    <a:pt x="81" y="114"/>
                  </a:cubicBezTo>
                  <a:cubicBezTo>
                    <a:pt x="81" y="127"/>
                    <a:pt x="89" y="139"/>
                    <a:pt x="101" y="144"/>
                  </a:cubicBezTo>
                  <a:cubicBezTo>
                    <a:pt x="101" y="226"/>
                    <a:pt x="101" y="226"/>
                    <a:pt x="101" y="226"/>
                  </a:cubicBezTo>
                  <a:cubicBezTo>
                    <a:pt x="101" y="233"/>
                    <a:pt x="107" y="240"/>
                    <a:pt x="115" y="240"/>
                  </a:cubicBezTo>
                  <a:cubicBezTo>
                    <a:pt x="123" y="240"/>
                    <a:pt x="129" y="233"/>
                    <a:pt x="129" y="22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41" y="140"/>
                    <a:pt x="150" y="128"/>
                    <a:pt x="150" y="114"/>
                  </a:cubicBezTo>
                  <a:cubicBezTo>
                    <a:pt x="150" y="95"/>
                    <a:pt x="134" y="79"/>
                    <a:pt x="116" y="79"/>
                  </a:cubicBezTo>
                  <a:close/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52"/>
                    <a:pt x="19" y="188"/>
                    <a:pt x="52" y="209"/>
                  </a:cubicBezTo>
                  <a:cubicBezTo>
                    <a:pt x="54" y="210"/>
                    <a:pt x="55" y="211"/>
                    <a:pt x="57" y="211"/>
                  </a:cubicBezTo>
                  <a:cubicBezTo>
                    <a:pt x="60" y="211"/>
                    <a:pt x="63" y="209"/>
                    <a:pt x="65" y="206"/>
                  </a:cubicBezTo>
                  <a:cubicBezTo>
                    <a:pt x="68" y="202"/>
                    <a:pt x="67" y="196"/>
                    <a:pt x="62" y="193"/>
                  </a:cubicBezTo>
                  <a:cubicBezTo>
                    <a:pt x="35" y="176"/>
                    <a:pt x="19" y="146"/>
                    <a:pt x="19" y="114"/>
                  </a:cubicBezTo>
                  <a:cubicBezTo>
                    <a:pt x="19" y="61"/>
                    <a:pt x="61" y="18"/>
                    <a:pt x="114" y="18"/>
                  </a:cubicBezTo>
                  <a:cubicBezTo>
                    <a:pt x="166" y="18"/>
                    <a:pt x="209" y="61"/>
                    <a:pt x="209" y="114"/>
                  </a:cubicBezTo>
                  <a:cubicBezTo>
                    <a:pt x="209" y="145"/>
                    <a:pt x="194" y="174"/>
                    <a:pt x="168" y="192"/>
                  </a:cubicBezTo>
                  <a:cubicBezTo>
                    <a:pt x="163" y="195"/>
                    <a:pt x="162" y="201"/>
                    <a:pt x="165" y="205"/>
                  </a:cubicBezTo>
                  <a:cubicBezTo>
                    <a:pt x="168" y="209"/>
                    <a:pt x="174" y="211"/>
                    <a:pt x="178" y="208"/>
                  </a:cubicBezTo>
                  <a:cubicBezTo>
                    <a:pt x="209" y="186"/>
                    <a:pt x="228" y="151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5" name="Rectangle 1027"/>
          <p:cNvSpPr txBox="1">
            <a:spLocks noChangeArrowheads="1"/>
          </p:cNvSpPr>
          <p:nvPr/>
        </p:nvSpPr>
        <p:spPr bwMode="auto">
          <a:xfrm>
            <a:off x="4879975" y="5094288"/>
            <a:ext cx="21399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事前分析估计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536575" y="1779588"/>
            <a:ext cx="8061325" cy="15605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6575" y="3532188"/>
            <a:ext cx="5464175" cy="208915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等腰三角形 30"/>
          <p:cNvSpPr/>
          <p:nvPr/>
        </p:nvSpPr>
        <p:spPr>
          <a:xfrm rot="16200000" flipH="1">
            <a:off x="6308725" y="3336925"/>
            <a:ext cx="2089150" cy="2479675"/>
          </a:xfrm>
          <a:custGeom>
            <a:avLst/>
            <a:gdLst/>
            <a:ahLst/>
            <a:cxnLst/>
            <a:rect l="l" t="t" r="r" b="b"/>
            <a:pathLst>
              <a:path w="1450218" h="1860602">
                <a:moveTo>
                  <a:pt x="0" y="132410"/>
                </a:moveTo>
                <a:lnTo>
                  <a:pt x="0" y="1860602"/>
                </a:lnTo>
                <a:lnTo>
                  <a:pt x="1450218" y="1860602"/>
                </a:lnTo>
                <a:lnTo>
                  <a:pt x="1450218" y="132410"/>
                </a:lnTo>
                <a:lnTo>
                  <a:pt x="867461" y="132410"/>
                </a:lnTo>
                <a:lnTo>
                  <a:pt x="725109" y="0"/>
                </a:lnTo>
                <a:lnTo>
                  <a:pt x="582757" y="132410"/>
                </a:lnTo>
                <a:close/>
              </a:path>
            </a:pathLst>
          </a:cu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321" name="Rectangle 4"/>
          <p:cNvSpPr>
            <a:spLocks noChangeArrowheads="1"/>
          </p:cNvSpPr>
          <p:nvPr/>
        </p:nvSpPr>
        <p:spPr bwMode="auto">
          <a:xfrm>
            <a:off x="874713" y="2033588"/>
            <a:ext cx="7400925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事后统计：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利用计算机内的计时功能，不同算法的程序可以用一组或多组相同的统计数据区分</a:t>
            </a:r>
          </a:p>
        </p:txBody>
      </p:sp>
      <p:sp>
        <p:nvSpPr>
          <p:cNvPr id="437253" name="Rectangle 5"/>
          <p:cNvSpPr>
            <a:spLocks noChangeArrowheads="1"/>
          </p:cNvSpPr>
          <p:nvPr/>
        </p:nvSpPr>
        <p:spPr bwMode="auto">
          <a:xfrm>
            <a:off x="7051675" y="4268788"/>
            <a:ext cx="968375" cy="596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缺点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00088" y="3833813"/>
            <a:ext cx="5137150" cy="153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必须先运行依据算法编制的程序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所得时间统计量依赖于硬件、软件等环境因素，掩盖算法本身的优劣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37253" grpId="0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0" y="971550"/>
            <a:ext cx="9144000" cy="35337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57345" name="Rectangle 4"/>
          <p:cNvSpPr>
            <a:spLocks noChangeArrowheads="1"/>
          </p:cNvSpPr>
          <p:nvPr/>
        </p:nvSpPr>
        <p:spPr bwMode="auto">
          <a:xfrm>
            <a:off x="303213" y="1052513"/>
            <a:ext cx="8589963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事前分析估计：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一个高级语言程序在计算机上运行所消耗的时间取决于：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依据的算法选用何种策略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问题的规模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程序语言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编译程序产生机器代码质量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机器执行指令速度    </a:t>
            </a:r>
          </a:p>
        </p:txBody>
      </p:sp>
      <p:sp>
        <p:nvSpPr>
          <p:cNvPr id="57346" name="Rectangle 5"/>
          <p:cNvSpPr>
            <a:spLocks noChangeArrowheads="1"/>
          </p:cNvSpPr>
          <p:nvPr/>
        </p:nvSpPr>
        <p:spPr bwMode="auto">
          <a:xfrm>
            <a:off x="258763" y="4656138"/>
            <a:ext cx="8677275" cy="1533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62992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同一个算法用不同的语言、不同的编译程序、在不同的计算机上运行，效率均不同，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———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使用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绝对时间单位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衡量算法效率不合适</a:t>
            </a:r>
          </a:p>
        </p:txBody>
      </p:sp>
      <p:sp>
        <p:nvSpPr>
          <p:cNvPr id="4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算法和算法分析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0" y="6380163"/>
            <a:ext cx="9144000" cy="431800"/>
            <a:chOff x="0" y="6379908"/>
            <a:chExt cx="9144000" cy="432048"/>
          </a:xfrm>
        </p:grpSpPr>
        <p:grpSp>
          <p:nvGrpSpPr>
            <p:cNvPr id="64519" name="组合 5"/>
            <p:cNvGrpSpPr/>
            <p:nvPr/>
          </p:nvGrpSpPr>
          <p:grpSpPr>
            <a:xfrm>
              <a:off x="0" y="6379908"/>
              <a:ext cx="9144000" cy="432048"/>
              <a:chOff x="0" y="6165304"/>
              <a:chExt cx="9144000" cy="432048"/>
            </a:xfrm>
          </p:grpSpPr>
          <p:cxnSp>
            <p:nvCxnSpPr>
              <p:cNvPr id="64521" name="直接连接符 6"/>
              <p:cNvCxnSpPr/>
              <p:nvPr/>
            </p:nvCxnSpPr>
            <p:spPr>
              <a:xfrm>
                <a:off x="0" y="6597352"/>
                <a:ext cx="9144000" cy="0"/>
              </a:xfrm>
              <a:prstGeom prst="line">
                <a:avLst/>
              </a:prstGeom>
              <a:ln w="1428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" name="直接连接符 9"/>
              <p:cNvCxnSpPr/>
              <p:nvPr/>
            </p:nvCxnSpPr>
            <p:spPr bwMode="auto">
              <a:xfrm>
                <a:off x="2339975" y="6381328"/>
                <a:ext cx="6804025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23" name="直接连接符 8"/>
              <p:cNvCxnSpPr/>
              <p:nvPr/>
            </p:nvCxnSpPr>
            <p:spPr>
              <a:xfrm>
                <a:off x="4283968" y="6165304"/>
                <a:ext cx="4860032" cy="0"/>
              </a:xfrm>
              <a:prstGeom prst="line">
                <a:avLst/>
              </a:prstGeom>
              <a:ln w="57150" cap="flat" cmpd="sng">
                <a:solidFill>
                  <a:srgbClr val="E2D9EB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8" name="Shape 26"/>
            <p:cNvSpPr/>
            <p:nvPr/>
          </p:nvSpPr>
          <p:spPr>
            <a:xfrm flipH="1">
              <a:off x="0" y="6449798"/>
              <a:ext cx="2128838" cy="292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0" y="102222"/>
                  </a:lnTo>
                  <a:lnTo>
                    <a:pt x="583" y="102222"/>
                  </a:lnTo>
                  <a:lnTo>
                    <a:pt x="583" y="89777"/>
                  </a:lnTo>
                  <a:lnTo>
                    <a:pt x="4166" y="89777"/>
                  </a:lnTo>
                  <a:lnTo>
                    <a:pt x="4166" y="79111"/>
                  </a:lnTo>
                  <a:lnTo>
                    <a:pt x="6416" y="79111"/>
                  </a:lnTo>
                  <a:lnTo>
                    <a:pt x="6416" y="91111"/>
                  </a:lnTo>
                  <a:lnTo>
                    <a:pt x="7625" y="91111"/>
                  </a:lnTo>
                  <a:lnTo>
                    <a:pt x="7625" y="79111"/>
                  </a:lnTo>
                  <a:lnTo>
                    <a:pt x="8958" y="79111"/>
                  </a:lnTo>
                  <a:lnTo>
                    <a:pt x="8958" y="45333"/>
                  </a:lnTo>
                  <a:lnTo>
                    <a:pt x="9541" y="45333"/>
                  </a:lnTo>
                  <a:lnTo>
                    <a:pt x="9541" y="39111"/>
                  </a:lnTo>
                  <a:lnTo>
                    <a:pt x="10958" y="39111"/>
                  </a:lnTo>
                  <a:lnTo>
                    <a:pt x="10958" y="45333"/>
                  </a:lnTo>
                  <a:lnTo>
                    <a:pt x="11583" y="45333"/>
                  </a:lnTo>
                  <a:lnTo>
                    <a:pt x="11583" y="76000"/>
                  </a:lnTo>
                  <a:lnTo>
                    <a:pt x="12083" y="76000"/>
                  </a:lnTo>
                  <a:lnTo>
                    <a:pt x="12083" y="95555"/>
                  </a:lnTo>
                  <a:lnTo>
                    <a:pt x="13250" y="95555"/>
                  </a:lnTo>
                  <a:lnTo>
                    <a:pt x="13250" y="60000"/>
                  </a:lnTo>
                  <a:lnTo>
                    <a:pt x="14041" y="60000"/>
                  </a:lnTo>
                  <a:lnTo>
                    <a:pt x="14041" y="45333"/>
                  </a:lnTo>
                  <a:lnTo>
                    <a:pt x="14583" y="45333"/>
                  </a:lnTo>
                  <a:lnTo>
                    <a:pt x="14583" y="27555"/>
                  </a:lnTo>
                  <a:lnTo>
                    <a:pt x="14958" y="27555"/>
                  </a:lnTo>
                  <a:lnTo>
                    <a:pt x="14958" y="14222"/>
                  </a:lnTo>
                  <a:lnTo>
                    <a:pt x="15333" y="14222"/>
                  </a:lnTo>
                  <a:lnTo>
                    <a:pt x="15333" y="0"/>
                  </a:lnTo>
                  <a:lnTo>
                    <a:pt x="15958" y="0"/>
                  </a:lnTo>
                  <a:lnTo>
                    <a:pt x="15958" y="13777"/>
                  </a:lnTo>
                  <a:lnTo>
                    <a:pt x="16416" y="13777"/>
                  </a:lnTo>
                  <a:lnTo>
                    <a:pt x="16416" y="24888"/>
                  </a:lnTo>
                  <a:lnTo>
                    <a:pt x="16791" y="24888"/>
                  </a:lnTo>
                  <a:lnTo>
                    <a:pt x="16791" y="46222"/>
                  </a:lnTo>
                  <a:lnTo>
                    <a:pt x="17333" y="46222"/>
                  </a:lnTo>
                  <a:lnTo>
                    <a:pt x="17333" y="61333"/>
                  </a:lnTo>
                  <a:lnTo>
                    <a:pt x="17916" y="61333"/>
                  </a:lnTo>
                  <a:lnTo>
                    <a:pt x="17916" y="101333"/>
                  </a:lnTo>
                  <a:lnTo>
                    <a:pt x="18875" y="101333"/>
                  </a:lnTo>
                  <a:lnTo>
                    <a:pt x="18875" y="92000"/>
                  </a:lnTo>
                  <a:lnTo>
                    <a:pt x="20958" y="92000"/>
                  </a:lnTo>
                  <a:lnTo>
                    <a:pt x="20958" y="96444"/>
                  </a:lnTo>
                  <a:lnTo>
                    <a:pt x="21750" y="96444"/>
                  </a:lnTo>
                  <a:lnTo>
                    <a:pt x="21750" y="54666"/>
                  </a:lnTo>
                  <a:lnTo>
                    <a:pt x="22333" y="54666"/>
                  </a:lnTo>
                  <a:lnTo>
                    <a:pt x="22333" y="42666"/>
                  </a:lnTo>
                  <a:lnTo>
                    <a:pt x="24166" y="42666"/>
                  </a:lnTo>
                  <a:lnTo>
                    <a:pt x="24166" y="53777"/>
                  </a:lnTo>
                  <a:lnTo>
                    <a:pt x="24583" y="56888"/>
                  </a:lnTo>
                  <a:lnTo>
                    <a:pt x="24583" y="85777"/>
                  </a:lnTo>
                  <a:lnTo>
                    <a:pt x="25291" y="85777"/>
                  </a:lnTo>
                  <a:lnTo>
                    <a:pt x="25291" y="79555"/>
                  </a:lnTo>
                  <a:lnTo>
                    <a:pt x="27125" y="79555"/>
                  </a:lnTo>
                  <a:lnTo>
                    <a:pt x="27125" y="86222"/>
                  </a:lnTo>
                  <a:lnTo>
                    <a:pt x="28208" y="86222"/>
                  </a:lnTo>
                  <a:lnTo>
                    <a:pt x="28208" y="92000"/>
                  </a:lnTo>
                  <a:lnTo>
                    <a:pt x="29416" y="92000"/>
                  </a:lnTo>
                  <a:lnTo>
                    <a:pt x="29416" y="83555"/>
                  </a:lnTo>
                  <a:lnTo>
                    <a:pt x="30250" y="83555"/>
                  </a:lnTo>
                  <a:lnTo>
                    <a:pt x="30250" y="65777"/>
                  </a:lnTo>
                  <a:lnTo>
                    <a:pt x="35041" y="65777"/>
                  </a:lnTo>
                  <a:lnTo>
                    <a:pt x="35041" y="83555"/>
                  </a:lnTo>
                  <a:lnTo>
                    <a:pt x="35875" y="83555"/>
                  </a:lnTo>
                  <a:lnTo>
                    <a:pt x="35875" y="65777"/>
                  </a:lnTo>
                  <a:lnTo>
                    <a:pt x="39916" y="65777"/>
                  </a:lnTo>
                  <a:lnTo>
                    <a:pt x="39916" y="72888"/>
                  </a:lnTo>
                  <a:lnTo>
                    <a:pt x="41041" y="72888"/>
                  </a:lnTo>
                  <a:lnTo>
                    <a:pt x="41041" y="99555"/>
                  </a:lnTo>
                  <a:lnTo>
                    <a:pt x="42583" y="99555"/>
                  </a:lnTo>
                  <a:lnTo>
                    <a:pt x="42583" y="76888"/>
                  </a:lnTo>
                  <a:lnTo>
                    <a:pt x="45250" y="56000"/>
                  </a:lnTo>
                  <a:lnTo>
                    <a:pt x="47875" y="76888"/>
                  </a:lnTo>
                  <a:lnTo>
                    <a:pt x="47875" y="88888"/>
                  </a:lnTo>
                  <a:lnTo>
                    <a:pt x="48666" y="88888"/>
                  </a:lnTo>
                  <a:lnTo>
                    <a:pt x="48666" y="104000"/>
                  </a:lnTo>
                  <a:lnTo>
                    <a:pt x="49208" y="104000"/>
                  </a:lnTo>
                  <a:lnTo>
                    <a:pt x="49208" y="73333"/>
                  </a:lnTo>
                  <a:lnTo>
                    <a:pt x="51500" y="73333"/>
                  </a:lnTo>
                  <a:lnTo>
                    <a:pt x="51500" y="85777"/>
                  </a:lnTo>
                  <a:lnTo>
                    <a:pt x="53708" y="85777"/>
                  </a:lnTo>
                  <a:lnTo>
                    <a:pt x="53708" y="94666"/>
                  </a:lnTo>
                  <a:lnTo>
                    <a:pt x="54500" y="94666"/>
                  </a:lnTo>
                  <a:lnTo>
                    <a:pt x="54500" y="85777"/>
                  </a:lnTo>
                  <a:lnTo>
                    <a:pt x="57125" y="85777"/>
                  </a:lnTo>
                  <a:lnTo>
                    <a:pt x="57125" y="102222"/>
                  </a:lnTo>
                  <a:lnTo>
                    <a:pt x="57625" y="102222"/>
                  </a:lnTo>
                  <a:lnTo>
                    <a:pt x="57625" y="104888"/>
                  </a:lnTo>
                  <a:lnTo>
                    <a:pt x="58875" y="104888"/>
                  </a:lnTo>
                  <a:lnTo>
                    <a:pt x="58875" y="94222"/>
                  </a:lnTo>
                  <a:lnTo>
                    <a:pt x="61666" y="94222"/>
                  </a:lnTo>
                  <a:lnTo>
                    <a:pt x="61666" y="89777"/>
                  </a:lnTo>
                  <a:lnTo>
                    <a:pt x="62250" y="89777"/>
                  </a:lnTo>
                  <a:lnTo>
                    <a:pt x="62250" y="84000"/>
                  </a:lnTo>
                  <a:lnTo>
                    <a:pt x="62833" y="84000"/>
                  </a:lnTo>
                  <a:lnTo>
                    <a:pt x="62833" y="88888"/>
                  </a:lnTo>
                  <a:lnTo>
                    <a:pt x="63500" y="88888"/>
                  </a:lnTo>
                  <a:lnTo>
                    <a:pt x="63500" y="83111"/>
                  </a:lnTo>
                  <a:lnTo>
                    <a:pt x="64999" y="83111"/>
                  </a:lnTo>
                  <a:lnTo>
                    <a:pt x="64999" y="88444"/>
                  </a:lnTo>
                  <a:lnTo>
                    <a:pt x="65666" y="88444"/>
                  </a:lnTo>
                  <a:lnTo>
                    <a:pt x="65666" y="103111"/>
                  </a:lnTo>
                  <a:lnTo>
                    <a:pt x="66916" y="103111"/>
                  </a:lnTo>
                  <a:lnTo>
                    <a:pt x="66916" y="82666"/>
                  </a:lnTo>
                  <a:lnTo>
                    <a:pt x="69375" y="82666"/>
                  </a:lnTo>
                  <a:lnTo>
                    <a:pt x="69375" y="88888"/>
                  </a:lnTo>
                  <a:lnTo>
                    <a:pt x="70416" y="88888"/>
                  </a:lnTo>
                  <a:lnTo>
                    <a:pt x="70416" y="46222"/>
                  </a:lnTo>
                  <a:lnTo>
                    <a:pt x="71500" y="35111"/>
                  </a:lnTo>
                  <a:lnTo>
                    <a:pt x="72458" y="45777"/>
                  </a:lnTo>
                  <a:lnTo>
                    <a:pt x="72458" y="103111"/>
                  </a:lnTo>
                  <a:lnTo>
                    <a:pt x="73583" y="103111"/>
                  </a:lnTo>
                  <a:lnTo>
                    <a:pt x="73583" y="47555"/>
                  </a:lnTo>
                  <a:lnTo>
                    <a:pt x="76916" y="47555"/>
                  </a:lnTo>
                  <a:lnTo>
                    <a:pt x="76916" y="97777"/>
                  </a:lnTo>
                  <a:lnTo>
                    <a:pt x="77541" y="97777"/>
                  </a:lnTo>
                  <a:lnTo>
                    <a:pt x="77541" y="85777"/>
                  </a:lnTo>
                  <a:lnTo>
                    <a:pt x="79000" y="85777"/>
                  </a:lnTo>
                  <a:lnTo>
                    <a:pt x="79000" y="92888"/>
                  </a:lnTo>
                  <a:lnTo>
                    <a:pt x="82000" y="92888"/>
                  </a:lnTo>
                  <a:lnTo>
                    <a:pt x="82000" y="102222"/>
                  </a:lnTo>
                  <a:lnTo>
                    <a:pt x="84333" y="102222"/>
                  </a:lnTo>
                  <a:lnTo>
                    <a:pt x="84333" y="88000"/>
                  </a:lnTo>
                  <a:lnTo>
                    <a:pt x="85583" y="88000"/>
                  </a:lnTo>
                  <a:lnTo>
                    <a:pt x="85583" y="96000"/>
                  </a:lnTo>
                  <a:lnTo>
                    <a:pt x="86500" y="96000"/>
                  </a:lnTo>
                  <a:lnTo>
                    <a:pt x="86500" y="91111"/>
                  </a:lnTo>
                  <a:lnTo>
                    <a:pt x="87791" y="91111"/>
                  </a:lnTo>
                  <a:lnTo>
                    <a:pt x="87791" y="84888"/>
                  </a:lnTo>
                  <a:lnTo>
                    <a:pt x="89375" y="84888"/>
                  </a:lnTo>
                  <a:lnTo>
                    <a:pt x="89375" y="100888"/>
                  </a:lnTo>
                  <a:lnTo>
                    <a:pt x="90541" y="100888"/>
                  </a:lnTo>
                  <a:lnTo>
                    <a:pt x="90541" y="63111"/>
                  </a:lnTo>
                  <a:lnTo>
                    <a:pt x="92458" y="63555"/>
                  </a:lnTo>
                  <a:lnTo>
                    <a:pt x="92458" y="84444"/>
                  </a:lnTo>
                  <a:lnTo>
                    <a:pt x="93750" y="84444"/>
                  </a:lnTo>
                  <a:lnTo>
                    <a:pt x="93750" y="97333"/>
                  </a:lnTo>
                  <a:lnTo>
                    <a:pt x="95375" y="97333"/>
                  </a:lnTo>
                  <a:lnTo>
                    <a:pt x="95375" y="83111"/>
                  </a:lnTo>
                  <a:lnTo>
                    <a:pt x="96500" y="83111"/>
                  </a:lnTo>
                  <a:lnTo>
                    <a:pt x="96500" y="77333"/>
                  </a:lnTo>
                  <a:lnTo>
                    <a:pt x="98000" y="77333"/>
                  </a:lnTo>
                  <a:lnTo>
                    <a:pt x="98000" y="81333"/>
                  </a:lnTo>
                  <a:lnTo>
                    <a:pt x="99041" y="81333"/>
                  </a:lnTo>
                  <a:lnTo>
                    <a:pt x="99041" y="75111"/>
                  </a:lnTo>
                  <a:lnTo>
                    <a:pt x="101000" y="59555"/>
                  </a:lnTo>
                  <a:lnTo>
                    <a:pt x="102916" y="75111"/>
                  </a:lnTo>
                  <a:lnTo>
                    <a:pt x="102916" y="96444"/>
                  </a:lnTo>
                  <a:lnTo>
                    <a:pt x="103250" y="96444"/>
                  </a:lnTo>
                  <a:lnTo>
                    <a:pt x="103250" y="92000"/>
                  </a:lnTo>
                  <a:lnTo>
                    <a:pt x="104750" y="92000"/>
                  </a:lnTo>
                  <a:lnTo>
                    <a:pt x="104750" y="111111"/>
                  </a:lnTo>
                  <a:lnTo>
                    <a:pt x="105125" y="111111"/>
                  </a:lnTo>
                  <a:lnTo>
                    <a:pt x="105125" y="101777"/>
                  </a:lnTo>
                  <a:lnTo>
                    <a:pt x="106291" y="101777"/>
                  </a:lnTo>
                  <a:lnTo>
                    <a:pt x="106291" y="81777"/>
                  </a:lnTo>
                  <a:lnTo>
                    <a:pt x="107791" y="81777"/>
                  </a:lnTo>
                  <a:lnTo>
                    <a:pt x="107791" y="101777"/>
                  </a:lnTo>
                  <a:lnTo>
                    <a:pt x="107833" y="101777"/>
                  </a:lnTo>
                  <a:lnTo>
                    <a:pt x="107833" y="93777"/>
                  </a:lnTo>
                  <a:lnTo>
                    <a:pt x="108583" y="93777"/>
                  </a:lnTo>
                  <a:lnTo>
                    <a:pt x="108583" y="89777"/>
                  </a:lnTo>
                  <a:lnTo>
                    <a:pt x="110166" y="89777"/>
                  </a:lnTo>
                  <a:lnTo>
                    <a:pt x="110166" y="103111"/>
                  </a:lnTo>
                  <a:lnTo>
                    <a:pt x="110416" y="103111"/>
                  </a:lnTo>
                  <a:lnTo>
                    <a:pt x="110416" y="93777"/>
                  </a:lnTo>
                  <a:lnTo>
                    <a:pt x="110625" y="93777"/>
                  </a:lnTo>
                  <a:lnTo>
                    <a:pt x="110625" y="76444"/>
                  </a:lnTo>
                  <a:lnTo>
                    <a:pt x="111416" y="76444"/>
                  </a:lnTo>
                  <a:lnTo>
                    <a:pt x="111416" y="68444"/>
                  </a:lnTo>
                  <a:lnTo>
                    <a:pt x="111833" y="68444"/>
                  </a:lnTo>
                  <a:lnTo>
                    <a:pt x="111833" y="64000"/>
                  </a:lnTo>
                  <a:lnTo>
                    <a:pt x="112916" y="64000"/>
                  </a:lnTo>
                  <a:lnTo>
                    <a:pt x="112916" y="68444"/>
                  </a:lnTo>
                  <a:lnTo>
                    <a:pt x="113375" y="68444"/>
                  </a:lnTo>
                  <a:lnTo>
                    <a:pt x="113375" y="91555"/>
                  </a:lnTo>
                  <a:lnTo>
                    <a:pt x="113416" y="91555"/>
                  </a:lnTo>
                  <a:lnTo>
                    <a:pt x="113416" y="91555"/>
                  </a:lnTo>
                  <a:lnTo>
                    <a:pt x="114666" y="91555"/>
                  </a:lnTo>
                  <a:lnTo>
                    <a:pt x="114666" y="79555"/>
                  </a:lnTo>
                  <a:lnTo>
                    <a:pt x="115250" y="79555"/>
                  </a:lnTo>
                  <a:lnTo>
                    <a:pt x="115250" y="68444"/>
                  </a:lnTo>
                  <a:lnTo>
                    <a:pt x="115625" y="68444"/>
                  </a:lnTo>
                  <a:lnTo>
                    <a:pt x="115625" y="55111"/>
                  </a:lnTo>
                  <a:lnTo>
                    <a:pt x="115916" y="55111"/>
                  </a:lnTo>
                  <a:lnTo>
                    <a:pt x="115916" y="44888"/>
                  </a:lnTo>
                  <a:lnTo>
                    <a:pt x="116250" y="44888"/>
                  </a:lnTo>
                  <a:lnTo>
                    <a:pt x="116250" y="34222"/>
                  </a:lnTo>
                  <a:lnTo>
                    <a:pt x="116666" y="34222"/>
                  </a:lnTo>
                  <a:lnTo>
                    <a:pt x="116666" y="44444"/>
                  </a:lnTo>
                  <a:lnTo>
                    <a:pt x="117000" y="44444"/>
                  </a:lnTo>
                  <a:lnTo>
                    <a:pt x="117000" y="52888"/>
                  </a:lnTo>
                  <a:lnTo>
                    <a:pt x="117333" y="52888"/>
                  </a:lnTo>
                  <a:lnTo>
                    <a:pt x="117333" y="68888"/>
                  </a:lnTo>
                  <a:lnTo>
                    <a:pt x="117708" y="68888"/>
                  </a:lnTo>
                  <a:lnTo>
                    <a:pt x="117708" y="80444"/>
                  </a:lnTo>
                  <a:lnTo>
                    <a:pt x="118166" y="80444"/>
                  </a:lnTo>
                  <a:lnTo>
                    <a:pt x="118166" y="92000"/>
                  </a:lnTo>
                  <a:lnTo>
                    <a:pt x="120000" y="92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34275" rIns="68569" bIns="34275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015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"/>
          <p:cNvSpPr>
            <a:spLocks noChangeArrowheads="1"/>
          </p:cNvSpPr>
          <p:nvPr/>
        </p:nvSpPr>
        <p:spPr bwMode="auto">
          <a:xfrm>
            <a:off x="352425" y="1047750"/>
            <a:ext cx="8585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基本语句重复执行的次数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问题规模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的某个函数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f(n),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算法的时间量度记作：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T(n)=O(f(n))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877888" y="185738"/>
            <a:ext cx="5711825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时间复杂度的渐进表示法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352425" y="3487738"/>
            <a:ext cx="4433888" cy="2925763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数学符号“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”的定义为：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是定义在正整数集合上的两个函数，则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 = O(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表示存在正的常数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，使得当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≥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时都满足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≤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≤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352425" y="2268538"/>
            <a:ext cx="8585200" cy="10525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表示随着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的增大，算法执行的时间的增长率和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f(n)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的增长率相同，称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渐近时间复杂度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</p:txBody>
      </p:sp>
      <p:pic>
        <p:nvPicPr>
          <p:cNvPr id="50185" name="对象 1"/>
          <p:cNvPicPr/>
          <p:nvPr/>
        </p:nvPicPr>
        <p:blipFill>
          <a:blip r:embed="rId2"/>
          <a:srcRect l="-2917" t="-4396" r="-2461" b="-1877"/>
          <a:stretch>
            <a:fillRect/>
          </a:stretch>
        </p:blipFill>
        <p:spPr>
          <a:xfrm>
            <a:off x="4937125" y="3487738"/>
            <a:ext cx="4000500" cy="2925762"/>
          </a:xfrm>
          <a:prstGeom prst="rect">
            <a:avLst/>
          </a:prstGeom>
          <a:noFill/>
          <a:ln w="9525" cap="flat" cmpd="sng">
            <a:solidFill>
              <a:srgbClr val="8064A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4073525" y="2335213"/>
            <a:ext cx="4843463" cy="3770313"/>
          </a:xfrm>
          <a:prstGeom prst="wedgeRoundRectCallout">
            <a:avLst>
              <a:gd name="adj1" fmla="val -301"/>
              <a:gd name="adj2" fmla="val -70463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越大算法的执行时间越长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排序：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为记录数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矩阵：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为矩阵的阶数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多项式：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为多项式的项数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集合：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为元素个数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树：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为树的结点个数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图：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为图的顶点数或边数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639763" y="2275643"/>
            <a:ext cx="3282950" cy="2690813"/>
          </a:xfrm>
          <a:prstGeom prst="wedgeRoundRectCallout">
            <a:avLst>
              <a:gd name="adj1" fmla="val -9050"/>
              <a:gd name="adj2" fmla="val -83545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算法中重复执行次数和算法的执行时间成正比的语句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对算法运行时间的贡献最大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01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01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build="allAtOnce" animBg="1"/>
      <p:bldP spid="50183" grpId="0" build="allAtOnce" animBg="1"/>
      <p:bldP spid="9" grpId="0" build="allAtOnce" animBg="1"/>
      <p:bldP spid="10" grpId="0" build="allAtOnce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487363" y="2014538"/>
            <a:ext cx="8189913" cy="23510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4" name="矩形: 圆角 16"/>
          <p:cNvSpPr>
            <a:spLocks noChangeArrowheads="1"/>
          </p:cNvSpPr>
          <p:nvPr/>
        </p:nvSpPr>
        <p:spPr bwMode="auto">
          <a:xfrm>
            <a:off x="487363" y="1293813"/>
            <a:ext cx="8189913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393" name="Rectangle 3"/>
          <p:cNvSpPr>
            <a:spLocks noChangeArrowheads="1"/>
          </p:cNvSpPr>
          <p:nvPr/>
        </p:nvSpPr>
        <p:spPr bwMode="auto">
          <a:xfrm>
            <a:off x="512763" y="1196975"/>
            <a:ext cx="8164513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 * 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阶矩阵加法：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for(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 n;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for( j = 0; j &lt; n; j++)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	c[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 =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 + b[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	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语句的频度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Frequency Count ):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重复执行的次数：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n*n;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		T( n ) = O ( n 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即：矩阵加法的运算量和问题的规模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的平方是同一个量级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877888" y="185738"/>
            <a:ext cx="5711825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时间复杂度的渐进表示法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7"/>
          <p:cNvGrpSpPr/>
          <p:nvPr/>
        </p:nvGrpSpPr>
        <p:grpSpPr bwMode="auto">
          <a:xfrm>
            <a:off x="0" y="2619376"/>
            <a:ext cx="9144000" cy="4049985"/>
            <a:chOff x="0" y="2085981"/>
            <a:chExt cx="9144000" cy="4049996"/>
          </a:xfrm>
          <a:solidFill>
            <a:schemeClr val="bg2">
              <a:lumMod val="20000"/>
              <a:lumOff val="80000"/>
            </a:schemeClr>
          </a:solidFill>
        </p:grpSpPr>
        <p:sp>
          <p:nvSpPr>
            <p:cNvPr id="350210" name="Rectangle 2"/>
            <p:cNvSpPr>
              <a:spLocks noChangeArrowheads="1"/>
            </p:cNvSpPr>
            <p:nvPr/>
          </p:nvSpPr>
          <p:spPr bwMode="auto">
            <a:xfrm>
              <a:off x="0" y="2085981"/>
              <a:ext cx="9144000" cy="4049996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0211" name="Rectangle 3"/>
            <p:cNvSpPr>
              <a:spLocks noChangeArrowheads="1"/>
            </p:cNvSpPr>
            <p:nvPr/>
          </p:nvSpPr>
          <p:spPr bwMode="auto">
            <a:xfrm>
              <a:off x="569119" y="4137172"/>
              <a:ext cx="5029200" cy="175260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0212" name="Rectangle 4"/>
            <p:cNvSpPr>
              <a:spLocks noChangeArrowheads="1"/>
            </p:cNvSpPr>
            <p:nvPr/>
          </p:nvSpPr>
          <p:spPr bwMode="auto">
            <a:xfrm>
              <a:off x="569119" y="2917970"/>
              <a:ext cx="5029200" cy="11430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0213" name="Rectangle 5"/>
            <p:cNvSpPr>
              <a:spLocks noChangeArrowheads="1"/>
            </p:cNvSpPr>
            <p:nvPr/>
          </p:nvSpPr>
          <p:spPr bwMode="auto">
            <a:xfrm>
              <a:off x="569119" y="2384568"/>
              <a:ext cx="5029200" cy="45720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22" name="Text Box 7"/>
            <p:cNvSpPr txBox="1">
              <a:spLocks noChangeArrowheads="1"/>
            </p:cNvSpPr>
            <p:nvPr/>
          </p:nvSpPr>
          <p:spPr bwMode="auto">
            <a:xfrm>
              <a:off x="701675" y="2211110"/>
              <a:ext cx="4673074" cy="37856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x = 0;  y = 0;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for ( int k = 0; k &lt; n; k ++ 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x ++;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for ( int </a:t>
              </a:r>
              <a:r>
                <a:rPr kumimoji="0" lang="en-US" altLang="zh-CN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= 0; </a:t>
              </a:r>
              <a:r>
                <a:rPr kumimoji="0" lang="en-US" altLang="zh-CN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&lt; n; </a:t>
              </a:r>
              <a:r>
                <a:rPr kumimoji="0" lang="en-US" altLang="zh-CN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++ 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for ( int j = 0; j &lt; n; j++ 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y ++;</a:t>
              </a:r>
            </a:p>
          </p:txBody>
        </p:sp>
      </p:grpSp>
      <p:sp>
        <p:nvSpPr>
          <p:cNvPr id="60423" name="Text Box 2"/>
          <p:cNvSpPr txBox="1">
            <a:spLocks noChangeArrowheads="1"/>
          </p:cNvSpPr>
          <p:nvPr/>
        </p:nvSpPr>
        <p:spPr bwMode="auto">
          <a:xfrm>
            <a:off x="533400" y="938213"/>
            <a:ext cx="86106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112903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找出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语句频度最大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的那条语句作为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基本语句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112903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计算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基本语句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的频度得到问题规模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的某个函数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</a:p>
          <a:p>
            <a:pPr marL="342900" marR="0" lvl="0" indent="-342900" algn="l" defTabSz="112903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取其数量级用符号“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”表示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60424" name="Rectangle 4"/>
          <p:cNvSpPr>
            <a:spLocks noChangeArrowheads="1"/>
          </p:cNvSpPr>
          <p:nvPr/>
        </p:nvSpPr>
        <p:spPr bwMode="auto">
          <a:xfrm>
            <a:off x="827088" y="182563"/>
            <a:ext cx="6000750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分析算法时间复杂度的基本方法</a:t>
            </a:r>
          </a:p>
        </p:txBody>
      </p:sp>
      <p:sp>
        <p:nvSpPr>
          <p:cNvPr id="16" name="云形标注 15"/>
          <p:cNvSpPr>
            <a:spLocks noChangeArrowheads="1"/>
          </p:cNvSpPr>
          <p:nvPr/>
        </p:nvSpPr>
        <p:spPr bwMode="auto">
          <a:xfrm>
            <a:off x="6103938" y="5291138"/>
            <a:ext cx="2000250" cy="571500"/>
          </a:xfrm>
          <a:prstGeom prst="cloudCallout">
            <a:avLst>
              <a:gd name="adj1" fmla="val -191870"/>
              <a:gd name="adj2" fmla="val 9230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f(n)=n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云形标注 16"/>
          <p:cNvSpPr>
            <a:spLocks noChangeArrowheads="1"/>
          </p:cNvSpPr>
          <p:nvPr/>
        </p:nvSpPr>
        <p:spPr bwMode="auto">
          <a:xfrm>
            <a:off x="5870575" y="3357563"/>
            <a:ext cx="2776538" cy="881063"/>
          </a:xfrm>
          <a:prstGeom prst="cloudCallout">
            <a:avLst>
              <a:gd name="adj1" fmla="val -23074"/>
              <a:gd name="adj2" fmla="val 15288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T(n) = O(n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 animBg="1"/>
      <p:bldP spid="17" grpId="0" build="allAtOnce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矩形 1"/>
          <p:cNvSpPr/>
          <p:nvPr/>
        </p:nvSpPr>
        <p:spPr>
          <a:xfrm>
            <a:off x="0" y="1196975"/>
            <a:ext cx="9144000" cy="467995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61441" name="Text Box 2"/>
          <p:cNvSpPr txBox="1">
            <a:spLocks noChangeArrowheads="1"/>
          </p:cNvSpPr>
          <p:nvPr/>
        </p:nvSpPr>
        <p:spPr bwMode="auto">
          <a:xfrm>
            <a:off x="365125" y="1287463"/>
            <a:ext cx="8610600" cy="441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exam ( float x[ ][ ], int m, int n ) {</a:t>
            </a: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float sum [ ];</a:t>
            </a: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for ( int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 m;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 ) {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sum[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= 0.0;                      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 int j = 0; j &lt; n; j++ ) </a:t>
            </a: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sum[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+= x[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][j]; 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for (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 m;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 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cout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&lt;&lt;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&lt;&lt; “ : ” &lt;&lt;sum 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&lt;&lt;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endl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755650" y="1905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  <p:sp>
        <p:nvSpPr>
          <p:cNvPr id="7" name="云形标注 6"/>
          <p:cNvSpPr>
            <a:spLocks noChangeArrowheads="1"/>
          </p:cNvSpPr>
          <p:nvPr/>
        </p:nvSpPr>
        <p:spPr bwMode="auto">
          <a:xfrm>
            <a:off x="6227763" y="3536950"/>
            <a:ext cx="2352675" cy="781050"/>
          </a:xfrm>
          <a:prstGeom prst="cloudCallout">
            <a:avLst>
              <a:gd name="adj1" fmla="val -111156"/>
              <a:gd name="adj2" fmla="val -132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f(n)=m*n</a:t>
            </a:r>
          </a:p>
        </p:txBody>
      </p:sp>
      <p:sp>
        <p:nvSpPr>
          <p:cNvPr id="8" name="云形标注 7"/>
          <p:cNvSpPr>
            <a:spLocks noChangeArrowheads="1"/>
          </p:cNvSpPr>
          <p:nvPr/>
        </p:nvSpPr>
        <p:spPr bwMode="auto">
          <a:xfrm>
            <a:off x="5546725" y="1844675"/>
            <a:ext cx="3324225" cy="814388"/>
          </a:xfrm>
          <a:prstGeom prst="cloudCallout">
            <a:avLst>
              <a:gd name="adj1" fmla="val -23074"/>
              <a:gd name="adj2" fmla="val 15288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T(n) = O(m*n)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0" y="6380163"/>
            <a:ext cx="9144000" cy="431800"/>
            <a:chOff x="0" y="6379908"/>
            <a:chExt cx="9144000" cy="432048"/>
          </a:xfrm>
        </p:grpSpPr>
        <p:grpSp>
          <p:nvGrpSpPr>
            <p:cNvPr id="68616" name="组合 5"/>
            <p:cNvGrpSpPr/>
            <p:nvPr/>
          </p:nvGrpSpPr>
          <p:grpSpPr>
            <a:xfrm>
              <a:off x="0" y="6379908"/>
              <a:ext cx="9144000" cy="432048"/>
              <a:chOff x="0" y="6165304"/>
              <a:chExt cx="9144000" cy="432048"/>
            </a:xfrm>
          </p:grpSpPr>
          <p:cxnSp>
            <p:nvCxnSpPr>
              <p:cNvPr id="68618" name="直接连接符 6"/>
              <p:cNvCxnSpPr/>
              <p:nvPr/>
            </p:nvCxnSpPr>
            <p:spPr>
              <a:xfrm>
                <a:off x="0" y="6597352"/>
                <a:ext cx="9144000" cy="0"/>
              </a:xfrm>
              <a:prstGeom prst="line">
                <a:avLst/>
              </a:prstGeom>
              <a:ln w="1428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 bwMode="auto">
              <a:xfrm>
                <a:off x="2339975" y="6381328"/>
                <a:ext cx="6804025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20" name="直接连接符 8"/>
              <p:cNvCxnSpPr/>
              <p:nvPr/>
            </p:nvCxnSpPr>
            <p:spPr>
              <a:xfrm>
                <a:off x="4283968" y="6165304"/>
                <a:ext cx="4860032" cy="0"/>
              </a:xfrm>
              <a:prstGeom prst="line">
                <a:avLst/>
              </a:prstGeom>
              <a:ln w="57150" cap="flat" cmpd="sng">
                <a:solidFill>
                  <a:srgbClr val="E2D9EB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" name="Shape 26"/>
            <p:cNvSpPr/>
            <p:nvPr/>
          </p:nvSpPr>
          <p:spPr>
            <a:xfrm flipH="1">
              <a:off x="0" y="6449798"/>
              <a:ext cx="2128838" cy="292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0" y="102222"/>
                  </a:lnTo>
                  <a:lnTo>
                    <a:pt x="583" y="102222"/>
                  </a:lnTo>
                  <a:lnTo>
                    <a:pt x="583" y="89777"/>
                  </a:lnTo>
                  <a:lnTo>
                    <a:pt x="4166" y="89777"/>
                  </a:lnTo>
                  <a:lnTo>
                    <a:pt x="4166" y="79111"/>
                  </a:lnTo>
                  <a:lnTo>
                    <a:pt x="6416" y="79111"/>
                  </a:lnTo>
                  <a:lnTo>
                    <a:pt x="6416" y="91111"/>
                  </a:lnTo>
                  <a:lnTo>
                    <a:pt x="7625" y="91111"/>
                  </a:lnTo>
                  <a:lnTo>
                    <a:pt x="7625" y="79111"/>
                  </a:lnTo>
                  <a:lnTo>
                    <a:pt x="8958" y="79111"/>
                  </a:lnTo>
                  <a:lnTo>
                    <a:pt x="8958" y="45333"/>
                  </a:lnTo>
                  <a:lnTo>
                    <a:pt x="9541" y="45333"/>
                  </a:lnTo>
                  <a:lnTo>
                    <a:pt x="9541" y="39111"/>
                  </a:lnTo>
                  <a:lnTo>
                    <a:pt x="10958" y="39111"/>
                  </a:lnTo>
                  <a:lnTo>
                    <a:pt x="10958" y="45333"/>
                  </a:lnTo>
                  <a:lnTo>
                    <a:pt x="11583" y="45333"/>
                  </a:lnTo>
                  <a:lnTo>
                    <a:pt x="11583" y="76000"/>
                  </a:lnTo>
                  <a:lnTo>
                    <a:pt x="12083" y="76000"/>
                  </a:lnTo>
                  <a:lnTo>
                    <a:pt x="12083" y="95555"/>
                  </a:lnTo>
                  <a:lnTo>
                    <a:pt x="13250" y="95555"/>
                  </a:lnTo>
                  <a:lnTo>
                    <a:pt x="13250" y="60000"/>
                  </a:lnTo>
                  <a:lnTo>
                    <a:pt x="14041" y="60000"/>
                  </a:lnTo>
                  <a:lnTo>
                    <a:pt x="14041" y="45333"/>
                  </a:lnTo>
                  <a:lnTo>
                    <a:pt x="14583" y="45333"/>
                  </a:lnTo>
                  <a:lnTo>
                    <a:pt x="14583" y="27555"/>
                  </a:lnTo>
                  <a:lnTo>
                    <a:pt x="14958" y="27555"/>
                  </a:lnTo>
                  <a:lnTo>
                    <a:pt x="14958" y="14222"/>
                  </a:lnTo>
                  <a:lnTo>
                    <a:pt x="15333" y="14222"/>
                  </a:lnTo>
                  <a:lnTo>
                    <a:pt x="15333" y="0"/>
                  </a:lnTo>
                  <a:lnTo>
                    <a:pt x="15958" y="0"/>
                  </a:lnTo>
                  <a:lnTo>
                    <a:pt x="15958" y="13777"/>
                  </a:lnTo>
                  <a:lnTo>
                    <a:pt x="16416" y="13777"/>
                  </a:lnTo>
                  <a:lnTo>
                    <a:pt x="16416" y="24888"/>
                  </a:lnTo>
                  <a:lnTo>
                    <a:pt x="16791" y="24888"/>
                  </a:lnTo>
                  <a:lnTo>
                    <a:pt x="16791" y="46222"/>
                  </a:lnTo>
                  <a:lnTo>
                    <a:pt x="17333" y="46222"/>
                  </a:lnTo>
                  <a:lnTo>
                    <a:pt x="17333" y="61333"/>
                  </a:lnTo>
                  <a:lnTo>
                    <a:pt x="17916" y="61333"/>
                  </a:lnTo>
                  <a:lnTo>
                    <a:pt x="17916" y="101333"/>
                  </a:lnTo>
                  <a:lnTo>
                    <a:pt x="18875" y="101333"/>
                  </a:lnTo>
                  <a:lnTo>
                    <a:pt x="18875" y="92000"/>
                  </a:lnTo>
                  <a:lnTo>
                    <a:pt x="20958" y="92000"/>
                  </a:lnTo>
                  <a:lnTo>
                    <a:pt x="20958" y="96444"/>
                  </a:lnTo>
                  <a:lnTo>
                    <a:pt x="21750" y="96444"/>
                  </a:lnTo>
                  <a:lnTo>
                    <a:pt x="21750" y="54666"/>
                  </a:lnTo>
                  <a:lnTo>
                    <a:pt x="22333" y="54666"/>
                  </a:lnTo>
                  <a:lnTo>
                    <a:pt x="22333" y="42666"/>
                  </a:lnTo>
                  <a:lnTo>
                    <a:pt x="24166" y="42666"/>
                  </a:lnTo>
                  <a:lnTo>
                    <a:pt x="24166" y="53777"/>
                  </a:lnTo>
                  <a:lnTo>
                    <a:pt x="24583" y="56888"/>
                  </a:lnTo>
                  <a:lnTo>
                    <a:pt x="24583" y="85777"/>
                  </a:lnTo>
                  <a:lnTo>
                    <a:pt x="25291" y="85777"/>
                  </a:lnTo>
                  <a:lnTo>
                    <a:pt x="25291" y="79555"/>
                  </a:lnTo>
                  <a:lnTo>
                    <a:pt x="27125" y="79555"/>
                  </a:lnTo>
                  <a:lnTo>
                    <a:pt x="27125" y="86222"/>
                  </a:lnTo>
                  <a:lnTo>
                    <a:pt x="28208" y="86222"/>
                  </a:lnTo>
                  <a:lnTo>
                    <a:pt x="28208" y="92000"/>
                  </a:lnTo>
                  <a:lnTo>
                    <a:pt x="29416" y="92000"/>
                  </a:lnTo>
                  <a:lnTo>
                    <a:pt x="29416" y="83555"/>
                  </a:lnTo>
                  <a:lnTo>
                    <a:pt x="30250" y="83555"/>
                  </a:lnTo>
                  <a:lnTo>
                    <a:pt x="30250" y="65777"/>
                  </a:lnTo>
                  <a:lnTo>
                    <a:pt x="35041" y="65777"/>
                  </a:lnTo>
                  <a:lnTo>
                    <a:pt x="35041" y="83555"/>
                  </a:lnTo>
                  <a:lnTo>
                    <a:pt x="35875" y="83555"/>
                  </a:lnTo>
                  <a:lnTo>
                    <a:pt x="35875" y="65777"/>
                  </a:lnTo>
                  <a:lnTo>
                    <a:pt x="39916" y="65777"/>
                  </a:lnTo>
                  <a:lnTo>
                    <a:pt x="39916" y="72888"/>
                  </a:lnTo>
                  <a:lnTo>
                    <a:pt x="41041" y="72888"/>
                  </a:lnTo>
                  <a:lnTo>
                    <a:pt x="41041" y="99555"/>
                  </a:lnTo>
                  <a:lnTo>
                    <a:pt x="42583" y="99555"/>
                  </a:lnTo>
                  <a:lnTo>
                    <a:pt x="42583" y="76888"/>
                  </a:lnTo>
                  <a:lnTo>
                    <a:pt x="45250" y="56000"/>
                  </a:lnTo>
                  <a:lnTo>
                    <a:pt x="47875" y="76888"/>
                  </a:lnTo>
                  <a:lnTo>
                    <a:pt x="47875" y="88888"/>
                  </a:lnTo>
                  <a:lnTo>
                    <a:pt x="48666" y="88888"/>
                  </a:lnTo>
                  <a:lnTo>
                    <a:pt x="48666" y="104000"/>
                  </a:lnTo>
                  <a:lnTo>
                    <a:pt x="49208" y="104000"/>
                  </a:lnTo>
                  <a:lnTo>
                    <a:pt x="49208" y="73333"/>
                  </a:lnTo>
                  <a:lnTo>
                    <a:pt x="51500" y="73333"/>
                  </a:lnTo>
                  <a:lnTo>
                    <a:pt x="51500" y="85777"/>
                  </a:lnTo>
                  <a:lnTo>
                    <a:pt x="53708" y="85777"/>
                  </a:lnTo>
                  <a:lnTo>
                    <a:pt x="53708" y="94666"/>
                  </a:lnTo>
                  <a:lnTo>
                    <a:pt x="54500" y="94666"/>
                  </a:lnTo>
                  <a:lnTo>
                    <a:pt x="54500" y="85777"/>
                  </a:lnTo>
                  <a:lnTo>
                    <a:pt x="57125" y="85777"/>
                  </a:lnTo>
                  <a:lnTo>
                    <a:pt x="57125" y="102222"/>
                  </a:lnTo>
                  <a:lnTo>
                    <a:pt x="57625" y="102222"/>
                  </a:lnTo>
                  <a:lnTo>
                    <a:pt x="57625" y="104888"/>
                  </a:lnTo>
                  <a:lnTo>
                    <a:pt x="58875" y="104888"/>
                  </a:lnTo>
                  <a:lnTo>
                    <a:pt x="58875" y="94222"/>
                  </a:lnTo>
                  <a:lnTo>
                    <a:pt x="61666" y="94222"/>
                  </a:lnTo>
                  <a:lnTo>
                    <a:pt x="61666" y="89777"/>
                  </a:lnTo>
                  <a:lnTo>
                    <a:pt x="62250" y="89777"/>
                  </a:lnTo>
                  <a:lnTo>
                    <a:pt x="62250" y="84000"/>
                  </a:lnTo>
                  <a:lnTo>
                    <a:pt x="62833" y="84000"/>
                  </a:lnTo>
                  <a:lnTo>
                    <a:pt x="62833" y="88888"/>
                  </a:lnTo>
                  <a:lnTo>
                    <a:pt x="63500" y="88888"/>
                  </a:lnTo>
                  <a:lnTo>
                    <a:pt x="63500" y="83111"/>
                  </a:lnTo>
                  <a:lnTo>
                    <a:pt x="64999" y="83111"/>
                  </a:lnTo>
                  <a:lnTo>
                    <a:pt x="64999" y="88444"/>
                  </a:lnTo>
                  <a:lnTo>
                    <a:pt x="65666" y="88444"/>
                  </a:lnTo>
                  <a:lnTo>
                    <a:pt x="65666" y="103111"/>
                  </a:lnTo>
                  <a:lnTo>
                    <a:pt x="66916" y="103111"/>
                  </a:lnTo>
                  <a:lnTo>
                    <a:pt x="66916" y="82666"/>
                  </a:lnTo>
                  <a:lnTo>
                    <a:pt x="69375" y="82666"/>
                  </a:lnTo>
                  <a:lnTo>
                    <a:pt x="69375" y="88888"/>
                  </a:lnTo>
                  <a:lnTo>
                    <a:pt x="70416" y="88888"/>
                  </a:lnTo>
                  <a:lnTo>
                    <a:pt x="70416" y="46222"/>
                  </a:lnTo>
                  <a:lnTo>
                    <a:pt x="71500" y="35111"/>
                  </a:lnTo>
                  <a:lnTo>
                    <a:pt x="72458" y="45777"/>
                  </a:lnTo>
                  <a:lnTo>
                    <a:pt x="72458" y="103111"/>
                  </a:lnTo>
                  <a:lnTo>
                    <a:pt x="73583" y="103111"/>
                  </a:lnTo>
                  <a:lnTo>
                    <a:pt x="73583" y="47555"/>
                  </a:lnTo>
                  <a:lnTo>
                    <a:pt x="76916" y="47555"/>
                  </a:lnTo>
                  <a:lnTo>
                    <a:pt x="76916" y="97777"/>
                  </a:lnTo>
                  <a:lnTo>
                    <a:pt x="77541" y="97777"/>
                  </a:lnTo>
                  <a:lnTo>
                    <a:pt x="77541" y="85777"/>
                  </a:lnTo>
                  <a:lnTo>
                    <a:pt x="79000" y="85777"/>
                  </a:lnTo>
                  <a:lnTo>
                    <a:pt x="79000" y="92888"/>
                  </a:lnTo>
                  <a:lnTo>
                    <a:pt x="82000" y="92888"/>
                  </a:lnTo>
                  <a:lnTo>
                    <a:pt x="82000" y="102222"/>
                  </a:lnTo>
                  <a:lnTo>
                    <a:pt x="84333" y="102222"/>
                  </a:lnTo>
                  <a:lnTo>
                    <a:pt x="84333" y="88000"/>
                  </a:lnTo>
                  <a:lnTo>
                    <a:pt x="85583" y="88000"/>
                  </a:lnTo>
                  <a:lnTo>
                    <a:pt x="85583" y="96000"/>
                  </a:lnTo>
                  <a:lnTo>
                    <a:pt x="86500" y="96000"/>
                  </a:lnTo>
                  <a:lnTo>
                    <a:pt x="86500" y="91111"/>
                  </a:lnTo>
                  <a:lnTo>
                    <a:pt x="87791" y="91111"/>
                  </a:lnTo>
                  <a:lnTo>
                    <a:pt x="87791" y="84888"/>
                  </a:lnTo>
                  <a:lnTo>
                    <a:pt x="89375" y="84888"/>
                  </a:lnTo>
                  <a:lnTo>
                    <a:pt x="89375" y="100888"/>
                  </a:lnTo>
                  <a:lnTo>
                    <a:pt x="90541" y="100888"/>
                  </a:lnTo>
                  <a:lnTo>
                    <a:pt x="90541" y="63111"/>
                  </a:lnTo>
                  <a:lnTo>
                    <a:pt x="92458" y="63555"/>
                  </a:lnTo>
                  <a:lnTo>
                    <a:pt x="92458" y="84444"/>
                  </a:lnTo>
                  <a:lnTo>
                    <a:pt x="93750" y="84444"/>
                  </a:lnTo>
                  <a:lnTo>
                    <a:pt x="93750" y="97333"/>
                  </a:lnTo>
                  <a:lnTo>
                    <a:pt x="95375" y="97333"/>
                  </a:lnTo>
                  <a:lnTo>
                    <a:pt x="95375" y="83111"/>
                  </a:lnTo>
                  <a:lnTo>
                    <a:pt x="96500" y="83111"/>
                  </a:lnTo>
                  <a:lnTo>
                    <a:pt x="96500" y="77333"/>
                  </a:lnTo>
                  <a:lnTo>
                    <a:pt x="98000" y="77333"/>
                  </a:lnTo>
                  <a:lnTo>
                    <a:pt x="98000" y="81333"/>
                  </a:lnTo>
                  <a:lnTo>
                    <a:pt x="99041" y="81333"/>
                  </a:lnTo>
                  <a:lnTo>
                    <a:pt x="99041" y="75111"/>
                  </a:lnTo>
                  <a:lnTo>
                    <a:pt x="101000" y="59555"/>
                  </a:lnTo>
                  <a:lnTo>
                    <a:pt x="102916" y="75111"/>
                  </a:lnTo>
                  <a:lnTo>
                    <a:pt x="102916" y="96444"/>
                  </a:lnTo>
                  <a:lnTo>
                    <a:pt x="103250" y="96444"/>
                  </a:lnTo>
                  <a:lnTo>
                    <a:pt x="103250" y="92000"/>
                  </a:lnTo>
                  <a:lnTo>
                    <a:pt x="104750" y="92000"/>
                  </a:lnTo>
                  <a:lnTo>
                    <a:pt x="104750" y="111111"/>
                  </a:lnTo>
                  <a:lnTo>
                    <a:pt x="105125" y="111111"/>
                  </a:lnTo>
                  <a:lnTo>
                    <a:pt x="105125" y="101777"/>
                  </a:lnTo>
                  <a:lnTo>
                    <a:pt x="106291" y="101777"/>
                  </a:lnTo>
                  <a:lnTo>
                    <a:pt x="106291" y="81777"/>
                  </a:lnTo>
                  <a:lnTo>
                    <a:pt x="107791" y="81777"/>
                  </a:lnTo>
                  <a:lnTo>
                    <a:pt x="107791" y="101777"/>
                  </a:lnTo>
                  <a:lnTo>
                    <a:pt x="107833" y="101777"/>
                  </a:lnTo>
                  <a:lnTo>
                    <a:pt x="107833" y="93777"/>
                  </a:lnTo>
                  <a:lnTo>
                    <a:pt x="108583" y="93777"/>
                  </a:lnTo>
                  <a:lnTo>
                    <a:pt x="108583" y="89777"/>
                  </a:lnTo>
                  <a:lnTo>
                    <a:pt x="110166" y="89777"/>
                  </a:lnTo>
                  <a:lnTo>
                    <a:pt x="110166" y="103111"/>
                  </a:lnTo>
                  <a:lnTo>
                    <a:pt x="110416" y="103111"/>
                  </a:lnTo>
                  <a:lnTo>
                    <a:pt x="110416" y="93777"/>
                  </a:lnTo>
                  <a:lnTo>
                    <a:pt x="110625" y="93777"/>
                  </a:lnTo>
                  <a:lnTo>
                    <a:pt x="110625" y="76444"/>
                  </a:lnTo>
                  <a:lnTo>
                    <a:pt x="111416" y="76444"/>
                  </a:lnTo>
                  <a:lnTo>
                    <a:pt x="111416" y="68444"/>
                  </a:lnTo>
                  <a:lnTo>
                    <a:pt x="111833" y="68444"/>
                  </a:lnTo>
                  <a:lnTo>
                    <a:pt x="111833" y="64000"/>
                  </a:lnTo>
                  <a:lnTo>
                    <a:pt x="112916" y="64000"/>
                  </a:lnTo>
                  <a:lnTo>
                    <a:pt x="112916" y="68444"/>
                  </a:lnTo>
                  <a:lnTo>
                    <a:pt x="113375" y="68444"/>
                  </a:lnTo>
                  <a:lnTo>
                    <a:pt x="113375" y="91555"/>
                  </a:lnTo>
                  <a:lnTo>
                    <a:pt x="113416" y="91555"/>
                  </a:lnTo>
                  <a:lnTo>
                    <a:pt x="113416" y="91555"/>
                  </a:lnTo>
                  <a:lnTo>
                    <a:pt x="114666" y="91555"/>
                  </a:lnTo>
                  <a:lnTo>
                    <a:pt x="114666" y="79555"/>
                  </a:lnTo>
                  <a:lnTo>
                    <a:pt x="115250" y="79555"/>
                  </a:lnTo>
                  <a:lnTo>
                    <a:pt x="115250" y="68444"/>
                  </a:lnTo>
                  <a:lnTo>
                    <a:pt x="115625" y="68444"/>
                  </a:lnTo>
                  <a:lnTo>
                    <a:pt x="115625" y="55111"/>
                  </a:lnTo>
                  <a:lnTo>
                    <a:pt x="115916" y="55111"/>
                  </a:lnTo>
                  <a:lnTo>
                    <a:pt x="115916" y="44888"/>
                  </a:lnTo>
                  <a:lnTo>
                    <a:pt x="116250" y="44888"/>
                  </a:lnTo>
                  <a:lnTo>
                    <a:pt x="116250" y="34222"/>
                  </a:lnTo>
                  <a:lnTo>
                    <a:pt x="116666" y="34222"/>
                  </a:lnTo>
                  <a:lnTo>
                    <a:pt x="116666" y="44444"/>
                  </a:lnTo>
                  <a:lnTo>
                    <a:pt x="117000" y="44444"/>
                  </a:lnTo>
                  <a:lnTo>
                    <a:pt x="117000" y="52888"/>
                  </a:lnTo>
                  <a:lnTo>
                    <a:pt x="117333" y="52888"/>
                  </a:lnTo>
                  <a:lnTo>
                    <a:pt x="117333" y="68888"/>
                  </a:lnTo>
                  <a:lnTo>
                    <a:pt x="117708" y="68888"/>
                  </a:lnTo>
                  <a:lnTo>
                    <a:pt x="117708" y="80444"/>
                  </a:lnTo>
                  <a:lnTo>
                    <a:pt x="118166" y="80444"/>
                  </a:lnTo>
                  <a:lnTo>
                    <a:pt x="118166" y="92000"/>
                  </a:lnTo>
                  <a:lnTo>
                    <a:pt x="120000" y="92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34275" rIns="68569" bIns="34275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015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build="allAtOnce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98450" y="5013325"/>
            <a:ext cx="8534400" cy="1676400"/>
            <a:chOff x="298822" y="5013176"/>
            <a:chExt cx="8534028" cy="1675804"/>
          </a:xfrm>
        </p:grpSpPr>
        <p:sp>
          <p:nvSpPr>
            <p:cNvPr id="13" name="矩形 12"/>
            <p:cNvSpPr/>
            <p:nvPr/>
          </p:nvSpPr>
          <p:spPr bwMode="auto">
            <a:xfrm>
              <a:off x="298822" y="5589234"/>
              <a:ext cx="8534028" cy="109974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2" name="矩形: 圆角 16"/>
            <p:cNvSpPr>
              <a:spLocks noChangeArrowheads="1"/>
            </p:cNvSpPr>
            <p:nvPr/>
          </p:nvSpPr>
          <p:spPr bwMode="auto">
            <a:xfrm>
              <a:off x="298822" y="5013176"/>
              <a:ext cx="8534028" cy="504646"/>
            </a:xfrm>
            <a:prstGeom prst="roundRect">
              <a:avLst>
                <a:gd name="adj" fmla="val 16667"/>
              </a:avLst>
            </a:prstGeom>
            <a:solidFill>
              <a:srgbClr val="947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6588125" y="2805113"/>
            <a:ext cx="2087563" cy="6318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62465" name="Text Box 4"/>
          <p:cNvSpPr txBox="1">
            <a:spLocks noChangeArrowheads="1"/>
          </p:cNvSpPr>
          <p:nvPr/>
        </p:nvSpPr>
        <p:spPr bwMode="auto">
          <a:xfrm>
            <a:off x="363538" y="981075"/>
            <a:ext cx="4752975" cy="3752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N×N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矩阵相乘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=1;i&lt;=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for(j=1;j&lt;=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n;j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{c[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][j]=0;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for(k=1;k&lt;=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c[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][j]=c[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][j]+a[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][k]*b[k][j];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}	</a:t>
            </a:r>
          </a:p>
        </p:txBody>
      </p:sp>
      <p:grpSp>
        <p:nvGrpSpPr>
          <p:cNvPr id="2" name="Group 12"/>
          <p:cNvGrpSpPr/>
          <p:nvPr/>
        </p:nvGrpSpPr>
        <p:grpSpPr>
          <a:xfrm>
            <a:off x="369888" y="5013325"/>
            <a:ext cx="8516937" cy="1539875"/>
            <a:chOff x="179" y="2826"/>
            <a:chExt cx="5365" cy="970"/>
          </a:xfrm>
        </p:grpSpPr>
        <p:sp>
          <p:nvSpPr>
            <p:cNvPr id="62467" name="Rectangle 5"/>
            <p:cNvSpPr>
              <a:spLocks noChangeArrowheads="1"/>
            </p:cNvSpPr>
            <p:nvPr/>
          </p:nvSpPr>
          <p:spPr bwMode="auto">
            <a:xfrm>
              <a:off x="179" y="2826"/>
              <a:ext cx="51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算法中的基本操作语句为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c[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][j]=c[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][j]+a[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][k]*b[k][j]; </a:t>
              </a:r>
            </a:p>
          </p:txBody>
        </p:sp>
        <p:graphicFrame>
          <p:nvGraphicFramePr>
            <p:cNvPr id="69643" name="Object 6"/>
            <p:cNvGraphicFramePr/>
            <p:nvPr/>
          </p:nvGraphicFramePr>
          <p:xfrm>
            <a:off x="179" y="3169"/>
            <a:ext cx="5365" cy="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0" r:id="rId3" imgW="2907030" imgH="444500" progId="Equation.DSMT4">
                    <p:embed/>
                  </p:oleObj>
                </mc:Choice>
                <mc:Fallback>
                  <p:oleObj r:id="rId3" imgW="2907030" imgH="4445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9" y="3169"/>
                          <a:ext cx="5365" cy="6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/>
          <p:nvPr/>
        </p:nvGrpSpPr>
        <p:grpSpPr>
          <a:xfrm>
            <a:off x="5348288" y="2497138"/>
            <a:ext cx="3027362" cy="939800"/>
            <a:chOff x="3420" y="1032"/>
            <a:chExt cx="1907" cy="592"/>
          </a:xfrm>
        </p:grpSpPr>
        <p:graphicFrame>
          <p:nvGraphicFramePr>
            <p:cNvPr id="69640" name="Object 8"/>
            <p:cNvGraphicFramePr/>
            <p:nvPr/>
          </p:nvGraphicFramePr>
          <p:xfrm>
            <a:off x="4291" y="1032"/>
            <a:ext cx="1036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1" r:id="rId5" imgW="889000" imgH="508000" progId="Equation.DSMT4">
                    <p:embed/>
                  </p:oleObj>
                </mc:Choice>
                <mc:Fallback>
                  <p:oleObj r:id="rId5" imgW="889000" imgH="5080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91" y="1032"/>
                          <a:ext cx="1036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1" name="AutoShape 10"/>
            <p:cNvSpPr>
              <a:spLocks noChangeArrowheads="1"/>
            </p:cNvSpPr>
            <p:nvPr/>
          </p:nvSpPr>
          <p:spPr bwMode="auto">
            <a:xfrm>
              <a:off x="3420" y="1364"/>
              <a:ext cx="725" cy="139"/>
            </a:xfrm>
            <a:prstGeom prst="rightArrow">
              <a:avLst>
                <a:gd name="adj1" fmla="val 50000"/>
                <a:gd name="adj2" fmla="val 13034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3817938"/>
            <a:ext cx="9144000" cy="30654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0" y="914400"/>
            <a:ext cx="4211638" cy="26368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63489" name="Text Box 4"/>
          <p:cNvSpPr txBox="1">
            <a:spLocks noChangeArrowheads="1"/>
          </p:cNvSpPr>
          <p:nvPr/>
        </p:nvSpPr>
        <p:spPr bwMode="auto">
          <a:xfrm>
            <a:off x="0" y="1079500"/>
            <a:ext cx="4211638" cy="2308225"/>
          </a:xfrm>
          <a:prstGeom prst="rect">
            <a:avLst/>
          </a:prstGeom>
          <a:solidFill>
            <a:schemeClr val="accent2">
              <a:lumMod val="20000"/>
              <a:lumOff val="80000"/>
              <a:alpha val="96077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for(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=1;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&lt;=n;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for (j=1; j&lt;=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j++)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for (k=1; k&lt;=j; k++)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669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669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x=x+1;</a:t>
            </a:r>
          </a:p>
        </p:txBody>
      </p:sp>
      <p:graphicFrame>
        <p:nvGraphicFramePr>
          <p:cNvPr id="440325" name="Object 5"/>
          <p:cNvGraphicFramePr/>
          <p:nvPr/>
        </p:nvGraphicFramePr>
        <p:xfrm>
          <a:off x="1785938" y="3859213"/>
          <a:ext cx="404812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r:id="rId3" imgW="3830955" imgH="810260" progId="Equation.3">
                  <p:embed/>
                </p:oleObj>
              </mc:Choice>
              <mc:Fallback>
                <p:oleObj r:id="rId3" imgW="3830955" imgH="81026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85938" y="3859213"/>
                        <a:ext cx="4048125" cy="87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6" name="Object 6"/>
          <p:cNvGraphicFramePr/>
          <p:nvPr/>
        </p:nvGraphicFramePr>
        <p:xfrm>
          <a:off x="1403350" y="4856163"/>
          <a:ext cx="4627563" cy="200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r:id="rId5" imgW="1741805" imgH="1157605" progId="Equation.DSMT4">
                  <p:embed/>
                </p:oleObj>
              </mc:Choice>
              <mc:Fallback>
                <p:oleObj r:id="rId5" imgW="1741805" imgH="1157605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8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856163"/>
                        <a:ext cx="4627563" cy="2001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7" name="Rectangle 7"/>
          <p:cNvSpPr>
            <a:spLocks noChangeArrowheads="1"/>
          </p:cNvSpPr>
          <p:nvPr/>
        </p:nvSpPr>
        <p:spPr bwMode="auto">
          <a:xfrm>
            <a:off x="104775" y="4130675"/>
            <a:ext cx="1666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语句频度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429125" y="966788"/>
            <a:ext cx="4714875" cy="1508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12947" tIns="56473" rIns="112947" bIns="56473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定理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1.1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)=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++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次多项式，则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  <p:sp>
        <p:nvSpPr>
          <p:cNvPr id="9" name="线形标注 3(带边框和强调线) 8"/>
          <p:cNvSpPr/>
          <p:nvPr/>
        </p:nvSpPr>
        <p:spPr bwMode="auto">
          <a:xfrm>
            <a:off x="4429125" y="2624138"/>
            <a:ext cx="3743325" cy="927100"/>
          </a:xfrm>
          <a:prstGeom prst="accentBorderCallout3">
            <a:avLst>
              <a:gd name="adj1" fmla="val 46986"/>
              <a:gd name="adj2" fmla="val 105268"/>
              <a:gd name="adj3" fmla="val 46986"/>
              <a:gd name="adj4" fmla="val 119519"/>
              <a:gd name="adj5" fmla="val -39263"/>
              <a:gd name="adj6" fmla="val 119154"/>
              <a:gd name="adj7" fmla="val -39893"/>
              <a:gd name="adj8" fmla="val 100841"/>
            </a:avLst>
          </a:prstGeom>
          <a:solidFill>
            <a:srgbClr val="8064A2">
              <a:alpha val="54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忽略所有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低次幂项和最高次幂系数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体现出增长率的含义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40327" grpId="0"/>
      <p:bldP spid="8" grpId="0" animBg="1"/>
      <p:bldP spid="9" grpId="0" build="allAtOnce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16"/>
          <p:cNvSpPr>
            <a:spLocks noChangeArrowheads="1"/>
          </p:cNvSpPr>
          <p:nvPr/>
        </p:nvSpPr>
        <p:spPr bwMode="auto">
          <a:xfrm>
            <a:off x="395288" y="1346200"/>
            <a:ext cx="85344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513" name="Rectangle 2050"/>
          <p:cNvSpPr>
            <a:spLocks noChangeArrowheads="1"/>
          </p:cNvSpPr>
          <p:nvPr/>
        </p:nvSpPr>
        <p:spPr bwMode="auto">
          <a:xfrm>
            <a:off x="776288" y="1230313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：分析以下程序段的时间复杂度</a:t>
            </a:r>
          </a:p>
        </p:txBody>
      </p:sp>
      <p:sp>
        <p:nvSpPr>
          <p:cNvPr id="64514" name="Rectangle 2051"/>
          <p:cNvSpPr>
            <a:spLocks noChangeArrowheads="1"/>
          </p:cNvSpPr>
          <p:nvPr/>
        </p:nvSpPr>
        <p:spPr bwMode="auto">
          <a:xfrm>
            <a:off x="395288" y="1971675"/>
            <a:ext cx="8534400" cy="3617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=1;                              ①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while(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&lt;=n)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*2;                      ②</a:t>
            </a:r>
          </a:p>
        </p:txBody>
      </p:sp>
      <p:graphicFrame>
        <p:nvGraphicFramePr>
          <p:cNvPr id="417800" name="Object 2056"/>
          <p:cNvGraphicFramePr/>
          <p:nvPr/>
        </p:nvGraphicFramePr>
        <p:xfrm>
          <a:off x="776288" y="3897313"/>
          <a:ext cx="18288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r:id="rId3" imgW="558165" imgH="203200" progId="Equation.3">
                  <p:embed/>
                </p:oleObj>
              </mc:Choice>
              <mc:Fallback>
                <p:oleObj r:id="rId3" imgW="558165" imgH="203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288" y="3897313"/>
                        <a:ext cx="1828800" cy="66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1" name="Text Box 2057"/>
          <p:cNvSpPr txBox="1">
            <a:spLocks noChangeArrowheads="1"/>
          </p:cNvSpPr>
          <p:nvPr/>
        </p:nvSpPr>
        <p:spPr bwMode="auto">
          <a:xfrm>
            <a:off x="2967038" y="4011613"/>
            <a:ext cx="59626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即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f(n)≤log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取最大值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f(n)=log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</a:p>
        </p:txBody>
      </p:sp>
      <p:sp>
        <p:nvSpPr>
          <p:cNvPr id="417802" name="Text Box 2058"/>
          <p:cNvSpPr txBox="1">
            <a:spLocks noChangeArrowheads="1"/>
          </p:cNvSpPr>
          <p:nvPr/>
        </p:nvSpPr>
        <p:spPr bwMode="auto">
          <a:xfrm>
            <a:off x="746125" y="4678363"/>
            <a:ext cx="7113588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所以该程序段的时间复杂度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T(n) 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 log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0" y="6380163"/>
            <a:ext cx="9144000" cy="431800"/>
            <a:chOff x="0" y="6379908"/>
            <a:chExt cx="9144000" cy="432048"/>
          </a:xfrm>
        </p:grpSpPr>
        <p:grpSp>
          <p:nvGrpSpPr>
            <p:cNvPr id="71690" name="组合 5"/>
            <p:cNvGrpSpPr/>
            <p:nvPr/>
          </p:nvGrpSpPr>
          <p:grpSpPr>
            <a:xfrm>
              <a:off x="0" y="6379908"/>
              <a:ext cx="9144000" cy="432048"/>
              <a:chOff x="0" y="6165304"/>
              <a:chExt cx="9144000" cy="432048"/>
            </a:xfrm>
          </p:grpSpPr>
          <p:cxnSp>
            <p:nvCxnSpPr>
              <p:cNvPr id="71692" name="直接连接符 6"/>
              <p:cNvCxnSpPr/>
              <p:nvPr/>
            </p:nvCxnSpPr>
            <p:spPr>
              <a:xfrm>
                <a:off x="0" y="6597352"/>
                <a:ext cx="9144000" cy="0"/>
              </a:xfrm>
              <a:prstGeom prst="line">
                <a:avLst/>
              </a:prstGeom>
              <a:ln w="1428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2339975" y="6381328"/>
                <a:ext cx="6804025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694" name="直接连接符 8"/>
              <p:cNvCxnSpPr/>
              <p:nvPr/>
            </p:nvCxnSpPr>
            <p:spPr>
              <a:xfrm>
                <a:off x="4283968" y="6165304"/>
                <a:ext cx="4860032" cy="0"/>
              </a:xfrm>
              <a:prstGeom prst="line">
                <a:avLst/>
              </a:prstGeom>
              <a:ln w="57150" cap="flat" cmpd="sng">
                <a:solidFill>
                  <a:srgbClr val="E2D9EB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1" name="Shape 26"/>
            <p:cNvSpPr/>
            <p:nvPr/>
          </p:nvSpPr>
          <p:spPr>
            <a:xfrm flipH="1">
              <a:off x="0" y="6449798"/>
              <a:ext cx="2128838" cy="292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0" y="102222"/>
                  </a:lnTo>
                  <a:lnTo>
                    <a:pt x="583" y="102222"/>
                  </a:lnTo>
                  <a:lnTo>
                    <a:pt x="583" y="89777"/>
                  </a:lnTo>
                  <a:lnTo>
                    <a:pt x="4166" y="89777"/>
                  </a:lnTo>
                  <a:lnTo>
                    <a:pt x="4166" y="79111"/>
                  </a:lnTo>
                  <a:lnTo>
                    <a:pt x="6416" y="79111"/>
                  </a:lnTo>
                  <a:lnTo>
                    <a:pt x="6416" y="91111"/>
                  </a:lnTo>
                  <a:lnTo>
                    <a:pt x="7625" y="91111"/>
                  </a:lnTo>
                  <a:lnTo>
                    <a:pt x="7625" y="79111"/>
                  </a:lnTo>
                  <a:lnTo>
                    <a:pt x="8958" y="79111"/>
                  </a:lnTo>
                  <a:lnTo>
                    <a:pt x="8958" y="45333"/>
                  </a:lnTo>
                  <a:lnTo>
                    <a:pt x="9541" y="45333"/>
                  </a:lnTo>
                  <a:lnTo>
                    <a:pt x="9541" y="39111"/>
                  </a:lnTo>
                  <a:lnTo>
                    <a:pt x="10958" y="39111"/>
                  </a:lnTo>
                  <a:lnTo>
                    <a:pt x="10958" y="45333"/>
                  </a:lnTo>
                  <a:lnTo>
                    <a:pt x="11583" y="45333"/>
                  </a:lnTo>
                  <a:lnTo>
                    <a:pt x="11583" y="76000"/>
                  </a:lnTo>
                  <a:lnTo>
                    <a:pt x="12083" y="76000"/>
                  </a:lnTo>
                  <a:lnTo>
                    <a:pt x="12083" y="95555"/>
                  </a:lnTo>
                  <a:lnTo>
                    <a:pt x="13250" y="95555"/>
                  </a:lnTo>
                  <a:lnTo>
                    <a:pt x="13250" y="60000"/>
                  </a:lnTo>
                  <a:lnTo>
                    <a:pt x="14041" y="60000"/>
                  </a:lnTo>
                  <a:lnTo>
                    <a:pt x="14041" y="45333"/>
                  </a:lnTo>
                  <a:lnTo>
                    <a:pt x="14583" y="45333"/>
                  </a:lnTo>
                  <a:lnTo>
                    <a:pt x="14583" y="27555"/>
                  </a:lnTo>
                  <a:lnTo>
                    <a:pt x="14958" y="27555"/>
                  </a:lnTo>
                  <a:lnTo>
                    <a:pt x="14958" y="14222"/>
                  </a:lnTo>
                  <a:lnTo>
                    <a:pt x="15333" y="14222"/>
                  </a:lnTo>
                  <a:lnTo>
                    <a:pt x="15333" y="0"/>
                  </a:lnTo>
                  <a:lnTo>
                    <a:pt x="15958" y="0"/>
                  </a:lnTo>
                  <a:lnTo>
                    <a:pt x="15958" y="13777"/>
                  </a:lnTo>
                  <a:lnTo>
                    <a:pt x="16416" y="13777"/>
                  </a:lnTo>
                  <a:lnTo>
                    <a:pt x="16416" y="24888"/>
                  </a:lnTo>
                  <a:lnTo>
                    <a:pt x="16791" y="24888"/>
                  </a:lnTo>
                  <a:lnTo>
                    <a:pt x="16791" y="46222"/>
                  </a:lnTo>
                  <a:lnTo>
                    <a:pt x="17333" y="46222"/>
                  </a:lnTo>
                  <a:lnTo>
                    <a:pt x="17333" y="61333"/>
                  </a:lnTo>
                  <a:lnTo>
                    <a:pt x="17916" y="61333"/>
                  </a:lnTo>
                  <a:lnTo>
                    <a:pt x="17916" y="101333"/>
                  </a:lnTo>
                  <a:lnTo>
                    <a:pt x="18875" y="101333"/>
                  </a:lnTo>
                  <a:lnTo>
                    <a:pt x="18875" y="92000"/>
                  </a:lnTo>
                  <a:lnTo>
                    <a:pt x="20958" y="92000"/>
                  </a:lnTo>
                  <a:lnTo>
                    <a:pt x="20958" y="96444"/>
                  </a:lnTo>
                  <a:lnTo>
                    <a:pt x="21750" y="96444"/>
                  </a:lnTo>
                  <a:lnTo>
                    <a:pt x="21750" y="54666"/>
                  </a:lnTo>
                  <a:lnTo>
                    <a:pt x="22333" y="54666"/>
                  </a:lnTo>
                  <a:lnTo>
                    <a:pt x="22333" y="42666"/>
                  </a:lnTo>
                  <a:lnTo>
                    <a:pt x="24166" y="42666"/>
                  </a:lnTo>
                  <a:lnTo>
                    <a:pt x="24166" y="53777"/>
                  </a:lnTo>
                  <a:lnTo>
                    <a:pt x="24583" y="56888"/>
                  </a:lnTo>
                  <a:lnTo>
                    <a:pt x="24583" y="85777"/>
                  </a:lnTo>
                  <a:lnTo>
                    <a:pt x="25291" y="85777"/>
                  </a:lnTo>
                  <a:lnTo>
                    <a:pt x="25291" y="79555"/>
                  </a:lnTo>
                  <a:lnTo>
                    <a:pt x="27125" y="79555"/>
                  </a:lnTo>
                  <a:lnTo>
                    <a:pt x="27125" y="86222"/>
                  </a:lnTo>
                  <a:lnTo>
                    <a:pt x="28208" y="86222"/>
                  </a:lnTo>
                  <a:lnTo>
                    <a:pt x="28208" y="92000"/>
                  </a:lnTo>
                  <a:lnTo>
                    <a:pt x="29416" y="92000"/>
                  </a:lnTo>
                  <a:lnTo>
                    <a:pt x="29416" y="83555"/>
                  </a:lnTo>
                  <a:lnTo>
                    <a:pt x="30250" y="83555"/>
                  </a:lnTo>
                  <a:lnTo>
                    <a:pt x="30250" y="65777"/>
                  </a:lnTo>
                  <a:lnTo>
                    <a:pt x="35041" y="65777"/>
                  </a:lnTo>
                  <a:lnTo>
                    <a:pt x="35041" y="83555"/>
                  </a:lnTo>
                  <a:lnTo>
                    <a:pt x="35875" y="83555"/>
                  </a:lnTo>
                  <a:lnTo>
                    <a:pt x="35875" y="65777"/>
                  </a:lnTo>
                  <a:lnTo>
                    <a:pt x="39916" y="65777"/>
                  </a:lnTo>
                  <a:lnTo>
                    <a:pt x="39916" y="72888"/>
                  </a:lnTo>
                  <a:lnTo>
                    <a:pt x="41041" y="72888"/>
                  </a:lnTo>
                  <a:lnTo>
                    <a:pt x="41041" y="99555"/>
                  </a:lnTo>
                  <a:lnTo>
                    <a:pt x="42583" y="99555"/>
                  </a:lnTo>
                  <a:lnTo>
                    <a:pt x="42583" y="76888"/>
                  </a:lnTo>
                  <a:lnTo>
                    <a:pt x="45250" y="56000"/>
                  </a:lnTo>
                  <a:lnTo>
                    <a:pt x="47875" y="76888"/>
                  </a:lnTo>
                  <a:lnTo>
                    <a:pt x="47875" y="88888"/>
                  </a:lnTo>
                  <a:lnTo>
                    <a:pt x="48666" y="88888"/>
                  </a:lnTo>
                  <a:lnTo>
                    <a:pt x="48666" y="104000"/>
                  </a:lnTo>
                  <a:lnTo>
                    <a:pt x="49208" y="104000"/>
                  </a:lnTo>
                  <a:lnTo>
                    <a:pt x="49208" y="73333"/>
                  </a:lnTo>
                  <a:lnTo>
                    <a:pt x="51500" y="73333"/>
                  </a:lnTo>
                  <a:lnTo>
                    <a:pt x="51500" y="85777"/>
                  </a:lnTo>
                  <a:lnTo>
                    <a:pt x="53708" y="85777"/>
                  </a:lnTo>
                  <a:lnTo>
                    <a:pt x="53708" y="94666"/>
                  </a:lnTo>
                  <a:lnTo>
                    <a:pt x="54500" y="94666"/>
                  </a:lnTo>
                  <a:lnTo>
                    <a:pt x="54500" y="85777"/>
                  </a:lnTo>
                  <a:lnTo>
                    <a:pt x="57125" y="85777"/>
                  </a:lnTo>
                  <a:lnTo>
                    <a:pt x="57125" y="102222"/>
                  </a:lnTo>
                  <a:lnTo>
                    <a:pt x="57625" y="102222"/>
                  </a:lnTo>
                  <a:lnTo>
                    <a:pt x="57625" y="104888"/>
                  </a:lnTo>
                  <a:lnTo>
                    <a:pt x="58875" y="104888"/>
                  </a:lnTo>
                  <a:lnTo>
                    <a:pt x="58875" y="94222"/>
                  </a:lnTo>
                  <a:lnTo>
                    <a:pt x="61666" y="94222"/>
                  </a:lnTo>
                  <a:lnTo>
                    <a:pt x="61666" y="89777"/>
                  </a:lnTo>
                  <a:lnTo>
                    <a:pt x="62250" y="89777"/>
                  </a:lnTo>
                  <a:lnTo>
                    <a:pt x="62250" y="84000"/>
                  </a:lnTo>
                  <a:lnTo>
                    <a:pt x="62833" y="84000"/>
                  </a:lnTo>
                  <a:lnTo>
                    <a:pt x="62833" y="88888"/>
                  </a:lnTo>
                  <a:lnTo>
                    <a:pt x="63500" y="88888"/>
                  </a:lnTo>
                  <a:lnTo>
                    <a:pt x="63500" y="83111"/>
                  </a:lnTo>
                  <a:lnTo>
                    <a:pt x="64999" y="83111"/>
                  </a:lnTo>
                  <a:lnTo>
                    <a:pt x="64999" y="88444"/>
                  </a:lnTo>
                  <a:lnTo>
                    <a:pt x="65666" y="88444"/>
                  </a:lnTo>
                  <a:lnTo>
                    <a:pt x="65666" y="103111"/>
                  </a:lnTo>
                  <a:lnTo>
                    <a:pt x="66916" y="103111"/>
                  </a:lnTo>
                  <a:lnTo>
                    <a:pt x="66916" y="82666"/>
                  </a:lnTo>
                  <a:lnTo>
                    <a:pt x="69375" y="82666"/>
                  </a:lnTo>
                  <a:lnTo>
                    <a:pt x="69375" y="88888"/>
                  </a:lnTo>
                  <a:lnTo>
                    <a:pt x="70416" y="88888"/>
                  </a:lnTo>
                  <a:lnTo>
                    <a:pt x="70416" y="46222"/>
                  </a:lnTo>
                  <a:lnTo>
                    <a:pt x="71500" y="35111"/>
                  </a:lnTo>
                  <a:lnTo>
                    <a:pt x="72458" y="45777"/>
                  </a:lnTo>
                  <a:lnTo>
                    <a:pt x="72458" y="103111"/>
                  </a:lnTo>
                  <a:lnTo>
                    <a:pt x="73583" y="103111"/>
                  </a:lnTo>
                  <a:lnTo>
                    <a:pt x="73583" y="47555"/>
                  </a:lnTo>
                  <a:lnTo>
                    <a:pt x="76916" y="47555"/>
                  </a:lnTo>
                  <a:lnTo>
                    <a:pt x="76916" y="97777"/>
                  </a:lnTo>
                  <a:lnTo>
                    <a:pt x="77541" y="97777"/>
                  </a:lnTo>
                  <a:lnTo>
                    <a:pt x="77541" y="85777"/>
                  </a:lnTo>
                  <a:lnTo>
                    <a:pt x="79000" y="85777"/>
                  </a:lnTo>
                  <a:lnTo>
                    <a:pt x="79000" y="92888"/>
                  </a:lnTo>
                  <a:lnTo>
                    <a:pt x="82000" y="92888"/>
                  </a:lnTo>
                  <a:lnTo>
                    <a:pt x="82000" y="102222"/>
                  </a:lnTo>
                  <a:lnTo>
                    <a:pt x="84333" y="102222"/>
                  </a:lnTo>
                  <a:lnTo>
                    <a:pt x="84333" y="88000"/>
                  </a:lnTo>
                  <a:lnTo>
                    <a:pt x="85583" y="88000"/>
                  </a:lnTo>
                  <a:lnTo>
                    <a:pt x="85583" y="96000"/>
                  </a:lnTo>
                  <a:lnTo>
                    <a:pt x="86500" y="96000"/>
                  </a:lnTo>
                  <a:lnTo>
                    <a:pt x="86500" y="91111"/>
                  </a:lnTo>
                  <a:lnTo>
                    <a:pt x="87791" y="91111"/>
                  </a:lnTo>
                  <a:lnTo>
                    <a:pt x="87791" y="84888"/>
                  </a:lnTo>
                  <a:lnTo>
                    <a:pt x="89375" y="84888"/>
                  </a:lnTo>
                  <a:lnTo>
                    <a:pt x="89375" y="100888"/>
                  </a:lnTo>
                  <a:lnTo>
                    <a:pt x="90541" y="100888"/>
                  </a:lnTo>
                  <a:lnTo>
                    <a:pt x="90541" y="63111"/>
                  </a:lnTo>
                  <a:lnTo>
                    <a:pt x="92458" y="63555"/>
                  </a:lnTo>
                  <a:lnTo>
                    <a:pt x="92458" y="84444"/>
                  </a:lnTo>
                  <a:lnTo>
                    <a:pt x="93750" y="84444"/>
                  </a:lnTo>
                  <a:lnTo>
                    <a:pt x="93750" y="97333"/>
                  </a:lnTo>
                  <a:lnTo>
                    <a:pt x="95375" y="97333"/>
                  </a:lnTo>
                  <a:lnTo>
                    <a:pt x="95375" y="83111"/>
                  </a:lnTo>
                  <a:lnTo>
                    <a:pt x="96500" y="83111"/>
                  </a:lnTo>
                  <a:lnTo>
                    <a:pt x="96500" y="77333"/>
                  </a:lnTo>
                  <a:lnTo>
                    <a:pt x="98000" y="77333"/>
                  </a:lnTo>
                  <a:lnTo>
                    <a:pt x="98000" y="81333"/>
                  </a:lnTo>
                  <a:lnTo>
                    <a:pt x="99041" y="81333"/>
                  </a:lnTo>
                  <a:lnTo>
                    <a:pt x="99041" y="75111"/>
                  </a:lnTo>
                  <a:lnTo>
                    <a:pt x="101000" y="59555"/>
                  </a:lnTo>
                  <a:lnTo>
                    <a:pt x="102916" y="75111"/>
                  </a:lnTo>
                  <a:lnTo>
                    <a:pt x="102916" y="96444"/>
                  </a:lnTo>
                  <a:lnTo>
                    <a:pt x="103250" y="96444"/>
                  </a:lnTo>
                  <a:lnTo>
                    <a:pt x="103250" y="92000"/>
                  </a:lnTo>
                  <a:lnTo>
                    <a:pt x="104750" y="92000"/>
                  </a:lnTo>
                  <a:lnTo>
                    <a:pt x="104750" y="111111"/>
                  </a:lnTo>
                  <a:lnTo>
                    <a:pt x="105125" y="111111"/>
                  </a:lnTo>
                  <a:lnTo>
                    <a:pt x="105125" y="101777"/>
                  </a:lnTo>
                  <a:lnTo>
                    <a:pt x="106291" y="101777"/>
                  </a:lnTo>
                  <a:lnTo>
                    <a:pt x="106291" y="81777"/>
                  </a:lnTo>
                  <a:lnTo>
                    <a:pt x="107791" y="81777"/>
                  </a:lnTo>
                  <a:lnTo>
                    <a:pt x="107791" y="101777"/>
                  </a:lnTo>
                  <a:lnTo>
                    <a:pt x="107833" y="101777"/>
                  </a:lnTo>
                  <a:lnTo>
                    <a:pt x="107833" y="93777"/>
                  </a:lnTo>
                  <a:lnTo>
                    <a:pt x="108583" y="93777"/>
                  </a:lnTo>
                  <a:lnTo>
                    <a:pt x="108583" y="89777"/>
                  </a:lnTo>
                  <a:lnTo>
                    <a:pt x="110166" y="89777"/>
                  </a:lnTo>
                  <a:lnTo>
                    <a:pt x="110166" y="103111"/>
                  </a:lnTo>
                  <a:lnTo>
                    <a:pt x="110416" y="103111"/>
                  </a:lnTo>
                  <a:lnTo>
                    <a:pt x="110416" y="93777"/>
                  </a:lnTo>
                  <a:lnTo>
                    <a:pt x="110625" y="93777"/>
                  </a:lnTo>
                  <a:lnTo>
                    <a:pt x="110625" y="76444"/>
                  </a:lnTo>
                  <a:lnTo>
                    <a:pt x="111416" y="76444"/>
                  </a:lnTo>
                  <a:lnTo>
                    <a:pt x="111416" y="68444"/>
                  </a:lnTo>
                  <a:lnTo>
                    <a:pt x="111833" y="68444"/>
                  </a:lnTo>
                  <a:lnTo>
                    <a:pt x="111833" y="64000"/>
                  </a:lnTo>
                  <a:lnTo>
                    <a:pt x="112916" y="64000"/>
                  </a:lnTo>
                  <a:lnTo>
                    <a:pt x="112916" y="68444"/>
                  </a:lnTo>
                  <a:lnTo>
                    <a:pt x="113375" y="68444"/>
                  </a:lnTo>
                  <a:lnTo>
                    <a:pt x="113375" y="91555"/>
                  </a:lnTo>
                  <a:lnTo>
                    <a:pt x="113416" y="91555"/>
                  </a:lnTo>
                  <a:lnTo>
                    <a:pt x="113416" y="91555"/>
                  </a:lnTo>
                  <a:lnTo>
                    <a:pt x="114666" y="91555"/>
                  </a:lnTo>
                  <a:lnTo>
                    <a:pt x="114666" y="79555"/>
                  </a:lnTo>
                  <a:lnTo>
                    <a:pt x="115250" y="79555"/>
                  </a:lnTo>
                  <a:lnTo>
                    <a:pt x="115250" y="68444"/>
                  </a:lnTo>
                  <a:lnTo>
                    <a:pt x="115625" y="68444"/>
                  </a:lnTo>
                  <a:lnTo>
                    <a:pt x="115625" y="55111"/>
                  </a:lnTo>
                  <a:lnTo>
                    <a:pt x="115916" y="55111"/>
                  </a:lnTo>
                  <a:lnTo>
                    <a:pt x="115916" y="44888"/>
                  </a:lnTo>
                  <a:lnTo>
                    <a:pt x="116250" y="44888"/>
                  </a:lnTo>
                  <a:lnTo>
                    <a:pt x="116250" y="34222"/>
                  </a:lnTo>
                  <a:lnTo>
                    <a:pt x="116666" y="34222"/>
                  </a:lnTo>
                  <a:lnTo>
                    <a:pt x="116666" y="44444"/>
                  </a:lnTo>
                  <a:lnTo>
                    <a:pt x="117000" y="44444"/>
                  </a:lnTo>
                  <a:lnTo>
                    <a:pt x="117000" y="52888"/>
                  </a:lnTo>
                  <a:lnTo>
                    <a:pt x="117333" y="52888"/>
                  </a:lnTo>
                  <a:lnTo>
                    <a:pt x="117333" y="68888"/>
                  </a:lnTo>
                  <a:lnTo>
                    <a:pt x="117708" y="68888"/>
                  </a:lnTo>
                  <a:lnTo>
                    <a:pt x="117708" y="80444"/>
                  </a:lnTo>
                  <a:lnTo>
                    <a:pt x="118166" y="80444"/>
                  </a:lnTo>
                  <a:lnTo>
                    <a:pt x="118166" y="92000"/>
                  </a:lnTo>
                  <a:lnTo>
                    <a:pt x="120000" y="92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34275" rIns="68569" bIns="34275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015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nimBg="1"/>
      <p:bldP spid="64514" grpId="0" build="p" bldLvl="2" animBg="1"/>
      <p:bldP spid="417801" grpId="0"/>
      <p:bldP spid="41780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0" name="Rectangle 4"/>
          <p:cNvSpPr>
            <a:spLocks noChangeArrowheads="1"/>
          </p:cNvSpPr>
          <p:nvPr/>
        </p:nvSpPr>
        <p:spPr bwMode="auto">
          <a:xfrm>
            <a:off x="3279775" y="2306638"/>
            <a:ext cx="5513388" cy="2492375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：顺序查找，在数组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中查找值等于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的元素，返回其所在位置。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=0;i&lt;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if (a[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]==e) return i+1;</a:t>
            </a:r>
          </a:p>
          <a:p>
            <a:pPr marL="0" marR="0" lvl="0" indent="228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return 0;</a:t>
            </a:r>
          </a:p>
        </p:txBody>
      </p:sp>
      <p:sp>
        <p:nvSpPr>
          <p:cNvPr id="65538" name="Rectangle 5"/>
          <p:cNvSpPr>
            <a:spLocks noChangeArrowheads="1"/>
          </p:cNvSpPr>
          <p:nvPr/>
        </p:nvSpPr>
        <p:spPr bwMode="auto">
          <a:xfrm>
            <a:off x="258763" y="1027113"/>
            <a:ext cx="8442325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有的情况下，算法中基本操作重复执行的次数还随问题的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输入数据集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不同而不同</a:t>
            </a:r>
          </a:p>
        </p:txBody>
      </p:sp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288925" y="5592763"/>
            <a:ext cx="2452688" cy="573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最好情况：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  <p:sp>
        <p:nvSpPr>
          <p:cNvPr id="9" name="矩形 8"/>
          <p:cNvSpPr>
            <a:spLocks noChangeAspect="1" noChangeArrowheads="1"/>
          </p:cNvSpPr>
          <p:nvPr/>
        </p:nvSpPr>
        <p:spPr bwMode="auto">
          <a:xfrm>
            <a:off x="351700" y="2290276"/>
            <a:ext cx="2939877" cy="2509262"/>
          </a:xfrm>
          <a:prstGeom prst="rect">
            <a:avLst/>
          </a:prstGeom>
          <a:blipFill dpi="0" rotWithShape="1">
            <a:blip r:embed="rId2"/>
            <a:srcRect/>
            <a:stretch>
              <a:fillRect l="-25655"/>
            </a:stretch>
          </a:blipFill>
          <a:ln w="9525">
            <a:noFill/>
            <a:miter lim="800000"/>
          </a:ln>
        </p:spPr>
        <p:txBody>
          <a:bodyPr lIns="121909" tIns="60954" rIns="121909" bIns="60954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0" name="Group 12"/>
          <p:cNvGrpSpPr/>
          <p:nvPr/>
        </p:nvGrpSpPr>
        <p:grpSpPr>
          <a:xfrm>
            <a:off x="430213" y="5170488"/>
            <a:ext cx="330200" cy="334962"/>
            <a:chOff x="0" y="0"/>
            <a:chExt cx="256" cy="264"/>
          </a:xfrm>
        </p:grpSpPr>
        <p:sp>
          <p:nvSpPr>
            <p:cNvPr id="72722" name="Oval 13"/>
            <p:cNvSpPr/>
            <p:nvPr/>
          </p:nvSpPr>
          <p:spPr>
            <a:xfrm>
              <a:off x="0" y="0"/>
              <a:ext cx="256" cy="256"/>
            </a:xfrm>
            <a:prstGeom prst="ellipse">
              <a:avLst/>
            </a:prstGeom>
            <a:solidFill>
              <a:srgbClr val="7F7F7F"/>
            </a:solidFill>
            <a:ln w="31750">
              <a:noFill/>
            </a:ln>
          </p:spPr>
          <p:txBody>
            <a:bodyPr lIns="0" tIns="0" rIns="0" bIns="0"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endParaRPr lang="en-US" altLang="zh-CN" sz="2800" dirty="0">
                <a:sym typeface="+mn-lt"/>
              </a:endParaRPr>
            </a:p>
          </p:txBody>
        </p:sp>
        <p:sp>
          <p:nvSpPr>
            <p:cNvPr id="12" name="Rectangle 14"/>
            <p:cNvSpPr/>
            <p:nvPr/>
          </p:nvSpPr>
          <p:spPr bwMode="auto">
            <a:xfrm>
              <a:off x="32" y="8"/>
              <a:ext cx="176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1pPr>
              <a:lvl2pPr marL="742950" indent="-28575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2pPr>
              <a:lvl3pPr marL="11430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3pPr>
              <a:lvl4pPr marL="16002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4pPr>
              <a:lvl5pPr marL="20574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13" name="Group 18"/>
          <p:cNvGrpSpPr/>
          <p:nvPr/>
        </p:nvGrpSpPr>
        <p:grpSpPr>
          <a:xfrm>
            <a:off x="2873375" y="5180013"/>
            <a:ext cx="331788" cy="336550"/>
            <a:chOff x="0" y="0"/>
            <a:chExt cx="256" cy="264"/>
          </a:xfrm>
        </p:grpSpPr>
        <p:sp>
          <p:nvSpPr>
            <p:cNvPr id="14" name="Oval 19"/>
            <p:cNvSpPr/>
            <p:nvPr/>
          </p:nvSpPr>
          <p:spPr bwMode="auto">
            <a:xfrm>
              <a:off x="0" y="0"/>
              <a:ext cx="256" cy="257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A0AAB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1pPr>
              <a:lvl2pPr marL="742950" indent="-28575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2pPr>
              <a:lvl3pPr marL="11430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3pPr>
              <a:lvl4pPr marL="16002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4pPr>
              <a:lvl5pPr marL="20574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Rectangle 20"/>
            <p:cNvSpPr/>
            <p:nvPr/>
          </p:nvSpPr>
          <p:spPr bwMode="auto">
            <a:xfrm>
              <a:off x="32" y="7"/>
              <a:ext cx="176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1pPr>
              <a:lvl2pPr marL="742950" indent="-28575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2pPr>
              <a:lvl3pPr marL="11430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3pPr>
              <a:lvl4pPr marL="16002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4pPr>
              <a:lvl5pPr marL="20574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16" name="Group 24"/>
          <p:cNvGrpSpPr/>
          <p:nvPr/>
        </p:nvGrpSpPr>
        <p:grpSpPr>
          <a:xfrm>
            <a:off x="5357813" y="5191125"/>
            <a:ext cx="331787" cy="334963"/>
            <a:chOff x="0" y="0"/>
            <a:chExt cx="256" cy="264"/>
          </a:xfrm>
        </p:grpSpPr>
        <p:sp>
          <p:nvSpPr>
            <p:cNvPr id="17" name="Oval 25"/>
            <p:cNvSpPr/>
            <p:nvPr/>
          </p:nvSpPr>
          <p:spPr bwMode="auto">
            <a:xfrm>
              <a:off x="0" y="0"/>
              <a:ext cx="256" cy="25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A0AAB4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1pPr>
              <a:lvl2pPr marL="742950" indent="-28575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2pPr>
              <a:lvl3pPr marL="11430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3pPr>
              <a:lvl4pPr marL="16002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4pPr>
              <a:lvl5pPr marL="20574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Rectangle 26"/>
            <p:cNvSpPr/>
            <p:nvPr/>
          </p:nvSpPr>
          <p:spPr bwMode="auto">
            <a:xfrm>
              <a:off x="32" y="8"/>
              <a:ext cx="176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1pPr>
              <a:lvl2pPr marL="742950" indent="-28575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2pPr>
              <a:lvl3pPr marL="11430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3pPr>
              <a:lvl4pPr marL="16002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4pPr>
              <a:lvl5pPr marL="2057400" indent="-228600" algn="ctr" eaLnBrk="0" hangingPunct="0"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</p:grp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2803525" y="5592763"/>
            <a:ext cx="2182813" cy="573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最坏情况：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251450" y="5592763"/>
            <a:ext cx="3479800" cy="573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平均时间复杂度为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0" grpId="0" animBg="1"/>
      <p:bldP spid="449542" grpId="0"/>
      <p:bldP spid="19" grpId="0"/>
      <p:bldP spid="2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16"/>
          <p:cNvSpPr>
            <a:spLocks noChangeArrowheads="1"/>
          </p:cNvSpPr>
          <p:nvPr/>
        </p:nvSpPr>
        <p:spPr bwMode="auto">
          <a:xfrm>
            <a:off x="311150" y="3937000"/>
            <a:ext cx="85344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468313" y="3743325"/>
            <a:ext cx="756285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时间复杂度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T(n)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按数量级递增顺序为： </a:t>
            </a:r>
          </a:p>
        </p:txBody>
      </p:sp>
      <p:sp>
        <p:nvSpPr>
          <p:cNvPr id="66569" name="Line 12"/>
          <p:cNvSpPr>
            <a:spLocks noChangeShapeType="1"/>
          </p:cNvSpPr>
          <p:nvPr/>
        </p:nvSpPr>
        <p:spPr bwMode="auto">
          <a:xfrm>
            <a:off x="311150" y="5102225"/>
            <a:ext cx="8643938" cy="0"/>
          </a:xfrm>
          <a:prstGeom prst="line">
            <a:avLst/>
          </a:prstGeom>
          <a:noFill/>
          <a:ln w="19050">
            <a:solidFill>
              <a:srgbClr val="8064A2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6570" name="Text Box 13"/>
          <p:cNvSpPr txBox="1">
            <a:spLocks noChangeArrowheads="1"/>
          </p:cNvSpPr>
          <p:nvPr/>
        </p:nvSpPr>
        <p:spPr bwMode="auto">
          <a:xfrm>
            <a:off x="7729538" y="4646613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复杂度高</a:t>
            </a:r>
          </a:p>
        </p:txBody>
      </p:sp>
      <p:sp>
        <p:nvSpPr>
          <p:cNvPr id="66571" name="Text Box 14"/>
          <p:cNvSpPr txBox="1">
            <a:spLocks noChangeArrowheads="1"/>
          </p:cNvSpPr>
          <p:nvPr/>
        </p:nvSpPr>
        <p:spPr bwMode="auto">
          <a:xfrm>
            <a:off x="158750" y="460375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复杂度低</a:t>
            </a:r>
          </a:p>
        </p:txBody>
      </p:sp>
      <p:sp>
        <p:nvSpPr>
          <p:cNvPr id="438290" name="Rectangle 18"/>
          <p:cNvSpPr>
            <a:spLocks noChangeArrowheads="1"/>
          </p:cNvSpPr>
          <p:nvPr/>
        </p:nvSpPr>
        <p:spPr bwMode="auto">
          <a:xfrm>
            <a:off x="341313" y="1090613"/>
            <a:ext cx="4016375" cy="24939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取得很大时，指数时间算法和多项式时间算法在所需时间上非常悬殊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5313" name="Picture 17" descr="010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083218"/>
            <a:ext cx="3897192" cy="2498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27" name="表格 26"/>
          <p:cNvGraphicFramePr/>
          <p:nvPr/>
        </p:nvGraphicFramePr>
        <p:xfrm>
          <a:off x="311921" y="5373216"/>
          <a:ext cx="8642874" cy="11471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757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211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82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682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6822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002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常数阶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对数阶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800" b="0" i="0" u="none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  <a:sym typeface="+mn-lt"/>
                        </a:rPr>
                        <a:t>线性阶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800" b="0" i="0" u="none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  <a:sym typeface="+mn-lt"/>
                        </a:rPr>
                        <a:t>线性对数阶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800" b="0" i="0" u="none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  <a:sym typeface="+mn-lt"/>
                        </a:rPr>
                        <a:t>平方阶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800" b="0" i="0" u="none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  <a:sym typeface="+mn-lt"/>
                        </a:rPr>
                        <a:t>立方阶</a:t>
                      </a: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  <a:sym typeface="+mn-lt"/>
                        </a:rPr>
                        <a:t>……</a:t>
                      </a:r>
                      <a:endParaRPr lang="zh-CN" altLang="en-US" sz="1800" b="0" i="0" u="none" kern="12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  <a:sym typeface="+mn-lt"/>
                      </a:endParaRPr>
                    </a:p>
                  </a:txBody>
                  <a:tcPr marL="90016" marR="90016" marT="46831" marB="4683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K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次方阶</a:t>
                      </a:r>
                    </a:p>
                  </a:txBody>
                  <a:tcPr marL="90016" marR="90016" marT="46831" marB="4683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144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L="90016" marR="90016" marT="46831" marB="46831">
                    <a:blipFill rotWithShape="0">
                      <a:blip r:embed="rId3"/>
                      <a:stretch>
                        <a:fillRect l="-694" t="-153333" r="-888194" b="-2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T="45724" marB="45724" horzOverflow="overflow">
                    <a:blipFill rotWithShape="0">
                      <a:blip r:embed="rId3"/>
                      <a:stretch>
                        <a:fillRect l="-72139" t="-153333" r="-536318" b="-2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O(n)</a:t>
                      </a:r>
                    </a:p>
                  </a:txBody>
                  <a:tcPr marT="45724" marB="45724" horzOverflow="overflow"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T="45724" marB="45724" horzOverflow="overflow">
                    <a:blipFill rotWithShape="0">
                      <a:blip r:embed="rId3"/>
                      <a:stretch>
                        <a:fillRect l="-211441" t="-153333" r="-291949" b="-2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T="45724" marB="45724" horzOverflow="overflow">
                    <a:blipFill rotWithShape="0">
                      <a:blip r:embed="rId3"/>
                      <a:stretch>
                        <a:fillRect l="-465190" t="-153333" r="-336076" b="-2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T="45724" marB="45724" horzOverflow="overflow">
                    <a:blipFill rotWithShape="0">
                      <a:blip r:embed="rId3"/>
                      <a:stretch>
                        <a:fillRect l="-510286" t="-153333" r="-203429" b="-2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800" b="0" i="0" u="non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仿宋_GB2312" pitchFamily="49" charset="-122"/>
                        <a:cs typeface="+mn-cs"/>
                        <a:sym typeface="+mn-lt"/>
                      </a:endParaRPr>
                    </a:p>
                  </a:txBody>
                  <a:tcPr marT="45724" marB="45724" horzOverflow="overflow"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marT="45724" marB="45724" horzOverflow="overflow">
                    <a:blipFill rotWithShape="0">
                      <a:blip r:embed="rId3"/>
                      <a:stretch>
                        <a:fillRect l="-710857" t="-153333" r="-2857" b="-266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时间复杂度是由嵌套最深层语句的频度决定的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 bldLvl="2" animBg="1"/>
      <p:bldP spid="438276" grpId="0"/>
      <p:bldP spid="43829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/>
          </p:nvPr>
        </p:nvSpPr>
        <p:spPr>
          <a:xfrm>
            <a:off x="395288" y="2151063"/>
            <a:ext cx="5229225" cy="1404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3399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空间复杂度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算法所需存储空间的度量，记作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S(n)=O(f(n))            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其中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为问题的规模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或大小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827088" y="201613"/>
            <a:ext cx="4321175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渐进空间复杂度</a:t>
            </a:r>
          </a:p>
        </p:txBody>
      </p:sp>
      <p:sp>
        <p:nvSpPr>
          <p:cNvPr id="6" name="泪滴形 5"/>
          <p:cNvSpPr/>
          <p:nvPr/>
        </p:nvSpPr>
        <p:spPr>
          <a:xfrm rot="16200000" flipH="1">
            <a:off x="6213475" y="1668463"/>
            <a:ext cx="1876425" cy="2085975"/>
          </a:xfrm>
          <a:prstGeom prst="teardrop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泪滴形 7"/>
          <p:cNvSpPr/>
          <p:nvPr/>
        </p:nvSpPr>
        <p:spPr>
          <a:xfrm rot="5400000" flipH="1" flipV="1">
            <a:off x="6451600" y="3463925"/>
            <a:ext cx="2143125" cy="2828925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泪滴形 8"/>
          <p:cNvSpPr/>
          <p:nvPr/>
        </p:nvSpPr>
        <p:spPr>
          <a:xfrm rot="16200000" flipV="1">
            <a:off x="3253581" y="3109119"/>
            <a:ext cx="1998663" cy="3394075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13243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6335713" y="2105025"/>
            <a:ext cx="1765300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算法要占据的空间</a:t>
            </a:r>
          </a:p>
        </p:txBody>
      </p:sp>
      <p:sp>
        <p:nvSpPr>
          <p:cNvPr id="17" name="泪滴形 16"/>
          <p:cNvSpPr/>
          <p:nvPr/>
        </p:nvSpPr>
        <p:spPr>
          <a:xfrm rot="5400000" flipH="1" flipV="1">
            <a:off x="6451600" y="3463925"/>
            <a:ext cx="2143125" cy="2828925"/>
          </a:xfrm>
          <a:prstGeom prst="teardrop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泪滴形 17"/>
          <p:cNvSpPr/>
          <p:nvPr/>
        </p:nvSpPr>
        <p:spPr>
          <a:xfrm rot="16200000" flipV="1">
            <a:off x="3109119" y="3109119"/>
            <a:ext cx="2143125" cy="3538538"/>
          </a:xfrm>
          <a:prstGeom prst="teardrop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13243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411413" y="4152900"/>
            <a:ext cx="3468688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55000"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算法本身要占据的空间，输入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输出，指令，常数，变量等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227763" y="4173538"/>
            <a:ext cx="2305050" cy="92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55000"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算法要使用的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辅助空间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 build="p" bldLvl="2"/>
      <p:bldP spid="19" grpId="0" build="p" bldLvl="2"/>
      <p:bldP spid="20" grpId="0" build="p" bldLvl="2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3781425"/>
            <a:ext cx="4643438" cy="2924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1】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=0;i&lt;n/2;i++)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{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]=a[n-i-1];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a[n-i-1]=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}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716463" y="3781425"/>
            <a:ext cx="4427538" cy="2924175"/>
          </a:xfrm>
          <a:prstGeom prst="rect">
            <a:avLst/>
          </a:prstGeom>
          <a:solidFill>
            <a:srgbClr val="6C4C8F">
              <a:alpha val="3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2】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=0;i&lt;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b[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a[n-i-1];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=0;i&lt;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n;i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409575" y="1169988"/>
            <a:ext cx="8391525" cy="523875"/>
          </a:xfrm>
          <a:prstGeom prst="rect">
            <a:avLst/>
          </a:prstGeom>
          <a:noFill/>
          <a:ln w="381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：将一维数组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中的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个数逆序存放到原数组中。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云形标注 7"/>
          <p:cNvSpPr>
            <a:spLocks noChangeArrowheads="1"/>
          </p:cNvSpPr>
          <p:nvPr/>
        </p:nvSpPr>
        <p:spPr bwMode="auto">
          <a:xfrm>
            <a:off x="5867400" y="2170113"/>
            <a:ext cx="2628900" cy="881063"/>
          </a:xfrm>
          <a:prstGeom prst="cloudCallout">
            <a:avLst>
              <a:gd name="adj1" fmla="val -23074"/>
              <a:gd name="adj2" fmla="val 152884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S(n) = O(n)</a:t>
            </a:r>
          </a:p>
        </p:txBody>
      </p:sp>
      <p:sp>
        <p:nvSpPr>
          <p:cNvPr id="9" name="云形标注 8"/>
          <p:cNvSpPr>
            <a:spLocks noChangeArrowheads="1"/>
          </p:cNvSpPr>
          <p:nvPr/>
        </p:nvSpPr>
        <p:spPr bwMode="auto">
          <a:xfrm>
            <a:off x="633413" y="2136775"/>
            <a:ext cx="2643188" cy="1258888"/>
          </a:xfrm>
          <a:prstGeom prst="cloudCallout">
            <a:avLst>
              <a:gd name="adj1" fmla="val 61722"/>
              <a:gd name="adj2" fmla="val 15087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S(n) = O(1)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原地工作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27088" y="201613"/>
            <a:ext cx="4321175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渐进空间复杂度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build="allAtOnce" animBg="1"/>
      <p:bldP spid="9" grpId="0" build="allAtOnce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下列函数中，哪个函数具有最快的增长速度：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2782975"/>
            <a:ext cx="145732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521" y="3602686"/>
            <a:ext cx="1334889" cy="579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164" y="4564856"/>
            <a:ext cx="494854" cy="45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642" y="5409308"/>
            <a:ext cx="1499989" cy="53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84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368380" y="1196752"/>
            <a:ext cx="8743950" cy="268225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 ( A &gt; B ) {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for ( i=0; i&lt;N; i++ 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for ( j=N*N; j&gt;i; j-- 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    A += B;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}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else {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for ( i=0; i&lt;N*2; i++ 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for ( j=N*2; j&gt;i; j-- 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    A += B;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}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这段代码的时间复杂度是（   ）。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43608" y="415421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43608" y="480228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43608" y="545035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602642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O(2*N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29233" y="42185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29233" y="486657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29233" y="5514651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60907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633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83671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 the following piece of code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for(i=0; i&lt;n; i++)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for(j=i; j&gt;0; j/=2)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(“%d\n”, j);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time complexity is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（   ）。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315979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N×i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401704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87429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66638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NlogN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21297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07022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92747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78472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879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843583" y="119675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 the following piece of code</a:t>
            </a:r>
          </a:p>
          <a:p>
            <a:pPr lvl="1"/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int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count =0;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int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i=0; i*i&lt;n; i++)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for(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int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j=0; j&lt;i; j++)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count++;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time complexity is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（   ）。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757983" y="35266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</a:t>
            </a:r>
            <a:r>
              <a:rPr lang="en-US" altLang="zh-CN" sz="2600" i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log</a:t>
            </a:r>
            <a:r>
              <a:rPr lang="en-US" altLang="zh-CN" sz="2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757983" y="43839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757983" y="52411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0.5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757983" y="60984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O(n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1.5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043608" y="359097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043608" y="444822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043608" y="530547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043608" y="616272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296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ChangeArrowheads="1"/>
          </p:cNvSpPr>
          <p:nvPr/>
        </p:nvSpPr>
        <p:spPr bwMode="auto">
          <a:xfrm>
            <a:off x="0" y="1557338"/>
            <a:ext cx="9144000" cy="3671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数据、数据元素、数据项、数据结构等基本概念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对数据结构的两个层次的理解</a:t>
            </a: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3399"/>
              </a:buClr>
              <a:buSzTx/>
              <a:buFontTx/>
              <a:buChar char="•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3399"/>
              </a:buClr>
              <a:buSzTx/>
              <a:buFontTx/>
              <a:buChar char="•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抽象数据类型的表示方法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算法、算法的时间复杂度及其分析的简易方法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680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7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BhMDM5OWMxZjA2Y2M4YmM5ODhkYmUzZmFiYjRmZD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2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v5y3ow4k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1824</TotalTime>
  <Words>4357</Words>
  <Application>Microsoft Office PowerPoint</Application>
  <PresentationFormat>全屏显示(4:3)</PresentationFormat>
  <Paragraphs>829</Paragraphs>
  <Slides>83</Slides>
  <Notes>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83</vt:i4>
      </vt:variant>
    </vt:vector>
  </HeadingPairs>
  <TitlesOfParts>
    <vt:vector size="88" baseType="lpstr">
      <vt:lpstr>主题2</vt:lpstr>
      <vt:lpstr>剪辑</vt:lpstr>
      <vt:lpstr>Microsoft Word 97 - 2003 文档</vt:lpstr>
      <vt:lpstr>MathType 6.0 Equation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定量模型：可以用数值方程表示的。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课程目的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抽象数据类型 (ADTs: Abstract  Data Types)</vt:lpstr>
      <vt:lpstr>PowerPoint 演示文稿</vt:lpstr>
      <vt:lpstr>PowerPoint 演示文稿</vt:lpstr>
      <vt:lpstr>抽象数据类型的表示与实现</vt:lpstr>
      <vt:lpstr>复数---抽象数据类型的定义</vt:lpstr>
      <vt:lpstr>复数---抽象数据类型的表示</vt:lpstr>
      <vt:lpstr>复数---抽象数据类型的实现</vt:lpstr>
      <vt:lpstr>抽象数据类型的表示与实现</vt:lpstr>
      <vt:lpstr>抽象数据类型的表示与实现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算法的评价: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算法的效率的度量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bjfu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wyw-office</cp:lastModifiedBy>
  <cp:revision>851</cp:revision>
  <dcterms:created xsi:type="dcterms:W3CDTF">1996-07-15T15:40:02Z</dcterms:created>
  <dcterms:modified xsi:type="dcterms:W3CDTF">2026-03-09T02:02:49Z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38058D3E78014A1BB848310D600CF1EC</vt:lpwstr>
  </property>
</Properties>
</file>