
<file path=[Content_Types].xml><?xml version="1.0" encoding="utf-8"?>
<Types xmlns="http://schemas.openxmlformats.org/package/2006/content-types">
  <Default Extension="png" ContentType="image/png"/>
  <Default Extension="tmp"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2"/>
  </p:notesMasterIdLst>
  <p:handoutMasterIdLst>
    <p:handoutMasterId r:id="rId183"/>
  </p:handoutMasterIdLst>
  <p:sldIdLst>
    <p:sldId id="1088" r:id="rId2"/>
    <p:sldId id="1090" r:id="rId3"/>
    <p:sldId id="1089" r:id="rId4"/>
    <p:sldId id="1092" r:id="rId5"/>
    <p:sldId id="1091" r:id="rId6"/>
    <p:sldId id="1093" r:id="rId7"/>
    <p:sldId id="513" r:id="rId8"/>
    <p:sldId id="1465" r:id="rId9"/>
    <p:sldId id="1098" r:id="rId10"/>
    <p:sldId id="1313" r:id="rId11"/>
    <p:sldId id="1314" r:id="rId12"/>
    <p:sldId id="1315" r:id="rId13"/>
    <p:sldId id="1466" r:id="rId14"/>
    <p:sldId id="935" r:id="rId15"/>
    <p:sldId id="511" r:id="rId16"/>
    <p:sldId id="757" r:id="rId17"/>
    <p:sldId id="515" r:id="rId18"/>
    <p:sldId id="758" r:id="rId19"/>
    <p:sldId id="517" r:id="rId20"/>
    <p:sldId id="512" r:id="rId21"/>
    <p:sldId id="592" r:id="rId22"/>
    <p:sldId id="651" r:id="rId23"/>
    <p:sldId id="652" r:id="rId24"/>
    <p:sldId id="760" r:id="rId25"/>
    <p:sldId id="761" r:id="rId26"/>
    <p:sldId id="655" r:id="rId27"/>
    <p:sldId id="668" r:id="rId28"/>
    <p:sldId id="669" r:id="rId29"/>
    <p:sldId id="1651" r:id="rId30"/>
    <p:sldId id="1652" r:id="rId31"/>
    <p:sldId id="762" r:id="rId32"/>
    <p:sldId id="790" r:id="rId33"/>
    <p:sldId id="791" r:id="rId34"/>
    <p:sldId id="851" r:id="rId35"/>
    <p:sldId id="671" r:id="rId36"/>
    <p:sldId id="677" r:id="rId37"/>
    <p:sldId id="764" r:id="rId38"/>
    <p:sldId id="765" r:id="rId39"/>
    <p:sldId id="763" r:id="rId40"/>
    <p:sldId id="766" r:id="rId41"/>
    <p:sldId id="767" r:id="rId42"/>
    <p:sldId id="768" r:id="rId43"/>
    <p:sldId id="678" r:id="rId44"/>
    <p:sldId id="769" r:id="rId45"/>
    <p:sldId id="680" r:id="rId46"/>
    <p:sldId id="1467" r:id="rId47"/>
    <p:sldId id="786" r:id="rId48"/>
    <p:sldId id="925" r:id="rId49"/>
    <p:sldId id="927" r:id="rId50"/>
    <p:sldId id="928" r:id="rId51"/>
    <p:sldId id="783" r:id="rId52"/>
    <p:sldId id="787" r:id="rId53"/>
    <p:sldId id="537" r:id="rId54"/>
    <p:sldId id="788" r:id="rId55"/>
    <p:sldId id="789" r:id="rId56"/>
    <p:sldId id="856" r:id="rId57"/>
    <p:sldId id="867" r:id="rId58"/>
    <p:sldId id="898" r:id="rId59"/>
    <p:sldId id="902" r:id="rId60"/>
    <p:sldId id="905" r:id="rId61"/>
    <p:sldId id="908" r:id="rId62"/>
    <p:sldId id="909" r:id="rId63"/>
    <p:sldId id="910" r:id="rId64"/>
    <p:sldId id="912" r:id="rId65"/>
    <p:sldId id="911" r:id="rId66"/>
    <p:sldId id="913" r:id="rId67"/>
    <p:sldId id="914" r:id="rId68"/>
    <p:sldId id="915" r:id="rId69"/>
    <p:sldId id="917" r:id="rId70"/>
    <p:sldId id="916" r:id="rId71"/>
    <p:sldId id="918" r:id="rId72"/>
    <p:sldId id="919" r:id="rId73"/>
    <p:sldId id="920" r:id="rId74"/>
    <p:sldId id="1468" r:id="rId75"/>
    <p:sldId id="1653" r:id="rId76"/>
    <p:sldId id="1654" r:id="rId77"/>
    <p:sldId id="1655" r:id="rId78"/>
    <p:sldId id="1656" r:id="rId79"/>
    <p:sldId id="1657" r:id="rId80"/>
    <p:sldId id="870" r:id="rId81"/>
    <p:sldId id="803" r:id="rId82"/>
    <p:sldId id="804" r:id="rId83"/>
    <p:sldId id="923" r:id="rId84"/>
    <p:sldId id="872" r:id="rId85"/>
    <p:sldId id="924" r:id="rId86"/>
    <p:sldId id="921" r:id="rId87"/>
    <p:sldId id="874" r:id="rId88"/>
    <p:sldId id="875" r:id="rId89"/>
    <p:sldId id="876" r:id="rId90"/>
    <p:sldId id="877" r:id="rId91"/>
    <p:sldId id="879" r:id="rId92"/>
    <p:sldId id="881" r:id="rId93"/>
    <p:sldId id="882" r:id="rId94"/>
    <p:sldId id="805" r:id="rId95"/>
    <p:sldId id="806" r:id="rId96"/>
    <p:sldId id="807" r:id="rId97"/>
    <p:sldId id="808" r:id="rId98"/>
    <p:sldId id="829" r:id="rId99"/>
    <p:sldId id="811" r:id="rId100"/>
    <p:sldId id="812" r:id="rId101"/>
    <p:sldId id="813" r:id="rId102"/>
    <p:sldId id="814" r:id="rId103"/>
    <p:sldId id="1469" r:id="rId104"/>
    <p:sldId id="945" r:id="rId105"/>
    <p:sldId id="946" r:id="rId106"/>
    <p:sldId id="947" r:id="rId107"/>
    <p:sldId id="950" r:id="rId108"/>
    <p:sldId id="951" r:id="rId109"/>
    <p:sldId id="952" r:id="rId110"/>
    <p:sldId id="953" r:id="rId111"/>
    <p:sldId id="954" r:id="rId112"/>
    <p:sldId id="955" r:id="rId113"/>
    <p:sldId id="1306" r:id="rId114"/>
    <p:sldId id="1312" r:id="rId115"/>
    <p:sldId id="1308" r:id="rId116"/>
    <p:sldId id="1310" r:id="rId117"/>
    <p:sldId id="1307" r:id="rId118"/>
    <p:sldId id="1309" r:id="rId119"/>
    <p:sldId id="1311" r:id="rId120"/>
    <p:sldId id="1273" r:id="rId121"/>
    <p:sldId id="1271" r:id="rId122"/>
    <p:sldId id="1274" r:id="rId123"/>
    <p:sldId id="957" r:id="rId124"/>
    <p:sldId id="958" r:id="rId125"/>
    <p:sldId id="961" r:id="rId126"/>
    <p:sldId id="1242" r:id="rId127"/>
    <p:sldId id="1245" r:id="rId128"/>
    <p:sldId id="1246" r:id="rId129"/>
    <p:sldId id="1243" r:id="rId130"/>
    <p:sldId id="966" r:id="rId131"/>
    <p:sldId id="967" r:id="rId132"/>
    <p:sldId id="968" r:id="rId133"/>
    <p:sldId id="970" r:id="rId134"/>
    <p:sldId id="971" r:id="rId135"/>
    <p:sldId id="972" r:id="rId136"/>
    <p:sldId id="973" r:id="rId137"/>
    <p:sldId id="1275" r:id="rId138"/>
    <p:sldId id="1276" r:id="rId139"/>
    <p:sldId id="974" r:id="rId140"/>
    <p:sldId id="975" r:id="rId141"/>
    <p:sldId id="1470" r:id="rId142"/>
    <p:sldId id="1471" r:id="rId143"/>
    <p:sldId id="1472" r:id="rId144"/>
    <p:sldId id="1473" r:id="rId145"/>
    <p:sldId id="1474" r:id="rId146"/>
    <p:sldId id="1475" r:id="rId147"/>
    <p:sldId id="1476" r:id="rId148"/>
    <p:sldId id="1477" r:id="rId149"/>
    <p:sldId id="1478" r:id="rId150"/>
    <p:sldId id="1479" r:id="rId151"/>
    <p:sldId id="1480" r:id="rId152"/>
    <p:sldId id="1481" r:id="rId153"/>
    <p:sldId id="1482" r:id="rId154"/>
    <p:sldId id="1483" r:id="rId155"/>
    <p:sldId id="1633" r:id="rId156"/>
    <p:sldId id="1634" r:id="rId157"/>
    <p:sldId id="1635" r:id="rId158"/>
    <p:sldId id="1636" r:id="rId159"/>
    <p:sldId id="1637" r:id="rId160"/>
    <p:sldId id="1638" r:id="rId161"/>
    <p:sldId id="1639" r:id="rId162"/>
    <p:sldId id="1640" r:id="rId163"/>
    <p:sldId id="1641" r:id="rId164"/>
    <p:sldId id="1642" r:id="rId165"/>
    <p:sldId id="1643" r:id="rId166"/>
    <p:sldId id="1644" r:id="rId167"/>
    <p:sldId id="1645" r:id="rId168"/>
    <p:sldId id="1646" r:id="rId169"/>
    <p:sldId id="1647" r:id="rId170"/>
    <p:sldId id="1648" r:id="rId171"/>
    <p:sldId id="1649" r:id="rId172"/>
    <p:sldId id="1650" r:id="rId173"/>
    <p:sldId id="840" r:id="rId174"/>
    <p:sldId id="884" r:id="rId175"/>
    <p:sldId id="886" r:id="rId176"/>
    <p:sldId id="887" r:id="rId177"/>
    <p:sldId id="889" r:id="rId178"/>
    <p:sldId id="890" r:id="rId179"/>
    <p:sldId id="885" r:id="rId180"/>
    <p:sldId id="891" r:id="rId181"/>
  </p:sldIdLst>
  <p:sldSz cx="9144000" cy="6858000" type="screen4x3"/>
  <p:notesSz cx="6858000" cy="9144000"/>
  <p:custDataLst>
    <p:tags r:id="rId184"/>
  </p:custDataLst>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Muha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B8CA"/>
    <a:srgbClr val="FFCC99"/>
    <a:srgbClr val="C4B3D7"/>
    <a:srgbClr val="EAEAEA"/>
    <a:srgbClr val="CCCCCC"/>
    <a:srgbClr val="B296CE"/>
    <a:srgbClr val="D4E6F4"/>
    <a:srgbClr val="6C4C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29" autoAdjust="0"/>
    <p:restoredTop sz="94608"/>
  </p:normalViewPr>
  <p:slideViewPr>
    <p:cSldViewPr snapToObjects="1">
      <p:cViewPr varScale="1">
        <p:scale>
          <a:sx n="84" d="100"/>
          <a:sy n="84" d="100"/>
        </p:scale>
        <p:origin x="-141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6918"/>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notesMaster" Target="notesMasters/notesMaster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ags" Target="tags/tag1.xml"/><Relationship Id="rId189"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viewProps" Target="viewProps.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wmf"/><Relationship Id="rId1" Type="http://schemas.openxmlformats.org/officeDocument/2006/relationships/image" Target="../media/image32.wmf"/><Relationship Id="rId4" Type="http://schemas.openxmlformats.org/officeDocument/2006/relationships/image" Target="../media/image3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0"/>
              </a:spcBef>
              <a:buFontTx/>
              <a:buNone/>
              <a:defRPr kumimoji="1" sz="1200" b="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0"/>
              </a:spcBef>
              <a:buFontTx/>
              <a:buNone/>
              <a:defRPr kumimoji="1" sz="1200" b="0">
                <a:ea typeface="仿宋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spcBef>
                <a:spcPct val="0"/>
              </a:spcBef>
              <a:buFontTx/>
              <a:buNone/>
              <a:defRPr kumimoji="1" sz="1200" b="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spcBef>
                <a:spcPct val="0"/>
              </a:spcBef>
              <a:buFont typeface="Arial" panose="020B0604020202020204" pitchFamily="34" charset="0"/>
              <a:buNone/>
              <a:defRPr sz="1200" b="0" noProof="1">
                <a:ea typeface="仿宋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B18CE1C-F683-44DB-9A13-DA9EABB7CE1C}" type="slidenum">
              <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rPr>
              <a:t>‹#›</a:t>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endParaRPr>
          </a:p>
        </p:txBody>
      </p:sp>
    </p:spTree>
    <p:extLst>
      <p:ext uri="{BB962C8B-B14F-4D97-AF65-F5344CB8AC3E}">
        <p14:creationId xmlns:p14="http://schemas.microsoft.com/office/powerpoint/2010/main" val="1312667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0"/>
              </a:spcBef>
              <a:buFontTx/>
              <a:buNone/>
              <a:defRPr kumimoji="1" sz="1200" b="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0"/>
              </a:spcBef>
              <a:buFontTx/>
              <a:buNone/>
              <a:defRPr kumimoji="1" sz="1200" b="0">
                <a:ea typeface="仿宋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1268" name="Rectangle 4"/>
          <p:cNvSpPr>
            <a:spLocks noGrp="1" noRot="1" noChangeAspec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单击以编辑母版文本样式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spcBef>
                <a:spcPct val="0"/>
              </a:spcBef>
              <a:buFontTx/>
              <a:buNone/>
              <a:defRPr kumimoji="1" sz="1200" b="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spcBef>
                <a:spcPct val="0"/>
              </a:spcBef>
              <a:buFont typeface="Arial" panose="020B0604020202020204" pitchFamily="34" charset="0"/>
              <a:buNone/>
              <a:defRPr sz="1200" b="0" noProof="1">
                <a:ea typeface="仿宋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21E0E58-AAA9-49A0-B4E4-6E203DE171ED}" type="slidenum">
              <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rPr>
              <a:t>‹#›</a:t>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endParaRPr>
          </a:p>
        </p:txBody>
      </p:sp>
    </p:spTree>
    <p:extLst>
      <p:ext uri="{BB962C8B-B14F-4D97-AF65-F5344CB8AC3E}">
        <p14:creationId xmlns:p14="http://schemas.microsoft.com/office/powerpoint/2010/main" val="228678165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rgbClr val="000000"/>
                </a:solidFill>
                <a:ea typeface="宋体" panose="02010600030101010101" pitchFamily="2" charset="-122"/>
              </a:rPr>
              <a:t>1</a:t>
            </a:fld>
            <a:endParaRPr lang="en-US" altLang="zh-CN" sz="1200" b="0" dirty="0">
              <a:solidFill>
                <a:srgbClr val="000000"/>
              </a:solidFill>
              <a:ea typeface="宋体" panose="02010600030101010101" pitchFamily="2" charset="-122"/>
            </a:endParaRPr>
          </a:p>
        </p:txBody>
      </p:sp>
      <p:sp>
        <p:nvSpPr>
          <p:cNvPr id="14339" name="Rectangle 2"/>
          <p:cNvSpPr>
            <a:spLocks noGrp="1" noRot="1" noChangeAspect="1" noTextEdit="1"/>
          </p:cNvSpPr>
          <p:nvPr>
            <p:ph type="sldImg"/>
          </p:nvPr>
        </p:nvSpPr>
        <p:spPr/>
      </p:sp>
      <p:sp>
        <p:nvSpPr>
          <p:cNvPr id="14340"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rgbClr val="000000"/>
                </a:solidFill>
                <a:ea typeface="宋体" panose="02010600030101010101" pitchFamily="2" charset="-122"/>
              </a:rPr>
              <a:t>3</a:t>
            </a:fld>
            <a:endParaRPr lang="en-US" altLang="zh-CN" sz="1200" b="0" dirty="0">
              <a:solidFill>
                <a:srgbClr val="000000"/>
              </a:solidFill>
              <a:ea typeface="宋体" panose="02010600030101010101" pitchFamily="2" charset="-122"/>
            </a:endParaRPr>
          </a:p>
        </p:txBody>
      </p:sp>
      <p:sp>
        <p:nvSpPr>
          <p:cNvPr id="17411" name="Rectangle 2"/>
          <p:cNvSpPr>
            <a:spLocks noGrp="1" noRot="1" noChangeAspect="1" noTextEdit="1"/>
          </p:cNvSpPr>
          <p:nvPr>
            <p:ph type="sldImg"/>
          </p:nvPr>
        </p:nvSpPr>
        <p:spPr/>
      </p:sp>
      <p:sp>
        <p:nvSpPr>
          <p:cNvPr id="17412" name="Rectangle 3"/>
          <p:cNvSpPr>
            <a:spLocks noGrp="1"/>
          </p:cNvSpPr>
          <p:nvPr>
            <p:ph type="body"/>
          </p:nvPr>
        </p:nvSpPr>
        <p:spPr/>
        <p:txBody>
          <a:bodyPr wrap="square" lIns="91440" tIns="45720" rIns="91440" bIns="45720" anchor="t" anchorCtr="0"/>
          <a:lstStyle/>
          <a:p>
            <a:pPr lvl="0"/>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rgbClr val="000000"/>
                </a:solidFill>
                <a:ea typeface="仿宋_GB2312" pitchFamily="49" charset="-122"/>
              </a:rPr>
              <a:t>6</a:t>
            </a:fld>
            <a:endParaRPr lang="en-US" altLang="zh-CN" sz="1200" b="0" dirty="0">
              <a:solidFill>
                <a:srgbClr val="000000"/>
              </a:solidFill>
              <a:ea typeface="仿宋_GB2312" pitchFamily="49" charset="-122"/>
            </a:endParaRPr>
          </a:p>
        </p:txBody>
      </p:sp>
      <p:sp>
        <p:nvSpPr>
          <p:cNvPr id="21507" name="Rectangle 2"/>
          <p:cNvSpPr>
            <a:spLocks noGrp="1" noRot="1" noChangeAspect="1" noTextEdit="1"/>
          </p:cNvSpPr>
          <p:nvPr>
            <p:ph type="sldImg"/>
          </p:nvPr>
        </p:nvSpPr>
        <p:spPr>
          <a:solidFill>
            <a:srgbClr val="FFFFFF">
              <a:alpha val="100000"/>
            </a:srgbClr>
          </a:solidFill>
        </p:spPr>
      </p:sp>
      <p:sp>
        <p:nvSpPr>
          <p:cNvPr id="21508"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仿宋_GB2312" pitchFamily="49" charset="-122"/>
              </a:rPr>
              <a:t>15</a:t>
            </a:fld>
            <a:endParaRPr lang="en-US" altLang="zh-CN" sz="1200" b="0" dirty="0">
              <a:ea typeface="仿宋_GB2312" pitchFamily="49" charset="-122"/>
            </a:endParaRPr>
          </a:p>
        </p:txBody>
      </p:sp>
      <p:sp>
        <p:nvSpPr>
          <p:cNvPr id="36867" name="Rectangle 2"/>
          <p:cNvSpPr>
            <a:spLocks noGrp="1" noRot="1" noChangeAspect="1" noTextEdit="1"/>
          </p:cNvSpPr>
          <p:nvPr>
            <p:ph type="sldImg"/>
          </p:nvPr>
        </p:nvSpPr>
        <p:spPr>
          <a:solidFill>
            <a:srgbClr val="FFFFFF">
              <a:alpha val="100000"/>
            </a:srgbClr>
          </a:solidFill>
        </p:spPr>
      </p:sp>
      <p:sp>
        <p:nvSpPr>
          <p:cNvPr id="36868"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仿宋_GB2312" pitchFamily="49" charset="-122"/>
              </a:rPr>
              <a:t>20</a:t>
            </a:fld>
            <a:endParaRPr lang="en-US" altLang="zh-CN" sz="1200" b="0" dirty="0">
              <a:ea typeface="仿宋_GB2312" pitchFamily="49" charset="-122"/>
            </a:endParaRPr>
          </a:p>
        </p:txBody>
      </p:sp>
      <p:sp>
        <p:nvSpPr>
          <p:cNvPr id="43011" name="Rectangle 2"/>
          <p:cNvSpPr>
            <a:spLocks noGrp="1" noRot="1" noChangeAspect="1" noTextEdit="1"/>
          </p:cNvSpPr>
          <p:nvPr>
            <p:ph type="sldImg"/>
          </p:nvPr>
        </p:nvSpPr>
        <p:spPr>
          <a:solidFill>
            <a:srgbClr val="FFFFFF">
              <a:alpha val="100000"/>
            </a:srgbClr>
          </a:solidFill>
        </p:spPr>
      </p:sp>
      <p:sp>
        <p:nvSpPr>
          <p:cNvPr id="43012"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p:sp>
      <p:sp>
        <p:nvSpPr>
          <p:cNvPr id="78851"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7885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仿宋_GB2312" pitchFamily="49" charset="-122"/>
              </a:rPr>
              <a:t>54</a:t>
            </a:fld>
            <a:endParaRPr lang="en-US" altLang="zh-CN" sz="1200" b="0" dirty="0">
              <a:ea typeface="仿宋_GB2312" pitchFamily="49"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2355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rgbClr val="000000"/>
                </a:solidFill>
                <a:ea typeface="仿宋_GB2312" pitchFamily="49" charset="-122"/>
              </a:rPr>
              <a:t>75</a:t>
            </a:fld>
            <a:endParaRPr lang="en-US" altLang="zh-CN" sz="1200" b="0" dirty="0">
              <a:solidFill>
                <a:srgbClr val="000000"/>
              </a:solidFill>
              <a:ea typeface="仿宋_GB2312" pitchFamily="49"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p:sp>
      <p:sp>
        <p:nvSpPr>
          <p:cNvPr id="25603"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2560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solidFill>
                  <a:srgbClr val="000000"/>
                </a:solidFill>
                <a:ea typeface="仿宋_GB2312" pitchFamily="49" charset="-122"/>
              </a:rPr>
              <a:t>76</a:t>
            </a:fld>
            <a:endParaRPr lang="en-US" altLang="zh-CN" sz="1200" b="0" dirty="0">
              <a:solidFill>
                <a:srgbClr val="000000"/>
              </a:solidFill>
              <a:ea typeface="仿宋_GB2312" pitchFamily="49"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eaLnBrk="1" hangingPunct="1"/>
            <a:fld id="{9A0DB2DC-4C9A-4742-B13C-FB6460FD3503}" type="slidenum">
              <a:rPr lang="en-US" altLang="zh-CN" b="0" dirty="0">
                <a:solidFill>
                  <a:srgbClr val="000000"/>
                </a:solidFill>
                <a:ea typeface="仿宋_GB2312" pitchFamily="49" charset="-122"/>
              </a:rPr>
              <a:pPr eaLnBrk="1" hangingPunct="1"/>
              <a:t>79</a:t>
            </a:fld>
            <a:endParaRPr lang="en-US" altLang="zh-CN" b="0" dirty="0">
              <a:solidFill>
                <a:srgbClr val="000000"/>
              </a:solidFill>
              <a:ea typeface="仿宋_GB2312" pitchFamily="49" charset="-122"/>
            </a:endParaRPr>
          </a:p>
        </p:txBody>
      </p:sp>
      <p:sp>
        <p:nvSpPr>
          <p:cNvPr id="29699" name="Rectangle 2"/>
          <p:cNvSpPr>
            <a:spLocks noGrp="1" noRot="1" noChangeAspect="1" noTextEdit="1"/>
          </p:cNvSpPr>
          <p:nvPr>
            <p:ph type="sldImg"/>
          </p:nvPr>
        </p:nvSpPr>
        <p:spPr>
          <a:solidFill>
            <a:srgbClr val="FFFFFF">
              <a:alpha val="100000"/>
            </a:srgbClr>
          </a:solidFill>
        </p:spPr>
      </p:sp>
      <p:sp>
        <p:nvSpPr>
          <p:cNvPr id="29700" name="Rectangle 3"/>
          <p:cNvSpPr>
            <a:spLocks noGrp="1"/>
          </p:cNvSpPr>
          <p:nvPr>
            <p:ph type="body"/>
          </p:nvPr>
        </p:nvSpPr>
        <p:spPr>
          <a:solidFill>
            <a:srgbClr val="FFFFFF">
              <a:alpha val="100000"/>
            </a:srgbClr>
          </a:solidFill>
          <a:ln>
            <a:solidFill>
              <a:srgbClr val="000000">
                <a:alpha val="100000"/>
              </a:srgbClr>
            </a:solidFill>
            <a:miter/>
          </a:ln>
        </p:spPr>
        <p:txBody>
          <a:bodyPr wrap="square" lIns="91440" tIns="45720" rIns="91440" bIns="45720" anchor="t" anchorCtr="0"/>
          <a:lstStyle/>
          <a:p>
            <a:pPr lvl="0"/>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p:sp>
      <p:sp>
        <p:nvSpPr>
          <p:cNvPr id="122883"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12288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仿宋_GB2312" pitchFamily="49" charset="-122"/>
              </a:rPr>
              <a:t>84</a:t>
            </a:fld>
            <a:endParaRPr lang="en-US" altLang="zh-CN" sz="1200" b="0" dirty="0">
              <a:ea typeface="仿宋_GB2312" pitchFamily="49"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p:sp>
      <p:sp>
        <p:nvSpPr>
          <p:cNvPr id="124931"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12493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仿宋_GB2312" pitchFamily="49" charset="-122"/>
              </a:rPr>
              <a:t>85</a:t>
            </a:fld>
            <a:endParaRPr lang="en-US" altLang="zh-CN" sz="1200" b="0" dirty="0">
              <a:ea typeface="仿宋_GB2312" pitchFamily="49"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050" name="直接连接符 9"/>
          <p:cNvSpPr/>
          <p:nvPr userDrawn="1"/>
        </p:nvSpPr>
        <p:spPr>
          <a:xfrm>
            <a:off x="0" y="6357938"/>
            <a:ext cx="9144000" cy="71437"/>
          </a:xfrm>
          <a:prstGeom prst="line">
            <a:avLst/>
          </a:prstGeom>
          <a:ln w="9525">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6" name="矩形 15"/>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844171" y="235957"/>
            <a:ext cx="6400800" cy="456739"/>
          </a:xfrm>
        </p:spPr>
        <p:txBody>
          <a:bodyPr/>
          <a:lstStyle/>
          <a:p>
            <a:r>
              <a:rPr lang="zh-CN" altLang="en-US" noProof="1"/>
              <a:t>单击此处编辑母版标题样式</a:t>
            </a:r>
          </a:p>
        </p:txBody>
      </p:sp>
      <p:sp>
        <p:nvSpPr>
          <p:cNvPr id="3" name="内容占位符 2"/>
          <p:cNvSpPr>
            <a:spLocks noGrp="1"/>
          </p:cNvSpPr>
          <p:nvPr>
            <p:ph idx="1" hasCustomPrompt="1"/>
          </p:nvPr>
        </p:nvSpPr>
        <p:spPr/>
        <p:txBody>
          <a:bodyPr/>
          <a:lstStyle/>
          <a:p>
            <a:pPr lvl="0"/>
            <a:r>
              <a:rPr lang="zh-CN" altLang="en-US" noProof="1"/>
              <a:t>编辑母版文本样式</a:t>
            </a:r>
          </a:p>
          <a:p>
            <a:pPr lvl="1"/>
            <a:r>
              <a:rPr lang="zh-CN" altLang="en-US" noProof="1"/>
              <a:t>第二级</a:t>
            </a:r>
          </a:p>
        </p:txBody>
      </p:sp>
      <p:grpSp>
        <p:nvGrpSpPr>
          <p:cNvPr id="17" name="组合 16"/>
          <p:cNvGrpSpPr/>
          <p:nvPr/>
        </p:nvGrpSpPr>
        <p:grpSpPr>
          <a:xfrm>
            <a:off x="115637" y="404664"/>
            <a:ext cx="617410" cy="174607"/>
            <a:chOff x="384175" y="480608"/>
            <a:chExt cx="348872" cy="98663"/>
          </a:xfrm>
          <a:solidFill>
            <a:srgbClr val="76AEDD"/>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6" name="矩形 15"/>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p:txBody>
          <a:bodyPr/>
          <a:lstStyle/>
          <a:p>
            <a:r>
              <a:rPr lang="zh-CN" altLang="en-US" noProof="1"/>
              <a:t>单击此处编辑母版标题样式</a:t>
            </a:r>
          </a:p>
        </p:txBody>
      </p:sp>
      <p:sp>
        <p:nvSpPr>
          <p:cNvPr id="4101" name="直接连接符 9"/>
          <p:cNvSpPr/>
          <p:nvPr userDrawn="1"/>
        </p:nvSpPr>
        <p:spPr>
          <a:xfrm>
            <a:off x="0" y="6357938"/>
            <a:ext cx="9144000" cy="71437"/>
          </a:xfrm>
          <a:prstGeom prst="line">
            <a:avLst/>
          </a:prstGeom>
          <a:ln w="9525">
            <a:noFill/>
          </a:ln>
        </p:spPr>
      </p:sp>
      <p:grpSp>
        <p:nvGrpSpPr>
          <p:cNvPr id="17" name="组合 16"/>
          <p:cNvGrpSpPr/>
          <p:nvPr/>
        </p:nvGrpSpPr>
        <p:grpSpPr>
          <a:xfrm>
            <a:off x="115637" y="404664"/>
            <a:ext cx="617410" cy="174607"/>
            <a:chOff x="384175" y="480608"/>
            <a:chExt cx="348872" cy="98663"/>
          </a:xfrm>
          <a:solidFill>
            <a:srgbClr val="76AEDD"/>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122" name="直接连接符 9"/>
          <p:cNvSpPr/>
          <p:nvPr userDrawn="1"/>
        </p:nvSpPr>
        <p:spPr>
          <a:xfrm>
            <a:off x="0" y="6357938"/>
            <a:ext cx="9144000" cy="71437"/>
          </a:xfrm>
          <a:prstGeom prst="line">
            <a:avLst/>
          </a:prstGeom>
          <a:ln w="9525">
            <a:noFill/>
          </a:ln>
        </p:spPr>
      </p:sp>
      <p:sp>
        <p:nvSpPr>
          <p:cNvPr id="16" name="矩形 15"/>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7" name="矩形 16"/>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0" name="标题 1"/>
          <p:cNvSpPr>
            <a:spLocks noGrp="1"/>
          </p:cNvSpPr>
          <p:nvPr>
            <p:ph type="title"/>
          </p:nvPr>
        </p:nvSpPr>
        <p:spPr>
          <a:xfrm>
            <a:off x="844550" y="260350"/>
            <a:ext cx="6400800" cy="457200"/>
          </a:xfrm>
        </p:spPr>
        <p:txBody>
          <a:bodyPr/>
          <a:lstStyle/>
          <a:p>
            <a:r>
              <a:rPr lang="zh-CN" altLang="en-US" noProof="1"/>
              <a:t>单击此处编辑母版标题样式</a:t>
            </a:r>
          </a:p>
        </p:txBody>
      </p:sp>
      <p:sp>
        <p:nvSpPr>
          <p:cNvPr id="5126" name="直接连接符 9"/>
          <p:cNvSpPr/>
          <p:nvPr userDrawn="1"/>
        </p:nvSpPr>
        <p:spPr>
          <a:xfrm>
            <a:off x="0" y="6357938"/>
            <a:ext cx="9144000" cy="71437"/>
          </a:xfrm>
          <a:prstGeom prst="line">
            <a:avLst/>
          </a:prstGeom>
          <a:ln w="9525">
            <a:noFill/>
          </a:ln>
        </p:spPr>
      </p:sp>
      <p:grpSp>
        <p:nvGrpSpPr>
          <p:cNvPr id="18" name="组合 17"/>
          <p:cNvGrpSpPr/>
          <p:nvPr/>
        </p:nvGrpSpPr>
        <p:grpSpPr>
          <a:xfrm>
            <a:off x="115637" y="404664"/>
            <a:ext cx="617410" cy="174607"/>
            <a:chOff x="384175" y="480608"/>
            <a:chExt cx="348872" cy="98663"/>
          </a:xfrm>
          <a:solidFill>
            <a:srgbClr val="76AEDD"/>
          </a:solidFill>
        </p:grpSpPr>
        <p:sp>
          <p:nvSpPr>
            <p:cNvPr id="19" name="等腰三角形 18">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21" name="等腰三角形 20">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017588" y="609600"/>
            <a:ext cx="6400800" cy="685800"/>
          </a:xfrm>
        </p:spPr>
        <p:txBody>
          <a:bodyPr/>
          <a:lstStyle/>
          <a:p>
            <a:r>
              <a:rPr lang="zh-CN" altLang="en-US" noProof="1"/>
              <a:t>单击此处编辑母版标题样式</a:t>
            </a:r>
          </a:p>
        </p:txBody>
      </p:sp>
      <p:sp>
        <p:nvSpPr>
          <p:cNvPr id="3" name="表格占位符 2"/>
          <p:cNvSpPr>
            <a:spLocks noGrp="1"/>
          </p:cNvSpPr>
          <p:nvPr>
            <p:ph type="tbl" idx="1"/>
          </p:nvPr>
        </p:nvSpPr>
        <p:spPr>
          <a:xfrm>
            <a:off x="649288" y="1449388"/>
            <a:ext cx="7983537" cy="4725987"/>
          </a:xfrm>
        </p:spPr>
        <p:txBody>
          <a:bodyPr vert="horz" wrap="square" lIns="91440" tIns="45720" rIns="91440" bIns="45720" numCol="1" anchor="t" anchorCtr="0" compatLnSpc="1"/>
          <a:lstStyle/>
          <a:p>
            <a:pPr marL="0" marR="0" lvl="0" indent="53848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0" cap="none" spc="0" normalizeH="0" baseline="0" noProof="0">
              <a:ln>
                <a:noFill/>
              </a:ln>
              <a:solidFill>
                <a:schemeClr val="tx1"/>
              </a:solidFill>
              <a:effectLst/>
              <a:uLnTx/>
              <a:uFillTx/>
              <a:latin typeface="+mn-lt"/>
              <a:ea typeface="微软雅黑" panose="020B0503020204020204" pitchFamily="34" charset="-122"/>
              <a:cs typeface="+mn-cs"/>
            </a:endParaRPr>
          </a:p>
        </p:txBody>
      </p:sp>
      <p:sp>
        <p:nvSpPr>
          <p:cNvPr id="15" name="Rectangle 4"/>
          <p:cNvSpPr>
            <a:spLocks noGrp="1" noChangeArrowheads="1"/>
          </p:cNvSpPr>
          <p:nvPr>
            <p:ph type="dt" sz="half" idx="2"/>
          </p:nvPr>
        </p:nvSpPr>
        <p:spPr>
          <a:xfrm>
            <a:off x="0" y="0"/>
            <a:ext cx="0" cy="0"/>
          </a:xfrm>
        </p:spPr>
        <p:txBody>
          <a:bodyPr/>
          <a:lstStyle>
            <a:lvl1pPr eaLnBrk="1" hangingPunct="1">
              <a:spcBef>
                <a:spcPct val="20000"/>
              </a:spcBef>
              <a:buFont typeface="Arial" panose="020B0604020202020204" pitchFamily="34" charset="0"/>
              <a:buNone/>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                    </a:t>
            </a:r>
            <a:fld id="{1CD8413E-E33D-4AA8-A0E2-A5D702B122BA}" type="datetime2">
              <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2025年4月8日</a:t>
            </a:fld>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        </a:t>
            </a:r>
          </a:p>
        </p:txBody>
      </p:sp>
      <p:sp>
        <p:nvSpPr>
          <p:cNvPr id="16" name="Rectangle 5"/>
          <p:cNvSpPr>
            <a:spLocks noGrp="1" noChangeArrowheads="1"/>
          </p:cNvSpPr>
          <p:nvPr>
            <p:ph type="ftr" sz="quarter" idx="3"/>
          </p:nvPr>
        </p:nvSpPr>
        <p:spPr>
          <a:xfrm>
            <a:off x="0" y="0"/>
            <a:ext cx="0" cy="0"/>
          </a:xfrm>
        </p:spPr>
        <p:txBody>
          <a:bodyPr/>
          <a:lstStyle>
            <a:lvl1pPr eaLnBrk="1" hangingPunct="1">
              <a:spcBef>
                <a:spcPct val="20000"/>
              </a:spcBef>
              <a:buFont typeface="Arial" panose="020B0604020202020204" pitchFamily="34" charset="0"/>
              <a:buNone/>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北京林业大学信息学院</a:t>
            </a:r>
            <a:endPar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1017588" y="609600"/>
            <a:ext cx="6400800" cy="685800"/>
          </a:xfrm>
        </p:spPr>
        <p:txBody>
          <a:bodyPr/>
          <a:lstStyle/>
          <a:p>
            <a:r>
              <a:rPr lang="zh-CN" altLang="en-US" noProof="1"/>
              <a:t>单击此处编辑母版标题样式</a:t>
            </a:r>
          </a:p>
        </p:txBody>
      </p:sp>
      <p:sp>
        <p:nvSpPr>
          <p:cNvPr id="3" name="SmartArt 占位符 2"/>
          <p:cNvSpPr>
            <a:spLocks noGrp="1"/>
          </p:cNvSpPr>
          <p:nvPr>
            <p:ph type="pic" idx="1"/>
          </p:nvPr>
        </p:nvSpPr>
        <p:spPr>
          <a:xfrm>
            <a:off x="649288" y="1449388"/>
            <a:ext cx="7983537" cy="4725987"/>
          </a:xfrm>
        </p:spPr>
        <p:txBody>
          <a:bodyPr vert="horz" wrap="square" lIns="91440" tIns="45720" rIns="91440" bIns="45720" numCol="1" anchor="t" anchorCtr="0" compatLnSpc="1"/>
          <a:lstStyle/>
          <a:p>
            <a:pPr marL="0" marR="0" lvl="0" indent="538480" algn="l" defTabSz="914400" rtl="0" eaLnBrk="0" fontAlgn="base" latinLnBrk="0" hangingPunct="0">
              <a:lnSpc>
                <a:spcPct val="130000"/>
              </a:lnSpc>
              <a:spcBef>
                <a:spcPct val="0"/>
              </a:spcBef>
              <a:spcAft>
                <a:spcPct val="0"/>
              </a:spcAft>
              <a:buClrTx/>
              <a:buSzTx/>
              <a:buFontTx/>
              <a:buNone/>
              <a:defRPr/>
            </a:pPr>
            <a:endParaRPr kumimoji="0" lang="zh-CN" altLang="en-US" sz="2400" b="0" i="0" u="none" strike="noStrike" kern="0" cap="none" spc="0" normalizeH="0" baseline="0" noProof="0">
              <a:ln>
                <a:noFill/>
              </a:ln>
              <a:solidFill>
                <a:schemeClr val="tx1"/>
              </a:solidFill>
              <a:effectLst/>
              <a:uLnTx/>
              <a:uFillTx/>
              <a:latin typeface="+mn-lt"/>
              <a:ea typeface="微软雅黑" panose="020B0503020204020204" pitchFamily="34" charset="-122"/>
              <a:cs typeface="+mn-cs"/>
            </a:endParaRPr>
          </a:p>
        </p:txBody>
      </p:sp>
      <p:sp>
        <p:nvSpPr>
          <p:cNvPr id="15" name="Rectangle 4"/>
          <p:cNvSpPr>
            <a:spLocks noGrp="1" noChangeArrowheads="1"/>
          </p:cNvSpPr>
          <p:nvPr>
            <p:ph type="dt" sz="half" idx="2"/>
          </p:nvPr>
        </p:nvSpPr>
        <p:spPr>
          <a:xfrm>
            <a:off x="0" y="0"/>
            <a:ext cx="0" cy="0"/>
          </a:xfrm>
        </p:spPr>
        <p:txBody>
          <a:bodyPr/>
          <a:lstStyle>
            <a:lvl1pPr eaLnBrk="1" hangingPunct="1">
              <a:spcBef>
                <a:spcPct val="20000"/>
              </a:spcBef>
              <a:buFont typeface="Arial" panose="020B0604020202020204" pitchFamily="34" charset="0"/>
              <a:buNone/>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                    </a:t>
            </a:r>
            <a:fld id="{20EEB953-5660-42CA-8168-E2E4805E44E2}" type="datetime2">
              <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2025年4月8日</a:t>
            </a:fld>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        </a:t>
            </a:r>
          </a:p>
        </p:txBody>
      </p:sp>
      <p:sp>
        <p:nvSpPr>
          <p:cNvPr id="16" name="Rectangle 5"/>
          <p:cNvSpPr>
            <a:spLocks noGrp="1" noChangeArrowheads="1"/>
          </p:cNvSpPr>
          <p:nvPr>
            <p:ph type="ftr" sz="quarter" idx="3"/>
          </p:nvPr>
        </p:nvSpPr>
        <p:spPr>
          <a:xfrm>
            <a:off x="0" y="0"/>
            <a:ext cx="0" cy="0"/>
          </a:xfrm>
        </p:spPr>
        <p:txBody>
          <a:bodyPr/>
          <a:lstStyle>
            <a:lvl1pPr eaLnBrk="1" hangingPunct="1">
              <a:spcBef>
                <a:spcPct val="20000"/>
              </a:spcBef>
              <a:buFont typeface="Arial" panose="020B0604020202020204" pitchFamily="34" charset="0"/>
              <a:buNone/>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北京林业大学信息学院</a:t>
            </a:r>
            <a:endPar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017588" y="609600"/>
            <a:ext cx="6400800" cy="6858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49288" y="1449388"/>
            <a:ext cx="3914775" cy="47259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716463" y="1449388"/>
            <a:ext cx="3916362" cy="47259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5" name="Rectangle 4"/>
          <p:cNvSpPr>
            <a:spLocks noGrp="1" noChangeArrowheads="1"/>
          </p:cNvSpPr>
          <p:nvPr>
            <p:ph type="dt" sz="half" idx="12"/>
          </p:nvPr>
        </p:nvSpPr>
        <p:spPr>
          <a:xfrm>
            <a:off x="0" y="0"/>
            <a:ext cx="0" cy="0"/>
          </a:xfrm>
        </p:spPr>
        <p:txBody>
          <a:bodyPr/>
          <a:lstStyle>
            <a:lvl1pPr eaLnBrk="1" hangingPunct="1">
              <a:spcBef>
                <a:spcPct val="20000"/>
              </a:spcBef>
              <a:buFont typeface="Arial" panose="020B0604020202020204" pitchFamily="34" charset="0"/>
              <a:buNone/>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                    </a:t>
            </a:r>
            <a:fld id="{AB572357-15AF-486C-8610-07DE1029D9FD}" type="datetime2">
              <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2025年4月8日</a:t>
            </a:fld>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        </a:t>
            </a:r>
          </a:p>
        </p:txBody>
      </p:sp>
      <p:sp>
        <p:nvSpPr>
          <p:cNvPr id="16" name="Rectangle 5"/>
          <p:cNvSpPr>
            <a:spLocks noGrp="1" noChangeArrowheads="1"/>
          </p:cNvSpPr>
          <p:nvPr>
            <p:ph type="ftr" sz="quarter" idx="3"/>
          </p:nvPr>
        </p:nvSpPr>
        <p:spPr>
          <a:xfrm>
            <a:off x="0" y="0"/>
            <a:ext cx="0" cy="0"/>
          </a:xfrm>
        </p:spPr>
        <p:txBody>
          <a:bodyPr/>
          <a:lstStyle>
            <a:lvl1pPr eaLnBrk="1" hangingPunct="1">
              <a:spcBef>
                <a:spcPct val="20000"/>
              </a:spcBef>
              <a:buFont typeface="Arial" panose="020B0604020202020204" pitchFamily="34" charset="0"/>
              <a:buNone/>
              <a:defRPr>
                <a:ea typeface="楷体_GB2312" pitchFamily="49" charset="-122"/>
              </a:defRPr>
            </a:lvl1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北京林业大学信息学院</a:t>
            </a:r>
            <a:endPar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9218" name="直接连接符 9"/>
          <p:cNvSpPr/>
          <p:nvPr userDrawn="1"/>
        </p:nvSpPr>
        <p:spPr>
          <a:xfrm>
            <a:off x="0" y="6357938"/>
            <a:ext cx="9144000" cy="71437"/>
          </a:xfrm>
          <a:prstGeom prst="line">
            <a:avLst/>
          </a:prstGeom>
          <a:ln w="9525">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p:cNvSpPr>
          <p:nvPr>
            <p:ph type="body"/>
          </p:nvPr>
        </p:nvSpPr>
        <p:spPr>
          <a:xfrm>
            <a:off x="496888" y="1116013"/>
            <a:ext cx="8251825" cy="5472112"/>
          </a:xfrm>
          <a:prstGeom prst="rect">
            <a:avLst/>
          </a:prstGeom>
          <a:noFill/>
          <a:ln w="9525">
            <a:noFill/>
          </a:ln>
        </p:spPr>
        <p:txBody>
          <a:bodyPr/>
          <a:lstStyle/>
          <a:p>
            <a:pPr lvl="0"/>
            <a:r>
              <a:rPr lang="zh-CN" altLang="en-US" dirty="0"/>
              <a:t>单击以编辑母版文本样式</a:t>
            </a:r>
          </a:p>
        </p:txBody>
      </p:sp>
      <p:cxnSp>
        <p:nvCxnSpPr>
          <p:cNvPr id="1027" name="直接连接符 9"/>
          <p:cNvCxnSpPr/>
          <p:nvPr userDrawn="1"/>
        </p:nvCxnSpPr>
        <p:spPr>
          <a:xfrm>
            <a:off x="0" y="6357938"/>
            <a:ext cx="9144000" cy="71437"/>
          </a:xfrm>
          <a:prstGeom prst="line">
            <a:avLst/>
          </a:prstGeom>
          <a:ln w="9525">
            <a:noFill/>
          </a:ln>
        </p:spPr>
      </p:cxnSp>
      <p:sp>
        <p:nvSpPr>
          <p:cNvPr id="10" name="矩形 9"/>
          <p:cNvSpPr/>
          <p:nvPr/>
        </p:nvSpPr>
        <p:spPr>
          <a:xfrm>
            <a:off x="0" y="190500"/>
            <a:ext cx="9144000" cy="536575"/>
          </a:xfrm>
          <a:prstGeom prst="rect">
            <a:avLst/>
          </a:prstGeom>
          <a:solidFill>
            <a:srgbClr val="6C4C8F"/>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0" y="727075"/>
            <a:ext cx="9144000" cy="7143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1"/>
          <p:cNvGrpSpPr/>
          <p:nvPr/>
        </p:nvGrpSpPr>
        <p:grpSpPr>
          <a:xfrm>
            <a:off x="115637" y="404664"/>
            <a:ext cx="617410" cy="174607"/>
            <a:chOff x="384175" y="480608"/>
            <a:chExt cx="348872" cy="98663"/>
          </a:xfrm>
          <a:solidFill>
            <a:srgbClr val="76AEDD"/>
          </a:solidFill>
        </p:grpSpPr>
        <p:sp>
          <p:nvSpPr>
            <p:cNvPr id="12" name="等腰三角形 11">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3" name="等腰三角形 12">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4" name="等腰三角形 13">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lt1"/>
                </a:solidFill>
                <a:effectLst/>
                <a:uLnTx/>
                <a:uFillTx/>
                <a:latin typeface="+mn-lt"/>
                <a:ea typeface="+mn-ea"/>
                <a:cs typeface="+mn-cs"/>
              </a:endParaRPr>
            </a:p>
          </p:txBody>
        </p:sp>
      </p:grpSp>
      <p:sp>
        <p:nvSpPr>
          <p:cNvPr id="1031" name="Rectangle 2"/>
          <p:cNvSpPr>
            <a:spLocks noGrp="1"/>
          </p:cNvSpPr>
          <p:nvPr>
            <p:ph type="title"/>
          </p:nvPr>
        </p:nvSpPr>
        <p:spPr>
          <a:xfrm>
            <a:off x="844550" y="260350"/>
            <a:ext cx="6400800" cy="457200"/>
          </a:xfrm>
          <a:prstGeom prst="rect">
            <a:avLst/>
          </a:prstGeom>
          <a:noFill/>
          <a:ln w="9525">
            <a:noFill/>
          </a:ln>
        </p:spPr>
        <p:txBody>
          <a:bodyPr anchor="ctr" anchorCtr="0"/>
          <a:lstStyle/>
          <a:p>
            <a:pPr lvl="0"/>
            <a:r>
              <a:rPr lang="en-US" altLang="zh-CN" dirty="0"/>
              <a:t>单击以编辑</a:t>
            </a:r>
            <a:r>
              <a:rPr lang="en-US" altLang="en-US" dirty="0"/>
              <a:t>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l" rtl="0" eaLnBrk="0" fontAlgn="base" hangingPunct="0">
        <a:spcBef>
          <a:spcPct val="0"/>
        </a:spcBef>
        <a:spcAft>
          <a:spcPct val="0"/>
        </a:spcAft>
        <a:defRPr sz="2800">
          <a:solidFill>
            <a:schemeClr val="bg1"/>
          </a:solidFill>
          <a:latin typeface="+mj-lt"/>
          <a:ea typeface="微软雅黑" panose="020B0503020204020204" pitchFamily="34" charset="-122"/>
          <a:cs typeface="+mj-cs"/>
        </a:defRPr>
      </a:lvl1pPr>
      <a:lvl2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2pPr>
      <a:lvl3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3pPr>
      <a:lvl4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4pPr>
      <a:lvl5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5pPr>
      <a:lvl6pPr marL="4572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6pPr>
      <a:lvl7pPr marL="9144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7pPr>
      <a:lvl8pPr marL="13716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8pPr>
      <a:lvl9pPr marL="18288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9pPr>
    </p:titleStyle>
    <p:body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slideLayout" Target="../slideLayouts/slideLayout8.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image" Target="../media/image10.tmp"/><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14.wmf"/><Relationship Id="rId5" Type="http://schemas.openxmlformats.org/officeDocument/2006/relationships/oleObject" Target="../embeddings/oleObject2.bin"/><Relationship Id="rId4" Type="http://schemas.openxmlformats.org/officeDocument/2006/relationships/image" Target="../media/image13.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4.xml"/><Relationship Id="rId4" Type="http://schemas.openxmlformats.org/officeDocument/2006/relationships/image" Target="../media/image20.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5.jpeg"/><Relationship Id="rId5" Type="http://schemas.openxmlformats.org/officeDocument/2006/relationships/image" Target="../media/image24.wmf"/><Relationship Id="rId4" Type="http://schemas.openxmlformats.org/officeDocument/2006/relationships/oleObject" Target="../embeddings/oleObject3.bin"/></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25.jpe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6.wmf"/><Relationship Id="rId5" Type="http://schemas.openxmlformats.org/officeDocument/2006/relationships/oleObject" Target="../embeddings/oleObject4.bin"/><Relationship Id="rId4" Type="http://schemas.openxmlformats.org/officeDocument/2006/relationships/audio" Target="../media/audio4.wav"/></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6.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6.wmf"/></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8.wmf"/><Relationship Id="rId5" Type="http://schemas.openxmlformats.org/officeDocument/2006/relationships/oleObject" Target="../embeddings/oleObject8.bin"/><Relationship Id="rId4" Type="http://schemas.openxmlformats.org/officeDocument/2006/relationships/image" Target="../media/image27.w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5.jpeg"/></Relationships>
</file>

<file path=ppt/slides/_rels/slide8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31.wmf"/></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3.wmf"/><Relationship Id="rId5" Type="http://schemas.openxmlformats.org/officeDocument/2006/relationships/oleObject" Target="../embeddings/oleObject11.bin"/><Relationship Id="rId10" Type="http://schemas.openxmlformats.org/officeDocument/2006/relationships/image" Target="../media/image35.emf"/><Relationship Id="rId4" Type="http://schemas.openxmlformats.org/officeDocument/2006/relationships/image" Target="../media/image32.wmf"/><Relationship Id="rId9" Type="http://schemas.openxmlformats.org/officeDocument/2006/relationships/oleObject" Target="../embeddings/oleObject13.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33.wmf"/></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34.emf"/></Relationships>
</file>

<file path=ppt/slides/_rels/slide10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1.vml"/><Relationship Id="rId4" Type="http://schemas.openxmlformats.org/officeDocument/2006/relationships/image" Target="../media/image36.emf"/></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audio" Target="../media/audio2.wav"/><Relationship Id="rId2" Type="http://schemas.openxmlformats.org/officeDocument/2006/relationships/tags" Target="../tags/tag21.xml"/><Relationship Id="rId16" Type="http://schemas.openxmlformats.org/officeDocument/2006/relationships/slideLayout" Target="../slideLayouts/slideLayout4.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10" Type="http://schemas.openxmlformats.org/officeDocument/2006/relationships/tags" Target="../tags/tag29.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s>
</file>

<file path=ppt/slides/_rels/slide121.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tags" Target="../tags/tag52.xml"/><Relationship Id="rId26" Type="http://schemas.openxmlformats.org/officeDocument/2006/relationships/tags" Target="../tags/tag60.xml"/><Relationship Id="rId3" Type="http://schemas.openxmlformats.org/officeDocument/2006/relationships/tags" Target="../tags/tag37.xml"/><Relationship Id="rId21" Type="http://schemas.openxmlformats.org/officeDocument/2006/relationships/tags" Target="../tags/tag55.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5" Type="http://schemas.openxmlformats.org/officeDocument/2006/relationships/tags" Target="../tags/tag59.xml"/><Relationship Id="rId2" Type="http://schemas.openxmlformats.org/officeDocument/2006/relationships/tags" Target="../tags/tag36.xml"/><Relationship Id="rId16" Type="http://schemas.openxmlformats.org/officeDocument/2006/relationships/tags" Target="../tags/tag50.xml"/><Relationship Id="rId20" Type="http://schemas.openxmlformats.org/officeDocument/2006/relationships/tags" Target="../tags/tag54.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24" Type="http://schemas.openxmlformats.org/officeDocument/2006/relationships/tags" Target="../tags/tag58.xml"/><Relationship Id="rId5" Type="http://schemas.openxmlformats.org/officeDocument/2006/relationships/tags" Target="../tags/tag39.xml"/><Relationship Id="rId15" Type="http://schemas.openxmlformats.org/officeDocument/2006/relationships/tags" Target="../tags/tag49.xml"/><Relationship Id="rId23" Type="http://schemas.openxmlformats.org/officeDocument/2006/relationships/tags" Target="../tags/tag57.xml"/><Relationship Id="rId28" Type="http://schemas.openxmlformats.org/officeDocument/2006/relationships/slideLayout" Target="../slideLayouts/slideLayout4.xml"/><Relationship Id="rId10" Type="http://schemas.openxmlformats.org/officeDocument/2006/relationships/tags" Target="../tags/tag44.xml"/><Relationship Id="rId19" Type="http://schemas.openxmlformats.org/officeDocument/2006/relationships/tags" Target="../tags/tag53.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 Id="rId22" Type="http://schemas.openxmlformats.org/officeDocument/2006/relationships/tags" Target="../tags/tag56.xml"/><Relationship Id="rId27" Type="http://schemas.openxmlformats.org/officeDocument/2006/relationships/tags" Target="../tags/tag6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image" Target="../media/image39.jpeg"/><Relationship Id="rId1" Type="http://schemas.openxmlformats.org/officeDocument/2006/relationships/slideLayout" Target="../slideLayouts/slideLayout4.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2.vml"/><Relationship Id="rId5" Type="http://schemas.openxmlformats.org/officeDocument/2006/relationships/image" Target="../media/image53.jpeg"/><Relationship Id="rId4" Type="http://schemas.openxmlformats.org/officeDocument/2006/relationships/image" Target="../media/image52.wmf"/></Relationships>
</file>

<file path=ppt/slides/_rels/slide136.xml.rels><?xml version="1.0" encoding="UTF-8" standalone="yes"?>
<Relationships xmlns="http://schemas.openxmlformats.org/package/2006/relationships"><Relationship Id="rId3" Type="http://schemas.openxmlformats.org/officeDocument/2006/relationships/image" Target="NULL" TargetMode="External"/><Relationship Id="rId2" Type="http://schemas.openxmlformats.org/officeDocument/2006/relationships/image" Target="../media/image54.jpeg"/><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3.vml"/><Relationship Id="rId5" Type="http://schemas.openxmlformats.org/officeDocument/2006/relationships/hyperlink" Target="http://blog.csdn.net/ro_wsy/article/details/7693159" TargetMode="External"/><Relationship Id="rId4" Type="http://schemas.openxmlformats.org/officeDocument/2006/relationships/image" Target="../media/image57.emf"/></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4.xml"/><Relationship Id="rId1" Type="http://schemas.openxmlformats.org/officeDocument/2006/relationships/vmlDrawing" Target="../drawings/vmlDrawing14.vml"/><Relationship Id="rId6" Type="http://schemas.openxmlformats.org/officeDocument/2006/relationships/image" Target="../media/image76.png"/><Relationship Id="rId5" Type="http://schemas.openxmlformats.org/officeDocument/2006/relationships/slide" Target="slide32.xml"/><Relationship Id="rId4" Type="http://schemas.openxmlformats.org/officeDocument/2006/relationships/image" Target="../media/image75.wmf"/></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矩形: 圆角 2"/>
          <p:cNvSpPr>
            <a:spLocks noChangeArrowheads="1"/>
          </p:cNvSpPr>
          <p:nvPr/>
        </p:nvSpPr>
        <p:spPr bwMode="auto">
          <a:xfrm>
            <a:off x="3179763" y="3141663"/>
            <a:ext cx="5640388" cy="579438"/>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2" name="矩形 1"/>
          <p:cNvSpPr/>
          <p:nvPr/>
        </p:nvSpPr>
        <p:spPr bwMode="auto">
          <a:xfrm>
            <a:off x="0" y="514350"/>
            <a:ext cx="9144000" cy="881063"/>
          </a:xfrm>
          <a:prstGeom prst="rect">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23" name="矩形 22"/>
          <p:cNvSpPr/>
          <p:nvPr/>
        </p:nvSpPr>
        <p:spPr bwMode="auto">
          <a:xfrm>
            <a:off x="0" y="1519238"/>
            <a:ext cx="9144000" cy="53975"/>
          </a:xfrm>
          <a:prstGeom prst="rect">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pic>
        <p:nvPicPr>
          <p:cNvPr id="13318" name="图片 1"/>
          <p:cNvPicPr>
            <a:picLocks noChangeAspect="1"/>
          </p:cNvPicPr>
          <p:nvPr/>
        </p:nvPicPr>
        <p:blipFill>
          <a:blip r:embed="rId3"/>
          <a:srcRect l="36591" t="61440" r="36745" b="14038"/>
          <a:stretch>
            <a:fillRect/>
          </a:stretch>
        </p:blipFill>
        <p:spPr>
          <a:xfrm>
            <a:off x="511175" y="2382838"/>
            <a:ext cx="2282825" cy="2935287"/>
          </a:xfrm>
          <a:prstGeom prst="rect">
            <a:avLst/>
          </a:prstGeom>
          <a:noFill/>
          <a:ln w="9525">
            <a:noFill/>
          </a:ln>
        </p:spPr>
      </p:pic>
      <p:sp>
        <p:nvSpPr>
          <p:cNvPr id="29" name="矩形 28"/>
          <p:cNvSpPr/>
          <p:nvPr/>
        </p:nvSpPr>
        <p:spPr bwMode="auto">
          <a:xfrm>
            <a:off x="0" y="6121400"/>
            <a:ext cx="9155113" cy="604838"/>
          </a:xfrm>
          <a:prstGeom prst="rect">
            <a:avLst/>
          </a:prstGeom>
          <a:solidFill>
            <a:srgbClr val="76AEDD"/>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4" name="Rectangle 24"/>
          <p:cNvSpPr txBox="1">
            <a:spLocks noChangeArrowheads="1"/>
          </p:cNvSpPr>
          <p:nvPr/>
        </p:nvSpPr>
        <p:spPr bwMode="auto">
          <a:xfrm>
            <a:off x="3294062" y="3074988"/>
            <a:ext cx="4662313" cy="714375"/>
          </a:xfrm>
          <a:prstGeom prst="rect">
            <a:avLst/>
          </a:prstGeom>
          <a:noFill/>
          <a:ln w="9525">
            <a:noFill/>
            <a:miter lim="800000"/>
          </a:ln>
        </p:spPr>
        <p:txBody>
          <a:bodyPr anchor="ctr"/>
          <a:lstStyle/>
          <a:p>
            <a:pPr>
              <a:defRPr/>
            </a:pPr>
            <a:r>
              <a:rPr lang="zh-CN" altLang="en-US" sz="3600" b="0" dirty="0">
                <a:solidFill>
                  <a:srgbClr val="FEFFFF"/>
                </a:solidFill>
                <a:latin typeface="微软雅黑" pitchFamily="34" charset="-122"/>
                <a:ea typeface="微软雅黑" pitchFamily="34" charset="-122"/>
                <a:cs typeface="+mn-ea"/>
                <a:sym typeface="+mn-lt"/>
              </a:rPr>
              <a:t>第三</a:t>
            </a:r>
            <a:r>
              <a:rPr lang="zh-CN" altLang="en-US" sz="3600" b="0" dirty="0" smtClean="0">
                <a:solidFill>
                  <a:srgbClr val="FEFFFF"/>
                </a:solidFill>
                <a:latin typeface="微软雅黑" pitchFamily="34" charset="-122"/>
                <a:ea typeface="微软雅黑" pitchFamily="34" charset="-122"/>
                <a:cs typeface="+mn-ea"/>
                <a:sym typeface="+mn-lt"/>
              </a:rPr>
              <a:t>章  </a:t>
            </a:r>
            <a:r>
              <a:rPr kumimoji="0" lang="zh-CN" altLang="en-US" sz="3600" b="0" kern="1200" cap="none" spc="0" normalizeH="0" baseline="0" noProof="0" dirty="0" smtClean="0">
                <a:solidFill>
                  <a:srgbClr val="FEFFFF"/>
                </a:solidFill>
                <a:latin typeface="+mn-lt"/>
                <a:ea typeface="+mn-ea"/>
                <a:cs typeface="+mn-ea"/>
                <a:sym typeface="+mn-lt"/>
              </a:rPr>
              <a:t>栈</a:t>
            </a:r>
            <a:r>
              <a:rPr kumimoji="0" lang="zh-CN" altLang="en-US" sz="3600" b="0" kern="1200" cap="none" spc="0" normalizeH="0" baseline="0" noProof="0" dirty="0">
                <a:solidFill>
                  <a:srgbClr val="FEFFFF"/>
                </a:solidFill>
                <a:latin typeface="+mn-lt"/>
                <a:ea typeface="+mn-ea"/>
                <a:cs typeface="+mn-ea"/>
                <a:sym typeface="+mn-lt"/>
              </a:rPr>
              <a:t>和</a:t>
            </a:r>
            <a:r>
              <a:rPr kumimoji="0" lang="zh-CN" altLang="en-US" sz="3600" b="0" kern="1200" cap="none" spc="0" normalizeH="0" baseline="0" noProof="0" dirty="0" smtClean="0">
                <a:solidFill>
                  <a:srgbClr val="FEFFFF"/>
                </a:solidFill>
                <a:latin typeface="+mn-lt"/>
                <a:ea typeface="+mn-ea"/>
                <a:cs typeface="+mn-ea"/>
                <a:sym typeface="+mn-lt"/>
              </a:rPr>
              <a:t>队列</a:t>
            </a:r>
            <a:endParaRPr kumimoji="1" lang="zh-CN" altLang="en-US" sz="4800" i="1" kern="0" cap="none" spc="0" normalizeH="0" baseline="0" noProof="0" dirty="0">
              <a:solidFill>
                <a:srgbClr val="6C4C8F">
                  <a:lumMod val="50000"/>
                </a:srgbClr>
              </a:solidFill>
              <a:effectLst>
                <a:outerShdw blurRad="38100" dist="38100" dir="2700000" algn="tl">
                  <a:srgbClr val="C0C0C0"/>
                </a:outerShdw>
              </a:effectLst>
              <a:latin typeface="+mn-lt"/>
              <a:ea typeface="+mn-ea"/>
              <a:cs typeface="+mn-ea"/>
              <a:sym typeface="+mn-lt"/>
            </a:endParaRPr>
          </a:p>
        </p:txBody>
      </p:sp>
      <p:sp>
        <p:nvSpPr>
          <p:cNvPr id="17" name="Rectangle 24"/>
          <p:cNvSpPr txBox="1">
            <a:spLocks noChangeArrowheads="1"/>
          </p:cNvSpPr>
          <p:nvPr/>
        </p:nvSpPr>
        <p:spPr bwMode="auto">
          <a:xfrm>
            <a:off x="3119438" y="2352675"/>
            <a:ext cx="2554288" cy="714375"/>
          </a:xfrm>
          <a:prstGeom prst="rect">
            <a:avLst/>
          </a:prstGeom>
          <a:noFill/>
          <a:ln w="9525">
            <a:noFill/>
            <a:miter lim="800000"/>
          </a:ln>
        </p:spPr>
        <p:txBody>
          <a:bodyPr anchor="ctr"/>
          <a:lstStyle/>
          <a:p>
            <a:pPr marR="0" defTabSz="914400">
              <a:buClrTx/>
              <a:buSzTx/>
              <a:buFontTx/>
              <a:buNone/>
              <a:defRPr/>
            </a:pPr>
            <a:r>
              <a:rPr kumimoji="1" lang="zh-CN" altLang="en-US" sz="3600" b="0" kern="0" cap="none" spc="0" normalizeH="0" baseline="0" noProof="0" dirty="0">
                <a:solidFill>
                  <a:srgbClr val="FEFFFF"/>
                </a:solidFill>
                <a:latin typeface="+mn-lt"/>
                <a:ea typeface="+mn-ea"/>
                <a:cs typeface="+mn-ea"/>
                <a:sym typeface="+mn-lt"/>
              </a:rPr>
              <a:t>第</a:t>
            </a:r>
            <a:r>
              <a:rPr kumimoji="1" lang="en-US" altLang="zh-CN" sz="3600" b="0" kern="0" cap="none" spc="0" normalizeH="0" baseline="0" noProof="0" dirty="0">
                <a:solidFill>
                  <a:srgbClr val="FEFFFF"/>
                </a:solidFill>
                <a:latin typeface="+mn-lt"/>
                <a:ea typeface="+mn-ea"/>
                <a:cs typeface="+mn-ea"/>
                <a:sym typeface="+mn-lt"/>
              </a:rPr>
              <a:t>3</a:t>
            </a:r>
            <a:r>
              <a:rPr kumimoji="1" lang="zh-CN" altLang="en-US" sz="3600" b="0" kern="0" cap="none" spc="0" normalizeH="0" baseline="0" noProof="0" dirty="0">
                <a:solidFill>
                  <a:srgbClr val="FEFFFF"/>
                </a:solidFill>
                <a:latin typeface="+mn-lt"/>
                <a:ea typeface="+mn-ea"/>
                <a:cs typeface="+mn-ea"/>
                <a:sym typeface="+mn-lt"/>
              </a:rPr>
              <a:t>章</a:t>
            </a:r>
            <a:endParaRPr kumimoji="1" lang="zh-CN" altLang="en-US" sz="4800" b="0" kern="0" cap="none" spc="0" normalizeH="0" baseline="0" noProof="0" dirty="0">
              <a:solidFill>
                <a:srgbClr val="6C4C8F">
                  <a:lumMod val="50000"/>
                </a:srgbClr>
              </a:solidFill>
              <a:latin typeface="+mn-lt"/>
              <a:ea typeface="+mn-ea"/>
              <a:cs typeface="+mn-ea"/>
              <a:sym typeface="+mn-lt"/>
            </a:endParaRPr>
          </a:p>
        </p:txBody>
      </p:sp>
      <p:sp>
        <p:nvSpPr>
          <p:cNvPr id="20" name="Rectangle 24"/>
          <p:cNvSpPr txBox="1">
            <a:spLocks noChangeArrowheads="1"/>
          </p:cNvSpPr>
          <p:nvPr/>
        </p:nvSpPr>
        <p:spPr bwMode="auto">
          <a:xfrm>
            <a:off x="300038" y="641350"/>
            <a:ext cx="8843963" cy="714375"/>
          </a:xfrm>
          <a:prstGeom prst="rect">
            <a:avLst/>
          </a:prstGeom>
          <a:noFill/>
          <a:ln w="9525">
            <a:noFill/>
            <a:miter lim="800000"/>
          </a:ln>
        </p:spPr>
        <p:txBody>
          <a:bodyPr anchor="ctr"/>
          <a:lstStyle/>
          <a:p>
            <a:pPr marR="0" defTabSz="914400">
              <a:buClrTx/>
              <a:buSzTx/>
              <a:buFontTx/>
              <a:buNone/>
              <a:defRPr/>
            </a:pPr>
            <a:r>
              <a:rPr kumimoji="0" lang="zh-CN" altLang="en-US" sz="4000" b="0" kern="1200" cap="none" spc="0" normalizeH="0" baseline="0" noProof="0" dirty="0" smtClean="0">
                <a:solidFill>
                  <a:srgbClr val="FEFFFF"/>
                </a:solidFill>
                <a:latin typeface="+mn-lt"/>
                <a:ea typeface="+mn-ea"/>
                <a:cs typeface="+mn-ea"/>
                <a:sym typeface="+mn-lt"/>
              </a:rPr>
              <a:t>数据结构</a:t>
            </a:r>
            <a:endParaRPr kumimoji="1" lang="zh-CN" altLang="en-US" sz="5400" i="1" kern="0" cap="none" spc="0" normalizeH="0" baseline="0" noProof="0" dirty="0">
              <a:solidFill>
                <a:srgbClr val="6C4C8F">
                  <a:lumMod val="50000"/>
                </a:srgbClr>
              </a:solidFill>
              <a:effectLst>
                <a:outerShdw blurRad="38100" dist="38100" dir="2700000" algn="tl">
                  <a:srgbClr val="C0C0C0"/>
                </a:outerShdw>
              </a:effectLst>
              <a:latin typeface="+mn-lt"/>
              <a:ea typeface="+mn-ea"/>
              <a:cs typeface="+mn-ea"/>
              <a:sym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750" y="2543175"/>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500188" y="2543175"/>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b="0" kern="1200" cap="none" spc="0" normalizeH="0" baseline="0" noProof="0" dirty="0">
                <a:solidFill>
                  <a:srgbClr val="FEFFFF"/>
                </a:solidFill>
                <a:latin typeface="+mn-lt"/>
                <a:ea typeface="+mn-ea"/>
                <a:cs typeface="+mn-ea"/>
                <a:sym typeface="+mn-lt"/>
              </a:rPr>
              <a:t>目录导航</a:t>
            </a:r>
          </a:p>
        </p:txBody>
      </p:sp>
      <p:sp>
        <p:nvSpPr>
          <p:cNvPr id="14" name="文本框 13"/>
          <p:cNvSpPr txBox="1"/>
          <p:nvPr/>
        </p:nvSpPr>
        <p:spPr>
          <a:xfrm>
            <a:off x="1619250" y="2471738"/>
            <a:ext cx="720725" cy="3416320"/>
          </a:xfrm>
          <a:prstGeom prst="rect">
            <a:avLst/>
          </a:prstGeom>
          <a:noFill/>
        </p:spPr>
        <p:txBody>
          <a:bodyPr>
            <a:spAutoFit/>
          </a:bodyPr>
          <a:lstStyle/>
          <a:p>
            <a:pPr marR="0" defTabSz="914400">
              <a:lnSpc>
                <a:spcPct val="150000"/>
              </a:lnSpc>
              <a:buClrTx/>
              <a:buSzTx/>
              <a:buFontTx/>
              <a:buNone/>
              <a:defRPr/>
            </a:pPr>
            <a:r>
              <a:rPr kumimoji="0" lang="en-US" altLang="zh-CN" b="0" kern="1200" cap="none" spc="0" normalizeH="0" baseline="0" noProof="0" dirty="0">
                <a:solidFill>
                  <a:srgbClr val="FEFFFF"/>
                </a:solidFill>
                <a:latin typeface="+mn-lt"/>
                <a:ea typeface="+mn-ea"/>
                <a:cs typeface="+mn-ea"/>
                <a:sym typeface="+mn-lt"/>
              </a:rPr>
              <a:t>3.1</a:t>
            </a:r>
            <a:endParaRPr kumimoji="0" lang="zh-CN" altLang="en-US" b="0" kern="1200" cap="none" spc="0" normalizeH="0" baseline="0" noProof="0" dirty="0">
              <a:solidFill>
                <a:srgbClr val="FEFFFF"/>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3.2</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3.3</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3.4</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3.5</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smtClean="0">
                <a:solidFill>
                  <a:srgbClr val="000000">
                    <a:lumMod val="95000"/>
                    <a:lumOff val="5000"/>
                  </a:srgbClr>
                </a:solidFill>
                <a:latin typeface="+mn-lt"/>
                <a:ea typeface="+mn-ea"/>
                <a:cs typeface="+mn-ea"/>
                <a:sym typeface="+mn-lt"/>
              </a:rPr>
              <a:t>3.6</a:t>
            </a:r>
            <a:endParaRPr kumimoji="0" lang="en-US" altLang="zh-CN" b="0" kern="1200" cap="none" spc="0" normalizeH="0" baseline="0" noProof="0" dirty="0">
              <a:solidFill>
                <a:srgbClr val="000000">
                  <a:lumMod val="95000"/>
                  <a:lumOff val="5000"/>
                </a:srgbClr>
              </a:solidFill>
              <a:latin typeface="+mn-lt"/>
              <a:ea typeface="+mn-ea"/>
              <a:cs typeface="+mn-ea"/>
              <a:sym typeface="+mn-lt"/>
            </a:endParaRPr>
          </a:p>
        </p:txBody>
      </p:sp>
      <p:sp>
        <p:nvSpPr>
          <p:cNvPr id="15" name="文本框 14"/>
          <p:cNvSpPr txBox="1"/>
          <p:nvPr/>
        </p:nvSpPr>
        <p:spPr>
          <a:xfrm>
            <a:off x="2457450" y="2471738"/>
            <a:ext cx="4129088" cy="3416320"/>
          </a:xfrm>
          <a:prstGeom prst="rect">
            <a:avLst/>
          </a:prstGeom>
          <a:noFill/>
        </p:spPr>
        <p:txBody>
          <a:bodyPr>
            <a:spAutoFit/>
          </a:bodyPr>
          <a:lstStyle/>
          <a:p>
            <a:pPr marR="0" defTabSz="914400">
              <a:lnSpc>
                <a:spcPct val="150000"/>
              </a:lnSpc>
              <a:buClrTx/>
              <a:buSzTx/>
              <a:buFontTx/>
              <a:buNone/>
              <a:defRPr/>
            </a:pPr>
            <a:r>
              <a:rPr kumimoji="0" lang="zh-CN" altLang="en-US" b="0" kern="1200" cap="none" spc="0" normalizeH="0" baseline="0" noProof="0" dirty="0" smtClean="0">
                <a:solidFill>
                  <a:srgbClr val="FEFFFF"/>
                </a:solidFill>
                <a:latin typeface="+mn-lt"/>
                <a:ea typeface="+mn-ea"/>
                <a:cs typeface="+mn-ea"/>
                <a:sym typeface="+mn-lt"/>
              </a:rPr>
              <a:t>栈的</a:t>
            </a:r>
            <a:r>
              <a:rPr kumimoji="0" lang="zh-CN" altLang="en-US" b="0" kern="1200" cap="none" spc="0" normalizeH="0" baseline="0" noProof="0" dirty="0">
                <a:solidFill>
                  <a:srgbClr val="FEFFFF"/>
                </a:solidFill>
                <a:latin typeface="+mn-lt"/>
                <a:ea typeface="+mn-ea"/>
                <a:cs typeface="+mn-ea"/>
                <a:sym typeface="+mn-lt"/>
              </a:rPr>
              <a:t>定义和特点</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案例引入</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栈的表示和操作的实现</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栈与递归</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队列的的表示和操作的实现</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案例分析与</a:t>
            </a:r>
            <a:r>
              <a:rPr kumimoji="0" lang="zh-CN" altLang="en-US" b="0" kern="1200" cap="none" spc="0" normalizeH="0" baseline="0" noProof="0" dirty="0" smtClean="0">
                <a:solidFill>
                  <a:srgbClr val="000000">
                    <a:lumMod val="95000"/>
                    <a:lumOff val="5000"/>
                  </a:srgbClr>
                </a:solidFill>
                <a:latin typeface="+mn-lt"/>
                <a:ea typeface="+mn-ea"/>
                <a:cs typeface="+mn-ea"/>
                <a:sym typeface="+mn-lt"/>
              </a:rPr>
              <a:t>实现</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bwMode="auto">
          <a:xfrm>
            <a:off x="0" y="1727200"/>
            <a:ext cx="9144000" cy="53975"/>
          </a:xfrm>
          <a:prstGeom prst="rect">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9476B6"/>
              </a:solidFill>
              <a:effectLst/>
              <a:uLnTx/>
              <a:uFillTx/>
              <a:latin typeface="+mn-lt"/>
              <a:ea typeface="+mn-ea"/>
              <a:cs typeface="+mn-ea"/>
              <a:sym typeface="+mn-lt"/>
            </a:endParaRPr>
          </a:p>
        </p:txBody>
      </p:sp>
      <p:pic>
        <p:nvPicPr>
          <p:cNvPr id="16387" name="图片 2"/>
          <p:cNvPicPr>
            <a:picLocks noChangeAspect="1"/>
          </p:cNvPicPr>
          <p:nvPr/>
        </p:nvPicPr>
        <p:blipFill>
          <a:blip r:embed="rId3"/>
          <a:srcRect l="1575" t="11116"/>
          <a:stretch>
            <a:fillRect/>
          </a:stretch>
        </p:blipFill>
        <p:spPr>
          <a:xfrm>
            <a:off x="-4762" y="0"/>
            <a:ext cx="9124950" cy="1627188"/>
          </a:xfrm>
          <a:prstGeom prst="rect">
            <a:avLst/>
          </a:prstGeom>
          <a:noFill/>
          <a:ln w="9525">
            <a:noFill/>
          </a:ln>
        </p:spPr>
      </p:pic>
      <p:sp>
        <p:nvSpPr>
          <p:cNvPr id="63" name="矩形 62"/>
          <p:cNvSpPr/>
          <p:nvPr/>
        </p:nvSpPr>
        <p:spPr bwMode="auto">
          <a:xfrm>
            <a:off x="23813" y="9525"/>
            <a:ext cx="9151938" cy="1609725"/>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64"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25" name="矩形 24"/>
          <p:cNvSpPr/>
          <p:nvPr/>
        </p:nvSpPr>
        <p:spPr>
          <a:xfrm>
            <a:off x="1060450" y="2079625"/>
            <a:ext cx="7832725" cy="1562100"/>
          </a:xfrm>
          <a:prstGeom prst="rect">
            <a:avLst/>
          </a:prstGeom>
        </p:spPr>
        <p:txBody>
          <a:bodyPr>
            <a:spAutoFit/>
          </a:bodyPr>
          <a:lstStyle/>
          <a:p>
            <a:pPr marL="0" marR="0" lvl="0" indent="0" algn="l" defTabSz="914400" rtl="0" eaLnBrk="0" fontAlgn="base" latinLnBrk="0" hangingPunct="0">
              <a:lnSpc>
                <a:spcPct val="130000"/>
              </a:lnSpc>
              <a:spcBef>
                <a:spcPts val="60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掌握栈和队列的</a:t>
            </a:r>
            <a:r>
              <a:rPr kumimoji="1" lang="zh-CN" altLang="en-US" sz="2400" b="0" i="0" u="none" strike="noStrike" kern="1200" cap="none" spc="0" normalizeH="0" baseline="0" noProof="0" dirty="0">
                <a:ln>
                  <a:noFill/>
                </a:ln>
                <a:solidFill>
                  <a:srgbClr val="6C4C8F"/>
                </a:solidFill>
                <a:effectLst/>
                <a:uLnTx/>
                <a:uFillTx/>
                <a:latin typeface="+mn-lt"/>
                <a:ea typeface="+mn-ea"/>
                <a:cs typeface="+mn-ea"/>
                <a:sym typeface="+mn-lt"/>
              </a:rPr>
              <a:t>特点</a:t>
            </a: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，并能在相应的应用问题中正确选用</a:t>
            </a:r>
          </a:p>
          <a:p>
            <a:pPr marL="0" marR="0" lvl="0" indent="0" algn="l" defTabSz="914400" rtl="0" eaLnBrk="0" fontAlgn="base" latinLnBrk="0" hangingPunct="0">
              <a:lnSpc>
                <a:spcPct val="130000"/>
              </a:lnSpc>
              <a:spcBef>
                <a:spcPts val="60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熟练掌握栈的</a:t>
            </a:r>
            <a:r>
              <a:rPr kumimoji="1" lang="zh-CN" altLang="en-US" sz="2400" b="0" i="0" u="none" strike="noStrike" kern="1200" cap="none" spc="0" normalizeH="0" baseline="0" noProof="0" dirty="0">
                <a:ln>
                  <a:noFill/>
                </a:ln>
                <a:solidFill>
                  <a:srgbClr val="6C4C8F"/>
                </a:solidFill>
                <a:effectLst/>
                <a:uLnTx/>
                <a:uFillTx/>
                <a:latin typeface="+mn-lt"/>
                <a:ea typeface="+mn-ea"/>
                <a:cs typeface="+mn-ea"/>
                <a:sym typeface="+mn-lt"/>
              </a:rPr>
              <a:t>两种存储结构</a:t>
            </a: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的基本操作实现算法，特别应注意</a:t>
            </a:r>
            <a:r>
              <a:rPr kumimoji="1" lang="zh-CN" altLang="en-US" sz="2400" b="0" i="0" u="none" strike="noStrike" kern="1200" cap="none" spc="0" normalizeH="0" baseline="0" noProof="0" dirty="0">
                <a:ln>
                  <a:noFill/>
                </a:ln>
                <a:solidFill>
                  <a:srgbClr val="6C4C8F"/>
                </a:solidFill>
                <a:effectLst/>
                <a:uLnTx/>
                <a:uFillTx/>
                <a:latin typeface="+mn-lt"/>
                <a:ea typeface="+mn-ea"/>
                <a:cs typeface="+mn-ea"/>
                <a:sym typeface="+mn-lt"/>
              </a:rPr>
              <a:t>栈满和栈空</a:t>
            </a: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的条件</a:t>
            </a:r>
          </a:p>
        </p:txBody>
      </p:sp>
      <p:sp>
        <p:nvSpPr>
          <p:cNvPr id="28" name="矩形 27"/>
          <p:cNvSpPr/>
          <p:nvPr/>
        </p:nvSpPr>
        <p:spPr>
          <a:xfrm>
            <a:off x="1060450" y="3641725"/>
            <a:ext cx="8064500" cy="2120900"/>
          </a:xfrm>
          <a:prstGeom prst="rect">
            <a:avLst/>
          </a:prstGeom>
        </p:spPr>
        <p:txBody>
          <a:bodyPr>
            <a:spAutoFit/>
          </a:bodyPr>
          <a:lstStyle/>
          <a:p>
            <a:pPr marL="0" marR="0" lvl="0" indent="0" algn="l" defTabSz="914400" rtl="0" eaLnBrk="0" fontAlgn="base" latinLnBrk="0" hangingPunct="0">
              <a:lnSpc>
                <a:spcPct val="130000"/>
              </a:lnSpc>
              <a:spcBef>
                <a:spcPts val="60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熟练掌握</a:t>
            </a:r>
            <a:r>
              <a:rPr kumimoji="1" lang="zh-CN" altLang="en-US" sz="2400" b="0" i="0" u="none" strike="noStrike" kern="1200" cap="none" spc="0" normalizeH="0" baseline="0" noProof="0" dirty="0">
                <a:ln>
                  <a:noFill/>
                </a:ln>
                <a:solidFill>
                  <a:srgbClr val="6C4C8F"/>
                </a:solidFill>
                <a:effectLst/>
                <a:uLnTx/>
                <a:uFillTx/>
                <a:latin typeface="+mn-lt"/>
                <a:ea typeface="+mn-ea"/>
                <a:cs typeface="+mn-ea"/>
                <a:sym typeface="+mn-lt"/>
              </a:rPr>
              <a:t>循环队列和链队列</a:t>
            </a: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的基本操作实现算法，特别注意</a:t>
            </a:r>
            <a:r>
              <a:rPr kumimoji="1" lang="zh-CN" altLang="en-US" sz="2400" b="0" i="0" u="none" strike="noStrike" kern="1200" cap="none" spc="0" normalizeH="0" baseline="0" noProof="0" dirty="0">
                <a:ln>
                  <a:noFill/>
                </a:ln>
                <a:solidFill>
                  <a:srgbClr val="6C4C8F"/>
                </a:solidFill>
                <a:effectLst/>
                <a:uLnTx/>
                <a:uFillTx/>
                <a:latin typeface="+mn-lt"/>
                <a:ea typeface="+mn-ea"/>
                <a:cs typeface="+mn-ea"/>
                <a:sym typeface="+mn-lt"/>
              </a:rPr>
              <a:t>队满和队空</a:t>
            </a: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的条件</a:t>
            </a:r>
          </a:p>
          <a:p>
            <a:pPr marL="0" marR="0" lvl="0" indent="0" algn="l" defTabSz="914400" rtl="0" eaLnBrk="0" fontAlgn="base" latinLnBrk="0" hangingPunct="0">
              <a:lnSpc>
                <a:spcPct val="130000"/>
              </a:lnSpc>
              <a:spcBef>
                <a:spcPts val="60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理解</a:t>
            </a:r>
            <a:r>
              <a:rPr kumimoji="1" lang="zh-CN" altLang="en-US" sz="2400" b="0" i="0" u="none" strike="noStrike" kern="1200" cap="none" spc="0" normalizeH="0" baseline="0" noProof="0" dirty="0">
                <a:ln>
                  <a:noFill/>
                </a:ln>
                <a:solidFill>
                  <a:srgbClr val="6C4C8F"/>
                </a:solidFill>
                <a:effectLst/>
                <a:uLnTx/>
                <a:uFillTx/>
                <a:latin typeface="+mn-lt"/>
                <a:ea typeface="+mn-ea"/>
                <a:cs typeface="+mn-ea"/>
                <a:sym typeface="+mn-lt"/>
              </a:rPr>
              <a:t>递归算法</a:t>
            </a: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执行过程中栈的状态变化过程</a:t>
            </a:r>
            <a:endParaRPr kumimoji="1" lang="en-US" altLang="zh-CN" sz="2400" b="0" i="0" u="none" strike="noStrike" kern="1200" cap="none" spc="0" normalizeH="0" baseline="0" noProof="0" dirty="0">
              <a:ln>
                <a:noFill/>
              </a:ln>
              <a:solidFill>
                <a:srgbClr val="000000"/>
              </a:solidFill>
              <a:effectLst/>
              <a:uLnTx/>
              <a:uFillTx/>
              <a:latin typeface="+mn-lt"/>
              <a:ea typeface="+mn-ea"/>
              <a:cs typeface="+mn-ea"/>
              <a:sym typeface="+mn-lt"/>
            </a:endParaRPr>
          </a:p>
          <a:p>
            <a:pPr marL="0" marR="0" lvl="0" indent="0" algn="l" defTabSz="914400" rtl="0" eaLnBrk="0" fontAlgn="base" latinLnBrk="0" hangingPunct="0">
              <a:lnSpc>
                <a:spcPct val="130000"/>
              </a:lnSpc>
              <a:spcBef>
                <a:spcPts val="60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mn-lt"/>
                <a:ea typeface="+mn-ea"/>
                <a:cs typeface="+mn-ea"/>
                <a:sym typeface="+mn-lt"/>
              </a:rPr>
              <a:t>掌握</a:t>
            </a:r>
            <a:r>
              <a:rPr kumimoji="1" lang="zh-CN" altLang="en-US" sz="2400" b="0" i="0" u="none" strike="noStrike" kern="1200" cap="none" spc="0" normalizeH="0" baseline="0" noProof="0" dirty="0">
                <a:ln>
                  <a:noFill/>
                </a:ln>
                <a:solidFill>
                  <a:srgbClr val="6C4C8F"/>
                </a:solidFill>
                <a:effectLst/>
                <a:uLnTx/>
                <a:uFillTx/>
                <a:latin typeface="+mn-lt"/>
                <a:ea typeface="+mn-ea"/>
                <a:cs typeface="+mn-ea"/>
                <a:sym typeface="+mn-lt"/>
              </a:rPr>
              <a:t>表达式求值算法</a:t>
            </a:r>
            <a:endParaRPr kumimoji="1" lang="en-US" altLang="zh-CN" sz="2400" b="0" i="0" u="none" strike="noStrike" kern="1200" cap="none" spc="0" normalizeH="0" baseline="0" noProof="0" dirty="0">
              <a:ln>
                <a:noFill/>
              </a:ln>
              <a:solidFill>
                <a:srgbClr val="6C4C8F"/>
              </a:solidFill>
              <a:effectLst/>
              <a:uLnTx/>
              <a:uFillTx/>
              <a:latin typeface="+mn-lt"/>
              <a:ea typeface="+mn-ea"/>
              <a:cs typeface="+mn-ea"/>
              <a:sym typeface="+mn-lt"/>
            </a:endParaRPr>
          </a:p>
        </p:txBody>
      </p:sp>
      <p:grpSp>
        <p:nvGrpSpPr>
          <p:cNvPr id="16392" name="组合 28"/>
          <p:cNvGrpSpPr/>
          <p:nvPr/>
        </p:nvGrpSpPr>
        <p:grpSpPr>
          <a:xfrm>
            <a:off x="423863" y="2090738"/>
            <a:ext cx="590550" cy="627062"/>
            <a:chOff x="6242320" y="1105727"/>
            <a:chExt cx="589786" cy="626517"/>
          </a:xfrm>
        </p:grpSpPr>
        <p:sp>
          <p:nvSpPr>
            <p:cNvPr id="12310" name="TextBox 6"/>
            <p:cNvSpPr txBox="1">
              <a:spLocks noChangeArrowheads="1"/>
            </p:cNvSpPr>
            <p:nvPr/>
          </p:nvSpPr>
          <p:spPr bwMode="auto">
            <a:xfrm>
              <a:off x="6327934" y="1105727"/>
              <a:ext cx="447096" cy="491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FF9900"/>
                  </a:solidFill>
                  <a:effectLst/>
                  <a:uLnTx/>
                  <a:uFillTx/>
                  <a:latin typeface="+mn-lt"/>
                  <a:ea typeface="+mn-ea"/>
                  <a:cs typeface="+mn-ea"/>
                  <a:sym typeface="+mn-lt"/>
                </a:rPr>
                <a:t>01</a:t>
              </a:r>
              <a:endParaRPr kumimoji="0" lang="zh-CN" altLang="en-US" sz="3200" b="0" i="0" u="none" strike="noStrike" kern="1200" cap="none" spc="0" normalizeH="0" baseline="0" noProof="0" dirty="0">
                <a:ln>
                  <a:noFill/>
                </a:ln>
                <a:solidFill>
                  <a:srgbClr val="FF9900"/>
                </a:solidFill>
                <a:effectLst/>
                <a:uLnTx/>
                <a:uFillTx/>
                <a:latin typeface="+mn-lt"/>
                <a:ea typeface="+mn-ea"/>
                <a:cs typeface="+mn-ea"/>
                <a:sym typeface="+mn-lt"/>
              </a:endParaRPr>
            </a:p>
          </p:txBody>
        </p:sp>
        <p:sp>
          <p:nvSpPr>
            <p:cNvPr id="12311" name="文本框 22"/>
            <p:cNvSpPr txBox="1">
              <a:spLocks noChangeArrowheads="1"/>
            </p:cNvSpPr>
            <p:nvPr/>
          </p:nvSpPr>
          <p:spPr bwMode="auto">
            <a:xfrm>
              <a:off x="6242320" y="1516532"/>
              <a:ext cx="589786" cy="21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16393" name="组合 45"/>
          <p:cNvGrpSpPr/>
          <p:nvPr/>
        </p:nvGrpSpPr>
        <p:grpSpPr>
          <a:xfrm>
            <a:off x="423863" y="2686050"/>
            <a:ext cx="590550" cy="631825"/>
            <a:chOff x="6242320" y="2373233"/>
            <a:chExt cx="589786" cy="631741"/>
          </a:xfrm>
        </p:grpSpPr>
        <p:sp>
          <p:nvSpPr>
            <p:cNvPr id="12308" name="TextBox 6"/>
            <p:cNvSpPr txBox="1">
              <a:spLocks noChangeArrowheads="1"/>
            </p:cNvSpPr>
            <p:nvPr/>
          </p:nvSpPr>
          <p:spPr bwMode="auto">
            <a:xfrm>
              <a:off x="6327934" y="2373233"/>
              <a:ext cx="447096" cy="49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6C4C8F"/>
                  </a:solidFill>
                  <a:effectLst/>
                  <a:uLnTx/>
                  <a:uFillTx/>
                  <a:latin typeface="+mn-lt"/>
                  <a:ea typeface="+mn-ea"/>
                  <a:cs typeface="+mn-ea"/>
                  <a:sym typeface="+mn-lt"/>
                </a:rPr>
                <a:t>02</a:t>
              </a:r>
              <a:endParaRPr kumimoji="0" lang="zh-CN" altLang="en-US" sz="3200" b="0" i="0" u="none" strike="noStrike" kern="1200" cap="none" spc="0" normalizeH="0" baseline="0" noProof="0" dirty="0">
                <a:ln>
                  <a:noFill/>
                </a:ln>
                <a:solidFill>
                  <a:srgbClr val="6C4C8F"/>
                </a:solidFill>
                <a:effectLst/>
                <a:uLnTx/>
                <a:uFillTx/>
                <a:latin typeface="+mn-lt"/>
                <a:ea typeface="+mn-ea"/>
                <a:cs typeface="+mn-ea"/>
                <a:sym typeface="+mn-lt"/>
              </a:endParaRPr>
            </a:p>
          </p:txBody>
        </p:sp>
        <p:sp>
          <p:nvSpPr>
            <p:cNvPr id="12309" name="文本框 23"/>
            <p:cNvSpPr txBox="1">
              <a:spLocks noChangeArrowheads="1"/>
            </p:cNvSpPr>
            <p:nvPr/>
          </p:nvSpPr>
          <p:spPr bwMode="auto">
            <a:xfrm>
              <a:off x="6242320" y="2789103"/>
              <a:ext cx="589786" cy="215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16394" name="组合 48"/>
          <p:cNvGrpSpPr/>
          <p:nvPr/>
        </p:nvGrpSpPr>
        <p:grpSpPr>
          <a:xfrm>
            <a:off x="423863" y="3644900"/>
            <a:ext cx="590550" cy="620713"/>
            <a:chOff x="6242320" y="3640739"/>
            <a:chExt cx="589786" cy="620418"/>
          </a:xfrm>
        </p:grpSpPr>
        <p:sp>
          <p:nvSpPr>
            <p:cNvPr id="12306" name="TextBox 6"/>
            <p:cNvSpPr txBox="1">
              <a:spLocks noChangeArrowheads="1"/>
            </p:cNvSpPr>
            <p:nvPr/>
          </p:nvSpPr>
          <p:spPr bwMode="auto">
            <a:xfrm>
              <a:off x="6327934" y="3640739"/>
              <a:ext cx="447096" cy="491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76AEDD"/>
                  </a:solidFill>
                  <a:effectLst/>
                  <a:uLnTx/>
                  <a:uFillTx/>
                  <a:latin typeface="+mn-lt"/>
                  <a:ea typeface="+mn-ea"/>
                  <a:cs typeface="+mn-ea"/>
                  <a:sym typeface="+mn-lt"/>
                </a:rPr>
                <a:t>03</a:t>
              </a:r>
              <a:endParaRPr kumimoji="0" lang="zh-CN" altLang="en-US" sz="3200" b="0" i="0" u="none" strike="noStrike" kern="1200" cap="none" spc="0" normalizeH="0" baseline="0" noProof="0" dirty="0">
                <a:ln>
                  <a:noFill/>
                </a:ln>
                <a:solidFill>
                  <a:srgbClr val="76AEDD"/>
                </a:solidFill>
                <a:effectLst/>
                <a:uLnTx/>
                <a:uFillTx/>
                <a:latin typeface="+mn-lt"/>
                <a:ea typeface="+mn-ea"/>
                <a:cs typeface="+mn-ea"/>
                <a:sym typeface="+mn-lt"/>
              </a:endParaRPr>
            </a:p>
          </p:txBody>
        </p:sp>
        <p:sp>
          <p:nvSpPr>
            <p:cNvPr id="12307" name="文本框 24"/>
            <p:cNvSpPr txBox="1">
              <a:spLocks noChangeArrowheads="1"/>
            </p:cNvSpPr>
            <p:nvPr/>
          </p:nvSpPr>
          <p:spPr bwMode="auto">
            <a:xfrm>
              <a:off x="6242320" y="4045360"/>
              <a:ext cx="589786" cy="215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16395" name="组合 51"/>
          <p:cNvGrpSpPr/>
          <p:nvPr/>
        </p:nvGrpSpPr>
        <p:grpSpPr>
          <a:xfrm>
            <a:off x="423863" y="4652963"/>
            <a:ext cx="590550" cy="608012"/>
            <a:chOff x="6250444" y="4908245"/>
            <a:chExt cx="589786" cy="609656"/>
          </a:xfrm>
        </p:grpSpPr>
        <p:sp>
          <p:nvSpPr>
            <p:cNvPr id="12304" name="TextBox 6"/>
            <p:cNvSpPr txBox="1">
              <a:spLocks noChangeArrowheads="1"/>
            </p:cNvSpPr>
            <p:nvPr/>
          </p:nvSpPr>
          <p:spPr bwMode="auto">
            <a:xfrm>
              <a:off x="6326545" y="4908245"/>
              <a:ext cx="448681" cy="49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000000">
                      <a:lumMod val="50000"/>
                      <a:lumOff val="50000"/>
                    </a:srgbClr>
                  </a:solidFill>
                  <a:effectLst/>
                  <a:uLnTx/>
                  <a:uFillTx/>
                  <a:latin typeface="+mn-lt"/>
                  <a:ea typeface="+mn-ea"/>
                  <a:cs typeface="+mn-ea"/>
                  <a:sym typeface="+mn-lt"/>
                </a:rPr>
                <a:t>04</a:t>
              </a:r>
              <a:endParaRPr kumimoji="0" lang="zh-CN" altLang="en-US" sz="3200" b="0" i="0" u="none" strike="noStrike" kern="1200" cap="none" spc="0" normalizeH="0" baseline="0" noProof="0" dirty="0">
                <a:ln>
                  <a:noFill/>
                </a:ln>
                <a:solidFill>
                  <a:srgbClr val="000000">
                    <a:lumMod val="50000"/>
                    <a:lumOff val="50000"/>
                  </a:srgbClr>
                </a:solidFill>
                <a:effectLst/>
                <a:uLnTx/>
                <a:uFillTx/>
                <a:latin typeface="+mn-lt"/>
                <a:ea typeface="+mn-ea"/>
                <a:cs typeface="+mn-ea"/>
                <a:sym typeface="+mn-lt"/>
              </a:endParaRPr>
            </a:p>
          </p:txBody>
        </p:sp>
        <p:sp>
          <p:nvSpPr>
            <p:cNvPr id="12305" name="文本框 25"/>
            <p:cNvSpPr txBox="1">
              <a:spLocks noChangeArrowheads="1"/>
            </p:cNvSpPr>
            <p:nvPr/>
          </p:nvSpPr>
          <p:spPr bwMode="auto">
            <a:xfrm>
              <a:off x="6250444" y="5301417"/>
              <a:ext cx="589786" cy="21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16396" name="组合 54"/>
          <p:cNvGrpSpPr/>
          <p:nvPr/>
        </p:nvGrpSpPr>
        <p:grpSpPr>
          <a:xfrm>
            <a:off x="423863" y="5184775"/>
            <a:ext cx="590550" cy="609600"/>
            <a:chOff x="6250444" y="4908245"/>
            <a:chExt cx="589786" cy="609094"/>
          </a:xfrm>
        </p:grpSpPr>
        <p:sp>
          <p:nvSpPr>
            <p:cNvPr id="12302" name="TextBox 6"/>
            <p:cNvSpPr txBox="1">
              <a:spLocks noChangeArrowheads="1"/>
            </p:cNvSpPr>
            <p:nvPr/>
          </p:nvSpPr>
          <p:spPr bwMode="auto">
            <a:xfrm>
              <a:off x="6326545" y="4908245"/>
              <a:ext cx="448681" cy="491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6C4C8F"/>
                  </a:solidFill>
                  <a:effectLst/>
                  <a:uLnTx/>
                  <a:uFillTx/>
                  <a:latin typeface="+mn-lt"/>
                  <a:ea typeface="+mn-ea"/>
                  <a:cs typeface="+mn-ea"/>
                  <a:sym typeface="+mn-lt"/>
                </a:rPr>
                <a:t>05</a:t>
              </a:r>
              <a:endParaRPr kumimoji="0" lang="zh-CN" altLang="en-US" sz="3200" b="0" i="0" u="none" strike="noStrike" kern="1200" cap="none" spc="0" normalizeH="0" baseline="0" noProof="0" dirty="0">
                <a:ln>
                  <a:noFill/>
                </a:ln>
                <a:solidFill>
                  <a:srgbClr val="6C4C8F"/>
                </a:solidFill>
                <a:effectLst/>
                <a:uLnTx/>
                <a:uFillTx/>
                <a:latin typeface="+mn-lt"/>
                <a:ea typeface="+mn-ea"/>
                <a:cs typeface="+mn-ea"/>
                <a:sym typeface="+mn-lt"/>
              </a:endParaRPr>
            </a:p>
          </p:txBody>
        </p:sp>
        <p:sp>
          <p:nvSpPr>
            <p:cNvPr id="12303" name="文本框 25"/>
            <p:cNvSpPr txBox="1">
              <a:spLocks noChangeArrowheads="1"/>
            </p:cNvSpPr>
            <p:nvPr/>
          </p:nvSpPr>
          <p:spPr bwMode="auto">
            <a:xfrm>
              <a:off x="6250444" y="5301618"/>
              <a:ext cx="589786" cy="21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16397" name="组合 3"/>
          <p:cNvGrpSpPr/>
          <p:nvPr/>
        </p:nvGrpSpPr>
        <p:grpSpPr>
          <a:xfrm>
            <a:off x="3684588" y="336550"/>
            <a:ext cx="1830387" cy="1831975"/>
            <a:chOff x="3117668" y="234317"/>
            <a:chExt cx="2127323" cy="2127323"/>
          </a:xfrm>
        </p:grpSpPr>
        <p:sp>
          <p:nvSpPr>
            <p:cNvPr id="46" name="椭圆 45"/>
            <p:cNvSpPr/>
            <p:nvPr/>
          </p:nvSpPr>
          <p:spPr>
            <a:xfrm>
              <a:off x="3117668" y="234317"/>
              <a:ext cx="2127323" cy="2127323"/>
            </a:xfrm>
            <a:prstGeom prst="ellipse">
              <a:avLst/>
            </a:prstGeom>
            <a:solidFill>
              <a:schemeClr val="tx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ea"/>
                <a:sym typeface="+mn-lt"/>
              </a:endParaRPr>
            </a:p>
          </p:txBody>
        </p:sp>
        <p:sp>
          <p:nvSpPr>
            <p:cNvPr id="47" name="椭圆 46"/>
            <p:cNvSpPr/>
            <p:nvPr/>
          </p:nvSpPr>
          <p:spPr>
            <a:xfrm>
              <a:off x="3372208" y="482505"/>
              <a:ext cx="1630947" cy="1630947"/>
            </a:xfrm>
            <a:prstGeom prst="ellipse">
              <a:avLst/>
            </a:prstGeom>
            <a:solidFill>
              <a:schemeClr val="bg1"/>
            </a:solidFill>
            <a:ln>
              <a:noFill/>
            </a:ln>
            <a:effectLst>
              <a:glow rad="165100">
                <a:schemeClr val="tx1">
                  <a:alpha val="27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ea"/>
                <a:sym typeface="+mn-lt"/>
              </a:endParaRPr>
            </a:p>
          </p:txBody>
        </p:sp>
        <p:grpSp>
          <p:nvGrpSpPr>
            <p:cNvPr id="16402" name="组合 47"/>
            <p:cNvGrpSpPr/>
            <p:nvPr/>
          </p:nvGrpSpPr>
          <p:grpSpPr>
            <a:xfrm>
              <a:off x="3250509" y="768989"/>
              <a:ext cx="1800200" cy="1001573"/>
              <a:chOff x="3896925" y="1033243"/>
              <a:chExt cx="1350150" cy="751179"/>
            </a:xfrm>
          </p:grpSpPr>
          <p:sp>
            <p:nvSpPr>
              <p:cNvPr id="49" name="TextBox 7"/>
              <p:cNvSpPr txBox="1"/>
              <p:nvPr/>
            </p:nvSpPr>
            <p:spPr>
              <a:xfrm>
                <a:off x="4256708" y="1399568"/>
                <a:ext cx="690504" cy="384356"/>
              </a:xfrm>
              <a:prstGeom prst="rect">
                <a:avLst/>
              </a:prstGeom>
              <a:noFill/>
            </p:spPr>
            <p:txBody>
              <a:bodyPr lIns="0" tIns="0" rIns="0" bIns="0" anchor="b">
                <a:normAutofit/>
              </a:bodyPr>
              <a:lstStyle/>
              <a:p>
                <a:pPr marR="0" algn="dist" defTabSz="914400">
                  <a:buClrTx/>
                  <a:buSzTx/>
                  <a:buFontTx/>
                  <a:buNone/>
                  <a:defRPr/>
                </a:pPr>
                <a:r>
                  <a:rPr kumimoji="0" lang="en-US" altLang="zh-CN" sz="2135" b="0" kern="1200" cap="none" spc="0" normalizeH="0" baseline="0" noProof="0" dirty="0">
                    <a:solidFill>
                      <a:srgbClr val="000000"/>
                    </a:solidFill>
                    <a:latin typeface="+mn-lt"/>
                    <a:ea typeface="+mn-ea"/>
                    <a:cs typeface="+mn-ea"/>
                    <a:sym typeface="+mn-lt"/>
                  </a:rPr>
                  <a:t>target</a:t>
                </a:r>
              </a:p>
            </p:txBody>
          </p:sp>
          <p:sp>
            <p:nvSpPr>
              <p:cNvPr id="50" name="Rectangle 9"/>
              <p:cNvSpPr/>
              <p:nvPr/>
            </p:nvSpPr>
            <p:spPr>
              <a:xfrm>
                <a:off x="3896926" y="1033186"/>
                <a:ext cx="1350565" cy="692670"/>
              </a:xfrm>
              <a:prstGeom prst="rect">
                <a:avLst/>
              </a:prstGeom>
            </p:spPr>
            <p:txBody>
              <a:bodyPr>
                <a:norm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735" b="1" i="0" u="none" strike="noStrike" kern="1200" cap="none" spc="0" normalizeH="0" baseline="0" noProof="0" dirty="0">
                    <a:ln>
                      <a:noFill/>
                    </a:ln>
                    <a:solidFill>
                      <a:srgbClr val="000000"/>
                    </a:solidFill>
                    <a:effectLst/>
                    <a:uLnTx/>
                    <a:uFillTx/>
                    <a:latin typeface="+mn-lt"/>
                    <a:ea typeface="+mn-ea"/>
                    <a:cs typeface="+mn-ea"/>
                    <a:sym typeface="+mn-lt"/>
                  </a:rPr>
                  <a:t>目标</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000"/>
                                        <p:tgtEl>
                                          <p:spTgt spid="64"/>
                                        </p:tgtEl>
                                      </p:cBhvr>
                                    </p:animEffect>
                                    <p:anim calcmode="lin" valueType="num">
                                      <p:cBhvr>
                                        <p:cTn id="8" dur="1000" fill="hold"/>
                                        <p:tgtEl>
                                          <p:spTgt spid="64"/>
                                        </p:tgtEl>
                                        <p:attrNameLst>
                                          <p:attrName>ppt_x</p:attrName>
                                        </p:attrNameLst>
                                      </p:cBhvr>
                                      <p:tavLst>
                                        <p:tav tm="0">
                                          <p:val>
                                            <p:strVal val="#ppt_x"/>
                                          </p:val>
                                        </p:tav>
                                        <p:tav tm="100000">
                                          <p:val>
                                            <p:strVal val="#ppt_x"/>
                                          </p:val>
                                        </p:tav>
                                      </p:tavLst>
                                    </p:anim>
                                    <p:anim calcmode="lin" valueType="num">
                                      <p:cBhvr>
                                        <p:cTn id="9"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bwMode="auto">
          <a:xfrm>
            <a:off x="0" y="349250"/>
            <a:ext cx="9155113" cy="233521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8" name="矩形: 圆角 17"/>
          <p:cNvSpPr/>
          <p:nvPr/>
        </p:nvSpPr>
        <p:spPr bwMode="auto">
          <a:xfrm>
            <a:off x="3070611" y="2940608"/>
            <a:ext cx="3251200" cy="3619500"/>
          </a:xfrm>
          <a:prstGeom prst="roundRect">
            <a:avLst>
              <a:gd name="adj" fmla="val 6305"/>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635911" name="Rectangle 7"/>
          <p:cNvSpPr>
            <a:spLocks noChangeArrowheads="1"/>
          </p:cNvSpPr>
          <p:nvPr/>
        </p:nvSpPr>
        <p:spPr bwMode="auto">
          <a:xfrm>
            <a:off x="3640523" y="3533775"/>
            <a:ext cx="2111375" cy="2635250"/>
          </a:xfrm>
          <a:prstGeom prst="rect">
            <a:avLst/>
          </a:prstGeom>
          <a:noFill/>
          <a:ln w="38100">
            <a:noFill/>
            <a:miter lim="800000"/>
          </a:ln>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000000"/>
                </a:solidFill>
                <a:effectLst/>
                <a:uLnTx/>
                <a:uFillTx/>
                <a:latin typeface="+mn-lt"/>
                <a:ea typeface="+mn-ea"/>
                <a:cs typeface="+mn-ea"/>
                <a:sym typeface="+mn-lt"/>
              </a:rPr>
              <a:t>1. </a:t>
            </a:r>
            <a:r>
              <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rPr>
              <a:t>定义</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000000"/>
                </a:solidFill>
                <a:effectLst/>
                <a:uLnTx/>
                <a:uFillTx/>
                <a:latin typeface="+mn-lt"/>
                <a:ea typeface="+mn-ea"/>
                <a:cs typeface="+mn-ea"/>
                <a:sym typeface="+mn-lt"/>
              </a:rPr>
              <a:t>2. </a:t>
            </a:r>
            <a:r>
              <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rPr>
              <a:t>逻辑结构</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000000"/>
                </a:solidFill>
                <a:effectLst/>
                <a:uLnTx/>
                <a:uFillTx/>
                <a:latin typeface="+mn-lt"/>
                <a:ea typeface="+mn-ea"/>
                <a:cs typeface="+mn-ea"/>
                <a:sym typeface="+mn-lt"/>
              </a:rPr>
              <a:t>3. </a:t>
            </a:r>
            <a:r>
              <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rPr>
              <a:t>存储结构</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000000"/>
                </a:solidFill>
                <a:effectLst/>
                <a:uLnTx/>
                <a:uFillTx/>
                <a:latin typeface="+mn-lt"/>
                <a:ea typeface="+mn-ea"/>
                <a:cs typeface="+mn-ea"/>
                <a:sym typeface="+mn-lt"/>
              </a:rPr>
              <a:t>4. </a:t>
            </a:r>
            <a:r>
              <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rPr>
              <a:t>运算规则</a:t>
            </a:r>
          </a:p>
          <a:p>
            <a:pPr marL="342900" marR="0" lvl="0" indent="-342900" algn="l" defTabSz="914400" rtl="0" eaLnBrk="0" fontAlgn="base" latinLnBrk="0" hangingPunct="0">
              <a:lnSpc>
                <a:spcPct val="13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000000"/>
                </a:solidFill>
                <a:effectLst/>
                <a:uLnTx/>
                <a:uFillTx/>
                <a:latin typeface="+mn-lt"/>
                <a:ea typeface="+mn-ea"/>
                <a:cs typeface="+mn-ea"/>
                <a:sym typeface="+mn-lt"/>
              </a:rPr>
              <a:t>5. </a:t>
            </a:r>
            <a:r>
              <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rPr>
              <a:t>实现方式</a:t>
            </a:r>
          </a:p>
        </p:txBody>
      </p:sp>
      <p:grpSp>
        <p:nvGrpSpPr>
          <p:cNvPr id="18439" name="组合 19"/>
          <p:cNvGrpSpPr/>
          <p:nvPr/>
        </p:nvGrpSpPr>
        <p:grpSpPr>
          <a:xfrm>
            <a:off x="3030924" y="677863"/>
            <a:ext cx="3251200" cy="2460625"/>
            <a:chOff x="222841" y="2217316"/>
            <a:chExt cx="2846584" cy="2461343"/>
          </a:xfrm>
        </p:grpSpPr>
        <p:sp>
          <p:nvSpPr>
            <p:cNvPr id="21" name="íṡľíḍè-Rectangle 22"/>
            <p:cNvSpPr/>
            <p:nvPr/>
          </p:nvSpPr>
          <p:spPr>
            <a:xfrm>
              <a:off x="222841" y="2217316"/>
              <a:ext cx="2846584" cy="19007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sz="2800" b="0" i="0" u="none" strike="noStrike" kern="1200" cap="none" spc="0" normalizeH="0" baseline="0" noProof="0">
                <a:ln>
                  <a:noFill/>
                </a:ln>
                <a:solidFill>
                  <a:srgbClr val="FEFFFF"/>
                </a:solidFill>
                <a:effectLst/>
                <a:uLnTx/>
                <a:uFillTx/>
                <a:latin typeface="+mn-lt"/>
                <a:ea typeface="+mn-ea"/>
                <a:cs typeface="+mn-ea"/>
                <a:sym typeface="+mn-lt"/>
              </a:endParaRPr>
            </a:p>
          </p:txBody>
        </p:sp>
        <p:sp>
          <p:nvSpPr>
            <p:cNvPr id="22" name="íṡľíḍè-Freeform: Shape 23"/>
            <p:cNvSpPr/>
            <p:nvPr/>
          </p:nvSpPr>
          <p:spPr>
            <a:xfrm rot="10800000">
              <a:off x="222841" y="3987894"/>
              <a:ext cx="2846584" cy="382700"/>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sz="2800" b="0" i="0" u="none" strike="noStrike" kern="1200" cap="none" spc="0" normalizeH="0" baseline="0" noProof="0">
                <a:ln>
                  <a:noFill/>
                </a:ln>
                <a:solidFill>
                  <a:srgbClr val="FEFFFF"/>
                </a:solidFill>
                <a:effectLst/>
                <a:uLnTx/>
                <a:uFillTx/>
                <a:latin typeface="+mn-lt"/>
                <a:ea typeface="+mn-ea"/>
                <a:cs typeface="+mn-ea"/>
                <a:sym typeface="+mn-lt"/>
              </a:endParaRPr>
            </a:p>
          </p:txBody>
        </p:sp>
        <p:sp>
          <p:nvSpPr>
            <p:cNvPr id="23" name="îŝḷîḓé-TextBox 33"/>
            <p:cNvSpPr txBox="1"/>
            <p:nvPr/>
          </p:nvSpPr>
          <p:spPr bwMode="auto">
            <a:xfrm>
              <a:off x="1107827" y="4506304"/>
              <a:ext cx="1077218" cy="172355"/>
            </a:xfrm>
            <a:prstGeom prst="rect">
              <a:avLst/>
            </a:prstGeom>
            <a:noFill/>
            <a:ln w="9525">
              <a:noFill/>
              <a:miter lim="800000"/>
            </a:ln>
          </p:spPr>
          <p:txBody>
            <a:bodyPr wrap="none" lIns="0" tIns="0" rIns="0" bIns="0">
              <a:scene3d>
                <a:camera prst="orthographicFront"/>
                <a:lightRig rig="threePt" dir="t"/>
              </a:scene3d>
              <a:sp3d>
                <a:bevelT w="0" h="0"/>
              </a:sp3d>
            </a:bodyPr>
            <a:lstStyle/>
            <a:p>
              <a:pPr marL="0" marR="0" lvl="1" indent="0" algn="ctr"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6C4C8F"/>
                  </a:solidFill>
                  <a:effectLst/>
                  <a:uLnTx/>
                  <a:uFillTx/>
                  <a:latin typeface="+mn-lt"/>
                  <a:ea typeface="+mn-ea"/>
                  <a:cs typeface="+mn-ea"/>
                  <a:sym typeface="+mn-lt"/>
                </a:rPr>
                <a:t>栈（</a:t>
              </a:r>
              <a:r>
                <a:rPr kumimoji="0" lang="en-US" altLang="zh-CN" sz="2800" b="0" i="0" u="none" strike="noStrike" kern="1200" cap="none" spc="0" normalizeH="0" baseline="0" noProof="0" dirty="0">
                  <a:ln>
                    <a:noFill/>
                  </a:ln>
                  <a:solidFill>
                    <a:srgbClr val="6C4C8F"/>
                  </a:solidFill>
                  <a:effectLst/>
                  <a:uLnTx/>
                  <a:uFillTx/>
                  <a:latin typeface="+mn-lt"/>
                  <a:ea typeface="+mn-ea"/>
                  <a:cs typeface="+mn-ea"/>
                  <a:sym typeface="+mn-lt"/>
                </a:rPr>
                <a:t>Stack</a:t>
              </a:r>
              <a:r>
                <a:rPr kumimoji="0" lang="zh-CN" altLang="en-US" sz="2800" b="0" i="0" u="none" strike="noStrike" kern="1200" cap="none" spc="0" normalizeH="0" baseline="0" noProof="0" dirty="0">
                  <a:ln>
                    <a:noFill/>
                  </a:ln>
                  <a:solidFill>
                    <a:srgbClr val="6C4C8F"/>
                  </a:solidFill>
                  <a:effectLst/>
                  <a:uLnTx/>
                  <a:uFillTx/>
                  <a:latin typeface="+mn-lt"/>
                  <a:ea typeface="+mn-ea"/>
                  <a:cs typeface="+mn-ea"/>
                  <a:sym typeface="+mn-lt"/>
                </a:rPr>
                <a:t>）</a:t>
              </a:r>
            </a:p>
          </p:txBody>
        </p:sp>
      </p:grpSp>
      <p:sp>
        <p:nvSpPr>
          <p:cNvPr id="39" name="îŝḷîḓé-Freeform: Shape 42"/>
          <p:cNvSpPr/>
          <p:nvPr/>
        </p:nvSpPr>
        <p:spPr bwMode="auto">
          <a:xfrm>
            <a:off x="4224723" y="1044574"/>
            <a:ext cx="942975" cy="944563"/>
          </a:xfrm>
          <a:custGeom>
            <a:avLst/>
            <a:gdLst>
              <a:gd name="T0" fmla="*/ 184 w 260"/>
              <a:gd name="T1" fmla="*/ 106 h 260"/>
              <a:gd name="T2" fmla="*/ 193 w 260"/>
              <a:gd name="T3" fmla="*/ 143 h 260"/>
              <a:gd name="T4" fmla="*/ 117 w 260"/>
              <a:gd name="T5" fmla="*/ 219 h 260"/>
              <a:gd name="T6" fmla="*/ 42 w 260"/>
              <a:gd name="T7" fmla="*/ 143 h 260"/>
              <a:gd name="T8" fmla="*/ 117 w 260"/>
              <a:gd name="T9" fmla="*/ 66 h 260"/>
              <a:gd name="T10" fmla="*/ 154 w 260"/>
              <a:gd name="T11" fmla="*/ 76 h 260"/>
              <a:gd name="T12" fmla="*/ 183 w 260"/>
              <a:gd name="T13" fmla="*/ 46 h 260"/>
              <a:gd name="T14" fmla="*/ 117 w 260"/>
              <a:gd name="T15" fmla="*/ 25 h 260"/>
              <a:gd name="T16" fmla="*/ 0 w 260"/>
              <a:gd name="T17" fmla="*/ 143 h 260"/>
              <a:gd name="T18" fmla="*/ 117 w 260"/>
              <a:gd name="T19" fmla="*/ 260 h 260"/>
              <a:gd name="T20" fmla="*/ 233 w 260"/>
              <a:gd name="T21" fmla="*/ 143 h 260"/>
              <a:gd name="T22" fmla="*/ 213 w 260"/>
              <a:gd name="T23" fmla="*/ 77 h 260"/>
              <a:gd name="T24" fmla="*/ 184 w 260"/>
              <a:gd name="T25" fmla="*/ 106 h 260"/>
              <a:gd name="T26" fmla="*/ 225 w 260"/>
              <a:gd name="T27" fmla="*/ 35 h 260"/>
              <a:gd name="T28" fmla="*/ 225 w 260"/>
              <a:gd name="T29" fmla="*/ 35 h 260"/>
              <a:gd name="T30" fmla="*/ 225 w 260"/>
              <a:gd name="T31" fmla="*/ 0 h 260"/>
              <a:gd name="T32" fmla="*/ 203 w 260"/>
              <a:gd name="T33" fmla="*/ 23 h 260"/>
              <a:gd name="T34" fmla="*/ 203 w 260"/>
              <a:gd name="T35" fmla="*/ 46 h 260"/>
              <a:gd name="T36" fmla="*/ 139 w 260"/>
              <a:gd name="T37" fmla="*/ 111 h 260"/>
              <a:gd name="T38" fmla="*/ 117 w 260"/>
              <a:gd name="T39" fmla="*/ 104 h 260"/>
              <a:gd name="T40" fmla="*/ 79 w 260"/>
              <a:gd name="T41" fmla="*/ 143 h 260"/>
              <a:gd name="T42" fmla="*/ 117 w 260"/>
              <a:gd name="T43" fmla="*/ 181 h 260"/>
              <a:gd name="T44" fmla="*/ 155 w 260"/>
              <a:gd name="T45" fmla="*/ 143 h 260"/>
              <a:gd name="T46" fmla="*/ 150 w 260"/>
              <a:gd name="T47" fmla="*/ 123 h 260"/>
              <a:gd name="T48" fmla="*/ 215 w 260"/>
              <a:gd name="T49" fmla="*/ 58 h 260"/>
              <a:gd name="T50" fmla="*/ 237 w 260"/>
              <a:gd name="T51" fmla="*/ 58 h 260"/>
              <a:gd name="T52" fmla="*/ 260 w 260"/>
              <a:gd name="T53" fmla="*/ 35 h 260"/>
              <a:gd name="T54" fmla="*/ 225 w 260"/>
              <a:gd name="T55" fmla="*/ 35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0" h="260">
                <a:moveTo>
                  <a:pt x="184" y="106"/>
                </a:moveTo>
                <a:cubicBezTo>
                  <a:pt x="190" y="117"/>
                  <a:pt x="193" y="129"/>
                  <a:pt x="193" y="143"/>
                </a:cubicBezTo>
                <a:cubicBezTo>
                  <a:pt x="193" y="185"/>
                  <a:pt x="159" y="219"/>
                  <a:pt x="117" y="219"/>
                </a:cubicBezTo>
                <a:cubicBezTo>
                  <a:pt x="76" y="219"/>
                  <a:pt x="42" y="185"/>
                  <a:pt x="42" y="143"/>
                </a:cubicBezTo>
                <a:cubicBezTo>
                  <a:pt x="42" y="100"/>
                  <a:pt x="76" y="66"/>
                  <a:pt x="117" y="66"/>
                </a:cubicBezTo>
                <a:cubicBezTo>
                  <a:pt x="131" y="66"/>
                  <a:pt x="143" y="70"/>
                  <a:pt x="154" y="76"/>
                </a:cubicBezTo>
                <a:cubicBezTo>
                  <a:pt x="183" y="46"/>
                  <a:pt x="183" y="46"/>
                  <a:pt x="183" y="46"/>
                </a:cubicBezTo>
                <a:cubicBezTo>
                  <a:pt x="165" y="33"/>
                  <a:pt x="141" y="25"/>
                  <a:pt x="117" y="25"/>
                </a:cubicBezTo>
                <a:cubicBezTo>
                  <a:pt x="52" y="25"/>
                  <a:pt x="0" y="78"/>
                  <a:pt x="0" y="143"/>
                </a:cubicBezTo>
                <a:cubicBezTo>
                  <a:pt x="0" y="207"/>
                  <a:pt x="52" y="260"/>
                  <a:pt x="117" y="260"/>
                </a:cubicBezTo>
                <a:cubicBezTo>
                  <a:pt x="181" y="260"/>
                  <a:pt x="233" y="207"/>
                  <a:pt x="233" y="143"/>
                </a:cubicBezTo>
                <a:cubicBezTo>
                  <a:pt x="233" y="118"/>
                  <a:pt x="226" y="96"/>
                  <a:pt x="213" y="77"/>
                </a:cubicBezTo>
                <a:cubicBezTo>
                  <a:pt x="184" y="106"/>
                  <a:pt x="184" y="106"/>
                  <a:pt x="184" y="106"/>
                </a:cubicBezTo>
                <a:close/>
                <a:moveTo>
                  <a:pt x="225" y="35"/>
                </a:moveTo>
                <a:cubicBezTo>
                  <a:pt x="225" y="35"/>
                  <a:pt x="225" y="35"/>
                  <a:pt x="225" y="35"/>
                </a:cubicBezTo>
                <a:cubicBezTo>
                  <a:pt x="225" y="0"/>
                  <a:pt x="225" y="0"/>
                  <a:pt x="225" y="0"/>
                </a:cubicBezTo>
                <a:cubicBezTo>
                  <a:pt x="203" y="23"/>
                  <a:pt x="203" y="23"/>
                  <a:pt x="203" y="23"/>
                </a:cubicBezTo>
                <a:cubicBezTo>
                  <a:pt x="203" y="46"/>
                  <a:pt x="203" y="46"/>
                  <a:pt x="203" y="46"/>
                </a:cubicBezTo>
                <a:cubicBezTo>
                  <a:pt x="139" y="111"/>
                  <a:pt x="139" y="111"/>
                  <a:pt x="139" y="111"/>
                </a:cubicBezTo>
                <a:cubicBezTo>
                  <a:pt x="133" y="106"/>
                  <a:pt x="125" y="104"/>
                  <a:pt x="117" y="104"/>
                </a:cubicBezTo>
                <a:cubicBezTo>
                  <a:pt x="96" y="104"/>
                  <a:pt x="79" y="121"/>
                  <a:pt x="79" y="143"/>
                </a:cubicBezTo>
                <a:cubicBezTo>
                  <a:pt x="79" y="164"/>
                  <a:pt x="96" y="181"/>
                  <a:pt x="117" y="181"/>
                </a:cubicBezTo>
                <a:cubicBezTo>
                  <a:pt x="138" y="181"/>
                  <a:pt x="155" y="164"/>
                  <a:pt x="155" y="143"/>
                </a:cubicBezTo>
                <a:cubicBezTo>
                  <a:pt x="155" y="136"/>
                  <a:pt x="154" y="129"/>
                  <a:pt x="150" y="123"/>
                </a:cubicBezTo>
                <a:cubicBezTo>
                  <a:pt x="215" y="58"/>
                  <a:pt x="215" y="58"/>
                  <a:pt x="215" y="58"/>
                </a:cubicBezTo>
                <a:cubicBezTo>
                  <a:pt x="237" y="58"/>
                  <a:pt x="237" y="58"/>
                  <a:pt x="237" y="58"/>
                </a:cubicBezTo>
                <a:cubicBezTo>
                  <a:pt x="260" y="35"/>
                  <a:pt x="260" y="35"/>
                  <a:pt x="260" y="35"/>
                </a:cubicBezTo>
                <a:cubicBezTo>
                  <a:pt x="225" y="35"/>
                  <a:pt x="225" y="35"/>
                  <a:pt x="225" y="35"/>
                </a:cubicBezTo>
                <a:close/>
              </a:path>
            </a:pathLst>
          </a:custGeom>
          <a:solidFill>
            <a:schemeClr val="bg1"/>
          </a:solidFill>
          <a:ln>
            <a:noFill/>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sz="2800"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4932363" y="1671638"/>
            <a:ext cx="4211638" cy="3290888"/>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pic>
        <p:nvPicPr>
          <p:cNvPr id="19459" name="Picture 2" descr="0301"/>
          <p:cNvPicPr>
            <a:picLocks noChangeAspect="1"/>
          </p:cNvPicPr>
          <p:nvPr/>
        </p:nvPicPr>
        <p:blipFill>
          <a:blip r:embed="rId2">
            <a:clrChange>
              <a:clrFrom>
                <a:srgbClr val="FFFFFF"/>
              </a:clrFrom>
              <a:clrTo>
                <a:srgbClr val="FFFFFF">
                  <a:alpha val="0"/>
                </a:srgbClr>
              </a:clrTo>
            </a:clrChange>
          </a:blip>
          <a:srcRect l="40192" b="9897"/>
          <a:stretch>
            <a:fillRect/>
          </a:stretch>
        </p:blipFill>
        <p:spPr>
          <a:xfrm>
            <a:off x="5381625" y="1071563"/>
            <a:ext cx="3343275" cy="3429000"/>
          </a:xfrm>
          <a:prstGeom prst="rect">
            <a:avLst/>
          </a:prstGeom>
          <a:noFill/>
          <a:ln w="9525">
            <a:noFill/>
          </a:ln>
        </p:spPr>
      </p:pic>
      <p:pic>
        <p:nvPicPr>
          <p:cNvPr id="19460" name="Picture 5"/>
          <p:cNvPicPr>
            <a:picLocks noChangeAspect="1"/>
          </p:cNvPicPr>
          <p:nvPr/>
        </p:nvPicPr>
        <p:blipFill>
          <a:blip r:embed="rId3"/>
          <a:stretch>
            <a:fillRect/>
          </a:stretch>
        </p:blipFill>
        <p:spPr>
          <a:xfrm>
            <a:off x="0" y="1671638"/>
            <a:ext cx="4741863" cy="3290887"/>
          </a:xfrm>
          <a:prstGeom prst="rect">
            <a:avLst/>
          </a:prstGeom>
          <a:noFill/>
          <a:ln w="9525">
            <a:noFill/>
          </a:ln>
        </p:spPr>
      </p:pic>
      <p:sp>
        <p:nvSpPr>
          <p:cNvPr id="10245" name="矩形 5"/>
          <p:cNvSpPr>
            <a:spLocks noChangeArrowheads="1"/>
          </p:cNvSpPr>
          <p:nvPr/>
        </p:nvSpPr>
        <p:spPr bwMode="auto">
          <a:xfrm>
            <a:off x="5561013" y="4500563"/>
            <a:ext cx="2954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用铁路调度站表示栈</a:t>
            </a:r>
          </a:p>
        </p:txBody>
      </p:sp>
      <p:sp>
        <p:nvSpPr>
          <p:cNvPr id="2" name="标题 1"/>
          <p:cNvSpPr>
            <a:spLocks noGrp="1"/>
          </p:cNvSpPr>
          <p:nvPr>
            <p:ph type="title"/>
          </p:nvPr>
        </p:nvSpPr>
        <p:spPr>
          <a:xfrm>
            <a:off x="844550" y="236538"/>
            <a:ext cx="6400800" cy="45561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栈</a:t>
            </a:r>
            <a:endParaRPr kumimoji="0" lang="zh-CN" altLang="en-US" sz="2800" b="1" i="0" u="none" strike="noStrike" kern="0" cap="none" spc="0" normalizeH="0" baseline="0" noProof="0" dirty="0">
              <a:ln>
                <a:noFill/>
              </a:ln>
              <a:solidFill>
                <a:schemeClr val="bg1"/>
              </a:solidFill>
              <a:effectLst/>
              <a:uLnTx/>
              <a:uFillTx/>
              <a:latin typeface="+mn-lt"/>
              <a:ea typeface="+mn-ea"/>
              <a:cs typeface="+mn-ea"/>
              <a:sym typeface="+mn-lt"/>
            </a:endParaRPr>
          </a:p>
        </p:txBody>
      </p:sp>
      <p:sp>
        <p:nvSpPr>
          <p:cNvPr id="9"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圆角 30"/>
          <p:cNvSpPr/>
          <p:nvPr/>
        </p:nvSpPr>
        <p:spPr bwMode="auto">
          <a:xfrm>
            <a:off x="390525" y="3041650"/>
            <a:ext cx="2098675" cy="661988"/>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0" name="矩形: 圆角 29"/>
          <p:cNvSpPr/>
          <p:nvPr/>
        </p:nvSpPr>
        <p:spPr bwMode="auto">
          <a:xfrm>
            <a:off x="390525" y="2095500"/>
            <a:ext cx="2098675" cy="661988"/>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7" name="矩形: 圆角 6"/>
          <p:cNvSpPr/>
          <p:nvPr/>
        </p:nvSpPr>
        <p:spPr bwMode="auto">
          <a:xfrm>
            <a:off x="390525" y="1135063"/>
            <a:ext cx="2098675" cy="661988"/>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70" name="Rectangle 1104"/>
          <p:cNvSpPr>
            <a:spLocks noChangeArrowheads="1"/>
          </p:cNvSpPr>
          <p:nvPr/>
        </p:nvSpPr>
        <p:spPr bwMode="auto">
          <a:xfrm>
            <a:off x="1214438" y="1057275"/>
            <a:ext cx="11080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dist"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FF9900"/>
                </a:solidFill>
                <a:effectLst/>
                <a:uLnTx/>
                <a:uFillTx/>
                <a:latin typeface="+mn-lt"/>
                <a:ea typeface="+mn-ea"/>
                <a:cs typeface="+mn-ea"/>
                <a:sym typeface="+mn-lt"/>
              </a:rPr>
              <a:t>定义</a:t>
            </a:r>
          </a:p>
        </p:txBody>
      </p:sp>
      <p:sp>
        <p:nvSpPr>
          <p:cNvPr id="11273" name="Rectangle 1110"/>
          <p:cNvSpPr>
            <a:spLocks noChangeArrowheads="1"/>
          </p:cNvSpPr>
          <p:nvPr/>
        </p:nvSpPr>
        <p:spPr bwMode="auto">
          <a:xfrm>
            <a:off x="1011238" y="3105150"/>
            <a:ext cx="15017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4D96D3"/>
                </a:solidFill>
                <a:effectLst/>
                <a:uLnTx/>
                <a:uFillTx/>
                <a:latin typeface="+mn-lt"/>
                <a:ea typeface="+mn-ea"/>
                <a:cs typeface="+mn-ea"/>
                <a:sym typeface="+mn-lt"/>
              </a:rPr>
              <a:t>存储结构</a:t>
            </a:r>
          </a:p>
        </p:txBody>
      </p:sp>
      <p:sp>
        <p:nvSpPr>
          <p:cNvPr id="11276" name="Rectangle 1113"/>
          <p:cNvSpPr>
            <a:spLocks noChangeArrowheads="1"/>
          </p:cNvSpPr>
          <p:nvPr/>
        </p:nvSpPr>
        <p:spPr bwMode="auto">
          <a:xfrm>
            <a:off x="1011238" y="2178050"/>
            <a:ext cx="14446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6C4C8F"/>
                </a:solidFill>
                <a:effectLst/>
                <a:uLnTx/>
                <a:uFillTx/>
                <a:latin typeface="+mn-lt"/>
                <a:ea typeface="+mn-ea"/>
                <a:cs typeface="+mn-ea"/>
                <a:sym typeface="+mn-lt"/>
              </a:rPr>
              <a:t>逻辑结构</a:t>
            </a:r>
          </a:p>
        </p:txBody>
      </p:sp>
      <p:sp>
        <p:nvSpPr>
          <p:cNvPr id="11277" name="Rectangle 1114"/>
          <p:cNvSpPr>
            <a:spLocks noChangeArrowheads="1"/>
          </p:cNvSpPr>
          <p:nvPr/>
        </p:nvSpPr>
        <p:spPr bwMode="auto">
          <a:xfrm>
            <a:off x="2489200" y="1052513"/>
            <a:ext cx="64230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只能在</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表的一端</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栈顶</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）进行插入和删除运算的</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线性表</a:t>
            </a:r>
          </a:p>
        </p:txBody>
      </p:sp>
      <p:sp>
        <p:nvSpPr>
          <p:cNvPr id="4" name="标题 3"/>
          <p:cNvSpPr>
            <a:spLocks noGrp="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栈</a:t>
            </a:r>
          </a:p>
        </p:txBody>
      </p:sp>
      <p:grpSp>
        <p:nvGrpSpPr>
          <p:cNvPr id="20490" name="组合 28"/>
          <p:cNvGrpSpPr/>
          <p:nvPr/>
        </p:nvGrpSpPr>
        <p:grpSpPr>
          <a:xfrm>
            <a:off x="423863" y="1177925"/>
            <a:ext cx="590550" cy="627063"/>
            <a:chOff x="6242320" y="1105887"/>
            <a:chExt cx="589786" cy="626357"/>
          </a:xfrm>
        </p:grpSpPr>
        <p:sp>
          <p:nvSpPr>
            <p:cNvPr id="15" name="TextBox 6"/>
            <p:cNvSpPr txBox="1">
              <a:spLocks noChangeArrowheads="1"/>
            </p:cNvSpPr>
            <p:nvPr/>
          </p:nvSpPr>
          <p:spPr bwMode="auto">
            <a:xfrm>
              <a:off x="6327934" y="1105887"/>
              <a:ext cx="475634" cy="491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9900"/>
                  </a:solidFill>
                  <a:effectLst/>
                  <a:uLnTx/>
                  <a:uFillTx/>
                  <a:latin typeface="+mn-lt"/>
                  <a:ea typeface="+mn-ea"/>
                  <a:cs typeface="+mn-ea"/>
                  <a:sym typeface="+mn-lt"/>
                </a:rPr>
                <a:t>01</a:t>
              </a:r>
              <a:endParaRPr kumimoji="0" lang="zh-CN" altLang="en-US" sz="3200" b="1" i="0" u="none" strike="noStrike" kern="1200" cap="none" spc="0" normalizeH="0" baseline="0" noProof="0" dirty="0">
                <a:ln>
                  <a:noFill/>
                </a:ln>
                <a:solidFill>
                  <a:srgbClr val="FF9900"/>
                </a:solidFill>
                <a:effectLst/>
                <a:uLnTx/>
                <a:uFillTx/>
                <a:latin typeface="+mn-lt"/>
                <a:ea typeface="+mn-ea"/>
                <a:cs typeface="+mn-ea"/>
                <a:sym typeface="+mn-lt"/>
              </a:endParaRPr>
            </a:p>
          </p:txBody>
        </p:sp>
        <p:sp>
          <p:nvSpPr>
            <p:cNvPr id="16" name="文本框 22"/>
            <p:cNvSpPr txBox="1">
              <a:spLocks noChangeArrowheads="1"/>
            </p:cNvSpPr>
            <p:nvPr/>
          </p:nvSpPr>
          <p:spPr bwMode="auto">
            <a:xfrm>
              <a:off x="6242320" y="1516587"/>
              <a:ext cx="589786" cy="21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20491" name="组合 45"/>
          <p:cNvGrpSpPr/>
          <p:nvPr/>
        </p:nvGrpSpPr>
        <p:grpSpPr>
          <a:xfrm>
            <a:off x="441325" y="2135188"/>
            <a:ext cx="590550" cy="631825"/>
            <a:chOff x="6242320" y="2373259"/>
            <a:chExt cx="589786" cy="631715"/>
          </a:xfrm>
        </p:grpSpPr>
        <p:sp>
          <p:nvSpPr>
            <p:cNvPr id="18" name="TextBox 6"/>
            <p:cNvSpPr txBox="1">
              <a:spLocks noChangeArrowheads="1"/>
            </p:cNvSpPr>
            <p:nvPr/>
          </p:nvSpPr>
          <p:spPr bwMode="auto">
            <a:xfrm>
              <a:off x="6327934" y="2373259"/>
              <a:ext cx="458194" cy="492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6C4C8F"/>
                  </a:solidFill>
                  <a:effectLst/>
                  <a:uLnTx/>
                  <a:uFillTx/>
                  <a:latin typeface="+mn-lt"/>
                  <a:ea typeface="+mn-ea"/>
                  <a:cs typeface="+mn-ea"/>
                  <a:sym typeface="+mn-lt"/>
                </a:rPr>
                <a:t>02</a:t>
              </a:r>
              <a:endParaRPr kumimoji="0" lang="zh-CN" altLang="en-US" sz="3200" b="0" i="0" u="none" strike="noStrike" kern="1200" cap="none" spc="0" normalizeH="0" baseline="0" noProof="0" dirty="0">
                <a:ln>
                  <a:noFill/>
                </a:ln>
                <a:solidFill>
                  <a:srgbClr val="6C4C8F"/>
                </a:solidFill>
                <a:effectLst/>
                <a:uLnTx/>
                <a:uFillTx/>
                <a:latin typeface="+mn-lt"/>
                <a:ea typeface="+mn-ea"/>
                <a:cs typeface="+mn-ea"/>
                <a:sym typeface="+mn-lt"/>
              </a:endParaRPr>
            </a:p>
          </p:txBody>
        </p:sp>
        <p:sp>
          <p:nvSpPr>
            <p:cNvPr id="19" name="文本框 23"/>
            <p:cNvSpPr txBox="1">
              <a:spLocks noChangeArrowheads="1"/>
            </p:cNvSpPr>
            <p:nvPr/>
          </p:nvSpPr>
          <p:spPr bwMode="auto">
            <a:xfrm>
              <a:off x="6242320" y="2789112"/>
              <a:ext cx="589786" cy="21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grpSp>
        <p:nvGrpSpPr>
          <p:cNvPr id="20492" name="组合 48"/>
          <p:cNvGrpSpPr/>
          <p:nvPr/>
        </p:nvGrpSpPr>
        <p:grpSpPr>
          <a:xfrm>
            <a:off x="395288" y="3073400"/>
            <a:ext cx="590550" cy="620713"/>
            <a:chOff x="6242320" y="3640826"/>
            <a:chExt cx="589786" cy="620331"/>
          </a:xfrm>
        </p:grpSpPr>
        <p:sp>
          <p:nvSpPr>
            <p:cNvPr id="21" name="TextBox 6"/>
            <p:cNvSpPr txBox="1">
              <a:spLocks noChangeArrowheads="1"/>
            </p:cNvSpPr>
            <p:nvPr/>
          </p:nvSpPr>
          <p:spPr bwMode="auto">
            <a:xfrm>
              <a:off x="6327934" y="3640826"/>
              <a:ext cx="504172" cy="491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76AEDD"/>
                  </a:solidFill>
                  <a:effectLst/>
                  <a:uLnTx/>
                  <a:uFillTx/>
                  <a:latin typeface="+mn-lt"/>
                  <a:ea typeface="+mn-ea"/>
                  <a:cs typeface="+mn-ea"/>
                  <a:sym typeface="+mn-lt"/>
                </a:rPr>
                <a:t>03</a:t>
              </a:r>
              <a:endParaRPr kumimoji="0" lang="zh-CN" altLang="en-US" sz="3200" b="0" i="0" u="none" strike="noStrike" kern="1200" cap="none" spc="0" normalizeH="0" baseline="0" noProof="0" dirty="0">
                <a:ln>
                  <a:noFill/>
                </a:ln>
                <a:solidFill>
                  <a:srgbClr val="76AEDD"/>
                </a:solidFill>
                <a:effectLst/>
                <a:uLnTx/>
                <a:uFillTx/>
                <a:latin typeface="+mn-lt"/>
                <a:ea typeface="+mn-ea"/>
                <a:cs typeface="+mn-ea"/>
                <a:sym typeface="+mn-lt"/>
              </a:endParaRPr>
            </a:p>
          </p:txBody>
        </p:sp>
        <p:sp>
          <p:nvSpPr>
            <p:cNvPr id="22" name="文本框 24"/>
            <p:cNvSpPr txBox="1">
              <a:spLocks noChangeArrowheads="1"/>
            </p:cNvSpPr>
            <p:nvPr/>
          </p:nvSpPr>
          <p:spPr bwMode="auto">
            <a:xfrm>
              <a:off x="6242320" y="4045390"/>
              <a:ext cx="589786" cy="215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cxnSp>
        <p:nvCxnSpPr>
          <p:cNvPr id="6" name="直接连接符 5"/>
          <p:cNvCxnSpPr/>
          <p:nvPr/>
        </p:nvCxnSpPr>
        <p:spPr bwMode="auto">
          <a:xfrm>
            <a:off x="509588" y="1952625"/>
            <a:ext cx="8482013"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p:spPr>
      </p:cxnSp>
      <p:sp>
        <p:nvSpPr>
          <p:cNvPr id="25" name="Rectangle 1105"/>
          <p:cNvSpPr>
            <a:spLocks noChangeArrowheads="1"/>
          </p:cNvSpPr>
          <p:nvPr/>
        </p:nvSpPr>
        <p:spPr bwMode="auto">
          <a:xfrm>
            <a:off x="2489200" y="2201863"/>
            <a:ext cx="4494213"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与线性表相同，仍为</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一对一</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关系</a:t>
            </a:r>
          </a:p>
        </p:txBody>
      </p:sp>
      <p:sp>
        <p:nvSpPr>
          <p:cNvPr id="26" name="Rectangle 1106"/>
          <p:cNvSpPr>
            <a:spLocks noChangeArrowheads="1"/>
          </p:cNvSpPr>
          <p:nvPr/>
        </p:nvSpPr>
        <p:spPr bwMode="auto">
          <a:xfrm>
            <a:off x="2489200" y="3155950"/>
            <a:ext cx="63595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用</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顺序栈</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或</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链栈</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存储均可，但以顺序栈更常见</a:t>
            </a:r>
          </a:p>
        </p:txBody>
      </p:sp>
      <p:cxnSp>
        <p:nvCxnSpPr>
          <p:cNvPr id="27" name="直接连接符 26"/>
          <p:cNvCxnSpPr/>
          <p:nvPr/>
        </p:nvCxnSpPr>
        <p:spPr bwMode="auto">
          <a:xfrm>
            <a:off x="509588" y="2881313"/>
            <a:ext cx="8482013"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p:spPr>
      </p:cxnSp>
      <p:cxnSp>
        <p:nvCxnSpPr>
          <p:cNvPr id="28" name="直接连接符 27"/>
          <p:cNvCxnSpPr/>
          <p:nvPr/>
        </p:nvCxnSpPr>
        <p:spPr bwMode="auto">
          <a:xfrm>
            <a:off x="509588" y="3824288"/>
            <a:ext cx="8482013"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p:spPr>
      </p:cxnSp>
      <p:sp>
        <p:nvSpPr>
          <p:cNvPr id="37" name="矩形: 圆角 36"/>
          <p:cNvSpPr/>
          <p:nvPr/>
        </p:nvSpPr>
        <p:spPr bwMode="auto">
          <a:xfrm>
            <a:off x="390525" y="3916363"/>
            <a:ext cx="2098675" cy="660400"/>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38" name="Rectangle 1110"/>
          <p:cNvSpPr>
            <a:spLocks noChangeArrowheads="1"/>
          </p:cNvSpPr>
          <p:nvPr/>
        </p:nvSpPr>
        <p:spPr bwMode="auto">
          <a:xfrm>
            <a:off x="1011238" y="3979863"/>
            <a:ext cx="15017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lumMod val="65000"/>
                    <a:lumOff val="35000"/>
                  </a:srgbClr>
                </a:solidFill>
                <a:effectLst/>
                <a:uLnTx/>
                <a:uFillTx/>
                <a:latin typeface="+mn-lt"/>
                <a:ea typeface="+mn-ea"/>
                <a:cs typeface="+mn-ea"/>
                <a:sym typeface="+mn-lt"/>
              </a:rPr>
              <a:t>运算规则</a:t>
            </a:r>
          </a:p>
        </p:txBody>
      </p:sp>
      <p:grpSp>
        <p:nvGrpSpPr>
          <p:cNvPr id="20500" name="组合 48"/>
          <p:cNvGrpSpPr/>
          <p:nvPr/>
        </p:nvGrpSpPr>
        <p:grpSpPr>
          <a:xfrm>
            <a:off x="395288" y="3948113"/>
            <a:ext cx="590550" cy="620712"/>
            <a:chOff x="6242320" y="3640826"/>
            <a:chExt cx="589786" cy="620331"/>
          </a:xfrm>
        </p:grpSpPr>
        <p:sp>
          <p:nvSpPr>
            <p:cNvPr id="40" name="TextBox 6"/>
            <p:cNvSpPr txBox="1">
              <a:spLocks noChangeArrowheads="1"/>
            </p:cNvSpPr>
            <p:nvPr/>
          </p:nvSpPr>
          <p:spPr bwMode="auto">
            <a:xfrm>
              <a:off x="6327934" y="3640826"/>
              <a:ext cx="504172" cy="491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000000">
                      <a:lumMod val="65000"/>
                      <a:lumOff val="35000"/>
                    </a:srgbClr>
                  </a:solidFill>
                  <a:effectLst/>
                  <a:uLnTx/>
                  <a:uFillTx/>
                  <a:latin typeface="+mn-lt"/>
                  <a:ea typeface="+mn-ea"/>
                  <a:cs typeface="+mn-ea"/>
                  <a:sym typeface="+mn-lt"/>
                </a:rPr>
                <a:t>04</a:t>
              </a:r>
              <a:endParaRPr kumimoji="0" lang="zh-CN" altLang="en-US" sz="3200" b="0" i="0" u="none" strike="noStrike" kern="1200" cap="none" spc="0" normalizeH="0" baseline="0" noProof="0" dirty="0">
                <a:ln>
                  <a:noFill/>
                </a:ln>
                <a:solidFill>
                  <a:srgbClr val="000000">
                    <a:lumMod val="65000"/>
                    <a:lumOff val="35000"/>
                  </a:srgbClr>
                </a:solidFill>
                <a:effectLst/>
                <a:uLnTx/>
                <a:uFillTx/>
                <a:latin typeface="+mn-lt"/>
                <a:ea typeface="+mn-ea"/>
                <a:cs typeface="+mn-ea"/>
                <a:sym typeface="+mn-lt"/>
              </a:endParaRPr>
            </a:p>
          </p:txBody>
        </p:sp>
        <p:sp>
          <p:nvSpPr>
            <p:cNvPr id="41" name="文本框 24"/>
            <p:cNvSpPr txBox="1">
              <a:spLocks noChangeArrowheads="1"/>
            </p:cNvSpPr>
            <p:nvPr/>
          </p:nvSpPr>
          <p:spPr bwMode="auto">
            <a:xfrm>
              <a:off x="6242320" y="4045390"/>
              <a:ext cx="589786" cy="215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sp>
        <p:nvSpPr>
          <p:cNvPr id="42" name="Rectangle 1106"/>
          <p:cNvSpPr>
            <a:spLocks noChangeArrowheads="1"/>
          </p:cNvSpPr>
          <p:nvPr/>
        </p:nvSpPr>
        <p:spPr bwMode="auto">
          <a:xfrm>
            <a:off x="2489200" y="4029075"/>
            <a:ext cx="63595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只能在</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栈顶</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运算，且访问结点时依照</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后进先出</a:t>
            </a:r>
            <a:r>
              <a:rPr kumimoji="0" lang="zh-CN" altLang="en-US" sz="2400" b="0" i="0" u="none" strike="noStrike" kern="1200" cap="none" spc="0" normalizeH="0" baseline="0" noProof="0" dirty="0">
                <a:ln>
                  <a:noFill/>
                </a:ln>
                <a:solidFill>
                  <a:srgbClr val="6C4C8F"/>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6C4C8F"/>
                </a:solidFill>
                <a:effectLst/>
                <a:uLnTx/>
                <a:uFillTx/>
                <a:latin typeface="+mn-lt"/>
                <a:ea typeface="+mn-ea"/>
                <a:cs typeface="+mn-ea"/>
                <a:sym typeface="+mn-lt"/>
              </a:rPr>
              <a:t>LIFO</a:t>
            </a:r>
            <a:r>
              <a:rPr kumimoji="0" lang="zh-CN" altLang="en-US" sz="2400" b="0" i="0" u="none" strike="noStrike" kern="1200" cap="none" spc="0" normalizeH="0" baseline="0" noProof="0" dirty="0">
                <a:ln>
                  <a:noFill/>
                </a:ln>
                <a:solidFill>
                  <a:srgbClr val="6C4C8F"/>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或</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先进后出</a:t>
            </a:r>
            <a:r>
              <a:rPr kumimoji="0" lang="zh-CN" altLang="en-US" sz="2400" b="0" i="0" u="none" strike="noStrike" kern="1200" cap="none" spc="0" normalizeH="0" baseline="0" noProof="0" dirty="0">
                <a:ln>
                  <a:noFill/>
                </a:ln>
                <a:solidFill>
                  <a:srgbClr val="6C4C8F"/>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rgbClr val="6C4C8F"/>
                </a:solidFill>
                <a:effectLst/>
                <a:uLnTx/>
                <a:uFillTx/>
                <a:latin typeface="+mn-lt"/>
                <a:ea typeface="+mn-ea"/>
                <a:cs typeface="+mn-ea"/>
                <a:sym typeface="+mn-lt"/>
              </a:rPr>
              <a:t>FILO</a:t>
            </a:r>
            <a:r>
              <a:rPr kumimoji="0" lang="zh-CN" altLang="en-US" sz="2400" b="0" i="0" u="none" strike="noStrike" kern="1200" cap="none" spc="0" normalizeH="0" baseline="0" noProof="0" dirty="0">
                <a:ln>
                  <a:noFill/>
                </a:ln>
                <a:solidFill>
                  <a:srgbClr val="6C4C8F"/>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的原则</a:t>
            </a:r>
          </a:p>
        </p:txBody>
      </p:sp>
      <p:cxnSp>
        <p:nvCxnSpPr>
          <p:cNvPr id="43" name="直接连接符 42"/>
          <p:cNvCxnSpPr/>
          <p:nvPr/>
        </p:nvCxnSpPr>
        <p:spPr bwMode="auto">
          <a:xfrm>
            <a:off x="509588" y="4976813"/>
            <a:ext cx="8482013"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p:spPr>
      </p:cxnSp>
      <p:sp>
        <p:nvSpPr>
          <p:cNvPr id="44" name="矩形: 圆角 43"/>
          <p:cNvSpPr/>
          <p:nvPr/>
        </p:nvSpPr>
        <p:spPr bwMode="auto">
          <a:xfrm>
            <a:off x="390525" y="5156200"/>
            <a:ext cx="2098675" cy="660400"/>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45" name="Rectangle 1110"/>
          <p:cNvSpPr>
            <a:spLocks noChangeArrowheads="1"/>
          </p:cNvSpPr>
          <p:nvPr/>
        </p:nvSpPr>
        <p:spPr bwMode="auto">
          <a:xfrm>
            <a:off x="1011238" y="5219700"/>
            <a:ext cx="15017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dist"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FF9900"/>
                </a:solidFill>
                <a:effectLst/>
                <a:uLnTx/>
                <a:uFillTx/>
                <a:latin typeface="+mn-lt"/>
                <a:ea typeface="+mn-ea"/>
                <a:cs typeface="+mn-ea"/>
                <a:sym typeface="+mn-lt"/>
              </a:rPr>
              <a:t>实现方式</a:t>
            </a:r>
          </a:p>
        </p:txBody>
      </p:sp>
      <p:grpSp>
        <p:nvGrpSpPr>
          <p:cNvPr id="20505" name="组合 48"/>
          <p:cNvGrpSpPr/>
          <p:nvPr/>
        </p:nvGrpSpPr>
        <p:grpSpPr>
          <a:xfrm>
            <a:off x="395288" y="5187950"/>
            <a:ext cx="590550" cy="620713"/>
            <a:chOff x="6242320" y="3640826"/>
            <a:chExt cx="589786" cy="620331"/>
          </a:xfrm>
        </p:grpSpPr>
        <p:sp>
          <p:nvSpPr>
            <p:cNvPr id="47" name="TextBox 6"/>
            <p:cNvSpPr txBox="1">
              <a:spLocks noChangeArrowheads="1"/>
            </p:cNvSpPr>
            <p:nvPr/>
          </p:nvSpPr>
          <p:spPr bwMode="auto">
            <a:xfrm>
              <a:off x="6327934" y="3640826"/>
              <a:ext cx="504172" cy="491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9900"/>
                  </a:solidFill>
                  <a:effectLst/>
                  <a:uLnTx/>
                  <a:uFillTx/>
                  <a:latin typeface="+mn-lt"/>
                  <a:ea typeface="+mn-ea"/>
                  <a:cs typeface="+mn-ea"/>
                  <a:sym typeface="+mn-lt"/>
                </a:rPr>
                <a:t>05</a:t>
              </a:r>
              <a:endParaRPr kumimoji="0" lang="zh-CN" altLang="en-US" sz="3200" b="1" i="0" u="none" strike="noStrike" kern="1200" cap="none" spc="0" normalizeH="0" baseline="0" noProof="0" dirty="0">
                <a:ln>
                  <a:noFill/>
                </a:ln>
                <a:solidFill>
                  <a:srgbClr val="FF9900"/>
                </a:solidFill>
                <a:effectLst/>
                <a:uLnTx/>
                <a:uFillTx/>
                <a:latin typeface="+mn-lt"/>
                <a:ea typeface="+mn-ea"/>
                <a:cs typeface="+mn-ea"/>
                <a:sym typeface="+mn-lt"/>
              </a:endParaRPr>
            </a:p>
          </p:txBody>
        </p:sp>
        <p:sp>
          <p:nvSpPr>
            <p:cNvPr id="48" name="文本框 24"/>
            <p:cNvSpPr txBox="1">
              <a:spLocks noChangeArrowheads="1"/>
            </p:cNvSpPr>
            <p:nvPr/>
          </p:nvSpPr>
          <p:spPr bwMode="auto">
            <a:xfrm>
              <a:off x="6242320" y="4045390"/>
              <a:ext cx="589786" cy="215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800" b="1" i="0" u="none" strike="noStrike" kern="1200" cap="none" spc="0" normalizeH="0" baseline="0" noProof="0">
                  <a:ln>
                    <a:noFill/>
                  </a:ln>
                  <a:solidFill>
                    <a:srgbClr val="818181"/>
                  </a:solidFill>
                  <a:effectLst/>
                  <a:uLnTx/>
                  <a:uFillTx/>
                  <a:latin typeface="+mn-lt"/>
                  <a:ea typeface="+mn-ea"/>
                  <a:cs typeface="+mn-ea"/>
                  <a:sym typeface="+mn-lt"/>
                </a:rPr>
                <a:t>OPTION</a:t>
              </a:r>
              <a:endParaRPr kumimoji="0" lang="zh-CN" altLang="en-US" sz="800" b="1" i="0" u="none" strike="noStrike" kern="1200" cap="none" spc="0" normalizeH="0" baseline="0" noProof="0">
                <a:ln>
                  <a:noFill/>
                </a:ln>
                <a:solidFill>
                  <a:srgbClr val="818181"/>
                </a:solidFill>
                <a:effectLst/>
                <a:uLnTx/>
                <a:uFillTx/>
                <a:latin typeface="+mn-lt"/>
                <a:ea typeface="+mn-ea"/>
                <a:cs typeface="+mn-ea"/>
                <a:sym typeface="+mn-lt"/>
              </a:endParaRPr>
            </a:p>
          </p:txBody>
        </p:sp>
      </p:grpSp>
      <p:sp>
        <p:nvSpPr>
          <p:cNvPr id="49" name="Rectangle 1106"/>
          <p:cNvSpPr>
            <a:spLocks noChangeArrowheads="1"/>
          </p:cNvSpPr>
          <p:nvPr/>
        </p:nvSpPr>
        <p:spPr bwMode="auto">
          <a:xfrm>
            <a:off x="2489200" y="5157788"/>
            <a:ext cx="6502400" cy="163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ts val="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关键是编写</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入栈</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和</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出栈</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函数，具体实现依顺序栈或链栈的不同而不同</a:t>
            </a:r>
          </a:p>
          <a:p>
            <a:pPr marL="0" marR="0" lvl="0" indent="0" algn="l" defTabSz="914400" rtl="0" eaLnBrk="0" fontAlgn="base" latinLnBrk="0" hangingPunct="0">
              <a:lnSpc>
                <a:spcPct val="100000"/>
              </a:lnSpc>
              <a:spcBef>
                <a:spcPts val="0"/>
              </a:spcBef>
              <a:spcAft>
                <a:spcPct val="0"/>
              </a:spcAft>
              <a:buClrTx/>
              <a:buSzTx/>
              <a:buFontTx/>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基本操作有</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入栈、出栈、读栈顶元素值、建栈、判断栈满、栈空</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等</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noChangeArrowheads="1"/>
          </p:cNvSpPr>
          <p:nvPr>
            <p:ph type="title"/>
          </p:nvPr>
        </p:nvSpPr>
        <p:spPr>
          <a:xfrm>
            <a:off x="844550" y="236538"/>
            <a:ext cx="6400800" cy="45561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smtClean="0">
                <a:ln>
                  <a:noFill/>
                </a:ln>
                <a:solidFill>
                  <a:schemeClr val="bg1"/>
                </a:solidFill>
                <a:effectLst/>
                <a:uLnTx/>
                <a:uFillTx/>
                <a:latin typeface="+mn-lt"/>
                <a:ea typeface="+mn-ea"/>
                <a:cs typeface="+mn-ea"/>
                <a:sym typeface="+mn-lt"/>
              </a:rPr>
              <a:t>栈与</a:t>
            </a: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一般线性表的区别</a:t>
            </a:r>
          </a:p>
        </p:txBody>
      </p:sp>
      <p:sp>
        <p:nvSpPr>
          <p:cNvPr id="605186" name="Rectangle 2"/>
          <p:cNvSpPr>
            <a:spLocks noChangeArrowheads="1"/>
          </p:cNvSpPr>
          <p:nvPr/>
        </p:nvSpPr>
        <p:spPr bwMode="auto">
          <a:xfrm>
            <a:off x="393700" y="760413"/>
            <a:ext cx="8324850" cy="595313"/>
          </a:xfrm>
          <a:prstGeom prst="rect">
            <a:avLst/>
          </a:prstGeom>
          <a:noFill/>
          <a:ln w="9525">
            <a:noFill/>
            <a:miter lim="800000"/>
          </a:ln>
          <a:effec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mn-lt"/>
            </a:endParaRPr>
          </a:p>
        </p:txBody>
      </p:sp>
      <p:sp>
        <p:nvSpPr>
          <p:cNvPr id="23556" name="Rectangle 4"/>
          <p:cNvSpPr>
            <a:spLocks noChangeArrowheads="1"/>
          </p:cNvSpPr>
          <p:nvPr/>
        </p:nvSpPr>
        <p:spPr bwMode="auto">
          <a:xfrm>
            <a:off x="468313" y="1009650"/>
            <a:ext cx="8066088" cy="121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smtClean="0">
                <a:ln>
                  <a:noFill/>
                </a:ln>
                <a:solidFill>
                  <a:schemeClr val="tx1"/>
                </a:solidFill>
                <a:effectLst/>
                <a:uLnTx/>
                <a:uFillTx/>
                <a:latin typeface="+mn-lt"/>
                <a:ea typeface="+mn-ea"/>
                <a:cs typeface="+mn-ea"/>
                <a:sym typeface="+mn-lt"/>
              </a:rPr>
              <a:t>栈是</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一种特殊（</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操作受限</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）的线性表</a:t>
            </a:r>
          </a:p>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区别：仅在于</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运算规则</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不同</a:t>
            </a:r>
          </a:p>
        </p:txBody>
      </p:sp>
      <p:sp>
        <p:nvSpPr>
          <p:cNvPr id="23557" name="Rectangle 5"/>
          <p:cNvSpPr>
            <a:spLocks noChangeArrowheads="1"/>
          </p:cNvSpPr>
          <p:nvPr/>
        </p:nvSpPr>
        <p:spPr bwMode="auto">
          <a:xfrm>
            <a:off x="468313" y="2355850"/>
            <a:ext cx="8426450" cy="1966913"/>
          </a:xfrm>
          <a:prstGeom prst="rect">
            <a:avLst/>
          </a:prstGeom>
          <a:solidFill>
            <a:srgbClr val="D4E6F4"/>
          </a:solidFill>
          <a:ln w="38100">
            <a:no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一般线性表</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逻辑结构：一对一                     </a:t>
            </a:r>
          </a:p>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存储结构：顺序表、链表         </a:t>
            </a:r>
          </a:p>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运算规则：</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随机、顺序存取</a:t>
            </a:r>
          </a:p>
        </p:txBody>
      </p:sp>
      <p:sp>
        <p:nvSpPr>
          <p:cNvPr id="23558" name="Rectangle 9"/>
          <p:cNvSpPr>
            <a:spLocks noChangeArrowheads="1"/>
          </p:cNvSpPr>
          <p:nvPr/>
        </p:nvSpPr>
        <p:spPr bwMode="auto">
          <a:xfrm>
            <a:off x="463549" y="4545013"/>
            <a:ext cx="8431213" cy="2012859"/>
          </a:xfrm>
          <a:prstGeom prst="rect">
            <a:avLst/>
          </a:prstGeom>
          <a:solidFill>
            <a:srgbClr val="D4E6F4"/>
          </a:solidFill>
          <a:ln w="38100">
            <a:solidFill>
              <a:srgbClr val="CCCCFF"/>
            </a:solidFill>
            <a:miter lim="800000"/>
          </a:ln>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栈</a:t>
            </a:r>
          </a:p>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逻辑结构：一对一                     </a:t>
            </a:r>
          </a:p>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存储结构：顺序栈、链栈</a:t>
            </a:r>
          </a:p>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运算规则：</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后进先出</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750" y="3117215"/>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500188" y="3117215"/>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b="0" kern="1200" cap="none" spc="0" normalizeH="0" baseline="0" noProof="0" dirty="0">
                <a:solidFill>
                  <a:srgbClr val="FEFFFF"/>
                </a:solidFill>
                <a:latin typeface="+mn-lt"/>
                <a:ea typeface="+mn-ea"/>
                <a:cs typeface="+mn-ea"/>
                <a:sym typeface="+mn-lt"/>
              </a:rPr>
              <a:t>目录导航</a:t>
            </a:r>
          </a:p>
        </p:txBody>
      </p:sp>
      <p:sp>
        <p:nvSpPr>
          <p:cNvPr id="14" name="文本框 13"/>
          <p:cNvSpPr txBox="1"/>
          <p:nvPr/>
        </p:nvSpPr>
        <p:spPr>
          <a:xfrm>
            <a:off x="1619250" y="2471738"/>
            <a:ext cx="720725" cy="3969385"/>
          </a:xfrm>
          <a:prstGeom prst="rect">
            <a:avLst/>
          </a:prstGeom>
          <a:noFill/>
        </p:spPr>
        <p:txBody>
          <a:bodyPr>
            <a:spAutoFit/>
          </a:bodyPr>
          <a:lstStyle/>
          <a:p>
            <a:pPr marR="0" defTabSz="914400">
              <a:lnSpc>
                <a:spcPct val="150000"/>
              </a:lnSpc>
              <a:buClrTx/>
              <a:buSzTx/>
              <a:buFontTx/>
              <a:buNone/>
              <a:defRPr/>
            </a:pPr>
            <a:r>
              <a:rPr kumimoji="0" lang="en-US" altLang="zh-CN" b="0" kern="1200" cap="none" spc="0" normalizeH="0" baseline="0" noProof="0" dirty="0">
                <a:solidFill>
                  <a:schemeClr val="tx1"/>
                </a:solidFill>
                <a:latin typeface="+mn-lt"/>
                <a:ea typeface="+mn-ea"/>
                <a:cs typeface="+mn-ea"/>
                <a:sym typeface="+mn-lt"/>
              </a:rPr>
              <a:t>3.1</a:t>
            </a:r>
            <a:endParaRPr kumimoji="0" lang="zh-CN" altLang="en-US" b="0" kern="1200" cap="none" spc="0" normalizeH="0" baseline="0" noProof="0" dirty="0">
              <a:solidFill>
                <a:srgbClr val="FEFFFF"/>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chemeClr val="bg1"/>
                </a:solidFill>
                <a:latin typeface="+mn-lt"/>
                <a:ea typeface="+mn-ea"/>
                <a:cs typeface="+mn-ea"/>
                <a:sym typeface="+mn-lt"/>
              </a:rPr>
              <a:t>3.2</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3.3</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3.4</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3.5</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3.6</a:t>
            </a:r>
          </a:p>
          <a:p>
            <a:pPr marR="0" defTabSz="914400">
              <a:lnSpc>
                <a:spcPct val="150000"/>
              </a:lnSpc>
              <a:buClrTx/>
              <a:buSzTx/>
              <a:buFontTx/>
              <a:buNone/>
              <a:defRPr/>
            </a:pPr>
            <a:endParaRPr kumimoji="0" lang="en-US" altLang="zh-CN" b="0" kern="1200" cap="none" spc="0" normalizeH="0" baseline="0" noProof="0" dirty="0">
              <a:solidFill>
                <a:srgbClr val="000000">
                  <a:lumMod val="95000"/>
                  <a:lumOff val="5000"/>
                </a:srgbClr>
              </a:solidFill>
              <a:latin typeface="+mn-lt"/>
              <a:ea typeface="+mn-ea"/>
              <a:cs typeface="+mn-ea"/>
              <a:sym typeface="+mn-lt"/>
            </a:endParaRPr>
          </a:p>
        </p:txBody>
      </p:sp>
      <p:sp>
        <p:nvSpPr>
          <p:cNvPr id="15" name="文本框 14"/>
          <p:cNvSpPr txBox="1"/>
          <p:nvPr/>
        </p:nvSpPr>
        <p:spPr>
          <a:xfrm>
            <a:off x="2457450" y="2471738"/>
            <a:ext cx="4129088" cy="3416320"/>
          </a:xfrm>
          <a:prstGeom prst="rect">
            <a:avLst/>
          </a:prstGeom>
          <a:noFill/>
        </p:spPr>
        <p:txBody>
          <a:bodyPr>
            <a:spAutoFit/>
          </a:bodyPr>
          <a:lstStyle/>
          <a:p>
            <a:pPr marR="0" defTabSz="914400">
              <a:lnSpc>
                <a:spcPct val="150000"/>
              </a:lnSpc>
              <a:buClrTx/>
              <a:buSzTx/>
              <a:buFontTx/>
              <a:buNone/>
              <a:defRPr/>
            </a:pPr>
            <a:r>
              <a:rPr kumimoji="0" lang="zh-CN" altLang="en-US" b="0" kern="1200" cap="none" spc="0" normalizeH="0" baseline="0" noProof="0" dirty="0">
                <a:solidFill>
                  <a:schemeClr val="tx1"/>
                </a:solidFill>
                <a:latin typeface="+mn-lt"/>
                <a:ea typeface="+mn-ea"/>
                <a:cs typeface="+mn-ea"/>
                <a:sym typeface="+mn-lt"/>
              </a:rPr>
              <a:t>栈和队列的定义和特点</a:t>
            </a:r>
          </a:p>
          <a:p>
            <a:pPr marR="0" defTabSz="914400">
              <a:lnSpc>
                <a:spcPct val="150000"/>
              </a:lnSpc>
              <a:buClrTx/>
              <a:buSzTx/>
              <a:buFontTx/>
              <a:buNone/>
              <a:defRPr/>
            </a:pPr>
            <a:r>
              <a:rPr kumimoji="0" lang="zh-CN" altLang="en-US" b="0" kern="1200" cap="none" spc="0" normalizeH="0" baseline="0" noProof="0" dirty="0">
                <a:solidFill>
                  <a:schemeClr val="bg1"/>
                </a:solidFill>
                <a:latin typeface="+mn-lt"/>
                <a:ea typeface="+mn-ea"/>
                <a:cs typeface="+mn-ea"/>
                <a:sym typeface="+mn-lt"/>
              </a:rPr>
              <a:t>案例引入</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栈的表示和操作的实现</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栈与递归</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队列的的表示和操作的实现</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案例分析与</a:t>
            </a:r>
            <a:r>
              <a:rPr kumimoji="0" lang="zh-CN" altLang="en-US" b="0" kern="1200" cap="none" spc="0" normalizeH="0" baseline="0" noProof="0" dirty="0" smtClean="0">
                <a:solidFill>
                  <a:srgbClr val="000000">
                    <a:lumMod val="95000"/>
                    <a:lumOff val="5000"/>
                  </a:srgbClr>
                </a:solidFill>
                <a:latin typeface="+mn-lt"/>
                <a:ea typeface="+mn-ea"/>
                <a:cs typeface="+mn-ea"/>
                <a:sym typeface="+mn-lt"/>
              </a:rPr>
              <a:t>实现</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noChangeArrowheads="1"/>
          </p:cNvSpPr>
          <p:nvPr>
            <p:ph type="title"/>
          </p:nvPr>
        </p:nvSpPr>
        <p:spPr>
          <a:xfrm>
            <a:off x="844550" y="236538"/>
            <a:ext cx="6400800" cy="45561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0" cap="none" spc="0" normalizeH="0" baseline="0" noProof="0">
                <a:ln>
                  <a:noFill/>
                </a:ln>
                <a:solidFill>
                  <a:schemeClr val="bg1"/>
                </a:solidFill>
                <a:effectLst/>
                <a:uLnTx/>
                <a:uFillTx/>
                <a:latin typeface="+mn-lt"/>
                <a:ea typeface="+mn-ea"/>
                <a:cs typeface="+mn-ea"/>
                <a:sym typeface="+mn-lt"/>
              </a:rPr>
              <a:t>3.2 </a:t>
            </a: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案例引入</a:t>
            </a:r>
          </a:p>
        </p:txBody>
      </p:sp>
      <p:grpSp>
        <p:nvGrpSpPr>
          <p:cNvPr id="32771" name="组合 3"/>
          <p:cNvGrpSpPr/>
          <p:nvPr/>
        </p:nvGrpSpPr>
        <p:grpSpPr>
          <a:xfrm>
            <a:off x="274638" y="2244725"/>
            <a:ext cx="2690812" cy="2735263"/>
            <a:chOff x="1198662" y="1665926"/>
            <a:chExt cx="4286400" cy="4356156"/>
          </a:xfrm>
        </p:grpSpPr>
        <p:sp>
          <p:nvSpPr>
            <p:cNvPr id="15" name="泪滴形 24"/>
            <p:cNvSpPr/>
            <p:nvPr/>
          </p:nvSpPr>
          <p:spPr bwMode="auto">
            <a:xfrm rot="10800000" flipH="1">
              <a:off x="1428787" y="1944032"/>
              <a:ext cx="1770195" cy="1772296"/>
            </a:xfrm>
            <a:custGeom>
              <a:avLst/>
              <a:gdLst>
                <a:gd name="T0" fmla="*/ 679134 w 1680168"/>
                <a:gd name="T1" fmla="*/ 1503514 h 1680168"/>
                <a:gd name="T2" fmla="*/ 176653 w 1680168"/>
                <a:gd name="T3" fmla="*/ 1001034 h 1680168"/>
                <a:gd name="T4" fmla="*/ 679134 w 1680168"/>
                <a:gd name="T5" fmla="*/ 498554 h 1680168"/>
                <a:gd name="T6" fmla="*/ 1181615 w 1680168"/>
                <a:gd name="T7" fmla="*/ 1001034 h 1680168"/>
                <a:gd name="T8" fmla="*/ 679134 w 1680168"/>
                <a:gd name="T9" fmla="*/ 1503514 h 1680168"/>
                <a:gd name="T10" fmla="*/ 840084 w 1680168"/>
                <a:gd name="T11" fmla="*/ 1680168 h 1680168"/>
                <a:gd name="T12" fmla="*/ 1680168 w 1680168"/>
                <a:gd name="T13" fmla="*/ 840084 h 1680168"/>
                <a:gd name="T14" fmla="*/ 1680168 w 1680168"/>
                <a:gd name="T15" fmla="*/ 0 h 1680168"/>
                <a:gd name="T16" fmla="*/ 840084 w 1680168"/>
                <a:gd name="T17" fmla="*/ 0 h 1680168"/>
                <a:gd name="T18" fmla="*/ 0 w 1680168"/>
                <a:gd name="T19" fmla="*/ 840084 h 1680168"/>
                <a:gd name="T20" fmla="*/ 840084 w 1680168"/>
                <a:gd name="T21" fmla="*/ 1680168 h 1680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80168" h="1680168">
                  <a:moveTo>
                    <a:pt x="679134" y="1503514"/>
                  </a:moveTo>
                  <a:cubicBezTo>
                    <a:pt x="401621" y="1503514"/>
                    <a:pt x="176653" y="1278546"/>
                    <a:pt x="176653" y="1001034"/>
                  </a:cubicBezTo>
                  <a:cubicBezTo>
                    <a:pt x="176653" y="723522"/>
                    <a:pt x="401621" y="498554"/>
                    <a:pt x="679134" y="498554"/>
                  </a:cubicBezTo>
                  <a:cubicBezTo>
                    <a:pt x="956647" y="498554"/>
                    <a:pt x="1181615" y="723522"/>
                    <a:pt x="1181615" y="1001034"/>
                  </a:cubicBezTo>
                  <a:cubicBezTo>
                    <a:pt x="1181615" y="1278546"/>
                    <a:pt x="956647" y="1503514"/>
                    <a:pt x="679134" y="1503514"/>
                  </a:cubicBezTo>
                  <a:close/>
                  <a:moveTo>
                    <a:pt x="840084" y="1680168"/>
                  </a:moveTo>
                  <a:cubicBezTo>
                    <a:pt x="1304050" y="1680168"/>
                    <a:pt x="1680168" y="1304050"/>
                    <a:pt x="1680168" y="840084"/>
                  </a:cubicBezTo>
                  <a:lnTo>
                    <a:pt x="1680168" y="0"/>
                  </a:lnTo>
                  <a:lnTo>
                    <a:pt x="840084" y="0"/>
                  </a:lnTo>
                  <a:cubicBezTo>
                    <a:pt x="376118" y="0"/>
                    <a:pt x="0" y="376118"/>
                    <a:pt x="0" y="840084"/>
                  </a:cubicBezTo>
                  <a:cubicBezTo>
                    <a:pt x="0" y="1304050"/>
                    <a:pt x="376118" y="1680168"/>
                    <a:pt x="840084" y="1680168"/>
                  </a:cubicBezTo>
                  <a:close/>
                </a:path>
              </a:pathLst>
            </a:custGeom>
            <a:solidFill>
              <a:srgbClr val="65A5D9"/>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3" name="泪滴形 38"/>
            <p:cNvSpPr/>
            <p:nvPr/>
          </p:nvSpPr>
          <p:spPr bwMode="auto">
            <a:xfrm>
              <a:off x="1198662" y="3761837"/>
              <a:ext cx="1980089" cy="1982139"/>
            </a:xfrm>
            <a:custGeom>
              <a:avLst/>
              <a:gdLst>
                <a:gd name="T0" fmla="*/ 811275 w 1879944"/>
                <a:gd name="T1" fmla="*/ 455670 h 1880638"/>
                <a:gd name="T2" fmla="*/ 198108 w 1879944"/>
                <a:gd name="T3" fmla="*/ 1069063 h 1880638"/>
                <a:gd name="T4" fmla="*/ 811275 w 1879944"/>
                <a:gd name="T5" fmla="*/ 1682456 h 1880638"/>
                <a:gd name="T6" fmla="*/ 1424442 w 1879944"/>
                <a:gd name="T7" fmla="*/ 1069063 h 1880638"/>
                <a:gd name="T8" fmla="*/ 811275 w 1879944"/>
                <a:gd name="T9" fmla="*/ 455670 h 1880638"/>
                <a:gd name="T10" fmla="*/ 939973 w 1879944"/>
                <a:gd name="T11" fmla="*/ 0 h 1880638"/>
                <a:gd name="T12" fmla="*/ 1879944 w 1879944"/>
                <a:gd name="T13" fmla="*/ 0 h 1880638"/>
                <a:gd name="T14" fmla="*/ 1879944 w 1879944"/>
                <a:gd name="T15" fmla="*/ 940319 h 1880638"/>
                <a:gd name="T16" fmla="*/ 939972 w 1879944"/>
                <a:gd name="T17" fmla="*/ 1880638 h 1880638"/>
                <a:gd name="T18" fmla="*/ 0 w 1879944"/>
                <a:gd name="T19" fmla="*/ 940319 h 1880638"/>
                <a:gd name="T20" fmla="*/ 1 w 1879944"/>
                <a:gd name="T21" fmla="*/ 940319 h 1880638"/>
                <a:gd name="T22" fmla="*/ 939973 w 1879944"/>
                <a:gd name="T23" fmla="*/ 0 h 1880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9944" h="1880638">
                  <a:moveTo>
                    <a:pt x="811275" y="455670"/>
                  </a:moveTo>
                  <a:cubicBezTo>
                    <a:pt x="472632" y="455670"/>
                    <a:pt x="198108" y="730295"/>
                    <a:pt x="198108" y="1069063"/>
                  </a:cubicBezTo>
                  <a:cubicBezTo>
                    <a:pt x="198108" y="1407831"/>
                    <a:pt x="472632" y="1682456"/>
                    <a:pt x="811275" y="1682456"/>
                  </a:cubicBezTo>
                  <a:cubicBezTo>
                    <a:pt x="1149918" y="1682456"/>
                    <a:pt x="1424442" y="1407831"/>
                    <a:pt x="1424442" y="1069063"/>
                  </a:cubicBezTo>
                  <a:cubicBezTo>
                    <a:pt x="1424442" y="730295"/>
                    <a:pt x="1149918" y="455670"/>
                    <a:pt x="811275" y="455670"/>
                  </a:cubicBezTo>
                  <a:close/>
                  <a:moveTo>
                    <a:pt x="939973" y="0"/>
                  </a:moveTo>
                  <a:lnTo>
                    <a:pt x="1879944" y="0"/>
                  </a:lnTo>
                  <a:lnTo>
                    <a:pt x="1879944" y="940319"/>
                  </a:lnTo>
                  <a:cubicBezTo>
                    <a:pt x="1879944" y="1459643"/>
                    <a:pt x="1459104" y="1880638"/>
                    <a:pt x="939972" y="1880638"/>
                  </a:cubicBezTo>
                  <a:cubicBezTo>
                    <a:pt x="420840" y="1880638"/>
                    <a:pt x="0" y="1459643"/>
                    <a:pt x="0" y="940319"/>
                  </a:cubicBezTo>
                  <a:lnTo>
                    <a:pt x="1" y="940319"/>
                  </a:lnTo>
                  <a:cubicBezTo>
                    <a:pt x="1" y="420995"/>
                    <a:pt x="420841" y="0"/>
                    <a:pt x="939973" y="0"/>
                  </a:cubicBezTo>
                  <a:close/>
                </a:path>
              </a:pathLst>
            </a:custGeom>
            <a:solidFill>
              <a:srgbClr val="6C4C8F"/>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1" name="泪滴形 34"/>
            <p:cNvSpPr/>
            <p:nvPr/>
          </p:nvSpPr>
          <p:spPr bwMode="auto">
            <a:xfrm rot="16200000" flipH="1">
              <a:off x="3224518" y="1665678"/>
              <a:ext cx="2050402" cy="2050898"/>
            </a:xfrm>
            <a:custGeom>
              <a:avLst/>
              <a:gdLst>
                <a:gd name="T0" fmla="*/ 205247 w 1947680"/>
                <a:gd name="T1" fmla="*/ 1146936 h 1946960"/>
                <a:gd name="T2" fmla="*/ 800320 w 1947680"/>
                <a:gd name="T3" fmla="*/ 552082 h 1946960"/>
                <a:gd name="T4" fmla="*/ 1395393 w 1947680"/>
                <a:gd name="T5" fmla="*/ 1146936 h 1946960"/>
                <a:gd name="T6" fmla="*/ 800320 w 1947680"/>
                <a:gd name="T7" fmla="*/ 1741790 h 1946960"/>
                <a:gd name="T8" fmla="*/ 205247 w 1947680"/>
                <a:gd name="T9" fmla="*/ 1146936 h 1946960"/>
                <a:gd name="T10" fmla="*/ 0 w 1947680"/>
                <a:gd name="T11" fmla="*/ 973480 h 1946960"/>
                <a:gd name="T12" fmla="*/ 973840 w 1947680"/>
                <a:gd name="T13" fmla="*/ 1946960 h 1946960"/>
                <a:gd name="T14" fmla="*/ 1947680 w 1947680"/>
                <a:gd name="T15" fmla="*/ 973480 h 1946960"/>
                <a:gd name="T16" fmla="*/ 1947680 w 1947680"/>
                <a:gd name="T17" fmla="*/ 0 h 1946960"/>
                <a:gd name="T18" fmla="*/ 973841 w 1947680"/>
                <a:gd name="T19" fmla="*/ 0 h 1946960"/>
                <a:gd name="T20" fmla="*/ 1 w 1947680"/>
                <a:gd name="T21" fmla="*/ 973480 h 1946960"/>
                <a:gd name="T22" fmla="*/ 0 w 1947680"/>
                <a:gd name="T23" fmla="*/ 973480 h 1946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7680" h="1946960">
                  <a:moveTo>
                    <a:pt x="205247" y="1146936"/>
                  </a:moveTo>
                  <a:cubicBezTo>
                    <a:pt x="205247" y="818407"/>
                    <a:pt x="471670" y="552082"/>
                    <a:pt x="800320" y="552082"/>
                  </a:cubicBezTo>
                  <a:cubicBezTo>
                    <a:pt x="1128970" y="552082"/>
                    <a:pt x="1395393" y="818407"/>
                    <a:pt x="1395393" y="1146936"/>
                  </a:cubicBezTo>
                  <a:cubicBezTo>
                    <a:pt x="1395393" y="1475465"/>
                    <a:pt x="1128970" y="1741790"/>
                    <a:pt x="800320" y="1741790"/>
                  </a:cubicBezTo>
                  <a:cubicBezTo>
                    <a:pt x="471670" y="1741790"/>
                    <a:pt x="205247" y="1475465"/>
                    <a:pt x="205247" y="1146936"/>
                  </a:cubicBezTo>
                  <a:close/>
                  <a:moveTo>
                    <a:pt x="0" y="973480"/>
                  </a:moveTo>
                  <a:cubicBezTo>
                    <a:pt x="0" y="1511118"/>
                    <a:pt x="436003" y="1946960"/>
                    <a:pt x="973840" y="1946960"/>
                  </a:cubicBezTo>
                  <a:cubicBezTo>
                    <a:pt x="1511677" y="1946960"/>
                    <a:pt x="1947680" y="1511118"/>
                    <a:pt x="1947680" y="973480"/>
                  </a:cubicBezTo>
                  <a:lnTo>
                    <a:pt x="1947680" y="0"/>
                  </a:lnTo>
                  <a:lnTo>
                    <a:pt x="973841" y="0"/>
                  </a:lnTo>
                  <a:cubicBezTo>
                    <a:pt x="436004" y="0"/>
                    <a:pt x="1" y="435842"/>
                    <a:pt x="1" y="973480"/>
                  </a:cubicBezTo>
                  <a:lnTo>
                    <a:pt x="0" y="973480"/>
                  </a:lnTo>
                  <a:close/>
                </a:path>
              </a:pathLst>
            </a:custGeom>
            <a:solidFill>
              <a:schemeClr val="tx1">
                <a:lumMod val="50000"/>
                <a:lumOff val="50000"/>
              </a:schemeClr>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9" name="泪滴形 36"/>
            <p:cNvSpPr/>
            <p:nvPr/>
          </p:nvSpPr>
          <p:spPr bwMode="auto">
            <a:xfrm flipH="1">
              <a:off x="3224270" y="3761837"/>
              <a:ext cx="2260792" cy="2260245"/>
            </a:xfrm>
            <a:custGeom>
              <a:avLst/>
              <a:gdLst>
                <a:gd name="T0" fmla="*/ 875297 w 2146050"/>
                <a:gd name="T1" fmla="*/ 621837 h 2146844"/>
                <a:gd name="T2" fmla="*/ 1524443 w 2146050"/>
                <a:gd name="T3" fmla="*/ 1271223 h 2146844"/>
                <a:gd name="T4" fmla="*/ 875297 w 2146050"/>
                <a:gd name="T5" fmla="*/ 1920609 h 2146844"/>
                <a:gd name="T6" fmla="*/ 226151 w 2146050"/>
                <a:gd name="T7" fmla="*/ 1271223 h 2146844"/>
                <a:gd name="T8" fmla="*/ 875297 w 2146050"/>
                <a:gd name="T9" fmla="*/ 621837 h 2146844"/>
                <a:gd name="T10" fmla="*/ 2146050 w 2146050"/>
                <a:gd name="T11" fmla="*/ 0 h 2146844"/>
                <a:gd name="T12" fmla="*/ 1073025 w 2146050"/>
                <a:gd name="T13" fmla="*/ 0 h 2146844"/>
                <a:gd name="T14" fmla="*/ 0 w 2146050"/>
                <a:gd name="T15" fmla="*/ 1073422 h 2146844"/>
                <a:gd name="T16" fmla="*/ 1073025 w 2146050"/>
                <a:gd name="T17" fmla="*/ 2146844 h 2146844"/>
                <a:gd name="T18" fmla="*/ 2146050 w 2146050"/>
                <a:gd name="T19" fmla="*/ 1073422 h 2146844"/>
                <a:gd name="T20" fmla="*/ 2146050 w 2146050"/>
                <a:gd name="T21" fmla="*/ 0 h 2146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6050" h="2146844">
                  <a:moveTo>
                    <a:pt x="875297" y="621837"/>
                  </a:moveTo>
                  <a:cubicBezTo>
                    <a:pt x="1233810" y="621837"/>
                    <a:pt x="1524443" y="912577"/>
                    <a:pt x="1524443" y="1271223"/>
                  </a:cubicBezTo>
                  <a:cubicBezTo>
                    <a:pt x="1524443" y="1629869"/>
                    <a:pt x="1233810" y="1920609"/>
                    <a:pt x="875297" y="1920609"/>
                  </a:cubicBezTo>
                  <a:cubicBezTo>
                    <a:pt x="516784" y="1920609"/>
                    <a:pt x="226151" y="1629869"/>
                    <a:pt x="226151" y="1271223"/>
                  </a:cubicBezTo>
                  <a:cubicBezTo>
                    <a:pt x="226151" y="912577"/>
                    <a:pt x="516784" y="621837"/>
                    <a:pt x="875297" y="621837"/>
                  </a:cubicBezTo>
                  <a:close/>
                  <a:moveTo>
                    <a:pt x="2146050" y="0"/>
                  </a:moveTo>
                  <a:lnTo>
                    <a:pt x="1073025" y="0"/>
                  </a:lnTo>
                  <a:cubicBezTo>
                    <a:pt x="480410" y="0"/>
                    <a:pt x="0" y="480587"/>
                    <a:pt x="0" y="1073422"/>
                  </a:cubicBezTo>
                  <a:cubicBezTo>
                    <a:pt x="0" y="1666257"/>
                    <a:pt x="480410" y="2146844"/>
                    <a:pt x="1073025" y="2146844"/>
                  </a:cubicBezTo>
                  <a:cubicBezTo>
                    <a:pt x="1665640" y="2146844"/>
                    <a:pt x="2146050" y="1666257"/>
                    <a:pt x="2146050" y="1073422"/>
                  </a:cubicBezTo>
                  <a:lnTo>
                    <a:pt x="2146050" y="0"/>
                  </a:lnTo>
                  <a:close/>
                </a:path>
              </a:pathLst>
            </a:custGeom>
            <a:solidFill>
              <a:srgbClr val="9476B6"/>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rgbClr val="9476B6"/>
                </a:solidFill>
                <a:effectLst/>
                <a:uLnTx/>
                <a:uFillTx/>
                <a:latin typeface="+mn-lt"/>
                <a:ea typeface="+mn-ea"/>
                <a:cs typeface="+mn-ea"/>
                <a:sym typeface="+mn-lt"/>
              </a:endParaRPr>
            </a:p>
          </p:txBody>
        </p:sp>
      </p:grpSp>
      <p:grpSp>
        <p:nvGrpSpPr>
          <p:cNvPr id="32772" name="组合 16"/>
          <p:cNvGrpSpPr/>
          <p:nvPr/>
        </p:nvGrpSpPr>
        <p:grpSpPr>
          <a:xfrm>
            <a:off x="3654425" y="2024063"/>
            <a:ext cx="657225" cy="663575"/>
            <a:chOff x="4929188" y="1303338"/>
            <a:chExt cx="501650" cy="506412"/>
          </a:xfrm>
        </p:grpSpPr>
        <p:sp>
          <p:nvSpPr>
            <p:cNvPr id="18" name="Freeform 6"/>
            <p:cNvSpPr/>
            <p:nvPr/>
          </p:nvSpPr>
          <p:spPr bwMode="auto">
            <a:xfrm>
              <a:off x="4929188" y="1303338"/>
              <a:ext cx="501650" cy="506412"/>
            </a:xfrm>
            <a:custGeom>
              <a:avLst/>
              <a:gdLst>
                <a:gd name="T0" fmla="*/ 134 w 134"/>
                <a:gd name="T1" fmla="*/ 36 h 135"/>
                <a:gd name="T2" fmla="*/ 134 w 134"/>
                <a:gd name="T3" fmla="*/ 98 h 135"/>
                <a:gd name="T4" fmla="*/ 98 w 134"/>
                <a:gd name="T5" fmla="*/ 135 h 135"/>
                <a:gd name="T6" fmla="*/ 36 w 134"/>
                <a:gd name="T7" fmla="*/ 135 h 135"/>
                <a:gd name="T8" fmla="*/ 0 w 134"/>
                <a:gd name="T9" fmla="*/ 98 h 135"/>
                <a:gd name="T10" fmla="*/ 0 w 134"/>
                <a:gd name="T11" fmla="*/ 36 h 135"/>
                <a:gd name="T12" fmla="*/ 36 w 134"/>
                <a:gd name="T13" fmla="*/ 0 h 135"/>
                <a:gd name="T14" fmla="*/ 134 w 134"/>
                <a:gd name="T15" fmla="*/ 0 h 135"/>
                <a:gd name="T16" fmla="*/ 134 w 134"/>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135">
                  <a:moveTo>
                    <a:pt x="134" y="36"/>
                  </a:moveTo>
                  <a:cubicBezTo>
                    <a:pt x="134" y="98"/>
                    <a:pt x="134" y="98"/>
                    <a:pt x="134" y="98"/>
                  </a:cubicBezTo>
                  <a:cubicBezTo>
                    <a:pt x="134" y="118"/>
                    <a:pt x="118" y="135"/>
                    <a:pt x="98" y="135"/>
                  </a:cubicBezTo>
                  <a:cubicBezTo>
                    <a:pt x="36" y="135"/>
                    <a:pt x="36" y="135"/>
                    <a:pt x="36" y="135"/>
                  </a:cubicBezTo>
                  <a:cubicBezTo>
                    <a:pt x="16" y="135"/>
                    <a:pt x="0" y="118"/>
                    <a:pt x="0" y="98"/>
                  </a:cubicBezTo>
                  <a:cubicBezTo>
                    <a:pt x="0" y="36"/>
                    <a:pt x="0" y="36"/>
                    <a:pt x="0" y="36"/>
                  </a:cubicBezTo>
                  <a:cubicBezTo>
                    <a:pt x="0" y="16"/>
                    <a:pt x="16" y="0"/>
                    <a:pt x="36" y="0"/>
                  </a:cubicBezTo>
                  <a:cubicBezTo>
                    <a:pt x="134" y="0"/>
                    <a:pt x="134" y="0"/>
                    <a:pt x="134" y="0"/>
                  </a:cubicBezTo>
                  <a:lnTo>
                    <a:pt x="134" y="36"/>
                  </a:lnTo>
                  <a:close/>
                </a:path>
              </a:pathLst>
            </a:custGeom>
            <a:solidFill>
              <a:srgbClr val="65A5D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19" name="Freeform 7"/>
            <p:cNvSpPr/>
            <p:nvPr/>
          </p:nvSpPr>
          <p:spPr bwMode="auto">
            <a:xfrm>
              <a:off x="4995833" y="1359068"/>
              <a:ext cx="371996" cy="205957"/>
            </a:xfrm>
            <a:custGeom>
              <a:avLst/>
              <a:gdLst>
                <a:gd name="T0" fmla="*/ 97 w 99"/>
                <a:gd name="T1" fmla="*/ 44 h 55"/>
                <a:gd name="T2" fmla="*/ 50 w 99"/>
                <a:gd name="T3" fmla="*/ 0 h 55"/>
                <a:gd name="T4" fmla="*/ 3 w 99"/>
                <a:gd name="T5" fmla="*/ 44 h 55"/>
                <a:gd name="T6" fmla="*/ 3 w 99"/>
                <a:gd name="T7" fmla="*/ 53 h 55"/>
                <a:gd name="T8" fmla="*/ 8 w 99"/>
                <a:gd name="T9" fmla="*/ 55 h 55"/>
                <a:gd name="T10" fmla="*/ 12 w 99"/>
                <a:gd name="T11" fmla="*/ 53 h 55"/>
                <a:gd name="T12" fmla="*/ 50 w 99"/>
                <a:gd name="T13" fmla="*/ 18 h 55"/>
                <a:gd name="T14" fmla="*/ 87 w 99"/>
                <a:gd name="T15" fmla="*/ 53 h 55"/>
                <a:gd name="T16" fmla="*/ 92 w 99"/>
                <a:gd name="T17" fmla="*/ 55 h 55"/>
                <a:gd name="T18" fmla="*/ 97 w 99"/>
                <a:gd name="T19" fmla="*/ 53 h 55"/>
                <a:gd name="T20" fmla="*/ 97 w 99"/>
                <a:gd name="T21" fmla="*/ 44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55">
                  <a:moveTo>
                    <a:pt x="97" y="44"/>
                  </a:moveTo>
                  <a:cubicBezTo>
                    <a:pt x="50" y="0"/>
                    <a:pt x="50" y="0"/>
                    <a:pt x="50" y="0"/>
                  </a:cubicBezTo>
                  <a:cubicBezTo>
                    <a:pt x="3" y="44"/>
                    <a:pt x="3" y="44"/>
                    <a:pt x="3" y="44"/>
                  </a:cubicBezTo>
                  <a:cubicBezTo>
                    <a:pt x="1" y="46"/>
                    <a:pt x="0" y="50"/>
                    <a:pt x="3" y="53"/>
                  </a:cubicBezTo>
                  <a:cubicBezTo>
                    <a:pt x="4" y="54"/>
                    <a:pt x="6" y="55"/>
                    <a:pt x="8" y="55"/>
                  </a:cubicBezTo>
                  <a:cubicBezTo>
                    <a:pt x="9" y="55"/>
                    <a:pt x="11" y="54"/>
                    <a:pt x="12" y="53"/>
                  </a:cubicBezTo>
                  <a:cubicBezTo>
                    <a:pt x="50" y="18"/>
                    <a:pt x="50" y="18"/>
                    <a:pt x="50" y="18"/>
                  </a:cubicBezTo>
                  <a:cubicBezTo>
                    <a:pt x="87" y="53"/>
                    <a:pt x="87" y="53"/>
                    <a:pt x="87" y="53"/>
                  </a:cubicBezTo>
                  <a:cubicBezTo>
                    <a:pt x="89" y="54"/>
                    <a:pt x="90" y="55"/>
                    <a:pt x="92" y="55"/>
                  </a:cubicBezTo>
                  <a:cubicBezTo>
                    <a:pt x="94" y="55"/>
                    <a:pt x="96" y="54"/>
                    <a:pt x="97" y="53"/>
                  </a:cubicBezTo>
                  <a:cubicBezTo>
                    <a:pt x="99" y="50"/>
                    <a:pt x="99" y="46"/>
                    <a:pt x="97" y="44"/>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20" name="Freeform 8"/>
            <p:cNvSpPr/>
            <p:nvPr/>
          </p:nvSpPr>
          <p:spPr bwMode="auto">
            <a:xfrm>
              <a:off x="5056418" y="1446296"/>
              <a:ext cx="255671" cy="265321"/>
            </a:xfrm>
            <a:custGeom>
              <a:avLst/>
              <a:gdLst>
                <a:gd name="T0" fmla="*/ 0 w 68"/>
                <a:gd name="T1" fmla="*/ 32 h 71"/>
                <a:gd name="T2" fmla="*/ 0 w 68"/>
                <a:gd name="T3" fmla="*/ 68 h 71"/>
                <a:gd name="T4" fmla="*/ 5 w 68"/>
                <a:gd name="T5" fmla="*/ 71 h 71"/>
                <a:gd name="T6" fmla="*/ 22 w 68"/>
                <a:gd name="T7" fmla="*/ 71 h 71"/>
                <a:gd name="T8" fmla="*/ 22 w 68"/>
                <a:gd name="T9" fmla="*/ 44 h 71"/>
                <a:gd name="T10" fmla="*/ 46 w 68"/>
                <a:gd name="T11" fmla="*/ 44 h 71"/>
                <a:gd name="T12" fmla="*/ 46 w 68"/>
                <a:gd name="T13" fmla="*/ 71 h 71"/>
                <a:gd name="T14" fmla="*/ 63 w 68"/>
                <a:gd name="T15" fmla="*/ 71 h 71"/>
                <a:gd name="T16" fmla="*/ 68 w 68"/>
                <a:gd name="T17" fmla="*/ 68 h 71"/>
                <a:gd name="T18" fmla="*/ 68 w 68"/>
                <a:gd name="T19" fmla="*/ 32 h 71"/>
                <a:gd name="T20" fmla="*/ 34 w 68"/>
                <a:gd name="T21" fmla="*/ 0 h 71"/>
                <a:gd name="T22" fmla="*/ 0 w 68"/>
                <a:gd name="T23"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8" h="71">
                  <a:moveTo>
                    <a:pt x="0" y="32"/>
                  </a:moveTo>
                  <a:cubicBezTo>
                    <a:pt x="0" y="68"/>
                    <a:pt x="0" y="68"/>
                    <a:pt x="0" y="68"/>
                  </a:cubicBezTo>
                  <a:cubicBezTo>
                    <a:pt x="0" y="70"/>
                    <a:pt x="2" y="71"/>
                    <a:pt x="5" y="71"/>
                  </a:cubicBezTo>
                  <a:cubicBezTo>
                    <a:pt x="22" y="71"/>
                    <a:pt x="22" y="71"/>
                    <a:pt x="22" y="71"/>
                  </a:cubicBezTo>
                  <a:cubicBezTo>
                    <a:pt x="22" y="44"/>
                    <a:pt x="22" y="44"/>
                    <a:pt x="22" y="44"/>
                  </a:cubicBezTo>
                  <a:cubicBezTo>
                    <a:pt x="46" y="44"/>
                    <a:pt x="46" y="44"/>
                    <a:pt x="46" y="44"/>
                  </a:cubicBezTo>
                  <a:cubicBezTo>
                    <a:pt x="46" y="71"/>
                    <a:pt x="46" y="71"/>
                    <a:pt x="46" y="71"/>
                  </a:cubicBezTo>
                  <a:cubicBezTo>
                    <a:pt x="63" y="71"/>
                    <a:pt x="63" y="71"/>
                    <a:pt x="63" y="71"/>
                  </a:cubicBezTo>
                  <a:cubicBezTo>
                    <a:pt x="66" y="71"/>
                    <a:pt x="68" y="70"/>
                    <a:pt x="68" y="68"/>
                  </a:cubicBezTo>
                  <a:cubicBezTo>
                    <a:pt x="68" y="32"/>
                    <a:pt x="68" y="32"/>
                    <a:pt x="68" y="32"/>
                  </a:cubicBezTo>
                  <a:cubicBezTo>
                    <a:pt x="34" y="0"/>
                    <a:pt x="34" y="0"/>
                    <a:pt x="34" y="0"/>
                  </a:cubicBezTo>
                  <a:lnTo>
                    <a:pt x="0" y="32"/>
                  </a:ln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grpSp>
      <p:grpSp>
        <p:nvGrpSpPr>
          <p:cNvPr id="32773" name="组合 20"/>
          <p:cNvGrpSpPr/>
          <p:nvPr/>
        </p:nvGrpSpPr>
        <p:grpSpPr>
          <a:xfrm>
            <a:off x="3648075" y="3009900"/>
            <a:ext cx="663575" cy="661988"/>
            <a:chOff x="1339850" y="2163763"/>
            <a:chExt cx="506413" cy="506412"/>
          </a:xfrm>
        </p:grpSpPr>
        <p:sp>
          <p:nvSpPr>
            <p:cNvPr id="22" name="Freeform 13"/>
            <p:cNvSpPr/>
            <p:nvPr/>
          </p:nvSpPr>
          <p:spPr bwMode="auto">
            <a:xfrm>
              <a:off x="1339850" y="2163763"/>
              <a:ext cx="506413" cy="506412"/>
            </a:xfrm>
            <a:custGeom>
              <a:avLst/>
              <a:gdLst>
                <a:gd name="T0" fmla="*/ 135 w 135"/>
                <a:gd name="T1" fmla="*/ 36 h 135"/>
                <a:gd name="T2" fmla="*/ 135 w 135"/>
                <a:gd name="T3" fmla="*/ 98 h 135"/>
                <a:gd name="T4" fmla="*/ 98 w 135"/>
                <a:gd name="T5" fmla="*/ 135 h 135"/>
                <a:gd name="T6" fmla="*/ 37 w 135"/>
                <a:gd name="T7" fmla="*/ 135 h 135"/>
                <a:gd name="T8" fmla="*/ 0 w 135"/>
                <a:gd name="T9" fmla="*/ 98 h 135"/>
                <a:gd name="T10" fmla="*/ 0 w 135"/>
                <a:gd name="T11" fmla="*/ 36 h 135"/>
                <a:gd name="T12" fmla="*/ 37 w 135"/>
                <a:gd name="T13" fmla="*/ 0 h 135"/>
                <a:gd name="T14" fmla="*/ 135 w 135"/>
                <a:gd name="T15" fmla="*/ 0 h 135"/>
                <a:gd name="T16" fmla="*/ 135 w 135"/>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 h="135">
                  <a:moveTo>
                    <a:pt x="135" y="36"/>
                  </a:moveTo>
                  <a:cubicBezTo>
                    <a:pt x="135" y="98"/>
                    <a:pt x="135" y="98"/>
                    <a:pt x="135" y="98"/>
                  </a:cubicBezTo>
                  <a:cubicBezTo>
                    <a:pt x="135" y="118"/>
                    <a:pt x="118" y="135"/>
                    <a:pt x="98" y="135"/>
                  </a:cubicBezTo>
                  <a:cubicBezTo>
                    <a:pt x="37" y="135"/>
                    <a:pt x="37" y="135"/>
                    <a:pt x="37" y="135"/>
                  </a:cubicBezTo>
                  <a:cubicBezTo>
                    <a:pt x="16" y="135"/>
                    <a:pt x="0" y="118"/>
                    <a:pt x="0" y="98"/>
                  </a:cubicBezTo>
                  <a:cubicBezTo>
                    <a:pt x="0" y="36"/>
                    <a:pt x="0" y="36"/>
                    <a:pt x="0" y="36"/>
                  </a:cubicBezTo>
                  <a:cubicBezTo>
                    <a:pt x="0" y="16"/>
                    <a:pt x="16" y="0"/>
                    <a:pt x="37" y="0"/>
                  </a:cubicBezTo>
                  <a:cubicBezTo>
                    <a:pt x="135" y="0"/>
                    <a:pt x="135" y="0"/>
                    <a:pt x="135" y="0"/>
                  </a:cubicBezTo>
                  <a:lnTo>
                    <a:pt x="135" y="36"/>
                  </a:lnTo>
                  <a:close/>
                </a:path>
              </a:pathLst>
            </a:custGeom>
            <a:solidFill>
              <a:schemeClr val="tx1">
                <a:lumMod val="50000"/>
                <a:lumOff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23" name="Freeform 14"/>
            <p:cNvSpPr/>
            <p:nvPr/>
          </p:nvSpPr>
          <p:spPr bwMode="auto">
            <a:xfrm>
              <a:off x="1499770" y="2276704"/>
              <a:ext cx="176881" cy="104440"/>
            </a:xfrm>
            <a:custGeom>
              <a:avLst/>
              <a:gdLst>
                <a:gd name="T0" fmla="*/ 111 w 111"/>
                <a:gd name="T1" fmla="*/ 0 h 66"/>
                <a:gd name="T2" fmla="*/ 55 w 111"/>
                <a:gd name="T3" fmla="*/ 0 h 66"/>
                <a:gd name="T4" fmla="*/ 55 w 111"/>
                <a:gd name="T5" fmla="*/ 54 h 66"/>
                <a:gd name="T6" fmla="*/ 14 w 111"/>
                <a:gd name="T7" fmla="*/ 54 h 66"/>
                <a:gd name="T8" fmla="*/ 14 w 111"/>
                <a:gd name="T9" fmla="*/ 0 h 66"/>
                <a:gd name="T10" fmla="*/ 0 w 111"/>
                <a:gd name="T11" fmla="*/ 0 h 66"/>
                <a:gd name="T12" fmla="*/ 0 w 111"/>
                <a:gd name="T13" fmla="*/ 66 h 66"/>
                <a:gd name="T14" fmla="*/ 111 w 111"/>
                <a:gd name="T15" fmla="*/ 66 h 66"/>
                <a:gd name="T16" fmla="*/ 111 w 111"/>
                <a:gd name="T17"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66">
                  <a:moveTo>
                    <a:pt x="111" y="0"/>
                  </a:moveTo>
                  <a:lnTo>
                    <a:pt x="55" y="0"/>
                  </a:lnTo>
                  <a:lnTo>
                    <a:pt x="55" y="54"/>
                  </a:lnTo>
                  <a:lnTo>
                    <a:pt x="14" y="54"/>
                  </a:lnTo>
                  <a:lnTo>
                    <a:pt x="14" y="0"/>
                  </a:lnTo>
                  <a:lnTo>
                    <a:pt x="0" y="0"/>
                  </a:lnTo>
                  <a:lnTo>
                    <a:pt x="0" y="66"/>
                  </a:lnTo>
                  <a:lnTo>
                    <a:pt x="111" y="66"/>
                  </a:lnTo>
                  <a:lnTo>
                    <a:pt x="111" y="0"/>
                  </a:ln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24" name="Freeform 15"/>
            <p:cNvSpPr>
              <a:spLocks noEditPoints="1"/>
            </p:cNvSpPr>
            <p:nvPr/>
          </p:nvSpPr>
          <p:spPr bwMode="auto">
            <a:xfrm>
              <a:off x="1447675" y="2276704"/>
              <a:ext cx="289552" cy="278101"/>
            </a:xfrm>
            <a:custGeom>
              <a:avLst/>
              <a:gdLst>
                <a:gd name="T0" fmla="*/ 72 w 77"/>
                <a:gd name="T1" fmla="*/ 0 h 74"/>
                <a:gd name="T2" fmla="*/ 64 w 77"/>
                <a:gd name="T3" fmla="*/ 0 h 74"/>
                <a:gd name="T4" fmla="*/ 64 w 77"/>
                <a:gd name="T5" fmla="*/ 31 h 74"/>
                <a:gd name="T6" fmla="*/ 10 w 77"/>
                <a:gd name="T7" fmla="*/ 31 h 74"/>
                <a:gd name="T8" fmla="*/ 10 w 77"/>
                <a:gd name="T9" fmla="*/ 0 h 74"/>
                <a:gd name="T10" fmla="*/ 5 w 77"/>
                <a:gd name="T11" fmla="*/ 0 h 74"/>
                <a:gd name="T12" fmla="*/ 0 w 77"/>
                <a:gd name="T13" fmla="*/ 6 h 74"/>
                <a:gd name="T14" fmla="*/ 0 w 77"/>
                <a:gd name="T15" fmla="*/ 68 h 74"/>
                <a:gd name="T16" fmla="*/ 5 w 77"/>
                <a:gd name="T17" fmla="*/ 74 h 74"/>
                <a:gd name="T18" fmla="*/ 72 w 77"/>
                <a:gd name="T19" fmla="*/ 74 h 74"/>
                <a:gd name="T20" fmla="*/ 77 w 77"/>
                <a:gd name="T21" fmla="*/ 68 h 74"/>
                <a:gd name="T22" fmla="*/ 77 w 77"/>
                <a:gd name="T23" fmla="*/ 6 h 74"/>
                <a:gd name="T24" fmla="*/ 72 w 77"/>
                <a:gd name="T25" fmla="*/ 0 h 74"/>
                <a:gd name="T26" fmla="*/ 38 w 77"/>
                <a:gd name="T27" fmla="*/ 65 h 74"/>
                <a:gd name="T28" fmla="*/ 22 w 77"/>
                <a:gd name="T29" fmla="*/ 49 h 74"/>
                <a:gd name="T30" fmla="*/ 38 w 77"/>
                <a:gd name="T31" fmla="*/ 33 h 74"/>
                <a:gd name="T32" fmla="*/ 54 w 77"/>
                <a:gd name="T33" fmla="*/ 49 h 74"/>
                <a:gd name="T34" fmla="*/ 38 w 77"/>
                <a:gd name="T35" fmla="*/ 6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74">
                  <a:moveTo>
                    <a:pt x="72" y="0"/>
                  </a:moveTo>
                  <a:cubicBezTo>
                    <a:pt x="64" y="0"/>
                    <a:pt x="64" y="0"/>
                    <a:pt x="64" y="0"/>
                  </a:cubicBezTo>
                  <a:cubicBezTo>
                    <a:pt x="64" y="31"/>
                    <a:pt x="64" y="31"/>
                    <a:pt x="64" y="31"/>
                  </a:cubicBezTo>
                  <a:cubicBezTo>
                    <a:pt x="10" y="31"/>
                    <a:pt x="10" y="31"/>
                    <a:pt x="10" y="31"/>
                  </a:cubicBezTo>
                  <a:cubicBezTo>
                    <a:pt x="10" y="0"/>
                    <a:pt x="10" y="0"/>
                    <a:pt x="10" y="0"/>
                  </a:cubicBezTo>
                  <a:cubicBezTo>
                    <a:pt x="5" y="0"/>
                    <a:pt x="5" y="0"/>
                    <a:pt x="5" y="0"/>
                  </a:cubicBezTo>
                  <a:cubicBezTo>
                    <a:pt x="2" y="0"/>
                    <a:pt x="0" y="3"/>
                    <a:pt x="0" y="6"/>
                  </a:cubicBezTo>
                  <a:cubicBezTo>
                    <a:pt x="0" y="68"/>
                    <a:pt x="0" y="68"/>
                    <a:pt x="0" y="68"/>
                  </a:cubicBezTo>
                  <a:cubicBezTo>
                    <a:pt x="0" y="72"/>
                    <a:pt x="2" y="74"/>
                    <a:pt x="5" y="74"/>
                  </a:cubicBezTo>
                  <a:cubicBezTo>
                    <a:pt x="72" y="74"/>
                    <a:pt x="72" y="74"/>
                    <a:pt x="72" y="74"/>
                  </a:cubicBezTo>
                  <a:cubicBezTo>
                    <a:pt x="75" y="74"/>
                    <a:pt x="77" y="72"/>
                    <a:pt x="77" y="68"/>
                  </a:cubicBezTo>
                  <a:cubicBezTo>
                    <a:pt x="77" y="6"/>
                    <a:pt x="77" y="6"/>
                    <a:pt x="77" y="6"/>
                  </a:cubicBezTo>
                  <a:cubicBezTo>
                    <a:pt x="77" y="3"/>
                    <a:pt x="75" y="0"/>
                    <a:pt x="72" y="0"/>
                  </a:cubicBezTo>
                  <a:close/>
                  <a:moveTo>
                    <a:pt x="38" y="65"/>
                  </a:moveTo>
                  <a:cubicBezTo>
                    <a:pt x="29" y="65"/>
                    <a:pt x="22" y="58"/>
                    <a:pt x="22" y="49"/>
                  </a:cubicBezTo>
                  <a:cubicBezTo>
                    <a:pt x="22" y="40"/>
                    <a:pt x="29" y="33"/>
                    <a:pt x="38" y="33"/>
                  </a:cubicBezTo>
                  <a:cubicBezTo>
                    <a:pt x="46" y="33"/>
                    <a:pt x="54" y="40"/>
                    <a:pt x="54" y="49"/>
                  </a:cubicBezTo>
                  <a:cubicBezTo>
                    <a:pt x="54" y="58"/>
                    <a:pt x="46" y="65"/>
                    <a:pt x="38" y="65"/>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30741" name="Oval 16"/>
            <p:cNvSpPr>
              <a:spLocks noChangeArrowheads="1"/>
            </p:cNvSpPr>
            <p:nvPr/>
          </p:nvSpPr>
          <p:spPr bwMode="auto">
            <a:xfrm>
              <a:off x="1549442" y="2418790"/>
              <a:ext cx="82383" cy="82580"/>
            </a:xfrm>
            <a:prstGeom prst="ellipse">
              <a:avLst/>
            </a:pr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mn-lt"/>
                <a:ea typeface="+mn-ea"/>
                <a:cs typeface="+mn-ea"/>
                <a:sym typeface="+mn-lt"/>
              </a:endParaRPr>
            </a:p>
          </p:txBody>
        </p:sp>
      </p:grpSp>
      <p:grpSp>
        <p:nvGrpSpPr>
          <p:cNvPr id="32774" name="组合 25"/>
          <p:cNvGrpSpPr/>
          <p:nvPr/>
        </p:nvGrpSpPr>
        <p:grpSpPr>
          <a:xfrm>
            <a:off x="3654425" y="3994150"/>
            <a:ext cx="657225" cy="663575"/>
            <a:chOff x="5093055" y="2766720"/>
            <a:chExt cx="501650" cy="506413"/>
          </a:xfrm>
        </p:grpSpPr>
        <p:sp>
          <p:nvSpPr>
            <p:cNvPr id="27" name="Freeform 21"/>
            <p:cNvSpPr/>
            <p:nvPr/>
          </p:nvSpPr>
          <p:spPr bwMode="auto">
            <a:xfrm>
              <a:off x="5093055" y="2766720"/>
              <a:ext cx="501650" cy="506413"/>
            </a:xfrm>
            <a:custGeom>
              <a:avLst/>
              <a:gdLst>
                <a:gd name="T0" fmla="*/ 134 w 134"/>
                <a:gd name="T1" fmla="*/ 37 h 135"/>
                <a:gd name="T2" fmla="*/ 134 w 134"/>
                <a:gd name="T3" fmla="*/ 98 h 135"/>
                <a:gd name="T4" fmla="*/ 98 w 134"/>
                <a:gd name="T5" fmla="*/ 135 h 135"/>
                <a:gd name="T6" fmla="*/ 36 w 134"/>
                <a:gd name="T7" fmla="*/ 135 h 135"/>
                <a:gd name="T8" fmla="*/ 0 w 134"/>
                <a:gd name="T9" fmla="*/ 98 h 135"/>
                <a:gd name="T10" fmla="*/ 0 w 134"/>
                <a:gd name="T11" fmla="*/ 37 h 135"/>
                <a:gd name="T12" fmla="*/ 36 w 134"/>
                <a:gd name="T13" fmla="*/ 0 h 135"/>
                <a:gd name="T14" fmla="*/ 134 w 134"/>
                <a:gd name="T15" fmla="*/ 0 h 135"/>
                <a:gd name="T16" fmla="*/ 134 w 134"/>
                <a:gd name="T17" fmla="*/ 3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4" h="135">
                  <a:moveTo>
                    <a:pt x="134" y="37"/>
                  </a:moveTo>
                  <a:cubicBezTo>
                    <a:pt x="134" y="98"/>
                    <a:pt x="134" y="98"/>
                    <a:pt x="134" y="98"/>
                  </a:cubicBezTo>
                  <a:cubicBezTo>
                    <a:pt x="134" y="118"/>
                    <a:pt x="118" y="135"/>
                    <a:pt x="98" y="135"/>
                  </a:cubicBezTo>
                  <a:cubicBezTo>
                    <a:pt x="36" y="135"/>
                    <a:pt x="36" y="135"/>
                    <a:pt x="36" y="135"/>
                  </a:cubicBezTo>
                  <a:cubicBezTo>
                    <a:pt x="16" y="135"/>
                    <a:pt x="0" y="118"/>
                    <a:pt x="0" y="98"/>
                  </a:cubicBezTo>
                  <a:cubicBezTo>
                    <a:pt x="0" y="37"/>
                    <a:pt x="0" y="37"/>
                    <a:pt x="0" y="37"/>
                  </a:cubicBezTo>
                  <a:cubicBezTo>
                    <a:pt x="0" y="16"/>
                    <a:pt x="16" y="0"/>
                    <a:pt x="36" y="0"/>
                  </a:cubicBezTo>
                  <a:cubicBezTo>
                    <a:pt x="134" y="0"/>
                    <a:pt x="134" y="0"/>
                    <a:pt x="134" y="0"/>
                  </a:cubicBezTo>
                  <a:lnTo>
                    <a:pt x="134" y="37"/>
                  </a:lnTo>
                  <a:close/>
                </a:path>
              </a:pathLst>
            </a:custGeom>
            <a:solidFill>
              <a:srgbClr val="9476B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dirty="0">
                <a:ln>
                  <a:noFill/>
                </a:ln>
                <a:solidFill>
                  <a:sysClr val="windowText" lastClr="000000"/>
                </a:solidFill>
                <a:effectLst/>
                <a:uLnTx/>
                <a:uFillTx/>
                <a:latin typeface="+mn-lt"/>
                <a:ea typeface="+mn-ea"/>
                <a:cs typeface="+mn-ea"/>
                <a:sym typeface="+mn-lt"/>
              </a:endParaRPr>
            </a:p>
          </p:txBody>
        </p:sp>
        <p:sp>
          <p:nvSpPr>
            <p:cNvPr id="30735" name="Oval 22"/>
            <p:cNvSpPr>
              <a:spLocks noChangeArrowheads="1"/>
            </p:cNvSpPr>
            <p:nvPr/>
          </p:nvSpPr>
          <p:spPr bwMode="auto">
            <a:xfrm>
              <a:off x="5200898" y="3069599"/>
              <a:ext cx="98149" cy="99344"/>
            </a:xfrm>
            <a:prstGeom prst="ellipse">
              <a:avLst/>
            </a:pr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29" name="Freeform 23"/>
            <p:cNvSpPr/>
            <p:nvPr/>
          </p:nvSpPr>
          <p:spPr bwMode="auto">
            <a:xfrm>
              <a:off x="5211803" y="2970254"/>
              <a:ext cx="181757" cy="179304"/>
            </a:xfrm>
            <a:custGeom>
              <a:avLst/>
              <a:gdLst>
                <a:gd name="T0" fmla="*/ 6 w 48"/>
                <a:gd name="T1" fmla="*/ 0 h 48"/>
                <a:gd name="T2" fmla="*/ 0 w 48"/>
                <a:gd name="T3" fmla="*/ 7 h 48"/>
                <a:gd name="T4" fmla="*/ 6 w 48"/>
                <a:gd name="T5" fmla="*/ 13 h 48"/>
                <a:gd name="T6" fmla="*/ 35 w 48"/>
                <a:gd name="T7" fmla="*/ 42 h 48"/>
                <a:gd name="T8" fmla="*/ 42 w 48"/>
                <a:gd name="T9" fmla="*/ 48 h 48"/>
                <a:gd name="T10" fmla="*/ 48 w 48"/>
                <a:gd name="T11" fmla="*/ 42 h 48"/>
                <a:gd name="T12" fmla="*/ 6 w 48"/>
                <a:gd name="T13" fmla="*/ 0 h 48"/>
              </a:gdLst>
              <a:ahLst/>
              <a:cxnLst>
                <a:cxn ang="0">
                  <a:pos x="T0" y="T1"/>
                </a:cxn>
                <a:cxn ang="0">
                  <a:pos x="T2" y="T3"/>
                </a:cxn>
                <a:cxn ang="0">
                  <a:pos x="T4" y="T5"/>
                </a:cxn>
                <a:cxn ang="0">
                  <a:pos x="T6" y="T7"/>
                </a:cxn>
                <a:cxn ang="0">
                  <a:pos x="T8" y="T9"/>
                </a:cxn>
                <a:cxn ang="0">
                  <a:pos x="T10" y="T11"/>
                </a:cxn>
                <a:cxn ang="0">
                  <a:pos x="T12" y="T13"/>
                </a:cxn>
              </a:cxnLst>
              <a:rect l="0" t="0" r="r" b="b"/>
              <a:pathLst>
                <a:path w="48" h="48">
                  <a:moveTo>
                    <a:pt x="6" y="0"/>
                  </a:moveTo>
                  <a:cubicBezTo>
                    <a:pt x="3" y="0"/>
                    <a:pt x="0" y="3"/>
                    <a:pt x="0" y="7"/>
                  </a:cubicBezTo>
                  <a:cubicBezTo>
                    <a:pt x="0" y="10"/>
                    <a:pt x="3" y="13"/>
                    <a:pt x="6" y="13"/>
                  </a:cubicBezTo>
                  <a:cubicBezTo>
                    <a:pt x="22" y="13"/>
                    <a:pt x="35" y="26"/>
                    <a:pt x="35" y="42"/>
                  </a:cubicBezTo>
                  <a:cubicBezTo>
                    <a:pt x="35" y="45"/>
                    <a:pt x="38" y="48"/>
                    <a:pt x="42" y="48"/>
                  </a:cubicBezTo>
                  <a:cubicBezTo>
                    <a:pt x="45" y="48"/>
                    <a:pt x="48" y="45"/>
                    <a:pt x="48" y="42"/>
                  </a:cubicBezTo>
                  <a:cubicBezTo>
                    <a:pt x="48" y="19"/>
                    <a:pt x="29" y="0"/>
                    <a:pt x="6" y="0"/>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30" name="Freeform 24"/>
            <p:cNvSpPr/>
            <p:nvPr/>
          </p:nvSpPr>
          <p:spPr bwMode="auto">
            <a:xfrm>
              <a:off x="5211803" y="2870910"/>
              <a:ext cx="278694" cy="278648"/>
            </a:xfrm>
            <a:custGeom>
              <a:avLst/>
              <a:gdLst>
                <a:gd name="T0" fmla="*/ 6 w 74"/>
                <a:gd name="T1" fmla="*/ 0 h 74"/>
                <a:gd name="T2" fmla="*/ 0 w 74"/>
                <a:gd name="T3" fmla="*/ 7 h 74"/>
                <a:gd name="T4" fmla="*/ 6 w 74"/>
                <a:gd name="T5" fmla="*/ 13 h 74"/>
                <a:gd name="T6" fmla="*/ 61 w 74"/>
                <a:gd name="T7" fmla="*/ 68 h 74"/>
                <a:gd name="T8" fmla="*/ 68 w 74"/>
                <a:gd name="T9" fmla="*/ 74 h 74"/>
                <a:gd name="T10" fmla="*/ 74 w 74"/>
                <a:gd name="T11" fmla="*/ 68 h 74"/>
                <a:gd name="T12" fmla="*/ 6 w 74"/>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74" h="74">
                  <a:moveTo>
                    <a:pt x="6" y="0"/>
                  </a:moveTo>
                  <a:cubicBezTo>
                    <a:pt x="3" y="0"/>
                    <a:pt x="0" y="3"/>
                    <a:pt x="0" y="7"/>
                  </a:cubicBezTo>
                  <a:cubicBezTo>
                    <a:pt x="0" y="10"/>
                    <a:pt x="3" y="13"/>
                    <a:pt x="6" y="13"/>
                  </a:cubicBezTo>
                  <a:cubicBezTo>
                    <a:pt x="37" y="13"/>
                    <a:pt x="61" y="38"/>
                    <a:pt x="61" y="68"/>
                  </a:cubicBezTo>
                  <a:cubicBezTo>
                    <a:pt x="61" y="71"/>
                    <a:pt x="64" y="74"/>
                    <a:pt x="68" y="74"/>
                  </a:cubicBezTo>
                  <a:cubicBezTo>
                    <a:pt x="71" y="74"/>
                    <a:pt x="74" y="71"/>
                    <a:pt x="74" y="68"/>
                  </a:cubicBezTo>
                  <a:cubicBezTo>
                    <a:pt x="74" y="30"/>
                    <a:pt x="44" y="0"/>
                    <a:pt x="6" y="0"/>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grpSp>
      <p:grpSp>
        <p:nvGrpSpPr>
          <p:cNvPr id="32775" name="组合 30"/>
          <p:cNvGrpSpPr/>
          <p:nvPr/>
        </p:nvGrpSpPr>
        <p:grpSpPr>
          <a:xfrm>
            <a:off x="3648075" y="4979988"/>
            <a:ext cx="663575" cy="661987"/>
            <a:chOff x="6137274" y="1900165"/>
            <a:chExt cx="506413" cy="506412"/>
          </a:xfrm>
        </p:grpSpPr>
        <p:sp>
          <p:nvSpPr>
            <p:cNvPr id="32" name="Freeform 29"/>
            <p:cNvSpPr/>
            <p:nvPr/>
          </p:nvSpPr>
          <p:spPr bwMode="auto">
            <a:xfrm>
              <a:off x="6137274" y="1900165"/>
              <a:ext cx="506413" cy="506412"/>
            </a:xfrm>
            <a:custGeom>
              <a:avLst/>
              <a:gdLst>
                <a:gd name="T0" fmla="*/ 135 w 135"/>
                <a:gd name="T1" fmla="*/ 36 h 135"/>
                <a:gd name="T2" fmla="*/ 135 w 135"/>
                <a:gd name="T3" fmla="*/ 98 h 135"/>
                <a:gd name="T4" fmla="*/ 98 w 135"/>
                <a:gd name="T5" fmla="*/ 135 h 135"/>
                <a:gd name="T6" fmla="*/ 36 w 135"/>
                <a:gd name="T7" fmla="*/ 135 h 135"/>
                <a:gd name="T8" fmla="*/ 0 w 135"/>
                <a:gd name="T9" fmla="*/ 98 h 135"/>
                <a:gd name="T10" fmla="*/ 0 w 135"/>
                <a:gd name="T11" fmla="*/ 36 h 135"/>
                <a:gd name="T12" fmla="*/ 36 w 135"/>
                <a:gd name="T13" fmla="*/ 0 h 135"/>
                <a:gd name="T14" fmla="*/ 135 w 135"/>
                <a:gd name="T15" fmla="*/ 0 h 135"/>
                <a:gd name="T16" fmla="*/ 135 w 135"/>
                <a:gd name="T17" fmla="*/ 3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 h="135">
                  <a:moveTo>
                    <a:pt x="135" y="36"/>
                  </a:moveTo>
                  <a:cubicBezTo>
                    <a:pt x="135" y="98"/>
                    <a:pt x="135" y="98"/>
                    <a:pt x="135" y="98"/>
                  </a:cubicBezTo>
                  <a:cubicBezTo>
                    <a:pt x="135" y="118"/>
                    <a:pt x="118" y="135"/>
                    <a:pt x="98" y="135"/>
                  </a:cubicBezTo>
                  <a:cubicBezTo>
                    <a:pt x="36" y="135"/>
                    <a:pt x="36" y="135"/>
                    <a:pt x="36" y="135"/>
                  </a:cubicBezTo>
                  <a:cubicBezTo>
                    <a:pt x="16" y="135"/>
                    <a:pt x="0" y="118"/>
                    <a:pt x="0" y="98"/>
                  </a:cubicBezTo>
                  <a:cubicBezTo>
                    <a:pt x="0" y="36"/>
                    <a:pt x="0" y="36"/>
                    <a:pt x="0" y="36"/>
                  </a:cubicBezTo>
                  <a:cubicBezTo>
                    <a:pt x="0" y="16"/>
                    <a:pt x="16" y="0"/>
                    <a:pt x="36" y="0"/>
                  </a:cubicBezTo>
                  <a:cubicBezTo>
                    <a:pt x="135" y="0"/>
                    <a:pt x="135" y="0"/>
                    <a:pt x="135" y="0"/>
                  </a:cubicBezTo>
                  <a:lnTo>
                    <a:pt x="135" y="36"/>
                  </a:lnTo>
                  <a:close/>
                </a:path>
              </a:pathLst>
            </a:custGeom>
            <a:solidFill>
              <a:srgbClr val="6C4C8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sp>
          <p:nvSpPr>
            <p:cNvPr id="33" name="Freeform 30"/>
            <p:cNvSpPr>
              <a:spLocks noEditPoints="1"/>
            </p:cNvSpPr>
            <p:nvPr/>
          </p:nvSpPr>
          <p:spPr bwMode="auto">
            <a:xfrm>
              <a:off x="6208754" y="1979102"/>
              <a:ext cx="327109" cy="325464"/>
            </a:xfrm>
            <a:custGeom>
              <a:avLst/>
              <a:gdLst>
                <a:gd name="T0" fmla="*/ 64 w 87"/>
                <a:gd name="T1" fmla="*/ 14 h 87"/>
                <a:gd name="T2" fmla="*/ 14 w 87"/>
                <a:gd name="T3" fmla="*/ 14 h 87"/>
                <a:gd name="T4" fmla="*/ 14 w 87"/>
                <a:gd name="T5" fmla="*/ 64 h 87"/>
                <a:gd name="T6" fmla="*/ 59 w 87"/>
                <a:gd name="T7" fmla="*/ 69 h 87"/>
                <a:gd name="T8" fmla="*/ 74 w 87"/>
                <a:gd name="T9" fmla="*/ 84 h 87"/>
                <a:gd name="T10" fmla="*/ 83 w 87"/>
                <a:gd name="T11" fmla="*/ 84 h 87"/>
                <a:gd name="T12" fmla="*/ 84 w 87"/>
                <a:gd name="T13" fmla="*/ 83 h 87"/>
                <a:gd name="T14" fmla="*/ 84 w 87"/>
                <a:gd name="T15" fmla="*/ 74 h 87"/>
                <a:gd name="T16" fmla="*/ 69 w 87"/>
                <a:gd name="T17" fmla="*/ 59 h 87"/>
                <a:gd name="T18" fmla="*/ 64 w 87"/>
                <a:gd name="T19" fmla="*/ 14 h 87"/>
                <a:gd name="T20" fmla="*/ 58 w 87"/>
                <a:gd name="T21" fmla="*/ 58 h 87"/>
                <a:gd name="T22" fmla="*/ 20 w 87"/>
                <a:gd name="T23" fmla="*/ 58 h 87"/>
                <a:gd name="T24" fmla="*/ 20 w 87"/>
                <a:gd name="T25" fmla="*/ 21 h 87"/>
                <a:gd name="T26" fmla="*/ 58 w 87"/>
                <a:gd name="T27" fmla="*/ 21 h 87"/>
                <a:gd name="T28" fmla="*/ 58 w 87"/>
                <a:gd name="T29" fmla="*/ 5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7" h="87">
                  <a:moveTo>
                    <a:pt x="64" y="14"/>
                  </a:moveTo>
                  <a:cubicBezTo>
                    <a:pt x="50" y="0"/>
                    <a:pt x="28" y="0"/>
                    <a:pt x="14" y="14"/>
                  </a:cubicBezTo>
                  <a:cubicBezTo>
                    <a:pt x="0" y="28"/>
                    <a:pt x="0" y="51"/>
                    <a:pt x="14" y="64"/>
                  </a:cubicBezTo>
                  <a:cubicBezTo>
                    <a:pt x="26" y="77"/>
                    <a:pt x="45" y="78"/>
                    <a:pt x="59" y="69"/>
                  </a:cubicBezTo>
                  <a:cubicBezTo>
                    <a:pt x="74" y="84"/>
                    <a:pt x="74" y="84"/>
                    <a:pt x="74" y="84"/>
                  </a:cubicBezTo>
                  <a:cubicBezTo>
                    <a:pt x="76" y="87"/>
                    <a:pt x="80" y="87"/>
                    <a:pt x="83" y="84"/>
                  </a:cubicBezTo>
                  <a:cubicBezTo>
                    <a:pt x="84" y="83"/>
                    <a:pt x="84" y="83"/>
                    <a:pt x="84" y="83"/>
                  </a:cubicBezTo>
                  <a:cubicBezTo>
                    <a:pt x="87" y="81"/>
                    <a:pt x="87" y="77"/>
                    <a:pt x="84" y="74"/>
                  </a:cubicBezTo>
                  <a:cubicBezTo>
                    <a:pt x="69" y="59"/>
                    <a:pt x="69" y="59"/>
                    <a:pt x="69" y="59"/>
                  </a:cubicBezTo>
                  <a:cubicBezTo>
                    <a:pt x="78" y="45"/>
                    <a:pt x="76" y="26"/>
                    <a:pt x="64" y="14"/>
                  </a:cubicBezTo>
                  <a:close/>
                  <a:moveTo>
                    <a:pt x="58" y="58"/>
                  </a:moveTo>
                  <a:cubicBezTo>
                    <a:pt x="47" y="68"/>
                    <a:pt x="31" y="68"/>
                    <a:pt x="20" y="58"/>
                  </a:cubicBezTo>
                  <a:cubicBezTo>
                    <a:pt x="10" y="48"/>
                    <a:pt x="10" y="31"/>
                    <a:pt x="20" y="21"/>
                  </a:cubicBezTo>
                  <a:cubicBezTo>
                    <a:pt x="31" y="10"/>
                    <a:pt x="47" y="10"/>
                    <a:pt x="58" y="21"/>
                  </a:cubicBezTo>
                  <a:cubicBezTo>
                    <a:pt x="68" y="31"/>
                    <a:pt x="68" y="48"/>
                    <a:pt x="58" y="58"/>
                  </a:cubicBezTo>
                  <a:close/>
                </a:path>
              </a:pathLst>
            </a:custGeom>
            <a:solidFill>
              <a:srgbClr val="ECECEB"/>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1800" b="1" i="0" u="none" strike="noStrike" kern="0" cap="none" spc="0" normalizeH="0" baseline="0" noProof="0">
                <a:ln>
                  <a:noFill/>
                </a:ln>
                <a:solidFill>
                  <a:sysClr val="windowText" lastClr="000000"/>
                </a:solidFill>
                <a:effectLst/>
                <a:uLnTx/>
                <a:uFillTx/>
                <a:latin typeface="+mn-lt"/>
                <a:ea typeface="+mn-ea"/>
                <a:cs typeface="+mn-ea"/>
                <a:sym typeface="+mn-lt"/>
              </a:endParaRPr>
            </a:p>
          </p:txBody>
        </p:sp>
      </p:grpSp>
      <p:sp>
        <p:nvSpPr>
          <p:cNvPr id="30728" name="Text Box 11"/>
          <p:cNvSpPr txBox="1">
            <a:spLocks noChangeArrowheads="1"/>
          </p:cNvSpPr>
          <p:nvPr/>
        </p:nvSpPr>
        <p:spPr bwMode="auto">
          <a:xfrm>
            <a:off x="4500563" y="2093913"/>
            <a:ext cx="4117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mn-lt"/>
                <a:ea typeface="+mn-ea"/>
                <a:cs typeface="+mn-ea"/>
                <a:sym typeface="+mn-lt"/>
              </a:rPr>
              <a:t>案例</a:t>
            </a:r>
            <a:r>
              <a:rPr kumimoji="0" lang="en-US" altLang="zh-CN" sz="2400" b="1" i="0" u="none" strike="noStrike" kern="1200" cap="none" spc="0" normalizeH="0" baseline="0" noProof="0" dirty="0">
                <a:ln>
                  <a:noFill/>
                </a:ln>
                <a:solidFill>
                  <a:srgbClr val="000000"/>
                </a:solidFill>
                <a:effectLst/>
                <a:uLnTx/>
                <a:uFillTx/>
                <a:latin typeface="+mn-lt"/>
                <a:ea typeface="+mn-ea"/>
                <a:cs typeface="+mn-ea"/>
                <a:sym typeface="+mn-lt"/>
              </a:rPr>
              <a:t>3.1 </a:t>
            </a:r>
            <a:r>
              <a:rPr kumimoji="0" lang="zh-CN" altLang="en-US" sz="2400" b="1" i="0" u="none" strike="noStrike" kern="1200" cap="none" spc="0" normalizeH="0" baseline="0" noProof="0" dirty="0">
                <a:ln>
                  <a:noFill/>
                </a:ln>
                <a:solidFill>
                  <a:srgbClr val="000000"/>
                </a:solidFill>
                <a:effectLst/>
                <a:uLnTx/>
                <a:uFillTx/>
                <a:latin typeface="+mn-lt"/>
                <a:ea typeface="+mn-ea"/>
                <a:cs typeface="+mn-ea"/>
                <a:sym typeface="+mn-lt"/>
              </a:rPr>
              <a:t>：数制的转换</a:t>
            </a:r>
          </a:p>
        </p:txBody>
      </p:sp>
      <p:sp>
        <p:nvSpPr>
          <p:cNvPr id="30729" name="Text Box 11"/>
          <p:cNvSpPr txBox="1">
            <a:spLocks noChangeArrowheads="1"/>
          </p:cNvSpPr>
          <p:nvPr/>
        </p:nvSpPr>
        <p:spPr bwMode="auto">
          <a:xfrm>
            <a:off x="4500563" y="3079750"/>
            <a:ext cx="4117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mn-lt"/>
                <a:ea typeface="+mn-ea"/>
                <a:cs typeface="+mn-ea"/>
                <a:sym typeface="+mn-lt"/>
              </a:rPr>
              <a:t>案例</a:t>
            </a:r>
            <a:r>
              <a:rPr kumimoji="0" lang="en-US" altLang="zh-CN" sz="2400" b="1" i="0" u="none" strike="noStrike" kern="1200" cap="none" spc="0" normalizeH="0" baseline="0" noProof="0" dirty="0">
                <a:ln>
                  <a:noFill/>
                </a:ln>
                <a:solidFill>
                  <a:srgbClr val="000000"/>
                </a:solidFill>
                <a:effectLst/>
                <a:uLnTx/>
                <a:uFillTx/>
                <a:latin typeface="+mn-lt"/>
                <a:ea typeface="+mn-ea"/>
                <a:cs typeface="+mn-ea"/>
                <a:sym typeface="+mn-lt"/>
              </a:rPr>
              <a:t>3.2</a:t>
            </a:r>
            <a:r>
              <a:rPr kumimoji="0" lang="zh-CN" altLang="en-US" sz="2400" b="1" i="0" u="none" strike="noStrike" kern="1200" cap="none" spc="0" normalizeH="0" baseline="0" noProof="0" dirty="0">
                <a:ln>
                  <a:noFill/>
                </a:ln>
                <a:solidFill>
                  <a:srgbClr val="000000"/>
                </a:solidFill>
                <a:effectLst/>
                <a:uLnTx/>
                <a:uFillTx/>
                <a:latin typeface="+mn-lt"/>
                <a:ea typeface="+mn-ea"/>
                <a:cs typeface="+mn-ea"/>
                <a:sym typeface="+mn-lt"/>
              </a:rPr>
              <a:t>：括号匹配的检验</a:t>
            </a:r>
          </a:p>
        </p:txBody>
      </p:sp>
      <p:sp>
        <p:nvSpPr>
          <p:cNvPr id="30730" name="Text Box 11"/>
          <p:cNvSpPr txBox="1">
            <a:spLocks noChangeArrowheads="1"/>
          </p:cNvSpPr>
          <p:nvPr/>
        </p:nvSpPr>
        <p:spPr bwMode="auto">
          <a:xfrm>
            <a:off x="4500563" y="4064000"/>
            <a:ext cx="4117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000000"/>
                </a:solidFill>
                <a:effectLst/>
                <a:uLnTx/>
                <a:uFillTx/>
                <a:latin typeface="+mn-lt"/>
                <a:ea typeface="+mn-ea"/>
                <a:cs typeface="+mn-ea"/>
                <a:sym typeface="+mn-lt"/>
              </a:rPr>
              <a:t>案例</a:t>
            </a: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3.3 </a:t>
            </a:r>
            <a:r>
              <a:rPr kumimoji="0" lang="zh-CN" altLang="en-US" sz="2400" b="1" i="0" u="none" strike="noStrike" kern="1200" cap="none" spc="0" normalizeH="0" baseline="0" noProof="0">
                <a:ln>
                  <a:noFill/>
                </a:ln>
                <a:solidFill>
                  <a:srgbClr val="000000"/>
                </a:solidFill>
                <a:effectLst/>
                <a:uLnTx/>
                <a:uFillTx/>
                <a:latin typeface="+mn-lt"/>
                <a:ea typeface="+mn-ea"/>
                <a:cs typeface="+mn-ea"/>
                <a:sym typeface="+mn-lt"/>
              </a:rPr>
              <a:t>：表达式求值</a:t>
            </a:r>
          </a:p>
        </p:txBody>
      </p:sp>
      <p:sp>
        <p:nvSpPr>
          <p:cNvPr id="30731" name="Text Box 11"/>
          <p:cNvSpPr txBox="1">
            <a:spLocks noChangeArrowheads="1"/>
          </p:cNvSpPr>
          <p:nvPr/>
        </p:nvSpPr>
        <p:spPr bwMode="auto">
          <a:xfrm>
            <a:off x="4500563" y="5049838"/>
            <a:ext cx="4117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000000"/>
                </a:solidFill>
                <a:effectLst/>
                <a:uLnTx/>
                <a:uFillTx/>
                <a:latin typeface="+mn-lt"/>
                <a:ea typeface="+mn-ea"/>
                <a:cs typeface="+mn-ea"/>
                <a:sym typeface="+mn-lt"/>
              </a:rPr>
              <a:t>案例</a:t>
            </a: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3.4 </a:t>
            </a:r>
            <a:r>
              <a:rPr kumimoji="0" lang="zh-CN" altLang="en-US" sz="2400" b="1" i="0" u="none" strike="noStrike" kern="1200" cap="none" spc="0" normalizeH="0" baseline="0" noProof="0">
                <a:ln>
                  <a:noFill/>
                </a:ln>
                <a:solidFill>
                  <a:srgbClr val="000000"/>
                </a:solidFill>
                <a:effectLst/>
                <a:uLnTx/>
                <a:uFillTx/>
                <a:latin typeface="+mn-lt"/>
                <a:ea typeface="+mn-ea"/>
                <a:cs typeface="+mn-ea"/>
                <a:sym typeface="+mn-lt"/>
              </a:rPr>
              <a:t>：舞伴问题</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noChangeArrowheads="1"/>
          </p:cNvSpPr>
          <p:nvPr>
            <p:ph type="title"/>
          </p:nvPr>
        </p:nvSpPr>
        <p:spPr>
          <a:xfrm>
            <a:off x="844550" y="236538"/>
            <a:ext cx="6400800" cy="45561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古代数学</a:t>
            </a:r>
            <a:r>
              <a:rPr kumimoji="0" lang="en-US" altLang="zh-CN" sz="2800" b="0" i="0" u="none" strike="noStrike" kern="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筹算与珠算</a:t>
            </a:r>
          </a:p>
        </p:txBody>
      </p:sp>
      <p:sp>
        <p:nvSpPr>
          <p:cNvPr id="30721" name="TextBox 20"/>
          <p:cNvSpPr txBox="1"/>
          <p:nvPr/>
        </p:nvSpPr>
        <p:spPr>
          <a:xfrm>
            <a:off x="3122072" y="3149940"/>
            <a:ext cx="574493" cy="354330"/>
          </a:xfrm>
          <a:prstGeom prst="rect">
            <a:avLst/>
          </a:prstGeom>
        </p:spPr>
        <p:txBody>
          <a:bodyPr vert="horz" wrap="square" lIns="68580" tIns="34290" rIns="68580" bIns="34290" rtlCol="0" anchor="ctr" anchorCtr="0">
            <a:noAutofit/>
          </a:bodyPr>
          <a:lstStyle/>
          <a:p>
            <a:pPr algn="ctr" defTabSz="685800" eaLnBrk="1" fontAlgn="auto" hangingPunct="1">
              <a:spcBef>
                <a:spcPts val="280"/>
              </a:spcBef>
              <a:spcAft>
                <a:spcPts val="0"/>
              </a:spcAft>
            </a:pPr>
            <a:r>
              <a:rPr lang="en-US" sz="1745">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02</a:t>
            </a:r>
          </a:p>
        </p:txBody>
      </p:sp>
      <p:pic>
        <p:nvPicPr>
          <p:cNvPr id="30727" name="图片 30726"/>
          <p:cNvPicPr>
            <a:picLocks noChangeAspect="1"/>
          </p:cNvPicPr>
          <p:nvPr/>
        </p:nvPicPr>
        <p:blipFill>
          <a:blip r:embed="rId2"/>
          <a:stretch>
            <a:fillRect/>
          </a:stretch>
        </p:blipFill>
        <p:spPr>
          <a:xfrm>
            <a:off x="202171" y="3022465"/>
            <a:ext cx="3043851" cy="1800201"/>
          </a:xfrm>
          <a:prstGeom prst="rect">
            <a:avLst/>
          </a:prstGeom>
        </p:spPr>
      </p:pic>
      <p:pic>
        <p:nvPicPr>
          <p:cNvPr id="30733" name="图片 307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520" y="1092032"/>
            <a:ext cx="2994502" cy="1877976"/>
          </a:xfrm>
          <a:prstGeom prst="rect">
            <a:avLst/>
          </a:prstGeom>
        </p:spPr>
      </p:pic>
      <p:sp>
        <p:nvSpPr>
          <p:cNvPr id="30736" name="TextBox 4"/>
          <p:cNvSpPr txBox="1"/>
          <p:nvPr/>
        </p:nvSpPr>
        <p:spPr>
          <a:xfrm>
            <a:off x="3491880" y="5036514"/>
            <a:ext cx="5413995" cy="914400"/>
          </a:xfrm>
          <a:prstGeom prst="rect">
            <a:avLst/>
          </a:prstGeom>
        </p:spPr>
        <p:txBody>
          <a:bodyPr vert="horz" wrap="square" lIns="0" tIns="0" rIns="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40000"/>
              </a:lnSpc>
            </a:pPr>
            <a:r>
              <a:rPr lang="en-US" altLang="zh-CN" sz="1600" b="0" dirty="0" err="1">
                <a:solidFill>
                  <a:schemeClr val="dk1">
                    <a:alpha val="100000"/>
                  </a:schemeClr>
                </a:solidFill>
                <a:latin typeface="微软雅黑" panose="020B0503020204020204" pitchFamily="34" charset="-122"/>
                <a:ea typeface="微软雅黑" panose="020B0503020204020204" pitchFamily="34" charset="-122"/>
              </a:rPr>
              <a:t>珠算是在筹算的基础上发展起来的，使用算盘作为计算工具，</a:t>
            </a:r>
            <a:r>
              <a:rPr lang="en-US" altLang="zh-CN" sz="1600" b="0" dirty="0" err="1">
                <a:solidFill>
                  <a:srgbClr val="FF0000"/>
                </a:solidFill>
                <a:latin typeface="微软雅黑" panose="020B0503020204020204" pitchFamily="34" charset="-122"/>
                <a:ea typeface="微软雅黑" panose="020B0503020204020204" pitchFamily="34" charset="-122"/>
              </a:rPr>
              <a:t>具有计算速度快、准确性高的特点</a:t>
            </a:r>
            <a:r>
              <a:rPr lang="en-US" altLang="zh-CN" sz="1600" b="0" dirty="0" err="1">
                <a:solidFill>
                  <a:schemeClr val="dk1">
                    <a:alpha val="100000"/>
                  </a:schemeClr>
                </a:solidFill>
                <a:latin typeface="微软雅黑" panose="020B0503020204020204" pitchFamily="34" charset="-122"/>
                <a:ea typeface="微软雅黑" panose="020B0503020204020204" pitchFamily="34" charset="-122"/>
              </a:rPr>
              <a:t>，是中国古代数学的重要代表之一</a:t>
            </a:r>
            <a:r>
              <a:rPr lang="en-US" altLang="zh-CN" sz="1600" b="0" dirty="0">
                <a:solidFill>
                  <a:schemeClr val="dk1">
                    <a:alpha val="100000"/>
                  </a:schemeClr>
                </a:solidFill>
                <a:latin typeface="微软雅黑" panose="020B0503020204020204" pitchFamily="34" charset="-122"/>
                <a:ea typeface="微软雅黑" panose="020B0503020204020204" pitchFamily="34" charset="-122"/>
              </a:rPr>
              <a:t>。</a:t>
            </a:r>
          </a:p>
          <a:p>
            <a:pPr>
              <a:lnSpc>
                <a:spcPct val="140000"/>
              </a:lnSpc>
            </a:pPr>
            <a:endParaRPr lang="en-US" sz="1500" b="0" dirty="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737" name="AutoShape 5"/>
          <p:cNvSpPr/>
          <p:nvPr/>
        </p:nvSpPr>
        <p:spPr>
          <a:xfrm>
            <a:off x="3491880" y="1348736"/>
            <a:ext cx="238125" cy="238125"/>
          </a:xfrm>
          <a:prstGeom prst="ellipse">
            <a:avLst/>
          </a:prstGeom>
          <a:solidFill>
            <a:schemeClr val="accent1">
              <a:alpha val="100000"/>
            </a:schemeClr>
          </a:solidFill>
        </p:spPr>
        <p:txBody>
          <a:bodyPr/>
          <a:lstStyle/>
          <a:p>
            <a:endParaRPr lang="zh-CN" altLang="en-US"/>
          </a:p>
        </p:txBody>
      </p:sp>
      <p:sp>
        <p:nvSpPr>
          <p:cNvPr id="30738" name="TextBox 6"/>
          <p:cNvSpPr txBox="1"/>
          <p:nvPr/>
        </p:nvSpPr>
        <p:spPr>
          <a:xfrm>
            <a:off x="3707904" y="1202657"/>
            <a:ext cx="4320480" cy="526877"/>
          </a:xfrm>
          <a:prstGeom prst="rect">
            <a:avLst/>
          </a:prstGeom>
        </p:spPr>
        <p:txBody>
          <a:bodyPr vert="horz" wrap="square" lIns="123825" tIns="123825" rIns="57150" bIns="123825" rtlCol="0" anchor="b"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2400" b="1" dirty="0" err="1">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数字</a:t>
            </a:r>
            <a:r>
              <a:rPr lang="zh-CN" altLang="en-US" sz="2400" b="1"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和运算符</a:t>
            </a:r>
            <a:r>
              <a:rPr lang="en-US" sz="2400" b="1" dirty="0" err="1">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表示</a:t>
            </a:r>
            <a:endParaRPr lang="en-US" sz="2400" b="1"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739" name="TextBox 7"/>
          <p:cNvSpPr txBox="1"/>
          <p:nvPr/>
        </p:nvSpPr>
        <p:spPr>
          <a:xfrm>
            <a:off x="3491880" y="1746799"/>
            <a:ext cx="5184576" cy="914400"/>
          </a:xfrm>
          <a:prstGeom prst="rect">
            <a:avLst/>
          </a:prstGeom>
        </p:spPr>
        <p:txBody>
          <a:bodyPr vert="horz" wrap="square" lIns="0" tIns="0" rIns="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40000"/>
              </a:lnSpc>
            </a:pPr>
            <a:r>
              <a:rPr lang="en-US" sz="1600" b="0" dirty="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中国古代数学中，</a:t>
            </a:r>
            <a:r>
              <a:rPr lang="en-US"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数字用算筹</a:t>
            </a:r>
            <a:r>
              <a:rPr lang="en-US" sz="1600" b="0" dirty="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来表示。算筹可以摆放成不同的形状和位置，以表示不同的数字。</a:t>
            </a:r>
            <a:r>
              <a:rPr lang="en-US" altLang="zh-CN" sz="1600" b="0" dirty="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运算符是</a:t>
            </a:r>
            <a:r>
              <a:rPr lang="en-US" altLang="zh-CN"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用算筹的不同排列方式</a:t>
            </a:r>
            <a:r>
              <a:rPr lang="en-US" altLang="zh-CN" sz="1600" b="0" dirty="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来表示的。例如，加号可以用两棵算筹表示，减号可以用一个算筹表示。</a:t>
            </a:r>
          </a:p>
          <a:p>
            <a:pPr>
              <a:lnSpc>
                <a:spcPct val="140000"/>
              </a:lnSpc>
            </a:pPr>
            <a:endParaRPr lang="en-US" sz="1600" b="0" dirty="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743" name="AutoShape 11"/>
          <p:cNvSpPr/>
          <p:nvPr/>
        </p:nvSpPr>
        <p:spPr>
          <a:xfrm>
            <a:off x="3419247" y="3356992"/>
            <a:ext cx="238125" cy="238125"/>
          </a:xfrm>
          <a:prstGeom prst="ellipse">
            <a:avLst/>
          </a:prstGeom>
          <a:solidFill>
            <a:schemeClr val="accent1">
              <a:alpha val="100000"/>
            </a:schemeClr>
          </a:solidFill>
        </p:spPr>
        <p:txBody>
          <a:bodyPr/>
          <a:lstStyle/>
          <a:p>
            <a:endParaRPr lang="zh-CN" altLang="en-US"/>
          </a:p>
        </p:txBody>
      </p:sp>
      <p:sp>
        <p:nvSpPr>
          <p:cNvPr id="30744" name="AutoShape 12"/>
          <p:cNvSpPr/>
          <p:nvPr/>
        </p:nvSpPr>
        <p:spPr>
          <a:xfrm>
            <a:off x="3419872" y="4630658"/>
            <a:ext cx="238125" cy="238125"/>
          </a:xfrm>
          <a:prstGeom prst="ellipse">
            <a:avLst/>
          </a:prstGeom>
          <a:solidFill>
            <a:schemeClr val="accent1">
              <a:alpha val="100000"/>
            </a:schemeClr>
          </a:solidFill>
        </p:spPr>
        <p:txBody>
          <a:bodyPr/>
          <a:lstStyle/>
          <a:p>
            <a:endParaRPr lang="zh-CN" altLang="en-US"/>
          </a:p>
        </p:txBody>
      </p:sp>
      <p:sp>
        <p:nvSpPr>
          <p:cNvPr id="30746" name="文本框 30745"/>
          <p:cNvSpPr txBox="1"/>
          <p:nvPr/>
        </p:nvSpPr>
        <p:spPr>
          <a:xfrm>
            <a:off x="3491880" y="3620669"/>
            <a:ext cx="5112568" cy="744435"/>
          </a:xfrm>
          <a:prstGeom prst="rect">
            <a:avLst/>
          </a:prstGeom>
          <a:noFill/>
        </p:spPr>
        <p:txBody>
          <a:bodyPr wrap="square">
            <a:spAutoFit/>
          </a:bodyPr>
          <a:lstStyle/>
          <a:p>
            <a:pPr>
              <a:lnSpc>
                <a:spcPct val="140000"/>
              </a:lnSpc>
            </a:pPr>
            <a:r>
              <a:rPr lang="en-US" altLang="zh-CN" sz="1600" b="0" dirty="0" err="1">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表达式的结构是通过</a:t>
            </a:r>
            <a:r>
              <a:rPr lang="en-US" altLang="zh-CN" sz="1600" b="0"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算筹的空间布局</a:t>
            </a:r>
            <a:r>
              <a:rPr lang="en-US" altLang="zh-CN" sz="1600" b="0" dirty="0" err="1">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来表示的</a:t>
            </a:r>
            <a:r>
              <a:rPr lang="zh-CN" altLang="en-US" sz="1600" b="0" dirty="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0" dirty="0" err="1">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复杂的表达式可以通过多个算筹的组合来表示</a:t>
            </a:r>
            <a:r>
              <a:rPr lang="en-US" altLang="zh-CN" sz="1600" b="0" dirty="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0747" name="TextBox 6"/>
          <p:cNvSpPr txBox="1"/>
          <p:nvPr/>
        </p:nvSpPr>
        <p:spPr>
          <a:xfrm>
            <a:off x="3635896" y="4399633"/>
            <a:ext cx="4154363" cy="666079"/>
          </a:xfrm>
          <a:prstGeom prst="rect">
            <a:avLst/>
          </a:prstGeom>
        </p:spPr>
        <p:txBody>
          <a:bodyPr vert="horz" wrap="square" lIns="123825" tIns="123825" rIns="57150" bIns="123825" rtlCol="0" anchor="b"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2400" b="1"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从筹算到珠算</a:t>
            </a:r>
            <a:endParaRPr lang="en-US" sz="2400" b="1"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0750" name="图片 30749"/>
          <p:cNvPicPr>
            <a:picLocks noChangeAspect="1"/>
          </p:cNvPicPr>
          <p:nvPr/>
        </p:nvPicPr>
        <p:blipFill>
          <a:blip r:embed="rId4"/>
          <a:stretch>
            <a:fillRect/>
          </a:stretch>
        </p:blipFill>
        <p:spPr>
          <a:xfrm>
            <a:off x="200564" y="4868784"/>
            <a:ext cx="3045458" cy="1656560"/>
          </a:xfrm>
          <a:prstGeom prst="rect">
            <a:avLst/>
          </a:prstGeom>
        </p:spPr>
      </p:pic>
      <p:sp>
        <p:nvSpPr>
          <p:cNvPr id="30751" name="TextBox 6"/>
          <p:cNvSpPr txBox="1"/>
          <p:nvPr/>
        </p:nvSpPr>
        <p:spPr>
          <a:xfrm>
            <a:off x="3664406" y="3212615"/>
            <a:ext cx="4507994" cy="526877"/>
          </a:xfrm>
          <a:prstGeom prst="rect">
            <a:avLst/>
          </a:prstGeom>
        </p:spPr>
        <p:txBody>
          <a:bodyPr vert="horz" wrap="square" lIns="123825" tIns="123825" rIns="57150" bIns="123825" rtlCol="0" anchor="b"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2400" b="1"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表达式结构</a:t>
            </a:r>
            <a:r>
              <a:rPr lang="en-US" sz="2400" b="1" dirty="0" err="1">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表示</a:t>
            </a:r>
            <a:endParaRPr lang="en-US" sz="2400" b="1"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49" y="1384422"/>
            <a:ext cx="2793078" cy="4409926"/>
          </a:xfrm>
          <a:prstGeom prst="rect">
            <a:avLst/>
          </a:prstGeom>
        </p:spPr>
      </p:pic>
      <p:sp>
        <p:nvSpPr>
          <p:cNvPr id="4" name="AutoShape 4"/>
          <p:cNvSpPr/>
          <p:nvPr/>
        </p:nvSpPr>
        <p:spPr>
          <a:xfrm>
            <a:off x="3140142" y="4906068"/>
            <a:ext cx="526101" cy="412578"/>
          </a:xfrm>
          <a:prstGeom prst="rect">
            <a:avLst/>
          </a:prstGeom>
          <a:solidFill>
            <a:schemeClr val="accent1">
              <a:alpha val="100000"/>
            </a:schemeClr>
          </a:solidFill>
        </p:spPr>
      </p:sp>
      <p:sp>
        <p:nvSpPr>
          <p:cNvPr id="5" name="AutoShape 5"/>
          <p:cNvSpPr/>
          <p:nvPr/>
        </p:nvSpPr>
        <p:spPr>
          <a:xfrm>
            <a:off x="3146268" y="2830787"/>
            <a:ext cx="526101" cy="412578"/>
          </a:xfrm>
          <a:prstGeom prst="rect">
            <a:avLst/>
          </a:prstGeom>
          <a:solidFill>
            <a:schemeClr val="accent1">
              <a:alpha val="100000"/>
            </a:schemeClr>
          </a:solidFill>
        </p:spPr>
      </p:sp>
      <p:sp>
        <p:nvSpPr>
          <p:cNvPr id="6" name="AutoShape 6"/>
          <p:cNvSpPr/>
          <p:nvPr/>
        </p:nvSpPr>
        <p:spPr>
          <a:xfrm>
            <a:off x="3146268" y="1144214"/>
            <a:ext cx="526101" cy="412578"/>
          </a:xfrm>
          <a:prstGeom prst="rect">
            <a:avLst/>
          </a:prstGeom>
          <a:solidFill>
            <a:schemeClr val="accent1">
              <a:alpha val="100000"/>
            </a:schemeClr>
          </a:solidFill>
        </p:spPr>
      </p:sp>
      <p:sp>
        <p:nvSpPr>
          <p:cNvPr id="7" name="TextBox 7"/>
          <p:cNvSpPr txBox="1"/>
          <p:nvPr/>
        </p:nvSpPr>
        <p:spPr>
          <a:xfrm>
            <a:off x="3938083" y="2708920"/>
            <a:ext cx="4714875" cy="521494"/>
          </a:xfrm>
          <a:prstGeom prst="rect">
            <a:avLst/>
          </a:prstGeom>
        </p:spPr>
        <p:txBody>
          <a:bodyPr vert="horz" wrap="square" lIns="92869" tIns="92869" rIns="42863" bIns="92869" rtlCol="0" anchor="ctr" anchorCtr="0">
            <a:noAutofit/>
          </a:bodyPr>
          <a:lstStyle/>
          <a:p>
            <a:pPr defTabSz="685800" eaLnBrk="1" fontAlgn="auto" hangingPunct="1">
              <a:lnSpc>
                <a:spcPct val="140000"/>
              </a:lnSpc>
              <a:spcBef>
                <a:spcPts val="0"/>
              </a:spcBef>
              <a:spcAft>
                <a:spcPts val="0"/>
              </a:spcAft>
            </a:pPr>
            <a:r>
              <a:rPr lang="zh-CN" altLang="en-US" dirty="0">
                <a:solidFill>
                  <a:srgbClr val="7C48B8">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表达式的表示</a:t>
            </a:r>
            <a:endParaRPr lang="en-US" dirty="0">
              <a:solidFill>
                <a:srgbClr val="7C48B8">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TextBox 8"/>
          <p:cNvSpPr txBox="1"/>
          <p:nvPr/>
        </p:nvSpPr>
        <p:spPr>
          <a:xfrm>
            <a:off x="3944884" y="3171406"/>
            <a:ext cx="4618248" cy="1449353"/>
          </a:xfrm>
          <a:prstGeom prst="rect">
            <a:avLst/>
          </a:prstGeom>
        </p:spPr>
        <p:txBody>
          <a:bodyPr vert="horz" wrap="square" lIns="92869" tIns="92869" rIns="42863" bIns="92869" rtlCol="0" anchor="t" anchorCtr="0">
            <a:noAutofit/>
          </a:bodyPr>
          <a:lstStyle/>
          <a:p>
            <a:pPr defTabSz="685800" eaLnBrk="1" fontAlgn="auto" hangingPunct="1">
              <a:lnSpc>
                <a:spcPct val="140000"/>
              </a:lnSpc>
              <a:spcBef>
                <a:spcPts val="0"/>
              </a:spcBef>
              <a:spcAft>
                <a:spcPts val="0"/>
              </a:spcAft>
            </a:pPr>
            <a:r>
              <a:rPr lang="zh-CN" altLang="en-US" sz="1600" b="0" dirty="0">
                <a:solidFill>
                  <a:srgbClr val="232323">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筹算通过筹的摆放位置和形状来表示数字和运算关系，这种</a:t>
            </a:r>
            <a:r>
              <a:rPr lang="zh-CN" altLang="en-US"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空间布局方式隐含了表达式的结构</a:t>
            </a:r>
            <a:r>
              <a:rPr lang="zh-CN" altLang="en-US" sz="1600" b="0" dirty="0">
                <a:solidFill>
                  <a:srgbClr val="232323">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。类似于算法优先法中，通过分析表达式的结构（如通过</a:t>
            </a:r>
            <a:r>
              <a:rPr lang="zh-CN" altLang="en-US"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语法分析树</a:t>
            </a:r>
            <a:r>
              <a:rPr lang="zh-CN" altLang="en-US" sz="1600" b="0" dirty="0">
                <a:solidFill>
                  <a:srgbClr val="232323">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）来确定算符的执行顺序。</a:t>
            </a:r>
          </a:p>
          <a:p>
            <a:pPr defTabSz="685800" eaLnBrk="1" fontAlgn="auto" hangingPunct="1">
              <a:lnSpc>
                <a:spcPct val="140000"/>
              </a:lnSpc>
              <a:spcBef>
                <a:spcPts val="0"/>
              </a:spcBef>
              <a:spcAft>
                <a:spcPts val="0"/>
              </a:spcAft>
            </a:pPr>
            <a:endParaRPr lang="en-US" sz="1600" b="0" dirty="0">
              <a:solidFill>
                <a:srgbClr val="232323">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TextBox 9"/>
          <p:cNvSpPr txBox="1"/>
          <p:nvPr/>
        </p:nvSpPr>
        <p:spPr>
          <a:xfrm>
            <a:off x="3977812" y="4797152"/>
            <a:ext cx="4714875" cy="521494"/>
          </a:xfrm>
          <a:prstGeom prst="rect">
            <a:avLst/>
          </a:prstGeom>
        </p:spPr>
        <p:txBody>
          <a:bodyPr vert="horz" wrap="square" lIns="92869" tIns="92869" rIns="42863" bIns="92869" rtlCol="0" anchor="ctr" anchorCtr="0">
            <a:noAutofit/>
          </a:bodyPr>
          <a:lstStyle/>
          <a:p>
            <a:pPr defTabSz="685800" eaLnBrk="1" fontAlgn="auto" hangingPunct="1">
              <a:lnSpc>
                <a:spcPct val="140000"/>
              </a:lnSpc>
              <a:spcBef>
                <a:spcPts val="0"/>
              </a:spcBef>
              <a:spcAft>
                <a:spcPts val="0"/>
              </a:spcAft>
            </a:pPr>
            <a:r>
              <a:rPr lang="zh-CN" altLang="en-US" dirty="0">
                <a:solidFill>
                  <a:srgbClr val="7C48B8">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简化计算</a:t>
            </a:r>
            <a:endParaRPr lang="en-US" dirty="0">
              <a:solidFill>
                <a:srgbClr val="7C48B8">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TextBox 10"/>
          <p:cNvSpPr txBox="1"/>
          <p:nvPr/>
        </p:nvSpPr>
        <p:spPr>
          <a:xfrm>
            <a:off x="3969701" y="5290480"/>
            <a:ext cx="4593431" cy="1265244"/>
          </a:xfrm>
          <a:prstGeom prst="rect">
            <a:avLst/>
          </a:prstGeom>
        </p:spPr>
        <p:txBody>
          <a:bodyPr vert="horz" wrap="square" lIns="92869" tIns="92869" rIns="42863" bIns="92869" rtlCol="0" anchor="t" anchorCtr="0">
            <a:noAutofit/>
          </a:bodyPr>
          <a:lstStyle/>
          <a:p>
            <a:pPr defTabSz="685800" eaLnBrk="1" fontAlgn="auto" hangingPunct="1">
              <a:lnSpc>
                <a:spcPct val="140000"/>
              </a:lnSpc>
              <a:spcBef>
                <a:spcPts val="0"/>
              </a:spcBef>
              <a:spcAft>
                <a:spcPts val="0"/>
              </a:spcAft>
            </a:pPr>
            <a:r>
              <a:rPr lang="zh-CN" altLang="en-US" sz="1600" b="0" dirty="0">
                <a:solidFill>
                  <a:srgbClr val="232323">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九九歌极大地简化了乘法运算，与</a:t>
            </a:r>
            <a:r>
              <a:rPr lang="zh-CN" altLang="en-US"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算法优化</a:t>
            </a:r>
            <a:r>
              <a:rPr lang="zh-CN" altLang="en-US" sz="1600" b="0" dirty="0">
                <a:solidFill>
                  <a:srgbClr val="232323">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，包括算符优先法在内的许多算法设计原则，即寻求高效、简洁的运算路径是一致的。</a:t>
            </a:r>
          </a:p>
        </p:txBody>
      </p:sp>
      <p:sp>
        <p:nvSpPr>
          <p:cNvPr id="14" name="TextBox 11"/>
          <p:cNvSpPr txBox="1"/>
          <p:nvPr/>
        </p:nvSpPr>
        <p:spPr>
          <a:xfrm>
            <a:off x="3908980" y="1035298"/>
            <a:ext cx="4714875" cy="521494"/>
          </a:xfrm>
          <a:prstGeom prst="rect">
            <a:avLst/>
          </a:prstGeom>
        </p:spPr>
        <p:txBody>
          <a:bodyPr vert="horz" wrap="square" lIns="92869" tIns="92869" rIns="42863" bIns="92869" rtlCol="0" anchor="ctr" anchorCtr="0">
            <a:noAutofit/>
          </a:bodyPr>
          <a:lstStyle/>
          <a:p>
            <a:pPr defTabSz="685800" eaLnBrk="1" fontAlgn="auto" hangingPunct="1">
              <a:lnSpc>
                <a:spcPct val="140000"/>
              </a:lnSpc>
              <a:spcBef>
                <a:spcPts val="0"/>
              </a:spcBef>
              <a:spcAft>
                <a:spcPts val="0"/>
              </a:spcAft>
            </a:pPr>
            <a:r>
              <a:rPr lang="en-US" dirty="0" err="1">
                <a:solidFill>
                  <a:srgbClr val="7C48B8">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算符优先法</a:t>
            </a:r>
            <a:endParaRPr lang="en-US" dirty="0">
              <a:solidFill>
                <a:srgbClr val="7C48B8">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TextBox 12"/>
          <p:cNvSpPr txBox="1"/>
          <p:nvPr/>
        </p:nvSpPr>
        <p:spPr>
          <a:xfrm>
            <a:off x="3824000" y="1483952"/>
            <a:ext cx="4978108" cy="1460199"/>
          </a:xfrm>
          <a:prstGeom prst="rect">
            <a:avLst/>
          </a:prstGeom>
        </p:spPr>
        <p:txBody>
          <a:bodyPr vert="horz" wrap="square" lIns="92869" tIns="92869" rIns="42863" bIns="92869" rtlCol="0" anchor="t" anchorCtr="0">
            <a:noAutofit/>
          </a:bodyPr>
          <a:lstStyle/>
          <a:p>
            <a:pPr defTabSz="685800" eaLnBrk="1" fontAlgn="auto" hangingPunct="1">
              <a:lnSpc>
                <a:spcPct val="140000"/>
              </a:lnSpc>
              <a:spcBef>
                <a:spcPts val="0"/>
              </a:spcBef>
              <a:spcAft>
                <a:spcPts val="0"/>
              </a:spcAft>
            </a:pPr>
            <a:r>
              <a:rPr lang="zh-CN" altLang="en-US" sz="1600" b="0" dirty="0">
                <a:solidFill>
                  <a:srgbClr val="232323">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在筹算中，虽没有明确提出“算符优先法”这一概念，但其遵循了优先级规则，比如</a:t>
            </a:r>
            <a:r>
              <a:rPr lang="zh-CN" altLang="en-US" sz="16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先乘除后加减</a:t>
            </a:r>
            <a:r>
              <a:rPr lang="zh-CN" altLang="en-US" sz="1600" b="0" dirty="0">
                <a:solidFill>
                  <a:srgbClr val="232323">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，这与算符优先法中的优先级设定是相吻合的。</a:t>
            </a:r>
          </a:p>
        </p:txBody>
      </p:sp>
      <p:sp>
        <p:nvSpPr>
          <p:cNvPr id="17" name="AutoShape 13"/>
          <p:cNvSpPr/>
          <p:nvPr/>
        </p:nvSpPr>
        <p:spPr>
          <a:xfrm>
            <a:off x="3466080" y="4906068"/>
            <a:ext cx="412578" cy="412578"/>
          </a:xfrm>
          <a:prstGeom prst="ellipse">
            <a:avLst/>
          </a:prstGeom>
          <a:solidFill>
            <a:schemeClr val="accent1">
              <a:alpha val="100000"/>
            </a:schemeClr>
          </a:solidFill>
        </p:spPr>
      </p:sp>
      <p:sp>
        <p:nvSpPr>
          <p:cNvPr id="21" name="AutoShape 14"/>
          <p:cNvSpPr/>
          <p:nvPr/>
        </p:nvSpPr>
        <p:spPr>
          <a:xfrm>
            <a:off x="2927727" y="4906068"/>
            <a:ext cx="412578" cy="412578"/>
          </a:xfrm>
          <a:prstGeom prst="ellipse">
            <a:avLst/>
          </a:prstGeom>
          <a:solidFill>
            <a:schemeClr val="accent1">
              <a:alpha val="100000"/>
            </a:schemeClr>
          </a:solidFill>
        </p:spPr>
      </p:sp>
      <p:sp>
        <p:nvSpPr>
          <p:cNvPr id="25" name="AutoShape 15"/>
          <p:cNvSpPr/>
          <p:nvPr/>
        </p:nvSpPr>
        <p:spPr>
          <a:xfrm>
            <a:off x="3472206" y="2830787"/>
            <a:ext cx="412578" cy="412578"/>
          </a:xfrm>
          <a:prstGeom prst="ellipse">
            <a:avLst/>
          </a:prstGeom>
          <a:solidFill>
            <a:schemeClr val="accent1">
              <a:alpha val="100000"/>
            </a:schemeClr>
          </a:solidFill>
        </p:spPr>
      </p:sp>
      <p:sp>
        <p:nvSpPr>
          <p:cNvPr id="26" name="AutoShape 16"/>
          <p:cNvSpPr/>
          <p:nvPr/>
        </p:nvSpPr>
        <p:spPr>
          <a:xfrm>
            <a:off x="2933853" y="2830787"/>
            <a:ext cx="412578" cy="412578"/>
          </a:xfrm>
          <a:prstGeom prst="ellipse">
            <a:avLst/>
          </a:prstGeom>
          <a:solidFill>
            <a:schemeClr val="accent1">
              <a:alpha val="100000"/>
            </a:schemeClr>
          </a:solidFill>
        </p:spPr>
      </p:sp>
      <p:sp>
        <p:nvSpPr>
          <p:cNvPr id="28" name="AutoShape 17"/>
          <p:cNvSpPr/>
          <p:nvPr/>
        </p:nvSpPr>
        <p:spPr>
          <a:xfrm>
            <a:off x="3472206" y="1144214"/>
            <a:ext cx="412578" cy="412578"/>
          </a:xfrm>
          <a:prstGeom prst="ellipse">
            <a:avLst/>
          </a:prstGeom>
          <a:solidFill>
            <a:schemeClr val="accent1">
              <a:alpha val="100000"/>
            </a:schemeClr>
          </a:solidFill>
        </p:spPr>
      </p:sp>
      <p:sp>
        <p:nvSpPr>
          <p:cNvPr id="31" name="AutoShape 18"/>
          <p:cNvSpPr/>
          <p:nvPr/>
        </p:nvSpPr>
        <p:spPr>
          <a:xfrm>
            <a:off x="2933853" y="1144214"/>
            <a:ext cx="412578" cy="412578"/>
          </a:xfrm>
          <a:prstGeom prst="ellipse">
            <a:avLst/>
          </a:prstGeom>
          <a:solidFill>
            <a:schemeClr val="accent1">
              <a:alpha val="100000"/>
            </a:schemeClr>
          </a:solidFill>
        </p:spPr>
      </p:sp>
      <p:sp>
        <p:nvSpPr>
          <p:cNvPr id="30720" name="TextBox 19"/>
          <p:cNvSpPr txBox="1"/>
          <p:nvPr/>
        </p:nvSpPr>
        <p:spPr>
          <a:xfrm>
            <a:off x="3115946" y="4935192"/>
            <a:ext cx="574493" cy="354330"/>
          </a:xfrm>
          <a:prstGeom prst="rect">
            <a:avLst/>
          </a:prstGeom>
        </p:spPr>
        <p:txBody>
          <a:bodyPr vert="horz" wrap="square" lIns="68580" tIns="34290" rIns="68580" bIns="34290" rtlCol="0" anchor="ctr" anchorCtr="0">
            <a:noAutofit/>
          </a:bodyPr>
          <a:lstStyle/>
          <a:p>
            <a:pPr algn="ctr" defTabSz="685800" eaLnBrk="1" fontAlgn="auto" hangingPunct="1">
              <a:spcBef>
                <a:spcPts val="280"/>
              </a:spcBef>
              <a:spcAft>
                <a:spcPts val="0"/>
              </a:spcAft>
            </a:pPr>
            <a:r>
              <a:rPr lang="en-US" sz="1745">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03</a:t>
            </a:r>
          </a:p>
        </p:txBody>
      </p:sp>
      <p:sp>
        <p:nvSpPr>
          <p:cNvPr id="30721" name="TextBox 20"/>
          <p:cNvSpPr txBox="1"/>
          <p:nvPr/>
        </p:nvSpPr>
        <p:spPr>
          <a:xfrm>
            <a:off x="3122072" y="2859911"/>
            <a:ext cx="574493" cy="354330"/>
          </a:xfrm>
          <a:prstGeom prst="rect">
            <a:avLst/>
          </a:prstGeom>
        </p:spPr>
        <p:txBody>
          <a:bodyPr vert="horz" wrap="square" lIns="68580" tIns="34290" rIns="68580" bIns="34290" rtlCol="0" anchor="ctr" anchorCtr="0">
            <a:noAutofit/>
          </a:bodyPr>
          <a:lstStyle/>
          <a:p>
            <a:pPr algn="ctr" defTabSz="685800" eaLnBrk="1" fontAlgn="auto" hangingPunct="1">
              <a:spcBef>
                <a:spcPts val="280"/>
              </a:spcBef>
              <a:spcAft>
                <a:spcPts val="0"/>
              </a:spcAft>
            </a:pPr>
            <a:r>
              <a:rPr lang="en-US" sz="1745">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02</a:t>
            </a:r>
          </a:p>
        </p:txBody>
      </p:sp>
      <p:sp>
        <p:nvSpPr>
          <p:cNvPr id="30723" name="TextBox 21"/>
          <p:cNvSpPr txBox="1"/>
          <p:nvPr/>
        </p:nvSpPr>
        <p:spPr>
          <a:xfrm>
            <a:off x="3122072" y="1173338"/>
            <a:ext cx="574493" cy="354330"/>
          </a:xfrm>
          <a:prstGeom prst="rect">
            <a:avLst/>
          </a:prstGeom>
        </p:spPr>
        <p:txBody>
          <a:bodyPr vert="horz" wrap="square" lIns="68580" tIns="34290" rIns="68580" bIns="34290" rtlCol="0" anchor="ctr" anchorCtr="0">
            <a:noAutofit/>
          </a:bodyPr>
          <a:lstStyle/>
          <a:p>
            <a:pPr algn="ctr" defTabSz="685800" eaLnBrk="1" fontAlgn="auto" hangingPunct="1">
              <a:spcBef>
                <a:spcPts val="280"/>
              </a:spcBef>
              <a:spcAft>
                <a:spcPts val="0"/>
              </a:spcAft>
            </a:pPr>
            <a:r>
              <a:rPr lang="en-US" sz="1745">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01</a:t>
            </a:r>
          </a:p>
        </p:txBody>
      </p:sp>
      <p:sp>
        <p:nvSpPr>
          <p:cNvPr id="13" name="标题 1"/>
          <p:cNvSpPr>
            <a:spLocks noGrp="1" noChangeArrowheads="1"/>
          </p:cNvSpPr>
          <p:nvPr>
            <p:ph type="title"/>
          </p:nvPr>
        </p:nvSpPr>
        <p:spPr>
          <a:xfrm>
            <a:off x="844550" y="236538"/>
            <a:ext cx="6400800" cy="45561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古代数学</a:t>
            </a:r>
            <a:r>
              <a:rPr kumimoji="0" lang="en-US" altLang="zh-CN" sz="2800" b="0" i="0" u="none" strike="noStrike" kern="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筹算与珠算</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noChangeArrowheads="1"/>
          </p:cNvSpPr>
          <p:nvPr>
            <p:ph type="title"/>
          </p:nvPr>
        </p:nvSpPr>
        <p:spPr>
          <a:xfrm>
            <a:off x="844550" y="236538"/>
            <a:ext cx="6400800" cy="45561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中国古代数学文化的传承与发展</a:t>
            </a:r>
          </a:p>
        </p:txBody>
      </p:sp>
      <p:pic>
        <p:nvPicPr>
          <p:cNvPr id="2" name="Picture 2"/>
          <p:cNvPicPr>
            <a:picLocks noChangeAspect="1"/>
          </p:cNvPicPr>
          <p:nvPr/>
        </p:nvPicPr>
        <p:blipFill>
          <a:blip r:embed="rId2"/>
          <a:srcRect l="24208" r="24208"/>
          <a:stretch>
            <a:fillRect/>
          </a:stretch>
        </p:blipFill>
        <p:spPr>
          <a:xfrm>
            <a:off x="3337018" y="2737498"/>
            <a:ext cx="2225955" cy="2225955"/>
          </a:xfrm>
          <a:prstGeom prst="ellipse">
            <a:avLst/>
          </a:prstGeom>
          <a:ln w="57150">
            <a:solidFill>
              <a:schemeClr val="accent1"/>
            </a:solidFill>
            <a:prstDash val="solid"/>
          </a:ln>
        </p:spPr>
      </p:pic>
      <p:sp>
        <p:nvSpPr>
          <p:cNvPr id="9" name="TextBox 6"/>
          <p:cNvSpPr txBox="1"/>
          <p:nvPr/>
        </p:nvSpPr>
        <p:spPr>
          <a:xfrm>
            <a:off x="22787" y="2345456"/>
            <a:ext cx="3314231" cy="547835"/>
          </a:xfrm>
          <a:prstGeom prst="rect">
            <a:avLst/>
          </a:prstGeom>
        </p:spPr>
        <p:txBody>
          <a:bodyPr vert="horz" wrap="square" lIns="114300" tIns="57150" rIns="114300" bIns="57150" rtlCol="0" anchor="b" anchorCtr="0">
            <a:noAutofit/>
          </a:bodyPr>
          <a:lstStyle/>
          <a:p>
            <a:pPr>
              <a:lnSpc>
                <a:spcPct val="120000"/>
              </a:lnSpc>
            </a:pPr>
            <a:r>
              <a:rPr lang="zh-CN" altLang="en-US"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民族自信与文化自信</a:t>
            </a:r>
            <a:endParaRPr lang="en-US" sz="2400" b="1"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TextBox 7"/>
          <p:cNvSpPr txBox="1"/>
          <p:nvPr/>
        </p:nvSpPr>
        <p:spPr>
          <a:xfrm>
            <a:off x="22787" y="2890667"/>
            <a:ext cx="3314231" cy="1580007"/>
          </a:xfrm>
          <a:prstGeom prst="rect">
            <a:avLst/>
          </a:prstGeom>
        </p:spPr>
        <p:txBody>
          <a:bodyPr vert="horz" wrap="square" lIns="114300" tIns="57150" rIns="114300" bIns="57150" rtlCol="0" anchor="t" anchorCtr="0">
            <a:noAutofit/>
          </a:bodyPr>
          <a:lstStyle/>
          <a:p>
            <a:pPr>
              <a:lnSpc>
                <a:spcPct val="140000"/>
              </a:lnSpc>
              <a:spcBef>
                <a:spcPct val="0"/>
              </a:spcBef>
            </a:pPr>
            <a:r>
              <a:rPr lang="en-US" altLang="zh-CN" sz="1500" b="0" dirty="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古代数学的辉煌成就，不仅是中国古代科技文化的瑰宝，也是</a:t>
            </a:r>
            <a:r>
              <a:rPr lang="en-US" altLang="zh-CN" sz="15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中华民族文化自信</a:t>
            </a:r>
            <a:r>
              <a:rPr lang="en-US" altLang="zh-CN" sz="1500" b="0" dirty="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的重要来源。我们更应</a:t>
            </a:r>
            <a:r>
              <a:rPr lang="en-US" altLang="zh-CN" sz="15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珍视和传承这份宝贵的文化遗产</a:t>
            </a:r>
            <a:r>
              <a:rPr lang="en-US" altLang="zh-CN" sz="1500" b="0" dirty="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，推动科技与文化的融合发展。</a:t>
            </a:r>
          </a:p>
        </p:txBody>
      </p:sp>
      <p:grpSp>
        <p:nvGrpSpPr>
          <p:cNvPr id="22" name="组合 21"/>
          <p:cNvGrpSpPr/>
          <p:nvPr/>
        </p:nvGrpSpPr>
        <p:grpSpPr>
          <a:xfrm>
            <a:off x="5508104" y="920654"/>
            <a:ext cx="3314231" cy="2125218"/>
            <a:chOff x="5508104" y="920654"/>
            <a:chExt cx="3314231" cy="2125218"/>
          </a:xfrm>
        </p:grpSpPr>
        <p:sp>
          <p:nvSpPr>
            <p:cNvPr id="13" name="TextBox 6"/>
            <p:cNvSpPr txBox="1"/>
            <p:nvPr/>
          </p:nvSpPr>
          <p:spPr>
            <a:xfrm>
              <a:off x="5508104" y="920654"/>
              <a:ext cx="3314231" cy="547835"/>
            </a:xfrm>
            <a:prstGeom prst="rect">
              <a:avLst/>
            </a:prstGeom>
          </p:spPr>
          <p:txBody>
            <a:bodyPr vert="horz" wrap="square" lIns="114300" tIns="57150" rIns="114300" bIns="57150" rtlCol="0" anchor="b" anchorCtr="0">
              <a:noAutofit/>
            </a:bodyPr>
            <a:lstStyle/>
            <a:p>
              <a:pPr>
                <a:lnSpc>
                  <a:spcPct val="120000"/>
                </a:lnSpc>
              </a:pPr>
              <a:r>
                <a:rPr lang="zh-CN" altLang="en-US"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实用性与创新</a:t>
              </a:r>
              <a:endParaRPr lang="en-US" sz="2400" b="1"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TextBox 7"/>
            <p:cNvSpPr txBox="1"/>
            <p:nvPr/>
          </p:nvSpPr>
          <p:spPr>
            <a:xfrm>
              <a:off x="5508104" y="1465865"/>
              <a:ext cx="3314231" cy="1580007"/>
            </a:xfrm>
            <a:prstGeom prst="rect">
              <a:avLst/>
            </a:prstGeom>
          </p:spPr>
          <p:txBody>
            <a:bodyPr vert="horz" wrap="square" lIns="114300" tIns="57150" rIns="114300" bIns="57150" rtlCol="0" anchor="t" anchorCtr="0">
              <a:noAutofit/>
            </a:bodyPr>
            <a:lstStyle/>
            <a:p>
              <a:pPr>
                <a:lnSpc>
                  <a:spcPct val="140000"/>
                </a:lnSpc>
                <a:spcBef>
                  <a:spcPct val="0"/>
                </a:spcBef>
              </a:pPr>
              <a:r>
                <a:rPr lang="zh-CN" altLang="en-US" sz="1500" b="0" dirty="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中国古代数学家在解决实际问题的过程中，不断创新计算方法和工具，如珠算的发明极大地提高了计算速度和准确性。</a:t>
              </a:r>
              <a:r>
                <a:rPr lang="zh-CN" altLang="en-US" sz="15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在算法设计中，应注重实用性，同时勇于探索新的解决方案。</a:t>
              </a:r>
            </a:p>
          </p:txBody>
        </p:sp>
      </p:grpSp>
      <p:grpSp>
        <p:nvGrpSpPr>
          <p:cNvPr id="23" name="组合 22"/>
          <p:cNvGrpSpPr/>
          <p:nvPr/>
        </p:nvGrpSpPr>
        <p:grpSpPr>
          <a:xfrm>
            <a:off x="5436096" y="4236657"/>
            <a:ext cx="3314231" cy="2127842"/>
            <a:chOff x="3536454" y="1620322"/>
            <a:chExt cx="3314231" cy="2127842"/>
          </a:xfrm>
        </p:grpSpPr>
        <p:sp>
          <p:nvSpPr>
            <p:cNvPr id="18" name="TextBox 6"/>
            <p:cNvSpPr txBox="1"/>
            <p:nvPr/>
          </p:nvSpPr>
          <p:spPr>
            <a:xfrm>
              <a:off x="3536454" y="1620322"/>
              <a:ext cx="3314231" cy="547835"/>
            </a:xfrm>
            <a:prstGeom prst="rect">
              <a:avLst/>
            </a:prstGeom>
          </p:spPr>
          <p:txBody>
            <a:bodyPr vert="horz" wrap="square" lIns="114300" tIns="57150" rIns="114300" bIns="57150" rtlCol="0" anchor="b" anchorCtr="0">
              <a:noAutofit/>
            </a:bodyPr>
            <a:lstStyle/>
            <a:p>
              <a:pPr>
                <a:lnSpc>
                  <a:spcPct val="120000"/>
                </a:lnSpc>
              </a:pPr>
              <a:r>
                <a:rPr lang="zh-CN" altLang="en-US"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技术进步与文化传承</a:t>
              </a:r>
              <a:endParaRPr lang="en-US" sz="2400" b="1"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TextBox 7"/>
            <p:cNvSpPr txBox="1"/>
            <p:nvPr/>
          </p:nvSpPr>
          <p:spPr>
            <a:xfrm>
              <a:off x="3536454" y="2168157"/>
              <a:ext cx="3314231" cy="1580007"/>
            </a:xfrm>
            <a:prstGeom prst="rect">
              <a:avLst/>
            </a:prstGeom>
          </p:spPr>
          <p:txBody>
            <a:bodyPr vert="horz" wrap="square" lIns="114300" tIns="57150" rIns="114300" bIns="57150" rtlCol="0" anchor="t" anchorCtr="0">
              <a:noAutofit/>
            </a:bodyPr>
            <a:lstStyle/>
            <a:p>
              <a:pPr>
                <a:lnSpc>
                  <a:spcPct val="140000"/>
                </a:lnSpc>
                <a:spcBef>
                  <a:spcPct val="0"/>
                </a:spcBef>
              </a:pPr>
              <a:r>
                <a:rPr lang="en-US" altLang="zh-CN" sz="1500" b="0" dirty="0" err="1">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从筹算到珠算，不仅是计算工具的物理形态变化，更是对计算效率和文化传承的深刻理解。</a:t>
              </a:r>
              <a:r>
                <a:rPr lang="en-US" altLang="zh-CN" sz="1500" b="0"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技术的发展应与文化底蕴相结合，才能走得更远</a:t>
              </a:r>
              <a:r>
                <a:rPr lang="en-US" altLang="zh-CN" sz="15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750" y="3691255"/>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500188" y="3691255"/>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b="0" kern="1200" cap="none" spc="0" normalizeH="0" baseline="0" noProof="0" dirty="0">
                <a:solidFill>
                  <a:srgbClr val="FEFFFF"/>
                </a:solidFill>
                <a:latin typeface="+mn-lt"/>
                <a:ea typeface="+mn-ea"/>
                <a:cs typeface="+mn-ea"/>
                <a:sym typeface="+mn-lt"/>
              </a:rPr>
              <a:t>目录导航</a:t>
            </a:r>
          </a:p>
        </p:txBody>
      </p:sp>
      <p:sp>
        <p:nvSpPr>
          <p:cNvPr id="14" name="文本框 13"/>
          <p:cNvSpPr txBox="1"/>
          <p:nvPr/>
        </p:nvSpPr>
        <p:spPr>
          <a:xfrm>
            <a:off x="1619250" y="2471738"/>
            <a:ext cx="720725" cy="3416320"/>
          </a:xfrm>
          <a:prstGeom prst="rect">
            <a:avLst/>
          </a:prstGeom>
          <a:noFill/>
        </p:spPr>
        <p:txBody>
          <a:bodyPr>
            <a:spAutoFit/>
          </a:bodyPr>
          <a:lstStyle/>
          <a:p>
            <a:pPr marR="0" defTabSz="914400">
              <a:lnSpc>
                <a:spcPct val="150000"/>
              </a:lnSpc>
              <a:buClrTx/>
              <a:buSzTx/>
              <a:buFontTx/>
              <a:buNone/>
              <a:defRPr/>
            </a:pPr>
            <a:r>
              <a:rPr kumimoji="0" lang="en-US" altLang="zh-CN" b="0" kern="1200" cap="none" spc="0" normalizeH="0" baseline="0" noProof="0" dirty="0">
                <a:solidFill>
                  <a:schemeClr val="tx1"/>
                </a:solidFill>
                <a:latin typeface="+mn-lt"/>
                <a:ea typeface="+mn-ea"/>
                <a:cs typeface="+mn-ea"/>
                <a:sym typeface="+mn-lt"/>
              </a:rPr>
              <a:t>3.1</a:t>
            </a:r>
            <a:endParaRPr kumimoji="0" lang="zh-CN" altLang="en-US" b="0" kern="1200" cap="none" spc="0" normalizeH="0" baseline="0" noProof="0" dirty="0">
              <a:solidFill>
                <a:srgbClr val="FEFFFF"/>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3.2</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chemeClr val="bg1"/>
                </a:solidFill>
                <a:latin typeface="+mn-lt"/>
                <a:ea typeface="+mn-ea"/>
                <a:cs typeface="+mn-ea"/>
                <a:sym typeface="+mn-lt"/>
              </a:rPr>
              <a:t>3.3</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3.4</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3.5</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smtClean="0">
                <a:solidFill>
                  <a:srgbClr val="000000">
                    <a:lumMod val="95000"/>
                    <a:lumOff val="5000"/>
                  </a:srgbClr>
                </a:solidFill>
                <a:latin typeface="+mn-lt"/>
                <a:ea typeface="+mn-ea"/>
                <a:cs typeface="+mn-ea"/>
                <a:sym typeface="+mn-lt"/>
              </a:rPr>
              <a:t>3.6</a:t>
            </a:r>
            <a:endParaRPr kumimoji="0" lang="en-US" altLang="zh-CN" b="0" kern="1200" cap="none" spc="0" normalizeH="0" baseline="0" noProof="0" dirty="0">
              <a:solidFill>
                <a:srgbClr val="000000">
                  <a:lumMod val="95000"/>
                  <a:lumOff val="5000"/>
                </a:srgbClr>
              </a:solidFill>
              <a:latin typeface="+mn-lt"/>
              <a:ea typeface="+mn-ea"/>
              <a:cs typeface="+mn-ea"/>
              <a:sym typeface="+mn-lt"/>
            </a:endParaRPr>
          </a:p>
        </p:txBody>
      </p:sp>
      <p:sp>
        <p:nvSpPr>
          <p:cNvPr id="15" name="文本框 14"/>
          <p:cNvSpPr txBox="1"/>
          <p:nvPr/>
        </p:nvSpPr>
        <p:spPr>
          <a:xfrm>
            <a:off x="2457450" y="2471738"/>
            <a:ext cx="4129088" cy="3416320"/>
          </a:xfrm>
          <a:prstGeom prst="rect">
            <a:avLst/>
          </a:prstGeom>
          <a:noFill/>
        </p:spPr>
        <p:txBody>
          <a:bodyPr>
            <a:spAutoFit/>
          </a:bodyPr>
          <a:lstStyle/>
          <a:p>
            <a:pPr marR="0" defTabSz="914400">
              <a:lnSpc>
                <a:spcPct val="150000"/>
              </a:lnSpc>
              <a:buClrTx/>
              <a:buSzTx/>
              <a:buFontTx/>
              <a:buNone/>
              <a:defRPr/>
            </a:pPr>
            <a:r>
              <a:rPr kumimoji="0" lang="zh-CN" altLang="en-US" b="0" kern="1200" cap="none" spc="0" normalizeH="0" baseline="0" noProof="0" dirty="0">
                <a:solidFill>
                  <a:schemeClr val="tx1"/>
                </a:solidFill>
                <a:latin typeface="+mn-lt"/>
                <a:ea typeface="+mn-ea"/>
                <a:cs typeface="+mn-ea"/>
                <a:sym typeface="+mn-lt"/>
              </a:rPr>
              <a:t>栈和队列的定义和特点</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案例引入</a:t>
            </a:r>
          </a:p>
          <a:p>
            <a:pPr marR="0" defTabSz="914400">
              <a:lnSpc>
                <a:spcPct val="150000"/>
              </a:lnSpc>
              <a:buClrTx/>
              <a:buSzTx/>
              <a:buFontTx/>
              <a:buNone/>
              <a:defRPr/>
            </a:pPr>
            <a:r>
              <a:rPr kumimoji="0" lang="zh-CN" altLang="en-US" b="0" kern="1200" cap="none" spc="0" normalizeH="0" baseline="0" noProof="0" dirty="0">
                <a:solidFill>
                  <a:schemeClr val="bg1"/>
                </a:solidFill>
                <a:latin typeface="+mn-lt"/>
                <a:ea typeface="+mn-ea"/>
                <a:cs typeface="+mn-ea"/>
                <a:sym typeface="+mn-lt"/>
              </a:rPr>
              <a:t>栈的表示和操作的实现</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栈与递归</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队列的的表示和操作的实现</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案例分析与</a:t>
            </a:r>
            <a:r>
              <a:rPr kumimoji="0" lang="zh-CN" altLang="en-US" b="0" kern="1200" cap="none" spc="0" normalizeH="0" baseline="0" noProof="0" dirty="0" smtClean="0">
                <a:solidFill>
                  <a:srgbClr val="000000">
                    <a:lumMod val="95000"/>
                    <a:lumOff val="5000"/>
                  </a:srgbClr>
                </a:solidFill>
                <a:latin typeface="+mn-lt"/>
                <a:ea typeface="+mn-ea"/>
                <a:cs typeface="+mn-ea"/>
                <a:sym typeface="+mn-lt"/>
              </a:rPr>
              <a:t>实现</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矩形 1"/>
          <p:cNvSpPr>
            <a:spLocks noChangeArrowheads="1"/>
          </p:cNvSpPr>
          <p:nvPr/>
        </p:nvSpPr>
        <p:spPr bwMode="auto">
          <a:xfrm>
            <a:off x="5364163" y="1484313"/>
            <a:ext cx="3779838" cy="3543300"/>
          </a:xfrm>
          <a:prstGeom prst="rect">
            <a:avLst/>
          </a:prstGeom>
          <a:solidFill>
            <a:srgbClr val="D4E6F4"/>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602" name="Rectangle 58"/>
          <p:cNvSpPr>
            <a:spLocks noChangeArrowheads="1"/>
          </p:cNvSpPr>
          <p:nvPr/>
        </p:nvSpPr>
        <p:spPr bwMode="auto">
          <a:xfrm>
            <a:off x="830263" y="139700"/>
            <a:ext cx="67754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chemeClr val="bg1"/>
                </a:solidFill>
                <a:effectLst/>
                <a:uLnTx/>
                <a:uFillTx/>
                <a:latin typeface="+mn-lt"/>
                <a:ea typeface="+mn-ea"/>
                <a:cs typeface="+mn-ea"/>
                <a:sym typeface="+mn-lt"/>
              </a:rPr>
              <a:t>栈的表示和操作的实现</a:t>
            </a:r>
          </a:p>
        </p:txBody>
      </p:sp>
      <p:pic>
        <p:nvPicPr>
          <p:cNvPr id="34820" name="Picture 5"/>
          <p:cNvPicPr>
            <a:picLocks noChangeAspect="1"/>
          </p:cNvPicPr>
          <p:nvPr/>
        </p:nvPicPr>
        <p:blipFill>
          <a:blip r:embed="rId2"/>
          <a:stretch>
            <a:fillRect/>
          </a:stretch>
        </p:blipFill>
        <p:spPr>
          <a:xfrm>
            <a:off x="9525" y="1484313"/>
            <a:ext cx="5105400" cy="3543300"/>
          </a:xfrm>
          <a:prstGeom prst="rect">
            <a:avLst/>
          </a:prstGeom>
          <a:noFill/>
          <a:ln w="9525">
            <a:noFill/>
          </a:ln>
        </p:spPr>
      </p:pic>
      <p:sp>
        <p:nvSpPr>
          <p:cNvPr id="11" name="Rectangle 6"/>
          <p:cNvSpPr>
            <a:spLocks noChangeArrowheads="1"/>
          </p:cNvSpPr>
          <p:nvPr/>
        </p:nvSpPr>
        <p:spPr bwMode="auto">
          <a:xfrm>
            <a:off x="5364163" y="1484313"/>
            <a:ext cx="3779838" cy="1006475"/>
          </a:xfrm>
          <a:prstGeom prst="rect">
            <a:avLst/>
          </a:prstGeom>
          <a:solidFill>
            <a:srgbClr val="D4E6F4"/>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进” ＝压入</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=PUSH</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出” ＝弹出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=POP( )</a:t>
            </a:r>
          </a:p>
        </p:txBody>
      </p:sp>
      <p:sp>
        <p:nvSpPr>
          <p:cNvPr id="32774" name="矩形 2"/>
          <p:cNvSpPr>
            <a:spLocks noChangeArrowheads="1"/>
          </p:cNvSpPr>
          <p:nvPr/>
        </p:nvSpPr>
        <p:spPr bwMode="auto">
          <a:xfrm>
            <a:off x="5364163" y="2852738"/>
            <a:ext cx="3779838" cy="7143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75" name="矩形 11"/>
          <p:cNvSpPr>
            <a:spLocks noChangeArrowheads="1"/>
          </p:cNvSpPr>
          <p:nvPr/>
        </p:nvSpPr>
        <p:spPr bwMode="auto">
          <a:xfrm>
            <a:off x="5354638" y="3036888"/>
            <a:ext cx="3779838" cy="73025"/>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76" name="矩形 12"/>
          <p:cNvSpPr>
            <a:spLocks noChangeArrowheads="1"/>
          </p:cNvSpPr>
          <p:nvPr/>
        </p:nvSpPr>
        <p:spPr bwMode="auto">
          <a:xfrm>
            <a:off x="5354638" y="3251200"/>
            <a:ext cx="3779838" cy="73025"/>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77" name="矩形 13"/>
          <p:cNvSpPr>
            <a:spLocks noChangeArrowheads="1"/>
          </p:cNvSpPr>
          <p:nvPr/>
        </p:nvSpPr>
        <p:spPr bwMode="auto">
          <a:xfrm>
            <a:off x="5354638" y="3465513"/>
            <a:ext cx="3779838" cy="7143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78" name="矩形 14"/>
          <p:cNvSpPr>
            <a:spLocks noChangeArrowheads="1"/>
          </p:cNvSpPr>
          <p:nvPr/>
        </p:nvSpPr>
        <p:spPr bwMode="auto">
          <a:xfrm>
            <a:off x="5340350" y="3689350"/>
            <a:ext cx="3779838" cy="73025"/>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79" name="矩形 15"/>
          <p:cNvSpPr>
            <a:spLocks noChangeArrowheads="1"/>
          </p:cNvSpPr>
          <p:nvPr/>
        </p:nvSpPr>
        <p:spPr bwMode="auto">
          <a:xfrm>
            <a:off x="5340350" y="3878263"/>
            <a:ext cx="3779838" cy="73025"/>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0" name="矩形 16"/>
          <p:cNvSpPr>
            <a:spLocks noChangeArrowheads="1"/>
          </p:cNvSpPr>
          <p:nvPr/>
        </p:nvSpPr>
        <p:spPr bwMode="auto">
          <a:xfrm>
            <a:off x="5364163" y="4117975"/>
            <a:ext cx="3779838" cy="7143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1" name="矩形 17"/>
          <p:cNvSpPr>
            <a:spLocks noChangeArrowheads="1"/>
          </p:cNvSpPr>
          <p:nvPr/>
        </p:nvSpPr>
        <p:spPr bwMode="auto">
          <a:xfrm>
            <a:off x="5354638" y="4303713"/>
            <a:ext cx="3779838" cy="7143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2" name="矩形 18"/>
          <p:cNvSpPr>
            <a:spLocks noChangeArrowheads="1"/>
          </p:cNvSpPr>
          <p:nvPr/>
        </p:nvSpPr>
        <p:spPr bwMode="auto">
          <a:xfrm>
            <a:off x="5340350" y="4537075"/>
            <a:ext cx="3779838" cy="7143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3" name="矩形 19"/>
          <p:cNvSpPr>
            <a:spLocks noChangeArrowheads="1"/>
          </p:cNvSpPr>
          <p:nvPr/>
        </p:nvSpPr>
        <p:spPr bwMode="auto">
          <a:xfrm>
            <a:off x="5340350" y="4727575"/>
            <a:ext cx="3779838" cy="7143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1"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29"/>
          <p:cNvGrpSpPr/>
          <p:nvPr/>
        </p:nvGrpSpPr>
        <p:grpSpPr>
          <a:xfrm>
            <a:off x="5707063" y="917575"/>
            <a:ext cx="1752600" cy="3625850"/>
            <a:chOff x="3439" y="595"/>
            <a:chExt cx="1104" cy="2284"/>
          </a:xfrm>
        </p:grpSpPr>
        <p:sp>
          <p:nvSpPr>
            <p:cNvPr id="26628" name="Rectangle 1030"/>
            <p:cNvSpPr>
              <a:spLocks noChangeArrowheads="1"/>
            </p:cNvSpPr>
            <p:nvPr/>
          </p:nvSpPr>
          <p:spPr bwMode="auto">
            <a:xfrm>
              <a:off x="3466" y="2592"/>
              <a:ext cx="105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a:t>
              </a:r>
              <a:r>
                <a:rPr kumimoji="0" lang="en-US" altLang="zh-CN" sz="2400" b="1" i="0" u="none" strike="noStrike" kern="1200" cap="none" spc="0" normalizeH="0" baseline="-10000" noProof="0">
                  <a:ln>
                    <a:noFill/>
                  </a:ln>
                  <a:solidFill>
                    <a:schemeClr val="tx1"/>
                  </a:solidFill>
                  <a:effectLst/>
                  <a:uLnTx/>
                  <a:uFillTx/>
                  <a:latin typeface="+mn-lt"/>
                  <a:ea typeface="+mn-ea"/>
                  <a:cs typeface="+mn-ea"/>
                  <a:sym typeface="+mn-lt"/>
                </a:rPr>
                <a:t>1</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29" name="Rectangle 1031"/>
            <p:cNvSpPr>
              <a:spLocks noChangeArrowheads="1"/>
            </p:cNvSpPr>
            <p:nvPr/>
          </p:nvSpPr>
          <p:spPr bwMode="auto">
            <a:xfrm>
              <a:off x="3466" y="2305"/>
              <a:ext cx="105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a:t>
              </a:r>
              <a:r>
                <a:rPr kumimoji="0" lang="en-US" altLang="zh-CN" sz="2400" b="1" i="0" u="none" strike="noStrike" kern="1200" cap="none" spc="0" normalizeH="0" baseline="-10000" noProof="0">
                  <a:ln>
                    <a:noFill/>
                  </a:ln>
                  <a:solidFill>
                    <a:schemeClr val="tx1"/>
                  </a:solidFill>
                  <a:effectLst/>
                  <a:uLnTx/>
                  <a:uFillTx/>
                  <a:latin typeface="+mn-lt"/>
                  <a:ea typeface="+mn-ea"/>
                  <a:cs typeface="+mn-ea"/>
                  <a:sym typeface="+mn-lt"/>
                </a:rPr>
                <a:t>2</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30" name="Rectangle 1032"/>
            <p:cNvSpPr>
              <a:spLocks noChangeArrowheads="1"/>
            </p:cNvSpPr>
            <p:nvPr/>
          </p:nvSpPr>
          <p:spPr bwMode="auto">
            <a:xfrm>
              <a:off x="3466" y="2018"/>
              <a:ext cx="105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26631" name="Rectangle 1033"/>
            <p:cNvSpPr>
              <a:spLocks noChangeArrowheads="1"/>
            </p:cNvSpPr>
            <p:nvPr/>
          </p:nvSpPr>
          <p:spPr bwMode="auto">
            <a:xfrm>
              <a:off x="3466" y="1158"/>
              <a:ext cx="105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a:t>
              </a:r>
              <a:r>
                <a:rPr kumimoji="0" lang="en-US" altLang="zh-CN" sz="2400" b="1" i="0" u="none" strike="noStrike" kern="1200" cap="none" spc="0" normalizeH="0" baseline="-10000" noProof="0">
                  <a:ln>
                    <a:noFill/>
                  </a:ln>
                  <a:solidFill>
                    <a:schemeClr val="tx1"/>
                  </a:solidFill>
                  <a:effectLst/>
                  <a:uLnTx/>
                  <a:uFillTx/>
                  <a:latin typeface="+mn-lt"/>
                  <a:ea typeface="+mn-ea"/>
                  <a:cs typeface="+mn-ea"/>
                  <a:sym typeface="+mn-lt"/>
                </a:rPr>
                <a:t>n</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32" name="Line 1034"/>
            <p:cNvSpPr>
              <a:spLocks noChangeShapeType="1"/>
            </p:cNvSpPr>
            <p:nvPr/>
          </p:nvSpPr>
          <p:spPr bwMode="auto">
            <a:xfrm>
              <a:off x="3466" y="928"/>
              <a:ext cx="1056"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33" name="Line 1035"/>
            <p:cNvSpPr>
              <a:spLocks noChangeShapeType="1"/>
            </p:cNvSpPr>
            <p:nvPr/>
          </p:nvSpPr>
          <p:spPr bwMode="auto">
            <a:xfrm>
              <a:off x="3466" y="1468"/>
              <a:ext cx="105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34" name="Line 1036"/>
            <p:cNvSpPr>
              <a:spLocks noChangeShapeType="1"/>
            </p:cNvSpPr>
            <p:nvPr/>
          </p:nvSpPr>
          <p:spPr bwMode="auto">
            <a:xfrm>
              <a:off x="3466" y="2018"/>
              <a:ext cx="105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35" name="Line 1037"/>
            <p:cNvSpPr>
              <a:spLocks noChangeShapeType="1"/>
            </p:cNvSpPr>
            <p:nvPr/>
          </p:nvSpPr>
          <p:spPr bwMode="auto">
            <a:xfrm>
              <a:off x="3466" y="2305"/>
              <a:ext cx="105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36" name="Line 1038"/>
            <p:cNvSpPr>
              <a:spLocks noChangeShapeType="1"/>
            </p:cNvSpPr>
            <p:nvPr/>
          </p:nvSpPr>
          <p:spPr bwMode="auto">
            <a:xfrm>
              <a:off x="3466" y="2592"/>
              <a:ext cx="105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37" name="Line 1039"/>
            <p:cNvSpPr>
              <a:spLocks noChangeShapeType="1"/>
            </p:cNvSpPr>
            <p:nvPr/>
          </p:nvSpPr>
          <p:spPr bwMode="auto">
            <a:xfrm>
              <a:off x="3466" y="2879"/>
              <a:ext cx="1056"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38" name="Line 1040"/>
            <p:cNvSpPr>
              <a:spLocks noChangeShapeType="1"/>
            </p:cNvSpPr>
            <p:nvPr/>
          </p:nvSpPr>
          <p:spPr bwMode="auto">
            <a:xfrm>
              <a:off x="3466" y="928"/>
              <a:ext cx="0" cy="1951"/>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39" name="Line 1041"/>
            <p:cNvSpPr>
              <a:spLocks noChangeShapeType="1"/>
            </p:cNvSpPr>
            <p:nvPr/>
          </p:nvSpPr>
          <p:spPr bwMode="auto">
            <a:xfrm>
              <a:off x="4522" y="918"/>
              <a:ext cx="0" cy="1961"/>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40" name="Rectangle 1042"/>
            <p:cNvSpPr>
              <a:spLocks noChangeArrowheads="1"/>
            </p:cNvSpPr>
            <p:nvPr/>
          </p:nvSpPr>
          <p:spPr bwMode="auto">
            <a:xfrm>
              <a:off x="3604" y="595"/>
              <a:ext cx="81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2"/>
                  </a:solidFill>
                  <a:effectLst/>
                  <a:uLnTx/>
                  <a:uFillTx/>
                  <a:latin typeface="+mn-lt"/>
                  <a:ea typeface="+mn-ea"/>
                  <a:cs typeface="+mn-ea"/>
                  <a:sym typeface="+mn-lt"/>
                </a:rPr>
                <a:t>顺序栈</a:t>
              </a: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S</a:t>
              </a:r>
            </a:p>
          </p:txBody>
        </p:sp>
        <p:sp>
          <p:nvSpPr>
            <p:cNvPr id="26641" name="Rectangle 1043"/>
            <p:cNvSpPr>
              <a:spLocks noChangeArrowheads="1"/>
            </p:cNvSpPr>
            <p:nvPr/>
          </p:nvSpPr>
          <p:spPr bwMode="auto">
            <a:xfrm>
              <a:off x="3466" y="1731"/>
              <a:ext cx="105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a:t>
              </a:r>
              <a:r>
                <a:rPr kumimoji="0" lang="en-US" altLang="zh-CN" sz="2400" b="1" i="0" u="none" strike="noStrike" kern="1200" cap="none" spc="0" normalizeH="0" baseline="-10000" noProof="0">
                  <a:ln>
                    <a:noFill/>
                  </a:ln>
                  <a:solidFill>
                    <a:schemeClr val="tx1"/>
                  </a:solidFill>
                  <a:effectLst/>
                  <a:uLnTx/>
                  <a:uFillTx/>
                  <a:latin typeface="+mn-lt"/>
                  <a:ea typeface="+mn-ea"/>
                  <a:cs typeface="+mn-ea"/>
                  <a:sym typeface="+mn-lt"/>
                </a:rPr>
                <a:t>i</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42" name="Line 1044"/>
            <p:cNvSpPr>
              <a:spLocks noChangeShapeType="1"/>
            </p:cNvSpPr>
            <p:nvPr/>
          </p:nvSpPr>
          <p:spPr bwMode="auto">
            <a:xfrm>
              <a:off x="3471" y="1745"/>
              <a:ext cx="105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43" name="Rectangle 1045"/>
            <p:cNvSpPr>
              <a:spLocks noChangeArrowheads="1"/>
            </p:cNvSpPr>
            <p:nvPr/>
          </p:nvSpPr>
          <p:spPr bwMode="auto">
            <a:xfrm>
              <a:off x="3439" y="1421"/>
              <a:ext cx="105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26644" name="Line 1046"/>
            <p:cNvSpPr>
              <a:spLocks noChangeShapeType="1"/>
            </p:cNvSpPr>
            <p:nvPr/>
          </p:nvSpPr>
          <p:spPr bwMode="auto">
            <a:xfrm>
              <a:off x="3459" y="1168"/>
              <a:ext cx="105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45" name="Rectangle 1047"/>
            <p:cNvSpPr>
              <a:spLocks noChangeArrowheads="1"/>
            </p:cNvSpPr>
            <p:nvPr/>
          </p:nvSpPr>
          <p:spPr bwMode="auto">
            <a:xfrm>
              <a:off x="3487" y="918"/>
              <a:ext cx="105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zh-CN" altLang="zh-CN" sz="2400" b="1" i="0" u="none" strike="noStrike" kern="1200" cap="none" spc="0" normalizeH="0" baseline="0" noProof="0">
                <a:ln>
                  <a:noFill/>
                </a:ln>
                <a:solidFill>
                  <a:schemeClr val="accent1"/>
                </a:solidFill>
                <a:effectLst/>
                <a:uLnTx/>
                <a:uFillTx/>
                <a:latin typeface="+mn-lt"/>
                <a:ea typeface="+mn-ea"/>
                <a:cs typeface="+mn-ea"/>
                <a:sym typeface="+mn-lt"/>
              </a:endParaRPr>
            </a:p>
          </p:txBody>
        </p:sp>
      </p:grpSp>
      <p:grpSp>
        <p:nvGrpSpPr>
          <p:cNvPr id="3" name="Group 1049"/>
          <p:cNvGrpSpPr/>
          <p:nvPr/>
        </p:nvGrpSpPr>
        <p:grpSpPr>
          <a:xfrm>
            <a:off x="2873375" y="1319213"/>
            <a:ext cx="869950" cy="3184525"/>
            <a:chOff x="1654" y="848"/>
            <a:chExt cx="548" cy="2006"/>
          </a:xfrm>
        </p:grpSpPr>
        <p:sp>
          <p:nvSpPr>
            <p:cNvPr id="26647" name="Text Box 1050"/>
            <p:cNvSpPr txBox="1">
              <a:spLocks noChangeArrowheads="1"/>
            </p:cNvSpPr>
            <p:nvPr/>
          </p:nvSpPr>
          <p:spPr bwMode="auto">
            <a:xfrm>
              <a:off x="1654" y="2564"/>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表头</a:t>
              </a:r>
            </a:p>
          </p:txBody>
        </p:sp>
        <p:sp>
          <p:nvSpPr>
            <p:cNvPr id="26648" name="Text Box 1051"/>
            <p:cNvSpPr txBox="1">
              <a:spLocks noChangeArrowheads="1"/>
            </p:cNvSpPr>
            <p:nvPr/>
          </p:nvSpPr>
          <p:spPr bwMode="auto">
            <a:xfrm>
              <a:off x="1700" y="848"/>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表尾</a:t>
              </a:r>
            </a:p>
          </p:txBody>
        </p:sp>
        <p:sp>
          <p:nvSpPr>
            <p:cNvPr id="26649" name="Line 1052"/>
            <p:cNvSpPr>
              <a:spLocks noChangeShapeType="1"/>
            </p:cNvSpPr>
            <p:nvPr/>
          </p:nvSpPr>
          <p:spPr bwMode="auto">
            <a:xfrm flipH="1">
              <a:off x="1698" y="2854"/>
              <a:ext cx="429" cy="0"/>
            </a:xfrm>
            <a:prstGeom prst="line">
              <a:avLst/>
            </a:prstGeom>
            <a:noFill/>
            <a:ln w="9525">
              <a:solidFill>
                <a:schemeClr val="tx1"/>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50" name="Line 1053"/>
            <p:cNvSpPr>
              <a:spLocks noChangeShapeType="1"/>
            </p:cNvSpPr>
            <p:nvPr/>
          </p:nvSpPr>
          <p:spPr bwMode="auto">
            <a:xfrm flipH="1">
              <a:off x="1698" y="1132"/>
              <a:ext cx="504" cy="0"/>
            </a:xfrm>
            <a:prstGeom prst="line">
              <a:avLst/>
            </a:prstGeom>
            <a:noFill/>
            <a:ln w="9525">
              <a:solidFill>
                <a:schemeClr val="tx1"/>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4" name="Group 1054"/>
          <p:cNvGrpSpPr/>
          <p:nvPr/>
        </p:nvGrpSpPr>
        <p:grpSpPr>
          <a:xfrm>
            <a:off x="7427913" y="1628775"/>
            <a:ext cx="1681162" cy="2855913"/>
            <a:chOff x="4523" y="1043"/>
            <a:chExt cx="1059" cy="1799"/>
          </a:xfrm>
        </p:grpSpPr>
        <p:sp>
          <p:nvSpPr>
            <p:cNvPr id="26652" name="Text Box 1055"/>
            <p:cNvSpPr txBox="1">
              <a:spLocks noChangeArrowheads="1"/>
            </p:cNvSpPr>
            <p:nvPr/>
          </p:nvSpPr>
          <p:spPr bwMode="auto">
            <a:xfrm>
              <a:off x="4605" y="2551"/>
              <a:ext cx="87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栈底</a:t>
              </a: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base</a:t>
              </a:r>
            </a:p>
          </p:txBody>
        </p:sp>
        <p:sp>
          <p:nvSpPr>
            <p:cNvPr id="26653" name="Line 1056"/>
            <p:cNvSpPr>
              <a:spLocks noChangeShapeType="1"/>
            </p:cNvSpPr>
            <p:nvPr/>
          </p:nvSpPr>
          <p:spPr bwMode="auto">
            <a:xfrm flipH="1">
              <a:off x="4577" y="2806"/>
              <a:ext cx="1005" cy="0"/>
            </a:xfrm>
            <a:prstGeom prst="line">
              <a:avLst/>
            </a:prstGeom>
            <a:noFill/>
            <a:ln w="9525">
              <a:solidFill>
                <a:schemeClr val="tx1"/>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54" name="Text Box 1057"/>
            <p:cNvSpPr txBox="1">
              <a:spLocks noChangeArrowheads="1"/>
            </p:cNvSpPr>
            <p:nvPr/>
          </p:nvSpPr>
          <p:spPr bwMode="auto">
            <a:xfrm>
              <a:off x="4523" y="1043"/>
              <a:ext cx="77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栈顶</a:t>
              </a: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top</a:t>
              </a:r>
            </a:p>
          </p:txBody>
        </p:sp>
        <p:sp>
          <p:nvSpPr>
            <p:cNvPr id="26655" name="Line 1058"/>
            <p:cNvSpPr>
              <a:spLocks noChangeShapeType="1"/>
            </p:cNvSpPr>
            <p:nvPr/>
          </p:nvSpPr>
          <p:spPr bwMode="auto">
            <a:xfrm flipH="1">
              <a:off x="4543" y="1338"/>
              <a:ext cx="813" cy="0"/>
            </a:xfrm>
            <a:prstGeom prst="line">
              <a:avLst/>
            </a:prstGeom>
            <a:noFill/>
            <a:ln w="9525">
              <a:solidFill>
                <a:schemeClr val="tx1"/>
              </a:solidFill>
              <a:rou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5" name="Group 1059"/>
          <p:cNvGrpSpPr/>
          <p:nvPr/>
        </p:nvGrpSpPr>
        <p:grpSpPr>
          <a:xfrm>
            <a:off x="4694238" y="1546225"/>
            <a:ext cx="1012825" cy="2978150"/>
            <a:chOff x="2801" y="991"/>
            <a:chExt cx="638" cy="1876"/>
          </a:xfrm>
        </p:grpSpPr>
        <p:sp>
          <p:nvSpPr>
            <p:cNvPr id="26657" name="Text Box 1060"/>
            <p:cNvSpPr txBox="1">
              <a:spLocks noChangeArrowheads="1"/>
            </p:cNvSpPr>
            <p:nvPr/>
          </p:nvSpPr>
          <p:spPr bwMode="auto">
            <a:xfrm>
              <a:off x="2821" y="2617"/>
              <a:ext cx="6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ea"/>
                  <a:sym typeface="+mn-lt"/>
                </a:rPr>
                <a:t>低地址</a:t>
              </a:r>
            </a:p>
          </p:txBody>
        </p:sp>
        <p:sp>
          <p:nvSpPr>
            <p:cNvPr id="26658" name="Text Box 1061"/>
            <p:cNvSpPr txBox="1">
              <a:spLocks noChangeArrowheads="1"/>
            </p:cNvSpPr>
            <p:nvPr/>
          </p:nvSpPr>
          <p:spPr bwMode="auto">
            <a:xfrm>
              <a:off x="2801" y="991"/>
              <a:ext cx="6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chemeClr val="tx1"/>
                  </a:solidFill>
                  <a:effectLst/>
                  <a:uLnTx/>
                  <a:uFillTx/>
                  <a:latin typeface="+mn-lt"/>
                  <a:ea typeface="+mn-ea"/>
                  <a:cs typeface="+mn-ea"/>
                  <a:sym typeface="+mn-lt"/>
                </a:rPr>
                <a:t>高地址</a:t>
              </a:r>
            </a:p>
          </p:txBody>
        </p:sp>
      </p:grpSp>
      <p:sp>
        <p:nvSpPr>
          <p:cNvPr id="367654" name="Rectangle 1062"/>
          <p:cNvSpPr>
            <a:spLocks noChangeArrowheads="1"/>
          </p:cNvSpPr>
          <p:nvPr/>
        </p:nvSpPr>
        <p:spPr bwMode="auto">
          <a:xfrm>
            <a:off x="877888" y="4786313"/>
            <a:ext cx="23463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写入：</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v[</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a</a:t>
            </a:r>
            <a:r>
              <a:rPr kumimoji="0" lang="en-US" altLang="zh-CN" sz="2800" b="0" i="0" u="none" strike="noStrike" kern="1200" cap="none" spc="0" normalizeH="0" baseline="-10000" noProof="0" dirty="0">
                <a:ln>
                  <a:noFill/>
                </a:ln>
                <a:solidFill>
                  <a:srgbClr val="FF0000"/>
                </a:solidFill>
                <a:effectLst/>
                <a:uLnTx/>
                <a:uFillTx/>
                <a:latin typeface="+mn-lt"/>
                <a:ea typeface="+mn-ea"/>
                <a:cs typeface="+mn-ea"/>
                <a:sym typeface="+mn-lt"/>
              </a:rPr>
              <a:t>i</a:t>
            </a:r>
            <a:endPar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读出：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x= v[</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367655" name="Rectangle 1063"/>
          <p:cNvSpPr>
            <a:spLocks noChangeArrowheads="1"/>
          </p:cNvSpPr>
          <p:nvPr/>
        </p:nvSpPr>
        <p:spPr bwMode="auto">
          <a:xfrm>
            <a:off x="5508625" y="4852988"/>
            <a:ext cx="30099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压入：</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hlinkClick r:id="" action="ppaction://hlinkshowjump?jump=nextslide"/>
              </a:rPr>
              <a:t>PUSH (</a:t>
            </a:r>
            <a:r>
              <a:rPr kumimoji="0" lang="en-US" altLang="zh-CN" sz="2400" b="0" i="0" u="none" strike="noStrike" kern="1200" cap="none" spc="0" normalizeH="0" baseline="0" noProof="0" dirty="0">
                <a:ln>
                  <a:noFill/>
                </a:ln>
                <a:solidFill>
                  <a:schemeClr val="accent1"/>
                </a:solidFill>
                <a:effectLst/>
                <a:uLnTx/>
                <a:uFillTx/>
                <a:latin typeface="+mn-lt"/>
                <a:ea typeface="+mn-ea"/>
                <a:cs typeface="+mn-ea"/>
                <a:sym typeface="+mn-lt"/>
                <a:hlinkClick r:id="" action="ppaction://hlinkshowjump?jump=nextslide"/>
              </a:rPr>
              <a:t>a</a:t>
            </a:r>
            <a:r>
              <a:rPr kumimoji="0" lang="en-US" altLang="zh-CN" sz="2400" b="0" i="0" u="none" strike="noStrike" kern="1200" cap="none" spc="0" normalizeH="0" baseline="-10000" noProof="0" dirty="0">
                <a:ln>
                  <a:noFill/>
                </a:ln>
                <a:solidFill>
                  <a:schemeClr val="accent1"/>
                </a:solidFill>
                <a:effectLst/>
                <a:uLnTx/>
                <a:uFillTx/>
                <a:latin typeface="+mn-lt"/>
                <a:ea typeface="+mn-ea"/>
                <a:cs typeface="+mn-ea"/>
                <a:sym typeface="+mn-lt"/>
                <a:hlinkClick r:id="" action="ppaction://hlinkshowjump?jump=nextslide"/>
              </a:rPr>
              <a:t>n+1</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hlinkClick r:id="" action="ppaction://hlinkshowjump?jump=nextslide"/>
              </a:rPr>
              <a:t>)</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弹出：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hlinkClick r:id="" action="ppaction://noaction"/>
              </a:rPr>
              <a:t>POP  (x)</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367656" name="Rectangle 1064"/>
          <p:cNvSpPr>
            <a:spLocks noChangeArrowheads="1"/>
          </p:cNvSpPr>
          <p:nvPr/>
        </p:nvSpPr>
        <p:spPr bwMode="auto">
          <a:xfrm>
            <a:off x="-47625" y="5965825"/>
            <a:ext cx="9253538" cy="892175"/>
          </a:xfrm>
          <a:prstGeom prst="rect">
            <a:avLst/>
          </a:prstGeom>
          <a:solidFill>
            <a:srgbClr val="D4E6F4"/>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前提：一定要预设栈顶指针</a:t>
            </a: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top</a:t>
            </a: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0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6" name="Group 1065"/>
          <p:cNvGrpSpPr/>
          <p:nvPr/>
        </p:nvGrpSpPr>
        <p:grpSpPr>
          <a:xfrm>
            <a:off x="212725" y="1430338"/>
            <a:ext cx="1016000" cy="3117850"/>
            <a:chOff x="-22" y="918"/>
            <a:chExt cx="640" cy="1964"/>
          </a:xfrm>
        </p:grpSpPr>
        <p:sp>
          <p:nvSpPr>
            <p:cNvPr id="26663" name="Text Box 1066"/>
            <p:cNvSpPr txBox="1">
              <a:spLocks noChangeArrowheads="1"/>
            </p:cNvSpPr>
            <p:nvPr/>
          </p:nvSpPr>
          <p:spPr bwMode="auto">
            <a:xfrm>
              <a:off x="-22" y="2632"/>
              <a:ext cx="6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chemeClr val="tx1"/>
                  </a:solidFill>
                  <a:effectLst/>
                  <a:uLnTx/>
                  <a:uFillTx/>
                  <a:latin typeface="+mn-lt"/>
                  <a:ea typeface="+mn-ea"/>
                  <a:cs typeface="+mn-ea"/>
                  <a:sym typeface="+mn-lt"/>
                </a:rPr>
                <a:t>低地址</a:t>
              </a:r>
            </a:p>
          </p:txBody>
        </p:sp>
        <p:sp>
          <p:nvSpPr>
            <p:cNvPr id="26664" name="Text Box 1067"/>
            <p:cNvSpPr txBox="1">
              <a:spLocks noChangeArrowheads="1"/>
            </p:cNvSpPr>
            <p:nvPr/>
          </p:nvSpPr>
          <p:spPr bwMode="auto">
            <a:xfrm>
              <a:off x="0" y="918"/>
              <a:ext cx="6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chemeClr val="tx1"/>
                  </a:solidFill>
                  <a:effectLst/>
                  <a:uLnTx/>
                  <a:uFillTx/>
                  <a:latin typeface="+mn-lt"/>
                  <a:ea typeface="+mn-ea"/>
                  <a:cs typeface="+mn-ea"/>
                  <a:sym typeface="+mn-lt"/>
                </a:rPr>
                <a:t>高地址</a:t>
              </a:r>
            </a:p>
          </p:txBody>
        </p:sp>
        <p:sp>
          <p:nvSpPr>
            <p:cNvPr id="26665" name="Rectangle 1068"/>
            <p:cNvSpPr>
              <a:spLocks noChangeArrowheads="1"/>
            </p:cNvSpPr>
            <p:nvPr/>
          </p:nvSpPr>
          <p:spPr bwMode="auto">
            <a:xfrm>
              <a:off x="113" y="1695"/>
              <a:ext cx="39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v[i]</a:t>
              </a:r>
            </a:p>
          </p:txBody>
        </p:sp>
      </p:grpSp>
      <p:grpSp>
        <p:nvGrpSpPr>
          <p:cNvPr id="7" name="Group 1069"/>
          <p:cNvGrpSpPr/>
          <p:nvPr/>
        </p:nvGrpSpPr>
        <p:grpSpPr>
          <a:xfrm>
            <a:off x="1168400" y="908050"/>
            <a:ext cx="1766888" cy="3698875"/>
            <a:chOff x="580" y="589"/>
            <a:chExt cx="1113" cy="2330"/>
          </a:xfrm>
        </p:grpSpPr>
        <p:sp>
          <p:nvSpPr>
            <p:cNvPr id="26667" name="Rectangle 1070"/>
            <p:cNvSpPr>
              <a:spLocks noChangeArrowheads="1"/>
            </p:cNvSpPr>
            <p:nvPr/>
          </p:nvSpPr>
          <p:spPr bwMode="auto">
            <a:xfrm>
              <a:off x="596" y="2632"/>
              <a:ext cx="105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a:t>
              </a:r>
              <a:r>
                <a:rPr kumimoji="0" lang="en-US" altLang="zh-CN" sz="2400" b="1" i="0" u="none" strike="noStrike" kern="1200" cap="none" spc="0" normalizeH="0" baseline="-10000" noProof="0">
                  <a:ln>
                    <a:noFill/>
                  </a:ln>
                  <a:solidFill>
                    <a:schemeClr val="tx1"/>
                  </a:solidFill>
                  <a:effectLst/>
                  <a:uLnTx/>
                  <a:uFillTx/>
                  <a:latin typeface="+mn-lt"/>
                  <a:ea typeface="+mn-ea"/>
                  <a:cs typeface="+mn-ea"/>
                  <a:sym typeface="+mn-lt"/>
                </a:rPr>
                <a:t>1</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68" name="Rectangle 1071"/>
            <p:cNvSpPr>
              <a:spLocks noChangeArrowheads="1"/>
            </p:cNvSpPr>
            <p:nvPr/>
          </p:nvSpPr>
          <p:spPr bwMode="auto">
            <a:xfrm>
              <a:off x="596" y="2345"/>
              <a:ext cx="105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a:t>
              </a:r>
              <a:r>
                <a:rPr kumimoji="0" lang="en-US" altLang="zh-CN" sz="2400" b="1" i="0" u="none" strike="noStrike" kern="1200" cap="none" spc="0" normalizeH="0" baseline="-10000" noProof="0">
                  <a:ln>
                    <a:noFill/>
                  </a:ln>
                  <a:solidFill>
                    <a:schemeClr val="tx1"/>
                  </a:solidFill>
                  <a:effectLst/>
                  <a:uLnTx/>
                  <a:uFillTx/>
                  <a:latin typeface="+mn-lt"/>
                  <a:ea typeface="+mn-ea"/>
                  <a:cs typeface="+mn-ea"/>
                  <a:sym typeface="+mn-lt"/>
                </a:rPr>
                <a:t>2</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69" name="Rectangle 1072"/>
            <p:cNvSpPr>
              <a:spLocks noChangeArrowheads="1"/>
            </p:cNvSpPr>
            <p:nvPr/>
          </p:nvSpPr>
          <p:spPr bwMode="auto">
            <a:xfrm>
              <a:off x="580" y="1730"/>
              <a:ext cx="105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2800" b="1" i="0" u="none" strike="noStrike" kern="1200" cap="none" spc="0" normalizeH="0" baseline="0" noProof="0">
                  <a:ln>
                    <a:noFill/>
                  </a:ln>
                  <a:solidFill>
                    <a:srgbClr val="FF0000"/>
                  </a:solidFill>
                  <a:effectLst/>
                  <a:uLnTx/>
                  <a:uFillTx/>
                  <a:latin typeface="+mn-lt"/>
                  <a:ea typeface="+mn-ea"/>
                  <a:cs typeface="+mn-ea"/>
                  <a:sym typeface="+mn-lt"/>
                </a:rPr>
                <a:t>a</a:t>
              </a:r>
              <a:r>
                <a:rPr kumimoji="0" lang="en-US" altLang="zh-CN" sz="2800" b="1" i="0" u="none" strike="noStrike" kern="1200" cap="none" spc="0" normalizeH="0" baseline="-10000" noProof="0">
                  <a:ln>
                    <a:noFill/>
                  </a:ln>
                  <a:solidFill>
                    <a:srgbClr val="FF0000"/>
                  </a:solidFill>
                  <a:effectLst/>
                  <a:uLnTx/>
                  <a:uFillTx/>
                  <a:latin typeface="+mn-lt"/>
                  <a:ea typeface="+mn-ea"/>
                  <a:cs typeface="+mn-ea"/>
                  <a:sym typeface="+mn-lt"/>
                </a:rPr>
                <a:t>i</a:t>
              </a:r>
              <a:endParaRPr kumimoji="0" lang="en-US" altLang="zh-CN" sz="2800" b="1" i="0" u="none" strike="noStrike" kern="1200" cap="none" spc="0" normalizeH="0" baseline="0" noProof="0">
                <a:ln>
                  <a:noFill/>
                </a:ln>
                <a:solidFill>
                  <a:srgbClr val="FF0000"/>
                </a:solidFill>
                <a:effectLst/>
                <a:uLnTx/>
                <a:uFillTx/>
                <a:latin typeface="+mn-lt"/>
                <a:ea typeface="+mn-ea"/>
                <a:cs typeface="+mn-ea"/>
                <a:sym typeface="+mn-lt"/>
              </a:endParaRPr>
            </a:p>
          </p:txBody>
        </p:sp>
        <p:sp>
          <p:nvSpPr>
            <p:cNvPr id="26670" name="Rectangle 1073"/>
            <p:cNvSpPr>
              <a:spLocks noChangeArrowheads="1"/>
            </p:cNvSpPr>
            <p:nvPr/>
          </p:nvSpPr>
          <p:spPr bwMode="auto">
            <a:xfrm>
              <a:off x="618" y="1146"/>
              <a:ext cx="1056"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a:t>
              </a:r>
              <a:r>
                <a:rPr kumimoji="0" lang="en-US" altLang="zh-CN" sz="2400" b="1" i="0" u="none" strike="noStrike" kern="1200" cap="none" spc="0" normalizeH="0" baseline="-10000" noProof="0">
                  <a:ln>
                    <a:noFill/>
                  </a:ln>
                  <a:solidFill>
                    <a:schemeClr val="tx1"/>
                  </a:solidFill>
                  <a:effectLst/>
                  <a:uLnTx/>
                  <a:uFillTx/>
                  <a:latin typeface="+mn-lt"/>
                  <a:ea typeface="+mn-ea"/>
                  <a:cs typeface="+mn-ea"/>
                  <a:sym typeface="+mn-lt"/>
                </a:rPr>
                <a:t>n</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71" name="Line 1074"/>
            <p:cNvSpPr>
              <a:spLocks noChangeShapeType="1"/>
            </p:cNvSpPr>
            <p:nvPr/>
          </p:nvSpPr>
          <p:spPr bwMode="auto">
            <a:xfrm>
              <a:off x="596" y="928"/>
              <a:ext cx="1056"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72" name="Line 1075"/>
            <p:cNvSpPr>
              <a:spLocks noChangeShapeType="1"/>
            </p:cNvSpPr>
            <p:nvPr/>
          </p:nvSpPr>
          <p:spPr bwMode="auto">
            <a:xfrm>
              <a:off x="596" y="1412"/>
              <a:ext cx="105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73" name="Line 1076"/>
            <p:cNvSpPr>
              <a:spLocks noChangeShapeType="1"/>
            </p:cNvSpPr>
            <p:nvPr/>
          </p:nvSpPr>
          <p:spPr bwMode="auto">
            <a:xfrm>
              <a:off x="596" y="1718"/>
              <a:ext cx="105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74" name="Line 1077"/>
            <p:cNvSpPr>
              <a:spLocks noChangeShapeType="1"/>
            </p:cNvSpPr>
            <p:nvPr/>
          </p:nvSpPr>
          <p:spPr bwMode="auto">
            <a:xfrm>
              <a:off x="596" y="2025"/>
              <a:ext cx="105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75" name="Line 1078"/>
            <p:cNvSpPr>
              <a:spLocks noChangeShapeType="1"/>
            </p:cNvSpPr>
            <p:nvPr/>
          </p:nvSpPr>
          <p:spPr bwMode="auto">
            <a:xfrm>
              <a:off x="596" y="2345"/>
              <a:ext cx="105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76" name="Line 1079"/>
            <p:cNvSpPr>
              <a:spLocks noChangeShapeType="1"/>
            </p:cNvSpPr>
            <p:nvPr/>
          </p:nvSpPr>
          <p:spPr bwMode="auto">
            <a:xfrm>
              <a:off x="596" y="2632"/>
              <a:ext cx="105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77" name="Line 1080"/>
            <p:cNvSpPr>
              <a:spLocks noChangeShapeType="1"/>
            </p:cNvSpPr>
            <p:nvPr/>
          </p:nvSpPr>
          <p:spPr bwMode="auto">
            <a:xfrm>
              <a:off x="596" y="2919"/>
              <a:ext cx="1056"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78" name="Line 1081"/>
            <p:cNvSpPr>
              <a:spLocks noChangeShapeType="1"/>
            </p:cNvSpPr>
            <p:nvPr/>
          </p:nvSpPr>
          <p:spPr bwMode="auto">
            <a:xfrm>
              <a:off x="596" y="928"/>
              <a:ext cx="0" cy="1991"/>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79" name="Line 1082"/>
            <p:cNvSpPr>
              <a:spLocks noChangeShapeType="1"/>
            </p:cNvSpPr>
            <p:nvPr/>
          </p:nvSpPr>
          <p:spPr bwMode="auto">
            <a:xfrm>
              <a:off x="1652" y="928"/>
              <a:ext cx="0" cy="1991"/>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6680" name="Rectangle 1083"/>
            <p:cNvSpPr>
              <a:spLocks noChangeArrowheads="1"/>
            </p:cNvSpPr>
            <p:nvPr/>
          </p:nvSpPr>
          <p:spPr bwMode="auto">
            <a:xfrm>
              <a:off x="596" y="2038"/>
              <a:ext cx="105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p>
          </p:txBody>
        </p:sp>
        <p:sp>
          <p:nvSpPr>
            <p:cNvPr id="26681" name="Rectangle 1084"/>
            <p:cNvSpPr>
              <a:spLocks noChangeArrowheads="1"/>
            </p:cNvSpPr>
            <p:nvPr/>
          </p:nvSpPr>
          <p:spPr bwMode="auto">
            <a:xfrm>
              <a:off x="580" y="589"/>
              <a:ext cx="11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2"/>
                  </a:solidFill>
                  <a:effectLst/>
                  <a:uLnTx/>
                  <a:uFillTx/>
                  <a:latin typeface="+mn-lt"/>
                  <a:ea typeface="+mn-ea"/>
                  <a:cs typeface="+mn-ea"/>
                  <a:sym typeface="+mn-lt"/>
                </a:rPr>
                <a:t>顺序表</a:t>
              </a: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V[n]</a:t>
              </a:r>
            </a:p>
          </p:txBody>
        </p:sp>
        <p:sp>
          <p:nvSpPr>
            <p:cNvPr id="26682" name="Rectangle 1085"/>
            <p:cNvSpPr>
              <a:spLocks noChangeArrowheads="1"/>
            </p:cNvSpPr>
            <p:nvPr/>
          </p:nvSpPr>
          <p:spPr bwMode="auto">
            <a:xfrm>
              <a:off x="596" y="1404"/>
              <a:ext cx="105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p>
          </p:txBody>
        </p:sp>
        <p:sp>
          <p:nvSpPr>
            <p:cNvPr id="26683" name="Line 1086"/>
            <p:cNvSpPr>
              <a:spLocks noChangeShapeType="1"/>
            </p:cNvSpPr>
            <p:nvPr/>
          </p:nvSpPr>
          <p:spPr bwMode="auto">
            <a:xfrm>
              <a:off x="596" y="1138"/>
              <a:ext cx="105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367680" name="Rectangle 1088"/>
          <p:cNvSpPr>
            <a:spLocks noChangeArrowheads="1"/>
          </p:cNvSpPr>
          <p:nvPr/>
        </p:nvSpPr>
        <p:spPr bwMode="auto">
          <a:xfrm>
            <a:off x="6142038" y="1322388"/>
            <a:ext cx="9699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0" u="none" strike="noStrike" kern="1200" cap="none" spc="0" normalizeH="0" baseline="0" noProof="0">
                <a:ln>
                  <a:noFill/>
                </a:ln>
                <a:solidFill>
                  <a:srgbClr val="FF0000"/>
                </a:solidFill>
                <a:effectLst/>
                <a:uLnTx/>
                <a:uFillTx/>
                <a:latin typeface="+mn-lt"/>
                <a:ea typeface="+mn-ea"/>
                <a:cs typeface="+mn-ea"/>
                <a:sym typeface="+mn-lt"/>
              </a:rPr>
              <a:t>a</a:t>
            </a:r>
            <a:r>
              <a:rPr kumimoji="0" lang="en-US" altLang="zh-CN" sz="2800" b="1" i="0" u="none" strike="noStrike" kern="1200" cap="none" spc="0" normalizeH="0" baseline="-10000" noProof="0">
                <a:ln>
                  <a:noFill/>
                </a:ln>
                <a:solidFill>
                  <a:srgbClr val="FF0000"/>
                </a:solidFill>
                <a:effectLst/>
                <a:uLnTx/>
                <a:uFillTx/>
                <a:latin typeface="+mn-lt"/>
                <a:ea typeface="+mn-ea"/>
                <a:cs typeface="+mn-ea"/>
                <a:sym typeface="+mn-lt"/>
              </a:rPr>
              <a:t>n+1</a:t>
            </a:r>
          </a:p>
        </p:txBody>
      </p:sp>
      <p:sp>
        <p:nvSpPr>
          <p:cNvPr id="26685" name="Rectangle 1089"/>
          <p:cNvSpPr>
            <a:spLocks noChangeArrowheads="1"/>
          </p:cNvSpPr>
          <p:nvPr/>
        </p:nvSpPr>
        <p:spPr bwMode="auto">
          <a:xfrm>
            <a:off x="927100" y="225425"/>
            <a:ext cx="54864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chemeClr val="bg1"/>
                </a:solidFill>
                <a:effectLst/>
                <a:uLnTx/>
                <a:uFillTx/>
                <a:latin typeface="+mn-lt"/>
                <a:ea typeface="+mn-ea"/>
                <a:cs typeface="+mn-ea"/>
                <a:sym typeface="+mn-lt"/>
              </a:rPr>
              <a:t>顺序栈与顺序表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499"/>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67654">
                                            <p:txEl>
                                              <p:pRg st="0" end="0"/>
                                            </p:txEl>
                                          </p:spTgt>
                                        </p:tgtEl>
                                        <p:attrNameLst>
                                          <p:attrName>style.visibility</p:attrName>
                                        </p:attrNameLst>
                                      </p:cBhvr>
                                      <p:to>
                                        <p:strVal val="visible"/>
                                      </p:to>
                                    </p:set>
                                    <p:animEffect transition="in" filter="wipe(left)">
                                      <p:cBhvr>
                                        <p:cTn id="18" dur="500"/>
                                        <p:tgtEl>
                                          <p:spTgt spid="36765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67654">
                                            <p:txEl>
                                              <p:pRg st="1" end="1"/>
                                            </p:txEl>
                                          </p:spTgt>
                                        </p:tgtEl>
                                        <p:attrNameLst>
                                          <p:attrName>style.visibility</p:attrName>
                                        </p:attrNameLst>
                                      </p:cBhvr>
                                      <p:to>
                                        <p:strVal val="visible"/>
                                      </p:to>
                                    </p:set>
                                    <p:animEffect transition="in" filter="wipe(left)">
                                      <p:cBhvr>
                                        <p:cTn id="23" dur="500"/>
                                        <p:tgtEl>
                                          <p:spTgt spid="367654">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500"/>
                                        <p:tgtEl>
                                          <p:spTgt spid="2"/>
                                        </p:tgtEl>
                                      </p:cBhvr>
                                    </p:animEffect>
                                  </p:childTnLst>
                                </p:cTn>
                              </p:par>
                            </p:childTnLst>
                          </p:cTn>
                        </p:par>
                        <p:par>
                          <p:cTn id="29" fill="hold">
                            <p:stCondLst>
                              <p:cond delay="500"/>
                            </p:stCondLst>
                            <p:childTnLst>
                              <p:par>
                                <p:cTn id="30" presetID="1" presetClass="entr" presetSubtype="0" fill="hold" nodeType="afterEffect">
                                  <p:stCondLst>
                                    <p:cond delay="0"/>
                                  </p:stCondLst>
                                  <p:childTnLst>
                                    <p:set>
                                      <p:cBhvr>
                                        <p:cTn id="31" dur="1" fill="hold">
                                          <p:stCondLst>
                                            <p:cond delay="499"/>
                                          </p:stCondLst>
                                        </p:cTn>
                                        <p:tgtEl>
                                          <p:spTgt spid="4"/>
                                        </p:tgtEl>
                                        <p:attrNameLst>
                                          <p:attrName>style.visibility</p:attrName>
                                        </p:attrNameLst>
                                      </p:cBhvr>
                                      <p:to>
                                        <p:strVal val="visible"/>
                                      </p:to>
                                    </p:set>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499"/>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iterate type="wd">
                                    <p:tmPct val="100000"/>
                                  </p:iterate>
                                  <p:childTnLst>
                                    <p:set>
                                      <p:cBhvr>
                                        <p:cTn id="38" dur="1" fill="hold">
                                          <p:stCondLst>
                                            <p:cond delay="0"/>
                                          </p:stCondLst>
                                        </p:cTn>
                                        <p:tgtEl>
                                          <p:spTgt spid="367655">
                                            <p:txEl>
                                              <p:pRg st="0" end="0"/>
                                            </p:txEl>
                                          </p:spTgt>
                                        </p:tgtEl>
                                        <p:attrNameLst>
                                          <p:attrName>style.visibility</p:attrName>
                                        </p:attrNameLst>
                                      </p:cBhvr>
                                      <p:to>
                                        <p:strVal val="visible"/>
                                      </p:to>
                                    </p:set>
                                    <p:animEffect transition="in" filter="wipe(left)">
                                      <p:cBhvr>
                                        <p:cTn id="39" dur="300"/>
                                        <p:tgtEl>
                                          <p:spTgt spid="367655">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iterate type="wd">
                                    <p:tmPct val="100000"/>
                                  </p:iterate>
                                  <p:childTnLst>
                                    <p:set>
                                      <p:cBhvr>
                                        <p:cTn id="43" dur="1" fill="hold">
                                          <p:stCondLst>
                                            <p:cond delay="0"/>
                                          </p:stCondLst>
                                        </p:cTn>
                                        <p:tgtEl>
                                          <p:spTgt spid="367655">
                                            <p:txEl>
                                              <p:pRg st="1" end="1"/>
                                            </p:txEl>
                                          </p:spTgt>
                                        </p:tgtEl>
                                        <p:attrNameLst>
                                          <p:attrName>style.visibility</p:attrName>
                                        </p:attrNameLst>
                                      </p:cBhvr>
                                      <p:to>
                                        <p:strVal val="visible"/>
                                      </p:to>
                                    </p:set>
                                    <p:animEffect transition="in" filter="wipe(left)">
                                      <p:cBhvr>
                                        <p:cTn id="44" dur="300"/>
                                        <p:tgtEl>
                                          <p:spTgt spid="367655">
                                            <p:txEl>
                                              <p:pRg st="1" end="1"/>
                                            </p:txEl>
                                          </p:spTgt>
                                        </p:tgtEl>
                                      </p:cBhvr>
                                    </p:animEffect>
                                  </p:childTnLst>
                                </p:cTn>
                              </p:par>
                            </p:childTnLst>
                          </p:cTn>
                        </p:par>
                        <p:par>
                          <p:cTn id="45" fill="hold">
                            <p:stCondLst>
                              <p:cond delay="3600"/>
                            </p:stCondLst>
                            <p:childTnLst>
                              <p:par>
                                <p:cTn id="46" presetID="15" presetClass="entr" presetSubtype="0" fill="hold" grpId="0" nodeType="afterEffect">
                                  <p:stCondLst>
                                    <p:cond delay="0"/>
                                  </p:stCondLst>
                                  <p:childTnLst>
                                    <p:set>
                                      <p:cBhvr>
                                        <p:cTn id="47" dur="1" fill="hold">
                                          <p:stCondLst>
                                            <p:cond delay="0"/>
                                          </p:stCondLst>
                                        </p:cTn>
                                        <p:tgtEl>
                                          <p:spTgt spid="367680"/>
                                        </p:tgtEl>
                                        <p:attrNameLst>
                                          <p:attrName>style.visibility</p:attrName>
                                        </p:attrNameLst>
                                      </p:cBhvr>
                                      <p:to>
                                        <p:strVal val="visible"/>
                                      </p:to>
                                    </p:set>
                                    <p:anim calcmode="lin" valueType="num">
                                      <p:cBhvr>
                                        <p:cTn id="48" dur="1000" fill="hold"/>
                                        <p:tgtEl>
                                          <p:spTgt spid="367680"/>
                                        </p:tgtEl>
                                        <p:attrNameLst>
                                          <p:attrName>ppt_w</p:attrName>
                                        </p:attrNameLst>
                                      </p:cBhvr>
                                      <p:tavLst>
                                        <p:tav tm="0">
                                          <p:val>
                                            <p:fltVal val="0"/>
                                          </p:val>
                                        </p:tav>
                                        <p:tav tm="100000">
                                          <p:val>
                                            <p:strVal val="#ppt_w"/>
                                          </p:val>
                                        </p:tav>
                                      </p:tavLst>
                                    </p:anim>
                                    <p:anim calcmode="lin" valueType="num">
                                      <p:cBhvr>
                                        <p:cTn id="49" dur="1000" fill="hold"/>
                                        <p:tgtEl>
                                          <p:spTgt spid="367680"/>
                                        </p:tgtEl>
                                        <p:attrNameLst>
                                          <p:attrName>ppt_h</p:attrName>
                                        </p:attrNameLst>
                                      </p:cBhvr>
                                      <p:tavLst>
                                        <p:tav tm="0">
                                          <p:val>
                                            <p:fltVal val="0"/>
                                          </p:val>
                                        </p:tav>
                                        <p:tav tm="100000">
                                          <p:val>
                                            <p:strVal val="#ppt_h"/>
                                          </p:val>
                                        </p:tav>
                                      </p:tavLst>
                                    </p:anim>
                                    <p:anim calcmode="lin" valueType="num">
                                      <p:cBhvr>
                                        <p:cTn id="50" dur="1000" fill="hold"/>
                                        <p:tgtEl>
                                          <p:spTgt spid="367680"/>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67680"/>
                                        </p:tgtEl>
                                        <p:attrNameLst>
                                          <p:attrName>ppt_y</p:attrName>
                                        </p:attrNameLst>
                                      </p:cBhvr>
                                      <p:tavLst>
                                        <p:tav tm="0" fmla="#ppt_y+(sin(-2*pi*(1-$))*-#ppt_x+cos(-2*pi*(1-$))*(1-#ppt_y))*(1-$)">
                                          <p:val>
                                            <p:fltVal val="0"/>
                                          </p:val>
                                        </p:tav>
                                        <p:tav tm="100000">
                                          <p:val>
                                            <p:fltVal val="1"/>
                                          </p:val>
                                        </p:tav>
                                      </p:tavLst>
                                    </p:anim>
                                  </p:childTnLst>
                                </p:cTn>
                              </p:par>
                            </p:childTnLst>
                          </p:cTn>
                        </p:par>
                        <p:par>
                          <p:cTn id="52" fill="hold">
                            <p:stCondLst>
                              <p:cond delay="4600"/>
                            </p:stCondLst>
                            <p:childTnLst>
                              <p:par>
                                <p:cTn id="53" presetID="23" presetClass="entr" presetSubtype="16" fill="hold" grpId="0" nodeType="afterEffect">
                                  <p:stCondLst>
                                    <p:cond delay="1000"/>
                                  </p:stCondLst>
                                  <p:childTnLst>
                                    <p:set>
                                      <p:cBhvr>
                                        <p:cTn id="54" dur="1" fill="hold">
                                          <p:stCondLst>
                                            <p:cond delay="0"/>
                                          </p:stCondLst>
                                        </p:cTn>
                                        <p:tgtEl>
                                          <p:spTgt spid="367656"/>
                                        </p:tgtEl>
                                        <p:attrNameLst>
                                          <p:attrName>style.visibility</p:attrName>
                                        </p:attrNameLst>
                                      </p:cBhvr>
                                      <p:to>
                                        <p:strVal val="visible"/>
                                      </p:to>
                                    </p:set>
                                    <p:anim calcmode="lin" valueType="num">
                                      <p:cBhvr>
                                        <p:cTn id="55" dur="500" fill="hold"/>
                                        <p:tgtEl>
                                          <p:spTgt spid="367656"/>
                                        </p:tgtEl>
                                        <p:attrNameLst>
                                          <p:attrName>ppt_w</p:attrName>
                                        </p:attrNameLst>
                                      </p:cBhvr>
                                      <p:tavLst>
                                        <p:tav tm="0">
                                          <p:val>
                                            <p:fltVal val="0"/>
                                          </p:val>
                                        </p:tav>
                                        <p:tav tm="100000">
                                          <p:val>
                                            <p:strVal val="#ppt_w"/>
                                          </p:val>
                                        </p:tav>
                                      </p:tavLst>
                                    </p:anim>
                                    <p:anim calcmode="lin" valueType="num">
                                      <p:cBhvr>
                                        <p:cTn id="56" dur="500" fill="hold"/>
                                        <p:tgtEl>
                                          <p:spTgt spid="36765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54" grpId="0" build="p"/>
      <p:bldP spid="367655" grpId="0" build="p"/>
      <p:bldP spid="367656" grpId="0" animBg="1"/>
      <p:bldP spid="36768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3"/>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顺序栈的表示</a:t>
            </a:r>
          </a:p>
        </p:txBody>
      </p:sp>
      <p:sp>
        <p:nvSpPr>
          <p:cNvPr id="637969" name="Text Box 17"/>
          <p:cNvSpPr txBox="1">
            <a:spLocks noChangeArrowheads="1"/>
          </p:cNvSpPr>
          <p:nvPr/>
        </p:nvSpPr>
        <p:spPr bwMode="auto">
          <a:xfrm>
            <a:off x="0" y="3900488"/>
            <a:ext cx="2771775" cy="2492375"/>
          </a:xfrm>
          <a:prstGeom prst="rect">
            <a:avLst/>
          </a:prstGeom>
          <a:solidFill>
            <a:srgbClr val="D4E6F4"/>
          </a:solidFill>
          <a:ln w="38100">
            <a:no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空栈</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base == top</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是栈空标志</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stacksize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4</a:t>
            </a:r>
          </a:p>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2" name="Group 18"/>
          <p:cNvGrpSpPr/>
          <p:nvPr/>
        </p:nvGrpSpPr>
        <p:grpSpPr>
          <a:xfrm>
            <a:off x="2047875" y="1304925"/>
            <a:ext cx="1828800" cy="2193925"/>
            <a:chOff x="1056" y="1440"/>
            <a:chExt cx="1152" cy="1382"/>
          </a:xfrm>
        </p:grpSpPr>
        <p:sp>
          <p:nvSpPr>
            <p:cNvPr id="28678" name="Text Box 19"/>
            <p:cNvSpPr txBox="1">
              <a:spLocks noChangeArrowheads="1"/>
            </p:cNvSpPr>
            <p:nvPr/>
          </p:nvSpPr>
          <p:spPr bwMode="auto">
            <a:xfrm>
              <a:off x="1104" y="2140"/>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top</a:t>
              </a:r>
            </a:p>
          </p:txBody>
        </p:sp>
        <p:sp>
          <p:nvSpPr>
            <p:cNvPr id="28679" name="Rectangle 20"/>
            <p:cNvSpPr>
              <a:spLocks noChangeArrowheads="1"/>
            </p:cNvSpPr>
            <p:nvPr/>
          </p:nvSpPr>
          <p:spPr bwMode="auto">
            <a:xfrm>
              <a:off x="1776" y="1440"/>
              <a:ext cx="432" cy="1296"/>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680" name="Line 21"/>
            <p:cNvSpPr>
              <a:spLocks noChangeShapeType="1"/>
            </p:cNvSpPr>
            <p:nvPr/>
          </p:nvSpPr>
          <p:spPr bwMode="auto">
            <a:xfrm>
              <a:off x="1776" y="2112"/>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681" name="Line 22"/>
            <p:cNvSpPr>
              <a:spLocks noChangeShapeType="1"/>
            </p:cNvSpPr>
            <p:nvPr/>
          </p:nvSpPr>
          <p:spPr bwMode="auto">
            <a:xfrm>
              <a:off x="1776" y="2400"/>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682" name="Line 23"/>
            <p:cNvSpPr>
              <a:spLocks noChangeShapeType="1"/>
            </p:cNvSpPr>
            <p:nvPr/>
          </p:nvSpPr>
          <p:spPr bwMode="auto">
            <a:xfrm>
              <a:off x="1776" y="1776"/>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683" name="Line 24"/>
            <p:cNvSpPr>
              <a:spLocks noChangeShapeType="1"/>
            </p:cNvSpPr>
            <p:nvPr/>
          </p:nvSpPr>
          <p:spPr bwMode="auto">
            <a:xfrm>
              <a:off x="1584" y="2688"/>
              <a:ext cx="192" cy="0"/>
            </a:xfrm>
            <a:prstGeom prst="line">
              <a:avLst/>
            </a:prstGeom>
            <a:noFill/>
            <a:ln w="19050">
              <a:solidFill>
                <a:schemeClr val="folHlink"/>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684" name="Line 25"/>
            <p:cNvSpPr>
              <a:spLocks noChangeShapeType="1"/>
            </p:cNvSpPr>
            <p:nvPr/>
          </p:nvSpPr>
          <p:spPr bwMode="auto">
            <a:xfrm>
              <a:off x="1584" y="2256"/>
              <a:ext cx="192"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685" name="Text Box 26"/>
            <p:cNvSpPr txBox="1">
              <a:spLocks noChangeArrowheads="1"/>
            </p:cNvSpPr>
            <p:nvPr/>
          </p:nvSpPr>
          <p:spPr bwMode="auto">
            <a:xfrm>
              <a:off x="1824" y="244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28686" name="Text Box 27"/>
            <p:cNvSpPr txBox="1">
              <a:spLocks noChangeArrowheads="1"/>
            </p:cNvSpPr>
            <p:nvPr/>
          </p:nvSpPr>
          <p:spPr bwMode="auto">
            <a:xfrm>
              <a:off x="1056" y="257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folHlink"/>
                  </a:solidFill>
                  <a:effectLst/>
                  <a:uLnTx/>
                  <a:uFillTx/>
                  <a:latin typeface="+mn-lt"/>
                  <a:ea typeface="+mn-ea"/>
                  <a:cs typeface="+mn-ea"/>
                  <a:sym typeface="+mn-lt"/>
                </a:rPr>
                <a:t>base</a:t>
              </a:r>
            </a:p>
          </p:txBody>
        </p:sp>
      </p:grpSp>
      <p:grpSp>
        <p:nvGrpSpPr>
          <p:cNvPr id="3" name="Group 28"/>
          <p:cNvGrpSpPr/>
          <p:nvPr/>
        </p:nvGrpSpPr>
        <p:grpSpPr>
          <a:xfrm>
            <a:off x="3657600" y="1304925"/>
            <a:ext cx="1828800" cy="2193925"/>
            <a:chOff x="2304" y="1440"/>
            <a:chExt cx="1152" cy="1382"/>
          </a:xfrm>
        </p:grpSpPr>
        <p:sp>
          <p:nvSpPr>
            <p:cNvPr id="28688" name="Text Box 29"/>
            <p:cNvSpPr txBox="1">
              <a:spLocks noChangeArrowheads="1"/>
            </p:cNvSpPr>
            <p:nvPr/>
          </p:nvSpPr>
          <p:spPr bwMode="auto">
            <a:xfrm>
              <a:off x="2304" y="257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folHlink"/>
                  </a:solidFill>
                  <a:effectLst/>
                  <a:uLnTx/>
                  <a:uFillTx/>
                  <a:latin typeface="+mn-lt"/>
                  <a:ea typeface="+mn-ea"/>
                  <a:cs typeface="+mn-ea"/>
                  <a:sym typeface="+mn-lt"/>
                </a:rPr>
                <a:t>base</a:t>
              </a:r>
            </a:p>
          </p:txBody>
        </p:sp>
        <p:sp>
          <p:nvSpPr>
            <p:cNvPr id="28689" name="Text Box 30"/>
            <p:cNvSpPr txBox="1">
              <a:spLocks noChangeArrowheads="1"/>
            </p:cNvSpPr>
            <p:nvPr/>
          </p:nvSpPr>
          <p:spPr bwMode="auto">
            <a:xfrm>
              <a:off x="2352" y="185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top</a:t>
              </a:r>
            </a:p>
          </p:txBody>
        </p:sp>
        <p:grpSp>
          <p:nvGrpSpPr>
            <p:cNvPr id="37941" name="Group 31"/>
            <p:cNvGrpSpPr/>
            <p:nvPr/>
          </p:nvGrpSpPr>
          <p:grpSpPr>
            <a:xfrm>
              <a:off x="2832" y="1440"/>
              <a:ext cx="624" cy="1296"/>
              <a:chOff x="2832" y="1440"/>
              <a:chExt cx="624" cy="1296"/>
            </a:xfrm>
          </p:grpSpPr>
          <p:sp>
            <p:nvSpPr>
              <p:cNvPr id="28691" name="Rectangle 32"/>
              <p:cNvSpPr>
                <a:spLocks noChangeArrowheads="1"/>
              </p:cNvSpPr>
              <p:nvPr/>
            </p:nvSpPr>
            <p:spPr bwMode="auto">
              <a:xfrm>
                <a:off x="3024" y="1440"/>
                <a:ext cx="432" cy="1296"/>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692" name="Line 33"/>
              <p:cNvSpPr>
                <a:spLocks noChangeShapeType="1"/>
              </p:cNvSpPr>
              <p:nvPr/>
            </p:nvSpPr>
            <p:spPr bwMode="auto">
              <a:xfrm>
                <a:off x="3024" y="2112"/>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693" name="Line 34"/>
              <p:cNvSpPr>
                <a:spLocks noChangeShapeType="1"/>
              </p:cNvSpPr>
              <p:nvPr/>
            </p:nvSpPr>
            <p:spPr bwMode="auto">
              <a:xfrm>
                <a:off x="3024" y="2400"/>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694" name="Line 35"/>
              <p:cNvSpPr>
                <a:spLocks noChangeShapeType="1"/>
              </p:cNvSpPr>
              <p:nvPr/>
            </p:nvSpPr>
            <p:spPr bwMode="auto">
              <a:xfrm>
                <a:off x="3024" y="1776"/>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695" name="Line 36"/>
              <p:cNvSpPr>
                <a:spLocks noChangeShapeType="1"/>
              </p:cNvSpPr>
              <p:nvPr/>
            </p:nvSpPr>
            <p:spPr bwMode="auto">
              <a:xfrm>
                <a:off x="2832" y="2688"/>
                <a:ext cx="192" cy="0"/>
              </a:xfrm>
              <a:prstGeom prst="line">
                <a:avLst/>
              </a:prstGeom>
              <a:noFill/>
              <a:ln w="19050">
                <a:solidFill>
                  <a:schemeClr val="folHlink"/>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696" name="Text Box 37"/>
              <p:cNvSpPr txBox="1">
                <a:spLocks noChangeArrowheads="1"/>
              </p:cNvSpPr>
              <p:nvPr/>
            </p:nvSpPr>
            <p:spPr bwMode="auto">
              <a:xfrm>
                <a:off x="3072" y="244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28697" name="Line 38"/>
              <p:cNvSpPr>
                <a:spLocks noChangeShapeType="1"/>
              </p:cNvSpPr>
              <p:nvPr/>
            </p:nvSpPr>
            <p:spPr bwMode="auto">
              <a:xfrm>
                <a:off x="2832" y="1968"/>
                <a:ext cx="192"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698" name="Text Box 39"/>
              <p:cNvSpPr txBox="1">
                <a:spLocks noChangeArrowheads="1"/>
              </p:cNvSpPr>
              <p:nvPr/>
            </p:nvSpPr>
            <p:spPr bwMode="auto">
              <a:xfrm>
                <a:off x="3072" y="2160"/>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B</a:t>
                </a:r>
              </a:p>
            </p:txBody>
          </p:sp>
        </p:grpSp>
      </p:grpSp>
      <p:grpSp>
        <p:nvGrpSpPr>
          <p:cNvPr id="5" name="Group 40"/>
          <p:cNvGrpSpPr/>
          <p:nvPr/>
        </p:nvGrpSpPr>
        <p:grpSpPr>
          <a:xfrm>
            <a:off x="5410200" y="1304925"/>
            <a:ext cx="1828800" cy="2193925"/>
            <a:chOff x="3456" y="1440"/>
            <a:chExt cx="1152" cy="1382"/>
          </a:xfrm>
        </p:grpSpPr>
        <p:grpSp>
          <p:nvGrpSpPr>
            <p:cNvPr id="37927" name="Group 41"/>
            <p:cNvGrpSpPr/>
            <p:nvPr/>
          </p:nvGrpSpPr>
          <p:grpSpPr>
            <a:xfrm>
              <a:off x="3984" y="1440"/>
              <a:ext cx="624" cy="1296"/>
              <a:chOff x="3984" y="1440"/>
              <a:chExt cx="624" cy="1296"/>
            </a:xfrm>
          </p:grpSpPr>
          <p:sp>
            <p:nvSpPr>
              <p:cNvPr id="28701" name="Rectangle 42"/>
              <p:cNvSpPr>
                <a:spLocks noChangeArrowheads="1"/>
              </p:cNvSpPr>
              <p:nvPr/>
            </p:nvSpPr>
            <p:spPr bwMode="auto">
              <a:xfrm>
                <a:off x="4176" y="1440"/>
                <a:ext cx="432" cy="1296"/>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02" name="Line 43"/>
              <p:cNvSpPr>
                <a:spLocks noChangeShapeType="1"/>
              </p:cNvSpPr>
              <p:nvPr/>
            </p:nvSpPr>
            <p:spPr bwMode="auto">
              <a:xfrm>
                <a:off x="4176" y="2112"/>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03" name="Line 44"/>
              <p:cNvSpPr>
                <a:spLocks noChangeShapeType="1"/>
              </p:cNvSpPr>
              <p:nvPr/>
            </p:nvSpPr>
            <p:spPr bwMode="auto">
              <a:xfrm>
                <a:off x="4176" y="2400"/>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04" name="Line 45"/>
              <p:cNvSpPr>
                <a:spLocks noChangeShapeType="1"/>
              </p:cNvSpPr>
              <p:nvPr/>
            </p:nvSpPr>
            <p:spPr bwMode="auto">
              <a:xfrm>
                <a:off x="4176" y="1776"/>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05" name="Line 46"/>
              <p:cNvSpPr>
                <a:spLocks noChangeShapeType="1"/>
              </p:cNvSpPr>
              <p:nvPr/>
            </p:nvSpPr>
            <p:spPr bwMode="auto">
              <a:xfrm>
                <a:off x="3984" y="2688"/>
                <a:ext cx="192" cy="0"/>
              </a:xfrm>
              <a:prstGeom prst="line">
                <a:avLst/>
              </a:prstGeom>
              <a:noFill/>
              <a:ln w="19050">
                <a:solidFill>
                  <a:schemeClr val="folHlink"/>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06" name="Text Box 47"/>
              <p:cNvSpPr txBox="1">
                <a:spLocks noChangeArrowheads="1"/>
              </p:cNvSpPr>
              <p:nvPr/>
            </p:nvSpPr>
            <p:spPr bwMode="auto">
              <a:xfrm>
                <a:off x="4224" y="244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28707" name="Text Box 48"/>
              <p:cNvSpPr txBox="1">
                <a:spLocks noChangeArrowheads="1"/>
              </p:cNvSpPr>
              <p:nvPr/>
            </p:nvSpPr>
            <p:spPr bwMode="auto">
              <a:xfrm>
                <a:off x="4224" y="2160"/>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B</a:t>
                </a:r>
              </a:p>
            </p:txBody>
          </p:sp>
          <p:sp>
            <p:nvSpPr>
              <p:cNvPr id="28708" name="Text Box 49"/>
              <p:cNvSpPr txBox="1">
                <a:spLocks noChangeArrowheads="1"/>
              </p:cNvSpPr>
              <p:nvPr/>
            </p:nvSpPr>
            <p:spPr bwMode="auto">
              <a:xfrm>
                <a:off x="4224" y="1872"/>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C</a:t>
                </a:r>
              </a:p>
            </p:txBody>
          </p:sp>
          <p:sp>
            <p:nvSpPr>
              <p:cNvPr id="28709" name="Line 50"/>
              <p:cNvSpPr>
                <a:spLocks noChangeShapeType="1"/>
              </p:cNvSpPr>
              <p:nvPr/>
            </p:nvSpPr>
            <p:spPr bwMode="auto">
              <a:xfrm>
                <a:off x="3984" y="1584"/>
                <a:ext cx="192"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28710" name="Text Box 51"/>
            <p:cNvSpPr txBox="1">
              <a:spLocks noChangeArrowheads="1"/>
            </p:cNvSpPr>
            <p:nvPr/>
          </p:nvSpPr>
          <p:spPr bwMode="auto">
            <a:xfrm>
              <a:off x="3456" y="1468"/>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top</a:t>
              </a:r>
            </a:p>
          </p:txBody>
        </p:sp>
        <p:sp>
          <p:nvSpPr>
            <p:cNvPr id="28711" name="Text Box 52"/>
            <p:cNvSpPr txBox="1">
              <a:spLocks noChangeArrowheads="1"/>
            </p:cNvSpPr>
            <p:nvPr/>
          </p:nvSpPr>
          <p:spPr bwMode="auto">
            <a:xfrm>
              <a:off x="3456" y="257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folHlink"/>
                  </a:solidFill>
                  <a:effectLst/>
                  <a:uLnTx/>
                  <a:uFillTx/>
                  <a:latin typeface="+mn-lt"/>
                  <a:ea typeface="+mn-ea"/>
                  <a:cs typeface="+mn-ea"/>
                  <a:sym typeface="+mn-lt"/>
                </a:rPr>
                <a:t>base</a:t>
              </a:r>
            </a:p>
          </p:txBody>
        </p:sp>
      </p:grpSp>
      <p:grpSp>
        <p:nvGrpSpPr>
          <p:cNvPr id="7" name="Group 53"/>
          <p:cNvGrpSpPr/>
          <p:nvPr/>
        </p:nvGrpSpPr>
        <p:grpSpPr>
          <a:xfrm>
            <a:off x="7162800" y="815975"/>
            <a:ext cx="1828800" cy="2682875"/>
            <a:chOff x="4560" y="1132"/>
            <a:chExt cx="1152" cy="1690"/>
          </a:xfrm>
        </p:grpSpPr>
        <p:sp>
          <p:nvSpPr>
            <p:cNvPr id="28713" name="Text Box 54"/>
            <p:cNvSpPr txBox="1">
              <a:spLocks noChangeArrowheads="1"/>
            </p:cNvSpPr>
            <p:nvPr/>
          </p:nvSpPr>
          <p:spPr bwMode="auto">
            <a:xfrm>
              <a:off x="4608" y="113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top</a:t>
              </a:r>
            </a:p>
          </p:txBody>
        </p:sp>
        <p:sp>
          <p:nvSpPr>
            <p:cNvPr id="28714" name="Text Box 55"/>
            <p:cNvSpPr txBox="1">
              <a:spLocks noChangeArrowheads="1"/>
            </p:cNvSpPr>
            <p:nvPr/>
          </p:nvSpPr>
          <p:spPr bwMode="auto">
            <a:xfrm>
              <a:off x="4560" y="257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folHlink"/>
                  </a:solidFill>
                  <a:effectLst/>
                  <a:uLnTx/>
                  <a:uFillTx/>
                  <a:latin typeface="+mn-lt"/>
                  <a:ea typeface="+mn-ea"/>
                  <a:cs typeface="+mn-ea"/>
                  <a:sym typeface="+mn-lt"/>
                </a:rPr>
                <a:t>base</a:t>
              </a:r>
            </a:p>
          </p:txBody>
        </p:sp>
        <p:grpSp>
          <p:nvGrpSpPr>
            <p:cNvPr id="37916" name="Group 56"/>
            <p:cNvGrpSpPr/>
            <p:nvPr/>
          </p:nvGrpSpPr>
          <p:grpSpPr>
            <a:xfrm>
              <a:off x="5088" y="1248"/>
              <a:ext cx="624" cy="1488"/>
              <a:chOff x="5088" y="1248"/>
              <a:chExt cx="624" cy="1488"/>
            </a:xfrm>
          </p:grpSpPr>
          <p:sp>
            <p:nvSpPr>
              <p:cNvPr id="28716" name="Rectangle 57"/>
              <p:cNvSpPr>
                <a:spLocks noChangeArrowheads="1"/>
              </p:cNvSpPr>
              <p:nvPr/>
            </p:nvSpPr>
            <p:spPr bwMode="auto">
              <a:xfrm>
                <a:off x="5280" y="1440"/>
                <a:ext cx="432" cy="1296"/>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17" name="Line 58"/>
              <p:cNvSpPr>
                <a:spLocks noChangeShapeType="1"/>
              </p:cNvSpPr>
              <p:nvPr/>
            </p:nvSpPr>
            <p:spPr bwMode="auto">
              <a:xfrm>
                <a:off x="5280" y="2112"/>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18" name="Line 59"/>
              <p:cNvSpPr>
                <a:spLocks noChangeShapeType="1"/>
              </p:cNvSpPr>
              <p:nvPr/>
            </p:nvSpPr>
            <p:spPr bwMode="auto">
              <a:xfrm>
                <a:off x="5280" y="2400"/>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19" name="Line 60"/>
              <p:cNvSpPr>
                <a:spLocks noChangeShapeType="1"/>
              </p:cNvSpPr>
              <p:nvPr/>
            </p:nvSpPr>
            <p:spPr bwMode="auto">
              <a:xfrm>
                <a:off x="5280" y="1776"/>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20" name="Line 61"/>
              <p:cNvSpPr>
                <a:spLocks noChangeShapeType="1"/>
              </p:cNvSpPr>
              <p:nvPr/>
            </p:nvSpPr>
            <p:spPr bwMode="auto">
              <a:xfrm>
                <a:off x="5088" y="2688"/>
                <a:ext cx="192" cy="0"/>
              </a:xfrm>
              <a:prstGeom prst="line">
                <a:avLst/>
              </a:prstGeom>
              <a:noFill/>
              <a:ln w="19050">
                <a:solidFill>
                  <a:schemeClr val="folHlink"/>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21" name="Text Box 62"/>
              <p:cNvSpPr txBox="1">
                <a:spLocks noChangeArrowheads="1"/>
              </p:cNvSpPr>
              <p:nvPr/>
            </p:nvSpPr>
            <p:spPr bwMode="auto">
              <a:xfrm>
                <a:off x="5328" y="244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28722" name="Text Box 63"/>
              <p:cNvSpPr txBox="1">
                <a:spLocks noChangeArrowheads="1"/>
              </p:cNvSpPr>
              <p:nvPr/>
            </p:nvSpPr>
            <p:spPr bwMode="auto">
              <a:xfrm>
                <a:off x="5328" y="2160"/>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B</a:t>
                </a:r>
              </a:p>
            </p:txBody>
          </p:sp>
          <p:sp>
            <p:nvSpPr>
              <p:cNvPr id="28723" name="Text Box 64"/>
              <p:cNvSpPr txBox="1">
                <a:spLocks noChangeArrowheads="1"/>
              </p:cNvSpPr>
              <p:nvPr/>
            </p:nvSpPr>
            <p:spPr bwMode="auto">
              <a:xfrm>
                <a:off x="5328" y="1872"/>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C</a:t>
                </a:r>
              </a:p>
            </p:txBody>
          </p:sp>
          <p:sp>
            <p:nvSpPr>
              <p:cNvPr id="28724" name="Line 65"/>
              <p:cNvSpPr>
                <a:spLocks noChangeShapeType="1"/>
              </p:cNvSpPr>
              <p:nvPr/>
            </p:nvSpPr>
            <p:spPr bwMode="auto">
              <a:xfrm>
                <a:off x="5136" y="1248"/>
                <a:ext cx="192"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25" name="Text Box 66"/>
              <p:cNvSpPr txBox="1">
                <a:spLocks noChangeArrowheads="1"/>
              </p:cNvSpPr>
              <p:nvPr/>
            </p:nvSpPr>
            <p:spPr bwMode="auto">
              <a:xfrm>
                <a:off x="5328" y="1497"/>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D</a:t>
                </a:r>
              </a:p>
            </p:txBody>
          </p:sp>
        </p:grpSp>
      </p:grpSp>
      <p:grpSp>
        <p:nvGrpSpPr>
          <p:cNvPr id="37896" name="Group 73"/>
          <p:cNvGrpSpPr/>
          <p:nvPr/>
        </p:nvGrpSpPr>
        <p:grpSpPr>
          <a:xfrm>
            <a:off x="-252412" y="1304925"/>
            <a:ext cx="2300287" cy="2166938"/>
            <a:chOff x="207" y="614"/>
            <a:chExt cx="1449" cy="1365"/>
          </a:xfrm>
        </p:grpSpPr>
        <p:sp>
          <p:nvSpPr>
            <p:cNvPr id="28727" name="Text Box 15"/>
            <p:cNvSpPr txBox="1">
              <a:spLocks noChangeArrowheads="1"/>
            </p:cNvSpPr>
            <p:nvPr/>
          </p:nvSpPr>
          <p:spPr bwMode="auto">
            <a:xfrm>
              <a:off x="207" y="1729"/>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folHlink"/>
                  </a:solidFill>
                  <a:effectLst/>
                  <a:uLnTx/>
                  <a:uFillTx/>
                  <a:latin typeface="+mn-lt"/>
                  <a:ea typeface="+mn-ea"/>
                  <a:cs typeface="+mn-ea"/>
                  <a:sym typeface="+mn-lt"/>
                </a:rPr>
                <a:t>base</a:t>
              </a:r>
            </a:p>
          </p:txBody>
        </p:sp>
        <p:grpSp>
          <p:nvGrpSpPr>
            <p:cNvPr id="37902" name="Group 72"/>
            <p:cNvGrpSpPr/>
            <p:nvPr/>
          </p:nvGrpSpPr>
          <p:grpSpPr>
            <a:xfrm>
              <a:off x="264" y="614"/>
              <a:ext cx="1392" cy="1306"/>
              <a:chOff x="-240" y="624"/>
              <a:chExt cx="1392" cy="1306"/>
            </a:xfrm>
          </p:grpSpPr>
          <p:sp>
            <p:nvSpPr>
              <p:cNvPr id="28729" name="Rectangle 9"/>
              <p:cNvSpPr>
                <a:spLocks noChangeArrowheads="1"/>
              </p:cNvSpPr>
              <p:nvPr/>
            </p:nvSpPr>
            <p:spPr bwMode="auto">
              <a:xfrm>
                <a:off x="528" y="624"/>
                <a:ext cx="432" cy="1296"/>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30" name="Line 10"/>
              <p:cNvSpPr>
                <a:spLocks noChangeShapeType="1"/>
              </p:cNvSpPr>
              <p:nvPr/>
            </p:nvSpPr>
            <p:spPr bwMode="auto">
              <a:xfrm>
                <a:off x="528" y="1296"/>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31" name="Line 11"/>
              <p:cNvSpPr>
                <a:spLocks noChangeShapeType="1"/>
              </p:cNvSpPr>
              <p:nvPr/>
            </p:nvSpPr>
            <p:spPr bwMode="auto">
              <a:xfrm>
                <a:off x="528" y="1584"/>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32" name="Line 12"/>
              <p:cNvSpPr>
                <a:spLocks noChangeShapeType="1"/>
              </p:cNvSpPr>
              <p:nvPr/>
            </p:nvSpPr>
            <p:spPr bwMode="auto">
              <a:xfrm>
                <a:off x="528" y="960"/>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33" name="Line 13"/>
              <p:cNvSpPr>
                <a:spLocks noChangeShapeType="1"/>
              </p:cNvSpPr>
              <p:nvPr/>
            </p:nvSpPr>
            <p:spPr bwMode="auto">
              <a:xfrm>
                <a:off x="288" y="1728"/>
                <a:ext cx="240"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34" name="Line 14"/>
              <p:cNvSpPr>
                <a:spLocks noChangeShapeType="1"/>
              </p:cNvSpPr>
              <p:nvPr/>
            </p:nvSpPr>
            <p:spPr bwMode="auto">
              <a:xfrm>
                <a:off x="288" y="1872"/>
                <a:ext cx="240" cy="0"/>
              </a:xfrm>
              <a:prstGeom prst="line">
                <a:avLst/>
              </a:prstGeom>
              <a:noFill/>
              <a:ln w="19050">
                <a:solidFill>
                  <a:schemeClr val="folHlink"/>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8735" name="Text Box 16"/>
              <p:cNvSpPr txBox="1">
                <a:spLocks noChangeArrowheads="1"/>
              </p:cNvSpPr>
              <p:nvPr/>
            </p:nvSpPr>
            <p:spPr bwMode="auto">
              <a:xfrm>
                <a:off x="-240" y="161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top</a:t>
                </a:r>
              </a:p>
            </p:txBody>
          </p:sp>
          <p:sp>
            <p:nvSpPr>
              <p:cNvPr id="28736" name="Text Box 68"/>
              <p:cNvSpPr txBox="1">
                <a:spLocks noChangeArrowheads="1"/>
              </p:cNvSpPr>
              <p:nvPr/>
            </p:nvSpPr>
            <p:spPr bwMode="auto">
              <a:xfrm>
                <a:off x="960" y="672"/>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28737" name="Text Box 69"/>
              <p:cNvSpPr txBox="1">
                <a:spLocks noChangeArrowheads="1"/>
              </p:cNvSpPr>
              <p:nvPr/>
            </p:nvSpPr>
            <p:spPr bwMode="auto">
              <a:xfrm>
                <a:off x="960" y="1344"/>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28738" name="Text Box 70"/>
              <p:cNvSpPr txBox="1">
                <a:spLocks noChangeArrowheads="1"/>
              </p:cNvSpPr>
              <p:nvPr/>
            </p:nvSpPr>
            <p:spPr bwMode="auto">
              <a:xfrm>
                <a:off x="960" y="1008"/>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28739" name="Text Box 71"/>
              <p:cNvSpPr txBox="1">
                <a:spLocks noChangeArrowheads="1"/>
              </p:cNvSpPr>
              <p:nvPr/>
            </p:nvSpPr>
            <p:spPr bwMode="auto">
              <a:xfrm>
                <a:off x="960" y="1680"/>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a:t>
                </a:r>
              </a:p>
            </p:txBody>
          </p:sp>
        </p:grpSp>
      </p:grpSp>
      <p:sp>
        <p:nvSpPr>
          <p:cNvPr id="638026" name="Text Box 74"/>
          <p:cNvSpPr txBox="1">
            <a:spLocks noChangeArrowheads="1"/>
          </p:cNvSpPr>
          <p:nvPr/>
        </p:nvSpPr>
        <p:spPr bwMode="auto">
          <a:xfrm>
            <a:off x="3028950" y="3906838"/>
            <a:ext cx="6105525" cy="460375"/>
          </a:xfrm>
          <a:prstGeom prst="rect">
            <a:avLst/>
          </a:prstGeom>
          <a:solidFill>
            <a:srgbClr val="CCCCFF"/>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top </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指示真正的</a:t>
            </a:r>
            <a:r>
              <a:rPr kumimoji="0" lang="zh-CN" altLang="zh-CN" sz="2400" b="0" i="0" u="none" strike="noStrike" kern="1200" cap="none" spc="0" normalizeH="0" baseline="0" noProof="0" dirty="0">
                <a:ln>
                  <a:noFill/>
                </a:ln>
                <a:solidFill>
                  <a:srgbClr val="FF0000"/>
                </a:solidFill>
                <a:effectLst/>
                <a:uLnTx/>
                <a:uFillTx/>
                <a:latin typeface="+mn-lt"/>
                <a:ea typeface="+mn-ea"/>
                <a:cs typeface="+mn-ea"/>
                <a:sym typeface="+mn-lt"/>
              </a:rPr>
              <a:t>栈顶元素之上</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的下标地址</a:t>
            </a:r>
          </a:p>
        </p:txBody>
      </p:sp>
      <p:sp>
        <p:nvSpPr>
          <p:cNvPr id="638027" name="Text Box 75"/>
          <p:cNvSpPr txBox="1">
            <a:spLocks noChangeArrowheads="1"/>
          </p:cNvSpPr>
          <p:nvPr/>
        </p:nvSpPr>
        <p:spPr bwMode="auto">
          <a:xfrm>
            <a:off x="3028950" y="4441825"/>
            <a:ext cx="6105525" cy="1939925"/>
          </a:xfrm>
          <a:prstGeom prst="rect">
            <a:avLst/>
          </a:prstGeom>
          <a:solidFill>
            <a:srgbClr val="CCCCFF"/>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栈满时的处理方法：</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zh-CN" sz="2400" b="0" i="0" u="none" strike="noStrike" kern="1200" cap="none" spc="0" normalizeH="0" baseline="0" noProof="0" dirty="0">
                <a:ln>
                  <a:noFill/>
                </a:ln>
                <a:solidFill>
                  <a:srgbClr val="FF0000"/>
                </a:solidFill>
                <a:effectLst/>
                <a:uLnTx/>
                <a:uFillTx/>
                <a:latin typeface="+mn-lt"/>
                <a:ea typeface="+mn-ea"/>
                <a:cs typeface="+mn-ea"/>
                <a:sym typeface="+mn-lt"/>
              </a:rPr>
              <a:t>报错</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返回操作系统。</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zh-CN" sz="2400" b="0" i="0" u="none" strike="noStrike" kern="1200" cap="none" spc="0" normalizeH="0" baseline="0" noProof="0" dirty="0">
                <a:ln>
                  <a:noFill/>
                </a:ln>
                <a:solidFill>
                  <a:srgbClr val="FF0000"/>
                </a:solidFill>
                <a:effectLst/>
                <a:uLnTx/>
                <a:uFillTx/>
                <a:latin typeface="+mn-lt"/>
                <a:ea typeface="+mn-ea"/>
                <a:cs typeface="+mn-ea"/>
                <a:sym typeface="+mn-lt"/>
              </a:rPr>
              <a:t>分配更大的空间</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，作为栈的存储空间</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将原栈的内容移入新栈。</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35851" name="矩形 5"/>
          <p:cNvSpPr>
            <a:spLocks noChangeArrowheads="1"/>
          </p:cNvSpPr>
          <p:nvPr/>
        </p:nvSpPr>
        <p:spPr bwMode="auto">
          <a:xfrm>
            <a:off x="0" y="5949950"/>
            <a:ext cx="2771775" cy="7143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852" name="矩形 72"/>
          <p:cNvSpPr>
            <a:spLocks noChangeArrowheads="1"/>
          </p:cNvSpPr>
          <p:nvPr/>
        </p:nvSpPr>
        <p:spPr bwMode="auto">
          <a:xfrm>
            <a:off x="9525" y="6135688"/>
            <a:ext cx="2771775" cy="7143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37969"/>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2" name="TYPE.WAV"/>
                                        </p:tgtEl>
                                      </p:cMediaNode>
                                    </p:audio>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2" name="TYPE.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2" name="TYPE.WAV"/>
                                        </p:tgtEl>
                                      </p:cMediaNode>
                                    </p:audio>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7"/>
                                        </p:tgtEl>
                                        <p:attrNameLst>
                                          <p:attrName>style.visibility</p:attrName>
                                        </p:attrNameLst>
                                      </p:cBhvr>
                                      <p:to>
                                        <p:strVal val="visible"/>
                                      </p:to>
                                    </p:set>
                                  </p:childTnLst>
                                  <p:subTnLst>
                                    <p:audio>
                                      <p:cMediaNode>
                                        <p:cTn display="0" masterRel="sameClick">
                                          <p:stCondLst>
                                            <p:cond evt="begin" delay="0">
                                              <p:tn val="21"/>
                                            </p:cond>
                                          </p:stCondLst>
                                          <p:endCondLst>
                                            <p:cond evt="onStopAudio" delay="0">
                                              <p:tgtEl>
                                                <p:sldTgt/>
                                              </p:tgtEl>
                                            </p:cond>
                                          </p:endCondLst>
                                        </p:cTn>
                                        <p:tgtEl>
                                          <p:sndTgt r:embed="rId2" name="TYPE.WAV"/>
                                        </p:tgtEl>
                                      </p:cMediaNode>
                                    </p:audio>
                                  </p:sub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38026"/>
                                        </p:tgtEl>
                                        <p:attrNameLst>
                                          <p:attrName>style.visibility</p:attrName>
                                        </p:attrNameLst>
                                      </p:cBhvr>
                                      <p:to>
                                        <p:strVal val="visible"/>
                                      </p:to>
                                    </p:set>
                                    <p:animEffect transition="in" filter="dissolve">
                                      <p:cBhvr>
                                        <p:cTn id="27" dur="500"/>
                                        <p:tgtEl>
                                          <p:spTgt spid="638026"/>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38027"/>
                                        </p:tgtEl>
                                        <p:attrNameLst>
                                          <p:attrName>style.visibility</p:attrName>
                                        </p:attrNameLst>
                                      </p:cBhvr>
                                      <p:to>
                                        <p:strVal val="visible"/>
                                      </p:to>
                                    </p:set>
                                    <p:animEffect transition="in" filter="dissolve">
                                      <p:cBhvr>
                                        <p:cTn id="32" dur="500"/>
                                        <p:tgtEl>
                                          <p:spTgt spid="638027"/>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69" grpId="0" animBg="1"/>
      <p:bldP spid="638026" grpId="0" animBg="1"/>
      <p:bldP spid="63802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1"/>
          <p:cNvSpPr>
            <a:spLocks noChangeArrowheads="1"/>
          </p:cNvSpPr>
          <p:nvPr/>
        </p:nvSpPr>
        <p:spPr bwMode="auto">
          <a:xfrm>
            <a:off x="0" y="1412875"/>
            <a:ext cx="9144000" cy="4032250"/>
          </a:xfrm>
          <a:prstGeom prst="rect">
            <a:avLst/>
          </a:prstGeom>
          <a:solidFill>
            <a:srgbClr val="D4E6F4"/>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9698" name="Rectangle 2"/>
          <p:cNvSpPr>
            <a:spLocks noChangeArrowheads="1"/>
          </p:cNvSpPr>
          <p:nvPr/>
        </p:nvSpPr>
        <p:spPr bwMode="auto">
          <a:xfrm>
            <a:off x="1003300" y="1700213"/>
            <a:ext cx="6264275" cy="374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#define  MAXSIZE  100</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typedef struct</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SElemType</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*base;</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SElemType</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*top;</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int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stacksize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SqStack</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36868" name="标题 3"/>
          <p:cNvSpPr>
            <a:spLocks noGrp="1" noChangeArrowheads="1"/>
          </p:cNvSpPr>
          <p:nvPr>
            <p:ph type="title"/>
          </p:nvPr>
        </p:nvSpPr>
        <p:spPr>
          <a:xfrm>
            <a:off x="844550" y="260350"/>
            <a:ext cx="6400800" cy="4572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顺序栈的表示</a:t>
            </a:r>
          </a:p>
        </p:txBody>
      </p:sp>
      <p:sp>
        <p:nvSpPr>
          <p:cNvPr id="8"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transition>
    <p:spli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矩形 4"/>
          <p:cNvSpPr>
            <a:spLocks noChangeArrowheads="1"/>
          </p:cNvSpPr>
          <p:nvPr/>
        </p:nvSpPr>
        <p:spPr bwMode="auto">
          <a:xfrm>
            <a:off x="0" y="1341438"/>
            <a:ext cx="4311650" cy="4824413"/>
          </a:xfrm>
          <a:prstGeom prst="rect">
            <a:avLst/>
          </a:prstGeom>
          <a:solidFill>
            <a:srgbClr val="D4E6F4"/>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 name="矩形 3"/>
          <p:cNvSpPr/>
          <p:nvPr/>
        </p:nvSpPr>
        <p:spPr bwMode="auto">
          <a:xfrm>
            <a:off x="4551363" y="1341438"/>
            <a:ext cx="4592638" cy="482441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892"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顺序栈初始化</a:t>
            </a:r>
          </a:p>
        </p:txBody>
      </p:sp>
      <p:sp>
        <p:nvSpPr>
          <p:cNvPr id="30723" name="Rectangle 4"/>
          <p:cNvSpPr>
            <a:spLocks noChangeArrowheads="1"/>
          </p:cNvSpPr>
          <p:nvPr/>
        </p:nvSpPr>
        <p:spPr bwMode="auto">
          <a:xfrm>
            <a:off x="222250" y="1471613"/>
            <a:ext cx="4141788" cy="243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构造一个空栈</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步骤：</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分配空间并检查空间是否分配失败，若失败则返回错误</a:t>
            </a:r>
          </a:p>
        </p:txBody>
      </p:sp>
      <p:grpSp>
        <p:nvGrpSpPr>
          <p:cNvPr id="30725" name="Group 6"/>
          <p:cNvGrpSpPr/>
          <p:nvPr/>
        </p:nvGrpSpPr>
        <p:grpSpPr bwMode="auto">
          <a:xfrm>
            <a:off x="5073547" y="2413891"/>
            <a:ext cx="1600200" cy="2743200"/>
            <a:chOff x="3600" y="1440"/>
            <a:chExt cx="1008" cy="1728"/>
          </a:xfrm>
          <a:solidFill>
            <a:srgbClr val="D4E6F4"/>
          </a:solidFill>
        </p:grpSpPr>
        <p:sp>
          <p:nvSpPr>
            <p:cNvPr id="30726" name="Rectangle 7"/>
            <p:cNvSpPr>
              <a:spLocks noChangeArrowheads="1"/>
            </p:cNvSpPr>
            <p:nvPr/>
          </p:nvSpPr>
          <p:spPr bwMode="auto">
            <a:xfrm>
              <a:off x="3600" y="2400"/>
              <a:ext cx="1008" cy="480"/>
            </a:xfrm>
            <a:prstGeom prst="rect">
              <a:avLst/>
            </a:prstGeom>
            <a:grpFill/>
            <a:ln w="9525">
              <a:solidFill>
                <a:schemeClr val="tx1"/>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base</a:t>
              </a:r>
            </a:p>
          </p:txBody>
        </p:sp>
        <p:sp>
          <p:nvSpPr>
            <p:cNvPr id="30727" name="Rectangle 8"/>
            <p:cNvSpPr>
              <a:spLocks noChangeArrowheads="1"/>
            </p:cNvSpPr>
            <p:nvPr/>
          </p:nvSpPr>
          <p:spPr bwMode="auto">
            <a:xfrm>
              <a:off x="3600" y="1680"/>
              <a:ext cx="1008" cy="240"/>
            </a:xfrm>
            <a:prstGeom prst="rect">
              <a:avLst/>
            </a:prstGeom>
            <a:grpFill/>
            <a:ln w="9525">
              <a:solidFill>
                <a:schemeClr val="tx1"/>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stacksize</a:t>
              </a:r>
            </a:p>
          </p:txBody>
        </p:sp>
        <p:sp>
          <p:nvSpPr>
            <p:cNvPr id="30728" name="Rectangle 9"/>
            <p:cNvSpPr>
              <a:spLocks noChangeArrowheads="1"/>
            </p:cNvSpPr>
            <p:nvPr/>
          </p:nvSpPr>
          <p:spPr bwMode="auto">
            <a:xfrm>
              <a:off x="3600" y="1920"/>
              <a:ext cx="1008" cy="480"/>
            </a:xfrm>
            <a:prstGeom prst="rect">
              <a:avLst/>
            </a:prstGeom>
            <a:grpFill/>
            <a:ln w="9525">
              <a:solidFill>
                <a:schemeClr val="tx1"/>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top</a:t>
              </a:r>
            </a:p>
          </p:txBody>
        </p:sp>
        <p:sp>
          <p:nvSpPr>
            <p:cNvPr id="30729" name="Line 10"/>
            <p:cNvSpPr>
              <a:spLocks noChangeShapeType="1"/>
            </p:cNvSpPr>
            <p:nvPr/>
          </p:nvSpPr>
          <p:spPr bwMode="auto">
            <a:xfrm>
              <a:off x="3600" y="1440"/>
              <a:ext cx="0" cy="1728"/>
            </a:xfrm>
            <a:prstGeom prst="line">
              <a:avLst/>
            </a:prstGeom>
            <a:grpFill/>
            <a:ln w="9525">
              <a:solidFill>
                <a:schemeClr val="tx1"/>
              </a:solidFill>
              <a:miter lim="800000"/>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0730" name="Line 11"/>
            <p:cNvSpPr>
              <a:spLocks noChangeShapeType="1"/>
            </p:cNvSpPr>
            <p:nvPr/>
          </p:nvSpPr>
          <p:spPr bwMode="auto">
            <a:xfrm>
              <a:off x="4608" y="1440"/>
              <a:ext cx="0" cy="1728"/>
            </a:xfrm>
            <a:prstGeom prst="line">
              <a:avLst/>
            </a:prstGeom>
            <a:grpFill/>
            <a:ln w="9525">
              <a:solidFill>
                <a:schemeClr val="tx1"/>
              </a:solidFill>
              <a:miter lim="800000"/>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638988" name="Line 12"/>
          <p:cNvSpPr>
            <a:spLocks noChangeShapeType="1"/>
          </p:cNvSpPr>
          <p:nvPr/>
        </p:nvSpPr>
        <p:spPr bwMode="auto">
          <a:xfrm>
            <a:off x="4616450" y="4471988"/>
            <a:ext cx="457200"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0732" name="Text Box 13"/>
          <p:cNvSpPr txBox="1">
            <a:spLocks noChangeArrowheads="1"/>
          </p:cNvSpPr>
          <p:nvPr/>
        </p:nvSpPr>
        <p:spPr bwMode="auto">
          <a:xfrm>
            <a:off x="4591050" y="3916363"/>
            <a:ext cx="3635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600" b="0" i="0" u="none" strike="noStrike" kern="1200" cap="none" spc="0" normalizeH="0" baseline="0" noProof="0">
                <a:ln>
                  <a:noFill/>
                </a:ln>
                <a:solidFill>
                  <a:schemeClr val="tx1"/>
                </a:solidFill>
                <a:effectLst/>
                <a:uLnTx/>
                <a:uFillTx/>
                <a:latin typeface="+mn-lt"/>
                <a:ea typeface="+mn-ea"/>
                <a:cs typeface="+mn-ea"/>
                <a:sym typeface="+mn-lt"/>
              </a:rPr>
              <a:t>s</a:t>
            </a:r>
          </a:p>
        </p:txBody>
      </p:sp>
      <p:grpSp>
        <p:nvGrpSpPr>
          <p:cNvPr id="3" name="Group 14"/>
          <p:cNvGrpSpPr/>
          <p:nvPr/>
        </p:nvGrpSpPr>
        <p:grpSpPr bwMode="auto">
          <a:xfrm>
            <a:off x="7435747" y="2413891"/>
            <a:ext cx="1371600" cy="2590800"/>
            <a:chOff x="4656" y="1344"/>
            <a:chExt cx="864" cy="1632"/>
          </a:xfrm>
          <a:solidFill>
            <a:srgbClr val="CCCCFF"/>
          </a:solidFill>
        </p:grpSpPr>
        <p:sp>
          <p:nvSpPr>
            <p:cNvPr id="30734" name="Rectangle 15"/>
            <p:cNvSpPr>
              <a:spLocks noChangeArrowheads="1"/>
            </p:cNvSpPr>
            <p:nvPr/>
          </p:nvSpPr>
          <p:spPr bwMode="auto">
            <a:xfrm>
              <a:off x="4656" y="1584"/>
              <a:ext cx="864" cy="1200"/>
            </a:xfrm>
            <a:prstGeom prst="rect">
              <a:avLst/>
            </a:prstGeom>
            <a:grpFill/>
            <a:ln w="9525">
              <a:solidFill>
                <a:schemeClr val="tx1"/>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0735" name="Line 16"/>
            <p:cNvSpPr>
              <a:spLocks noChangeShapeType="1"/>
            </p:cNvSpPr>
            <p:nvPr/>
          </p:nvSpPr>
          <p:spPr bwMode="auto">
            <a:xfrm>
              <a:off x="4656" y="1392"/>
              <a:ext cx="0" cy="1584"/>
            </a:xfrm>
            <a:prstGeom prst="line">
              <a:avLst/>
            </a:prstGeom>
            <a:grpFill/>
            <a:ln w="9525">
              <a:solidFill>
                <a:schemeClr val="tx1"/>
              </a:solidFill>
              <a:miter lim="800000"/>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0736" name="Line 17"/>
            <p:cNvSpPr>
              <a:spLocks noChangeShapeType="1"/>
            </p:cNvSpPr>
            <p:nvPr/>
          </p:nvSpPr>
          <p:spPr bwMode="auto">
            <a:xfrm>
              <a:off x="5520" y="1344"/>
              <a:ext cx="0" cy="1632"/>
            </a:xfrm>
            <a:prstGeom prst="line">
              <a:avLst/>
            </a:prstGeom>
            <a:grpFill/>
            <a:ln w="9525">
              <a:solidFill>
                <a:schemeClr val="tx1"/>
              </a:solidFill>
              <a:miter lim="800000"/>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638994" name="Line 18"/>
          <p:cNvSpPr>
            <a:spLocks noChangeShapeType="1"/>
          </p:cNvSpPr>
          <p:nvPr/>
        </p:nvSpPr>
        <p:spPr bwMode="auto">
          <a:xfrm>
            <a:off x="6673850" y="4243388"/>
            <a:ext cx="762000" cy="381000"/>
          </a:xfrm>
          <a:prstGeom prst="line">
            <a:avLst/>
          </a:prstGeom>
          <a:noFill/>
          <a:ln w="762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38995" name="Line 19"/>
          <p:cNvSpPr>
            <a:spLocks noChangeShapeType="1"/>
          </p:cNvSpPr>
          <p:nvPr/>
        </p:nvSpPr>
        <p:spPr bwMode="auto">
          <a:xfrm>
            <a:off x="6673850" y="3405188"/>
            <a:ext cx="685800" cy="1066800"/>
          </a:xfrm>
          <a:prstGeom prst="line">
            <a:avLst/>
          </a:prstGeom>
          <a:noFill/>
          <a:ln w="762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38997" name="Rectangle 21"/>
          <p:cNvSpPr>
            <a:spLocks noChangeArrowheads="1"/>
          </p:cNvSpPr>
          <p:nvPr/>
        </p:nvSpPr>
        <p:spPr bwMode="auto">
          <a:xfrm>
            <a:off x="233363" y="4046538"/>
            <a:ext cx="4679950"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设置栈底和栈顶指针</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S.top</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 </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S.base</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a:t>
            </a:r>
            <a:endPar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endParaRPr>
          </a:p>
        </p:txBody>
      </p:sp>
      <p:sp>
        <p:nvSpPr>
          <p:cNvPr id="638998" name="Rectangle 22"/>
          <p:cNvSpPr>
            <a:spLocks noChangeArrowheads="1"/>
          </p:cNvSpPr>
          <p:nvPr/>
        </p:nvSpPr>
        <p:spPr bwMode="auto">
          <a:xfrm>
            <a:off x="247650" y="5172075"/>
            <a:ext cx="44862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设置栈大小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638988"/>
                                        </p:tgtEl>
                                        <p:attrNameLst>
                                          <p:attrName>style.visibility</p:attrName>
                                        </p:attrNameLst>
                                      </p:cBhvr>
                                      <p:to>
                                        <p:strVal val="visible"/>
                                      </p:to>
                                    </p:set>
                                    <p:animEffect transition="in" filter="box(out)">
                                      <p:cBhvr>
                                        <p:cTn id="7" dur="500"/>
                                        <p:tgtEl>
                                          <p:spTgt spid="63898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38997"/>
                                        </p:tgtEl>
                                        <p:attrNameLst>
                                          <p:attrName>style.visibility</p:attrName>
                                        </p:attrNameLst>
                                      </p:cBhvr>
                                      <p:to>
                                        <p:strVal val="visible"/>
                                      </p:to>
                                    </p:set>
                                    <p:anim calcmode="lin" valueType="num">
                                      <p:cBhvr additive="base">
                                        <p:cTn id="12" dur="500" fill="hold"/>
                                        <p:tgtEl>
                                          <p:spTgt spid="638997"/>
                                        </p:tgtEl>
                                        <p:attrNameLst>
                                          <p:attrName>ppt_x</p:attrName>
                                        </p:attrNameLst>
                                      </p:cBhvr>
                                      <p:tavLst>
                                        <p:tav tm="0">
                                          <p:val>
                                            <p:strVal val="#ppt_x"/>
                                          </p:val>
                                        </p:tav>
                                        <p:tav tm="100000">
                                          <p:val>
                                            <p:strVal val="#ppt_x"/>
                                          </p:val>
                                        </p:tav>
                                      </p:tavLst>
                                    </p:anim>
                                    <p:anim calcmode="lin" valueType="num">
                                      <p:cBhvr additive="base">
                                        <p:cTn id="13" dur="500" fill="hold"/>
                                        <p:tgtEl>
                                          <p:spTgt spid="63899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ox(out)">
                                      <p:cBhvr>
                                        <p:cTn id="18" dur="500"/>
                                        <p:tgtEl>
                                          <p:spTgt spid="3"/>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638994"/>
                                        </p:tgtEl>
                                        <p:attrNameLst>
                                          <p:attrName>style.visibility</p:attrName>
                                        </p:attrNameLst>
                                      </p:cBhvr>
                                      <p:to>
                                        <p:strVal val="visible"/>
                                      </p:to>
                                    </p:set>
                                    <p:animEffect transition="in" filter="box(out)">
                                      <p:cBhvr>
                                        <p:cTn id="23" dur="500"/>
                                        <p:tgtEl>
                                          <p:spTgt spid="638994"/>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638995"/>
                                        </p:tgtEl>
                                        <p:attrNameLst>
                                          <p:attrName>style.visibility</p:attrName>
                                        </p:attrNameLst>
                                      </p:cBhvr>
                                      <p:to>
                                        <p:strVal val="visible"/>
                                      </p:to>
                                    </p:set>
                                    <p:animEffect transition="in" filter="box(out)">
                                      <p:cBhvr>
                                        <p:cTn id="28" dur="500"/>
                                        <p:tgtEl>
                                          <p:spTgt spid="638995"/>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638998"/>
                                        </p:tgtEl>
                                        <p:attrNameLst>
                                          <p:attrName>style.visibility</p:attrName>
                                        </p:attrNameLst>
                                      </p:cBhvr>
                                      <p:to>
                                        <p:strVal val="visible"/>
                                      </p:to>
                                    </p:set>
                                    <p:animEffect transition="in" filter="box(in)">
                                      <p:cBhvr>
                                        <p:cTn id="33" dur="500"/>
                                        <p:tgtEl>
                                          <p:spTgt spid="638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8997" grpId="0"/>
      <p:bldP spid="63899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矩形 5"/>
          <p:cNvSpPr>
            <a:spLocks noChangeArrowheads="1"/>
          </p:cNvSpPr>
          <p:nvPr/>
        </p:nvSpPr>
        <p:spPr bwMode="auto">
          <a:xfrm>
            <a:off x="0" y="1412875"/>
            <a:ext cx="9144000" cy="4032250"/>
          </a:xfrm>
          <a:prstGeom prst="rect">
            <a:avLst/>
          </a:prstGeom>
          <a:solidFill>
            <a:srgbClr val="D4E6F4"/>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1747" name="Rectangle 2"/>
          <p:cNvSpPr>
            <a:spLocks noChangeArrowheads="1"/>
          </p:cNvSpPr>
          <p:nvPr/>
        </p:nvSpPr>
        <p:spPr bwMode="auto">
          <a:xfrm>
            <a:off x="801688" y="1434923"/>
            <a:ext cx="6985000" cy="4010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InitStack</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SqStack</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&amp;S )</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lvl="0">
              <a:lnSpc>
                <a:spcPct val="90000"/>
              </a:lnSpc>
              <a:spcBef>
                <a:spcPct val="20000"/>
              </a:spcBef>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S.base</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800" b="0" i="0" u="none" strike="noStrike" kern="1200" cap="none" spc="0" normalizeH="0" baseline="0" noProof="0" dirty="0" smtClean="0">
                <a:ln>
                  <a:noFill/>
                </a:ln>
                <a:solidFill>
                  <a:srgbClr val="FF0000"/>
                </a:solidFill>
                <a:effectLst/>
                <a:uLnTx/>
                <a:uFillTx/>
                <a:latin typeface="+mn-lt"/>
                <a:ea typeface="+mn-ea"/>
                <a:cs typeface="+mn-ea"/>
                <a:sym typeface="+mn-lt"/>
              </a:rPr>
              <a:t>=</a:t>
            </a:r>
            <a:r>
              <a:rPr lang="en-US" altLang="zh-CN" sz="2800" b="0" dirty="0">
                <a:solidFill>
                  <a:srgbClr val="FF0000"/>
                </a:solidFill>
                <a:latin typeface="+mn-lt"/>
                <a:ea typeface="+mn-ea"/>
                <a:cs typeface="+mn-ea"/>
                <a:sym typeface="+mn-lt"/>
              </a:rPr>
              <a:t>(</a:t>
            </a:r>
            <a:r>
              <a:rPr kumimoji="0" lang="en-US" altLang="zh-CN" sz="2800" b="0" i="0" u="none" strike="noStrike" kern="1200" cap="none" spc="0" normalizeH="0" baseline="0" noProof="0" dirty="0" err="1" smtClean="0">
                <a:ln>
                  <a:noFill/>
                </a:ln>
                <a:solidFill>
                  <a:srgbClr val="FF0000"/>
                </a:solidFill>
                <a:effectLst/>
                <a:uLnTx/>
                <a:uFillTx/>
                <a:latin typeface="+mn-lt"/>
                <a:ea typeface="+mn-ea"/>
                <a:cs typeface="+mn-ea"/>
                <a:sym typeface="+mn-lt"/>
              </a:rPr>
              <a:t>SElemType</a:t>
            </a:r>
            <a:r>
              <a:rPr kumimoji="0" lang="en-US" altLang="zh-CN" sz="2800" b="0" i="0" u="none" strike="noStrike" kern="1200" cap="none" spc="0" normalizeH="0" baseline="0" noProof="0" dirty="0" smtClean="0">
                <a:ln>
                  <a:noFill/>
                </a:ln>
                <a:solidFill>
                  <a:srgbClr val="FF0000"/>
                </a:solidFill>
                <a:effectLst/>
                <a:uLnTx/>
                <a:uFillTx/>
                <a:latin typeface="+mn-lt"/>
                <a:ea typeface="+mn-ea"/>
                <a:cs typeface="+mn-ea"/>
                <a:sym typeface="+mn-lt"/>
              </a:rPr>
              <a:t>*)</a:t>
            </a:r>
            <a:r>
              <a:rPr kumimoji="0" lang="en-US" altLang="zh-CN" sz="2800" b="0" i="0" u="none" strike="noStrike" kern="1200" cap="none" spc="0" normalizeH="0" baseline="0" noProof="0" dirty="0" err="1" smtClean="0">
                <a:ln>
                  <a:noFill/>
                </a:ln>
                <a:solidFill>
                  <a:srgbClr val="FF0000"/>
                </a:solidFill>
                <a:effectLst/>
                <a:uLnTx/>
                <a:uFillTx/>
                <a:latin typeface="+mn-lt"/>
                <a:ea typeface="+mn-ea"/>
                <a:cs typeface="+mn-ea"/>
                <a:sym typeface="+mn-lt"/>
              </a:rPr>
              <a:t>malloc</a:t>
            </a:r>
            <a:r>
              <a:rPr kumimoji="0" lang="en-US" altLang="zh-CN" sz="2800" b="0" i="0" u="none" strike="noStrike" kern="1200" cap="none" spc="0" normalizeH="0" baseline="0" noProof="0" dirty="0" smtClean="0">
                <a:ln>
                  <a:noFill/>
                </a:ln>
                <a:solidFill>
                  <a:srgbClr val="FF0000"/>
                </a:solidFill>
                <a:effectLst/>
                <a:uLnTx/>
                <a:uFillTx/>
                <a:latin typeface="+mn-lt"/>
                <a:ea typeface="+mn-ea"/>
                <a:cs typeface="+mn-ea"/>
                <a:sym typeface="+mn-lt"/>
              </a:rPr>
              <a:t>(MAXSIZE*</a:t>
            </a:r>
            <a:r>
              <a:rPr kumimoji="0" lang="en-US" altLang="zh-CN" sz="2800" b="0" i="0" u="none" strike="noStrike" kern="1200" cap="none" spc="0" normalizeH="0" baseline="0" noProof="0" dirty="0" err="1" smtClean="0">
                <a:ln>
                  <a:noFill/>
                </a:ln>
                <a:solidFill>
                  <a:srgbClr val="FF0000"/>
                </a:solidFill>
                <a:effectLst/>
                <a:uLnTx/>
                <a:uFillTx/>
                <a:latin typeface="+mn-lt"/>
                <a:ea typeface="+mn-ea"/>
                <a:cs typeface="+mn-ea"/>
                <a:sym typeface="+mn-lt"/>
              </a:rPr>
              <a:t>sizeof</a:t>
            </a:r>
            <a:r>
              <a:rPr kumimoji="0" lang="en-US" altLang="zh-CN" sz="2800" b="0" i="0" u="none" strike="noStrike" kern="1200" cap="none" spc="0" normalizeH="0" baseline="0" noProof="0" dirty="0" smtClean="0">
                <a:ln>
                  <a:noFill/>
                </a:ln>
                <a:solidFill>
                  <a:srgbClr val="FF0000"/>
                </a:solidFill>
                <a:effectLst/>
                <a:uLnTx/>
                <a:uFillTx/>
                <a:latin typeface="+mn-lt"/>
                <a:ea typeface="+mn-ea"/>
                <a:cs typeface="+mn-ea"/>
                <a:sym typeface="+mn-lt"/>
              </a:rPr>
              <a:t>( </a:t>
            </a:r>
            <a:r>
              <a:rPr lang="en-US" altLang="zh-CN" sz="2800" b="0" dirty="0" err="1" smtClean="0">
                <a:solidFill>
                  <a:srgbClr val="FF0000"/>
                </a:solidFill>
                <a:cs typeface="+mn-ea"/>
                <a:sym typeface="+mn-lt"/>
              </a:rPr>
              <a:t>SElemType</a:t>
            </a:r>
            <a:r>
              <a:rPr kumimoji="0" lang="en-US" altLang="zh-CN" sz="2800" b="0" i="0" u="none" strike="noStrike" kern="1200" cap="none" spc="0" normalizeH="0" baseline="0" noProof="0" dirty="0" smtClean="0">
                <a:ln>
                  <a:noFill/>
                </a:ln>
                <a:solidFill>
                  <a:srgbClr val="FF0000"/>
                </a:solidFill>
                <a:effectLst/>
                <a:uLnTx/>
                <a:uFillTx/>
                <a:latin typeface="+mn-lt"/>
                <a:ea typeface="+mn-ea"/>
                <a:cs typeface="+mn-ea"/>
                <a:sym typeface="+mn-lt"/>
              </a:rPr>
              <a:t>)</a:t>
            </a:r>
            <a:r>
              <a:rPr lang="en-US" altLang="zh-CN" sz="2800" b="0" dirty="0" smtClean="0">
                <a:solidFill>
                  <a:srgbClr val="FF0000"/>
                </a:solidFill>
                <a:latin typeface="+mn-lt"/>
                <a:ea typeface="+mn-ea"/>
                <a:cs typeface="+mn-ea"/>
                <a:sym typeface="+mn-lt"/>
              </a:rPr>
              <a:t>)</a:t>
            </a:r>
            <a:r>
              <a:rPr kumimoji="0" lang="zh-CN" altLang="en-US" sz="2800" b="0" i="0" u="none" strike="noStrike" kern="1200" cap="none" spc="0" normalizeH="0" baseline="0" noProof="0" dirty="0" smtClean="0">
                <a:ln>
                  <a:noFill/>
                </a:ln>
                <a:solidFill>
                  <a:srgbClr val="FF0000"/>
                </a:solidFill>
                <a:effectLst/>
                <a:uLnTx/>
                <a:uFillTx/>
                <a:latin typeface="+mn-lt"/>
                <a:ea typeface="+mn-ea"/>
                <a:cs typeface="+mn-ea"/>
                <a:sym typeface="+mn-lt"/>
              </a:rPr>
              <a:t>；</a:t>
            </a:r>
            <a:endPar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endParaRP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if(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S.base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return OVERFLOW;</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S.top</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S.base</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S.stackSize</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 MAXSIZE;</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31748" name="Rectangle 3"/>
          <p:cNvSpPr>
            <a:spLocks noChangeArrowheads="1"/>
          </p:cNvSpPr>
          <p:nvPr/>
        </p:nvSpPr>
        <p:spPr bwMode="auto">
          <a:xfrm>
            <a:off x="954088" y="207963"/>
            <a:ext cx="35242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顺序栈初始化</a:t>
            </a:r>
          </a:p>
        </p:txBody>
      </p:sp>
      <p:sp>
        <p:nvSpPr>
          <p:cNvPr id="7"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transition>
    <p:spli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矩形 19"/>
          <p:cNvSpPr>
            <a:spLocks noChangeArrowheads="1"/>
          </p:cNvSpPr>
          <p:nvPr/>
        </p:nvSpPr>
        <p:spPr bwMode="auto">
          <a:xfrm>
            <a:off x="0" y="1628775"/>
            <a:ext cx="6057900" cy="3960813"/>
          </a:xfrm>
          <a:prstGeom prst="rect">
            <a:avLst/>
          </a:prstGeom>
          <a:solidFill>
            <a:srgbClr val="D4E6F4"/>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1" name="矩形 20"/>
          <p:cNvSpPr/>
          <p:nvPr/>
        </p:nvSpPr>
        <p:spPr bwMode="auto">
          <a:xfrm>
            <a:off x="6202363" y="1628775"/>
            <a:ext cx="2941638" cy="396081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71" name="Rectangle 1039"/>
          <p:cNvSpPr>
            <a:spLocks noChangeArrowheads="1"/>
          </p:cNvSpPr>
          <p:nvPr/>
        </p:nvSpPr>
        <p:spPr bwMode="auto">
          <a:xfrm>
            <a:off x="900113" y="223838"/>
            <a:ext cx="39560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判断顺序栈是否为空</a:t>
            </a:r>
          </a:p>
        </p:txBody>
      </p:sp>
      <p:sp>
        <p:nvSpPr>
          <p:cNvPr id="32772" name="Rectangle 1040"/>
          <p:cNvSpPr>
            <a:spLocks noChangeArrowheads="1"/>
          </p:cNvSpPr>
          <p:nvPr/>
        </p:nvSpPr>
        <p:spPr bwMode="auto">
          <a:xfrm>
            <a:off x="477838" y="2352675"/>
            <a:ext cx="5038725" cy="241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bool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StackEmpty</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SqStack</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S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if(</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S.top</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S.base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return true;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else return false;</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41990" name="Group 1042"/>
          <p:cNvGrpSpPr/>
          <p:nvPr/>
        </p:nvGrpSpPr>
        <p:grpSpPr>
          <a:xfrm>
            <a:off x="6272213" y="2493963"/>
            <a:ext cx="2300287" cy="2166937"/>
            <a:chOff x="207" y="614"/>
            <a:chExt cx="1449" cy="1365"/>
          </a:xfrm>
        </p:grpSpPr>
        <p:sp>
          <p:nvSpPr>
            <p:cNvPr id="32774" name="Text Box 1043"/>
            <p:cNvSpPr txBox="1">
              <a:spLocks noChangeArrowheads="1"/>
            </p:cNvSpPr>
            <p:nvPr/>
          </p:nvSpPr>
          <p:spPr bwMode="auto">
            <a:xfrm>
              <a:off x="207" y="1729"/>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folHlink"/>
                  </a:solidFill>
                  <a:effectLst/>
                  <a:uLnTx/>
                  <a:uFillTx/>
                  <a:latin typeface="+mn-lt"/>
                  <a:ea typeface="+mn-ea"/>
                  <a:cs typeface="+mn-ea"/>
                  <a:sym typeface="+mn-lt"/>
                </a:rPr>
                <a:t>base</a:t>
              </a:r>
            </a:p>
          </p:txBody>
        </p:sp>
        <p:grpSp>
          <p:nvGrpSpPr>
            <p:cNvPr id="41994" name="Group 1044"/>
            <p:cNvGrpSpPr/>
            <p:nvPr/>
          </p:nvGrpSpPr>
          <p:grpSpPr>
            <a:xfrm>
              <a:off x="264" y="614"/>
              <a:ext cx="1392" cy="1306"/>
              <a:chOff x="-240" y="624"/>
              <a:chExt cx="1392" cy="1306"/>
            </a:xfrm>
          </p:grpSpPr>
          <p:sp>
            <p:nvSpPr>
              <p:cNvPr id="32776" name="Rectangle 1045"/>
              <p:cNvSpPr>
                <a:spLocks noChangeArrowheads="1"/>
              </p:cNvSpPr>
              <p:nvPr/>
            </p:nvSpPr>
            <p:spPr bwMode="auto">
              <a:xfrm>
                <a:off x="528" y="624"/>
                <a:ext cx="432" cy="1296"/>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77" name="Line 1046"/>
              <p:cNvSpPr>
                <a:spLocks noChangeShapeType="1"/>
              </p:cNvSpPr>
              <p:nvPr/>
            </p:nvSpPr>
            <p:spPr bwMode="auto">
              <a:xfrm>
                <a:off x="528" y="1296"/>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78" name="Line 1047"/>
              <p:cNvSpPr>
                <a:spLocks noChangeShapeType="1"/>
              </p:cNvSpPr>
              <p:nvPr/>
            </p:nvSpPr>
            <p:spPr bwMode="auto">
              <a:xfrm>
                <a:off x="528" y="1584"/>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79" name="Line 1048"/>
              <p:cNvSpPr>
                <a:spLocks noChangeShapeType="1"/>
              </p:cNvSpPr>
              <p:nvPr/>
            </p:nvSpPr>
            <p:spPr bwMode="auto">
              <a:xfrm>
                <a:off x="528" y="960"/>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0" name="Line 1049"/>
              <p:cNvSpPr>
                <a:spLocks noChangeShapeType="1"/>
              </p:cNvSpPr>
              <p:nvPr/>
            </p:nvSpPr>
            <p:spPr bwMode="auto">
              <a:xfrm>
                <a:off x="288" y="1728"/>
                <a:ext cx="240"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1" name="Line 1050"/>
              <p:cNvSpPr>
                <a:spLocks noChangeShapeType="1"/>
              </p:cNvSpPr>
              <p:nvPr/>
            </p:nvSpPr>
            <p:spPr bwMode="auto">
              <a:xfrm>
                <a:off x="288" y="1872"/>
                <a:ext cx="240" cy="0"/>
              </a:xfrm>
              <a:prstGeom prst="line">
                <a:avLst/>
              </a:prstGeom>
              <a:noFill/>
              <a:ln w="19050">
                <a:solidFill>
                  <a:schemeClr val="folHlink"/>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2782" name="Text Box 1051"/>
              <p:cNvSpPr txBox="1">
                <a:spLocks noChangeArrowheads="1"/>
              </p:cNvSpPr>
              <p:nvPr/>
            </p:nvSpPr>
            <p:spPr bwMode="auto">
              <a:xfrm>
                <a:off x="-240" y="161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top</a:t>
                </a:r>
              </a:p>
            </p:txBody>
          </p:sp>
          <p:sp>
            <p:nvSpPr>
              <p:cNvPr id="32783" name="Text Box 1052"/>
              <p:cNvSpPr txBox="1">
                <a:spLocks noChangeArrowheads="1"/>
              </p:cNvSpPr>
              <p:nvPr/>
            </p:nvSpPr>
            <p:spPr bwMode="auto">
              <a:xfrm>
                <a:off x="960" y="672"/>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32784" name="Text Box 1053"/>
              <p:cNvSpPr txBox="1">
                <a:spLocks noChangeArrowheads="1"/>
              </p:cNvSpPr>
              <p:nvPr/>
            </p:nvSpPr>
            <p:spPr bwMode="auto">
              <a:xfrm>
                <a:off x="960" y="1344"/>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32785" name="Text Box 1054"/>
              <p:cNvSpPr txBox="1">
                <a:spLocks noChangeArrowheads="1"/>
              </p:cNvSpPr>
              <p:nvPr/>
            </p:nvSpPr>
            <p:spPr bwMode="auto">
              <a:xfrm>
                <a:off x="960" y="1008"/>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32786" name="Text Box 1055"/>
              <p:cNvSpPr txBox="1">
                <a:spLocks noChangeArrowheads="1"/>
              </p:cNvSpPr>
              <p:nvPr/>
            </p:nvSpPr>
            <p:spPr bwMode="auto">
              <a:xfrm>
                <a:off x="960" y="1680"/>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a:t>
                </a:r>
              </a:p>
            </p:txBody>
          </p:sp>
        </p:grpSp>
      </p:grpSp>
      <p:sp>
        <p:nvSpPr>
          <p:cNvPr id="2" name="空心弧 1"/>
          <p:cNvSpPr/>
          <p:nvPr/>
        </p:nvSpPr>
        <p:spPr bwMode="auto">
          <a:xfrm flipV="1">
            <a:off x="5654675" y="5035550"/>
            <a:ext cx="950913" cy="387350"/>
          </a:xfrm>
          <a:prstGeom prst="blockArc">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 name="空心弧 22"/>
          <p:cNvSpPr/>
          <p:nvPr/>
        </p:nvSpPr>
        <p:spPr bwMode="auto">
          <a:xfrm flipV="1">
            <a:off x="5654675" y="4908550"/>
            <a:ext cx="950913" cy="387350"/>
          </a:xfrm>
          <a:prstGeom prst="blockArc">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18"/>
          <p:cNvSpPr>
            <a:spLocks noChangeArrowheads="1"/>
          </p:cNvSpPr>
          <p:nvPr/>
        </p:nvSpPr>
        <p:spPr bwMode="auto">
          <a:xfrm>
            <a:off x="0" y="1628775"/>
            <a:ext cx="6057900" cy="3960813"/>
          </a:xfrm>
          <a:prstGeom prst="rect">
            <a:avLst/>
          </a:prstGeom>
          <a:solidFill>
            <a:srgbClr val="D4E6F4"/>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0" name="矩形 19"/>
          <p:cNvSpPr/>
          <p:nvPr/>
        </p:nvSpPr>
        <p:spPr bwMode="auto">
          <a:xfrm>
            <a:off x="6202363" y="1628775"/>
            <a:ext cx="2941638" cy="396081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1" name="空心弧 20"/>
          <p:cNvSpPr/>
          <p:nvPr/>
        </p:nvSpPr>
        <p:spPr bwMode="auto">
          <a:xfrm flipV="1">
            <a:off x="5654675" y="5035550"/>
            <a:ext cx="950913" cy="387350"/>
          </a:xfrm>
          <a:prstGeom prst="blockArc">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 name="空心弧 21"/>
          <p:cNvSpPr/>
          <p:nvPr/>
        </p:nvSpPr>
        <p:spPr bwMode="auto">
          <a:xfrm flipV="1">
            <a:off x="5654675" y="4908550"/>
            <a:ext cx="950913" cy="387350"/>
          </a:xfrm>
          <a:prstGeom prst="blockArc">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1990"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求顺序栈的长度</a:t>
            </a:r>
          </a:p>
        </p:txBody>
      </p:sp>
      <p:sp>
        <p:nvSpPr>
          <p:cNvPr id="34820" name="Rectangle 10"/>
          <p:cNvSpPr>
            <a:spLocks noChangeArrowheads="1"/>
          </p:cNvSpPr>
          <p:nvPr/>
        </p:nvSpPr>
        <p:spPr bwMode="auto">
          <a:xfrm>
            <a:off x="506413" y="2249488"/>
            <a:ext cx="5367338"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StackLength</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SqStack</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S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return </a:t>
            </a:r>
            <a:r>
              <a:rPr kumimoji="0" lang="en-US" altLang="zh-CN" sz="3200" b="0" i="0" u="none" strike="noStrike" kern="1200" cap="none" spc="0" normalizeH="0" baseline="0" noProof="0" dirty="0" err="1">
                <a:ln>
                  <a:noFill/>
                </a:ln>
                <a:solidFill>
                  <a:srgbClr val="FF0000"/>
                </a:solidFill>
                <a:effectLst/>
                <a:uLnTx/>
                <a:uFillTx/>
                <a:latin typeface="+mn-lt"/>
                <a:ea typeface="+mn-ea"/>
                <a:cs typeface="+mn-ea"/>
                <a:sym typeface="+mn-lt"/>
              </a:rPr>
              <a:t>S.top</a:t>
            </a: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 – </a:t>
            </a:r>
            <a:r>
              <a:rPr kumimoji="0" lang="en-US" altLang="zh-CN" sz="3200" b="0" i="0" u="none" strike="noStrike" kern="1200" cap="none" spc="0" normalizeH="0" baseline="0" noProof="0" dirty="0" err="1">
                <a:ln>
                  <a:noFill/>
                </a:ln>
                <a:solidFill>
                  <a:srgbClr val="FF0000"/>
                </a:solidFill>
                <a:effectLst/>
                <a:uLnTx/>
                <a:uFillTx/>
                <a:latin typeface="+mn-lt"/>
                <a:ea typeface="+mn-ea"/>
                <a:cs typeface="+mn-ea"/>
                <a:sym typeface="+mn-lt"/>
              </a:rPr>
              <a:t>S.base</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44040" name="Group 11"/>
          <p:cNvGrpSpPr/>
          <p:nvPr/>
        </p:nvGrpSpPr>
        <p:grpSpPr>
          <a:xfrm>
            <a:off x="6562725" y="2278063"/>
            <a:ext cx="1828800" cy="2193925"/>
            <a:chOff x="2304" y="1440"/>
            <a:chExt cx="1152" cy="1382"/>
          </a:xfrm>
        </p:grpSpPr>
        <p:sp>
          <p:nvSpPr>
            <p:cNvPr id="34822" name="Text Box 12"/>
            <p:cNvSpPr txBox="1">
              <a:spLocks noChangeArrowheads="1"/>
            </p:cNvSpPr>
            <p:nvPr/>
          </p:nvSpPr>
          <p:spPr bwMode="auto">
            <a:xfrm>
              <a:off x="2304" y="257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folHlink"/>
                  </a:solidFill>
                  <a:effectLst/>
                  <a:uLnTx/>
                  <a:uFillTx/>
                  <a:latin typeface="+mn-lt"/>
                  <a:ea typeface="+mn-ea"/>
                  <a:cs typeface="+mn-ea"/>
                  <a:sym typeface="+mn-lt"/>
                </a:rPr>
                <a:t>base</a:t>
              </a:r>
            </a:p>
          </p:txBody>
        </p:sp>
        <p:sp>
          <p:nvSpPr>
            <p:cNvPr id="34823" name="Text Box 13"/>
            <p:cNvSpPr txBox="1">
              <a:spLocks noChangeArrowheads="1"/>
            </p:cNvSpPr>
            <p:nvPr/>
          </p:nvSpPr>
          <p:spPr bwMode="auto">
            <a:xfrm>
              <a:off x="2352" y="185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top</a:t>
              </a:r>
            </a:p>
          </p:txBody>
        </p:sp>
        <p:grpSp>
          <p:nvGrpSpPr>
            <p:cNvPr id="44043" name="Group 14"/>
            <p:cNvGrpSpPr/>
            <p:nvPr/>
          </p:nvGrpSpPr>
          <p:grpSpPr>
            <a:xfrm>
              <a:off x="2832" y="1440"/>
              <a:ext cx="624" cy="1296"/>
              <a:chOff x="2832" y="1440"/>
              <a:chExt cx="624" cy="1296"/>
            </a:xfrm>
          </p:grpSpPr>
          <p:sp>
            <p:nvSpPr>
              <p:cNvPr id="34825" name="Rectangle 15"/>
              <p:cNvSpPr>
                <a:spLocks noChangeArrowheads="1"/>
              </p:cNvSpPr>
              <p:nvPr/>
            </p:nvSpPr>
            <p:spPr bwMode="auto">
              <a:xfrm>
                <a:off x="3024" y="1440"/>
                <a:ext cx="432" cy="1296"/>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6" name="Line 16"/>
              <p:cNvSpPr>
                <a:spLocks noChangeShapeType="1"/>
              </p:cNvSpPr>
              <p:nvPr/>
            </p:nvSpPr>
            <p:spPr bwMode="auto">
              <a:xfrm>
                <a:off x="3024" y="2112"/>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7" name="Line 17"/>
              <p:cNvSpPr>
                <a:spLocks noChangeShapeType="1"/>
              </p:cNvSpPr>
              <p:nvPr/>
            </p:nvSpPr>
            <p:spPr bwMode="auto">
              <a:xfrm>
                <a:off x="3024" y="2400"/>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8" name="Line 18"/>
              <p:cNvSpPr>
                <a:spLocks noChangeShapeType="1"/>
              </p:cNvSpPr>
              <p:nvPr/>
            </p:nvSpPr>
            <p:spPr bwMode="auto">
              <a:xfrm>
                <a:off x="3024" y="1776"/>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29" name="Line 19"/>
              <p:cNvSpPr>
                <a:spLocks noChangeShapeType="1"/>
              </p:cNvSpPr>
              <p:nvPr/>
            </p:nvSpPr>
            <p:spPr bwMode="auto">
              <a:xfrm>
                <a:off x="2832" y="2688"/>
                <a:ext cx="192" cy="0"/>
              </a:xfrm>
              <a:prstGeom prst="line">
                <a:avLst/>
              </a:prstGeom>
              <a:noFill/>
              <a:ln w="19050">
                <a:solidFill>
                  <a:schemeClr val="folHlink"/>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0" name="Text Box 20"/>
              <p:cNvSpPr txBox="1">
                <a:spLocks noChangeArrowheads="1"/>
              </p:cNvSpPr>
              <p:nvPr/>
            </p:nvSpPr>
            <p:spPr bwMode="auto">
              <a:xfrm>
                <a:off x="3072" y="244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34831" name="Line 21"/>
              <p:cNvSpPr>
                <a:spLocks noChangeShapeType="1"/>
              </p:cNvSpPr>
              <p:nvPr/>
            </p:nvSpPr>
            <p:spPr bwMode="auto">
              <a:xfrm>
                <a:off x="2832" y="1968"/>
                <a:ext cx="192"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832" name="Text Box 22"/>
              <p:cNvSpPr txBox="1">
                <a:spLocks noChangeArrowheads="1"/>
              </p:cNvSpPr>
              <p:nvPr/>
            </p:nvSpPr>
            <p:spPr bwMode="auto">
              <a:xfrm>
                <a:off x="3072" y="2160"/>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B</a:t>
                </a:r>
              </a:p>
            </p:txBody>
          </p:sp>
        </p:gr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20"/>
          <p:cNvSpPr>
            <a:spLocks noChangeArrowheads="1"/>
          </p:cNvSpPr>
          <p:nvPr/>
        </p:nvSpPr>
        <p:spPr bwMode="auto">
          <a:xfrm>
            <a:off x="0" y="1628775"/>
            <a:ext cx="6057900" cy="3960813"/>
          </a:xfrm>
          <a:prstGeom prst="rect">
            <a:avLst/>
          </a:prstGeom>
          <a:solidFill>
            <a:srgbClr val="D4E6F4"/>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 name="矩形 21"/>
          <p:cNvSpPr/>
          <p:nvPr/>
        </p:nvSpPr>
        <p:spPr bwMode="auto">
          <a:xfrm>
            <a:off x="6202363" y="1628775"/>
            <a:ext cx="2941638" cy="396081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 name="空心弧 22"/>
          <p:cNvSpPr/>
          <p:nvPr/>
        </p:nvSpPr>
        <p:spPr bwMode="auto">
          <a:xfrm flipV="1">
            <a:off x="5654675" y="5035550"/>
            <a:ext cx="950913" cy="387350"/>
          </a:xfrm>
          <a:prstGeom prst="blockArc">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3013"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清空顺序栈</a:t>
            </a:r>
          </a:p>
        </p:txBody>
      </p:sp>
      <p:sp>
        <p:nvSpPr>
          <p:cNvPr id="35843" name="Rectangle 7"/>
          <p:cNvSpPr>
            <a:spLocks noChangeArrowheads="1"/>
          </p:cNvSpPr>
          <p:nvPr/>
        </p:nvSpPr>
        <p:spPr bwMode="auto">
          <a:xfrm>
            <a:off x="536575" y="2251075"/>
            <a:ext cx="5056188"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ClearStack</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SqStack</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S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S.base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S.top</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S.base</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45063" name="Group 9"/>
          <p:cNvGrpSpPr/>
          <p:nvPr/>
        </p:nvGrpSpPr>
        <p:grpSpPr>
          <a:xfrm>
            <a:off x="6356350" y="2525713"/>
            <a:ext cx="2300288" cy="2166937"/>
            <a:chOff x="207" y="614"/>
            <a:chExt cx="1449" cy="1365"/>
          </a:xfrm>
        </p:grpSpPr>
        <p:sp>
          <p:nvSpPr>
            <p:cNvPr id="35846" name="Text Box 10"/>
            <p:cNvSpPr txBox="1">
              <a:spLocks noChangeArrowheads="1"/>
            </p:cNvSpPr>
            <p:nvPr/>
          </p:nvSpPr>
          <p:spPr bwMode="auto">
            <a:xfrm>
              <a:off x="207" y="1729"/>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folHlink"/>
                  </a:solidFill>
                  <a:effectLst/>
                  <a:uLnTx/>
                  <a:uFillTx/>
                  <a:latin typeface="+mn-lt"/>
                  <a:ea typeface="+mn-ea"/>
                  <a:cs typeface="+mn-ea"/>
                  <a:sym typeface="+mn-lt"/>
                </a:rPr>
                <a:t>base</a:t>
              </a:r>
            </a:p>
          </p:txBody>
        </p:sp>
        <p:grpSp>
          <p:nvGrpSpPr>
            <p:cNvPr id="45067" name="Group 11"/>
            <p:cNvGrpSpPr/>
            <p:nvPr/>
          </p:nvGrpSpPr>
          <p:grpSpPr>
            <a:xfrm>
              <a:off x="264" y="614"/>
              <a:ext cx="1392" cy="1306"/>
              <a:chOff x="-240" y="624"/>
              <a:chExt cx="1392" cy="1306"/>
            </a:xfrm>
          </p:grpSpPr>
          <p:sp>
            <p:nvSpPr>
              <p:cNvPr id="35848" name="Rectangle 12"/>
              <p:cNvSpPr>
                <a:spLocks noChangeArrowheads="1"/>
              </p:cNvSpPr>
              <p:nvPr/>
            </p:nvSpPr>
            <p:spPr bwMode="auto">
              <a:xfrm>
                <a:off x="528" y="624"/>
                <a:ext cx="432" cy="1296"/>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849" name="Line 13"/>
              <p:cNvSpPr>
                <a:spLocks noChangeShapeType="1"/>
              </p:cNvSpPr>
              <p:nvPr/>
            </p:nvSpPr>
            <p:spPr bwMode="auto">
              <a:xfrm>
                <a:off x="528" y="1296"/>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850" name="Line 14"/>
              <p:cNvSpPr>
                <a:spLocks noChangeShapeType="1"/>
              </p:cNvSpPr>
              <p:nvPr/>
            </p:nvSpPr>
            <p:spPr bwMode="auto">
              <a:xfrm>
                <a:off x="528" y="1584"/>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851" name="Line 15"/>
              <p:cNvSpPr>
                <a:spLocks noChangeShapeType="1"/>
              </p:cNvSpPr>
              <p:nvPr/>
            </p:nvSpPr>
            <p:spPr bwMode="auto">
              <a:xfrm>
                <a:off x="528" y="960"/>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852" name="Line 16"/>
              <p:cNvSpPr>
                <a:spLocks noChangeShapeType="1"/>
              </p:cNvSpPr>
              <p:nvPr/>
            </p:nvSpPr>
            <p:spPr bwMode="auto">
              <a:xfrm>
                <a:off x="288" y="1728"/>
                <a:ext cx="240"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853" name="Line 17"/>
              <p:cNvSpPr>
                <a:spLocks noChangeShapeType="1"/>
              </p:cNvSpPr>
              <p:nvPr/>
            </p:nvSpPr>
            <p:spPr bwMode="auto">
              <a:xfrm>
                <a:off x="288" y="1872"/>
                <a:ext cx="240" cy="0"/>
              </a:xfrm>
              <a:prstGeom prst="line">
                <a:avLst/>
              </a:prstGeom>
              <a:noFill/>
              <a:ln w="19050">
                <a:solidFill>
                  <a:schemeClr val="folHlink"/>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5854" name="Text Box 18"/>
              <p:cNvSpPr txBox="1">
                <a:spLocks noChangeArrowheads="1"/>
              </p:cNvSpPr>
              <p:nvPr/>
            </p:nvSpPr>
            <p:spPr bwMode="auto">
              <a:xfrm>
                <a:off x="-240" y="161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top</a:t>
                </a:r>
              </a:p>
            </p:txBody>
          </p:sp>
          <p:sp>
            <p:nvSpPr>
              <p:cNvPr id="35855" name="Text Box 19"/>
              <p:cNvSpPr txBox="1">
                <a:spLocks noChangeArrowheads="1"/>
              </p:cNvSpPr>
              <p:nvPr/>
            </p:nvSpPr>
            <p:spPr bwMode="auto">
              <a:xfrm>
                <a:off x="960" y="672"/>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35856" name="Text Box 20"/>
              <p:cNvSpPr txBox="1">
                <a:spLocks noChangeArrowheads="1"/>
              </p:cNvSpPr>
              <p:nvPr/>
            </p:nvSpPr>
            <p:spPr bwMode="auto">
              <a:xfrm>
                <a:off x="960" y="1344"/>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35857" name="Text Box 21"/>
              <p:cNvSpPr txBox="1">
                <a:spLocks noChangeArrowheads="1"/>
              </p:cNvSpPr>
              <p:nvPr/>
            </p:nvSpPr>
            <p:spPr bwMode="auto">
              <a:xfrm>
                <a:off x="960" y="1008"/>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35858" name="Text Box 22"/>
              <p:cNvSpPr txBox="1">
                <a:spLocks noChangeArrowheads="1"/>
              </p:cNvSpPr>
              <p:nvPr/>
            </p:nvSpPr>
            <p:spPr bwMode="auto">
              <a:xfrm>
                <a:off x="960" y="1680"/>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0</a:t>
                </a:r>
              </a:p>
            </p:txBody>
          </p:sp>
        </p:grpSp>
      </p:grpSp>
      <p:sp>
        <p:nvSpPr>
          <p:cNvPr id="24" name="空心弧 23"/>
          <p:cNvSpPr/>
          <p:nvPr/>
        </p:nvSpPr>
        <p:spPr bwMode="auto">
          <a:xfrm flipV="1">
            <a:off x="5654675" y="5035550"/>
            <a:ext cx="950913" cy="387350"/>
          </a:xfrm>
          <a:prstGeom prst="blockArc">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5" name="空心弧 24"/>
          <p:cNvSpPr/>
          <p:nvPr/>
        </p:nvSpPr>
        <p:spPr bwMode="auto">
          <a:xfrm flipV="1">
            <a:off x="5654675" y="4908550"/>
            <a:ext cx="950913" cy="387350"/>
          </a:xfrm>
          <a:prstGeom prst="blockArc">
            <a:avLst/>
          </a:prstGeom>
          <a:solidFill>
            <a:srgbClr val="6C4C8F"/>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矩形 6"/>
          <p:cNvSpPr>
            <a:spLocks noChangeArrowheads="1"/>
          </p:cNvSpPr>
          <p:nvPr/>
        </p:nvSpPr>
        <p:spPr bwMode="auto">
          <a:xfrm>
            <a:off x="0" y="1125538"/>
            <a:ext cx="9144000" cy="5256213"/>
          </a:xfrm>
          <a:prstGeom prst="rect">
            <a:avLst/>
          </a:prstGeom>
          <a:solidFill>
            <a:srgbClr val="CCCCFF"/>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6867" name="Rectangle 22"/>
          <p:cNvSpPr>
            <a:spLocks noChangeArrowheads="1"/>
          </p:cNvSpPr>
          <p:nvPr/>
        </p:nvSpPr>
        <p:spPr bwMode="auto">
          <a:xfrm>
            <a:off x="468313" y="1125538"/>
            <a:ext cx="7772400"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DestroyStack</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SqStack</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&amp;S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S.base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ea"/>
                <a:sym typeface="+mn-lt"/>
              </a:rPr>
              <a:t>free(</a:t>
            </a:r>
            <a:r>
              <a:rPr kumimoji="0" lang="en-US" altLang="zh-CN" sz="2800" b="0" i="0" u="none" strike="noStrike" kern="1200" cap="none" spc="0" normalizeH="0" baseline="0" noProof="0" dirty="0" err="1" smtClean="0">
                <a:ln>
                  <a:noFill/>
                </a:ln>
                <a:solidFill>
                  <a:schemeClr val="tx1"/>
                </a:solidFill>
                <a:effectLst/>
                <a:uLnTx/>
                <a:uFillTx/>
                <a:latin typeface="+mn-lt"/>
                <a:ea typeface="+mn-ea"/>
                <a:cs typeface="+mn-ea"/>
                <a:sym typeface="+mn-lt"/>
              </a:rPr>
              <a:t>S.base</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ea"/>
                <a:sym typeface="+mn-lt"/>
              </a:rPr>
              <a:t>) ;</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S.stacksize</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 0;</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S.base</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S.top</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 NULL;</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44036"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销毁顺序栈</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5219700" y="1125538"/>
            <a:ext cx="3924300" cy="2389188"/>
          </a:xfrm>
          <a:prstGeom prst="rect">
            <a:avLst/>
          </a:prstGeom>
          <a:solidFill>
            <a:schemeClr val="bg2">
              <a:lumMod val="40000"/>
              <a:lumOff val="6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059"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顺序栈进栈</a:t>
            </a:r>
          </a:p>
        </p:txBody>
      </p:sp>
      <p:sp>
        <p:nvSpPr>
          <p:cNvPr id="37891" name="Rectangle 4"/>
          <p:cNvSpPr>
            <a:spLocks noChangeArrowheads="1"/>
          </p:cNvSpPr>
          <p:nvPr/>
        </p:nvSpPr>
        <p:spPr bwMode="auto">
          <a:xfrm>
            <a:off x="0" y="1125538"/>
            <a:ext cx="5003800" cy="2389188"/>
          </a:xfrm>
          <a:prstGeom prst="rect">
            <a:avLst/>
          </a:prstGeom>
          <a:solidFill>
            <a:srgbClr val="D4E6F4"/>
          </a:solidFill>
          <a:ln>
            <a:noFill/>
          </a:ln>
        </p:spPr>
        <p:txBody>
          <a:bodyPr anchor="ctr"/>
          <a:lstStyle>
            <a:lvl1pPr marL="609600" indent="-6096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899795" marR="0" lvl="0" indent="-6096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判断是否栈满，若满则出错</a:t>
            </a:r>
          </a:p>
          <a:p>
            <a:pPr marL="899795" marR="0" lvl="0" indent="-6096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元素</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压入栈顶</a:t>
            </a:r>
          </a:p>
          <a:p>
            <a:pPr marL="899795" marR="0" lvl="0" indent="-6096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栈顶指针加</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p>
        </p:txBody>
      </p:sp>
      <p:sp>
        <p:nvSpPr>
          <p:cNvPr id="641031" name="Rectangle 7"/>
          <p:cNvSpPr>
            <a:spLocks noChangeArrowheads="1"/>
          </p:cNvSpPr>
          <p:nvPr/>
        </p:nvSpPr>
        <p:spPr bwMode="auto">
          <a:xfrm>
            <a:off x="323850" y="3711575"/>
            <a:ext cx="5832475"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Status Push(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SqStack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&amp;S,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e)  </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S.top</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S.base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S.stacksize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栈满</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return ERROR; 	</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S.top</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++=e;</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641032" name="AutoShape 8"/>
          <p:cNvSpPr>
            <a:spLocks noChangeArrowheads="1"/>
          </p:cNvSpPr>
          <p:nvPr/>
        </p:nvSpPr>
        <p:spPr bwMode="auto">
          <a:xfrm>
            <a:off x="5597525" y="4764088"/>
            <a:ext cx="3168650" cy="1346200"/>
          </a:xfrm>
          <a:prstGeom prst="cloudCallout">
            <a:avLst>
              <a:gd name="adj1" fmla="val -148946"/>
              <a:gd name="adj2" fmla="val 8749"/>
            </a:avLst>
          </a:prstGeom>
          <a:solidFill>
            <a:srgbClr val="D4E6F4"/>
          </a:solidFill>
          <a:ln>
            <a:noFill/>
          </a:ln>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ctr"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2400" b="1" i="0" u="none" strike="noStrike" kern="1200" cap="none" spc="0" normalizeH="0" baseline="0" noProof="0" dirty="0" err="1">
                <a:ln>
                  <a:noFill/>
                </a:ln>
                <a:solidFill>
                  <a:srgbClr val="FF0000"/>
                </a:solidFill>
                <a:effectLst/>
                <a:uLnTx/>
                <a:uFillTx/>
                <a:latin typeface="+mn-lt"/>
                <a:ea typeface="+mn-ea"/>
                <a:cs typeface="+mn-ea"/>
                <a:sym typeface="+mn-lt"/>
              </a:rPr>
              <a:t>S.top</a:t>
            </a: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=e;</a:t>
            </a:r>
          </a:p>
          <a:p>
            <a:pPr marL="342900" marR="0" lvl="0" indent="-342900" algn="ctr"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err="1">
                <a:ln>
                  <a:noFill/>
                </a:ln>
                <a:solidFill>
                  <a:srgbClr val="FF0000"/>
                </a:solidFill>
                <a:effectLst/>
                <a:uLnTx/>
                <a:uFillTx/>
                <a:latin typeface="+mn-lt"/>
                <a:ea typeface="+mn-ea"/>
                <a:cs typeface="+mn-ea"/>
                <a:sym typeface="+mn-lt"/>
              </a:rPr>
              <a:t>S.top</a:t>
            </a: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a:t>
            </a:r>
          </a:p>
        </p:txBody>
      </p:sp>
      <p:grpSp>
        <p:nvGrpSpPr>
          <p:cNvPr id="47111" name="Group 9"/>
          <p:cNvGrpSpPr/>
          <p:nvPr/>
        </p:nvGrpSpPr>
        <p:grpSpPr>
          <a:xfrm>
            <a:off x="5978525" y="1320800"/>
            <a:ext cx="1828800" cy="2193925"/>
            <a:chOff x="3456" y="1440"/>
            <a:chExt cx="1152" cy="1382"/>
          </a:xfrm>
        </p:grpSpPr>
        <p:grpSp>
          <p:nvGrpSpPr>
            <p:cNvPr id="47112" name="Group 10"/>
            <p:cNvGrpSpPr/>
            <p:nvPr/>
          </p:nvGrpSpPr>
          <p:grpSpPr>
            <a:xfrm>
              <a:off x="3984" y="1440"/>
              <a:ext cx="624" cy="1296"/>
              <a:chOff x="3984" y="1440"/>
              <a:chExt cx="624" cy="1296"/>
            </a:xfrm>
          </p:grpSpPr>
          <p:sp>
            <p:nvSpPr>
              <p:cNvPr id="37897" name="Rectangle 11"/>
              <p:cNvSpPr>
                <a:spLocks noChangeArrowheads="1"/>
              </p:cNvSpPr>
              <p:nvPr/>
            </p:nvSpPr>
            <p:spPr bwMode="auto">
              <a:xfrm>
                <a:off x="4176" y="1440"/>
                <a:ext cx="432" cy="1296"/>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898" name="Line 12"/>
              <p:cNvSpPr>
                <a:spLocks noChangeShapeType="1"/>
              </p:cNvSpPr>
              <p:nvPr/>
            </p:nvSpPr>
            <p:spPr bwMode="auto">
              <a:xfrm>
                <a:off x="4176" y="2112"/>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899" name="Line 13"/>
              <p:cNvSpPr>
                <a:spLocks noChangeShapeType="1"/>
              </p:cNvSpPr>
              <p:nvPr/>
            </p:nvSpPr>
            <p:spPr bwMode="auto">
              <a:xfrm>
                <a:off x="4176" y="2400"/>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900" name="Line 14"/>
              <p:cNvSpPr>
                <a:spLocks noChangeShapeType="1"/>
              </p:cNvSpPr>
              <p:nvPr/>
            </p:nvSpPr>
            <p:spPr bwMode="auto">
              <a:xfrm>
                <a:off x="4176" y="1776"/>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901" name="Line 15"/>
              <p:cNvSpPr>
                <a:spLocks noChangeShapeType="1"/>
              </p:cNvSpPr>
              <p:nvPr/>
            </p:nvSpPr>
            <p:spPr bwMode="auto">
              <a:xfrm>
                <a:off x="3984" y="2688"/>
                <a:ext cx="192" cy="0"/>
              </a:xfrm>
              <a:prstGeom prst="line">
                <a:avLst/>
              </a:prstGeom>
              <a:noFill/>
              <a:ln w="19050">
                <a:solidFill>
                  <a:schemeClr val="folHlink"/>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7902" name="Text Box 16"/>
              <p:cNvSpPr txBox="1">
                <a:spLocks noChangeArrowheads="1"/>
              </p:cNvSpPr>
              <p:nvPr/>
            </p:nvSpPr>
            <p:spPr bwMode="auto">
              <a:xfrm>
                <a:off x="4224" y="244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37903" name="Text Box 17"/>
              <p:cNvSpPr txBox="1">
                <a:spLocks noChangeArrowheads="1"/>
              </p:cNvSpPr>
              <p:nvPr/>
            </p:nvSpPr>
            <p:spPr bwMode="auto">
              <a:xfrm>
                <a:off x="4224" y="2160"/>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B</a:t>
                </a:r>
              </a:p>
            </p:txBody>
          </p:sp>
          <p:sp>
            <p:nvSpPr>
              <p:cNvPr id="37904" name="Text Box 18"/>
              <p:cNvSpPr txBox="1">
                <a:spLocks noChangeArrowheads="1"/>
              </p:cNvSpPr>
              <p:nvPr/>
            </p:nvSpPr>
            <p:spPr bwMode="auto">
              <a:xfrm>
                <a:off x="4224" y="1872"/>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C</a:t>
                </a:r>
              </a:p>
            </p:txBody>
          </p:sp>
          <p:sp>
            <p:nvSpPr>
              <p:cNvPr id="37905" name="Line 19"/>
              <p:cNvSpPr>
                <a:spLocks noChangeShapeType="1"/>
              </p:cNvSpPr>
              <p:nvPr/>
            </p:nvSpPr>
            <p:spPr bwMode="auto">
              <a:xfrm>
                <a:off x="3984" y="1584"/>
                <a:ext cx="192"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37906" name="Text Box 20"/>
            <p:cNvSpPr txBox="1">
              <a:spLocks noChangeArrowheads="1"/>
            </p:cNvSpPr>
            <p:nvPr/>
          </p:nvSpPr>
          <p:spPr bwMode="auto">
            <a:xfrm>
              <a:off x="3456" y="1468"/>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top</a:t>
              </a:r>
            </a:p>
          </p:txBody>
        </p:sp>
        <p:sp>
          <p:nvSpPr>
            <p:cNvPr id="37907" name="Text Box 21"/>
            <p:cNvSpPr txBox="1">
              <a:spLocks noChangeArrowheads="1"/>
            </p:cNvSpPr>
            <p:nvPr/>
          </p:nvSpPr>
          <p:spPr bwMode="auto">
            <a:xfrm>
              <a:off x="3456" y="257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folHlink"/>
                  </a:solidFill>
                  <a:effectLst/>
                  <a:uLnTx/>
                  <a:uFillTx/>
                  <a:latin typeface="+mn-lt"/>
                  <a:ea typeface="+mn-ea"/>
                  <a:cs typeface="+mn-ea"/>
                  <a:sym typeface="+mn-lt"/>
                </a:rPr>
                <a:t>base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41031"/>
                                        </p:tgtEl>
                                        <p:attrNameLst>
                                          <p:attrName>style.visibility</p:attrName>
                                        </p:attrNameLst>
                                      </p:cBhvr>
                                      <p:to>
                                        <p:strVal val="visible"/>
                                      </p:to>
                                    </p:set>
                                    <p:animEffect transition="in" filter="box(in)">
                                      <p:cBhvr>
                                        <p:cTn id="7" dur="500"/>
                                        <p:tgtEl>
                                          <p:spTgt spid="64103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41032"/>
                                        </p:tgtEl>
                                        <p:attrNameLst>
                                          <p:attrName>style.visibility</p:attrName>
                                        </p:attrNameLst>
                                      </p:cBhvr>
                                      <p:to>
                                        <p:strVal val="visible"/>
                                      </p:to>
                                    </p:set>
                                    <p:animEffect transition="in" filter="box(in)">
                                      <p:cBhvr>
                                        <p:cTn id="12" dur="2000"/>
                                        <p:tgtEl>
                                          <p:spTgt spid="641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031" grpId="0"/>
      <p:bldP spid="64103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2"/>
          <p:cNvSpPr>
            <a:spLocks noChangeArrowheads="1"/>
          </p:cNvSpPr>
          <p:nvPr/>
        </p:nvSpPr>
        <p:spPr bwMode="auto">
          <a:xfrm>
            <a:off x="6381750" y="1035050"/>
            <a:ext cx="2762250" cy="2278063"/>
          </a:xfrm>
          <a:prstGeom prst="rect">
            <a:avLst/>
          </a:prstGeom>
          <a:solidFill>
            <a:srgbClr val="CCCCFF"/>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8915" name="Rectangle 4"/>
          <p:cNvSpPr>
            <a:spLocks noChangeArrowheads="1"/>
          </p:cNvSpPr>
          <p:nvPr/>
        </p:nvSpPr>
        <p:spPr bwMode="auto">
          <a:xfrm>
            <a:off x="0" y="1052513"/>
            <a:ext cx="6151563" cy="2247900"/>
          </a:xfrm>
          <a:prstGeom prst="rect">
            <a:avLst/>
          </a:prstGeom>
          <a:solidFill>
            <a:srgbClr val="D4E6F4"/>
          </a:solidFill>
          <a:ln>
            <a:noFill/>
          </a:ln>
        </p:spPr>
        <p:txBody>
          <a:bodyPr anchor="ctr"/>
          <a:lstStyle>
            <a:lvl1pPr marL="609600" indent="-6096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899795" marR="0" lvl="0" indent="-6096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判断是否栈空，若空则出错</a:t>
            </a:r>
          </a:p>
          <a:p>
            <a:pPr marL="899795" marR="0" lvl="0" indent="-6096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获取栈顶元素</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a:t>
            </a:r>
          </a:p>
          <a:p>
            <a:pPr marL="899795" marR="0" lvl="0" indent="-6096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栈顶指针减</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a:t>
            </a:r>
          </a:p>
        </p:txBody>
      </p:sp>
      <p:sp>
        <p:nvSpPr>
          <p:cNvPr id="642054" name="Rectangle 6"/>
          <p:cNvSpPr>
            <a:spLocks noChangeArrowheads="1"/>
          </p:cNvSpPr>
          <p:nvPr/>
        </p:nvSpPr>
        <p:spPr bwMode="auto">
          <a:xfrm>
            <a:off x="230188" y="3544888"/>
            <a:ext cx="8640763"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Status Pop(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SqStack</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&amp;S,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SElemType</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&amp;e)  </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S.top</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S.base</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 //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栈空</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return ERROR; 	</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e</a:t>
            </a:r>
            <a:r>
              <a:rPr kumimoji="0" lang="zh-CN" altLang="en-US" sz="26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rgbClr val="FF0000"/>
                </a:solidFill>
                <a:effectLst/>
                <a:uLnTx/>
                <a:uFillTx/>
                <a:latin typeface="+mn-lt"/>
                <a:ea typeface="+mn-ea"/>
                <a:cs typeface="+mn-ea"/>
                <a:sym typeface="+mn-lt"/>
              </a:rPr>
              <a:t>S.top</a:t>
            </a: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642055" name="AutoShape 7"/>
          <p:cNvSpPr>
            <a:spLocks noChangeArrowheads="1"/>
          </p:cNvSpPr>
          <p:nvPr/>
        </p:nvSpPr>
        <p:spPr bwMode="auto">
          <a:xfrm>
            <a:off x="5403850" y="4759325"/>
            <a:ext cx="3168650" cy="1368425"/>
          </a:xfrm>
          <a:prstGeom prst="cloudCallout">
            <a:avLst>
              <a:gd name="adj1" fmla="val -138636"/>
              <a:gd name="adj2" fmla="val 6966"/>
            </a:avLst>
          </a:prstGeom>
          <a:solidFill>
            <a:srgbClr val="D4E6F4"/>
          </a:solidFill>
          <a:ln>
            <a:noFill/>
          </a:ln>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ctr"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2400" b="1" i="0" u="none" strike="noStrike" kern="1200" cap="none" spc="0" normalizeH="0" baseline="0" noProof="0" dirty="0" err="1">
                <a:ln>
                  <a:noFill/>
                </a:ln>
                <a:solidFill>
                  <a:srgbClr val="FF0000"/>
                </a:solidFill>
                <a:effectLst/>
                <a:uLnTx/>
                <a:uFillTx/>
                <a:latin typeface="+mn-lt"/>
                <a:ea typeface="+mn-ea"/>
                <a:cs typeface="+mn-ea"/>
                <a:sym typeface="+mn-lt"/>
              </a:rPr>
              <a:t>S.top</a:t>
            </a: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a:t>
            </a:r>
          </a:p>
          <a:p>
            <a:pPr marL="342900" marR="0" lvl="0" indent="-342900" algn="ctr"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e=*</a:t>
            </a:r>
            <a:r>
              <a:rPr kumimoji="0" lang="en-US" altLang="zh-CN" sz="2400" b="1" i="0" u="none" strike="noStrike" kern="1200" cap="none" spc="0" normalizeH="0" baseline="0" noProof="0" dirty="0" err="1">
                <a:ln>
                  <a:noFill/>
                </a:ln>
                <a:solidFill>
                  <a:srgbClr val="FF0000"/>
                </a:solidFill>
                <a:effectLst/>
                <a:uLnTx/>
                <a:uFillTx/>
                <a:latin typeface="+mn-lt"/>
                <a:ea typeface="+mn-ea"/>
                <a:cs typeface="+mn-ea"/>
                <a:sym typeface="+mn-lt"/>
              </a:rPr>
              <a:t>S.top</a:t>
            </a: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a:t>
            </a:r>
          </a:p>
        </p:txBody>
      </p:sp>
      <p:grpSp>
        <p:nvGrpSpPr>
          <p:cNvPr id="48134" name="Group 8"/>
          <p:cNvGrpSpPr/>
          <p:nvPr/>
        </p:nvGrpSpPr>
        <p:grpSpPr>
          <a:xfrm>
            <a:off x="6457950" y="1169988"/>
            <a:ext cx="1887538" cy="2155825"/>
            <a:chOff x="3419" y="1440"/>
            <a:chExt cx="1189" cy="1358"/>
          </a:xfrm>
        </p:grpSpPr>
        <p:grpSp>
          <p:nvGrpSpPr>
            <p:cNvPr id="48136" name="Group 9"/>
            <p:cNvGrpSpPr/>
            <p:nvPr/>
          </p:nvGrpSpPr>
          <p:grpSpPr>
            <a:xfrm>
              <a:off x="3984" y="1440"/>
              <a:ext cx="624" cy="1296"/>
              <a:chOff x="3984" y="1440"/>
              <a:chExt cx="624" cy="1296"/>
            </a:xfrm>
          </p:grpSpPr>
          <p:sp>
            <p:nvSpPr>
              <p:cNvPr id="38921" name="Rectangle 10"/>
              <p:cNvSpPr>
                <a:spLocks noChangeArrowheads="1"/>
              </p:cNvSpPr>
              <p:nvPr/>
            </p:nvSpPr>
            <p:spPr bwMode="auto">
              <a:xfrm>
                <a:off x="4176" y="1440"/>
                <a:ext cx="432" cy="1296"/>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8922" name="Line 11"/>
              <p:cNvSpPr>
                <a:spLocks noChangeShapeType="1"/>
              </p:cNvSpPr>
              <p:nvPr/>
            </p:nvSpPr>
            <p:spPr bwMode="auto">
              <a:xfrm>
                <a:off x="4176" y="2112"/>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8923" name="Line 12"/>
              <p:cNvSpPr>
                <a:spLocks noChangeShapeType="1"/>
              </p:cNvSpPr>
              <p:nvPr/>
            </p:nvSpPr>
            <p:spPr bwMode="auto">
              <a:xfrm>
                <a:off x="4176" y="2400"/>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8924" name="Line 13"/>
              <p:cNvSpPr>
                <a:spLocks noChangeShapeType="1"/>
              </p:cNvSpPr>
              <p:nvPr/>
            </p:nvSpPr>
            <p:spPr bwMode="auto">
              <a:xfrm>
                <a:off x="4176" y="1776"/>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8925" name="Line 14"/>
              <p:cNvSpPr>
                <a:spLocks noChangeShapeType="1"/>
              </p:cNvSpPr>
              <p:nvPr/>
            </p:nvSpPr>
            <p:spPr bwMode="auto">
              <a:xfrm>
                <a:off x="3984" y="2688"/>
                <a:ext cx="192" cy="0"/>
              </a:xfrm>
              <a:prstGeom prst="line">
                <a:avLst/>
              </a:prstGeom>
              <a:noFill/>
              <a:ln w="19050">
                <a:solidFill>
                  <a:schemeClr val="folHlink"/>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8926" name="Text Box 15"/>
              <p:cNvSpPr txBox="1">
                <a:spLocks noChangeArrowheads="1"/>
              </p:cNvSpPr>
              <p:nvPr/>
            </p:nvSpPr>
            <p:spPr bwMode="auto">
              <a:xfrm>
                <a:off x="4224" y="244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38927" name="Text Box 16"/>
              <p:cNvSpPr txBox="1">
                <a:spLocks noChangeArrowheads="1"/>
              </p:cNvSpPr>
              <p:nvPr/>
            </p:nvSpPr>
            <p:spPr bwMode="auto">
              <a:xfrm>
                <a:off x="4224" y="2160"/>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B</a:t>
                </a:r>
              </a:p>
            </p:txBody>
          </p:sp>
          <p:sp>
            <p:nvSpPr>
              <p:cNvPr id="38928" name="Text Box 17"/>
              <p:cNvSpPr txBox="1">
                <a:spLocks noChangeArrowheads="1"/>
              </p:cNvSpPr>
              <p:nvPr/>
            </p:nvSpPr>
            <p:spPr bwMode="auto">
              <a:xfrm>
                <a:off x="4224" y="1872"/>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C</a:t>
                </a:r>
              </a:p>
            </p:txBody>
          </p:sp>
          <p:sp>
            <p:nvSpPr>
              <p:cNvPr id="38929" name="Line 18"/>
              <p:cNvSpPr>
                <a:spLocks noChangeShapeType="1"/>
              </p:cNvSpPr>
              <p:nvPr/>
            </p:nvSpPr>
            <p:spPr bwMode="auto">
              <a:xfrm>
                <a:off x="3984" y="1584"/>
                <a:ext cx="192"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38930" name="Text Box 19"/>
            <p:cNvSpPr txBox="1">
              <a:spLocks noChangeArrowheads="1"/>
            </p:cNvSpPr>
            <p:nvPr/>
          </p:nvSpPr>
          <p:spPr bwMode="auto">
            <a:xfrm>
              <a:off x="3456" y="1468"/>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top</a:t>
              </a:r>
            </a:p>
          </p:txBody>
        </p:sp>
        <p:sp>
          <p:nvSpPr>
            <p:cNvPr id="38931" name="Text Box 20"/>
            <p:cNvSpPr txBox="1">
              <a:spLocks noChangeArrowheads="1"/>
            </p:cNvSpPr>
            <p:nvPr/>
          </p:nvSpPr>
          <p:spPr bwMode="auto">
            <a:xfrm>
              <a:off x="3419" y="2548"/>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folHlink"/>
                  </a:solidFill>
                  <a:effectLst/>
                  <a:uLnTx/>
                  <a:uFillTx/>
                  <a:latin typeface="+mn-lt"/>
                  <a:ea typeface="+mn-ea"/>
                  <a:cs typeface="+mn-ea"/>
                  <a:sym typeface="+mn-lt"/>
                </a:rPr>
                <a:t>base</a:t>
              </a:r>
            </a:p>
          </p:txBody>
        </p:sp>
      </p:grpSp>
      <p:sp>
        <p:nvSpPr>
          <p:cNvPr id="46087"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顺序栈出栈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42054"/>
                                        </p:tgtEl>
                                        <p:attrNameLst>
                                          <p:attrName>style.visibility</p:attrName>
                                        </p:attrNameLst>
                                      </p:cBhvr>
                                      <p:to>
                                        <p:strVal val="visible"/>
                                      </p:to>
                                    </p:set>
                                    <p:animEffect transition="in" filter="box(in)">
                                      <p:cBhvr>
                                        <p:cTn id="7" dur="500"/>
                                        <p:tgtEl>
                                          <p:spTgt spid="64205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42055"/>
                                        </p:tgtEl>
                                        <p:attrNameLst>
                                          <p:attrName>style.visibility</p:attrName>
                                        </p:attrNameLst>
                                      </p:cBhvr>
                                      <p:to>
                                        <p:strVal val="visible"/>
                                      </p:to>
                                    </p:set>
                                    <p:animEffect transition="in" filter="box(in)">
                                      <p:cBhvr>
                                        <p:cTn id="12" dur="2000"/>
                                        <p:tgtEl>
                                          <p:spTgt spid="6420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054" grpId="0"/>
      <p:bldP spid="64205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bwMode="auto">
          <a:xfrm>
            <a:off x="6835775" y="1125538"/>
            <a:ext cx="2308225" cy="2389188"/>
          </a:xfrm>
          <a:prstGeom prst="rect">
            <a:avLst/>
          </a:prstGeom>
          <a:solidFill>
            <a:schemeClr val="bg2">
              <a:lumMod val="40000"/>
              <a:lumOff val="6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7107"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取顺序栈栈顶元素</a:t>
            </a:r>
          </a:p>
        </p:txBody>
      </p:sp>
      <p:sp>
        <p:nvSpPr>
          <p:cNvPr id="39939" name="Rectangle 10"/>
          <p:cNvSpPr>
            <a:spLocks noChangeArrowheads="1"/>
          </p:cNvSpPr>
          <p:nvPr/>
        </p:nvSpPr>
        <p:spPr bwMode="auto">
          <a:xfrm>
            <a:off x="0" y="1128713"/>
            <a:ext cx="6694488" cy="2386013"/>
          </a:xfrm>
          <a:prstGeom prst="rect">
            <a:avLst/>
          </a:prstGeom>
          <a:solidFill>
            <a:srgbClr val="CCCCFF"/>
          </a:solidFill>
          <a:ln>
            <a:noFill/>
          </a:ln>
        </p:spPr>
        <p:txBody>
          <a:bodyPr/>
          <a:lstStyle>
            <a:lvl1pPr marL="609600" indent="-6096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899795" marR="0" lvl="0" indent="-6096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arenBoth"/>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判断是否空栈，若空则返回错误</a:t>
            </a:r>
          </a:p>
          <a:p>
            <a:pPr marL="899795" marR="0" lvl="0" indent="-609600" algn="l" defTabSz="914400" rtl="0" eaLnBrk="0" fontAlgn="base" latinLnBrk="0" hangingPunct="0">
              <a:lnSpc>
                <a:spcPct val="100000"/>
              </a:lnSpc>
              <a:spcBef>
                <a:spcPct val="20000"/>
              </a:spcBef>
              <a:spcAft>
                <a:spcPct val="0"/>
              </a:spcAft>
              <a:buClrTx/>
              <a:buSzTx/>
              <a:buFont typeface="Arial" panose="020B0604020202020204" pitchFamily="34" charset="0"/>
              <a:buAutoNum type="arabicParenBoth"/>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否则通过栈顶指针获取栈顶元素</a:t>
            </a:r>
          </a:p>
        </p:txBody>
      </p:sp>
      <p:sp>
        <p:nvSpPr>
          <p:cNvPr id="526348" name="Rectangle 12"/>
          <p:cNvSpPr>
            <a:spLocks noChangeArrowheads="1"/>
          </p:cNvSpPr>
          <p:nvPr/>
        </p:nvSpPr>
        <p:spPr bwMode="auto">
          <a:xfrm>
            <a:off x="290513" y="3716338"/>
            <a:ext cx="8424863"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GetTop</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SqStack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S,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&amp;e)  </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S.top</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S.base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return ERROR; 	//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栈空</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e = *( </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S.top</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 1 );</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526349" name="AutoShape 13"/>
          <p:cNvSpPr>
            <a:spLocks noChangeArrowheads="1"/>
          </p:cNvSpPr>
          <p:nvPr/>
        </p:nvSpPr>
        <p:spPr bwMode="auto">
          <a:xfrm>
            <a:off x="3114675" y="5084763"/>
            <a:ext cx="5245100" cy="1423988"/>
          </a:xfrm>
          <a:prstGeom prst="cloudCallout">
            <a:avLst>
              <a:gd name="adj1" fmla="val -50398"/>
              <a:gd name="adj2" fmla="val -40843"/>
            </a:avLst>
          </a:prstGeom>
          <a:solidFill>
            <a:srgbClr val="CCCCFF"/>
          </a:solidFill>
          <a:ln>
            <a:noFill/>
          </a:ln>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e = *(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S.top</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 ); ???</a:t>
            </a:r>
          </a:p>
        </p:txBody>
      </p:sp>
      <p:grpSp>
        <p:nvGrpSpPr>
          <p:cNvPr id="49159" name="Group 14"/>
          <p:cNvGrpSpPr/>
          <p:nvPr/>
        </p:nvGrpSpPr>
        <p:grpSpPr>
          <a:xfrm>
            <a:off x="6727825" y="1171575"/>
            <a:ext cx="1936750" cy="2179638"/>
            <a:chOff x="3388" y="1440"/>
            <a:chExt cx="1220" cy="1373"/>
          </a:xfrm>
        </p:grpSpPr>
        <p:grpSp>
          <p:nvGrpSpPr>
            <p:cNvPr id="49166" name="Group 15"/>
            <p:cNvGrpSpPr/>
            <p:nvPr/>
          </p:nvGrpSpPr>
          <p:grpSpPr>
            <a:xfrm>
              <a:off x="3984" y="1440"/>
              <a:ext cx="624" cy="1296"/>
              <a:chOff x="3984" y="1440"/>
              <a:chExt cx="624" cy="1296"/>
            </a:xfrm>
          </p:grpSpPr>
          <p:sp>
            <p:nvSpPr>
              <p:cNvPr id="39945" name="Rectangle 16"/>
              <p:cNvSpPr>
                <a:spLocks noChangeArrowheads="1"/>
              </p:cNvSpPr>
              <p:nvPr/>
            </p:nvSpPr>
            <p:spPr bwMode="auto">
              <a:xfrm>
                <a:off x="4176" y="1440"/>
                <a:ext cx="432" cy="1296"/>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46" name="Line 17"/>
              <p:cNvSpPr>
                <a:spLocks noChangeShapeType="1"/>
              </p:cNvSpPr>
              <p:nvPr/>
            </p:nvSpPr>
            <p:spPr bwMode="auto">
              <a:xfrm>
                <a:off x="4176" y="2112"/>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47" name="Line 18"/>
              <p:cNvSpPr>
                <a:spLocks noChangeShapeType="1"/>
              </p:cNvSpPr>
              <p:nvPr/>
            </p:nvSpPr>
            <p:spPr bwMode="auto">
              <a:xfrm>
                <a:off x="4176" y="2400"/>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48" name="Line 19"/>
              <p:cNvSpPr>
                <a:spLocks noChangeShapeType="1"/>
              </p:cNvSpPr>
              <p:nvPr/>
            </p:nvSpPr>
            <p:spPr bwMode="auto">
              <a:xfrm>
                <a:off x="4176" y="1776"/>
                <a:ext cx="432" cy="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49" name="Line 20"/>
              <p:cNvSpPr>
                <a:spLocks noChangeShapeType="1"/>
              </p:cNvSpPr>
              <p:nvPr/>
            </p:nvSpPr>
            <p:spPr bwMode="auto">
              <a:xfrm>
                <a:off x="3984" y="2688"/>
                <a:ext cx="192" cy="0"/>
              </a:xfrm>
              <a:prstGeom prst="line">
                <a:avLst/>
              </a:prstGeom>
              <a:noFill/>
              <a:ln w="19050">
                <a:solidFill>
                  <a:schemeClr val="folHlink"/>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950" name="Text Box 21"/>
              <p:cNvSpPr txBox="1">
                <a:spLocks noChangeArrowheads="1"/>
              </p:cNvSpPr>
              <p:nvPr/>
            </p:nvSpPr>
            <p:spPr bwMode="auto">
              <a:xfrm>
                <a:off x="4224" y="244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A</a:t>
                </a:r>
              </a:p>
            </p:txBody>
          </p:sp>
          <p:sp>
            <p:nvSpPr>
              <p:cNvPr id="39951" name="Text Box 22"/>
              <p:cNvSpPr txBox="1">
                <a:spLocks noChangeArrowheads="1"/>
              </p:cNvSpPr>
              <p:nvPr/>
            </p:nvSpPr>
            <p:spPr bwMode="auto">
              <a:xfrm>
                <a:off x="4224" y="2160"/>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B</a:t>
                </a:r>
              </a:p>
            </p:txBody>
          </p:sp>
          <p:sp>
            <p:nvSpPr>
              <p:cNvPr id="39952" name="Text Box 23"/>
              <p:cNvSpPr txBox="1">
                <a:spLocks noChangeArrowheads="1"/>
              </p:cNvSpPr>
              <p:nvPr/>
            </p:nvSpPr>
            <p:spPr bwMode="auto">
              <a:xfrm>
                <a:off x="4224" y="1872"/>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C</a:t>
                </a:r>
              </a:p>
            </p:txBody>
          </p:sp>
          <p:sp>
            <p:nvSpPr>
              <p:cNvPr id="39953" name="Line 24"/>
              <p:cNvSpPr>
                <a:spLocks noChangeShapeType="1"/>
              </p:cNvSpPr>
              <p:nvPr/>
            </p:nvSpPr>
            <p:spPr bwMode="auto">
              <a:xfrm>
                <a:off x="3984" y="1584"/>
                <a:ext cx="192"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39954" name="Text Box 25"/>
            <p:cNvSpPr txBox="1">
              <a:spLocks noChangeArrowheads="1"/>
            </p:cNvSpPr>
            <p:nvPr/>
          </p:nvSpPr>
          <p:spPr bwMode="auto">
            <a:xfrm>
              <a:off x="3456" y="1468"/>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top</a:t>
              </a:r>
            </a:p>
          </p:txBody>
        </p:sp>
        <p:sp>
          <p:nvSpPr>
            <p:cNvPr id="39955" name="Text Box 26"/>
            <p:cNvSpPr txBox="1">
              <a:spLocks noChangeArrowheads="1"/>
            </p:cNvSpPr>
            <p:nvPr/>
          </p:nvSpPr>
          <p:spPr bwMode="auto">
            <a:xfrm>
              <a:off x="3388" y="2563"/>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folHlink"/>
                  </a:solidFill>
                  <a:effectLst/>
                  <a:uLnTx/>
                  <a:uFillTx/>
                  <a:latin typeface="+mn-lt"/>
                  <a:ea typeface="+mn-ea"/>
                  <a:cs typeface="+mn-ea"/>
                  <a:sym typeface="+mn-lt"/>
                </a:rPr>
                <a:t>base</a:t>
              </a:r>
            </a:p>
          </p:txBody>
        </p:sp>
      </p:grpSp>
      <p:sp>
        <p:nvSpPr>
          <p:cNvPr id="47112" name="矩形 2"/>
          <p:cNvSpPr>
            <a:spLocks noChangeArrowheads="1"/>
          </p:cNvSpPr>
          <p:nvPr/>
        </p:nvSpPr>
        <p:spPr bwMode="auto">
          <a:xfrm>
            <a:off x="0" y="2268538"/>
            <a:ext cx="6694488" cy="4603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7113" name="矩形 22"/>
          <p:cNvSpPr>
            <a:spLocks noChangeArrowheads="1"/>
          </p:cNvSpPr>
          <p:nvPr/>
        </p:nvSpPr>
        <p:spPr bwMode="auto">
          <a:xfrm>
            <a:off x="0" y="2457450"/>
            <a:ext cx="6694488" cy="4603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7114" name="矩形 23"/>
          <p:cNvSpPr>
            <a:spLocks noChangeArrowheads="1"/>
          </p:cNvSpPr>
          <p:nvPr/>
        </p:nvSpPr>
        <p:spPr bwMode="auto">
          <a:xfrm>
            <a:off x="0" y="2616200"/>
            <a:ext cx="6694488" cy="44450"/>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7115" name="矩形 24"/>
          <p:cNvSpPr>
            <a:spLocks noChangeArrowheads="1"/>
          </p:cNvSpPr>
          <p:nvPr/>
        </p:nvSpPr>
        <p:spPr bwMode="auto">
          <a:xfrm>
            <a:off x="0" y="2794000"/>
            <a:ext cx="6694488" cy="4603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7116" name="矩形 25"/>
          <p:cNvSpPr>
            <a:spLocks noChangeArrowheads="1"/>
          </p:cNvSpPr>
          <p:nvPr/>
        </p:nvSpPr>
        <p:spPr bwMode="auto">
          <a:xfrm>
            <a:off x="0" y="3000375"/>
            <a:ext cx="6694488" cy="44450"/>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7117" name="矩形 27"/>
          <p:cNvSpPr>
            <a:spLocks noChangeArrowheads="1"/>
          </p:cNvSpPr>
          <p:nvPr/>
        </p:nvSpPr>
        <p:spPr bwMode="auto">
          <a:xfrm>
            <a:off x="0" y="3233738"/>
            <a:ext cx="6694488" cy="4603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26348"/>
                                        </p:tgtEl>
                                        <p:attrNameLst>
                                          <p:attrName>style.visibility</p:attrName>
                                        </p:attrNameLst>
                                      </p:cBhvr>
                                      <p:to>
                                        <p:strVal val="visible"/>
                                      </p:to>
                                    </p:set>
                                    <p:animEffect transition="in" filter="box(in)">
                                      <p:cBhvr>
                                        <p:cTn id="7" dur="500"/>
                                        <p:tgtEl>
                                          <p:spTgt spid="52634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26349"/>
                                        </p:tgtEl>
                                        <p:attrNameLst>
                                          <p:attrName>style.visibility</p:attrName>
                                        </p:attrNameLst>
                                      </p:cBhvr>
                                      <p:to>
                                        <p:strVal val="visible"/>
                                      </p:to>
                                    </p:set>
                                    <p:animEffect transition="in" filter="box(in)">
                                      <p:cBhvr>
                                        <p:cTn id="12" dur="2000"/>
                                        <p:tgtEl>
                                          <p:spTgt spid="526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48" grpId="0"/>
      <p:bldP spid="52634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4" name="Rectangle 6"/>
          <p:cNvSpPr>
            <a:spLocks noChangeArrowheads="1"/>
          </p:cNvSpPr>
          <p:nvPr/>
        </p:nvSpPr>
        <p:spPr bwMode="auto">
          <a:xfrm>
            <a:off x="466725" y="3783013"/>
            <a:ext cx="6626225" cy="1250950"/>
          </a:xfrm>
          <a:prstGeom prst="rect">
            <a:avLst/>
          </a:prstGeom>
          <a:solidFill>
            <a:srgbClr val="D4E6F4"/>
          </a:solidFill>
          <a:ln w="38100">
            <a:noFill/>
            <a:miter lim="800000"/>
          </a:ln>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hlink"/>
                </a:solidFill>
                <a:effectLst/>
                <a:uLnTx/>
                <a:uFillTx/>
                <a:latin typeface="+mn-lt"/>
                <a:ea typeface="+mn-ea"/>
                <a:cs typeface="+mn-ea"/>
                <a:sym typeface="+mn-lt"/>
              </a:rPr>
              <a:t>435612</a:t>
            </a:r>
            <a:r>
              <a:rPr kumimoji="0" lang="zh-CN" altLang="en-US" sz="2800" b="0" i="0" u="none" strike="noStrike" kern="1200" cap="none" spc="0" normalizeH="0" baseline="0" noProof="0" dirty="0">
                <a:ln>
                  <a:noFill/>
                </a:ln>
                <a:solidFill>
                  <a:schemeClr val="hlink"/>
                </a:solidFill>
                <a:effectLst/>
                <a:uLnTx/>
                <a:uFillTx/>
                <a:latin typeface="+mn-lt"/>
                <a:ea typeface="+mn-ea"/>
                <a:cs typeface="+mn-ea"/>
                <a:sym typeface="+mn-lt"/>
              </a:rPr>
              <a:t>中到了</a:t>
            </a:r>
            <a:r>
              <a:rPr kumimoji="0" lang="en-US" altLang="zh-CN" sz="2800" b="0" i="0" u="none" strike="noStrike" kern="1200" cap="none" spc="0" normalizeH="0" baseline="0" noProof="0" dirty="0">
                <a:ln>
                  <a:noFill/>
                </a:ln>
                <a:solidFill>
                  <a:schemeClr val="hlink"/>
                </a:solidFill>
                <a:effectLst/>
                <a:uLnTx/>
                <a:uFillTx/>
                <a:latin typeface="+mn-lt"/>
                <a:ea typeface="+mn-ea"/>
                <a:cs typeface="+mn-ea"/>
                <a:sym typeface="+mn-lt"/>
              </a:rPr>
              <a:t>12</a:t>
            </a:r>
            <a:r>
              <a:rPr kumimoji="0" lang="zh-CN" altLang="en-US" sz="2800" b="0" i="0" u="none" strike="noStrike" kern="1200" cap="none" spc="0" normalizeH="0" baseline="0" noProof="0" dirty="0">
                <a:ln>
                  <a:noFill/>
                </a:ln>
                <a:solidFill>
                  <a:schemeClr val="hlink"/>
                </a:solidFill>
                <a:effectLst/>
                <a:uLnTx/>
                <a:uFillTx/>
                <a:latin typeface="+mn-lt"/>
                <a:ea typeface="+mn-ea"/>
                <a:cs typeface="+mn-ea"/>
                <a:sym typeface="+mn-lt"/>
              </a:rPr>
              <a:t>顺序不能实现；</a:t>
            </a: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hlink"/>
                </a:solidFill>
                <a:effectLst/>
                <a:uLnTx/>
                <a:uFillTx/>
                <a:latin typeface="+mn-lt"/>
                <a:ea typeface="+mn-ea"/>
                <a:cs typeface="+mn-ea"/>
                <a:sym typeface="+mn-lt"/>
              </a:rPr>
              <a:t>135426</a:t>
            </a:r>
            <a:r>
              <a:rPr kumimoji="0" lang="zh-CN" altLang="en-US" sz="2800" b="0" i="0" u="none" strike="noStrike" kern="1200" cap="none" spc="0" normalizeH="0" baseline="0" noProof="0" dirty="0">
                <a:ln>
                  <a:noFill/>
                </a:ln>
                <a:solidFill>
                  <a:schemeClr val="hlink"/>
                </a:solidFill>
                <a:effectLst/>
                <a:uLnTx/>
                <a:uFillTx/>
                <a:latin typeface="+mn-lt"/>
                <a:ea typeface="+mn-ea"/>
                <a:cs typeface="+mn-ea"/>
                <a:sym typeface="+mn-lt"/>
              </a:rPr>
              <a:t>可以实现。</a:t>
            </a:r>
          </a:p>
        </p:txBody>
      </p:sp>
      <p:sp>
        <p:nvSpPr>
          <p:cNvPr id="40964" name="Rectangle 7"/>
          <p:cNvSpPr>
            <a:spLocks noChangeArrowheads="1"/>
          </p:cNvSpPr>
          <p:nvPr/>
        </p:nvSpPr>
        <p:spPr bwMode="auto">
          <a:xfrm>
            <a:off x="2500313" y="1835150"/>
            <a:ext cx="6310313" cy="1346200"/>
          </a:xfrm>
          <a:prstGeom prst="rect">
            <a:avLst/>
          </a:prstGeom>
          <a:noFill/>
          <a:ln w="28575">
            <a:solidFill>
              <a:schemeClr val="bg2">
                <a:lumMod val="40000"/>
                <a:lumOff val="60000"/>
              </a:schemeClr>
            </a:solidFill>
            <a:miter lim="800000"/>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53975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2"/>
                </a:solidFill>
                <a:effectLst/>
                <a:uLnTx/>
                <a:uFillTx/>
                <a:latin typeface="+mn-lt"/>
                <a:ea typeface="+mn-ea"/>
                <a:cs typeface="+mn-ea"/>
                <a:sym typeface="+mn-lt"/>
              </a:rPr>
              <a:t>1.</a:t>
            </a:r>
            <a:r>
              <a:rPr kumimoji="0" lang="zh-CN" altLang="en-US" sz="2600" b="0" i="0" u="none" strike="noStrike" kern="1200" cap="none" spc="0" normalizeH="0" baseline="0" noProof="0" dirty="0">
                <a:ln>
                  <a:noFill/>
                </a:ln>
                <a:solidFill>
                  <a:schemeClr val="tx2"/>
                </a:solidFill>
                <a:effectLst/>
                <a:uLnTx/>
                <a:uFillTx/>
                <a:latin typeface="+mn-lt"/>
                <a:ea typeface="+mn-ea"/>
                <a:cs typeface="+mn-ea"/>
                <a:sym typeface="+mn-lt"/>
              </a:rPr>
              <a:t>如果一个栈的输入序列为</a:t>
            </a:r>
            <a:r>
              <a:rPr kumimoji="0" lang="en-US" altLang="zh-CN" sz="2600" b="0" i="0" u="none" strike="noStrike" kern="1200" cap="none" spc="0" normalizeH="0" baseline="0" noProof="0" dirty="0">
                <a:ln>
                  <a:noFill/>
                </a:ln>
                <a:solidFill>
                  <a:schemeClr val="tx2"/>
                </a:solidFill>
                <a:effectLst/>
                <a:uLnTx/>
                <a:uFillTx/>
                <a:latin typeface="+mn-lt"/>
                <a:ea typeface="+mn-ea"/>
                <a:cs typeface="+mn-ea"/>
                <a:sym typeface="+mn-lt"/>
              </a:rPr>
              <a:t>123456</a:t>
            </a:r>
            <a:r>
              <a:rPr kumimoji="0" lang="zh-CN" altLang="en-US" sz="2600" b="0" i="0" u="none" strike="noStrike" kern="1200" cap="none" spc="0" normalizeH="0" baseline="0" noProof="0" dirty="0">
                <a:ln>
                  <a:noFill/>
                </a:ln>
                <a:solidFill>
                  <a:schemeClr val="tx2"/>
                </a:solidFill>
                <a:effectLst/>
                <a:uLnTx/>
                <a:uFillTx/>
                <a:latin typeface="+mn-lt"/>
                <a:ea typeface="+mn-ea"/>
                <a:cs typeface="+mn-ea"/>
                <a:sym typeface="+mn-lt"/>
              </a:rPr>
              <a:t>，能否得到</a:t>
            </a:r>
            <a:r>
              <a:rPr kumimoji="0" lang="en-US" altLang="zh-CN" sz="2600" b="0" i="0" u="none" strike="noStrike" kern="1200" cap="none" spc="0" normalizeH="0" baseline="0" noProof="0" dirty="0">
                <a:ln>
                  <a:noFill/>
                </a:ln>
                <a:solidFill>
                  <a:schemeClr val="tx2"/>
                </a:solidFill>
                <a:effectLst/>
                <a:uLnTx/>
                <a:uFillTx/>
                <a:latin typeface="+mn-lt"/>
                <a:ea typeface="+mn-ea"/>
                <a:cs typeface="+mn-ea"/>
                <a:sym typeface="+mn-lt"/>
              </a:rPr>
              <a:t>435612</a:t>
            </a:r>
            <a:r>
              <a:rPr kumimoji="0" lang="zh-CN" altLang="en-US" sz="2600" b="0" i="0" u="none" strike="noStrike" kern="1200" cap="none" spc="0" normalizeH="0" baseline="0" noProof="0" dirty="0">
                <a:ln>
                  <a:noFill/>
                </a:ln>
                <a:solidFill>
                  <a:schemeClr val="tx2"/>
                </a:solidFill>
                <a:effectLst/>
                <a:uLnTx/>
                <a:uFillTx/>
                <a:latin typeface="+mn-lt"/>
                <a:ea typeface="+mn-ea"/>
                <a:cs typeface="+mn-ea"/>
                <a:sym typeface="+mn-lt"/>
              </a:rPr>
              <a:t>和</a:t>
            </a:r>
            <a:r>
              <a:rPr kumimoji="0" lang="en-US" altLang="zh-CN" sz="2600" b="0" i="0" u="none" strike="noStrike" kern="1200" cap="none" spc="0" normalizeH="0" baseline="0" noProof="0" dirty="0">
                <a:ln>
                  <a:noFill/>
                </a:ln>
                <a:solidFill>
                  <a:schemeClr val="tx2"/>
                </a:solidFill>
                <a:effectLst/>
                <a:uLnTx/>
                <a:uFillTx/>
                <a:latin typeface="+mn-lt"/>
                <a:ea typeface="+mn-ea"/>
                <a:cs typeface="+mn-ea"/>
                <a:sym typeface="+mn-lt"/>
              </a:rPr>
              <a:t>135426</a:t>
            </a:r>
            <a:r>
              <a:rPr kumimoji="0" lang="zh-CN" altLang="en-US" sz="2600" b="0" i="0" u="none" strike="noStrike" kern="1200" cap="none" spc="0" normalizeH="0" baseline="0" noProof="0" dirty="0">
                <a:ln>
                  <a:noFill/>
                </a:ln>
                <a:solidFill>
                  <a:schemeClr val="tx2"/>
                </a:solidFill>
                <a:effectLst/>
                <a:uLnTx/>
                <a:uFillTx/>
                <a:latin typeface="+mn-lt"/>
                <a:ea typeface="+mn-ea"/>
                <a:cs typeface="+mn-ea"/>
                <a:sym typeface="+mn-lt"/>
              </a:rPr>
              <a:t>的出栈序列？</a:t>
            </a:r>
          </a:p>
        </p:txBody>
      </p:sp>
      <p:sp>
        <p:nvSpPr>
          <p:cNvPr id="40965" name="Rectangle 8"/>
          <p:cNvSpPr>
            <a:spLocks noChangeArrowheads="1"/>
          </p:cNvSpPr>
          <p:nvPr/>
        </p:nvSpPr>
        <p:spPr bwMode="auto">
          <a:xfrm>
            <a:off x="903288" y="160338"/>
            <a:ext cx="23399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练习</a:t>
            </a:r>
          </a:p>
        </p:txBody>
      </p:sp>
      <p:sp>
        <p:nvSpPr>
          <p:cNvPr id="11" name="Freeform 5"/>
          <p:cNvSpPr/>
          <p:nvPr/>
        </p:nvSpPr>
        <p:spPr bwMode="auto">
          <a:xfrm>
            <a:off x="466725" y="1412875"/>
            <a:ext cx="1155700" cy="1768475"/>
          </a:xfrm>
          <a:custGeom>
            <a:avLst/>
            <a:gdLst>
              <a:gd name="T0" fmla="*/ 281 w 293"/>
              <a:gd name="T1" fmla="*/ 166 h 450"/>
              <a:gd name="T2" fmla="*/ 293 w 293"/>
              <a:gd name="T3" fmla="*/ 154 h 450"/>
              <a:gd name="T4" fmla="*/ 281 w 293"/>
              <a:gd name="T5" fmla="*/ 142 h 450"/>
              <a:gd name="T6" fmla="*/ 270 w 293"/>
              <a:gd name="T7" fmla="*/ 142 h 450"/>
              <a:gd name="T8" fmla="*/ 270 w 293"/>
              <a:gd name="T9" fmla="*/ 24 h 450"/>
              <a:gd name="T10" fmla="*/ 281 w 293"/>
              <a:gd name="T11" fmla="*/ 24 h 450"/>
              <a:gd name="T12" fmla="*/ 293 w 293"/>
              <a:gd name="T13" fmla="*/ 12 h 450"/>
              <a:gd name="T14" fmla="*/ 281 w 293"/>
              <a:gd name="T15" fmla="*/ 0 h 450"/>
              <a:gd name="T16" fmla="*/ 12 w 293"/>
              <a:gd name="T17" fmla="*/ 0 h 450"/>
              <a:gd name="T18" fmla="*/ 0 w 293"/>
              <a:gd name="T19" fmla="*/ 12 h 450"/>
              <a:gd name="T20" fmla="*/ 12 w 293"/>
              <a:gd name="T21" fmla="*/ 24 h 450"/>
              <a:gd name="T22" fmla="*/ 22 w 293"/>
              <a:gd name="T23" fmla="*/ 24 h 450"/>
              <a:gd name="T24" fmla="*/ 22 w 293"/>
              <a:gd name="T25" fmla="*/ 142 h 450"/>
              <a:gd name="T26" fmla="*/ 12 w 293"/>
              <a:gd name="T27" fmla="*/ 142 h 450"/>
              <a:gd name="T28" fmla="*/ 0 w 293"/>
              <a:gd name="T29" fmla="*/ 154 h 450"/>
              <a:gd name="T30" fmla="*/ 12 w 293"/>
              <a:gd name="T31" fmla="*/ 166 h 450"/>
              <a:gd name="T32" fmla="*/ 22 w 293"/>
              <a:gd name="T33" fmla="*/ 166 h 450"/>
              <a:gd name="T34" fmla="*/ 22 w 293"/>
              <a:gd name="T35" fmla="*/ 284 h 450"/>
              <a:gd name="T36" fmla="*/ 12 w 293"/>
              <a:gd name="T37" fmla="*/ 284 h 450"/>
              <a:gd name="T38" fmla="*/ 0 w 293"/>
              <a:gd name="T39" fmla="*/ 296 h 450"/>
              <a:gd name="T40" fmla="*/ 12 w 293"/>
              <a:gd name="T41" fmla="*/ 308 h 450"/>
              <a:gd name="T42" fmla="*/ 22 w 293"/>
              <a:gd name="T43" fmla="*/ 308 h 450"/>
              <a:gd name="T44" fmla="*/ 22 w 293"/>
              <a:gd name="T45" fmla="*/ 426 h 450"/>
              <a:gd name="T46" fmla="*/ 12 w 293"/>
              <a:gd name="T47" fmla="*/ 426 h 450"/>
              <a:gd name="T48" fmla="*/ 0 w 293"/>
              <a:gd name="T49" fmla="*/ 438 h 450"/>
              <a:gd name="T50" fmla="*/ 12 w 293"/>
              <a:gd name="T51" fmla="*/ 450 h 450"/>
              <a:gd name="T52" fmla="*/ 281 w 293"/>
              <a:gd name="T53" fmla="*/ 450 h 450"/>
              <a:gd name="T54" fmla="*/ 293 w 293"/>
              <a:gd name="T55" fmla="*/ 438 h 450"/>
              <a:gd name="T56" fmla="*/ 281 w 293"/>
              <a:gd name="T57" fmla="*/ 426 h 450"/>
              <a:gd name="T58" fmla="*/ 270 w 293"/>
              <a:gd name="T59" fmla="*/ 426 h 450"/>
              <a:gd name="T60" fmla="*/ 270 w 293"/>
              <a:gd name="T61" fmla="*/ 308 h 450"/>
              <a:gd name="T62" fmla="*/ 281 w 293"/>
              <a:gd name="T63" fmla="*/ 308 h 450"/>
              <a:gd name="T64" fmla="*/ 293 w 293"/>
              <a:gd name="T65" fmla="*/ 296 h 450"/>
              <a:gd name="T66" fmla="*/ 281 w 293"/>
              <a:gd name="T67" fmla="*/ 284 h 450"/>
              <a:gd name="T68" fmla="*/ 270 w 293"/>
              <a:gd name="T69" fmla="*/ 284 h 450"/>
              <a:gd name="T70" fmla="*/ 270 w 293"/>
              <a:gd name="T71" fmla="*/ 166 h 450"/>
              <a:gd name="T72" fmla="*/ 281 w 293"/>
              <a:gd name="T73" fmla="*/ 166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93" h="450">
                <a:moveTo>
                  <a:pt x="281" y="166"/>
                </a:moveTo>
                <a:cubicBezTo>
                  <a:pt x="287" y="166"/>
                  <a:pt x="293" y="161"/>
                  <a:pt x="293" y="154"/>
                </a:cubicBezTo>
                <a:cubicBezTo>
                  <a:pt x="293" y="147"/>
                  <a:pt x="287" y="142"/>
                  <a:pt x="281" y="142"/>
                </a:cubicBezTo>
                <a:cubicBezTo>
                  <a:pt x="270" y="142"/>
                  <a:pt x="270" y="142"/>
                  <a:pt x="270" y="142"/>
                </a:cubicBezTo>
                <a:cubicBezTo>
                  <a:pt x="270" y="24"/>
                  <a:pt x="270" y="24"/>
                  <a:pt x="270" y="24"/>
                </a:cubicBezTo>
                <a:cubicBezTo>
                  <a:pt x="281" y="24"/>
                  <a:pt x="281" y="24"/>
                  <a:pt x="281" y="24"/>
                </a:cubicBezTo>
                <a:cubicBezTo>
                  <a:pt x="287" y="24"/>
                  <a:pt x="293" y="19"/>
                  <a:pt x="293" y="12"/>
                </a:cubicBezTo>
                <a:cubicBezTo>
                  <a:pt x="293" y="5"/>
                  <a:pt x="287" y="0"/>
                  <a:pt x="281" y="0"/>
                </a:cubicBezTo>
                <a:cubicBezTo>
                  <a:pt x="12" y="0"/>
                  <a:pt x="12" y="0"/>
                  <a:pt x="12" y="0"/>
                </a:cubicBezTo>
                <a:cubicBezTo>
                  <a:pt x="5" y="0"/>
                  <a:pt x="0" y="5"/>
                  <a:pt x="0" y="12"/>
                </a:cubicBezTo>
                <a:cubicBezTo>
                  <a:pt x="0" y="19"/>
                  <a:pt x="5" y="24"/>
                  <a:pt x="12" y="24"/>
                </a:cubicBezTo>
                <a:cubicBezTo>
                  <a:pt x="22" y="24"/>
                  <a:pt x="22" y="24"/>
                  <a:pt x="22" y="24"/>
                </a:cubicBezTo>
                <a:cubicBezTo>
                  <a:pt x="22" y="142"/>
                  <a:pt x="22" y="142"/>
                  <a:pt x="22" y="142"/>
                </a:cubicBezTo>
                <a:cubicBezTo>
                  <a:pt x="12" y="142"/>
                  <a:pt x="12" y="142"/>
                  <a:pt x="12" y="142"/>
                </a:cubicBezTo>
                <a:cubicBezTo>
                  <a:pt x="5" y="142"/>
                  <a:pt x="0" y="147"/>
                  <a:pt x="0" y="154"/>
                </a:cubicBezTo>
                <a:cubicBezTo>
                  <a:pt x="0" y="161"/>
                  <a:pt x="5" y="166"/>
                  <a:pt x="12" y="166"/>
                </a:cubicBezTo>
                <a:cubicBezTo>
                  <a:pt x="22" y="166"/>
                  <a:pt x="22" y="166"/>
                  <a:pt x="22" y="166"/>
                </a:cubicBezTo>
                <a:cubicBezTo>
                  <a:pt x="22" y="284"/>
                  <a:pt x="22" y="284"/>
                  <a:pt x="22" y="284"/>
                </a:cubicBezTo>
                <a:cubicBezTo>
                  <a:pt x="12" y="284"/>
                  <a:pt x="12" y="284"/>
                  <a:pt x="12" y="284"/>
                </a:cubicBezTo>
                <a:cubicBezTo>
                  <a:pt x="5" y="284"/>
                  <a:pt x="0" y="289"/>
                  <a:pt x="0" y="296"/>
                </a:cubicBezTo>
                <a:cubicBezTo>
                  <a:pt x="0" y="303"/>
                  <a:pt x="5" y="308"/>
                  <a:pt x="12" y="308"/>
                </a:cubicBezTo>
                <a:cubicBezTo>
                  <a:pt x="22" y="308"/>
                  <a:pt x="22" y="308"/>
                  <a:pt x="22" y="308"/>
                </a:cubicBezTo>
                <a:cubicBezTo>
                  <a:pt x="22" y="426"/>
                  <a:pt x="22" y="426"/>
                  <a:pt x="22" y="426"/>
                </a:cubicBezTo>
                <a:cubicBezTo>
                  <a:pt x="12" y="426"/>
                  <a:pt x="12" y="426"/>
                  <a:pt x="12" y="426"/>
                </a:cubicBezTo>
                <a:cubicBezTo>
                  <a:pt x="5" y="426"/>
                  <a:pt x="0" y="431"/>
                  <a:pt x="0" y="438"/>
                </a:cubicBezTo>
                <a:cubicBezTo>
                  <a:pt x="0" y="444"/>
                  <a:pt x="5" y="450"/>
                  <a:pt x="12" y="450"/>
                </a:cubicBezTo>
                <a:cubicBezTo>
                  <a:pt x="281" y="450"/>
                  <a:pt x="281" y="450"/>
                  <a:pt x="281" y="450"/>
                </a:cubicBezTo>
                <a:cubicBezTo>
                  <a:pt x="287" y="450"/>
                  <a:pt x="293" y="444"/>
                  <a:pt x="293" y="438"/>
                </a:cubicBezTo>
                <a:cubicBezTo>
                  <a:pt x="293" y="431"/>
                  <a:pt x="287" y="426"/>
                  <a:pt x="281" y="426"/>
                </a:cubicBezTo>
                <a:cubicBezTo>
                  <a:pt x="270" y="426"/>
                  <a:pt x="270" y="426"/>
                  <a:pt x="270" y="426"/>
                </a:cubicBezTo>
                <a:cubicBezTo>
                  <a:pt x="270" y="308"/>
                  <a:pt x="270" y="308"/>
                  <a:pt x="270" y="308"/>
                </a:cubicBezTo>
                <a:cubicBezTo>
                  <a:pt x="281" y="308"/>
                  <a:pt x="281" y="308"/>
                  <a:pt x="281" y="308"/>
                </a:cubicBezTo>
                <a:cubicBezTo>
                  <a:pt x="287" y="308"/>
                  <a:pt x="293" y="303"/>
                  <a:pt x="293" y="296"/>
                </a:cubicBezTo>
                <a:cubicBezTo>
                  <a:pt x="293" y="289"/>
                  <a:pt x="287" y="284"/>
                  <a:pt x="281" y="284"/>
                </a:cubicBezTo>
                <a:cubicBezTo>
                  <a:pt x="270" y="284"/>
                  <a:pt x="270" y="284"/>
                  <a:pt x="270" y="284"/>
                </a:cubicBezTo>
                <a:cubicBezTo>
                  <a:pt x="270" y="166"/>
                  <a:pt x="270" y="166"/>
                  <a:pt x="270" y="166"/>
                </a:cubicBezTo>
                <a:lnTo>
                  <a:pt x="281" y="166"/>
                </a:lnTo>
                <a:close/>
              </a:path>
            </a:pathLst>
          </a:custGeom>
          <a:solidFill>
            <a:srgbClr val="D4E6F4"/>
          </a:solidFill>
          <a:ln>
            <a:noFill/>
          </a:ln>
        </p:spPr>
        <p:txBody>
          <a:bodyPr/>
          <a:lstStyle/>
          <a:p>
            <a:pPr marL="0" marR="0" lvl="0" indent="0" algn="l" defTabSz="855980" rtl="0" eaLnBrk="1" fontAlgn="auto" latinLnBrk="0" hangingPunct="1">
              <a:lnSpc>
                <a:spcPct val="100000"/>
              </a:lnSpc>
              <a:spcBef>
                <a:spcPts val="0"/>
              </a:spcBef>
              <a:spcAft>
                <a:spcPts val="0"/>
              </a:spcAft>
              <a:buClrTx/>
              <a:buSzTx/>
              <a:buFontTx/>
              <a:buNone/>
              <a:defRPr/>
            </a:pPr>
            <a:endParaRPr kumimoji="0" lang="bg-BG" sz="1685" b="0" i="0" u="none" strike="noStrike" kern="1200" cap="none" spc="0" normalizeH="0" baseline="0" noProof="0">
              <a:ln>
                <a:noFill/>
              </a:ln>
              <a:solidFill>
                <a:srgbClr val="FAFAFA"/>
              </a:solidFill>
              <a:effectLst/>
              <a:uLnTx/>
              <a:uFillTx/>
              <a:latin typeface="+mn-lt"/>
              <a:ea typeface="+mn-ea"/>
              <a:cs typeface="+mn-ea"/>
              <a:sym typeface="+mn-lt"/>
            </a:endParaRPr>
          </a:p>
        </p:txBody>
      </p:sp>
      <p:sp>
        <p:nvSpPr>
          <p:cNvPr id="12" name="Freeform 5"/>
          <p:cNvSpPr/>
          <p:nvPr/>
        </p:nvSpPr>
        <p:spPr bwMode="auto">
          <a:xfrm>
            <a:off x="1708150" y="1835150"/>
            <a:ext cx="877888" cy="1346200"/>
          </a:xfrm>
          <a:custGeom>
            <a:avLst/>
            <a:gdLst>
              <a:gd name="T0" fmla="*/ 281 w 293"/>
              <a:gd name="T1" fmla="*/ 166 h 450"/>
              <a:gd name="T2" fmla="*/ 293 w 293"/>
              <a:gd name="T3" fmla="*/ 154 h 450"/>
              <a:gd name="T4" fmla="*/ 281 w 293"/>
              <a:gd name="T5" fmla="*/ 142 h 450"/>
              <a:gd name="T6" fmla="*/ 270 w 293"/>
              <a:gd name="T7" fmla="*/ 142 h 450"/>
              <a:gd name="T8" fmla="*/ 270 w 293"/>
              <a:gd name="T9" fmla="*/ 24 h 450"/>
              <a:gd name="T10" fmla="*/ 281 w 293"/>
              <a:gd name="T11" fmla="*/ 24 h 450"/>
              <a:gd name="T12" fmla="*/ 293 w 293"/>
              <a:gd name="T13" fmla="*/ 12 h 450"/>
              <a:gd name="T14" fmla="*/ 281 w 293"/>
              <a:gd name="T15" fmla="*/ 0 h 450"/>
              <a:gd name="T16" fmla="*/ 12 w 293"/>
              <a:gd name="T17" fmla="*/ 0 h 450"/>
              <a:gd name="T18" fmla="*/ 0 w 293"/>
              <a:gd name="T19" fmla="*/ 12 h 450"/>
              <a:gd name="T20" fmla="*/ 12 w 293"/>
              <a:gd name="T21" fmla="*/ 24 h 450"/>
              <a:gd name="T22" fmla="*/ 22 w 293"/>
              <a:gd name="T23" fmla="*/ 24 h 450"/>
              <a:gd name="T24" fmla="*/ 22 w 293"/>
              <a:gd name="T25" fmla="*/ 142 h 450"/>
              <a:gd name="T26" fmla="*/ 12 w 293"/>
              <a:gd name="T27" fmla="*/ 142 h 450"/>
              <a:gd name="T28" fmla="*/ 0 w 293"/>
              <a:gd name="T29" fmla="*/ 154 h 450"/>
              <a:gd name="T30" fmla="*/ 12 w 293"/>
              <a:gd name="T31" fmla="*/ 166 h 450"/>
              <a:gd name="T32" fmla="*/ 22 w 293"/>
              <a:gd name="T33" fmla="*/ 166 h 450"/>
              <a:gd name="T34" fmla="*/ 22 w 293"/>
              <a:gd name="T35" fmla="*/ 284 h 450"/>
              <a:gd name="T36" fmla="*/ 12 w 293"/>
              <a:gd name="T37" fmla="*/ 284 h 450"/>
              <a:gd name="T38" fmla="*/ 0 w 293"/>
              <a:gd name="T39" fmla="*/ 296 h 450"/>
              <a:gd name="T40" fmla="*/ 12 w 293"/>
              <a:gd name="T41" fmla="*/ 308 h 450"/>
              <a:gd name="T42" fmla="*/ 22 w 293"/>
              <a:gd name="T43" fmla="*/ 308 h 450"/>
              <a:gd name="T44" fmla="*/ 22 w 293"/>
              <a:gd name="T45" fmla="*/ 426 h 450"/>
              <a:gd name="T46" fmla="*/ 12 w 293"/>
              <a:gd name="T47" fmla="*/ 426 h 450"/>
              <a:gd name="T48" fmla="*/ 0 w 293"/>
              <a:gd name="T49" fmla="*/ 438 h 450"/>
              <a:gd name="T50" fmla="*/ 12 w 293"/>
              <a:gd name="T51" fmla="*/ 450 h 450"/>
              <a:gd name="T52" fmla="*/ 281 w 293"/>
              <a:gd name="T53" fmla="*/ 450 h 450"/>
              <a:gd name="T54" fmla="*/ 293 w 293"/>
              <a:gd name="T55" fmla="*/ 438 h 450"/>
              <a:gd name="T56" fmla="*/ 281 w 293"/>
              <a:gd name="T57" fmla="*/ 426 h 450"/>
              <a:gd name="T58" fmla="*/ 270 w 293"/>
              <a:gd name="T59" fmla="*/ 426 h 450"/>
              <a:gd name="T60" fmla="*/ 270 w 293"/>
              <a:gd name="T61" fmla="*/ 308 h 450"/>
              <a:gd name="T62" fmla="*/ 281 w 293"/>
              <a:gd name="T63" fmla="*/ 308 h 450"/>
              <a:gd name="T64" fmla="*/ 293 w 293"/>
              <a:gd name="T65" fmla="*/ 296 h 450"/>
              <a:gd name="T66" fmla="*/ 281 w 293"/>
              <a:gd name="T67" fmla="*/ 284 h 450"/>
              <a:gd name="T68" fmla="*/ 270 w 293"/>
              <a:gd name="T69" fmla="*/ 284 h 450"/>
              <a:gd name="T70" fmla="*/ 270 w 293"/>
              <a:gd name="T71" fmla="*/ 166 h 450"/>
              <a:gd name="T72" fmla="*/ 281 w 293"/>
              <a:gd name="T73" fmla="*/ 166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93" h="450">
                <a:moveTo>
                  <a:pt x="281" y="166"/>
                </a:moveTo>
                <a:cubicBezTo>
                  <a:pt x="287" y="166"/>
                  <a:pt x="293" y="161"/>
                  <a:pt x="293" y="154"/>
                </a:cubicBezTo>
                <a:cubicBezTo>
                  <a:pt x="293" y="147"/>
                  <a:pt x="287" y="142"/>
                  <a:pt x="281" y="142"/>
                </a:cubicBezTo>
                <a:cubicBezTo>
                  <a:pt x="270" y="142"/>
                  <a:pt x="270" y="142"/>
                  <a:pt x="270" y="142"/>
                </a:cubicBezTo>
                <a:cubicBezTo>
                  <a:pt x="270" y="24"/>
                  <a:pt x="270" y="24"/>
                  <a:pt x="270" y="24"/>
                </a:cubicBezTo>
                <a:cubicBezTo>
                  <a:pt x="281" y="24"/>
                  <a:pt x="281" y="24"/>
                  <a:pt x="281" y="24"/>
                </a:cubicBezTo>
                <a:cubicBezTo>
                  <a:pt x="287" y="24"/>
                  <a:pt x="293" y="19"/>
                  <a:pt x="293" y="12"/>
                </a:cubicBezTo>
                <a:cubicBezTo>
                  <a:pt x="293" y="5"/>
                  <a:pt x="287" y="0"/>
                  <a:pt x="281" y="0"/>
                </a:cubicBezTo>
                <a:cubicBezTo>
                  <a:pt x="12" y="0"/>
                  <a:pt x="12" y="0"/>
                  <a:pt x="12" y="0"/>
                </a:cubicBezTo>
                <a:cubicBezTo>
                  <a:pt x="5" y="0"/>
                  <a:pt x="0" y="5"/>
                  <a:pt x="0" y="12"/>
                </a:cubicBezTo>
                <a:cubicBezTo>
                  <a:pt x="0" y="19"/>
                  <a:pt x="5" y="24"/>
                  <a:pt x="12" y="24"/>
                </a:cubicBezTo>
                <a:cubicBezTo>
                  <a:pt x="22" y="24"/>
                  <a:pt x="22" y="24"/>
                  <a:pt x="22" y="24"/>
                </a:cubicBezTo>
                <a:cubicBezTo>
                  <a:pt x="22" y="142"/>
                  <a:pt x="22" y="142"/>
                  <a:pt x="22" y="142"/>
                </a:cubicBezTo>
                <a:cubicBezTo>
                  <a:pt x="12" y="142"/>
                  <a:pt x="12" y="142"/>
                  <a:pt x="12" y="142"/>
                </a:cubicBezTo>
                <a:cubicBezTo>
                  <a:pt x="5" y="142"/>
                  <a:pt x="0" y="147"/>
                  <a:pt x="0" y="154"/>
                </a:cubicBezTo>
                <a:cubicBezTo>
                  <a:pt x="0" y="161"/>
                  <a:pt x="5" y="166"/>
                  <a:pt x="12" y="166"/>
                </a:cubicBezTo>
                <a:cubicBezTo>
                  <a:pt x="22" y="166"/>
                  <a:pt x="22" y="166"/>
                  <a:pt x="22" y="166"/>
                </a:cubicBezTo>
                <a:cubicBezTo>
                  <a:pt x="22" y="284"/>
                  <a:pt x="22" y="284"/>
                  <a:pt x="22" y="284"/>
                </a:cubicBezTo>
                <a:cubicBezTo>
                  <a:pt x="12" y="284"/>
                  <a:pt x="12" y="284"/>
                  <a:pt x="12" y="284"/>
                </a:cubicBezTo>
                <a:cubicBezTo>
                  <a:pt x="5" y="284"/>
                  <a:pt x="0" y="289"/>
                  <a:pt x="0" y="296"/>
                </a:cubicBezTo>
                <a:cubicBezTo>
                  <a:pt x="0" y="303"/>
                  <a:pt x="5" y="308"/>
                  <a:pt x="12" y="308"/>
                </a:cubicBezTo>
                <a:cubicBezTo>
                  <a:pt x="22" y="308"/>
                  <a:pt x="22" y="308"/>
                  <a:pt x="22" y="308"/>
                </a:cubicBezTo>
                <a:cubicBezTo>
                  <a:pt x="22" y="426"/>
                  <a:pt x="22" y="426"/>
                  <a:pt x="22" y="426"/>
                </a:cubicBezTo>
                <a:cubicBezTo>
                  <a:pt x="12" y="426"/>
                  <a:pt x="12" y="426"/>
                  <a:pt x="12" y="426"/>
                </a:cubicBezTo>
                <a:cubicBezTo>
                  <a:pt x="5" y="426"/>
                  <a:pt x="0" y="431"/>
                  <a:pt x="0" y="438"/>
                </a:cubicBezTo>
                <a:cubicBezTo>
                  <a:pt x="0" y="444"/>
                  <a:pt x="5" y="450"/>
                  <a:pt x="12" y="450"/>
                </a:cubicBezTo>
                <a:cubicBezTo>
                  <a:pt x="281" y="450"/>
                  <a:pt x="281" y="450"/>
                  <a:pt x="281" y="450"/>
                </a:cubicBezTo>
                <a:cubicBezTo>
                  <a:pt x="287" y="450"/>
                  <a:pt x="293" y="444"/>
                  <a:pt x="293" y="438"/>
                </a:cubicBezTo>
                <a:cubicBezTo>
                  <a:pt x="293" y="431"/>
                  <a:pt x="287" y="426"/>
                  <a:pt x="281" y="426"/>
                </a:cubicBezTo>
                <a:cubicBezTo>
                  <a:pt x="270" y="426"/>
                  <a:pt x="270" y="426"/>
                  <a:pt x="270" y="426"/>
                </a:cubicBezTo>
                <a:cubicBezTo>
                  <a:pt x="270" y="308"/>
                  <a:pt x="270" y="308"/>
                  <a:pt x="270" y="308"/>
                </a:cubicBezTo>
                <a:cubicBezTo>
                  <a:pt x="281" y="308"/>
                  <a:pt x="281" y="308"/>
                  <a:pt x="281" y="308"/>
                </a:cubicBezTo>
                <a:cubicBezTo>
                  <a:pt x="287" y="308"/>
                  <a:pt x="293" y="303"/>
                  <a:pt x="293" y="296"/>
                </a:cubicBezTo>
                <a:cubicBezTo>
                  <a:pt x="293" y="289"/>
                  <a:pt x="287" y="284"/>
                  <a:pt x="281" y="284"/>
                </a:cubicBezTo>
                <a:cubicBezTo>
                  <a:pt x="270" y="284"/>
                  <a:pt x="270" y="284"/>
                  <a:pt x="270" y="284"/>
                </a:cubicBezTo>
                <a:cubicBezTo>
                  <a:pt x="270" y="166"/>
                  <a:pt x="270" y="166"/>
                  <a:pt x="270" y="166"/>
                </a:cubicBezTo>
                <a:lnTo>
                  <a:pt x="281" y="166"/>
                </a:lnTo>
                <a:close/>
              </a:path>
            </a:pathLst>
          </a:custGeom>
          <a:solidFill>
            <a:srgbClr val="44546A">
              <a:lumMod val="60000"/>
              <a:lumOff val="40000"/>
            </a:srgbClr>
          </a:solidFill>
          <a:ln>
            <a:noFill/>
          </a:ln>
        </p:spPr>
        <p:txBody>
          <a:bodyPr/>
          <a:lstStyle/>
          <a:p>
            <a:pPr marL="0" marR="0" lvl="0" indent="0" algn="l" defTabSz="855980" rtl="0" eaLnBrk="1" fontAlgn="auto" latinLnBrk="0" hangingPunct="1">
              <a:lnSpc>
                <a:spcPct val="100000"/>
              </a:lnSpc>
              <a:spcBef>
                <a:spcPts val="0"/>
              </a:spcBef>
              <a:spcAft>
                <a:spcPts val="0"/>
              </a:spcAft>
              <a:buClrTx/>
              <a:buSzTx/>
              <a:buFontTx/>
              <a:buNone/>
              <a:defRPr/>
            </a:pPr>
            <a:endParaRPr kumimoji="0" lang="bg-BG" sz="1685" b="0" i="0" u="none" strike="noStrike" kern="0" cap="none" spc="0" normalizeH="0" baseline="0" noProof="0">
              <a:ln>
                <a:noFill/>
              </a:ln>
              <a:solidFill>
                <a:srgbClr val="FAFAFA"/>
              </a:solidFill>
              <a:effectLst/>
              <a:uLnTx/>
              <a:uFillTx/>
              <a:latin typeface="+mn-lt"/>
              <a:ea typeface="+mn-ea"/>
              <a:cs typeface="+mn-ea"/>
              <a:sym typeface="+mn-lt"/>
            </a:endParaRPr>
          </a:p>
        </p:txBody>
      </p:sp>
      <p:sp>
        <p:nvSpPr>
          <p:cNvPr id="13" name="Freeform 866"/>
          <p:cNvSpPr>
            <a:spLocks noEditPoints="1"/>
          </p:cNvSpPr>
          <p:nvPr/>
        </p:nvSpPr>
        <p:spPr bwMode="auto">
          <a:xfrm>
            <a:off x="1944688" y="2289175"/>
            <a:ext cx="403225" cy="354013"/>
          </a:xfrm>
          <a:custGeom>
            <a:avLst/>
            <a:gdLst>
              <a:gd name="T0" fmla="*/ 491 w 494"/>
              <a:gd name="T1" fmla="*/ 409 h 435"/>
              <a:gd name="T2" fmla="*/ 262 w 494"/>
              <a:gd name="T3" fmla="*/ 9 h 435"/>
              <a:gd name="T4" fmla="*/ 247 w 494"/>
              <a:gd name="T5" fmla="*/ 0 h 435"/>
              <a:gd name="T6" fmla="*/ 232 w 494"/>
              <a:gd name="T7" fmla="*/ 9 h 435"/>
              <a:gd name="T8" fmla="*/ 4 w 494"/>
              <a:gd name="T9" fmla="*/ 409 h 435"/>
              <a:gd name="T10" fmla="*/ 4 w 494"/>
              <a:gd name="T11" fmla="*/ 427 h 435"/>
              <a:gd name="T12" fmla="*/ 19 w 494"/>
              <a:gd name="T13" fmla="*/ 435 h 435"/>
              <a:gd name="T14" fmla="*/ 475 w 494"/>
              <a:gd name="T15" fmla="*/ 435 h 435"/>
              <a:gd name="T16" fmla="*/ 490 w 494"/>
              <a:gd name="T17" fmla="*/ 427 h 435"/>
              <a:gd name="T18" fmla="*/ 490 w 494"/>
              <a:gd name="T19" fmla="*/ 409 h 435"/>
              <a:gd name="T20" fmla="*/ 491 w 494"/>
              <a:gd name="T21" fmla="*/ 409 h 435"/>
              <a:gd name="T22" fmla="*/ 275 w 494"/>
              <a:gd name="T23" fmla="*/ 384 h 435"/>
              <a:gd name="T24" fmla="*/ 219 w 494"/>
              <a:gd name="T25" fmla="*/ 384 h 435"/>
              <a:gd name="T26" fmla="*/ 219 w 494"/>
              <a:gd name="T27" fmla="*/ 333 h 435"/>
              <a:gd name="T28" fmla="*/ 275 w 494"/>
              <a:gd name="T29" fmla="*/ 333 h 435"/>
              <a:gd name="T30" fmla="*/ 275 w 494"/>
              <a:gd name="T31" fmla="*/ 384 h 435"/>
              <a:gd name="T32" fmla="*/ 275 w 494"/>
              <a:gd name="T33" fmla="*/ 295 h 435"/>
              <a:gd name="T34" fmla="*/ 219 w 494"/>
              <a:gd name="T35" fmla="*/ 295 h 435"/>
              <a:gd name="T36" fmla="*/ 219 w 494"/>
              <a:gd name="T37" fmla="*/ 141 h 435"/>
              <a:gd name="T38" fmla="*/ 275 w 494"/>
              <a:gd name="T39" fmla="*/ 141 h 435"/>
              <a:gd name="T40" fmla="*/ 275 w 494"/>
              <a:gd name="T41" fmla="*/ 295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4" h="435">
                <a:moveTo>
                  <a:pt x="491" y="409"/>
                </a:moveTo>
                <a:cubicBezTo>
                  <a:pt x="262" y="9"/>
                  <a:pt x="262" y="9"/>
                  <a:pt x="262" y="9"/>
                </a:cubicBezTo>
                <a:cubicBezTo>
                  <a:pt x="259" y="4"/>
                  <a:pt x="253" y="0"/>
                  <a:pt x="247" y="0"/>
                </a:cubicBezTo>
                <a:cubicBezTo>
                  <a:pt x="241" y="0"/>
                  <a:pt x="235" y="4"/>
                  <a:pt x="232" y="9"/>
                </a:cubicBezTo>
                <a:cubicBezTo>
                  <a:pt x="4" y="409"/>
                  <a:pt x="4" y="409"/>
                  <a:pt x="4" y="409"/>
                </a:cubicBezTo>
                <a:cubicBezTo>
                  <a:pt x="0" y="415"/>
                  <a:pt x="0" y="421"/>
                  <a:pt x="4" y="427"/>
                </a:cubicBezTo>
                <a:cubicBezTo>
                  <a:pt x="7" y="432"/>
                  <a:pt x="13" y="435"/>
                  <a:pt x="19" y="435"/>
                </a:cubicBezTo>
                <a:cubicBezTo>
                  <a:pt x="475" y="435"/>
                  <a:pt x="475" y="435"/>
                  <a:pt x="475" y="435"/>
                </a:cubicBezTo>
                <a:cubicBezTo>
                  <a:pt x="481" y="435"/>
                  <a:pt x="487" y="432"/>
                  <a:pt x="490" y="427"/>
                </a:cubicBezTo>
                <a:cubicBezTo>
                  <a:pt x="493" y="421"/>
                  <a:pt x="494" y="415"/>
                  <a:pt x="490" y="409"/>
                </a:cubicBezTo>
                <a:lnTo>
                  <a:pt x="491" y="409"/>
                </a:lnTo>
                <a:close/>
                <a:moveTo>
                  <a:pt x="275" y="384"/>
                </a:moveTo>
                <a:cubicBezTo>
                  <a:pt x="219" y="384"/>
                  <a:pt x="219" y="384"/>
                  <a:pt x="219" y="384"/>
                </a:cubicBezTo>
                <a:cubicBezTo>
                  <a:pt x="219" y="333"/>
                  <a:pt x="219" y="333"/>
                  <a:pt x="219" y="333"/>
                </a:cubicBezTo>
                <a:cubicBezTo>
                  <a:pt x="275" y="333"/>
                  <a:pt x="275" y="333"/>
                  <a:pt x="275" y="333"/>
                </a:cubicBezTo>
                <a:lnTo>
                  <a:pt x="275" y="384"/>
                </a:lnTo>
                <a:close/>
                <a:moveTo>
                  <a:pt x="275" y="295"/>
                </a:moveTo>
                <a:cubicBezTo>
                  <a:pt x="219" y="295"/>
                  <a:pt x="219" y="295"/>
                  <a:pt x="219" y="295"/>
                </a:cubicBezTo>
                <a:cubicBezTo>
                  <a:pt x="219" y="141"/>
                  <a:pt x="219" y="141"/>
                  <a:pt x="219" y="141"/>
                </a:cubicBezTo>
                <a:cubicBezTo>
                  <a:pt x="275" y="141"/>
                  <a:pt x="275" y="141"/>
                  <a:pt x="275" y="141"/>
                </a:cubicBezTo>
                <a:lnTo>
                  <a:pt x="275" y="295"/>
                </a:lnTo>
                <a:close/>
              </a:path>
            </a:pathLst>
          </a:custGeom>
          <a:solidFill>
            <a:srgbClr val="FAFAFA"/>
          </a:solidFill>
          <a:ln>
            <a:noFill/>
          </a:ln>
        </p:spPr>
        <p:txBody>
          <a:bodyPr/>
          <a:lstStyle/>
          <a:p>
            <a:pPr marL="0" marR="0" lvl="0" indent="0" algn="l" defTabSz="855980" rtl="0" eaLnBrk="1" fontAlgn="auto" latinLnBrk="0" hangingPunct="1">
              <a:lnSpc>
                <a:spcPct val="100000"/>
              </a:lnSpc>
              <a:spcBef>
                <a:spcPts val="0"/>
              </a:spcBef>
              <a:spcAft>
                <a:spcPts val="0"/>
              </a:spcAft>
              <a:buClrTx/>
              <a:buSzTx/>
              <a:buFontTx/>
              <a:buNone/>
              <a:defRPr/>
            </a:pPr>
            <a:endParaRPr kumimoji="0" lang="en-US" sz="1685" b="0" i="0" u="none" strike="noStrike" kern="0" cap="none" spc="0" normalizeH="0" baseline="0" noProof="0">
              <a:ln>
                <a:noFill/>
              </a:ln>
              <a:solidFill>
                <a:srgbClr val="FAFAFA"/>
              </a:solidFill>
              <a:effectLst/>
              <a:uLnTx/>
              <a:uFillTx/>
              <a:latin typeface="+mn-lt"/>
              <a:ea typeface="+mn-ea"/>
              <a:cs typeface="+mn-ea"/>
              <a:sym typeface="+mn-lt"/>
            </a:endParaRPr>
          </a:p>
        </p:txBody>
      </p:sp>
      <p:sp>
        <p:nvSpPr>
          <p:cNvPr id="14" name="Freeform 866"/>
          <p:cNvSpPr>
            <a:spLocks noEditPoints="1"/>
          </p:cNvSpPr>
          <p:nvPr/>
        </p:nvSpPr>
        <p:spPr bwMode="auto">
          <a:xfrm>
            <a:off x="771525" y="2014538"/>
            <a:ext cx="533400" cy="468313"/>
          </a:xfrm>
          <a:custGeom>
            <a:avLst/>
            <a:gdLst>
              <a:gd name="T0" fmla="*/ 491 w 494"/>
              <a:gd name="T1" fmla="*/ 409 h 435"/>
              <a:gd name="T2" fmla="*/ 262 w 494"/>
              <a:gd name="T3" fmla="*/ 9 h 435"/>
              <a:gd name="T4" fmla="*/ 247 w 494"/>
              <a:gd name="T5" fmla="*/ 0 h 435"/>
              <a:gd name="T6" fmla="*/ 232 w 494"/>
              <a:gd name="T7" fmla="*/ 9 h 435"/>
              <a:gd name="T8" fmla="*/ 4 w 494"/>
              <a:gd name="T9" fmla="*/ 409 h 435"/>
              <a:gd name="T10" fmla="*/ 4 w 494"/>
              <a:gd name="T11" fmla="*/ 427 h 435"/>
              <a:gd name="T12" fmla="*/ 19 w 494"/>
              <a:gd name="T13" fmla="*/ 435 h 435"/>
              <a:gd name="T14" fmla="*/ 475 w 494"/>
              <a:gd name="T15" fmla="*/ 435 h 435"/>
              <a:gd name="T16" fmla="*/ 490 w 494"/>
              <a:gd name="T17" fmla="*/ 427 h 435"/>
              <a:gd name="T18" fmla="*/ 490 w 494"/>
              <a:gd name="T19" fmla="*/ 409 h 435"/>
              <a:gd name="T20" fmla="*/ 491 w 494"/>
              <a:gd name="T21" fmla="*/ 409 h 435"/>
              <a:gd name="T22" fmla="*/ 275 w 494"/>
              <a:gd name="T23" fmla="*/ 384 h 435"/>
              <a:gd name="T24" fmla="*/ 219 w 494"/>
              <a:gd name="T25" fmla="*/ 384 h 435"/>
              <a:gd name="T26" fmla="*/ 219 w 494"/>
              <a:gd name="T27" fmla="*/ 333 h 435"/>
              <a:gd name="T28" fmla="*/ 275 w 494"/>
              <a:gd name="T29" fmla="*/ 333 h 435"/>
              <a:gd name="T30" fmla="*/ 275 w 494"/>
              <a:gd name="T31" fmla="*/ 384 h 435"/>
              <a:gd name="T32" fmla="*/ 275 w 494"/>
              <a:gd name="T33" fmla="*/ 295 h 435"/>
              <a:gd name="T34" fmla="*/ 219 w 494"/>
              <a:gd name="T35" fmla="*/ 295 h 435"/>
              <a:gd name="T36" fmla="*/ 219 w 494"/>
              <a:gd name="T37" fmla="*/ 141 h 435"/>
              <a:gd name="T38" fmla="*/ 275 w 494"/>
              <a:gd name="T39" fmla="*/ 141 h 435"/>
              <a:gd name="T40" fmla="*/ 275 w 494"/>
              <a:gd name="T41" fmla="*/ 295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4" h="435">
                <a:moveTo>
                  <a:pt x="491" y="409"/>
                </a:moveTo>
                <a:cubicBezTo>
                  <a:pt x="262" y="9"/>
                  <a:pt x="262" y="9"/>
                  <a:pt x="262" y="9"/>
                </a:cubicBezTo>
                <a:cubicBezTo>
                  <a:pt x="259" y="4"/>
                  <a:pt x="253" y="0"/>
                  <a:pt x="247" y="0"/>
                </a:cubicBezTo>
                <a:cubicBezTo>
                  <a:pt x="241" y="0"/>
                  <a:pt x="235" y="4"/>
                  <a:pt x="232" y="9"/>
                </a:cubicBezTo>
                <a:cubicBezTo>
                  <a:pt x="4" y="409"/>
                  <a:pt x="4" y="409"/>
                  <a:pt x="4" y="409"/>
                </a:cubicBezTo>
                <a:cubicBezTo>
                  <a:pt x="0" y="415"/>
                  <a:pt x="0" y="421"/>
                  <a:pt x="4" y="427"/>
                </a:cubicBezTo>
                <a:cubicBezTo>
                  <a:pt x="7" y="432"/>
                  <a:pt x="13" y="435"/>
                  <a:pt x="19" y="435"/>
                </a:cubicBezTo>
                <a:cubicBezTo>
                  <a:pt x="475" y="435"/>
                  <a:pt x="475" y="435"/>
                  <a:pt x="475" y="435"/>
                </a:cubicBezTo>
                <a:cubicBezTo>
                  <a:pt x="481" y="435"/>
                  <a:pt x="487" y="432"/>
                  <a:pt x="490" y="427"/>
                </a:cubicBezTo>
                <a:cubicBezTo>
                  <a:pt x="493" y="421"/>
                  <a:pt x="494" y="415"/>
                  <a:pt x="490" y="409"/>
                </a:cubicBezTo>
                <a:lnTo>
                  <a:pt x="491" y="409"/>
                </a:lnTo>
                <a:close/>
                <a:moveTo>
                  <a:pt x="275" y="384"/>
                </a:moveTo>
                <a:cubicBezTo>
                  <a:pt x="219" y="384"/>
                  <a:pt x="219" y="384"/>
                  <a:pt x="219" y="384"/>
                </a:cubicBezTo>
                <a:cubicBezTo>
                  <a:pt x="219" y="333"/>
                  <a:pt x="219" y="333"/>
                  <a:pt x="219" y="333"/>
                </a:cubicBezTo>
                <a:cubicBezTo>
                  <a:pt x="275" y="333"/>
                  <a:pt x="275" y="333"/>
                  <a:pt x="275" y="333"/>
                </a:cubicBezTo>
                <a:lnTo>
                  <a:pt x="275" y="384"/>
                </a:lnTo>
                <a:close/>
                <a:moveTo>
                  <a:pt x="275" y="295"/>
                </a:moveTo>
                <a:cubicBezTo>
                  <a:pt x="219" y="295"/>
                  <a:pt x="219" y="295"/>
                  <a:pt x="219" y="295"/>
                </a:cubicBezTo>
                <a:cubicBezTo>
                  <a:pt x="219" y="141"/>
                  <a:pt x="219" y="141"/>
                  <a:pt x="219" y="141"/>
                </a:cubicBezTo>
                <a:cubicBezTo>
                  <a:pt x="275" y="141"/>
                  <a:pt x="275" y="141"/>
                  <a:pt x="275" y="141"/>
                </a:cubicBezTo>
                <a:lnTo>
                  <a:pt x="275" y="295"/>
                </a:lnTo>
                <a:close/>
              </a:path>
            </a:pathLst>
          </a:custGeom>
          <a:solidFill>
            <a:srgbClr val="FAFAFA"/>
          </a:solidFill>
          <a:ln>
            <a:noFill/>
          </a:ln>
        </p:spPr>
        <p:txBody>
          <a:bodyPr/>
          <a:lstStyle/>
          <a:p>
            <a:pPr marL="0" marR="0" lvl="0" indent="0" algn="l" defTabSz="855980" rtl="0" eaLnBrk="1" fontAlgn="auto" latinLnBrk="0" hangingPunct="1">
              <a:lnSpc>
                <a:spcPct val="100000"/>
              </a:lnSpc>
              <a:spcBef>
                <a:spcPts val="0"/>
              </a:spcBef>
              <a:spcAft>
                <a:spcPts val="0"/>
              </a:spcAft>
              <a:buClrTx/>
              <a:buSzTx/>
              <a:buFontTx/>
              <a:buNone/>
              <a:defRPr/>
            </a:pPr>
            <a:endParaRPr kumimoji="0" lang="en-US" sz="1685" b="0" i="0" u="none" strike="noStrike" kern="0" cap="none" spc="0" normalizeH="0" baseline="0" noProof="0">
              <a:ln>
                <a:noFill/>
              </a:ln>
              <a:solidFill>
                <a:srgbClr val="FAFAFA"/>
              </a:solidFill>
              <a:effectLst/>
              <a:uLnTx/>
              <a:uFillTx/>
              <a:latin typeface="+mn-lt"/>
              <a:ea typeface="+mn-ea"/>
              <a:cs typeface="+mn-ea"/>
              <a:sym typeface="+mn-lt"/>
            </a:endParaRPr>
          </a:p>
        </p:txBody>
      </p:sp>
      <p:grpSp>
        <p:nvGrpSpPr>
          <p:cNvPr id="3" name="组合 2"/>
          <p:cNvGrpSpPr/>
          <p:nvPr/>
        </p:nvGrpSpPr>
        <p:grpSpPr>
          <a:xfrm>
            <a:off x="7308850" y="3783013"/>
            <a:ext cx="1501775" cy="1250950"/>
            <a:chOff x="7308304" y="3782597"/>
            <a:chExt cx="1502951" cy="1250950"/>
          </a:xfrm>
        </p:grpSpPr>
        <p:sp>
          <p:nvSpPr>
            <p:cNvPr id="48139" name="矩形 1"/>
            <p:cNvSpPr>
              <a:spLocks noChangeArrowheads="1"/>
            </p:cNvSpPr>
            <p:nvPr/>
          </p:nvSpPr>
          <p:spPr bwMode="auto">
            <a:xfrm>
              <a:off x="7308304" y="3782597"/>
              <a:ext cx="1502951" cy="1250950"/>
            </a:xfrm>
            <a:prstGeom prst="rect">
              <a:avLst/>
            </a:prstGeom>
            <a:solidFill>
              <a:srgbClr val="D4E6F4"/>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 name="Freeform 5"/>
            <p:cNvSpPr>
              <a:spLocks noEditPoints="1"/>
            </p:cNvSpPr>
            <p:nvPr/>
          </p:nvSpPr>
          <p:spPr bwMode="auto">
            <a:xfrm>
              <a:off x="7885018" y="4123909"/>
              <a:ext cx="378121" cy="485775"/>
            </a:xfrm>
            <a:custGeom>
              <a:avLst/>
              <a:gdLst>
                <a:gd name="T0" fmla="*/ 378 w 1292"/>
                <a:gd name="T1" fmla="*/ 569 h 1648"/>
                <a:gd name="T2" fmla="*/ 438 w 1292"/>
                <a:gd name="T3" fmla="*/ 509 h 1648"/>
                <a:gd name="T4" fmla="*/ 438 w 1292"/>
                <a:gd name="T5" fmla="*/ 328 h 1648"/>
                <a:gd name="T6" fmla="*/ 646 w 1292"/>
                <a:gd name="T7" fmla="*/ 120 h 1648"/>
                <a:gd name="T8" fmla="*/ 854 w 1292"/>
                <a:gd name="T9" fmla="*/ 328 h 1648"/>
                <a:gd name="T10" fmla="*/ 854 w 1292"/>
                <a:gd name="T11" fmla="*/ 509 h 1648"/>
                <a:gd name="T12" fmla="*/ 914 w 1292"/>
                <a:gd name="T13" fmla="*/ 569 h 1648"/>
                <a:gd name="T14" fmla="*/ 974 w 1292"/>
                <a:gd name="T15" fmla="*/ 509 h 1648"/>
                <a:gd name="T16" fmla="*/ 974 w 1292"/>
                <a:gd name="T17" fmla="*/ 328 h 1648"/>
                <a:gd name="T18" fmla="*/ 646 w 1292"/>
                <a:gd name="T19" fmla="*/ 0 h 1648"/>
                <a:gd name="T20" fmla="*/ 318 w 1292"/>
                <a:gd name="T21" fmla="*/ 328 h 1648"/>
                <a:gd name="T22" fmla="*/ 318 w 1292"/>
                <a:gd name="T23" fmla="*/ 509 h 1648"/>
                <a:gd name="T24" fmla="*/ 378 w 1292"/>
                <a:gd name="T25" fmla="*/ 569 h 1648"/>
                <a:gd name="T26" fmla="*/ 1292 w 1292"/>
                <a:gd name="T27" fmla="*/ 1648 h 1648"/>
                <a:gd name="T28" fmla="*/ 0 w 1292"/>
                <a:gd name="T29" fmla="*/ 1648 h 1648"/>
                <a:gd name="T30" fmla="*/ 123 w 1292"/>
                <a:gd name="T31" fmla="*/ 521 h 1648"/>
                <a:gd name="T32" fmla="*/ 227 w 1292"/>
                <a:gd name="T33" fmla="*/ 521 h 1648"/>
                <a:gd name="T34" fmla="*/ 378 w 1292"/>
                <a:gd name="T35" fmla="*/ 661 h 1648"/>
                <a:gd name="T36" fmla="*/ 529 w 1292"/>
                <a:gd name="T37" fmla="*/ 521 h 1648"/>
                <a:gd name="T38" fmla="*/ 763 w 1292"/>
                <a:gd name="T39" fmla="*/ 521 h 1648"/>
                <a:gd name="T40" fmla="*/ 914 w 1292"/>
                <a:gd name="T41" fmla="*/ 661 h 1648"/>
                <a:gd name="T42" fmla="*/ 1065 w 1292"/>
                <a:gd name="T43" fmla="*/ 521 h 1648"/>
                <a:gd name="T44" fmla="*/ 1170 w 1292"/>
                <a:gd name="T45" fmla="*/ 521 h 1648"/>
                <a:gd name="T46" fmla="*/ 1292 w 1292"/>
                <a:gd name="T47" fmla="*/ 1648 h 1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2" h="1648">
                  <a:moveTo>
                    <a:pt x="378" y="569"/>
                  </a:moveTo>
                  <a:cubicBezTo>
                    <a:pt x="411" y="569"/>
                    <a:pt x="438" y="542"/>
                    <a:pt x="438" y="509"/>
                  </a:cubicBezTo>
                  <a:cubicBezTo>
                    <a:pt x="438" y="328"/>
                    <a:pt x="438" y="328"/>
                    <a:pt x="438" y="328"/>
                  </a:cubicBezTo>
                  <a:cubicBezTo>
                    <a:pt x="438" y="213"/>
                    <a:pt x="531" y="120"/>
                    <a:pt x="646" y="120"/>
                  </a:cubicBezTo>
                  <a:cubicBezTo>
                    <a:pt x="761" y="120"/>
                    <a:pt x="854" y="213"/>
                    <a:pt x="854" y="328"/>
                  </a:cubicBezTo>
                  <a:cubicBezTo>
                    <a:pt x="854" y="509"/>
                    <a:pt x="854" y="509"/>
                    <a:pt x="854" y="509"/>
                  </a:cubicBezTo>
                  <a:cubicBezTo>
                    <a:pt x="854" y="542"/>
                    <a:pt x="881" y="569"/>
                    <a:pt x="914" y="569"/>
                  </a:cubicBezTo>
                  <a:cubicBezTo>
                    <a:pt x="947" y="569"/>
                    <a:pt x="974" y="542"/>
                    <a:pt x="974" y="509"/>
                  </a:cubicBezTo>
                  <a:cubicBezTo>
                    <a:pt x="974" y="328"/>
                    <a:pt x="974" y="328"/>
                    <a:pt x="974" y="328"/>
                  </a:cubicBezTo>
                  <a:cubicBezTo>
                    <a:pt x="974" y="147"/>
                    <a:pt x="827" y="0"/>
                    <a:pt x="646" y="0"/>
                  </a:cubicBezTo>
                  <a:cubicBezTo>
                    <a:pt x="465" y="0"/>
                    <a:pt x="318" y="147"/>
                    <a:pt x="318" y="328"/>
                  </a:cubicBezTo>
                  <a:cubicBezTo>
                    <a:pt x="318" y="509"/>
                    <a:pt x="318" y="509"/>
                    <a:pt x="318" y="509"/>
                  </a:cubicBezTo>
                  <a:cubicBezTo>
                    <a:pt x="318" y="542"/>
                    <a:pt x="345" y="569"/>
                    <a:pt x="378" y="569"/>
                  </a:cubicBezTo>
                  <a:close/>
                  <a:moveTo>
                    <a:pt x="1292" y="1648"/>
                  </a:moveTo>
                  <a:cubicBezTo>
                    <a:pt x="0" y="1648"/>
                    <a:pt x="0" y="1648"/>
                    <a:pt x="0" y="1648"/>
                  </a:cubicBezTo>
                  <a:cubicBezTo>
                    <a:pt x="123" y="521"/>
                    <a:pt x="123" y="521"/>
                    <a:pt x="123" y="521"/>
                  </a:cubicBezTo>
                  <a:cubicBezTo>
                    <a:pt x="227" y="521"/>
                    <a:pt x="227" y="521"/>
                    <a:pt x="227" y="521"/>
                  </a:cubicBezTo>
                  <a:cubicBezTo>
                    <a:pt x="233" y="599"/>
                    <a:pt x="298" y="661"/>
                    <a:pt x="378" y="661"/>
                  </a:cubicBezTo>
                  <a:cubicBezTo>
                    <a:pt x="458" y="661"/>
                    <a:pt x="523" y="599"/>
                    <a:pt x="529" y="521"/>
                  </a:cubicBezTo>
                  <a:cubicBezTo>
                    <a:pt x="763" y="521"/>
                    <a:pt x="763" y="521"/>
                    <a:pt x="763" y="521"/>
                  </a:cubicBezTo>
                  <a:cubicBezTo>
                    <a:pt x="769" y="599"/>
                    <a:pt x="834" y="661"/>
                    <a:pt x="914" y="661"/>
                  </a:cubicBezTo>
                  <a:cubicBezTo>
                    <a:pt x="994" y="661"/>
                    <a:pt x="1059" y="599"/>
                    <a:pt x="1065" y="521"/>
                  </a:cubicBezTo>
                  <a:cubicBezTo>
                    <a:pt x="1170" y="521"/>
                    <a:pt x="1170" y="521"/>
                    <a:pt x="1170" y="521"/>
                  </a:cubicBezTo>
                  <a:lnTo>
                    <a:pt x="1292" y="1648"/>
                  </a:lnTo>
                  <a:close/>
                </a:path>
              </a:pathLst>
            </a:custGeom>
            <a:solidFill>
              <a:schemeClr val="bg1"/>
            </a:solidFill>
            <a:ln>
              <a:noFill/>
            </a:ln>
          </p:spPr>
          <p:txBody>
            <a:bodyPr/>
            <a:lstStyle/>
            <a:p>
              <a:pPr marL="0" marR="0" lvl="0" indent="0" algn="l" defTabSz="85598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bg-BG" sz="1685" b="1" i="0" u="none" strike="noStrike" kern="1200" cap="none" spc="0" normalizeH="0" baseline="0" noProof="0" dirty="0">
                <a:ln>
                  <a:noFill/>
                </a:ln>
                <a:solidFill>
                  <a:schemeClr val="bg1"/>
                </a:solidFill>
                <a:effectLst/>
                <a:uLnTx/>
                <a:uFillTx/>
                <a:latin typeface="+mn-lt"/>
                <a:ea typeface="+mn-ea"/>
                <a:cs typeface="+mn-ea"/>
                <a:sym typeface="+mn-lt"/>
              </a:endParaRPr>
            </a:p>
          </p:txBody>
        </p:sp>
      </p:grpSp>
      <p:sp>
        <p:nvSpPr>
          <p:cNvPr id="18"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965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965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3965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4" grpId="0" build="p"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练习</a:t>
            </a:r>
          </a:p>
        </p:txBody>
      </p:sp>
      <p:sp>
        <p:nvSpPr>
          <p:cNvPr id="41988" name="Rectangle 8"/>
          <p:cNvSpPr>
            <a:spLocks noChangeArrowheads="1"/>
          </p:cNvSpPr>
          <p:nvPr/>
        </p:nvSpPr>
        <p:spPr bwMode="auto">
          <a:xfrm>
            <a:off x="6372225" y="1412875"/>
            <a:ext cx="2771775" cy="2079625"/>
          </a:xfrm>
          <a:prstGeom prst="rect">
            <a:avLst/>
          </a:prstGeom>
          <a:solidFill>
            <a:srgbClr val="E2D9EB"/>
          </a:solidFill>
          <a:ln w="38100">
            <a:noFill/>
            <a:miter lim="800000"/>
          </a:ln>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62992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Ａ．</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62992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Ｂ．</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62992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Ｃ．</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n-i+1</a:t>
            </a:r>
          </a:p>
          <a:p>
            <a:pPr marL="0" marR="0" lvl="0" indent="62992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Ｄ．不确定</a:t>
            </a:r>
          </a:p>
        </p:txBody>
      </p:sp>
      <p:sp>
        <p:nvSpPr>
          <p:cNvPr id="41990" name="Rectangle 11"/>
          <p:cNvSpPr>
            <a:spLocks noChangeArrowheads="1"/>
          </p:cNvSpPr>
          <p:nvPr/>
        </p:nvSpPr>
        <p:spPr bwMode="auto">
          <a:xfrm>
            <a:off x="0" y="1412875"/>
            <a:ext cx="6227763" cy="2079625"/>
          </a:xfrm>
          <a:prstGeom prst="rect">
            <a:avLst/>
          </a:prstGeom>
          <a:solidFill>
            <a:srgbClr val="D4E6F4"/>
          </a:solidFill>
          <a:ln>
            <a:noFill/>
          </a:ln>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若已知一个栈的入栈序列是</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，其输出序列为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，若</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p1=n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，则</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为</a:t>
            </a:r>
            <a:endPar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endParaRPr>
          </a:p>
        </p:txBody>
      </p:sp>
      <p:sp>
        <p:nvSpPr>
          <p:cNvPr id="540682" name="Text Box 10"/>
          <p:cNvSpPr txBox="1">
            <a:spLocks noChangeArrowheads="1"/>
          </p:cNvSpPr>
          <p:nvPr/>
        </p:nvSpPr>
        <p:spPr bwMode="auto">
          <a:xfrm>
            <a:off x="882650" y="2789238"/>
            <a:ext cx="574675" cy="461963"/>
          </a:xfrm>
          <a:prstGeom prst="rect">
            <a:avLst/>
          </a:prstGeom>
          <a:noFill/>
          <a:ln>
            <a:noFill/>
          </a:ln>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Ｃ</a:t>
            </a:r>
          </a:p>
        </p:txBody>
      </p:sp>
      <p:sp>
        <p:nvSpPr>
          <p:cNvPr id="15" name="Rectangle 10"/>
          <p:cNvSpPr>
            <a:spLocks noChangeArrowheads="1"/>
          </p:cNvSpPr>
          <p:nvPr/>
        </p:nvSpPr>
        <p:spPr bwMode="auto">
          <a:xfrm>
            <a:off x="2843213" y="4043363"/>
            <a:ext cx="6300788" cy="2078038"/>
          </a:xfrm>
          <a:prstGeom prst="rect">
            <a:avLst/>
          </a:prstGeom>
          <a:solidFill>
            <a:srgbClr val="D4E6F4"/>
          </a:solidFill>
          <a:ln>
            <a:noFill/>
          </a:ln>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3.</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在一个具有</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个单元的顺序栈中，假设以地址高端作为栈底，以</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top</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作为栈顶指针，则当作进栈处理时，</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top</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的变化为　</a:t>
            </a:r>
          </a:p>
        </p:txBody>
      </p:sp>
      <p:sp>
        <p:nvSpPr>
          <p:cNvPr id="16" name="Rectangle 8"/>
          <p:cNvSpPr>
            <a:spLocks noChangeArrowheads="1"/>
          </p:cNvSpPr>
          <p:nvPr/>
        </p:nvSpPr>
        <p:spPr bwMode="auto">
          <a:xfrm>
            <a:off x="0" y="4043363"/>
            <a:ext cx="2700338" cy="2078038"/>
          </a:xfrm>
          <a:prstGeom prst="rect">
            <a:avLst/>
          </a:prstGeom>
          <a:solidFill>
            <a:srgbClr val="E2D9EB"/>
          </a:solidFill>
          <a:ln w="38100">
            <a:noFill/>
            <a:miter lim="800000"/>
          </a:ln>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62992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Ａ． </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top</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不变</a:t>
            </a:r>
          </a:p>
          <a:p>
            <a:pPr marL="0" marR="0" lvl="0" indent="62992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Ｂ． </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top=0</a:t>
            </a:r>
          </a:p>
          <a:p>
            <a:pPr marL="0" marR="0" lvl="0" indent="62992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Ｃ． </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top++ </a:t>
            </a:r>
          </a:p>
          <a:p>
            <a:pPr marL="0" marR="0" lvl="0" indent="62992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Ｄ． </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top--</a:t>
            </a:r>
          </a:p>
        </p:txBody>
      </p:sp>
      <p:sp>
        <p:nvSpPr>
          <p:cNvPr id="17" name="Text Box 9"/>
          <p:cNvSpPr txBox="1">
            <a:spLocks noChangeArrowheads="1"/>
          </p:cNvSpPr>
          <p:nvPr/>
        </p:nvSpPr>
        <p:spPr bwMode="auto">
          <a:xfrm>
            <a:off x="6675438" y="5370513"/>
            <a:ext cx="574675" cy="523875"/>
          </a:xfrm>
          <a:prstGeom prst="rect">
            <a:avLst/>
          </a:prstGeom>
          <a:noFill/>
          <a:ln>
            <a:noFill/>
          </a:ln>
        </p:spPr>
        <p:txBody>
          <a:bodyPr anchor="ct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40682"/>
                                        </p:tgtEl>
                                        <p:attrNameLst>
                                          <p:attrName>style.visibility</p:attrName>
                                        </p:attrNameLst>
                                      </p:cBhvr>
                                      <p:to>
                                        <p:strVal val="visible"/>
                                      </p:to>
                                    </p:set>
                                    <p:anim calcmode="lin" valueType="num">
                                      <p:cBhvr additive="base">
                                        <p:cTn id="7" dur="5000" fill="hold"/>
                                        <p:tgtEl>
                                          <p:spTgt spid="540682"/>
                                        </p:tgtEl>
                                        <p:attrNameLst>
                                          <p:attrName>ppt_x</p:attrName>
                                        </p:attrNameLst>
                                      </p:cBhvr>
                                      <p:tavLst>
                                        <p:tav tm="0">
                                          <p:val>
                                            <p:strVal val="#ppt_x"/>
                                          </p:val>
                                        </p:tav>
                                        <p:tav tm="100000">
                                          <p:val>
                                            <p:strVal val="#ppt_x"/>
                                          </p:val>
                                        </p:tav>
                                      </p:tavLst>
                                    </p:anim>
                                    <p:anim calcmode="lin" valueType="num">
                                      <p:cBhvr additive="base">
                                        <p:cTn id="8" dur="5000" fill="hold"/>
                                        <p:tgtEl>
                                          <p:spTgt spid="54068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0" fill="hold"/>
                                        <p:tgtEl>
                                          <p:spTgt spid="17"/>
                                        </p:tgtEl>
                                        <p:attrNameLst>
                                          <p:attrName>ppt_x</p:attrName>
                                        </p:attrNameLst>
                                      </p:cBhvr>
                                      <p:tavLst>
                                        <p:tav tm="0">
                                          <p:val>
                                            <p:strVal val="#ppt_x"/>
                                          </p:val>
                                        </p:tav>
                                        <p:tav tm="100000">
                                          <p:val>
                                            <p:strVal val="#ppt_x"/>
                                          </p:val>
                                        </p:tav>
                                      </p:tavLst>
                                    </p:anim>
                                    <p:anim calcmode="lin" valueType="num">
                                      <p:cBhvr additive="base">
                                        <p:cTn id="14" dur="50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82" grpId="0"/>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custDataLst>
              <p:tags r:id="rId2"/>
            </p:custDataLst>
          </p:nvPr>
        </p:nvSpPr>
        <p:spPr>
          <a:xfrm>
            <a:off x="914400" y="1001818"/>
            <a:ext cx="73152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a:ea typeface="Microsoft Yahei"/>
                <a:sym typeface="Microsoft Yahei"/>
              </a:rPr>
              <a:t>Pushing </a:t>
            </a:r>
            <a:r>
              <a:rPr lang="en-US" altLang="zh-CN" sz="2600" dirty="0">
                <a:solidFill>
                  <a:srgbClr val="000000"/>
                </a:solidFill>
                <a:latin typeface="Microsoft Yahei"/>
                <a:ea typeface="Microsoft Yahei"/>
                <a:sym typeface="Microsoft Yahei"/>
              </a:rPr>
              <a:t>sequence of a stack is {1,2,⋯,n } .If the second number of popping sequence is 2,then how many possible choices are there for the first one</a:t>
            </a:r>
            <a:r>
              <a:rPr lang="en-US" altLang="zh-CN" sz="2600" dirty="0" smtClean="0">
                <a:solidFill>
                  <a:srgbClr val="000000"/>
                </a:solidFill>
                <a:latin typeface="Microsoft Yahei"/>
                <a:ea typeface="Microsoft Yahei"/>
                <a:sym typeface="Microsoft Yahei"/>
              </a:rPr>
              <a:t>?</a:t>
            </a:r>
            <a:endParaRPr lang="en-US" altLang="zh-CN" sz="2600" dirty="0">
              <a:solidFill>
                <a:srgbClr val="000000"/>
              </a:solidFill>
              <a:latin typeface="Microsoft Yahei"/>
              <a:ea typeface="Microsoft Yahei"/>
              <a:sym typeface="Microsoft Yahei"/>
            </a:endParaRPr>
          </a:p>
        </p:txBody>
      </p:sp>
      <p:sp>
        <p:nvSpPr>
          <p:cNvPr id="5" name="TextBox 4"/>
          <p:cNvSpPr txBox="1"/>
          <p:nvPr>
            <p:custDataLst>
              <p:tags r:id="rId3"/>
            </p:custDataLst>
          </p:nvPr>
        </p:nvSpPr>
        <p:spPr>
          <a:xfrm>
            <a:off x="1828800" y="3501008"/>
            <a:ext cx="6400800" cy="642938"/>
          </a:xfrm>
          <a:prstGeom prst="rect">
            <a:avLst/>
          </a:prstGeom>
          <a:noFill/>
        </p:spPr>
        <p:txBody>
          <a:bodyPr vert="horz" rtlCol="0" anchor="ctr" anchorCtr="0">
            <a:noAutofit/>
          </a:bodyPr>
          <a:lstStyle/>
          <a:p>
            <a:r>
              <a:rPr lang="en-US" altLang="zh-CN" sz="2600" dirty="0" smtClean="0">
                <a:solidFill>
                  <a:srgbClr val="000000"/>
                </a:solidFill>
                <a:latin typeface="Microsoft Yahei"/>
                <a:ea typeface="Microsoft Yahei"/>
                <a:sym typeface="Microsoft Yahei"/>
              </a:rPr>
              <a:t>1</a:t>
            </a:r>
            <a:endParaRPr lang="zh-CN" altLang="en-US" sz="2600" dirty="0">
              <a:solidFill>
                <a:srgbClr val="000000"/>
              </a:solidFill>
              <a:latin typeface="Microsoft Yahei"/>
              <a:ea typeface="Microsoft Yahei"/>
              <a:sym typeface="Microsoft Yahei"/>
            </a:endParaRPr>
          </a:p>
        </p:txBody>
      </p:sp>
      <p:sp>
        <p:nvSpPr>
          <p:cNvPr id="6" name="TextBox 5"/>
          <p:cNvSpPr txBox="1"/>
          <p:nvPr>
            <p:custDataLst>
              <p:tags r:id="rId4"/>
            </p:custDataLst>
          </p:nvPr>
        </p:nvSpPr>
        <p:spPr>
          <a:xfrm>
            <a:off x="1828800" y="4358258"/>
            <a:ext cx="6400800" cy="642938"/>
          </a:xfrm>
          <a:prstGeom prst="rect">
            <a:avLst/>
          </a:prstGeom>
          <a:noFill/>
        </p:spPr>
        <p:txBody>
          <a:bodyPr vert="horz" rtlCol="0" anchor="ctr" anchorCtr="0">
            <a:noAutofit/>
          </a:bodyPr>
          <a:lstStyle/>
          <a:p>
            <a:r>
              <a:rPr lang="en-US" altLang="zh-CN" sz="2600" dirty="0" smtClean="0">
                <a:solidFill>
                  <a:srgbClr val="000000"/>
                </a:solidFill>
                <a:latin typeface="Microsoft Yahei"/>
                <a:ea typeface="Microsoft Yahei"/>
                <a:sym typeface="Microsoft Yahei"/>
              </a:rPr>
              <a:t>2</a:t>
            </a:r>
            <a:endParaRPr lang="zh-CN" altLang="en-US" sz="2600" dirty="0">
              <a:solidFill>
                <a:srgbClr val="000000"/>
              </a:solidFill>
              <a:latin typeface="Microsoft Yahei"/>
              <a:ea typeface="Microsoft Yahei"/>
              <a:sym typeface="Microsoft Yahei"/>
            </a:endParaRPr>
          </a:p>
        </p:txBody>
      </p:sp>
      <p:sp>
        <p:nvSpPr>
          <p:cNvPr id="7" name="TextBox 6"/>
          <p:cNvSpPr txBox="1"/>
          <p:nvPr>
            <p:custDataLst>
              <p:tags r:id="rId5"/>
            </p:custDataLst>
          </p:nvPr>
        </p:nvSpPr>
        <p:spPr>
          <a:xfrm>
            <a:off x="1828800" y="5215508"/>
            <a:ext cx="6400800" cy="642938"/>
          </a:xfrm>
          <a:prstGeom prst="rect">
            <a:avLst/>
          </a:prstGeom>
          <a:noFill/>
        </p:spPr>
        <p:txBody>
          <a:bodyPr vert="horz" rtlCol="0" anchor="ctr" anchorCtr="0">
            <a:noAutofit/>
          </a:bodyPr>
          <a:lstStyle/>
          <a:p>
            <a:r>
              <a:rPr lang="en-US" altLang="zh-CN" sz="2600" dirty="0" smtClean="0">
                <a:solidFill>
                  <a:srgbClr val="000000"/>
                </a:solidFill>
                <a:latin typeface="Microsoft Yahei"/>
                <a:ea typeface="Microsoft Yahei"/>
                <a:sym typeface="Microsoft Yahei"/>
              </a:rPr>
              <a:t>3</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6"/>
            </p:custDataLst>
          </p:nvPr>
        </p:nvSpPr>
        <p:spPr>
          <a:xfrm>
            <a:off x="1828800" y="6072758"/>
            <a:ext cx="6400800" cy="642938"/>
          </a:xfrm>
          <a:prstGeom prst="rect">
            <a:avLst/>
          </a:prstGeom>
          <a:noFill/>
        </p:spPr>
        <p:txBody>
          <a:bodyPr vert="horz" rtlCol="0" anchor="ctr" anchorCtr="0">
            <a:noAutofit/>
          </a:bodyPr>
          <a:lstStyle/>
          <a:p>
            <a:r>
              <a:rPr lang="en-US" altLang="zh-CN" sz="2600" dirty="0" smtClean="0">
                <a:solidFill>
                  <a:srgbClr val="000000"/>
                </a:solidFill>
                <a:latin typeface="Microsoft Yahei"/>
                <a:ea typeface="Microsoft Yahei"/>
                <a:sym typeface="Microsoft Yahei"/>
              </a:rPr>
              <a:t>Not sure</a:t>
            </a:r>
            <a:endParaRPr lang="zh-CN" altLang="en-US" sz="2600" dirty="0">
              <a:solidFill>
                <a:srgbClr val="000000"/>
              </a:solidFill>
              <a:latin typeface="Microsoft Yahei"/>
              <a:ea typeface="Microsoft Yahei"/>
              <a:sym typeface="Microsoft Yahei"/>
            </a:endParaRPr>
          </a:p>
        </p:txBody>
      </p:sp>
      <p:sp>
        <p:nvSpPr>
          <p:cNvPr id="9" name="椭圆 8"/>
          <p:cNvSpPr>
            <a:spLocks noChangeAspect="1"/>
          </p:cNvSpPr>
          <p:nvPr>
            <p:custDataLst>
              <p:tags r:id="rId7"/>
            </p:custDataLst>
          </p:nvPr>
        </p:nvSpPr>
        <p:spPr bwMode="auto">
          <a:xfrm>
            <a:off x="1114425" y="3565301"/>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1"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0" name="椭圆 9"/>
          <p:cNvSpPr>
            <a:spLocks noChangeAspect="1"/>
          </p:cNvSpPr>
          <p:nvPr>
            <p:custDataLst>
              <p:tags r:id="rId8"/>
            </p:custDataLst>
          </p:nvPr>
        </p:nvSpPr>
        <p:spPr bwMode="auto">
          <a:xfrm>
            <a:off x="1114425" y="4422551"/>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1"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1" name="椭圆 10"/>
          <p:cNvSpPr>
            <a:spLocks noChangeAspect="1"/>
          </p:cNvSpPr>
          <p:nvPr>
            <p:custDataLst>
              <p:tags r:id="rId9"/>
            </p:custDataLst>
          </p:nvPr>
        </p:nvSpPr>
        <p:spPr bwMode="auto">
          <a:xfrm>
            <a:off x="1114425" y="5279801"/>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smtClean="0">
                <a:ln>
                  <a:noFill/>
                </a:ln>
                <a:solidFill>
                  <a:srgbClr val="FFFFFF"/>
                </a:solidFill>
                <a:effectLst/>
                <a:latin typeface="Microsoft Yahei"/>
                <a:ea typeface="Microsoft Yahei"/>
                <a:sym typeface="Microsoft Yahei"/>
              </a:rPr>
              <a:t>C</a:t>
            </a:r>
            <a:endParaRPr kumimoji="1"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椭圆 11"/>
          <p:cNvSpPr>
            <a:spLocks noChangeAspect="1"/>
          </p:cNvSpPr>
          <p:nvPr>
            <p:custDataLst>
              <p:tags r:id="rId10"/>
            </p:custDataLst>
          </p:nvPr>
        </p:nvSpPr>
        <p:spPr bwMode="auto">
          <a:xfrm>
            <a:off x="1114425" y="6137051"/>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algn="l" defTabSz="914400" rtl="0" eaLnBrk="0" fontAlgn="base" latinLnBrk="0" hangingPunct="0">
              <a:lnSpc>
                <a:spcPct val="100000"/>
              </a:lnSpc>
              <a:spcBef>
                <a:spcPct val="20000"/>
              </a:spcBef>
              <a:spcAft>
                <a:spcPct val="0"/>
              </a:spcAft>
              <a:buClrTx/>
              <a:buSzTx/>
              <a:buFontTx/>
              <a:buNone/>
            </a:pPr>
            <a:r>
              <a:rPr kumimoji="1" lang="en-US" altLang="zh-CN" sz="1600" b="0" i="0" u="none" strike="noStrike" cap="none" normalizeH="0" baseline="0" smtClean="0">
                <a:ln>
                  <a:noFill/>
                </a:ln>
                <a:solidFill>
                  <a:srgbClr val="FFFFFF"/>
                </a:solidFill>
                <a:effectLst/>
                <a:latin typeface="Microsoft Yahei"/>
                <a:ea typeface="Microsoft Yahei"/>
                <a:sym typeface="Microsoft Yahei"/>
              </a:rPr>
              <a:t>D</a:t>
            </a:r>
            <a:endParaRPr kumimoji="1"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3" name="圆角矩形 12"/>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342900" marR="0" indent="-342900" algn="l" defTabSz="914400" rtl="0" eaLnBrk="0" fontAlgn="base" latinLnBrk="0" hangingPunct="0">
              <a:lnSpc>
                <a:spcPct val="100000"/>
              </a:lnSpc>
              <a:spcBef>
                <a:spcPct val="20000"/>
              </a:spcBef>
              <a:spcAft>
                <a:spcPct val="0"/>
              </a:spcAft>
              <a:buClrTx/>
              <a:buSzTx/>
              <a:buFontTx/>
              <a:buNone/>
            </a:pPr>
            <a:r>
              <a:rPr kumimoji="1"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endParaRPr>
            </a:p>
          </p:txBody>
        </p:sp>
        <p:sp>
          <p:nvSpPr>
            <p:cNvPr id="15" name="ColorBlock"/>
            <p:cNvSpPr/>
            <p:nvPr>
              <p:custDataLst>
                <p:tags r:id="rId1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endParaRPr>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单选题</a:t>
              </a:r>
              <a:endParaRPr lang="zh-CN" altLang="en-US" sz="2600">
                <a:solidFill>
                  <a:srgbClr val="000000"/>
                </a:solidFill>
                <a:latin typeface="Microsoft Yahei"/>
                <a:ea typeface="Microsoft Yahei"/>
                <a:sym typeface="Microsoft Yahei"/>
              </a:endParaRPr>
            </a:p>
          </p:txBody>
        </p:sp>
        <p:sp>
          <p:nvSpPr>
            <p:cNvPr id="17"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1</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3" name="图片 2"/>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9638600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7544" y="908720"/>
            <a:ext cx="7776864" cy="1200329"/>
          </a:xfrm>
          <a:prstGeom prst="rect">
            <a:avLst/>
          </a:prstGeom>
        </p:spPr>
        <p:txBody>
          <a:bodyPr wrap="square">
            <a:spAutoFit/>
          </a:bodyPr>
          <a:lstStyle/>
          <a:p>
            <a:r>
              <a:rPr lang="zh-CN" altLang="en-US" dirty="0"/>
              <a:t>如果将</a:t>
            </a:r>
            <a:r>
              <a:rPr lang="en-US" altLang="zh-CN" dirty="0"/>
              <a:t>ABCD</a:t>
            </a:r>
            <a:r>
              <a:rPr lang="zh-CN" altLang="en-US" dirty="0"/>
              <a:t>四个字符按顺序压入堆栈，</a:t>
            </a:r>
          </a:p>
          <a:p>
            <a:r>
              <a:rPr lang="zh-CN" altLang="en-US" dirty="0"/>
              <a:t>是不是</a:t>
            </a:r>
            <a:r>
              <a:rPr lang="en-US" altLang="zh-CN" dirty="0"/>
              <a:t>ABCD</a:t>
            </a:r>
            <a:r>
              <a:rPr lang="zh-CN" altLang="en-US" dirty="0"/>
              <a:t>的所有排列都可能是出栈的序列？</a:t>
            </a:r>
          </a:p>
          <a:p>
            <a:r>
              <a:rPr lang="zh-CN" altLang="en-US" dirty="0"/>
              <a:t>可以产生</a:t>
            </a:r>
            <a:r>
              <a:rPr lang="en-US" altLang="zh-CN" dirty="0"/>
              <a:t>CABD</a:t>
            </a:r>
            <a:r>
              <a:rPr lang="zh-CN" altLang="en-US" dirty="0"/>
              <a:t>这样的序列吗？</a:t>
            </a:r>
          </a:p>
        </p:txBody>
      </p:sp>
      <p:sp>
        <p:nvSpPr>
          <p:cNvPr id="3" name="矩形 2"/>
          <p:cNvSpPr/>
          <p:nvPr/>
        </p:nvSpPr>
        <p:spPr>
          <a:xfrm>
            <a:off x="357188" y="2000250"/>
            <a:ext cx="8143875" cy="2862263"/>
          </a:xfrm>
          <a:prstGeom prst="rect">
            <a:avLst/>
          </a:prstGeom>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分析</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2000" b="1" i="0" u="none" strike="noStrike" kern="0" cap="none" spc="0" normalizeH="0" baseline="0" noProof="0" dirty="0">
              <a:ln>
                <a:noFill/>
              </a:ln>
              <a:solidFill>
                <a:sysClr val="windowText" lastClr="000000"/>
              </a:solidFill>
              <a:effectLst/>
              <a:uLnTx/>
              <a:uFillTx/>
              <a:latin typeface="Times New Roman"/>
              <a:ea typeface="宋体"/>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1  </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只有一个字符出入栈时，显然只有一种可能，即</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A</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入栈也只有</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A</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出栈。</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2000" b="1" i="0" u="none" strike="noStrike" kern="0" cap="none" spc="0" normalizeH="0" baseline="0" noProof="0" dirty="0">
              <a:ln>
                <a:noFill/>
              </a:ln>
              <a:solidFill>
                <a:sysClr val="windowText" lastClr="000000"/>
              </a:solidFill>
              <a:effectLst/>
              <a:uLnTx/>
              <a:uFillTx/>
              <a:latin typeface="Times New Roman"/>
              <a:ea typeface="宋体"/>
            </a:endParaRPr>
          </a:p>
          <a:p>
            <a:pPr marL="342900" marR="0" lvl="0" indent="-342900" defTabSz="914400" eaLnBrk="1" fontAlgn="auto" latinLnBrk="0" hangingPunct="1">
              <a:lnSpc>
                <a:spcPct val="100000"/>
              </a:lnSpc>
              <a:spcBef>
                <a:spcPts val="0"/>
              </a:spcBef>
              <a:spcAft>
                <a:spcPts val="0"/>
              </a:spcAft>
              <a:buClrTx/>
              <a:buSzTx/>
              <a:buFontTx/>
              <a:buAutoNum type="arabicPlain" startAt="2"/>
              <a:tabLst/>
              <a:defRPr/>
            </a:pP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有两个字符</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AB</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出入栈时，如果进栈顺序为</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AB</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，那么出栈的系列</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AB</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BA</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都有可能</a:t>
            </a:r>
            <a:r>
              <a:rPr kumimoji="0" lang="zh-CN" altLang="en-US" sz="2000" b="1" i="0" u="none" strike="noStrike" kern="0" cap="none" spc="0" normalizeH="0" baseline="0" noProof="0" dirty="0">
                <a:ln>
                  <a:noFill/>
                </a:ln>
                <a:solidFill>
                  <a:sysClr val="windowText" lastClr="000000"/>
                </a:solidFill>
                <a:effectLst/>
                <a:uLnTx/>
                <a:uFillTx/>
                <a:latin typeface="Times New Roman"/>
                <a:ea typeface="宋体"/>
              </a:rPr>
              <a:t>：</a:t>
            </a:r>
            <a:endParaRPr kumimoji="0" lang="en-US" altLang="zh-CN" sz="2000" b="1" i="0" u="none" strike="noStrike" kern="0" cap="none" spc="0" normalizeH="0" baseline="0" noProof="0" dirty="0">
              <a:ln>
                <a:noFill/>
              </a:ln>
              <a:solidFill>
                <a:sysClr val="windowText" lastClr="000000"/>
              </a:solidFill>
              <a:effectLst/>
              <a:uLnTx/>
              <a:uFillTx/>
              <a:latin typeface="Times New Roman"/>
              <a:ea typeface="宋体"/>
            </a:endParaRPr>
          </a:p>
          <a:p>
            <a:pPr marL="342900" marR="0" lvl="0" indent="-34290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sym typeface="Wingdings" pitchFamily="2" charset="2"/>
              </a:rPr>
              <a:t>  </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即可以</a:t>
            </a:r>
            <a:r>
              <a:rPr kumimoji="0" lang="en-US" altLang="zh-CN" sz="2000" b="1" i="0" u="none" strike="noStrike" kern="0" cap="none" spc="0" normalizeH="0" baseline="0" noProof="0" dirty="0">
                <a:ln>
                  <a:noFill/>
                </a:ln>
                <a:solidFill>
                  <a:srgbClr val="0070C0"/>
                </a:solidFill>
                <a:effectLst/>
                <a:uLnTx/>
                <a:uFillTx/>
                <a:latin typeface="Times New Roman"/>
                <a:ea typeface="宋体"/>
              </a:rPr>
              <a:t>A</a:t>
            </a:r>
            <a:r>
              <a:rPr kumimoji="0" lang="zh-CN" altLang="zh-CN" sz="2000" b="1" i="0" u="none" strike="noStrike" kern="0" cap="none" spc="0" normalizeH="0" baseline="0" noProof="0" dirty="0">
                <a:ln>
                  <a:noFill/>
                </a:ln>
                <a:solidFill>
                  <a:srgbClr val="0070C0"/>
                </a:solidFill>
                <a:effectLst/>
                <a:uLnTx/>
                <a:uFillTx/>
                <a:latin typeface="Times New Roman"/>
                <a:ea typeface="宋体"/>
              </a:rPr>
              <a:t>进栈、</a:t>
            </a:r>
            <a:r>
              <a:rPr kumimoji="0" lang="en-US" altLang="zh-CN" sz="2000" b="1" i="0" u="none" strike="noStrike" kern="0" cap="none" spc="0" normalizeH="0" baseline="0" noProof="0" dirty="0">
                <a:ln>
                  <a:noFill/>
                </a:ln>
                <a:solidFill>
                  <a:srgbClr val="0070C0"/>
                </a:solidFill>
                <a:effectLst/>
                <a:uLnTx/>
                <a:uFillTx/>
                <a:latin typeface="Times New Roman"/>
                <a:ea typeface="宋体"/>
              </a:rPr>
              <a:t>A</a:t>
            </a:r>
            <a:r>
              <a:rPr kumimoji="0" lang="zh-CN" altLang="zh-CN" sz="2000" b="1" i="0" u="none" strike="noStrike" kern="0" cap="none" spc="0" normalizeH="0" baseline="0" noProof="0" dirty="0">
                <a:ln>
                  <a:noFill/>
                </a:ln>
                <a:solidFill>
                  <a:srgbClr val="0070C0"/>
                </a:solidFill>
                <a:effectLst/>
                <a:uLnTx/>
                <a:uFillTx/>
                <a:latin typeface="Times New Roman"/>
                <a:ea typeface="宋体"/>
              </a:rPr>
              <a:t>出栈、</a:t>
            </a:r>
            <a:r>
              <a:rPr kumimoji="0" lang="en-US" altLang="zh-CN" sz="2000" b="1" i="0" u="none" strike="noStrike" kern="0" cap="none" spc="0" normalizeH="0" baseline="0" noProof="0" dirty="0">
                <a:ln>
                  <a:noFill/>
                </a:ln>
                <a:solidFill>
                  <a:srgbClr val="0070C0"/>
                </a:solidFill>
                <a:effectLst/>
                <a:uLnTx/>
                <a:uFillTx/>
                <a:latin typeface="Times New Roman"/>
                <a:ea typeface="宋体"/>
              </a:rPr>
              <a:t>B</a:t>
            </a:r>
            <a:r>
              <a:rPr kumimoji="0" lang="zh-CN" altLang="zh-CN" sz="2000" b="1" i="0" u="none" strike="noStrike" kern="0" cap="none" spc="0" normalizeH="0" baseline="0" noProof="0" dirty="0">
                <a:ln>
                  <a:noFill/>
                </a:ln>
                <a:solidFill>
                  <a:srgbClr val="0070C0"/>
                </a:solidFill>
                <a:effectLst/>
                <a:uLnTx/>
                <a:uFillTx/>
                <a:latin typeface="Times New Roman"/>
                <a:ea typeface="宋体"/>
              </a:rPr>
              <a:t>进栈、</a:t>
            </a:r>
            <a:r>
              <a:rPr kumimoji="0" lang="en-US" altLang="zh-CN" sz="2000" b="1" i="0" u="none" strike="noStrike" kern="0" cap="none" spc="0" normalizeH="0" baseline="0" noProof="0" dirty="0">
                <a:ln>
                  <a:noFill/>
                </a:ln>
                <a:solidFill>
                  <a:srgbClr val="0070C0"/>
                </a:solidFill>
                <a:effectLst/>
                <a:uLnTx/>
                <a:uFillTx/>
                <a:latin typeface="Times New Roman"/>
                <a:ea typeface="宋体"/>
              </a:rPr>
              <a:t>B</a:t>
            </a:r>
            <a:r>
              <a:rPr kumimoji="0" lang="zh-CN" altLang="zh-CN" sz="2000" b="1" i="0" u="none" strike="noStrike" kern="0" cap="none" spc="0" normalizeH="0" baseline="0" noProof="0" dirty="0">
                <a:ln>
                  <a:noFill/>
                </a:ln>
                <a:solidFill>
                  <a:srgbClr val="0070C0"/>
                </a:solidFill>
                <a:effectLst/>
                <a:uLnTx/>
                <a:uFillTx/>
                <a:latin typeface="Times New Roman"/>
                <a:ea typeface="宋体"/>
              </a:rPr>
              <a:t>出栈，产生输出序列</a:t>
            </a:r>
            <a:r>
              <a:rPr kumimoji="0" lang="en-US" altLang="zh-CN" sz="2000" b="1" i="0" u="none" strike="noStrike" kern="0" cap="none" spc="0" normalizeH="0" baseline="0" noProof="0" dirty="0">
                <a:ln>
                  <a:noFill/>
                </a:ln>
                <a:solidFill>
                  <a:srgbClr val="0070C0"/>
                </a:solidFill>
                <a:effectLst/>
                <a:uLnTx/>
                <a:uFillTx/>
                <a:latin typeface="Times New Roman"/>
                <a:ea typeface="宋体"/>
              </a:rPr>
              <a:t>AB</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a:t>
            </a:r>
            <a:endParaRPr kumimoji="0" lang="en-US" altLang="zh-CN" sz="2000" b="1" i="0" u="none" strike="noStrike" kern="0" cap="none" spc="0" normalizeH="0" baseline="0" noProof="0" dirty="0">
              <a:ln>
                <a:noFill/>
              </a:ln>
              <a:solidFill>
                <a:sysClr val="windowText" lastClr="000000"/>
              </a:solidFill>
              <a:effectLst/>
              <a:uLnTx/>
              <a:uFillTx/>
              <a:latin typeface="Times New Roman"/>
              <a:ea typeface="宋体"/>
            </a:endParaRPr>
          </a:p>
          <a:p>
            <a:pPr marL="342900" marR="0" lvl="0" indent="-342900" defTabSz="914400" eaLnBrk="1" fontAlgn="auto" latinLnBrk="0" hangingPunct="1">
              <a:lnSpc>
                <a:spcPct val="100000"/>
              </a:lnSpc>
              <a:spcBef>
                <a:spcPts val="0"/>
              </a:spcBef>
              <a:spcAft>
                <a:spcPts val="0"/>
              </a:spcAft>
              <a:buClrTx/>
              <a:buSzTx/>
              <a:buFont typeface="Wingdings" pitchFamily="2" charset="2"/>
              <a:buChar char="Ø"/>
              <a:tabLst/>
              <a:defRPr/>
            </a:pP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也可以</a:t>
            </a:r>
            <a:r>
              <a:rPr kumimoji="0" lang="en-US" altLang="zh-CN" sz="2000" b="1" i="0" u="none" strike="noStrike" kern="0" cap="none" spc="0" normalizeH="0" baseline="0" noProof="0" dirty="0">
                <a:ln>
                  <a:noFill/>
                </a:ln>
                <a:solidFill>
                  <a:srgbClr val="0070C0"/>
                </a:solidFill>
                <a:effectLst/>
                <a:uLnTx/>
                <a:uFillTx/>
                <a:latin typeface="Times New Roman"/>
                <a:ea typeface="宋体"/>
              </a:rPr>
              <a:t>A</a:t>
            </a:r>
            <a:r>
              <a:rPr kumimoji="0" lang="zh-CN" altLang="zh-CN" sz="2000" b="1" i="0" u="none" strike="noStrike" kern="0" cap="none" spc="0" normalizeH="0" baseline="0" noProof="0" dirty="0">
                <a:ln>
                  <a:noFill/>
                </a:ln>
                <a:solidFill>
                  <a:srgbClr val="0070C0"/>
                </a:solidFill>
                <a:effectLst/>
                <a:uLnTx/>
                <a:uFillTx/>
                <a:latin typeface="Times New Roman"/>
                <a:ea typeface="宋体"/>
              </a:rPr>
              <a:t>进栈、</a:t>
            </a:r>
            <a:r>
              <a:rPr kumimoji="0" lang="en-US" altLang="zh-CN" sz="2000" b="1" i="0" u="none" strike="noStrike" kern="0" cap="none" spc="0" normalizeH="0" baseline="0" noProof="0" dirty="0">
                <a:ln>
                  <a:noFill/>
                </a:ln>
                <a:solidFill>
                  <a:srgbClr val="0070C0"/>
                </a:solidFill>
                <a:effectLst/>
                <a:uLnTx/>
                <a:uFillTx/>
                <a:latin typeface="Times New Roman"/>
                <a:ea typeface="宋体"/>
              </a:rPr>
              <a:t>B</a:t>
            </a:r>
            <a:r>
              <a:rPr kumimoji="0" lang="zh-CN" altLang="zh-CN" sz="2000" b="1" i="0" u="none" strike="noStrike" kern="0" cap="none" spc="0" normalizeH="0" baseline="0" noProof="0" dirty="0">
                <a:ln>
                  <a:noFill/>
                </a:ln>
                <a:solidFill>
                  <a:srgbClr val="0070C0"/>
                </a:solidFill>
                <a:effectLst/>
                <a:uLnTx/>
                <a:uFillTx/>
                <a:latin typeface="Times New Roman"/>
                <a:ea typeface="宋体"/>
              </a:rPr>
              <a:t>进栈、</a:t>
            </a:r>
            <a:r>
              <a:rPr kumimoji="0" lang="en-US" altLang="zh-CN" sz="2000" b="1" i="0" u="none" strike="noStrike" kern="0" cap="none" spc="0" normalizeH="0" baseline="0" noProof="0" dirty="0">
                <a:ln>
                  <a:noFill/>
                </a:ln>
                <a:solidFill>
                  <a:srgbClr val="0070C0"/>
                </a:solidFill>
                <a:effectLst/>
                <a:uLnTx/>
                <a:uFillTx/>
                <a:latin typeface="Times New Roman"/>
                <a:ea typeface="宋体"/>
              </a:rPr>
              <a:t>B</a:t>
            </a:r>
            <a:r>
              <a:rPr kumimoji="0" lang="zh-CN" altLang="zh-CN" sz="2000" b="1" i="0" u="none" strike="noStrike" kern="0" cap="none" spc="0" normalizeH="0" baseline="0" noProof="0" dirty="0">
                <a:ln>
                  <a:noFill/>
                </a:ln>
                <a:solidFill>
                  <a:srgbClr val="0070C0"/>
                </a:solidFill>
                <a:effectLst/>
                <a:uLnTx/>
                <a:uFillTx/>
                <a:latin typeface="Times New Roman"/>
                <a:ea typeface="宋体"/>
              </a:rPr>
              <a:t>出栈、</a:t>
            </a:r>
            <a:r>
              <a:rPr kumimoji="0" lang="en-US" altLang="zh-CN" sz="2000" b="1" i="0" u="none" strike="noStrike" kern="0" cap="none" spc="0" normalizeH="0" baseline="0" noProof="0" dirty="0">
                <a:ln>
                  <a:noFill/>
                </a:ln>
                <a:solidFill>
                  <a:srgbClr val="0070C0"/>
                </a:solidFill>
                <a:effectLst/>
                <a:uLnTx/>
                <a:uFillTx/>
                <a:latin typeface="Times New Roman"/>
                <a:ea typeface="宋体"/>
              </a:rPr>
              <a:t>A</a:t>
            </a:r>
            <a:r>
              <a:rPr kumimoji="0" lang="zh-CN" altLang="zh-CN" sz="2000" b="1" i="0" u="none" strike="noStrike" kern="0" cap="none" spc="0" normalizeH="0" baseline="0" noProof="0" dirty="0">
                <a:ln>
                  <a:noFill/>
                </a:ln>
                <a:solidFill>
                  <a:srgbClr val="0070C0"/>
                </a:solidFill>
                <a:effectLst/>
                <a:uLnTx/>
                <a:uFillTx/>
                <a:latin typeface="Times New Roman"/>
                <a:ea typeface="宋体"/>
              </a:rPr>
              <a:t>出栈，产生输出序列</a:t>
            </a:r>
            <a:r>
              <a:rPr kumimoji="0" lang="en-US" altLang="zh-CN" sz="2000" b="1" i="0" u="none" strike="noStrike" kern="0" cap="none" spc="0" normalizeH="0" baseline="0" noProof="0" dirty="0">
                <a:ln>
                  <a:noFill/>
                </a:ln>
                <a:solidFill>
                  <a:srgbClr val="0070C0"/>
                </a:solidFill>
                <a:effectLst/>
                <a:uLnTx/>
                <a:uFillTx/>
                <a:latin typeface="Times New Roman"/>
                <a:ea typeface="宋体"/>
              </a:rPr>
              <a:t>BA</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a:t>
            </a:r>
            <a:endParaRPr kumimoji="0" lang="en-US" altLang="zh-CN" sz="2000" b="1" i="0" u="none" strike="noStrike" kern="0" cap="none" spc="0" normalizeH="0" baseline="0" noProof="0" dirty="0">
              <a:ln>
                <a:noFill/>
              </a:ln>
              <a:solidFill>
                <a:sysClr val="windowText" lastClr="000000"/>
              </a:solidFill>
              <a:effectLst/>
              <a:uLnTx/>
              <a:uFillTx/>
              <a:latin typeface="Times New Roman"/>
              <a:ea typeface="宋体"/>
            </a:endParaRPr>
          </a:p>
          <a:p>
            <a:pPr marL="342900" marR="0" lvl="0" indent="-34290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     </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这两个可能的序列也是正好是两个字符的全排列。</a:t>
            </a:r>
          </a:p>
        </p:txBody>
      </p:sp>
      <p:sp>
        <p:nvSpPr>
          <p:cNvPr id="4" name="矩形 3"/>
          <p:cNvSpPr/>
          <p:nvPr/>
        </p:nvSpPr>
        <p:spPr>
          <a:xfrm>
            <a:off x="714375" y="2000250"/>
            <a:ext cx="7358063" cy="3478213"/>
          </a:xfrm>
          <a:prstGeom prst="rect">
            <a:avLst/>
          </a:prstGeom>
        </p:spPr>
        <p:txBody>
          <a:bodyPr>
            <a:spAutoFit/>
          </a:bodyPr>
          <a:lstStyle/>
          <a:p>
            <a:pPr marL="342900" marR="0" lvl="0" indent="-342900" defTabSz="914400" eaLnBrk="1" fontAlgn="auto" latinLnBrk="0" hangingPunct="1">
              <a:lnSpc>
                <a:spcPct val="100000"/>
              </a:lnSpc>
              <a:spcBef>
                <a:spcPts val="0"/>
              </a:spcBef>
              <a:spcAft>
                <a:spcPts val="0"/>
              </a:spcAft>
              <a:buClrTx/>
              <a:buSzTx/>
              <a:buFontTx/>
              <a:buAutoNum type="arabicPlain" startAt="3"/>
              <a:tabLst/>
              <a:defRPr/>
            </a:pP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如果有三个字符</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ABC</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出入栈时，全排列有</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3</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 6 </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种可能</a:t>
            </a:r>
            <a:r>
              <a:rPr kumimoji="0" lang="zh-CN" altLang="en-US" sz="2000" b="1" i="0" u="none" strike="noStrike" kern="0" cap="none" spc="0" normalizeH="0" baseline="0" noProof="0" dirty="0">
                <a:ln>
                  <a:noFill/>
                </a:ln>
                <a:solidFill>
                  <a:sysClr val="windowText" lastClr="000000"/>
                </a:solidFill>
                <a:effectLst/>
                <a:uLnTx/>
                <a:uFillTx/>
                <a:latin typeface="Times New Roman"/>
                <a:ea typeface="宋体"/>
              </a:rPr>
              <a:t>。</a:t>
            </a:r>
            <a:endParaRPr kumimoji="0" lang="en-US" altLang="zh-CN" sz="2000" b="1" i="0" u="none" strike="noStrike" kern="0" cap="none" spc="0" normalizeH="0" baseline="0" noProof="0" dirty="0">
              <a:ln>
                <a:noFill/>
              </a:ln>
              <a:solidFill>
                <a:sysClr val="windowText" lastClr="000000"/>
              </a:solidFill>
              <a:effectLst/>
              <a:uLnTx/>
              <a:uFillTx/>
              <a:latin typeface="Times New Roman"/>
              <a:ea typeface="宋体"/>
            </a:endParaRPr>
          </a:p>
          <a:p>
            <a:pPr marL="342900" marR="0" lvl="0" indent="-34290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sym typeface="Wingdings" pitchFamily="2" charset="2"/>
              </a:rPr>
              <a:t> </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其中的</a:t>
            </a:r>
            <a:r>
              <a:rPr kumimoji="0" lang="en-US" altLang="zh-CN" sz="2000" b="1" i="0" u="none" strike="noStrike" kern="0" cap="none" spc="0" normalizeH="0" baseline="0" noProof="0" dirty="0">
                <a:ln>
                  <a:noFill/>
                </a:ln>
                <a:solidFill>
                  <a:srgbClr val="0070C0"/>
                </a:solidFill>
                <a:effectLst/>
                <a:uLnTx/>
                <a:uFillTx/>
                <a:latin typeface="Times New Roman"/>
                <a:ea typeface="宋体"/>
              </a:rPr>
              <a:t>CAB</a:t>
            </a:r>
            <a:r>
              <a:rPr kumimoji="0" lang="zh-CN" altLang="zh-CN" sz="2000" b="1" i="0" u="none" strike="noStrike" kern="0" cap="none" spc="0" normalizeH="0" baseline="0" noProof="0" dirty="0">
                <a:ln>
                  <a:noFill/>
                </a:ln>
                <a:solidFill>
                  <a:srgbClr val="0070C0"/>
                </a:solidFill>
                <a:effectLst/>
                <a:uLnTx/>
                <a:uFillTx/>
                <a:latin typeface="Times New Roman"/>
                <a:ea typeface="宋体"/>
              </a:rPr>
              <a:t>是没法生成</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的。</a:t>
            </a:r>
            <a:endParaRPr kumimoji="0" lang="en-US" altLang="zh-CN" sz="2000" b="1" i="0" u="none" strike="noStrike" kern="0" cap="none" spc="0" normalizeH="0" baseline="0" noProof="0" dirty="0">
              <a:ln>
                <a:noFill/>
              </a:ln>
              <a:solidFill>
                <a:sysClr val="windowText" lastClr="000000"/>
              </a:solidFill>
              <a:effectLst/>
              <a:uLnTx/>
              <a:uFillTx/>
              <a:latin typeface="Times New Roman"/>
              <a:ea typeface="宋体"/>
            </a:endParaRPr>
          </a:p>
          <a:p>
            <a:pPr marL="342900" marR="0" lvl="0" indent="-34290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sym typeface="Wingdings" pitchFamily="2" charset="2"/>
              </a:rPr>
              <a:t> </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因为先输出</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C</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，需要</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C</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进栈再出栈，而要求按照</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ABC</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这样的顺序进栈，所以</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C</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出栈时</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AB</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必然还在栈里，而且</a:t>
            </a:r>
            <a:r>
              <a:rPr kumimoji="0" lang="en-US" altLang="zh-CN" sz="2000" b="1" i="0" u="none" strike="noStrike" kern="0" cap="none" spc="0" normalizeH="0" baseline="0" noProof="0" dirty="0">
                <a:ln>
                  <a:noFill/>
                </a:ln>
                <a:solidFill>
                  <a:srgbClr val="0070C0"/>
                </a:solidFill>
                <a:effectLst/>
                <a:uLnTx/>
                <a:uFillTx/>
                <a:latin typeface="Times New Roman"/>
                <a:ea typeface="宋体"/>
              </a:rPr>
              <a:t>A</a:t>
            </a:r>
            <a:r>
              <a:rPr kumimoji="0" lang="zh-CN" altLang="zh-CN" sz="2000" b="1" i="0" u="none" strike="noStrike" kern="0" cap="none" spc="0" normalizeH="0" baseline="0" noProof="0" dirty="0">
                <a:ln>
                  <a:noFill/>
                </a:ln>
                <a:solidFill>
                  <a:srgbClr val="0070C0"/>
                </a:solidFill>
                <a:effectLst/>
                <a:uLnTx/>
                <a:uFillTx/>
                <a:latin typeface="Times New Roman"/>
                <a:ea typeface="宋体"/>
              </a:rPr>
              <a:t>还压在</a:t>
            </a:r>
            <a:r>
              <a:rPr kumimoji="0" lang="en-US" altLang="zh-CN" sz="2000" b="1" i="0" u="none" strike="noStrike" kern="0" cap="none" spc="0" normalizeH="0" baseline="0" noProof="0" dirty="0">
                <a:ln>
                  <a:noFill/>
                </a:ln>
                <a:solidFill>
                  <a:srgbClr val="0070C0"/>
                </a:solidFill>
                <a:effectLst/>
                <a:uLnTx/>
                <a:uFillTx/>
                <a:latin typeface="Times New Roman"/>
                <a:ea typeface="宋体"/>
              </a:rPr>
              <a:t>B</a:t>
            </a:r>
            <a:r>
              <a:rPr kumimoji="0" lang="zh-CN" altLang="zh-CN" sz="2000" b="1" i="0" u="none" strike="noStrike" kern="0" cap="none" spc="0" normalizeH="0" baseline="0" noProof="0" dirty="0">
                <a:ln>
                  <a:noFill/>
                </a:ln>
                <a:solidFill>
                  <a:srgbClr val="0070C0"/>
                </a:solidFill>
                <a:effectLst/>
                <a:uLnTx/>
                <a:uFillTx/>
                <a:latin typeface="Times New Roman"/>
                <a:ea typeface="宋体"/>
              </a:rPr>
              <a:t>下面</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a:t>
            </a:r>
            <a:endParaRPr kumimoji="0" lang="en-US" altLang="zh-CN" sz="2000" b="1" i="0" u="none" strike="noStrike" kern="0" cap="none" spc="0" normalizeH="0" baseline="0" noProof="0" dirty="0">
              <a:ln>
                <a:noFill/>
              </a:ln>
              <a:solidFill>
                <a:sysClr val="windowText" lastClr="000000"/>
              </a:solidFill>
              <a:effectLst/>
              <a:uLnTx/>
              <a:uFillTx/>
              <a:latin typeface="Times New Roman"/>
              <a:ea typeface="宋体"/>
            </a:endParaRPr>
          </a:p>
          <a:p>
            <a:pPr marL="342900" marR="0" lvl="0" indent="-34290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sym typeface="Wingdings" pitchFamily="2" charset="2"/>
              </a:rPr>
              <a:t> </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其它</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5</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种排列都可以生成。</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2000" b="1" i="0" u="none" strike="noStrike" kern="0" cap="none" spc="0" normalizeH="0" baseline="0" noProof="0" dirty="0">
              <a:ln>
                <a:noFill/>
              </a:ln>
              <a:solidFill>
                <a:sysClr val="windowText" lastClr="000000"/>
              </a:solidFill>
              <a:effectLst/>
              <a:uLnTx/>
              <a:uFillTx/>
              <a:latin typeface="Times New Roman"/>
              <a:ea typeface="宋体"/>
            </a:endParaRPr>
          </a:p>
          <a:p>
            <a:pPr marL="457200" marR="0" lvl="0" indent="-457200" defTabSz="914400" eaLnBrk="1" fontAlgn="auto" latinLnBrk="0" hangingPunct="1">
              <a:lnSpc>
                <a:spcPct val="100000"/>
              </a:lnSpc>
              <a:spcBef>
                <a:spcPts val="0"/>
              </a:spcBef>
              <a:spcAft>
                <a:spcPts val="0"/>
              </a:spcAft>
              <a:buClrTx/>
              <a:buSzTx/>
              <a:buFontTx/>
              <a:buAutoNum type="arabicPlain" startAt="4"/>
              <a:tabLst/>
              <a:defRPr/>
            </a:pP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如果有四个字符</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ABCD</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出入栈时，排列有</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4!=24</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种可能</a:t>
            </a:r>
            <a:r>
              <a:rPr kumimoji="0" lang="zh-CN" altLang="en-US" sz="2000" b="1" i="0" u="none" strike="noStrike" kern="0" cap="none" spc="0" normalizeH="0" baseline="0" noProof="0" dirty="0">
                <a:ln>
                  <a:noFill/>
                </a:ln>
                <a:solidFill>
                  <a:sysClr val="windowText" lastClr="000000"/>
                </a:solidFill>
                <a:effectLst/>
                <a:uLnTx/>
                <a:uFillTx/>
                <a:latin typeface="Times New Roman"/>
                <a:ea typeface="宋体"/>
              </a:rPr>
              <a:t>。</a:t>
            </a:r>
            <a:endParaRPr kumimoji="0" lang="en-US" altLang="zh-CN" sz="2000" b="1" i="0" u="none" strike="noStrike" kern="0" cap="none" spc="0" normalizeH="0" baseline="0" noProof="0" dirty="0">
              <a:ln>
                <a:noFill/>
              </a:ln>
              <a:solidFill>
                <a:sysClr val="windowText" lastClr="000000"/>
              </a:solidFill>
              <a:effectLst/>
              <a:uLnTx/>
              <a:uFillTx/>
              <a:latin typeface="Times New Roman"/>
              <a:ea typeface="宋体"/>
            </a:endParaRPr>
          </a:p>
          <a:p>
            <a:pPr marL="457200" marR="0" lvl="0" indent="-457200" defTabSz="914400" eaLnBrk="1" fontAlgn="auto" latinLnBrk="0" hangingPunct="1">
              <a:lnSpc>
                <a:spcPct val="100000"/>
              </a:lnSpc>
              <a:spcBef>
                <a:spcPts val="0"/>
              </a:spcBef>
              <a:spcAft>
                <a:spcPts val="0"/>
              </a:spcAft>
              <a:buClrTx/>
              <a:buSzTx/>
              <a:buFont typeface="Wingdings" pitchFamily="2" charset="2"/>
              <a:buChar char="Ø"/>
              <a:tabLst/>
              <a:defRPr/>
            </a:pP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不是所有排列都有可能是出栈的序列，象</a:t>
            </a:r>
            <a:r>
              <a:rPr kumimoji="0" lang="en-US" altLang="zh-CN" sz="2000" b="1" i="0" u="none" strike="noStrike" kern="0" cap="none" spc="0" normalizeH="0" baseline="0" noProof="0" dirty="0">
                <a:ln>
                  <a:noFill/>
                </a:ln>
                <a:solidFill>
                  <a:srgbClr val="0070C0"/>
                </a:solidFill>
                <a:effectLst/>
                <a:uLnTx/>
                <a:uFillTx/>
                <a:latin typeface="Times New Roman"/>
                <a:ea typeface="宋体"/>
              </a:rPr>
              <a:t>CABD</a:t>
            </a: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这样的序列是产生不了的。</a:t>
            </a:r>
            <a:endParaRPr kumimoji="0" lang="en-US" altLang="zh-CN" sz="2000" b="1" i="0" u="none" strike="noStrike" kern="0" cap="none" spc="0" normalizeH="0" baseline="0" noProof="0" dirty="0">
              <a:ln>
                <a:noFill/>
              </a:ln>
              <a:solidFill>
                <a:sysClr val="windowText" lastClr="000000"/>
              </a:solidFill>
              <a:effectLst/>
              <a:uLnTx/>
              <a:uFillTx/>
              <a:latin typeface="Times New Roman"/>
              <a:ea typeface="宋体"/>
            </a:endParaRPr>
          </a:p>
          <a:p>
            <a:pPr marL="457200" marR="0" lvl="0" indent="-457200" defTabSz="914400" eaLnBrk="1" fontAlgn="auto" latinLnBrk="0" hangingPunct="1">
              <a:lnSpc>
                <a:spcPct val="100000"/>
              </a:lnSpc>
              <a:spcBef>
                <a:spcPts val="0"/>
              </a:spcBef>
              <a:spcAft>
                <a:spcPts val="0"/>
              </a:spcAft>
              <a:buClrTx/>
              <a:buSzTx/>
              <a:buFont typeface="Wingdings" pitchFamily="2" charset="2"/>
              <a:buChar char="Ø"/>
              <a:tabLst/>
              <a:defRPr/>
            </a:pPr>
            <a:r>
              <a:rPr kumimoji="0" lang="zh-CN" altLang="zh-CN" sz="2000" b="1" i="0" u="none" strike="noStrike" kern="0" cap="none" spc="0" normalizeH="0" baseline="0" noProof="0" dirty="0">
                <a:ln>
                  <a:noFill/>
                </a:ln>
                <a:solidFill>
                  <a:sysClr val="windowText" lastClr="000000"/>
                </a:solidFill>
                <a:effectLst/>
                <a:uLnTx/>
                <a:uFillTx/>
                <a:latin typeface="Times New Roman"/>
                <a:ea typeface="宋体"/>
              </a:rPr>
              <a:t>四个字符出栈的所有可能序列有几种？</a:t>
            </a:r>
            <a:r>
              <a:rPr kumimoji="0" lang="zh-CN" altLang="en-US" sz="2000" b="1" i="0" u="none" strike="noStrike" kern="0" cap="none" spc="0" normalizeH="0" baseline="0" noProof="0" dirty="0">
                <a:ln>
                  <a:noFill/>
                </a:ln>
                <a:solidFill>
                  <a:sysClr val="windowText" lastClr="000000"/>
                </a:solidFill>
                <a:effectLst/>
                <a:uLnTx/>
                <a:uFillTx/>
                <a:latin typeface="Times New Roman"/>
                <a:ea typeface="宋体"/>
              </a:rPr>
              <a:t>（</a:t>
            </a: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14</a:t>
            </a:r>
            <a:r>
              <a:rPr kumimoji="0" lang="zh-CN" altLang="en-US" sz="2000" b="1" i="0" u="none" strike="noStrike" kern="0" cap="none" spc="0" normalizeH="0" baseline="0" noProof="0" dirty="0">
                <a:ln>
                  <a:noFill/>
                </a:ln>
                <a:solidFill>
                  <a:sysClr val="windowText" lastClr="000000"/>
                </a:solidFill>
                <a:effectLst/>
                <a:uLnTx/>
                <a:uFillTx/>
                <a:latin typeface="Times New Roman"/>
                <a:ea typeface="宋体"/>
              </a:rPr>
              <a:t>种）</a:t>
            </a:r>
            <a:endParaRPr kumimoji="0" lang="en-US" altLang="zh-CN" sz="2000" b="1" i="0" u="none" strike="noStrike" kern="0" cap="none" spc="0" normalizeH="0" baseline="0" noProof="0" dirty="0">
              <a:ln>
                <a:noFill/>
              </a:ln>
              <a:solidFill>
                <a:sysClr val="windowText" lastClr="000000"/>
              </a:solidFill>
              <a:effectLst/>
              <a:uLnTx/>
              <a:uFillTx/>
              <a:latin typeface="Times New Roman"/>
              <a:ea typeface="宋体"/>
            </a:endParaRPr>
          </a:p>
          <a:p>
            <a:pPr marL="457200" marR="0" lvl="0" indent="-457200" defTabSz="914400" eaLnBrk="1" fontAlgn="auto" latinLnBrk="0" hangingPunct="1">
              <a:lnSpc>
                <a:spcPct val="100000"/>
              </a:lnSpc>
              <a:spcBef>
                <a:spcPts val="0"/>
              </a:spcBef>
              <a:spcAft>
                <a:spcPts val="0"/>
              </a:spcAft>
              <a:buClrTx/>
              <a:buSzTx/>
              <a:buFont typeface="Wingdings" pitchFamily="2" charset="2"/>
              <a:buChar char="Ø"/>
              <a:tabLst/>
              <a:defRPr/>
            </a:pPr>
            <a:r>
              <a:rPr kumimoji="0" lang="en-US" altLang="zh-CN" sz="2000" b="1" i="0" u="none" strike="noStrike" kern="0" cap="none" spc="0" normalizeH="0" baseline="0" noProof="0" dirty="0">
                <a:ln>
                  <a:noFill/>
                </a:ln>
                <a:solidFill>
                  <a:sysClr val="windowText" lastClr="000000"/>
                </a:solidFill>
                <a:effectLst/>
                <a:uLnTx/>
                <a:uFillTx/>
                <a:latin typeface="Times New Roman"/>
                <a:ea typeface="宋体"/>
              </a:rPr>
              <a:t>N</a:t>
            </a:r>
            <a:r>
              <a:rPr kumimoji="0" lang="zh-CN" altLang="en-US" sz="2000" b="1" i="0" u="none" strike="noStrike" kern="0" cap="none" spc="0" normalizeH="0" baseline="0" noProof="0" dirty="0">
                <a:ln>
                  <a:noFill/>
                </a:ln>
                <a:solidFill>
                  <a:sysClr val="windowText" lastClr="000000"/>
                </a:solidFill>
                <a:effectLst/>
                <a:uLnTx/>
                <a:uFillTx/>
                <a:latin typeface="Times New Roman"/>
                <a:ea typeface="宋体"/>
              </a:rPr>
              <a:t>个字符呢？</a:t>
            </a:r>
            <a:endParaRPr kumimoji="0" lang="zh-CN" altLang="zh-CN" sz="2000" b="1" i="0" u="none" strike="noStrike" kern="0" cap="none" spc="0" normalizeH="0" baseline="0" noProof="0" dirty="0">
              <a:ln>
                <a:noFill/>
              </a:ln>
              <a:solidFill>
                <a:sysClr val="windowText" lastClr="000000"/>
              </a:solidFill>
              <a:effectLst/>
              <a:uLnTx/>
              <a:uFillTx/>
              <a:latin typeface="Times New Roman"/>
              <a:ea typeface="宋体"/>
            </a:endParaRPr>
          </a:p>
        </p:txBody>
      </p:sp>
      <p:sp>
        <p:nvSpPr>
          <p:cNvPr id="5" name="矩形 4"/>
          <p:cNvSpPr/>
          <p:nvPr/>
        </p:nvSpPr>
        <p:spPr>
          <a:xfrm>
            <a:off x="3028949" y="5661248"/>
            <a:ext cx="1452642" cy="369332"/>
          </a:xfrm>
          <a:prstGeom prst="rect">
            <a:avLst/>
          </a:prstGeom>
        </p:spPr>
        <p:txBody>
          <a:bodyPr wrap="none">
            <a:spAutoFit/>
          </a:bodyPr>
          <a:lstStyle/>
          <a:p>
            <a:pPr lvl="0"/>
            <a:r>
              <a:rPr lang="en-US" altLang="zh-CN" sz="1800" b="0" dirty="0">
                <a:solidFill>
                  <a:srgbClr val="000000"/>
                </a:solidFill>
                <a:latin typeface="Calibri" pitchFamily="34" charset="0"/>
                <a:ea typeface="宋体" pitchFamily="2" charset="-122"/>
              </a:rPr>
              <a:t>C(2n,n)/(</a:t>
            </a:r>
            <a:r>
              <a:rPr lang="en-US" altLang="zh-CN" sz="1800" b="0" dirty="0" smtClean="0">
                <a:solidFill>
                  <a:srgbClr val="000000"/>
                </a:solidFill>
                <a:latin typeface="Calibri" pitchFamily="34" charset="0"/>
                <a:ea typeface="宋体" pitchFamily="2" charset="-122"/>
              </a:rPr>
              <a:t>n+1)</a:t>
            </a:r>
            <a:endParaRPr lang="zh-CN" altLang="en-US" sz="1800" b="0" dirty="0">
              <a:solidFill>
                <a:srgbClr val="000000"/>
              </a:solidFill>
              <a:latin typeface="Calibri" pitchFamily="34" charset="0"/>
              <a:ea typeface="宋体" pitchFamily="2" charset="-122"/>
            </a:endParaRPr>
          </a:p>
        </p:txBody>
      </p:sp>
    </p:spTree>
    <p:extLst>
      <p:ext uri="{BB962C8B-B14F-4D97-AF65-F5344CB8AC3E}">
        <p14:creationId xmlns:p14="http://schemas.microsoft.com/office/powerpoint/2010/main" val="342763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1" nodeType="clickEffect">
                                  <p:stCondLst>
                                    <p:cond delay="0"/>
                                  </p:stCondLst>
                                  <p:childTnLst>
                                    <p:animEffect transition="out" filter="dissolve">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2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2205038"/>
            <a:ext cx="9144000" cy="2879725"/>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52227" name="Group 6"/>
          <p:cNvGrpSpPr/>
          <p:nvPr/>
        </p:nvGrpSpPr>
        <p:grpSpPr>
          <a:xfrm>
            <a:off x="574675" y="2474913"/>
            <a:ext cx="7839075" cy="2028825"/>
            <a:chOff x="374" y="1857"/>
            <a:chExt cx="4938" cy="1278"/>
          </a:xfrm>
        </p:grpSpPr>
        <p:sp>
          <p:nvSpPr>
            <p:cNvPr id="44037" name="Text Box 7"/>
            <p:cNvSpPr txBox="1">
              <a:spLocks noChangeArrowheads="1"/>
            </p:cNvSpPr>
            <p:nvPr/>
          </p:nvSpPr>
          <p:spPr bwMode="auto">
            <a:xfrm>
              <a:off x="384" y="2808"/>
              <a:ext cx="49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1" u="none" strike="noStrike" kern="1200" cap="none" spc="0" normalizeH="0" baseline="0" noProof="0" dirty="0">
                  <a:ln>
                    <a:noFill/>
                  </a:ln>
                  <a:solidFill>
                    <a:srgbClr val="0000FF"/>
                  </a:solidFill>
                  <a:effectLst/>
                  <a:uLnTx/>
                  <a:uFillTx/>
                  <a:latin typeface="+mn-lt"/>
                  <a:ea typeface="+mn-ea"/>
                  <a:cs typeface="+mn-ea"/>
                  <a:sym typeface="+mn-lt"/>
                </a:rPr>
                <a:t>b</a:t>
              </a:r>
              <a:r>
                <a:rPr kumimoji="0" lang="en-US" altLang="zh-CN" sz="2800" b="1" i="0" u="none" strike="noStrike" kern="1200" cap="none" spc="0" normalizeH="0" baseline="0" noProof="0" dirty="0">
                  <a:ln>
                    <a:noFill/>
                  </a:ln>
                  <a:solidFill>
                    <a:srgbClr val="0000FF"/>
                  </a:solidFill>
                  <a:effectLst/>
                  <a:uLnTx/>
                  <a:uFillTx/>
                  <a:latin typeface="+mn-lt"/>
                  <a:ea typeface="+mn-ea"/>
                  <a:cs typeface="+mn-ea"/>
                  <a:sym typeface="+mn-lt"/>
                </a:rPr>
                <a:t>[0]                               </a:t>
              </a:r>
              <a:r>
                <a:rPr kumimoji="0" lang="en-US" altLang="zh-CN" sz="2800" b="1" i="1" u="none" strike="noStrike" kern="1200" cap="none" spc="0" normalizeH="0" baseline="0" noProof="0" dirty="0">
                  <a:ln>
                    <a:noFill/>
                  </a:ln>
                  <a:solidFill>
                    <a:srgbClr val="0000FF"/>
                  </a:solidFill>
                  <a:effectLst/>
                  <a:uLnTx/>
                  <a:uFillTx/>
                  <a:latin typeface="+mn-lt"/>
                  <a:ea typeface="+mn-ea"/>
                  <a:cs typeface="+mn-ea"/>
                  <a:sym typeface="+mn-lt"/>
                </a:rPr>
                <a:t>t</a:t>
              </a:r>
              <a:r>
                <a:rPr kumimoji="0" lang="en-US" altLang="zh-CN" sz="2800" b="1" i="0" u="none" strike="noStrike" kern="1200" cap="none" spc="0" normalizeH="0" baseline="0" noProof="0" dirty="0">
                  <a:ln>
                    <a:noFill/>
                  </a:ln>
                  <a:solidFill>
                    <a:srgbClr val="0000FF"/>
                  </a:solidFill>
                  <a:effectLst/>
                  <a:uLnTx/>
                  <a:uFillTx/>
                  <a:latin typeface="+mn-lt"/>
                  <a:ea typeface="+mn-ea"/>
                  <a:cs typeface="+mn-ea"/>
                  <a:sym typeface="+mn-lt"/>
                </a:rPr>
                <a:t>[0]     </a:t>
              </a:r>
              <a:r>
                <a:rPr kumimoji="0" lang="en-US" altLang="zh-CN" sz="2800" b="1" i="1" u="none" strike="noStrike" kern="1200" cap="none" spc="0" normalizeH="0" baseline="0" noProof="0" dirty="0">
                  <a:ln>
                    <a:noFill/>
                  </a:ln>
                  <a:solidFill>
                    <a:srgbClr val="0000FF"/>
                  </a:solidFill>
                  <a:effectLst/>
                  <a:uLnTx/>
                  <a:uFillTx/>
                  <a:latin typeface="+mn-lt"/>
                  <a:ea typeface="+mn-ea"/>
                  <a:cs typeface="+mn-ea"/>
                  <a:sym typeface="+mn-lt"/>
                </a:rPr>
                <a:t>t</a:t>
              </a:r>
              <a:r>
                <a:rPr kumimoji="0" lang="en-US" altLang="zh-CN" sz="2800" b="1" i="0" u="none" strike="noStrike" kern="1200" cap="none" spc="0" normalizeH="0" baseline="0" noProof="0" dirty="0">
                  <a:ln>
                    <a:noFill/>
                  </a:ln>
                  <a:solidFill>
                    <a:srgbClr val="0000FF"/>
                  </a:solidFill>
                  <a:effectLst/>
                  <a:uLnTx/>
                  <a:uFillTx/>
                  <a:latin typeface="+mn-lt"/>
                  <a:ea typeface="+mn-ea"/>
                  <a:cs typeface="+mn-ea"/>
                  <a:sym typeface="+mn-lt"/>
                </a:rPr>
                <a:t>[1]                         </a:t>
              </a:r>
              <a:r>
                <a:rPr kumimoji="0" lang="en-US" altLang="zh-CN" sz="2800" b="1" i="1" u="none" strike="noStrike" kern="1200" cap="none" spc="0" normalizeH="0" baseline="0" noProof="0" dirty="0">
                  <a:ln>
                    <a:noFill/>
                  </a:ln>
                  <a:solidFill>
                    <a:srgbClr val="0000FF"/>
                  </a:solidFill>
                  <a:effectLst/>
                  <a:uLnTx/>
                  <a:uFillTx/>
                  <a:latin typeface="+mn-lt"/>
                  <a:ea typeface="+mn-ea"/>
                  <a:cs typeface="+mn-ea"/>
                  <a:sym typeface="+mn-lt"/>
                </a:rPr>
                <a:t>b</a:t>
              </a:r>
              <a:r>
                <a:rPr kumimoji="0" lang="en-US" altLang="zh-CN" sz="2800" b="1" i="0" u="none" strike="noStrike" kern="1200" cap="none" spc="0" normalizeH="0" baseline="0" noProof="0" dirty="0">
                  <a:ln>
                    <a:noFill/>
                  </a:ln>
                  <a:solidFill>
                    <a:srgbClr val="0000FF"/>
                  </a:solidFill>
                  <a:effectLst/>
                  <a:uLnTx/>
                  <a:uFillTx/>
                  <a:latin typeface="+mn-lt"/>
                  <a:ea typeface="+mn-ea"/>
                  <a:cs typeface="+mn-ea"/>
                  <a:sym typeface="+mn-lt"/>
                </a:rPr>
                <a:t>[1]</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44038" name="Line 8"/>
            <p:cNvSpPr>
              <a:spLocks noChangeShapeType="1"/>
            </p:cNvSpPr>
            <p:nvPr/>
          </p:nvSpPr>
          <p:spPr bwMode="auto">
            <a:xfrm flipV="1">
              <a:off x="576" y="2616"/>
              <a:ext cx="0" cy="240"/>
            </a:xfrm>
            <a:prstGeom prst="line">
              <a:avLst/>
            </a:prstGeom>
            <a:noFill/>
            <a:ln w="38100">
              <a:solidFill>
                <a:srgbClr val="FF00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39" name="Line 9"/>
            <p:cNvSpPr>
              <a:spLocks noChangeShapeType="1"/>
            </p:cNvSpPr>
            <p:nvPr/>
          </p:nvSpPr>
          <p:spPr bwMode="auto">
            <a:xfrm flipV="1">
              <a:off x="2640" y="2616"/>
              <a:ext cx="0" cy="240"/>
            </a:xfrm>
            <a:prstGeom prst="line">
              <a:avLst/>
            </a:prstGeom>
            <a:noFill/>
            <a:ln w="38100">
              <a:solidFill>
                <a:srgbClr val="FF00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0" name="Line 10"/>
            <p:cNvSpPr>
              <a:spLocks noChangeShapeType="1"/>
            </p:cNvSpPr>
            <p:nvPr/>
          </p:nvSpPr>
          <p:spPr bwMode="auto">
            <a:xfrm flipV="1">
              <a:off x="3264" y="2616"/>
              <a:ext cx="0" cy="240"/>
            </a:xfrm>
            <a:prstGeom prst="line">
              <a:avLst/>
            </a:prstGeom>
            <a:noFill/>
            <a:ln w="38100">
              <a:solidFill>
                <a:srgbClr val="FF00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1" name="Line 11"/>
            <p:cNvSpPr>
              <a:spLocks noChangeShapeType="1"/>
            </p:cNvSpPr>
            <p:nvPr/>
          </p:nvSpPr>
          <p:spPr bwMode="auto">
            <a:xfrm flipV="1">
              <a:off x="5136" y="2616"/>
              <a:ext cx="0" cy="240"/>
            </a:xfrm>
            <a:prstGeom prst="line">
              <a:avLst/>
            </a:prstGeom>
            <a:noFill/>
            <a:ln w="38100">
              <a:solidFill>
                <a:srgbClr val="FF00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2" name="Rectangle 12"/>
            <p:cNvSpPr>
              <a:spLocks noChangeArrowheads="1"/>
            </p:cNvSpPr>
            <p:nvPr/>
          </p:nvSpPr>
          <p:spPr bwMode="auto">
            <a:xfrm>
              <a:off x="672" y="2280"/>
              <a:ext cx="2064" cy="336"/>
            </a:xfrm>
            <a:prstGeom prst="rect">
              <a:avLst/>
            </a:prstGeom>
            <a:solidFill>
              <a:schemeClr val="accent1"/>
            </a:solidFill>
            <a:ln>
              <a:noFill/>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91240B29-F687-4F45-9708-019B960494DF}">
                <a14:hiddenLine xmlns:a14="http://schemas.microsoft.com/office/drawing/2010/main" w="9525">
                  <a:noFill/>
                  <a:miter lim="800000"/>
                  <a:headEnd/>
                  <a:tailEnd/>
                </a14:hiddenLine>
              </a:ext>
            </a:extLst>
          </p:spPr>
          <p:txBody>
            <a:bodyPr wrap="none" anchor="ctr">
              <a:flatTx/>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3" name="Rectangle 13"/>
            <p:cNvSpPr>
              <a:spLocks noChangeArrowheads="1"/>
            </p:cNvSpPr>
            <p:nvPr/>
          </p:nvSpPr>
          <p:spPr bwMode="auto">
            <a:xfrm>
              <a:off x="2736" y="2280"/>
              <a:ext cx="432" cy="336"/>
            </a:xfrm>
            <a:prstGeom prst="rect">
              <a:avLst/>
            </a:prstGeom>
            <a:solidFill>
              <a:srgbClr val="FFFFCC"/>
            </a:solidFill>
            <a:ln>
              <a:noFill/>
            </a:ln>
            <a:scene3d>
              <a:camera prst="legacyObliqueTopRight"/>
              <a:lightRig rig="legacyFlat3" dir="b"/>
            </a:scene3d>
            <a:sp3d extrusionH="430200" prstMaterial="legacyMatte">
              <a:bevelT w="13500" h="13500" prst="angle"/>
              <a:bevelB w="13500" h="13500" prst="angle"/>
              <a:extrusionClr>
                <a:srgbClr val="FFFFCC"/>
              </a:extrusionClr>
              <a:contourClr>
                <a:srgbClr val="FFFFCC"/>
              </a:contourClr>
            </a:sp3d>
            <a:extLst>
              <a:ext uri="{91240B29-F687-4F45-9708-019B960494DF}">
                <a14:hiddenLine xmlns:a14="http://schemas.microsoft.com/office/drawing/2010/main" w="9525">
                  <a:noFill/>
                  <a:miter lim="800000"/>
                  <a:headEnd/>
                  <a:tailEnd/>
                </a14:hiddenLine>
              </a:ext>
            </a:extLst>
          </p:spPr>
          <p:txBody>
            <a:bodyPr wrap="none" anchor="ctr">
              <a:flatTx/>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4" name="Rectangle 14"/>
            <p:cNvSpPr>
              <a:spLocks noChangeArrowheads="1"/>
            </p:cNvSpPr>
            <p:nvPr/>
          </p:nvSpPr>
          <p:spPr bwMode="auto">
            <a:xfrm>
              <a:off x="3168" y="2280"/>
              <a:ext cx="1728" cy="336"/>
            </a:xfrm>
            <a:prstGeom prst="rect">
              <a:avLst/>
            </a:prstGeom>
            <a:solidFill>
              <a:schemeClr val="accent2"/>
            </a:solidFill>
            <a:ln>
              <a:noFill/>
            </a:ln>
            <a:scene3d>
              <a:camera prst="legacyObliqueTopRight"/>
              <a:lightRig rig="legacyFlat3" dir="b"/>
            </a:scene3d>
            <a:sp3d extrusionH="430200" prstMaterial="legacyMatte">
              <a:bevelT w="13500" h="13500" prst="angle"/>
              <a:bevelB w="13500" h="13500" prst="angle"/>
              <a:extrusionClr>
                <a:schemeClr val="accent2"/>
              </a:extrusionClr>
              <a:contourClr>
                <a:schemeClr val="accent2"/>
              </a:contourClr>
            </a:sp3d>
            <a:extLst>
              <a:ext uri="{91240B29-F687-4F45-9708-019B960494DF}">
                <a14:hiddenLine xmlns:a14="http://schemas.microsoft.com/office/drawing/2010/main" w="9525">
                  <a:noFill/>
                  <a:miter lim="800000"/>
                  <a:headEnd/>
                  <a:tailEnd/>
                </a14:hiddenLine>
              </a:ext>
            </a:extLst>
          </p:spPr>
          <p:txBody>
            <a:bodyPr wrap="none" anchor="ctr">
              <a:flatTx/>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5" name="Text Box 15"/>
            <p:cNvSpPr txBox="1">
              <a:spLocks noChangeArrowheads="1"/>
            </p:cNvSpPr>
            <p:nvPr/>
          </p:nvSpPr>
          <p:spPr bwMode="auto">
            <a:xfrm>
              <a:off x="720" y="1857"/>
              <a:ext cx="413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0" u="none" strike="noStrike" kern="1200" cap="none" spc="0" normalizeH="0" baseline="0" noProof="0">
                  <a:ln>
                    <a:noFill/>
                  </a:ln>
                  <a:solidFill>
                    <a:schemeClr val="tx2"/>
                  </a:solidFill>
                  <a:effectLst/>
                  <a:uLnTx/>
                  <a:uFillTx/>
                  <a:latin typeface="+mn-lt"/>
                  <a:ea typeface="+mn-ea"/>
                  <a:cs typeface="+mn-ea"/>
                  <a:sym typeface="+mn-lt"/>
                </a:rPr>
                <a:t>0                                                               m-1</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6" name="Text Box 16"/>
            <p:cNvSpPr txBox="1">
              <a:spLocks noChangeArrowheads="1"/>
            </p:cNvSpPr>
            <p:nvPr/>
          </p:nvSpPr>
          <p:spPr bwMode="auto">
            <a:xfrm>
              <a:off x="374" y="2251"/>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rgbClr val="0000FF"/>
                  </a:solidFill>
                  <a:effectLst/>
                  <a:uLnTx/>
                  <a:uFillTx/>
                  <a:latin typeface="+mn-lt"/>
                  <a:ea typeface="+mn-ea"/>
                  <a:cs typeface="+mn-ea"/>
                  <a:sym typeface="+mn-lt"/>
                </a:rPr>
                <a:t>V</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7" name="Line 17"/>
            <p:cNvSpPr>
              <a:spLocks noChangeShapeType="1"/>
            </p:cNvSpPr>
            <p:nvPr/>
          </p:nvSpPr>
          <p:spPr bwMode="auto">
            <a:xfrm>
              <a:off x="720" y="2424"/>
              <a:ext cx="1968" cy="0"/>
            </a:xfrm>
            <a:prstGeom prst="line">
              <a:avLst/>
            </a:prstGeom>
            <a:noFill/>
            <a:ln w="38100">
              <a:solidFill>
                <a:srgbClr val="969696"/>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4048" name="Line 18"/>
            <p:cNvSpPr>
              <a:spLocks noChangeShapeType="1"/>
            </p:cNvSpPr>
            <p:nvPr/>
          </p:nvSpPr>
          <p:spPr bwMode="auto">
            <a:xfrm>
              <a:off x="3216" y="2424"/>
              <a:ext cx="1632" cy="0"/>
            </a:xfrm>
            <a:prstGeom prst="line">
              <a:avLst/>
            </a:prstGeom>
            <a:noFill/>
            <a:ln w="38100">
              <a:solidFill>
                <a:srgbClr val="969696"/>
              </a:solidFill>
              <a:round/>
              <a:headEnd type="triangle" w="med" len="lg"/>
              <a:tailEnd type="non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44049" name="Rectangle 19"/>
          <p:cNvSpPr>
            <a:spLocks noChangeArrowheads="1"/>
          </p:cNvSpPr>
          <p:nvPr/>
        </p:nvSpPr>
        <p:spPr bwMode="auto">
          <a:xfrm>
            <a:off x="620713" y="1387475"/>
            <a:ext cx="4565650" cy="571500"/>
          </a:xfrm>
          <a:prstGeom prst="roundRect">
            <a:avLst/>
          </a:prstGeom>
          <a:no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双栈共享一个栈空间</a:t>
            </a:r>
          </a:p>
        </p:txBody>
      </p:sp>
      <p:sp>
        <p:nvSpPr>
          <p:cNvPr id="643092" name="Rectangle 20"/>
          <p:cNvSpPr>
            <a:spLocks noChangeArrowheads="1"/>
          </p:cNvSpPr>
          <p:nvPr/>
        </p:nvSpPr>
        <p:spPr bwMode="auto">
          <a:xfrm>
            <a:off x="903288" y="5503863"/>
            <a:ext cx="74072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优点：互相调剂，灵活性强，减少溢出机会 </a:t>
            </a:r>
          </a:p>
        </p:txBody>
      </p:sp>
      <p:sp>
        <p:nvSpPr>
          <p:cNvPr id="50182"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考研试题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3092"/>
                                        </p:tgtEl>
                                        <p:attrNameLst>
                                          <p:attrName>style.visibility</p:attrName>
                                        </p:attrNameLst>
                                      </p:cBhvr>
                                      <p:to>
                                        <p:strVal val="visible"/>
                                      </p:to>
                                    </p:set>
                                    <p:animEffect transition="in" filter="blinds(horizontal)">
                                      <p:cBhvr>
                                        <p:cTn id="7" dur="500"/>
                                        <p:tgtEl>
                                          <p:spTgt spid="643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9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考研试题</a:t>
            </a:r>
          </a:p>
        </p:txBody>
      </p:sp>
      <p:sp>
        <p:nvSpPr>
          <p:cNvPr id="45059" name="Rectangle 4"/>
          <p:cNvSpPr>
            <a:spLocks noChangeArrowheads="1"/>
          </p:cNvSpPr>
          <p:nvPr/>
        </p:nvSpPr>
        <p:spPr bwMode="auto">
          <a:xfrm>
            <a:off x="430213" y="1204913"/>
            <a:ext cx="8174038"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762000" algn="l"/>
              </a:tabLst>
              <a:defRPr sz="2400" b="1">
                <a:solidFill>
                  <a:schemeClr val="tx1"/>
                </a:solidFill>
                <a:latin typeface="Times New Roman" panose="02020603050405020304" pitchFamily="18" charset="0"/>
                <a:ea typeface="楷体_GB2312" pitchFamily="49" charset="-122"/>
              </a:defRPr>
            </a:lvl1pPr>
            <a:lvl2pPr>
              <a:tabLst>
                <a:tab pos="762000" algn="l"/>
              </a:tabLst>
              <a:defRPr sz="2400" b="1">
                <a:solidFill>
                  <a:schemeClr val="tx1"/>
                </a:solidFill>
                <a:latin typeface="Times New Roman" panose="02020603050405020304" pitchFamily="18" charset="0"/>
                <a:ea typeface="楷体_GB2312" pitchFamily="49" charset="-122"/>
              </a:defRPr>
            </a:lvl2pPr>
            <a:lvl3pPr>
              <a:tabLst>
                <a:tab pos="762000" algn="l"/>
              </a:tabLst>
              <a:defRPr sz="2400" b="1">
                <a:solidFill>
                  <a:schemeClr val="tx1"/>
                </a:solidFill>
                <a:latin typeface="Times New Roman" panose="02020603050405020304" pitchFamily="18" charset="0"/>
                <a:ea typeface="楷体_GB2312" pitchFamily="49" charset="-122"/>
              </a:defRPr>
            </a:lvl3pPr>
            <a:lvl4pPr>
              <a:tabLst>
                <a:tab pos="762000" algn="l"/>
              </a:tabLst>
              <a:defRPr sz="2400" b="1">
                <a:solidFill>
                  <a:schemeClr val="tx1"/>
                </a:solidFill>
                <a:latin typeface="Times New Roman" panose="02020603050405020304" pitchFamily="18" charset="0"/>
                <a:ea typeface="楷体_GB2312" pitchFamily="49" charset="-122"/>
              </a:defRPr>
            </a:lvl4pPr>
            <a:lvl5pPr>
              <a:tabLst>
                <a:tab pos="762000" algn="l"/>
              </a:tabLst>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tabLst>
                <a:tab pos="762000" algn="l"/>
              </a:tabLst>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tabLst>
                <a:tab pos="762000" algn="l"/>
              </a:tabLst>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tabLst>
                <a:tab pos="762000" algn="l"/>
              </a:tabLst>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tabLst>
                <a:tab pos="762000" algn="l"/>
              </a:tabLst>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30000"/>
              </a:lnSpc>
              <a:spcBef>
                <a:spcPct val="20000"/>
              </a:spcBef>
              <a:spcAft>
                <a:spcPct val="0"/>
              </a:spcAft>
              <a:buClr>
                <a:srgbClr val="FF0000"/>
              </a:buClr>
              <a:buSzPct val="50000"/>
              <a:buFont typeface="Arial" panose="020B0604020202020204" pitchFamily="34" charset="0"/>
              <a:buNone/>
              <a:tabLst>
                <a:tab pos="762000" algn="l"/>
              </a:tabLst>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将编号为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的两个栈存放于一个数组空间</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V[m]</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中，栈底分别处于数组的两端。当第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号栈的栈顶指针</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top[0]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等于</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时该栈为空，当第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号栈的栈顶指针</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top[1]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等于</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m</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时该栈为空。两个栈均从两端向中间增长（如下图所示） 。</a:t>
            </a:r>
          </a:p>
        </p:txBody>
      </p:sp>
      <p:grpSp>
        <p:nvGrpSpPr>
          <p:cNvPr id="53252" name="Group 10"/>
          <p:cNvGrpSpPr/>
          <p:nvPr/>
        </p:nvGrpSpPr>
        <p:grpSpPr>
          <a:xfrm>
            <a:off x="611188" y="3784600"/>
            <a:ext cx="7591425" cy="2028825"/>
            <a:chOff x="374" y="1857"/>
            <a:chExt cx="4782" cy="1278"/>
          </a:xfrm>
        </p:grpSpPr>
        <p:sp>
          <p:nvSpPr>
            <p:cNvPr id="45062" name="Text Box 11"/>
            <p:cNvSpPr txBox="1">
              <a:spLocks noChangeArrowheads="1"/>
            </p:cNvSpPr>
            <p:nvPr/>
          </p:nvSpPr>
          <p:spPr bwMode="auto">
            <a:xfrm>
              <a:off x="384" y="2808"/>
              <a:ext cx="47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1" u="none" strike="noStrike" kern="1200" cap="none" spc="0" normalizeH="0" baseline="0" noProof="0">
                  <a:ln>
                    <a:noFill/>
                  </a:ln>
                  <a:solidFill>
                    <a:srgbClr val="0000FF"/>
                  </a:solidFill>
                  <a:effectLst/>
                  <a:uLnTx/>
                  <a:uFillTx/>
                  <a:latin typeface="+mn-lt"/>
                  <a:ea typeface="+mn-ea"/>
                  <a:cs typeface="+mn-ea"/>
                  <a:sym typeface="+mn-lt"/>
                </a:rPr>
                <a:t>bot</a:t>
              </a:r>
              <a:r>
                <a:rPr kumimoji="0" lang="en-US" altLang="zh-CN" sz="2800" b="1" i="0" u="none" strike="noStrike" kern="1200" cap="none" spc="0" normalizeH="0" baseline="0" noProof="0">
                  <a:ln>
                    <a:noFill/>
                  </a:ln>
                  <a:solidFill>
                    <a:srgbClr val="0000FF"/>
                  </a:solidFill>
                  <a:effectLst/>
                  <a:uLnTx/>
                  <a:uFillTx/>
                  <a:latin typeface="+mn-lt"/>
                  <a:ea typeface="+mn-ea"/>
                  <a:cs typeface="+mn-ea"/>
                  <a:sym typeface="+mn-lt"/>
                </a:rPr>
                <a:t>[0]                        </a:t>
              </a:r>
              <a:r>
                <a:rPr kumimoji="0" lang="en-US" altLang="zh-CN" sz="2800" b="1" i="1" u="none" strike="noStrike" kern="1200" cap="none" spc="0" normalizeH="0" baseline="0" noProof="0">
                  <a:ln>
                    <a:noFill/>
                  </a:ln>
                  <a:solidFill>
                    <a:srgbClr val="0000FF"/>
                  </a:solidFill>
                  <a:effectLst/>
                  <a:uLnTx/>
                  <a:uFillTx/>
                  <a:latin typeface="+mn-lt"/>
                  <a:ea typeface="+mn-ea"/>
                  <a:cs typeface="+mn-ea"/>
                  <a:sym typeface="+mn-lt"/>
                </a:rPr>
                <a:t>top</a:t>
              </a:r>
              <a:r>
                <a:rPr kumimoji="0" lang="en-US" altLang="zh-CN" sz="2800" b="1" i="0" u="none" strike="noStrike" kern="1200" cap="none" spc="0" normalizeH="0" baseline="0" noProof="0">
                  <a:ln>
                    <a:noFill/>
                  </a:ln>
                  <a:solidFill>
                    <a:srgbClr val="0000FF"/>
                  </a:solidFill>
                  <a:effectLst/>
                  <a:uLnTx/>
                  <a:uFillTx/>
                  <a:latin typeface="+mn-lt"/>
                  <a:ea typeface="+mn-ea"/>
                  <a:cs typeface="+mn-ea"/>
                  <a:sym typeface="+mn-lt"/>
                </a:rPr>
                <a:t>[0]     </a:t>
              </a:r>
              <a:r>
                <a:rPr kumimoji="0" lang="en-US" altLang="zh-CN" sz="2800" b="1" i="1" u="none" strike="noStrike" kern="1200" cap="none" spc="0" normalizeH="0" baseline="0" noProof="0">
                  <a:ln>
                    <a:noFill/>
                  </a:ln>
                  <a:solidFill>
                    <a:srgbClr val="0000FF"/>
                  </a:solidFill>
                  <a:effectLst/>
                  <a:uLnTx/>
                  <a:uFillTx/>
                  <a:latin typeface="+mn-lt"/>
                  <a:ea typeface="+mn-ea"/>
                  <a:cs typeface="+mn-ea"/>
                  <a:sym typeface="+mn-lt"/>
                </a:rPr>
                <a:t>top</a:t>
              </a:r>
              <a:r>
                <a:rPr kumimoji="0" lang="en-US" altLang="zh-CN" sz="2800" b="1" i="0" u="none" strike="noStrike" kern="1200" cap="none" spc="0" normalizeH="0" baseline="0" noProof="0">
                  <a:ln>
                    <a:noFill/>
                  </a:ln>
                  <a:solidFill>
                    <a:srgbClr val="0000FF"/>
                  </a:solidFill>
                  <a:effectLst/>
                  <a:uLnTx/>
                  <a:uFillTx/>
                  <a:latin typeface="+mn-lt"/>
                  <a:ea typeface="+mn-ea"/>
                  <a:cs typeface="+mn-ea"/>
                  <a:sym typeface="+mn-lt"/>
                </a:rPr>
                <a:t>[1]               </a:t>
              </a:r>
              <a:r>
                <a:rPr kumimoji="0" lang="en-US" altLang="zh-CN" sz="2800" b="1" i="1" u="none" strike="noStrike" kern="1200" cap="none" spc="0" normalizeH="0" baseline="0" noProof="0">
                  <a:ln>
                    <a:noFill/>
                  </a:ln>
                  <a:solidFill>
                    <a:srgbClr val="0000FF"/>
                  </a:solidFill>
                  <a:effectLst/>
                  <a:uLnTx/>
                  <a:uFillTx/>
                  <a:latin typeface="+mn-lt"/>
                  <a:ea typeface="+mn-ea"/>
                  <a:cs typeface="+mn-ea"/>
                  <a:sym typeface="+mn-lt"/>
                </a:rPr>
                <a:t>bot</a:t>
              </a:r>
              <a:r>
                <a:rPr kumimoji="0" lang="en-US" altLang="zh-CN" sz="2800" b="1" i="0" u="none" strike="noStrike" kern="1200" cap="none" spc="0" normalizeH="0" baseline="0" noProof="0">
                  <a:ln>
                    <a:noFill/>
                  </a:ln>
                  <a:solidFill>
                    <a:srgbClr val="0000FF"/>
                  </a:solidFill>
                  <a:effectLst/>
                  <a:uLnTx/>
                  <a:uFillTx/>
                  <a:latin typeface="+mn-lt"/>
                  <a:ea typeface="+mn-ea"/>
                  <a:cs typeface="+mn-ea"/>
                  <a:sym typeface="+mn-lt"/>
                </a:rPr>
                <a:t>[1]</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063" name="Line 12"/>
            <p:cNvSpPr>
              <a:spLocks noChangeShapeType="1"/>
            </p:cNvSpPr>
            <p:nvPr/>
          </p:nvSpPr>
          <p:spPr bwMode="auto">
            <a:xfrm flipV="1">
              <a:off x="576" y="2616"/>
              <a:ext cx="0" cy="240"/>
            </a:xfrm>
            <a:prstGeom prst="line">
              <a:avLst/>
            </a:prstGeom>
            <a:noFill/>
            <a:ln w="38100">
              <a:solidFill>
                <a:srgbClr val="FF66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064" name="Line 13"/>
            <p:cNvSpPr>
              <a:spLocks noChangeShapeType="1"/>
            </p:cNvSpPr>
            <p:nvPr/>
          </p:nvSpPr>
          <p:spPr bwMode="auto">
            <a:xfrm flipV="1">
              <a:off x="2640" y="2616"/>
              <a:ext cx="0" cy="240"/>
            </a:xfrm>
            <a:prstGeom prst="line">
              <a:avLst/>
            </a:prstGeom>
            <a:noFill/>
            <a:ln w="38100">
              <a:solidFill>
                <a:srgbClr val="FF66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065" name="Line 14"/>
            <p:cNvSpPr>
              <a:spLocks noChangeShapeType="1"/>
            </p:cNvSpPr>
            <p:nvPr/>
          </p:nvSpPr>
          <p:spPr bwMode="auto">
            <a:xfrm flipV="1">
              <a:off x="3264" y="2616"/>
              <a:ext cx="0" cy="240"/>
            </a:xfrm>
            <a:prstGeom prst="line">
              <a:avLst/>
            </a:prstGeom>
            <a:noFill/>
            <a:ln w="38100">
              <a:solidFill>
                <a:srgbClr val="FF66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066" name="Line 15"/>
            <p:cNvSpPr>
              <a:spLocks noChangeShapeType="1"/>
            </p:cNvSpPr>
            <p:nvPr/>
          </p:nvSpPr>
          <p:spPr bwMode="auto">
            <a:xfrm flipV="1">
              <a:off x="5136" y="2616"/>
              <a:ext cx="0" cy="240"/>
            </a:xfrm>
            <a:prstGeom prst="line">
              <a:avLst/>
            </a:prstGeom>
            <a:noFill/>
            <a:ln w="38100">
              <a:solidFill>
                <a:srgbClr val="FF66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067" name="Rectangle 16"/>
            <p:cNvSpPr>
              <a:spLocks noChangeArrowheads="1"/>
            </p:cNvSpPr>
            <p:nvPr/>
          </p:nvSpPr>
          <p:spPr bwMode="auto">
            <a:xfrm>
              <a:off x="672" y="2280"/>
              <a:ext cx="2064" cy="336"/>
            </a:xfrm>
            <a:prstGeom prst="rect">
              <a:avLst/>
            </a:prstGeom>
            <a:solidFill>
              <a:schemeClr val="accent1"/>
            </a:solidFill>
            <a:ln>
              <a:noFill/>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91240B29-F687-4F45-9708-019B960494DF}">
                <a14:hiddenLine xmlns:a14="http://schemas.microsoft.com/office/drawing/2010/main" w="9525">
                  <a:noFill/>
                  <a:miter lim="800000"/>
                  <a:headEnd/>
                  <a:tailEnd/>
                </a14:hiddenLine>
              </a:ext>
            </a:extLst>
          </p:spPr>
          <p:txBody>
            <a:bodyPr wrap="none" anchor="ctr">
              <a:flatTx/>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068" name="Rectangle 17"/>
            <p:cNvSpPr>
              <a:spLocks noChangeArrowheads="1"/>
            </p:cNvSpPr>
            <p:nvPr/>
          </p:nvSpPr>
          <p:spPr bwMode="auto">
            <a:xfrm>
              <a:off x="2736" y="2280"/>
              <a:ext cx="432" cy="336"/>
            </a:xfrm>
            <a:prstGeom prst="rect">
              <a:avLst/>
            </a:prstGeom>
            <a:solidFill>
              <a:srgbClr val="FFFFCC"/>
            </a:solidFill>
            <a:ln>
              <a:noFill/>
            </a:ln>
            <a:scene3d>
              <a:camera prst="legacyObliqueTopRight"/>
              <a:lightRig rig="legacyFlat3" dir="b"/>
            </a:scene3d>
            <a:sp3d extrusionH="430200" prstMaterial="legacyMatte">
              <a:bevelT w="13500" h="13500" prst="angle"/>
              <a:bevelB w="13500" h="13500" prst="angle"/>
              <a:extrusionClr>
                <a:srgbClr val="FFFFCC"/>
              </a:extrusionClr>
              <a:contourClr>
                <a:srgbClr val="FFFFCC"/>
              </a:contourClr>
            </a:sp3d>
            <a:extLst>
              <a:ext uri="{91240B29-F687-4F45-9708-019B960494DF}">
                <a14:hiddenLine xmlns:a14="http://schemas.microsoft.com/office/drawing/2010/main" w="9525">
                  <a:noFill/>
                  <a:miter lim="800000"/>
                  <a:headEnd/>
                  <a:tailEnd/>
                </a14:hiddenLine>
              </a:ext>
            </a:extLst>
          </p:spPr>
          <p:txBody>
            <a:bodyPr wrap="none" anchor="ctr">
              <a:flatTx/>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069" name="Rectangle 18"/>
            <p:cNvSpPr>
              <a:spLocks noChangeArrowheads="1"/>
            </p:cNvSpPr>
            <p:nvPr/>
          </p:nvSpPr>
          <p:spPr bwMode="auto">
            <a:xfrm>
              <a:off x="3168" y="2280"/>
              <a:ext cx="1728" cy="336"/>
            </a:xfrm>
            <a:prstGeom prst="rect">
              <a:avLst/>
            </a:prstGeom>
            <a:solidFill>
              <a:schemeClr val="accent2"/>
            </a:solidFill>
            <a:ln>
              <a:noFill/>
            </a:ln>
            <a:scene3d>
              <a:camera prst="legacyObliqueTopRight"/>
              <a:lightRig rig="legacyFlat3" dir="b"/>
            </a:scene3d>
            <a:sp3d extrusionH="430200" prstMaterial="legacyMatte">
              <a:bevelT w="13500" h="13500" prst="angle"/>
              <a:bevelB w="13500" h="13500" prst="angle"/>
              <a:extrusionClr>
                <a:schemeClr val="accent2"/>
              </a:extrusionClr>
              <a:contourClr>
                <a:schemeClr val="accent2"/>
              </a:contourClr>
            </a:sp3d>
            <a:extLst>
              <a:ext uri="{91240B29-F687-4F45-9708-019B960494DF}">
                <a14:hiddenLine xmlns:a14="http://schemas.microsoft.com/office/drawing/2010/main" w="9525">
                  <a:noFill/>
                  <a:miter lim="800000"/>
                  <a:headEnd/>
                  <a:tailEnd/>
                </a14:hiddenLine>
              </a:ext>
            </a:extLst>
          </p:spPr>
          <p:txBody>
            <a:bodyPr wrap="none" anchor="ctr">
              <a:flatTx/>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070" name="Text Box 19"/>
            <p:cNvSpPr txBox="1">
              <a:spLocks noChangeArrowheads="1"/>
            </p:cNvSpPr>
            <p:nvPr/>
          </p:nvSpPr>
          <p:spPr bwMode="auto">
            <a:xfrm>
              <a:off x="720" y="1857"/>
              <a:ext cx="413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0" u="none" strike="noStrike" kern="1200" cap="none" spc="0" normalizeH="0" baseline="0" noProof="0" dirty="0">
                  <a:ln>
                    <a:noFill/>
                  </a:ln>
                  <a:solidFill>
                    <a:schemeClr val="tx2"/>
                  </a:solidFill>
                  <a:effectLst/>
                  <a:uLnTx/>
                  <a:uFillTx/>
                  <a:latin typeface="+mn-lt"/>
                  <a:ea typeface="+mn-ea"/>
                  <a:cs typeface="+mn-ea"/>
                  <a:sym typeface="+mn-lt"/>
                </a:rPr>
                <a:t>0                                                               m-1</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45071" name="Text Box 20"/>
            <p:cNvSpPr txBox="1">
              <a:spLocks noChangeArrowheads="1"/>
            </p:cNvSpPr>
            <p:nvPr/>
          </p:nvSpPr>
          <p:spPr bwMode="auto">
            <a:xfrm>
              <a:off x="374" y="2251"/>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rgbClr val="0000FF"/>
                  </a:solidFill>
                  <a:effectLst/>
                  <a:uLnTx/>
                  <a:uFillTx/>
                  <a:latin typeface="+mn-lt"/>
                  <a:ea typeface="+mn-ea"/>
                  <a:cs typeface="+mn-ea"/>
                  <a:sym typeface="+mn-lt"/>
                </a:rPr>
                <a:t>V</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072" name="Line 21"/>
            <p:cNvSpPr>
              <a:spLocks noChangeShapeType="1"/>
            </p:cNvSpPr>
            <p:nvPr/>
          </p:nvSpPr>
          <p:spPr bwMode="auto">
            <a:xfrm>
              <a:off x="720" y="2424"/>
              <a:ext cx="1968" cy="0"/>
            </a:xfrm>
            <a:prstGeom prst="line">
              <a:avLst/>
            </a:prstGeom>
            <a:noFill/>
            <a:ln w="38100">
              <a:solidFill>
                <a:srgbClr val="969696"/>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5073" name="Line 22"/>
            <p:cNvSpPr>
              <a:spLocks noChangeShapeType="1"/>
            </p:cNvSpPr>
            <p:nvPr/>
          </p:nvSpPr>
          <p:spPr bwMode="auto">
            <a:xfrm>
              <a:off x="3216" y="2424"/>
              <a:ext cx="1632" cy="0"/>
            </a:xfrm>
            <a:prstGeom prst="line">
              <a:avLst/>
            </a:prstGeom>
            <a:noFill/>
            <a:ln w="38100">
              <a:solidFill>
                <a:srgbClr val="969696"/>
              </a:solidFill>
              <a:round/>
              <a:headEnd type="triangle" w="med" len="lg"/>
              <a:tailEnd type="non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考研试题</a:t>
            </a:r>
          </a:p>
        </p:txBody>
      </p:sp>
      <p:sp>
        <p:nvSpPr>
          <p:cNvPr id="46083" name="Rectangle 4"/>
          <p:cNvSpPr>
            <a:spLocks noChangeArrowheads="1"/>
          </p:cNvSpPr>
          <p:nvPr/>
        </p:nvSpPr>
        <p:spPr bwMode="auto">
          <a:xfrm>
            <a:off x="738188" y="2349500"/>
            <a:ext cx="7667625" cy="3090863"/>
          </a:xfrm>
          <a:prstGeom prst="rect">
            <a:avLst/>
          </a:prstGeom>
          <a:solidFill>
            <a:schemeClr val="bg2">
              <a:lumMod val="20000"/>
              <a:lumOff val="80000"/>
            </a:schemeClr>
          </a:solidFill>
          <a:ln w="38100">
            <a:noFill/>
            <a:miter lim="800000"/>
          </a:ln>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typedef struct</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int top[2], bot[2];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栈顶和栈底指针</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*V;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栈数组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 m;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栈最大可容纳元素个数</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DblStack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46084" name="Rectangle 10"/>
          <p:cNvSpPr>
            <a:spLocks noChangeArrowheads="1"/>
          </p:cNvSpPr>
          <p:nvPr/>
        </p:nvSpPr>
        <p:spPr bwMode="auto">
          <a:xfrm>
            <a:off x="738188" y="1746250"/>
            <a:ext cx="7667625" cy="461963"/>
          </a:xfrm>
          <a:prstGeom prst="rect">
            <a:avLst/>
          </a:prstGeom>
          <a:solidFill>
            <a:srgbClr val="6C4C8F"/>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1" indent="0" algn="l" defTabSz="914400" rtl="0" eaLnBrk="0" fontAlgn="base" latinLnBrk="0" hangingPunct="0">
              <a:lnSpc>
                <a:spcPct val="100000"/>
              </a:lnSpc>
              <a:spcBef>
                <a:spcPct val="20000"/>
              </a:spcBef>
              <a:spcAft>
                <a:spcPct val="0"/>
              </a:spcAft>
              <a:buClr>
                <a:srgbClr val="FF0000"/>
              </a:buClr>
              <a:buSzPct val="50000"/>
              <a:buFont typeface="Arial" panose="020B0604020202020204" pitchFamily="34" charset="0"/>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数据结构定义如下</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2"/>
          <p:cNvSpPr>
            <a:spLocks noChangeArrowheads="1"/>
          </p:cNvSpPr>
          <p:nvPr/>
        </p:nvSpPr>
        <p:spPr bwMode="auto">
          <a:xfrm>
            <a:off x="0" y="2133600"/>
            <a:ext cx="9144000" cy="4403725"/>
          </a:xfrm>
          <a:prstGeom prst="rect">
            <a:avLst/>
          </a:prstGeom>
          <a:solidFill>
            <a:srgbClr val="D4E6F4"/>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1"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考研试题</a:t>
            </a:r>
          </a:p>
        </p:txBody>
      </p:sp>
      <p:sp>
        <p:nvSpPr>
          <p:cNvPr id="47107" name="Rectangle 4"/>
          <p:cNvSpPr>
            <a:spLocks noChangeArrowheads="1"/>
          </p:cNvSpPr>
          <p:nvPr/>
        </p:nvSpPr>
        <p:spPr bwMode="auto">
          <a:xfrm>
            <a:off x="395288" y="2133600"/>
            <a:ext cx="8353425" cy="4402138"/>
          </a:xfrm>
          <a:prstGeom prst="rect">
            <a:avLst/>
          </a:prstGeom>
          <a:noFill/>
          <a:ln w="38100">
            <a:no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indent="269875">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269875"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Dblpush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DblStack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s,SElemType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x,int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269875"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把</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x</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插入到栈</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的栈</a:t>
            </a:r>
          </a:p>
          <a:p>
            <a:pPr marL="0" marR="0" lvl="0" indent="269875"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Dblpop</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DblStack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s,int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i,SElemType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&amp;x)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269875"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退掉位于栈</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栈顶的元素</a:t>
            </a:r>
          </a:p>
          <a:p>
            <a:pPr marL="0" marR="0" lvl="0" indent="269875"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IsEmpty</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DblStack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s,int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269875"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判栈</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空否</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空返回</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否则返回</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p>
          <a:p>
            <a:pPr marL="0" marR="0" lvl="0" indent="269875"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IsFull</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DblStack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s)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269875"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判栈满否</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满返回</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否则返回</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p>
        </p:txBody>
      </p:sp>
      <p:sp>
        <p:nvSpPr>
          <p:cNvPr id="47108" name="Rectangle 5"/>
          <p:cNvSpPr>
            <a:spLocks noChangeArrowheads="1"/>
          </p:cNvSpPr>
          <p:nvPr/>
        </p:nvSpPr>
        <p:spPr bwMode="auto">
          <a:xfrm>
            <a:off x="395288" y="981075"/>
            <a:ext cx="8353425"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1" indent="0" algn="l" defTabSz="914400" rtl="0" eaLnBrk="0" fontAlgn="base" latinLnBrk="0" hangingPunct="0">
              <a:lnSpc>
                <a:spcPct val="130000"/>
              </a:lnSpc>
              <a:spcBef>
                <a:spcPct val="20000"/>
              </a:spcBef>
              <a:spcAft>
                <a:spcPct val="0"/>
              </a:spcAft>
              <a:buClr>
                <a:srgbClr val="FF0000"/>
              </a:buClr>
              <a:buSzPct val="50000"/>
              <a:buFont typeface="Arial" panose="020B0604020202020204" pitchFamily="34" charset="0"/>
              <a:buNone/>
              <a:defRPr/>
            </a:pP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试编写判断栈空、栈满、进栈和出栈四个算法的函数</a:t>
            </a:r>
            <a:r>
              <a:rPr kumimoji="0" lang="en-US" altLang="zh-CN" sz="2400" b="0" i="0" u="none" strike="noStrike" kern="1200" cap="none" spc="0" normalizeH="0" baseline="0" noProof="0" dirty="0">
                <a:ln>
                  <a:noFill/>
                </a:ln>
                <a:solidFill>
                  <a:schemeClr val="hlink"/>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rPr>
              <a:t>函数定义方式如下）</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22" name="Group 8"/>
          <p:cNvGrpSpPr/>
          <p:nvPr/>
        </p:nvGrpSpPr>
        <p:grpSpPr>
          <a:xfrm>
            <a:off x="520700" y="3214688"/>
            <a:ext cx="7839075" cy="2028825"/>
            <a:chOff x="374" y="1857"/>
            <a:chExt cx="4938" cy="1278"/>
          </a:xfrm>
        </p:grpSpPr>
        <p:sp>
          <p:nvSpPr>
            <p:cNvPr id="48132" name="Text Box 9"/>
            <p:cNvSpPr txBox="1">
              <a:spLocks noChangeArrowheads="1"/>
            </p:cNvSpPr>
            <p:nvPr/>
          </p:nvSpPr>
          <p:spPr bwMode="auto">
            <a:xfrm>
              <a:off x="384" y="2808"/>
              <a:ext cx="49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0" i="1" u="none" strike="noStrike" kern="1200" cap="none" spc="0" normalizeH="0" baseline="0" noProof="0">
                  <a:ln>
                    <a:noFill/>
                  </a:ln>
                  <a:solidFill>
                    <a:srgbClr val="0000FF"/>
                  </a:solidFill>
                  <a:effectLst/>
                  <a:uLnTx/>
                  <a:uFillTx/>
                  <a:latin typeface="+mn-lt"/>
                  <a:ea typeface="+mn-ea"/>
                  <a:cs typeface="+mn-ea"/>
                  <a:sym typeface="+mn-lt"/>
                </a:rPr>
                <a:t>b</a:t>
              </a:r>
              <a:r>
                <a:rPr kumimoji="0" lang="en-US" altLang="zh-CN" sz="2800" b="0" i="0" u="none" strike="noStrike" kern="1200" cap="none" spc="0" normalizeH="0" baseline="0" noProof="0">
                  <a:ln>
                    <a:noFill/>
                  </a:ln>
                  <a:solidFill>
                    <a:srgbClr val="0000FF"/>
                  </a:solidFill>
                  <a:effectLst/>
                  <a:uLnTx/>
                  <a:uFillTx/>
                  <a:latin typeface="+mn-lt"/>
                  <a:ea typeface="+mn-ea"/>
                  <a:cs typeface="+mn-ea"/>
                  <a:sym typeface="+mn-lt"/>
                </a:rPr>
                <a:t>[0]                               </a:t>
              </a:r>
              <a:r>
                <a:rPr kumimoji="0" lang="en-US" altLang="zh-CN" sz="2800" b="0" i="1" u="none" strike="noStrike" kern="1200" cap="none" spc="0" normalizeH="0" baseline="0" noProof="0">
                  <a:ln>
                    <a:noFill/>
                  </a:ln>
                  <a:solidFill>
                    <a:srgbClr val="0000FF"/>
                  </a:solidFill>
                  <a:effectLst/>
                  <a:uLnTx/>
                  <a:uFillTx/>
                  <a:latin typeface="+mn-lt"/>
                  <a:ea typeface="+mn-ea"/>
                  <a:cs typeface="+mn-ea"/>
                  <a:sym typeface="+mn-lt"/>
                </a:rPr>
                <a:t>t</a:t>
              </a:r>
              <a:r>
                <a:rPr kumimoji="0" lang="en-US" altLang="zh-CN" sz="2800" b="0" i="0" u="none" strike="noStrike" kern="1200" cap="none" spc="0" normalizeH="0" baseline="0" noProof="0">
                  <a:ln>
                    <a:noFill/>
                  </a:ln>
                  <a:solidFill>
                    <a:srgbClr val="0000FF"/>
                  </a:solidFill>
                  <a:effectLst/>
                  <a:uLnTx/>
                  <a:uFillTx/>
                  <a:latin typeface="+mn-lt"/>
                  <a:ea typeface="+mn-ea"/>
                  <a:cs typeface="+mn-ea"/>
                  <a:sym typeface="+mn-lt"/>
                </a:rPr>
                <a:t>[0]     </a:t>
              </a:r>
              <a:r>
                <a:rPr kumimoji="0" lang="en-US" altLang="zh-CN" sz="2800" b="0" i="1" u="none" strike="noStrike" kern="1200" cap="none" spc="0" normalizeH="0" baseline="0" noProof="0">
                  <a:ln>
                    <a:noFill/>
                  </a:ln>
                  <a:solidFill>
                    <a:srgbClr val="0000FF"/>
                  </a:solidFill>
                  <a:effectLst/>
                  <a:uLnTx/>
                  <a:uFillTx/>
                  <a:latin typeface="+mn-lt"/>
                  <a:ea typeface="+mn-ea"/>
                  <a:cs typeface="+mn-ea"/>
                  <a:sym typeface="+mn-lt"/>
                </a:rPr>
                <a:t>t</a:t>
              </a:r>
              <a:r>
                <a:rPr kumimoji="0" lang="en-US" altLang="zh-CN" sz="2800" b="0" i="0" u="none" strike="noStrike" kern="1200" cap="none" spc="0" normalizeH="0" baseline="0" noProof="0">
                  <a:ln>
                    <a:noFill/>
                  </a:ln>
                  <a:solidFill>
                    <a:srgbClr val="0000FF"/>
                  </a:solidFill>
                  <a:effectLst/>
                  <a:uLnTx/>
                  <a:uFillTx/>
                  <a:latin typeface="+mn-lt"/>
                  <a:ea typeface="+mn-ea"/>
                  <a:cs typeface="+mn-ea"/>
                  <a:sym typeface="+mn-lt"/>
                </a:rPr>
                <a:t>[1]                         </a:t>
              </a:r>
              <a:r>
                <a:rPr kumimoji="0" lang="en-US" altLang="zh-CN" sz="2800" b="0" i="1" u="none" strike="noStrike" kern="1200" cap="none" spc="0" normalizeH="0" baseline="0" noProof="0">
                  <a:ln>
                    <a:noFill/>
                  </a:ln>
                  <a:solidFill>
                    <a:srgbClr val="0000FF"/>
                  </a:solidFill>
                  <a:effectLst/>
                  <a:uLnTx/>
                  <a:uFillTx/>
                  <a:latin typeface="+mn-lt"/>
                  <a:ea typeface="+mn-ea"/>
                  <a:cs typeface="+mn-ea"/>
                  <a:sym typeface="+mn-lt"/>
                </a:rPr>
                <a:t>b</a:t>
              </a:r>
              <a:r>
                <a:rPr kumimoji="0" lang="en-US" altLang="zh-CN" sz="2800" b="0" i="0" u="none" strike="noStrike" kern="1200" cap="none" spc="0" normalizeH="0" baseline="0" noProof="0">
                  <a:ln>
                    <a:noFill/>
                  </a:ln>
                  <a:solidFill>
                    <a:srgbClr val="0000FF"/>
                  </a:solidFill>
                  <a:effectLst/>
                  <a:uLnTx/>
                  <a:uFillTx/>
                  <a:latin typeface="+mn-lt"/>
                  <a:ea typeface="+mn-ea"/>
                  <a:cs typeface="+mn-ea"/>
                  <a:sym typeface="+mn-lt"/>
                </a:rPr>
                <a:t>[1]</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33" name="Line 10"/>
            <p:cNvSpPr>
              <a:spLocks noChangeShapeType="1"/>
            </p:cNvSpPr>
            <p:nvPr/>
          </p:nvSpPr>
          <p:spPr bwMode="auto">
            <a:xfrm flipV="1">
              <a:off x="576" y="2616"/>
              <a:ext cx="0" cy="240"/>
            </a:xfrm>
            <a:prstGeom prst="line">
              <a:avLst/>
            </a:prstGeom>
            <a:noFill/>
            <a:ln w="38100">
              <a:solidFill>
                <a:srgbClr val="FF66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34" name="Line 11"/>
            <p:cNvSpPr>
              <a:spLocks noChangeShapeType="1"/>
            </p:cNvSpPr>
            <p:nvPr/>
          </p:nvSpPr>
          <p:spPr bwMode="auto">
            <a:xfrm flipV="1">
              <a:off x="2640" y="2616"/>
              <a:ext cx="0" cy="240"/>
            </a:xfrm>
            <a:prstGeom prst="line">
              <a:avLst/>
            </a:prstGeom>
            <a:noFill/>
            <a:ln w="38100">
              <a:solidFill>
                <a:srgbClr val="FF66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35" name="Line 12"/>
            <p:cNvSpPr>
              <a:spLocks noChangeShapeType="1"/>
            </p:cNvSpPr>
            <p:nvPr/>
          </p:nvSpPr>
          <p:spPr bwMode="auto">
            <a:xfrm flipV="1">
              <a:off x="3264" y="2616"/>
              <a:ext cx="0" cy="240"/>
            </a:xfrm>
            <a:prstGeom prst="line">
              <a:avLst/>
            </a:prstGeom>
            <a:noFill/>
            <a:ln w="38100">
              <a:solidFill>
                <a:srgbClr val="FF66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36" name="Line 13"/>
            <p:cNvSpPr>
              <a:spLocks noChangeShapeType="1"/>
            </p:cNvSpPr>
            <p:nvPr/>
          </p:nvSpPr>
          <p:spPr bwMode="auto">
            <a:xfrm flipV="1">
              <a:off x="5136" y="2616"/>
              <a:ext cx="0" cy="240"/>
            </a:xfrm>
            <a:prstGeom prst="line">
              <a:avLst/>
            </a:prstGeom>
            <a:noFill/>
            <a:ln w="38100">
              <a:solidFill>
                <a:srgbClr val="FF6600"/>
              </a:solidFill>
              <a:round/>
              <a:tailEnd type="triangle" w="sm"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37" name="Rectangle 14"/>
            <p:cNvSpPr>
              <a:spLocks noChangeArrowheads="1"/>
            </p:cNvSpPr>
            <p:nvPr/>
          </p:nvSpPr>
          <p:spPr bwMode="auto">
            <a:xfrm>
              <a:off x="672" y="2280"/>
              <a:ext cx="2064" cy="336"/>
            </a:xfrm>
            <a:prstGeom prst="rect">
              <a:avLst/>
            </a:prstGeom>
            <a:solidFill>
              <a:schemeClr val="accent1"/>
            </a:solidFill>
            <a:ln>
              <a:noFill/>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91240B29-F687-4F45-9708-019B960494DF}">
                <a14:hiddenLine xmlns:a14="http://schemas.microsoft.com/office/drawing/2010/main" w="9525">
                  <a:noFill/>
                  <a:miter lim="800000"/>
                  <a:headEnd/>
                  <a:tailEnd/>
                </a14:hiddenLine>
              </a:ext>
            </a:extLst>
          </p:spPr>
          <p:txBody>
            <a:bodyPr wrap="none" anchor="ctr">
              <a:flatTx/>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38" name="Rectangle 15"/>
            <p:cNvSpPr>
              <a:spLocks noChangeArrowheads="1"/>
            </p:cNvSpPr>
            <p:nvPr/>
          </p:nvSpPr>
          <p:spPr bwMode="auto">
            <a:xfrm>
              <a:off x="2736" y="2280"/>
              <a:ext cx="432" cy="336"/>
            </a:xfrm>
            <a:prstGeom prst="rect">
              <a:avLst/>
            </a:prstGeom>
            <a:solidFill>
              <a:srgbClr val="FFFFCC"/>
            </a:solidFill>
            <a:ln>
              <a:noFill/>
            </a:ln>
            <a:scene3d>
              <a:camera prst="legacyObliqueTopRight"/>
              <a:lightRig rig="legacyFlat3" dir="b"/>
            </a:scene3d>
            <a:sp3d extrusionH="430200" prstMaterial="legacyMatte">
              <a:bevelT w="13500" h="13500" prst="angle"/>
              <a:bevelB w="13500" h="13500" prst="angle"/>
              <a:extrusionClr>
                <a:srgbClr val="FFFFCC"/>
              </a:extrusionClr>
              <a:contourClr>
                <a:srgbClr val="FFFFCC"/>
              </a:contourClr>
            </a:sp3d>
            <a:extLst>
              <a:ext uri="{91240B29-F687-4F45-9708-019B960494DF}">
                <a14:hiddenLine xmlns:a14="http://schemas.microsoft.com/office/drawing/2010/main" w="9525">
                  <a:noFill/>
                  <a:miter lim="800000"/>
                  <a:headEnd/>
                  <a:tailEnd/>
                </a14:hiddenLine>
              </a:ext>
            </a:extLst>
          </p:spPr>
          <p:txBody>
            <a:bodyPr wrap="none" anchor="ctr">
              <a:flatTx/>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39" name="Rectangle 16"/>
            <p:cNvSpPr>
              <a:spLocks noChangeArrowheads="1"/>
            </p:cNvSpPr>
            <p:nvPr/>
          </p:nvSpPr>
          <p:spPr bwMode="auto">
            <a:xfrm>
              <a:off x="3168" y="2280"/>
              <a:ext cx="1728" cy="336"/>
            </a:xfrm>
            <a:prstGeom prst="rect">
              <a:avLst/>
            </a:prstGeom>
            <a:solidFill>
              <a:schemeClr val="accent2"/>
            </a:solidFill>
            <a:ln>
              <a:noFill/>
            </a:ln>
            <a:scene3d>
              <a:camera prst="legacyObliqueTopRight"/>
              <a:lightRig rig="legacyFlat3" dir="b"/>
            </a:scene3d>
            <a:sp3d extrusionH="430200" prstMaterial="legacyMatte">
              <a:bevelT w="13500" h="13500" prst="angle"/>
              <a:bevelB w="13500" h="13500" prst="angle"/>
              <a:extrusionClr>
                <a:schemeClr val="accent2"/>
              </a:extrusionClr>
              <a:contourClr>
                <a:schemeClr val="accent2"/>
              </a:contourClr>
            </a:sp3d>
            <a:extLst>
              <a:ext uri="{91240B29-F687-4F45-9708-019B960494DF}">
                <a14:hiddenLine xmlns:a14="http://schemas.microsoft.com/office/drawing/2010/main" w="9525">
                  <a:noFill/>
                  <a:miter lim="800000"/>
                  <a:headEnd/>
                  <a:tailEnd/>
                </a14:hiddenLine>
              </a:ext>
            </a:extLst>
          </p:spPr>
          <p:txBody>
            <a:bodyPr wrap="none" anchor="ctr">
              <a:flatTx/>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40" name="Text Box 17"/>
            <p:cNvSpPr txBox="1">
              <a:spLocks noChangeArrowheads="1"/>
            </p:cNvSpPr>
            <p:nvPr/>
          </p:nvSpPr>
          <p:spPr bwMode="auto">
            <a:xfrm>
              <a:off x="720" y="1857"/>
              <a:ext cx="413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a:ln>
                    <a:noFill/>
                  </a:ln>
                  <a:solidFill>
                    <a:schemeClr val="tx2"/>
                  </a:solidFill>
                  <a:effectLst/>
                  <a:uLnTx/>
                  <a:uFillTx/>
                  <a:latin typeface="+mn-lt"/>
                  <a:ea typeface="+mn-ea"/>
                  <a:cs typeface="+mn-ea"/>
                  <a:sym typeface="+mn-lt"/>
                </a:rPr>
                <a:t>0                                                               m-1</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41" name="Text Box 18"/>
            <p:cNvSpPr txBox="1">
              <a:spLocks noChangeArrowheads="1"/>
            </p:cNvSpPr>
            <p:nvPr/>
          </p:nvSpPr>
          <p:spPr bwMode="auto">
            <a:xfrm>
              <a:off x="374" y="2251"/>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0" i="0" u="none" strike="noStrike" kern="1200" cap="none" spc="0" normalizeH="0" baseline="0" noProof="0">
                  <a:ln>
                    <a:noFill/>
                  </a:ln>
                  <a:solidFill>
                    <a:srgbClr val="0000FF"/>
                  </a:solidFill>
                  <a:effectLst/>
                  <a:uLnTx/>
                  <a:uFillTx/>
                  <a:latin typeface="+mn-lt"/>
                  <a:ea typeface="+mn-ea"/>
                  <a:cs typeface="+mn-ea"/>
                  <a:sym typeface="+mn-lt"/>
                </a:rPr>
                <a:t>V</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42" name="Line 19"/>
            <p:cNvSpPr>
              <a:spLocks noChangeShapeType="1"/>
            </p:cNvSpPr>
            <p:nvPr/>
          </p:nvSpPr>
          <p:spPr bwMode="auto">
            <a:xfrm>
              <a:off x="720" y="2424"/>
              <a:ext cx="1968" cy="0"/>
            </a:xfrm>
            <a:prstGeom prst="line">
              <a:avLst/>
            </a:prstGeom>
            <a:noFill/>
            <a:ln w="38100">
              <a:solidFill>
                <a:srgbClr val="969696"/>
              </a:solidFill>
              <a:round/>
              <a:tailEnd type="triangle" w="med"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8143" name="Line 20"/>
            <p:cNvSpPr>
              <a:spLocks noChangeShapeType="1"/>
            </p:cNvSpPr>
            <p:nvPr/>
          </p:nvSpPr>
          <p:spPr bwMode="auto">
            <a:xfrm>
              <a:off x="3216" y="2424"/>
              <a:ext cx="1632" cy="0"/>
            </a:xfrm>
            <a:prstGeom prst="line">
              <a:avLst/>
            </a:prstGeom>
            <a:noFill/>
            <a:ln w="38100">
              <a:solidFill>
                <a:srgbClr val="969696"/>
              </a:solidFill>
              <a:round/>
              <a:headEnd type="triangle" w="med" len="lg"/>
              <a:tailEnd type="non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542742" name="Rectangle 22"/>
          <p:cNvSpPr>
            <a:spLocks noChangeArrowheads="1"/>
          </p:cNvSpPr>
          <p:nvPr/>
        </p:nvSpPr>
        <p:spPr bwMode="auto">
          <a:xfrm>
            <a:off x="520700" y="1631950"/>
            <a:ext cx="7823200" cy="1069975"/>
          </a:xfrm>
          <a:prstGeom prst="rect">
            <a:avLst/>
          </a:prstGeom>
          <a:solidFill>
            <a:srgbClr val="D4E6F4"/>
          </a:solidFill>
          <a:ln w="38100">
            <a:solidFill>
              <a:srgbClr val="6C4C8F"/>
            </a:solidFill>
            <a:miter lim="800000"/>
          </a:ln>
        </p:spPr>
        <p:txBody>
          <a:bodyPr anchor="ctr">
            <a:spAutoFit/>
          </a:bodyPr>
          <a:lstStyle>
            <a:lvl1pPr>
              <a:tabLst>
                <a:tab pos="990600" algn="l"/>
              </a:tabLst>
              <a:defRPr sz="2400" b="1">
                <a:solidFill>
                  <a:schemeClr val="tx1"/>
                </a:solidFill>
                <a:latin typeface="Times New Roman" panose="02020603050405020304" pitchFamily="18" charset="0"/>
                <a:ea typeface="楷体_GB2312" pitchFamily="49" charset="-122"/>
              </a:defRPr>
            </a:lvl1pPr>
            <a:lvl2pPr>
              <a:tabLst>
                <a:tab pos="990600" algn="l"/>
              </a:tabLst>
              <a:defRPr sz="2400" b="1">
                <a:solidFill>
                  <a:schemeClr val="tx1"/>
                </a:solidFill>
                <a:latin typeface="Times New Roman" panose="02020603050405020304" pitchFamily="18" charset="0"/>
                <a:ea typeface="楷体_GB2312" pitchFamily="49" charset="-122"/>
              </a:defRPr>
            </a:lvl2pPr>
            <a:lvl3pPr>
              <a:tabLst>
                <a:tab pos="990600" algn="l"/>
              </a:tabLst>
              <a:defRPr sz="2400" b="1">
                <a:solidFill>
                  <a:schemeClr val="tx1"/>
                </a:solidFill>
                <a:latin typeface="Times New Roman" panose="02020603050405020304" pitchFamily="18" charset="0"/>
                <a:ea typeface="楷体_GB2312" pitchFamily="49" charset="-122"/>
              </a:defRPr>
            </a:lvl3pPr>
            <a:lvl4pPr>
              <a:tabLst>
                <a:tab pos="990600" algn="l"/>
              </a:tabLst>
              <a:defRPr sz="2400" b="1">
                <a:solidFill>
                  <a:schemeClr val="tx1"/>
                </a:solidFill>
                <a:latin typeface="Times New Roman" panose="02020603050405020304" pitchFamily="18" charset="0"/>
                <a:ea typeface="楷体_GB2312" pitchFamily="49" charset="-122"/>
              </a:defRPr>
            </a:lvl4pPr>
            <a:lvl5pPr>
              <a:tabLst>
                <a:tab pos="990600" algn="l"/>
              </a:tabLst>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tabLst>
                <a:tab pos="990600" algn="l"/>
              </a:tabLst>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tabLst>
                <a:tab pos="990600" algn="l"/>
              </a:tabLst>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tabLst>
                <a:tab pos="990600" algn="l"/>
              </a:tabLst>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tabLst>
                <a:tab pos="990600" algn="l"/>
              </a:tabLst>
              <a:defRPr sz="2400" b="1">
                <a:solidFill>
                  <a:schemeClr val="tx1"/>
                </a:solidFill>
                <a:latin typeface="Times New Roman" panose="02020603050405020304" pitchFamily="18" charset="0"/>
                <a:ea typeface="楷体_GB2312" pitchFamily="49" charset="-122"/>
              </a:defRPr>
            </a:lvl9pPr>
          </a:lstStyle>
          <a:p>
            <a:pPr marL="45720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tab pos="990600" algn="l"/>
              </a:tabLst>
              <a:defRPr/>
            </a:pPr>
            <a:r>
              <a:rPr kumimoji="0" lang="zh-CN" altLang="en-US" sz="2800" b="0" i="0" u="none" strike="noStrike" kern="1200" cap="none" spc="0" normalizeH="0" baseline="0" noProof="0">
                <a:ln>
                  <a:noFill/>
                </a:ln>
                <a:solidFill>
                  <a:schemeClr val="tx1"/>
                </a:solidFill>
                <a:effectLst/>
                <a:uLnTx/>
                <a:uFillTx/>
                <a:latin typeface="+mn-lt"/>
                <a:ea typeface="+mn-ea"/>
                <a:cs typeface="+mn-ea"/>
                <a:sym typeface="+mn-lt"/>
              </a:rPr>
              <a:t>栈空：</a:t>
            </a: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top[i] == bot[i]  i</a:t>
            </a:r>
            <a:r>
              <a:rPr kumimoji="0" lang="zh-CN" altLang="en-US" sz="2800" b="0" i="0" u="none" strike="noStrike" kern="1200" cap="none" spc="0" normalizeH="0" baseline="0" noProof="0">
                <a:ln>
                  <a:noFill/>
                </a:ln>
                <a:solidFill>
                  <a:schemeClr val="tx1"/>
                </a:solidFill>
                <a:effectLst/>
                <a:uLnTx/>
                <a:uFillTx/>
                <a:latin typeface="+mn-lt"/>
                <a:ea typeface="+mn-ea"/>
                <a:cs typeface="+mn-ea"/>
                <a:sym typeface="+mn-lt"/>
              </a:rPr>
              <a:t>表示栈的编号        </a:t>
            </a:r>
          </a:p>
          <a:p>
            <a:pPr marL="45720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tab pos="990600" algn="l"/>
              </a:tabLst>
              <a:defRPr/>
            </a:pPr>
            <a:r>
              <a:rPr kumimoji="0" lang="zh-CN" altLang="en-US" sz="2800" b="0" i="0" u="none" strike="noStrike" kern="1200" cap="none" spc="0" normalizeH="0" baseline="0" noProof="0">
                <a:ln>
                  <a:noFill/>
                </a:ln>
                <a:solidFill>
                  <a:schemeClr val="tx1"/>
                </a:solidFill>
                <a:effectLst/>
                <a:uLnTx/>
                <a:uFillTx/>
                <a:latin typeface="+mn-lt"/>
                <a:ea typeface="+mn-ea"/>
                <a:cs typeface="+mn-ea"/>
                <a:sym typeface="+mn-lt"/>
              </a:rPr>
              <a:t>栈满：</a:t>
            </a: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top[0]+1==top[1] </a:t>
            </a:r>
            <a:r>
              <a:rPr kumimoji="0" lang="zh-CN" altLang="en-US" sz="2800" b="0" i="0" u="none" strike="noStrike" kern="1200" cap="none" spc="0" normalizeH="0" baseline="0" noProof="0">
                <a:ln>
                  <a:noFill/>
                </a:ln>
                <a:solidFill>
                  <a:schemeClr val="tx1"/>
                </a:solidFill>
                <a:effectLst/>
                <a:uLnTx/>
                <a:uFillTx/>
                <a:latin typeface="+mn-lt"/>
                <a:ea typeface="+mn-ea"/>
                <a:cs typeface="+mn-ea"/>
                <a:sym typeface="+mn-lt"/>
              </a:rPr>
              <a:t>或</a:t>
            </a:r>
            <a:r>
              <a:rPr kumimoji="0" lang="en-US" altLang="zh-CN" sz="2800" b="0" i="0" u="none" strike="noStrike" kern="1200" cap="none" spc="0" normalizeH="0" baseline="0" noProof="0">
                <a:ln>
                  <a:noFill/>
                </a:ln>
                <a:solidFill>
                  <a:schemeClr val="tx1"/>
                </a:solidFill>
                <a:effectLst/>
                <a:uLnTx/>
                <a:uFillTx/>
                <a:latin typeface="+mn-lt"/>
                <a:ea typeface="+mn-ea"/>
                <a:cs typeface="+mn-ea"/>
                <a:sym typeface="+mn-lt"/>
              </a:rPr>
              <a:t>top[1]-1==top[0]</a:t>
            </a:r>
          </a:p>
        </p:txBody>
      </p:sp>
      <p:sp>
        <p:nvSpPr>
          <p:cNvPr id="54276"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提示</a:t>
            </a:r>
          </a:p>
        </p:txBody>
      </p:sp>
      <p:sp>
        <p:nvSpPr>
          <p:cNvPr id="20"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42742"/>
                                        </p:tgtEl>
                                        <p:attrNameLst>
                                          <p:attrName>style.visibility</p:attrName>
                                        </p:attrNameLst>
                                      </p:cBhvr>
                                      <p:to>
                                        <p:strVal val="visible"/>
                                      </p:to>
                                    </p:set>
                                    <p:animEffect transition="in" filter="box(in)">
                                      <p:cBhvr>
                                        <p:cTn id="7" dur="500"/>
                                        <p:tgtEl>
                                          <p:spTgt spid="542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4932363" y="2728913"/>
            <a:ext cx="4052888" cy="3735388"/>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299" name="标题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链栈的表示</a:t>
            </a:r>
          </a:p>
        </p:txBody>
      </p:sp>
      <p:sp>
        <p:nvSpPr>
          <p:cNvPr id="49156" name="Rectangle 5"/>
          <p:cNvSpPr>
            <a:spLocks noChangeArrowheads="1"/>
          </p:cNvSpPr>
          <p:nvPr/>
        </p:nvSpPr>
        <p:spPr bwMode="auto">
          <a:xfrm>
            <a:off x="185738" y="1217613"/>
            <a:ext cx="8799513" cy="1235075"/>
          </a:xfrm>
          <a:prstGeom prst="rect">
            <a:avLst/>
          </a:prstGeom>
          <a:solidFill>
            <a:srgbClr val="D4E6F4"/>
          </a:solidFill>
          <a:ln>
            <a:noFill/>
          </a:ln>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30000"/>
              </a:lnSpc>
              <a:spcBef>
                <a:spcPct val="20000"/>
              </a:spcBef>
              <a:spcAft>
                <a:spcPct val="0"/>
              </a:spcAft>
              <a:buClr>
                <a:srgbClr val="FF00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运算是受限的单链表，只能在链表头部进行操作，故没有必要附加头结点。栈顶指针就是链表的头指针</a:t>
            </a:r>
          </a:p>
        </p:txBody>
      </p:sp>
      <p:sp>
        <p:nvSpPr>
          <p:cNvPr id="49157" name="Rectangle 37"/>
          <p:cNvSpPr>
            <a:spLocks noChangeArrowheads="1"/>
          </p:cNvSpPr>
          <p:nvPr/>
        </p:nvSpPr>
        <p:spPr bwMode="auto">
          <a:xfrm>
            <a:off x="209550" y="2728913"/>
            <a:ext cx="4621213" cy="3735388"/>
          </a:xfrm>
          <a:prstGeom prst="rect">
            <a:avLst/>
          </a:prstGeom>
          <a:solidFill>
            <a:schemeClr val="accent1">
              <a:lumMod val="40000"/>
              <a:lumOff val="60000"/>
            </a:schemeClr>
          </a:solidFill>
          <a:ln w="38100">
            <a:noFill/>
            <a:miter lim="800000"/>
          </a:ln>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endPar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typedef  struct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StackNode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SElemType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data;</a:t>
            </a:r>
          </a:p>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struct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StackNode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*next;</a:t>
            </a:r>
          </a:p>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StackNode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LinkStack</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LinkStack</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S;   </a:t>
            </a:r>
          </a:p>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endPar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2" name="Group 38"/>
          <p:cNvGrpSpPr/>
          <p:nvPr/>
        </p:nvGrpSpPr>
        <p:grpSpPr>
          <a:xfrm>
            <a:off x="5148263" y="2852738"/>
            <a:ext cx="3810000" cy="3314700"/>
            <a:chOff x="3792" y="864"/>
            <a:chExt cx="2400" cy="1564"/>
          </a:xfrm>
        </p:grpSpPr>
        <p:sp>
          <p:nvSpPr>
            <p:cNvPr id="49159" name="Rectangle 39"/>
            <p:cNvSpPr>
              <a:spLocks noChangeArrowheads="1"/>
            </p:cNvSpPr>
            <p:nvPr/>
          </p:nvSpPr>
          <p:spPr bwMode="auto">
            <a:xfrm>
              <a:off x="4512" y="1132"/>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9160" name="Line 40"/>
            <p:cNvSpPr>
              <a:spLocks noChangeShapeType="1"/>
            </p:cNvSpPr>
            <p:nvPr/>
          </p:nvSpPr>
          <p:spPr bwMode="auto">
            <a:xfrm>
              <a:off x="4896" y="1132"/>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9161" name="Text Box 41"/>
            <p:cNvSpPr txBox="1">
              <a:spLocks noChangeArrowheads="1"/>
            </p:cNvSpPr>
            <p:nvPr/>
          </p:nvSpPr>
          <p:spPr bwMode="auto">
            <a:xfrm>
              <a:off x="4464" y="864"/>
              <a:ext cx="816"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1600" b="1" i="0" u="none" strike="noStrike" kern="1200" cap="none" spc="0" normalizeH="0" baseline="0" noProof="0">
                  <a:ln>
                    <a:noFill/>
                  </a:ln>
                  <a:solidFill>
                    <a:schemeClr val="tx1"/>
                  </a:solidFill>
                  <a:effectLst/>
                  <a:uLnTx/>
                  <a:uFillTx/>
                  <a:latin typeface="+mn-lt"/>
                  <a:ea typeface="+mn-ea"/>
                  <a:cs typeface="+mn-ea"/>
                  <a:sym typeface="+mn-lt"/>
                </a:rPr>
                <a:t> </a:t>
              </a: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data   next</a:t>
              </a:r>
            </a:p>
          </p:txBody>
        </p:sp>
        <p:sp>
          <p:nvSpPr>
            <p:cNvPr id="49162" name="Text Box 42"/>
            <p:cNvSpPr txBox="1">
              <a:spLocks noChangeArrowheads="1"/>
            </p:cNvSpPr>
            <p:nvPr/>
          </p:nvSpPr>
          <p:spPr bwMode="auto">
            <a:xfrm>
              <a:off x="5328" y="1112"/>
              <a:ext cx="816"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1600" b="1" i="0" u="none" strike="noStrike" kern="1200" cap="none" spc="0" normalizeH="0" baseline="0" noProof="0">
                  <a:ln>
                    <a:noFill/>
                  </a:ln>
                  <a:solidFill>
                    <a:schemeClr val="tx1"/>
                  </a:solidFill>
                  <a:effectLst/>
                  <a:uLnTx/>
                  <a:uFillTx/>
                  <a:latin typeface="+mn-lt"/>
                  <a:ea typeface="+mn-ea"/>
                  <a:cs typeface="+mn-ea"/>
                  <a:sym typeface="+mn-lt"/>
                </a:rPr>
                <a:t> 栈顶</a:t>
              </a:r>
              <a:endParaRPr kumimoji="0" lang="zh-CN" altLang="en-US" sz="16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9163" name="Text Box 43"/>
            <p:cNvSpPr txBox="1">
              <a:spLocks noChangeArrowheads="1"/>
            </p:cNvSpPr>
            <p:nvPr/>
          </p:nvSpPr>
          <p:spPr bwMode="auto">
            <a:xfrm>
              <a:off x="5376" y="2236"/>
              <a:ext cx="816"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zh-CN" sz="1600" b="1" i="0" u="none" strike="noStrike" kern="1200" cap="none" spc="0" normalizeH="0" baseline="0" noProof="0">
                  <a:ln>
                    <a:noFill/>
                  </a:ln>
                  <a:solidFill>
                    <a:schemeClr val="tx1"/>
                  </a:solidFill>
                  <a:effectLst/>
                  <a:uLnTx/>
                  <a:uFillTx/>
                  <a:latin typeface="+mn-lt"/>
                  <a:ea typeface="+mn-ea"/>
                  <a:cs typeface="+mn-ea"/>
                  <a:sym typeface="+mn-lt"/>
                </a:rPr>
                <a:t>栈底</a:t>
              </a:r>
              <a:endParaRPr kumimoji="0" lang="zh-CN" altLang="en-US" sz="16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9164" name="Rectangle 44"/>
            <p:cNvSpPr>
              <a:spLocks noChangeArrowheads="1"/>
            </p:cNvSpPr>
            <p:nvPr/>
          </p:nvSpPr>
          <p:spPr bwMode="auto">
            <a:xfrm>
              <a:off x="4512" y="1516"/>
              <a:ext cx="768" cy="193"/>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9165" name="Line 45"/>
            <p:cNvSpPr>
              <a:spLocks noChangeShapeType="1"/>
            </p:cNvSpPr>
            <p:nvPr/>
          </p:nvSpPr>
          <p:spPr bwMode="auto">
            <a:xfrm>
              <a:off x="4896" y="1516"/>
              <a:ext cx="0" cy="193"/>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9166" name="Rectangle 46"/>
            <p:cNvSpPr>
              <a:spLocks noChangeArrowheads="1"/>
            </p:cNvSpPr>
            <p:nvPr/>
          </p:nvSpPr>
          <p:spPr bwMode="auto">
            <a:xfrm>
              <a:off x="4512" y="2236"/>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9167" name="Line 47"/>
            <p:cNvSpPr>
              <a:spLocks noChangeShapeType="1"/>
            </p:cNvSpPr>
            <p:nvPr/>
          </p:nvSpPr>
          <p:spPr bwMode="auto">
            <a:xfrm>
              <a:off x="4896" y="2236"/>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9168" name="Line 48"/>
            <p:cNvSpPr>
              <a:spLocks noChangeShapeType="1"/>
            </p:cNvSpPr>
            <p:nvPr/>
          </p:nvSpPr>
          <p:spPr bwMode="auto">
            <a:xfrm>
              <a:off x="5088" y="1346"/>
              <a:ext cx="0" cy="163"/>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9169" name="Line 49"/>
            <p:cNvSpPr>
              <a:spLocks noChangeShapeType="1"/>
            </p:cNvSpPr>
            <p:nvPr/>
          </p:nvSpPr>
          <p:spPr bwMode="auto">
            <a:xfrm>
              <a:off x="5088" y="1728"/>
              <a:ext cx="0" cy="24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9170" name="Line 50"/>
            <p:cNvSpPr>
              <a:spLocks noChangeShapeType="1"/>
            </p:cNvSpPr>
            <p:nvPr/>
          </p:nvSpPr>
          <p:spPr bwMode="auto">
            <a:xfrm>
              <a:off x="5088" y="2016"/>
              <a:ext cx="0" cy="192"/>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9171" name="Text Box 51"/>
            <p:cNvSpPr txBox="1">
              <a:spLocks noChangeArrowheads="1"/>
            </p:cNvSpPr>
            <p:nvPr/>
          </p:nvSpPr>
          <p:spPr bwMode="auto">
            <a:xfrm>
              <a:off x="4944" y="2208"/>
              <a:ext cx="28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49172" name="Line 52"/>
            <p:cNvSpPr>
              <a:spLocks noChangeShapeType="1"/>
            </p:cNvSpPr>
            <p:nvPr/>
          </p:nvSpPr>
          <p:spPr bwMode="auto">
            <a:xfrm>
              <a:off x="4032" y="1248"/>
              <a:ext cx="480"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49173" name="Text Box 53"/>
            <p:cNvSpPr txBox="1">
              <a:spLocks noChangeArrowheads="1"/>
            </p:cNvSpPr>
            <p:nvPr/>
          </p:nvSpPr>
          <p:spPr bwMode="auto">
            <a:xfrm>
              <a:off x="3792" y="1152"/>
              <a:ext cx="288"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mn-lt"/>
                  <a:ea typeface="+mn-ea"/>
                  <a:cs typeface="+mn-ea"/>
                  <a:sym typeface="+mn-lt"/>
                </a:rPr>
                <a:t>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矩形 3"/>
          <p:cNvSpPr>
            <a:spLocks noChangeArrowheads="1"/>
          </p:cNvSpPr>
          <p:nvPr/>
        </p:nvSpPr>
        <p:spPr bwMode="auto">
          <a:xfrm>
            <a:off x="-3175" y="2924175"/>
            <a:ext cx="9144000" cy="2665413"/>
          </a:xfrm>
          <a:prstGeom prst="rect">
            <a:avLst/>
          </a:prstGeom>
          <a:solidFill>
            <a:srgbClr val="E2D9EB"/>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0180" name="Rectangle 37"/>
          <p:cNvSpPr>
            <a:spLocks noChangeArrowheads="1"/>
          </p:cNvSpPr>
          <p:nvPr/>
        </p:nvSpPr>
        <p:spPr bwMode="auto">
          <a:xfrm>
            <a:off x="534988" y="3154363"/>
            <a:ext cx="6513513"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InitStack</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LinkStack</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&amp;S )</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S=NULL;</a:t>
            </a: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2" name="Group 38"/>
          <p:cNvGrpSpPr/>
          <p:nvPr/>
        </p:nvGrpSpPr>
        <p:grpSpPr>
          <a:xfrm>
            <a:off x="830263" y="1779588"/>
            <a:ext cx="2867025" cy="531812"/>
            <a:chOff x="705" y="3388"/>
            <a:chExt cx="1023" cy="248"/>
          </a:xfrm>
        </p:grpSpPr>
        <p:sp>
          <p:nvSpPr>
            <p:cNvPr id="50182" name="Text Box 39"/>
            <p:cNvSpPr txBox="1">
              <a:spLocks noChangeArrowheads="1"/>
            </p:cNvSpPr>
            <p:nvPr/>
          </p:nvSpPr>
          <p:spPr bwMode="auto">
            <a:xfrm>
              <a:off x="1440" y="3388"/>
              <a:ext cx="288" cy="245"/>
            </a:xfrm>
            <a:prstGeom prst="rect">
              <a:avLst/>
            </a:prstGeom>
            <a:solidFill>
              <a:srgbClr val="D4E6F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800" b="1"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50183" name="Line 40"/>
            <p:cNvSpPr>
              <a:spLocks noChangeShapeType="1"/>
            </p:cNvSpPr>
            <p:nvPr/>
          </p:nvSpPr>
          <p:spPr bwMode="auto">
            <a:xfrm>
              <a:off x="1023" y="3528"/>
              <a:ext cx="389"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0184" name="Text Box 41"/>
            <p:cNvSpPr txBox="1">
              <a:spLocks noChangeArrowheads="1"/>
            </p:cNvSpPr>
            <p:nvPr/>
          </p:nvSpPr>
          <p:spPr bwMode="auto">
            <a:xfrm>
              <a:off x="705" y="3391"/>
              <a:ext cx="288" cy="245"/>
            </a:xfrm>
            <a:prstGeom prst="rect">
              <a:avLst/>
            </a:prstGeom>
            <a:solidFill>
              <a:srgbClr val="D4E6F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800" b="1" i="0" u="none" strike="noStrike" kern="1200" cap="none" spc="0" normalizeH="0" baseline="0" noProof="0">
                  <a:ln>
                    <a:noFill/>
                  </a:ln>
                  <a:solidFill>
                    <a:schemeClr val="tx1"/>
                  </a:solidFill>
                  <a:effectLst/>
                  <a:uLnTx/>
                  <a:uFillTx/>
                  <a:latin typeface="+mn-lt"/>
                  <a:ea typeface="+mn-ea"/>
                  <a:cs typeface="+mn-ea"/>
                  <a:sym typeface="+mn-lt"/>
                </a:rPr>
                <a:t>S</a:t>
              </a:r>
            </a:p>
          </p:txBody>
        </p:sp>
      </p:grpSp>
      <p:sp>
        <p:nvSpPr>
          <p:cNvPr id="56325" name="标题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链栈的初始化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矩形 6"/>
          <p:cNvSpPr>
            <a:spLocks noChangeArrowheads="1"/>
          </p:cNvSpPr>
          <p:nvPr/>
        </p:nvSpPr>
        <p:spPr bwMode="auto">
          <a:xfrm>
            <a:off x="-3175" y="1989138"/>
            <a:ext cx="9144000" cy="2952750"/>
          </a:xfrm>
          <a:prstGeom prst="rect">
            <a:avLst/>
          </a:prstGeom>
          <a:solidFill>
            <a:srgbClr val="E2D9EB"/>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7347"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判断链栈是否为空</a:t>
            </a:r>
          </a:p>
        </p:txBody>
      </p:sp>
      <p:sp>
        <p:nvSpPr>
          <p:cNvPr id="51204" name="Rectangle 5"/>
          <p:cNvSpPr>
            <a:spLocks noChangeArrowheads="1"/>
          </p:cNvSpPr>
          <p:nvPr/>
        </p:nvSpPr>
        <p:spPr bwMode="auto">
          <a:xfrm>
            <a:off x="395288" y="2133600"/>
            <a:ext cx="76327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t>Status </a:t>
            </a:r>
            <a:r>
              <a:rPr kumimoji="0" lang="en-US" altLang="zh-CN" sz="3200" b="0" i="0" u="none" strike="noStrike" kern="1200" cap="none" spc="0" normalizeH="0" baseline="0" noProof="0" dirty="0" err="1">
                <a:ln>
                  <a:noFill/>
                </a:ln>
                <a:solidFill>
                  <a:srgbClr val="000000"/>
                </a:solidFill>
                <a:effectLst/>
                <a:uLnTx/>
                <a:uFillTx/>
                <a:latin typeface="+mn-lt"/>
                <a:ea typeface="+mn-ea"/>
                <a:cs typeface="+mn-ea"/>
                <a:sym typeface="+mn-lt"/>
              </a:rPr>
              <a:t>StackEmpty</a:t>
            </a:r>
            <a: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t>(</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LinkStack</a:t>
            </a:r>
            <a: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t> S)</a:t>
            </a:r>
            <a:b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t>{</a:t>
            </a:r>
            <a:b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t>   if (S</a:t>
            </a: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==NULL</a:t>
            </a:r>
            <a: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t>) return TRUE;</a:t>
            </a:r>
            <a:b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t>   else return</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t>FALSE;</a:t>
            </a:r>
            <a:b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t>}</a:t>
            </a:r>
            <a:b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br>
            <a:endPar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8"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125"/>
          <p:cNvSpPr>
            <a:spLocks noChangeArrowheads="1"/>
          </p:cNvSpPr>
          <p:nvPr/>
        </p:nvSpPr>
        <p:spPr bwMode="auto">
          <a:xfrm>
            <a:off x="277590" y="2259013"/>
            <a:ext cx="6121623" cy="3933384"/>
          </a:xfrm>
          <a:prstGeom prst="rect">
            <a:avLst/>
          </a:prstGeom>
          <a:solidFill>
            <a:srgbClr val="D4E6F4"/>
          </a:solidFill>
          <a:ln>
            <a:noFill/>
          </a:ln>
        </p:spPr>
        <p:txBody>
          <a:bodyPr wrap="square">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lvl="0">
              <a:lnSpc>
                <a:spcPct val="125000"/>
              </a:lnSpc>
              <a:spcBef>
                <a:spcPct val="20000"/>
              </a:spcBef>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Status Push(</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LinkStack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&amp;S </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SElemType</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e)</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p=(</a:t>
            </a:r>
            <a:r>
              <a:rPr kumimoji="0" lang="en-US" altLang="zh-CN" sz="2400" b="0" i="0" u="none" strike="noStrike" kern="1200" cap="none" spc="0" normalizeH="0" baseline="0" noProof="0" dirty="0" err="1" smtClean="0">
                <a:ln>
                  <a:noFill/>
                </a:ln>
                <a:solidFill>
                  <a:schemeClr val="tx1"/>
                </a:solidFill>
                <a:effectLst/>
                <a:uLnTx/>
                <a:uFillTx/>
                <a:latin typeface="+mn-lt"/>
                <a:ea typeface="+mn-ea"/>
                <a:cs typeface="+mn-ea"/>
                <a:sym typeface="+mn-lt"/>
              </a:rPr>
              <a:t>StackNode</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smtClean="0">
                <a:ln>
                  <a:noFill/>
                </a:ln>
                <a:solidFill>
                  <a:schemeClr val="tx1"/>
                </a:solidFill>
                <a:effectLst/>
                <a:uLnTx/>
                <a:uFillTx/>
                <a:latin typeface="+mn-lt"/>
                <a:ea typeface="+mn-ea"/>
                <a:cs typeface="+mn-ea"/>
                <a:sym typeface="+mn-lt"/>
              </a:rPr>
              <a:t>malloc</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smtClean="0">
                <a:ln>
                  <a:noFill/>
                </a:ln>
                <a:solidFill>
                  <a:schemeClr val="tx1"/>
                </a:solidFill>
                <a:effectLst/>
                <a:uLnTx/>
                <a:uFillTx/>
                <a:latin typeface="+mn-lt"/>
                <a:ea typeface="+mn-ea"/>
                <a:cs typeface="+mn-ea"/>
                <a:sym typeface="+mn-lt"/>
              </a:rPr>
              <a:t>sizeof</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a:t>
            </a:r>
            <a:r>
              <a:rPr lang="en-US" altLang="zh-CN" b="0" dirty="0" err="1">
                <a:cs typeface="+mn-ea"/>
                <a:sym typeface="+mn-lt"/>
              </a:rPr>
              <a:t>StackNode</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生成新结点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 </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if (!p) exit(OVERFLOW);</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p-&gt;data=e; p-&gt;next=S; S=p;</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return OK; </a:t>
            </a:r>
          </a:p>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a:t>
            </a:r>
          </a:p>
        </p:txBody>
      </p:sp>
      <p:grpSp>
        <p:nvGrpSpPr>
          <p:cNvPr id="60419" name="Group 142"/>
          <p:cNvGrpSpPr/>
          <p:nvPr/>
        </p:nvGrpSpPr>
        <p:grpSpPr>
          <a:xfrm>
            <a:off x="3998913" y="1555750"/>
            <a:ext cx="4152900" cy="2200275"/>
            <a:chOff x="2616" y="2027"/>
            <a:chExt cx="2616" cy="1386"/>
          </a:xfrm>
        </p:grpSpPr>
        <p:sp>
          <p:nvSpPr>
            <p:cNvPr id="52230" name="Rectangle 126"/>
            <p:cNvSpPr>
              <a:spLocks noChangeArrowheads="1"/>
            </p:cNvSpPr>
            <p:nvPr/>
          </p:nvSpPr>
          <p:spPr bwMode="auto">
            <a:xfrm>
              <a:off x="3120" y="2066"/>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52231" name="Line 127"/>
            <p:cNvSpPr>
              <a:spLocks noChangeShapeType="1"/>
            </p:cNvSpPr>
            <p:nvPr/>
          </p:nvSpPr>
          <p:spPr bwMode="auto">
            <a:xfrm>
              <a:off x="3504" y="2066"/>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32" name="Line 128"/>
            <p:cNvSpPr>
              <a:spLocks noChangeShapeType="1"/>
            </p:cNvSpPr>
            <p:nvPr/>
          </p:nvSpPr>
          <p:spPr bwMode="auto">
            <a:xfrm>
              <a:off x="2880" y="2182"/>
              <a:ext cx="240" cy="0"/>
            </a:xfrm>
            <a:prstGeom prst="line">
              <a:avLst/>
            </a:prstGeom>
            <a:noFill/>
            <a:ln w="38100">
              <a:solidFill>
                <a:srgbClr val="6C4C8F"/>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33" name="Text Box 129"/>
            <p:cNvSpPr txBox="1">
              <a:spLocks noChangeArrowheads="1"/>
            </p:cNvSpPr>
            <p:nvPr/>
          </p:nvSpPr>
          <p:spPr bwMode="auto">
            <a:xfrm>
              <a:off x="2616" y="2027"/>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p</a:t>
              </a:r>
            </a:p>
          </p:txBody>
        </p:sp>
        <p:sp>
          <p:nvSpPr>
            <p:cNvPr id="52234" name="Rectangle 130"/>
            <p:cNvSpPr>
              <a:spLocks noChangeArrowheads="1"/>
            </p:cNvSpPr>
            <p:nvPr/>
          </p:nvSpPr>
          <p:spPr bwMode="auto">
            <a:xfrm>
              <a:off x="4464" y="2066"/>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35" name="Line 131"/>
            <p:cNvSpPr>
              <a:spLocks noChangeShapeType="1"/>
            </p:cNvSpPr>
            <p:nvPr/>
          </p:nvSpPr>
          <p:spPr bwMode="auto">
            <a:xfrm>
              <a:off x="4848" y="2066"/>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36" name="Rectangle 132"/>
            <p:cNvSpPr>
              <a:spLocks noChangeArrowheads="1"/>
            </p:cNvSpPr>
            <p:nvPr/>
          </p:nvSpPr>
          <p:spPr bwMode="auto">
            <a:xfrm>
              <a:off x="4464" y="2450"/>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37" name="Line 133"/>
            <p:cNvSpPr>
              <a:spLocks noChangeShapeType="1"/>
            </p:cNvSpPr>
            <p:nvPr/>
          </p:nvSpPr>
          <p:spPr bwMode="auto">
            <a:xfrm>
              <a:off x="4848" y="2450"/>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38" name="Rectangle 134"/>
            <p:cNvSpPr>
              <a:spLocks noChangeArrowheads="1"/>
            </p:cNvSpPr>
            <p:nvPr/>
          </p:nvSpPr>
          <p:spPr bwMode="auto">
            <a:xfrm>
              <a:off x="4464" y="3170"/>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39" name="Line 135"/>
            <p:cNvSpPr>
              <a:spLocks noChangeShapeType="1"/>
            </p:cNvSpPr>
            <p:nvPr/>
          </p:nvSpPr>
          <p:spPr bwMode="auto">
            <a:xfrm>
              <a:off x="4848" y="3170"/>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40" name="Line 136"/>
            <p:cNvSpPr>
              <a:spLocks noChangeShapeType="1"/>
            </p:cNvSpPr>
            <p:nvPr/>
          </p:nvSpPr>
          <p:spPr bwMode="auto">
            <a:xfrm>
              <a:off x="5040" y="2285"/>
              <a:ext cx="0" cy="15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41" name="Line 137"/>
            <p:cNvSpPr>
              <a:spLocks noChangeShapeType="1"/>
            </p:cNvSpPr>
            <p:nvPr/>
          </p:nvSpPr>
          <p:spPr bwMode="auto">
            <a:xfrm>
              <a:off x="5040" y="2662"/>
              <a:ext cx="0" cy="24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42" name="Line 138"/>
            <p:cNvSpPr>
              <a:spLocks noChangeShapeType="1"/>
            </p:cNvSpPr>
            <p:nvPr/>
          </p:nvSpPr>
          <p:spPr bwMode="auto">
            <a:xfrm>
              <a:off x="5040" y="2950"/>
              <a:ext cx="0" cy="192"/>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43" name="Text Box 139"/>
            <p:cNvSpPr txBox="1">
              <a:spLocks noChangeArrowheads="1"/>
            </p:cNvSpPr>
            <p:nvPr/>
          </p:nvSpPr>
          <p:spPr bwMode="auto">
            <a:xfrm>
              <a:off x="4896" y="3142"/>
              <a:ext cx="25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a:t>
              </a:r>
            </a:p>
          </p:txBody>
        </p:sp>
        <p:sp>
          <p:nvSpPr>
            <p:cNvPr id="52244" name="Line 140"/>
            <p:cNvSpPr>
              <a:spLocks noChangeShapeType="1"/>
            </p:cNvSpPr>
            <p:nvPr/>
          </p:nvSpPr>
          <p:spPr bwMode="auto">
            <a:xfrm>
              <a:off x="4200" y="2171"/>
              <a:ext cx="240" cy="0"/>
            </a:xfrm>
            <a:prstGeom prst="line">
              <a:avLst/>
            </a:prstGeom>
            <a:noFill/>
            <a:ln w="38100">
              <a:solidFill>
                <a:srgbClr val="6C4C8F"/>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2245" name="Text Box 141"/>
            <p:cNvSpPr txBox="1">
              <a:spLocks noChangeArrowheads="1"/>
            </p:cNvSpPr>
            <p:nvPr/>
          </p:nvSpPr>
          <p:spPr bwMode="auto">
            <a:xfrm>
              <a:off x="3984" y="2027"/>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S</a:t>
              </a:r>
            </a:p>
          </p:txBody>
        </p:sp>
      </p:grpSp>
      <p:sp>
        <p:nvSpPr>
          <p:cNvPr id="58372"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链栈进栈</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2" name="Group 6"/>
          <p:cNvGrpSpPr/>
          <p:nvPr/>
        </p:nvGrpSpPr>
        <p:grpSpPr>
          <a:xfrm>
            <a:off x="4122738" y="1520825"/>
            <a:ext cx="4038600" cy="2286000"/>
            <a:chOff x="2688" y="1990"/>
            <a:chExt cx="2544" cy="1440"/>
          </a:xfrm>
        </p:grpSpPr>
        <p:sp>
          <p:nvSpPr>
            <p:cNvPr id="53253" name="Rectangle 7"/>
            <p:cNvSpPr>
              <a:spLocks noChangeArrowheads="1"/>
            </p:cNvSpPr>
            <p:nvPr/>
          </p:nvSpPr>
          <p:spPr bwMode="auto">
            <a:xfrm>
              <a:off x="3120" y="2066"/>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4" name="Line 8"/>
            <p:cNvSpPr>
              <a:spLocks noChangeShapeType="1"/>
            </p:cNvSpPr>
            <p:nvPr/>
          </p:nvSpPr>
          <p:spPr bwMode="auto">
            <a:xfrm>
              <a:off x="3504" y="2066"/>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5" name="Line 9"/>
            <p:cNvSpPr>
              <a:spLocks noChangeShapeType="1"/>
            </p:cNvSpPr>
            <p:nvPr/>
          </p:nvSpPr>
          <p:spPr bwMode="auto">
            <a:xfrm>
              <a:off x="2880" y="2182"/>
              <a:ext cx="240"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6" name="Text Box 10"/>
            <p:cNvSpPr txBox="1">
              <a:spLocks noChangeArrowheads="1"/>
            </p:cNvSpPr>
            <p:nvPr/>
          </p:nvSpPr>
          <p:spPr bwMode="auto">
            <a:xfrm>
              <a:off x="2688" y="206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a:t>
              </a:r>
            </a:p>
          </p:txBody>
        </p:sp>
        <p:sp>
          <p:nvSpPr>
            <p:cNvPr id="53257" name="Rectangle 11"/>
            <p:cNvSpPr>
              <a:spLocks noChangeArrowheads="1"/>
            </p:cNvSpPr>
            <p:nvPr/>
          </p:nvSpPr>
          <p:spPr bwMode="auto">
            <a:xfrm>
              <a:off x="4464" y="2066"/>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8" name="Line 12"/>
            <p:cNvSpPr>
              <a:spLocks noChangeShapeType="1"/>
            </p:cNvSpPr>
            <p:nvPr/>
          </p:nvSpPr>
          <p:spPr bwMode="auto">
            <a:xfrm>
              <a:off x="4848" y="2066"/>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59" name="Rectangle 13"/>
            <p:cNvSpPr>
              <a:spLocks noChangeArrowheads="1"/>
            </p:cNvSpPr>
            <p:nvPr/>
          </p:nvSpPr>
          <p:spPr bwMode="auto">
            <a:xfrm>
              <a:off x="4464" y="2450"/>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0" name="Line 14"/>
            <p:cNvSpPr>
              <a:spLocks noChangeShapeType="1"/>
            </p:cNvSpPr>
            <p:nvPr/>
          </p:nvSpPr>
          <p:spPr bwMode="auto">
            <a:xfrm>
              <a:off x="4848" y="2450"/>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1" name="Rectangle 15"/>
            <p:cNvSpPr>
              <a:spLocks noChangeArrowheads="1"/>
            </p:cNvSpPr>
            <p:nvPr/>
          </p:nvSpPr>
          <p:spPr bwMode="auto">
            <a:xfrm>
              <a:off x="4464" y="3170"/>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2" name="Line 16"/>
            <p:cNvSpPr>
              <a:spLocks noChangeShapeType="1"/>
            </p:cNvSpPr>
            <p:nvPr/>
          </p:nvSpPr>
          <p:spPr bwMode="auto">
            <a:xfrm>
              <a:off x="4848" y="3170"/>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3" name="Line 17"/>
            <p:cNvSpPr>
              <a:spLocks noChangeShapeType="1"/>
            </p:cNvSpPr>
            <p:nvPr/>
          </p:nvSpPr>
          <p:spPr bwMode="auto">
            <a:xfrm>
              <a:off x="5040" y="2230"/>
              <a:ext cx="0" cy="24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4" name="Line 18"/>
            <p:cNvSpPr>
              <a:spLocks noChangeShapeType="1"/>
            </p:cNvSpPr>
            <p:nvPr/>
          </p:nvSpPr>
          <p:spPr bwMode="auto">
            <a:xfrm>
              <a:off x="5040" y="2662"/>
              <a:ext cx="0" cy="24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5" name="Line 19"/>
            <p:cNvSpPr>
              <a:spLocks noChangeShapeType="1"/>
            </p:cNvSpPr>
            <p:nvPr/>
          </p:nvSpPr>
          <p:spPr bwMode="auto">
            <a:xfrm>
              <a:off x="5040" y="2950"/>
              <a:ext cx="0" cy="192"/>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6" name="Text Box 20"/>
            <p:cNvSpPr txBox="1">
              <a:spLocks noChangeArrowheads="1"/>
            </p:cNvSpPr>
            <p:nvPr/>
          </p:nvSpPr>
          <p:spPr bwMode="auto">
            <a:xfrm>
              <a:off x="4896" y="314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53267" name="Line 21"/>
            <p:cNvSpPr>
              <a:spLocks noChangeShapeType="1"/>
            </p:cNvSpPr>
            <p:nvPr/>
          </p:nvSpPr>
          <p:spPr bwMode="auto">
            <a:xfrm>
              <a:off x="4224" y="2106"/>
              <a:ext cx="240"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3268" name="Text Box 22"/>
            <p:cNvSpPr txBox="1">
              <a:spLocks noChangeArrowheads="1"/>
            </p:cNvSpPr>
            <p:nvPr/>
          </p:nvSpPr>
          <p:spPr bwMode="auto">
            <a:xfrm>
              <a:off x="4032" y="199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S</a:t>
              </a:r>
            </a:p>
          </p:txBody>
        </p:sp>
      </p:grpSp>
      <p:sp>
        <p:nvSpPr>
          <p:cNvPr id="53269" name="Text Box 23"/>
          <p:cNvSpPr txBox="1">
            <a:spLocks noChangeArrowheads="1"/>
          </p:cNvSpPr>
          <p:nvPr/>
        </p:nvSpPr>
        <p:spPr bwMode="auto">
          <a:xfrm flipH="1">
            <a:off x="4808538" y="152082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0070C0"/>
                </a:solidFill>
                <a:effectLst/>
                <a:uLnTx/>
                <a:uFillTx/>
                <a:latin typeface="+mn-lt"/>
                <a:ea typeface="+mn-ea"/>
                <a:cs typeface="+mn-ea"/>
                <a:sym typeface="+mn-lt"/>
              </a:rPr>
              <a:t>e</a:t>
            </a:r>
          </a:p>
        </p:txBody>
      </p:sp>
      <p:sp>
        <p:nvSpPr>
          <p:cNvPr id="53270" name="Rectangle 24"/>
          <p:cNvSpPr>
            <a:spLocks noChangeArrowheads="1"/>
          </p:cNvSpPr>
          <p:nvPr/>
        </p:nvSpPr>
        <p:spPr bwMode="auto">
          <a:xfrm>
            <a:off x="392113" y="2159706"/>
            <a:ext cx="6092825" cy="4081117"/>
          </a:xfrm>
          <a:prstGeom prst="rect">
            <a:avLst/>
          </a:prstGeom>
          <a:solidFill>
            <a:srgbClr val="E2D9EB"/>
          </a:solidFill>
          <a:ln>
            <a:noFill/>
          </a:ln>
        </p:spPr>
        <p:txBody>
          <a:bodyPr wrap="square">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lvl="0">
              <a:lnSpc>
                <a:spcPct val="130000"/>
              </a:lnSpc>
              <a:spcBef>
                <a:spcPct val="20000"/>
              </a:spcBef>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Status Push(</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LinkStack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&amp;S </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SElemType</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e)</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smtClean="0">
                <a:ln>
                  <a:noFill/>
                </a:ln>
                <a:solidFill>
                  <a:srgbClr val="000000"/>
                </a:solidFill>
                <a:effectLst/>
                <a:uLnTx/>
                <a:uFillTx/>
                <a:latin typeface="+mn-lt"/>
                <a:ea typeface="+mn-ea"/>
                <a:cs typeface="+mn-ea"/>
                <a:sym typeface="+mn-lt"/>
              </a:rPr>
              <a:t>  p</a:t>
            </a:r>
            <a:r>
              <a:rPr lang="en-US" altLang="zh-CN" b="0" dirty="0" smtClean="0">
                <a:solidFill>
                  <a:srgbClr val="000000"/>
                </a:solidFill>
                <a:latin typeface="+mn-lt"/>
                <a:ea typeface="+mn-ea"/>
                <a:cs typeface="+mn-ea"/>
                <a:sym typeface="+mn-lt"/>
              </a:rPr>
              <a:t>=(</a:t>
            </a:r>
            <a:r>
              <a:rPr lang="en-US" altLang="zh-CN" b="0" dirty="0" err="1">
                <a:solidFill>
                  <a:srgbClr val="000000"/>
                </a:solidFill>
                <a:latin typeface="+mn-lt"/>
                <a:ea typeface="+mn-ea"/>
                <a:cs typeface="+mn-ea"/>
                <a:sym typeface="+mn-lt"/>
              </a:rPr>
              <a:t>StackNode</a:t>
            </a:r>
            <a:r>
              <a:rPr lang="en-US" altLang="zh-CN" b="0" dirty="0">
                <a:solidFill>
                  <a:srgbClr val="000000"/>
                </a:solidFill>
                <a:latin typeface="+mn-lt"/>
                <a:ea typeface="+mn-ea"/>
                <a:cs typeface="+mn-ea"/>
                <a:sym typeface="+mn-lt"/>
              </a:rPr>
              <a:t>*)</a:t>
            </a:r>
            <a:r>
              <a:rPr lang="en-US" altLang="zh-CN" b="0" dirty="0" err="1">
                <a:solidFill>
                  <a:srgbClr val="000000"/>
                </a:solidFill>
                <a:latin typeface="+mn-lt"/>
                <a:ea typeface="+mn-ea"/>
                <a:cs typeface="+mn-ea"/>
                <a:sym typeface="+mn-lt"/>
              </a:rPr>
              <a:t>malloc</a:t>
            </a:r>
            <a:r>
              <a:rPr lang="en-US" altLang="zh-CN" b="0" dirty="0">
                <a:solidFill>
                  <a:srgbClr val="000000"/>
                </a:solidFill>
                <a:latin typeface="+mn-lt"/>
                <a:ea typeface="+mn-ea"/>
                <a:cs typeface="+mn-ea"/>
                <a:sym typeface="+mn-lt"/>
              </a:rPr>
              <a:t>(</a:t>
            </a:r>
            <a:r>
              <a:rPr lang="en-US" altLang="zh-CN" b="0" dirty="0" err="1">
                <a:solidFill>
                  <a:srgbClr val="000000"/>
                </a:solidFill>
                <a:latin typeface="+mn-lt"/>
                <a:ea typeface="+mn-ea"/>
                <a:cs typeface="+mn-ea"/>
                <a:sym typeface="+mn-lt"/>
              </a:rPr>
              <a:t>sizeof</a:t>
            </a:r>
            <a:r>
              <a:rPr lang="en-US" altLang="zh-CN" b="0" dirty="0">
                <a:solidFill>
                  <a:srgbClr val="000000"/>
                </a:solidFill>
                <a:latin typeface="+mn-lt"/>
                <a:ea typeface="+mn-ea"/>
                <a:cs typeface="+mn-ea"/>
                <a:sym typeface="+mn-lt"/>
              </a:rPr>
              <a:t>(</a:t>
            </a:r>
            <a:r>
              <a:rPr lang="en-US" altLang="zh-CN" b="0" dirty="0" err="1">
                <a:solidFill>
                  <a:srgbClr val="000000"/>
                </a:solidFill>
                <a:latin typeface="+mn-lt"/>
                <a:ea typeface="+mn-ea"/>
                <a:cs typeface="+mn-ea"/>
                <a:sym typeface="+mn-lt"/>
              </a:rPr>
              <a:t>StackNode</a:t>
            </a:r>
            <a:r>
              <a:rPr lang="en-US" altLang="zh-CN" b="0" dirty="0" smtClean="0">
                <a:solidFill>
                  <a:srgbClr val="000000"/>
                </a:solidFill>
                <a:latin typeface="+mn-lt"/>
                <a:ea typeface="+mn-ea"/>
                <a:cs typeface="+mn-ea"/>
                <a:sym typeface="+mn-lt"/>
              </a:rPr>
              <a:t>));   </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生成新结点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 </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if (!p) exit(OVERFLOW);</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0070C0"/>
                </a:solidFill>
                <a:effectLst/>
                <a:uLnTx/>
                <a:uFillTx/>
                <a:latin typeface="+mn-lt"/>
                <a:ea typeface="+mn-ea"/>
                <a:cs typeface="+mn-ea"/>
                <a:sym typeface="+mn-lt"/>
              </a:rPr>
              <a:t>p-&gt;data=e;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p-&gt;next=S; S=p;</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p>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return OK; </a:t>
            </a:r>
          </a:p>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a:t>
            </a:r>
          </a:p>
        </p:txBody>
      </p:sp>
      <p:sp>
        <p:nvSpPr>
          <p:cNvPr id="59397"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链栈进栈</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链栈进栈</a:t>
            </a:r>
          </a:p>
        </p:txBody>
      </p:sp>
      <p:grpSp>
        <p:nvGrpSpPr>
          <p:cNvPr id="62467" name="Group 6"/>
          <p:cNvGrpSpPr/>
          <p:nvPr/>
        </p:nvGrpSpPr>
        <p:grpSpPr>
          <a:xfrm>
            <a:off x="4110038" y="1636713"/>
            <a:ext cx="4038600" cy="2286000"/>
            <a:chOff x="2688" y="1990"/>
            <a:chExt cx="2544" cy="1440"/>
          </a:xfrm>
        </p:grpSpPr>
        <p:sp>
          <p:nvSpPr>
            <p:cNvPr id="54277" name="Rectangle 7"/>
            <p:cNvSpPr>
              <a:spLocks noChangeArrowheads="1"/>
            </p:cNvSpPr>
            <p:nvPr/>
          </p:nvSpPr>
          <p:spPr bwMode="auto">
            <a:xfrm>
              <a:off x="3120" y="2066"/>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78" name="Line 8"/>
            <p:cNvSpPr>
              <a:spLocks noChangeShapeType="1"/>
            </p:cNvSpPr>
            <p:nvPr/>
          </p:nvSpPr>
          <p:spPr bwMode="auto">
            <a:xfrm>
              <a:off x="3504" y="2066"/>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79" name="Line 9"/>
            <p:cNvSpPr>
              <a:spLocks noChangeShapeType="1"/>
            </p:cNvSpPr>
            <p:nvPr/>
          </p:nvSpPr>
          <p:spPr bwMode="auto">
            <a:xfrm>
              <a:off x="2880" y="2182"/>
              <a:ext cx="240"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80" name="Text Box 10"/>
            <p:cNvSpPr txBox="1">
              <a:spLocks noChangeArrowheads="1"/>
            </p:cNvSpPr>
            <p:nvPr/>
          </p:nvSpPr>
          <p:spPr bwMode="auto">
            <a:xfrm>
              <a:off x="2688" y="206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a:t>
              </a:r>
            </a:p>
          </p:txBody>
        </p:sp>
        <p:sp>
          <p:nvSpPr>
            <p:cNvPr id="54281" name="Rectangle 11"/>
            <p:cNvSpPr>
              <a:spLocks noChangeArrowheads="1"/>
            </p:cNvSpPr>
            <p:nvPr/>
          </p:nvSpPr>
          <p:spPr bwMode="auto">
            <a:xfrm>
              <a:off x="4464" y="2066"/>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82" name="Line 12"/>
            <p:cNvSpPr>
              <a:spLocks noChangeShapeType="1"/>
            </p:cNvSpPr>
            <p:nvPr/>
          </p:nvSpPr>
          <p:spPr bwMode="auto">
            <a:xfrm>
              <a:off x="4848" y="2066"/>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83" name="Rectangle 13"/>
            <p:cNvSpPr>
              <a:spLocks noChangeArrowheads="1"/>
            </p:cNvSpPr>
            <p:nvPr/>
          </p:nvSpPr>
          <p:spPr bwMode="auto">
            <a:xfrm>
              <a:off x="4464" y="2450"/>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84" name="Line 14"/>
            <p:cNvSpPr>
              <a:spLocks noChangeShapeType="1"/>
            </p:cNvSpPr>
            <p:nvPr/>
          </p:nvSpPr>
          <p:spPr bwMode="auto">
            <a:xfrm>
              <a:off x="4848" y="2450"/>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85" name="Rectangle 15"/>
            <p:cNvSpPr>
              <a:spLocks noChangeArrowheads="1"/>
            </p:cNvSpPr>
            <p:nvPr/>
          </p:nvSpPr>
          <p:spPr bwMode="auto">
            <a:xfrm>
              <a:off x="4464" y="3170"/>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86" name="Line 16"/>
            <p:cNvSpPr>
              <a:spLocks noChangeShapeType="1"/>
            </p:cNvSpPr>
            <p:nvPr/>
          </p:nvSpPr>
          <p:spPr bwMode="auto">
            <a:xfrm>
              <a:off x="4848" y="3170"/>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87" name="Line 17"/>
            <p:cNvSpPr>
              <a:spLocks noChangeShapeType="1"/>
            </p:cNvSpPr>
            <p:nvPr/>
          </p:nvSpPr>
          <p:spPr bwMode="auto">
            <a:xfrm>
              <a:off x="5040" y="2230"/>
              <a:ext cx="0" cy="24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88" name="Line 18"/>
            <p:cNvSpPr>
              <a:spLocks noChangeShapeType="1"/>
            </p:cNvSpPr>
            <p:nvPr/>
          </p:nvSpPr>
          <p:spPr bwMode="auto">
            <a:xfrm>
              <a:off x="5040" y="2662"/>
              <a:ext cx="0" cy="24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89" name="Line 19"/>
            <p:cNvSpPr>
              <a:spLocks noChangeShapeType="1"/>
            </p:cNvSpPr>
            <p:nvPr/>
          </p:nvSpPr>
          <p:spPr bwMode="auto">
            <a:xfrm>
              <a:off x="5040" y="2950"/>
              <a:ext cx="0" cy="192"/>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90" name="Text Box 20"/>
            <p:cNvSpPr txBox="1">
              <a:spLocks noChangeArrowheads="1"/>
            </p:cNvSpPr>
            <p:nvPr/>
          </p:nvSpPr>
          <p:spPr bwMode="auto">
            <a:xfrm>
              <a:off x="4896" y="314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54291" name="Line 21"/>
            <p:cNvSpPr>
              <a:spLocks noChangeShapeType="1"/>
            </p:cNvSpPr>
            <p:nvPr/>
          </p:nvSpPr>
          <p:spPr bwMode="auto">
            <a:xfrm>
              <a:off x="4224" y="2106"/>
              <a:ext cx="240"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92" name="Text Box 22"/>
            <p:cNvSpPr txBox="1">
              <a:spLocks noChangeArrowheads="1"/>
            </p:cNvSpPr>
            <p:nvPr/>
          </p:nvSpPr>
          <p:spPr bwMode="auto">
            <a:xfrm>
              <a:off x="4032" y="199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S</a:t>
              </a:r>
            </a:p>
          </p:txBody>
        </p:sp>
      </p:grpSp>
      <p:sp>
        <p:nvSpPr>
          <p:cNvPr id="54293" name="Line 23"/>
          <p:cNvSpPr>
            <a:spLocks noChangeShapeType="1"/>
          </p:cNvSpPr>
          <p:nvPr/>
        </p:nvSpPr>
        <p:spPr bwMode="auto">
          <a:xfrm>
            <a:off x="5786438" y="2017713"/>
            <a:ext cx="1143000" cy="0"/>
          </a:xfrm>
          <a:prstGeom prst="line">
            <a:avLst/>
          </a:prstGeom>
          <a:noFill/>
          <a:ln w="38100">
            <a:solidFill>
              <a:srgbClr val="0070C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4294" name="Text Box 24"/>
          <p:cNvSpPr txBox="1">
            <a:spLocks noChangeArrowheads="1"/>
          </p:cNvSpPr>
          <p:nvPr/>
        </p:nvSpPr>
        <p:spPr bwMode="auto">
          <a:xfrm flipH="1">
            <a:off x="4795838" y="16367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e</a:t>
            </a:r>
          </a:p>
        </p:txBody>
      </p:sp>
      <p:sp>
        <p:nvSpPr>
          <p:cNvPr id="54295" name="Rectangle 25"/>
          <p:cNvSpPr>
            <a:spLocks noChangeArrowheads="1"/>
          </p:cNvSpPr>
          <p:nvPr/>
        </p:nvSpPr>
        <p:spPr bwMode="auto">
          <a:xfrm>
            <a:off x="251520" y="2422525"/>
            <a:ext cx="6301681" cy="4081117"/>
          </a:xfrm>
          <a:prstGeom prst="rect">
            <a:avLst/>
          </a:prstGeom>
          <a:solidFill>
            <a:srgbClr val="D4E6F4"/>
          </a:solidFill>
          <a:ln>
            <a:noFill/>
          </a:ln>
        </p:spPr>
        <p:txBody>
          <a:bodyPr wrap="square">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lvl="0">
              <a:lnSpc>
                <a:spcPct val="130000"/>
              </a:lnSpc>
              <a:spcBef>
                <a:spcPct val="20000"/>
              </a:spcBef>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Status Push(</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LinkStack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&amp;S </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SElemType</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e)</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lang="en-US" altLang="zh-CN" b="0" dirty="0">
                <a:latin typeface="+mn-lt"/>
                <a:ea typeface="+mn-ea"/>
                <a:cs typeface="+mn-ea"/>
                <a:sym typeface="+mn-lt"/>
              </a:rPr>
              <a:t>p=(</a:t>
            </a:r>
            <a:r>
              <a:rPr lang="en-US" altLang="zh-CN" b="0" dirty="0" err="1">
                <a:latin typeface="+mn-lt"/>
                <a:ea typeface="+mn-ea"/>
                <a:cs typeface="+mn-ea"/>
                <a:sym typeface="+mn-lt"/>
              </a:rPr>
              <a:t>StackNode</a:t>
            </a:r>
            <a:r>
              <a:rPr lang="en-US" altLang="zh-CN" b="0" dirty="0">
                <a:latin typeface="+mn-lt"/>
                <a:ea typeface="+mn-ea"/>
                <a:cs typeface="+mn-ea"/>
                <a:sym typeface="+mn-lt"/>
              </a:rPr>
              <a:t>*)</a:t>
            </a:r>
            <a:r>
              <a:rPr lang="en-US" altLang="zh-CN" b="0" dirty="0" err="1">
                <a:latin typeface="+mn-lt"/>
                <a:ea typeface="+mn-ea"/>
                <a:cs typeface="+mn-ea"/>
                <a:sym typeface="+mn-lt"/>
              </a:rPr>
              <a:t>malloc</a:t>
            </a:r>
            <a:r>
              <a:rPr lang="en-US" altLang="zh-CN" b="0" dirty="0">
                <a:latin typeface="+mn-lt"/>
                <a:ea typeface="+mn-ea"/>
                <a:cs typeface="+mn-ea"/>
                <a:sym typeface="+mn-lt"/>
              </a:rPr>
              <a:t>(</a:t>
            </a:r>
            <a:r>
              <a:rPr lang="en-US" altLang="zh-CN" b="0" dirty="0" err="1">
                <a:latin typeface="+mn-lt"/>
                <a:ea typeface="+mn-ea"/>
                <a:cs typeface="+mn-ea"/>
                <a:sym typeface="+mn-lt"/>
              </a:rPr>
              <a:t>sizeof</a:t>
            </a:r>
            <a:r>
              <a:rPr lang="en-US" altLang="zh-CN" b="0" dirty="0">
                <a:latin typeface="+mn-lt"/>
                <a:ea typeface="+mn-ea"/>
                <a:cs typeface="+mn-ea"/>
                <a:sym typeface="+mn-lt"/>
              </a:rPr>
              <a:t>(</a:t>
            </a:r>
            <a:r>
              <a:rPr lang="en-US" altLang="zh-CN" b="0" dirty="0" err="1">
                <a:latin typeface="+mn-lt"/>
                <a:ea typeface="+mn-ea"/>
                <a:cs typeface="+mn-ea"/>
                <a:sym typeface="+mn-lt"/>
              </a:rPr>
              <a:t>StackNode</a:t>
            </a:r>
            <a:r>
              <a:rPr lang="en-US" altLang="zh-CN" b="0" dirty="0">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生成新结点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 </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if (!p) exit(OVERFLOW);</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p-&gt;data=e; </a:t>
            </a:r>
            <a:r>
              <a:rPr kumimoji="0" lang="en-US" altLang="zh-CN" sz="2400" b="0" i="0" u="none" strike="noStrike" kern="1200" cap="none" spc="0" normalizeH="0" baseline="0" noProof="0" dirty="0">
                <a:ln>
                  <a:noFill/>
                </a:ln>
                <a:solidFill>
                  <a:srgbClr val="0070C0"/>
                </a:solidFill>
                <a:effectLst/>
                <a:uLnTx/>
                <a:uFillTx/>
                <a:latin typeface="+mn-lt"/>
                <a:ea typeface="+mn-ea"/>
                <a:cs typeface="+mn-ea"/>
                <a:sym typeface="+mn-lt"/>
              </a:rPr>
              <a:t>p-&gt;next=S;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S=p;</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p>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return OK; </a:t>
            </a:r>
          </a:p>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0" name="Group 6"/>
          <p:cNvGrpSpPr/>
          <p:nvPr/>
        </p:nvGrpSpPr>
        <p:grpSpPr>
          <a:xfrm>
            <a:off x="4256088" y="1506538"/>
            <a:ext cx="4038600" cy="2286000"/>
            <a:chOff x="2688" y="1990"/>
            <a:chExt cx="2544" cy="1440"/>
          </a:xfrm>
        </p:grpSpPr>
        <p:sp>
          <p:nvSpPr>
            <p:cNvPr id="55301" name="Rectangle 7"/>
            <p:cNvSpPr>
              <a:spLocks noChangeArrowheads="1"/>
            </p:cNvSpPr>
            <p:nvPr/>
          </p:nvSpPr>
          <p:spPr bwMode="auto">
            <a:xfrm>
              <a:off x="3120" y="2066"/>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02" name="Line 8"/>
            <p:cNvSpPr>
              <a:spLocks noChangeShapeType="1"/>
            </p:cNvSpPr>
            <p:nvPr/>
          </p:nvSpPr>
          <p:spPr bwMode="auto">
            <a:xfrm>
              <a:off x="3504" y="2066"/>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03" name="Line 9"/>
            <p:cNvSpPr>
              <a:spLocks noChangeShapeType="1"/>
            </p:cNvSpPr>
            <p:nvPr/>
          </p:nvSpPr>
          <p:spPr bwMode="auto">
            <a:xfrm>
              <a:off x="2880" y="2182"/>
              <a:ext cx="240"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04" name="Text Box 10"/>
            <p:cNvSpPr txBox="1">
              <a:spLocks noChangeArrowheads="1"/>
            </p:cNvSpPr>
            <p:nvPr/>
          </p:nvSpPr>
          <p:spPr bwMode="auto">
            <a:xfrm>
              <a:off x="2688" y="206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a:t>
              </a:r>
            </a:p>
          </p:txBody>
        </p:sp>
        <p:sp>
          <p:nvSpPr>
            <p:cNvPr id="55305" name="Rectangle 11"/>
            <p:cNvSpPr>
              <a:spLocks noChangeArrowheads="1"/>
            </p:cNvSpPr>
            <p:nvPr/>
          </p:nvSpPr>
          <p:spPr bwMode="auto">
            <a:xfrm>
              <a:off x="4464" y="2066"/>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06" name="Line 12"/>
            <p:cNvSpPr>
              <a:spLocks noChangeShapeType="1"/>
            </p:cNvSpPr>
            <p:nvPr/>
          </p:nvSpPr>
          <p:spPr bwMode="auto">
            <a:xfrm>
              <a:off x="4848" y="2066"/>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07" name="Rectangle 13"/>
            <p:cNvSpPr>
              <a:spLocks noChangeArrowheads="1"/>
            </p:cNvSpPr>
            <p:nvPr/>
          </p:nvSpPr>
          <p:spPr bwMode="auto">
            <a:xfrm>
              <a:off x="4464" y="2450"/>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08" name="Line 14"/>
            <p:cNvSpPr>
              <a:spLocks noChangeShapeType="1"/>
            </p:cNvSpPr>
            <p:nvPr/>
          </p:nvSpPr>
          <p:spPr bwMode="auto">
            <a:xfrm>
              <a:off x="4848" y="2450"/>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09" name="Rectangle 15"/>
            <p:cNvSpPr>
              <a:spLocks noChangeArrowheads="1"/>
            </p:cNvSpPr>
            <p:nvPr/>
          </p:nvSpPr>
          <p:spPr bwMode="auto">
            <a:xfrm>
              <a:off x="4464" y="3170"/>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10" name="Line 16"/>
            <p:cNvSpPr>
              <a:spLocks noChangeShapeType="1"/>
            </p:cNvSpPr>
            <p:nvPr/>
          </p:nvSpPr>
          <p:spPr bwMode="auto">
            <a:xfrm>
              <a:off x="4848" y="3170"/>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11" name="Line 17"/>
            <p:cNvSpPr>
              <a:spLocks noChangeShapeType="1"/>
            </p:cNvSpPr>
            <p:nvPr/>
          </p:nvSpPr>
          <p:spPr bwMode="auto">
            <a:xfrm>
              <a:off x="5040" y="2230"/>
              <a:ext cx="0" cy="24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12" name="Line 18"/>
            <p:cNvSpPr>
              <a:spLocks noChangeShapeType="1"/>
            </p:cNvSpPr>
            <p:nvPr/>
          </p:nvSpPr>
          <p:spPr bwMode="auto">
            <a:xfrm>
              <a:off x="5040" y="2662"/>
              <a:ext cx="0" cy="24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13" name="Line 19"/>
            <p:cNvSpPr>
              <a:spLocks noChangeShapeType="1"/>
            </p:cNvSpPr>
            <p:nvPr/>
          </p:nvSpPr>
          <p:spPr bwMode="auto">
            <a:xfrm>
              <a:off x="5040" y="2950"/>
              <a:ext cx="0" cy="192"/>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14" name="Text Box 20"/>
            <p:cNvSpPr txBox="1">
              <a:spLocks noChangeArrowheads="1"/>
            </p:cNvSpPr>
            <p:nvPr/>
          </p:nvSpPr>
          <p:spPr bwMode="auto">
            <a:xfrm>
              <a:off x="4896" y="314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55315" name="Line 21"/>
            <p:cNvSpPr>
              <a:spLocks noChangeShapeType="1"/>
            </p:cNvSpPr>
            <p:nvPr/>
          </p:nvSpPr>
          <p:spPr bwMode="auto">
            <a:xfrm>
              <a:off x="4224" y="2106"/>
              <a:ext cx="240"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16" name="Text Box 22"/>
            <p:cNvSpPr txBox="1">
              <a:spLocks noChangeArrowheads="1"/>
            </p:cNvSpPr>
            <p:nvPr/>
          </p:nvSpPr>
          <p:spPr bwMode="auto">
            <a:xfrm>
              <a:off x="4032" y="199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S</a:t>
              </a:r>
            </a:p>
          </p:txBody>
        </p:sp>
      </p:grpSp>
      <p:sp>
        <p:nvSpPr>
          <p:cNvPr id="55317" name="Line 23"/>
          <p:cNvSpPr>
            <a:spLocks noChangeShapeType="1"/>
          </p:cNvSpPr>
          <p:nvPr/>
        </p:nvSpPr>
        <p:spPr bwMode="auto">
          <a:xfrm>
            <a:off x="5932488" y="1887538"/>
            <a:ext cx="114300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18" name="Text Box 24"/>
          <p:cNvSpPr txBox="1">
            <a:spLocks noChangeArrowheads="1"/>
          </p:cNvSpPr>
          <p:nvPr/>
        </p:nvSpPr>
        <p:spPr bwMode="auto">
          <a:xfrm flipH="1">
            <a:off x="4941888" y="150653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e</a:t>
            </a:r>
          </a:p>
        </p:txBody>
      </p:sp>
      <p:sp>
        <p:nvSpPr>
          <p:cNvPr id="55319" name="Line 26"/>
          <p:cNvSpPr>
            <a:spLocks noChangeShapeType="1"/>
          </p:cNvSpPr>
          <p:nvPr/>
        </p:nvSpPr>
        <p:spPr bwMode="auto">
          <a:xfrm>
            <a:off x="4560888" y="1619250"/>
            <a:ext cx="381000" cy="0"/>
          </a:xfrm>
          <a:prstGeom prst="line">
            <a:avLst/>
          </a:prstGeom>
          <a:noFill/>
          <a:ln w="38100">
            <a:solidFill>
              <a:srgbClr val="00B0F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320" name="Text Box 27"/>
          <p:cNvSpPr txBox="1">
            <a:spLocks noChangeArrowheads="1"/>
          </p:cNvSpPr>
          <p:nvPr/>
        </p:nvSpPr>
        <p:spPr bwMode="auto">
          <a:xfrm>
            <a:off x="4256088" y="14351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0070C0"/>
                </a:solidFill>
                <a:effectLst/>
                <a:uLnTx/>
                <a:uFillTx/>
                <a:latin typeface="+mn-lt"/>
                <a:ea typeface="+mn-ea"/>
                <a:cs typeface="+mn-ea"/>
                <a:sym typeface="+mn-lt"/>
              </a:rPr>
              <a:t>S</a:t>
            </a:r>
          </a:p>
        </p:txBody>
      </p:sp>
      <p:sp>
        <p:nvSpPr>
          <p:cNvPr id="55321" name="Rectangle 28"/>
          <p:cNvSpPr>
            <a:spLocks noChangeArrowheads="1"/>
          </p:cNvSpPr>
          <p:nvPr/>
        </p:nvSpPr>
        <p:spPr bwMode="auto">
          <a:xfrm>
            <a:off x="395537" y="2400300"/>
            <a:ext cx="6298952" cy="4081117"/>
          </a:xfrm>
          <a:prstGeom prst="rect">
            <a:avLst/>
          </a:prstGeom>
          <a:solidFill>
            <a:srgbClr val="D4E6F4"/>
          </a:solidFill>
          <a:ln>
            <a:noFill/>
          </a:ln>
        </p:spPr>
        <p:txBody>
          <a:bodyPr wrap="square">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lvl="0">
              <a:lnSpc>
                <a:spcPct val="130000"/>
              </a:lnSpc>
              <a:spcBef>
                <a:spcPct val="20000"/>
              </a:spcBef>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Status Push(</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LinkStack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&amp;S </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SElemType</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e)</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lang="en-US" altLang="zh-CN" b="0" dirty="0">
                <a:latin typeface="+mn-lt"/>
                <a:ea typeface="+mn-ea"/>
                <a:cs typeface="+mn-ea"/>
                <a:sym typeface="+mn-lt"/>
              </a:rPr>
              <a:t>p=(</a:t>
            </a:r>
            <a:r>
              <a:rPr lang="en-US" altLang="zh-CN" b="0" dirty="0" err="1">
                <a:latin typeface="+mn-lt"/>
                <a:ea typeface="+mn-ea"/>
                <a:cs typeface="+mn-ea"/>
                <a:sym typeface="+mn-lt"/>
              </a:rPr>
              <a:t>StackNode</a:t>
            </a:r>
            <a:r>
              <a:rPr lang="en-US" altLang="zh-CN" b="0" dirty="0">
                <a:latin typeface="+mn-lt"/>
                <a:ea typeface="+mn-ea"/>
                <a:cs typeface="+mn-ea"/>
                <a:sym typeface="+mn-lt"/>
              </a:rPr>
              <a:t>*)</a:t>
            </a:r>
            <a:r>
              <a:rPr lang="en-US" altLang="zh-CN" b="0" dirty="0" err="1">
                <a:latin typeface="+mn-lt"/>
                <a:ea typeface="+mn-ea"/>
                <a:cs typeface="+mn-ea"/>
                <a:sym typeface="+mn-lt"/>
              </a:rPr>
              <a:t>malloc</a:t>
            </a:r>
            <a:r>
              <a:rPr lang="en-US" altLang="zh-CN" b="0" dirty="0">
                <a:latin typeface="+mn-lt"/>
                <a:ea typeface="+mn-ea"/>
                <a:cs typeface="+mn-ea"/>
                <a:sym typeface="+mn-lt"/>
              </a:rPr>
              <a:t>(</a:t>
            </a:r>
            <a:r>
              <a:rPr lang="en-US" altLang="zh-CN" b="0" dirty="0" err="1">
                <a:latin typeface="+mn-lt"/>
                <a:ea typeface="+mn-ea"/>
                <a:cs typeface="+mn-ea"/>
                <a:sym typeface="+mn-lt"/>
              </a:rPr>
              <a:t>sizeof</a:t>
            </a:r>
            <a:r>
              <a:rPr lang="en-US" altLang="zh-CN" b="0" dirty="0">
                <a:latin typeface="+mn-lt"/>
                <a:ea typeface="+mn-ea"/>
                <a:cs typeface="+mn-ea"/>
                <a:sym typeface="+mn-lt"/>
              </a:rPr>
              <a:t>(</a:t>
            </a:r>
            <a:r>
              <a:rPr lang="en-US" altLang="zh-CN" b="0" dirty="0" err="1">
                <a:latin typeface="+mn-lt"/>
                <a:ea typeface="+mn-ea"/>
                <a:cs typeface="+mn-ea"/>
                <a:sym typeface="+mn-lt"/>
              </a:rPr>
              <a:t>StackNode</a:t>
            </a:r>
            <a:r>
              <a:rPr lang="en-US" altLang="zh-CN" b="0" dirty="0">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生成新结点</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p </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if (!p) exit(OVERFLOW);</a:t>
            </a:r>
            <a:b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b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p-&gt;data=e; p-&gt;next=S; </a:t>
            </a:r>
            <a:r>
              <a:rPr kumimoji="0" lang="en-US" altLang="zh-CN" sz="2400" b="0" i="0" u="none" strike="noStrike" kern="1200" cap="none" spc="0" normalizeH="0" baseline="0" noProof="0" dirty="0">
                <a:ln>
                  <a:noFill/>
                </a:ln>
                <a:solidFill>
                  <a:srgbClr val="0070C0"/>
                </a:solidFill>
                <a:effectLst/>
                <a:uLnTx/>
                <a:uFillTx/>
                <a:latin typeface="+mn-lt"/>
                <a:ea typeface="+mn-ea"/>
                <a:cs typeface="+mn-ea"/>
                <a:sym typeface="+mn-lt"/>
              </a:rPr>
              <a:t>S=p;</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p>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return OK; </a:t>
            </a:r>
          </a:p>
          <a:p>
            <a:pPr marL="342900" marR="0" lvl="0" indent="-34290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a:t>
            </a:r>
          </a:p>
        </p:txBody>
      </p:sp>
      <p:sp>
        <p:nvSpPr>
          <p:cNvPr id="61448"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链栈进栈</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链栈出栈</a:t>
            </a:r>
          </a:p>
        </p:txBody>
      </p:sp>
      <p:grpSp>
        <p:nvGrpSpPr>
          <p:cNvPr id="64515" name="Group 59"/>
          <p:cNvGrpSpPr/>
          <p:nvPr/>
        </p:nvGrpSpPr>
        <p:grpSpPr>
          <a:xfrm>
            <a:off x="6369050" y="1449388"/>
            <a:ext cx="1905000" cy="2493962"/>
            <a:chOff x="1680" y="2878"/>
            <a:chExt cx="1200" cy="1355"/>
          </a:xfrm>
        </p:grpSpPr>
        <p:sp>
          <p:nvSpPr>
            <p:cNvPr id="56325" name="Rectangle 60"/>
            <p:cNvSpPr>
              <a:spLocks noChangeArrowheads="1"/>
            </p:cNvSpPr>
            <p:nvPr/>
          </p:nvSpPr>
          <p:spPr bwMode="auto">
            <a:xfrm>
              <a:off x="2112" y="2908"/>
              <a:ext cx="768" cy="191"/>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6326" name="Line 61"/>
            <p:cNvSpPr>
              <a:spLocks noChangeShapeType="1"/>
            </p:cNvSpPr>
            <p:nvPr/>
          </p:nvSpPr>
          <p:spPr bwMode="auto">
            <a:xfrm>
              <a:off x="2496" y="2908"/>
              <a:ext cx="0" cy="19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6327" name="Rectangle 62"/>
            <p:cNvSpPr>
              <a:spLocks noChangeArrowheads="1"/>
            </p:cNvSpPr>
            <p:nvPr/>
          </p:nvSpPr>
          <p:spPr bwMode="auto">
            <a:xfrm>
              <a:off x="2112" y="3292"/>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6328" name="Line 63"/>
            <p:cNvSpPr>
              <a:spLocks noChangeShapeType="1"/>
            </p:cNvSpPr>
            <p:nvPr/>
          </p:nvSpPr>
          <p:spPr bwMode="auto">
            <a:xfrm>
              <a:off x="2496" y="3292"/>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6329" name="Rectangle 64"/>
            <p:cNvSpPr>
              <a:spLocks noChangeArrowheads="1"/>
            </p:cNvSpPr>
            <p:nvPr/>
          </p:nvSpPr>
          <p:spPr bwMode="auto">
            <a:xfrm>
              <a:off x="2112" y="4012"/>
              <a:ext cx="768" cy="191"/>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6330" name="Line 65"/>
            <p:cNvSpPr>
              <a:spLocks noChangeShapeType="1"/>
            </p:cNvSpPr>
            <p:nvPr/>
          </p:nvSpPr>
          <p:spPr bwMode="auto">
            <a:xfrm>
              <a:off x="2496" y="4012"/>
              <a:ext cx="0" cy="19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6331" name="Line 66"/>
            <p:cNvSpPr>
              <a:spLocks noChangeShapeType="1"/>
            </p:cNvSpPr>
            <p:nvPr/>
          </p:nvSpPr>
          <p:spPr bwMode="auto">
            <a:xfrm>
              <a:off x="2688" y="3072"/>
              <a:ext cx="0" cy="24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6332" name="Line 67"/>
            <p:cNvSpPr>
              <a:spLocks noChangeShapeType="1"/>
            </p:cNvSpPr>
            <p:nvPr/>
          </p:nvSpPr>
          <p:spPr bwMode="auto">
            <a:xfrm>
              <a:off x="2688" y="3504"/>
              <a:ext cx="0" cy="24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6333" name="Line 68"/>
            <p:cNvSpPr>
              <a:spLocks noChangeShapeType="1"/>
            </p:cNvSpPr>
            <p:nvPr/>
          </p:nvSpPr>
          <p:spPr bwMode="auto">
            <a:xfrm>
              <a:off x="2688" y="3792"/>
              <a:ext cx="0" cy="191"/>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6334" name="Text Box 69"/>
            <p:cNvSpPr txBox="1">
              <a:spLocks noChangeArrowheads="1"/>
            </p:cNvSpPr>
            <p:nvPr/>
          </p:nvSpPr>
          <p:spPr bwMode="auto">
            <a:xfrm>
              <a:off x="2544" y="3984"/>
              <a:ext cx="28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56335" name="Line 70"/>
            <p:cNvSpPr>
              <a:spLocks noChangeShapeType="1"/>
            </p:cNvSpPr>
            <p:nvPr/>
          </p:nvSpPr>
          <p:spPr bwMode="auto">
            <a:xfrm>
              <a:off x="1872" y="3024"/>
              <a:ext cx="240"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6336" name="Text Box 71"/>
            <p:cNvSpPr txBox="1">
              <a:spLocks noChangeArrowheads="1"/>
            </p:cNvSpPr>
            <p:nvPr/>
          </p:nvSpPr>
          <p:spPr bwMode="auto">
            <a:xfrm>
              <a:off x="1680" y="2908"/>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S</a:t>
              </a:r>
            </a:p>
          </p:txBody>
        </p:sp>
        <p:sp>
          <p:nvSpPr>
            <p:cNvPr id="56337" name="Text Box 72"/>
            <p:cNvSpPr txBox="1">
              <a:spLocks noChangeArrowheads="1"/>
            </p:cNvSpPr>
            <p:nvPr/>
          </p:nvSpPr>
          <p:spPr bwMode="auto">
            <a:xfrm>
              <a:off x="2112" y="2878"/>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A</a:t>
              </a:r>
            </a:p>
          </p:txBody>
        </p:sp>
      </p:grpSp>
      <p:sp>
        <p:nvSpPr>
          <p:cNvPr id="56338" name="Text Box 73"/>
          <p:cNvSpPr txBox="1">
            <a:spLocks noChangeArrowheads="1"/>
          </p:cNvSpPr>
          <p:nvPr/>
        </p:nvSpPr>
        <p:spPr bwMode="auto">
          <a:xfrm flipH="1">
            <a:off x="4768850" y="1544638"/>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e = ‘A’</a:t>
            </a:r>
          </a:p>
        </p:txBody>
      </p:sp>
      <p:sp>
        <p:nvSpPr>
          <p:cNvPr id="56339" name="Text Box 74"/>
          <p:cNvSpPr txBox="1">
            <a:spLocks noChangeArrowheads="1"/>
          </p:cNvSpPr>
          <p:nvPr/>
        </p:nvSpPr>
        <p:spPr bwMode="auto">
          <a:xfrm>
            <a:off x="844550" y="2230438"/>
            <a:ext cx="5905500" cy="3848100"/>
          </a:xfrm>
          <a:prstGeom prst="rect">
            <a:avLst/>
          </a:prstGeom>
          <a:solidFill>
            <a:srgbClr val="E2D9EB"/>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3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Status Pop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LinkStack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S,SElemType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&amp;</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a:t>
            </a:r>
          </a:p>
          <a:p>
            <a:pPr marL="0" marR="0" lvl="0" indent="0" algn="l" defTabSz="914400" rtl="0" eaLnBrk="0" fontAlgn="base" latinLnBrk="0" hangingPunct="0">
              <a:lnSpc>
                <a:spcPct val="13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457200" marR="0" lvl="1" indent="0" algn="l" defTabSz="914400" rtl="0" eaLnBrk="0" fontAlgn="base" latinLnBrk="0" hangingPunct="0">
              <a:lnSpc>
                <a:spcPct val="13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if (S==NULL) return</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ERROR;</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457200" marR="0" lvl="1" indent="0" algn="l" defTabSz="914400" rtl="0" eaLnBrk="0" fontAlgn="base" latinLnBrk="0" hangingPunct="0">
              <a:lnSpc>
                <a:spcPct val="13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e = S-&gt; data;</a:t>
            </a: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p = S;   S =  S-&gt; next;</a:t>
            </a:r>
          </a:p>
          <a:p>
            <a:pPr marL="457200" marR="0" lvl="1" indent="0" algn="l" defTabSz="914400" rtl="0" eaLnBrk="0" fontAlgn="base" latinLnBrk="0" hangingPunct="0">
              <a:lnSpc>
                <a:spcPct val="13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delete p;   return OK;</a:t>
            </a:r>
          </a:p>
          <a:p>
            <a:pPr marL="0" marR="0" lvl="0" indent="0" algn="l" defTabSz="914400" rtl="0" eaLnBrk="0" fontAlgn="base" latinLnBrk="0" hangingPunct="0">
              <a:lnSpc>
                <a:spcPct val="13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mn-lt"/>
                <a:ea typeface="+mn-ea"/>
                <a:cs typeface="+mn-ea"/>
                <a:sym typeface="+mn-lt"/>
              </a:rPr>
              <a:t>  }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538" name="Group 6"/>
          <p:cNvGrpSpPr/>
          <p:nvPr/>
        </p:nvGrpSpPr>
        <p:grpSpPr>
          <a:xfrm>
            <a:off x="6370638" y="1276350"/>
            <a:ext cx="1905000" cy="2438400"/>
            <a:chOff x="1680" y="2908"/>
            <a:chExt cx="1200" cy="1325"/>
          </a:xfrm>
        </p:grpSpPr>
        <p:sp>
          <p:nvSpPr>
            <p:cNvPr id="57349" name="Rectangle 7"/>
            <p:cNvSpPr>
              <a:spLocks noChangeArrowheads="1"/>
            </p:cNvSpPr>
            <p:nvPr/>
          </p:nvSpPr>
          <p:spPr bwMode="auto">
            <a:xfrm>
              <a:off x="2112" y="2908"/>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7350" name="Line 8"/>
            <p:cNvSpPr>
              <a:spLocks noChangeShapeType="1"/>
            </p:cNvSpPr>
            <p:nvPr/>
          </p:nvSpPr>
          <p:spPr bwMode="auto">
            <a:xfrm>
              <a:off x="2496" y="2908"/>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7351" name="Rectangle 9"/>
            <p:cNvSpPr>
              <a:spLocks noChangeArrowheads="1"/>
            </p:cNvSpPr>
            <p:nvPr/>
          </p:nvSpPr>
          <p:spPr bwMode="auto">
            <a:xfrm>
              <a:off x="2112" y="3292"/>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7352" name="Line 10"/>
            <p:cNvSpPr>
              <a:spLocks noChangeShapeType="1"/>
            </p:cNvSpPr>
            <p:nvPr/>
          </p:nvSpPr>
          <p:spPr bwMode="auto">
            <a:xfrm>
              <a:off x="2496" y="3292"/>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7353" name="Rectangle 11"/>
            <p:cNvSpPr>
              <a:spLocks noChangeArrowheads="1"/>
            </p:cNvSpPr>
            <p:nvPr/>
          </p:nvSpPr>
          <p:spPr bwMode="auto">
            <a:xfrm>
              <a:off x="2112" y="4012"/>
              <a:ext cx="768" cy="192"/>
            </a:xfrm>
            <a:prstGeom prst="rect">
              <a:avLst/>
            </a:prstGeom>
            <a:solidFill>
              <a:srgbClr val="FFFFFF"/>
            </a:solidFill>
            <a:ln w="38100">
              <a:solidFill>
                <a:srgbClr val="0000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7354" name="Line 12"/>
            <p:cNvSpPr>
              <a:spLocks noChangeShapeType="1"/>
            </p:cNvSpPr>
            <p:nvPr/>
          </p:nvSpPr>
          <p:spPr bwMode="auto">
            <a:xfrm>
              <a:off x="2496" y="4012"/>
              <a:ext cx="0" cy="192"/>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7355" name="Line 13"/>
            <p:cNvSpPr>
              <a:spLocks noChangeShapeType="1"/>
            </p:cNvSpPr>
            <p:nvPr/>
          </p:nvSpPr>
          <p:spPr bwMode="auto">
            <a:xfrm>
              <a:off x="2688" y="3072"/>
              <a:ext cx="0" cy="24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7356" name="Line 14"/>
            <p:cNvSpPr>
              <a:spLocks noChangeShapeType="1"/>
            </p:cNvSpPr>
            <p:nvPr/>
          </p:nvSpPr>
          <p:spPr bwMode="auto">
            <a:xfrm>
              <a:off x="2688" y="3504"/>
              <a:ext cx="0" cy="24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7357" name="Line 15"/>
            <p:cNvSpPr>
              <a:spLocks noChangeShapeType="1"/>
            </p:cNvSpPr>
            <p:nvPr/>
          </p:nvSpPr>
          <p:spPr bwMode="auto">
            <a:xfrm>
              <a:off x="2688" y="3792"/>
              <a:ext cx="0" cy="192"/>
            </a:xfrm>
            <a:prstGeom prst="line">
              <a:avLst/>
            </a:prstGeom>
            <a:noFill/>
            <a:ln w="38100">
              <a:solidFill>
                <a:srgbClr val="000000"/>
              </a:solidFill>
              <a:prstDash val="sysDot"/>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7358" name="Text Box 16"/>
            <p:cNvSpPr txBox="1">
              <a:spLocks noChangeArrowheads="1"/>
            </p:cNvSpPr>
            <p:nvPr/>
          </p:nvSpPr>
          <p:spPr bwMode="auto">
            <a:xfrm>
              <a:off x="2544" y="3984"/>
              <a:ext cx="28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57359" name="Line 17"/>
            <p:cNvSpPr>
              <a:spLocks noChangeShapeType="1"/>
            </p:cNvSpPr>
            <p:nvPr/>
          </p:nvSpPr>
          <p:spPr bwMode="auto">
            <a:xfrm>
              <a:off x="1872" y="3024"/>
              <a:ext cx="240"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7360" name="Text Box 18"/>
            <p:cNvSpPr txBox="1">
              <a:spLocks noChangeArrowheads="1"/>
            </p:cNvSpPr>
            <p:nvPr/>
          </p:nvSpPr>
          <p:spPr bwMode="auto">
            <a:xfrm>
              <a:off x="1680" y="2908"/>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S</a:t>
              </a:r>
            </a:p>
          </p:txBody>
        </p:sp>
        <p:sp>
          <p:nvSpPr>
            <p:cNvPr id="57361" name="Text Box 19"/>
            <p:cNvSpPr txBox="1">
              <a:spLocks noChangeArrowheads="1"/>
            </p:cNvSpPr>
            <p:nvPr/>
          </p:nvSpPr>
          <p:spPr bwMode="auto">
            <a:xfrm>
              <a:off x="2112" y="2908"/>
              <a:ext cx="28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a:t>
              </a:r>
            </a:p>
          </p:txBody>
        </p:sp>
      </p:grpSp>
      <p:sp>
        <p:nvSpPr>
          <p:cNvPr id="57362" name="Text Box 20"/>
          <p:cNvSpPr txBox="1">
            <a:spLocks noChangeArrowheads="1"/>
          </p:cNvSpPr>
          <p:nvPr/>
        </p:nvSpPr>
        <p:spPr bwMode="auto">
          <a:xfrm flipH="1">
            <a:off x="4368800" y="1490663"/>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e = ‘A’</a:t>
            </a:r>
          </a:p>
        </p:txBody>
      </p:sp>
      <p:sp>
        <p:nvSpPr>
          <p:cNvPr id="57363" name="Line 21"/>
          <p:cNvSpPr>
            <a:spLocks noChangeShapeType="1"/>
          </p:cNvSpPr>
          <p:nvPr/>
        </p:nvSpPr>
        <p:spPr bwMode="auto">
          <a:xfrm>
            <a:off x="6675438" y="1690688"/>
            <a:ext cx="38100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7364" name="Text Box 22"/>
          <p:cNvSpPr txBox="1">
            <a:spLocks noChangeArrowheads="1"/>
          </p:cNvSpPr>
          <p:nvPr/>
        </p:nvSpPr>
        <p:spPr bwMode="auto">
          <a:xfrm>
            <a:off x="6370638" y="146208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p</a:t>
            </a:r>
          </a:p>
        </p:txBody>
      </p:sp>
      <p:sp>
        <p:nvSpPr>
          <p:cNvPr id="63494" name="Text Box 23"/>
          <p:cNvSpPr txBox="1">
            <a:spLocks noChangeArrowheads="1"/>
          </p:cNvSpPr>
          <p:nvPr/>
        </p:nvSpPr>
        <p:spPr bwMode="auto">
          <a:xfrm>
            <a:off x="755650" y="2260600"/>
            <a:ext cx="5862638" cy="3849688"/>
          </a:xfrm>
          <a:prstGeom prst="rect">
            <a:avLst/>
          </a:prstGeom>
          <a:solidFill>
            <a:srgbClr val="E2D9E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Status Pop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LinkStack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S,SElemType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&amp;e)</a:t>
            </a:r>
          </a:p>
          <a:p>
            <a:pPr marL="0" marR="0" lvl="0" indent="0" algn="l" defTabSz="914400" rtl="0" eaLnBrk="0" fontAlgn="base" latinLnBrk="0" hangingPunct="0">
              <a:lnSpc>
                <a:spcPct val="13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457200" marR="0" lvl="1" indent="0" algn="l" defTabSz="914400" rtl="0" eaLnBrk="0" fontAlgn="base" latinLnBrk="0" hangingPunct="0">
              <a:lnSpc>
                <a:spcPct val="13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if (S==NULL) return ERROR;</a:t>
            </a:r>
          </a:p>
          <a:p>
            <a:pPr marL="457200" marR="0" lvl="1" indent="0" algn="l" defTabSz="914400" rtl="0" eaLnBrk="0" fontAlgn="base" latinLnBrk="0" hangingPunct="0">
              <a:lnSpc>
                <a:spcPct val="13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e = S-&gt; data;  p = S;   S =  S-&gt; next;</a:t>
            </a:r>
          </a:p>
          <a:p>
            <a:pPr marL="457200" marR="0" lvl="1" indent="0" algn="l" defTabSz="914400" rtl="0" eaLnBrk="0" fontAlgn="base" latinLnBrk="0" hangingPunct="0">
              <a:lnSpc>
                <a:spcPct val="130000"/>
              </a:lnSpc>
              <a:spcBef>
                <a:spcPct val="5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free(p);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return OK;  </a:t>
            </a:r>
          </a:p>
          <a:p>
            <a:pPr marL="0" marR="0" lvl="0" indent="0" algn="l" defTabSz="914400" rtl="0" eaLnBrk="0" fontAlgn="base" latinLnBrk="0" hangingPunct="0">
              <a:lnSpc>
                <a:spcPct val="130000"/>
              </a:lnSpc>
              <a:spcBef>
                <a:spcPct val="50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63495" name="标题 1"/>
          <p:cNvSpPr>
            <a:spLocks noGrp="1" noChangeArrowheads="1"/>
          </p:cNvSpPr>
          <p:nvPr>
            <p:ph type="title"/>
          </p:nvPr>
        </p:nvSpPr>
        <p:spPr>
          <a:xfrm>
            <a:off x="844550" y="241300"/>
            <a:ext cx="6400800" cy="457200"/>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a:ln>
                  <a:noFill/>
                </a:ln>
                <a:solidFill>
                  <a:schemeClr val="bg1"/>
                </a:solidFill>
                <a:effectLst/>
                <a:uLnTx/>
                <a:uFillTx/>
                <a:latin typeface="+mn-lt"/>
                <a:ea typeface="+mn-ea"/>
                <a:cs typeface="+mn-ea"/>
                <a:sym typeface="+mn-lt"/>
              </a:rPr>
              <a:t>链栈出栈</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矩形 1"/>
          <p:cNvSpPr>
            <a:spLocks noChangeArrowheads="1"/>
          </p:cNvSpPr>
          <p:nvPr/>
        </p:nvSpPr>
        <p:spPr bwMode="auto">
          <a:xfrm>
            <a:off x="0" y="1484313"/>
            <a:ext cx="9144000" cy="3889375"/>
          </a:xfrm>
          <a:prstGeom prst="rect">
            <a:avLst/>
          </a:prstGeom>
          <a:solidFill>
            <a:srgbClr val="D4E6F4"/>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0419" name="Rectangle 6"/>
          <p:cNvSpPr>
            <a:spLocks noChangeArrowheads="1"/>
          </p:cNvSpPr>
          <p:nvPr/>
        </p:nvSpPr>
        <p:spPr bwMode="auto">
          <a:xfrm>
            <a:off x="755650" y="211138"/>
            <a:ext cx="39560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取链栈栈顶元素</a:t>
            </a:r>
          </a:p>
        </p:txBody>
      </p:sp>
      <p:sp>
        <p:nvSpPr>
          <p:cNvPr id="556039" name="Rectangle 7"/>
          <p:cNvSpPr>
            <a:spLocks noChangeArrowheads="1"/>
          </p:cNvSpPr>
          <p:nvPr/>
        </p:nvSpPr>
        <p:spPr bwMode="auto">
          <a:xfrm>
            <a:off x="1547813" y="1916113"/>
            <a:ext cx="6769100" cy="28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SElemType</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GetTop</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LinkStack</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S)</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t>if (</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S==NULL) </a:t>
            </a:r>
            <a: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t>exit(1)</a:t>
            </a:r>
            <a:r>
              <a:rPr kumimoji="0" lang="zh-CN" altLang="en-US" sz="3200" b="0" i="0" u="none" strike="noStrike" kern="1200" cap="none" spc="0" normalizeH="0" baseline="0" noProof="0" dirty="0">
                <a:ln>
                  <a:noFill/>
                </a:ln>
                <a:solidFill>
                  <a:srgbClr val="000000"/>
                </a:solidFill>
                <a:effectLst/>
                <a:uLnTx/>
                <a:uFillTx/>
                <a:latin typeface="+mn-lt"/>
                <a:ea typeface="+mn-ea"/>
                <a:cs typeface="+mn-ea"/>
                <a:sym typeface="+mn-lt"/>
              </a:rPr>
              <a:t>；</a:t>
            </a:r>
            <a:br>
              <a:rPr kumimoji="0" lang="zh-CN" altLang="en-US" sz="3200" b="0" i="0" u="none" strike="noStrike" kern="1200" cap="none" spc="0" normalizeH="0" baseline="0" noProof="0" dirty="0">
                <a:ln>
                  <a:noFill/>
                </a:ln>
                <a:solidFill>
                  <a:srgbClr val="000000"/>
                </a:solidFill>
                <a:effectLst/>
                <a:uLnTx/>
                <a:uFillTx/>
                <a:latin typeface="+mn-lt"/>
                <a:ea typeface="+mn-ea"/>
                <a:cs typeface="+mn-ea"/>
                <a:sym typeface="+mn-lt"/>
              </a:rPr>
            </a:br>
            <a:r>
              <a:rPr kumimoji="0" lang="zh-CN" altLang="en-US" sz="32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en-US" altLang="zh-CN" sz="3200" b="0" i="0" u="none" strike="noStrike" kern="1200" cap="none" spc="0" normalizeH="0" baseline="0" noProof="0" dirty="0">
                <a:ln>
                  <a:noFill/>
                </a:ln>
                <a:solidFill>
                  <a:srgbClr val="000000"/>
                </a:solidFill>
                <a:effectLst/>
                <a:uLnTx/>
                <a:uFillTx/>
                <a:latin typeface="+mn-lt"/>
                <a:ea typeface="+mn-ea"/>
                <a:cs typeface="+mn-ea"/>
                <a:sym typeface="+mn-lt"/>
              </a:rPr>
              <a:t>else </a:t>
            </a: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return S–&gt;data</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7"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56039"/>
                                        </p:tgtEl>
                                        <p:attrNameLst>
                                          <p:attrName>style.visibility</p:attrName>
                                        </p:attrNameLst>
                                      </p:cBhvr>
                                      <p:to>
                                        <p:strVal val="visible"/>
                                      </p:to>
                                    </p:set>
                                    <p:animEffect transition="in" filter="box(in)">
                                      <p:cBhvr>
                                        <p:cTn id="7" dur="500"/>
                                        <p:tgtEl>
                                          <p:spTgt spid="5560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750" y="4265295"/>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500188" y="4265295"/>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b="0" kern="1200" cap="none" spc="0" normalizeH="0" baseline="0" noProof="0" dirty="0">
                <a:solidFill>
                  <a:srgbClr val="FEFFFF"/>
                </a:solidFill>
                <a:latin typeface="+mn-lt"/>
                <a:ea typeface="+mn-ea"/>
                <a:cs typeface="+mn-ea"/>
                <a:sym typeface="+mn-lt"/>
              </a:rPr>
              <a:t>目录导航</a:t>
            </a:r>
          </a:p>
        </p:txBody>
      </p:sp>
      <p:sp>
        <p:nvSpPr>
          <p:cNvPr id="14" name="文本框 13"/>
          <p:cNvSpPr txBox="1"/>
          <p:nvPr/>
        </p:nvSpPr>
        <p:spPr>
          <a:xfrm>
            <a:off x="1619250" y="2471738"/>
            <a:ext cx="720725" cy="3416320"/>
          </a:xfrm>
          <a:prstGeom prst="rect">
            <a:avLst/>
          </a:prstGeom>
          <a:noFill/>
        </p:spPr>
        <p:txBody>
          <a:bodyPr>
            <a:spAutoFit/>
          </a:bodyPr>
          <a:lstStyle/>
          <a:p>
            <a:pPr marR="0" defTabSz="914400">
              <a:lnSpc>
                <a:spcPct val="150000"/>
              </a:lnSpc>
              <a:buClrTx/>
              <a:buSzTx/>
              <a:buFontTx/>
              <a:buNone/>
              <a:defRPr/>
            </a:pPr>
            <a:r>
              <a:rPr kumimoji="0" lang="en-US" altLang="zh-CN" b="0" kern="1200" cap="none" spc="0" normalizeH="0" baseline="0" noProof="0" dirty="0">
                <a:solidFill>
                  <a:schemeClr val="tx1"/>
                </a:solidFill>
                <a:latin typeface="+mn-lt"/>
                <a:ea typeface="+mn-ea"/>
                <a:cs typeface="+mn-ea"/>
                <a:sym typeface="+mn-lt"/>
              </a:rPr>
              <a:t>3.1</a:t>
            </a:r>
            <a:endParaRPr kumimoji="0" lang="zh-CN" altLang="en-US" b="0" kern="1200" cap="none" spc="0" normalizeH="0" baseline="0" noProof="0" dirty="0">
              <a:solidFill>
                <a:schemeClr val="tx1"/>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3.2</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3.3</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chemeClr val="bg1"/>
                </a:solidFill>
                <a:latin typeface="+mn-lt"/>
                <a:ea typeface="+mn-ea"/>
                <a:cs typeface="+mn-ea"/>
                <a:sym typeface="+mn-lt"/>
              </a:rPr>
              <a:t>3.4</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3.5</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smtClean="0">
                <a:solidFill>
                  <a:srgbClr val="000000">
                    <a:lumMod val="95000"/>
                    <a:lumOff val="5000"/>
                  </a:srgbClr>
                </a:solidFill>
                <a:latin typeface="+mn-lt"/>
                <a:ea typeface="+mn-ea"/>
                <a:cs typeface="+mn-ea"/>
                <a:sym typeface="+mn-lt"/>
              </a:rPr>
              <a:t>3.6</a:t>
            </a:r>
            <a:endParaRPr kumimoji="0" lang="en-US" altLang="zh-CN" b="0" kern="1200" cap="none" spc="0" normalizeH="0" baseline="0" noProof="0" dirty="0">
              <a:solidFill>
                <a:srgbClr val="000000">
                  <a:lumMod val="95000"/>
                  <a:lumOff val="5000"/>
                </a:srgbClr>
              </a:solidFill>
              <a:latin typeface="+mn-lt"/>
              <a:ea typeface="+mn-ea"/>
              <a:cs typeface="+mn-ea"/>
              <a:sym typeface="+mn-lt"/>
            </a:endParaRPr>
          </a:p>
        </p:txBody>
      </p:sp>
      <p:sp>
        <p:nvSpPr>
          <p:cNvPr id="15" name="文本框 14"/>
          <p:cNvSpPr txBox="1"/>
          <p:nvPr/>
        </p:nvSpPr>
        <p:spPr>
          <a:xfrm>
            <a:off x="2457450" y="2471738"/>
            <a:ext cx="4129088" cy="3416320"/>
          </a:xfrm>
          <a:prstGeom prst="rect">
            <a:avLst/>
          </a:prstGeom>
          <a:noFill/>
        </p:spPr>
        <p:txBody>
          <a:bodyPr>
            <a:spAutoFit/>
          </a:bodyPr>
          <a:lstStyle/>
          <a:p>
            <a:pPr marR="0" defTabSz="914400">
              <a:lnSpc>
                <a:spcPct val="150000"/>
              </a:lnSpc>
              <a:buClrTx/>
              <a:buSzTx/>
              <a:buFontTx/>
              <a:buNone/>
              <a:defRPr/>
            </a:pPr>
            <a:r>
              <a:rPr kumimoji="0" lang="zh-CN" altLang="en-US" b="0" kern="1200" cap="none" spc="0" normalizeH="0" baseline="0" noProof="0" dirty="0">
                <a:solidFill>
                  <a:schemeClr val="tx1"/>
                </a:solidFill>
                <a:latin typeface="+mn-lt"/>
                <a:ea typeface="+mn-ea"/>
                <a:cs typeface="+mn-ea"/>
                <a:sym typeface="+mn-lt"/>
              </a:rPr>
              <a:t>栈和队列的定义和特点</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案例引入</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栈的表示和操作的实现</a:t>
            </a:r>
          </a:p>
          <a:p>
            <a:pPr marR="0" defTabSz="914400">
              <a:lnSpc>
                <a:spcPct val="150000"/>
              </a:lnSpc>
              <a:buClrTx/>
              <a:buSzTx/>
              <a:buFontTx/>
              <a:buNone/>
              <a:defRPr/>
            </a:pPr>
            <a:r>
              <a:rPr kumimoji="0" lang="zh-CN" altLang="en-US" b="0" kern="1200" cap="none" spc="0" normalizeH="0" baseline="0" noProof="0" dirty="0">
                <a:solidFill>
                  <a:schemeClr val="bg1"/>
                </a:solidFill>
                <a:latin typeface="+mn-lt"/>
                <a:ea typeface="+mn-ea"/>
                <a:cs typeface="+mn-ea"/>
                <a:sym typeface="+mn-lt"/>
              </a:rPr>
              <a:t>栈与递归</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队列的的表示和操作的实现</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案例分析与</a:t>
            </a:r>
            <a:r>
              <a:rPr kumimoji="0" lang="zh-CN" altLang="en-US" b="0" kern="1200" cap="none" spc="0" normalizeH="0" baseline="0" noProof="0" dirty="0" smtClean="0">
                <a:solidFill>
                  <a:srgbClr val="000000">
                    <a:lumMod val="95000"/>
                    <a:lumOff val="5000"/>
                  </a:srgbClr>
                </a:solidFill>
                <a:latin typeface="+mn-lt"/>
                <a:ea typeface="+mn-ea"/>
                <a:cs typeface="+mn-ea"/>
                <a:sym typeface="+mn-lt"/>
              </a:rPr>
              <a:t>实现</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5"/>
          <p:cNvSpPr>
            <a:spLocks noChangeArrowheads="1"/>
          </p:cNvSpPr>
          <p:nvPr/>
        </p:nvSpPr>
        <p:spPr bwMode="auto">
          <a:xfrm>
            <a:off x="900113" y="1158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栈与递归</a:t>
            </a:r>
          </a:p>
        </p:txBody>
      </p:sp>
      <p:sp>
        <p:nvSpPr>
          <p:cNvPr id="668681" name="Rectangle 9"/>
          <p:cNvSpPr>
            <a:spLocks noChangeArrowheads="1"/>
          </p:cNvSpPr>
          <p:nvPr/>
        </p:nvSpPr>
        <p:spPr bwMode="auto">
          <a:xfrm>
            <a:off x="0" y="3641725"/>
            <a:ext cx="9144000" cy="2492375"/>
          </a:xfrm>
          <a:prstGeom prst="rect">
            <a:avLst/>
          </a:prstGeom>
          <a:solidFill>
            <a:schemeClr val="bg2">
              <a:lumMod val="40000"/>
              <a:lumOff val="60000"/>
            </a:schemeClr>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899795" marR="0" lvl="0" indent="0" algn="l" defTabSz="914400" rtl="0" eaLnBrk="1" fontAlgn="base" latinLnBrk="0" hangingPunct="1">
              <a:lnSpc>
                <a:spcPct val="80000"/>
              </a:lnSpc>
              <a:spcBef>
                <a:spcPct val="50000"/>
              </a:spcBef>
              <a:spcAft>
                <a:spcPct val="0"/>
              </a:spcAft>
              <a:buClrTx/>
              <a:buSzTx/>
              <a:buFont typeface="Arial" panose="020B0604020202020204" pitchFamily="34" charset="0"/>
              <a:buNone/>
              <a:defRPr/>
            </a:pPr>
            <a:r>
              <a:rPr kumimoji="0" lang="en-US" altLang="zh-CN" sz="2600" b="1" i="0" u="none" strike="noStrike" kern="1200" cap="none" spc="0" normalizeH="0" baseline="0" noProof="0" dirty="0">
                <a:ln>
                  <a:noFill/>
                </a:ln>
                <a:solidFill>
                  <a:schemeClr val="tx1"/>
                </a:solidFill>
                <a:effectLst/>
                <a:uLnTx/>
                <a:uFillTx/>
                <a:latin typeface="+mn-lt"/>
                <a:ea typeface="+mn-ea"/>
                <a:cs typeface="+mn-ea"/>
                <a:sym typeface="+mn-lt"/>
              </a:rPr>
              <a:t>long</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Fact ( </a:t>
            </a:r>
            <a:r>
              <a:rPr kumimoji="0" lang="en-US" altLang="zh-CN" sz="2600" b="1" i="0" u="none" strike="noStrike" kern="1200" cap="none" spc="0" normalizeH="0" baseline="0" noProof="0" dirty="0">
                <a:ln>
                  <a:noFill/>
                </a:ln>
                <a:solidFill>
                  <a:schemeClr val="tx1"/>
                </a:solidFill>
                <a:effectLst/>
                <a:uLnTx/>
                <a:uFillTx/>
                <a:latin typeface="+mn-lt"/>
                <a:ea typeface="+mn-ea"/>
                <a:cs typeface="+mn-ea"/>
                <a:sym typeface="+mn-lt"/>
              </a:rPr>
              <a:t>long</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n ) </a:t>
            </a:r>
          </a:p>
          <a:p>
            <a:pPr marL="899795" marR="0" lvl="0" indent="0" algn="l" defTabSz="914400" rtl="0" eaLnBrk="1" fontAlgn="base" latinLnBrk="0" hangingPunct="1">
              <a:lnSpc>
                <a:spcPct val="80000"/>
              </a:lnSpc>
              <a:spcBef>
                <a:spcPct val="50000"/>
              </a:spcBef>
              <a:spcAft>
                <a:spcPct val="0"/>
              </a:spcAft>
              <a:buClrTx/>
              <a:buSzTx/>
              <a:buFont typeface="Arial" panose="020B0604020202020204" pitchFamily="34" charset="0"/>
              <a:buNone/>
              <a:defRPr/>
            </a:pPr>
            <a:r>
              <a:rPr kumimoji="0" lang="en-US" altLang="zh-CN" sz="2600" b="1" i="0" u="none" strike="noStrike" kern="1200" cap="none" spc="0" normalizeH="0" baseline="0" noProof="0" dirty="0">
                <a:ln>
                  <a:noFill/>
                </a:ln>
                <a:solidFill>
                  <a:schemeClr val="tx1"/>
                </a:solidFill>
                <a:effectLst/>
                <a:uLnTx/>
                <a:uFillTx/>
                <a:latin typeface="+mn-lt"/>
                <a:ea typeface="+mn-ea"/>
                <a:cs typeface="+mn-ea"/>
                <a:sym typeface="+mn-lt"/>
              </a:rPr>
              <a:t>{</a:t>
            </a:r>
            <a:endPar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endParaRPr>
          </a:p>
          <a:p>
            <a:pPr marL="899795" marR="0" lvl="0" indent="0" algn="l" defTabSz="914400" rtl="0" eaLnBrk="1" fontAlgn="base" latinLnBrk="0" hangingPunct="1">
              <a:lnSpc>
                <a:spcPct val="80000"/>
              </a:lnSpc>
              <a:spcBef>
                <a:spcPct val="50000"/>
              </a:spcBef>
              <a:spcAft>
                <a:spcPct val="0"/>
              </a:spcAft>
              <a:buClrTx/>
              <a:buSzTx/>
              <a:buFont typeface="Arial" panose="020B0604020202020204" pitchFamily="34" charset="0"/>
              <a:buNone/>
              <a:defRPr/>
            </a:pPr>
            <a:r>
              <a:rPr kumimoji="0" lang="en-US" altLang="zh-CN" sz="2600" b="1" i="0" u="none" strike="noStrike" kern="1200" cap="none" spc="0" normalizeH="0" baseline="0" noProof="0" dirty="0">
                <a:ln>
                  <a:noFill/>
                </a:ln>
                <a:solidFill>
                  <a:schemeClr val="tx1"/>
                </a:solidFill>
                <a:effectLst/>
                <a:uLnTx/>
                <a:uFillTx/>
                <a:latin typeface="+mn-lt"/>
                <a:ea typeface="+mn-ea"/>
                <a:cs typeface="+mn-ea"/>
                <a:sym typeface="+mn-lt"/>
              </a:rPr>
              <a:t>    if</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 n</a:t>
            </a:r>
            <a:r>
              <a:rPr kumimoji="0" lang="en-US" altLang="zh-CN" sz="2600" b="0" i="1"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0) </a:t>
            </a:r>
            <a:r>
              <a:rPr kumimoji="0" lang="en-US" altLang="zh-CN" sz="2600" b="1" i="0" u="none" strike="noStrike" kern="1200" cap="none" spc="0" normalizeH="0" baseline="0" noProof="0" dirty="0">
                <a:ln>
                  <a:noFill/>
                </a:ln>
                <a:solidFill>
                  <a:schemeClr val="tx1"/>
                </a:solidFill>
                <a:effectLst/>
                <a:uLnTx/>
                <a:uFillTx/>
                <a:latin typeface="+mn-lt"/>
                <a:ea typeface="+mn-ea"/>
                <a:cs typeface="+mn-ea"/>
                <a:sym typeface="+mn-lt"/>
              </a:rPr>
              <a:t>return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en-US" altLang="zh-CN" sz="2600" b="1" i="0" u="none" strike="noStrike" kern="1200" cap="none" spc="0" normalizeH="0" baseline="0" noProof="0" dirty="0">
                <a:ln>
                  <a:noFill/>
                </a:ln>
                <a:solidFill>
                  <a:schemeClr val="tx1"/>
                </a:solidFill>
                <a:effectLst/>
                <a:uLnTx/>
                <a:uFillTx/>
                <a:latin typeface="+mn-lt"/>
                <a:ea typeface="+mn-ea"/>
                <a:cs typeface="+mn-ea"/>
                <a:sym typeface="+mn-lt"/>
              </a:rPr>
              <a:t>;</a:t>
            </a:r>
          </a:p>
          <a:p>
            <a:pPr marL="899795" marR="0" lvl="0" indent="0" algn="l" defTabSz="914400" rtl="0" eaLnBrk="1" fontAlgn="base" latinLnBrk="0" hangingPunct="1">
              <a:lnSpc>
                <a:spcPct val="80000"/>
              </a:lnSpc>
              <a:spcBef>
                <a:spcPct val="5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1" i="0" u="none" strike="noStrike" kern="1200" cap="none" spc="0" normalizeH="0" baseline="0" noProof="0" dirty="0">
                <a:ln>
                  <a:noFill/>
                </a:ln>
                <a:solidFill>
                  <a:schemeClr val="tx1"/>
                </a:solidFill>
                <a:effectLst/>
                <a:uLnTx/>
                <a:uFillTx/>
                <a:latin typeface="+mn-lt"/>
                <a:ea typeface="+mn-ea"/>
                <a:cs typeface="+mn-ea"/>
                <a:sym typeface="+mn-lt"/>
              </a:rPr>
              <a:t>else return</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n * Fact (n</a:t>
            </a:r>
            <a:r>
              <a:rPr kumimoji="0" lang="en-US" altLang="zh-CN" sz="2600" b="0" i="1"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en-US" altLang="zh-CN" sz="2600" b="1" i="0" u="none" strike="noStrike" kern="1200" cap="none" spc="0" normalizeH="0" baseline="0" noProof="0" dirty="0">
                <a:ln>
                  <a:noFill/>
                </a:ln>
                <a:solidFill>
                  <a:schemeClr val="tx1"/>
                </a:solidFill>
                <a:effectLst/>
                <a:uLnTx/>
                <a:uFillTx/>
                <a:latin typeface="+mn-lt"/>
                <a:ea typeface="+mn-ea"/>
                <a:cs typeface="+mn-ea"/>
                <a:sym typeface="+mn-lt"/>
              </a:rPr>
              <a:t>; </a:t>
            </a:r>
          </a:p>
          <a:p>
            <a:pPr marL="899795" marR="0" lvl="0" indent="0" algn="l" defTabSz="914400" rtl="0" eaLnBrk="1" fontAlgn="base" latinLnBrk="0" hangingPunct="1">
              <a:lnSpc>
                <a:spcPct val="80000"/>
              </a:lnSpc>
              <a:spcBef>
                <a:spcPct val="50000"/>
              </a:spcBef>
              <a:spcAft>
                <a:spcPct val="0"/>
              </a:spcAft>
              <a:buClrTx/>
              <a:buSzTx/>
              <a:buFont typeface="Arial" panose="020B0604020202020204" pitchFamily="34" charset="0"/>
              <a:buNone/>
              <a:defRPr/>
            </a:pPr>
            <a:r>
              <a:rPr kumimoji="0" lang="en-US" altLang="zh-CN" sz="2600" b="1"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2" name="组合 1"/>
          <p:cNvGrpSpPr/>
          <p:nvPr/>
        </p:nvGrpSpPr>
        <p:grpSpPr>
          <a:xfrm>
            <a:off x="360363" y="1484313"/>
            <a:ext cx="8423275" cy="1652587"/>
            <a:chOff x="360363" y="1484313"/>
            <a:chExt cx="8423275" cy="1652587"/>
          </a:xfrm>
        </p:grpSpPr>
        <p:sp>
          <p:nvSpPr>
            <p:cNvPr id="668680" name="Rectangle 8"/>
            <p:cNvSpPr>
              <a:spLocks noRot="1" noChangeArrowheads="1"/>
            </p:cNvSpPr>
            <p:nvPr/>
          </p:nvSpPr>
          <p:spPr bwMode="auto">
            <a:xfrm>
              <a:off x="360363" y="1484313"/>
              <a:ext cx="8423275" cy="165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30000"/>
                </a:lnSpc>
                <a:spcBef>
                  <a:spcPct val="10000"/>
                </a:spcBef>
                <a:spcAft>
                  <a:spcPct val="0"/>
                </a:spcAft>
                <a:buClr>
                  <a:srgbClr val="FF7C80"/>
                </a:buClr>
                <a:buSzPct val="50000"/>
                <a:buFont typeface="Wingdings" panose="05000000000000000000" pitchFamily="2" charset="2"/>
                <a:buChar char="n"/>
                <a:defRPr/>
              </a:pPr>
              <a:r>
                <a:rPr kumimoji="0" lang="zh-CN" altLang="en-US" sz="2400" b="0" i="0" u="sng" strike="noStrike" kern="1200" cap="none" spc="0" normalizeH="0" baseline="0" noProof="0" dirty="0">
                  <a:ln>
                    <a:noFill/>
                  </a:ln>
                  <a:solidFill>
                    <a:schemeClr val="accent2"/>
                  </a:solidFill>
                  <a:effectLst/>
                  <a:uLnTx/>
                  <a:uFillTx/>
                  <a:latin typeface="+mn-lt"/>
                  <a:ea typeface="+mn-ea"/>
                  <a:cs typeface="+mn-ea"/>
                  <a:sym typeface="+mn-lt"/>
                </a:rPr>
                <a:t>递归的定义</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若一个对象部分地包含它自己</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或用它自己给自己定义</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则称这个对象是递归的；若一个过程</a:t>
              </a: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直接地或间接地调用自己</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则称这个过程是递归的过程。</a:t>
              </a:r>
            </a:p>
            <a:p>
              <a:pPr marL="342900" marR="0" lvl="0" indent="-342900" algn="l" defTabSz="914400" rtl="0" eaLnBrk="0" fontAlgn="base" latinLnBrk="0" hangingPunct="0">
                <a:lnSpc>
                  <a:spcPct val="130000"/>
                </a:lnSpc>
                <a:spcBef>
                  <a:spcPct val="10000"/>
                </a:spcBef>
                <a:spcAft>
                  <a:spcPct val="0"/>
                </a:spcAft>
                <a:buClr>
                  <a:srgbClr val="FF7C80"/>
                </a:buClr>
                <a:buSzPct val="50000"/>
                <a:buFont typeface="Wingdings" panose="05000000000000000000" pitchFamily="2" charset="2"/>
                <a:buChar char="n"/>
                <a:defRPr/>
              </a:pPr>
              <a:endParaRPr kumimoji="0" lang="en-US" altLang="zh-CN" sz="2400" b="0" i="0" u="none" strike="noStrike" kern="1200" cap="none" spc="0" normalizeH="0" baseline="0" noProof="0" dirty="0">
                <a:ln>
                  <a:noFill/>
                </a:ln>
                <a:solidFill>
                  <a:schemeClr val="accent2"/>
                </a:solidFill>
                <a:effectLst/>
                <a:uLnTx/>
                <a:uFillTx/>
                <a:latin typeface="+mn-lt"/>
                <a:ea typeface="+mn-ea"/>
                <a:cs typeface="+mn-ea"/>
                <a:sym typeface="+mn-lt"/>
              </a:endParaRPr>
            </a:p>
          </p:txBody>
        </p:sp>
        <p:cxnSp>
          <p:nvCxnSpPr>
            <p:cNvPr id="70662" name="直接连接符 2"/>
            <p:cNvCxnSpPr/>
            <p:nvPr/>
          </p:nvCxnSpPr>
          <p:spPr>
            <a:xfrm>
              <a:off x="755650" y="3121025"/>
              <a:ext cx="7920038" cy="0"/>
            </a:xfrm>
            <a:prstGeom prst="line">
              <a:avLst/>
            </a:prstGeom>
            <a:ln w="9525" cap="flat" cmpd="sng">
              <a:solidFill>
                <a:srgbClr val="6C4C8F"/>
              </a:solidFill>
              <a:prstDash val="soli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668681"/>
                                        </p:tgtEl>
                                        <p:attrNameLst>
                                          <p:attrName>style.visibility</p:attrName>
                                        </p:attrNameLst>
                                      </p:cBhvr>
                                      <p:to>
                                        <p:strVal val="visible"/>
                                      </p:to>
                                    </p:set>
                                    <p:animEffect transition="in" filter="blinds(horizontal)">
                                      <p:cBhvr>
                                        <p:cTn id="14" dur="500"/>
                                        <p:tgtEl>
                                          <p:spTgt spid="6686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868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60" name="Rectangle 4"/>
          <p:cNvSpPr>
            <a:spLocks noChangeArrowheads="1"/>
          </p:cNvSpPr>
          <p:nvPr/>
        </p:nvSpPr>
        <p:spPr bwMode="auto">
          <a:xfrm>
            <a:off x="0" y="838200"/>
            <a:ext cx="9144000" cy="5975350"/>
          </a:xfrm>
          <a:prstGeom prst="rect">
            <a:avLst/>
          </a:prstGeom>
          <a:solidFill>
            <a:srgbClr val="D4E6F4"/>
          </a:solidFill>
          <a:ln>
            <a:noFill/>
          </a:ln>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541655" marR="0" lvl="0" indent="-18288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有人送了我</a:t>
            </a:r>
            <a:r>
              <a:rPr kumimoji="0" lang="zh-CN" altLang="en-US" sz="1800" b="0" i="0" u="none" strike="noStrike" kern="1200" cap="none" spc="0" normalizeH="0" baseline="0" noProof="0" dirty="0">
                <a:ln>
                  <a:noFill/>
                </a:ln>
                <a:solidFill>
                  <a:srgbClr val="FF0000"/>
                </a:solidFill>
                <a:effectLst/>
                <a:uLnTx/>
                <a:uFillTx/>
                <a:latin typeface="+mn-lt"/>
                <a:ea typeface="+mn-ea"/>
                <a:cs typeface="+mn-ea"/>
                <a:sym typeface="+mn-lt"/>
              </a:rPr>
              <a:t>金、银、铜、铁、木</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五个宝箱，我想打开金箱子，却没有打开这个箱子的钥匙。</a:t>
            </a:r>
          </a:p>
          <a:p>
            <a:pPr marL="360045" marR="0" lvl="0"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在</a:t>
            </a:r>
            <a:r>
              <a:rPr kumimoji="0" lang="zh-CN" altLang="en-US" sz="1800" b="0" i="0" u="none" strike="noStrike" kern="1200" cap="none" spc="0" normalizeH="0" baseline="0" noProof="0" dirty="0">
                <a:ln>
                  <a:noFill/>
                </a:ln>
                <a:solidFill>
                  <a:srgbClr val="FF0000"/>
                </a:solidFill>
                <a:effectLst/>
                <a:uLnTx/>
                <a:uFillTx/>
                <a:latin typeface="+mn-lt"/>
                <a:ea typeface="+mn-ea"/>
                <a:cs typeface="+mn-ea"/>
                <a:sym typeface="+mn-lt"/>
              </a:rPr>
              <a:t>金箱子</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上面写着一句话：“打开我的钥匙装在</a:t>
            </a:r>
            <a:r>
              <a:rPr kumimoji="0" lang="zh-CN" altLang="en-US" sz="1800" b="0" i="0" u="none" strike="noStrike" kern="1200" cap="none" spc="0" normalizeH="0" baseline="0" noProof="0" dirty="0">
                <a:ln>
                  <a:noFill/>
                </a:ln>
                <a:solidFill>
                  <a:srgbClr val="FF0000"/>
                </a:solidFill>
                <a:effectLst/>
                <a:uLnTx/>
                <a:uFillTx/>
                <a:latin typeface="+mn-lt"/>
                <a:ea typeface="+mn-ea"/>
                <a:cs typeface="+mn-ea"/>
                <a:sym typeface="+mn-lt"/>
              </a:rPr>
              <a:t>银箱子</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里。”</a:t>
            </a:r>
          </a:p>
          <a:p>
            <a:pPr marL="360045" marR="0" lvl="0"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于是我来到银箱子前，发现还是没有打开银箱子的钥匙。</a:t>
            </a:r>
          </a:p>
          <a:p>
            <a:pPr marL="360045" marR="0" lvl="0"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银箱子上也写着一句话：“打开我的钥匙装在</a:t>
            </a:r>
            <a:r>
              <a:rPr kumimoji="0" lang="zh-CN" altLang="en-US" sz="1800" b="0" i="0" u="none" strike="noStrike" kern="1200" cap="none" spc="0" normalizeH="0" baseline="0" noProof="0" dirty="0">
                <a:ln>
                  <a:noFill/>
                </a:ln>
                <a:solidFill>
                  <a:srgbClr val="FF0000"/>
                </a:solidFill>
                <a:effectLst/>
                <a:uLnTx/>
                <a:uFillTx/>
                <a:latin typeface="+mn-lt"/>
                <a:ea typeface="+mn-ea"/>
                <a:cs typeface="+mn-ea"/>
                <a:sym typeface="+mn-lt"/>
              </a:rPr>
              <a:t>铜箱子</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里。”</a:t>
            </a:r>
          </a:p>
          <a:p>
            <a:pPr marL="360045" marR="0" lvl="0"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于是我再来到铜箱子前，发现还是没有打开铜箱子的钥匙。</a:t>
            </a:r>
          </a:p>
          <a:p>
            <a:pPr marL="360045" marR="0" lvl="0"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铜箱子上也写着一句话：“打开我的钥匙装在</a:t>
            </a:r>
            <a:r>
              <a:rPr kumimoji="0" lang="zh-CN" altLang="en-US" sz="1800" b="0" i="0" u="none" strike="noStrike" kern="1200" cap="none" spc="0" normalizeH="0" baseline="0" noProof="0" dirty="0">
                <a:ln>
                  <a:noFill/>
                </a:ln>
                <a:solidFill>
                  <a:srgbClr val="FF0000"/>
                </a:solidFill>
                <a:effectLst/>
                <a:uLnTx/>
                <a:uFillTx/>
                <a:latin typeface="+mn-lt"/>
                <a:ea typeface="+mn-ea"/>
                <a:cs typeface="+mn-ea"/>
                <a:sym typeface="+mn-lt"/>
              </a:rPr>
              <a:t>铁箱子</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里。”</a:t>
            </a:r>
          </a:p>
          <a:p>
            <a:pPr marL="360045" marR="0" lvl="0"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于是我又来到了铁箱子前，发现还是没有打开铁箱子的钥匙。</a:t>
            </a:r>
          </a:p>
          <a:p>
            <a:pPr marL="360045" marR="0" lvl="0"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铁箱子上也写着一句话：“打开我的钥匙装在</a:t>
            </a:r>
            <a:r>
              <a:rPr kumimoji="0" lang="zh-CN" altLang="en-US" sz="1800" b="0" i="0" u="none" strike="noStrike" kern="1200" cap="none" spc="0" normalizeH="0" baseline="0" noProof="0" dirty="0">
                <a:ln>
                  <a:noFill/>
                </a:ln>
                <a:solidFill>
                  <a:srgbClr val="FF0000"/>
                </a:solidFill>
                <a:effectLst/>
                <a:uLnTx/>
                <a:uFillTx/>
                <a:latin typeface="+mn-lt"/>
                <a:ea typeface="+mn-ea"/>
                <a:cs typeface="+mn-ea"/>
                <a:sym typeface="+mn-lt"/>
              </a:rPr>
              <a:t>木箱子</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里。”</a:t>
            </a:r>
            <a:endPar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endParaRPr>
          </a:p>
          <a:p>
            <a:pPr marL="360045" marR="0" lvl="0"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我来到木箱子前，打开了木箱，</a:t>
            </a:r>
          </a:p>
          <a:p>
            <a:pPr marL="360045" marR="0" lvl="0"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并从木箱里拿出铁箱子的钥匙，打开了铁箱，</a:t>
            </a:r>
          </a:p>
          <a:p>
            <a:pPr marL="360045" marR="0" lvl="0"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从铁箱里拿了出铜箱的钥匙，打开了铜箱，</a:t>
            </a:r>
          </a:p>
          <a:p>
            <a:pPr marL="360045" marR="0" lvl="0"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再从铜箱里拿出银箱的钥匙打开了银箱，</a:t>
            </a:r>
          </a:p>
          <a:p>
            <a:pPr marL="360045" marR="0" lvl="0"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最后从银箱里取出金箱的钥匙，打开了我想打开的金箱子。</a:t>
            </a:r>
          </a:p>
          <a:p>
            <a:pPr marL="360045" marR="0" lvl="0" indent="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晕吧</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很啰嗦地讲了这么长一个故事。</a:t>
            </a:r>
          </a:p>
        </p:txBody>
      </p:sp>
      <p:sp>
        <p:nvSpPr>
          <p:cNvPr id="8" name="Rectangle 5"/>
          <p:cNvSpPr>
            <a:spLocks noChangeArrowheads="1"/>
          </p:cNvSpPr>
          <p:nvPr/>
        </p:nvSpPr>
        <p:spPr bwMode="auto">
          <a:xfrm>
            <a:off x="900113" y="1158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栈与递归</a:t>
            </a:r>
          </a:p>
        </p:txBody>
      </p:sp>
    </p:spTree>
  </p:cSld>
  <p:clrMapOvr>
    <a:masterClrMapping/>
  </p:clrMapOvr>
  <p:transition>
    <p:wipe dir="r"/>
    <p:sndAc>
      <p:stSnd loop="1">
        <p:snd r:embed="rId2" name="morning.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87460">
                                            <p:bg/>
                                          </p:spTgt>
                                        </p:tgtEl>
                                        <p:attrNameLst>
                                          <p:attrName>style.visibility</p:attrName>
                                        </p:attrNameLst>
                                      </p:cBhvr>
                                      <p:to>
                                        <p:strVal val="visible"/>
                                      </p:to>
                                    </p:set>
                                    <p:animEffect transition="in" filter="checkerboard(across)">
                                      <p:cBhvr>
                                        <p:cTn id="7" dur="500"/>
                                        <p:tgtEl>
                                          <p:spTgt spid="787460">
                                            <p:bg/>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87460">
                                            <p:txEl>
                                              <p:pRg st="0" end="0"/>
                                            </p:txEl>
                                          </p:spTgt>
                                        </p:tgtEl>
                                        <p:attrNameLst>
                                          <p:attrName>style.visibility</p:attrName>
                                        </p:attrNameLst>
                                      </p:cBhvr>
                                      <p:to>
                                        <p:strVal val="visible"/>
                                      </p:to>
                                    </p:set>
                                    <p:animEffect transition="in" filter="checkerboard(across)">
                                      <p:cBhvr>
                                        <p:cTn id="12" dur="500"/>
                                        <p:tgtEl>
                                          <p:spTgt spid="78746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87460">
                                            <p:txEl>
                                              <p:pRg st="1" end="1"/>
                                            </p:txEl>
                                          </p:spTgt>
                                        </p:tgtEl>
                                        <p:attrNameLst>
                                          <p:attrName>style.visibility</p:attrName>
                                        </p:attrNameLst>
                                      </p:cBhvr>
                                      <p:to>
                                        <p:strVal val="visible"/>
                                      </p:to>
                                    </p:set>
                                    <p:animEffect transition="in" filter="checkerboard(across)">
                                      <p:cBhvr>
                                        <p:cTn id="17" dur="500"/>
                                        <p:tgtEl>
                                          <p:spTgt spid="78746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787460">
                                            <p:txEl>
                                              <p:pRg st="2" end="2"/>
                                            </p:txEl>
                                          </p:spTgt>
                                        </p:tgtEl>
                                        <p:attrNameLst>
                                          <p:attrName>style.visibility</p:attrName>
                                        </p:attrNameLst>
                                      </p:cBhvr>
                                      <p:to>
                                        <p:strVal val="visible"/>
                                      </p:to>
                                    </p:set>
                                    <p:animEffect transition="in" filter="checkerboard(across)">
                                      <p:cBhvr>
                                        <p:cTn id="22" dur="500"/>
                                        <p:tgtEl>
                                          <p:spTgt spid="78746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787460">
                                            <p:txEl>
                                              <p:pRg st="3" end="3"/>
                                            </p:txEl>
                                          </p:spTgt>
                                        </p:tgtEl>
                                        <p:attrNameLst>
                                          <p:attrName>style.visibility</p:attrName>
                                        </p:attrNameLst>
                                      </p:cBhvr>
                                      <p:to>
                                        <p:strVal val="visible"/>
                                      </p:to>
                                    </p:set>
                                    <p:animEffect transition="in" filter="checkerboard(across)">
                                      <p:cBhvr>
                                        <p:cTn id="27" dur="500"/>
                                        <p:tgtEl>
                                          <p:spTgt spid="78746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787460">
                                            <p:txEl>
                                              <p:pRg st="4" end="4"/>
                                            </p:txEl>
                                          </p:spTgt>
                                        </p:tgtEl>
                                        <p:attrNameLst>
                                          <p:attrName>style.visibility</p:attrName>
                                        </p:attrNameLst>
                                      </p:cBhvr>
                                      <p:to>
                                        <p:strVal val="visible"/>
                                      </p:to>
                                    </p:set>
                                    <p:animEffect transition="in" filter="checkerboard(across)">
                                      <p:cBhvr>
                                        <p:cTn id="32" dur="500"/>
                                        <p:tgtEl>
                                          <p:spTgt spid="787460">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787460">
                                            <p:txEl>
                                              <p:pRg st="5" end="5"/>
                                            </p:txEl>
                                          </p:spTgt>
                                        </p:tgtEl>
                                        <p:attrNameLst>
                                          <p:attrName>style.visibility</p:attrName>
                                        </p:attrNameLst>
                                      </p:cBhvr>
                                      <p:to>
                                        <p:strVal val="visible"/>
                                      </p:to>
                                    </p:set>
                                    <p:animEffect transition="in" filter="checkerboard(across)">
                                      <p:cBhvr>
                                        <p:cTn id="37" dur="500"/>
                                        <p:tgtEl>
                                          <p:spTgt spid="787460">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787460">
                                            <p:txEl>
                                              <p:pRg st="6" end="6"/>
                                            </p:txEl>
                                          </p:spTgt>
                                        </p:tgtEl>
                                        <p:attrNameLst>
                                          <p:attrName>style.visibility</p:attrName>
                                        </p:attrNameLst>
                                      </p:cBhvr>
                                      <p:to>
                                        <p:strVal val="visible"/>
                                      </p:to>
                                    </p:set>
                                    <p:animEffect transition="in" filter="checkerboard(across)">
                                      <p:cBhvr>
                                        <p:cTn id="42" dur="500"/>
                                        <p:tgtEl>
                                          <p:spTgt spid="787460">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787460">
                                            <p:txEl>
                                              <p:pRg st="7" end="7"/>
                                            </p:txEl>
                                          </p:spTgt>
                                        </p:tgtEl>
                                        <p:attrNameLst>
                                          <p:attrName>style.visibility</p:attrName>
                                        </p:attrNameLst>
                                      </p:cBhvr>
                                      <p:to>
                                        <p:strVal val="visible"/>
                                      </p:to>
                                    </p:set>
                                    <p:animEffect transition="in" filter="checkerboard(across)">
                                      <p:cBhvr>
                                        <p:cTn id="47" dur="500"/>
                                        <p:tgtEl>
                                          <p:spTgt spid="787460">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787460">
                                            <p:txEl>
                                              <p:pRg st="8" end="8"/>
                                            </p:txEl>
                                          </p:spTgt>
                                        </p:tgtEl>
                                        <p:attrNameLst>
                                          <p:attrName>style.visibility</p:attrName>
                                        </p:attrNameLst>
                                      </p:cBhvr>
                                      <p:to>
                                        <p:strVal val="visible"/>
                                      </p:to>
                                    </p:set>
                                    <p:animEffect transition="in" filter="checkerboard(across)">
                                      <p:cBhvr>
                                        <p:cTn id="52" dur="500"/>
                                        <p:tgtEl>
                                          <p:spTgt spid="787460">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787460">
                                            <p:txEl>
                                              <p:pRg st="9" end="9"/>
                                            </p:txEl>
                                          </p:spTgt>
                                        </p:tgtEl>
                                        <p:attrNameLst>
                                          <p:attrName>style.visibility</p:attrName>
                                        </p:attrNameLst>
                                      </p:cBhvr>
                                      <p:to>
                                        <p:strVal val="visible"/>
                                      </p:to>
                                    </p:set>
                                    <p:animEffect transition="in" filter="checkerboard(across)">
                                      <p:cBhvr>
                                        <p:cTn id="57" dur="500"/>
                                        <p:tgtEl>
                                          <p:spTgt spid="787460">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787460">
                                            <p:txEl>
                                              <p:pRg st="10" end="10"/>
                                            </p:txEl>
                                          </p:spTgt>
                                        </p:tgtEl>
                                        <p:attrNameLst>
                                          <p:attrName>style.visibility</p:attrName>
                                        </p:attrNameLst>
                                      </p:cBhvr>
                                      <p:to>
                                        <p:strVal val="visible"/>
                                      </p:to>
                                    </p:set>
                                    <p:animEffect transition="in" filter="checkerboard(across)">
                                      <p:cBhvr>
                                        <p:cTn id="62" dur="500"/>
                                        <p:tgtEl>
                                          <p:spTgt spid="787460">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787460">
                                            <p:txEl>
                                              <p:pRg st="11" end="11"/>
                                            </p:txEl>
                                          </p:spTgt>
                                        </p:tgtEl>
                                        <p:attrNameLst>
                                          <p:attrName>style.visibility</p:attrName>
                                        </p:attrNameLst>
                                      </p:cBhvr>
                                      <p:to>
                                        <p:strVal val="visible"/>
                                      </p:to>
                                    </p:set>
                                    <p:animEffect transition="in" filter="checkerboard(across)">
                                      <p:cBhvr>
                                        <p:cTn id="67" dur="500"/>
                                        <p:tgtEl>
                                          <p:spTgt spid="787460">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5" presetClass="entr" presetSubtype="10" fill="hold" grpId="0" nodeType="clickEffect">
                                  <p:stCondLst>
                                    <p:cond delay="0"/>
                                  </p:stCondLst>
                                  <p:childTnLst>
                                    <p:set>
                                      <p:cBhvr>
                                        <p:cTn id="71" dur="1" fill="hold">
                                          <p:stCondLst>
                                            <p:cond delay="0"/>
                                          </p:stCondLst>
                                        </p:cTn>
                                        <p:tgtEl>
                                          <p:spTgt spid="787460">
                                            <p:txEl>
                                              <p:pRg st="12" end="12"/>
                                            </p:txEl>
                                          </p:spTgt>
                                        </p:tgtEl>
                                        <p:attrNameLst>
                                          <p:attrName>style.visibility</p:attrName>
                                        </p:attrNameLst>
                                      </p:cBhvr>
                                      <p:to>
                                        <p:strVal val="visible"/>
                                      </p:to>
                                    </p:set>
                                    <p:animEffect transition="in" filter="checkerboard(across)">
                                      <p:cBhvr>
                                        <p:cTn id="72" dur="500"/>
                                        <p:tgtEl>
                                          <p:spTgt spid="787460">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 presetClass="entr" presetSubtype="10" fill="hold" grpId="0" nodeType="clickEffect">
                                  <p:stCondLst>
                                    <p:cond delay="0"/>
                                  </p:stCondLst>
                                  <p:childTnLst>
                                    <p:set>
                                      <p:cBhvr>
                                        <p:cTn id="76" dur="1" fill="hold">
                                          <p:stCondLst>
                                            <p:cond delay="0"/>
                                          </p:stCondLst>
                                        </p:cTn>
                                        <p:tgtEl>
                                          <p:spTgt spid="787460">
                                            <p:txEl>
                                              <p:pRg st="13" end="13"/>
                                            </p:txEl>
                                          </p:spTgt>
                                        </p:tgtEl>
                                        <p:attrNameLst>
                                          <p:attrName>style.visibility</p:attrName>
                                        </p:attrNameLst>
                                      </p:cBhvr>
                                      <p:to>
                                        <p:strVal val="visible"/>
                                      </p:to>
                                    </p:set>
                                    <p:animEffect transition="in" filter="checkerboard(across)">
                                      <p:cBhvr>
                                        <p:cTn id="77" dur="500"/>
                                        <p:tgtEl>
                                          <p:spTgt spid="787460">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7460" grpId="0" build="p"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4"/>
          <p:cNvSpPr>
            <a:spLocks noChangeArrowheads="1"/>
          </p:cNvSpPr>
          <p:nvPr/>
        </p:nvSpPr>
        <p:spPr bwMode="auto">
          <a:xfrm>
            <a:off x="0" y="3457575"/>
            <a:ext cx="9144000" cy="2676525"/>
          </a:xfrm>
          <a:prstGeom prst="rect">
            <a:avLst/>
          </a:prstGeom>
          <a:solidFill>
            <a:srgbClr val="CCCCFF"/>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60045" marR="0" lvl="0" indent="0" algn="l" defTabSz="914400" rtl="0" eaLnBrk="1" fontAlgn="base" latinLnBrk="0" hangingPunct="1">
              <a:lnSpc>
                <a:spcPct val="8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FindKey</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箱子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360045" marR="0" lvl="0" indent="0" algn="l" defTabSz="914400" rtl="0" eaLnBrk="1" fontAlgn="base" latinLnBrk="0" hangingPunct="1">
              <a:lnSpc>
                <a:spcPct val="8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a:p>
            <a:pPr marL="360045" marR="0" lvl="0" indent="0" algn="l" defTabSz="914400" rtl="0" eaLnBrk="1" fontAlgn="base" latinLnBrk="0" hangingPunct="1">
              <a:lnSpc>
                <a:spcPct val="8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if (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木箱子</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return ;</a:t>
            </a:r>
          </a:p>
          <a:p>
            <a:pPr marL="360045" marR="0" lvl="0" indent="0" algn="l" defTabSz="914400" rtl="0" eaLnBrk="1" fontAlgn="base" latinLnBrk="0" hangingPunct="1">
              <a:lnSpc>
                <a:spcPct val="8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else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FindKey</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下面的箱子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a:p>
            <a:pPr marL="360045" marR="0" lvl="0" indent="0" algn="l" defTabSz="914400" rtl="0" eaLnBrk="1" fontAlgn="base" latinLnBrk="0" hangingPunct="1">
              <a:lnSpc>
                <a:spcPct val="8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7" name="Rectangle 5"/>
          <p:cNvSpPr>
            <a:spLocks noChangeArrowheads="1"/>
          </p:cNvSpPr>
          <p:nvPr/>
        </p:nvSpPr>
        <p:spPr bwMode="auto">
          <a:xfrm>
            <a:off x="900113" y="1158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栈与递归</a:t>
            </a:r>
          </a:p>
        </p:txBody>
      </p:sp>
      <p:pic>
        <p:nvPicPr>
          <p:cNvPr id="72708" name="图片 2"/>
          <p:cNvPicPr>
            <a:picLocks noChangeAspect="1"/>
          </p:cNvPicPr>
          <p:nvPr/>
        </p:nvPicPr>
        <p:blipFill>
          <a:blip r:embed="rId2"/>
          <a:stretch>
            <a:fillRect/>
          </a:stretch>
        </p:blipFill>
        <p:spPr>
          <a:xfrm>
            <a:off x="919163" y="1138238"/>
            <a:ext cx="1800225" cy="2062162"/>
          </a:xfrm>
          <a:prstGeom prst="rect">
            <a:avLst/>
          </a:prstGeom>
          <a:noFill/>
          <a:ln w="9525">
            <a:noFill/>
          </a:ln>
        </p:spPr>
      </p:pic>
      <p:pic>
        <p:nvPicPr>
          <p:cNvPr id="72709" name="图片 3"/>
          <p:cNvPicPr>
            <a:picLocks noChangeAspect="1"/>
          </p:cNvPicPr>
          <p:nvPr/>
        </p:nvPicPr>
        <p:blipFill>
          <a:blip r:embed="rId3"/>
          <a:stretch>
            <a:fillRect/>
          </a:stretch>
        </p:blipFill>
        <p:spPr>
          <a:xfrm>
            <a:off x="3656013" y="1058863"/>
            <a:ext cx="1879600" cy="1925637"/>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矩形 2"/>
          <p:cNvSpPr>
            <a:spLocks noChangeArrowheads="1"/>
          </p:cNvSpPr>
          <p:nvPr/>
        </p:nvSpPr>
        <p:spPr bwMode="auto">
          <a:xfrm>
            <a:off x="0" y="1341438"/>
            <a:ext cx="9144000" cy="4103688"/>
          </a:xfrm>
          <a:prstGeom prst="rect">
            <a:avLst/>
          </a:prstGeom>
          <a:solidFill>
            <a:srgbClr val="E2D9EB"/>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marL="742950" indent="-285750">
              <a:defRPr sz="2400" b="1">
                <a:solidFill>
                  <a:schemeClr val="tx1"/>
                </a:solidFill>
                <a:latin typeface="Times New Roman" panose="02020603050405020304" pitchFamily="18" charset="0"/>
                <a:ea typeface="楷体_GB2312" pitchFamily="49" charset="-122"/>
              </a:defRPr>
            </a:lvl2pPr>
            <a:lvl3pPr marL="1143000" indent="-228600">
              <a:defRPr sz="2400" b="1">
                <a:solidFill>
                  <a:schemeClr val="tx1"/>
                </a:solidFill>
                <a:latin typeface="Times New Roman" panose="02020603050405020304" pitchFamily="18" charset="0"/>
                <a:ea typeface="楷体_GB2312" pitchFamily="49" charset="-122"/>
              </a:defRPr>
            </a:lvl3pPr>
            <a:lvl4pPr marL="1600200" indent="-228600">
              <a:defRPr sz="2400" b="1">
                <a:solidFill>
                  <a:schemeClr val="tx1"/>
                </a:solidFill>
                <a:latin typeface="Times New Roman" panose="02020603050405020304" pitchFamily="18" charset="0"/>
                <a:ea typeface="楷体_GB2312" pitchFamily="49" charset="-122"/>
              </a:defRPr>
            </a:lvl4pPr>
            <a:lvl5pPr marL="2057400" indent="-228600">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 name="Group 5"/>
          <p:cNvGrpSpPr/>
          <p:nvPr/>
        </p:nvGrpSpPr>
        <p:grpSpPr>
          <a:xfrm>
            <a:off x="1968500" y="1684338"/>
            <a:ext cx="5770563" cy="1457325"/>
            <a:chOff x="978" y="1146"/>
            <a:chExt cx="3635" cy="918"/>
          </a:xfrm>
        </p:grpSpPr>
        <p:sp>
          <p:nvSpPr>
            <p:cNvPr id="65540" name="Text Box 6"/>
            <p:cNvSpPr txBox="1">
              <a:spLocks noChangeArrowheads="1"/>
            </p:cNvSpPr>
            <p:nvPr/>
          </p:nvSpPr>
          <p:spPr bwMode="auto">
            <a:xfrm>
              <a:off x="978" y="1146"/>
              <a:ext cx="363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2"/>
                  </a:solidFill>
                  <a:effectLst/>
                  <a:uLnTx/>
                  <a:uFillTx/>
                  <a:latin typeface="+mn-lt"/>
                  <a:ea typeface="+mn-ea"/>
                  <a:cs typeface="+mn-ea"/>
                  <a:sym typeface="+mn-lt"/>
                </a:rPr>
                <a:t>当多个函数构成嵌套调用时</a:t>
              </a:r>
              <a:r>
                <a:rPr kumimoji="0" lang="en-US" altLang="zh-CN" sz="2800" b="0" i="0" u="none" strike="noStrike" kern="1200" cap="none" spc="0" normalizeH="0" baseline="0" noProof="0" dirty="0">
                  <a:ln>
                    <a:noFill/>
                  </a:ln>
                  <a:solidFill>
                    <a:schemeClr val="tx2"/>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tx2"/>
                  </a:solidFill>
                  <a:effectLst/>
                  <a:uLnTx/>
                  <a:uFillTx/>
                  <a:latin typeface="+mn-lt"/>
                  <a:ea typeface="+mn-ea"/>
                  <a:cs typeface="+mn-ea"/>
                  <a:sym typeface="+mn-lt"/>
                </a:rPr>
                <a:t>遵循</a:t>
              </a:r>
            </a:p>
          </p:txBody>
        </p:sp>
        <p:sp>
          <p:nvSpPr>
            <p:cNvPr id="65541" name="Text Box 7"/>
            <p:cNvSpPr txBox="1">
              <a:spLocks noChangeArrowheads="1"/>
            </p:cNvSpPr>
            <p:nvPr/>
          </p:nvSpPr>
          <p:spPr bwMode="auto">
            <a:xfrm>
              <a:off x="1954" y="1734"/>
              <a:ext cx="1485" cy="330"/>
            </a:xfrm>
            <a:prstGeom prst="rect">
              <a:avLst/>
            </a:prstGeom>
            <a:solidFill>
              <a:srgbClr val="FF0000"/>
            </a:solidFill>
            <a:ln w="9525">
              <a:no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后调用先返回</a:t>
              </a:r>
            </a:p>
          </p:txBody>
        </p:sp>
      </p:grpSp>
      <p:sp>
        <p:nvSpPr>
          <p:cNvPr id="674824" name="Text Box 8"/>
          <p:cNvSpPr txBox="1">
            <a:spLocks noChangeArrowheads="1"/>
          </p:cNvSpPr>
          <p:nvPr/>
        </p:nvSpPr>
        <p:spPr bwMode="auto">
          <a:xfrm>
            <a:off x="4291013" y="4484688"/>
            <a:ext cx="561975" cy="522288"/>
          </a:xfrm>
          <a:prstGeom prst="rect">
            <a:avLst/>
          </a:prstGeom>
          <a:solidFill>
            <a:srgbClr val="CCCCFF"/>
          </a:solidFill>
          <a:ln w="9525">
            <a:no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栈</a:t>
            </a:r>
          </a:p>
        </p:txBody>
      </p:sp>
      <p:sp>
        <p:nvSpPr>
          <p:cNvPr id="674825" name="AutoShape 9"/>
          <p:cNvSpPr>
            <a:spLocks noChangeArrowheads="1"/>
          </p:cNvSpPr>
          <p:nvPr/>
        </p:nvSpPr>
        <p:spPr bwMode="auto">
          <a:xfrm>
            <a:off x="4427538" y="3316288"/>
            <a:ext cx="288925" cy="976313"/>
          </a:xfrm>
          <a:prstGeom prst="upArrow">
            <a:avLst>
              <a:gd name="adj1" fmla="val 50000"/>
              <a:gd name="adj2" fmla="val 84256"/>
            </a:avLst>
          </a:prstGeom>
          <a:solidFill>
            <a:schemeClr val="accent1">
              <a:lumMod val="60000"/>
              <a:lumOff val="40000"/>
            </a:schemeClr>
          </a:solidFill>
          <a:ln w="9525">
            <a:noFill/>
            <a:miter lim="800000"/>
          </a:ln>
        </p:spPr>
        <p:txBody>
          <a:bodyPr vert="eaVert"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 name="Rectangle 5"/>
          <p:cNvSpPr>
            <a:spLocks noChangeArrowheads="1"/>
          </p:cNvSpPr>
          <p:nvPr/>
        </p:nvSpPr>
        <p:spPr bwMode="auto">
          <a:xfrm>
            <a:off x="900113" y="1158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栈与递归</a:t>
            </a:r>
          </a:p>
        </p:txBody>
      </p:sp>
      <p:sp>
        <p:nvSpPr>
          <p:cNvPr id="11"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748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748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24" grpId="0" animBg="1"/>
      <p:bldP spid="67482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14"/>
          <p:cNvSpPr>
            <a:spLocks noChangeArrowheads="1"/>
          </p:cNvSpPr>
          <p:nvPr/>
        </p:nvSpPr>
        <p:spPr bwMode="auto">
          <a:xfrm>
            <a:off x="677863" y="1270000"/>
            <a:ext cx="70231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5000"/>
              </a:lnSpc>
              <a:spcBef>
                <a:spcPct val="50000"/>
              </a:spcBef>
              <a:spcAft>
                <a:spcPct val="0"/>
              </a:spcAft>
              <a:buClr>
                <a:srgbClr val="FF7C80"/>
              </a:buClr>
              <a:buSzPct val="50000"/>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以下三种情况常常用到递归方法</a:t>
            </a:r>
          </a:p>
        </p:txBody>
      </p:sp>
      <p:sp>
        <p:nvSpPr>
          <p:cNvPr id="5" name="Rectangle 5"/>
          <p:cNvSpPr>
            <a:spLocks noChangeArrowheads="1"/>
          </p:cNvSpPr>
          <p:nvPr/>
        </p:nvSpPr>
        <p:spPr bwMode="auto">
          <a:xfrm>
            <a:off x="900113" y="1158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栈与递归</a:t>
            </a:r>
          </a:p>
        </p:txBody>
      </p:sp>
      <p:grpSp>
        <p:nvGrpSpPr>
          <p:cNvPr id="25" name="组合 24"/>
          <p:cNvGrpSpPr/>
          <p:nvPr/>
        </p:nvGrpSpPr>
        <p:grpSpPr>
          <a:xfrm>
            <a:off x="687388" y="2217738"/>
            <a:ext cx="2147887" cy="2890837"/>
            <a:chOff x="1088322" y="2217316"/>
            <a:chExt cx="2147157" cy="2890623"/>
          </a:xfrm>
        </p:grpSpPr>
        <p:sp>
          <p:nvSpPr>
            <p:cNvPr id="26" name="íṡľíḍè-Rectangle 22"/>
            <p:cNvSpPr/>
            <p:nvPr/>
          </p:nvSpPr>
          <p:spPr>
            <a:xfrm>
              <a:off x="1167670" y="2217316"/>
              <a:ext cx="1901179" cy="1901684"/>
            </a:xfrm>
            <a:prstGeom prst="rect">
              <a:avLst/>
            </a:pr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27" name="íṡľíḍè-Freeform: Shape 23"/>
            <p:cNvSpPr/>
            <p:nvPr/>
          </p:nvSpPr>
          <p:spPr>
            <a:xfrm rot="10800000">
              <a:off x="1167670" y="3988835"/>
              <a:ext cx="1901179" cy="369860"/>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4F81BD">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29" name="îŝḷîḓé-Rectangle 38"/>
            <p:cNvSpPr/>
            <p:nvPr/>
          </p:nvSpPr>
          <p:spPr>
            <a:xfrm>
              <a:off x="1088322" y="4580928"/>
              <a:ext cx="2147157" cy="527011"/>
            </a:xfrm>
            <a:prstGeom prst="rect">
              <a:avLst/>
            </a:prstGeom>
          </p:spPr>
          <p:txBody>
            <a:bodyPr lIns="0" tIns="0" rIns="0" bIns="0"/>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lumMod val="100000"/>
                    </a:prstClr>
                  </a:solidFill>
                  <a:effectLst/>
                  <a:uLnTx/>
                  <a:uFillTx/>
                  <a:latin typeface="+mn-lt"/>
                  <a:ea typeface="+mn-ea"/>
                  <a:cs typeface="+mn-ea"/>
                  <a:sym typeface="+mn-lt"/>
                </a:rPr>
                <a:t>递归定义的数学函数</a:t>
              </a:r>
            </a:p>
          </p:txBody>
        </p:sp>
        <p:sp>
          <p:nvSpPr>
            <p:cNvPr id="30" name="îŝḷîḓé-Freeform: Shape 42"/>
            <p:cNvSpPr/>
            <p:nvPr/>
          </p:nvSpPr>
          <p:spPr bwMode="auto">
            <a:xfrm>
              <a:off x="1689780" y="2469709"/>
              <a:ext cx="944242" cy="944493"/>
            </a:xfrm>
            <a:custGeom>
              <a:avLst/>
              <a:gdLst>
                <a:gd name="T0" fmla="*/ 184 w 260"/>
                <a:gd name="T1" fmla="*/ 106 h 260"/>
                <a:gd name="T2" fmla="*/ 193 w 260"/>
                <a:gd name="T3" fmla="*/ 143 h 260"/>
                <a:gd name="T4" fmla="*/ 117 w 260"/>
                <a:gd name="T5" fmla="*/ 219 h 260"/>
                <a:gd name="T6" fmla="*/ 42 w 260"/>
                <a:gd name="T7" fmla="*/ 143 h 260"/>
                <a:gd name="T8" fmla="*/ 117 w 260"/>
                <a:gd name="T9" fmla="*/ 66 h 260"/>
                <a:gd name="T10" fmla="*/ 154 w 260"/>
                <a:gd name="T11" fmla="*/ 76 h 260"/>
                <a:gd name="T12" fmla="*/ 183 w 260"/>
                <a:gd name="T13" fmla="*/ 46 h 260"/>
                <a:gd name="T14" fmla="*/ 117 w 260"/>
                <a:gd name="T15" fmla="*/ 25 h 260"/>
                <a:gd name="T16" fmla="*/ 0 w 260"/>
                <a:gd name="T17" fmla="*/ 143 h 260"/>
                <a:gd name="T18" fmla="*/ 117 w 260"/>
                <a:gd name="T19" fmla="*/ 260 h 260"/>
                <a:gd name="T20" fmla="*/ 233 w 260"/>
                <a:gd name="T21" fmla="*/ 143 h 260"/>
                <a:gd name="T22" fmla="*/ 213 w 260"/>
                <a:gd name="T23" fmla="*/ 77 h 260"/>
                <a:gd name="T24" fmla="*/ 184 w 260"/>
                <a:gd name="T25" fmla="*/ 106 h 260"/>
                <a:gd name="T26" fmla="*/ 225 w 260"/>
                <a:gd name="T27" fmla="*/ 35 h 260"/>
                <a:gd name="T28" fmla="*/ 225 w 260"/>
                <a:gd name="T29" fmla="*/ 35 h 260"/>
                <a:gd name="T30" fmla="*/ 225 w 260"/>
                <a:gd name="T31" fmla="*/ 0 h 260"/>
                <a:gd name="T32" fmla="*/ 203 w 260"/>
                <a:gd name="T33" fmla="*/ 23 h 260"/>
                <a:gd name="T34" fmla="*/ 203 w 260"/>
                <a:gd name="T35" fmla="*/ 46 h 260"/>
                <a:gd name="T36" fmla="*/ 139 w 260"/>
                <a:gd name="T37" fmla="*/ 111 h 260"/>
                <a:gd name="T38" fmla="*/ 117 w 260"/>
                <a:gd name="T39" fmla="*/ 104 h 260"/>
                <a:gd name="T40" fmla="*/ 79 w 260"/>
                <a:gd name="T41" fmla="*/ 143 h 260"/>
                <a:gd name="T42" fmla="*/ 117 w 260"/>
                <a:gd name="T43" fmla="*/ 181 h 260"/>
                <a:gd name="T44" fmla="*/ 155 w 260"/>
                <a:gd name="T45" fmla="*/ 143 h 260"/>
                <a:gd name="T46" fmla="*/ 150 w 260"/>
                <a:gd name="T47" fmla="*/ 123 h 260"/>
                <a:gd name="T48" fmla="*/ 215 w 260"/>
                <a:gd name="T49" fmla="*/ 58 h 260"/>
                <a:gd name="T50" fmla="*/ 237 w 260"/>
                <a:gd name="T51" fmla="*/ 58 h 260"/>
                <a:gd name="T52" fmla="*/ 260 w 260"/>
                <a:gd name="T53" fmla="*/ 35 h 260"/>
                <a:gd name="T54" fmla="*/ 225 w 260"/>
                <a:gd name="T55" fmla="*/ 35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0" h="260">
                  <a:moveTo>
                    <a:pt x="184" y="106"/>
                  </a:moveTo>
                  <a:cubicBezTo>
                    <a:pt x="190" y="117"/>
                    <a:pt x="193" y="129"/>
                    <a:pt x="193" y="143"/>
                  </a:cubicBezTo>
                  <a:cubicBezTo>
                    <a:pt x="193" y="185"/>
                    <a:pt x="159" y="219"/>
                    <a:pt x="117" y="219"/>
                  </a:cubicBezTo>
                  <a:cubicBezTo>
                    <a:pt x="76" y="219"/>
                    <a:pt x="42" y="185"/>
                    <a:pt x="42" y="143"/>
                  </a:cubicBezTo>
                  <a:cubicBezTo>
                    <a:pt x="42" y="100"/>
                    <a:pt x="76" y="66"/>
                    <a:pt x="117" y="66"/>
                  </a:cubicBezTo>
                  <a:cubicBezTo>
                    <a:pt x="131" y="66"/>
                    <a:pt x="143" y="70"/>
                    <a:pt x="154" y="76"/>
                  </a:cubicBezTo>
                  <a:cubicBezTo>
                    <a:pt x="183" y="46"/>
                    <a:pt x="183" y="46"/>
                    <a:pt x="183" y="46"/>
                  </a:cubicBezTo>
                  <a:cubicBezTo>
                    <a:pt x="165" y="33"/>
                    <a:pt x="141" y="25"/>
                    <a:pt x="117" y="25"/>
                  </a:cubicBezTo>
                  <a:cubicBezTo>
                    <a:pt x="52" y="25"/>
                    <a:pt x="0" y="78"/>
                    <a:pt x="0" y="143"/>
                  </a:cubicBezTo>
                  <a:cubicBezTo>
                    <a:pt x="0" y="207"/>
                    <a:pt x="52" y="260"/>
                    <a:pt x="117" y="260"/>
                  </a:cubicBezTo>
                  <a:cubicBezTo>
                    <a:pt x="181" y="260"/>
                    <a:pt x="233" y="207"/>
                    <a:pt x="233" y="143"/>
                  </a:cubicBezTo>
                  <a:cubicBezTo>
                    <a:pt x="233" y="118"/>
                    <a:pt x="226" y="96"/>
                    <a:pt x="213" y="77"/>
                  </a:cubicBezTo>
                  <a:cubicBezTo>
                    <a:pt x="184" y="106"/>
                    <a:pt x="184" y="106"/>
                    <a:pt x="184" y="106"/>
                  </a:cubicBezTo>
                  <a:close/>
                  <a:moveTo>
                    <a:pt x="225" y="35"/>
                  </a:moveTo>
                  <a:cubicBezTo>
                    <a:pt x="225" y="35"/>
                    <a:pt x="225" y="35"/>
                    <a:pt x="225" y="35"/>
                  </a:cubicBezTo>
                  <a:cubicBezTo>
                    <a:pt x="225" y="0"/>
                    <a:pt x="225" y="0"/>
                    <a:pt x="225" y="0"/>
                  </a:cubicBezTo>
                  <a:cubicBezTo>
                    <a:pt x="203" y="23"/>
                    <a:pt x="203" y="23"/>
                    <a:pt x="203" y="23"/>
                  </a:cubicBezTo>
                  <a:cubicBezTo>
                    <a:pt x="203" y="46"/>
                    <a:pt x="203" y="46"/>
                    <a:pt x="203" y="46"/>
                  </a:cubicBezTo>
                  <a:cubicBezTo>
                    <a:pt x="139" y="111"/>
                    <a:pt x="139" y="111"/>
                    <a:pt x="139" y="111"/>
                  </a:cubicBezTo>
                  <a:cubicBezTo>
                    <a:pt x="133" y="106"/>
                    <a:pt x="125" y="104"/>
                    <a:pt x="117" y="104"/>
                  </a:cubicBezTo>
                  <a:cubicBezTo>
                    <a:pt x="96" y="104"/>
                    <a:pt x="79" y="121"/>
                    <a:pt x="79" y="143"/>
                  </a:cubicBezTo>
                  <a:cubicBezTo>
                    <a:pt x="79" y="164"/>
                    <a:pt x="96" y="181"/>
                    <a:pt x="117" y="181"/>
                  </a:cubicBezTo>
                  <a:cubicBezTo>
                    <a:pt x="138" y="181"/>
                    <a:pt x="155" y="164"/>
                    <a:pt x="155" y="143"/>
                  </a:cubicBezTo>
                  <a:cubicBezTo>
                    <a:pt x="155" y="136"/>
                    <a:pt x="154" y="129"/>
                    <a:pt x="150" y="123"/>
                  </a:cubicBezTo>
                  <a:cubicBezTo>
                    <a:pt x="215" y="58"/>
                    <a:pt x="215" y="58"/>
                    <a:pt x="215" y="58"/>
                  </a:cubicBezTo>
                  <a:cubicBezTo>
                    <a:pt x="237" y="58"/>
                    <a:pt x="237" y="58"/>
                    <a:pt x="237" y="58"/>
                  </a:cubicBezTo>
                  <a:cubicBezTo>
                    <a:pt x="260" y="35"/>
                    <a:pt x="260" y="35"/>
                    <a:pt x="260" y="35"/>
                  </a:cubicBezTo>
                  <a:cubicBezTo>
                    <a:pt x="225" y="35"/>
                    <a:pt x="225" y="35"/>
                    <a:pt x="225" y="35"/>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31" name="组合 30"/>
          <p:cNvGrpSpPr/>
          <p:nvPr/>
        </p:nvGrpSpPr>
        <p:grpSpPr>
          <a:xfrm>
            <a:off x="6292850" y="2217738"/>
            <a:ext cx="1900238" cy="2890837"/>
            <a:chOff x="9271092" y="2217316"/>
            <a:chExt cx="1901376" cy="2890623"/>
          </a:xfrm>
        </p:grpSpPr>
        <p:sp>
          <p:nvSpPr>
            <p:cNvPr id="32" name="íṡľíḍè-Rectangle 30"/>
            <p:cNvSpPr/>
            <p:nvPr/>
          </p:nvSpPr>
          <p:spPr>
            <a:xfrm>
              <a:off x="9271092" y="2217316"/>
              <a:ext cx="1901376" cy="1901684"/>
            </a:xfrm>
            <a:prstGeom prst="rect">
              <a:avLst/>
            </a:prstGeom>
            <a:solidFill>
              <a:srgbClr val="8064A2"/>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33" name="íṡľíḍè-Freeform: Shape 31"/>
            <p:cNvSpPr/>
            <p:nvPr/>
          </p:nvSpPr>
          <p:spPr>
            <a:xfrm rot="10800000">
              <a:off x="9271092" y="4028519"/>
              <a:ext cx="1901376" cy="369861"/>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8064A2">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35" name="îŝḷîḓé-Rectangle 41"/>
            <p:cNvSpPr/>
            <p:nvPr/>
          </p:nvSpPr>
          <p:spPr>
            <a:xfrm>
              <a:off x="9271092" y="4580928"/>
              <a:ext cx="1901376" cy="527011"/>
            </a:xfrm>
            <a:prstGeom prst="rect">
              <a:avLst/>
            </a:prstGeom>
          </p:spPr>
          <p:txBody>
            <a:bodyPr lIns="0" tIns="0" rIns="0" bIns="0"/>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lumMod val="100000"/>
                    </a:prstClr>
                  </a:solidFill>
                  <a:effectLst/>
                  <a:uLnTx/>
                  <a:uFillTx/>
                  <a:latin typeface="+mn-lt"/>
                  <a:ea typeface="+mn-ea"/>
                  <a:cs typeface="+mn-ea"/>
                  <a:sym typeface="+mn-lt"/>
                </a:rPr>
                <a:t>可递归求解的问题</a:t>
              </a:r>
            </a:p>
          </p:txBody>
        </p:sp>
        <p:sp>
          <p:nvSpPr>
            <p:cNvPr id="36" name="îŝḷîḓé-Freeform: Shape 43"/>
            <p:cNvSpPr/>
            <p:nvPr/>
          </p:nvSpPr>
          <p:spPr bwMode="auto">
            <a:xfrm>
              <a:off x="9761924" y="2560191"/>
              <a:ext cx="838702" cy="838138"/>
            </a:xfrm>
            <a:custGeom>
              <a:avLst/>
              <a:gdLst>
                <a:gd name="T0" fmla="*/ 116 w 232"/>
                <a:gd name="T1" fmla="*/ 0 h 232"/>
                <a:gd name="T2" fmla="*/ 0 w 232"/>
                <a:gd name="T3" fmla="*/ 116 h 232"/>
                <a:gd name="T4" fmla="*/ 116 w 232"/>
                <a:gd name="T5" fmla="*/ 232 h 232"/>
                <a:gd name="T6" fmla="*/ 232 w 232"/>
                <a:gd name="T7" fmla="*/ 116 h 232"/>
                <a:gd name="T8" fmla="*/ 116 w 232"/>
                <a:gd name="T9" fmla="*/ 0 h 232"/>
                <a:gd name="T10" fmla="*/ 129 w 232"/>
                <a:gd name="T11" fmla="*/ 208 h 232"/>
                <a:gd name="T12" fmla="*/ 129 w 232"/>
                <a:gd name="T13" fmla="*/ 190 h 232"/>
                <a:gd name="T14" fmla="*/ 117 w 232"/>
                <a:gd name="T15" fmla="*/ 178 h 232"/>
                <a:gd name="T16" fmla="*/ 105 w 232"/>
                <a:gd name="T17" fmla="*/ 190 h 232"/>
                <a:gd name="T18" fmla="*/ 105 w 232"/>
                <a:gd name="T19" fmla="*/ 208 h 232"/>
                <a:gd name="T20" fmla="*/ 25 w 232"/>
                <a:gd name="T21" fmla="*/ 129 h 232"/>
                <a:gd name="T22" fmla="*/ 42 w 232"/>
                <a:gd name="T23" fmla="*/ 129 h 232"/>
                <a:gd name="T24" fmla="*/ 53 w 232"/>
                <a:gd name="T25" fmla="*/ 117 h 232"/>
                <a:gd name="T26" fmla="*/ 42 w 232"/>
                <a:gd name="T27" fmla="*/ 105 h 232"/>
                <a:gd name="T28" fmla="*/ 24 w 232"/>
                <a:gd name="T29" fmla="*/ 105 h 232"/>
                <a:gd name="T30" fmla="*/ 104 w 232"/>
                <a:gd name="T31" fmla="*/ 25 h 232"/>
                <a:gd name="T32" fmla="*/ 104 w 232"/>
                <a:gd name="T33" fmla="*/ 41 h 232"/>
                <a:gd name="T34" fmla="*/ 116 w 232"/>
                <a:gd name="T35" fmla="*/ 53 h 232"/>
                <a:gd name="T36" fmla="*/ 128 w 232"/>
                <a:gd name="T37" fmla="*/ 41 h 232"/>
                <a:gd name="T38" fmla="*/ 128 w 232"/>
                <a:gd name="T39" fmla="*/ 25 h 232"/>
                <a:gd name="T40" fmla="*/ 208 w 232"/>
                <a:gd name="T41" fmla="*/ 104 h 232"/>
                <a:gd name="T42" fmla="*/ 190 w 232"/>
                <a:gd name="T43" fmla="*/ 104 h 232"/>
                <a:gd name="T44" fmla="*/ 179 w 232"/>
                <a:gd name="T45" fmla="*/ 116 h 232"/>
                <a:gd name="T46" fmla="*/ 190 w 232"/>
                <a:gd name="T47" fmla="*/ 128 h 232"/>
                <a:gd name="T48" fmla="*/ 208 w 232"/>
                <a:gd name="T49" fmla="*/ 128 h 232"/>
                <a:gd name="T50" fmla="*/ 129 w 232"/>
                <a:gd name="T51" fmla="*/ 208 h 232"/>
                <a:gd name="T52" fmla="*/ 124 w 232"/>
                <a:gd name="T53" fmla="*/ 94 h 232"/>
                <a:gd name="T54" fmla="*/ 70 w 232"/>
                <a:gd name="T55" fmla="*/ 69 h 232"/>
                <a:gd name="T56" fmla="*/ 94 w 232"/>
                <a:gd name="T57" fmla="*/ 124 h 232"/>
                <a:gd name="T58" fmla="*/ 109 w 232"/>
                <a:gd name="T59" fmla="*/ 138 h 232"/>
                <a:gd name="T60" fmla="*/ 163 w 232"/>
                <a:gd name="T61" fmla="*/ 163 h 232"/>
                <a:gd name="T62" fmla="*/ 138 w 232"/>
                <a:gd name="T63" fmla="*/ 108 h 232"/>
                <a:gd name="T64" fmla="*/ 124 w 232"/>
                <a:gd name="T65" fmla="*/ 94 h 232"/>
                <a:gd name="T66" fmla="*/ 123 w 232"/>
                <a:gd name="T67" fmla="*/ 123 h 232"/>
                <a:gd name="T68" fmla="*/ 110 w 232"/>
                <a:gd name="T69" fmla="*/ 123 h 232"/>
                <a:gd name="T70" fmla="*/ 110 w 232"/>
                <a:gd name="T71" fmla="*/ 109 h 232"/>
                <a:gd name="T72" fmla="*/ 123 w 232"/>
                <a:gd name="T73" fmla="*/ 109 h 232"/>
                <a:gd name="T74" fmla="*/ 123 w 232"/>
                <a:gd name="T75" fmla="*/ 123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2" h="232">
                  <a:moveTo>
                    <a:pt x="116" y="0"/>
                  </a:moveTo>
                  <a:cubicBezTo>
                    <a:pt x="52" y="0"/>
                    <a:pt x="0" y="52"/>
                    <a:pt x="0" y="116"/>
                  </a:cubicBezTo>
                  <a:cubicBezTo>
                    <a:pt x="0" y="180"/>
                    <a:pt x="52" y="232"/>
                    <a:pt x="116" y="232"/>
                  </a:cubicBezTo>
                  <a:cubicBezTo>
                    <a:pt x="180" y="232"/>
                    <a:pt x="232" y="180"/>
                    <a:pt x="232" y="116"/>
                  </a:cubicBezTo>
                  <a:cubicBezTo>
                    <a:pt x="232" y="52"/>
                    <a:pt x="180" y="0"/>
                    <a:pt x="116" y="0"/>
                  </a:cubicBezTo>
                  <a:close/>
                  <a:moveTo>
                    <a:pt x="129" y="208"/>
                  </a:moveTo>
                  <a:cubicBezTo>
                    <a:pt x="129" y="190"/>
                    <a:pt x="129" y="190"/>
                    <a:pt x="129" y="190"/>
                  </a:cubicBezTo>
                  <a:cubicBezTo>
                    <a:pt x="129" y="183"/>
                    <a:pt x="123" y="178"/>
                    <a:pt x="117" y="178"/>
                  </a:cubicBezTo>
                  <a:cubicBezTo>
                    <a:pt x="110" y="178"/>
                    <a:pt x="105" y="183"/>
                    <a:pt x="105" y="190"/>
                  </a:cubicBezTo>
                  <a:cubicBezTo>
                    <a:pt x="105" y="208"/>
                    <a:pt x="105" y="208"/>
                    <a:pt x="105" y="208"/>
                  </a:cubicBezTo>
                  <a:cubicBezTo>
                    <a:pt x="63" y="203"/>
                    <a:pt x="30" y="170"/>
                    <a:pt x="25" y="129"/>
                  </a:cubicBezTo>
                  <a:cubicBezTo>
                    <a:pt x="42" y="129"/>
                    <a:pt x="42" y="129"/>
                    <a:pt x="42" y="129"/>
                  </a:cubicBezTo>
                  <a:cubicBezTo>
                    <a:pt x="48" y="129"/>
                    <a:pt x="53" y="123"/>
                    <a:pt x="53" y="117"/>
                  </a:cubicBezTo>
                  <a:cubicBezTo>
                    <a:pt x="53" y="110"/>
                    <a:pt x="48" y="105"/>
                    <a:pt x="42" y="105"/>
                  </a:cubicBezTo>
                  <a:cubicBezTo>
                    <a:pt x="24" y="105"/>
                    <a:pt x="24" y="105"/>
                    <a:pt x="24" y="105"/>
                  </a:cubicBezTo>
                  <a:cubicBezTo>
                    <a:pt x="29" y="63"/>
                    <a:pt x="63" y="30"/>
                    <a:pt x="104" y="25"/>
                  </a:cubicBezTo>
                  <a:cubicBezTo>
                    <a:pt x="104" y="41"/>
                    <a:pt x="104" y="41"/>
                    <a:pt x="104" y="41"/>
                  </a:cubicBezTo>
                  <a:cubicBezTo>
                    <a:pt x="104" y="47"/>
                    <a:pt x="109" y="53"/>
                    <a:pt x="116" y="53"/>
                  </a:cubicBezTo>
                  <a:cubicBezTo>
                    <a:pt x="122" y="53"/>
                    <a:pt x="128" y="47"/>
                    <a:pt x="128" y="41"/>
                  </a:cubicBezTo>
                  <a:cubicBezTo>
                    <a:pt x="128" y="25"/>
                    <a:pt x="128" y="25"/>
                    <a:pt x="128" y="25"/>
                  </a:cubicBezTo>
                  <a:cubicBezTo>
                    <a:pt x="169" y="30"/>
                    <a:pt x="202" y="63"/>
                    <a:pt x="208" y="104"/>
                  </a:cubicBezTo>
                  <a:cubicBezTo>
                    <a:pt x="190" y="104"/>
                    <a:pt x="190" y="104"/>
                    <a:pt x="190" y="104"/>
                  </a:cubicBezTo>
                  <a:cubicBezTo>
                    <a:pt x="184" y="104"/>
                    <a:pt x="179" y="109"/>
                    <a:pt x="179" y="116"/>
                  </a:cubicBezTo>
                  <a:cubicBezTo>
                    <a:pt x="179" y="122"/>
                    <a:pt x="184" y="128"/>
                    <a:pt x="190" y="128"/>
                  </a:cubicBezTo>
                  <a:cubicBezTo>
                    <a:pt x="208" y="128"/>
                    <a:pt x="208" y="128"/>
                    <a:pt x="208" y="128"/>
                  </a:cubicBezTo>
                  <a:cubicBezTo>
                    <a:pt x="203" y="169"/>
                    <a:pt x="170" y="202"/>
                    <a:pt x="129" y="208"/>
                  </a:cubicBezTo>
                  <a:close/>
                  <a:moveTo>
                    <a:pt x="124" y="94"/>
                  </a:moveTo>
                  <a:cubicBezTo>
                    <a:pt x="70" y="69"/>
                    <a:pt x="70" y="69"/>
                    <a:pt x="70" y="69"/>
                  </a:cubicBezTo>
                  <a:cubicBezTo>
                    <a:pt x="94" y="124"/>
                    <a:pt x="94" y="124"/>
                    <a:pt x="94" y="124"/>
                  </a:cubicBezTo>
                  <a:cubicBezTo>
                    <a:pt x="97" y="129"/>
                    <a:pt x="103" y="136"/>
                    <a:pt x="109" y="138"/>
                  </a:cubicBezTo>
                  <a:cubicBezTo>
                    <a:pt x="163" y="163"/>
                    <a:pt x="163" y="163"/>
                    <a:pt x="163" y="163"/>
                  </a:cubicBezTo>
                  <a:cubicBezTo>
                    <a:pt x="138" y="108"/>
                    <a:pt x="138" y="108"/>
                    <a:pt x="138" y="108"/>
                  </a:cubicBezTo>
                  <a:cubicBezTo>
                    <a:pt x="136" y="103"/>
                    <a:pt x="130" y="96"/>
                    <a:pt x="124" y="94"/>
                  </a:cubicBezTo>
                  <a:close/>
                  <a:moveTo>
                    <a:pt x="123" y="123"/>
                  </a:moveTo>
                  <a:cubicBezTo>
                    <a:pt x="119" y="126"/>
                    <a:pt x="113" y="126"/>
                    <a:pt x="110" y="123"/>
                  </a:cubicBezTo>
                  <a:cubicBezTo>
                    <a:pt x="106" y="119"/>
                    <a:pt x="106" y="113"/>
                    <a:pt x="110" y="109"/>
                  </a:cubicBezTo>
                  <a:cubicBezTo>
                    <a:pt x="113" y="106"/>
                    <a:pt x="119" y="106"/>
                    <a:pt x="123" y="109"/>
                  </a:cubicBezTo>
                  <a:cubicBezTo>
                    <a:pt x="127" y="113"/>
                    <a:pt x="127" y="119"/>
                    <a:pt x="123" y="123"/>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37" name="组合 36"/>
          <p:cNvGrpSpPr/>
          <p:nvPr/>
        </p:nvGrpSpPr>
        <p:grpSpPr>
          <a:xfrm>
            <a:off x="3357563" y="2217738"/>
            <a:ext cx="2146300" cy="2867025"/>
            <a:chOff x="3758030" y="2217316"/>
            <a:chExt cx="2147157" cy="2867868"/>
          </a:xfrm>
        </p:grpSpPr>
        <p:sp>
          <p:nvSpPr>
            <p:cNvPr id="38" name="íṡľíḍè-Rectangle 18"/>
            <p:cNvSpPr/>
            <p:nvPr/>
          </p:nvSpPr>
          <p:spPr>
            <a:xfrm>
              <a:off x="3869199" y="2217316"/>
              <a:ext cx="1900996" cy="1900796"/>
            </a:xfrm>
            <a:prstGeom prst="rect">
              <a:avLst/>
            </a:prstGeom>
            <a:solidFill>
              <a:srgbClr val="C0504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39" name="íṡľíḍè-Freeform: Shape 19"/>
            <p:cNvSpPr/>
            <p:nvPr/>
          </p:nvSpPr>
          <p:spPr>
            <a:xfrm rot="10800000">
              <a:off x="3869199" y="3991074"/>
              <a:ext cx="1900996" cy="369997"/>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C0504D">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41" name="îŝḷîḓé-Rectangle 39"/>
            <p:cNvSpPr/>
            <p:nvPr/>
          </p:nvSpPr>
          <p:spPr>
            <a:xfrm>
              <a:off x="3758030" y="4557979"/>
              <a:ext cx="2147157" cy="527205"/>
            </a:xfrm>
            <a:prstGeom prst="rect">
              <a:avLst/>
            </a:prstGeom>
          </p:spPr>
          <p:txBody>
            <a:bodyPr lIns="0" tIns="0" rIns="0" bIns="0"/>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lumMod val="100000"/>
                    </a:prstClr>
                  </a:solidFill>
                  <a:effectLst/>
                  <a:uLnTx/>
                  <a:uFillTx/>
                  <a:latin typeface="+mn-lt"/>
                  <a:ea typeface="+mn-ea"/>
                  <a:cs typeface="+mn-ea"/>
                  <a:sym typeface="+mn-lt"/>
                </a:rPr>
                <a:t>具有递归特性的数据结构</a:t>
              </a:r>
            </a:p>
          </p:txBody>
        </p:sp>
        <p:sp>
          <p:nvSpPr>
            <p:cNvPr id="42" name="îŝḷîḓé-Freeform: Shape 44"/>
            <p:cNvSpPr/>
            <p:nvPr/>
          </p:nvSpPr>
          <p:spPr bwMode="auto">
            <a:xfrm>
              <a:off x="4388519" y="2568256"/>
              <a:ext cx="851240" cy="851150"/>
            </a:xfrm>
            <a:custGeom>
              <a:avLst/>
              <a:gdLst>
                <a:gd name="T0" fmla="*/ 187 w 228"/>
                <a:gd name="T1" fmla="*/ 114 h 240"/>
                <a:gd name="T2" fmla="*/ 114 w 228"/>
                <a:gd name="T3" fmla="*/ 40 h 240"/>
                <a:gd name="T4" fmla="*/ 40 w 228"/>
                <a:gd name="T5" fmla="*/ 114 h 240"/>
                <a:gd name="T6" fmla="*/ 68 w 228"/>
                <a:gd name="T7" fmla="*/ 171 h 240"/>
                <a:gd name="T8" fmla="*/ 74 w 228"/>
                <a:gd name="T9" fmla="*/ 173 h 240"/>
                <a:gd name="T10" fmla="*/ 81 w 228"/>
                <a:gd name="T11" fmla="*/ 169 h 240"/>
                <a:gd name="T12" fmla="*/ 79 w 228"/>
                <a:gd name="T13" fmla="*/ 156 h 240"/>
                <a:gd name="T14" fmla="*/ 59 w 228"/>
                <a:gd name="T15" fmla="*/ 114 h 240"/>
                <a:gd name="T16" fmla="*/ 114 w 228"/>
                <a:gd name="T17" fmla="*/ 59 h 240"/>
                <a:gd name="T18" fmla="*/ 169 w 228"/>
                <a:gd name="T19" fmla="*/ 114 h 240"/>
                <a:gd name="T20" fmla="*/ 152 w 228"/>
                <a:gd name="T21" fmla="*/ 153 h 240"/>
                <a:gd name="T22" fmla="*/ 151 w 228"/>
                <a:gd name="T23" fmla="*/ 166 h 240"/>
                <a:gd name="T24" fmla="*/ 165 w 228"/>
                <a:gd name="T25" fmla="*/ 167 h 240"/>
                <a:gd name="T26" fmla="*/ 187 w 228"/>
                <a:gd name="T27" fmla="*/ 114 h 240"/>
                <a:gd name="T28" fmla="*/ 116 w 228"/>
                <a:gd name="T29" fmla="*/ 79 h 240"/>
                <a:gd name="T30" fmla="*/ 81 w 228"/>
                <a:gd name="T31" fmla="*/ 114 h 240"/>
                <a:gd name="T32" fmla="*/ 101 w 228"/>
                <a:gd name="T33" fmla="*/ 144 h 240"/>
                <a:gd name="T34" fmla="*/ 101 w 228"/>
                <a:gd name="T35" fmla="*/ 226 h 240"/>
                <a:gd name="T36" fmla="*/ 115 w 228"/>
                <a:gd name="T37" fmla="*/ 240 h 240"/>
                <a:gd name="T38" fmla="*/ 129 w 228"/>
                <a:gd name="T39" fmla="*/ 226 h 240"/>
                <a:gd name="T40" fmla="*/ 129 w 228"/>
                <a:gd name="T41" fmla="*/ 145 h 240"/>
                <a:gd name="T42" fmla="*/ 150 w 228"/>
                <a:gd name="T43" fmla="*/ 114 h 240"/>
                <a:gd name="T44" fmla="*/ 116 w 228"/>
                <a:gd name="T45" fmla="*/ 79 h 240"/>
                <a:gd name="T46" fmla="*/ 114 w 228"/>
                <a:gd name="T47" fmla="*/ 0 h 240"/>
                <a:gd name="T48" fmla="*/ 0 w 228"/>
                <a:gd name="T49" fmla="*/ 114 h 240"/>
                <a:gd name="T50" fmla="*/ 52 w 228"/>
                <a:gd name="T51" fmla="*/ 209 h 240"/>
                <a:gd name="T52" fmla="*/ 57 w 228"/>
                <a:gd name="T53" fmla="*/ 211 h 240"/>
                <a:gd name="T54" fmla="*/ 65 w 228"/>
                <a:gd name="T55" fmla="*/ 206 h 240"/>
                <a:gd name="T56" fmla="*/ 62 w 228"/>
                <a:gd name="T57" fmla="*/ 193 h 240"/>
                <a:gd name="T58" fmla="*/ 19 w 228"/>
                <a:gd name="T59" fmla="*/ 114 h 240"/>
                <a:gd name="T60" fmla="*/ 114 w 228"/>
                <a:gd name="T61" fmla="*/ 18 h 240"/>
                <a:gd name="T62" fmla="*/ 209 w 228"/>
                <a:gd name="T63" fmla="*/ 114 h 240"/>
                <a:gd name="T64" fmla="*/ 168 w 228"/>
                <a:gd name="T65" fmla="*/ 192 h 240"/>
                <a:gd name="T66" fmla="*/ 165 w 228"/>
                <a:gd name="T67" fmla="*/ 205 h 240"/>
                <a:gd name="T68" fmla="*/ 178 w 228"/>
                <a:gd name="T69" fmla="*/ 208 h 240"/>
                <a:gd name="T70" fmla="*/ 228 w 228"/>
                <a:gd name="T71" fmla="*/ 114 h 240"/>
                <a:gd name="T72" fmla="*/ 114 w 228"/>
                <a:gd name="T73"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40">
                  <a:moveTo>
                    <a:pt x="187" y="114"/>
                  </a:moveTo>
                  <a:cubicBezTo>
                    <a:pt x="187" y="73"/>
                    <a:pt x="154" y="40"/>
                    <a:pt x="114" y="40"/>
                  </a:cubicBezTo>
                  <a:cubicBezTo>
                    <a:pt x="73" y="40"/>
                    <a:pt x="40" y="73"/>
                    <a:pt x="40" y="114"/>
                  </a:cubicBezTo>
                  <a:cubicBezTo>
                    <a:pt x="40" y="136"/>
                    <a:pt x="50" y="157"/>
                    <a:pt x="68" y="171"/>
                  </a:cubicBezTo>
                  <a:cubicBezTo>
                    <a:pt x="69" y="172"/>
                    <a:pt x="71" y="173"/>
                    <a:pt x="74" y="173"/>
                  </a:cubicBezTo>
                  <a:cubicBezTo>
                    <a:pt x="76" y="173"/>
                    <a:pt x="79" y="171"/>
                    <a:pt x="81" y="169"/>
                  </a:cubicBezTo>
                  <a:cubicBezTo>
                    <a:pt x="84" y="165"/>
                    <a:pt x="83" y="159"/>
                    <a:pt x="79" y="156"/>
                  </a:cubicBezTo>
                  <a:cubicBezTo>
                    <a:pt x="67" y="146"/>
                    <a:pt x="59" y="130"/>
                    <a:pt x="59" y="114"/>
                  </a:cubicBezTo>
                  <a:cubicBezTo>
                    <a:pt x="59" y="83"/>
                    <a:pt x="84" y="59"/>
                    <a:pt x="114" y="59"/>
                  </a:cubicBezTo>
                  <a:cubicBezTo>
                    <a:pt x="144" y="59"/>
                    <a:pt x="169" y="83"/>
                    <a:pt x="169" y="114"/>
                  </a:cubicBezTo>
                  <a:cubicBezTo>
                    <a:pt x="169" y="129"/>
                    <a:pt x="163" y="143"/>
                    <a:pt x="152" y="153"/>
                  </a:cubicBezTo>
                  <a:cubicBezTo>
                    <a:pt x="148" y="157"/>
                    <a:pt x="148" y="163"/>
                    <a:pt x="151" y="166"/>
                  </a:cubicBezTo>
                  <a:cubicBezTo>
                    <a:pt x="155" y="170"/>
                    <a:pt x="161" y="170"/>
                    <a:pt x="165" y="167"/>
                  </a:cubicBezTo>
                  <a:cubicBezTo>
                    <a:pt x="179" y="153"/>
                    <a:pt x="187" y="134"/>
                    <a:pt x="187" y="114"/>
                  </a:cubicBezTo>
                  <a:close/>
                  <a:moveTo>
                    <a:pt x="116" y="79"/>
                  </a:moveTo>
                  <a:cubicBezTo>
                    <a:pt x="97" y="79"/>
                    <a:pt x="81" y="95"/>
                    <a:pt x="81" y="114"/>
                  </a:cubicBezTo>
                  <a:cubicBezTo>
                    <a:pt x="81" y="127"/>
                    <a:pt x="89" y="139"/>
                    <a:pt x="101" y="144"/>
                  </a:cubicBezTo>
                  <a:cubicBezTo>
                    <a:pt x="101" y="226"/>
                    <a:pt x="101" y="226"/>
                    <a:pt x="101" y="226"/>
                  </a:cubicBezTo>
                  <a:cubicBezTo>
                    <a:pt x="101" y="233"/>
                    <a:pt x="107" y="240"/>
                    <a:pt x="115" y="240"/>
                  </a:cubicBezTo>
                  <a:cubicBezTo>
                    <a:pt x="123" y="240"/>
                    <a:pt x="129" y="233"/>
                    <a:pt x="129" y="226"/>
                  </a:cubicBezTo>
                  <a:cubicBezTo>
                    <a:pt x="129" y="145"/>
                    <a:pt x="129" y="145"/>
                    <a:pt x="129" y="145"/>
                  </a:cubicBezTo>
                  <a:cubicBezTo>
                    <a:pt x="141" y="140"/>
                    <a:pt x="150" y="128"/>
                    <a:pt x="150" y="114"/>
                  </a:cubicBezTo>
                  <a:cubicBezTo>
                    <a:pt x="150" y="95"/>
                    <a:pt x="134" y="79"/>
                    <a:pt x="116" y="79"/>
                  </a:cubicBezTo>
                  <a:close/>
                  <a:moveTo>
                    <a:pt x="114" y="0"/>
                  </a:moveTo>
                  <a:cubicBezTo>
                    <a:pt x="51" y="0"/>
                    <a:pt x="0" y="51"/>
                    <a:pt x="0" y="114"/>
                  </a:cubicBezTo>
                  <a:cubicBezTo>
                    <a:pt x="0" y="152"/>
                    <a:pt x="19" y="188"/>
                    <a:pt x="52" y="209"/>
                  </a:cubicBezTo>
                  <a:cubicBezTo>
                    <a:pt x="54" y="210"/>
                    <a:pt x="55" y="211"/>
                    <a:pt x="57" y="211"/>
                  </a:cubicBezTo>
                  <a:cubicBezTo>
                    <a:pt x="60" y="211"/>
                    <a:pt x="63" y="209"/>
                    <a:pt x="65" y="206"/>
                  </a:cubicBezTo>
                  <a:cubicBezTo>
                    <a:pt x="68" y="202"/>
                    <a:pt x="67" y="196"/>
                    <a:pt x="62" y="193"/>
                  </a:cubicBezTo>
                  <a:cubicBezTo>
                    <a:pt x="35" y="176"/>
                    <a:pt x="19" y="146"/>
                    <a:pt x="19" y="114"/>
                  </a:cubicBezTo>
                  <a:cubicBezTo>
                    <a:pt x="19" y="61"/>
                    <a:pt x="61" y="18"/>
                    <a:pt x="114" y="18"/>
                  </a:cubicBezTo>
                  <a:cubicBezTo>
                    <a:pt x="166" y="18"/>
                    <a:pt x="209" y="61"/>
                    <a:pt x="209" y="114"/>
                  </a:cubicBezTo>
                  <a:cubicBezTo>
                    <a:pt x="209" y="145"/>
                    <a:pt x="194" y="174"/>
                    <a:pt x="168" y="192"/>
                  </a:cubicBezTo>
                  <a:cubicBezTo>
                    <a:pt x="163" y="195"/>
                    <a:pt x="162" y="201"/>
                    <a:pt x="165" y="205"/>
                  </a:cubicBezTo>
                  <a:cubicBezTo>
                    <a:pt x="168" y="209"/>
                    <a:pt x="174" y="211"/>
                    <a:pt x="178" y="208"/>
                  </a:cubicBezTo>
                  <a:cubicBezTo>
                    <a:pt x="209" y="186"/>
                    <a:pt x="228" y="151"/>
                    <a:pt x="228" y="114"/>
                  </a:cubicBezTo>
                  <a:cubicBezTo>
                    <a:pt x="228" y="51"/>
                    <a:pt x="177" y="0"/>
                    <a:pt x="114" y="0"/>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1000"/>
                                        <p:tgtEl>
                                          <p:spTgt spid="37"/>
                                        </p:tgtEl>
                                      </p:cBhvr>
                                    </p:animEffect>
                                    <p:anim calcmode="lin" valueType="num">
                                      <p:cBhvr>
                                        <p:cTn id="14" dur="1000" fill="hold"/>
                                        <p:tgtEl>
                                          <p:spTgt spid="37"/>
                                        </p:tgtEl>
                                        <p:attrNameLst>
                                          <p:attrName>ppt_x</p:attrName>
                                        </p:attrNameLst>
                                      </p:cBhvr>
                                      <p:tavLst>
                                        <p:tav tm="0">
                                          <p:val>
                                            <p:strVal val="#ppt_x"/>
                                          </p:val>
                                        </p:tav>
                                        <p:tav tm="100000">
                                          <p:val>
                                            <p:strVal val="#ppt_x"/>
                                          </p:val>
                                        </p:tav>
                                      </p:tavLst>
                                    </p:anim>
                                    <p:anim calcmode="lin" valueType="num">
                                      <p:cBhvr>
                                        <p:cTn id="15" dur="1000" fill="hold"/>
                                        <p:tgtEl>
                                          <p:spTgt spid="37"/>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1000"/>
                                        <p:tgtEl>
                                          <p:spTgt spid="31"/>
                                        </p:tgtEl>
                                      </p:cBhvr>
                                    </p:animEffect>
                                    <p:anim calcmode="lin" valueType="num">
                                      <p:cBhvr>
                                        <p:cTn id="20" dur="1000" fill="hold"/>
                                        <p:tgtEl>
                                          <p:spTgt spid="31"/>
                                        </p:tgtEl>
                                        <p:attrNameLst>
                                          <p:attrName>ppt_x</p:attrName>
                                        </p:attrNameLst>
                                      </p:cBhvr>
                                      <p:tavLst>
                                        <p:tav tm="0">
                                          <p:val>
                                            <p:strVal val="#ppt_x"/>
                                          </p:val>
                                        </p:tav>
                                        <p:tav tm="100000">
                                          <p:val>
                                            <p:strVal val="#ppt_x"/>
                                          </p:val>
                                        </p:tav>
                                      </p:tavLst>
                                    </p:anim>
                                    <p:anim calcmode="lin" valueType="num">
                                      <p:cBhvr>
                                        <p:cTn id="2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1"/>
          <p:cNvSpPr>
            <a:spLocks noChangeArrowheads="1"/>
          </p:cNvSpPr>
          <p:nvPr/>
        </p:nvSpPr>
        <p:spPr bwMode="auto">
          <a:xfrm>
            <a:off x="0" y="1989138"/>
            <a:ext cx="9144000" cy="3455988"/>
          </a:xfrm>
          <a:prstGeom prst="rect">
            <a:avLst/>
          </a:prstGeom>
          <a:solidFill>
            <a:srgbClr val="CCCCFF"/>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marL="742950" indent="-285750">
              <a:defRPr sz="2400" b="1">
                <a:solidFill>
                  <a:schemeClr val="tx1"/>
                </a:solidFill>
                <a:latin typeface="Times New Roman" panose="02020603050405020304" pitchFamily="18" charset="0"/>
                <a:ea typeface="楷体_GB2312" pitchFamily="49" charset="-122"/>
              </a:defRPr>
            </a:lvl2pPr>
            <a:lvl3pPr marL="1143000" indent="-228600">
              <a:defRPr sz="2400" b="1">
                <a:solidFill>
                  <a:schemeClr val="tx1"/>
                </a:solidFill>
                <a:latin typeface="Times New Roman" panose="02020603050405020304" pitchFamily="18" charset="0"/>
                <a:ea typeface="楷体_GB2312" pitchFamily="49" charset="-122"/>
              </a:defRPr>
            </a:lvl3pPr>
            <a:lvl4pPr marL="1600200" indent="-228600">
              <a:defRPr sz="2400" b="1">
                <a:solidFill>
                  <a:schemeClr val="tx1"/>
                </a:solidFill>
                <a:latin typeface="Times New Roman" panose="02020603050405020304" pitchFamily="18" charset="0"/>
                <a:ea typeface="楷体_GB2312" pitchFamily="49" charset="-122"/>
              </a:defRPr>
            </a:lvl4pPr>
            <a:lvl5pPr marL="2057400" indent="-228600">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7587" name="Rectangle 8"/>
          <p:cNvSpPr>
            <a:spLocks noChangeArrowheads="1"/>
          </p:cNvSpPr>
          <p:nvPr/>
        </p:nvSpPr>
        <p:spPr bwMode="auto">
          <a:xfrm>
            <a:off x="0" y="1138238"/>
            <a:ext cx="3449638" cy="533400"/>
          </a:xfrm>
          <a:prstGeom prst="rect">
            <a:avLst/>
          </a:prstGeom>
          <a:solidFill>
            <a:srgbClr val="6C4C8F"/>
          </a:solidFill>
          <a:ln>
            <a:noFill/>
          </a:ln>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1. </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递归定义的数学函数</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67588" name="Rectangle 9"/>
          <p:cNvSpPr>
            <a:spLocks noChangeArrowheads="1"/>
          </p:cNvSpPr>
          <p:nvPr/>
        </p:nvSpPr>
        <p:spPr bwMode="auto">
          <a:xfrm>
            <a:off x="1333500" y="2559050"/>
            <a:ext cx="1800225"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阶乘函数</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        </a:t>
            </a:r>
          </a:p>
        </p:txBody>
      </p:sp>
      <p:graphicFrame>
        <p:nvGraphicFramePr>
          <p:cNvPr id="75781" name="Object 10"/>
          <p:cNvGraphicFramePr/>
          <p:nvPr/>
        </p:nvGraphicFramePr>
        <p:xfrm>
          <a:off x="3189288" y="2414588"/>
          <a:ext cx="4610100" cy="949325"/>
        </p:xfrm>
        <a:graphic>
          <a:graphicData uri="http://schemas.openxmlformats.org/presentationml/2006/ole">
            <mc:AlternateContent xmlns:mc="http://schemas.openxmlformats.org/markup-compatibility/2006">
              <mc:Choice xmlns:v="urn:schemas-microsoft-com:vml" Requires="v">
                <p:oleObj spid="_x0000_s5155" r:id="rId3" imgW="2336800" imgH="482600" progId="Equation.3">
                  <p:embed/>
                </p:oleObj>
              </mc:Choice>
              <mc:Fallback>
                <p:oleObj r:id="rId3" imgW="2336800" imgH="482600" progId="Equation.3">
                  <p:embed/>
                  <p:pic>
                    <p:nvPicPr>
                      <p:cNvPr id="0" name="图片 3076"/>
                      <p:cNvPicPr/>
                      <p:nvPr/>
                    </p:nvPicPr>
                    <p:blipFill>
                      <a:blip r:embed="rId4"/>
                      <a:stretch>
                        <a:fillRect/>
                      </a:stretch>
                    </p:blipFill>
                    <p:spPr>
                      <a:xfrm>
                        <a:off x="3189288" y="2414588"/>
                        <a:ext cx="4610100" cy="949325"/>
                      </a:xfrm>
                      <a:prstGeom prst="rect">
                        <a:avLst/>
                      </a:prstGeom>
                      <a:noFill/>
                      <a:ln w="38100">
                        <a:noFill/>
                        <a:miter/>
                      </a:ln>
                    </p:spPr>
                  </p:pic>
                </p:oleObj>
              </mc:Fallback>
            </mc:AlternateContent>
          </a:graphicData>
        </a:graphic>
      </p:graphicFrame>
      <p:sp>
        <p:nvSpPr>
          <p:cNvPr id="67590" name="Rectangle 11"/>
          <p:cNvSpPr>
            <a:spLocks noChangeArrowheads="1"/>
          </p:cNvSpPr>
          <p:nvPr/>
        </p:nvSpPr>
        <p:spPr bwMode="auto">
          <a:xfrm>
            <a:off x="279400" y="4029075"/>
            <a:ext cx="28384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阶</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Fibonaci</a:t>
            </a:r>
            <a:r>
              <a:rPr kumimoji="0" lang="zh-CN" altLang="zh-CN" sz="2800" b="0" i="0" u="none" strike="noStrike" kern="1200" cap="none" spc="0" normalizeH="0" baseline="0" noProof="0" dirty="0">
                <a:ln>
                  <a:noFill/>
                </a:ln>
                <a:solidFill>
                  <a:schemeClr val="tx1"/>
                </a:solidFill>
                <a:effectLst/>
                <a:uLnTx/>
                <a:uFillTx/>
                <a:latin typeface="+mn-lt"/>
                <a:ea typeface="+mn-ea"/>
                <a:cs typeface="+mn-ea"/>
                <a:sym typeface="+mn-lt"/>
              </a:rPr>
              <a:t>数列</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aphicFrame>
        <p:nvGraphicFramePr>
          <p:cNvPr id="75783" name="Object 12"/>
          <p:cNvGraphicFramePr/>
          <p:nvPr/>
        </p:nvGraphicFramePr>
        <p:xfrm>
          <a:off x="3148013" y="3838575"/>
          <a:ext cx="5411787" cy="952500"/>
        </p:xfrm>
        <a:graphic>
          <a:graphicData uri="http://schemas.openxmlformats.org/presentationml/2006/ole">
            <mc:AlternateContent xmlns:mc="http://schemas.openxmlformats.org/markup-compatibility/2006">
              <mc:Choice xmlns:v="urn:schemas-microsoft-com:vml" Requires="v">
                <p:oleObj spid="_x0000_s5156" r:id="rId5" imgW="2743200" imgH="482600" progId="Equation.3">
                  <p:embed/>
                </p:oleObj>
              </mc:Choice>
              <mc:Fallback>
                <p:oleObj r:id="rId5" imgW="2743200" imgH="482600" progId="Equation.3">
                  <p:embed/>
                  <p:pic>
                    <p:nvPicPr>
                      <p:cNvPr id="0" name="图片 3075"/>
                      <p:cNvPicPr/>
                      <p:nvPr/>
                    </p:nvPicPr>
                    <p:blipFill>
                      <a:blip r:embed="rId6"/>
                      <a:stretch>
                        <a:fillRect/>
                      </a:stretch>
                    </p:blipFill>
                    <p:spPr>
                      <a:xfrm>
                        <a:off x="3148013" y="3838575"/>
                        <a:ext cx="5411787" cy="952500"/>
                      </a:xfrm>
                      <a:prstGeom prst="rect">
                        <a:avLst/>
                      </a:prstGeom>
                      <a:noFill/>
                      <a:ln w="38100">
                        <a:noFill/>
                        <a:miter/>
                      </a:ln>
                    </p:spPr>
                  </p:pic>
                </p:oleObj>
              </mc:Fallback>
            </mc:AlternateContent>
          </a:graphicData>
        </a:graphic>
      </p:graphicFrame>
      <p:sp>
        <p:nvSpPr>
          <p:cNvPr id="9" name="Rectangle 5"/>
          <p:cNvSpPr>
            <a:spLocks noChangeArrowheads="1"/>
          </p:cNvSpPr>
          <p:nvPr/>
        </p:nvSpPr>
        <p:spPr bwMode="auto">
          <a:xfrm>
            <a:off x="900113" y="1158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栈与递归</a:t>
            </a:r>
          </a:p>
        </p:txBody>
      </p:sp>
      <p:sp>
        <p:nvSpPr>
          <p:cNvPr id="11"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1095"/>
          <p:cNvSpPr>
            <a:spLocks noChangeArrowheads="1"/>
          </p:cNvSpPr>
          <p:nvPr/>
        </p:nvSpPr>
        <p:spPr bwMode="auto">
          <a:xfrm>
            <a:off x="330200" y="1928813"/>
            <a:ext cx="115411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树</a:t>
            </a: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68612" name="Rectangle 1096"/>
          <p:cNvSpPr>
            <a:spLocks noChangeArrowheads="1"/>
          </p:cNvSpPr>
          <p:nvPr/>
        </p:nvSpPr>
        <p:spPr bwMode="auto">
          <a:xfrm>
            <a:off x="0" y="966788"/>
            <a:ext cx="9144000" cy="533400"/>
          </a:xfrm>
          <a:prstGeom prst="rect">
            <a:avLst/>
          </a:prstGeom>
          <a:solidFill>
            <a:srgbClr val="6C4C8F"/>
          </a:solidFill>
          <a:ln>
            <a:noFill/>
          </a:ln>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2. </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具有递归特性的数据结构</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395337" name="Oval 1097"/>
          <p:cNvSpPr>
            <a:spLocks noChangeArrowheads="1"/>
          </p:cNvSpPr>
          <p:nvPr/>
        </p:nvSpPr>
        <p:spPr bwMode="auto">
          <a:xfrm>
            <a:off x="2311400" y="2087563"/>
            <a:ext cx="838200" cy="838200"/>
          </a:xfrm>
          <a:prstGeom prst="ellipse">
            <a:avLst/>
          </a:prstGeom>
          <a:solidFill>
            <a:srgbClr val="CCCCFF"/>
          </a:solidFill>
          <a:ln w="9525">
            <a:no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Root</a:t>
            </a:r>
          </a:p>
        </p:txBody>
      </p:sp>
      <p:sp>
        <p:nvSpPr>
          <p:cNvPr id="395338" name="Oval 1098"/>
          <p:cNvSpPr>
            <a:spLocks noChangeArrowheads="1"/>
          </p:cNvSpPr>
          <p:nvPr/>
        </p:nvSpPr>
        <p:spPr bwMode="auto">
          <a:xfrm>
            <a:off x="1179513" y="3278188"/>
            <a:ext cx="1025525" cy="838200"/>
          </a:xfrm>
          <a:prstGeom prst="ellipse">
            <a:avLst/>
          </a:prstGeom>
          <a:solidFill>
            <a:srgbClr val="CCCCFF"/>
          </a:solidFill>
          <a:ln w="9525">
            <a:no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Lchild</a:t>
            </a:r>
          </a:p>
        </p:txBody>
      </p:sp>
      <p:sp>
        <p:nvSpPr>
          <p:cNvPr id="395339" name="Oval 1099"/>
          <p:cNvSpPr>
            <a:spLocks noChangeArrowheads="1"/>
          </p:cNvSpPr>
          <p:nvPr/>
        </p:nvSpPr>
        <p:spPr bwMode="auto">
          <a:xfrm>
            <a:off x="3163888" y="3317875"/>
            <a:ext cx="1071563" cy="914400"/>
          </a:xfrm>
          <a:prstGeom prst="ellipse">
            <a:avLst/>
          </a:prstGeom>
          <a:solidFill>
            <a:srgbClr val="CCCCFF"/>
          </a:solidFill>
          <a:ln w="9525">
            <a:no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Rchild</a:t>
            </a:r>
          </a:p>
        </p:txBody>
      </p:sp>
      <p:grpSp>
        <p:nvGrpSpPr>
          <p:cNvPr id="5" name="组合 4"/>
          <p:cNvGrpSpPr/>
          <p:nvPr/>
        </p:nvGrpSpPr>
        <p:grpSpPr>
          <a:xfrm>
            <a:off x="0" y="4868863"/>
            <a:ext cx="9144000" cy="1989137"/>
            <a:chOff x="0" y="4868863"/>
            <a:chExt cx="9144000" cy="1989137"/>
          </a:xfrm>
        </p:grpSpPr>
        <p:sp>
          <p:nvSpPr>
            <p:cNvPr id="4" name="矩形 3"/>
            <p:cNvSpPr/>
            <p:nvPr/>
          </p:nvSpPr>
          <p:spPr bwMode="auto">
            <a:xfrm>
              <a:off x="0" y="5402263"/>
              <a:ext cx="9144000" cy="1455737"/>
            </a:xfrm>
            <a:prstGeom prst="rect">
              <a:avLst/>
            </a:prstGeom>
            <a:solidFill>
              <a:schemeClr val="accent2">
                <a:lumMod val="20000"/>
                <a:lumOff val="80000"/>
              </a:schemeClr>
            </a:solidFill>
            <a:ln w="9525" cap="flat" cmpd="sng" algn="ctr">
              <a:solidFill>
                <a:srgbClr val="E2D9EB"/>
              </a:solid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95342" name="Rectangle 1102"/>
            <p:cNvSpPr>
              <a:spLocks noChangeArrowheads="1"/>
            </p:cNvSpPr>
            <p:nvPr/>
          </p:nvSpPr>
          <p:spPr bwMode="auto">
            <a:xfrm>
              <a:off x="0" y="4868863"/>
              <a:ext cx="9144000" cy="533400"/>
            </a:xfrm>
            <a:prstGeom prst="rect">
              <a:avLst/>
            </a:prstGeom>
            <a:solidFill>
              <a:srgbClr val="6C4C8F"/>
            </a:solidFill>
            <a:ln>
              <a:noFill/>
            </a:ln>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3. </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可递归求解的问题</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grpSp>
      <p:sp>
        <p:nvSpPr>
          <p:cNvPr id="395343" name="Rectangle 1103"/>
          <p:cNvSpPr>
            <a:spLocks noChangeArrowheads="1"/>
          </p:cNvSpPr>
          <p:nvPr/>
        </p:nvSpPr>
        <p:spPr bwMode="auto">
          <a:xfrm>
            <a:off x="1714500" y="5881688"/>
            <a:ext cx="4513263"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迷宫问题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Hanoi</a:t>
            </a:r>
            <a:r>
              <a:rPr kumimoji="0" lang="zh-CN" altLang="zh-CN" sz="2800" b="0" i="0" u="none" strike="noStrike" kern="1200" cap="none" spc="0" normalizeH="0" baseline="0" noProof="0" dirty="0">
                <a:ln>
                  <a:noFill/>
                </a:ln>
                <a:solidFill>
                  <a:schemeClr val="tx1"/>
                </a:solidFill>
                <a:effectLst/>
                <a:uLnTx/>
                <a:uFillTx/>
                <a:latin typeface="+mn-lt"/>
                <a:ea typeface="+mn-ea"/>
                <a:cs typeface="+mn-ea"/>
                <a:sym typeface="+mn-lt"/>
              </a:rPr>
              <a:t>塔问题</a:t>
            </a:r>
            <a:endPar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2" name="Group 1105"/>
          <p:cNvGrpSpPr/>
          <p:nvPr/>
        </p:nvGrpSpPr>
        <p:grpSpPr>
          <a:xfrm>
            <a:off x="1930400" y="2849563"/>
            <a:ext cx="457200" cy="533400"/>
            <a:chOff x="2112" y="1152"/>
            <a:chExt cx="288" cy="336"/>
          </a:xfrm>
        </p:grpSpPr>
        <p:sp>
          <p:nvSpPr>
            <p:cNvPr id="68622" name="Line 1106"/>
            <p:cNvSpPr>
              <a:spLocks noChangeShapeType="1"/>
            </p:cNvSpPr>
            <p:nvPr/>
          </p:nvSpPr>
          <p:spPr bwMode="auto">
            <a:xfrm flipH="1">
              <a:off x="2112" y="1152"/>
              <a:ext cx="288" cy="33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3" name="Line 1107"/>
            <p:cNvSpPr>
              <a:spLocks noChangeShapeType="1"/>
            </p:cNvSpPr>
            <p:nvPr/>
          </p:nvSpPr>
          <p:spPr bwMode="auto">
            <a:xfrm flipH="1">
              <a:off x="2112" y="1152"/>
              <a:ext cx="288" cy="33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4" name="Line 1108"/>
            <p:cNvSpPr>
              <a:spLocks noChangeShapeType="1"/>
            </p:cNvSpPr>
            <p:nvPr/>
          </p:nvSpPr>
          <p:spPr bwMode="auto">
            <a:xfrm flipH="1">
              <a:off x="2112" y="1152"/>
              <a:ext cx="288" cy="33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3" name="Group 1109"/>
          <p:cNvGrpSpPr/>
          <p:nvPr/>
        </p:nvGrpSpPr>
        <p:grpSpPr>
          <a:xfrm>
            <a:off x="2997200" y="2849563"/>
            <a:ext cx="457200" cy="533400"/>
            <a:chOff x="2784" y="1152"/>
            <a:chExt cx="288" cy="336"/>
          </a:xfrm>
        </p:grpSpPr>
        <p:sp>
          <p:nvSpPr>
            <p:cNvPr id="68626" name="Line 1110"/>
            <p:cNvSpPr>
              <a:spLocks noChangeShapeType="1"/>
            </p:cNvSpPr>
            <p:nvPr/>
          </p:nvSpPr>
          <p:spPr bwMode="auto">
            <a:xfrm>
              <a:off x="2784" y="1152"/>
              <a:ext cx="288" cy="33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7" name="Line 1111"/>
            <p:cNvSpPr>
              <a:spLocks noChangeShapeType="1"/>
            </p:cNvSpPr>
            <p:nvPr/>
          </p:nvSpPr>
          <p:spPr bwMode="auto">
            <a:xfrm>
              <a:off x="2784" y="1152"/>
              <a:ext cx="288" cy="336"/>
            </a:xfrm>
            <a:prstGeom prst="line">
              <a:avLst/>
            </a:prstGeom>
            <a:noFill/>
            <a:ln w="28575">
              <a:solidFill>
                <a:srgbClr val="66FF33"/>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68628" name="Line 1112"/>
            <p:cNvSpPr>
              <a:spLocks noChangeShapeType="1"/>
            </p:cNvSpPr>
            <p:nvPr/>
          </p:nvSpPr>
          <p:spPr bwMode="auto">
            <a:xfrm>
              <a:off x="2784" y="1152"/>
              <a:ext cx="288" cy="33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22" name="Rectangle 5"/>
          <p:cNvSpPr>
            <a:spLocks noChangeArrowheads="1"/>
          </p:cNvSpPr>
          <p:nvPr/>
        </p:nvSpPr>
        <p:spPr bwMode="auto">
          <a:xfrm>
            <a:off x="900113" y="1158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栈与递归</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53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ntr" presetSubtype="1"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100000">
                                          <p:val>
                                            <p:strVal val="#ppt_x"/>
                                          </p:val>
                                        </p:tav>
                                      </p:tavLst>
                                    </p:anim>
                                    <p:anim calcmode="lin" valueType="num">
                                      <p:cBhvr>
                                        <p:cTn id="12" dur="500" fill="hold"/>
                                        <p:tgtEl>
                                          <p:spTgt spid="2"/>
                                        </p:tgtEl>
                                        <p:attrNameLst>
                                          <p:attrName>ppt_y</p:attrName>
                                        </p:attrNameLst>
                                      </p:cBhvr>
                                      <p:tavLst>
                                        <p:tav tm="0">
                                          <p:val>
                                            <p:strVal val="#ppt_y-#ppt_h/2"/>
                                          </p:val>
                                        </p:tav>
                                        <p:tav tm="100000">
                                          <p:val>
                                            <p:strVal val="#ppt_y"/>
                                          </p:val>
                                        </p:tav>
                                      </p:tavLst>
                                    </p:anim>
                                    <p:anim calcmode="lin" valueType="num">
                                      <p:cBhvr>
                                        <p:cTn id="13" dur="500" fill="hold"/>
                                        <p:tgtEl>
                                          <p:spTgt spid="2"/>
                                        </p:tgtEl>
                                        <p:attrNameLst>
                                          <p:attrName>ppt_w</p:attrName>
                                        </p:attrNameLst>
                                      </p:cBhvr>
                                      <p:tavLst>
                                        <p:tav tm="0">
                                          <p:val>
                                            <p:strVal val="#ppt_w"/>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953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7" presetClass="entr" presetSubtype="1"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ppt_x</p:attrName>
                                        </p:attrNameLst>
                                      </p:cBhvr>
                                      <p:tavLst>
                                        <p:tav tm="0">
                                          <p:val>
                                            <p:strVal val="#ppt_x"/>
                                          </p:val>
                                        </p:tav>
                                        <p:tav tm="100000">
                                          <p:val>
                                            <p:strVal val="#ppt_x"/>
                                          </p:val>
                                        </p:tav>
                                      </p:tavLst>
                                    </p:anim>
                                    <p:anim calcmode="lin" valueType="num">
                                      <p:cBhvr>
                                        <p:cTn id="24" dur="500" fill="hold"/>
                                        <p:tgtEl>
                                          <p:spTgt spid="3"/>
                                        </p:tgtEl>
                                        <p:attrNameLst>
                                          <p:attrName>ppt_y</p:attrName>
                                        </p:attrNameLst>
                                      </p:cBhvr>
                                      <p:tavLst>
                                        <p:tav tm="0">
                                          <p:val>
                                            <p:strVal val="#ppt_y-#ppt_h/2"/>
                                          </p:val>
                                        </p:tav>
                                        <p:tav tm="100000">
                                          <p:val>
                                            <p:strVal val="#ppt_y"/>
                                          </p:val>
                                        </p:tav>
                                      </p:tavLst>
                                    </p:anim>
                                    <p:anim calcmode="lin" valueType="num">
                                      <p:cBhvr>
                                        <p:cTn id="25" dur="500" fill="hold"/>
                                        <p:tgtEl>
                                          <p:spTgt spid="3"/>
                                        </p:tgtEl>
                                        <p:attrNameLst>
                                          <p:attrName>ppt_w</p:attrName>
                                        </p:attrNameLst>
                                      </p:cBhvr>
                                      <p:tavLst>
                                        <p:tav tm="0">
                                          <p:val>
                                            <p:strVal val="#ppt_w"/>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953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395343"/>
                                        </p:tgtEl>
                                        <p:attrNameLst>
                                          <p:attrName>style.visibility</p:attrName>
                                        </p:attrNameLst>
                                      </p:cBhvr>
                                      <p:to>
                                        <p:strVal val="visible"/>
                                      </p:to>
                                    </p:set>
                                    <p:animEffect transition="in" filter="box(in)">
                                      <p:cBhvr>
                                        <p:cTn id="41" dur="500"/>
                                        <p:tgtEl>
                                          <p:spTgt spid="395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337" grpId="0" animBg="1"/>
      <p:bldP spid="395338" grpId="0" animBg="1"/>
      <p:bldP spid="395339" grpId="0" animBg="1"/>
      <p:bldP spid="39534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4"/>
          <p:cNvSpPr>
            <a:spLocks noChangeArrowheads="1"/>
          </p:cNvSpPr>
          <p:nvPr/>
        </p:nvSpPr>
        <p:spPr bwMode="auto">
          <a:xfrm>
            <a:off x="254000" y="981075"/>
            <a:ext cx="8636000" cy="973138"/>
          </a:xfrm>
          <a:prstGeom prst="rect">
            <a:avLst/>
          </a:prstGeom>
          <a:no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25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3300"/>
                </a:solidFill>
                <a:effectLst/>
                <a:uLnTx/>
                <a:uFillTx/>
                <a:latin typeface="+mn-lt"/>
                <a:ea typeface="+mn-ea"/>
                <a:cs typeface="+mn-ea"/>
                <a:sym typeface="+mn-lt"/>
              </a:rPr>
              <a:t>分治法：</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对于一个较为复杂的问题，能够分解成几个相对简单的且解法相同或类似的子问题来求解</a:t>
            </a:r>
            <a:endPar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endParaRPr>
          </a:p>
        </p:txBody>
      </p:sp>
      <p:sp>
        <p:nvSpPr>
          <p:cNvPr id="670725" name="Text Box 5"/>
          <p:cNvSpPr txBox="1">
            <a:spLocks noChangeArrowheads="1"/>
          </p:cNvSpPr>
          <p:nvPr/>
        </p:nvSpPr>
        <p:spPr bwMode="auto">
          <a:xfrm>
            <a:off x="1036638" y="2852738"/>
            <a:ext cx="7675563" cy="328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25000"/>
              </a:lnSpc>
              <a:spcBef>
                <a:spcPct val="0"/>
              </a:spcBef>
              <a:spcAft>
                <a:spcPct val="0"/>
              </a:spcAft>
              <a:buClr>
                <a:srgbClr val="FF3399"/>
              </a:buClr>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能将一个问题转变成一个新问题，而新问题与原问题的解法相同或类同，不同的仅是处理的对象，且这些处理对象是变化有规律的</a:t>
            </a:r>
          </a:p>
          <a:p>
            <a:pPr marL="0" marR="0" lvl="0" indent="0" algn="l" defTabSz="914400" rtl="0" eaLnBrk="1" fontAlgn="base" latinLnBrk="0" hangingPunct="1">
              <a:lnSpc>
                <a:spcPct val="125000"/>
              </a:lnSpc>
              <a:spcBef>
                <a:spcPct val="0"/>
              </a:spcBef>
              <a:spcAft>
                <a:spcPct val="0"/>
              </a:spcAft>
              <a:buClr>
                <a:srgbClr val="FF3399"/>
              </a:buClr>
              <a:buSzTx/>
              <a:buFont typeface="Arial" panose="020B0604020202020204" pitchFamily="34" charset="0"/>
              <a:buChar char="•"/>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0"/>
              </a:spcBef>
              <a:spcAft>
                <a:spcPct val="0"/>
              </a:spcAft>
              <a:buClr>
                <a:srgbClr val="FF3399"/>
              </a:buClr>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可以通过上述转化而使问题简化</a:t>
            </a:r>
          </a:p>
          <a:p>
            <a:pPr marL="0" marR="0" lvl="0" indent="0" algn="l" defTabSz="914400" rtl="0" eaLnBrk="1" fontAlgn="base" latinLnBrk="0" hangingPunct="1">
              <a:lnSpc>
                <a:spcPct val="125000"/>
              </a:lnSpc>
              <a:spcBef>
                <a:spcPct val="0"/>
              </a:spcBef>
              <a:spcAft>
                <a:spcPct val="0"/>
              </a:spcAft>
              <a:buClr>
                <a:srgbClr val="FF3399"/>
              </a:buClr>
              <a:buSzTx/>
              <a:buFont typeface="Arial" panose="020B0604020202020204" pitchFamily="34" charset="0"/>
              <a:buChar char="•"/>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0"/>
              </a:spcBef>
              <a:spcAft>
                <a:spcPct val="0"/>
              </a:spcAft>
              <a:buClr>
                <a:srgbClr val="FF3399"/>
              </a:buClr>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必须有一个明确的递归出口，或称递归的边界</a:t>
            </a:r>
          </a:p>
        </p:txBody>
      </p:sp>
      <p:sp>
        <p:nvSpPr>
          <p:cNvPr id="69637" name="Rectangle 6"/>
          <p:cNvSpPr>
            <a:spLocks noChangeArrowheads="1"/>
          </p:cNvSpPr>
          <p:nvPr/>
        </p:nvSpPr>
        <p:spPr bwMode="auto">
          <a:xfrm>
            <a:off x="796925" y="185738"/>
            <a:ext cx="3775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用分治法求解递归问题</a:t>
            </a:r>
          </a:p>
        </p:txBody>
      </p:sp>
      <p:sp>
        <p:nvSpPr>
          <p:cNvPr id="670727" name="Rectangle 7"/>
          <p:cNvSpPr>
            <a:spLocks noChangeArrowheads="1"/>
          </p:cNvSpPr>
          <p:nvPr/>
        </p:nvSpPr>
        <p:spPr bwMode="auto">
          <a:xfrm>
            <a:off x="357188" y="2133600"/>
            <a:ext cx="2555875" cy="511175"/>
          </a:xfrm>
          <a:prstGeom prst="rect">
            <a:avLst/>
          </a:prstGeom>
          <a:solidFill>
            <a:srgbClr val="6C4C8F"/>
          </a:solidFill>
          <a:ln>
            <a:noFill/>
          </a:ln>
        </p:spPr>
        <p:txBody>
          <a:bodyPr anchor="ct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必备的三个条件</a:t>
            </a:r>
          </a:p>
        </p:txBody>
      </p:sp>
      <p:grpSp>
        <p:nvGrpSpPr>
          <p:cNvPr id="9" name="组合 8"/>
          <p:cNvGrpSpPr/>
          <p:nvPr/>
        </p:nvGrpSpPr>
        <p:grpSpPr>
          <a:xfrm>
            <a:off x="403225" y="2974975"/>
            <a:ext cx="487363" cy="584200"/>
            <a:chOff x="685009" y="1514252"/>
            <a:chExt cx="365522" cy="438150"/>
          </a:xfrm>
        </p:grpSpPr>
        <p:sp>
          <p:nvSpPr>
            <p:cNvPr id="10" name="Flowchart: Off-page Connector 108"/>
            <p:cNvSpPr/>
            <p:nvPr/>
          </p:nvSpPr>
          <p:spPr bwMode="auto">
            <a:xfrm>
              <a:off x="704059" y="1529731"/>
              <a:ext cx="317897" cy="422672"/>
            </a:xfrm>
            <a:prstGeom prst="flowChartOffpage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1"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11" name="Oval 111"/>
            <p:cNvSpPr/>
            <p:nvPr/>
          </p:nvSpPr>
          <p:spPr bwMode="auto">
            <a:xfrm>
              <a:off x="685009" y="1514252"/>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1200" cap="none" spc="0" normalizeH="0" baseline="0" noProof="0" dirty="0">
                  <a:ln>
                    <a:noFill/>
                  </a:ln>
                  <a:solidFill>
                    <a:srgbClr val="FFFFFF"/>
                  </a:solidFill>
                  <a:effectLst/>
                  <a:uLnTx/>
                  <a:uFillTx/>
                  <a:latin typeface="+mn-lt"/>
                  <a:ea typeface="+mn-ea"/>
                  <a:cs typeface="+mn-ea"/>
                  <a:sym typeface="+mn-lt"/>
                </a:rPr>
                <a:t>1</a:t>
              </a:r>
              <a:endPar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endParaRPr>
            </a:p>
          </p:txBody>
        </p:sp>
      </p:grpSp>
      <p:grpSp>
        <p:nvGrpSpPr>
          <p:cNvPr id="12" name="组合 11"/>
          <p:cNvGrpSpPr/>
          <p:nvPr/>
        </p:nvGrpSpPr>
        <p:grpSpPr>
          <a:xfrm>
            <a:off x="406400" y="4689475"/>
            <a:ext cx="487363" cy="601663"/>
            <a:chOff x="685009" y="2261965"/>
            <a:chExt cx="365522" cy="451246"/>
          </a:xfrm>
        </p:grpSpPr>
        <p:sp>
          <p:nvSpPr>
            <p:cNvPr id="13" name="Flowchart: Off-page Connector 109"/>
            <p:cNvSpPr/>
            <p:nvPr/>
          </p:nvSpPr>
          <p:spPr bwMode="auto">
            <a:xfrm>
              <a:off x="704059" y="2290540"/>
              <a:ext cx="317897" cy="422671"/>
            </a:xfrm>
            <a:prstGeom prst="flowChartOffpage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1"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14" name="Oval 112"/>
            <p:cNvSpPr/>
            <p:nvPr/>
          </p:nvSpPr>
          <p:spPr bwMode="auto">
            <a:xfrm>
              <a:off x="685009" y="2261965"/>
              <a:ext cx="365522" cy="41909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1200" cap="none" spc="0" normalizeH="0" baseline="0" noProof="0" dirty="0">
                  <a:ln>
                    <a:noFill/>
                  </a:ln>
                  <a:solidFill>
                    <a:srgbClr val="FFFFFF"/>
                  </a:solidFill>
                  <a:effectLst/>
                  <a:uLnTx/>
                  <a:uFillTx/>
                  <a:latin typeface="+mn-lt"/>
                  <a:ea typeface="+mn-ea"/>
                  <a:cs typeface="+mn-ea"/>
                  <a:sym typeface="+mn-lt"/>
                </a:rPr>
                <a:t>2</a:t>
              </a:r>
              <a:endPar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endParaRPr>
            </a:p>
          </p:txBody>
        </p:sp>
      </p:grpSp>
      <p:grpSp>
        <p:nvGrpSpPr>
          <p:cNvPr id="15" name="组合 14"/>
          <p:cNvGrpSpPr/>
          <p:nvPr/>
        </p:nvGrpSpPr>
        <p:grpSpPr>
          <a:xfrm>
            <a:off x="395288" y="5557838"/>
            <a:ext cx="488950" cy="577850"/>
            <a:chOff x="704059" y="3810967"/>
            <a:chExt cx="366713" cy="432198"/>
          </a:xfrm>
        </p:grpSpPr>
        <p:sp>
          <p:nvSpPr>
            <p:cNvPr id="16" name="Flowchart: Off-page Connector 104"/>
            <p:cNvSpPr/>
            <p:nvPr/>
          </p:nvSpPr>
          <p:spPr bwMode="auto">
            <a:xfrm>
              <a:off x="727872" y="3862023"/>
              <a:ext cx="317897" cy="381142"/>
            </a:xfrm>
            <a:prstGeom prst="flowChartOffpageConnector">
              <a:avLst/>
            </a:prstGeom>
            <a:solidFill>
              <a:srgbClr val="CCC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1"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17" name="Oval 107"/>
            <p:cNvSpPr/>
            <p:nvPr/>
          </p:nvSpPr>
          <p:spPr bwMode="auto">
            <a:xfrm>
              <a:off x="704059" y="3810967"/>
              <a:ext cx="366713" cy="419137"/>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1200" cap="none" spc="0" normalizeH="0" baseline="0" noProof="0" dirty="0">
                  <a:ln>
                    <a:noFill/>
                  </a:ln>
                  <a:solidFill>
                    <a:srgbClr val="FFFFFF"/>
                  </a:solidFill>
                  <a:effectLst/>
                  <a:uLnTx/>
                  <a:uFillTx/>
                  <a:latin typeface="+mn-lt"/>
                  <a:ea typeface="+mn-ea"/>
                  <a:cs typeface="+mn-ea"/>
                  <a:sym typeface="+mn-lt"/>
                </a:rPr>
                <a:t>3</a:t>
              </a:r>
              <a:endPar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endParaRPr>
            </a:p>
          </p:txBody>
        </p:sp>
      </p:grpSp>
      <p:cxnSp>
        <p:nvCxnSpPr>
          <p:cNvPr id="4" name="直接连接符 3"/>
          <p:cNvCxnSpPr/>
          <p:nvPr/>
        </p:nvCxnSpPr>
        <p:spPr>
          <a:xfrm>
            <a:off x="1109663" y="4365625"/>
            <a:ext cx="7272337" cy="0"/>
          </a:xfrm>
          <a:prstGeom prst="line">
            <a:avLst/>
          </a:prstGeom>
          <a:ln w="9525" cap="flat" cmpd="sng">
            <a:solidFill>
              <a:srgbClr val="E2D9EB"/>
            </a:solidFill>
            <a:prstDash val="solid"/>
            <a:headEnd type="none" w="med" len="med"/>
            <a:tailEnd type="none" w="med" len="med"/>
          </a:ln>
        </p:spPr>
      </p:cxnSp>
      <p:cxnSp>
        <p:nvCxnSpPr>
          <p:cNvPr id="21" name="直接连接符 20"/>
          <p:cNvCxnSpPr/>
          <p:nvPr/>
        </p:nvCxnSpPr>
        <p:spPr>
          <a:xfrm>
            <a:off x="1109663" y="5373688"/>
            <a:ext cx="7075487" cy="0"/>
          </a:xfrm>
          <a:prstGeom prst="line">
            <a:avLst/>
          </a:prstGeom>
          <a:ln w="9525" cap="flat" cmpd="sng">
            <a:solidFill>
              <a:srgbClr val="E2D9EB"/>
            </a:solidFill>
            <a:prstDash val="soli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70727"/>
                                        </p:tgtEl>
                                        <p:attrNameLst>
                                          <p:attrName>style.visibility</p:attrName>
                                        </p:attrNameLst>
                                      </p:cBhvr>
                                      <p:to>
                                        <p:strVal val="visible"/>
                                      </p:to>
                                    </p:set>
                                    <p:animEffect transition="in" filter="box(in)">
                                      <p:cBhvr>
                                        <p:cTn id="7" dur="500"/>
                                        <p:tgtEl>
                                          <p:spTgt spid="6707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70725">
                                            <p:txEl>
                                              <p:pRg st="0" end="0"/>
                                            </p:txEl>
                                          </p:spTgt>
                                        </p:tgtEl>
                                        <p:attrNameLst>
                                          <p:attrName>style.visibility</p:attrName>
                                        </p:attrNameLst>
                                      </p:cBhvr>
                                      <p:to>
                                        <p:strVal val="visible"/>
                                      </p:to>
                                    </p:set>
                                    <p:anim calcmode="lin" valueType="num">
                                      <p:cBhvr additive="base">
                                        <p:cTn id="18" dur="500" fill="hold"/>
                                        <p:tgtEl>
                                          <p:spTgt spid="670725">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670725">
                                            <p:txEl>
                                              <p:pRg st="0" end="0"/>
                                            </p:txEl>
                                          </p:spTgt>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 presetClass="entr" presetSubtype="8"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0-#ppt_w/2"/>
                                          </p:val>
                                        </p:tav>
                                        <p:tav tm="100000">
                                          <p:val>
                                            <p:strVal val="#ppt_x"/>
                                          </p:val>
                                        </p:tav>
                                      </p:tavLst>
                                    </p:anim>
                                    <p:anim calcmode="lin" valueType="num">
                                      <p:cBhvr additive="base">
                                        <p:cTn id="30"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670725">
                                            <p:txEl>
                                              <p:pRg st="2" end="2"/>
                                            </p:txEl>
                                          </p:spTgt>
                                        </p:tgtEl>
                                        <p:attrNameLst>
                                          <p:attrName>style.visibility</p:attrName>
                                        </p:attrNameLst>
                                      </p:cBhvr>
                                      <p:to>
                                        <p:strVal val="visible"/>
                                      </p:to>
                                    </p:set>
                                    <p:anim calcmode="lin" valueType="num">
                                      <p:cBhvr additive="base">
                                        <p:cTn id="35" dur="500" fill="hold"/>
                                        <p:tgtEl>
                                          <p:spTgt spid="670725">
                                            <p:txEl>
                                              <p:pRg st="2" end="2"/>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670725">
                                            <p:txEl>
                                              <p:pRg st="2" end="2"/>
                                            </p:txEl>
                                          </p:spTgt>
                                        </p:tgtEl>
                                        <p:attrNameLst>
                                          <p:attrName>ppt_y</p:attrName>
                                        </p:attrNameLst>
                                      </p:cBhvr>
                                      <p:tavLst>
                                        <p:tav tm="0">
                                          <p:val>
                                            <p:strVal val="#ppt_y"/>
                                          </p:val>
                                        </p:tav>
                                        <p:tav tm="100000">
                                          <p:val>
                                            <p:strVal val="#ppt_y"/>
                                          </p:val>
                                        </p:tav>
                                      </p:tavLst>
                                    </p:anim>
                                  </p:childTnLst>
                                </p:cTn>
                              </p:par>
                            </p:childTnLst>
                          </p:cTn>
                        </p:par>
                        <p:par>
                          <p:cTn id="37" fill="hold">
                            <p:stCondLst>
                              <p:cond delay="500"/>
                            </p:stCondLst>
                            <p:childTnLst>
                              <p:par>
                                <p:cTn id="38" presetID="2" presetClass="entr" presetSubtype="8" fill="hold" nodeType="afterEffect">
                                  <p:stCondLst>
                                    <p:cond delay="0"/>
                                  </p:stCondLst>
                                  <p:childTnLst>
                                    <p:set>
                                      <p:cBhvr>
                                        <p:cTn id="39" dur="1" fill="hold">
                                          <p:stCondLst>
                                            <p:cond delay="0"/>
                                          </p:stCondLst>
                                        </p:cTn>
                                        <p:tgtEl>
                                          <p:spTgt spid="21"/>
                                        </p:tgtEl>
                                        <p:attrNameLst>
                                          <p:attrName>style.visibility</p:attrName>
                                        </p:attrNameLst>
                                      </p:cBhvr>
                                      <p:to>
                                        <p:strVal val="visible"/>
                                      </p:to>
                                    </p:set>
                                    <p:anim calcmode="lin" valueType="num">
                                      <p:cBhvr additive="base">
                                        <p:cTn id="40" dur="500" fill="hold"/>
                                        <p:tgtEl>
                                          <p:spTgt spid="21"/>
                                        </p:tgtEl>
                                        <p:attrNameLst>
                                          <p:attrName>ppt_x</p:attrName>
                                        </p:attrNameLst>
                                      </p:cBhvr>
                                      <p:tavLst>
                                        <p:tav tm="0">
                                          <p:val>
                                            <p:strVal val="0-#ppt_w/2"/>
                                          </p:val>
                                        </p:tav>
                                        <p:tav tm="100000">
                                          <p:val>
                                            <p:strVal val="#ppt_x"/>
                                          </p:val>
                                        </p:tav>
                                      </p:tavLst>
                                    </p:anim>
                                    <p:anim calcmode="lin" valueType="num">
                                      <p:cBhvr additive="base">
                                        <p:cTn id="41"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500" fill="hold"/>
                                        <p:tgtEl>
                                          <p:spTgt spid="15"/>
                                        </p:tgtEl>
                                        <p:attrNameLst>
                                          <p:attrName>ppt_x</p:attrName>
                                        </p:attrNameLst>
                                      </p:cBhvr>
                                      <p:tavLst>
                                        <p:tav tm="0">
                                          <p:val>
                                            <p:strVal val="0-#ppt_w/2"/>
                                          </p:val>
                                        </p:tav>
                                        <p:tav tm="100000">
                                          <p:val>
                                            <p:strVal val="#ppt_x"/>
                                          </p:val>
                                        </p:tav>
                                      </p:tavLst>
                                    </p:anim>
                                    <p:anim calcmode="lin" valueType="num">
                                      <p:cBhvr additive="base">
                                        <p:cTn id="47"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670725">
                                            <p:txEl>
                                              <p:pRg st="4" end="4"/>
                                            </p:txEl>
                                          </p:spTgt>
                                        </p:tgtEl>
                                        <p:attrNameLst>
                                          <p:attrName>style.visibility</p:attrName>
                                        </p:attrNameLst>
                                      </p:cBhvr>
                                      <p:to>
                                        <p:strVal val="visible"/>
                                      </p:to>
                                    </p:set>
                                    <p:anim calcmode="lin" valueType="num">
                                      <p:cBhvr additive="base">
                                        <p:cTn id="52" dur="500" fill="hold"/>
                                        <p:tgtEl>
                                          <p:spTgt spid="670725">
                                            <p:txEl>
                                              <p:pRg st="4" end="4"/>
                                            </p:txEl>
                                          </p:spTgt>
                                        </p:tgtEl>
                                        <p:attrNameLst>
                                          <p:attrName>ppt_x</p:attrName>
                                        </p:attrNameLst>
                                      </p:cBhvr>
                                      <p:tavLst>
                                        <p:tav tm="0">
                                          <p:val>
                                            <p:strVal val="0-#ppt_w/2"/>
                                          </p:val>
                                        </p:tav>
                                        <p:tav tm="100000">
                                          <p:val>
                                            <p:strVal val="#ppt_x"/>
                                          </p:val>
                                        </p:tav>
                                      </p:tavLst>
                                    </p:anim>
                                    <p:anim calcmode="lin" valueType="num">
                                      <p:cBhvr additive="base">
                                        <p:cTn id="53" dur="500" fill="hold"/>
                                        <p:tgtEl>
                                          <p:spTgt spid="67072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0725" grpId="0" build="p"/>
      <p:bldP spid="67072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ChangeArrowheads="1"/>
          </p:cNvSpPr>
          <p:nvPr/>
        </p:nvSpPr>
        <p:spPr bwMode="auto">
          <a:xfrm>
            <a:off x="796925" y="185738"/>
            <a:ext cx="3775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用分治法求解递归问题</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7676" y="3429000"/>
            <a:ext cx="6480175" cy="310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311440" y="1052736"/>
            <a:ext cx="2040943" cy="461665"/>
          </a:xfrm>
          <a:prstGeom prst="rect">
            <a:avLst/>
          </a:prstGeom>
        </p:spPr>
        <p:txBody>
          <a:bodyPr wrap="none">
            <a:spAutoFit/>
          </a:bodyPr>
          <a:lstStyle/>
          <a:p>
            <a:r>
              <a:rPr lang="zh-CN" altLang="en-US" dirty="0"/>
              <a:t>覆盖残缺棋盘</a:t>
            </a:r>
          </a:p>
        </p:txBody>
      </p:sp>
      <p:sp>
        <p:nvSpPr>
          <p:cNvPr id="7" name="object 2"/>
          <p:cNvSpPr txBox="1">
            <a:spLocks noGrp="1"/>
          </p:cNvSpPr>
          <p:nvPr>
            <p:ph type="title"/>
          </p:nvPr>
        </p:nvSpPr>
        <p:spPr>
          <a:xfrm>
            <a:off x="796925" y="1645515"/>
            <a:ext cx="7951539" cy="269946"/>
          </a:xfrm>
          <a:prstGeom prst="rect">
            <a:avLst/>
          </a:prstGeom>
          <a:noFill/>
          <a:ln w="9525">
            <a:noFill/>
          </a:ln>
        </p:spPr>
        <p:txBody>
          <a:bodyPr vert="horz" wrap="square" lIns="0" tIns="0" rIns="0" bIns="0" rtlCol="0">
            <a:spAutoFit/>
          </a:bodyPr>
          <a:lstStyle/>
          <a:p>
            <a:pPr marL="11139" marR="0" lvl="0" indent="0" defTabSz="914400" eaLnBrk="1" fontAlgn="auto" latinLnBrk="0" hangingPunct="1">
              <a:lnSpc>
                <a:spcPct val="100000"/>
              </a:lnSpc>
              <a:spcBef>
                <a:spcPts val="0"/>
              </a:spcBef>
              <a:spcAft>
                <a:spcPts val="0"/>
              </a:spcAft>
              <a:buClrTx/>
              <a:buSzTx/>
              <a:buFontTx/>
              <a:buNone/>
              <a:tabLst/>
              <a:defRPr/>
            </a:pPr>
            <a:r>
              <a:rPr kumimoji="0" sz="1754" b="0" i="0" u="none" strike="noStrike" kern="0" cap="none" spc="-4" normalizeH="0" baseline="0" noProof="0" dirty="0">
                <a:ln>
                  <a:noFill/>
                </a:ln>
                <a:solidFill>
                  <a:sysClr val="windowText" lastClr="000000"/>
                </a:solidFill>
                <a:effectLst/>
                <a:uLnTx/>
                <a:uFillTx/>
              </a:rPr>
              <a:t>三格板是一种</a:t>
            </a:r>
            <a:r>
              <a:rPr kumimoji="0" sz="1754" b="0" i="0" u="none" strike="noStrike" kern="0" cap="none" spc="-75" normalizeH="0" baseline="0" noProof="0" dirty="0">
                <a:ln>
                  <a:noFill/>
                </a:ln>
                <a:solidFill>
                  <a:sysClr val="windowText" lastClr="000000"/>
                </a:solidFill>
                <a:effectLst/>
                <a:uLnTx/>
                <a:uFillTx/>
              </a:rPr>
              <a:t> </a:t>
            </a:r>
            <a:r>
              <a:rPr kumimoji="0" sz="1754" b="0" i="0" u="none" strike="noStrike" kern="0" cap="none" spc="-4" normalizeH="0" baseline="0" noProof="0" dirty="0">
                <a:ln>
                  <a:noFill/>
                </a:ln>
                <a:solidFill>
                  <a:sysClr val="windowText" lastClr="000000"/>
                </a:solidFill>
                <a:effectLst/>
                <a:uLnTx/>
                <a:uFillTx/>
                <a:latin typeface="Times New Roman"/>
                <a:cs typeface="Times New Roman"/>
              </a:rPr>
              <a:t>L</a:t>
            </a:r>
            <a:r>
              <a:rPr kumimoji="0" sz="1754" b="0" i="0" u="none" strike="noStrike" kern="0" cap="none" spc="-92" normalizeH="0" baseline="0" noProof="0" dirty="0">
                <a:ln>
                  <a:noFill/>
                </a:ln>
                <a:solidFill>
                  <a:sysClr val="windowText" lastClr="000000"/>
                </a:solidFill>
                <a:effectLst/>
                <a:uLnTx/>
                <a:uFillTx/>
                <a:latin typeface="Times New Roman"/>
                <a:cs typeface="Times New Roman"/>
              </a:rPr>
              <a:t> </a:t>
            </a:r>
            <a:r>
              <a:rPr kumimoji="0" sz="1754" b="0" i="0" u="none" strike="noStrike" kern="0" cap="none" spc="-4" normalizeH="0" baseline="0" noProof="0" dirty="0" err="1">
                <a:ln>
                  <a:noFill/>
                </a:ln>
                <a:solidFill>
                  <a:sysClr val="windowText" lastClr="000000"/>
                </a:solidFill>
                <a:effectLst/>
                <a:uLnTx/>
                <a:uFillTx/>
              </a:rPr>
              <a:t>形的物体，</a:t>
            </a:r>
            <a:r>
              <a:rPr kumimoji="0" sz="1754" b="0" i="0" u="none" strike="noStrike" kern="0" cap="none" spc="-4" normalizeH="0" baseline="0" noProof="0" dirty="0" err="1" smtClean="0">
                <a:ln>
                  <a:noFill/>
                </a:ln>
                <a:solidFill>
                  <a:sysClr val="windowText" lastClr="000000"/>
                </a:solidFill>
                <a:effectLst/>
                <a:uLnTx/>
                <a:uFillTx/>
              </a:rPr>
              <a:t>它能覆盖棋盘的三个格子</a:t>
            </a:r>
            <a:r>
              <a:rPr kumimoji="0" lang="en-US" sz="1754" b="0" i="0" u="none" strike="noStrike" kern="0" cap="none" spc="-4" normalizeH="0" baseline="0" noProof="0" dirty="0" smtClean="0">
                <a:ln>
                  <a:noFill/>
                </a:ln>
                <a:solidFill>
                  <a:sysClr val="windowText" lastClr="000000"/>
                </a:solidFill>
                <a:effectLst/>
                <a:uLnTx/>
                <a:uFillTx/>
              </a:rPr>
              <a:t>,</a:t>
            </a:r>
            <a:r>
              <a:rPr lang="zh-CN" altLang="en-US" sz="1754" spc="-4" dirty="0">
                <a:solidFill>
                  <a:sysClr val="windowText" lastClr="000000"/>
                </a:solidFill>
              </a:rPr>
              <a:t>三格板有四个</a:t>
            </a:r>
            <a:r>
              <a:rPr lang="zh-CN" altLang="en-US" sz="1754" spc="-4" dirty="0" smtClean="0">
                <a:solidFill>
                  <a:sysClr val="windowText" lastClr="000000"/>
                </a:solidFill>
              </a:rPr>
              <a:t>方向</a:t>
            </a:r>
            <a:endParaRPr kumimoji="0" sz="1754" b="0" i="0" u="none" strike="noStrike" kern="0" cap="none" spc="0" normalizeH="0" baseline="0" noProof="0" dirty="0">
              <a:ln>
                <a:noFill/>
              </a:ln>
              <a:solidFill>
                <a:sysClr val="windowText" lastClr="000000"/>
              </a:solidFill>
              <a:effectLst/>
              <a:uLnTx/>
              <a:uFillTx/>
              <a:latin typeface="Times New Roman"/>
              <a:cs typeface="Times New Roman"/>
            </a:endParaRPr>
          </a:p>
        </p:txBody>
      </p:sp>
      <p:grpSp>
        <p:nvGrpSpPr>
          <p:cNvPr id="9" name="组合 8">
            <a:extLst>
              <a:ext uri="{FF2B5EF4-FFF2-40B4-BE49-F238E27FC236}">
                <a16:creationId xmlns:a16="http://schemas.microsoft.com/office/drawing/2014/main" xmlns="" id="{E81EDEF3-BD58-4F5A-9608-2E921599714D}"/>
              </a:ext>
            </a:extLst>
          </p:cNvPr>
          <p:cNvGrpSpPr/>
          <p:nvPr/>
        </p:nvGrpSpPr>
        <p:grpSpPr>
          <a:xfrm>
            <a:off x="1257190" y="2300669"/>
            <a:ext cx="657199" cy="634920"/>
            <a:chOff x="2277917" y="4461235"/>
            <a:chExt cx="657199" cy="634920"/>
          </a:xfrm>
        </p:grpSpPr>
        <p:sp>
          <p:nvSpPr>
            <p:cNvPr id="10" name="object 4"/>
            <p:cNvSpPr/>
            <p:nvPr/>
          </p:nvSpPr>
          <p:spPr>
            <a:xfrm>
              <a:off x="2277917" y="4773125"/>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solidFill>
              <a:srgbClr val="005DA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11" name="object 5"/>
            <p:cNvSpPr/>
            <p:nvPr/>
          </p:nvSpPr>
          <p:spPr>
            <a:xfrm>
              <a:off x="2277917" y="4773125"/>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12" name="object 6"/>
            <p:cNvSpPr/>
            <p:nvPr/>
          </p:nvSpPr>
          <p:spPr>
            <a:xfrm>
              <a:off x="2612086" y="4773125"/>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solidFill>
              <a:srgbClr val="005DA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13" name="object 7"/>
            <p:cNvSpPr/>
            <p:nvPr/>
          </p:nvSpPr>
          <p:spPr>
            <a:xfrm>
              <a:off x="2612086" y="4773125"/>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14" name="object 8"/>
            <p:cNvSpPr/>
            <p:nvPr/>
          </p:nvSpPr>
          <p:spPr>
            <a:xfrm>
              <a:off x="2277917" y="4461235"/>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solidFill>
              <a:srgbClr val="005DA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15" name="object 9"/>
            <p:cNvSpPr/>
            <p:nvPr/>
          </p:nvSpPr>
          <p:spPr>
            <a:xfrm>
              <a:off x="2277917" y="4461235"/>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grpSp>
      <p:grpSp>
        <p:nvGrpSpPr>
          <p:cNvPr id="16" name="组合 15">
            <a:extLst>
              <a:ext uri="{FF2B5EF4-FFF2-40B4-BE49-F238E27FC236}">
                <a16:creationId xmlns:a16="http://schemas.microsoft.com/office/drawing/2014/main" xmlns="" id="{79BBEF44-CDBD-4A7E-BB80-C8BDD01ABAFB}"/>
              </a:ext>
            </a:extLst>
          </p:cNvPr>
          <p:cNvGrpSpPr/>
          <p:nvPr/>
        </p:nvGrpSpPr>
        <p:grpSpPr>
          <a:xfrm>
            <a:off x="4866212" y="2256113"/>
            <a:ext cx="657199" cy="657199"/>
            <a:chOff x="5886939" y="4416679"/>
            <a:chExt cx="657199" cy="657199"/>
          </a:xfrm>
        </p:grpSpPr>
        <p:sp>
          <p:nvSpPr>
            <p:cNvPr id="17" name="object 11"/>
            <p:cNvSpPr/>
            <p:nvPr/>
          </p:nvSpPr>
          <p:spPr>
            <a:xfrm>
              <a:off x="5886939" y="4416679"/>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solidFill>
              <a:srgbClr val="005DA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18" name="object 12"/>
            <p:cNvSpPr/>
            <p:nvPr/>
          </p:nvSpPr>
          <p:spPr>
            <a:xfrm>
              <a:off x="5886939" y="4416679"/>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19" name="object 13"/>
            <p:cNvSpPr/>
            <p:nvPr/>
          </p:nvSpPr>
          <p:spPr>
            <a:xfrm>
              <a:off x="6221108" y="4416679"/>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solidFill>
              <a:srgbClr val="005DA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20" name="object 14"/>
            <p:cNvSpPr/>
            <p:nvPr/>
          </p:nvSpPr>
          <p:spPr>
            <a:xfrm>
              <a:off x="6221108" y="4416679"/>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21" name="object 15"/>
            <p:cNvSpPr/>
            <p:nvPr/>
          </p:nvSpPr>
          <p:spPr>
            <a:xfrm>
              <a:off x="6221108" y="4750848"/>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solidFill>
              <a:srgbClr val="005DA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22" name="object 16"/>
            <p:cNvSpPr/>
            <p:nvPr/>
          </p:nvSpPr>
          <p:spPr>
            <a:xfrm>
              <a:off x="6221108" y="4750848"/>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grpSp>
      <p:grpSp>
        <p:nvGrpSpPr>
          <p:cNvPr id="23" name="组合 22">
            <a:extLst>
              <a:ext uri="{FF2B5EF4-FFF2-40B4-BE49-F238E27FC236}">
                <a16:creationId xmlns:a16="http://schemas.microsoft.com/office/drawing/2014/main" xmlns="" id="{FF0F476B-8C0B-4DD8-99DC-B623304A054D}"/>
              </a:ext>
            </a:extLst>
          </p:cNvPr>
          <p:cNvGrpSpPr/>
          <p:nvPr/>
        </p:nvGrpSpPr>
        <p:grpSpPr>
          <a:xfrm>
            <a:off x="6737557" y="2256113"/>
            <a:ext cx="657199" cy="634921"/>
            <a:chOff x="7758284" y="4416679"/>
            <a:chExt cx="657199" cy="634921"/>
          </a:xfrm>
        </p:grpSpPr>
        <p:sp>
          <p:nvSpPr>
            <p:cNvPr id="24" name="object 17"/>
            <p:cNvSpPr/>
            <p:nvPr/>
          </p:nvSpPr>
          <p:spPr>
            <a:xfrm>
              <a:off x="7758284" y="4728570"/>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solidFill>
              <a:srgbClr val="005DA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25" name="object 18"/>
            <p:cNvSpPr/>
            <p:nvPr/>
          </p:nvSpPr>
          <p:spPr>
            <a:xfrm>
              <a:off x="7758284" y="4728570"/>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26" name="object 19"/>
            <p:cNvSpPr/>
            <p:nvPr/>
          </p:nvSpPr>
          <p:spPr>
            <a:xfrm>
              <a:off x="8092453" y="4728570"/>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solidFill>
              <a:srgbClr val="005DA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27" name="object 20"/>
            <p:cNvSpPr/>
            <p:nvPr/>
          </p:nvSpPr>
          <p:spPr>
            <a:xfrm>
              <a:off x="8092453" y="4728570"/>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28" name="object 21"/>
            <p:cNvSpPr/>
            <p:nvPr/>
          </p:nvSpPr>
          <p:spPr>
            <a:xfrm>
              <a:off x="8092453" y="4416679"/>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solidFill>
              <a:srgbClr val="005DA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sp>
          <p:nvSpPr>
            <p:cNvPr id="29" name="object 22"/>
            <p:cNvSpPr/>
            <p:nvPr/>
          </p:nvSpPr>
          <p:spPr>
            <a:xfrm>
              <a:off x="8092453" y="4416679"/>
              <a:ext cx="323030" cy="323030"/>
            </a:xfrm>
            <a:custGeom>
              <a:avLst/>
              <a:gdLst/>
              <a:ahLst/>
              <a:cxnLst/>
              <a:rect l="l" t="t" r="r" b="b"/>
              <a:pathLst>
                <a:path w="368300" h="368300">
                  <a:moveTo>
                    <a:pt x="0" y="368300"/>
                  </a:moveTo>
                  <a:lnTo>
                    <a:pt x="368300" y="368300"/>
                  </a:lnTo>
                  <a:lnTo>
                    <a:pt x="368300" y="0"/>
                  </a:lnTo>
                  <a:lnTo>
                    <a:pt x="0" y="0"/>
                  </a:lnTo>
                  <a:lnTo>
                    <a:pt x="0" y="368300"/>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579" b="0" i="0" u="none" strike="noStrike" kern="0" cap="none" spc="0" normalizeH="0" baseline="0" noProof="0">
                <a:ln>
                  <a:noFill/>
                </a:ln>
                <a:solidFill>
                  <a:sysClr val="windowText" lastClr="000000"/>
                </a:solidFill>
                <a:effectLst/>
                <a:uLnTx/>
                <a:uFillTx/>
              </a:endParaRPr>
            </a:p>
          </p:txBody>
        </p:sp>
      </p:grpSp>
      <p:pic>
        <p:nvPicPr>
          <p:cNvPr id="30" name="图片 29">
            <a:extLst>
              <a:ext uri="{FF2B5EF4-FFF2-40B4-BE49-F238E27FC236}">
                <a16:creationId xmlns:a16="http://schemas.microsoft.com/office/drawing/2014/main" xmlns="" id="{EE3C296B-58D1-4B14-ADBB-6C8EC8153C60}"/>
              </a:ext>
            </a:extLst>
          </p:cNvPr>
          <p:cNvPicPr>
            <a:picLocks noChangeAspect="1"/>
          </p:cNvPicPr>
          <p:nvPr/>
        </p:nvPicPr>
        <p:blipFill>
          <a:blip r:embed="rId3"/>
          <a:stretch>
            <a:fillRect/>
          </a:stretch>
        </p:blipFill>
        <p:spPr>
          <a:xfrm rot="10800000">
            <a:off x="3143462" y="2300583"/>
            <a:ext cx="664522" cy="646232"/>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1"/>
          <p:cNvSpPr>
            <a:spLocks noChangeArrowheads="1"/>
          </p:cNvSpPr>
          <p:nvPr/>
        </p:nvSpPr>
        <p:spPr bwMode="auto">
          <a:xfrm>
            <a:off x="0" y="3913188"/>
            <a:ext cx="9144000" cy="2030413"/>
          </a:xfrm>
          <a:prstGeom prst="rect">
            <a:avLst/>
          </a:prstGeom>
          <a:solidFill>
            <a:srgbClr val="CCCCFF"/>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marL="742950" indent="-285750">
              <a:defRPr sz="2400" b="1">
                <a:solidFill>
                  <a:schemeClr val="tx1"/>
                </a:solidFill>
                <a:latin typeface="Times New Roman" panose="02020603050405020304" pitchFamily="18" charset="0"/>
                <a:ea typeface="楷体_GB2312" pitchFamily="49" charset="-122"/>
              </a:defRPr>
            </a:lvl2pPr>
            <a:lvl3pPr marL="1143000" indent="-228600">
              <a:defRPr sz="2400" b="1">
                <a:solidFill>
                  <a:schemeClr val="tx1"/>
                </a:solidFill>
                <a:latin typeface="Times New Roman" panose="02020603050405020304" pitchFamily="18" charset="0"/>
                <a:ea typeface="楷体_GB2312" pitchFamily="49" charset="-122"/>
              </a:defRPr>
            </a:lvl3pPr>
            <a:lvl4pPr marL="1600200" indent="-228600">
              <a:defRPr sz="2400" b="1">
                <a:solidFill>
                  <a:schemeClr val="tx1"/>
                </a:solidFill>
                <a:latin typeface="Times New Roman" panose="02020603050405020304" pitchFamily="18" charset="0"/>
                <a:ea typeface="楷体_GB2312" pitchFamily="49" charset="-122"/>
              </a:defRPr>
            </a:lvl4pPr>
            <a:lvl5pPr marL="2057400" indent="-228600">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2707" name="Rectangle 4"/>
          <p:cNvSpPr>
            <a:spLocks noChangeArrowheads="1"/>
          </p:cNvSpPr>
          <p:nvPr/>
        </p:nvSpPr>
        <p:spPr bwMode="auto">
          <a:xfrm>
            <a:off x="519113" y="1052513"/>
            <a:ext cx="6546850" cy="362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a:tabLst>
                <a:tab pos="533400" algn="l"/>
              </a:tabLst>
              <a:defRPr sz="2400" b="1">
                <a:solidFill>
                  <a:schemeClr val="tx1"/>
                </a:solidFill>
                <a:latin typeface="Times New Roman" panose="02020603050405020304" pitchFamily="18" charset="0"/>
                <a:ea typeface="楷体_GB2312" pitchFamily="49" charset="-122"/>
              </a:defRPr>
            </a:lvl1pPr>
            <a:lvl2pPr>
              <a:tabLst>
                <a:tab pos="533400" algn="l"/>
              </a:tabLst>
              <a:defRPr sz="2400" b="1">
                <a:solidFill>
                  <a:schemeClr val="tx1"/>
                </a:solidFill>
                <a:latin typeface="Times New Roman" panose="02020603050405020304" pitchFamily="18" charset="0"/>
                <a:ea typeface="楷体_GB2312" pitchFamily="49" charset="-122"/>
              </a:defRPr>
            </a:lvl2pPr>
            <a:lvl3pPr>
              <a:tabLst>
                <a:tab pos="533400" algn="l"/>
              </a:tabLst>
              <a:defRPr sz="2400" b="1">
                <a:solidFill>
                  <a:schemeClr val="tx1"/>
                </a:solidFill>
                <a:latin typeface="Times New Roman" panose="02020603050405020304" pitchFamily="18" charset="0"/>
                <a:ea typeface="楷体_GB2312" pitchFamily="49" charset="-122"/>
              </a:defRPr>
            </a:lvl3pPr>
            <a:lvl4pPr>
              <a:tabLst>
                <a:tab pos="533400" algn="l"/>
              </a:tabLst>
              <a:defRPr sz="2400" b="1">
                <a:solidFill>
                  <a:schemeClr val="tx1"/>
                </a:solidFill>
                <a:latin typeface="Times New Roman" panose="02020603050405020304" pitchFamily="18" charset="0"/>
                <a:ea typeface="楷体_GB2312" pitchFamily="49" charset="-122"/>
              </a:defRPr>
            </a:lvl4pPr>
            <a:lvl5pPr>
              <a:tabLst>
                <a:tab pos="533400" algn="l"/>
              </a:tabLst>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tabLst>
                <a:tab pos="533400" algn="l"/>
              </a:tabLst>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tabLst>
                <a:tab pos="533400" algn="l"/>
              </a:tabLst>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tabLst>
                <a:tab pos="533400" algn="l"/>
              </a:tabLst>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tabLst>
                <a:tab pos="533400" algn="l"/>
              </a:tabLst>
              <a:defRPr sz="2400" b="1">
                <a:solidFill>
                  <a:schemeClr val="tx1"/>
                </a:solidFill>
                <a:latin typeface="Times New Roman" panose="02020603050405020304" pitchFamily="18" charset="0"/>
                <a:ea typeface="楷体_GB2312" pitchFamily="49" charset="-122"/>
              </a:defRPr>
            </a:lvl9pPr>
          </a:lstStyle>
          <a:p>
            <a:pPr marL="0" marR="0" lvl="0" indent="266700" algn="l" defTabSz="914400" rtl="0" eaLnBrk="0" fontAlgn="base" latinLnBrk="0" hangingPunct="0">
              <a:lnSpc>
                <a:spcPct val="100000"/>
              </a:lnSpc>
              <a:spcBef>
                <a:spcPct val="20000"/>
              </a:spcBef>
              <a:spcAft>
                <a:spcPct val="0"/>
              </a:spcAft>
              <a:buClrTx/>
              <a:buSzTx/>
              <a:buFont typeface="Arial" panose="020B0604020202020204" pitchFamily="34" charset="0"/>
              <a:buNone/>
              <a:tabLst>
                <a:tab pos="533400" algn="l"/>
              </a:tabLst>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设有一个递归算法如下</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266700" algn="l" defTabSz="914400" rtl="0" eaLnBrk="0" fontAlgn="base" latinLnBrk="0" hangingPunct="0">
              <a:lnSpc>
                <a:spcPct val="100000"/>
              </a:lnSpc>
              <a:spcBef>
                <a:spcPct val="20000"/>
              </a:spcBef>
              <a:spcAft>
                <a:spcPct val="0"/>
              </a:spcAft>
              <a:buClrTx/>
              <a:buSzTx/>
              <a:buFont typeface="Arial" panose="020B0604020202020204" pitchFamily="34" charset="0"/>
              <a:buNone/>
              <a:tabLst>
                <a:tab pos="533400" algn="l"/>
              </a:tabLst>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X(int n)</a:t>
            </a:r>
          </a:p>
          <a:p>
            <a:pPr marL="0" marR="0" lvl="0" indent="266700" algn="l" defTabSz="914400" rtl="0" eaLnBrk="0" fontAlgn="base" latinLnBrk="0" hangingPunct="0">
              <a:lnSpc>
                <a:spcPct val="100000"/>
              </a:lnSpc>
              <a:spcBef>
                <a:spcPct val="20000"/>
              </a:spcBef>
              <a:spcAft>
                <a:spcPct val="0"/>
              </a:spcAft>
              <a:buClrTx/>
              <a:buSzTx/>
              <a:buFont typeface="Arial" panose="020B0604020202020204" pitchFamily="34" charset="0"/>
              <a:buNone/>
              <a:tabLst>
                <a:tab pos="533400" algn="l"/>
              </a:tabLst>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if(n&lt;=3) return 1;</a:t>
            </a:r>
          </a:p>
          <a:p>
            <a:pPr marL="0" marR="0" lvl="0" indent="266700" algn="l" defTabSz="914400" rtl="0" eaLnBrk="0" fontAlgn="base" latinLnBrk="0" hangingPunct="0">
              <a:lnSpc>
                <a:spcPct val="100000"/>
              </a:lnSpc>
              <a:spcBef>
                <a:spcPct val="20000"/>
              </a:spcBef>
              <a:spcAft>
                <a:spcPct val="0"/>
              </a:spcAft>
              <a:buClrTx/>
              <a:buSzTx/>
              <a:buFont typeface="Arial" panose="020B0604020202020204" pitchFamily="34" charset="0"/>
              <a:buNone/>
              <a:tabLst>
                <a:tab pos="533400" algn="l"/>
              </a:tabLst>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else return X(n-2)+X(n-4)+</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ea"/>
                <a:sym typeface="+mn-lt"/>
              </a:rPr>
              <a:t>1;</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266700" algn="l" defTabSz="914400" rtl="0" eaLnBrk="0" fontAlgn="base" latinLnBrk="0" hangingPunct="0">
              <a:lnSpc>
                <a:spcPct val="100000"/>
              </a:lnSpc>
              <a:spcBef>
                <a:spcPct val="20000"/>
              </a:spcBef>
              <a:spcAft>
                <a:spcPct val="0"/>
              </a:spcAft>
              <a:buClrTx/>
              <a:buSzTx/>
              <a:buFont typeface="Arial" panose="020B0604020202020204" pitchFamily="34" charset="0"/>
              <a:buNone/>
              <a:tabLst>
                <a:tab pos="533400" algn="l"/>
              </a:tabLst>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266700" algn="l" defTabSz="914400" rtl="0" eaLnBrk="0" fontAlgn="base" latinLnBrk="0" hangingPunct="0">
              <a:lnSpc>
                <a:spcPct val="100000"/>
              </a:lnSpc>
              <a:spcBef>
                <a:spcPct val="20000"/>
              </a:spcBef>
              <a:spcAft>
                <a:spcPct val="0"/>
              </a:spcAft>
              <a:buClrTx/>
              <a:buSzTx/>
              <a:buFont typeface="Arial" panose="020B0604020202020204" pitchFamily="34" charset="0"/>
              <a:buNone/>
              <a:tabLst>
                <a:tab pos="533400" algn="l"/>
              </a:tabLst>
              <a:defRPr/>
            </a:pP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266700" algn="l" defTabSz="914400" rtl="0" eaLnBrk="0" fontAlgn="base" latinLnBrk="0" hangingPunct="0">
              <a:lnSpc>
                <a:spcPct val="100000"/>
              </a:lnSpc>
              <a:spcBef>
                <a:spcPct val="20000"/>
              </a:spcBef>
              <a:spcAft>
                <a:spcPct val="0"/>
              </a:spcAft>
              <a:buClrTx/>
              <a:buSzTx/>
              <a:buFont typeface="Arial" panose="020B0604020202020204" pitchFamily="34" charset="0"/>
              <a:buNone/>
              <a:tabLst>
                <a:tab pos="533400" algn="l"/>
              </a:tabLst>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则计算</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X(X(8))</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时需要计算</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X</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函数</a:t>
            </a:r>
            <a:r>
              <a:rPr kumimoji="0" lang="zh-CN" altLang="en-US" sz="2800" b="0" i="0" u="sng"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次</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742405" name="Text Box 5"/>
          <p:cNvSpPr txBox="1">
            <a:spLocks noChangeArrowheads="1"/>
          </p:cNvSpPr>
          <p:nvPr/>
        </p:nvSpPr>
        <p:spPr bwMode="auto">
          <a:xfrm>
            <a:off x="5910263" y="4062413"/>
            <a:ext cx="496888" cy="579438"/>
          </a:xfrm>
          <a:prstGeom prst="rect">
            <a:avLst/>
          </a:prstGeom>
          <a:noFill/>
          <a:ln>
            <a:noFill/>
          </a:ln>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D</a:t>
            </a:r>
          </a:p>
        </p:txBody>
      </p:sp>
      <p:sp>
        <p:nvSpPr>
          <p:cNvPr id="72709" name="Rectangle 6"/>
          <p:cNvSpPr>
            <a:spLocks noChangeArrowheads="1"/>
          </p:cNvSpPr>
          <p:nvPr/>
        </p:nvSpPr>
        <p:spPr bwMode="auto">
          <a:xfrm>
            <a:off x="803275" y="115888"/>
            <a:ext cx="23399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练习</a:t>
            </a:r>
          </a:p>
        </p:txBody>
      </p:sp>
      <p:sp>
        <p:nvSpPr>
          <p:cNvPr id="72710" name="Rectangle 7"/>
          <p:cNvSpPr>
            <a:spLocks noChangeArrowheads="1"/>
          </p:cNvSpPr>
          <p:nvPr/>
        </p:nvSpPr>
        <p:spPr bwMode="auto">
          <a:xfrm>
            <a:off x="873125" y="5084763"/>
            <a:ext cx="5976938" cy="461963"/>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A. 8   	       B.9          C.16 	   D.18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742405"/>
                                        </p:tgtEl>
                                        <p:attrNameLst>
                                          <p:attrName>style.visibility</p:attrName>
                                        </p:attrNameLst>
                                      </p:cBhvr>
                                      <p:to>
                                        <p:strVal val="visible"/>
                                      </p:to>
                                    </p:set>
                                    <p:anim calcmode="lin" valueType="num">
                                      <p:cBhvr additive="base">
                                        <p:cTn id="7" dur="5000" fill="hold"/>
                                        <p:tgtEl>
                                          <p:spTgt spid="742405"/>
                                        </p:tgtEl>
                                        <p:attrNameLst>
                                          <p:attrName>ppt_x</p:attrName>
                                        </p:attrNameLst>
                                      </p:cBhvr>
                                      <p:tavLst>
                                        <p:tav tm="0">
                                          <p:val>
                                            <p:strVal val="#ppt_x"/>
                                          </p:val>
                                        </p:tav>
                                        <p:tav tm="100000">
                                          <p:val>
                                            <p:strVal val="#ppt_x"/>
                                          </p:val>
                                        </p:tav>
                                      </p:tavLst>
                                    </p:anim>
                                    <p:anim calcmode="lin" valueType="num">
                                      <p:cBhvr additive="base">
                                        <p:cTn id="8" dur="5000" fill="hold"/>
                                        <p:tgtEl>
                                          <p:spTgt spid="74240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240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5" name="Comment 5"/>
          <p:cNvSpPr>
            <a:spLocks noChangeArrowheads="1"/>
          </p:cNvSpPr>
          <p:nvPr/>
        </p:nvSpPr>
        <p:spPr bwMode="auto">
          <a:xfrm>
            <a:off x="765175" y="198438"/>
            <a:ext cx="32766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递归的优缺点</a:t>
            </a:r>
          </a:p>
        </p:txBody>
      </p:sp>
      <p:grpSp>
        <p:nvGrpSpPr>
          <p:cNvPr id="3" name="组合 2"/>
          <p:cNvGrpSpPr/>
          <p:nvPr/>
        </p:nvGrpSpPr>
        <p:grpSpPr>
          <a:xfrm>
            <a:off x="4572000" y="1270000"/>
            <a:ext cx="4311650" cy="4778375"/>
            <a:chOff x="4572000" y="1270100"/>
            <a:chExt cx="4311650" cy="4778360"/>
          </a:xfrm>
        </p:grpSpPr>
        <p:sp>
          <p:nvSpPr>
            <p:cNvPr id="7" name="Text Box 19"/>
            <p:cNvSpPr txBox="1">
              <a:spLocks noChangeArrowheads="1"/>
            </p:cNvSpPr>
            <p:nvPr/>
          </p:nvSpPr>
          <p:spPr bwMode="auto">
            <a:xfrm>
              <a:off x="4572000" y="1270100"/>
              <a:ext cx="4311650" cy="4778360"/>
            </a:xfrm>
            <a:prstGeom prst="rect">
              <a:avLst/>
            </a:prstGeom>
            <a:solidFill>
              <a:schemeClr val="accent1">
                <a:lumMod val="20000"/>
                <a:lumOff val="80000"/>
              </a:schemeClr>
            </a:solidFill>
            <a:ln w="9525">
              <a:noFill/>
              <a:miter lim="800000"/>
              <a:headEnd type="none" w="lg" len="med"/>
            </a:ln>
          </p:spPr>
          <p:txBody>
            <a:bodyPr lIns="90000" tIns="46800" rIns="90000" bIns="46800">
              <a:spAutoFit/>
            </a:bodyPr>
            <a:lstStyle/>
            <a:p>
              <a:pPr marR="0" defTabSz="914400">
                <a:lnSpc>
                  <a:spcPct val="130000"/>
                </a:lnSpc>
                <a:spcBef>
                  <a:spcPct val="20000"/>
                </a:spcBef>
                <a:buClrTx/>
                <a:buSzTx/>
                <a:buFontTx/>
                <a:buNone/>
                <a:defRPr/>
              </a:pPr>
              <a:r>
                <a:rPr kumimoji="0" lang="zh-CN" altLang="en-US" sz="2800" b="0" kern="1200" cap="none" spc="0" normalizeH="0" baseline="0" noProof="0" dirty="0">
                  <a:solidFill>
                    <a:srgbClr val="FF0000"/>
                  </a:solidFill>
                  <a:latin typeface="+mn-lt"/>
                  <a:ea typeface="+mn-ea"/>
                  <a:cs typeface="+mn-ea"/>
                  <a:sym typeface="+mn-lt"/>
                </a:rPr>
                <a:t>缺点：</a:t>
              </a:r>
              <a:r>
                <a:rPr kumimoji="0" lang="zh-CN" altLang="en-US" sz="2800" b="0" kern="1200" cap="none" spc="0" normalizeH="0" baseline="0" noProof="0" dirty="0">
                  <a:latin typeface="+mn-lt"/>
                  <a:ea typeface="+mn-ea"/>
                  <a:cs typeface="+mn-ea"/>
                  <a:sym typeface="+mn-lt"/>
                </a:rPr>
                <a:t>每次调用要生成工作记录，保存状态信息，入栈；返回时要出栈，恢复状态信息。时间开销大。</a:t>
              </a:r>
              <a:endParaRPr kumimoji="0" lang="en-US" altLang="zh-CN" sz="2800" b="0" kern="1200" cap="none" spc="0" normalizeH="0" baseline="0" noProof="0" dirty="0">
                <a:latin typeface="+mn-lt"/>
                <a:ea typeface="+mn-ea"/>
                <a:cs typeface="+mn-ea"/>
                <a:sym typeface="+mn-lt"/>
              </a:endParaRPr>
            </a:p>
            <a:p>
              <a:pPr marR="0" defTabSz="914400">
                <a:lnSpc>
                  <a:spcPct val="130000"/>
                </a:lnSpc>
                <a:spcBef>
                  <a:spcPct val="20000"/>
                </a:spcBef>
                <a:buClrTx/>
                <a:buSzTx/>
                <a:buFontTx/>
                <a:buNone/>
                <a:defRPr/>
              </a:pPr>
              <a:endParaRPr kumimoji="0" lang="en-US" altLang="zh-CN" sz="2800" b="0" kern="1200" cap="none" spc="0" normalizeH="0" baseline="0" noProof="0" dirty="0">
                <a:latin typeface="+mn-lt"/>
                <a:ea typeface="+mn-ea"/>
                <a:cs typeface="+mn-ea"/>
                <a:sym typeface="+mn-lt"/>
              </a:endParaRPr>
            </a:p>
            <a:p>
              <a:pPr marR="0" defTabSz="914400">
                <a:lnSpc>
                  <a:spcPct val="130000"/>
                </a:lnSpc>
                <a:spcBef>
                  <a:spcPct val="20000"/>
                </a:spcBef>
                <a:buClrTx/>
                <a:buSzTx/>
                <a:buFontTx/>
                <a:buNone/>
                <a:defRPr/>
              </a:pPr>
              <a:endParaRPr kumimoji="0" lang="en-US" altLang="zh-CN" sz="2800" b="0" kern="1200" cap="none" spc="0" normalizeH="0" baseline="0" noProof="0" dirty="0">
                <a:latin typeface="+mn-lt"/>
                <a:ea typeface="+mn-ea"/>
                <a:cs typeface="+mn-ea"/>
                <a:sym typeface="+mn-lt"/>
              </a:endParaRPr>
            </a:p>
            <a:p>
              <a:pPr marR="0" defTabSz="914400">
                <a:lnSpc>
                  <a:spcPct val="130000"/>
                </a:lnSpc>
                <a:spcBef>
                  <a:spcPct val="20000"/>
                </a:spcBef>
                <a:buClrTx/>
                <a:buSzTx/>
                <a:buFontTx/>
                <a:buNone/>
                <a:defRPr/>
              </a:pPr>
              <a:endParaRPr kumimoji="0" lang="zh-CN" altLang="en-US" sz="2800" b="0" kern="1200" cap="none" spc="0" normalizeH="0" baseline="0" noProof="0" dirty="0">
                <a:latin typeface="+mn-lt"/>
                <a:ea typeface="+mn-ea"/>
                <a:cs typeface="+mn-ea"/>
                <a:sym typeface="+mn-lt"/>
              </a:endParaRPr>
            </a:p>
          </p:txBody>
        </p:sp>
        <p:sp>
          <p:nvSpPr>
            <p:cNvPr id="757766" name="Rectangle 6"/>
            <p:cNvSpPr>
              <a:spLocks noChangeArrowheads="1"/>
            </p:cNvSpPr>
            <p:nvPr/>
          </p:nvSpPr>
          <p:spPr bwMode="auto">
            <a:xfrm>
              <a:off x="5508625" y="4724489"/>
              <a:ext cx="2622550" cy="579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chemeClr val="hlink"/>
                  </a:solidFill>
                  <a:effectLst/>
                  <a:uLnTx/>
                  <a:uFillTx/>
                  <a:latin typeface="+mn-lt"/>
                  <a:ea typeface="+mn-ea"/>
                  <a:cs typeface="+mn-ea"/>
                  <a:sym typeface="+mn-lt"/>
                </a:rPr>
                <a:t>递归非递归</a:t>
              </a:r>
            </a:p>
          </p:txBody>
        </p:sp>
      </p:grpSp>
      <p:grpSp>
        <p:nvGrpSpPr>
          <p:cNvPr id="2" name="组合 1"/>
          <p:cNvGrpSpPr/>
          <p:nvPr/>
        </p:nvGrpSpPr>
        <p:grpSpPr>
          <a:xfrm>
            <a:off x="404813" y="1270000"/>
            <a:ext cx="3925887" cy="4778375"/>
            <a:chOff x="404689" y="1270100"/>
            <a:chExt cx="3925887" cy="4778360"/>
          </a:xfrm>
        </p:grpSpPr>
        <p:sp>
          <p:nvSpPr>
            <p:cNvPr id="9" name="矩形 5"/>
            <p:cNvSpPr>
              <a:spLocks noChangeArrowheads="1"/>
            </p:cNvSpPr>
            <p:nvPr/>
          </p:nvSpPr>
          <p:spPr bwMode="auto">
            <a:xfrm>
              <a:off x="404689" y="1270100"/>
              <a:ext cx="3925887" cy="4778360"/>
            </a:xfrm>
            <a:prstGeom prst="rect">
              <a:avLst/>
            </a:prstGeom>
            <a:solidFill>
              <a:srgbClr val="76AEDD">
                <a:alpha val="50195"/>
              </a:srgbClr>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57764" name="Rectangle 4"/>
            <p:cNvSpPr>
              <a:spLocks noChangeArrowheads="1"/>
            </p:cNvSpPr>
            <p:nvPr/>
          </p:nvSpPr>
          <p:spPr bwMode="auto">
            <a:xfrm>
              <a:off x="549151" y="1422500"/>
              <a:ext cx="3590925" cy="1571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marL="742950" indent="-285750">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1" indent="0" algn="l" defTabSz="914400" rtl="0" eaLnBrk="0" fontAlgn="base" latinLnBrk="0" hangingPunct="0">
                <a:lnSpc>
                  <a:spcPct val="13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优点：</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结构清晰，程序易读</a:t>
              </a:r>
            </a:p>
          </p:txBody>
        </p:sp>
        <p:sp>
          <p:nvSpPr>
            <p:cNvPr id="11" name="矩形 1"/>
            <p:cNvSpPr>
              <a:spLocks noChangeArrowheads="1"/>
            </p:cNvSpPr>
            <p:nvPr/>
          </p:nvSpPr>
          <p:spPr bwMode="auto">
            <a:xfrm>
              <a:off x="404689" y="5661111"/>
              <a:ext cx="3925887" cy="73025"/>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 name="矩形 10"/>
            <p:cNvSpPr>
              <a:spLocks noChangeArrowheads="1"/>
            </p:cNvSpPr>
            <p:nvPr/>
          </p:nvSpPr>
          <p:spPr bwMode="auto">
            <a:xfrm>
              <a:off x="404689" y="5515062"/>
              <a:ext cx="3925887" cy="7143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 name="矩形 11"/>
            <p:cNvSpPr>
              <a:spLocks noChangeArrowheads="1"/>
            </p:cNvSpPr>
            <p:nvPr/>
          </p:nvSpPr>
          <p:spPr bwMode="auto">
            <a:xfrm>
              <a:off x="404689" y="5357900"/>
              <a:ext cx="3925887" cy="71437"/>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Text Box 4"/>
          <p:cNvSpPr txBox="1">
            <a:spLocks noChangeArrowheads="1"/>
          </p:cNvSpPr>
          <p:nvPr/>
        </p:nvSpPr>
        <p:spPr bwMode="auto">
          <a:xfrm>
            <a:off x="1303338" y="4605338"/>
            <a:ext cx="23749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尾递归、单向递归</a:t>
            </a:r>
            <a:r>
              <a:rPr kumimoji="0"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sym typeface="Wingdings" panose="05000000000000000000" pitchFamily="2" charset="2"/>
              </a:rPr>
              <a:t></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循环结构</a:t>
            </a:r>
          </a:p>
        </p:txBody>
      </p:sp>
      <p:sp>
        <p:nvSpPr>
          <p:cNvPr id="84996" name="Rectangle 5"/>
          <p:cNvSpPr>
            <a:spLocks noChangeArrowheads="1"/>
          </p:cNvSpPr>
          <p:nvPr/>
        </p:nvSpPr>
        <p:spPr bwMode="auto">
          <a:xfrm>
            <a:off x="755650" y="212725"/>
            <a:ext cx="442753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a:t>
            </a:r>
            <a:r>
              <a:rPr kumimoji="0" lang="zh-CN" altLang="en-US" sz="2800" b="1"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n-cs"/>
                <a:sym typeface="Wingdings" panose="05000000000000000000" pitchFamily="2" charset="2"/>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非递归</a:t>
            </a:r>
          </a:p>
        </p:txBody>
      </p:sp>
      <p:grpSp>
        <p:nvGrpSpPr>
          <p:cNvPr id="6" name="组合 5"/>
          <p:cNvGrpSpPr/>
          <p:nvPr/>
        </p:nvGrpSpPr>
        <p:grpSpPr>
          <a:xfrm>
            <a:off x="5100638" y="2509838"/>
            <a:ext cx="2711450" cy="2270125"/>
            <a:chOff x="4561682" y="2200808"/>
            <a:chExt cx="3219450" cy="2697163"/>
          </a:xfrm>
        </p:grpSpPr>
        <p:sp>
          <p:nvSpPr>
            <p:cNvPr id="7" name="i$liḋe-Oval 12"/>
            <p:cNvSpPr/>
            <p:nvPr/>
          </p:nvSpPr>
          <p:spPr bwMode="auto">
            <a:xfrm>
              <a:off x="4997099" y="2200808"/>
              <a:ext cx="2284528" cy="2284100"/>
            </a:xfrm>
            <a:prstGeom prst="ellipse">
              <a:avLst/>
            </a:prstGeom>
            <a:solidFill>
              <a:schemeClr val="accent1"/>
            </a:solidFill>
            <a:ln w="50800">
              <a:solidFill>
                <a:schemeClr val="tx1">
                  <a:alpha val="0"/>
                </a:schemeClr>
              </a:solidFill>
              <a:miter lim="800000"/>
            </a:ln>
          </p:spPr>
          <p:txBody>
            <a:bodyPr wrap="none" lIns="0" tIns="0" rIns="0" bIns="0"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3200" b="1" i="0" u="none" strike="noStrike" kern="1200" cap="none" spc="0" normalizeH="0" baseline="0" noProof="0" dirty="0">
                  <a:ln>
                    <a:noFill/>
                  </a:ln>
                  <a:solidFill>
                    <a:schemeClr val="bg1"/>
                  </a:solidFill>
                  <a:effectLst/>
                  <a:uLnTx/>
                  <a:uFillTx/>
                  <a:latin typeface="+mn-lt"/>
                  <a:ea typeface="+mn-ea"/>
                  <a:cs typeface="+mn-ea"/>
                  <a:sym typeface="+mn-lt"/>
                </a:rPr>
                <a:t>（</a:t>
              </a:r>
              <a:r>
                <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rPr>
                <a:t>2</a:t>
              </a:r>
              <a:r>
                <a:rPr kumimoji="0" lang="zh-CN" altLang="en-US" sz="3200" b="1"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8" name="i$liḋe-Oval 14"/>
            <p:cNvSpPr/>
            <p:nvPr/>
          </p:nvSpPr>
          <p:spPr bwMode="auto">
            <a:xfrm>
              <a:off x="4561682" y="3047679"/>
              <a:ext cx="326091" cy="326301"/>
            </a:xfrm>
            <a:prstGeom prst="ellipse">
              <a:avLst/>
            </a:prstGeom>
            <a:solidFill>
              <a:schemeClr val="accent1">
                <a:lumMod val="40000"/>
                <a:lumOff val="60000"/>
                <a:alpha val="20000"/>
              </a:schemeClr>
            </a:solidFill>
            <a:ln w="50800">
              <a:solidFill>
                <a:schemeClr val="tx1">
                  <a:alpha val="0"/>
                </a:schemeClr>
              </a:solid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 name="i$liḋe-Oval 15"/>
            <p:cNvSpPr/>
            <p:nvPr/>
          </p:nvSpPr>
          <p:spPr bwMode="auto">
            <a:xfrm>
              <a:off x="5877359" y="4354766"/>
              <a:ext cx="544742" cy="543205"/>
            </a:xfrm>
            <a:prstGeom prst="ellipse">
              <a:avLst/>
            </a:prstGeom>
            <a:solidFill>
              <a:schemeClr val="accent1">
                <a:lumMod val="40000"/>
                <a:lumOff val="60000"/>
                <a:alpha val="20000"/>
              </a:schemeClr>
            </a:solidFill>
            <a:ln w="50800">
              <a:solidFill>
                <a:schemeClr val="tx1">
                  <a:alpha val="0"/>
                </a:schemeClr>
              </a:solid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 name="i$liḋe-Oval 16"/>
            <p:cNvSpPr/>
            <p:nvPr/>
          </p:nvSpPr>
          <p:spPr bwMode="auto">
            <a:xfrm>
              <a:off x="6857519" y="2221555"/>
              <a:ext cx="173413" cy="175410"/>
            </a:xfrm>
            <a:prstGeom prst="ellipse">
              <a:avLst/>
            </a:prstGeom>
            <a:solidFill>
              <a:schemeClr val="accent1">
                <a:lumMod val="40000"/>
                <a:lumOff val="60000"/>
                <a:alpha val="20000"/>
              </a:schemeClr>
            </a:solidFill>
            <a:ln w="50800">
              <a:no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 name="i$liḋe-Oval 17"/>
            <p:cNvSpPr/>
            <p:nvPr/>
          </p:nvSpPr>
          <p:spPr bwMode="auto">
            <a:xfrm>
              <a:off x="7117639" y="3907753"/>
              <a:ext cx="403374" cy="403631"/>
            </a:xfrm>
            <a:prstGeom prst="ellipse">
              <a:avLst/>
            </a:prstGeom>
            <a:solidFill>
              <a:schemeClr val="accent1">
                <a:lumMod val="40000"/>
                <a:lumOff val="60000"/>
                <a:alpha val="20000"/>
              </a:schemeClr>
            </a:solidFill>
            <a:ln w="50800">
              <a:solidFill>
                <a:schemeClr val="tx1">
                  <a:alpha val="0"/>
                </a:schemeClr>
              </a:solid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 name="i$liḋe-Oval 18"/>
            <p:cNvSpPr/>
            <p:nvPr/>
          </p:nvSpPr>
          <p:spPr bwMode="auto">
            <a:xfrm>
              <a:off x="7292936" y="2940170"/>
              <a:ext cx="488196" cy="488507"/>
            </a:xfrm>
            <a:prstGeom prst="ellipse">
              <a:avLst/>
            </a:prstGeom>
            <a:solidFill>
              <a:schemeClr val="accent1">
                <a:lumMod val="40000"/>
                <a:lumOff val="60000"/>
                <a:alpha val="20000"/>
              </a:schemeClr>
            </a:solidFill>
            <a:ln w="50800">
              <a:solidFill>
                <a:schemeClr val="tx1">
                  <a:alpha val="0"/>
                </a:schemeClr>
              </a:solidFill>
              <a:miter lim="800000"/>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4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3" name="组合 12"/>
          <p:cNvGrpSpPr/>
          <p:nvPr/>
        </p:nvGrpSpPr>
        <p:grpSpPr>
          <a:xfrm>
            <a:off x="911225" y="1638300"/>
            <a:ext cx="3000375" cy="2557463"/>
            <a:chOff x="755650" y="1929345"/>
            <a:chExt cx="3562350" cy="3037682"/>
          </a:xfrm>
        </p:grpSpPr>
        <p:sp>
          <p:nvSpPr>
            <p:cNvPr id="14" name="i$liḋe-Oval 4"/>
            <p:cNvSpPr/>
            <p:nvPr/>
          </p:nvSpPr>
          <p:spPr bwMode="auto">
            <a:xfrm>
              <a:off x="1560478" y="2263095"/>
              <a:ext cx="2222227" cy="2223107"/>
            </a:xfrm>
            <a:prstGeom prst="ellipse">
              <a:avLst/>
            </a:prstGeom>
            <a:solidFill>
              <a:schemeClr val="tx1">
                <a:lumMod val="65000"/>
                <a:lumOff val="35000"/>
              </a:schemeClr>
            </a:solidFill>
            <a:ln w="50800" cap="flat">
              <a:solidFill>
                <a:schemeClr val="tx1">
                  <a:alpha val="0"/>
                </a:schemeClr>
              </a:solidFill>
              <a:prstDash val="solid"/>
              <a:miter lim="800000"/>
              <a:headEnd type="none" w="med" len="med"/>
              <a:tailEnd type="none" w="med" len="med"/>
            </a:ln>
          </p:spPr>
          <p:txBody>
            <a:bodyPr wrap="none" lIns="0" tIns="0" rIns="0" bIns="0" anchor="ctr">
              <a:normAutofit/>
            </a:body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3600" b="1" i="0" u="none" strike="noStrike" kern="1200" cap="none" spc="0" normalizeH="0" baseline="0" noProof="0" dirty="0">
                  <a:ln>
                    <a:noFill/>
                  </a:ln>
                  <a:solidFill>
                    <a:schemeClr val="bg1"/>
                  </a:solidFill>
                  <a:effectLst/>
                  <a:uLnTx/>
                  <a:uFillTx/>
                  <a:latin typeface="+mn-lt"/>
                  <a:ea typeface="+mn-ea"/>
                  <a:cs typeface="+mn-ea"/>
                  <a:sym typeface="+mn-lt"/>
                </a:rPr>
                <a:t>（</a:t>
              </a:r>
              <a:r>
                <a:rPr kumimoji="0" lang="en-US" altLang="zh-CN" sz="3600" b="1" i="0" u="none" strike="noStrike" kern="1200" cap="none" spc="0" normalizeH="0" baseline="0" noProof="0" dirty="0">
                  <a:ln>
                    <a:noFill/>
                  </a:ln>
                  <a:solidFill>
                    <a:schemeClr val="bg1"/>
                  </a:solidFill>
                  <a:effectLst/>
                  <a:uLnTx/>
                  <a:uFillTx/>
                  <a:latin typeface="+mn-lt"/>
                  <a:ea typeface="+mn-ea"/>
                  <a:cs typeface="+mn-ea"/>
                  <a:sym typeface="+mn-lt"/>
                </a:rPr>
                <a:t>1</a:t>
              </a:r>
              <a:r>
                <a:rPr kumimoji="0" lang="zh-CN" altLang="en-US" sz="3600" b="1" i="0" u="none" strike="noStrike" kern="1200" cap="none" spc="0" normalizeH="0" baseline="0" noProof="0" dirty="0">
                  <a:ln>
                    <a:noFill/>
                  </a:ln>
                  <a:solidFill>
                    <a:schemeClr val="bg1"/>
                  </a:solidFill>
                  <a:effectLst/>
                  <a:uLnTx/>
                  <a:uFillTx/>
                  <a:latin typeface="+mn-lt"/>
                  <a:ea typeface="+mn-ea"/>
                  <a:cs typeface="+mn-ea"/>
                  <a:sym typeface="+mn-lt"/>
                </a:rPr>
                <a:t>）</a:t>
              </a:r>
              <a:endParaRPr kumimoji="0" lang="en-US" altLang="zh-CN" sz="36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5" name="i$liḋe-Oval 6"/>
            <p:cNvSpPr/>
            <p:nvPr/>
          </p:nvSpPr>
          <p:spPr bwMode="auto">
            <a:xfrm>
              <a:off x="3967420" y="3601862"/>
              <a:ext cx="350580" cy="348833"/>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 name="i$liḋe-Oval 7"/>
            <p:cNvSpPr/>
            <p:nvPr/>
          </p:nvSpPr>
          <p:spPr bwMode="auto">
            <a:xfrm>
              <a:off x="1524665" y="3835675"/>
              <a:ext cx="348696" cy="348833"/>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 name="i$liḋe-Oval 8"/>
            <p:cNvSpPr/>
            <p:nvPr/>
          </p:nvSpPr>
          <p:spPr bwMode="auto">
            <a:xfrm>
              <a:off x="2010954" y="4363639"/>
              <a:ext cx="603149" cy="603388"/>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 name="i$liḋe-Oval 9"/>
            <p:cNvSpPr/>
            <p:nvPr/>
          </p:nvSpPr>
          <p:spPr bwMode="auto">
            <a:xfrm>
              <a:off x="2485934" y="1929345"/>
              <a:ext cx="201679" cy="201758"/>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9" name="i$liḋe-Oval 10"/>
            <p:cNvSpPr/>
            <p:nvPr/>
          </p:nvSpPr>
          <p:spPr bwMode="auto">
            <a:xfrm>
              <a:off x="755650" y="3109723"/>
              <a:ext cx="433513" cy="435571"/>
            </a:xfrm>
            <a:prstGeom prst="ellipse">
              <a:avLst/>
            </a:prstGeom>
            <a:solidFill>
              <a:schemeClr val="accent1">
                <a:lumMod val="40000"/>
                <a:lumOff val="60000"/>
                <a:alpha val="39999"/>
              </a:schemeClr>
            </a:solidFill>
            <a:ln w="50800" cap="flat">
              <a:solidFill>
                <a:schemeClr val="tx1">
                  <a:alpha val="0"/>
                </a:schemeClr>
              </a:solidFill>
              <a:prstDash val="solid"/>
              <a:miter lim="800000"/>
              <a:headEnd type="none" w="med" len="med"/>
              <a:tailEnd type="none" w="med" len="med"/>
            </a:ln>
          </p:spPr>
          <p:txBody>
            <a:bodyPr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22" name="Text Box 4"/>
          <p:cNvSpPr txBox="1">
            <a:spLocks noChangeArrowheads="1"/>
          </p:cNvSpPr>
          <p:nvPr/>
        </p:nvSpPr>
        <p:spPr bwMode="auto">
          <a:xfrm>
            <a:off x="5238750" y="5030788"/>
            <a:ext cx="2617788"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自用</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栈</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模拟系统的运行时栈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4995"/>
                                        </p:tgtEl>
                                        <p:attrNameLst>
                                          <p:attrName>style.visibility</p:attrName>
                                        </p:attrNameLst>
                                      </p:cBhvr>
                                      <p:to>
                                        <p:strVal val="visible"/>
                                      </p:to>
                                    </p:set>
                                    <p:animEffect transition="in" filter="wipe(down)">
                                      <p:cBhvr>
                                        <p:cTn id="12" dur="500"/>
                                        <p:tgtEl>
                                          <p:spTgt spid="8499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down)">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p:bldP spid="22" grpId="0"/>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9091" name="Rectangle 4"/>
          <p:cNvSpPr>
            <a:spLocks noChangeArrowheads="1"/>
          </p:cNvSpPr>
          <p:nvPr/>
        </p:nvSpPr>
        <p:spPr bwMode="auto">
          <a:xfrm>
            <a:off x="793750" y="193675"/>
            <a:ext cx="5975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借助栈改写递归（了解）</a:t>
            </a:r>
          </a:p>
        </p:txBody>
      </p:sp>
      <p:sp>
        <p:nvSpPr>
          <p:cNvPr id="89092" name="Rectangle 5"/>
          <p:cNvSpPr>
            <a:spLocks noChangeArrowheads="1"/>
          </p:cNvSpPr>
          <p:nvPr/>
        </p:nvSpPr>
        <p:spPr bwMode="auto">
          <a:xfrm>
            <a:off x="801688" y="879475"/>
            <a:ext cx="8210550" cy="582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设置一个工作栈存放递归工作记录（包括实参、返回地址及局部变量等</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进入非递归调用入口（即被调用程序开始处）将调用程序传来的实在参数和返回地址入栈（递归程序不可以作为主程序，因而可认为初始是被某个调用程序调用</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进入递归调用入口：当不满足递归结束条件时，逐层递归，将实参、返回地址及局部变量入栈，这一过程可用循环语句来实现</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模拟递归分解的过程。</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递归结束条件满足，将到达递归出口的给定常数作为当前的函数值。</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返回处理：在栈不空的情况下，反复退出栈顶记录，根据记录中的返回地址进行题意规定的操作，即逐层计算当前函数值，直至栈空为止</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模拟递归求值过程。</a:t>
            </a:r>
          </a:p>
        </p:txBody>
      </p:sp>
      <p:grpSp>
        <p:nvGrpSpPr>
          <p:cNvPr id="99332" name="组合 1"/>
          <p:cNvGrpSpPr/>
          <p:nvPr/>
        </p:nvGrpSpPr>
        <p:grpSpPr>
          <a:xfrm>
            <a:off x="250825" y="981075"/>
            <a:ext cx="488950" cy="5040313"/>
            <a:chOff x="250825" y="981075"/>
            <a:chExt cx="488950" cy="5040313"/>
          </a:xfrm>
        </p:grpSpPr>
        <p:grpSp>
          <p:nvGrpSpPr>
            <p:cNvPr id="99338" name="组合 5"/>
            <p:cNvGrpSpPr/>
            <p:nvPr/>
          </p:nvGrpSpPr>
          <p:grpSpPr>
            <a:xfrm>
              <a:off x="250825" y="981075"/>
              <a:ext cx="487363" cy="584200"/>
              <a:chOff x="685009" y="1514252"/>
              <a:chExt cx="365522" cy="438150"/>
            </a:xfrm>
          </p:grpSpPr>
          <p:sp>
            <p:nvSpPr>
              <p:cNvPr id="7" name="Flowchart: Off-page Connector 108"/>
              <p:cNvSpPr/>
              <p:nvPr/>
            </p:nvSpPr>
            <p:spPr bwMode="auto">
              <a:xfrm>
                <a:off x="704059" y="1529731"/>
                <a:ext cx="317897" cy="422672"/>
              </a:xfrm>
              <a:prstGeom prst="flowChartOffpage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1"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8" name="Oval 111"/>
              <p:cNvSpPr/>
              <p:nvPr/>
            </p:nvSpPr>
            <p:spPr bwMode="auto">
              <a:xfrm>
                <a:off x="685009" y="1514252"/>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1200" cap="none" spc="0" normalizeH="0" baseline="0" noProof="0" dirty="0">
                    <a:ln>
                      <a:noFill/>
                    </a:ln>
                    <a:solidFill>
                      <a:srgbClr val="FFFFFF"/>
                    </a:solidFill>
                    <a:effectLst/>
                    <a:uLnTx/>
                    <a:uFillTx/>
                    <a:latin typeface="+mn-lt"/>
                    <a:ea typeface="+mn-ea"/>
                    <a:cs typeface="+mn-ea"/>
                    <a:sym typeface="+mn-lt"/>
                  </a:rPr>
                  <a:t>1</a:t>
                </a:r>
                <a:endPar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endParaRPr>
              </a:p>
            </p:txBody>
          </p:sp>
        </p:grpSp>
        <p:grpSp>
          <p:nvGrpSpPr>
            <p:cNvPr id="99339" name="组合 8"/>
            <p:cNvGrpSpPr/>
            <p:nvPr/>
          </p:nvGrpSpPr>
          <p:grpSpPr>
            <a:xfrm>
              <a:off x="250825" y="1881188"/>
              <a:ext cx="487363" cy="601662"/>
              <a:chOff x="685009" y="2261965"/>
              <a:chExt cx="365522" cy="451246"/>
            </a:xfrm>
          </p:grpSpPr>
          <p:sp>
            <p:nvSpPr>
              <p:cNvPr id="10" name="Flowchart: Off-page Connector 109"/>
              <p:cNvSpPr/>
              <p:nvPr/>
            </p:nvSpPr>
            <p:spPr bwMode="auto">
              <a:xfrm>
                <a:off x="704059" y="2290540"/>
                <a:ext cx="317897" cy="422671"/>
              </a:xfrm>
              <a:prstGeom prst="flowChartOffpage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1"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11" name="Oval 112"/>
              <p:cNvSpPr/>
              <p:nvPr/>
            </p:nvSpPr>
            <p:spPr bwMode="auto">
              <a:xfrm>
                <a:off x="685009" y="2261965"/>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1200" cap="none" spc="0" normalizeH="0" baseline="0" noProof="0" dirty="0">
                    <a:ln>
                      <a:noFill/>
                    </a:ln>
                    <a:solidFill>
                      <a:srgbClr val="FFFFFF"/>
                    </a:solidFill>
                    <a:effectLst/>
                    <a:uLnTx/>
                    <a:uFillTx/>
                    <a:latin typeface="+mn-lt"/>
                    <a:ea typeface="+mn-ea"/>
                    <a:cs typeface="+mn-ea"/>
                    <a:sym typeface="+mn-lt"/>
                  </a:rPr>
                  <a:t>2</a:t>
                </a:r>
                <a:endPar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endParaRPr>
              </a:p>
            </p:txBody>
          </p:sp>
        </p:grpSp>
        <p:grpSp>
          <p:nvGrpSpPr>
            <p:cNvPr id="99340" name="组合 11"/>
            <p:cNvGrpSpPr/>
            <p:nvPr/>
          </p:nvGrpSpPr>
          <p:grpSpPr>
            <a:xfrm>
              <a:off x="250825" y="3181350"/>
              <a:ext cx="488950" cy="577850"/>
              <a:chOff x="704059" y="3810967"/>
              <a:chExt cx="366713" cy="432198"/>
            </a:xfrm>
          </p:grpSpPr>
          <p:sp>
            <p:nvSpPr>
              <p:cNvPr id="13" name="Flowchart: Off-page Connector 104"/>
              <p:cNvSpPr/>
              <p:nvPr/>
            </p:nvSpPr>
            <p:spPr bwMode="auto">
              <a:xfrm>
                <a:off x="727872" y="3862024"/>
                <a:ext cx="317898" cy="381141"/>
              </a:xfrm>
              <a:prstGeom prst="flowChartOffpageConnector">
                <a:avLst/>
              </a:prstGeom>
              <a:solidFill>
                <a:srgbClr val="CCC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1"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14" name="Oval 107"/>
              <p:cNvSpPr/>
              <p:nvPr/>
            </p:nvSpPr>
            <p:spPr bwMode="auto">
              <a:xfrm>
                <a:off x="704059" y="3810967"/>
                <a:ext cx="366713" cy="419137"/>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1200" cap="none" spc="0" normalizeH="0" baseline="0" noProof="0" dirty="0">
                    <a:ln>
                      <a:noFill/>
                    </a:ln>
                    <a:solidFill>
                      <a:srgbClr val="FFFFFF"/>
                    </a:solidFill>
                    <a:effectLst/>
                    <a:uLnTx/>
                    <a:uFillTx/>
                    <a:latin typeface="+mn-lt"/>
                    <a:ea typeface="+mn-ea"/>
                    <a:cs typeface="+mn-ea"/>
                    <a:sym typeface="+mn-lt"/>
                  </a:rPr>
                  <a:t>3</a:t>
                </a:r>
                <a:endPar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endParaRPr>
              </a:p>
            </p:txBody>
          </p:sp>
        </p:grpSp>
        <p:grpSp>
          <p:nvGrpSpPr>
            <p:cNvPr id="99341" name="组合 14"/>
            <p:cNvGrpSpPr/>
            <p:nvPr/>
          </p:nvGrpSpPr>
          <p:grpSpPr>
            <a:xfrm>
              <a:off x="250825" y="4565650"/>
              <a:ext cx="487363" cy="584200"/>
              <a:chOff x="685009" y="1514252"/>
              <a:chExt cx="365522" cy="438150"/>
            </a:xfrm>
          </p:grpSpPr>
          <p:sp>
            <p:nvSpPr>
              <p:cNvPr id="16" name="Flowchart: Off-page Connector 108"/>
              <p:cNvSpPr/>
              <p:nvPr/>
            </p:nvSpPr>
            <p:spPr bwMode="auto">
              <a:xfrm>
                <a:off x="704059" y="1529730"/>
                <a:ext cx="317897" cy="422672"/>
              </a:xfrm>
              <a:prstGeom prst="flowChartOffpage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1"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17" name="Oval 111"/>
              <p:cNvSpPr/>
              <p:nvPr/>
            </p:nvSpPr>
            <p:spPr bwMode="auto">
              <a:xfrm>
                <a:off x="685009" y="1514252"/>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1200" cap="none" spc="0" normalizeH="0" baseline="0" noProof="0" dirty="0">
                    <a:ln>
                      <a:noFill/>
                    </a:ln>
                    <a:solidFill>
                      <a:srgbClr val="FFFFFF"/>
                    </a:solidFill>
                    <a:effectLst/>
                    <a:uLnTx/>
                    <a:uFillTx/>
                    <a:latin typeface="+mn-lt"/>
                    <a:ea typeface="+mn-ea"/>
                    <a:cs typeface="+mn-ea"/>
                    <a:sym typeface="+mn-lt"/>
                  </a:rPr>
                  <a:t>4</a:t>
                </a:r>
                <a:endPar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endParaRPr>
              </a:p>
            </p:txBody>
          </p:sp>
        </p:grpSp>
        <p:grpSp>
          <p:nvGrpSpPr>
            <p:cNvPr id="99342" name="组合 17"/>
            <p:cNvGrpSpPr/>
            <p:nvPr/>
          </p:nvGrpSpPr>
          <p:grpSpPr>
            <a:xfrm>
              <a:off x="250825" y="5419725"/>
              <a:ext cx="487363" cy="601663"/>
              <a:chOff x="685009" y="2261965"/>
              <a:chExt cx="365522" cy="451246"/>
            </a:xfrm>
          </p:grpSpPr>
          <p:sp>
            <p:nvSpPr>
              <p:cNvPr id="19" name="Flowchart: Off-page Connector 109"/>
              <p:cNvSpPr/>
              <p:nvPr/>
            </p:nvSpPr>
            <p:spPr bwMode="auto">
              <a:xfrm>
                <a:off x="704059" y="2290540"/>
                <a:ext cx="317897" cy="422671"/>
              </a:xfrm>
              <a:prstGeom prst="flowChartOffpage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1" i="0" u="none" strike="noStrike" kern="1200" cap="none" spc="0" normalizeH="0" baseline="0" noProof="0">
                  <a:ln>
                    <a:noFill/>
                  </a:ln>
                  <a:solidFill>
                    <a:srgbClr val="FFFFFF"/>
                  </a:solidFill>
                  <a:effectLst/>
                  <a:uLnTx/>
                  <a:uFillTx/>
                  <a:latin typeface="+mn-lt"/>
                  <a:ea typeface="+mn-ea"/>
                  <a:cs typeface="+mn-ea"/>
                  <a:sym typeface="+mn-lt"/>
                </a:endParaRPr>
              </a:p>
            </p:txBody>
          </p:sp>
          <p:sp>
            <p:nvSpPr>
              <p:cNvPr id="20" name="Oval 112"/>
              <p:cNvSpPr/>
              <p:nvPr/>
            </p:nvSpPr>
            <p:spPr bwMode="auto">
              <a:xfrm>
                <a:off x="685009" y="2261965"/>
                <a:ext cx="365522" cy="419099"/>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400" b="1" i="0" u="none" strike="noStrike" kern="1200" cap="none" spc="0" normalizeH="0" baseline="0" noProof="0" dirty="0">
                    <a:ln>
                      <a:noFill/>
                    </a:ln>
                    <a:solidFill>
                      <a:srgbClr val="FFFFFF"/>
                    </a:solidFill>
                    <a:effectLst/>
                    <a:uLnTx/>
                    <a:uFillTx/>
                    <a:latin typeface="+mn-lt"/>
                    <a:ea typeface="+mn-ea"/>
                    <a:cs typeface="+mn-ea"/>
                    <a:sym typeface="+mn-lt"/>
                  </a:rPr>
                  <a:t>5</a:t>
                </a:r>
                <a:endPar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endParaRPr>
              </a:p>
            </p:txBody>
          </p:sp>
        </p:grpSp>
      </p:grpSp>
      <p:cxnSp>
        <p:nvCxnSpPr>
          <p:cNvPr id="3" name="直接连接符 2"/>
          <p:cNvCxnSpPr/>
          <p:nvPr/>
        </p:nvCxnSpPr>
        <p:spPr bwMode="auto">
          <a:xfrm>
            <a:off x="900113" y="1773238"/>
            <a:ext cx="7848600" cy="0"/>
          </a:xfrm>
          <a:prstGeom prst="line">
            <a:avLst/>
          </a:prstGeom>
          <a:solidFill>
            <a:schemeClr val="accent1"/>
          </a:solidFill>
          <a:ln w="9525" cap="flat" cmpd="sng" algn="ctr">
            <a:solidFill>
              <a:schemeClr val="bg2">
                <a:lumMod val="60000"/>
                <a:lumOff val="40000"/>
              </a:schemeClr>
            </a:solidFill>
            <a:prstDash val="solid"/>
            <a:round/>
            <a:headEnd type="none" w="med" len="med"/>
            <a:tailEnd type="none" w="med" len="med"/>
          </a:ln>
        </p:spPr>
      </p:cxnSp>
      <p:cxnSp>
        <p:nvCxnSpPr>
          <p:cNvPr id="27" name="直接连接符 26"/>
          <p:cNvCxnSpPr/>
          <p:nvPr/>
        </p:nvCxnSpPr>
        <p:spPr bwMode="auto">
          <a:xfrm>
            <a:off x="900113" y="3141663"/>
            <a:ext cx="7848600" cy="0"/>
          </a:xfrm>
          <a:prstGeom prst="line">
            <a:avLst/>
          </a:prstGeom>
          <a:solidFill>
            <a:schemeClr val="accent1"/>
          </a:solidFill>
          <a:ln w="9525" cap="flat" cmpd="sng" algn="ctr">
            <a:solidFill>
              <a:schemeClr val="bg2">
                <a:lumMod val="60000"/>
                <a:lumOff val="40000"/>
              </a:schemeClr>
            </a:solidFill>
            <a:prstDash val="solid"/>
            <a:round/>
            <a:headEnd type="none" w="med" len="med"/>
            <a:tailEnd type="none" w="med" len="med"/>
          </a:ln>
        </p:spPr>
      </p:cxnSp>
      <p:cxnSp>
        <p:nvCxnSpPr>
          <p:cNvPr id="28" name="直接连接符 27"/>
          <p:cNvCxnSpPr/>
          <p:nvPr/>
        </p:nvCxnSpPr>
        <p:spPr bwMode="auto">
          <a:xfrm>
            <a:off x="900113" y="4437063"/>
            <a:ext cx="7848600" cy="0"/>
          </a:xfrm>
          <a:prstGeom prst="line">
            <a:avLst/>
          </a:prstGeom>
          <a:solidFill>
            <a:schemeClr val="accent1"/>
          </a:solidFill>
          <a:ln w="9525" cap="flat" cmpd="sng" algn="ctr">
            <a:solidFill>
              <a:schemeClr val="bg2">
                <a:lumMod val="60000"/>
                <a:lumOff val="40000"/>
              </a:schemeClr>
            </a:solidFill>
            <a:prstDash val="solid"/>
            <a:round/>
            <a:headEnd type="none" w="med" len="med"/>
            <a:tailEnd type="none" w="med" len="med"/>
          </a:ln>
        </p:spPr>
      </p:cxnSp>
      <p:cxnSp>
        <p:nvCxnSpPr>
          <p:cNvPr id="29" name="直接连接符 28"/>
          <p:cNvCxnSpPr/>
          <p:nvPr/>
        </p:nvCxnSpPr>
        <p:spPr bwMode="auto">
          <a:xfrm>
            <a:off x="900113" y="5373688"/>
            <a:ext cx="7848600" cy="0"/>
          </a:xfrm>
          <a:prstGeom prst="line">
            <a:avLst/>
          </a:prstGeom>
          <a:solidFill>
            <a:schemeClr val="accent1"/>
          </a:solidFill>
          <a:ln w="9525" cap="flat" cmpd="sng" algn="ctr">
            <a:solidFill>
              <a:schemeClr val="bg2">
                <a:lumMod val="60000"/>
                <a:lumOff val="40000"/>
              </a:schemeClr>
            </a:solidFill>
            <a:prstDash val="solid"/>
            <a:round/>
            <a:headEnd type="none" w="med" len="med"/>
            <a:tailEnd type="none" w="med" len="med"/>
          </a:ln>
        </p:spPr>
      </p:cxnSp>
      <p:cxnSp>
        <p:nvCxnSpPr>
          <p:cNvPr id="30" name="直接连接符 29"/>
          <p:cNvCxnSpPr/>
          <p:nvPr/>
        </p:nvCxnSpPr>
        <p:spPr bwMode="auto">
          <a:xfrm>
            <a:off x="801688" y="6705600"/>
            <a:ext cx="7848600" cy="0"/>
          </a:xfrm>
          <a:prstGeom prst="line">
            <a:avLst/>
          </a:prstGeom>
          <a:solidFill>
            <a:schemeClr val="accent1"/>
          </a:solidFill>
          <a:ln w="9525" cap="flat" cmpd="sng" algn="ctr">
            <a:solidFill>
              <a:schemeClr val="bg2">
                <a:lumMod val="60000"/>
                <a:lumOff val="40000"/>
              </a:schemeClr>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矩形 1"/>
          <p:cNvSpPr/>
          <p:nvPr/>
        </p:nvSpPr>
        <p:spPr>
          <a:xfrm>
            <a:off x="0" y="4652963"/>
            <a:ext cx="9144000" cy="2205037"/>
          </a:xfrm>
          <a:prstGeom prst="rect">
            <a:avLst/>
          </a:prstGeom>
          <a:solidFill>
            <a:srgbClr val="CCCCFF"/>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90115" name="Text Box 4"/>
          <p:cNvSpPr txBox="1">
            <a:spLocks noChangeArrowheads="1"/>
          </p:cNvSpPr>
          <p:nvPr/>
        </p:nvSpPr>
        <p:spPr bwMode="auto">
          <a:xfrm>
            <a:off x="323528" y="764704"/>
            <a:ext cx="8534400" cy="550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lvl="0" eaLnBrk="1" hangingPunct="1">
              <a:defRPr/>
            </a:pPr>
            <a:r>
              <a:rPr lang="fr-FR" altLang="zh-CN" sz="3200" b="0" dirty="0" smtClean="0">
                <a:solidFill>
                  <a:srgbClr val="FF0000"/>
                </a:solidFill>
                <a:latin typeface="Arial Unicode MS" pitchFamily="34" charset="-122"/>
                <a:ea typeface="Arial Unicode MS" pitchFamily="34" charset="-122"/>
                <a:cs typeface="Arial Unicode MS" pitchFamily="34" charset="-122"/>
                <a:sym typeface="+mn-lt"/>
              </a:rPr>
              <a:t>void </a:t>
            </a:r>
            <a:r>
              <a:rPr lang="fr-FR" altLang="zh-CN" sz="3200" b="0" dirty="0">
                <a:solidFill>
                  <a:srgbClr val="FF0000"/>
                </a:solidFill>
                <a:latin typeface="Arial Unicode MS" pitchFamily="34" charset="-122"/>
                <a:ea typeface="Arial Unicode MS" pitchFamily="34" charset="-122"/>
                <a:cs typeface="Arial Unicode MS" pitchFamily="34" charset="-122"/>
                <a:sym typeface="+mn-lt"/>
              </a:rPr>
              <a:t>conversion(int n)</a:t>
            </a:r>
          </a:p>
          <a:p>
            <a:pPr lvl="0" eaLnBrk="1" hangingPunct="1">
              <a:defRPr/>
            </a:pPr>
            <a:r>
              <a:rPr lang="fr-FR" altLang="zh-CN" sz="3200" b="0" dirty="0">
                <a:solidFill>
                  <a:srgbClr val="FF0000"/>
                </a:solidFill>
                <a:latin typeface="Arial Unicode MS" pitchFamily="34" charset="-122"/>
                <a:ea typeface="Arial Unicode MS" pitchFamily="34" charset="-122"/>
                <a:cs typeface="Arial Unicode MS" pitchFamily="34" charset="-122"/>
                <a:sym typeface="+mn-lt"/>
              </a:rPr>
              <a:t>{</a:t>
            </a:r>
          </a:p>
          <a:p>
            <a:pPr lvl="0" eaLnBrk="1" hangingPunct="1">
              <a:defRPr/>
            </a:pPr>
            <a:r>
              <a:rPr lang="fr-FR" altLang="zh-CN" sz="3200" b="0" dirty="0">
                <a:solidFill>
                  <a:srgbClr val="FF0000"/>
                </a:solidFill>
                <a:latin typeface="Arial Unicode MS" pitchFamily="34" charset="-122"/>
                <a:ea typeface="Arial Unicode MS" pitchFamily="34" charset="-122"/>
                <a:cs typeface="Arial Unicode MS" pitchFamily="34" charset="-122"/>
                <a:sym typeface="+mn-lt"/>
              </a:rPr>
              <a:t>	if(n&lt;2) printf("%d",n);</a:t>
            </a:r>
          </a:p>
          <a:p>
            <a:pPr lvl="0" eaLnBrk="1" hangingPunct="1">
              <a:defRPr/>
            </a:pPr>
            <a:r>
              <a:rPr lang="fr-FR" altLang="zh-CN" sz="3200" b="0" dirty="0">
                <a:solidFill>
                  <a:srgbClr val="FF0000"/>
                </a:solidFill>
                <a:latin typeface="Arial Unicode MS" pitchFamily="34" charset="-122"/>
                <a:ea typeface="Arial Unicode MS" pitchFamily="34" charset="-122"/>
                <a:cs typeface="Arial Unicode MS" pitchFamily="34" charset="-122"/>
                <a:sym typeface="+mn-lt"/>
              </a:rPr>
              <a:t>	else</a:t>
            </a:r>
          </a:p>
          <a:p>
            <a:pPr lvl="0" eaLnBrk="1" hangingPunct="1">
              <a:defRPr/>
            </a:pPr>
            <a:r>
              <a:rPr lang="fr-FR" altLang="zh-CN" sz="3200" b="0" dirty="0">
                <a:solidFill>
                  <a:srgbClr val="FF0000"/>
                </a:solidFill>
                <a:latin typeface="Arial Unicode MS" pitchFamily="34" charset="-122"/>
                <a:ea typeface="Arial Unicode MS" pitchFamily="34" charset="-122"/>
                <a:cs typeface="Arial Unicode MS" pitchFamily="34" charset="-122"/>
                <a:sym typeface="+mn-lt"/>
              </a:rPr>
              <a:t>	{  conversion(n/2);</a:t>
            </a:r>
          </a:p>
          <a:p>
            <a:pPr lvl="0" eaLnBrk="1" hangingPunct="1">
              <a:defRPr/>
            </a:pPr>
            <a:r>
              <a:rPr lang="fr-FR" altLang="zh-CN" sz="3200" b="0" dirty="0">
                <a:solidFill>
                  <a:srgbClr val="FF0000"/>
                </a:solidFill>
                <a:latin typeface="Arial Unicode MS" pitchFamily="34" charset="-122"/>
                <a:ea typeface="Arial Unicode MS" pitchFamily="34" charset="-122"/>
                <a:cs typeface="Arial Unicode MS" pitchFamily="34" charset="-122"/>
                <a:sym typeface="+mn-lt"/>
              </a:rPr>
              <a:t>       printf("%d",n%2);                          </a:t>
            </a:r>
          </a:p>
          <a:p>
            <a:pPr lvl="0" eaLnBrk="1" hangingPunct="1">
              <a:defRPr/>
            </a:pPr>
            <a:r>
              <a:rPr lang="fr-FR" altLang="zh-CN" sz="3200" b="0" dirty="0">
                <a:solidFill>
                  <a:srgbClr val="FF0000"/>
                </a:solidFill>
                <a:latin typeface="Arial Unicode MS" pitchFamily="34" charset="-122"/>
                <a:ea typeface="Arial Unicode MS" pitchFamily="34" charset="-122"/>
                <a:cs typeface="Arial Unicode MS" pitchFamily="34" charset="-122"/>
                <a:sym typeface="+mn-lt"/>
              </a:rPr>
              <a:t>    }</a:t>
            </a:r>
          </a:p>
          <a:p>
            <a:pPr lvl="0" eaLnBrk="1" hangingPunct="1">
              <a:defRPr/>
            </a:pPr>
            <a:r>
              <a:rPr lang="fr-FR" altLang="zh-CN" sz="3200" b="0" dirty="0">
                <a:solidFill>
                  <a:srgbClr val="FF0000"/>
                </a:solidFill>
                <a:latin typeface="Arial Unicode MS" pitchFamily="34" charset="-122"/>
                <a:ea typeface="Arial Unicode MS" pitchFamily="34" charset="-122"/>
                <a:cs typeface="Arial Unicode MS" pitchFamily="34" charset="-122"/>
                <a:sym typeface="+mn-lt"/>
              </a:rPr>
              <a:t>}</a:t>
            </a:r>
          </a:p>
          <a:p>
            <a:pPr lvl="0" eaLnBrk="1" hangingPunct="1">
              <a:defRPr/>
            </a:pPr>
            <a:r>
              <a:rPr lang="fr-FR" altLang="zh-CN" sz="3200" b="0" dirty="0">
                <a:solidFill>
                  <a:schemeClr val="tx2"/>
                </a:solidFill>
                <a:latin typeface="Arial Unicode MS" pitchFamily="34" charset="-122"/>
                <a:ea typeface="Arial Unicode MS" pitchFamily="34" charset="-122"/>
                <a:cs typeface="Arial Unicode MS" pitchFamily="34" charset="-122"/>
                <a:sym typeface="+mn-lt"/>
              </a:rPr>
              <a:t>int  main()</a:t>
            </a:r>
          </a:p>
          <a:p>
            <a:pPr lvl="0" eaLnBrk="1" hangingPunct="1">
              <a:defRPr/>
            </a:pPr>
            <a:r>
              <a:rPr lang="fr-FR" altLang="zh-CN" sz="3200" b="0" dirty="0">
                <a:solidFill>
                  <a:schemeClr val="tx2"/>
                </a:solidFill>
                <a:latin typeface="Arial Unicode MS" pitchFamily="34" charset="-122"/>
                <a:ea typeface="Arial Unicode MS" pitchFamily="34" charset="-122"/>
                <a:cs typeface="Arial Unicode MS" pitchFamily="34" charset="-122"/>
                <a:sym typeface="+mn-lt"/>
              </a:rPr>
              <a:t>{	int n;	scanf("%d",&amp;n);</a:t>
            </a:r>
          </a:p>
          <a:p>
            <a:pPr lvl="0" eaLnBrk="1" hangingPunct="1">
              <a:defRPr/>
            </a:pPr>
            <a:r>
              <a:rPr lang="fr-FR" altLang="zh-CN" sz="3200" b="0" dirty="0">
                <a:solidFill>
                  <a:schemeClr val="tx2"/>
                </a:solidFill>
                <a:latin typeface="Arial Unicode MS" pitchFamily="34" charset="-122"/>
                <a:ea typeface="Arial Unicode MS" pitchFamily="34" charset="-122"/>
                <a:cs typeface="Arial Unicode MS" pitchFamily="34" charset="-122"/>
                <a:sym typeface="+mn-lt"/>
              </a:rPr>
              <a:t>	conversion(n);	</a:t>
            </a:r>
            <a:r>
              <a:rPr lang="fr-FR" altLang="zh-CN" sz="3200" b="0" dirty="0" smtClean="0">
                <a:solidFill>
                  <a:schemeClr val="tx2"/>
                </a:solidFill>
                <a:latin typeface="Arial Unicode MS" pitchFamily="34" charset="-122"/>
                <a:ea typeface="Arial Unicode MS" pitchFamily="34" charset="-122"/>
                <a:cs typeface="Arial Unicode MS" pitchFamily="34" charset="-122"/>
                <a:sym typeface="+mn-lt"/>
              </a:rPr>
              <a:t>}</a:t>
            </a:r>
            <a:endParaRPr kumimoji="0" lang="en-US" altLang="zh-CN" sz="3200" b="0" i="0" u="none" strike="noStrike" kern="1200" cap="none" spc="0" normalizeH="0" baseline="0" noProof="0" dirty="0">
              <a:ln>
                <a:noFill/>
              </a:ln>
              <a:solidFill>
                <a:schemeClr val="tx1"/>
              </a:solidFill>
              <a:effectLst/>
              <a:uLnTx/>
              <a:uFillTx/>
              <a:latin typeface="Arial Unicode MS" pitchFamily="34" charset="-122"/>
              <a:ea typeface="Arial Unicode MS" pitchFamily="34" charset="-122"/>
              <a:cs typeface="Arial Unicode MS" pitchFamily="34" charset="-122"/>
              <a:sym typeface="+mn-lt"/>
            </a:endParaRPr>
          </a:p>
        </p:txBody>
      </p:sp>
      <p:sp>
        <p:nvSpPr>
          <p:cNvPr id="90116" name="Rectangle 5"/>
          <p:cNvSpPr>
            <a:spLocks noChangeArrowheads="1"/>
          </p:cNvSpPr>
          <p:nvPr/>
        </p:nvSpPr>
        <p:spPr bwMode="auto">
          <a:xfrm>
            <a:off x="900113" y="212725"/>
            <a:ext cx="741630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lvl="0">
              <a:defRPr/>
            </a:pPr>
            <a:r>
              <a:rPr kumimoji="0" lang="zh-CN" altLang="en-US" sz="2800" b="0" i="0" u="none" strike="noStrike" kern="1200" cap="none" spc="0" normalizeH="0" baseline="0" noProof="0" dirty="0" smtClean="0">
                <a:ln>
                  <a:noFill/>
                </a:ln>
                <a:solidFill>
                  <a:schemeClr val="bg1"/>
                </a:solidFill>
                <a:effectLst/>
                <a:uLnTx/>
                <a:uFillTx/>
                <a:latin typeface="+mn-lt"/>
                <a:ea typeface="+mn-ea"/>
                <a:cs typeface="+mn-ea"/>
                <a:sym typeface="+mn-lt"/>
              </a:rPr>
              <a:t>巩固</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练习</a:t>
            </a:r>
            <a:r>
              <a:rPr kumimoji="0" lang="en-US" altLang="zh-CN" sz="2800" b="0" i="0" u="none" strike="noStrike" kern="1200" cap="none" spc="0" normalizeH="0" baseline="0" noProof="0" dirty="0" smtClean="0">
                <a:ln>
                  <a:noFill/>
                </a:ln>
                <a:solidFill>
                  <a:schemeClr val="bg1"/>
                </a:solidFill>
                <a:effectLst/>
                <a:uLnTx/>
                <a:uFillTx/>
                <a:latin typeface="+mn-lt"/>
                <a:ea typeface="+mn-ea"/>
                <a:cs typeface="+mn-ea"/>
                <a:sym typeface="+mn-lt"/>
              </a:rPr>
              <a:t>1(</a:t>
            </a:r>
            <a:r>
              <a:rPr lang="zh-CN" altLang="en-US" sz="2800" b="0" dirty="0" smtClean="0">
                <a:solidFill>
                  <a:schemeClr val="bg1"/>
                </a:solidFill>
                <a:latin typeface="+mn-lt"/>
                <a:ea typeface="+mn-ea"/>
                <a:cs typeface="+mn-ea"/>
                <a:sym typeface="+mn-lt"/>
              </a:rPr>
              <a:t>输出</a:t>
            </a:r>
            <a:r>
              <a:rPr lang="zh-CN" altLang="en-US" sz="2800" b="0" dirty="0">
                <a:solidFill>
                  <a:schemeClr val="bg1"/>
                </a:solidFill>
                <a:latin typeface="+mn-lt"/>
                <a:ea typeface="+mn-ea"/>
                <a:cs typeface="+mn-ea"/>
                <a:sym typeface="+mn-lt"/>
              </a:rPr>
              <a:t>整数</a:t>
            </a:r>
            <a:r>
              <a:rPr lang="zh-CN" altLang="en-US" sz="2800" b="0" dirty="0" smtClean="0">
                <a:solidFill>
                  <a:schemeClr val="bg1"/>
                </a:solidFill>
                <a:latin typeface="+mn-lt"/>
                <a:ea typeface="+mn-ea"/>
                <a:cs typeface="+mn-ea"/>
                <a:sym typeface="+mn-lt"/>
              </a:rPr>
              <a:t>对应</a:t>
            </a:r>
            <a:r>
              <a:rPr lang="zh-CN" altLang="en-US" sz="2800" b="0" dirty="0">
                <a:solidFill>
                  <a:schemeClr val="bg1"/>
                </a:solidFill>
                <a:latin typeface="+mn-lt"/>
                <a:ea typeface="+mn-ea"/>
                <a:cs typeface="+mn-ea"/>
                <a:sym typeface="+mn-lt"/>
              </a:rPr>
              <a:t>的</a:t>
            </a:r>
            <a:r>
              <a:rPr lang="en-US" altLang="zh-CN" sz="2800" b="0" dirty="0">
                <a:solidFill>
                  <a:schemeClr val="bg1"/>
                </a:solidFill>
                <a:latin typeface="+mn-lt"/>
                <a:ea typeface="+mn-ea"/>
                <a:cs typeface="+mn-ea"/>
                <a:sym typeface="+mn-lt"/>
              </a:rPr>
              <a:t>2</a:t>
            </a:r>
            <a:r>
              <a:rPr lang="zh-CN" altLang="en-US" sz="2800" b="0" dirty="0">
                <a:solidFill>
                  <a:schemeClr val="bg1"/>
                </a:solidFill>
                <a:latin typeface="+mn-lt"/>
                <a:ea typeface="+mn-ea"/>
                <a:cs typeface="+mn-ea"/>
                <a:sym typeface="+mn-lt"/>
              </a:rPr>
              <a:t>进</a:t>
            </a:r>
            <a:r>
              <a:rPr lang="zh-CN" altLang="en-US" sz="2800" b="0" dirty="0" smtClean="0">
                <a:solidFill>
                  <a:schemeClr val="bg1"/>
                </a:solidFill>
                <a:latin typeface="+mn-lt"/>
                <a:ea typeface="+mn-ea"/>
                <a:cs typeface="+mn-ea"/>
                <a:sym typeface="+mn-lt"/>
              </a:rPr>
              <a:t>制形式</a:t>
            </a:r>
            <a:r>
              <a:rPr lang="en-US" altLang="zh-CN" sz="2800" b="0" dirty="0" smtClean="0">
                <a:solidFill>
                  <a:schemeClr val="bg1"/>
                </a:solidFill>
                <a:latin typeface="+mn-lt"/>
                <a:ea typeface="+mn-ea"/>
                <a:cs typeface="+mn-ea"/>
                <a:sym typeface="+mn-lt"/>
              </a:rPr>
              <a:t>)</a:t>
            </a:r>
            <a:endParaRPr lang="zh-CN" altLang="en-US" sz="2800" b="0" dirty="0">
              <a:solidFill>
                <a:schemeClr val="bg1"/>
              </a:solidFill>
              <a:latin typeface="+mn-lt"/>
              <a:ea typeface="+mn-ea"/>
              <a:cs typeface="+mn-ea"/>
              <a:sym typeface="+mn-lt"/>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4"/>
          <p:cNvSpPr>
            <a:spLocks noChangeArrowheads="1"/>
          </p:cNvSpPr>
          <p:nvPr/>
        </p:nvSpPr>
        <p:spPr bwMode="auto">
          <a:xfrm>
            <a:off x="468313" y="1454150"/>
            <a:ext cx="4829175" cy="4229100"/>
          </a:xfrm>
          <a:prstGeom prst="rect">
            <a:avLst/>
          </a:prstGeom>
          <a:solidFill>
            <a:srgbClr val="CCCCFF"/>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4000" b="0" i="0" u="none" strike="noStrike" kern="1200" cap="none" spc="0" normalizeH="0" baseline="0" noProof="0" dirty="0">
                <a:ln>
                  <a:noFill/>
                </a:ln>
                <a:solidFill>
                  <a:srgbClr val="FF0000"/>
                </a:solidFill>
                <a:effectLst/>
                <a:uLnTx/>
                <a:uFillTx/>
                <a:latin typeface="+mn-lt"/>
                <a:ea typeface="+mn-ea"/>
                <a:cs typeface="+mn-ea"/>
                <a:sym typeface="+mn-lt"/>
              </a:rPr>
              <a:t>组合问题</a:t>
            </a:r>
          </a:p>
          <a:p>
            <a:pPr marL="0" marR="0" lvl="0" indent="0" algn="just"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找出从自然数</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m</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中任取</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k</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个数的所有组合。</a:t>
            </a:r>
          </a:p>
          <a:p>
            <a:pPr marL="0" marR="0" lvl="0" indent="0" algn="just"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例如</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m=5</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k=3</a:t>
            </a:r>
          </a:p>
          <a:p>
            <a:pPr marL="0" marR="0" lvl="0" indent="0" algn="just" defTabSz="914400" rtl="0" eaLnBrk="1" fontAlgn="base" latinLnBrk="0" hangingPunct="1">
              <a:lnSpc>
                <a:spcPct val="125000"/>
              </a:lnSpc>
              <a:spcBef>
                <a:spcPct val="0"/>
              </a:spcBef>
              <a:spcAft>
                <a:spcPct val="0"/>
              </a:spcAft>
              <a:buClrTx/>
              <a:buSzTx/>
              <a:buFont typeface="Arial" panose="020B0604020202020204" pitchFamily="34" charset="0"/>
              <a:buNone/>
              <a:defRPr/>
            </a:pPr>
            <a:endParaRPr kumimoji="0" lang="en-US" altLang="zh-CN" sz="36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just" defTabSz="914400" rtl="0" eaLnBrk="1" fontAlgn="base" latinLnBrk="0" hangingPunct="1">
              <a:lnSpc>
                <a:spcPct val="125000"/>
              </a:lnSpc>
              <a:spcBef>
                <a:spcPct val="0"/>
              </a:spcBef>
              <a:spcAft>
                <a:spcPct val="0"/>
              </a:spcAft>
              <a:buClrTx/>
              <a:buSzTx/>
              <a:buFont typeface="Arial" panose="020B0604020202020204" pitchFamily="34" charset="0"/>
              <a:buNone/>
              <a:defRPr/>
            </a:pPr>
            <a:endParaRPr kumimoji="0" lang="en-US" altLang="zh-CN" sz="36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just" defTabSz="914400" rtl="0" eaLnBrk="1" fontAlgn="base" latinLnBrk="0" hangingPunct="1">
              <a:lnSpc>
                <a:spcPct val="125000"/>
              </a:lnSpc>
              <a:spcBef>
                <a:spcPct val="0"/>
              </a:spcBef>
              <a:spcAft>
                <a:spcPct val="0"/>
              </a:spcAft>
              <a:buClrTx/>
              <a:buSzTx/>
              <a:buFont typeface="Arial" panose="020B0604020202020204" pitchFamily="34" charset="0"/>
              <a:buNone/>
              <a:defRPr/>
            </a:pPr>
            <a:endPar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just" defTabSz="914400" rtl="0" eaLnBrk="1" fontAlgn="base" latinLnBrk="0" hangingPunct="1">
              <a:lnSpc>
                <a:spcPct val="125000"/>
              </a:lnSpc>
              <a:spcBef>
                <a:spcPct val="0"/>
              </a:spcBef>
              <a:spcAft>
                <a:spcPct val="0"/>
              </a:spcAft>
              <a:buClrTx/>
              <a:buSzTx/>
              <a:buFont typeface="Arial" panose="020B0604020202020204" pitchFamily="34" charset="0"/>
              <a:buNone/>
              <a:defRPr/>
            </a:pPr>
            <a:endPar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endParaRPr>
          </a:p>
        </p:txBody>
      </p:sp>
      <p:pic>
        <p:nvPicPr>
          <p:cNvPr id="103427" name="Picture 5" descr="@KKC99G36K9M{5BZLJR`O86"/>
          <p:cNvPicPr>
            <a:picLocks noChangeAspect="1"/>
          </p:cNvPicPr>
          <p:nvPr/>
        </p:nvPicPr>
        <p:blipFill>
          <a:blip r:embed="rId2"/>
          <a:stretch>
            <a:fillRect/>
          </a:stretch>
        </p:blipFill>
        <p:spPr>
          <a:xfrm>
            <a:off x="5584825" y="1454150"/>
            <a:ext cx="2228850" cy="4176713"/>
          </a:xfrm>
          <a:prstGeom prst="rect">
            <a:avLst/>
          </a:prstGeom>
          <a:noFill/>
          <a:ln w="9525">
            <a:noFill/>
          </a:ln>
        </p:spPr>
      </p:pic>
      <p:sp>
        <p:nvSpPr>
          <p:cNvPr id="93189" name="Rectangle 6"/>
          <p:cNvSpPr>
            <a:spLocks noChangeArrowheads="1"/>
          </p:cNvSpPr>
          <p:nvPr/>
        </p:nvSpPr>
        <p:spPr bwMode="auto">
          <a:xfrm>
            <a:off x="825500" y="212725"/>
            <a:ext cx="40671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递归巩固练习</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a:t>
            </a:r>
          </a:p>
        </p:txBody>
      </p:sp>
      <p:sp>
        <p:nvSpPr>
          <p:cNvPr id="103429" name="矩形 1"/>
          <p:cNvSpPr/>
          <p:nvPr/>
        </p:nvSpPr>
        <p:spPr>
          <a:xfrm>
            <a:off x="468313" y="4735513"/>
            <a:ext cx="4829175" cy="714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3430" name="矩形 7"/>
          <p:cNvSpPr/>
          <p:nvPr/>
        </p:nvSpPr>
        <p:spPr>
          <a:xfrm>
            <a:off x="468313" y="4951413"/>
            <a:ext cx="4829175" cy="714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3431" name="矩形 8"/>
          <p:cNvSpPr/>
          <p:nvPr/>
        </p:nvSpPr>
        <p:spPr>
          <a:xfrm>
            <a:off x="468313" y="5172075"/>
            <a:ext cx="4829175" cy="73025"/>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3432" name="矩形 9"/>
          <p:cNvSpPr/>
          <p:nvPr/>
        </p:nvSpPr>
        <p:spPr>
          <a:xfrm>
            <a:off x="468313" y="5403850"/>
            <a:ext cx="4829175" cy="71438"/>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4"/>
          <p:cNvSpPr>
            <a:spLocks noChangeArrowheads="1"/>
          </p:cNvSpPr>
          <p:nvPr/>
        </p:nvSpPr>
        <p:spPr bwMode="auto">
          <a:xfrm>
            <a:off x="636588" y="1773238"/>
            <a:ext cx="7870825" cy="519113"/>
          </a:xfrm>
          <a:prstGeom prst="roundRect">
            <a:avLst/>
          </a:prstGeom>
          <a:solidFill>
            <a:srgbClr val="6C4C8F"/>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10000"/>
              </a:lnSpc>
              <a:spcBef>
                <a:spcPct val="5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递归思想：</a:t>
            </a:r>
          </a:p>
        </p:txBody>
      </p:sp>
      <p:sp>
        <p:nvSpPr>
          <p:cNvPr id="5" name="Rectangle 6"/>
          <p:cNvSpPr>
            <a:spLocks noChangeArrowheads="1"/>
          </p:cNvSpPr>
          <p:nvPr/>
        </p:nvSpPr>
        <p:spPr bwMode="auto">
          <a:xfrm>
            <a:off x="825500" y="212725"/>
            <a:ext cx="40671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递归巩固练习</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a:t>
            </a:r>
          </a:p>
        </p:txBody>
      </p:sp>
      <p:sp>
        <p:nvSpPr>
          <p:cNvPr id="6" name="Rectangle 4"/>
          <p:cNvSpPr>
            <a:spLocks noChangeArrowheads="1"/>
          </p:cNvSpPr>
          <p:nvPr/>
        </p:nvSpPr>
        <p:spPr bwMode="auto">
          <a:xfrm>
            <a:off x="655638" y="2395538"/>
            <a:ext cx="7851775" cy="2917686"/>
          </a:xfrm>
          <a:prstGeom prst="roundRect">
            <a:avLst>
              <a:gd name="adj" fmla="val 4047"/>
            </a:avLst>
          </a:prstGeom>
          <a:solidFill>
            <a:schemeClr val="bg2">
              <a:lumMod val="20000"/>
              <a:lumOff val="80000"/>
            </a:schemeClr>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25000"/>
              </a:lnSpc>
              <a:spcBef>
                <a:spcPct val="0"/>
              </a:spcBef>
              <a:spcAft>
                <a:spcPct val="0"/>
              </a:spcAft>
              <a:buClr>
                <a:srgbClr val="CC33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设函数 </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combo(</a:t>
            </a:r>
            <a:r>
              <a:rPr kumimoji="0" lang="en-US" altLang="zh-CN" sz="2400" b="0" i="0" u="none" strike="noStrike" kern="1200" cap="none" spc="0" normalizeH="0" baseline="0" noProof="0" dirty="0" err="1" smtClean="0">
                <a:ln>
                  <a:noFill/>
                </a:ln>
                <a:solidFill>
                  <a:schemeClr val="tx1"/>
                </a:solidFill>
                <a:effectLst/>
                <a:uLnTx/>
                <a:uFillTx/>
                <a:latin typeface="+mn-lt"/>
                <a:ea typeface="+mn-ea"/>
                <a:cs typeface="+mn-ea"/>
                <a:sym typeface="+mn-lt"/>
              </a:rPr>
              <a:t>int</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smtClean="0">
                <a:ln>
                  <a:noFill/>
                </a:ln>
                <a:solidFill>
                  <a:schemeClr val="tx1"/>
                </a:solidFill>
                <a:effectLst/>
                <a:uLnTx/>
                <a:uFillTx/>
                <a:latin typeface="+mn-lt"/>
                <a:ea typeface="+mn-ea"/>
                <a:cs typeface="+mn-ea"/>
                <a:sym typeface="+mn-lt"/>
              </a:rPr>
              <a:t>a,int</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m,int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为找出从自然数</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m</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中任取</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个数的所有</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ea"/>
                <a:sym typeface="+mn-lt"/>
              </a:rPr>
              <a:t>组合，结果存入数组</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a</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ea"/>
                <a:sym typeface="+mn-lt"/>
              </a:rPr>
              <a:t>。</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0"/>
              </a:spcBef>
              <a:spcAft>
                <a:spcPct val="0"/>
              </a:spcAft>
              <a:buClr>
                <a:srgbClr val="CC33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当组合的第一个数字选定时，其后的数字是从余下的</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m-1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个数中取</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k-1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数的组合。</a:t>
            </a:r>
          </a:p>
          <a:p>
            <a:pPr marL="0" marR="0" lvl="0" indent="0" algn="l" defTabSz="914400" rtl="0" eaLnBrk="1" fontAlgn="base" latinLnBrk="0" hangingPunct="1">
              <a:lnSpc>
                <a:spcPct val="125000"/>
              </a:lnSpc>
              <a:spcBef>
                <a:spcPct val="0"/>
              </a:spcBef>
              <a:spcAft>
                <a:spcPct val="0"/>
              </a:spcAft>
              <a:buClr>
                <a:srgbClr val="CC33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这就将求</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m</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个数中取</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个数的组合问题转化成求</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m-1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个数中取</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k-1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个数的组合问题。	</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4"/>
          <p:cNvSpPr>
            <a:spLocks noChangeArrowheads="1"/>
          </p:cNvSpPr>
          <p:nvPr/>
        </p:nvSpPr>
        <p:spPr bwMode="auto">
          <a:xfrm>
            <a:off x="455613" y="1484313"/>
            <a:ext cx="8458200" cy="4368800"/>
          </a:xfrm>
          <a:prstGeom prst="roundRect">
            <a:avLst>
              <a:gd name="adj" fmla="val 6979"/>
            </a:avLst>
          </a:prstGeom>
          <a:solidFill>
            <a:schemeClr val="bg2">
              <a:lumMod val="20000"/>
              <a:lumOff val="80000"/>
            </a:schemeClr>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25000"/>
              </a:lnSpc>
              <a:spcBef>
                <a:spcPct val="0"/>
              </a:spcBef>
              <a:spcAft>
                <a:spcPct val="0"/>
              </a:spcAft>
              <a:buClr>
                <a:srgbClr val="CC33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设数组</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存放求出的组合的数字，将确定的</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个数字组合的第一个数字放在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a[k]</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a:t>
            </a:r>
          </a:p>
          <a:p>
            <a:pPr marL="0" marR="0" lvl="0" indent="0" algn="l" defTabSz="914400" rtl="0" eaLnBrk="1" fontAlgn="base" latinLnBrk="0" hangingPunct="1">
              <a:lnSpc>
                <a:spcPct val="125000"/>
              </a:lnSpc>
              <a:spcBef>
                <a:spcPct val="0"/>
              </a:spcBef>
              <a:spcAft>
                <a:spcPct val="0"/>
              </a:spcAft>
              <a:buClr>
                <a:srgbClr val="CC33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当一个组合求出后，才将</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中的一个组合输出</a:t>
            </a:r>
          </a:p>
          <a:p>
            <a:pPr marL="0" marR="0" lvl="0" indent="0" algn="l" defTabSz="914400" rtl="0" eaLnBrk="1" fontAlgn="base" latinLnBrk="0" hangingPunct="1">
              <a:lnSpc>
                <a:spcPct val="125000"/>
              </a:lnSpc>
              <a:spcBef>
                <a:spcPct val="0"/>
              </a:spcBef>
              <a:spcAft>
                <a:spcPct val="0"/>
              </a:spcAft>
              <a:buClr>
                <a:srgbClr val="CC33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第一个数可以是</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m</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m-1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k</a:t>
            </a:r>
          </a:p>
          <a:p>
            <a:pPr marL="0" marR="0" lvl="0" indent="0" algn="l" defTabSz="914400" rtl="0" eaLnBrk="1" fontAlgn="base" latinLnBrk="0" hangingPunct="1">
              <a:lnSpc>
                <a:spcPct val="125000"/>
              </a:lnSpc>
              <a:spcBef>
                <a:spcPct val="0"/>
              </a:spcBef>
              <a:spcAft>
                <a:spcPct val="0"/>
              </a:spcAft>
              <a:buClr>
                <a:srgbClr val="CC33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函数将确定组合的第一个数字放入数组后，有两种可能的选择</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0"/>
              </a:spcBef>
              <a:spcAft>
                <a:spcPct val="0"/>
              </a:spcAft>
              <a:buClr>
                <a:srgbClr val="CC3300"/>
              </a:buClr>
              <a:buSzTx/>
              <a:buFontTx/>
              <a:buNone/>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p"/>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还未确定组合的其余元素，继续递归</a:t>
            </a:r>
          </a:p>
          <a:p>
            <a:pPr marL="0" marR="0" lvl="0" indent="0" algn="l" defTabSz="914400" rtl="0" eaLnBrk="1" fontAlgn="base" latinLnBrk="0" hangingPunct="1">
              <a:lnSpc>
                <a:spcPct val="125000"/>
              </a:lnSpc>
              <a:spcBef>
                <a:spcPct val="0"/>
              </a:spcBef>
              <a:spcAft>
                <a:spcPct val="0"/>
              </a:spcAft>
              <a:buClr>
                <a:schemeClr val="hlink"/>
              </a:buClr>
              <a:buSzTx/>
              <a:buFont typeface="Wingdings" panose="05000000000000000000" pitchFamily="2" charset="2"/>
              <a:buChar char="p"/>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已确定组合的全部元素，输出这个组合 </a:t>
            </a:r>
          </a:p>
        </p:txBody>
      </p:sp>
      <p:sp>
        <p:nvSpPr>
          <p:cNvPr id="5" name="Rectangle 6"/>
          <p:cNvSpPr>
            <a:spLocks noChangeArrowheads="1"/>
          </p:cNvSpPr>
          <p:nvPr/>
        </p:nvSpPr>
        <p:spPr bwMode="auto">
          <a:xfrm>
            <a:off x="825500" y="212725"/>
            <a:ext cx="40671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递归巩固练习</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a:t>
            </a:r>
          </a:p>
        </p:txBody>
      </p:sp>
      <p:sp>
        <p:nvSpPr>
          <p:cNvPr id="105476" name="矩形 1"/>
          <p:cNvSpPr/>
          <p:nvPr/>
        </p:nvSpPr>
        <p:spPr>
          <a:xfrm>
            <a:off x="579438" y="4581525"/>
            <a:ext cx="8208962" cy="46038"/>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Line 4"/>
          <p:cNvSpPr>
            <a:spLocks noChangeShapeType="1"/>
          </p:cNvSpPr>
          <p:nvPr/>
        </p:nvSpPr>
        <p:spPr bwMode="auto">
          <a:xfrm>
            <a:off x="3170238" y="2655888"/>
            <a:ext cx="1638300" cy="6096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7284" name="Line 5"/>
          <p:cNvSpPr>
            <a:spLocks noChangeShapeType="1"/>
          </p:cNvSpPr>
          <p:nvPr/>
        </p:nvSpPr>
        <p:spPr bwMode="auto">
          <a:xfrm flipH="1">
            <a:off x="4522788" y="1844675"/>
            <a:ext cx="155575" cy="3492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7285" name="Line 6"/>
          <p:cNvSpPr>
            <a:spLocks noChangeShapeType="1"/>
          </p:cNvSpPr>
          <p:nvPr/>
        </p:nvSpPr>
        <p:spPr bwMode="auto">
          <a:xfrm flipH="1">
            <a:off x="1309688" y="2705100"/>
            <a:ext cx="746125" cy="7620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7286" name="Line 7"/>
          <p:cNvSpPr>
            <a:spLocks noChangeShapeType="1"/>
          </p:cNvSpPr>
          <p:nvPr/>
        </p:nvSpPr>
        <p:spPr bwMode="auto">
          <a:xfrm flipH="1">
            <a:off x="2505075" y="1595438"/>
            <a:ext cx="1593850" cy="5984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7287" name="Line 8"/>
          <p:cNvSpPr>
            <a:spLocks noChangeShapeType="1"/>
          </p:cNvSpPr>
          <p:nvPr/>
        </p:nvSpPr>
        <p:spPr bwMode="auto">
          <a:xfrm>
            <a:off x="5418138" y="1638300"/>
            <a:ext cx="1765300" cy="6096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7288" name="Oval 9"/>
          <p:cNvSpPr>
            <a:spLocks noChangeArrowheads="1"/>
          </p:cNvSpPr>
          <p:nvPr/>
        </p:nvSpPr>
        <p:spPr bwMode="auto">
          <a:xfrm>
            <a:off x="3929063" y="1181100"/>
            <a:ext cx="1504950" cy="663575"/>
          </a:xfrm>
          <a:prstGeom prst="ellipse">
            <a:avLst/>
          </a:prstGeom>
          <a:solidFill>
            <a:srgbClr val="7030A0"/>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c(5,3)</a:t>
            </a:r>
          </a:p>
        </p:txBody>
      </p:sp>
      <p:sp>
        <p:nvSpPr>
          <p:cNvPr id="97289" name="Oval 10"/>
          <p:cNvSpPr>
            <a:spLocks noChangeArrowheads="1"/>
          </p:cNvSpPr>
          <p:nvPr/>
        </p:nvSpPr>
        <p:spPr bwMode="auto">
          <a:xfrm>
            <a:off x="1868488" y="2171700"/>
            <a:ext cx="1447800" cy="663575"/>
          </a:xfrm>
          <a:prstGeom prst="ellipse">
            <a:avLst/>
          </a:prstGeom>
          <a:solidFill>
            <a:srgbClr val="7030A0"/>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c(4,2)</a:t>
            </a:r>
          </a:p>
        </p:txBody>
      </p:sp>
      <p:sp>
        <p:nvSpPr>
          <p:cNvPr id="97290" name="Oval 11"/>
          <p:cNvSpPr>
            <a:spLocks noChangeArrowheads="1"/>
          </p:cNvSpPr>
          <p:nvPr/>
        </p:nvSpPr>
        <p:spPr bwMode="auto">
          <a:xfrm>
            <a:off x="6884988" y="2171700"/>
            <a:ext cx="1612900" cy="663575"/>
          </a:xfrm>
          <a:prstGeom prst="ellipse">
            <a:avLst/>
          </a:prstGeom>
          <a:solidFill>
            <a:srgbClr val="7030A0"/>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c(2,2)</a:t>
            </a:r>
          </a:p>
        </p:txBody>
      </p:sp>
      <p:sp>
        <p:nvSpPr>
          <p:cNvPr id="97291" name="Oval 12"/>
          <p:cNvSpPr>
            <a:spLocks noChangeArrowheads="1"/>
          </p:cNvSpPr>
          <p:nvPr/>
        </p:nvSpPr>
        <p:spPr bwMode="auto">
          <a:xfrm>
            <a:off x="725488" y="3238500"/>
            <a:ext cx="1447800" cy="663575"/>
          </a:xfrm>
          <a:prstGeom prst="ellipse">
            <a:avLst/>
          </a:prstGeom>
          <a:solidFill>
            <a:srgbClr val="7030A0"/>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c(3,1)</a:t>
            </a:r>
          </a:p>
        </p:txBody>
      </p:sp>
      <p:sp>
        <p:nvSpPr>
          <p:cNvPr id="97292" name="Oval 13"/>
          <p:cNvSpPr>
            <a:spLocks noChangeArrowheads="1"/>
          </p:cNvSpPr>
          <p:nvPr/>
        </p:nvSpPr>
        <p:spPr bwMode="auto">
          <a:xfrm>
            <a:off x="3773488" y="2171700"/>
            <a:ext cx="1390650" cy="663575"/>
          </a:xfrm>
          <a:prstGeom prst="ellipse">
            <a:avLst/>
          </a:prstGeom>
          <a:solidFill>
            <a:srgbClr val="7030A0"/>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c(3,2)</a:t>
            </a:r>
          </a:p>
        </p:txBody>
      </p:sp>
      <p:sp>
        <p:nvSpPr>
          <p:cNvPr id="97293" name="Oval 14"/>
          <p:cNvSpPr>
            <a:spLocks noChangeArrowheads="1"/>
          </p:cNvSpPr>
          <p:nvPr/>
        </p:nvSpPr>
        <p:spPr bwMode="auto">
          <a:xfrm>
            <a:off x="4579938" y="3162300"/>
            <a:ext cx="1479550" cy="663575"/>
          </a:xfrm>
          <a:prstGeom prst="ellipse">
            <a:avLst/>
          </a:prstGeom>
          <a:solidFill>
            <a:srgbClr val="7030A0"/>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c(1,1)</a:t>
            </a:r>
          </a:p>
        </p:txBody>
      </p:sp>
      <p:sp>
        <p:nvSpPr>
          <p:cNvPr id="97294" name="Rectangle 15"/>
          <p:cNvSpPr>
            <a:spLocks noChangeArrowheads="1"/>
          </p:cNvSpPr>
          <p:nvPr/>
        </p:nvSpPr>
        <p:spPr bwMode="auto">
          <a:xfrm>
            <a:off x="2794000" y="15144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5</a:t>
            </a:r>
          </a:p>
        </p:txBody>
      </p:sp>
      <p:sp>
        <p:nvSpPr>
          <p:cNvPr id="97295" name="Rectangle 16"/>
          <p:cNvSpPr>
            <a:spLocks noChangeArrowheads="1"/>
          </p:cNvSpPr>
          <p:nvPr/>
        </p:nvSpPr>
        <p:spPr bwMode="auto">
          <a:xfrm>
            <a:off x="4643438" y="18240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4</a:t>
            </a:r>
          </a:p>
        </p:txBody>
      </p:sp>
      <p:sp>
        <p:nvSpPr>
          <p:cNvPr id="97296" name="Rectangle 17"/>
          <p:cNvSpPr>
            <a:spLocks noChangeArrowheads="1"/>
          </p:cNvSpPr>
          <p:nvPr/>
        </p:nvSpPr>
        <p:spPr bwMode="auto">
          <a:xfrm>
            <a:off x="6351588" y="155257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3</a:t>
            </a:r>
          </a:p>
        </p:txBody>
      </p:sp>
      <p:sp>
        <p:nvSpPr>
          <p:cNvPr id="97297" name="Rectangle 18"/>
          <p:cNvSpPr>
            <a:spLocks noChangeArrowheads="1"/>
          </p:cNvSpPr>
          <p:nvPr/>
        </p:nvSpPr>
        <p:spPr bwMode="auto">
          <a:xfrm>
            <a:off x="1833563" y="2781300"/>
            <a:ext cx="33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4</a:t>
            </a:r>
          </a:p>
        </p:txBody>
      </p:sp>
      <p:sp>
        <p:nvSpPr>
          <p:cNvPr id="97298" name="Rectangle 19"/>
          <p:cNvSpPr>
            <a:spLocks noChangeArrowheads="1"/>
          </p:cNvSpPr>
          <p:nvPr/>
        </p:nvSpPr>
        <p:spPr bwMode="auto">
          <a:xfrm>
            <a:off x="3011488" y="278130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3</a:t>
            </a:r>
          </a:p>
        </p:txBody>
      </p:sp>
      <p:sp>
        <p:nvSpPr>
          <p:cNvPr id="97299" name="Rectangle 20"/>
          <p:cNvSpPr>
            <a:spLocks noChangeArrowheads="1"/>
          </p:cNvSpPr>
          <p:nvPr/>
        </p:nvSpPr>
        <p:spPr bwMode="auto">
          <a:xfrm>
            <a:off x="1592263" y="1506538"/>
            <a:ext cx="1017588" cy="457200"/>
          </a:xfrm>
          <a:prstGeom prst="rect">
            <a:avLst/>
          </a:prstGeom>
          <a:solidFill>
            <a:srgbClr val="CCCCFF"/>
          </a:solidFill>
          <a:ln>
            <a:noFill/>
          </a:ln>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a[3]=5</a:t>
            </a:r>
          </a:p>
        </p:txBody>
      </p:sp>
      <p:sp>
        <p:nvSpPr>
          <p:cNvPr id="97300" name="Rectangle 21"/>
          <p:cNvSpPr>
            <a:spLocks noChangeArrowheads="1"/>
          </p:cNvSpPr>
          <p:nvPr/>
        </p:nvSpPr>
        <p:spPr bwMode="auto">
          <a:xfrm>
            <a:off x="598488" y="2565400"/>
            <a:ext cx="1017588" cy="457200"/>
          </a:xfrm>
          <a:prstGeom prst="rect">
            <a:avLst/>
          </a:prstGeom>
          <a:solidFill>
            <a:srgbClr val="CCCCFF"/>
          </a:solidFill>
          <a:ln>
            <a:noFill/>
          </a:ln>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a[2]=4</a:t>
            </a:r>
          </a:p>
        </p:txBody>
      </p:sp>
      <p:sp>
        <p:nvSpPr>
          <p:cNvPr id="97301" name="Rectangle 22"/>
          <p:cNvSpPr>
            <a:spLocks noChangeArrowheads="1"/>
          </p:cNvSpPr>
          <p:nvPr/>
        </p:nvSpPr>
        <p:spPr bwMode="auto">
          <a:xfrm>
            <a:off x="725488" y="5295900"/>
            <a:ext cx="1143000" cy="457200"/>
          </a:xfrm>
          <a:prstGeom prst="rect">
            <a:avLst/>
          </a:prstGeom>
          <a:solidFill>
            <a:srgbClr val="CCCCFF"/>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a[1]=3</a:t>
            </a:r>
          </a:p>
        </p:txBody>
      </p:sp>
      <p:sp>
        <p:nvSpPr>
          <p:cNvPr id="97302" name="Rectangle 23"/>
          <p:cNvSpPr>
            <a:spLocks noChangeArrowheads="1"/>
          </p:cNvSpPr>
          <p:nvPr/>
        </p:nvSpPr>
        <p:spPr bwMode="auto">
          <a:xfrm>
            <a:off x="2554288" y="4076700"/>
            <a:ext cx="1019175" cy="457200"/>
          </a:xfrm>
          <a:prstGeom prst="rect">
            <a:avLst/>
          </a:prstGeom>
          <a:solidFill>
            <a:srgbClr val="CCCCFF"/>
          </a:solidFill>
          <a:ln>
            <a:noFill/>
          </a:ln>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a[1]=1</a:t>
            </a:r>
          </a:p>
        </p:txBody>
      </p:sp>
      <p:pic>
        <p:nvPicPr>
          <p:cNvPr id="107542" name="Picture 24" descr="9SVK)X~[S25{XB8PY%O2NVI"/>
          <p:cNvPicPr>
            <a:picLocks noChangeAspect="1"/>
          </p:cNvPicPr>
          <p:nvPr/>
        </p:nvPicPr>
        <p:blipFill>
          <a:blip r:embed="rId2"/>
          <a:stretch>
            <a:fillRect/>
          </a:stretch>
        </p:blipFill>
        <p:spPr>
          <a:xfrm>
            <a:off x="725488" y="5753100"/>
            <a:ext cx="1676400" cy="457200"/>
          </a:xfrm>
          <a:prstGeom prst="rect">
            <a:avLst/>
          </a:prstGeom>
          <a:noFill/>
          <a:ln w="9525">
            <a:noFill/>
          </a:ln>
        </p:spPr>
      </p:pic>
      <p:sp>
        <p:nvSpPr>
          <p:cNvPr id="97304" name="Line 25"/>
          <p:cNvSpPr>
            <a:spLocks noChangeShapeType="1"/>
          </p:cNvSpPr>
          <p:nvPr/>
        </p:nvSpPr>
        <p:spPr bwMode="auto">
          <a:xfrm>
            <a:off x="2638425" y="2835275"/>
            <a:ext cx="373063" cy="4079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7305" name="Oval 26"/>
          <p:cNvSpPr>
            <a:spLocks noChangeArrowheads="1"/>
          </p:cNvSpPr>
          <p:nvPr/>
        </p:nvSpPr>
        <p:spPr bwMode="auto">
          <a:xfrm>
            <a:off x="2751138" y="3162300"/>
            <a:ext cx="1479550" cy="663575"/>
          </a:xfrm>
          <a:prstGeom prst="ellipse">
            <a:avLst/>
          </a:prstGeom>
          <a:solidFill>
            <a:srgbClr val="7030A0"/>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c(2,1)</a:t>
            </a:r>
          </a:p>
        </p:txBody>
      </p:sp>
      <p:sp>
        <p:nvSpPr>
          <p:cNvPr id="97306" name="Rectangle 27"/>
          <p:cNvSpPr>
            <a:spLocks noChangeArrowheads="1"/>
          </p:cNvSpPr>
          <p:nvPr/>
        </p:nvSpPr>
        <p:spPr bwMode="auto">
          <a:xfrm>
            <a:off x="1563688" y="4667250"/>
            <a:ext cx="1019175" cy="457200"/>
          </a:xfrm>
          <a:prstGeom prst="rect">
            <a:avLst/>
          </a:prstGeom>
          <a:solidFill>
            <a:srgbClr val="CCCCFF"/>
          </a:solidFill>
          <a:ln>
            <a:noFill/>
          </a:ln>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a[1]=2</a:t>
            </a:r>
          </a:p>
        </p:txBody>
      </p:sp>
      <p:pic>
        <p:nvPicPr>
          <p:cNvPr id="107546" name="Picture 28" descr="]F}C`]})O(7AU_][B~E(ERV"/>
          <p:cNvPicPr>
            <a:picLocks noChangeAspect="1"/>
          </p:cNvPicPr>
          <p:nvPr/>
        </p:nvPicPr>
        <p:blipFill>
          <a:blip r:embed="rId3"/>
          <a:stretch>
            <a:fillRect/>
          </a:stretch>
        </p:blipFill>
        <p:spPr>
          <a:xfrm>
            <a:off x="2301875" y="5119688"/>
            <a:ext cx="1524000" cy="457200"/>
          </a:xfrm>
          <a:prstGeom prst="rect">
            <a:avLst/>
          </a:prstGeom>
          <a:noFill/>
          <a:ln w="9525">
            <a:noFill/>
          </a:ln>
        </p:spPr>
      </p:pic>
      <p:sp>
        <p:nvSpPr>
          <p:cNvPr id="97308" name="Rectangle 29"/>
          <p:cNvSpPr>
            <a:spLocks noChangeArrowheads="1"/>
          </p:cNvSpPr>
          <p:nvPr/>
        </p:nvSpPr>
        <p:spPr bwMode="auto">
          <a:xfrm>
            <a:off x="3316288" y="232410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2</a:t>
            </a:r>
          </a:p>
        </p:txBody>
      </p:sp>
      <p:pic>
        <p:nvPicPr>
          <p:cNvPr id="107548" name="Picture 30" descr="WAG~(D`0A[``O))EA$U69%4"/>
          <p:cNvPicPr>
            <a:picLocks noChangeAspect="1"/>
          </p:cNvPicPr>
          <p:nvPr/>
        </p:nvPicPr>
        <p:blipFill>
          <a:blip r:embed="rId4"/>
          <a:stretch>
            <a:fillRect/>
          </a:stretch>
        </p:blipFill>
        <p:spPr>
          <a:xfrm>
            <a:off x="3548063" y="4076700"/>
            <a:ext cx="1619250" cy="457200"/>
          </a:xfrm>
          <a:prstGeom prst="rect">
            <a:avLst/>
          </a:prstGeom>
          <a:noFill/>
          <a:ln w="9525">
            <a:noFill/>
          </a:ln>
        </p:spPr>
      </p:pic>
      <p:sp>
        <p:nvSpPr>
          <p:cNvPr id="97310" name="Line 31"/>
          <p:cNvSpPr>
            <a:spLocks noChangeShapeType="1"/>
          </p:cNvSpPr>
          <p:nvPr/>
        </p:nvSpPr>
        <p:spPr bwMode="auto">
          <a:xfrm flipH="1">
            <a:off x="1068388" y="3902075"/>
            <a:ext cx="225425" cy="13938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7311" name="Line 32"/>
          <p:cNvSpPr>
            <a:spLocks noChangeShapeType="1"/>
          </p:cNvSpPr>
          <p:nvPr/>
        </p:nvSpPr>
        <p:spPr bwMode="auto">
          <a:xfrm>
            <a:off x="1743075" y="3870325"/>
            <a:ext cx="312738" cy="7969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97312" name="Line 33"/>
          <p:cNvSpPr>
            <a:spLocks noChangeShapeType="1"/>
          </p:cNvSpPr>
          <p:nvPr/>
        </p:nvSpPr>
        <p:spPr bwMode="auto">
          <a:xfrm>
            <a:off x="2173288" y="3597275"/>
            <a:ext cx="519113" cy="4794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 name="Rectangle 6"/>
          <p:cNvSpPr>
            <a:spLocks noChangeArrowheads="1"/>
          </p:cNvSpPr>
          <p:nvPr/>
        </p:nvSpPr>
        <p:spPr bwMode="auto">
          <a:xfrm>
            <a:off x="825500" y="212725"/>
            <a:ext cx="40671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递归巩固练习</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4"/>
          <p:cNvSpPr>
            <a:spLocks noChangeArrowheads="1"/>
          </p:cNvSpPr>
          <p:nvPr/>
        </p:nvSpPr>
        <p:spPr bwMode="auto">
          <a:xfrm>
            <a:off x="107504" y="818002"/>
            <a:ext cx="8843838" cy="5995374"/>
          </a:xfrm>
          <a:prstGeom prst="roundRect">
            <a:avLst>
              <a:gd name="adj" fmla="val 3451"/>
            </a:avLst>
          </a:prstGeom>
          <a:solidFill>
            <a:srgbClr val="CCCCFF"/>
          </a:solidFill>
          <a:ln>
            <a:noFill/>
          </a:ln>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smtClean="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include &lt;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stdio.h</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&gt;</a:t>
            </a:r>
          </a:p>
          <a:p>
            <a:pPr lvl="0" eaLnBrk="1" hangingPunct="1">
              <a:lnSpc>
                <a:spcPct val="90000"/>
              </a:lnSpc>
              <a:defRPr/>
            </a:pPr>
            <a:r>
              <a:rPr lang="en-US" altLang="zh-CN" sz="2200" b="0" dirty="0" smtClean="0">
                <a:solidFill>
                  <a:srgbClr val="FF0000"/>
                </a:solidFill>
                <a:latin typeface="+mn-lt"/>
                <a:ea typeface="+mn-ea"/>
                <a:cs typeface="+mn-ea"/>
                <a:sym typeface="+mn-lt"/>
              </a:rPr>
              <a:t>void </a:t>
            </a:r>
            <a:r>
              <a:rPr lang="en-US" altLang="zh-CN" sz="2200" b="0" dirty="0">
                <a:solidFill>
                  <a:srgbClr val="FF0000"/>
                </a:solidFill>
                <a:latin typeface="+mn-lt"/>
                <a:ea typeface="+mn-ea"/>
                <a:cs typeface="+mn-ea"/>
                <a:sym typeface="+mn-lt"/>
              </a:rPr>
              <a:t>combo(</a:t>
            </a:r>
            <a:r>
              <a:rPr lang="en-US" altLang="zh-CN" sz="2200" b="0" dirty="0" err="1">
                <a:solidFill>
                  <a:srgbClr val="FF0000"/>
                </a:solidFill>
                <a:latin typeface="+mn-lt"/>
                <a:ea typeface="+mn-ea"/>
                <a:cs typeface="+mn-ea"/>
                <a:sym typeface="+mn-lt"/>
              </a:rPr>
              <a:t>int</a:t>
            </a:r>
            <a:r>
              <a:rPr lang="en-US" altLang="zh-CN" sz="2200" b="0" dirty="0">
                <a:solidFill>
                  <a:srgbClr val="FF0000"/>
                </a:solidFill>
                <a:latin typeface="+mn-lt"/>
                <a:ea typeface="+mn-ea"/>
                <a:cs typeface="+mn-ea"/>
                <a:sym typeface="+mn-lt"/>
              </a:rPr>
              <a:t> *</a:t>
            </a:r>
            <a:r>
              <a:rPr lang="en-US" altLang="zh-CN" sz="2200" b="0" dirty="0" err="1">
                <a:solidFill>
                  <a:srgbClr val="FF0000"/>
                </a:solidFill>
                <a:latin typeface="+mn-lt"/>
                <a:ea typeface="+mn-ea"/>
                <a:cs typeface="+mn-ea"/>
                <a:sym typeface="+mn-lt"/>
              </a:rPr>
              <a:t>a,int</a:t>
            </a:r>
            <a:r>
              <a:rPr lang="en-US" altLang="zh-CN" sz="2200" b="0" dirty="0">
                <a:solidFill>
                  <a:srgbClr val="FF0000"/>
                </a:solidFill>
                <a:latin typeface="+mn-lt"/>
                <a:ea typeface="+mn-ea"/>
                <a:cs typeface="+mn-ea"/>
                <a:sym typeface="+mn-lt"/>
              </a:rPr>
              <a:t> </a:t>
            </a:r>
            <a:r>
              <a:rPr lang="en-US" altLang="zh-CN" sz="2200" b="0" dirty="0" err="1">
                <a:solidFill>
                  <a:srgbClr val="FF0000"/>
                </a:solidFill>
                <a:latin typeface="+mn-lt"/>
                <a:ea typeface="+mn-ea"/>
                <a:cs typeface="+mn-ea"/>
                <a:sym typeface="+mn-lt"/>
              </a:rPr>
              <a:t>m,int</a:t>
            </a:r>
            <a:r>
              <a:rPr lang="en-US" altLang="zh-CN" sz="2200" b="0" dirty="0">
                <a:solidFill>
                  <a:srgbClr val="FF0000"/>
                </a:solidFill>
                <a:latin typeface="+mn-lt"/>
                <a:ea typeface="+mn-ea"/>
                <a:cs typeface="+mn-ea"/>
                <a:sym typeface="+mn-lt"/>
              </a:rPr>
              <a:t> n)</a:t>
            </a:r>
          </a:p>
          <a:p>
            <a:pPr lvl="0" eaLnBrk="1" hangingPunct="1">
              <a:lnSpc>
                <a:spcPct val="90000"/>
              </a:lnSpc>
              <a:defRPr/>
            </a:pPr>
            <a:r>
              <a:rPr lang="en-US" altLang="zh-CN" sz="2200" b="0" dirty="0">
                <a:solidFill>
                  <a:srgbClr val="FF0000"/>
                </a:solidFill>
                <a:latin typeface="+mn-lt"/>
                <a:ea typeface="+mn-ea"/>
                <a:cs typeface="+mn-ea"/>
                <a:sym typeface="+mn-lt"/>
              </a:rPr>
              <a:t>{</a:t>
            </a:r>
          </a:p>
          <a:p>
            <a:pPr lvl="0" eaLnBrk="1" hangingPunct="1">
              <a:lnSpc>
                <a:spcPct val="90000"/>
              </a:lnSpc>
              <a:defRPr/>
            </a:pPr>
            <a:r>
              <a:rPr lang="en-US" altLang="zh-CN" sz="2200" b="0" dirty="0">
                <a:solidFill>
                  <a:srgbClr val="FF0000"/>
                </a:solidFill>
                <a:latin typeface="+mn-lt"/>
                <a:ea typeface="+mn-ea"/>
                <a:cs typeface="+mn-ea"/>
                <a:sym typeface="+mn-lt"/>
              </a:rPr>
              <a:t>	</a:t>
            </a:r>
            <a:r>
              <a:rPr lang="en-US" altLang="zh-CN" sz="2200" b="0" dirty="0" err="1">
                <a:solidFill>
                  <a:srgbClr val="FF0000"/>
                </a:solidFill>
                <a:latin typeface="+mn-lt"/>
                <a:ea typeface="+mn-ea"/>
                <a:cs typeface="+mn-ea"/>
                <a:sym typeface="+mn-lt"/>
              </a:rPr>
              <a:t>int</a:t>
            </a:r>
            <a:r>
              <a:rPr lang="en-US" altLang="zh-CN" sz="2200" b="0" dirty="0">
                <a:solidFill>
                  <a:srgbClr val="FF0000"/>
                </a:solidFill>
                <a:latin typeface="+mn-lt"/>
                <a:ea typeface="+mn-ea"/>
                <a:cs typeface="+mn-ea"/>
                <a:sym typeface="+mn-lt"/>
              </a:rPr>
              <a:t> </a:t>
            </a:r>
            <a:r>
              <a:rPr lang="en-US" altLang="zh-CN" sz="2200" b="0" dirty="0" err="1">
                <a:solidFill>
                  <a:srgbClr val="FF0000"/>
                </a:solidFill>
                <a:latin typeface="+mn-lt"/>
                <a:ea typeface="+mn-ea"/>
                <a:cs typeface="+mn-ea"/>
                <a:sym typeface="+mn-lt"/>
              </a:rPr>
              <a:t>i,j</a:t>
            </a:r>
            <a:r>
              <a:rPr lang="en-US" altLang="zh-CN" sz="2200" b="0" dirty="0">
                <a:solidFill>
                  <a:srgbClr val="FF0000"/>
                </a:solidFill>
                <a:latin typeface="+mn-lt"/>
                <a:ea typeface="+mn-ea"/>
                <a:cs typeface="+mn-ea"/>
                <a:sym typeface="+mn-lt"/>
              </a:rPr>
              <a:t>;</a:t>
            </a:r>
          </a:p>
          <a:p>
            <a:pPr lvl="0" eaLnBrk="1" hangingPunct="1">
              <a:lnSpc>
                <a:spcPct val="90000"/>
              </a:lnSpc>
              <a:defRPr/>
            </a:pPr>
            <a:r>
              <a:rPr lang="en-US" altLang="zh-CN" sz="2200" b="0" dirty="0">
                <a:solidFill>
                  <a:srgbClr val="FF0000"/>
                </a:solidFill>
                <a:latin typeface="+mn-lt"/>
                <a:ea typeface="+mn-ea"/>
                <a:cs typeface="+mn-ea"/>
                <a:sym typeface="+mn-lt"/>
              </a:rPr>
              <a:t>	for (i=</a:t>
            </a:r>
            <a:r>
              <a:rPr lang="en-US" altLang="zh-CN" sz="2200" b="0" dirty="0" err="1">
                <a:solidFill>
                  <a:srgbClr val="FF0000"/>
                </a:solidFill>
                <a:latin typeface="+mn-lt"/>
                <a:ea typeface="+mn-ea"/>
                <a:cs typeface="+mn-ea"/>
                <a:sym typeface="+mn-lt"/>
              </a:rPr>
              <a:t>m;i</a:t>
            </a:r>
            <a:r>
              <a:rPr lang="en-US" altLang="zh-CN" sz="2200" b="0" dirty="0">
                <a:solidFill>
                  <a:srgbClr val="FF0000"/>
                </a:solidFill>
                <a:latin typeface="+mn-lt"/>
                <a:ea typeface="+mn-ea"/>
                <a:cs typeface="+mn-ea"/>
                <a:sym typeface="+mn-lt"/>
              </a:rPr>
              <a:t>&gt;=</a:t>
            </a:r>
            <a:r>
              <a:rPr lang="en-US" altLang="zh-CN" sz="2200" b="0" dirty="0" err="1">
                <a:solidFill>
                  <a:srgbClr val="FF0000"/>
                </a:solidFill>
                <a:latin typeface="+mn-lt"/>
                <a:ea typeface="+mn-ea"/>
                <a:cs typeface="+mn-ea"/>
                <a:sym typeface="+mn-lt"/>
              </a:rPr>
              <a:t>n;i</a:t>
            </a:r>
            <a:r>
              <a:rPr lang="en-US" altLang="zh-CN" sz="2200" b="0" dirty="0">
                <a:solidFill>
                  <a:srgbClr val="FF0000"/>
                </a:solidFill>
                <a:latin typeface="+mn-lt"/>
                <a:ea typeface="+mn-ea"/>
                <a:cs typeface="+mn-ea"/>
                <a:sym typeface="+mn-lt"/>
              </a:rPr>
              <a:t>--)</a:t>
            </a:r>
          </a:p>
          <a:p>
            <a:pPr lvl="0" eaLnBrk="1" hangingPunct="1">
              <a:lnSpc>
                <a:spcPct val="90000"/>
              </a:lnSpc>
              <a:defRPr/>
            </a:pPr>
            <a:r>
              <a:rPr lang="en-US" altLang="zh-CN" sz="2200" b="0" dirty="0">
                <a:solidFill>
                  <a:srgbClr val="FF0000"/>
                </a:solidFill>
                <a:latin typeface="+mn-lt"/>
                <a:ea typeface="+mn-ea"/>
                <a:cs typeface="+mn-ea"/>
                <a:sym typeface="+mn-lt"/>
              </a:rPr>
              <a:t>	{	a[n]=i;</a:t>
            </a:r>
          </a:p>
          <a:p>
            <a:pPr lvl="0" eaLnBrk="1" hangingPunct="1">
              <a:lnSpc>
                <a:spcPct val="90000"/>
              </a:lnSpc>
              <a:defRPr/>
            </a:pPr>
            <a:r>
              <a:rPr lang="en-US" altLang="zh-CN" sz="2200" b="0" dirty="0">
                <a:solidFill>
                  <a:srgbClr val="FF0000"/>
                </a:solidFill>
                <a:latin typeface="+mn-lt"/>
                <a:ea typeface="+mn-ea"/>
                <a:cs typeface="+mn-ea"/>
                <a:sym typeface="+mn-lt"/>
              </a:rPr>
              <a:t>		if (n&gt;1)   combo(a,i-1,n-1);</a:t>
            </a:r>
          </a:p>
          <a:p>
            <a:pPr lvl="0" eaLnBrk="1" hangingPunct="1">
              <a:lnSpc>
                <a:spcPct val="90000"/>
              </a:lnSpc>
              <a:defRPr/>
            </a:pPr>
            <a:r>
              <a:rPr lang="en-US" altLang="zh-CN" sz="2200" b="0" dirty="0">
                <a:solidFill>
                  <a:srgbClr val="FF0000"/>
                </a:solidFill>
                <a:latin typeface="+mn-lt"/>
                <a:ea typeface="+mn-ea"/>
                <a:cs typeface="+mn-ea"/>
                <a:sym typeface="+mn-lt"/>
              </a:rPr>
              <a:t>		else  	{	for (j=a[0];j&gt;0;j--)</a:t>
            </a:r>
          </a:p>
          <a:p>
            <a:pPr lvl="0" eaLnBrk="1" hangingPunct="1">
              <a:lnSpc>
                <a:spcPct val="90000"/>
              </a:lnSpc>
              <a:defRPr/>
            </a:pPr>
            <a:r>
              <a:rPr lang="en-US" altLang="zh-CN" sz="2200" b="0" dirty="0">
                <a:solidFill>
                  <a:srgbClr val="FF0000"/>
                </a:solidFill>
                <a:latin typeface="+mn-lt"/>
                <a:ea typeface="+mn-ea"/>
                <a:cs typeface="+mn-ea"/>
                <a:sym typeface="+mn-lt"/>
              </a:rPr>
              <a:t>				    </a:t>
            </a:r>
            <a:r>
              <a:rPr lang="en-US" altLang="zh-CN" sz="2200" b="0" dirty="0" err="1" smtClean="0">
                <a:solidFill>
                  <a:srgbClr val="FF0000"/>
                </a:solidFill>
                <a:latin typeface="+mn-lt"/>
                <a:ea typeface="+mn-ea"/>
                <a:cs typeface="+mn-ea"/>
                <a:sym typeface="+mn-lt"/>
              </a:rPr>
              <a:t>printf</a:t>
            </a:r>
            <a:r>
              <a:rPr lang="en-US" altLang="zh-CN" sz="2200" b="0" dirty="0">
                <a:solidFill>
                  <a:srgbClr val="FF0000"/>
                </a:solidFill>
                <a:latin typeface="+mn-lt"/>
                <a:ea typeface="+mn-ea"/>
                <a:cs typeface="+mn-ea"/>
                <a:sym typeface="+mn-lt"/>
              </a:rPr>
              <a:t>("%4d",a[j]);</a:t>
            </a:r>
          </a:p>
          <a:p>
            <a:pPr lvl="0" eaLnBrk="1" hangingPunct="1">
              <a:lnSpc>
                <a:spcPct val="90000"/>
              </a:lnSpc>
              <a:defRPr/>
            </a:pPr>
            <a:r>
              <a:rPr lang="en-US" altLang="zh-CN" sz="2200" b="0" dirty="0">
                <a:solidFill>
                  <a:srgbClr val="FF0000"/>
                </a:solidFill>
                <a:latin typeface="+mn-lt"/>
                <a:ea typeface="+mn-ea"/>
                <a:cs typeface="+mn-ea"/>
                <a:sym typeface="+mn-lt"/>
              </a:rPr>
              <a:t>				</a:t>
            </a:r>
            <a:r>
              <a:rPr lang="en-US" altLang="zh-CN" sz="2200" b="0" dirty="0" err="1">
                <a:solidFill>
                  <a:srgbClr val="FF0000"/>
                </a:solidFill>
                <a:latin typeface="+mn-lt"/>
                <a:ea typeface="+mn-ea"/>
                <a:cs typeface="+mn-ea"/>
                <a:sym typeface="+mn-lt"/>
              </a:rPr>
              <a:t>printf</a:t>
            </a:r>
            <a:r>
              <a:rPr lang="en-US" altLang="zh-CN" sz="2200" b="0" dirty="0">
                <a:solidFill>
                  <a:srgbClr val="FF0000"/>
                </a:solidFill>
                <a:latin typeface="+mn-lt"/>
                <a:ea typeface="+mn-ea"/>
                <a:cs typeface="+mn-ea"/>
                <a:sym typeface="+mn-lt"/>
              </a:rPr>
              <a:t>("\n");	</a:t>
            </a:r>
            <a:r>
              <a:rPr lang="en-US" altLang="zh-CN" sz="2200" b="0" dirty="0" smtClean="0">
                <a:solidFill>
                  <a:srgbClr val="FF0000"/>
                </a:solidFill>
                <a:latin typeface="+mn-lt"/>
                <a:ea typeface="+mn-ea"/>
                <a:cs typeface="+mn-ea"/>
                <a:sym typeface="+mn-lt"/>
              </a:rPr>
              <a:t>}</a:t>
            </a:r>
            <a:endParaRPr lang="en-US" altLang="zh-CN" sz="2200" b="0" dirty="0">
              <a:solidFill>
                <a:srgbClr val="FF0000"/>
              </a:solidFill>
              <a:latin typeface="+mn-lt"/>
              <a:ea typeface="+mn-ea"/>
              <a:cs typeface="+mn-ea"/>
              <a:sym typeface="+mn-lt"/>
            </a:endParaRPr>
          </a:p>
          <a:p>
            <a:pPr lvl="0" eaLnBrk="1" hangingPunct="1">
              <a:lnSpc>
                <a:spcPct val="90000"/>
              </a:lnSpc>
              <a:defRPr/>
            </a:pPr>
            <a:r>
              <a:rPr lang="en-US" altLang="zh-CN" sz="2200" b="0" dirty="0">
                <a:solidFill>
                  <a:srgbClr val="FF0000"/>
                </a:solidFill>
                <a:latin typeface="+mn-lt"/>
                <a:ea typeface="+mn-ea"/>
                <a:cs typeface="+mn-ea"/>
                <a:sym typeface="+mn-lt"/>
              </a:rPr>
              <a:t>	}               </a:t>
            </a:r>
          </a:p>
          <a:p>
            <a:pPr lvl="0" eaLnBrk="1" hangingPunct="1">
              <a:lnSpc>
                <a:spcPct val="90000"/>
              </a:lnSpc>
              <a:defRPr/>
            </a:pPr>
            <a:r>
              <a:rPr lang="en-US" altLang="zh-CN" sz="2200" b="0" dirty="0">
                <a:solidFill>
                  <a:srgbClr val="FF0000"/>
                </a:solidFill>
                <a:latin typeface="+mn-lt"/>
                <a:ea typeface="+mn-ea"/>
                <a:cs typeface="+mn-ea"/>
                <a:sym typeface="+mn-lt"/>
              </a:rPr>
              <a:t>}</a:t>
            </a:r>
            <a:endPar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endParaRPr>
          </a:p>
          <a:p>
            <a:pPr lvl="0" eaLnBrk="1" hangingPunct="1">
              <a:lnSpc>
                <a:spcPct val="90000"/>
              </a:lnSpc>
              <a:defRPr/>
            </a:pPr>
            <a:r>
              <a:rPr lang="pt-BR" altLang="zh-CN" sz="2200" b="0" dirty="0">
                <a:latin typeface="+mn-lt"/>
                <a:ea typeface="+mn-ea"/>
                <a:cs typeface="+mn-ea"/>
                <a:sym typeface="+mn-lt"/>
              </a:rPr>
              <a:t>int main()</a:t>
            </a:r>
          </a:p>
          <a:p>
            <a:pPr lvl="0" eaLnBrk="1" hangingPunct="1">
              <a:lnSpc>
                <a:spcPct val="90000"/>
              </a:lnSpc>
              <a:defRPr/>
            </a:pPr>
            <a:r>
              <a:rPr lang="pt-BR" altLang="zh-CN" sz="2200" b="0" dirty="0">
                <a:latin typeface="+mn-lt"/>
                <a:ea typeface="+mn-ea"/>
                <a:cs typeface="+mn-ea"/>
                <a:sym typeface="+mn-lt"/>
              </a:rPr>
              <a:t>{</a:t>
            </a:r>
          </a:p>
          <a:p>
            <a:pPr lvl="0" eaLnBrk="1" hangingPunct="1">
              <a:lnSpc>
                <a:spcPct val="90000"/>
              </a:lnSpc>
              <a:defRPr/>
            </a:pPr>
            <a:r>
              <a:rPr lang="pt-BR" altLang="zh-CN" sz="2200" b="0" dirty="0">
                <a:latin typeface="+mn-lt"/>
                <a:ea typeface="+mn-ea"/>
                <a:cs typeface="+mn-ea"/>
                <a:sym typeface="+mn-lt"/>
              </a:rPr>
              <a:t>	int </a:t>
            </a:r>
            <a:r>
              <a:rPr lang="pt-BR" altLang="zh-CN" sz="2200" b="0" dirty="0" smtClean="0">
                <a:latin typeface="+mn-lt"/>
                <a:ea typeface="+mn-ea"/>
                <a:cs typeface="+mn-ea"/>
                <a:sym typeface="+mn-lt"/>
              </a:rPr>
              <a:t>m,n, </a:t>
            </a:r>
            <a:r>
              <a:rPr lang="pt-BR" altLang="zh-CN" sz="2200" b="0" dirty="0">
                <a:latin typeface="+mn-lt"/>
                <a:ea typeface="+mn-ea"/>
                <a:cs typeface="+mn-ea"/>
                <a:sym typeface="+mn-lt"/>
              </a:rPr>
              <a:t>a[100];</a:t>
            </a:r>
          </a:p>
          <a:p>
            <a:pPr lvl="0" eaLnBrk="1" hangingPunct="1">
              <a:lnSpc>
                <a:spcPct val="90000"/>
              </a:lnSpc>
              <a:defRPr/>
            </a:pPr>
            <a:r>
              <a:rPr lang="pt-BR" altLang="zh-CN" sz="2200" b="0" dirty="0">
                <a:latin typeface="+mn-lt"/>
                <a:ea typeface="+mn-ea"/>
                <a:cs typeface="+mn-ea"/>
                <a:sym typeface="+mn-lt"/>
              </a:rPr>
              <a:t>	scanf("%d%d",&amp;m,&amp;n);</a:t>
            </a:r>
          </a:p>
          <a:p>
            <a:pPr lvl="0" eaLnBrk="1" hangingPunct="1">
              <a:lnSpc>
                <a:spcPct val="90000"/>
              </a:lnSpc>
              <a:defRPr/>
            </a:pPr>
            <a:r>
              <a:rPr lang="pt-BR" altLang="zh-CN" sz="2200" b="0" dirty="0">
                <a:latin typeface="+mn-lt"/>
                <a:ea typeface="+mn-ea"/>
                <a:cs typeface="+mn-ea"/>
                <a:sym typeface="+mn-lt"/>
              </a:rPr>
              <a:t>	a[0]=n;</a:t>
            </a:r>
          </a:p>
          <a:p>
            <a:pPr lvl="0" eaLnBrk="1" hangingPunct="1">
              <a:lnSpc>
                <a:spcPct val="90000"/>
              </a:lnSpc>
              <a:defRPr/>
            </a:pPr>
            <a:r>
              <a:rPr lang="pt-BR" altLang="zh-CN" sz="2200" b="0" dirty="0">
                <a:latin typeface="+mn-lt"/>
                <a:ea typeface="+mn-ea"/>
                <a:cs typeface="+mn-ea"/>
                <a:sym typeface="+mn-lt"/>
              </a:rPr>
              <a:t>	combo(a,m,n);</a:t>
            </a:r>
          </a:p>
          <a:p>
            <a:pPr lvl="0" eaLnBrk="1" hangingPunct="1">
              <a:lnSpc>
                <a:spcPct val="90000"/>
              </a:lnSpc>
              <a:defRPr/>
            </a:pPr>
            <a:r>
              <a:rPr lang="pt-BR" altLang="zh-CN" sz="2200" b="0" dirty="0" smtClean="0">
                <a:latin typeface="+mn-lt"/>
                <a:ea typeface="+mn-ea"/>
                <a:cs typeface="+mn-ea"/>
                <a:sym typeface="+mn-lt"/>
              </a:rPr>
              <a:t>}</a:t>
            </a:r>
            <a:endPar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5" name="Rectangle 6"/>
          <p:cNvSpPr>
            <a:spLocks noChangeArrowheads="1"/>
          </p:cNvSpPr>
          <p:nvPr/>
        </p:nvSpPr>
        <p:spPr bwMode="auto">
          <a:xfrm>
            <a:off x="825500" y="212725"/>
            <a:ext cx="7123906"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lvl="0">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递归巩固练习</a:t>
            </a:r>
            <a:r>
              <a:rPr lang="en-US" altLang="zh-CN" sz="2800" b="0" dirty="0" smtClean="0">
                <a:solidFill>
                  <a:schemeClr val="bg1"/>
                </a:solidFill>
                <a:latin typeface="+mn-lt"/>
                <a:ea typeface="+mn-ea"/>
                <a:cs typeface="+mn-ea"/>
                <a:sym typeface="+mn-lt"/>
              </a:rPr>
              <a:t>2(</a:t>
            </a:r>
            <a:r>
              <a:rPr lang="zh-CN" altLang="en-US" sz="2800" b="0" dirty="0" smtClean="0">
                <a:solidFill>
                  <a:schemeClr val="bg1"/>
                </a:solidFill>
                <a:latin typeface="+mn-lt"/>
                <a:ea typeface="+mn-ea"/>
                <a:cs typeface="+mn-ea"/>
                <a:sym typeface="+mn-lt"/>
              </a:rPr>
              <a:t>组合问题</a:t>
            </a:r>
            <a:r>
              <a:rPr kumimoji="0" lang="en-US" altLang="zh-CN" sz="2800" b="0" i="0" u="none" strike="noStrike" kern="1200" cap="none" spc="0" normalizeH="0" baseline="0" noProof="0" dirty="0" smtClean="0">
                <a:ln>
                  <a:noFill/>
                </a:ln>
                <a:solidFill>
                  <a:schemeClr val="bg1"/>
                </a:solidFill>
                <a:effectLst/>
                <a:uLnTx/>
                <a:uFillTx/>
                <a:latin typeface="+mn-lt"/>
                <a:ea typeface="+mn-ea"/>
                <a:cs typeface="+mn-ea"/>
                <a:sym typeface="+mn-lt"/>
              </a:rPr>
              <a:t>)</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06500" name="矩形 1"/>
          <p:cNvSpPr/>
          <p:nvPr/>
        </p:nvSpPr>
        <p:spPr>
          <a:xfrm>
            <a:off x="6875463" y="5589588"/>
            <a:ext cx="2147887" cy="71437"/>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6501" name="矩形 6"/>
          <p:cNvSpPr/>
          <p:nvPr/>
        </p:nvSpPr>
        <p:spPr>
          <a:xfrm>
            <a:off x="6875463" y="5834063"/>
            <a:ext cx="2147887" cy="73025"/>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6502" name="矩形 7"/>
          <p:cNvSpPr/>
          <p:nvPr/>
        </p:nvSpPr>
        <p:spPr>
          <a:xfrm>
            <a:off x="6875463" y="6096000"/>
            <a:ext cx="2147887" cy="71438"/>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6503" name="矩形 8"/>
          <p:cNvSpPr/>
          <p:nvPr/>
        </p:nvSpPr>
        <p:spPr>
          <a:xfrm>
            <a:off x="6875463" y="6324600"/>
            <a:ext cx="2147887" cy="71438"/>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307" name="Rectangle 4"/>
          <p:cNvSpPr>
            <a:spLocks noChangeArrowheads="1"/>
          </p:cNvSpPr>
          <p:nvPr/>
        </p:nvSpPr>
        <p:spPr bwMode="auto">
          <a:xfrm>
            <a:off x="0" y="1125538"/>
            <a:ext cx="9144000" cy="5373779"/>
          </a:xfrm>
          <a:prstGeom prst="rect">
            <a:avLst/>
          </a:prstGeom>
          <a:solidFill>
            <a:schemeClr val="accent1">
              <a:lumMod val="40000"/>
              <a:lumOff val="60000"/>
            </a:schemeClr>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72009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简单的枚举算法：</a:t>
            </a:r>
          </a:p>
          <a:p>
            <a:pPr marL="72009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#include &lt;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stdio.h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a:t>
            </a:r>
          </a:p>
          <a:p>
            <a:pPr marL="72009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void main( )</a:t>
            </a:r>
          </a:p>
          <a:p>
            <a:pPr marL="72009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int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n,x,y,z,s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p>
          <a:p>
            <a:pPr marL="72009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scanf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d",&amp;n</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72009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for (x=1;x&lt;=n; x++)</a:t>
            </a:r>
          </a:p>
          <a:p>
            <a:pPr marL="72009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for (y=1; y&lt;=n; y++)</a:t>
            </a:r>
          </a:p>
          <a:p>
            <a:pPr marL="72009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for (z=1; z&lt;=n; z++)</a:t>
            </a:r>
          </a:p>
          <a:p>
            <a:pPr marL="72009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if (  x&lt;y &amp;&amp; y&lt;z )</a:t>
            </a:r>
          </a:p>
          <a:p>
            <a:pPr marL="72009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         {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  </a:t>
            </a:r>
          </a:p>
          <a:p>
            <a:pPr marL="72009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smtClean="0">
                <a:ln>
                  <a:noFill/>
                </a:ln>
                <a:solidFill>
                  <a:schemeClr val="tx1"/>
                </a:solidFill>
                <a:effectLst/>
                <a:uLnTx/>
                <a:uFillTx/>
                <a:latin typeface="+mn-lt"/>
                <a:ea typeface="+mn-ea"/>
                <a:cs typeface="+mn-ea"/>
                <a:sym typeface="+mn-lt"/>
              </a:rPr>
              <a:t>printf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("%5d%5d%5d\n",</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x,y,z</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72009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printf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("s=%d\</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n",s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72009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5" name="Rectangle 6"/>
          <p:cNvSpPr>
            <a:spLocks noChangeArrowheads="1"/>
          </p:cNvSpPr>
          <p:nvPr/>
        </p:nvSpPr>
        <p:spPr bwMode="auto">
          <a:xfrm>
            <a:off x="825500" y="212725"/>
            <a:ext cx="40671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递归巩固练习</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a:t>
            </a:r>
          </a:p>
        </p:txBody>
      </p:sp>
      <p:sp>
        <p:nvSpPr>
          <p:cNvPr id="108548" name="矩形 1"/>
          <p:cNvSpPr/>
          <p:nvPr/>
        </p:nvSpPr>
        <p:spPr>
          <a:xfrm>
            <a:off x="7956550" y="5370513"/>
            <a:ext cx="1187450" cy="460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8549" name="矩形 6"/>
          <p:cNvSpPr/>
          <p:nvPr/>
        </p:nvSpPr>
        <p:spPr>
          <a:xfrm>
            <a:off x="7667625" y="5586413"/>
            <a:ext cx="1476375" cy="460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8550" name="矩形 7"/>
          <p:cNvSpPr/>
          <p:nvPr/>
        </p:nvSpPr>
        <p:spPr>
          <a:xfrm>
            <a:off x="7065963" y="5873750"/>
            <a:ext cx="2078037" cy="46038"/>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8551" name="矩形 8"/>
          <p:cNvSpPr/>
          <p:nvPr/>
        </p:nvSpPr>
        <p:spPr>
          <a:xfrm>
            <a:off x="6804025" y="6180138"/>
            <a:ext cx="2339975" cy="460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9331" name="Rectangle 4"/>
          <p:cNvSpPr>
            <a:spLocks noChangeArrowheads="1"/>
          </p:cNvSpPr>
          <p:nvPr/>
        </p:nvSpPr>
        <p:spPr bwMode="auto">
          <a:xfrm>
            <a:off x="0" y="1268413"/>
            <a:ext cx="9144000" cy="5140325"/>
          </a:xfrm>
          <a:prstGeom prst="rect">
            <a:avLst/>
          </a:prstGeom>
          <a:solidFill>
            <a:srgbClr val="CCCCFF"/>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720090" marR="0" lvl="0" indent="0" algn="l"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400" b="1" i="0" u="none" strike="noStrike" kern="1200" cap="none" spc="0" normalizeH="0" baseline="0" noProof="0" dirty="0">
                <a:ln>
                  <a:noFill/>
                </a:ln>
                <a:solidFill>
                  <a:schemeClr val="tx2"/>
                </a:solidFill>
                <a:effectLst/>
                <a:uLnTx/>
                <a:uFillTx/>
                <a:latin typeface="+mn-lt"/>
                <a:ea typeface="+mn-ea"/>
                <a:cs typeface="+mn-ea"/>
                <a:sym typeface="+mn-lt"/>
              </a:rPr>
              <a:t>加速的枚举算法：</a:t>
            </a:r>
          </a:p>
          <a:p>
            <a:pPr marL="720090" marR="0" lvl="0" indent="0" algn="l"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#include &lt;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stdio.h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a:t>
            </a:r>
          </a:p>
          <a:p>
            <a:pPr marL="720090" marR="0" lvl="0" indent="0" algn="l"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void main( )</a:t>
            </a:r>
          </a:p>
          <a:p>
            <a:pPr marL="720090" marR="0" lvl="0" indent="0" algn="l"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int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n,x,y,z,s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p>
          <a:p>
            <a:pPr marL="720090" marR="0" lvl="0" indent="0" algn="l"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scanf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d",&amp;n</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720090" marR="0" lvl="0" indent="0" algn="l"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for (x=1;x&lt;=n-2; x++)</a:t>
            </a:r>
          </a:p>
          <a:p>
            <a:pPr marL="720090" marR="0" lvl="0" indent="0" algn="l"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for (y=x+1; y&lt;=n-1; y++)</a:t>
            </a:r>
          </a:p>
          <a:p>
            <a:pPr marL="720090" marR="0" lvl="0" indent="0" algn="l"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for (z=y+1; z&lt;=n; z++)</a:t>
            </a:r>
          </a:p>
          <a:p>
            <a:pPr marL="720090" marR="0" lvl="0" indent="0" algn="l"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s++;  </a:t>
            </a:r>
          </a:p>
          <a:p>
            <a:pPr marL="720090" marR="0" lvl="0" indent="0" algn="l"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printf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("%5d%5d%5d\n",</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x,y,z</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720090" marR="0" lvl="0" indent="0" algn="l"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printf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("s=%d\</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n",s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720090" marR="0" lvl="0" indent="0" algn="l"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5" name="Rectangle 6"/>
          <p:cNvSpPr>
            <a:spLocks noChangeArrowheads="1"/>
          </p:cNvSpPr>
          <p:nvPr/>
        </p:nvSpPr>
        <p:spPr bwMode="auto">
          <a:xfrm>
            <a:off x="825500" y="212725"/>
            <a:ext cx="40671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递归巩固练习</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a:t>
            </a:r>
          </a:p>
        </p:txBody>
      </p:sp>
      <p:sp>
        <p:nvSpPr>
          <p:cNvPr id="109572" name="矩形 1"/>
          <p:cNvSpPr/>
          <p:nvPr/>
        </p:nvSpPr>
        <p:spPr>
          <a:xfrm>
            <a:off x="8388350" y="5030788"/>
            <a:ext cx="755650" cy="460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9573" name="矩形 6"/>
          <p:cNvSpPr/>
          <p:nvPr/>
        </p:nvSpPr>
        <p:spPr>
          <a:xfrm>
            <a:off x="8172450" y="5318125"/>
            <a:ext cx="971550" cy="46038"/>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9574" name="矩形 7"/>
          <p:cNvSpPr/>
          <p:nvPr/>
        </p:nvSpPr>
        <p:spPr>
          <a:xfrm>
            <a:off x="7794625" y="5583238"/>
            <a:ext cx="1349375" cy="460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9575" name="矩形 8"/>
          <p:cNvSpPr/>
          <p:nvPr/>
        </p:nvSpPr>
        <p:spPr>
          <a:xfrm>
            <a:off x="7343775" y="5897563"/>
            <a:ext cx="1800225" cy="460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9576" name="矩形 9"/>
          <p:cNvSpPr/>
          <p:nvPr/>
        </p:nvSpPr>
        <p:spPr>
          <a:xfrm>
            <a:off x="6858000" y="6165850"/>
            <a:ext cx="2286000" cy="44450"/>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Text Box 4"/>
          <p:cNvSpPr txBox="1">
            <a:spLocks noChangeArrowheads="1"/>
          </p:cNvSpPr>
          <p:nvPr/>
        </p:nvSpPr>
        <p:spPr bwMode="auto">
          <a:xfrm>
            <a:off x="468313" y="1322388"/>
            <a:ext cx="8207375" cy="577850"/>
          </a:xfrm>
          <a:prstGeom prst="roundRect">
            <a:avLst/>
          </a:prstGeom>
          <a:solidFill>
            <a:srgbClr val="6C4C8F"/>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输出一个正整数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n</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的所有整数和形式。如</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n=4	</a:t>
            </a:r>
          </a:p>
        </p:txBody>
      </p:sp>
      <p:pic>
        <p:nvPicPr>
          <p:cNvPr id="107525" name="Picture 5" descr="OMO]_7W4[9EP%)K7SS{(~8X"/>
          <p:cNvPicPr>
            <a:picLocks noChangeAspect="1" noChangeArrowheads="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7544" y="1988840"/>
            <a:ext cx="8208912" cy="4332699"/>
          </a:xfrm>
          <a:prstGeom prst="roundRect">
            <a:avLst>
              <a:gd name="adj" fmla="val 3426"/>
            </a:avLst>
          </a:prstGeom>
          <a:solidFill>
            <a:srgbClr val="FFFFFF">
              <a:shade val="85000"/>
            </a:srgbClr>
          </a:solidFill>
          <a:ln>
            <a:noFill/>
          </a:ln>
          <a:effectLst/>
          <a:extLst>
            <a:ext uri="{91240B29-F687-4F45-9708-019B960494DF}">
              <a14:hiddenLine xmlns:a14="http://schemas.microsoft.com/office/drawing/2010/main" w="9525">
                <a:solidFill>
                  <a:srgbClr val="000000"/>
                </a:solidFill>
                <a:miter lim="800000"/>
                <a:headEnd/>
                <a:tailEnd/>
              </a14:hiddenLine>
            </a:ext>
          </a:extLst>
        </p:spPr>
      </p:pic>
      <p:sp>
        <p:nvSpPr>
          <p:cNvPr id="100357" name="Rectangle 6"/>
          <p:cNvSpPr>
            <a:spLocks noChangeArrowheads="1"/>
          </p:cNvSpPr>
          <p:nvPr/>
        </p:nvSpPr>
        <p:spPr bwMode="auto">
          <a:xfrm>
            <a:off x="900113" y="222250"/>
            <a:ext cx="4067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递归巩固练习</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3</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矩形 1"/>
          <p:cNvSpPr/>
          <p:nvPr/>
        </p:nvSpPr>
        <p:spPr>
          <a:xfrm>
            <a:off x="0" y="981075"/>
            <a:ext cx="9144000" cy="5616575"/>
          </a:xfrm>
          <a:prstGeom prst="rect">
            <a:avLst/>
          </a:prstGeom>
          <a:solidFill>
            <a:srgbClr val="D4E6F4"/>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2403" name="Rectangle 4"/>
          <p:cNvSpPr>
            <a:spLocks noChangeArrowheads="1"/>
          </p:cNvSpPr>
          <p:nvPr/>
        </p:nvSpPr>
        <p:spPr bwMode="auto">
          <a:xfrm>
            <a:off x="898525" y="198438"/>
            <a:ext cx="1981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递归调用树</a:t>
            </a:r>
          </a:p>
        </p:txBody>
      </p:sp>
      <p:sp>
        <p:nvSpPr>
          <p:cNvPr id="102404" name="Oval 5"/>
          <p:cNvSpPr>
            <a:spLocks noChangeArrowheads="1"/>
          </p:cNvSpPr>
          <p:nvPr/>
        </p:nvSpPr>
        <p:spPr bwMode="auto">
          <a:xfrm>
            <a:off x="152400" y="2065338"/>
            <a:ext cx="1231900" cy="663575"/>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f(0,1)</a:t>
            </a:r>
          </a:p>
        </p:txBody>
      </p:sp>
      <p:grpSp>
        <p:nvGrpSpPr>
          <p:cNvPr id="112645" name="Group 6"/>
          <p:cNvGrpSpPr/>
          <p:nvPr/>
        </p:nvGrpSpPr>
        <p:grpSpPr>
          <a:xfrm>
            <a:off x="525463" y="1074738"/>
            <a:ext cx="8429625" cy="4972050"/>
            <a:chOff x="331" y="768"/>
            <a:chExt cx="5310" cy="3132"/>
          </a:xfrm>
        </p:grpSpPr>
        <p:sp>
          <p:nvSpPr>
            <p:cNvPr id="102406" name="Line 7"/>
            <p:cNvSpPr>
              <a:spLocks noChangeShapeType="1"/>
            </p:cNvSpPr>
            <p:nvPr/>
          </p:nvSpPr>
          <p:spPr bwMode="auto">
            <a:xfrm>
              <a:off x="2544" y="2340"/>
              <a:ext cx="0" cy="45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07" name="Line 8"/>
            <p:cNvSpPr>
              <a:spLocks noChangeShapeType="1"/>
            </p:cNvSpPr>
            <p:nvPr/>
          </p:nvSpPr>
          <p:spPr bwMode="auto">
            <a:xfrm>
              <a:off x="5232" y="3120"/>
              <a:ext cx="0" cy="45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08" name="Line 9"/>
            <p:cNvSpPr>
              <a:spLocks noChangeShapeType="1"/>
            </p:cNvSpPr>
            <p:nvPr/>
          </p:nvSpPr>
          <p:spPr bwMode="auto">
            <a:xfrm>
              <a:off x="4224" y="1728"/>
              <a:ext cx="0" cy="4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09" name="Line 10"/>
            <p:cNvSpPr>
              <a:spLocks noChangeShapeType="1"/>
            </p:cNvSpPr>
            <p:nvPr/>
          </p:nvSpPr>
          <p:spPr bwMode="auto">
            <a:xfrm>
              <a:off x="4512" y="1680"/>
              <a:ext cx="576" cy="4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10" name="Line 11"/>
            <p:cNvSpPr>
              <a:spLocks noChangeShapeType="1"/>
            </p:cNvSpPr>
            <p:nvPr/>
          </p:nvSpPr>
          <p:spPr bwMode="auto">
            <a:xfrm flipH="1">
              <a:off x="1728" y="1680"/>
              <a:ext cx="456" cy="4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11" name="Line 12"/>
            <p:cNvSpPr>
              <a:spLocks noChangeShapeType="1"/>
            </p:cNvSpPr>
            <p:nvPr/>
          </p:nvSpPr>
          <p:spPr bwMode="auto">
            <a:xfrm>
              <a:off x="2256" y="1680"/>
              <a:ext cx="192" cy="4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12" name="Line 13"/>
            <p:cNvSpPr>
              <a:spLocks noChangeShapeType="1"/>
            </p:cNvSpPr>
            <p:nvPr/>
          </p:nvSpPr>
          <p:spPr bwMode="auto">
            <a:xfrm flipH="1">
              <a:off x="1599" y="1056"/>
              <a:ext cx="634" cy="4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13" name="Line 14"/>
            <p:cNvSpPr>
              <a:spLocks noChangeShapeType="1"/>
            </p:cNvSpPr>
            <p:nvPr/>
          </p:nvSpPr>
          <p:spPr bwMode="auto">
            <a:xfrm flipH="1">
              <a:off x="2304" y="1200"/>
              <a:ext cx="47" cy="3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14" name="Line 15"/>
            <p:cNvSpPr>
              <a:spLocks noChangeShapeType="1"/>
            </p:cNvSpPr>
            <p:nvPr/>
          </p:nvSpPr>
          <p:spPr bwMode="auto">
            <a:xfrm>
              <a:off x="5232" y="2388"/>
              <a:ext cx="0" cy="45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15" name="Line 16"/>
            <p:cNvSpPr>
              <a:spLocks noChangeShapeType="1"/>
            </p:cNvSpPr>
            <p:nvPr/>
          </p:nvSpPr>
          <p:spPr bwMode="auto">
            <a:xfrm flipH="1">
              <a:off x="3431" y="1728"/>
              <a:ext cx="470" cy="4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16" name="Line 17"/>
            <p:cNvSpPr>
              <a:spLocks noChangeShapeType="1"/>
            </p:cNvSpPr>
            <p:nvPr/>
          </p:nvSpPr>
          <p:spPr bwMode="auto">
            <a:xfrm flipH="1">
              <a:off x="3666" y="2352"/>
              <a:ext cx="462" cy="4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17" name="Line 18"/>
            <p:cNvSpPr>
              <a:spLocks noChangeShapeType="1"/>
            </p:cNvSpPr>
            <p:nvPr/>
          </p:nvSpPr>
          <p:spPr bwMode="auto">
            <a:xfrm flipH="1">
              <a:off x="4229" y="2400"/>
              <a:ext cx="733" cy="4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18" name="Line 19"/>
            <p:cNvSpPr>
              <a:spLocks noChangeShapeType="1"/>
            </p:cNvSpPr>
            <p:nvPr/>
          </p:nvSpPr>
          <p:spPr bwMode="auto">
            <a:xfrm flipH="1">
              <a:off x="707" y="1029"/>
              <a:ext cx="1299" cy="41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19" name="Line 20"/>
            <p:cNvSpPr>
              <a:spLocks noChangeShapeType="1"/>
            </p:cNvSpPr>
            <p:nvPr/>
          </p:nvSpPr>
          <p:spPr bwMode="auto">
            <a:xfrm flipH="1">
              <a:off x="801" y="1776"/>
              <a:ext cx="278" cy="2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20" name="Line 21"/>
            <p:cNvSpPr>
              <a:spLocks noChangeShapeType="1"/>
            </p:cNvSpPr>
            <p:nvPr/>
          </p:nvSpPr>
          <p:spPr bwMode="auto">
            <a:xfrm>
              <a:off x="2642" y="1010"/>
              <a:ext cx="1306" cy="43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2421" name="Oval 22"/>
            <p:cNvSpPr>
              <a:spLocks noChangeArrowheads="1"/>
            </p:cNvSpPr>
            <p:nvPr/>
          </p:nvSpPr>
          <p:spPr bwMode="auto">
            <a:xfrm>
              <a:off x="1898" y="768"/>
              <a:ext cx="779"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f(4,0)</a:t>
              </a:r>
            </a:p>
          </p:txBody>
        </p:sp>
        <p:sp>
          <p:nvSpPr>
            <p:cNvPr id="102422" name="Oval 23"/>
            <p:cNvSpPr>
              <a:spLocks noChangeArrowheads="1"/>
            </p:cNvSpPr>
            <p:nvPr/>
          </p:nvSpPr>
          <p:spPr bwMode="auto">
            <a:xfrm>
              <a:off x="941" y="1392"/>
              <a:ext cx="776"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f(1,1)</a:t>
              </a:r>
            </a:p>
          </p:txBody>
        </p:sp>
        <p:sp>
          <p:nvSpPr>
            <p:cNvPr id="102423" name="Oval 24"/>
            <p:cNvSpPr>
              <a:spLocks noChangeArrowheads="1"/>
            </p:cNvSpPr>
            <p:nvPr/>
          </p:nvSpPr>
          <p:spPr bwMode="auto">
            <a:xfrm>
              <a:off x="3760" y="1392"/>
              <a:ext cx="776"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f(3,1)</a:t>
              </a:r>
            </a:p>
          </p:txBody>
        </p:sp>
        <p:sp>
          <p:nvSpPr>
            <p:cNvPr id="102424" name="Oval 25"/>
            <p:cNvSpPr>
              <a:spLocks noChangeArrowheads="1"/>
            </p:cNvSpPr>
            <p:nvPr/>
          </p:nvSpPr>
          <p:spPr bwMode="auto">
            <a:xfrm>
              <a:off x="3995" y="2744"/>
              <a:ext cx="778"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f(0,3)</a:t>
              </a:r>
            </a:p>
          </p:txBody>
        </p:sp>
        <p:sp>
          <p:nvSpPr>
            <p:cNvPr id="102425" name="Oval 26"/>
            <p:cNvSpPr>
              <a:spLocks noChangeArrowheads="1"/>
            </p:cNvSpPr>
            <p:nvPr/>
          </p:nvSpPr>
          <p:spPr bwMode="auto">
            <a:xfrm>
              <a:off x="3064" y="2016"/>
              <a:ext cx="776"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f(0,2)</a:t>
              </a:r>
            </a:p>
          </p:txBody>
        </p:sp>
        <p:sp>
          <p:nvSpPr>
            <p:cNvPr id="102426" name="Oval 27"/>
            <p:cNvSpPr>
              <a:spLocks noChangeArrowheads="1"/>
            </p:cNvSpPr>
            <p:nvPr/>
          </p:nvSpPr>
          <p:spPr bwMode="auto">
            <a:xfrm>
              <a:off x="3102" y="2736"/>
              <a:ext cx="776"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f(0,3)</a:t>
              </a:r>
            </a:p>
          </p:txBody>
        </p:sp>
        <p:sp>
          <p:nvSpPr>
            <p:cNvPr id="102427" name="Oval 28"/>
            <p:cNvSpPr>
              <a:spLocks noChangeArrowheads="1"/>
            </p:cNvSpPr>
            <p:nvPr/>
          </p:nvSpPr>
          <p:spPr bwMode="auto">
            <a:xfrm>
              <a:off x="4840" y="2750"/>
              <a:ext cx="776"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f(1,3)</a:t>
              </a:r>
            </a:p>
          </p:txBody>
        </p:sp>
        <p:sp>
          <p:nvSpPr>
            <p:cNvPr id="102428" name="Oval 29"/>
            <p:cNvSpPr>
              <a:spLocks noChangeArrowheads="1"/>
            </p:cNvSpPr>
            <p:nvPr/>
          </p:nvSpPr>
          <p:spPr bwMode="auto">
            <a:xfrm>
              <a:off x="331" y="2016"/>
              <a:ext cx="779"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000000"/>
                  </a:solidFill>
                  <a:effectLst/>
                  <a:uLnTx/>
                  <a:uFillTx/>
                  <a:latin typeface="+mn-lt"/>
                  <a:ea typeface="+mn-ea"/>
                  <a:cs typeface="+mn-ea"/>
                  <a:sym typeface="+mn-lt"/>
                </a:rPr>
                <a:t>f(0,2)</a:t>
              </a:r>
            </a:p>
          </p:txBody>
        </p:sp>
        <p:sp>
          <p:nvSpPr>
            <p:cNvPr id="102429" name="Oval 30"/>
            <p:cNvSpPr>
              <a:spLocks noChangeArrowheads="1"/>
            </p:cNvSpPr>
            <p:nvPr/>
          </p:nvSpPr>
          <p:spPr bwMode="auto">
            <a:xfrm>
              <a:off x="1811" y="1392"/>
              <a:ext cx="774"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f(2,1)</a:t>
              </a:r>
            </a:p>
          </p:txBody>
        </p:sp>
        <p:sp>
          <p:nvSpPr>
            <p:cNvPr id="102430" name="Oval 31"/>
            <p:cNvSpPr>
              <a:spLocks noChangeArrowheads="1"/>
            </p:cNvSpPr>
            <p:nvPr/>
          </p:nvSpPr>
          <p:spPr bwMode="auto">
            <a:xfrm>
              <a:off x="1296" y="2016"/>
              <a:ext cx="796"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f(0,2)</a:t>
              </a:r>
            </a:p>
          </p:txBody>
        </p:sp>
        <p:sp>
          <p:nvSpPr>
            <p:cNvPr id="102431" name="Oval 32"/>
            <p:cNvSpPr>
              <a:spLocks noChangeArrowheads="1"/>
            </p:cNvSpPr>
            <p:nvPr/>
          </p:nvSpPr>
          <p:spPr bwMode="auto">
            <a:xfrm>
              <a:off x="2160" y="2016"/>
              <a:ext cx="796"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f(1,2)</a:t>
              </a:r>
            </a:p>
          </p:txBody>
        </p:sp>
        <p:sp>
          <p:nvSpPr>
            <p:cNvPr id="102432" name="Oval 33"/>
            <p:cNvSpPr>
              <a:spLocks noChangeArrowheads="1"/>
            </p:cNvSpPr>
            <p:nvPr/>
          </p:nvSpPr>
          <p:spPr bwMode="auto">
            <a:xfrm>
              <a:off x="3936" y="2016"/>
              <a:ext cx="796"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f(1,2)</a:t>
              </a:r>
            </a:p>
          </p:txBody>
        </p:sp>
        <p:sp>
          <p:nvSpPr>
            <p:cNvPr id="102433" name="Oval 34"/>
            <p:cNvSpPr>
              <a:spLocks noChangeArrowheads="1"/>
            </p:cNvSpPr>
            <p:nvPr/>
          </p:nvSpPr>
          <p:spPr bwMode="auto">
            <a:xfrm>
              <a:off x="4820" y="2016"/>
              <a:ext cx="796"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f(2,2)</a:t>
              </a:r>
            </a:p>
          </p:txBody>
        </p:sp>
        <p:sp>
          <p:nvSpPr>
            <p:cNvPr id="102434" name="Oval 35"/>
            <p:cNvSpPr>
              <a:spLocks noChangeArrowheads="1"/>
            </p:cNvSpPr>
            <p:nvPr/>
          </p:nvSpPr>
          <p:spPr bwMode="auto">
            <a:xfrm>
              <a:off x="4848" y="3482"/>
              <a:ext cx="793"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f(0,4)</a:t>
              </a:r>
            </a:p>
          </p:txBody>
        </p:sp>
        <p:sp>
          <p:nvSpPr>
            <p:cNvPr id="102435" name="Rectangle 36"/>
            <p:cNvSpPr>
              <a:spLocks noChangeArrowheads="1"/>
            </p:cNvSpPr>
            <p:nvPr/>
          </p:nvSpPr>
          <p:spPr bwMode="auto">
            <a:xfrm>
              <a:off x="977" y="177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1</a:t>
              </a:r>
            </a:p>
          </p:txBody>
        </p:sp>
        <p:sp>
          <p:nvSpPr>
            <p:cNvPr id="102436" name="Rectangle 37"/>
            <p:cNvSpPr>
              <a:spLocks noChangeArrowheads="1"/>
            </p:cNvSpPr>
            <p:nvPr/>
          </p:nvSpPr>
          <p:spPr bwMode="auto">
            <a:xfrm>
              <a:off x="1008" y="105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4</a:t>
              </a:r>
            </a:p>
          </p:txBody>
        </p:sp>
        <p:sp>
          <p:nvSpPr>
            <p:cNvPr id="102437" name="Rectangle 38"/>
            <p:cNvSpPr>
              <a:spLocks noChangeArrowheads="1"/>
            </p:cNvSpPr>
            <p:nvPr/>
          </p:nvSpPr>
          <p:spPr bwMode="auto">
            <a:xfrm>
              <a:off x="1680" y="1104"/>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3</a:t>
              </a:r>
            </a:p>
          </p:txBody>
        </p:sp>
        <p:sp>
          <p:nvSpPr>
            <p:cNvPr id="102438" name="Rectangle 39"/>
            <p:cNvSpPr>
              <a:spLocks noChangeArrowheads="1"/>
            </p:cNvSpPr>
            <p:nvPr/>
          </p:nvSpPr>
          <p:spPr bwMode="auto">
            <a:xfrm>
              <a:off x="2400" y="120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2</a:t>
              </a:r>
            </a:p>
          </p:txBody>
        </p:sp>
        <p:sp>
          <p:nvSpPr>
            <p:cNvPr id="102439" name="Rectangle 40"/>
            <p:cNvSpPr>
              <a:spLocks noChangeArrowheads="1"/>
            </p:cNvSpPr>
            <p:nvPr/>
          </p:nvSpPr>
          <p:spPr bwMode="auto">
            <a:xfrm>
              <a:off x="3425" y="105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1</a:t>
              </a:r>
            </a:p>
          </p:txBody>
        </p:sp>
        <p:sp>
          <p:nvSpPr>
            <p:cNvPr id="102440" name="Rectangle 41"/>
            <p:cNvSpPr>
              <a:spLocks noChangeArrowheads="1"/>
            </p:cNvSpPr>
            <p:nvPr/>
          </p:nvSpPr>
          <p:spPr bwMode="auto">
            <a:xfrm>
              <a:off x="2369" y="177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1</a:t>
              </a:r>
            </a:p>
          </p:txBody>
        </p:sp>
        <p:sp>
          <p:nvSpPr>
            <p:cNvPr id="102441" name="Oval 42"/>
            <p:cNvSpPr>
              <a:spLocks noChangeArrowheads="1"/>
            </p:cNvSpPr>
            <p:nvPr/>
          </p:nvSpPr>
          <p:spPr bwMode="auto">
            <a:xfrm>
              <a:off x="2160" y="2702"/>
              <a:ext cx="793" cy="418"/>
            </a:xfrm>
            <a:prstGeom prst="ellipse">
              <a:avLst/>
            </a:prstGeom>
            <a:solidFill>
              <a:srgbClr val="CCCCFF"/>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f(0,3)</a:t>
              </a:r>
            </a:p>
          </p:txBody>
        </p:sp>
        <p:sp>
          <p:nvSpPr>
            <p:cNvPr id="102442" name="Rectangle 43"/>
            <p:cNvSpPr>
              <a:spLocks noChangeArrowheads="1"/>
            </p:cNvSpPr>
            <p:nvPr/>
          </p:nvSpPr>
          <p:spPr bwMode="auto">
            <a:xfrm>
              <a:off x="3761" y="177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3</a:t>
              </a:r>
            </a:p>
          </p:txBody>
        </p:sp>
        <p:sp>
          <p:nvSpPr>
            <p:cNvPr id="102443" name="Rectangle 44"/>
            <p:cNvSpPr>
              <a:spLocks noChangeArrowheads="1"/>
            </p:cNvSpPr>
            <p:nvPr/>
          </p:nvSpPr>
          <p:spPr bwMode="auto">
            <a:xfrm>
              <a:off x="1680" y="177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2</a:t>
              </a:r>
            </a:p>
          </p:txBody>
        </p:sp>
        <p:sp>
          <p:nvSpPr>
            <p:cNvPr id="102444" name="Rectangle 45"/>
            <p:cNvSpPr>
              <a:spLocks noChangeArrowheads="1"/>
            </p:cNvSpPr>
            <p:nvPr/>
          </p:nvSpPr>
          <p:spPr bwMode="auto">
            <a:xfrm>
              <a:off x="4241" y="177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2</a:t>
              </a:r>
            </a:p>
          </p:txBody>
        </p:sp>
        <p:sp>
          <p:nvSpPr>
            <p:cNvPr id="102445" name="Rectangle 46"/>
            <p:cNvSpPr>
              <a:spLocks noChangeArrowheads="1"/>
            </p:cNvSpPr>
            <p:nvPr/>
          </p:nvSpPr>
          <p:spPr bwMode="auto">
            <a:xfrm>
              <a:off x="4913" y="177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1</a:t>
              </a:r>
            </a:p>
          </p:txBody>
        </p:sp>
        <p:sp>
          <p:nvSpPr>
            <p:cNvPr id="102446" name="Rectangle 47"/>
            <p:cNvSpPr>
              <a:spLocks noChangeArrowheads="1"/>
            </p:cNvSpPr>
            <p:nvPr/>
          </p:nvSpPr>
          <p:spPr bwMode="auto">
            <a:xfrm>
              <a:off x="3648" y="2448"/>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1</a:t>
              </a:r>
            </a:p>
          </p:txBody>
        </p:sp>
        <p:sp>
          <p:nvSpPr>
            <p:cNvPr id="102447" name="Rectangle 48"/>
            <p:cNvSpPr>
              <a:spLocks noChangeArrowheads="1"/>
            </p:cNvSpPr>
            <p:nvPr/>
          </p:nvSpPr>
          <p:spPr bwMode="auto">
            <a:xfrm>
              <a:off x="4673" y="249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2</a:t>
              </a:r>
            </a:p>
          </p:txBody>
        </p:sp>
        <p:sp>
          <p:nvSpPr>
            <p:cNvPr id="102448" name="Rectangle 49"/>
            <p:cNvSpPr>
              <a:spLocks noChangeArrowheads="1"/>
            </p:cNvSpPr>
            <p:nvPr/>
          </p:nvSpPr>
          <p:spPr bwMode="auto">
            <a:xfrm>
              <a:off x="5249" y="2448"/>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1</a:t>
              </a:r>
            </a:p>
          </p:txBody>
        </p:sp>
        <p:sp>
          <p:nvSpPr>
            <p:cNvPr id="102449" name="Rectangle 50"/>
            <p:cNvSpPr>
              <a:spLocks noChangeArrowheads="1"/>
            </p:cNvSpPr>
            <p:nvPr/>
          </p:nvSpPr>
          <p:spPr bwMode="auto">
            <a:xfrm>
              <a:off x="4961" y="3168"/>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1</a:t>
              </a:r>
            </a:p>
          </p:txBody>
        </p:sp>
        <p:sp>
          <p:nvSpPr>
            <p:cNvPr id="102450" name="Rectangle 51"/>
            <p:cNvSpPr>
              <a:spLocks noChangeArrowheads="1"/>
            </p:cNvSpPr>
            <p:nvPr/>
          </p:nvSpPr>
          <p:spPr bwMode="auto">
            <a:xfrm>
              <a:off x="2592" y="2448"/>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2"/>
                  </a:solidFill>
                  <a:effectLst/>
                  <a:uLnTx/>
                  <a:uFillTx/>
                  <a:latin typeface="+mn-lt"/>
                  <a:ea typeface="+mn-ea"/>
                  <a:cs typeface="+mn-ea"/>
                  <a:sym typeface="+mn-lt"/>
                </a:rPr>
                <a:t>1</a:t>
              </a:r>
            </a:p>
          </p:txBody>
        </p:sp>
      </p:grpSp>
      <p:pic>
        <p:nvPicPr>
          <p:cNvPr id="109575" name="Picture 52" descr="OMO]_7W4[9EP%)K7SS{(~8X"/>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50" y="4328052"/>
            <a:ext cx="3321052" cy="2130424"/>
          </a:xfrm>
          <a:prstGeom prst="roundRect">
            <a:avLst>
              <a:gd name="adj" fmla="val 8594"/>
            </a:avLst>
          </a:prstGeom>
          <a:solidFill>
            <a:srgbClr val="FFFFFF">
              <a:shade val="85000"/>
            </a:srgbClr>
          </a:solidFill>
          <a:ln>
            <a:noFill/>
          </a:ln>
          <a:effectLst/>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4"/>
          <p:cNvSpPr>
            <a:spLocks noChangeArrowheads="1"/>
          </p:cNvSpPr>
          <p:nvPr/>
        </p:nvSpPr>
        <p:spPr bwMode="auto">
          <a:xfrm>
            <a:off x="0" y="981075"/>
            <a:ext cx="9144000" cy="5632450"/>
          </a:xfrm>
          <a:prstGeom prst="rect">
            <a:avLst/>
          </a:prstGeom>
          <a:solidFill>
            <a:srgbClr val="CCCCFF"/>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源程序</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#include &lt;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stdio.h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a:t>
            </a:r>
          </a:p>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 s=0,  a[10]={0};</a:t>
            </a:r>
          </a:p>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void f(int n ,int k)</a:t>
            </a:r>
          </a:p>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int </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p>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if (n&gt;0)   for(</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=n; </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&gt;=1;  </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p>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   a[k]=</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f(n-i,k+1) ;}</a:t>
            </a:r>
          </a:p>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else  	  {  for (</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=0; </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&lt;k; </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printf</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("%5d",a[</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p>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printf</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("\n");	s++;	}		</a:t>
            </a:r>
          </a:p>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p>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400" b="0" i="0" u="none" strike="noStrike" kern="1200" cap="none" spc="0" normalizeH="0" baseline="0" noProof="0" dirty="0">
              <a:ln>
                <a:noFill/>
              </a:ln>
              <a:solidFill>
                <a:srgbClr val="CC3300"/>
              </a:solidFill>
              <a:effectLst/>
              <a:uLnTx/>
              <a:uFillTx/>
              <a:latin typeface="+mn-lt"/>
              <a:ea typeface="+mn-ea"/>
              <a:cs typeface="+mn-ea"/>
              <a:sym typeface="+mn-lt"/>
            </a:endParaRPr>
          </a:p>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void main( )</a:t>
            </a:r>
          </a:p>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int n;</a:t>
            </a:r>
          </a:p>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scanf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d",&amp;n</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f(n, 0);</a:t>
            </a:r>
          </a:p>
          <a:p>
            <a:pPr marL="72009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printf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("s=%d\</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n",s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pic>
        <p:nvPicPr>
          <p:cNvPr id="108549" name="Picture 5" descr="OMO]_7W4[9EP%)K7SS{(~8X"/>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91200" y="4365104"/>
            <a:ext cx="3352800" cy="1927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p:cNvSpPr>
            <a:spLocks noChangeArrowheads="1"/>
          </p:cNvSpPr>
          <p:nvPr/>
        </p:nvSpPr>
        <p:spPr bwMode="auto">
          <a:xfrm>
            <a:off x="900113" y="222250"/>
            <a:ext cx="4067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递归巩固练习</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3</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427" name="Rectangle 4"/>
          <p:cNvSpPr>
            <a:spLocks noChangeArrowheads="1"/>
          </p:cNvSpPr>
          <p:nvPr/>
        </p:nvSpPr>
        <p:spPr bwMode="auto">
          <a:xfrm>
            <a:off x="0" y="966788"/>
            <a:ext cx="9145588" cy="5692775"/>
          </a:xfrm>
          <a:prstGeom prst="rect">
            <a:avLst/>
          </a:prstGeom>
          <a:solidFill>
            <a:srgbClr val="CCCCFF"/>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源程序</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2</a:t>
            </a:r>
            <a:r>
              <a:rPr kumimoji="0" lang="zh-CN" altLang="en-US" sz="2400" b="0" i="0" u="none" strike="noStrike" kern="1200" cap="none" spc="0" normalizeH="0" baseline="0" noProof="0" dirty="0">
                <a:ln>
                  <a:noFill/>
                </a:ln>
                <a:solidFill>
                  <a:schemeClr val="tx2"/>
                </a:solidFill>
                <a:effectLst/>
                <a:uLnTx/>
                <a:uFillTx/>
                <a:latin typeface="+mn-lt"/>
                <a:ea typeface="+mn-ea"/>
                <a:cs typeface="+mn-ea"/>
                <a:sym typeface="+mn-lt"/>
              </a:rPr>
              <a:t>：</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#include &lt;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stdio.h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 s=0,  a[10]={0};</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void f(int n ,int k)</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for(int </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=1; </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&lt;=n;  </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   	a[k]=</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if     (n-</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&gt;0) 	   f(n-i,k+1);</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else    if (n-</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==0) </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 	 for (int j=0; j&lt;=k; </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j++</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printf</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("%5d",a[j]);</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printf</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("\n");	s++;	}</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endParaRPr kumimoji="0" lang="en-US" altLang="zh-CN" sz="2400" b="0" i="0" u="none" strike="noStrike" kern="1200" cap="none" spc="0" normalizeH="0" baseline="0" noProof="0" dirty="0">
              <a:ln>
                <a:noFill/>
              </a:ln>
              <a:solidFill>
                <a:srgbClr val="CC3300"/>
              </a:solidFill>
              <a:effectLst/>
              <a:uLnTx/>
              <a:uFillTx/>
              <a:latin typeface="+mn-lt"/>
              <a:ea typeface="+mn-ea"/>
              <a:cs typeface="+mn-ea"/>
              <a:sym typeface="+mn-lt"/>
            </a:endParaRP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void main( )</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int n;</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scanf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d",&amp;n</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f(n, 0);</a:t>
            </a:r>
          </a:p>
          <a:p>
            <a:pPr marL="720090" marR="0" lvl="0" indent="0" algn="l" defTabSz="914400" rtl="0" eaLnBrk="1" fontAlgn="base" latinLnBrk="0" hangingPunct="1">
              <a:lnSpc>
                <a:spcPct val="8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printf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("s=%d\</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n",s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pic>
        <p:nvPicPr>
          <p:cNvPr id="110597" name="Picture 5" descr="5VX0D_]8X8NMKVVT305B1FH"/>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085792" y="4581128"/>
            <a:ext cx="3059832" cy="1946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p:cNvSpPr>
            <a:spLocks noChangeArrowheads="1"/>
          </p:cNvSpPr>
          <p:nvPr/>
        </p:nvSpPr>
        <p:spPr bwMode="auto">
          <a:xfrm>
            <a:off x="898525" y="198438"/>
            <a:ext cx="1981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递归调用树</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4690" name="矩形 1"/>
          <p:cNvSpPr/>
          <p:nvPr/>
        </p:nvSpPr>
        <p:spPr>
          <a:xfrm>
            <a:off x="0" y="1052513"/>
            <a:ext cx="9144000" cy="4537075"/>
          </a:xfrm>
          <a:prstGeom prst="rect">
            <a:avLst/>
          </a:prstGeom>
          <a:solidFill>
            <a:srgbClr val="D4E6F4"/>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04451" name="Text Box 4"/>
          <p:cNvSpPr txBox="1">
            <a:spLocks noChangeArrowheads="1"/>
          </p:cNvSpPr>
          <p:nvPr/>
        </p:nvSpPr>
        <p:spPr bwMode="auto">
          <a:xfrm>
            <a:off x="611188" y="1052513"/>
            <a:ext cx="8305800" cy="554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输出一个正整数</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的分解形式。例如</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当</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n=4</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时：</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4=4</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4=3+1</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4=2+2</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4=2+1+1</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4=1+1+1+1</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共计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5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种形式。</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当</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n=7</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时，共有</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15</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种形式。</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当</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n=10</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时，共有</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42</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种形式。</a:t>
            </a: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endPar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1" fontAlgn="base" latinLnBrk="0" hangingPunct="1">
              <a:lnSpc>
                <a:spcPct val="125000"/>
              </a:lnSpc>
              <a:spcBef>
                <a:spcPct val="0"/>
              </a:spcBef>
              <a:spcAft>
                <a:spcPct val="0"/>
              </a:spcAft>
              <a:buClrTx/>
              <a:buSzTx/>
              <a:buFont typeface="Arial" panose="020B0604020202020204" pitchFamily="34" charset="0"/>
              <a:buNone/>
              <a:defRPr/>
            </a:pPr>
            <a:r>
              <a:rPr kumimoji="0" lang="zh-CN" altLang="en-US" sz="2600" b="0" i="0" u="none" strike="noStrike" kern="1200" cap="none" spc="0" normalizeH="0" baseline="0" noProof="0" dirty="0">
                <a:ln>
                  <a:noFill/>
                </a:ln>
                <a:solidFill>
                  <a:srgbClr val="FF0000"/>
                </a:solidFill>
                <a:effectLst/>
                <a:uLnTx/>
                <a:uFillTx/>
                <a:latin typeface="+mn-lt"/>
                <a:ea typeface="+mn-ea"/>
                <a:cs typeface="+mn-ea"/>
                <a:sym typeface="+mn-lt"/>
              </a:rPr>
              <a:t>	注意：与练习</a:t>
            </a: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3</a:t>
            </a:r>
            <a:r>
              <a:rPr kumimoji="0" lang="zh-CN" altLang="en-US" sz="2600" b="0" i="0" u="none" strike="noStrike" kern="1200" cap="none" spc="0" normalizeH="0" baseline="0" noProof="0" dirty="0">
                <a:ln>
                  <a:noFill/>
                </a:ln>
                <a:solidFill>
                  <a:srgbClr val="FF0000"/>
                </a:solidFill>
                <a:effectLst/>
                <a:uLnTx/>
                <a:uFillTx/>
                <a:latin typeface="+mn-lt"/>
                <a:ea typeface="+mn-ea"/>
                <a:cs typeface="+mn-ea"/>
                <a:sym typeface="+mn-lt"/>
              </a:rPr>
              <a:t>的区别</a:t>
            </a:r>
            <a:r>
              <a:rPr kumimoji="0" lang="zh-CN" altLang="en-US" sz="2600" b="0" i="0" u="none" strike="noStrike" kern="1200" cap="none" spc="0" normalizeH="0" baseline="0" noProof="0" dirty="0">
                <a:ln>
                  <a:noFill/>
                </a:ln>
                <a:solidFill>
                  <a:srgbClr val="CC3300"/>
                </a:solidFill>
                <a:effectLst/>
                <a:uLnTx/>
                <a:uFillTx/>
                <a:latin typeface="+mn-lt"/>
                <a:ea typeface="+mn-ea"/>
                <a:cs typeface="+mn-ea"/>
                <a:sym typeface="+mn-lt"/>
              </a:rPr>
              <a:t>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104452" name="Rectangle 5"/>
          <p:cNvSpPr>
            <a:spLocks noChangeArrowheads="1"/>
          </p:cNvSpPr>
          <p:nvPr/>
        </p:nvSpPr>
        <p:spPr bwMode="auto">
          <a:xfrm>
            <a:off x="827088" y="196850"/>
            <a:ext cx="4067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递归巩固练习</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4</a:t>
            </a:r>
          </a:p>
        </p:txBody>
      </p:sp>
      <p:sp>
        <p:nvSpPr>
          <p:cNvPr id="114693" name="矩形 2"/>
          <p:cNvSpPr/>
          <p:nvPr/>
        </p:nvSpPr>
        <p:spPr>
          <a:xfrm>
            <a:off x="0" y="5805488"/>
            <a:ext cx="9144000" cy="115887"/>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475" name="Rectangle 4"/>
          <p:cNvSpPr>
            <a:spLocks noChangeArrowheads="1"/>
          </p:cNvSpPr>
          <p:nvPr/>
        </p:nvSpPr>
        <p:spPr bwMode="auto">
          <a:xfrm>
            <a:off x="0" y="925513"/>
            <a:ext cx="9144000" cy="5743575"/>
          </a:xfrm>
          <a:prstGeom prst="rect">
            <a:avLst/>
          </a:prstGeom>
          <a:solidFill>
            <a:schemeClr val="bg2">
              <a:lumMod val="40000"/>
              <a:lumOff val="60000"/>
            </a:schemeClr>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#include &lt;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stdio.h</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 s=0,  a[10]={0};</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void f(int n ,int k)</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for(int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&lt;=n;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a[k]=</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 ( n-</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&gt;0</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 &amp;&amp; a[k-1]&lt;=</a:t>
            </a:r>
            <a:r>
              <a:rPr kumimoji="0" lang="en-US" altLang="zh-CN" sz="2400" b="0" i="0" u="none" strike="noStrike" kern="1200" cap="none" spc="0" normalizeH="0" baseline="0" noProof="0" dirty="0" err="1">
                <a:ln>
                  <a:noFill/>
                </a:ln>
                <a:solidFill>
                  <a:schemeClr val="tx2"/>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f(n-i,k+1);</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else  if (n-</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 </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&amp;&amp; a[k-1]&lt;=a[k]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  for (int j=</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1</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j&lt;=k;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j++</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printf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("%5d",a[j]);</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printf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	s++;	}</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void main( )</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int n;</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scanf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d",&amp;n</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f(n, </a:t>
            </a:r>
            <a:r>
              <a:rPr kumimoji="0" lang="en-US" altLang="zh-CN" sz="2400" b="0" i="0" u="none" strike="noStrike" kern="1200" cap="none" spc="0" normalizeH="0" baseline="0" noProof="0" dirty="0">
                <a:ln>
                  <a:noFill/>
                </a:ln>
                <a:solidFill>
                  <a:schemeClr val="tx2"/>
                </a:solidFill>
                <a:effectLst/>
                <a:uLnTx/>
                <a:uFillTx/>
                <a:latin typeface="+mn-lt"/>
                <a:ea typeface="+mn-ea"/>
                <a:cs typeface="+mn-ea"/>
                <a:sym typeface="+mn-lt"/>
              </a:rPr>
              <a:t>1</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printf</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("s=%d\</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n",s</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a:p>
            <a:pPr marL="72009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pic>
        <p:nvPicPr>
          <p:cNvPr id="112645" name="Picture 5" descr="9}PEWFWRZPG(T$I3IU0QQRA"/>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04403" y="4293096"/>
            <a:ext cx="4239597" cy="224142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6" name="Rectangle 5"/>
          <p:cNvSpPr>
            <a:spLocks noChangeArrowheads="1"/>
          </p:cNvSpPr>
          <p:nvPr/>
        </p:nvSpPr>
        <p:spPr bwMode="auto">
          <a:xfrm>
            <a:off x="827088" y="196850"/>
            <a:ext cx="4067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递归巩固练习</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750" y="4767580"/>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500188" y="4767580"/>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b="0" kern="1200" cap="none" spc="0" normalizeH="0" baseline="0" noProof="0" dirty="0">
                <a:solidFill>
                  <a:srgbClr val="FEFFFF"/>
                </a:solidFill>
                <a:latin typeface="+mn-lt"/>
                <a:ea typeface="+mn-ea"/>
                <a:cs typeface="+mn-ea"/>
                <a:sym typeface="+mn-lt"/>
              </a:rPr>
              <a:t>目录导航</a:t>
            </a:r>
          </a:p>
        </p:txBody>
      </p:sp>
      <p:sp>
        <p:nvSpPr>
          <p:cNvPr id="14" name="文本框 13"/>
          <p:cNvSpPr txBox="1"/>
          <p:nvPr/>
        </p:nvSpPr>
        <p:spPr>
          <a:xfrm>
            <a:off x="1619250" y="2471738"/>
            <a:ext cx="720725" cy="3969385"/>
          </a:xfrm>
          <a:prstGeom prst="rect">
            <a:avLst/>
          </a:prstGeom>
          <a:noFill/>
        </p:spPr>
        <p:txBody>
          <a:bodyPr>
            <a:spAutoFit/>
          </a:bodyPr>
          <a:lstStyle/>
          <a:p>
            <a:pPr marR="0" defTabSz="914400">
              <a:lnSpc>
                <a:spcPct val="150000"/>
              </a:lnSpc>
              <a:buClrTx/>
              <a:buSzTx/>
              <a:buFontTx/>
              <a:buNone/>
              <a:defRPr/>
            </a:pPr>
            <a:r>
              <a:rPr kumimoji="0" lang="en-US" altLang="zh-CN" b="0" kern="1200" cap="none" spc="0" normalizeH="0" baseline="0" noProof="0" dirty="0">
                <a:solidFill>
                  <a:schemeClr val="tx1"/>
                </a:solidFill>
                <a:latin typeface="+mn-lt"/>
                <a:ea typeface="+mn-ea"/>
                <a:cs typeface="+mn-ea"/>
                <a:sym typeface="+mn-lt"/>
              </a:rPr>
              <a:t>3.1</a:t>
            </a:r>
            <a:endParaRPr kumimoji="0" lang="zh-CN" altLang="en-US" b="0" kern="1200" cap="none" spc="0" normalizeH="0" baseline="0" noProof="0" dirty="0">
              <a:solidFill>
                <a:srgbClr val="FEFFFF"/>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3.2</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3.3</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3.4</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chemeClr val="bg1"/>
                </a:solidFill>
                <a:latin typeface="+mn-lt"/>
                <a:ea typeface="+mn-ea"/>
                <a:cs typeface="+mn-ea"/>
                <a:sym typeface="+mn-lt"/>
              </a:rPr>
              <a:t>3.5</a:t>
            </a:r>
            <a:endParaRPr kumimoji="0" lang="zh-CN" altLang="en-US" b="0" kern="1200" cap="none" spc="0" normalizeH="0" baseline="0" noProof="0" dirty="0">
              <a:solidFill>
                <a:schemeClr val="bg1"/>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3.6</a:t>
            </a: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3.7</a:t>
            </a:r>
          </a:p>
        </p:txBody>
      </p:sp>
      <p:sp>
        <p:nvSpPr>
          <p:cNvPr id="15" name="文本框 14"/>
          <p:cNvSpPr txBox="1"/>
          <p:nvPr/>
        </p:nvSpPr>
        <p:spPr>
          <a:xfrm>
            <a:off x="2457450" y="2471738"/>
            <a:ext cx="4129088" cy="3969385"/>
          </a:xfrm>
          <a:prstGeom prst="rect">
            <a:avLst/>
          </a:prstGeom>
          <a:noFill/>
        </p:spPr>
        <p:txBody>
          <a:bodyPr>
            <a:spAutoFit/>
          </a:bodyPr>
          <a:lstStyle/>
          <a:p>
            <a:pPr marR="0" defTabSz="914400">
              <a:lnSpc>
                <a:spcPct val="150000"/>
              </a:lnSpc>
              <a:buClrTx/>
              <a:buSzTx/>
              <a:buFontTx/>
              <a:buNone/>
              <a:defRPr/>
            </a:pPr>
            <a:r>
              <a:rPr kumimoji="0" lang="zh-CN" altLang="en-US" b="0" kern="1200" cap="none" spc="0" normalizeH="0" baseline="0" noProof="0" dirty="0">
                <a:solidFill>
                  <a:schemeClr val="tx1"/>
                </a:solidFill>
                <a:latin typeface="+mn-lt"/>
                <a:ea typeface="+mn-ea"/>
                <a:cs typeface="+mn-ea"/>
                <a:sym typeface="+mn-lt"/>
              </a:rPr>
              <a:t>栈和队列的定义和特点</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案例引入</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栈的表示和操作的实现</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栈与递归</a:t>
            </a:r>
          </a:p>
          <a:p>
            <a:pPr marR="0" defTabSz="914400">
              <a:lnSpc>
                <a:spcPct val="150000"/>
              </a:lnSpc>
              <a:buClrTx/>
              <a:buSzTx/>
              <a:buFontTx/>
              <a:buNone/>
              <a:defRPr/>
            </a:pPr>
            <a:r>
              <a:rPr kumimoji="0" lang="zh-CN" altLang="en-US" b="0" kern="1200" cap="none" spc="0" normalizeH="0" baseline="0" noProof="0" dirty="0">
                <a:solidFill>
                  <a:schemeClr val="bg1"/>
                </a:solidFill>
                <a:latin typeface="+mn-lt"/>
                <a:ea typeface="+mn-ea"/>
                <a:cs typeface="+mn-ea"/>
                <a:sym typeface="+mn-lt"/>
              </a:rPr>
              <a:t>队列的的表示和操作的实现</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案例分析与实现</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LeetCode算法练习题</a:t>
            </a: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107950" y="1006475"/>
            <a:ext cx="4965700" cy="2259013"/>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2" name="标题 1"/>
          <p:cNvSpPr>
            <a:spLocks noGrp="1"/>
          </p:cNvSpPr>
          <p:nvPr>
            <p:ph type="title"/>
          </p:nvPr>
        </p:nvSpPr>
        <p:spPr>
          <a:xfrm>
            <a:off x="844550" y="236538"/>
            <a:ext cx="6400800" cy="45561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队列</a:t>
            </a:r>
          </a:p>
        </p:txBody>
      </p:sp>
      <p:sp>
        <p:nvSpPr>
          <p:cNvPr id="15364" name="Rectangle 8"/>
          <p:cNvSpPr>
            <a:spLocks noChangeArrowheads="1"/>
          </p:cNvSpPr>
          <p:nvPr/>
        </p:nvSpPr>
        <p:spPr bwMode="auto">
          <a:xfrm>
            <a:off x="469900" y="1046163"/>
            <a:ext cx="4389438" cy="1897063"/>
          </a:xfrm>
          <a:prstGeom prst="rect">
            <a:avLst/>
          </a:prstGeom>
          <a:noFill/>
          <a:ln w="38100">
            <a:noFill/>
            <a:miter lim="800000"/>
          </a:ln>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720725" algn="just" defTabSz="914400" rtl="0" eaLnBrk="0" fontAlgn="base" latinLnBrk="0" hangingPunct="0">
              <a:lnSpc>
                <a:spcPct val="13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rPr>
              <a:t>队列是一种先进先出</a:t>
            </a:r>
            <a:r>
              <a:rPr kumimoji="0" lang="en-US" altLang="zh-CN" sz="2800" b="0" i="0" u="none" strike="noStrike" kern="1200" cap="none" spc="0" normalizeH="0" baseline="0" noProof="0" dirty="0">
                <a:ln>
                  <a:noFill/>
                </a:ln>
                <a:solidFill>
                  <a:srgbClr val="000000"/>
                </a:solidFill>
                <a:effectLst/>
                <a:uLnTx/>
                <a:uFillTx/>
                <a:latin typeface="+mn-lt"/>
                <a:ea typeface="+mn-ea"/>
                <a:cs typeface="+mn-ea"/>
                <a:sym typeface="+mn-lt"/>
              </a:rPr>
              <a:t>(FIFO) </a:t>
            </a:r>
            <a:r>
              <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rPr>
              <a:t>的线性表</a:t>
            </a:r>
            <a:r>
              <a:rPr kumimoji="0" lang="en-US" altLang="zh-CN" sz="2800" b="0" i="0" u="none" strike="noStrike" kern="1200" cap="none" spc="0" normalizeH="0" baseline="0" noProof="0" dirty="0">
                <a:ln>
                  <a:noFill/>
                </a:ln>
                <a:solidFill>
                  <a:srgbClr val="000000"/>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rPr>
              <a:t>在表一端插入</a:t>
            </a:r>
            <a:r>
              <a:rPr kumimoji="0" lang="en-US" altLang="zh-CN" sz="2800" b="0" i="0" u="none" strike="noStrike" kern="1200" cap="none" spc="0" normalizeH="0" baseline="0" noProof="0" dirty="0">
                <a:ln>
                  <a:noFill/>
                </a:ln>
                <a:solidFill>
                  <a:srgbClr val="000000"/>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rPr>
              <a:t>在另一端删除</a:t>
            </a:r>
          </a:p>
        </p:txBody>
      </p:sp>
      <p:graphicFrame>
        <p:nvGraphicFramePr>
          <p:cNvPr id="22533" name="Object 9"/>
          <p:cNvGraphicFramePr/>
          <p:nvPr/>
        </p:nvGraphicFramePr>
        <p:xfrm>
          <a:off x="3721100" y="3598863"/>
          <a:ext cx="4070350" cy="812800"/>
        </p:xfrm>
        <a:graphic>
          <a:graphicData uri="http://schemas.openxmlformats.org/presentationml/2006/ole">
            <mc:AlternateContent xmlns:mc="http://schemas.openxmlformats.org/markup-compatibility/2006">
              <mc:Choice xmlns:v="urn:schemas-microsoft-com:vml" Requires="v">
                <p:oleObj spid="_x0000_s16395" r:id="rId4" imgW="1143000" imgH="228600" progId="Equation.3">
                  <p:embed/>
                </p:oleObj>
              </mc:Choice>
              <mc:Fallback>
                <p:oleObj r:id="rId4" imgW="1143000" imgH="228600" progId="Equation.3">
                  <p:embed/>
                  <p:pic>
                    <p:nvPicPr>
                      <p:cNvPr id="0" name=""/>
                      <p:cNvPicPr/>
                      <p:nvPr/>
                    </p:nvPicPr>
                    <p:blipFill>
                      <a:blip r:embed="rId5"/>
                      <a:stretch>
                        <a:fillRect/>
                      </a:stretch>
                    </p:blipFill>
                    <p:spPr>
                      <a:xfrm>
                        <a:off x="3721100" y="3598863"/>
                        <a:ext cx="4070350" cy="812800"/>
                      </a:xfrm>
                      <a:prstGeom prst="rect">
                        <a:avLst/>
                      </a:prstGeom>
                      <a:solidFill>
                        <a:srgbClr val="D4E6F4"/>
                      </a:solidFill>
                      <a:ln w="38100">
                        <a:noFill/>
                        <a:miter/>
                      </a:ln>
                    </p:spPr>
                  </p:pic>
                </p:oleObj>
              </mc:Fallback>
            </mc:AlternateContent>
          </a:graphicData>
        </a:graphic>
      </p:graphicFrame>
      <p:sp>
        <p:nvSpPr>
          <p:cNvPr id="760842" name="Line 10"/>
          <p:cNvSpPr>
            <a:spLocks noChangeShapeType="1"/>
          </p:cNvSpPr>
          <p:nvPr/>
        </p:nvSpPr>
        <p:spPr bwMode="auto">
          <a:xfrm>
            <a:off x="1111250" y="4460875"/>
            <a:ext cx="5257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760843" name="Line 11"/>
          <p:cNvSpPr>
            <a:spLocks noChangeShapeType="1"/>
          </p:cNvSpPr>
          <p:nvPr/>
        </p:nvSpPr>
        <p:spPr bwMode="auto">
          <a:xfrm>
            <a:off x="1111250" y="5375275"/>
            <a:ext cx="5257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760844" name="Text Box 12"/>
          <p:cNvSpPr txBox="1">
            <a:spLocks noChangeArrowheads="1"/>
          </p:cNvSpPr>
          <p:nvPr/>
        </p:nvSpPr>
        <p:spPr bwMode="auto">
          <a:xfrm>
            <a:off x="1416050" y="4503738"/>
            <a:ext cx="5953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000" b="1" i="0" u="none" strike="noStrike" kern="1200" cap="none" spc="0" normalizeH="0" baseline="0" noProof="0">
                <a:ln>
                  <a:noFill/>
                </a:ln>
                <a:solidFill>
                  <a:srgbClr val="000000"/>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1</a:t>
            </a:r>
          </a:p>
        </p:txBody>
      </p:sp>
      <p:sp>
        <p:nvSpPr>
          <p:cNvPr id="760845" name="Text Box 13"/>
          <p:cNvSpPr txBox="1">
            <a:spLocks noChangeArrowheads="1"/>
          </p:cNvSpPr>
          <p:nvPr/>
        </p:nvSpPr>
        <p:spPr bwMode="auto">
          <a:xfrm>
            <a:off x="2225675" y="4503738"/>
            <a:ext cx="5953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000" b="1" i="0" u="none" strike="noStrike" kern="1200" cap="none" spc="0" normalizeH="0" baseline="0" noProof="0">
                <a:ln>
                  <a:noFill/>
                </a:ln>
                <a:solidFill>
                  <a:srgbClr val="000000"/>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2</a:t>
            </a:r>
          </a:p>
        </p:txBody>
      </p:sp>
      <p:sp>
        <p:nvSpPr>
          <p:cNvPr id="760846" name="Text Box 14"/>
          <p:cNvSpPr txBox="1">
            <a:spLocks noChangeArrowheads="1"/>
          </p:cNvSpPr>
          <p:nvPr/>
        </p:nvSpPr>
        <p:spPr bwMode="auto">
          <a:xfrm>
            <a:off x="3140075" y="4537075"/>
            <a:ext cx="7143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000" b="1" i="0" u="none" strike="noStrike" kern="1200" cap="none" spc="0" normalizeH="0" baseline="0" noProof="0">
                <a:ln>
                  <a:noFill/>
                </a:ln>
                <a:solidFill>
                  <a:srgbClr val="000000"/>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3</a:t>
            </a:r>
          </a:p>
        </p:txBody>
      </p:sp>
      <p:sp>
        <p:nvSpPr>
          <p:cNvPr id="760847" name="Text Box 15"/>
          <p:cNvSpPr txBox="1">
            <a:spLocks noChangeArrowheads="1"/>
          </p:cNvSpPr>
          <p:nvPr/>
        </p:nvSpPr>
        <p:spPr bwMode="auto">
          <a:xfrm>
            <a:off x="4768850" y="4487863"/>
            <a:ext cx="6127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000" b="1" i="0" u="none" strike="noStrike" kern="1200" cap="none" spc="0" normalizeH="0" baseline="0" noProof="0">
                <a:ln>
                  <a:noFill/>
                </a:ln>
                <a:solidFill>
                  <a:srgbClr val="000000"/>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n</a:t>
            </a:r>
          </a:p>
        </p:txBody>
      </p:sp>
      <p:sp>
        <p:nvSpPr>
          <p:cNvPr id="760848" name="Text Box 16"/>
          <p:cNvSpPr txBox="1">
            <a:spLocks noChangeArrowheads="1"/>
          </p:cNvSpPr>
          <p:nvPr/>
        </p:nvSpPr>
        <p:spPr bwMode="auto">
          <a:xfrm>
            <a:off x="3854450" y="4411663"/>
            <a:ext cx="5683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4000" b="1" i="0" u="none" strike="noStrike" kern="1200" cap="none" spc="0" normalizeH="0" baseline="0" noProof="0">
                <a:ln>
                  <a:noFill/>
                </a:ln>
                <a:solidFill>
                  <a:srgbClr val="000000"/>
                </a:solidFill>
                <a:effectLst/>
                <a:uLnTx/>
                <a:uFillTx/>
                <a:latin typeface="+mn-lt"/>
                <a:ea typeface="+mn-ea"/>
                <a:cs typeface="+mn-ea"/>
                <a:sym typeface="+mn-lt"/>
              </a:rPr>
              <a:t>...</a:t>
            </a:r>
            <a:endPar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760849" name="Line 17"/>
          <p:cNvSpPr>
            <a:spLocks noChangeShapeType="1"/>
          </p:cNvSpPr>
          <p:nvPr/>
        </p:nvSpPr>
        <p:spPr bwMode="auto">
          <a:xfrm flipH="1">
            <a:off x="6445250" y="4994275"/>
            <a:ext cx="1143000" cy="0"/>
          </a:xfrm>
          <a:prstGeom prst="line">
            <a:avLst/>
          </a:prstGeom>
          <a:noFill/>
          <a:ln w="57150">
            <a:solidFill>
              <a:srgbClr val="6C4C8F"/>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760850" name="Text Box 18"/>
          <p:cNvSpPr txBox="1">
            <a:spLocks noChangeArrowheads="1"/>
          </p:cNvSpPr>
          <p:nvPr/>
        </p:nvSpPr>
        <p:spPr bwMode="auto">
          <a:xfrm>
            <a:off x="6369050" y="4460875"/>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0000"/>
                </a:solidFill>
                <a:effectLst/>
                <a:uLnTx/>
                <a:uFillTx/>
                <a:latin typeface="+mn-lt"/>
                <a:ea typeface="+mn-ea"/>
                <a:cs typeface="+mn-ea"/>
                <a:sym typeface="+mn-lt"/>
              </a:rPr>
              <a:t>入队列</a:t>
            </a:r>
          </a:p>
        </p:txBody>
      </p:sp>
      <p:sp>
        <p:nvSpPr>
          <p:cNvPr id="760851" name="Line 19"/>
          <p:cNvSpPr>
            <a:spLocks noChangeShapeType="1"/>
          </p:cNvSpPr>
          <p:nvPr/>
        </p:nvSpPr>
        <p:spPr bwMode="auto">
          <a:xfrm>
            <a:off x="1644650" y="5375275"/>
            <a:ext cx="0" cy="381000"/>
          </a:xfrm>
          <a:prstGeom prst="line">
            <a:avLst/>
          </a:prstGeom>
          <a:noFill/>
          <a:ln w="38100">
            <a:solidFill>
              <a:srgbClr val="FF0066"/>
            </a:solidFill>
            <a:round/>
            <a:head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760852" name="Line 20"/>
          <p:cNvSpPr>
            <a:spLocks noChangeShapeType="1"/>
          </p:cNvSpPr>
          <p:nvPr/>
        </p:nvSpPr>
        <p:spPr bwMode="auto">
          <a:xfrm>
            <a:off x="5073650" y="5375275"/>
            <a:ext cx="0" cy="381000"/>
          </a:xfrm>
          <a:prstGeom prst="line">
            <a:avLst/>
          </a:prstGeom>
          <a:noFill/>
          <a:ln w="38100">
            <a:solidFill>
              <a:srgbClr val="FF0066"/>
            </a:solidFill>
            <a:round/>
            <a:head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760853" name="Text Box 21"/>
          <p:cNvSpPr txBox="1">
            <a:spLocks noChangeArrowheads="1"/>
          </p:cNvSpPr>
          <p:nvPr/>
        </p:nvSpPr>
        <p:spPr bwMode="auto">
          <a:xfrm>
            <a:off x="1420813" y="5862638"/>
            <a:ext cx="5540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0000"/>
                </a:solidFill>
                <a:effectLst/>
                <a:uLnTx/>
                <a:uFillTx/>
                <a:latin typeface="+mn-lt"/>
                <a:ea typeface="+mn-ea"/>
                <a:cs typeface="+mn-ea"/>
                <a:sym typeface="+mn-lt"/>
              </a:rPr>
              <a:t>队头</a:t>
            </a:r>
          </a:p>
        </p:txBody>
      </p:sp>
      <p:sp>
        <p:nvSpPr>
          <p:cNvPr id="760854" name="Text Box 22"/>
          <p:cNvSpPr txBox="1">
            <a:spLocks noChangeArrowheads="1"/>
          </p:cNvSpPr>
          <p:nvPr/>
        </p:nvSpPr>
        <p:spPr bwMode="auto">
          <a:xfrm>
            <a:off x="4764088" y="5832475"/>
            <a:ext cx="5540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0000"/>
                </a:solidFill>
                <a:effectLst/>
                <a:uLnTx/>
                <a:uFillTx/>
                <a:latin typeface="+mn-lt"/>
                <a:ea typeface="+mn-ea"/>
                <a:cs typeface="+mn-ea"/>
                <a:sym typeface="+mn-lt"/>
              </a:rPr>
              <a:t>队尾</a:t>
            </a:r>
          </a:p>
        </p:txBody>
      </p:sp>
      <p:pic>
        <p:nvPicPr>
          <p:cNvPr id="25" name="Picture 11" descr="u=1184928351,156208397&amp;fm=52&amp;gp=0"/>
          <p:cNvPicPr>
            <a:picLocks noChangeAspect="1"/>
          </p:cNvPicPr>
          <p:nvPr/>
        </p:nvPicPr>
        <p:blipFill>
          <a:blip r:embed="rId6"/>
          <a:stretch>
            <a:fillRect/>
          </a:stretch>
        </p:blipFill>
        <p:spPr>
          <a:xfrm>
            <a:off x="5262563" y="1006475"/>
            <a:ext cx="3524250" cy="2259013"/>
          </a:xfrm>
          <a:prstGeom prst="rect">
            <a:avLst/>
          </a:prstGeom>
          <a:noFill/>
          <a:ln w="9525">
            <a:noFill/>
          </a:ln>
        </p:spPr>
      </p:pic>
    </p:spTree>
    <p:extLst>
      <p:ext uri="{BB962C8B-B14F-4D97-AF65-F5344CB8AC3E}">
        <p14:creationId xmlns:p14="http://schemas.microsoft.com/office/powerpoint/2010/main" val="41730734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15364"/>
                                        </p:tgtEl>
                                        <p:attrNameLst>
                                          <p:attrName>style.visibility</p:attrName>
                                        </p:attrNameLst>
                                      </p:cBhvr>
                                      <p:to>
                                        <p:strVal val="visible"/>
                                      </p:to>
                                    </p:set>
                                    <p:animEffect transition="in" filter="wipe(up)">
                                      <p:cBhvr>
                                        <p:cTn id="14" dur="500"/>
                                        <p:tgtEl>
                                          <p:spTgt spid="15364"/>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down)">
                                      <p:cBhvr>
                                        <p:cTn id="19" dur="1450">
                                          <p:stCondLst>
                                            <p:cond delay="0"/>
                                          </p:stCondLst>
                                        </p:cTn>
                                        <p:tgtEl>
                                          <p:spTgt spid="25"/>
                                        </p:tgtEl>
                                      </p:cBhvr>
                                    </p:animEffect>
                                    <p:anim calcmode="lin" valueType="num">
                                      <p:cBhvr>
                                        <p:cTn id="20" dur="4555"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21" dur="1660"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22" dur="1660" tmFilter="0, 0; 0.125,0.2665; 0.25,0.4; 0.375,0.465; 0.5,0.5;  0.625,0.535; 0.75,0.6; 0.875,0.7335; 1,1">
                                          <p:stCondLst>
                                            <p:cond delay="1660"/>
                                          </p:stCondLst>
                                        </p:cTn>
                                        <p:tgtEl>
                                          <p:spTgt spid="25"/>
                                        </p:tgtEl>
                                        <p:attrNameLst>
                                          <p:attrName>ppt_y</p:attrName>
                                        </p:attrNameLst>
                                      </p:cBhvr>
                                      <p:tavLst>
                                        <p:tav tm="0" fmla="#ppt_y-sin(pi*$)/9">
                                          <p:val>
                                            <p:fltVal val="0"/>
                                          </p:val>
                                        </p:tav>
                                        <p:tav tm="100000">
                                          <p:val>
                                            <p:fltVal val="1"/>
                                          </p:val>
                                        </p:tav>
                                      </p:tavLst>
                                    </p:anim>
                                    <p:anim calcmode="lin" valueType="num">
                                      <p:cBhvr>
                                        <p:cTn id="23" dur="830" tmFilter="0, 0; 0.125,0.2665; 0.25,0.4; 0.375,0.465; 0.5,0.5;  0.625,0.535; 0.75,0.6; 0.875,0.7335; 1,1">
                                          <p:stCondLst>
                                            <p:cond delay="3310"/>
                                          </p:stCondLst>
                                        </p:cTn>
                                        <p:tgtEl>
                                          <p:spTgt spid="25"/>
                                        </p:tgtEl>
                                        <p:attrNameLst>
                                          <p:attrName>ppt_y</p:attrName>
                                        </p:attrNameLst>
                                      </p:cBhvr>
                                      <p:tavLst>
                                        <p:tav tm="0" fmla="#ppt_y-sin(pi*$)/27">
                                          <p:val>
                                            <p:fltVal val="0"/>
                                          </p:val>
                                        </p:tav>
                                        <p:tav tm="100000">
                                          <p:val>
                                            <p:fltVal val="1"/>
                                          </p:val>
                                        </p:tav>
                                      </p:tavLst>
                                    </p:anim>
                                    <p:anim calcmode="lin" valueType="num">
                                      <p:cBhvr>
                                        <p:cTn id="24" dur="410" tmFilter="0, 0; 0.125,0.2665; 0.25,0.4; 0.375,0.465; 0.5,0.5;  0.625,0.535; 0.75,0.6; 0.875,0.7335; 1,1">
                                          <p:stCondLst>
                                            <p:cond delay="4140"/>
                                          </p:stCondLst>
                                        </p:cTn>
                                        <p:tgtEl>
                                          <p:spTgt spid="25"/>
                                        </p:tgtEl>
                                        <p:attrNameLst>
                                          <p:attrName>ppt_y</p:attrName>
                                        </p:attrNameLst>
                                      </p:cBhvr>
                                      <p:tavLst>
                                        <p:tav tm="0" fmla="#ppt_y-sin(pi*$)/81">
                                          <p:val>
                                            <p:fltVal val="0"/>
                                          </p:val>
                                        </p:tav>
                                        <p:tav tm="100000">
                                          <p:val>
                                            <p:fltVal val="1"/>
                                          </p:val>
                                        </p:tav>
                                      </p:tavLst>
                                    </p:anim>
                                    <p:animScale>
                                      <p:cBhvr>
                                        <p:cTn id="25" dur="65">
                                          <p:stCondLst>
                                            <p:cond delay="1625"/>
                                          </p:stCondLst>
                                        </p:cTn>
                                        <p:tgtEl>
                                          <p:spTgt spid="25"/>
                                        </p:tgtEl>
                                      </p:cBhvr>
                                      <p:to x="100000" y="60000"/>
                                    </p:animScale>
                                    <p:animScale>
                                      <p:cBhvr>
                                        <p:cTn id="26" dur="415" decel="50000">
                                          <p:stCondLst>
                                            <p:cond delay="1690"/>
                                          </p:stCondLst>
                                        </p:cTn>
                                        <p:tgtEl>
                                          <p:spTgt spid="25"/>
                                        </p:tgtEl>
                                      </p:cBhvr>
                                      <p:to x="100000" y="100000"/>
                                    </p:animScale>
                                    <p:animScale>
                                      <p:cBhvr>
                                        <p:cTn id="27" dur="65">
                                          <p:stCondLst>
                                            <p:cond delay="3280"/>
                                          </p:stCondLst>
                                        </p:cTn>
                                        <p:tgtEl>
                                          <p:spTgt spid="25"/>
                                        </p:tgtEl>
                                      </p:cBhvr>
                                      <p:to x="100000" y="80000"/>
                                    </p:animScale>
                                    <p:animScale>
                                      <p:cBhvr>
                                        <p:cTn id="28" dur="415" decel="50000">
                                          <p:stCondLst>
                                            <p:cond delay="3345"/>
                                          </p:stCondLst>
                                        </p:cTn>
                                        <p:tgtEl>
                                          <p:spTgt spid="25"/>
                                        </p:tgtEl>
                                      </p:cBhvr>
                                      <p:to x="100000" y="100000"/>
                                    </p:animScale>
                                    <p:animScale>
                                      <p:cBhvr>
                                        <p:cTn id="29" dur="65">
                                          <p:stCondLst>
                                            <p:cond delay="4105"/>
                                          </p:stCondLst>
                                        </p:cTn>
                                        <p:tgtEl>
                                          <p:spTgt spid="25"/>
                                        </p:tgtEl>
                                      </p:cBhvr>
                                      <p:to x="100000" y="90000"/>
                                    </p:animScale>
                                    <p:animScale>
                                      <p:cBhvr>
                                        <p:cTn id="30" dur="415" decel="50000">
                                          <p:stCondLst>
                                            <p:cond delay="4170"/>
                                          </p:stCondLst>
                                        </p:cTn>
                                        <p:tgtEl>
                                          <p:spTgt spid="25"/>
                                        </p:tgtEl>
                                      </p:cBhvr>
                                      <p:to x="100000" y="100000"/>
                                    </p:animScale>
                                    <p:animScale>
                                      <p:cBhvr>
                                        <p:cTn id="31" dur="65">
                                          <p:stCondLst>
                                            <p:cond delay="4520"/>
                                          </p:stCondLst>
                                        </p:cTn>
                                        <p:tgtEl>
                                          <p:spTgt spid="25"/>
                                        </p:tgtEl>
                                      </p:cBhvr>
                                      <p:to x="100000" y="95000"/>
                                    </p:animScale>
                                    <p:animScale>
                                      <p:cBhvr>
                                        <p:cTn id="32" dur="415" decel="50000">
                                          <p:stCondLst>
                                            <p:cond delay="4585"/>
                                          </p:stCondLst>
                                        </p:cTn>
                                        <p:tgtEl>
                                          <p:spTgt spid="25"/>
                                        </p:tgtEl>
                                      </p:cBhvr>
                                      <p:to x="100000" y="100000"/>
                                    </p:animScale>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760842"/>
                                        </p:tgtEl>
                                        <p:attrNameLst>
                                          <p:attrName>style.visibility</p:attrName>
                                        </p:attrNameLst>
                                      </p:cBhvr>
                                      <p:to>
                                        <p:strVal val="visible"/>
                                      </p:to>
                                    </p:set>
                                    <p:anim calcmode="lin" valueType="num">
                                      <p:cBhvr additive="base">
                                        <p:cTn id="37" dur="500" fill="hold"/>
                                        <p:tgtEl>
                                          <p:spTgt spid="760842"/>
                                        </p:tgtEl>
                                        <p:attrNameLst>
                                          <p:attrName>ppt_x</p:attrName>
                                        </p:attrNameLst>
                                      </p:cBhvr>
                                      <p:tavLst>
                                        <p:tav tm="0">
                                          <p:val>
                                            <p:strVal val="0-#ppt_w/2"/>
                                          </p:val>
                                        </p:tav>
                                        <p:tav tm="100000">
                                          <p:val>
                                            <p:strVal val="#ppt_x"/>
                                          </p:val>
                                        </p:tav>
                                      </p:tavLst>
                                    </p:anim>
                                    <p:anim calcmode="lin" valueType="num">
                                      <p:cBhvr additive="base">
                                        <p:cTn id="38" dur="500" fill="hold"/>
                                        <p:tgtEl>
                                          <p:spTgt spid="76084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8" fill="hold" nodeType="clickEffect">
                                  <p:stCondLst>
                                    <p:cond delay="0"/>
                                  </p:stCondLst>
                                  <p:childTnLst>
                                    <p:set>
                                      <p:cBhvr>
                                        <p:cTn id="42" dur="1" fill="hold">
                                          <p:stCondLst>
                                            <p:cond delay="0"/>
                                          </p:stCondLst>
                                        </p:cTn>
                                        <p:tgtEl>
                                          <p:spTgt spid="760843"/>
                                        </p:tgtEl>
                                        <p:attrNameLst>
                                          <p:attrName>style.visibility</p:attrName>
                                        </p:attrNameLst>
                                      </p:cBhvr>
                                      <p:to>
                                        <p:strVal val="visible"/>
                                      </p:to>
                                    </p:set>
                                    <p:anim calcmode="lin" valueType="num">
                                      <p:cBhvr>
                                        <p:cTn id="43" dur="500" fill="hold"/>
                                        <p:tgtEl>
                                          <p:spTgt spid="760843"/>
                                        </p:tgtEl>
                                        <p:attrNameLst>
                                          <p:attrName>ppt_x</p:attrName>
                                        </p:attrNameLst>
                                      </p:cBhvr>
                                      <p:tavLst>
                                        <p:tav tm="0">
                                          <p:val>
                                            <p:strVal val="#ppt_x-#ppt_w/2"/>
                                          </p:val>
                                        </p:tav>
                                        <p:tav tm="100000">
                                          <p:val>
                                            <p:strVal val="#ppt_x"/>
                                          </p:val>
                                        </p:tav>
                                      </p:tavLst>
                                    </p:anim>
                                    <p:anim calcmode="lin" valueType="num">
                                      <p:cBhvr>
                                        <p:cTn id="44" dur="500" fill="hold"/>
                                        <p:tgtEl>
                                          <p:spTgt spid="760843"/>
                                        </p:tgtEl>
                                        <p:attrNameLst>
                                          <p:attrName>ppt_y</p:attrName>
                                        </p:attrNameLst>
                                      </p:cBhvr>
                                      <p:tavLst>
                                        <p:tav tm="0">
                                          <p:val>
                                            <p:strVal val="#ppt_y"/>
                                          </p:val>
                                        </p:tav>
                                        <p:tav tm="100000">
                                          <p:val>
                                            <p:strVal val="#ppt_y"/>
                                          </p:val>
                                        </p:tav>
                                      </p:tavLst>
                                    </p:anim>
                                    <p:anim calcmode="lin" valueType="num">
                                      <p:cBhvr>
                                        <p:cTn id="45" dur="500" fill="hold"/>
                                        <p:tgtEl>
                                          <p:spTgt spid="760843"/>
                                        </p:tgtEl>
                                        <p:attrNameLst>
                                          <p:attrName>ppt_w</p:attrName>
                                        </p:attrNameLst>
                                      </p:cBhvr>
                                      <p:tavLst>
                                        <p:tav tm="0">
                                          <p:val>
                                            <p:fltVal val="0"/>
                                          </p:val>
                                        </p:tav>
                                        <p:tav tm="100000">
                                          <p:val>
                                            <p:strVal val="#ppt_w"/>
                                          </p:val>
                                        </p:tav>
                                      </p:tavLst>
                                    </p:anim>
                                    <p:anim calcmode="lin" valueType="num">
                                      <p:cBhvr>
                                        <p:cTn id="46" dur="500" fill="hold"/>
                                        <p:tgtEl>
                                          <p:spTgt spid="760843"/>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760844"/>
                                        </p:tgtEl>
                                        <p:attrNameLst>
                                          <p:attrName>style.visibility</p:attrName>
                                        </p:attrNameLst>
                                      </p:cBhvr>
                                      <p:to>
                                        <p:strVal val="visible"/>
                                      </p:to>
                                    </p:set>
                                    <p:anim calcmode="lin" valueType="num">
                                      <p:cBhvr additive="base">
                                        <p:cTn id="51" dur="500" fill="hold"/>
                                        <p:tgtEl>
                                          <p:spTgt spid="760844"/>
                                        </p:tgtEl>
                                        <p:attrNameLst>
                                          <p:attrName>ppt_x</p:attrName>
                                        </p:attrNameLst>
                                      </p:cBhvr>
                                      <p:tavLst>
                                        <p:tav tm="0">
                                          <p:val>
                                            <p:strVal val="1+#ppt_w/2"/>
                                          </p:val>
                                        </p:tav>
                                        <p:tav tm="100000">
                                          <p:val>
                                            <p:strVal val="#ppt_x"/>
                                          </p:val>
                                        </p:tav>
                                      </p:tavLst>
                                    </p:anim>
                                    <p:anim calcmode="lin" valueType="num">
                                      <p:cBhvr additive="base">
                                        <p:cTn id="52" dur="500" fill="hold"/>
                                        <p:tgtEl>
                                          <p:spTgt spid="760844"/>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grpId="0" nodeType="clickEffect">
                                  <p:stCondLst>
                                    <p:cond delay="0"/>
                                  </p:stCondLst>
                                  <p:childTnLst>
                                    <p:set>
                                      <p:cBhvr>
                                        <p:cTn id="56" dur="1" fill="hold">
                                          <p:stCondLst>
                                            <p:cond delay="0"/>
                                          </p:stCondLst>
                                        </p:cTn>
                                        <p:tgtEl>
                                          <p:spTgt spid="760845"/>
                                        </p:tgtEl>
                                        <p:attrNameLst>
                                          <p:attrName>style.visibility</p:attrName>
                                        </p:attrNameLst>
                                      </p:cBhvr>
                                      <p:to>
                                        <p:strVal val="visible"/>
                                      </p:to>
                                    </p:set>
                                    <p:anim calcmode="lin" valueType="num">
                                      <p:cBhvr additive="base">
                                        <p:cTn id="57" dur="500" fill="hold"/>
                                        <p:tgtEl>
                                          <p:spTgt spid="760845"/>
                                        </p:tgtEl>
                                        <p:attrNameLst>
                                          <p:attrName>ppt_x</p:attrName>
                                        </p:attrNameLst>
                                      </p:cBhvr>
                                      <p:tavLst>
                                        <p:tav tm="0">
                                          <p:val>
                                            <p:strVal val="1+#ppt_w/2"/>
                                          </p:val>
                                        </p:tav>
                                        <p:tav tm="100000">
                                          <p:val>
                                            <p:strVal val="#ppt_x"/>
                                          </p:val>
                                        </p:tav>
                                      </p:tavLst>
                                    </p:anim>
                                    <p:anim calcmode="lin" valueType="num">
                                      <p:cBhvr additive="base">
                                        <p:cTn id="58" dur="500" fill="hold"/>
                                        <p:tgtEl>
                                          <p:spTgt spid="760845"/>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grpId="0" nodeType="clickEffect">
                                  <p:stCondLst>
                                    <p:cond delay="0"/>
                                  </p:stCondLst>
                                  <p:childTnLst>
                                    <p:set>
                                      <p:cBhvr>
                                        <p:cTn id="62" dur="1" fill="hold">
                                          <p:stCondLst>
                                            <p:cond delay="0"/>
                                          </p:stCondLst>
                                        </p:cTn>
                                        <p:tgtEl>
                                          <p:spTgt spid="760846"/>
                                        </p:tgtEl>
                                        <p:attrNameLst>
                                          <p:attrName>style.visibility</p:attrName>
                                        </p:attrNameLst>
                                      </p:cBhvr>
                                      <p:to>
                                        <p:strVal val="visible"/>
                                      </p:to>
                                    </p:set>
                                    <p:anim calcmode="lin" valueType="num">
                                      <p:cBhvr additive="base">
                                        <p:cTn id="63" dur="500" fill="hold"/>
                                        <p:tgtEl>
                                          <p:spTgt spid="760846"/>
                                        </p:tgtEl>
                                        <p:attrNameLst>
                                          <p:attrName>ppt_x</p:attrName>
                                        </p:attrNameLst>
                                      </p:cBhvr>
                                      <p:tavLst>
                                        <p:tav tm="0">
                                          <p:val>
                                            <p:strVal val="1+#ppt_w/2"/>
                                          </p:val>
                                        </p:tav>
                                        <p:tav tm="100000">
                                          <p:val>
                                            <p:strVal val="#ppt_x"/>
                                          </p:val>
                                        </p:tav>
                                      </p:tavLst>
                                    </p:anim>
                                    <p:anim calcmode="lin" valueType="num">
                                      <p:cBhvr additive="base">
                                        <p:cTn id="64" dur="500" fill="hold"/>
                                        <p:tgtEl>
                                          <p:spTgt spid="760846"/>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2" fill="hold" grpId="0" nodeType="clickEffect">
                                  <p:stCondLst>
                                    <p:cond delay="0"/>
                                  </p:stCondLst>
                                  <p:childTnLst>
                                    <p:set>
                                      <p:cBhvr>
                                        <p:cTn id="68" dur="1" fill="hold">
                                          <p:stCondLst>
                                            <p:cond delay="0"/>
                                          </p:stCondLst>
                                        </p:cTn>
                                        <p:tgtEl>
                                          <p:spTgt spid="760848"/>
                                        </p:tgtEl>
                                        <p:attrNameLst>
                                          <p:attrName>style.visibility</p:attrName>
                                        </p:attrNameLst>
                                      </p:cBhvr>
                                      <p:to>
                                        <p:strVal val="visible"/>
                                      </p:to>
                                    </p:set>
                                    <p:anim calcmode="lin" valueType="num">
                                      <p:cBhvr additive="base">
                                        <p:cTn id="69" dur="500" fill="hold"/>
                                        <p:tgtEl>
                                          <p:spTgt spid="760848"/>
                                        </p:tgtEl>
                                        <p:attrNameLst>
                                          <p:attrName>ppt_x</p:attrName>
                                        </p:attrNameLst>
                                      </p:cBhvr>
                                      <p:tavLst>
                                        <p:tav tm="0">
                                          <p:val>
                                            <p:strVal val="1+#ppt_w/2"/>
                                          </p:val>
                                        </p:tav>
                                        <p:tav tm="100000">
                                          <p:val>
                                            <p:strVal val="#ppt_x"/>
                                          </p:val>
                                        </p:tav>
                                      </p:tavLst>
                                    </p:anim>
                                    <p:anim calcmode="lin" valueType="num">
                                      <p:cBhvr additive="base">
                                        <p:cTn id="70" dur="500" fill="hold"/>
                                        <p:tgtEl>
                                          <p:spTgt spid="760848"/>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2" fill="hold" grpId="0" nodeType="clickEffect">
                                  <p:stCondLst>
                                    <p:cond delay="0"/>
                                  </p:stCondLst>
                                  <p:childTnLst>
                                    <p:set>
                                      <p:cBhvr>
                                        <p:cTn id="74" dur="1" fill="hold">
                                          <p:stCondLst>
                                            <p:cond delay="0"/>
                                          </p:stCondLst>
                                        </p:cTn>
                                        <p:tgtEl>
                                          <p:spTgt spid="760847"/>
                                        </p:tgtEl>
                                        <p:attrNameLst>
                                          <p:attrName>style.visibility</p:attrName>
                                        </p:attrNameLst>
                                      </p:cBhvr>
                                      <p:to>
                                        <p:strVal val="visible"/>
                                      </p:to>
                                    </p:set>
                                    <p:anim calcmode="lin" valueType="num">
                                      <p:cBhvr additive="base">
                                        <p:cTn id="75" dur="500" fill="hold"/>
                                        <p:tgtEl>
                                          <p:spTgt spid="760847"/>
                                        </p:tgtEl>
                                        <p:attrNameLst>
                                          <p:attrName>ppt_x</p:attrName>
                                        </p:attrNameLst>
                                      </p:cBhvr>
                                      <p:tavLst>
                                        <p:tav tm="0">
                                          <p:val>
                                            <p:strVal val="1+#ppt_w/2"/>
                                          </p:val>
                                        </p:tav>
                                        <p:tav tm="100000">
                                          <p:val>
                                            <p:strVal val="#ppt_x"/>
                                          </p:val>
                                        </p:tav>
                                      </p:tavLst>
                                    </p:anim>
                                    <p:anim calcmode="lin" valueType="num">
                                      <p:cBhvr additive="base">
                                        <p:cTn id="76" dur="500" fill="hold"/>
                                        <p:tgtEl>
                                          <p:spTgt spid="760847"/>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2" fill="hold" grpId="0" nodeType="clickEffect">
                                  <p:stCondLst>
                                    <p:cond delay="0"/>
                                  </p:stCondLst>
                                  <p:childTnLst>
                                    <p:set>
                                      <p:cBhvr>
                                        <p:cTn id="80" dur="1" fill="hold">
                                          <p:stCondLst>
                                            <p:cond delay="0"/>
                                          </p:stCondLst>
                                        </p:cTn>
                                        <p:tgtEl>
                                          <p:spTgt spid="760850"/>
                                        </p:tgtEl>
                                        <p:attrNameLst>
                                          <p:attrName>style.visibility</p:attrName>
                                        </p:attrNameLst>
                                      </p:cBhvr>
                                      <p:to>
                                        <p:strVal val="visible"/>
                                      </p:to>
                                    </p:set>
                                    <p:anim calcmode="lin" valueType="num">
                                      <p:cBhvr additive="base">
                                        <p:cTn id="81" dur="500" fill="hold"/>
                                        <p:tgtEl>
                                          <p:spTgt spid="760850"/>
                                        </p:tgtEl>
                                        <p:attrNameLst>
                                          <p:attrName>ppt_x</p:attrName>
                                        </p:attrNameLst>
                                      </p:cBhvr>
                                      <p:tavLst>
                                        <p:tav tm="0">
                                          <p:val>
                                            <p:strVal val="1+#ppt_w/2"/>
                                          </p:val>
                                        </p:tav>
                                        <p:tav tm="100000">
                                          <p:val>
                                            <p:strVal val="#ppt_x"/>
                                          </p:val>
                                        </p:tav>
                                      </p:tavLst>
                                    </p:anim>
                                    <p:anim calcmode="lin" valueType="num">
                                      <p:cBhvr additive="base">
                                        <p:cTn id="82" dur="500" fill="hold"/>
                                        <p:tgtEl>
                                          <p:spTgt spid="760850"/>
                                        </p:tgtEl>
                                        <p:attrNameLst>
                                          <p:attrName>ppt_y</p:attrName>
                                        </p:attrNameLst>
                                      </p:cBhvr>
                                      <p:tavLst>
                                        <p:tav tm="0">
                                          <p:val>
                                            <p:strVal val="#ppt_y"/>
                                          </p:val>
                                        </p:tav>
                                        <p:tav tm="100000">
                                          <p:val>
                                            <p:strVal val="#ppt_y"/>
                                          </p:val>
                                        </p:tav>
                                      </p:tavLst>
                                    </p:anim>
                                  </p:childTnLst>
                                </p:cTn>
                              </p:par>
                            </p:childTnLst>
                          </p:cTn>
                        </p:par>
                        <p:par>
                          <p:cTn id="83" fill="hold">
                            <p:stCondLst>
                              <p:cond delay="500"/>
                            </p:stCondLst>
                            <p:childTnLst>
                              <p:par>
                                <p:cTn id="84" presetID="17" presetClass="entr" presetSubtype="2" fill="hold" nodeType="afterEffect">
                                  <p:stCondLst>
                                    <p:cond delay="0"/>
                                  </p:stCondLst>
                                  <p:childTnLst>
                                    <p:set>
                                      <p:cBhvr>
                                        <p:cTn id="85" dur="1" fill="hold">
                                          <p:stCondLst>
                                            <p:cond delay="0"/>
                                          </p:stCondLst>
                                        </p:cTn>
                                        <p:tgtEl>
                                          <p:spTgt spid="760849"/>
                                        </p:tgtEl>
                                        <p:attrNameLst>
                                          <p:attrName>style.visibility</p:attrName>
                                        </p:attrNameLst>
                                      </p:cBhvr>
                                      <p:to>
                                        <p:strVal val="visible"/>
                                      </p:to>
                                    </p:set>
                                    <p:anim calcmode="lin" valueType="num">
                                      <p:cBhvr>
                                        <p:cTn id="86" dur="500" fill="hold"/>
                                        <p:tgtEl>
                                          <p:spTgt spid="760849"/>
                                        </p:tgtEl>
                                        <p:attrNameLst>
                                          <p:attrName>ppt_x</p:attrName>
                                        </p:attrNameLst>
                                      </p:cBhvr>
                                      <p:tavLst>
                                        <p:tav tm="0">
                                          <p:val>
                                            <p:strVal val="#ppt_x+#ppt_w/2"/>
                                          </p:val>
                                        </p:tav>
                                        <p:tav tm="100000">
                                          <p:val>
                                            <p:strVal val="#ppt_x"/>
                                          </p:val>
                                        </p:tav>
                                      </p:tavLst>
                                    </p:anim>
                                    <p:anim calcmode="lin" valueType="num">
                                      <p:cBhvr>
                                        <p:cTn id="87" dur="500" fill="hold"/>
                                        <p:tgtEl>
                                          <p:spTgt spid="760849"/>
                                        </p:tgtEl>
                                        <p:attrNameLst>
                                          <p:attrName>ppt_y</p:attrName>
                                        </p:attrNameLst>
                                      </p:cBhvr>
                                      <p:tavLst>
                                        <p:tav tm="0">
                                          <p:val>
                                            <p:strVal val="#ppt_y"/>
                                          </p:val>
                                        </p:tav>
                                        <p:tav tm="100000">
                                          <p:val>
                                            <p:strVal val="#ppt_y"/>
                                          </p:val>
                                        </p:tav>
                                      </p:tavLst>
                                    </p:anim>
                                    <p:anim calcmode="lin" valueType="num">
                                      <p:cBhvr>
                                        <p:cTn id="88" dur="500" fill="hold"/>
                                        <p:tgtEl>
                                          <p:spTgt spid="760849"/>
                                        </p:tgtEl>
                                        <p:attrNameLst>
                                          <p:attrName>ppt_w</p:attrName>
                                        </p:attrNameLst>
                                      </p:cBhvr>
                                      <p:tavLst>
                                        <p:tav tm="0">
                                          <p:val>
                                            <p:fltVal val="0"/>
                                          </p:val>
                                        </p:tav>
                                        <p:tav tm="100000">
                                          <p:val>
                                            <p:strVal val="#ppt_w"/>
                                          </p:val>
                                        </p:tav>
                                      </p:tavLst>
                                    </p:anim>
                                    <p:anim calcmode="lin" valueType="num">
                                      <p:cBhvr>
                                        <p:cTn id="89" dur="500" fill="hold"/>
                                        <p:tgtEl>
                                          <p:spTgt spid="760849"/>
                                        </p:tgtEl>
                                        <p:attrNameLst>
                                          <p:attrName>ppt_h</p:attrName>
                                        </p:attrNameLst>
                                      </p:cBhvr>
                                      <p:tavLst>
                                        <p:tav tm="0">
                                          <p:val>
                                            <p:strVal val="#ppt_h"/>
                                          </p:val>
                                        </p:tav>
                                        <p:tav tm="100000">
                                          <p:val>
                                            <p:strVal val="#ppt_h"/>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8" fill="hold" grpId="0" nodeType="clickEffect">
                                  <p:stCondLst>
                                    <p:cond delay="0"/>
                                  </p:stCondLst>
                                  <p:childTnLst>
                                    <p:set>
                                      <p:cBhvr>
                                        <p:cTn id="93" dur="1" fill="hold">
                                          <p:stCondLst>
                                            <p:cond delay="0"/>
                                          </p:stCondLst>
                                        </p:cTn>
                                        <p:tgtEl>
                                          <p:spTgt spid="760853"/>
                                        </p:tgtEl>
                                        <p:attrNameLst>
                                          <p:attrName>style.visibility</p:attrName>
                                        </p:attrNameLst>
                                      </p:cBhvr>
                                      <p:to>
                                        <p:strVal val="visible"/>
                                      </p:to>
                                    </p:set>
                                    <p:anim calcmode="lin" valueType="num">
                                      <p:cBhvr additive="base">
                                        <p:cTn id="94" dur="500" fill="hold"/>
                                        <p:tgtEl>
                                          <p:spTgt spid="760853"/>
                                        </p:tgtEl>
                                        <p:attrNameLst>
                                          <p:attrName>ppt_x</p:attrName>
                                        </p:attrNameLst>
                                      </p:cBhvr>
                                      <p:tavLst>
                                        <p:tav tm="0">
                                          <p:val>
                                            <p:strVal val="0-#ppt_w/2"/>
                                          </p:val>
                                        </p:tav>
                                        <p:tav tm="100000">
                                          <p:val>
                                            <p:strVal val="#ppt_x"/>
                                          </p:val>
                                        </p:tav>
                                      </p:tavLst>
                                    </p:anim>
                                    <p:anim calcmode="lin" valueType="num">
                                      <p:cBhvr additive="base">
                                        <p:cTn id="95" dur="500" fill="hold"/>
                                        <p:tgtEl>
                                          <p:spTgt spid="760853"/>
                                        </p:tgtEl>
                                        <p:attrNameLst>
                                          <p:attrName>ppt_y</p:attrName>
                                        </p:attrNameLst>
                                      </p:cBhvr>
                                      <p:tavLst>
                                        <p:tav tm="0">
                                          <p:val>
                                            <p:strVal val="#ppt_y"/>
                                          </p:val>
                                        </p:tav>
                                        <p:tav tm="100000">
                                          <p:val>
                                            <p:strVal val="#ppt_y"/>
                                          </p:val>
                                        </p:tav>
                                      </p:tavLst>
                                    </p:anim>
                                  </p:childTnLst>
                                </p:cTn>
                              </p:par>
                            </p:childTnLst>
                          </p:cTn>
                        </p:par>
                        <p:par>
                          <p:cTn id="96" fill="hold">
                            <p:stCondLst>
                              <p:cond delay="500"/>
                            </p:stCondLst>
                            <p:childTnLst>
                              <p:par>
                                <p:cTn id="97" presetID="17" presetClass="entr" presetSubtype="4" fill="hold" nodeType="afterEffect">
                                  <p:stCondLst>
                                    <p:cond delay="0"/>
                                  </p:stCondLst>
                                  <p:childTnLst>
                                    <p:set>
                                      <p:cBhvr>
                                        <p:cTn id="98" dur="1" fill="hold">
                                          <p:stCondLst>
                                            <p:cond delay="0"/>
                                          </p:stCondLst>
                                        </p:cTn>
                                        <p:tgtEl>
                                          <p:spTgt spid="760851"/>
                                        </p:tgtEl>
                                        <p:attrNameLst>
                                          <p:attrName>style.visibility</p:attrName>
                                        </p:attrNameLst>
                                      </p:cBhvr>
                                      <p:to>
                                        <p:strVal val="visible"/>
                                      </p:to>
                                    </p:set>
                                    <p:anim calcmode="lin" valueType="num">
                                      <p:cBhvr>
                                        <p:cTn id="99" dur="500" fill="hold"/>
                                        <p:tgtEl>
                                          <p:spTgt spid="760851"/>
                                        </p:tgtEl>
                                        <p:attrNameLst>
                                          <p:attrName>ppt_x</p:attrName>
                                        </p:attrNameLst>
                                      </p:cBhvr>
                                      <p:tavLst>
                                        <p:tav tm="0">
                                          <p:val>
                                            <p:strVal val="#ppt_x"/>
                                          </p:val>
                                        </p:tav>
                                        <p:tav tm="100000">
                                          <p:val>
                                            <p:strVal val="#ppt_x"/>
                                          </p:val>
                                        </p:tav>
                                      </p:tavLst>
                                    </p:anim>
                                    <p:anim calcmode="lin" valueType="num">
                                      <p:cBhvr>
                                        <p:cTn id="100" dur="500" fill="hold"/>
                                        <p:tgtEl>
                                          <p:spTgt spid="760851"/>
                                        </p:tgtEl>
                                        <p:attrNameLst>
                                          <p:attrName>ppt_y</p:attrName>
                                        </p:attrNameLst>
                                      </p:cBhvr>
                                      <p:tavLst>
                                        <p:tav tm="0">
                                          <p:val>
                                            <p:strVal val="#ppt_y+#ppt_h/2"/>
                                          </p:val>
                                        </p:tav>
                                        <p:tav tm="100000">
                                          <p:val>
                                            <p:strVal val="#ppt_y"/>
                                          </p:val>
                                        </p:tav>
                                      </p:tavLst>
                                    </p:anim>
                                    <p:anim calcmode="lin" valueType="num">
                                      <p:cBhvr>
                                        <p:cTn id="101" dur="500" fill="hold"/>
                                        <p:tgtEl>
                                          <p:spTgt spid="760851"/>
                                        </p:tgtEl>
                                        <p:attrNameLst>
                                          <p:attrName>ppt_w</p:attrName>
                                        </p:attrNameLst>
                                      </p:cBhvr>
                                      <p:tavLst>
                                        <p:tav tm="0">
                                          <p:val>
                                            <p:strVal val="#ppt_w"/>
                                          </p:val>
                                        </p:tav>
                                        <p:tav tm="100000">
                                          <p:val>
                                            <p:strVal val="#ppt_w"/>
                                          </p:val>
                                        </p:tav>
                                      </p:tavLst>
                                    </p:anim>
                                    <p:anim calcmode="lin" valueType="num">
                                      <p:cBhvr>
                                        <p:cTn id="102" dur="500" fill="hold"/>
                                        <p:tgtEl>
                                          <p:spTgt spid="760851"/>
                                        </p:tgtEl>
                                        <p:attrNameLst>
                                          <p:attrName>ppt_h</p:attrName>
                                        </p:attrNameLst>
                                      </p:cBhvr>
                                      <p:tavLst>
                                        <p:tav tm="0">
                                          <p:val>
                                            <p:fltVal val="0"/>
                                          </p:val>
                                        </p:tav>
                                        <p:tav tm="100000">
                                          <p:val>
                                            <p:strVal val="#ppt_h"/>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8" fill="hold" grpId="0" nodeType="clickEffect">
                                  <p:stCondLst>
                                    <p:cond delay="0"/>
                                  </p:stCondLst>
                                  <p:childTnLst>
                                    <p:set>
                                      <p:cBhvr>
                                        <p:cTn id="106" dur="1" fill="hold">
                                          <p:stCondLst>
                                            <p:cond delay="0"/>
                                          </p:stCondLst>
                                        </p:cTn>
                                        <p:tgtEl>
                                          <p:spTgt spid="760854"/>
                                        </p:tgtEl>
                                        <p:attrNameLst>
                                          <p:attrName>style.visibility</p:attrName>
                                        </p:attrNameLst>
                                      </p:cBhvr>
                                      <p:to>
                                        <p:strVal val="visible"/>
                                      </p:to>
                                    </p:set>
                                    <p:anim calcmode="lin" valueType="num">
                                      <p:cBhvr additive="base">
                                        <p:cTn id="107" dur="500" fill="hold"/>
                                        <p:tgtEl>
                                          <p:spTgt spid="760854"/>
                                        </p:tgtEl>
                                        <p:attrNameLst>
                                          <p:attrName>ppt_x</p:attrName>
                                        </p:attrNameLst>
                                      </p:cBhvr>
                                      <p:tavLst>
                                        <p:tav tm="0">
                                          <p:val>
                                            <p:strVal val="0-#ppt_w/2"/>
                                          </p:val>
                                        </p:tav>
                                        <p:tav tm="100000">
                                          <p:val>
                                            <p:strVal val="#ppt_x"/>
                                          </p:val>
                                        </p:tav>
                                      </p:tavLst>
                                    </p:anim>
                                    <p:anim calcmode="lin" valueType="num">
                                      <p:cBhvr additive="base">
                                        <p:cTn id="108" dur="500" fill="hold"/>
                                        <p:tgtEl>
                                          <p:spTgt spid="760854"/>
                                        </p:tgtEl>
                                        <p:attrNameLst>
                                          <p:attrName>ppt_y</p:attrName>
                                        </p:attrNameLst>
                                      </p:cBhvr>
                                      <p:tavLst>
                                        <p:tav tm="0">
                                          <p:val>
                                            <p:strVal val="#ppt_y"/>
                                          </p:val>
                                        </p:tav>
                                        <p:tav tm="100000">
                                          <p:val>
                                            <p:strVal val="#ppt_y"/>
                                          </p:val>
                                        </p:tav>
                                      </p:tavLst>
                                    </p:anim>
                                  </p:childTnLst>
                                </p:cTn>
                              </p:par>
                            </p:childTnLst>
                          </p:cTn>
                        </p:par>
                        <p:par>
                          <p:cTn id="109" fill="hold">
                            <p:stCondLst>
                              <p:cond delay="500"/>
                            </p:stCondLst>
                            <p:childTnLst>
                              <p:par>
                                <p:cTn id="110" presetID="17" presetClass="entr" presetSubtype="4" fill="hold" nodeType="afterEffect">
                                  <p:stCondLst>
                                    <p:cond delay="0"/>
                                  </p:stCondLst>
                                  <p:childTnLst>
                                    <p:set>
                                      <p:cBhvr>
                                        <p:cTn id="111" dur="1" fill="hold">
                                          <p:stCondLst>
                                            <p:cond delay="0"/>
                                          </p:stCondLst>
                                        </p:cTn>
                                        <p:tgtEl>
                                          <p:spTgt spid="760852"/>
                                        </p:tgtEl>
                                        <p:attrNameLst>
                                          <p:attrName>style.visibility</p:attrName>
                                        </p:attrNameLst>
                                      </p:cBhvr>
                                      <p:to>
                                        <p:strVal val="visible"/>
                                      </p:to>
                                    </p:set>
                                    <p:anim calcmode="lin" valueType="num">
                                      <p:cBhvr>
                                        <p:cTn id="112" dur="500" fill="hold"/>
                                        <p:tgtEl>
                                          <p:spTgt spid="760852"/>
                                        </p:tgtEl>
                                        <p:attrNameLst>
                                          <p:attrName>ppt_x</p:attrName>
                                        </p:attrNameLst>
                                      </p:cBhvr>
                                      <p:tavLst>
                                        <p:tav tm="0">
                                          <p:val>
                                            <p:strVal val="#ppt_x"/>
                                          </p:val>
                                        </p:tav>
                                        <p:tav tm="100000">
                                          <p:val>
                                            <p:strVal val="#ppt_x"/>
                                          </p:val>
                                        </p:tav>
                                      </p:tavLst>
                                    </p:anim>
                                    <p:anim calcmode="lin" valueType="num">
                                      <p:cBhvr>
                                        <p:cTn id="113" dur="500" fill="hold"/>
                                        <p:tgtEl>
                                          <p:spTgt spid="760852"/>
                                        </p:tgtEl>
                                        <p:attrNameLst>
                                          <p:attrName>ppt_y</p:attrName>
                                        </p:attrNameLst>
                                      </p:cBhvr>
                                      <p:tavLst>
                                        <p:tav tm="0">
                                          <p:val>
                                            <p:strVal val="#ppt_y+#ppt_h/2"/>
                                          </p:val>
                                        </p:tav>
                                        <p:tav tm="100000">
                                          <p:val>
                                            <p:strVal val="#ppt_y"/>
                                          </p:val>
                                        </p:tav>
                                      </p:tavLst>
                                    </p:anim>
                                    <p:anim calcmode="lin" valueType="num">
                                      <p:cBhvr>
                                        <p:cTn id="114" dur="500" fill="hold"/>
                                        <p:tgtEl>
                                          <p:spTgt spid="760852"/>
                                        </p:tgtEl>
                                        <p:attrNameLst>
                                          <p:attrName>ppt_w</p:attrName>
                                        </p:attrNameLst>
                                      </p:cBhvr>
                                      <p:tavLst>
                                        <p:tav tm="0">
                                          <p:val>
                                            <p:strVal val="#ppt_w"/>
                                          </p:val>
                                        </p:tav>
                                        <p:tav tm="100000">
                                          <p:val>
                                            <p:strVal val="#ppt_w"/>
                                          </p:val>
                                        </p:tav>
                                      </p:tavLst>
                                    </p:anim>
                                    <p:anim calcmode="lin" valueType="num">
                                      <p:cBhvr>
                                        <p:cTn id="115" dur="500" fill="hold"/>
                                        <p:tgtEl>
                                          <p:spTgt spid="76085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364" grpId="0"/>
      <p:bldP spid="760844" grpId="0"/>
      <p:bldP spid="760845" grpId="0"/>
      <p:bldP spid="760846" grpId="0"/>
      <p:bldP spid="760847" grpId="0"/>
      <p:bldP spid="760848" grpId="0"/>
      <p:bldP spid="760850" grpId="0"/>
      <p:bldP spid="760853" grpId="0"/>
      <p:bldP spid="76085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44550" y="236538"/>
            <a:ext cx="6400800" cy="45561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队列</a:t>
            </a:r>
          </a:p>
        </p:txBody>
      </p:sp>
      <p:graphicFrame>
        <p:nvGraphicFramePr>
          <p:cNvPr id="24579" name="Object 5"/>
          <p:cNvGraphicFramePr/>
          <p:nvPr/>
        </p:nvGraphicFramePr>
        <p:xfrm>
          <a:off x="1195388" y="2762250"/>
          <a:ext cx="3663950" cy="812800"/>
        </p:xfrm>
        <a:graphic>
          <a:graphicData uri="http://schemas.openxmlformats.org/presentationml/2006/ole">
            <mc:AlternateContent xmlns:mc="http://schemas.openxmlformats.org/markup-compatibility/2006">
              <mc:Choice xmlns:v="urn:schemas-microsoft-com:vml" Requires="v">
                <p:oleObj spid="_x0000_s17419" r:id="rId5" imgW="1028700" imgH="228600" progId="Equation.3">
                  <p:embed/>
                </p:oleObj>
              </mc:Choice>
              <mc:Fallback>
                <p:oleObj r:id="rId5" imgW="1028700" imgH="228600" progId="Equation.3">
                  <p:embed/>
                  <p:pic>
                    <p:nvPicPr>
                      <p:cNvPr id="0" name=""/>
                      <p:cNvPicPr/>
                      <p:nvPr/>
                    </p:nvPicPr>
                    <p:blipFill>
                      <a:blip r:embed="rId6"/>
                      <a:stretch>
                        <a:fillRect/>
                      </a:stretch>
                    </p:blipFill>
                    <p:spPr>
                      <a:xfrm>
                        <a:off x="1195388" y="2762250"/>
                        <a:ext cx="3663950" cy="812800"/>
                      </a:xfrm>
                      <a:prstGeom prst="rect">
                        <a:avLst/>
                      </a:prstGeom>
                      <a:solidFill>
                        <a:srgbClr val="D4E6F4"/>
                      </a:solidFill>
                      <a:ln w="9525" cap="flat" cmpd="sng">
                        <a:solidFill>
                          <a:schemeClr val="tx1"/>
                        </a:solidFill>
                        <a:prstDash val="solid"/>
                        <a:miter/>
                        <a:headEnd type="none" w="med" len="med"/>
                        <a:tailEnd type="none" w="med" len="med"/>
                      </a:ln>
                    </p:spPr>
                  </p:pic>
                </p:oleObj>
              </mc:Fallback>
            </mc:AlternateContent>
          </a:graphicData>
        </a:graphic>
      </p:graphicFrame>
      <p:sp>
        <p:nvSpPr>
          <p:cNvPr id="21" name="Line 6"/>
          <p:cNvSpPr>
            <a:spLocks noChangeShapeType="1"/>
          </p:cNvSpPr>
          <p:nvPr/>
        </p:nvSpPr>
        <p:spPr bwMode="auto">
          <a:xfrm>
            <a:off x="1912938" y="3794125"/>
            <a:ext cx="5257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2" name="Line 7"/>
          <p:cNvSpPr>
            <a:spLocks noChangeShapeType="1"/>
          </p:cNvSpPr>
          <p:nvPr/>
        </p:nvSpPr>
        <p:spPr bwMode="auto">
          <a:xfrm>
            <a:off x="1912938" y="4708525"/>
            <a:ext cx="5257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3" name="Text Box 8"/>
          <p:cNvSpPr txBox="1">
            <a:spLocks noChangeArrowheads="1"/>
          </p:cNvSpPr>
          <p:nvPr/>
        </p:nvSpPr>
        <p:spPr bwMode="auto">
          <a:xfrm>
            <a:off x="2217738" y="3836988"/>
            <a:ext cx="5953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24" name="Text Box 9"/>
          <p:cNvSpPr txBox="1">
            <a:spLocks noChangeArrowheads="1"/>
          </p:cNvSpPr>
          <p:nvPr/>
        </p:nvSpPr>
        <p:spPr bwMode="auto">
          <a:xfrm>
            <a:off x="3027363" y="3836988"/>
            <a:ext cx="5953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26" name="Text Box 10"/>
          <p:cNvSpPr txBox="1">
            <a:spLocks noChangeArrowheads="1"/>
          </p:cNvSpPr>
          <p:nvPr/>
        </p:nvSpPr>
        <p:spPr bwMode="auto">
          <a:xfrm>
            <a:off x="3941763" y="3870325"/>
            <a:ext cx="7143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27" name="Text Box 11"/>
          <p:cNvSpPr txBox="1">
            <a:spLocks noChangeArrowheads="1"/>
          </p:cNvSpPr>
          <p:nvPr/>
        </p:nvSpPr>
        <p:spPr bwMode="auto">
          <a:xfrm>
            <a:off x="5570538" y="3821113"/>
            <a:ext cx="6127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n</a:t>
            </a:r>
          </a:p>
        </p:txBody>
      </p:sp>
      <p:sp>
        <p:nvSpPr>
          <p:cNvPr id="28" name="Text Box 12"/>
          <p:cNvSpPr txBox="1">
            <a:spLocks noChangeArrowheads="1"/>
          </p:cNvSpPr>
          <p:nvPr/>
        </p:nvSpPr>
        <p:spPr bwMode="auto">
          <a:xfrm>
            <a:off x="4656138" y="3744913"/>
            <a:ext cx="569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en-US" sz="4000" b="1" i="0" u="none" strike="noStrike" kern="1200" cap="none" spc="0" normalizeH="0" baseline="0" noProof="0">
                <a:ln>
                  <a:noFill/>
                </a:ln>
                <a:solidFill>
                  <a:schemeClr val="tx1"/>
                </a:solidFill>
                <a:effectLst/>
                <a:uLnTx/>
                <a:uFillTx/>
                <a:latin typeface="+mn-lt"/>
                <a:ea typeface="+mn-ea"/>
                <a:cs typeface="+mn-ea"/>
                <a:sym typeface="+mn-lt"/>
              </a:rPr>
              <a:t>...</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29" name="Line 15"/>
          <p:cNvSpPr>
            <a:spLocks noChangeShapeType="1"/>
          </p:cNvSpPr>
          <p:nvPr/>
        </p:nvSpPr>
        <p:spPr bwMode="auto">
          <a:xfrm>
            <a:off x="2446338" y="4708525"/>
            <a:ext cx="0" cy="381000"/>
          </a:xfrm>
          <a:prstGeom prst="line">
            <a:avLst/>
          </a:prstGeom>
          <a:noFill/>
          <a:ln w="38100">
            <a:solidFill>
              <a:srgbClr val="FF0066"/>
            </a:solidFill>
            <a:round/>
            <a:head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0" name="Line 16"/>
          <p:cNvSpPr>
            <a:spLocks noChangeShapeType="1"/>
          </p:cNvSpPr>
          <p:nvPr/>
        </p:nvSpPr>
        <p:spPr bwMode="auto">
          <a:xfrm>
            <a:off x="5875338" y="4708525"/>
            <a:ext cx="0" cy="381000"/>
          </a:xfrm>
          <a:prstGeom prst="line">
            <a:avLst/>
          </a:prstGeom>
          <a:noFill/>
          <a:ln w="38100">
            <a:solidFill>
              <a:srgbClr val="FF0066"/>
            </a:solidFill>
            <a:round/>
            <a:head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1" name="Text Box 17"/>
          <p:cNvSpPr txBox="1">
            <a:spLocks noChangeArrowheads="1"/>
          </p:cNvSpPr>
          <p:nvPr/>
        </p:nvSpPr>
        <p:spPr bwMode="auto">
          <a:xfrm>
            <a:off x="2222500" y="5195888"/>
            <a:ext cx="5540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队头</a:t>
            </a:r>
          </a:p>
        </p:txBody>
      </p:sp>
      <p:sp>
        <p:nvSpPr>
          <p:cNvPr id="32" name="Text Box 18"/>
          <p:cNvSpPr txBox="1">
            <a:spLocks noChangeArrowheads="1"/>
          </p:cNvSpPr>
          <p:nvPr/>
        </p:nvSpPr>
        <p:spPr bwMode="auto">
          <a:xfrm>
            <a:off x="5565775" y="5165725"/>
            <a:ext cx="5540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队尾</a:t>
            </a:r>
          </a:p>
        </p:txBody>
      </p:sp>
      <p:sp>
        <p:nvSpPr>
          <p:cNvPr id="33" name="Line 20"/>
          <p:cNvSpPr>
            <a:spLocks noChangeShapeType="1"/>
          </p:cNvSpPr>
          <p:nvPr/>
        </p:nvSpPr>
        <p:spPr bwMode="auto">
          <a:xfrm flipH="1">
            <a:off x="601663" y="4327525"/>
            <a:ext cx="1143000" cy="0"/>
          </a:xfrm>
          <a:prstGeom prst="line">
            <a:avLst/>
          </a:prstGeom>
          <a:noFill/>
          <a:ln w="57150">
            <a:solidFill>
              <a:srgbClr val="6C4C8F"/>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34" name="Text Box 21"/>
          <p:cNvSpPr txBox="1">
            <a:spLocks noChangeArrowheads="1"/>
          </p:cNvSpPr>
          <p:nvPr/>
        </p:nvSpPr>
        <p:spPr bwMode="auto">
          <a:xfrm>
            <a:off x="646113" y="3794125"/>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出队列</a:t>
            </a:r>
          </a:p>
        </p:txBody>
      </p:sp>
      <p:sp>
        <p:nvSpPr>
          <p:cNvPr id="35" name="Rectangle 22"/>
          <p:cNvSpPr>
            <a:spLocks noChangeArrowheads="1"/>
          </p:cNvSpPr>
          <p:nvPr/>
        </p:nvSpPr>
        <p:spPr bwMode="auto">
          <a:xfrm>
            <a:off x="2201863" y="3946525"/>
            <a:ext cx="609600" cy="685800"/>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pic>
        <p:nvPicPr>
          <p:cNvPr id="24594" name="Picture 11" descr="u=1184928351,156208397&amp;fm=52&amp;gp=0"/>
          <p:cNvPicPr>
            <a:picLocks noChangeAspect="1"/>
          </p:cNvPicPr>
          <p:nvPr/>
        </p:nvPicPr>
        <p:blipFill>
          <a:blip r:embed="rId7"/>
          <a:stretch>
            <a:fillRect/>
          </a:stretch>
        </p:blipFill>
        <p:spPr>
          <a:xfrm>
            <a:off x="5448300" y="954088"/>
            <a:ext cx="3524250" cy="2259012"/>
          </a:xfrm>
          <a:prstGeom prst="rect">
            <a:avLst/>
          </a:prstGeom>
          <a:noFill/>
          <a:ln w="9525">
            <a:noFill/>
          </a:ln>
        </p:spPr>
      </p:pic>
    </p:spTree>
    <p:extLst>
      <p:ext uri="{BB962C8B-B14F-4D97-AF65-F5344CB8AC3E}">
        <p14:creationId xmlns:p14="http://schemas.microsoft.com/office/powerpoint/2010/main" val="33344426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arn(outHorizontal)">
                                      <p:cBhvr>
                                        <p:cTn id="7" dur="500"/>
                                        <p:tgtEl>
                                          <p:spTgt spid="35"/>
                                        </p:tgtEl>
                                      </p:cBhvr>
                                    </p:animEffect>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26"/>
          <p:cNvGraphicFramePr/>
          <p:nvPr/>
        </p:nvGraphicFramePr>
        <p:xfrm>
          <a:off x="1849438" y="1858963"/>
          <a:ext cx="3663950" cy="812800"/>
        </p:xfrm>
        <a:graphic>
          <a:graphicData uri="http://schemas.openxmlformats.org/presentationml/2006/ole">
            <mc:AlternateContent xmlns:mc="http://schemas.openxmlformats.org/markup-compatibility/2006">
              <mc:Choice xmlns:v="urn:schemas-microsoft-com:vml" Requires="v">
                <p:oleObj spid="_x0000_s18443" r:id="rId3" imgW="1028700" imgH="228600" progId="Equation.3">
                  <p:embed/>
                </p:oleObj>
              </mc:Choice>
              <mc:Fallback>
                <p:oleObj r:id="rId3" imgW="1028700" imgH="228600" progId="Equation.3">
                  <p:embed/>
                  <p:pic>
                    <p:nvPicPr>
                      <p:cNvPr id="0" name=""/>
                      <p:cNvPicPr/>
                      <p:nvPr/>
                    </p:nvPicPr>
                    <p:blipFill>
                      <a:blip r:embed="rId4"/>
                      <a:stretch>
                        <a:fillRect/>
                      </a:stretch>
                    </p:blipFill>
                    <p:spPr>
                      <a:xfrm>
                        <a:off x="1849438" y="1858963"/>
                        <a:ext cx="3663950" cy="812800"/>
                      </a:xfrm>
                      <a:prstGeom prst="rect">
                        <a:avLst/>
                      </a:prstGeom>
                      <a:solidFill>
                        <a:srgbClr val="D4E6F4"/>
                      </a:solidFill>
                      <a:ln w="9525" cap="flat" cmpd="sng">
                        <a:solidFill>
                          <a:schemeClr val="tx1"/>
                        </a:solidFill>
                        <a:prstDash val="solid"/>
                        <a:miter/>
                        <a:headEnd type="none" w="med" len="med"/>
                        <a:tailEnd type="none" w="med" len="med"/>
                      </a:ln>
                    </p:spPr>
                  </p:pic>
                </p:oleObj>
              </mc:Fallback>
            </mc:AlternateContent>
          </a:graphicData>
        </a:graphic>
      </p:graphicFrame>
      <p:sp>
        <p:nvSpPr>
          <p:cNvPr id="17411" name="Line 27"/>
          <p:cNvSpPr>
            <a:spLocks noChangeShapeType="1"/>
          </p:cNvSpPr>
          <p:nvPr/>
        </p:nvSpPr>
        <p:spPr bwMode="auto">
          <a:xfrm>
            <a:off x="2770188" y="2830513"/>
            <a:ext cx="5257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2" name="Line 28"/>
          <p:cNvSpPr>
            <a:spLocks noChangeShapeType="1"/>
          </p:cNvSpPr>
          <p:nvPr/>
        </p:nvSpPr>
        <p:spPr bwMode="auto">
          <a:xfrm>
            <a:off x="2770188" y="3744913"/>
            <a:ext cx="5257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3" name="Text Box 29"/>
          <p:cNvSpPr txBox="1">
            <a:spLocks noChangeArrowheads="1"/>
          </p:cNvSpPr>
          <p:nvPr/>
        </p:nvSpPr>
        <p:spPr bwMode="auto">
          <a:xfrm>
            <a:off x="3074988" y="2873375"/>
            <a:ext cx="5953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7414" name="Text Box 30"/>
          <p:cNvSpPr txBox="1">
            <a:spLocks noChangeArrowheads="1"/>
          </p:cNvSpPr>
          <p:nvPr/>
        </p:nvSpPr>
        <p:spPr bwMode="auto">
          <a:xfrm>
            <a:off x="3884613" y="2873375"/>
            <a:ext cx="5953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7415" name="Text Box 31"/>
          <p:cNvSpPr txBox="1">
            <a:spLocks noChangeArrowheads="1"/>
          </p:cNvSpPr>
          <p:nvPr/>
        </p:nvSpPr>
        <p:spPr bwMode="auto">
          <a:xfrm>
            <a:off x="4799013" y="2906713"/>
            <a:ext cx="7143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17416" name="Text Box 32"/>
          <p:cNvSpPr txBox="1">
            <a:spLocks noChangeArrowheads="1"/>
          </p:cNvSpPr>
          <p:nvPr/>
        </p:nvSpPr>
        <p:spPr bwMode="auto">
          <a:xfrm>
            <a:off x="6427788" y="2857500"/>
            <a:ext cx="6127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n</a:t>
            </a:r>
          </a:p>
        </p:txBody>
      </p:sp>
      <p:sp>
        <p:nvSpPr>
          <p:cNvPr id="17417" name="Text Box 33"/>
          <p:cNvSpPr txBox="1">
            <a:spLocks noChangeArrowheads="1"/>
          </p:cNvSpPr>
          <p:nvPr/>
        </p:nvSpPr>
        <p:spPr bwMode="auto">
          <a:xfrm>
            <a:off x="5513388" y="2781300"/>
            <a:ext cx="569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en-US" sz="4000" b="1" i="0" u="none" strike="noStrike" kern="1200" cap="none" spc="0" normalizeH="0" baseline="0" noProof="0">
                <a:ln>
                  <a:noFill/>
                </a:ln>
                <a:solidFill>
                  <a:schemeClr val="tx1"/>
                </a:solidFill>
                <a:effectLst/>
                <a:uLnTx/>
                <a:uFillTx/>
                <a:latin typeface="+mn-lt"/>
                <a:ea typeface="+mn-ea"/>
                <a:cs typeface="+mn-ea"/>
                <a:sym typeface="+mn-lt"/>
              </a:rPr>
              <a:t>...</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18" name="Line 35"/>
          <p:cNvSpPr>
            <a:spLocks noChangeShapeType="1"/>
          </p:cNvSpPr>
          <p:nvPr/>
        </p:nvSpPr>
        <p:spPr bwMode="auto">
          <a:xfrm>
            <a:off x="6732588" y="3744913"/>
            <a:ext cx="0" cy="381000"/>
          </a:xfrm>
          <a:prstGeom prst="line">
            <a:avLst/>
          </a:prstGeom>
          <a:noFill/>
          <a:ln w="38100">
            <a:solidFill>
              <a:srgbClr val="FF0066"/>
            </a:solidFill>
            <a:round/>
            <a:head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3" name="Group 45"/>
          <p:cNvGrpSpPr/>
          <p:nvPr/>
        </p:nvGrpSpPr>
        <p:grpSpPr>
          <a:xfrm>
            <a:off x="3898900" y="3744913"/>
            <a:ext cx="554038" cy="1195387"/>
            <a:chOff x="1941" y="2359"/>
            <a:chExt cx="349" cy="753"/>
          </a:xfrm>
        </p:grpSpPr>
        <p:sp>
          <p:nvSpPr>
            <p:cNvPr id="17420" name="Line 34"/>
            <p:cNvSpPr>
              <a:spLocks noChangeShapeType="1"/>
            </p:cNvSpPr>
            <p:nvPr/>
          </p:nvSpPr>
          <p:spPr bwMode="auto">
            <a:xfrm>
              <a:off x="2082" y="2359"/>
              <a:ext cx="0" cy="240"/>
            </a:xfrm>
            <a:prstGeom prst="line">
              <a:avLst/>
            </a:prstGeom>
            <a:noFill/>
            <a:ln w="38100">
              <a:solidFill>
                <a:srgbClr val="FF0066"/>
              </a:solidFill>
              <a:round/>
              <a:head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21" name="Text Box 36"/>
            <p:cNvSpPr txBox="1">
              <a:spLocks noChangeArrowheads="1"/>
            </p:cNvSpPr>
            <p:nvPr/>
          </p:nvSpPr>
          <p:spPr bwMode="auto">
            <a:xfrm>
              <a:off x="1941" y="2666"/>
              <a:ext cx="34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队头</a:t>
              </a:r>
            </a:p>
          </p:txBody>
        </p:sp>
      </p:grpSp>
      <p:sp>
        <p:nvSpPr>
          <p:cNvPr id="17422" name="Text Box 37"/>
          <p:cNvSpPr txBox="1">
            <a:spLocks noChangeArrowheads="1"/>
          </p:cNvSpPr>
          <p:nvPr/>
        </p:nvSpPr>
        <p:spPr bwMode="auto">
          <a:xfrm>
            <a:off x="6423025" y="4202113"/>
            <a:ext cx="5540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队尾</a:t>
            </a:r>
          </a:p>
        </p:txBody>
      </p:sp>
      <p:sp>
        <p:nvSpPr>
          <p:cNvPr id="17423" name="Line 39"/>
          <p:cNvSpPr>
            <a:spLocks noChangeShapeType="1"/>
          </p:cNvSpPr>
          <p:nvPr/>
        </p:nvSpPr>
        <p:spPr bwMode="auto">
          <a:xfrm flipH="1">
            <a:off x="1458913" y="3363913"/>
            <a:ext cx="1143000" cy="0"/>
          </a:xfrm>
          <a:prstGeom prst="line">
            <a:avLst/>
          </a:prstGeom>
          <a:noFill/>
          <a:ln w="57150">
            <a:solidFill>
              <a:srgbClr val="6C4C8F"/>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24" name="Text Box 40"/>
          <p:cNvSpPr txBox="1">
            <a:spLocks noChangeArrowheads="1"/>
          </p:cNvSpPr>
          <p:nvPr/>
        </p:nvSpPr>
        <p:spPr bwMode="auto">
          <a:xfrm>
            <a:off x="1503363" y="2830513"/>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出队列</a:t>
            </a:r>
          </a:p>
        </p:txBody>
      </p:sp>
      <p:sp>
        <p:nvSpPr>
          <p:cNvPr id="17425" name="Rectangle 41"/>
          <p:cNvSpPr>
            <a:spLocks noChangeArrowheads="1"/>
          </p:cNvSpPr>
          <p:nvPr/>
        </p:nvSpPr>
        <p:spPr bwMode="auto">
          <a:xfrm>
            <a:off x="3059113" y="2982913"/>
            <a:ext cx="609600" cy="685800"/>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4" name="Group 44"/>
          <p:cNvGrpSpPr/>
          <p:nvPr/>
        </p:nvGrpSpPr>
        <p:grpSpPr>
          <a:xfrm>
            <a:off x="3084513" y="2982913"/>
            <a:ext cx="609600" cy="685800"/>
            <a:chOff x="1428" y="1879"/>
            <a:chExt cx="384" cy="432"/>
          </a:xfrm>
        </p:grpSpPr>
        <p:sp>
          <p:nvSpPr>
            <p:cNvPr id="17427" name="Line 42"/>
            <p:cNvSpPr>
              <a:spLocks noChangeShapeType="1"/>
            </p:cNvSpPr>
            <p:nvPr/>
          </p:nvSpPr>
          <p:spPr bwMode="auto">
            <a:xfrm>
              <a:off x="1428" y="1879"/>
              <a:ext cx="384" cy="432"/>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7428" name="Line 43"/>
            <p:cNvSpPr>
              <a:spLocks noChangeShapeType="1"/>
            </p:cNvSpPr>
            <p:nvPr/>
          </p:nvSpPr>
          <p:spPr bwMode="auto">
            <a:xfrm flipV="1">
              <a:off x="1428" y="1879"/>
              <a:ext cx="384" cy="432"/>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23" name="标题 1"/>
          <p:cNvSpPr>
            <a:spLocks noGrp="1"/>
          </p:cNvSpPr>
          <p:nvPr>
            <p:ph type="title"/>
          </p:nvPr>
        </p:nvSpPr>
        <p:spPr>
          <a:xfrm>
            <a:off x="844550" y="236538"/>
            <a:ext cx="6400800" cy="45561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队列</a:t>
            </a:r>
          </a:p>
        </p:txBody>
      </p:sp>
      <p:sp>
        <p:nvSpPr>
          <p:cNvPr id="48"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extLst>
      <p:ext uri="{BB962C8B-B14F-4D97-AF65-F5344CB8AC3E}">
        <p14:creationId xmlns:p14="http://schemas.microsoft.com/office/powerpoint/2010/main" val="3358176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0" name="Object 30"/>
          <p:cNvGraphicFramePr/>
          <p:nvPr/>
        </p:nvGraphicFramePr>
        <p:xfrm>
          <a:off x="2005013" y="1858963"/>
          <a:ext cx="3663950" cy="812800"/>
        </p:xfrm>
        <a:graphic>
          <a:graphicData uri="http://schemas.openxmlformats.org/presentationml/2006/ole">
            <mc:AlternateContent xmlns:mc="http://schemas.openxmlformats.org/markup-compatibility/2006">
              <mc:Choice xmlns:v="urn:schemas-microsoft-com:vml" Requires="v">
                <p:oleObj spid="_x0000_s19467" r:id="rId3" imgW="1028700" imgH="228600" progId="Equation.3">
                  <p:embed/>
                </p:oleObj>
              </mc:Choice>
              <mc:Fallback>
                <p:oleObj r:id="rId3" imgW="1028700" imgH="228600" progId="Equation.3">
                  <p:embed/>
                  <p:pic>
                    <p:nvPicPr>
                      <p:cNvPr id="0" name=""/>
                      <p:cNvPicPr/>
                      <p:nvPr/>
                    </p:nvPicPr>
                    <p:blipFill>
                      <a:blip r:embed="rId4"/>
                      <a:stretch>
                        <a:fillRect/>
                      </a:stretch>
                    </p:blipFill>
                    <p:spPr>
                      <a:xfrm>
                        <a:off x="2005013" y="1858963"/>
                        <a:ext cx="3663950" cy="812800"/>
                      </a:xfrm>
                      <a:prstGeom prst="rect">
                        <a:avLst/>
                      </a:prstGeom>
                      <a:solidFill>
                        <a:srgbClr val="D4E6F4"/>
                      </a:solidFill>
                      <a:ln w="9525" cap="flat" cmpd="sng">
                        <a:solidFill>
                          <a:schemeClr val="tx1"/>
                        </a:solidFill>
                        <a:prstDash val="solid"/>
                        <a:miter/>
                        <a:headEnd type="none" w="med" len="med"/>
                        <a:tailEnd type="none" w="med" len="med"/>
                      </a:ln>
                    </p:spPr>
                  </p:pic>
                </p:oleObj>
              </mc:Fallback>
            </mc:AlternateContent>
          </a:graphicData>
        </a:graphic>
      </p:graphicFrame>
      <p:sp>
        <p:nvSpPr>
          <p:cNvPr id="18435" name="Line 31"/>
          <p:cNvSpPr>
            <a:spLocks noChangeShapeType="1"/>
          </p:cNvSpPr>
          <p:nvPr/>
        </p:nvSpPr>
        <p:spPr bwMode="auto">
          <a:xfrm>
            <a:off x="2409825" y="2830513"/>
            <a:ext cx="5257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36" name="Line 32"/>
          <p:cNvSpPr>
            <a:spLocks noChangeShapeType="1"/>
          </p:cNvSpPr>
          <p:nvPr/>
        </p:nvSpPr>
        <p:spPr bwMode="auto">
          <a:xfrm>
            <a:off x="2409825" y="3744913"/>
            <a:ext cx="5257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37" name="Text Box 33"/>
          <p:cNvSpPr txBox="1">
            <a:spLocks noChangeArrowheads="1"/>
          </p:cNvSpPr>
          <p:nvPr/>
        </p:nvSpPr>
        <p:spPr bwMode="auto">
          <a:xfrm>
            <a:off x="2714625" y="2873375"/>
            <a:ext cx="5953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8438" name="Text Box 34"/>
          <p:cNvSpPr txBox="1">
            <a:spLocks noChangeArrowheads="1"/>
          </p:cNvSpPr>
          <p:nvPr/>
        </p:nvSpPr>
        <p:spPr bwMode="auto">
          <a:xfrm>
            <a:off x="3524250" y="2873375"/>
            <a:ext cx="5953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8439" name="Text Box 35"/>
          <p:cNvSpPr txBox="1">
            <a:spLocks noChangeArrowheads="1"/>
          </p:cNvSpPr>
          <p:nvPr/>
        </p:nvSpPr>
        <p:spPr bwMode="auto">
          <a:xfrm>
            <a:off x="4438650" y="2906713"/>
            <a:ext cx="7143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18440" name="Text Box 36"/>
          <p:cNvSpPr txBox="1">
            <a:spLocks noChangeArrowheads="1"/>
          </p:cNvSpPr>
          <p:nvPr/>
        </p:nvSpPr>
        <p:spPr bwMode="auto">
          <a:xfrm>
            <a:off x="6067425" y="2857500"/>
            <a:ext cx="6127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a:ln>
                  <a:noFill/>
                </a:ln>
                <a:solidFill>
                  <a:schemeClr val="tx1"/>
                </a:solidFill>
                <a:effectLst/>
                <a:uLnTx/>
                <a:uFillTx/>
                <a:latin typeface="+mn-lt"/>
                <a:ea typeface="+mn-ea"/>
                <a:cs typeface="+mn-ea"/>
                <a:sym typeface="+mn-lt"/>
              </a:rPr>
              <a:t>a</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n</a:t>
            </a:r>
          </a:p>
        </p:txBody>
      </p:sp>
      <p:sp>
        <p:nvSpPr>
          <p:cNvPr id="18441" name="Text Box 37"/>
          <p:cNvSpPr txBox="1">
            <a:spLocks noChangeArrowheads="1"/>
          </p:cNvSpPr>
          <p:nvPr/>
        </p:nvSpPr>
        <p:spPr bwMode="auto">
          <a:xfrm>
            <a:off x="5153025" y="2781300"/>
            <a:ext cx="569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en-US" sz="4000" b="1" i="0" u="none" strike="noStrike" kern="1200" cap="none" spc="0" normalizeH="0" baseline="0" noProof="0">
                <a:ln>
                  <a:noFill/>
                </a:ln>
                <a:solidFill>
                  <a:schemeClr val="tx1"/>
                </a:solidFill>
                <a:effectLst/>
                <a:uLnTx/>
                <a:uFillTx/>
                <a:latin typeface="+mn-lt"/>
                <a:ea typeface="+mn-ea"/>
                <a:cs typeface="+mn-ea"/>
                <a:sym typeface="+mn-lt"/>
              </a:rPr>
              <a:t>...</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42" name="Line 39"/>
          <p:cNvSpPr>
            <a:spLocks noChangeShapeType="1"/>
          </p:cNvSpPr>
          <p:nvPr/>
        </p:nvSpPr>
        <p:spPr bwMode="auto">
          <a:xfrm>
            <a:off x="6372225" y="3744913"/>
            <a:ext cx="0" cy="381000"/>
          </a:xfrm>
          <a:prstGeom prst="line">
            <a:avLst/>
          </a:prstGeom>
          <a:noFill/>
          <a:ln w="38100">
            <a:solidFill>
              <a:srgbClr val="FF0066"/>
            </a:solidFill>
            <a:round/>
            <a:head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3" name="Group 54"/>
          <p:cNvGrpSpPr/>
          <p:nvPr/>
        </p:nvGrpSpPr>
        <p:grpSpPr>
          <a:xfrm>
            <a:off x="4475163" y="3744913"/>
            <a:ext cx="554037" cy="1195387"/>
            <a:chOff x="2531" y="2359"/>
            <a:chExt cx="349" cy="753"/>
          </a:xfrm>
        </p:grpSpPr>
        <p:sp>
          <p:nvSpPr>
            <p:cNvPr id="18444" name="Line 38"/>
            <p:cNvSpPr>
              <a:spLocks noChangeShapeType="1"/>
            </p:cNvSpPr>
            <p:nvPr/>
          </p:nvSpPr>
          <p:spPr bwMode="auto">
            <a:xfrm>
              <a:off x="2672" y="2359"/>
              <a:ext cx="0" cy="240"/>
            </a:xfrm>
            <a:prstGeom prst="line">
              <a:avLst/>
            </a:prstGeom>
            <a:noFill/>
            <a:ln w="38100">
              <a:solidFill>
                <a:srgbClr val="FF0066"/>
              </a:solidFill>
              <a:round/>
              <a:head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45" name="Text Box 40"/>
            <p:cNvSpPr txBox="1">
              <a:spLocks noChangeArrowheads="1"/>
            </p:cNvSpPr>
            <p:nvPr/>
          </p:nvSpPr>
          <p:spPr bwMode="auto">
            <a:xfrm>
              <a:off x="2531" y="2666"/>
              <a:ext cx="34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队头</a:t>
              </a:r>
            </a:p>
          </p:txBody>
        </p:sp>
      </p:grpSp>
      <p:sp>
        <p:nvSpPr>
          <p:cNvPr id="18446" name="Text Box 41"/>
          <p:cNvSpPr txBox="1">
            <a:spLocks noChangeArrowheads="1"/>
          </p:cNvSpPr>
          <p:nvPr/>
        </p:nvSpPr>
        <p:spPr bwMode="auto">
          <a:xfrm>
            <a:off x="6062663" y="4202113"/>
            <a:ext cx="5540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队尾</a:t>
            </a:r>
          </a:p>
        </p:txBody>
      </p:sp>
      <p:sp>
        <p:nvSpPr>
          <p:cNvPr id="18447" name="Line 43"/>
          <p:cNvSpPr>
            <a:spLocks noChangeShapeType="1"/>
          </p:cNvSpPr>
          <p:nvPr/>
        </p:nvSpPr>
        <p:spPr bwMode="auto">
          <a:xfrm flipH="1">
            <a:off x="1098550" y="3363913"/>
            <a:ext cx="1143000" cy="0"/>
          </a:xfrm>
          <a:prstGeom prst="line">
            <a:avLst/>
          </a:prstGeom>
          <a:noFill/>
          <a:ln w="57150">
            <a:solidFill>
              <a:srgbClr val="6C4C8F"/>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48" name="Text Box 44"/>
          <p:cNvSpPr txBox="1">
            <a:spLocks noChangeArrowheads="1"/>
          </p:cNvSpPr>
          <p:nvPr/>
        </p:nvSpPr>
        <p:spPr bwMode="auto">
          <a:xfrm>
            <a:off x="1143000" y="2830513"/>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出队列</a:t>
            </a:r>
          </a:p>
        </p:txBody>
      </p:sp>
      <p:sp>
        <p:nvSpPr>
          <p:cNvPr id="18449" name="Rectangle 45"/>
          <p:cNvSpPr>
            <a:spLocks noChangeArrowheads="1"/>
          </p:cNvSpPr>
          <p:nvPr/>
        </p:nvSpPr>
        <p:spPr bwMode="auto">
          <a:xfrm>
            <a:off x="2698750" y="2982913"/>
            <a:ext cx="609600" cy="685800"/>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27664" name="Group 46"/>
          <p:cNvGrpSpPr/>
          <p:nvPr/>
        </p:nvGrpSpPr>
        <p:grpSpPr>
          <a:xfrm>
            <a:off x="2709863" y="2997200"/>
            <a:ext cx="609600" cy="685800"/>
            <a:chOff x="1428" y="1879"/>
            <a:chExt cx="384" cy="432"/>
          </a:xfrm>
        </p:grpSpPr>
        <p:sp>
          <p:nvSpPr>
            <p:cNvPr id="18451" name="Line 47"/>
            <p:cNvSpPr>
              <a:spLocks noChangeShapeType="1"/>
            </p:cNvSpPr>
            <p:nvPr/>
          </p:nvSpPr>
          <p:spPr bwMode="auto">
            <a:xfrm>
              <a:off x="1428" y="1879"/>
              <a:ext cx="384" cy="432"/>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52" name="Line 48"/>
            <p:cNvSpPr>
              <a:spLocks noChangeShapeType="1"/>
            </p:cNvSpPr>
            <p:nvPr/>
          </p:nvSpPr>
          <p:spPr bwMode="auto">
            <a:xfrm flipV="1">
              <a:off x="1428" y="1879"/>
              <a:ext cx="384" cy="432"/>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4" name="Group 53"/>
          <p:cNvGrpSpPr/>
          <p:nvPr/>
        </p:nvGrpSpPr>
        <p:grpSpPr>
          <a:xfrm>
            <a:off x="3508375" y="2968625"/>
            <a:ext cx="623888" cy="690563"/>
            <a:chOff x="1922" y="1870"/>
            <a:chExt cx="393" cy="435"/>
          </a:xfrm>
        </p:grpSpPr>
        <p:grpSp>
          <p:nvGrpSpPr>
            <p:cNvPr id="27668" name="Group 49"/>
            <p:cNvGrpSpPr/>
            <p:nvPr/>
          </p:nvGrpSpPr>
          <p:grpSpPr>
            <a:xfrm>
              <a:off x="1931" y="1870"/>
              <a:ext cx="384" cy="432"/>
              <a:chOff x="1428" y="1879"/>
              <a:chExt cx="384" cy="432"/>
            </a:xfrm>
          </p:grpSpPr>
          <p:sp>
            <p:nvSpPr>
              <p:cNvPr id="18455" name="Line 50"/>
              <p:cNvSpPr>
                <a:spLocks noChangeShapeType="1"/>
              </p:cNvSpPr>
              <p:nvPr/>
            </p:nvSpPr>
            <p:spPr bwMode="auto">
              <a:xfrm>
                <a:off x="1428" y="1879"/>
                <a:ext cx="384" cy="432"/>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8456" name="Line 51"/>
              <p:cNvSpPr>
                <a:spLocks noChangeShapeType="1"/>
              </p:cNvSpPr>
              <p:nvPr/>
            </p:nvSpPr>
            <p:spPr bwMode="auto">
              <a:xfrm flipV="1">
                <a:off x="1428" y="1879"/>
                <a:ext cx="384" cy="432"/>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8457" name="Rectangle 52"/>
            <p:cNvSpPr>
              <a:spLocks noChangeArrowheads="1"/>
            </p:cNvSpPr>
            <p:nvPr/>
          </p:nvSpPr>
          <p:spPr bwMode="auto">
            <a:xfrm>
              <a:off x="1922" y="1873"/>
              <a:ext cx="384" cy="432"/>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28" name="标题 1"/>
          <p:cNvSpPr>
            <a:spLocks noGrp="1"/>
          </p:cNvSpPr>
          <p:nvPr>
            <p:ph type="title"/>
          </p:nvPr>
        </p:nvSpPr>
        <p:spPr>
          <a:xfrm>
            <a:off x="844550" y="236538"/>
            <a:ext cx="6400800" cy="45561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rPr>
              <a:t>队列</a:t>
            </a:r>
          </a:p>
        </p:txBody>
      </p:sp>
      <p:sp>
        <p:nvSpPr>
          <p:cNvPr id="29"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extLst>
      <p:ext uri="{BB962C8B-B14F-4D97-AF65-F5344CB8AC3E}">
        <p14:creationId xmlns:p14="http://schemas.microsoft.com/office/powerpoint/2010/main" val="3474402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圆角 30"/>
          <p:cNvSpPr/>
          <p:nvPr/>
        </p:nvSpPr>
        <p:spPr bwMode="auto">
          <a:xfrm>
            <a:off x="390525" y="3113088"/>
            <a:ext cx="2098675" cy="663575"/>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indent="-342900">
              <a:spcBef>
                <a:spcPct val="20000"/>
              </a:spcBef>
              <a:defRPr/>
            </a:pPr>
            <a:endParaRPr kumimoji="1" lang="zh-CN" altLang="en-US" sz="2800" b="0">
              <a:solidFill>
                <a:srgbClr val="000000"/>
              </a:solidFill>
              <a:latin typeface="Times New Roman"/>
              <a:ea typeface="Microsoft YaHei"/>
              <a:cs typeface="+mn-ea"/>
              <a:sym typeface="+mn-lt"/>
            </a:endParaRPr>
          </a:p>
        </p:txBody>
      </p:sp>
      <p:sp>
        <p:nvSpPr>
          <p:cNvPr id="30" name="矩形: 圆角 29"/>
          <p:cNvSpPr/>
          <p:nvPr/>
        </p:nvSpPr>
        <p:spPr bwMode="auto">
          <a:xfrm>
            <a:off x="390525" y="2166938"/>
            <a:ext cx="2098675" cy="663575"/>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indent="-342900">
              <a:spcBef>
                <a:spcPct val="20000"/>
              </a:spcBef>
              <a:defRPr/>
            </a:pPr>
            <a:endParaRPr kumimoji="1" lang="zh-CN" altLang="en-US" sz="2800" b="0">
              <a:solidFill>
                <a:srgbClr val="000000"/>
              </a:solidFill>
              <a:latin typeface="Times New Roman"/>
              <a:ea typeface="Microsoft YaHei"/>
              <a:cs typeface="+mn-ea"/>
              <a:sym typeface="+mn-lt"/>
            </a:endParaRPr>
          </a:p>
        </p:txBody>
      </p:sp>
      <p:sp>
        <p:nvSpPr>
          <p:cNvPr id="7" name="矩形: 圆角 6"/>
          <p:cNvSpPr/>
          <p:nvPr/>
        </p:nvSpPr>
        <p:spPr bwMode="auto">
          <a:xfrm>
            <a:off x="390525" y="1208088"/>
            <a:ext cx="2098675" cy="660400"/>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indent="-342900">
              <a:spcBef>
                <a:spcPct val="20000"/>
              </a:spcBef>
              <a:defRPr/>
            </a:pPr>
            <a:endParaRPr kumimoji="1" lang="zh-CN" altLang="en-US" sz="2800" b="0">
              <a:solidFill>
                <a:srgbClr val="000000"/>
              </a:solidFill>
              <a:latin typeface="Times New Roman"/>
              <a:ea typeface="Microsoft YaHei"/>
              <a:cs typeface="+mn-ea"/>
              <a:sym typeface="+mn-lt"/>
            </a:endParaRPr>
          </a:p>
        </p:txBody>
      </p:sp>
      <p:sp>
        <p:nvSpPr>
          <p:cNvPr id="11270" name="Rectangle 1104"/>
          <p:cNvSpPr>
            <a:spLocks noChangeArrowheads="1"/>
          </p:cNvSpPr>
          <p:nvPr/>
        </p:nvSpPr>
        <p:spPr bwMode="auto">
          <a:xfrm>
            <a:off x="1214438" y="1128713"/>
            <a:ext cx="11080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algn="dist">
              <a:defRPr/>
            </a:pPr>
            <a:r>
              <a:rPr lang="zh-CN" altLang="en-US" dirty="0">
                <a:solidFill>
                  <a:srgbClr val="FF9900"/>
                </a:solidFill>
                <a:latin typeface="Times New Roman"/>
                <a:ea typeface="Microsoft YaHei"/>
                <a:cs typeface="+mn-ea"/>
                <a:sym typeface="+mn-lt"/>
              </a:rPr>
              <a:t>定义</a:t>
            </a:r>
          </a:p>
        </p:txBody>
      </p:sp>
      <p:sp>
        <p:nvSpPr>
          <p:cNvPr id="11273" name="Rectangle 1110"/>
          <p:cNvSpPr>
            <a:spLocks noChangeArrowheads="1"/>
          </p:cNvSpPr>
          <p:nvPr/>
        </p:nvSpPr>
        <p:spPr bwMode="auto">
          <a:xfrm>
            <a:off x="1011238" y="3176588"/>
            <a:ext cx="15017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a:defRPr/>
            </a:pPr>
            <a:r>
              <a:rPr lang="zh-CN" altLang="en-US" dirty="0">
                <a:solidFill>
                  <a:srgbClr val="4D96D3"/>
                </a:solidFill>
                <a:latin typeface="Times New Roman"/>
                <a:ea typeface="Microsoft YaHei"/>
                <a:cs typeface="+mn-ea"/>
                <a:sym typeface="+mn-lt"/>
              </a:rPr>
              <a:t>存储结构</a:t>
            </a:r>
          </a:p>
        </p:txBody>
      </p:sp>
      <p:sp>
        <p:nvSpPr>
          <p:cNvPr id="11276" name="Rectangle 1113"/>
          <p:cNvSpPr>
            <a:spLocks noChangeArrowheads="1"/>
          </p:cNvSpPr>
          <p:nvPr/>
        </p:nvSpPr>
        <p:spPr bwMode="auto">
          <a:xfrm>
            <a:off x="1011238" y="2249488"/>
            <a:ext cx="14446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algn="ctr">
              <a:defRPr/>
            </a:pPr>
            <a:r>
              <a:rPr lang="zh-CN" altLang="en-US" dirty="0">
                <a:solidFill>
                  <a:srgbClr val="6C4C8F"/>
                </a:solidFill>
                <a:latin typeface="Times New Roman"/>
                <a:ea typeface="Microsoft YaHei"/>
                <a:cs typeface="+mn-ea"/>
                <a:sym typeface="+mn-lt"/>
              </a:rPr>
              <a:t>逻辑结构</a:t>
            </a:r>
          </a:p>
        </p:txBody>
      </p:sp>
      <p:sp>
        <p:nvSpPr>
          <p:cNvPr id="11277" name="Rectangle 1114"/>
          <p:cNvSpPr>
            <a:spLocks noChangeArrowheads="1"/>
          </p:cNvSpPr>
          <p:nvPr/>
        </p:nvSpPr>
        <p:spPr bwMode="auto">
          <a:xfrm>
            <a:off x="2678113" y="1125538"/>
            <a:ext cx="60753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a:buFont typeface="Arial" panose="020B0604020202020204" pitchFamily="34" charset="0"/>
              <a:buNone/>
              <a:defRPr/>
            </a:pPr>
            <a:r>
              <a:rPr lang="zh-CN" altLang="en-US" b="0" dirty="0">
                <a:solidFill>
                  <a:srgbClr val="000000"/>
                </a:solidFill>
                <a:latin typeface="Times New Roman"/>
                <a:ea typeface="Microsoft YaHei"/>
                <a:cs typeface="+mn-ea"/>
                <a:sym typeface="+mn-lt"/>
              </a:rPr>
              <a:t>只能在表的一端（</a:t>
            </a:r>
            <a:r>
              <a:rPr lang="zh-CN" altLang="en-US" b="0" dirty="0">
                <a:solidFill>
                  <a:srgbClr val="FF0000"/>
                </a:solidFill>
                <a:latin typeface="Times New Roman"/>
                <a:ea typeface="Microsoft YaHei"/>
                <a:cs typeface="+mn-ea"/>
                <a:sym typeface="+mn-lt"/>
              </a:rPr>
              <a:t>队尾</a:t>
            </a:r>
            <a:r>
              <a:rPr lang="zh-CN" altLang="en-US" b="0" dirty="0">
                <a:solidFill>
                  <a:srgbClr val="000000"/>
                </a:solidFill>
                <a:latin typeface="Times New Roman"/>
                <a:ea typeface="Microsoft YaHei"/>
                <a:cs typeface="+mn-ea"/>
                <a:sym typeface="+mn-lt"/>
              </a:rPr>
              <a:t>）进行插入，在另一端（</a:t>
            </a:r>
            <a:r>
              <a:rPr lang="zh-CN" altLang="en-US" b="0" dirty="0">
                <a:solidFill>
                  <a:srgbClr val="FF0000"/>
                </a:solidFill>
                <a:latin typeface="Times New Roman"/>
                <a:ea typeface="Microsoft YaHei"/>
                <a:cs typeface="+mn-ea"/>
                <a:sym typeface="+mn-lt"/>
              </a:rPr>
              <a:t>队头</a:t>
            </a:r>
            <a:r>
              <a:rPr lang="zh-CN" altLang="en-US" b="0" dirty="0">
                <a:solidFill>
                  <a:srgbClr val="000000"/>
                </a:solidFill>
                <a:latin typeface="Times New Roman"/>
                <a:ea typeface="Microsoft YaHei"/>
                <a:cs typeface="+mn-ea"/>
                <a:sym typeface="+mn-lt"/>
              </a:rPr>
              <a:t>）进行删除运算的</a:t>
            </a:r>
            <a:r>
              <a:rPr lang="zh-CN" altLang="en-US" b="0" dirty="0">
                <a:solidFill>
                  <a:srgbClr val="FF0000"/>
                </a:solidFill>
                <a:latin typeface="Times New Roman"/>
                <a:ea typeface="Microsoft YaHei"/>
                <a:cs typeface="+mn-ea"/>
                <a:sym typeface="+mn-lt"/>
              </a:rPr>
              <a:t>线性表</a:t>
            </a:r>
          </a:p>
        </p:txBody>
      </p:sp>
      <p:sp>
        <p:nvSpPr>
          <p:cNvPr id="4" name="标题 3"/>
          <p:cNvSpPr>
            <a:spLocks noGrp="1"/>
          </p:cNvSpPr>
          <p:nvPr>
            <p:ph type="title"/>
          </p:nvPr>
        </p:nvSpPr>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lang="zh-CN" altLang="en-US" dirty="0">
                <a:latin typeface="+mn-lt"/>
                <a:ea typeface="+mn-ea"/>
                <a:cs typeface="+mn-ea"/>
                <a:sym typeface="+mn-lt"/>
              </a:rPr>
              <a:t>队列</a:t>
            </a:r>
            <a:endParaRPr kumimoji="0" lang="zh-CN" altLang="en-US" sz="2800" b="0" i="0" u="none" strike="noStrike" kern="0" cap="none" spc="0" normalizeH="0" baseline="0" noProof="0" dirty="0">
              <a:ln>
                <a:noFill/>
              </a:ln>
              <a:solidFill>
                <a:schemeClr val="bg1"/>
              </a:solidFill>
              <a:effectLst/>
              <a:uLnTx/>
              <a:uFillTx/>
              <a:latin typeface="+mn-lt"/>
              <a:ea typeface="+mn-ea"/>
              <a:cs typeface="+mn-ea"/>
              <a:sym typeface="+mn-lt"/>
            </a:endParaRPr>
          </a:p>
        </p:txBody>
      </p:sp>
      <p:grpSp>
        <p:nvGrpSpPr>
          <p:cNvPr id="28682" name="组合 28"/>
          <p:cNvGrpSpPr/>
          <p:nvPr/>
        </p:nvGrpSpPr>
        <p:grpSpPr>
          <a:xfrm>
            <a:off x="423863" y="1249363"/>
            <a:ext cx="590550" cy="628650"/>
            <a:chOff x="6242320" y="1105887"/>
            <a:chExt cx="589786" cy="626357"/>
          </a:xfrm>
        </p:grpSpPr>
        <p:sp>
          <p:nvSpPr>
            <p:cNvPr id="15" name="TextBox 6"/>
            <p:cNvSpPr txBox="1">
              <a:spLocks noChangeArrowheads="1"/>
            </p:cNvSpPr>
            <p:nvPr/>
          </p:nvSpPr>
          <p:spPr bwMode="auto">
            <a:xfrm>
              <a:off x="6327934" y="1105887"/>
              <a:ext cx="475634" cy="491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a:defRPr/>
              </a:pPr>
              <a:r>
                <a:rPr lang="en-US" altLang="zh-CN" sz="3200" dirty="0">
                  <a:solidFill>
                    <a:srgbClr val="FF9900"/>
                  </a:solidFill>
                  <a:latin typeface="Times New Roman"/>
                  <a:ea typeface="Microsoft YaHei"/>
                  <a:cs typeface="+mn-ea"/>
                  <a:sym typeface="+mn-lt"/>
                </a:rPr>
                <a:t>01</a:t>
              </a:r>
              <a:endParaRPr lang="zh-CN" altLang="en-US" sz="3200" dirty="0">
                <a:solidFill>
                  <a:srgbClr val="FF9900"/>
                </a:solidFill>
                <a:latin typeface="Times New Roman"/>
                <a:ea typeface="Microsoft YaHei"/>
                <a:cs typeface="+mn-ea"/>
                <a:sym typeface="+mn-lt"/>
              </a:endParaRPr>
            </a:p>
          </p:txBody>
        </p:sp>
        <p:sp>
          <p:nvSpPr>
            <p:cNvPr id="16" name="文本框 22"/>
            <p:cNvSpPr txBox="1">
              <a:spLocks noChangeArrowheads="1"/>
            </p:cNvSpPr>
            <p:nvPr/>
          </p:nvSpPr>
          <p:spPr bwMode="auto">
            <a:xfrm>
              <a:off x="6242320" y="1517131"/>
              <a:ext cx="589786" cy="21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a:defRPr/>
              </a:pPr>
              <a:r>
                <a:rPr lang="en-US" altLang="zh-CN" sz="800">
                  <a:solidFill>
                    <a:srgbClr val="818181"/>
                  </a:solidFill>
                  <a:latin typeface="Times New Roman"/>
                  <a:ea typeface="Microsoft YaHei"/>
                  <a:cs typeface="+mn-ea"/>
                  <a:sym typeface="+mn-lt"/>
                </a:rPr>
                <a:t>OPTION</a:t>
              </a:r>
              <a:endParaRPr lang="zh-CN" altLang="en-US" sz="800">
                <a:solidFill>
                  <a:srgbClr val="818181"/>
                </a:solidFill>
                <a:latin typeface="Times New Roman"/>
                <a:ea typeface="Microsoft YaHei"/>
                <a:cs typeface="+mn-ea"/>
                <a:sym typeface="+mn-lt"/>
              </a:endParaRPr>
            </a:p>
          </p:txBody>
        </p:sp>
      </p:grpSp>
      <p:grpSp>
        <p:nvGrpSpPr>
          <p:cNvPr id="28683" name="组合 45"/>
          <p:cNvGrpSpPr/>
          <p:nvPr/>
        </p:nvGrpSpPr>
        <p:grpSpPr>
          <a:xfrm>
            <a:off x="441325" y="2208213"/>
            <a:ext cx="590550" cy="631825"/>
            <a:chOff x="6242320" y="2373259"/>
            <a:chExt cx="589786" cy="631715"/>
          </a:xfrm>
        </p:grpSpPr>
        <p:sp>
          <p:nvSpPr>
            <p:cNvPr id="18" name="TextBox 6"/>
            <p:cNvSpPr txBox="1">
              <a:spLocks noChangeArrowheads="1"/>
            </p:cNvSpPr>
            <p:nvPr/>
          </p:nvSpPr>
          <p:spPr bwMode="auto">
            <a:xfrm>
              <a:off x="6327934" y="2373259"/>
              <a:ext cx="458194" cy="492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a:defRPr/>
              </a:pPr>
              <a:r>
                <a:rPr lang="en-US" altLang="zh-CN" sz="3200" b="0" dirty="0">
                  <a:solidFill>
                    <a:srgbClr val="6C4C8F"/>
                  </a:solidFill>
                  <a:latin typeface="Times New Roman"/>
                  <a:ea typeface="Microsoft YaHei"/>
                  <a:cs typeface="+mn-ea"/>
                  <a:sym typeface="+mn-lt"/>
                </a:rPr>
                <a:t>02</a:t>
              </a:r>
              <a:endParaRPr lang="zh-CN" altLang="en-US" sz="3200" b="0" dirty="0">
                <a:solidFill>
                  <a:srgbClr val="6C4C8F"/>
                </a:solidFill>
                <a:latin typeface="Times New Roman"/>
                <a:ea typeface="Microsoft YaHei"/>
                <a:cs typeface="+mn-ea"/>
                <a:sym typeface="+mn-lt"/>
              </a:endParaRPr>
            </a:p>
          </p:txBody>
        </p:sp>
        <p:sp>
          <p:nvSpPr>
            <p:cNvPr id="19" name="文本框 23"/>
            <p:cNvSpPr txBox="1">
              <a:spLocks noChangeArrowheads="1"/>
            </p:cNvSpPr>
            <p:nvPr/>
          </p:nvSpPr>
          <p:spPr bwMode="auto">
            <a:xfrm>
              <a:off x="6242320" y="2789112"/>
              <a:ext cx="589786" cy="21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a:defRPr/>
              </a:pPr>
              <a:r>
                <a:rPr lang="en-US" altLang="zh-CN" sz="800">
                  <a:solidFill>
                    <a:srgbClr val="818181"/>
                  </a:solidFill>
                  <a:latin typeface="Times New Roman"/>
                  <a:ea typeface="Microsoft YaHei"/>
                  <a:cs typeface="+mn-ea"/>
                  <a:sym typeface="+mn-lt"/>
                </a:rPr>
                <a:t>OPTION</a:t>
              </a:r>
              <a:endParaRPr lang="zh-CN" altLang="en-US" sz="800">
                <a:solidFill>
                  <a:srgbClr val="818181"/>
                </a:solidFill>
                <a:latin typeface="Times New Roman"/>
                <a:ea typeface="Microsoft YaHei"/>
                <a:cs typeface="+mn-ea"/>
                <a:sym typeface="+mn-lt"/>
              </a:endParaRPr>
            </a:p>
          </p:txBody>
        </p:sp>
      </p:grpSp>
      <p:grpSp>
        <p:nvGrpSpPr>
          <p:cNvPr id="28684" name="组合 48"/>
          <p:cNvGrpSpPr/>
          <p:nvPr/>
        </p:nvGrpSpPr>
        <p:grpSpPr>
          <a:xfrm>
            <a:off x="395288" y="3144838"/>
            <a:ext cx="590550" cy="622300"/>
            <a:chOff x="6242320" y="3640826"/>
            <a:chExt cx="589786" cy="620331"/>
          </a:xfrm>
        </p:grpSpPr>
        <p:sp>
          <p:nvSpPr>
            <p:cNvPr id="21" name="TextBox 6"/>
            <p:cNvSpPr txBox="1">
              <a:spLocks noChangeArrowheads="1"/>
            </p:cNvSpPr>
            <p:nvPr/>
          </p:nvSpPr>
          <p:spPr bwMode="auto">
            <a:xfrm>
              <a:off x="6327934" y="3640826"/>
              <a:ext cx="504172" cy="4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a:defRPr/>
              </a:pPr>
              <a:r>
                <a:rPr lang="en-US" altLang="zh-CN" sz="3200" b="0" dirty="0">
                  <a:solidFill>
                    <a:srgbClr val="76AEDD"/>
                  </a:solidFill>
                  <a:latin typeface="Times New Roman"/>
                  <a:ea typeface="Microsoft YaHei"/>
                  <a:cs typeface="+mn-ea"/>
                  <a:sym typeface="+mn-lt"/>
                </a:rPr>
                <a:t>03</a:t>
              </a:r>
              <a:endParaRPr lang="zh-CN" altLang="en-US" sz="3200" b="0" dirty="0">
                <a:solidFill>
                  <a:srgbClr val="76AEDD"/>
                </a:solidFill>
                <a:latin typeface="Times New Roman"/>
                <a:ea typeface="Microsoft YaHei"/>
                <a:cs typeface="+mn-ea"/>
                <a:sym typeface="+mn-lt"/>
              </a:endParaRPr>
            </a:p>
          </p:txBody>
        </p:sp>
        <p:sp>
          <p:nvSpPr>
            <p:cNvPr id="22" name="文本框 24"/>
            <p:cNvSpPr txBox="1">
              <a:spLocks noChangeArrowheads="1"/>
            </p:cNvSpPr>
            <p:nvPr/>
          </p:nvSpPr>
          <p:spPr bwMode="auto">
            <a:xfrm>
              <a:off x="6242320" y="4045940"/>
              <a:ext cx="589786" cy="215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a:defRPr/>
              </a:pPr>
              <a:r>
                <a:rPr lang="en-US" altLang="zh-CN" sz="800">
                  <a:solidFill>
                    <a:srgbClr val="818181"/>
                  </a:solidFill>
                  <a:latin typeface="Times New Roman"/>
                  <a:ea typeface="Microsoft YaHei"/>
                  <a:cs typeface="+mn-ea"/>
                  <a:sym typeface="+mn-lt"/>
                </a:rPr>
                <a:t>OPTION</a:t>
              </a:r>
              <a:endParaRPr lang="zh-CN" altLang="en-US" sz="800">
                <a:solidFill>
                  <a:srgbClr val="818181"/>
                </a:solidFill>
                <a:latin typeface="Times New Roman"/>
                <a:ea typeface="Microsoft YaHei"/>
                <a:cs typeface="+mn-ea"/>
                <a:sym typeface="+mn-lt"/>
              </a:endParaRPr>
            </a:p>
          </p:txBody>
        </p:sp>
      </p:grpSp>
      <p:cxnSp>
        <p:nvCxnSpPr>
          <p:cNvPr id="6" name="直接连接符 5"/>
          <p:cNvCxnSpPr/>
          <p:nvPr/>
        </p:nvCxnSpPr>
        <p:spPr bwMode="auto">
          <a:xfrm>
            <a:off x="509588" y="2024063"/>
            <a:ext cx="8482013"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p:spPr>
      </p:cxnSp>
      <p:sp>
        <p:nvSpPr>
          <p:cNvPr id="25" name="Rectangle 1105"/>
          <p:cNvSpPr>
            <a:spLocks noChangeArrowheads="1"/>
          </p:cNvSpPr>
          <p:nvPr/>
        </p:nvSpPr>
        <p:spPr bwMode="auto">
          <a:xfrm>
            <a:off x="2678113" y="2274888"/>
            <a:ext cx="4494213"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a:lnSpc>
                <a:spcPct val="90000"/>
              </a:lnSpc>
              <a:buFont typeface="Arial" panose="020B0604020202020204" pitchFamily="34" charset="0"/>
              <a:buNone/>
              <a:defRPr/>
            </a:pPr>
            <a:r>
              <a:rPr lang="zh-CN" altLang="en-US" b="0" dirty="0">
                <a:solidFill>
                  <a:srgbClr val="000000"/>
                </a:solidFill>
                <a:latin typeface="Times New Roman"/>
                <a:ea typeface="Microsoft YaHei"/>
                <a:cs typeface="+mn-ea"/>
                <a:sym typeface="+mn-lt"/>
              </a:rPr>
              <a:t>与线性表相同，仍为</a:t>
            </a:r>
            <a:r>
              <a:rPr lang="zh-CN" altLang="en-US" b="0" dirty="0">
                <a:solidFill>
                  <a:srgbClr val="FF0000"/>
                </a:solidFill>
                <a:latin typeface="Times New Roman"/>
                <a:ea typeface="Microsoft YaHei"/>
                <a:cs typeface="+mn-ea"/>
                <a:sym typeface="+mn-lt"/>
              </a:rPr>
              <a:t>一对一</a:t>
            </a:r>
            <a:r>
              <a:rPr lang="zh-CN" altLang="en-US" b="0" dirty="0">
                <a:solidFill>
                  <a:srgbClr val="000000"/>
                </a:solidFill>
                <a:latin typeface="Times New Roman"/>
                <a:ea typeface="Microsoft YaHei"/>
                <a:cs typeface="+mn-ea"/>
                <a:sym typeface="+mn-lt"/>
              </a:rPr>
              <a:t>关系</a:t>
            </a:r>
          </a:p>
        </p:txBody>
      </p:sp>
      <p:sp>
        <p:nvSpPr>
          <p:cNvPr id="26" name="Rectangle 1106"/>
          <p:cNvSpPr>
            <a:spLocks noChangeArrowheads="1"/>
          </p:cNvSpPr>
          <p:nvPr/>
        </p:nvSpPr>
        <p:spPr bwMode="auto">
          <a:xfrm>
            <a:off x="2678113" y="3227388"/>
            <a:ext cx="63595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a:buFont typeface="Arial" panose="020B0604020202020204" pitchFamily="34" charset="0"/>
              <a:buNone/>
              <a:defRPr/>
            </a:pPr>
            <a:r>
              <a:rPr lang="zh-CN" altLang="en-US" b="0" dirty="0">
                <a:solidFill>
                  <a:srgbClr val="000000"/>
                </a:solidFill>
                <a:latin typeface="Times New Roman"/>
                <a:ea typeface="Microsoft YaHei"/>
                <a:cs typeface="+mn-ea"/>
                <a:sym typeface="+mn-lt"/>
              </a:rPr>
              <a:t>用</a:t>
            </a:r>
            <a:r>
              <a:rPr lang="zh-CN" altLang="en-US" b="0" dirty="0">
                <a:solidFill>
                  <a:srgbClr val="FF0000"/>
                </a:solidFill>
                <a:latin typeface="Times New Roman"/>
                <a:ea typeface="Microsoft YaHei"/>
                <a:cs typeface="+mn-ea"/>
                <a:sym typeface="+mn-lt"/>
              </a:rPr>
              <a:t>顺序队列</a:t>
            </a:r>
            <a:r>
              <a:rPr lang="zh-CN" altLang="en-US" b="0" dirty="0">
                <a:solidFill>
                  <a:srgbClr val="000000"/>
                </a:solidFill>
                <a:latin typeface="Times New Roman"/>
                <a:ea typeface="Microsoft YaHei"/>
                <a:cs typeface="+mn-ea"/>
                <a:sym typeface="+mn-lt"/>
              </a:rPr>
              <a:t>或</a:t>
            </a:r>
            <a:r>
              <a:rPr lang="zh-CN" altLang="en-US" b="0" dirty="0">
                <a:solidFill>
                  <a:srgbClr val="FF0000"/>
                </a:solidFill>
                <a:latin typeface="Times New Roman"/>
                <a:ea typeface="Microsoft YaHei"/>
                <a:cs typeface="+mn-ea"/>
                <a:sym typeface="+mn-lt"/>
              </a:rPr>
              <a:t>链队</a:t>
            </a:r>
            <a:r>
              <a:rPr lang="zh-CN" altLang="en-US" b="0" dirty="0">
                <a:solidFill>
                  <a:srgbClr val="000000"/>
                </a:solidFill>
                <a:latin typeface="Times New Roman"/>
                <a:ea typeface="Microsoft YaHei"/>
                <a:cs typeface="+mn-ea"/>
                <a:sym typeface="+mn-lt"/>
              </a:rPr>
              <a:t>存储均可</a:t>
            </a:r>
          </a:p>
        </p:txBody>
      </p:sp>
      <p:cxnSp>
        <p:nvCxnSpPr>
          <p:cNvPr id="27" name="直接连接符 26"/>
          <p:cNvCxnSpPr/>
          <p:nvPr/>
        </p:nvCxnSpPr>
        <p:spPr bwMode="auto">
          <a:xfrm>
            <a:off x="509588" y="2954338"/>
            <a:ext cx="8482013"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p:spPr>
      </p:cxnSp>
      <p:cxnSp>
        <p:nvCxnSpPr>
          <p:cNvPr id="28" name="直接连接符 27"/>
          <p:cNvCxnSpPr/>
          <p:nvPr/>
        </p:nvCxnSpPr>
        <p:spPr bwMode="auto">
          <a:xfrm>
            <a:off x="509588" y="3897313"/>
            <a:ext cx="8482013"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p:spPr>
      </p:cxnSp>
      <p:sp>
        <p:nvSpPr>
          <p:cNvPr id="37" name="矩形: 圆角 36"/>
          <p:cNvSpPr/>
          <p:nvPr/>
        </p:nvSpPr>
        <p:spPr bwMode="auto">
          <a:xfrm>
            <a:off x="390525" y="4137025"/>
            <a:ext cx="2098675" cy="660400"/>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indent="-342900">
              <a:spcBef>
                <a:spcPct val="20000"/>
              </a:spcBef>
              <a:defRPr/>
            </a:pPr>
            <a:endParaRPr kumimoji="1" lang="zh-CN" altLang="en-US" sz="2800" b="0">
              <a:solidFill>
                <a:srgbClr val="000000"/>
              </a:solidFill>
              <a:latin typeface="Times New Roman"/>
              <a:ea typeface="Microsoft YaHei"/>
              <a:cs typeface="+mn-ea"/>
              <a:sym typeface="+mn-lt"/>
            </a:endParaRPr>
          </a:p>
        </p:txBody>
      </p:sp>
      <p:sp>
        <p:nvSpPr>
          <p:cNvPr id="38" name="Rectangle 1110"/>
          <p:cNvSpPr>
            <a:spLocks noChangeArrowheads="1"/>
          </p:cNvSpPr>
          <p:nvPr/>
        </p:nvSpPr>
        <p:spPr bwMode="auto">
          <a:xfrm>
            <a:off x="1011238" y="4200525"/>
            <a:ext cx="15017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a:defRPr/>
            </a:pPr>
            <a:r>
              <a:rPr lang="zh-CN" altLang="en-US" dirty="0">
                <a:solidFill>
                  <a:srgbClr val="000000">
                    <a:lumMod val="65000"/>
                    <a:lumOff val="35000"/>
                  </a:srgbClr>
                </a:solidFill>
                <a:latin typeface="Times New Roman"/>
                <a:ea typeface="Microsoft YaHei"/>
                <a:cs typeface="+mn-ea"/>
                <a:sym typeface="+mn-lt"/>
              </a:rPr>
              <a:t>运算规则</a:t>
            </a:r>
          </a:p>
        </p:txBody>
      </p:sp>
      <p:grpSp>
        <p:nvGrpSpPr>
          <p:cNvPr id="28692" name="组合 48"/>
          <p:cNvGrpSpPr/>
          <p:nvPr/>
        </p:nvGrpSpPr>
        <p:grpSpPr>
          <a:xfrm>
            <a:off x="395288" y="4168775"/>
            <a:ext cx="590550" cy="620713"/>
            <a:chOff x="6242320" y="3640826"/>
            <a:chExt cx="589786" cy="620331"/>
          </a:xfrm>
        </p:grpSpPr>
        <p:sp>
          <p:nvSpPr>
            <p:cNvPr id="40" name="TextBox 6"/>
            <p:cNvSpPr txBox="1">
              <a:spLocks noChangeArrowheads="1"/>
            </p:cNvSpPr>
            <p:nvPr/>
          </p:nvSpPr>
          <p:spPr bwMode="auto">
            <a:xfrm>
              <a:off x="6327934" y="3640826"/>
              <a:ext cx="504172" cy="491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a:defRPr/>
              </a:pPr>
              <a:r>
                <a:rPr lang="en-US" altLang="zh-CN" sz="3200" b="0" dirty="0">
                  <a:solidFill>
                    <a:srgbClr val="000000">
                      <a:lumMod val="65000"/>
                      <a:lumOff val="35000"/>
                    </a:srgbClr>
                  </a:solidFill>
                  <a:latin typeface="Times New Roman"/>
                  <a:ea typeface="Microsoft YaHei"/>
                  <a:cs typeface="+mn-ea"/>
                  <a:sym typeface="+mn-lt"/>
                </a:rPr>
                <a:t>04</a:t>
              </a:r>
              <a:endParaRPr lang="zh-CN" altLang="en-US" sz="3200" b="0" dirty="0">
                <a:solidFill>
                  <a:srgbClr val="000000">
                    <a:lumMod val="65000"/>
                    <a:lumOff val="35000"/>
                  </a:srgbClr>
                </a:solidFill>
                <a:latin typeface="Times New Roman"/>
                <a:ea typeface="Microsoft YaHei"/>
                <a:cs typeface="+mn-ea"/>
                <a:sym typeface="+mn-lt"/>
              </a:endParaRPr>
            </a:p>
          </p:txBody>
        </p:sp>
        <p:sp>
          <p:nvSpPr>
            <p:cNvPr id="41" name="文本框 24"/>
            <p:cNvSpPr txBox="1">
              <a:spLocks noChangeArrowheads="1"/>
            </p:cNvSpPr>
            <p:nvPr/>
          </p:nvSpPr>
          <p:spPr bwMode="auto">
            <a:xfrm>
              <a:off x="6242320" y="4045390"/>
              <a:ext cx="589786" cy="215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a:defRPr/>
              </a:pPr>
              <a:r>
                <a:rPr lang="en-US" altLang="zh-CN" sz="800">
                  <a:solidFill>
                    <a:srgbClr val="818181"/>
                  </a:solidFill>
                  <a:latin typeface="Times New Roman"/>
                  <a:ea typeface="Microsoft YaHei"/>
                  <a:cs typeface="+mn-ea"/>
                  <a:sym typeface="+mn-lt"/>
                </a:rPr>
                <a:t>OPTION</a:t>
              </a:r>
              <a:endParaRPr lang="zh-CN" altLang="en-US" sz="800">
                <a:solidFill>
                  <a:srgbClr val="818181"/>
                </a:solidFill>
                <a:latin typeface="Times New Roman"/>
                <a:ea typeface="Microsoft YaHei"/>
                <a:cs typeface="+mn-ea"/>
                <a:sym typeface="+mn-lt"/>
              </a:endParaRPr>
            </a:p>
          </p:txBody>
        </p:sp>
      </p:grpSp>
      <p:sp>
        <p:nvSpPr>
          <p:cNvPr id="42" name="Rectangle 1106"/>
          <p:cNvSpPr>
            <a:spLocks noChangeArrowheads="1"/>
          </p:cNvSpPr>
          <p:nvPr/>
        </p:nvSpPr>
        <p:spPr bwMode="auto">
          <a:xfrm>
            <a:off x="2678113" y="4249738"/>
            <a:ext cx="63595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a:buFont typeface="Arial" panose="020B0604020202020204" pitchFamily="34" charset="0"/>
              <a:buNone/>
              <a:defRPr/>
            </a:pPr>
            <a:r>
              <a:rPr lang="zh-CN" altLang="en-US" b="0" dirty="0">
                <a:solidFill>
                  <a:srgbClr val="FF0000"/>
                </a:solidFill>
                <a:latin typeface="Times New Roman"/>
                <a:ea typeface="Microsoft YaHei"/>
                <a:cs typeface="+mn-ea"/>
                <a:sym typeface="+mn-lt"/>
              </a:rPr>
              <a:t>先进先出</a:t>
            </a:r>
            <a:r>
              <a:rPr lang="zh-CN" altLang="en-US" b="0" dirty="0">
                <a:solidFill>
                  <a:srgbClr val="000000"/>
                </a:solidFill>
                <a:latin typeface="Times New Roman"/>
                <a:ea typeface="Microsoft YaHei"/>
                <a:cs typeface="+mn-ea"/>
                <a:sym typeface="+mn-lt"/>
              </a:rPr>
              <a:t>（</a:t>
            </a:r>
            <a:r>
              <a:rPr lang="en-US" altLang="zh-CN" b="0" dirty="0">
                <a:solidFill>
                  <a:srgbClr val="000000"/>
                </a:solidFill>
                <a:latin typeface="Times New Roman"/>
                <a:ea typeface="Microsoft YaHei"/>
                <a:cs typeface="+mn-ea"/>
                <a:sym typeface="+mn-lt"/>
              </a:rPr>
              <a:t>FIFO</a:t>
            </a:r>
            <a:r>
              <a:rPr lang="zh-CN" altLang="en-US" b="0" dirty="0">
                <a:solidFill>
                  <a:srgbClr val="000000"/>
                </a:solidFill>
                <a:latin typeface="Times New Roman"/>
                <a:ea typeface="Microsoft YaHei"/>
                <a:cs typeface="+mn-ea"/>
                <a:sym typeface="+mn-lt"/>
              </a:rPr>
              <a:t>）</a:t>
            </a:r>
          </a:p>
        </p:txBody>
      </p:sp>
      <p:cxnSp>
        <p:nvCxnSpPr>
          <p:cNvPr id="43" name="直接连接符 42"/>
          <p:cNvCxnSpPr/>
          <p:nvPr/>
        </p:nvCxnSpPr>
        <p:spPr bwMode="auto">
          <a:xfrm>
            <a:off x="509588" y="5049838"/>
            <a:ext cx="8482013"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p:spPr>
      </p:cxnSp>
      <p:sp>
        <p:nvSpPr>
          <p:cNvPr id="44" name="矩形: 圆角 43"/>
          <p:cNvSpPr/>
          <p:nvPr/>
        </p:nvSpPr>
        <p:spPr bwMode="auto">
          <a:xfrm>
            <a:off x="390525" y="5227638"/>
            <a:ext cx="2098675" cy="660400"/>
          </a:xfrm>
          <a:prstGeom prst="round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indent="-342900">
              <a:spcBef>
                <a:spcPct val="20000"/>
              </a:spcBef>
              <a:defRPr/>
            </a:pPr>
            <a:endParaRPr kumimoji="1" lang="zh-CN" altLang="en-US" sz="2800" b="0">
              <a:solidFill>
                <a:srgbClr val="000000"/>
              </a:solidFill>
              <a:latin typeface="Times New Roman"/>
              <a:ea typeface="Microsoft YaHei"/>
              <a:cs typeface="+mn-ea"/>
              <a:sym typeface="+mn-lt"/>
            </a:endParaRPr>
          </a:p>
        </p:txBody>
      </p:sp>
      <p:sp>
        <p:nvSpPr>
          <p:cNvPr id="45" name="Rectangle 1110"/>
          <p:cNvSpPr>
            <a:spLocks noChangeArrowheads="1"/>
          </p:cNvSpPr>
          <p:nvPr/>
        </p:nvSpPr>
        <p:spPr bwMode="auto">
          <a:xfrm>
            <a:off x="1011238" y="5291138"/>
            <a:ext cx="15017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algn="dist">
              <a:defRPr/>
            </a:pPr>
            <a:r>
              <a:rPr lang="zh-CN" altLang="en-US" dirty="0">
                <a:solidFill>
                  <a:srgbClr val="FF9900"/>
                </a:solidFill>
                <a:latin typeface="Times New Roman"/>
                <a:ea typeface="Microsoft YaHei"/>
                <a:cs typeface="+mn-ea"/>
                <a:sym typeface="+mn-lt"/>
              </a:rPr>
              <a:t>实现方式</a:t>
            </a:r>
          </a:p>
        </p:txBody>
      </p:sp>
      <p:grpSp>
        <p:nvGrpSpPr>
          <p:cNvPr id="28697" name="组合 48"/>
          <p:cNvGrpSpPr/>
          <p:nvPr/>
        </p:nvGrpSpPr>
        <p:grpSpPr>
          <a:xfrm>
            <a:off x="395288" y="5259388"/>
            <a:ext cx="590550" cy="622300"/>
            <a:chOff x="6242320" y="3640826"/>
            <a:chExt cx="589786" cy="620331"/>
          </a:xfrm>
        </p:grpSpPr>
        <p:sp>
          <p:nvSpPr>
            <p:cNvPr id="47" name="TextBox 6"/>
            <p:cNvSpPr txBox="1">
              <a:spLocks noChangeArrowheads="1"/>
            </p:cNvSpPr>
            <p:nvPr/>
          </p:nvSpPr>
          <p:spPr bwMode="auto">
            <a:xfrm>
              <a:off x="6327934" y="3640826"/>
              <a:ext cx="504172" cy="4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a:defRPr/>
              </a:pPr>
              <a:r>
                <a:rPr lang="en-US" altLang="zh-CN" sz="3200" dirty="0">
                  <a:solidFill>
                    <a:srgbClr val="FF9900"/>
                  </a:solidFill>
                  <a:latin typeface="Times New Roman"/>
                  <a:ea typeface="Microsoft YaHei"/>
                  <a:cs typeface="+mn-ea"/>
                  <a:sym typeface="+mn-lt"/>
                </a:rPr>
                <a:t>05</a:t>
              </a:r>
              <a:endParaRPr lang="zh-CN" altLang="en-US" sz="3200" dirty="0">
                <a:solidFill>
                  <a:srgbClr val="FF9900"/>
                </a:solidFill>
                <a:latin typeface="Times New Roman"/>
                <a:ea typeface="Microsoft YaHei"/>
                <a:cs typeface="+mn-ea"/>
                <a:sym typeface="+mn-lt"/>
              </a:endParaRPr>
            </a:p>
          </p:txBody>
        </p:sp>
        <p:sp>
          <p:nvSpPr>
            <p:cNvPr id="48" name="文本框 24"/>
            <p:cNvSpPr txBox="1">
              <a:spLocks noChangeArrowheads="1"/>
            </p:cNvSpPr>
            <p:nvPr/>
          </p:nvSpPr>
          <p:spPr bwMode="auto">
            <a:xfrm>
              <a:off x="6242320" y="4045940"/>
              <a:ext cx="589786" cy="215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a:defRPr/>
              </a:pPr>
              <a:r>
                <a:rPr lang="en-US" altLang="zh-CN" sz="800">
                  <a:solidFill>
                    <a:srgbClr val="818181"/>
                  </a:solidFill>
                  <a:latin typeface="Times New Roman"/>
                  <a:ea typeface="Microsoft YaHei"/>
                  <a:cs typeface="+mn-ea"/>
                  <a:sym typeface="+mn-lt"/>
                </a:rPr>
                <a:t>OPTION</a:t>
              </a:r>
              <a:endParaRPr lang="zh-CN" altLang="en-US" sz="800">
                <a:solidFill>
                  <a:srgbClr val="818181"/>
                </a:solidFill>
                <a:latin typeface="Times New Roman"/>
                <a:ea typeface="Microsoft YaHei"/>
                <a:cs typeface="+mn-ea"/>
                <a:sym typeface="+mn-lt"/>
              </a:endParaRPr>
            </a:p>
          </p:txBody>
        </p:sp>
      </p:grpSp>
      <p:sp>
        <p:nvSpPr>
          <p:cNvPr id="49" name="Rectangle 1106"/>
          <p:cNvSpPr>
            <a:spLocks noChangeArrowheads="1"/>
          </p:cNvSpPr>
          <p:nvPr/>
        </p:nvSpPr>
        <p:spPr bwMode="auto">
          <a:xfrm>
            <a:off x="2678113" y="5230813"/>
            <a:ext cx="6215063"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a:spcBef>
                <a:spcPts val="0"/>
              </a:spcBef>
              <a:buFont typeface="Arial" panose="020B0604020202020204" pitchFamily="34" charset="0"/>
              <a:buNone/>
              <a:defRPr/>
            </a:pPr>
            <a:r>
              <a:rPr lang="zh-CN" altLang="en-US" b="0" dirty="0">
                <a:solidFill>
                  <a:srgbClr val="000000"/>
                </a:solidFill>
                <a:latin typeface="Times New Roman"/>
                <a:ea typeface="Microsoft YaHei"/>
                <a:cs typeface="+mn-ea"/>
                <a:sym typeface="+mn-lt"/>
              </a:rPr>
              <a:t>关键是编写</a:t>
            </a:r>
            <a:r>
              <a:rPr lang="zh-CN" altLang="en-US" b="0" dirty="0">
                <a:solidFill>
                  <a:srgbClr val="FF0000"/>
                </a:solidFill>
                <a:latin typeface="Times New Roman"/>
                <a:ea typeface="Microsoft YaHei"/>
                <a:cs typeface="+mn-ea"/>
                <a:sym typeface="+mn-lt"/>
              </a:rPr>
              <a:t>入队</a:t>
            </a:r>
            <a:r>
              <a:rPr lang="zh-CN" altLang="en-US" b="0" dirty="0">
                <a:solidFill>
                  <a:srgbClr val="000000"/>
                </a:solidFill>
                <a:latin typeface="Times New Roman"/>
                <a:ea typeface="Microsoft YaHei"/>
                <a:cs typeface="+mn-ea"/>
                <a:sym typeface="+mn-lt"/>
              </a:rPr>
              <a:t>和</a:t>
            </a:r>
            <a:r>
              <a:rPr lang="zh-CN" altLang="en-US" b="0" dirty="0">
                <a:solidFill>
                  <a:srgbClr val="FF0000"/>
                </a:solidFill>
                <a:latin typeface="Times New Roman"/>
                <a:ea typeface="Microsoft YaHei"/>
                <a:cs typeface="+mn-ea"/>
                <a:sym typeface="+mn-lt"/>
              </a:rPr>
              <a:t>出队</a:t>
            </a:r>
            <a:r>
              <a:rPr lang="zh-CN" altLang="en-US" b="0" dirty="0">
                <a:solidFill>
                  <a:srgbClr val="000000"/>
                </a:solidFill>
                <a:latin typeface="Times New Roman"/>
                <a:ea typeface="Microsoft YaHei"/>
                <a:cs typeface="+mn-ea"/>
                <a:sym typeface="+mn-lt"/>
              </a:rPr>
              <a:t>函数，具体实现依顺序队或链队的不同而不同</a:t>
            </a:r>
          </a:p>
        </p:txBody>
      </p:sp>
      <p:cxnSp>
        <p:nvCxnSpPr>
          <p:cNvPr id="39" name="直接连接符 38"/>
          <p:cNvCxnSpPr/>
          <p:nvPr/>
        </p:nvCxnSpPr>
        <p:spPr bwMode="auto">
          <a:xfrm>
            <a:off x="481013" y="6237288"/>
            <a:ext cx="8482013" cy="0"/>
          </a:xfrm>
          <a:prstGeom prst="line">
            <a:avLst/>
          </a:prstGeom>
          <a:solidFill>
            <a:schemeClr val="accent1"/>
          </a:solidFill>
          <a:ln w="9525" cap="flat" cmpd="sng" algn="ctr">
            <a:solidFill>
              <a:schemeClr val="tx1">
                <a:lumMod val="50000"/>
                <a:lumOff val="50000"/>
              </a:schemeClr>
            </a:solidFill>
            <a:prstDash val="dash"/>
            <a:round/>
            <a:headEnd type="none" w="med" len="med"/>
            <a:tailEnd type="none" w="med" len="med"/>
          </a:ln>
        </p:spPr>
      </p:cxnSp>
    </p:spTree>
    <p:extLst>
      <p:ext uri="{BB962C8B-B14F-4D97-AF65-F5344CB8AC3E}">
        <p14:creationId xmlns:p14="http://schemas.microsoft.com/office/powerpoint/2010/main" val="176886675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2" name="Rectangle 4"/>
          <p:cNvSpPr>
            <a:spLocks noChangeArrowheads="1"/>
          </p:cNvSpPr>
          <p:nvPr/>
        </p:nvSpPr>
        <p:spPr bwMode="auto">
          <a:xfrm>
            <a:off x="279400" y="1557338"/>
            <a:ext cx="8569325" cy="2519363"/>
          </a:xfrm>
          <a:prstGeom prst="roundRect">
            <a:avLst>
              <a:gd name="adj" fmla="val 7782"/>
            </a:avLst>
          </a:prstGeom>
          <a:solidFill>
            <a:srgbClr val="EAEAEA"/>
          </a:solidFill>
          <a:ln>
            <a:noFill/>
          </a:ln>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629920" algn="l" defTabSz="914400" rtl="0" eaLnBrk="0" fontAlgn="base" latinLnBrk="0" hangingPunct="0">
              <a:lnSpc>
                <a:spcPct val="13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设栈</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和队列</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Q</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的初始状态为空，元素</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e1</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e2</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e3</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e4</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e5</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e6</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依次通过</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，一个元素出栈后即进入</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Q</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，若</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6</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个元素出队的序列是</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e2</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e4</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e3</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e6</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e5</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e1</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，则栈</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的容量至少应该是（　）。 </a:t>
            </a:r>
          </a:p>
        </p:txBody>
      </p:sp>
      <p:sp>
        <p:nvSpPr>
          <p:cNvPr id="106503" name="Rectangle 5"/>
          <p:cNvSpPr>
            <a:spLocks noChangeArrowheads="1"/>
          </p:cNvSpPr>
          <p:nvPr/>
        </p:nvSpPr>
        <p:spPr bwMode="auto">
          <a:xfrm>
            <a:off x="395288" y="4437063"/>
            <a:ext cx="8337550" cy="585788"/>
          </a:xfrm>
          <a:prstGeom prst="rect">
            <a:avLst/>
          </a:prstGeom>
          <a:noFill/>
          <a:ln w="38100">
            <a:solidFill>
              <a:srgbClr val="6C4C8F"/>
            </a:solidFill>
            <a:miter lim="800000"/>
          </a:ln>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A</a:t>
            </a:r>
            <a:r>
              <a:rPr kumimoji="0" lang="zh-CN" altLang="en-US" sz="3200" b="1"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2     </a:t>
            </a:r>
            <a:r>
              <a:rPr kumimoji="0" lang="zh-CN" altLang="en-US" sz="3200" b="1"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B</a:t>
            </a:r>
            <a:r>
              <a:rPr kumimoji="0" lang="zh-CN" altLang="en-US" sz="3200" b="1"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3         </a:t>
            </a:r>
            <a:r>
              <a:rPr kumimoji="0" lang="zh-CN" altLang="en-US" sz="3200" b="1"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C</a:t>
            </a:r>
            <a:r>
              <a:rPr kumimoji="0" lang="zh-CN" altLang="en-US" sz="3200" b="1"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4    </a:t>
            </a:r>
            <a:r>
              <a:rPr kumimoji="0" lang="zh-CN" altLang="en-US" sz="3200" b="1"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D</a:t>
            </a:r>
            <a:r>
              <a:rPr kumimoji="0" lang="zh-CN" altLang="en-US" sz="3200" b="1"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6</a:t>
            </a:r>
          </a:p>
        </p:txBody>
      </p:sp>
      <p:sp>
        <p:nvSpPr>
          <p:cNvPr id="106504" name="Rectangle 6"/>
          <p:cNvSpPr>
            <a:spLocks noChangeArrowheads="1"/>
          </p:cNvSpPr>
          <p:nvPr/>
        </p:nvSpPr>
        <p:spPr bwMode="auto">
          <a:xfrm>
            <a:off x="827088" y="128588"/>
            <a:ext cx="23399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练习</a:t>
            </a:r>
          </a:p>
        </p:txBody>
      </p:sp>
      <p:sp>
        <p:nvSpPr>
          <p:cNvPr id="26" name="Text Box 7"/>
          <p:cNvSpPr txBox="1">
            <a:spLocks noChangeArrowheads="1"/>
          </p:cNvSpPr>
          <p:nvPr/>
        </p:nvSpPr>
        <p:spPr bwMode="auto">
          <a:xfrm>
            <a:off x="4140200" y="3432175"/>
            <a:ext cx="576263" cy="523875"/>
          </a:xfrm>
          <a:prstGeom prst="rect">
            <a:avLst/>
          </a:prstGeom>
          <a:noFill/>
          <a:ln>
            <a:noFill/>
          </a:ln>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B</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0" fill="hold"/>
                                        <p:tgtEl>
                                          <p:spTgt spid="26"/>
                                        </p:tgtEl>
                                        <p:attrNameLst>
                                          <p:attrName>ppt_x</p:attrName>
                                        </p:attrNameLst>
                                      </p:cBhvr>
                                      <p:tavLst>
                                        <p:tav tm="0">
                                          <p:val>
                                            <p:strVal val="#ppt_x"/>
                                          </p:val>
                                        </p:tav>
                                        <p:tav tm="100000">
                                          <p:val>
                                            <p:strVal val="#ppt_x"/>
                                          </p:val>
                                        </p:tav>
                                      </p:tavLst>
                                    </p:anim>
                                    <p:anim calcmode="lin" valueType="num">
                                      <p:cBhvr additive="base">
                                        <p:cTn id="8" dur="5000" fill="hold"/>
                                        <p:tgtEl>
                                          <p:spTgt spid="2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8786" name="Object 2"/>
          <p:cNvGraphicFramePr>
            <a:graphicFrameLocks noGrp="1"/>
          </p:cNvGraphicFramePr>
          <p:nvPr>
            <p:ph idx="1"/>
          </p:nvPr>
        </p:nvGraphicFramePr>
        <p:xfrm>
          <a:off x="2667000" y="1906588"/>
          <a:ext cx="5943600" cy="534987"/>
        </p:xfrm>
        <a:graphic>
          <a:graphicData uri="http://schemas.openxmlformats.org/presentationml/2006/ole">
            <mc:AlternateContent xmlns:mc="http://schemas.openxmlformats.org/markup-compatibility/2006">
              <mc:Choice xmlns:v="urn:schemas-microsoft-com:vml" Requires="v">
                <p:oleObj spid="_x0000_s7203" r:id="rId3" imgW="2540000" imgH="228600" progId="Equation.3">
                  <p:embed/>
                </p:oleObj>
              </mc:Choice>
              <mc:Fallback>
                <p:oleObj r:id="rId3" imgW="2540000" imgH="228600" progId="Equation.3">
                  <p:embed/>
                  <p:pic>
                    <p:nvPicPr>
                      <p:cNvPr id="0" name="图片 3079"/>
                      <p:cNvPicPr/>
                      <p:nvPr/>
                    </p:nvPicPr>
                    <p:blipFill>
                      <a:blip r:embed="rId4"/>
                      <a:srcRect/>
                      <a:stretch>
                        <a:fillRect/>
                      </a:stretch>
                    </p:blipFill>
                    <p:spPr>
                      <a:xfrm>
                        <a:off x="2667000" y="1906588"/>
                        <a:ext cx="5943600" cy="534987"/>
                      </a:xfrm>
                      <a:prstGeom prst="rect">
                        <a:avLst/>
                      </a:prstGeom>
                      <a:solidFill>
                        <a:srgbClr val="D5D5D5">
                          <a:alpha val="100000"/>
                        </a:srgbClr>
                      </a:solidFill>
                      <a:ln w="38100">
                        <a:miter/>
                      </a:ln>
                    </p:spPr>
                  </p:pic>
                </p:oleObj>
              </mc:Fallback>
            </mc:AlternateContent>
          </a:graphicData>
        </a:graphic>
      </p:graphicFrame>
      <p:sp>
        <p:nvSpPr>
          <p:cNvPr id="107524" name="Text Box 4"/>
          <p:cNvSpPr txBox="1">
            <a:spLocks noChangeArrowheads="1"/>
          </p:cNvSpPr>
          <p:nvPr/>
        </p:nvSpPr>
        <p:spPr bwMode="auto">
          <a:xfrm>
            <a:off x="609600" y="1841500"/>
            <a:ext cx="19510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ea"/>
                <a:sym typeface="+mn-lt"/>
              </a:rPr>
              <a:t>数据对象</a:t>
            </a: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07525" name="Text Box 5"/>
          <p:cNvSpPr txBox="1">
            <a:spLocks noChangeArrowheads="1"/>
          </p:cNvSpPr>
          <p:nvPr/>
        </p:nvSpPr>
        <p:spPr bwMode="auto">
          <a:xfrm>
            <a:off x="609600" y="2527300"/>
            <a:ext cx="19510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ea"/>
                <a:sym typeface="+mn-lt"/>
              </a:rPr>
              <a:t>数据关系</a:t>
            </a: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a:t>
            </a:r>
            <a:endParaRPr kumimoji="0" lang="en-US" altLang="zh-CN" sz="2400" b="0" i="0" u="none" strike="noStrike" kern="1200" cap="none" spc="0" normalizeH="0" baseline="0" noProof="0">
              <a:ln>
                <a:noFill/>
              </a:ln>
              <a:solidFill>
                <a:schemeClr val="tx1"/>
              </a:solidFill>
              <a:effectLst/>
              <a:uLnTx/>
              <a:uFillTx/>
              <a:latin typeface="+mn-lt"/>
              <a:ea typeface="+mn-ea"/>
              <a:cs typeface="+mn-ea"/>
              <a:sym typeface="+mn-lt"/>
            </a:endParaRPr>
          </a:p>
        </p:txBody>
      </p:sp>
      <p:graphicFrame>
        <p:nvGraphicFramePr>
          <p:cNvPr id="118789" name="Object 6"/>
          <p:cNvGraphicFramePr/>
          <p:nvPr/>
        </p:nvGraphicFramePr>
        <p:xfrm>
          <a:off x="2667000" y="2576513"/>
          <a:ext cx="5943600" cy="1063625"/>
        </p:xfrm>
        <a:graphic>
          <a:graphicData uri="http://schemas.openxmlformats.org/presentationml/2006/ole">
            <mc:AlternateContent xmlns:mc="http://schemas.openxmlformats.org/markup-compatibility/2006">
              <mc:Choice xmlns:v="urn:schemas-microsoft-com:vml" Requires="v">
                <p:oleObj spid="_x0000_s7204" r:id="rId5" imgW="2489200" imgH="457200" progId="Equation.3">
                  <p:embed/>
                </p:oleObj>
              </mc:Choice>
              <mc:Fallback>
                <p:oleObj r:id="rId5" imgW="2489200" imgH="457200" progId="Equation.3">
                  <p:embed/>
                  <p:pic>
                    <p:nvPicPr>
                      <p:cNvPr id="0" name="图片 3078"/>
                      <p:cNvPicPr/>
                      <p:nvPr/>
                    </p:nvPicPr>
                    <p:blipFill>
                      <a:blip r:embed="rId6"/>
                      <a:stretch>
                        <a:fillRect/>
                      </a:stretch>
                    </p:blipFill>
                    <p:spPr>
                      <a:xfrm>
                        <a:off x="2667000" y="2576513"/>
                        <a:ext cx="5943600" cy="1063625"/>
                      </a:xfrm>
                      <a:prstGeom prst="rect">
                        <a:avLst/>
                      </a:prstGeom>
                      <a:solidFill>
                        <a:srgbClr val="D5D5D5"/>
                      </a:solidFill>
                      <a:ln w="38100">
                        <a:noFill/>
                        <a:miter/>
                      </a:ln>
                    </p:spPr>
                  </p:pic>
                </p:oleObj>
              </mc:Fallback>
            </mc:AlternateContent>
          </a:graphicData>
        </a:graphic>
      </p:graphicFrame>
      <p:sp>
        <p:nvSpPr>
          <p:cNvPr id="107527" name="Text Box 7"/>
          <p:cNvSpPr txBox="1">
            <a:spLocks noChangeArrowheads="1"/>
          </p:cNvSpPr>
          <p:nvPr/>
        </p:nvSpPr>
        <p:spPr bwMode="auto">
          <a:xfrm>
            <a:off x="609600" y="3213100"/>
            <a:ext cx="19510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ea"/>
                <a:sym typeface="+mn-lt"/>
              </a:rPr>
              <a:t>基本操作</a:t>
            </a: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07528" name="Rectangle 8"/>
          <p:cNvSpPr>
            <a:spLocks noChangeArrowheads="1"/>
          </p:cNvSpPr>
          <p:nvPr/>
        </p:nvSpPr>
        <p:spPr bwMode="auto">
          <a:xfrm>
            <a:off x="684213" y="3948113"/>
            <a:ext cx="7926388" cy="2314575"/>
          </a:xfrm>
          <a:prstGeom prst="rect">
            <a:avLst/>
          </a:prstGeom>
          <a:solidFill>
            <a:schemeClr val="accent1">
              <a:lumMod val="60000"/>
              <a:lumOff val="40000"/>
            </a:schemeClr>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just"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InitQueue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(&amp;Q)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构造空队列</a:t>
            </a:r>
          </a:p>
          <a:p>
            <a:pPr marL="0" marR="0" lvl="0" indent="0" algn="just"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(2)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DestroyQueue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(&amp;Q)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销毁队列</a:t>
            </a:r>
          </a:p>
          <a:p>
            <a:pPr marL="0" marR="0" lvl="0" indent="0" algn="just"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(3)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ClearQueue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(&amp;S)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清空队列</a:t>
            </a:r>
          </a:p>
          <a:p>
            <a:pPr marL="0" marR="0" lvl="0" indent="0" algn="just"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(4)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QueueEmpty</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(S)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判空</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空</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--TRUE,</a:t>
            </a:r>
          </a:p>
        </p:txBody>
      </p:sp>
      <p:sp>
        <p:nvSpPr>
          <p:cNvPr id="107529" name="Text Box 9"/>
          <p:cNvSpPr txBox="1">
            <a:spLocks noChangeArrowheads="1"/>
          </p:cNvSpPr>
          <p:nvPr/>
        </p:nvSpPr>
        <p:spPr bwMode="auto">
          <a:xfrm>
            <a:off x="381000" y="1052513"/>
            <a:ext cx="25352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ADT Queue {</a:t>
            </a:r>
          </a:p>
        </p:txBody>
      </p:sp>
      <p:sp>
        <p:nvSpPr>
          <p:cNvPr id="686092" name="Comment 12"/>
          <p:cNvSpPr>
            <a:spLocks noChangeArrowheads="1"/>
          </p:cNvSpPr>
          <p:nvPr/>
        </p:nvSpPr>
        <p:spPr bwMode="auto">
          <a:xfrm>
            <a:off x="827088" y="188913"/>
            <a:ext cx="49069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队列的抽象数据类型</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3"/>
          <p:cNvSpPr>
            <a:spLocks noGrp="1" noChangeArrowheads="1"/>
          </p:cNvSpPr>
          <p:nvPr>
            <p:ph idx="1"/>
          </p:nvPr>
        </p:nvSpPr>
        <p:spPr>
          <a:xfrm>
            <a:off x="457200" y="1681163"/>
            <a:ext cx="8229600" cy="4556125"/>
          </a:xfrm>
          <a:prstGeom prst="roundRect">
            <a:avLst>
              <a:gd name="adj" fmla="val 6039"/>
            </a:avLst>
          </a:prstGeom>
          <a:solidFill>
            <a:schemeClr val="accent1">
              <a:lumMod val="60000"/>
              <a:lumOff val="40000"/>
            </a:schemeClr>
          </a:solidFill>
        </p:spPr>
        <p:txBody>
          <a:bodyPr vert="horz" wrap="square" lIns="91440" tIns="45720" rIns="91440" bIns="45720" numCol="1" anchor="t" anchorCtr="0" compatLnSpc="1"/>
          <a:lstStyle/>
          <a:p>
            <a:pPr marL="0" marR="0" lvl="0" indent="538480" algn="just" defTabSz="914400" rtl="0" eaLnBrk="0" fontAlgn="base" latinLnBrk="0" hangingPunct="0">
              <a:lnSpc>
                <a:spcPct val="13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(5)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QueueLength</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(Q)         //</a:t>
            </a:r>
            <a:r>
              <a:rPr kumimoji="0" lang="zh-CN" altLang="en-US" sz="2800" b="0" i="0" u="none" strike="noStrike" kern="0" cap="none" spc="0" normalizeH="0" baseline="0" noProof="0" dirty="0">
                <a:ln>
                  <a:noFill/>
                </a:ln>
                <a:solidFill>
                  <a:schemeClr val="tx1"/>
                </a:solidFill>
                <a:effectLst/>
                <a:uLnTx/>
                <a:uFillTx/>
                <a:latin typeface="+mn-lt"/>
                <a:ea typeface="+mn-ea"/>
                <a:cs typeface="+mn-ea"/>
                <a:sym typeface="+mn-lt"/>
              </a:rPr>
              <a:t>取队列长度</a:t>
            </a:r>
          </a:p>
          <a:p>
            <a:pPr marL="0" marR="0" lvl="0" indent="538480" algn="just" defTabSz="914400" rtl="0" eaLnBrk="0" fontAlgn="base" latinLnBrk="0" hangingPunct="0">
              <a:lnSpc>
                <a:spcPct val="13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(6)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GetHead</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Q,&amp;e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zh-CN" altLang="en-US" sz="2800" b="0" i="0" u="none" strike="noStrike" kern="0" cap="none" spc="0" normalizeH="0" baseline="0" noProof="0" dirty="0">
                <a:ln>
                  <a:noFill/>
                </a:ln>
                <a:solidFill>
                  <a:schemeClr val="tx1"/>
                </a:solidFill>
                <a:effectLst/>
                <a:uLnTx/>
                <a:uFillTx/>
                <a:latin typeface="+mn-lt"/>
                <a:ea typeface="+mn-ea"/>
                <a:cs typeface="+mn-ea"/>
                <a:sym typeface="+mn-lt"/>
              </a:rPr>
              <a:t>取队头元素</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p>
          <a:p>
            <a:pPr marL="0" marR="0" lvl="0" indent="538480" algn="just" defTabSz="914400" rtl="0" eaLnBrk="0" fontAlgn="base" latinLnBrk="0" hangingPunct="0">
              <a:lnSpc>
                <a:spcPct val="13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(7) </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EnQueue</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 (&amp;</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Q,e</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        //</a:t>
            </a:r>
            <a:r>
              <a:rPr kumimoji="0" lang="zh-CN" altLang="en-US" sz="2800" b="0" i="0" u="none" strike="noStrike" kern="0" cap="none" spc="0" normalizeH="0" baseline="0" noProof="0" dirty="0">
                <a:ln>
                  <a:noFill/>
                </a:ln>
                <a:solidFill>
                  <a:srgbClr val="FF0000"/>
                </a:solidFill>
                <a:effectLst/>
                <a:uLnTx/>
                <a:uFillTx/>
                <a:latin typeface="+mn-lt"/>
                <a:ea typeface="+mn-ea"/>
                <a:cs typeface="+mn-ea"/>
                <a:sym typeface="+mn-lt"/>
              </a:rPr>
              <a:t>入队列</a:t>
            </a:r>
          </a:p>
          <a:p>
            <a:pPr marL="0" marR="0" lvl="0" indent="538480" algn="just" defTabSz="914400" rtl="0" eaLnBrk="0" fontAlgn="base" latinLnBrk="0" hangingPunct="0">
              <a:lnSpc>
                <a:spcPct val="13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(8) </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DeQueue</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 (&amp;</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Q,&amp;e</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     //</a:t>
            </a:r>
            <a:r>
              <a:rPr kumimoji="0" lang="zh-CN" altLang="en-US" sz="2800" b="0" i="0" u="none" strike="noStrike" kern="0" cap="none" spc="0" normalizeH="0" baseline="0" noProof="0" dirty="0">
                <a:ln>
                  <a:noFill/>
                </a:ln>
                <a:solidFill>
                  <a:srgbClr val="FF0000"/>
                </a:solidFill>
                <a:effectLst/>
                <a:uLnTx/>
                <a:uFillTx/>
                <a:latin typeface="+mn-lt"/>
                <a:ea typeface="+mn-ea"/>
                <a:cs typeface="+mn-ea"/>
                <a:sym typeface="+mn-lt"/>
              </a:rPr>
              <a:t>出队列</a:t>
            </a:r>
          </a:p>
          <a:p>
            <a:pPr marL="0" marR="0" lvl="0" indent="538480" algn="just" defTabSz="914400" rtl="0" eaLnBrk="0" fontAlgn="base" latinLnBrk="0" hangingPunct="0">
              <a:lnSpc>
                <a:spcPct val="13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(9)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QueueTraverse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Q,visit</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zh-CN" altLang="en-US" sz="2800" b="0" i="0" u="none" strike="noStrike" kern="0" cap="none" spc="0" normalizeH="0" baseline="0" noProof="0" dirty="0">
                <a:ln>
                  <a:noFill/>
                </a:ln>
                <a:solidFill>
                  <a:schemeClr val="tx1"/>
                </a:solidFill>
                <a:effectLst/>
                <a:uLnTx/>
                <a:uFillTx/>
                <a:latin typeface="+mn-lt"/>
                <a:ea typeface="+mn-ea"/>
                <a:cs typeface="+mn-ea"/>
                <a:sym typeface="+mn-lt"/>
              </a:rPr>
              <a:t>遍历</a:t>
            </a:r>
          </a:p>
          <a:p>
            <a:pPr marL="0" marR="0" lvl="0" indent="538480" algn="just" defTabSz="914400" rtl="0" eaLnBrk="0" fontAlgn="base" latinLnBrk="0" hangingPunct="0">
              <a:lnSpc>
                <a:spcPct val="13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}ADT Queue</a:t>
            </a:r>
          </a:p>
        </p:txBody>
      </p:sp>
      <p:sp>
        <p:nvSpPr>
          <p:cNvPr id="687108" name="Comment 4"/>
          <p:cNvSpPr>
            <a:spLocks noChangeArrowheads="1"/>
          </p:cNvSpPr>
          <p:nvPr/>
        </p:nvSpPr>
        <p:spPr bwMode="auto">
          <a:xfrm>
            <a:off x="755650" y="207963"/>
            <a:ext cx="49069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队列的抽象数据类型</a:t>
            </a:r>
          </a:p>
        </p:txBody>
      </p:sp>
      <p:grpSp>
        <p:nvGrpSpPr>
          <p:cNvPr id="3" name="组合 2"/>
          <p:cNvGrpSpPr/>
          <p:nvPr/>
        </p:nvGrpSpPr>
        <p:grpSpPr>
          <a:xfrm>
            <a:off x="457200" y="5445224"/>
            <a:ext cx="8229600" cy="495689"/>
            <a:chOff x="1619672" y="5445224"/>
            <a:chExt cx="7067128" cy="495689"/>
          </a:xfrm>
          <a:solidFill>
            <a:schemeClr val="bg1"/>
          </a:solidFill>
        </p:grpSpPr>
        <p:sp>
          <p:nvSpPr>
            <p:cNvPr id="2" name="矩形 1"/>
            <p:cNvSpPr/>
            <p:nvPr/>
          </p:nvSpPr>
          <p:spPr bwMode="auto">
            <a:xfrm>
              <a:off x="1619672" y="5445224"/>
              <a:ext cx="7067128" cy="45719"/>
            </a:xfrm>
            <a:prstGeom prst="rect">
              <a:avLst/>
            </a:prstGeom>
            <a:grp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 name="矩形 6"/>
            <p:cNvSpPr/>
            <p:nvPr/>
          </p:nvSpPr>
          <p:spPr bwMode="auto">
            <a:xfrm>
              <a:off x="1619672" y="5589240"/>
              <a:ext cx="7067128" cy="45719"/>
            </a:xfrm>
            <a:prstGeom prst="rect">
              <a:avLst/>
            </a:prstGeom>
            <a:grp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8" name="矩形 7"/>
            <p:cNvSpPr/>
            <p:nvPr/>
          </p:nvSpPr>
          <p:spPr bwMode="auto">
            <a:xfrm>
              <a:off x="1619672" y="5769260"/>
              <a:ext cx="7067128" cy="45719"/>
            </a:xfrm>
            <a:prstGeom prst="rect">
              <a:avLst/>
            </a:prstGeom>
            <a:grp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9" name="矩形 8"/>
            <p:cNvSpPr/>
            <p:nvPr/>
          </p:nvSpPr>
          <p:spPr bwMode="auto">
            <a:xfrm>
              <a:off x="1619672" y="5895194"/>
              <a:ext cx="7067128" cy="45719"/>
            </a:xfrm>
            <a:prstGeom prst="rect">
              <a:avLst/>
            </a:prstGeom>
            <a:grp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9525" y="1571625"/>
            <a:ext cx="9144000" cy="3743325"/>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5" name="Comment 3"/>
          <p:cNvSpPr>
            <a:spLocks noChangeArrowheads="1"/>
          </p:cNvSpPr>
          <p:nvPr/>
        </p:nvSpPr>
        <p:spPr bwMode="auto">
          <a:xfrm>
            <a:off x="827088" y="174625"/>
            <a:ext cx="74168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队列的顺序表示－－用一维数组</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base[M]</a:t>
            </a:r>
          </a:p>
        </p:txBody>
      </p:sp>
      <p:grpSp>
        <p:nvGrpSpPr>
          <p:cNvPr id="120836" name="组合 1"/>
          <p:cNvGrpSpPr/>
          <p:nvPr/>
        </p:nvGrpSpPr>
        <p:grpSpPr>
          <a:xfrm>
            <a:off x="0" y="1571625"/>
            <a:ext cx="9144000" cy="4160838"/>
            <a:chOff x="0" y="1571625"/>
            <a:chExt cx="9144000" cy="4160838"/>
          </a:xfrm>
        </p:grpSpPr>
        <p:sp>
          <p:nvSpPr>
            <p:cNvPr id="4" name="Rectangle 2"/>
            <p:cNvSpPr>
              <a:spLocks noChangeArrowheads="1"/>
            </p:cNvSpPr>
            <p:nvPr/>
          </p:nvSpPr>
          <p:spPr bwMode="auto">
            <a:xfrm>
              <a:off x="219075" y="1571625"/>
              <a:ext cx="8915400" cy="3743325"/>
            </a:xfrm>
            <a:prstGeom prst="rect">
              <a:avLst/>
            </a:prstGeom>
            <a:solidFill>
              <a:schemeClr val="bg2">
                <a:lumMod val="20000"/>
                <a:lumOff val="80000"/>
              </a:schemeClr>
            </a:solidFill>
            <a:ln>
              <a:noFill/>
            </a:ln>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just"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#define M  100   //</a:t>
              </a:r>
              <a:r>
                <a:rPr kumimoji="0" lang="zh-CN" altLang="zh-CN" sz="2800" b="0" i="0" u="none" strike="noStrike" kern="1200" cap="none" spc="0" normalizeH="0" baseline="0" noProof="0" dirty="0">
                  <a:ln>
                    <a:noFill/>
                  </a:ln>
                  <a:solidFill>
                    <a:schemeClr val="tx1"/>
                  </a:solidFill>
                  <a:effectLst/>
                  <a:uLnTx/>
                  <a:uFillTx/>
                  <a:latin typeface="+mn-lt"/>
                  <a:ea typeface="+mn-ea"/>
                  <a:cs typeface="+mn-ea"/>
                  <a:sym typeface="+mn-lt"/>
                </a:rPr>
                <a:t>最大队列长度</a:t>
              </a:r>
              <a:endPar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just"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Typedef struct {</a:t>
              </a:r>
            </a:p>
            <a:p>
              <a:pPr marL="342900" marR="0" lvl="0" indent="-342900" algn="just"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QElemType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*base;  //</a:t>
              </a:r>
              <a:r>
                <a:rPr kumimoji="0" lang="zh-CN" altLang="zh-CN" sz="2800" b="0" i="0" u="none" strike="noStrike" kern="1200" cap="none" spc="0" normalizeH="0" baseline="0" noProof="0" dirty="0">
                  <a:ln>
                    <a:noFill/>
                  </a:ln>
                  <a:solidFill>
                    <a:schemeClr val="tx1"/>
                  </a:solidFill>
                  <a:effectLst/>
                  <a:uLnTx/>
                  <a:uFillTx/>
                  <a:latin typeface="+mn-lt"/>
                  <a:ea typeface="+mn-ea"/>
                  <a:cs typeface="+mn-ea"/>
                  <a:sym typeface="+mn-lt"/>
                </a:rPr>
                <a:t>初始化的动态分配存储空间</a:t>
              </a:r>
            </a:p>
            <a:p>
              <a:pPr marL="342900" marR="0" lvl="0" indent="-342900" algn="just"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zh-CN"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front;            //</a:t>
              </a:r>
              <a:r>
                <a:rPr kumimoji="0" lang="zh-CN" altLang="zh-CN" sz="2800" b="0" i="0" u="none" strike="noStrike" kern="1200" cap="none" spc="0" normalizeH="0" baseline="0" noProof="0" dirty="0">
                  <a:ln>
                    <a:noFill/>
                  </a:ln>
                  <a:solidFill>
                    <a:schemeClr val="tx1"/>
                  </a:solidFill>
                  <a:effectLst/>
                  <a:uLnTx/>
                  <a:uFillTx/>
                  <a:latin typeface="+mn-lt"/>
                  <a:ea typeface="+mn-ea"/>
                  <a:cs typeface="+mn-ea"/>
                  <a:sym typeface="+mn-lt"/>
                </a:rPr>
                <a:t>头指针</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just"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rear;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尾指针</a:t>
              </a:r>
            </a:p>
            <a:p>
              <a:pPr marL="342900" marR="0" lvl="0" indent="-342900" algn="just"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SqQueue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9" name="矩形 8"/>
            <p:cNvSpPr/>
            <p:nvPr/>
          </p:nvSpPr>
          <p:spPr bwMode="auto">
            <a:xfrm>
              <a:off x="0" y="5516563"/>
              <a:ext cx="9144000" cy="215900"/>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2" name="Comment 2"/>
          <p:cNvSpPr>
            <a:spLocks noChangeArrowheads="1"/>
          </p:cNvSpPr>
          <p:nvPr/>
        </p:nvSpPr>
        <p:spPr bwMode="auto">
          <a:xfrm>
            <a:off x="839788" y="195263"/>
            <a:ext cx="8626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队列的顺序表示－－用一维数组</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base[M]</a:t>
            </a:r>
          </a:p>
        </p:txBody>
      </p:sp>
      <p:grpSp>
        <p:nvGrpSpPr>
          <p:cNvPr id="121859" name="Group 3"/>
          <p:cNvGrpSpPr>
            <a:grpSpLocks noChangeAspect="1"/>
          </p:cNvGrpSpPr>
          <p:nvPr/>
        </p:nvGrpSpPr>
        <p:grpSpPr>
          <a:xfrm>
            <a:off x="119063" y="1455738"/>
            <a:ext cx="1879600" cy="3336925"/>
            <a:chOff x="144" y="602"/>
            <a:chExt cx="1183" cy="2102"/>
          </a:xfrm>
        </p:grpSpPr>
        <p:sp>
          <p:nvSpPr>
            <p:cNvPr id="110597" name="AutoShape 4"/>
            <p:cNvSpPr>
              <a:spLocks noChangeAspect="1" noChangeArrowheads="1" noTextEdit="1"/>
            </p:cNvSpPr>
            <p:nvPr/>
          </p:nvSpPr>
          <p:spPr bwMode="auto">
            <a:xfrm>
              <a:off x="144" y="602"/>
              <a:ext cx="1183" cy="210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598" name="Rectangle 5"/>
            <p:cNvSpPr>
              <a:spLocks noChangeArrowheads="1"/>
            </p:cNvSpPr>
            <p:nvPr/>
          </p:nvSpPr>
          <p:spPr bwMode="auto">
            <a:xfrm>
              <a:off x="828" y="627"/>
              <a:ext cx="483" cy="2001"/>
            </a:xfrm>
            <a:prstGeom prst="rect">
              <a:avLst/>
            </a:prstGeom>
            <a:solidFill>
              <a:schemeClr val="bg1"/>
            </a:solidFill>
            <a:ln w="12700">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10599" name="Line 6"/>
            <p:cNvSpPr>
              <a:spLocks noChangeShapeType="1"/>
            </p:cNvSpPr>
            <p:nvPr/>
          </p:nvSpPr>
          <p:spPr bwMode="auto">
            <a:xfrm>
              <a:off x="828" y="1235"/>
              <a:ext cx="48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00" name="Line 7"/>
            <p:cNvSpPr>
              <a:spLocks noChangeShapeType="1"/>
            </p:cNvSpPr>
            <p:nvPr/>
          </p:nvSpPr>
          <p:spPr bwMode="auto">
            <a:xfrm>
              <a:off x="828" y="1602"/>
              <a:ext cx="48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01" name="Line 8"/>
            <p:cNvSpPr>
              <a:spLocks noChangeShapeType="1"/>
            </p:cNvSpPr>
            <p:nvPr/>
          </p:nvSpPr>
          <p:spPr bwMode="auto">
            <a:xfrm>
              <a:off x="828" y="1944"/>
              <a:ext cx="48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02" name="Line 9"/>
            <p:cNvSpPr>
              <a:spLocks noChangeShapeType="1"/>
            </p:cNvSpPr>
            <p:nvPr/>
          </p:nvSpPr>
          <p:spPr bwMode="auto">
            <a:xfrm>
              <a:off x="828" y="2286"/>
              <a:ext cx="48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03" name="Line 10"/>
            <p:cNvSpPr>
              <a:spLocks noChangeShapeType="1"/>
            </p:cNvSpPr>
            <p:nvPr/>
          </p:nvSpPr>
          <p:spPr bwMode="auto">
            <a:xfrm>
              <a:off x="277" y="2584"/>
              <a:ext cx="334" cy="1"/>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04" name="Freeform 11"/>
            <p:cNvSpPr>
              <a:spLocks noChangeArrowheads="1"/>
            </p:cNvSpPr>
            <p:nvPr/>
          </p:nvSpPr>
          <p:spPr bwMode="auto">
            <a:xfrm>
              <a:off x="591" y="2527"/>
              <a:ext cx="76" cy="107"/>
            </a:xfrm>
            <a:custGeom>
              <a:avLst/>
              <a:gdLst>
                <a:gd name="T0" fmla="*/ 76 w 76"/>
                <a:gd name="T1" fmla="*/ 57 h 107"/>
                <a:gd name="T2" fmla="*/ 0 w 76"/>
                <a:gd name="T3" fmla="*/ 107 h 107"/>
                <a:gd name="T4" fmla="*/ 8 w 76"/>
                <a:gd name="T5" fmla="*/ 76 h 107"/>
                <a:gd name="T6" fmla="*/ 8 w 76"/>
                <a:gd name="T7" fmla="*/ 38 h 107"/>
                <a:gd name="T8" fmla="*/ 0 w 76"/>
                <a:gd name="T9" fmla="*/ 0 h 107"/>
                <a:gd name="T10" fmla="*/ 76 w 76"/>
                <a:gd name="T11" fmla="*/ 57 h 107"/>
              </a:gdLst>
              <a:ahLst/>
              <a:cxnLst>
                <a:cxn ang="0">
                  <a:pos x="T0" y="T1"/>
                </a:cxn>
                <a:cxn ang="0">
                  <a:pos x="T2" y="T3"/>
                </a:cxn>
                <a:cxn ang="0">
                  <a:pos x="T4" y="T5"/>
                </a:cxn>
                <a:cxn ang="0">
                  <a:pos x="T6" y="T7"/>
                </a:cxn>
                <a:cxn ang="0">
                  <a:pos x="T8" y="T9"/>
                </a:cxn>
                <a:cxn ang="0">
                  <a:pos x="T10" y="T11"/>
                </a:cxn>
              </a:cxnLst>
              <a:rect l="0" t="0" r="r" b="b"/>
              <a:pathLst>
                <a:path w="76" h="107">
                  <a:moveTo>
                    <a:pt x="76" y="57"/>
                  </a:moveTo>
                  <a:lnTo>
                    <a:pt x="0" y="107"/>
                  </a:lnTo>
                  <a:lnTo>
                    <a:pt x="8" y="76"/>
                  </a:lnTo>
                  <a:lnTo>
                    <a:pt x="8" y="38"/>
                  </a:lnTo>
                  <a:lnTo>
                    <a:pt x="0" y="0"/>
                  </a:lnTo>
                  <a:lnTo>
                    <a:pt x="76" y="57"/>
                  </a:lnTo>
                  <a:close/>
                </a:path>
              </a:pathLst>
            </a:custGeom>
            <a:solidFill>
              <a:schemeClr val="bg1"/>
            </a:solidFill>
            <a:ln w="9525">
              <a:solidFill>
                <a:schemeClr val="bg1"/>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05" name="Rectangle 12"/>
            <p:cNvSpPr>
              <a:spLocks noChangeArrowheads="1"/>
            </p:cNvSpPr>
            <p:nvPr/>
          </p:nvSpPr>
          <p:spPr bwMode="auto">
            <a:xfrm>
              <a:off x="159" y="2404"/>
              <a:ext cx="43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700" b="1" i="0" u="none" strike="noStrike" kern="1200" cap="none" spc="0" normalizeH="0" baseline="0" noProof="0" dirty="0" err="1">
                  <a:ln>
                    <a:noFill/>
                  </a:ln>
                  <a:solidFill>
                    <a:schemeClr val="bg1"/>
                  </a:solidFill>
                  <a:effectLst/>
                  <a:uLnTx/>
                  <a:uFillTx/>
                  <a:latin typeface="+mn-lt"/>
                  <a:ea typeface="+mn-ea"/>
                  <a:cs typeface="+mn-ea"/>
                  <a:sym typeface="+mn-lt"/>
                </a:rPr>
                <a:t>Q.front</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0606" name="Line 13"/>
            <p:cNvSpPr>
              <a:spLocks noChangeShapeType="1"/>
            </p:cNvSpPr>
            <p:nvPr/>
          </p:nvSpPr>
          <p:spPr bwMode="auto">
            <a:xfrm>
              <a:off x="277" y="2337"/>
              <a:ext cx="334" cy="1"/>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07" name="Freeform 14"/>
            <p:cNvSpPr>
              <a:spLocks noChangeArrowheads="1"/>
            </p:cNvSpPr>
            <p:nvPr/>
          </p:nvSpPr>
          <p:spPr bwMode="auto">
            <a:xfrm>
              <a:off x="591" y="2280"/>
              <a:ext cx="76" cy="114"/>
            </a:xfrm>
            <a:custGeom>
              <a:avLst/>
              <a:gdLst>
                <a:gd name="T0" fmla="*/ 76 w 76"/>
                <a:gd name="T1" fmla="*/ 57 h 114"/>
                <a:gd name="T2" fmla="*/ 0 w 76"/>
                <a:gd name="T3" fmla="*/ 114 h 114"/>
                <a:gd name="T4" fmla="*/ 8 w 76"/>
                <a:gd name="T5" fmla="*/ 76 h 114"/>
                <a:gd name="T6" fmla="*/ 8 w 76"/>
                <a:gd name="T7" fmla="*/ 38 h 114"/>
                <a:gd name="T8" fmla="*/ 0 w 76"/>
                <a:gd name="T9" fmla="*/ 0 h 114"/>
                <a:gd name="T10" fmla="*/ 76 w 76"/>
                <a:gd name="T11" fmla="*/ 57 h 114"/>
              </a:gdLst>
              <a:ahLst/>
              <a:cxnLst>
                <a:cxn ang="0">
                  <a:pos x="T0" y="T1"/>
                </a:cxn>
                <a:cxn ang="0">
                  <a:pos x="T2" y="T3"/>
                </a:cxn>
                <a:cxn ang="0">
                  <a:pos x="T4" y="T5"/>
                </a:cxn>
                <a:cxn ang="0">
                  <a:pos x="T6" y="T7"/>
                </a:cxn>
                <a:cxn ang="0">
                  <a:pos x="T8" y="T9"/>
                </a:cxn>
                <a:cxn ang="0">
                  <a:pos x="T10" y="T11"/>
                </a:cxn>
              </a:cxnLst>
              <a:rect l="0" t="0" r="r" b="b"/>
              <a:pathLst>
                <a:path w="76" h="114">
                  <a:moveTo>
                    <a:pt x="76" y="57"/>
                  </a:moveTo>
                  <a:lnTo>
                    <a:pt x="0" y="114"/>
                  </a:lnTo>
                  <a:lnTo>
                    <a:pt x="8" y="76"/>
                  </a:lnTo>
                  <a:lnTo>
                    <a:pt x="8" y="38"/>
                  </a:lnTo>
                  <a:lnTo>
                    <a:pt x="0" y="0"/>
                  </a:lnTo>
                  <a:lnTo>
                    <a:pt x="76" y="57"/>
                  </a:lnTo>
                  <a:close/>
                </a:path>
              </a:pathLst>
            </a:custGeom>
            <a:solidFill>
              <a:schemeClr val="bg1"/>
            </a:solidFill>
            <a:ln w="9525">
              <a:solidFill>
                <a:schemeClr val="bg1"/>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10608" name="Rectangle 15"/>
            <p:cNvSpPr>
              <a:spLocks noChangeArrowheads="1"/>
            </p:cNvSpPr>
            <p:nvPr/>
          </p:nvSpPr>
          <p:spPr bwMode="auto">
            <a:xfrm>
              <a:off x="679" y="2362"/>
              <a:ext cx="8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100" b="1" i="0" u="none" strike="noStrike" kern="1200" cap="none" spc="0" normalizeH="0" baseline="0" noProof="0">
                  <a:ln>
                    <a:noFill/>
                  </a:ln>
                  <a:solidFill>
                    <a:schemeClr val="bg1"/>
                  </a:solidFill>
                  <a:effectLst/>
                  <a:uLnTx/>
                  <a:uFillTx/>
                  <a:latin typeface="+mn-lt"/>
                  <a:ea typeface="+mn-ea"/>
                  <a:cs typeface="+mn-ea"/>
                  <a:sym typeface="+mn-lt"/>
                </a:rPr>
                <a:t>0</a:t>
              </a:r>
              <a:endParaRPr kumimoji="0" lang="en-US" altLang="zh-CN" sz="3200" b="1"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10609" name="Rectangle 16"/>
            <p:cNvSpPr>
              <a:spLocks noChangeArrowheads="1"/>
            </p:cNvSpPr>
            <p:nvPr/>
          </p:nvSpPr>
          <p:spPr bwMode="auto">
            <a:xfrm>
              <a:off x="679" y="2020"/>
              <a:ext cx="8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100" b="1" i="0" u="none" strike="noStrike" kern="1200" cap="none" spc="0" normalizeH="0" baseline="0" noProof="0">
                  <a:ln>
                    <a:noFill/>
                  </a:ln>
                  <a:solidFill>
                    <a:schemeClr val="bg1"/>
                  </a:solidFill>
                  <a:effectLst/>
                  <a:uLnTx/>
                  <a:uFillTx/>
                  <a:latin typeface="+mn-lt"/>
                  <a:ea typeface="+mn-ea"/>
                  <a:cs typeface="+mn-ea"/>
                  <a:sym typeface="+mn-lt"/>
                </a:rPr>
                <a:t>1</a:t>
              </a:r>
              <a:endParaRPr kumimoji="0" lang="en-US" altLang="zh-CN" sz="3200" b="1"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10610" name="Rectangle 17"/>
            <p:cNvSpPr>
              <a:spLocks noChangeArrowheads="1"/>
            </p:cNvSpPr>
            <p:nvPr/>
          </p:nvSpPr>
          <p:spPr bwMode="auto">
            <a:xfrm>
              <a:off x="679" y="1703"/>
              <a:ext cx="8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100" b="1" i="0" u="none" strike="noStrike" kern="1200" cap="none" spc="0" normalizeH="0" baseline="0" noProof="0">
                  <a:ln>
                    <a:noFill/>
                  </a:ln>
                  <a:solidFill>
                    <a:schemeClr val="bg1"/>
                  </a:solidFill>
                  <a:effectLst/>
                  <a:uLnTx/>
                  <a:uFillTx/>
                  <a:latin typeface="+mn-lt"/>
                  <a:ea typeface="+mn-ea"/>
                  <a:cs typeface="+mn-ea"/>
                  <a:sym typeface="+mn-lt"/>
                </a:rPr>
                <a:t>2</a:t>
              </a:r>
              <a:endParaRPr kumimoji="0" lang="en-US" altLang="zh-CN" sz="3200" b="1"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10611" name="Rectangle 18"/>
            <p:cNvSpPr>
              <a:spLocks noChangeArrowheads="1"/>
            </p:cNvSpPr>
            <p:nvPr/>
          </p:nvSpPr>
          <p:spPr bwMode="auto">
            <a:xfrm>
              <a:off x="679" y="1317"/>
              <a:ext cx="8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100" b="1" i="0" u="none" strike="noStrike" kern="1200" cap="none" spc="0" normalizeH="0" baseline="0" noProof="0">
                  <a:ln>
                    <a:noFill/>
                  </a:ln>
                  <a:solidFill>
                    <a:schemeClr val="bg1"/>
                  </a:solidFill>
                  <a:effectLst/>
                  <a:uLnTx/>
                  <a:uFillTx/>
                  <a:latin typeface="+mn-lt"/>
                  <a:ea typeface="+mn-ea"/>
                  <a:cs typeface="+mn-ea"/>
                  <a:sym typeface="+mn-lt"/>
                </a:rPr>
                <a:t>3</a:t>
              </a:r>
              <a:endParaRPr kumimoji="0" lang="en-US" altLang="zh-CN" sz="3200" b="1"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10612" name="Rectangle 19"/>
            <p:cNvSpPr>
              <a:spLocks noChangeArrowheads="1"/>
            </p:cNvSpPr>
            <p:nvPr/>
          </p:nvSpPr>
          <p:spPr bwMode="auto">
            <a:xfrm>
              <a:off x="679" y="1019"/>
              <a:ext cx="8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100" b="1" i="0" u="none" strike="noStrike" kern="1200" cap="none" spc="0" normalizeH="0" baseline="0" noProof="0">
                  <a:ln>
                    <a:noFill/>
                  </a:ln>
                  <a:solidFill>
                    <a:schemeClr val="bg1"/>
                  </a:solidFill>
                  <a:effectLst/>
                  <a:uLnTx/>
                  <a:uFillTx/>
                  <a:latin typeface="+mn-lt"/>
                  <a:ea typeface="+mn-ea"/>
                  <a:cs typeface="+mn-ea"/>
                  <a:sym typeface="+mn-lt"/>
                </a:rPr>
                <a:t>4</a:t>
              </a:r>
              <a:endParaRPr kumimoji="0" lang="en-US" altLang="zh-CN" sz="3200" b="1"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10613" name="Line 20"/>
            <p:cNvSpPr>
              <a:spLocks noChangeShapeType="1"/>
            </p:cNvSpPr>
            <p:nvPr/>
          </p:nvSpPr>
          <p:spPr bwMode="auto">
            <a:xfrm>
              <a:off x="828" y="919"/>
              <a:ext cx="48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14" name="Rectangle 21"/>
            <p:cNvSpPr>
              <a:spLocks noChangeArrowheads="1"/>
            </p:cNvSpPr>
            <p:nvPr/>
          </p:nvSpPr>
          <p:spPr bwMode="auto">
            <a:xfrm>
              <a:off x="679" y="703"/>
              <a:ext cx="8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100" b="1" i="0" u="none" strike="noStrike" kern="1200" cap="none" spc="0" normalizeH="0" baseline="0" noProof="0" dirty="0">
                  <a:ln>
                    <a:noFill/>
                  </a:ln>
                  <a:solidFill>
                    <a:schemeClr val="bg1"/>
                  </a:solidFill>
                  <a:effectLst/>
                  <a:uLnTx/>
                  <a:uFillTx/>
                  <a:latin typeface="+mn-lt"/>
                  <a:ea typeface="+mn-ea"/>
                  <a:cs typeface="+mn-ea"/>
                  <a:sym typeface="+mn-lt"/>
                </a:rPr>
                <a:t>5</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0615" name="Rectangle 22"/>
            <p:cNvSpPr>
              <a:spLocks noChangeArrowheads="1"/>
            </p:cNvSpPr>
            <p:nvPr/>
          </p:nvSpPr>
          <p:spPr bwMode="auto">
            <a:xfrm>
              <a:off x="189" y="2172"/>
              <a:ext cx="38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700" b="1" i="0" u="none" strike="noStrike" kern="1200" cap="none" spc="0" normalizeH="0" baseline="0" noProof="0" dirty="0" err="1">
                  <a:ln>
                    <a:noFill/>
                  </a:ln>
                  <a:solidFill>
                    <a:schemeClr val="bg1"/>
                  </a:solidFill>
                  <a:effectLst/>
                  <a:uLnTx/>
                  <a:uFillTx/>
                  <a:latin typeface="+mn-lt"/>
                  <a:ea typeface="+mn-ea"/>
                  <a:cs typeface="+mn-ea"/>
                  <a:sym typeface="+mn-lt"/>
                </a:rPr>
                <a:t>Q.rear</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grpSp>
      <p:grpSp>
        <p:nvGrpSpPr>
          <p:cNvPr id="3" name="Group 23"/>
          <p:cNvGrpSpPr>
            <a:grpSpLocks noChangeAspect="1"/>
          </p:cNvGrpSpPr>
          <p:nvPr/>
        </p:nvGrpSpPr>
        <p:grpSpPr>
          <a:xfrm>
            <a:off x="2341563" y="1493838"/>
            <a:ext cx="1905000" cy="3298825"/>
            <a:chOff x="1655" y="626"/>
            <a:chExt cx="1200" cy="2078"/>
          </a:xfrm>
        </p:grpSpPr>
        <p:sp>
          <p:nvSpPr>
            <p:cNvPr id="110617" name="AutoShape 24"/>
            <p:cNvSpPr>
              <a:spLocks noChangeAspect="1" noChangeArrowheads="1" noTextEdit="1"/>
            </p:cNvSpPr>
            <p:nvPr/>
          </p:nvSpPr>
          <p:spPr bwMode="auto">
            <a:xfrm>
              <a:off x="1655" y="626"/>
              <a:ext cx="1200" cy="207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18" name="Rectangle 25"/>
            <p:cNvSpPr>
              <a:spLocks noChangeArrowheads="1"/>
            </p:cNvSpPr>
            <p:nvPr/>
          </p:nvSpPr>
          <p:spPr bwMode="auto">
            <a:xfrm>
              <a:off x="2253" y="652"/>
              <a:ext cx="584" cy="2020"/>
            </a:xfrm>
            <a:prstGeom prst="rect">
              <a:avLst/>
            </a:prstGeom>
            <a:solidFill>
              <a:schemeClr val="bg1"/>
            </a:solidFill>
            <a:ln w="14288">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19" name="Line 26"/>
            <p:cNvSpPr>
              <a:spLocks noChangeShapeType="1"/>
            </p:cNvSpPr>
            <p:nvPr/>
          </p:nvSpPr>
          <p:spPr bwMode="auto">
            <a:xfrm flipV="1">
              <a:off x="2253" y="1265"/>
              <a:ext cx="584" cy="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20" name="Line 27"/>
            <p:cNvSpPr>
              <a:spLocks noChangeShapeType="1"/>
            </p:cNvSpPr>
            <p:nvPr/>
          </p:nvSpPr>
          <p:spPr bwMode="auto">
            <a:xfrm>
              <a:off x="2280" y="1636"/>
              <a:ext cx="557"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21" name="Line 28"/>
            <p:cNvSpPr>
              <a:spLocks noChangeShapeType="1"/>
            </p:cNvSpPr>
            <p:nvPr/>
          </p:nvSpPr>
          <p:spPr bwMode="auto">
            <a:xfrm>
              <a:off x="2280" y="1981"/>
              <a:ext cx="557"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22" name="Line 29"/>
            <p:cNvSpPr>
              <a:spLocks noChangeShapeType="1"/>
            </p:cNvSpPr>
            <p:nvPr/>
          </p:nvSpPr>
          <p:spPr bwMode="auto">
            <a:xfrm>
              <a:off x="2280" y="2327"/>
              <a:ext cx="557"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23" name="Line 30"/>
            <p:cNvSpPr>
              <a:spLocks noChangeShapeType="1"/>
            </p:cNvSpPr>
            <p:nvPr/>
          </p:nvSpPr>
          <p:spPr bwMode="auto">
            <a:xfrm>
              <a:off x="1807" y="2627"/>
              <a:ext cx="381" cy="1"/>
            </a:xfrm>
            <a:prstGeom prst="line">
              <a:avLst/>
            </a:prstGeom>
            <a:noFill/>
            <a:ln w="14288">
              <a:solidFill>
                <a:schemeClr val="bg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24" name="Freeform 31"/>
            <p:cNvSpPr>
              <a:spLocks noChangeArrowheads="1"/>
            </p:cNvSpPr>
            <p:nvPr/>
          </p:nvSpPr>
          <p:spPr bwMode="auto">
            <a:xfrm>
              <a:off x="2165" y="2570"/>
              <a:ext cx="88" cy="115"/>
            </a:xfrm>
            <a:custGeom>
              <a:avLst/>
              <a:gdLst>
                <a:gd name="T0" fmla="*/ 88 w 88"/>
                <a:gd name="T1" fmla="*/ 57 h 115"/>
                <a:gd name="T2" fmla="*/ 0 w 88"/>
                <a:gd name="T3" fmla="*/ 115 h 115"/>
                <a:gd name="T4" fmla="*/ 10 w 88"/>
                <a:gd name="T5" fmla="*/ 76 h 115"/>
                <a:gd name="T6" fmla="*/ 10 w 88"/>
                <a:gd name="T7" fmla="*/ 38 h 115"/>
                <a:gd name="T8" fmla="*/ 0 w 88"/>
                <a:gd name="T9" fmla="*/ 0 h 115"/>
                <a:gd name="T10" fmla="*/ 88 w 88"/>
                <a:gd name="T11" fmla="*/ 57 h 115"/>
              </a:gdLst>
              <a:ahLst/>
              <a:cxnLst>
                <a:cxn ang="0">
                  <a:pos x="T0" y="T1"/>
                </a:cxn>
                <a:cxn ang="0">
                  <a:pos x="T2" y="T3"/>
                </a:cxn>
                <a:cxn ang="0">
                  <a:pos x="T4" y="T5"/>
                </a:cxn>
                <a:cxn ang="0">
                  <a:pos x="T6" y="T7"/>
                </a:cxn>
                <a:cxn ang="0">
                  <a:pos x="T8" y="T9"/>
                </a:cxn>
                <a:cxn ang="0">
                  <a:pos x="T10" y="T11"/>
                </a:cxn>
              </a:cxnLst>
              <a:rect l="0" t="0" r="r" b="b"/>
              <a:pathLst>
                <a:path w="88" h="115">
                  <a:moveTo>
                    <a:pt x="88" y="57"/>
                  </a:moveTo>
                  <a:lnTo>
                    <a:pt x="0" y="115"/>
                  </a:lnTo>
                  <a:lnTo>
                    <a:pt x="10" y="76"/>
                  </a:lnTo>
                  <a:lnTo>
                    <a:pt x="10" y="38"/>
                  </a:lnTo>
                  <a:lnTo>
                    <a:pt x="0" y="0"/>
                  </a:lnTo>
                  <a:lnTo>
                    <a:pt x="88" y="57"/>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25" name="Rectangle 32"/>
            <p:cNvSpPr>
              <a:spLocks noChangeArrowheads="1"/>
            </p:cNvSpPr>
            <p:nvPr/>
          </p:nvSpPr>
          <p:spPr bwMode="auto">
            <a:xfrm>
              <a:off x="1680" y="2423"/>
              <a:ext cx="4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err="1">
                  <a:ln>
                    <a:noFill/>
                  </a:ln>
                  <a:solidFill>
                    <a:schemeClr val="bg1"/>
                  </a:solidFill>
                  <a:effectLst/>
                  <a:uLnTx/>
                  <a:uFillTx/>
                  <a:latin typeface="+mn-lt"/>
                  <a:ea typeface="+mn-ea"/>
                  <a:cs typeface="+mn-ea"/>
                  <a:sym typeface="+mn-lt"/>
                </a:rPr>
                <a:t>Q.front</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0626" name="Line 33"/>
            <p:cNvSpPr>
              <a:spLocks noChangeShapeType="1"/>
            </p:cNvSpPr>
            <p:nvPr/>
          </p:nvSpPr>
          <p:spPr bwMode="auto">
            <a:xfrm>
              <a:off x="1807" y="1489"/>
              <a:ext cx="381" cy="1"/>
            </a:xfrm>
            <a:prstGeom prst="line">
              <a:avLst/>
            </a:prstGeom>
            <a:noFill/>
            <a:ln w="14288">
              <a:solidFill>
                <a:schemeClr val="bg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27" name="Freeform 34"/>
            <p:cNvSpPr>
              <a:spLocks noChangeArrowheads="1"/>
            </p:cNvSpPr>
            <p:nvPr/>
          </p:nvSpPr>
          <p:spPr bwMode="auto">
            <a:xfrm>
              <a:off x="2165" y="1432"/>
              <a:ext cx="88" cy="115"/>
            </a:xfrm>
            <a:custGeom>
              <a:avLst/>
              <a:gdLst>
                <a:gd name="T0" fmla="*/ 88 w 88"/>
                <a:gd name="T1" fmla="*/ 57 h 115"/>
                <a:gd name="T2" fmla="*/ 0 w 88"/>
                <a:gd name="T3" fmla="*/ 115 h 115"/>
                <a:gd name="T4" fmla="*/ 10 w 88"/>
                <a:gd name="T5" fmla="*/ 76 h 115"/>
                <a:gd name="T6" fmla="*/ 10 w 88"/>
                <a:gd name="T7" fmla="*/ 38 h 115"/>
                <a:gd name="T8" fmla="*/ 0 w 88"/>
                <a:gd name="T9" fmla="*/ 0 h 115"/>
                <a:gd name="T10" fmla="*/ 88 w 88"/>
                <a:gd name="T11" fmla="*/ 57 h 115"/>
              </a:gdLst>
              <a:ahLst/>
              <a:cxnLst>
                <a:cxn ang="0">
                  <a:pos x="T0" y="T1"/>
                </a:cxn>
                <a:cxn ang="0">
                  <a:pos x="T2" y="T3"/>
                </a:cxn>
                <a:cxn ang="0">
                  <a:pos x="T4" y="T5"/>
                </a:cxn>
                <a:cxn ang="0">
                  <a:pos x="T6" y="T7"/>
                </a:cxn>
                <a:cxn ang="0">
                  <a:pos x="T8" y="T9"/>
                </a:cxn>
                <a:cxn ang="0">
                  <a:pos x="T10" y="T11"/>
                </a:cxn>
              </a:cxnLst>
              <a:rect l="0" t="0" r="r" b="b"/>
              <a:pathLst>
                <a:path w="88" h="115">
                  <a:moveTo>
                    <a:pt x="88" y="57"/>
                  </a:moveTo>
                  <a:lnTo>
                    <a:pt x="0" y="115"/>
                  </a:lnTo>
                  <a:lnTo>
                    <a:pt x="10" y="76"/>
                  </a:lnTo>
                  <a:lnTo>
                    <a:pt x="10" y="38"/>
                  </a:lnTo>
                  <a:lnTo>
                    <a:pt x="0" y="0"/>
                  </a:lnTo>
                  <a:lnTo>
                    <a:pt x="88" y="57"/>
                  </a:lnTo>
                  <a:close/>
                </a:path>
              </a:pathLst>
            </a:custGeom>
            <a:solidFill>
              <a:schemeClr val="bg1"/>
            </a:solidFill>
            <a:ln w="9525">
              <a:solidFill>
                <a:schemeClr val="bg1"/>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28" name="Line 35"/>
            <p:cNvSpPr>
              <a:spLocks noChangeShapeType="1"/>
            </p:cNvSpPr>
            <p:nvPr/>
          </p:nvSpPr>
          <p:spPr bwMode="auto">
            <a:xfrm>
              <a:off x="2253" y="946"/>
              <a:ext cx="584"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29" name="Rectangle 36"/>
            <p:cNvSpPr>
              <a:spLocks noChangeArrowheads="1"/>
            </p:cNvSpPr>
            <p:nvPr/>
          </p:nvSpPr>
          <p:spPr bwMode="auto">
            <a:xfrm>
              <a:off x="1734" y="1303"/>
              <a:ext cx="41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err="1">
                  <a:ln>
                    <a:noFill/>
                  </a:ln>
                  <a:solidFill>
                    <a:schemeClr val="bg1"/>
                  </a:solidFill>
                  <a:effectLst/>
                  <a:uLnTx/>
                  <a:uFillTx/>
                  <a:latin typeface="+mn-lt"/>
                  <a:ea typeface="+mn-ea"/>
                  <a:cs typeface="+mn-ea"/>
                  <a:sym typeface="+mn-lt"/>
                </a:rPr>
                <a:t>Q.rear</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0630" name="Line 37"/>
            <p:cNvSpPr>
              <a:spLocks noChangeShapeType="1"/>
            </p:cNvSpPr>
            <p:nvPr/>
          </p:nvSpPr>
          <p:spPr bwMode="auto">
            <a:xfrm>
              <a:off x="2271" y="1636"/>
              <a:ext cx="552"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31" name="Line 38"/>
            <p:cNvSpPr>
              <a:spLocks noChangeShapeType="1"/>
            </p:cNvSpPr>
            <p:nvPr/>
          </p:nvSpPr>
          <p:spPr bwMode="auto">
            <a:xfrm>
              <a:off x="2271" y="1981"/>
              <a:ext cx="552"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32" name="Line 39"/>
            <p:cNvSpPr>
              <a:spLocks noChangeShapeType="1"/>
            </p:cNvSpPr>
            <p:nvPr/>
          </p:nvSpPr>
          <p:spPr bwMode="auto">
            <a:xfrm>
              <a:off x="2271" y="2327"/>
              <a:ext cx="552"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33" name="Rectangle 40"/>
            <p:cNvSpPr>
              <a:spLocks noChangeArrowheads="1"/>
            </p:cNvSpPr>
            <p:nvPr/>
          </p:nvSpPr>
          <p:spPr bwMode="auto">
            <a:xfrm>
              <a:off x="2455" y="2404"/>
              <a:ext cx="8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mn-lt"/>
                  <a:ea typeface="+mn-ea"/>
                  <a:cs typeface="+mn-ea"/>
                  <a:sym typeface="+mn-lt"/>
                </a:rPr>
                <a:t>J</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34" name="Rectangle 41"/>
            <p:cNvSpPr>
              <a:spLocks noChangeArrowheads="1"/>
            </p:cNvSpPr>
            <p:nvPr/>
          </p:nvSpPr>
          <p:spPr bwMode="auto">
            <a:xfrm>
              <a:off x="2519" y="2430"/>
              <a:ext cx="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rgbClr val="000000"/>
                  </a:solidFill>
                  <a:effectLst/>
                  <a:uLnTx/>
                  <a:uFillTx/>
                  <a:latin typeface="+mn-lt"/>
                  <a:ea typeface="+mn-ea"/>
                  <a:cs typeface="+mn-ea"/>
                  <a:sym typeface="+mn-lt"/>
                </a:rPr>
                <a:t>1</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35" name="Rectangle 42"/>
            <p:cNvSpPr>
              <a:spLocks noChangeArrowheads="1"/>
            </p:cNvSpPr>
            <p:nvPr/>
          </p:nvSpPr>
          <p:spPr bwMode="auto">
            <a:xfrm>
              <a:off x="2455" y="2090"/>
              <a:ext cx="8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mn-lt"/>
                  <a:ea typeface="+mn-ea"/>
                  <a:cs typeface="+mn-ea"/>
                  <a:sym typeface="+mn-lt"/>
                </a:rPr>
                <a:t>J</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36" name="Rectangle 43"/>
            <p:cNvSpPr>
              <a:spLocks noChangeArrowheads="1"/>
            </p:cNvSpPr>
            <p:nvPr/>
          </p:nvSpPr>
          <p:spPr bwMode="auto">
            <a:xfrm>
              <a:off x="2519" y="2116"/>
              <a:ext cx="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rgbClr val="000000"/>
                  </a:solidFill>
                  <a:effectLst/>
                  <a:uLnTx/>
                  <a:uFillTx/>
                  <a:latin typeface="+mn-lt"/>
                  <a:ea typeface="+mn-ea"/>
                  <a:cs typeface="+mn-ea"/>
                  <a:sym typeface="+mn-lt"/>
                </a:rPr>
                <a:t>2</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37" name="Rectangle 44"/>
            <p:cNvSpPr>
              <a:spLocks noChangeArrowheads="1"/>
            </p:cNvSpPr>
            <p:nvPr/>
          </p:nvSpPr>
          <p:spPr bwMode="auto">
            <a:xfrm>
              <a:off x="2455" y="1713"/>
              <a:ext cx="8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mn-lt"/>
                  <a:ea typeface="+mn-ea"/>
                  <a:cs typeface="+mn-ea"/>
                  <a:sym typeface="+mn-lt"/>
                </a:rPr>
                <a:t>J</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38" name="Rectangle 45"/>
            <p:cNvSpPr>
              <a:spLocks noChangeArrowheads="1"/>
            </p:cNvSpPr>
            <p:nvPr/>
          </p:nvSpPr>
          <p:spPr bwMode="auto">
            <a:xfrm>
              <a:off x="2519" y="1739"/>
              <a:ext cx="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rgbClr val="000000"/>
                  </a:solidFill>
                  <a:effectLst/>
                  <a:uLnTx/>
                  <a:uFillTx/>
                  <a:latin typeface="+mn-lt"/>
                  <a:ea typeface="+mn-ea"/>
                  <a:cs typeface="+mn-ea"/>
                  <a:sym typeface="+mn-lt"/>
                </a:rPr>
                <a:t>3</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4" name="Group 46"/>
          <p:cNvGrpSpPr>
            <a:grpSpLocks noChangeAspect="1"/>
          </p:cNvGrpSpPr>
          <p:nvPr/>
        </p:nvGrpSpPr>
        <p:grpSpPr>
          <a:xfrm>
            <a:off x="4741863" y="1452563"/>
            <a:ext cx="1905000" cy="3340100"/>
            <a:chOff x="3168" y="581"/>
            <a:chExt cx="1200" cy="2104"/>
          </a:xfrm>
        </p:grpSpPr>
        <p:sp>
          <p:nvSpPr>
            <p:cNvPr id="110640" name="AutoShape 47"/>
            <p:cNvSpPr>
              <a:spLocks noChangeAspect="1" noChangeArrowheads="1" noTextEdit="1"/>
            </p:cNvSpPr>
            <p:nvPr/>
          </p:nvSpPr>
          <p:spPr bwMode="auto">
            <a:xfrm>
              <a:off x="3168" y="581"/>
              <a:ext cx="1200" cy="210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41" name="Rectangle 48"/>
            <p:cNvSpPr>
              <a:spLocks noChangeArrowheads="1"/>
            </p:cNvSpPr>
            <p:nvPr/>
          </p:nvSpPr>
          <p:spPr bwMode="auto">
            <a:xfrm>
              <a:off x="3763" y="607"/>
              <a:ext cx="587" cy="2052"/>
            </a:xfrm>
            <a:prstGeom prst="rect">
              <a:avLst/>
            </a:prstGeom>
            <a:solidFill>
              <a:schemeClr val="bg1"/>
            </a:solidFill>
            <a:ln w="14288">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42" name="Line 49"/>
            <p:cNvSpPr>
              <a:spLocks noChangeShapeType="1"/>
            </p:cNvSpPr>
            <p:nvPr/>
          </p:nvSpPr>
          <p:spPr bwMode="auto">
            <a:xfrm flipV="1">
              <a:off x="3763" y="1230"/>
              <a:ext cx="587" cy="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43" name="Line 50"/>
            <p:cNvSpPr>
              <a:spLocks noChangeShapeType="1"/>
            </p:cNvSpPr>
            <p:nvPr/>
          </p:nvSpPr>
          <p:spPr bwMode="auto">
            <a:xfrm>
              <a:off x="3795" y="1607"/>
              <a:ext cx="555"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44" name="Line 51"/>
            <p:cNvSpPr>
              <a:spLocks noChangeShapeType="1"/>
            </p:cNvSpPr>
            <p:nvPr/>
          </p:nvSpPr>
          <p:spPr bwMode="auto">
            <a:xfrm>
              <a:off x="3795" y="1958"/>
              <a:ext cx="555"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45" name="Line 52"/>
            <p:cNvSpPr>
              <a:spLocks noChangeShapeType="1"/>
            </p:cNvSpPr>
            <p:nvPr/>
          </p:nvSpPr>
          <p:spPr bwMode="auto">
            <a:xfrm>
              <a:off x="3795" y="2308"/>
              <a:ext cx="555"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46" name="Line 53"/>
            <p:cNvSpPr>
              <a:spLocks noChangeShapeType="1"/>
            </p:cNvSpPr>
            <p:nvPr/>
          </p:nvSpPr>
          <p:spPr bwMode="auto">
            <a:xfrm>
              <a:off x="3319" y="1860"/>
              <a:ext cx="380" cy="1"/>
            </a:xfrm>
            <a:prstGeom prst="line">
              <a:avLst/>
            </a:prstGeom>
            <a:noFill/>
            <a:ln w="14288">
              <a:solidFill>
                <a:schemeClr val="bg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47" name="Freeform 54"/>
            <p:cNvSpPr>
              <a:spLocks noChangeArrowheads="1"/>
            </p:cNvSpPr>
            <p:nvPr/>
          </p:nvSpPr>
          <p:spPr bwMode="auto">
            <a:xfrm>
              <a:off x="3676" y="1802"/>
              <a:ext cx="87" cy="117"/>
            </a:xfrm>
            <a:custGeom>
              <a:avLst/>
              <a:gdLst>
                <a:gd name="T0" fmla="*/ 87 w 87"/>
                <a:gd name="T1" fmla="*/ 58 h 117"/>
                <a:gd name="T2" fmla="*/ 0 w 87"/>
                <a:gd name="T3" fmla="*/ 117 h 117"/>
                <a:gd name="T4" fmla="*/ 10 w 87"/>
                <a:gd name="T5" fmla="*/ 78 h 117"/>
                <a:gd name="T6" fmla="*/ 10 w 87"/>
                <a:gd name="T7" fmla="*/ 39 h 117"/>
                <a:gd name="T8" fmla="*/ 0 w 87"/>
                <a:gd name="T9" fmla="*/ 0 h 117"/>
                <a:gd name="T10" fmla="*/ 87 w 87"/>
                <a:gd name="T11" fmla="*/ 58 h 117"/>
              </a:gdLst>
              <a:ahLst/>
              <a:cxnLst>
                <a:cxn ang="0">
                  <a:pos x="T0" y="T1"/>
                </a:cxn>
                <a:cxn ang="0">
                  <a:pos x="T2" y="T3"/>
                </a:cxn>
                <a:cxn ang="0">
                  <a:pos x="T4" y="T5"/>
                </a:cxn>
                <a:cxn ang="0">
                  <a:pos x="T6" y="T7"/>
                </a:cxn>
                <a:cxn ang="0">
                  <a:pos x="T8" y="T9"/>
                </a:cxn>
                <a:cxn ang="0">
                  <a:pos x="T10" y="T11"/>
                </a:cxn>
              </a:cxnLst>
              <a:rect l="0" t="0" r="r" b="b"/>
              <a:pathLst>
                <a:path w="87" h="117">
                  <a:moveTo>
                    <a:pt x="87" y="58"/>
                  </a:moveTo>
                  <a:lnTo>
                    <a:pt x="0" y="117"/>
                  </a:lnTo>
                  <a:lnTo>
                    <a:pt x="10" y="78"/>
                  </a:lnTo>
                  <a:lnTo>
                    <a:pt x="10" y="39"/>
                  </a:lnTo>
                  <a:lnTo>
                    <a:pt x="0" y="0"/>
                  </a:lnTo>
                  <a:lnTo>
                    <a:pt x="87" y="5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48" name="Rectangle 55"/>
            <p:cNvSpPr>
              <a:spLocks noChangeArrowheads="1"/>
            </p:cNvSpPr>
            <p:nvPr/>
          </p:nvSpPr>
          <p:spPr bwMode="auto">
            <a:xfrm>
              <a:off x="3186" y="1657"/>
              <a:ext cx="4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err="1">
                  <a:ln>
                    <a:noFill/>
                  </a:ln>
                  <a:solidFill>
                    <a:schemeClr val="bg1"/>
                  </a:solidFill>
                  <a:effectLst/>
                  <a:uLnTx/>
                  <a:uFillTx/>
                  <a:latin typeface="+mn-lt"/>
                  <a:ea typeface="+mn-ea"/>
                  <a:cs typeface="+mn-ea"/>
                  <a:sym typeface="+mn-lt"/>
                </a:rPr>
                <a:t>Q.front</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0649" name="Line 56"/>
            <p:cNvSpPr>
              <a:spLocks noChangeShapeType="1"/>
            </p:cNvSpPr>
            <p:nvPr/>
          </p:nvSpPr>
          <p:spPr bwMode="auto">
            <a:xfrm>
              <a:off x="3324" y="1458"/>
              <a:ext cx="380" cy="1"/>
            </a:xfrm>
            <a:prstGeom prst="line">
              <a:avLst/>
            </a:prstGeom>
            <a:noFill/>
            <a:ln w="14288">
              <a:solidFill>
                <a:schemeClr val="bg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50" name="Freeform 57"/>
            <p:cNvSpPr>
              <a:spLocks noChangeArrowheads="1"/>
            </p:cNvSpPr>
            <p:nvPr/>
          </p:nvSpPr>
          <p:spPr bwMode="auto">
            <a:xfrm>
              <a:off x="3681" y="1399"/>
              <a:ext cx="82" cy="117"/>
            </a:xfrm>
            <a:custGeom>
              <a:avLst/>
              <a:gdLst>
                <a:gd name="T0" fmla="*/ 82 w 82"/>
                <a:gd name="T1" fmla="*/ 59 h 117"/>
                <a:gd name="T2" fmla="*/ 0 w 82"/>
                <a:gd name="T3" fmla="*/ 117 h 117"/>
                <a:gd name="T4" fmla="*/ 9 w 82"/>
                <a:gd name="T5" fmla="*/ 78 h 117"/>
                <a:gd name="T6" fmla="*/ 9 w 82"/>
                <a:gd name="T7" fmla="*/ 39 h 117"/>
                <a:gd name="T8" fmla="*/ 0 w 82"/>
                <a:gd name="T9" fmla="*/ 0 h 117"/>
                <a:gd name="T10" fmla="*/ 82 w 82"/>
                <a:gd name="T11" fmla="*/ 59 h 117"/>
              </a:gdLst>
              <a:ahLst/>
              <a:cxnLst>
                <a:cxn ang="0">
                  <a:pos x="T0" y="T1"/>
                </a:cxn>
                <a:cxn ang="0">
                  <a:pos x="T2" y="T3"/>
                </a:cxn>
                <a:cxn ang="0">
                  <a:pos x="T4" y="T5"/>
                </a:cxn>
                <a:cxn ang="0">
                  <a:pos x="T6" y="T7"/>
                </a:cxn>
                <a:cxn ang="0">
                  <a:pos x="T8" y="T9"/>
                </a:cxn>
                <a:cxn ang="0">
                  <a:pos x="T10" y="T11"/>
                </a:cxn>
              </a:cxnLst>
              <a:rect l="0" t="0" r="r" b="b"/>
              <a:pathLst>
                <a:path w="82" h="117">
                  <a:moveTo>
                    <a:pt x="82" y="59"/>
                  </a:moveTo>
                  <a:lnTo>
                    <a:pt x="0" y="117"/>
                  </a:lnTo>
                  <a:lnTo>
                    <a:pt x="9" y="78"/>
                  </a:lnTo>
                  <a:lnTo>
                    <a:pt x="9" y="39"/>
                  </a:lnTo>
                  <a:lnTo>
                    <a:pt x="0" y="0"/>
                  </a:lnTo>
                  <a:lnTo>
                    <a:pt x="82" y="59"/>
                  </a:lnTo>
                  <a:close/>
                </a:path>
              </a:pathLst>
            </a:custGeom>
            <a:solidFill>
              <a:schemeClr val="bg1"/>
            </a:solidFill>
            <a:ln w="9525">
              <a:solidFill>
                <a:schemeClr val="bg1"/>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51" name="Line 58"/>
            <p:cNvSpPr>
              <a:spLocks noChangeShapeType="1"/>
            </p:cNvSpPr>
            <p:nvPr/>
          </p:nvSpPr>
          <p:spPr bwMode="auto">
            <a:xfrm>
              <a:off x="3763" y="906"/>
              <a:ext cx="587"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52" name="Rectangle 59"/>
            <p:cNvSpPr>
              <a:spLocks noChangeArrowheads="1"/>
            </p:cNvSpPr>
            <p:nvPr/>
          </p:nvSpPr>
          <p:spPr bwMode="auto">
            <a:xfrm>
              <a:off x="3248" y="1274"/>
              <a:ext cx="41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err="1">
                  <a:ln>
                    <a:noFill/>
                  </a:ln>
                  <a:solidFill>
                    <a:schemeClr val="bg1"/>
                  </a:solidFill>
                  <a:effectLst/>
                  <a:uLnTx/>
                  <a:uFillTx/>
                  <a:latin typeface="+mn-lt"/>
                  <a:ea typeface="+mn-ea"/>
                  <a:cs typeface="+mn-ea"/>
                  <a:sym typeface="+mn-lt"/>
                </a:rPr>
                <a:t>Q.rear</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0653" name="Line 60"/>
            <p:cNvSpPr>
              <a:spLocks noChangeShapeType="1"/>
            </p:cNvSpPr>
            <p:nvPr/>
          </p:nvSpPr>
          <p:spPr bwMode="auto">
            <a:xfrm>
              <a:off x="3782" y="1607"/>
              <a:ext cx="554"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54" name="Line 61"/>
            <p:cNvSpPr>
              <a:spLocks noChangeShapeType="1"/>
            </p:cNvSpPr>
            <p:nvPr/>
          </p:nvSpPr>
          <p:spPr bwMode="auto">
            <a:xfrm>
              <a:off x="3782" y="1958"/>
              <a:ext cx="554"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55" name="Line 62"/>
            <p:cNvSpPr>
              <a:spLocks noChangeShapeType="1"/>
            </p:cNvSpPr>
            <p:nvPr/>
          </p:nvSpPr>
          <p:spPr bwMode="auto">
            <a:xfrm>
              <a:off x="3782" y="2308"/>
              <a:ext cx="554"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56" name="Rectangle 63"/>
            <p:cNvSpPr>
              <a:spLocks noChangeArrowheads="1"/>
            </p:cNvSpPr>
            <p:nvPr/>
          </p:nvSpPr>
          <p:spPr bwMode="auto">
            <a:xfrm>
              <a:off x="3974" y="1685"/>
              <a:ext cx="8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mn-lt"/>
                  <a:ea typeface="+mn-ea"/>
                  <a:cs typeface="+mn-ea"/>
                  <a:sym typeface="+mn-lt"/>
                </a:rPr>
                <a:t>J</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57" name="Rectangle 64"/>
            <p:cNvSpPr>
              <a:spLocks noChangeArrowheads="1"/>
            </p:cNvSpPr>
            <p:nvPr/>
          </p:nvSpPr>
          <p:spPr bwMode="auto">
            <a:xfrm>
              <a:off x="4038" y="1711"/>
              <a:ext cx="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rgbClr val="000000"/>
                  </a:solidFill>
                  <a:effectLst/>
                  <a:uLnTx/>
                  <a:uFillTx/>
                  <a:latin typeface="+mn-lt"/>
                  <a:ea typeface="+mn-ea"/>
                  <a:cs typeface="+mn-ea"/>
                  <a:sym typeface="+mn-lt"/>
                </a:rPr>
                <a:t>3</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5" name="Group 65"/>
          <p:cNvGrpSpPr>
            <a:grpSpLocks noChangeAspect="1"/>
          </p:cNvGrpSpPr>
          <p:nvPr/>
        </p:nvGrpSpPr>
        <p:grpSpPr>
          <a:xfrm>
            <a:off x="7027863" y="1222375"/>
            <a:ext cx="1828800" cy="3570288"/>
            <a:chOff x="4608" y="410"/>
            <a:chExt cx="1152" cy="2249"/>
          </a:xfrm>
        </p:grpSpPr>
        <p:sp>
          <p:nvSpPr>
            <p:cNvPr id="110659" name="AutoShape 66"/>
            <p:cNvSpPr>
              <a:spLocks noChangeAspect="1" noChangeArrowheads="1" noTextEdit="1"/>
            </p:cNvSpPr>
            <p:nvPr/>
          </p:nvSpPr>
          <p:spPr bwMode="auto">
            <a:xfrm>
              <a:off x="4608" y="410"/>
              <a:ext cx="1152" cy="224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60" name="Rectangle 67"/>
            <p:cNvSpPr>
              <a:spLocks noChangeArrowheads="1"/>
            </p:cNvSpPr>
            <p:nvPr/>
          </p:nvSpPr>
          <p:spPr bwMode="auto">
            <a:xfrm>
              <a:off x="5184" y="775"/>
              <a:ext cx="558" cy="1860"/>
            </a:xfrm>
            <a:prstGeom prst="rect">
              <a:avLst/>
            </a:prstGeom>
            <a:solidFill>
              <a:schemeClr val="bg1"/>
            </a:solidFill>
            <a:ln w="14288">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61" name="Line 68"/>
            <p:cNvSpPr>
              <a:spLocks noChangeShapeType="1"/>
            </p:cNvSpPr>
            <p:nvPr/>
          </p:nvSpPr>
          <p:spPr bwMode="auto">
            <a:xfrm flipV="1">
              <a:off x="5184" y="1340"/>
              <a:ext cx="558" cy="6"/>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62" name="Line 69"/>
            <p:cNvSpPr>
              <a:spLocks noChangeShapeType="1"/>
            </p:cNvSpPr>
            <p:nvPr/>
          </p:nvSpPr>
          <p:spPr bwMode="auto">
            <a:xfrm>
              <a:off x="5210" y="1688"/>
              <a:ext cx="532"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63" name="Line 70"/>
            <p:cNvSpPr>
              <a:spLocks noChangeShapeType="1"/>
            </p:cNvSpPr>
            <p:nvPr/>
          </p:nvSpPr>
          <p:spPr bwMode="auto">
            <a:xfrm>
              <a:off x="5210" y="2005"/>
              <a:ext cx="532"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64" name="Line 71"/>
            <p:cNvSpPr>
              <a:spLocks noChangeShapeType="1"/>
            </p:cNvSpPr>
            <p:nvPr/>
          </p:nvSpPr>
          <p:spPr bwMode="auto">
            <a:xfrm>
              <a:off x="5210" y="2323"/>
              <a:ext cx="532"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65" name="Line 72"/>
            <p:cNvSpPr>
              <a:spLocks noChangeShapeType="1"/>
            </p:cNvSpPr>
            <p:nvPr/>
          </p:nvSpPr>
          <p:spPr bwMode="auto">
            <a:xfrm>
              <a:off x="4753" y="1228"/>
              <a:ext cx="365" cy="1"/>
            </a:xfrm>
            <a:prstGeom prst="line">
              <a:avLst/>
            </a:prstGeom>
            <a:noFill/>
            <a:ln w="14288">
              <a:solidFill>
                <a:schemeClr val="bg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66" name="Freeform 73"/>
            <p:cNvSpPr>
              <a:spLocks noChangeArrowheads="1"/>
            </p:cNvSpPr>
            <p:nvPr/>
          </p:nvSpPr>
          <p:spPr bwMode="auto">
            <a:xfrm>
              <a:off x="5096" y="1175"/>
              <a:ext cx="84" cy="106"/>
            </a:xfrm>
            <a:custGeom>
              <a:avLst/>
              <a:gdLst>
                <a:gd name="T0" fmla="*/ 84 w 84"/>
                <a:gd name="T1" fmla="*/ 53 h 106"/>
                <a:gd name="T2" fmla="*/ 0 w 84"/>
                <a:gd name="T3" fmla="*/ 106 h 106"/>
                <a:gd name="T4" fmla="*/ 9 w 84"/>
                <a:gd name="T5" fmla="*/ 71 h 106"/>
                <a:gd name="T6" fmla="*/ 9 w 84"/>
                <a:gd name="T7" fmla="*/ 36 h 106"/>
                <a:gd name="T8" fmla="*/ 0 w 84"/>
                <a:gd name="T9" fmla="*/ 0 h 106"/>
                <a:gd name="T10" fmla="*/ 84 w 84"/>
                <a:gd name="T11" fmla="*/ 53 h 106"/>
              </a:gdLst>
              <a:ahLst/>
              <a:cxnLst>
                <a:cxn ang="0">
                  <a:pos x="T0" y="T1"/>
                </a:cxn>
                <a:cxn ang="0">
                  <a:pos x="T2" y="T3"/>
                </a:cxn>
                <a:cxn ang="0">
                  <a:pos x="T4" y="T5"/>
                </a:cxn>
                <a:cxn ang="0">
                  <a:pos x="T6" y="T7"/>
                </a:cxn>
                <a:cxn ang="0">
                  <a:pos x="T8" y="T9"/>
                </a:cxn>
                <a:cxn ang="0">
                  <a:pos x="T10" y="T11"/>
                </a:cxn>
              </a:cxnLst>
              <a:rect l="0" t="0" r="r" b="b"/>
              <a:pathLst>
                <a:path w="84" h="106">
                  <a:moveTo>
                    <a:pt x="84" y="53"/>
                  </a:moveTo>
                  <a:lnTo>
                    <a:pt x="0" y="106"/>
                  </a:lnTo>
                  <a:lnTo>
                    <a:pt x="9" y="71"/>
                  </a:lnTo>
                  <a:lnTo>
                    <a:pt x="9" y="36"/>
                  </a:lnTo>
                  <a:lnTo>
                    <a:pt x="0" y="0"/>
                  </a:lnTo>
                  <a:lnTo>
                    <a:pt x="84" y="5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67" name="Rectangle 74"/>
            <p:cNvSpPr>
              <a:spLocks noChangeArrowheads="1"/>
            </p:cNvSpPr>
            <p:nvPr/>
          </p:nvSpPr>
          <p:spPr bwMode="auto">
            <a:xfrm>
              <a:off x="4646" y="1055"/>
              <a:ext cx="41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err="1">
                  <a:ln>
                    <a:noFill/>
                  </a:ln>
                  <a:solidFill>
                    <a:schemeClr val="bg1"/>
                  </a:solidFill>
                  <a:effectLst/>
                  <a:uLnTx/>
                  <a:uFillTx/>
                  <a:latin typeface="+mn-lt"/>
                  <a:ea typeface="+mn-ea"/>
                  <a:cs typeface="+mn-ea"/>
                  <a:sym typeface="+mn-lt"/>
                </a:rPr>
                <a:t>Q.front</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0668" name="Line 75"/>
            <p:cNvSpPr>
              <a:spLocks noChangeShapeType="1"/>
            </p:cNvSpPr>
            <p:nvPr/>
          </p:nvSpPr>
          <p:spPr bwMode="auto">
            <a:xfrm>
              <a:off x="4736" y="687"/>
              <a:ext cx="360" cy="1"/>
            </a:xfrm>
            <a:prstGeom prst="line">
              <a:avLst/>
            </a:prstGeom>
            <a:noFill/>
            <a:ln w="14288">
              <a:solidFill>
                <a:schemeClr val="bg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69" name="Freeform 76"/>
            <p:cNvSpPr>
              <a:spLocks noChangeArrowheads="1"/>
            </p:cNvSpPr>
            <p:nvPr/>
          </p:nvSpPr>
          <p:spPr bwMode="auto">
            <a:xfrm>
              <a:off x="5078" y="634"/>
              <a:ext cx="80" cy="106"/>
            </a:xfrm>
            <a:custGeom>
              <a:avLst/>
              <a:gdLst>
                <a:gd name="T0" fmla="*/ 80 w 80"/>
                <a:gd name="T1" fmla="*/ 53 h 106"/>
                <a:gd name="T2" fmla="*/ 0 w 80"/>
                <a:gd name="T3" fmla="*/ 106 h 106"/>
                <a:gd name="T4" fmla="*/ 9 w 80"/>
                <a:gd name="T5" fmla="*/ 70 h 106"/>
                <a:gd name="T6" fmla="*/ 9 w 80"/>
                <a:gd name="T7" fmla="*/ 35 h 106"/>
                <a:gd name="T8" fmla="*/ 0 w 80"/>
                <a:gd name="T9" fmla="*/ 0 h 106"/>
                <a:gd name="T10" fmla="*/ 80 w 80"/>
                <a:gd name="T11" fmla="*/ 53 h 106"/>
              </a:gdLst>
              <a:ahLst/>
              <a:cxnLst>
                <a:cxn ang="0">
                  <a:pos x="T0" y="T1"/>
                </a:cxn>
                <a:cxn ang="0">
                  <a:pos x="T2" y="T3"/>
                </a:cxn>
                <a:cxn ang="0">
                  <a:pos x="T4" y="T5"/>
                </a:cxn>
                <a:cxn ang="0">
                  <a:pos x="T6" y="T7"/>
                </a:cxn>
                <a:cxn ang="0">
                  <a:pos x="T8" y="T9"/>
                </a:cxn>
                <a:cxn ang="0">
                  <a:pos x="T10" y="T11"/>
                </a:cxn>
              </a:cxnLst>
              <a:rect l="0" t="0" r="r" b="b"/>
              <a:pathLst>
                <a:path w="80" h="106">
                  <a:moveTo>
                    <a:pt x="80" y="53"/>
                  </a:moveTo>
                  <a:lnTo>
                    <a:pt x="0" y="106"/>
                  </a:lnTo>
                  <a:lnTo>
                    <a:pt x="9" y="70"/>
                  </a:lnTo>
                  <a:lnTo>
                    <a:pt x="9" y="35"/>
                  </a:lnTo>
                  <a:lnTo>
                    <a:pt x="0" y="0"/>
                  </a:lnTo>
                  <a:lnTo>
                    <a:pt x="80" y="5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70" name="Line 77"/>
            <p:cNvSpPr>
              <a:spLocks noChangeShapeType="1"/>
            </p:cNvSpPr>
            <p:nvPr/>
          </p:nvSpPr>
          <p:spPr bwMode="auto">
            <a:xfrm flipV="1">
              <a:off x="5184" y="1046"/>
              <a:ext cx="558" cy="6"/>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71" name="Rectangle 78"/>
            <p:cNvSpPr>
              <a:spLocks noChangeArrowheads="1"/>
            </p:cNvSpPr>
            <p:nvPr/>
          </p:nvSpPr>
          <p:spPr bwMode="auto">
            <a:xfrm>
              <a:off x="4671" y="522"/>
              <a:ext cx="36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err="1">
                  <a:ln>
                    <a:noFill/>
                  </a:ln>
                  <a:solidFill>
                    <a:schemeClr val="bg1"/>
                  </a:solidFill>
                  <a:effectLst/>
                  <a:uLnTx/>
                  <a:uFillTx/>
                  <a:latin typeface="+mn-lt"/>
                  <a:ea typeface="+mn-ea"/>
                  <a:cs typeface="+mn-ea"/>
                  <a:sym typeface="+mn-lt"/>
                </a:rPr>
                <a:t>Q.rear</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0672" name="Line 79"/>
            <p:cNvSpPr>
              <a:spLocks noChangeShapeType="1"/>
            </p:cNvSpPr>
            <p:nvPr/>
          </p:nvSpPr>
          <p:spPr bwMode="auto">
            <a:xfrm>
              <a:off x="5202" y="1688"/>
              <a:ext cx="527"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73" name="Line 80"/>
            <p:cNvSpPr>
              <a:spLocks noChangeShapeType="1"/>
            </p:cNvSpPr>
            <p:nvPr/>
          </p:nvSpPr>
          <p:spPr bwMode="auto">
            <a:xfrm>
              <a:off x="5202" y="2005"/>
              <a:ext cx="527"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74" name="Line 81"/>
            <p:cNvSpPr>
              <a:spLocks noChangeShapeType="1"/>
            </p:cNvSpPr>
            <p:nvPr/>
          </p:nvSpPr>
          <p:spPr bwMode="auto">
            <a:xfrm>
              <a:off x="5202" y="2323"/>
              <a:ext cx="527"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75" name="Rectangle 82"/>
            <p:cNvSpPr>
              <a:spLocks noChangeArrowheads="1"/>
            </p:cNvSpPr>
            <p:nvPr/>
          </p:nvSpPr>
          <p:spPr bwMode="auto">
            <a:xfrm>
              <a:off x="5404" y="1123"/>
              <a:ext cx="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000000"/>
                  </a:solidFill>
                  <a:effectLst/>
                  <a:uLnTx/>
                  <a:uFillTx/>
                  <a:latin typeface="+mn-lt"/>
                  <a:ea typeface="+mn-ea"/>
                  <a:cs typeface="+mn-ea"/>
                  <a:sym typeface="+mn-lt"/>
                </a:rPr>
                <a:t>J</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76" name="Rectangle 83"/>
            <p:cNvSpPr>
              <a:spLocks noChangeArrowheads="1"/>
            </p:cNvSpPr>
            <p:nvPr/>
          </p:nvSpPr>
          <p:spPr bwMode="auto">
            <a:xfrm>
              <a:off x="5465" y="1146"/>
              <a:ext cx="6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rgbClr val="000000"/>
                  </a:solidFill>
                  <a:effectLst/>
                  <a:uLnTx/>
                  <a:uFillTx/>
                  <a:latin typeface="+mn-lt"/>
                  <a:ea typeface="+mn-ea"/>
                  <a:cs typeface="+mn-ea"/>
                  <a:sym typeface="+mn-lt"/>
                </a:rPr>
                <a:t>5</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77" name="Rectangle 84"/>
            <p:cNvSpPr>
              <a:spLocks noChangeArrowheads="1"/>
            </p:cNvSpPr>
            <p:nvPr/>
          </p:nvSpPr>
          <p:spPr bwMode="auto">
            <a:xfrm>
              <a:off x="5404" y="846"/>
              <a:ext cx="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000000"/>
                  </a:solidFill>
                  <a:effectLst/>
                  <a:uLnTx/>
                  <a:uFillTx/>
                  <a:latin typeface="+mn-lt"/>
                  <a:ea typeface="+mn-ea"/>
                  <a:cs typeface="+mn-ea"/>
                  <a:sym typeface="+mn-lt"/>
                </a:rPr>
                <a:t>J</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0678" name="Rectangle 85"/>
            <p:cNvSpPr>
              <a:spLocks noChangeArrowheads="1"/>
            </p:cNvSpPr>
            <p:nvPr/>
          </p:nvSpPr>
          <p:spPr bwMode="auto">
            <a:xfrm>
              <a:off x="5465" y="869"/>
              <a:ext cx="6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rgbClr val="000000"/>
                  </a:solidFill>
                  <a:effectLst/>
                  <a:uLnTx/>
                  <a:uFillTx/>
                  <a:latin typeface="+mn-lt"/>
                  <a:ea typeface="+mn-ea"/>
                  <a:cs typeface="+mn-ea"/>
                  <a:sym typeface="+mn-lt"/>
                </a:rPr>
                <a:t>6</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10679" name="Text Box 86"/>
          <p:cNvSpPr txBox="1">
            <a:spLocks noChangeArrowheads="1"/>
          </p:cNvSpPr>
          <p:nvPr/>
        </p:nvSpPr>
        <p:spPr bwMode="auto">
          <a:xfrm>
            <a:off x="92075" y="5003800"/>
            <a:ext cx="2103438" cy="523875"/>
          </a:xfrm>
          <a:prstGeom prst="rect">
            <a:avLst/>
          </a:prstGeom>
          <a:solidFill>
            <a:srgbClr val="6C4C8F"/>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front=rear=0</a:t>
            </a:r>
          </a:p>
        </p:txBody>
      </p:sp>
      <p:sp>
        <p:nvSpPr>
          <p:cNvPr id="762967" name="Text Box 87"/>
          <p:cNvSpPr txBox="1">
            <a:spLocks noChangeArrowheads="1"/>
          </p:cNvSpPr>
          <p:nvPr/>
        </p:nvSpPr>
        <p:spPr bwMode="auto">
          <a:xfrm>
            <a:off x="2339975" y="4995863"/>
            <a:ext cx="6534150" cy="1557338"/>
          </a:xfrm>
          <a:prstGeom prst="rect">
            <a:avLst/>
          </a:prstGeom>
          <a:solidFill>
            <a:srgbClr val="6C4C8F"/>
          </a:solidFill>
          <a:ln>
            <a:noFill/>
          </a:ln>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空队标志：</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front= =rear</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zh-CN" sz="2800" b="0" i="0" u="none" strike="noStrike" kern="1200" cap="none" spc="0" normalizeH="0" baseline="0" noProof="0" dirty="0">
                <a:ln>
                  <a:noFill/>
                </a:ln>
                <a:solidFill>
                  <a:schemeClr val="bg1"/>
                </a:solidFill>
                <a:effectLst/>
                <a:uLnTx/>
                <a:uFillTx/>
                <a:latin typeface="+mn-lt"/>
                <a:ea typeface="+mn-ea"/>
                <a:cs typeface="+mn-ea"/>
                <a:sym typeface="+mn-lt"/>
              </a:rPr>
              <a:t>入队：</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base[rear++]=x;</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zh-CN" sz="2800" b="0" i="0" u="none" strike="noStrike" kern="1200" cap="none" spc="0" normalizeH="0" baseline="0" noProof="0" dirty="0">
                <a:ln>
                  <a:noFill/>
                </a:ln>
                <a:solidFill>
                  <a:schemeClr val="bg1"/>
                </a:solidFill>
                <a:effectLst/>
                <a:uLnTx/>
                <a:uFillTx/>
                <a:latin typeface="+mn-lt"/>
                <a:ea typeface="+mn-ea"/>
                <a:cs typeface="+mn-ea"/>
                <a:sym typeface="+mn-lt"/>
              </a:rPr>
              <a:t>出队：</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x=base[front++];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62967"/>
                                        </p:tgtEl>
                                        <p:attrNameLst>
                                          <p:attrName>style.visibility</p:attrName>
                                        </p:attrNameLst>
                                      </p:cBhvr>
                                      <p:to>
                                        <p:strVal val="visible"/>
                                      </p:to>
                                    </p:set>
                                    <p:animEffect transition="in" filter="box(in)">
                                      <p:cBhvr>
                                        <p:cTn id="22" dur="500"/>
                                        <p:tgtEl>
                                          <p:spTgt spid="762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2967"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906" name="Group 2"/>
          <p:cNvGrpSpPr/>
          <p:nvPr/>
        </p:nvGrpSpPr>
        <p:grpSpPr>
          <a:xfrm>
            <a:off x="4089400" y="2033588"/>
            <a:ext cx="1263650" cy="2789237"/>
            <a:chOff x="4608" y="410"/>
            <a:chExt cx="1152" cy="2249"/>
          </a:xfrm>
        </p:grpSpPr>
        <p:sp>
          <p:nvSpPr>
            <p:cNvPr id="111620" name="AutoShape 3"/>
            <p:cNvSpPr>
              <a:spLocks noChangeAspect="1" noChangeArrowheads="1" noTextEdit="1"/>
            </p:cNvSpPr>
            <p:nvPr/>
          </p:nvSpPr>
          <p:spPr bwMode="auto">
            <a:xfrm>
              <a:off x="4608" y="410"/>
              <a:ext cx="1152" cy="224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21" name="Rectangle 4"/>
            <p:cNvSpPr>
              <a:spLocks noChangeArrowheads="1"/>
            </p:cNvSpPr>
            <p:nvPr/>
          </p:nvSpPr>
          <p:spPr bwMode="auto">
            <a:xfrm>
              <a:off x="5184" y="775"/>
              <a:ext cx="559" cy="1860"/>
            </a:xfrm>
            <a:prstGeom prst="rect">
              <a:avLst/>
            </a:prstGeom>
            <a:solidFill>
              <a:schemeClr val="bg1"/>
            </a:solidFill>
            <a:ln w="14288">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22" name="Line 5"/>
            <p:cNvSpPr>
              <a:spLocks noChangeShapeType="1"/>
            </p:cNvSpPr>
            <p:nvPr/>
          </p:nvSpPr>
          <p:spPr bwMode="auto">
            <a:xfrm flipV="1">
              <a:off x="5184" y="1341"/>
              <a:ext cx="559" cy="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23" name="Line 6"/>
            <p:cNvSpPr>
              <a:spLocks noChangeShapeType="1"/>
            </p:cNvSpPr>
            <p:nvPr/>
          </p:nvSpPr>
          <p:spPr bwMode="auto">
            <a:xfrm>
              <a:off x="5210" y="1687"/>
              <a:ext cx="533"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24" name="Line 7"/>
            <p:cNvSpPr>
              <a:spLocks noChangeShapeType="1"/>
            </p:cNvSpPr>
            <p:nvPr/>
          </p:nvSpPr>
          <p:spPr bwMode="auto">
            <a:xfrm>
              <a:off x="5210" y="2005"/>
              <a:ext cx="533"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25" name="Line 8"/>
            <p:cNvSpPr>
              <a:spLocks noChangeShapeType="1"/>
            </p:cNvSpPr>
            <p:nvPr/>
          </p:nvSpPr>
          <p:spPr bwMode="auto">
            <a:xfrm>
              <a:off x="5210" y="2324"/>
              <a:ext cx="533"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26" name="Line 9"/>
            <p:cNvSpPr>
              <a:spLocks noChangeShapeType="1"/>
            </p:cNvSpPr>
            <p:nvPr/>
          </p:nvSpPr>
          <p:spPr bwMode="auto">
            <a:xfrm>
              <a:off x="4753" y="1245"/>
              <a:ext cx="365" cy="0"/>
            </a:xfrm>
            <a:prstGeom prst="line">
              <a:avLst/>
            </a:prstGeom>
            <a:noFill/>
            <a:ln w="14288">
              <a:solidFill>
                <a:schemeClr val="bg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27" name="Freeform 10"/>
            <p:cNvSpPr>
              <a:spLocks noChangeArrowheads="1"/>
            </p:cNvSpPr>
            <p:nvPr/>
          </p:nvSpPr>
          <p:spPr bwMode="auto">
            <a:xfrm>
              <a:off x="5096" y="1198"/>
              <a:ext cx="84" cy="105"/>
            </a:xfrm>
            <a:custGeom>
              <a:avLst/>
              <a:gdLst>
                <a:gd name="T0" fmla="*/ 84 w 84"/>
                <a:gd name="T1" fmla="*/ 53 h 106"/>
                <a:gd name="T2" fmla="*/ 0 w 84"/>
                <a:gd name="T3" fmla="*/ 106 h 106"/>
                <a:gd name="T4" fmla="*/ 9 w 84"/>
                <a:gd name="T5" fmla="*/ 71 h 106"/>
                <a:gd name="T6" fmla="*/ 9 w 84"/>
                <a:gd name="T7" fmla="*/ 36 h 106"/>
                <a:gd name="T8" fmla="*/ 0 w 84"/>
                <a:gd name="T9" fmla="*/ 0 h 106"/>
                <a:gd name="T10" fmla="*/ 84 w 84"/>
                <a:gd name="T11" fmla="*/ 53 h 106"/>
              </a:gdLst>
              <a:ahLst/>
              <a:cxnLst>
                <a:cxn ang="0">
                  <a:pos x="T0" y="T1"/>
                </a:cxn>
                <a:cxn ang="0">
                  <a:pos x="T2" y="T3"/>
                </a:cxn>
                <a:cxn ang="0">
                  <a:pos x="T4" y="T5"/>
                </a:cxn>
                <a:cxn ang="0">
                  <a:pos x="T6" y="T7"/>
                </a:cxn>
                <a:cxn ang="0">
                  <a:pos x="T8" y="T9"/>
                </a:cxn>
                <a:cxn ang="0">
                  <a:pos x="T10" y="T11"/>
                </a:cxn>
              </a:cxnLst>
              <a:rect l="0" t="0" r="r" b="b"/>
              <a:pathLst>
                <a:path w="84" h="106">
                  <a:moveTo>
                    <a:pt x="84" y="53"/>
                  </a:moveTo>
                  <a:lnTo>
                    <a:pt x="0" y="106"/>
                  </a:lnTo>
                  <a:lnTo>
                    <a:pt x="9" y="71"/>
                  </a:lnTo>
                  <a:lnTo>
                    <a:pt x="9" y="36"/>
                  </a:lnTo>
                  <a:lnTo>
                    <a:pt x="0" y="0"/>
                  </a:lnTo>
                  <a:lnTo>
                    <a:pt x="84" y="5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28" name="Rectangle 11"/>
            <p:cNvSpPr>
              <a:spLocks noChangeArrowheads="1"/>
            </p:cNvSpPr>
            <p:nvPr/>
          </p:nvSpPr>
          <p:spPr bwMode="auto">
            <a:xfrm>
              <a:off x="4634" y="1030"/>
              <a:ext cx="52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400" b="1" i="0" u="none" strike="noStrike" kern="1200" cap="none" spc="0" normalizeH="0" baseline="0" noProof="0" dirty="0" err="1">
                  <a:ln>
                    <a:noFill/>
                  </a:ln>
                  <a:solidFill>
                    <a:schemeClr val="bg1"/>
                  </a:solidFill>
                  <a:effectLst/>
                  <a:uLnTx/>
                  <a:uFillTx/>
                  <a:latin typeface="+mn-lt"/>
                  <a:ea typeface="+mn-ea"/>
                  <a:cs typeface="+mn-ea"/>
                  <a:sym typeface="+mn-lt"/>
                </a:rPr>
                <a:t>Q.front</a:t>
              </a:r>
              <a:endParaRPr kumimoji="0" lang="en-US" altLang="zh-CN" sz="28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1629" name="Line 12"/>
            <p:cNvSpPr>
              <a:spLocks noChangeShapeType="1"/>
            </p:cNvSpPr>
            <p:nvPr/>
          </p:nvSpPr>
          <p:spPr bwMode="auto">
            <a:xfrm>
              <a:off x="4815" y="722"/>
              <a:ext cx="360" cy="0"/>
            </a:xfrm>
            <a:prstGeom prst="line">
              <a:avLst/>
            </a:prstGeom>
            <a:noFill/>
            <a:ln w="14288">
              <a:solidFill>
                <a:schemeClr val="bg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30" name="Freeform 13"/>
            <p:cNvSpPr>
              <a:spLocks noChangeArrowheads="1"/>
            </p:cNvSpPr>
            <p:nvPr/>
          </p:nvSpPr>
          <p:spPr bwMode="auto">
            <a:xfrm>
              <a:off x="5158" y="663"/>
              <a:ext cx="80" cy="105"/>
            </a:xfrm>
            <a:custGeom>
              <a:avLst/>
              <a:gdLst>
                <a:gd name="T0" fmla="*/ 80 w 80"/>
                <a:gd name="T1" fmla="*/ 53 h 106"/>
                <a:gd name="T2" fmla="*/ 0 w 80"/>
                <a:gd name="T3" fmla="*/ 106 h 106"/>
                <a:gd name="T4" fmla="*/ 9 w 80"/>
                <a:gd name="T5" fmla="*/ 70 h 106"/>
                <a:gd name="T6" fmla="*/ 9 w 80"/>
                <a:gd name="T7" fmla="*/ 35 h 106"/>
                <a:gd name="T8" fmla="*/ 0 w 80"/>
                <a:gd name="T9" fmla="*/ 0 h 106"/>
                <a:gd name="T10" fmla="*/ 80 w 80"/>
                <a:gd name="T11" fmla="*/ 53 h 106"/>
              </a:gdLst>
              <a:ahLst/>
              <a:cxnLst>
                <a:cxn ang="0">
                  <a:pos x="T0" y="T1"/>
                </a:cxn>
                <a:cxn ang="0">
                  <a:pos x="T2" y="T3"/>
                </a:cxn>
                <a:cxn ang="0">
                  <a:pos x="T4" y="T5"/>
                </a:cxn>
                <a:cxn ang="0">
                  <a:pos x="T6" y="T7"/>
                </a:cxn>
                <a:cxn ang="0">
                  <a:pos x="T8" y="T9"/>
                </a:cxn>
                <a:cxn ang="0">
                  <a:pos x="T10" y="T11"/>
                </a:cxn>
              </a:cxnLst>
              <a:rect l="0" t="0" r="r" b="b"/>
              <a:pathLst>
                <a:path w="80" h="106">
                  <a:moveTo>
                    <a:pt x="80" y="53"/>
                  </a:moveTo>
                  <a:lnTo>
                    <a:pt x="0" y="106"/>
                  </a:lnTo>
                  <a:lnTo>
                    <a:pt x="9" y="70"/>
                  </a:lnTo>
                  <a:lnTo>
                    <a:pt x="9" y="35"/>
                  </a:lnTo>
                  <a:lnTo>
                    <a:pt x="0" y="0"/>
                  </a:lnTo>
                  <a:lnTo>
                    <a:pt x="80" y="5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31" name="Line 14"/>
            <p:cNvSpPr>
              <a:spLocks noChangeShapeType="1"/>
            </p:cNvSpPr>
            <p:nvPr/>
          </p:nvSpPr>
          <p:spPr bwMode="auto">
            <a:xfrm flipV="1">
              <a:off x="5184" y="1046"/>
              <a:ext cx="559" cy="6"/>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32" name="Rectangle 15"/>
            <p:cNvSpPr>
              <a:spLocks noChangeArrowheads="1"/>
            </p:cNvSpPr>
            <p:nvPr/>
          </p:nvSpPr>
          <p:spPr bwMode="auto">
            <a:xfrm>
              <a:off x="4635" y="526"/>
              <a:ext cx="53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err="1">
                  <a:ln>
                    <a:noFill/>
                  </a:ln>
                  <a:solidFill>
                    <a:schemeClr val="bg1"/>
                  </a:solidFill>
                  <a:effectLst/>
                  <a:uLnTx/>
                  <a:uFillTx/>
                  <a:latin typeface="+mn-lt"/>
                  <a:ea typeface="+mn-ea"/>
                  <a:cs typeface="+mn-ea"/>
                  <a:sym typeface="+mn-lt"/>
                </a:rPr>
                <a:t>Q.rear</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1633" name="Line 16"/>
            <p:cNvSpPr>
              <a:spLocks noChangeShapeType="1"/>
            </p:cNvSpPr>
            <p:nvPr/>
          </p:nvSpPr>
          <p:spPr bwMode="auto">
            <a:xfrm>
              <a:off x="5201" y="1687"/>
              <a:ext cx="528"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34" name="Line 17"/>
            <p:cNvSpPr>
              <a:spLocks noChangeShapeType="1"/>
            </p:cNvSpPr>
            <p:nvPr/>
          </p:nvSpPr>
          <p:spPr bwMode="auto">
            <a:xfrm>
              <a:off x="5201" y="2005"/>
              <a:ext cx="528"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35" name="Line 18"/>
            <p:cNvSpPr>
              <a:spLocks noChangeShapeType="1"/>
            </p:cNvSpPr>
            <p:nvPr/>
          </p:nvSpPr>
          <p:spPr bwMode="auto">
            <a:xfrm>
              <a:off x="5201" y="2324"/>
              <a:ext cx="528"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36" name="Rectangle 19"/>
            <p:cNvSpPr>
              <a:spLocks noChangeArrowheads="1"/>
            </p:cNvSpPr>
            <p:nvPr/>
          </p:nvSpPr>
          <p:spPr bwMode="auto">
            <a:xfrm>
              <a:off x="5384" y="1085"/>
              <a:ext cx="23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000000"/>
                  </a:solidFill>
                  <a:effectLst/>
                  <a:uLnTx/>
                  <a:uFillTx/>
                  <a:latin typeface="+mn-lt"/>
                  <a:ea typeface="+mn-ea"/>
                  <a:cs typeface="+mn-ea"/>
                  <a:sym typeface="+mn-lt"/>
                </a:rPr>
                <a:t>J5</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11637" name="Rectangle 20"/>
            <p:cNvSpPr>
              <a:spLocks noChangeArrowheads="1"/>
            </p:cNvSpPr>
            <p:nvPr/>
          </p:nvSpPr>
          <p:spPr bwMode="auto">
            <a:xfrm>
              <a:off x="5384" y="795"/>
              <a:ext cx="234"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000000"/>
                  </a:solidFill>
                  <a:effectLst/>
                  <a:uLnTx/>
                  <a:uFillTx/>
                  <a:latin typeface="+mn-lt"/>
                  <a:ea typeface="+mn-ea"/>
                  <a:cs typeface="+mn-ea"/>
                  <a:sym typeface="+mn-lt"/>
                </a:rPr>
                <a:t>J6</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grpSp>
      <p:grpSp>
        <p:nvGrpSpPr>
          <p:cNvPr id="123907" name="Group 21"/>
          <p:cNvGrpSpPr/>
          <p:nvPr/>
        </p:nvGrpSpPr>
        <p:grpSpPr>
          <a:xfrm>
            <a:off x="2066925" y="1968500"/>
            <a:ext cx="1614488" cy="2847975"/>
            <a:chOff x="3175" y="1464"/>
            <a:chExt cx="1183" cy="2379"/>
          </a:xfrm>
        </p:grpSpPr>
        <p:sp>
          <p:nvSpPr>
            <p:cNvPr id="111639" name="AutoShape 22"/>
            <p:cNvSpPr>
              <a:spLocks noChangeAspect="1" noChangeArrowheads="1" noTextEdit="1"/>
            </p:cNvSpPr>
            <p:nvPr/>
          </p:nvSpPr>
          <p:spPr bwMode="auto">
            <a:xfrm>
              <a:off x="3175" y="1464"/>
              <a:ext cx="1183" cy="237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40" name="Rectangle 23"/>
            <p:cNvSpPr>
              <a:spLocks noChangeArrowheads="1"/>
            </p:cNvSpPr>
            <p:nvPr/>
          </p:nvSpPr>
          <p:spPr bwMode="auto">
            <a:xfrm>
              <a:off x="3859" y="1766"/>
              <a:ext cx="483" cy="2001"/>
            </a:xfrm>
            <a:prstGeom prst="rect">
              <a:avLst/>
            </a:prstGeom>
            <a:solidFill>
              <a:schemeClr val="bg1"/>
            </a:solidFill>
            <a:ln w="12700">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41" name="Line 24"/>
            <p:cNvSpPr>
              <a:spLocks noChangeShapeType="1"/>
            </p:cNvSpPr>
            <p:nvPr/>
          </p:nvSpPr>
          <p:spPr bwMode="auto">
            <a:xfrm>
              <a:off x="3859" y="2374"/>
              <a:ext cx="48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42" name="Line 25"/>
            <p:cNvSpPr>
              <a:spLocks noChangeShapeType="1"/>
            </p:cNvSpPr>
            <p:nvPr/>
          </p:nvSpPr>
          <p:spPr bwMode="auto">
            <a:xfrm>
              <a:off x="3859" y="2741"/>
              <a:ext cx="48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43" name="Line 26"/>
            <p:cNvSpPr>
              <a:spLocks noChangeShapeType="1"/>
            </p:cNvSpPr>
            <p:nvPr/>
          </p:nvSpPr>
          <p:spPr bwMode="auto">
            <a:xfrm>
              <a:off x="3859" y="3083"/>
              <a:ext cx="48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44" name="Line 27"/>
            <p:cNvSpPr>
              <a:spLocks noChangeShapeType="1"/>
            </p:cNvSpPr>
            <p:nvPr/>
          </p:nvSpPr>
          <p:spPr bwMode="auto">
            <a:xfrm>
              <a:off x="3859" y="3425"/>
              <a:ext cx="48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45" name="Line 28"/>
            <p:cNvSpPr>
              <a:spLocks noChangeShapeType="1"/>
            </p:cNvSpPr>
            <p:nvPr/>
          </p:nvSpPr>
          <p:spPr bwMode="auto">
            <a:xfrm>
              <a:off x="3308" y="3724"/>
              <a:ext cx="334"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46" name="Freeform 29"/>
            <p:cNvSpPr>
              <a:spLocks noChangeArrowheads="1"/>
            </p:cNvSpPr>
            <p:nvPr/>
          </p:nvSpPr>
          <p:spPr bwMode="auto">
            <a:xfrm>
              <a:off x="3622" y="3667"/>
              <a:ext cx="77" cy="106"/>
            </a:xfrm>
            <a:custGeom>
              <a:avLst/>
              <a:gdLst>
                <a:gd name="T0" fmla="*/ 76 w 76"/>
                <a:gd name="T1" fmla="*/ 57 h 107"/>
                <a:gd name="T2" fmla="*/ 0 w 76"/>
                <a:gd name="T3" fmla="*/ 107 h 107"/>
                <a:gd name="T4" fmla="*/ 8 w 76"/>
                <a:gd name="T5" fmla="*/ 76 h 107"/>
                <a:gd name="T6" fmla="*/ 8 w 76"/>
                <a:gd name="T7" fmla="*/ 38 h 107"/>
                <a:gd name="T8" fmla="*/ 0 w 76"/>
                <a:gd name="T9" fmla="*/ 0 h 107"/>
                <a:gd name="T10" fmla="*/ 76 w 76"/>
                <a:gd name="T11" fmla="*/ 57 h 107"/>
              </a:gdLst>
              <a:ahLst/>
              <a:cxnLst>
                <a:cxn ang="0">
                  <a:pos x="T0" y="T1"/>
                </a:cxn>
                <a:cxn ang="0">
                  <a:pos x="T2" y="T3"/>
                </a:cxn>
                <a:cxn ang="0">
                  <a:pos x="T4" y="T5"/>
                </a:cxn>
                <a:cxn ang="0">
                  <a:pos x="T6" y="T7"/>
                </a:cxn>
                <a:cxn ang="0">
                  <a:pos x="T8" y="T9"/>
                </a:cxn>
                <a:cxn ang="0">
                  <a:pos x="T10" y="T11"/>
                </a:cxn>
              </a:cxnLst>
              <a:rect l="0" t="0" r="r" b="b"/>
              <a:pathLst>
                <a:path w="76" h="107">
                  <a:moveTo>
                    <a:pt x="76" y="57"/>
                  </a:moveTo>
                  <a:lnTo>
                    <a:pt x="0" y="107"/>
                  </a:lnTo>
                  <a:lnTo>
                    <a:pt x="8" y="76"/>
                  </a:lnTo>
                  <a:lnTo>
                    <a:pt x="8" y="38"/>
                  </a:lnTo>
                  <a:lnTo>
                    <a:pt x="0" y="0"/>
                  </a:lnTo>
                  <a:lnTo>
                    <a:pt x="76" y="57"/>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47" name="Rectangle 30"/>
            <p:cNvSpPr>
              <a:spLocks noChangeArrowheads="1"/>
            </p:cNvSpPr>
            <p:nvPr/>
          </p:nvSpPr>
          <p:spPr bwMode="auto">
            <a:xfrm>
              <a:off x="3185" y="3485"/>
              <a:ext cx="506"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700" b="1" i="0" u="none" strike="noStrike" kern="1200" cap="none" spc="0" normalizeH="0" baseline="0" noProof="0" dirty="0" err="1">
                  <a:ln>
                    <a:noFill/>
                  </a:ln>
                  <a:solidFill>
                    <a:schemeClr val="bg1"/>
                  </a:solidFill>
                  <a:effectLst/>
                  <a:uLnTx/>
                  <a:uFillTx/>
                  <a:latin typeface="+mn-lt"/>
                  <a:ea typeface="+mn-ea"/>
                  <a:cs typeface="+mn-ea"/>
                  <a:sym typeface="+mn-lt"/>
                </a:rPr>
                <a:t>Q.front</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1648" name="Line 31"/>
            <p:cNvSpPr>
              <a:spLocks noChangeShapeType="1"/>
            </p:cNvSpPr>
            <p:nvPr/>
          </p:nvSpPr>
          <p:spPr bwMode="auto">
            <a:xfrm>
              <a:off x="3393" y="1803"/>
              <a:ext cx="466" cy="7"/>
            </a:xfrm>
            <a:prstGeom prst="line">
              <a:avLst/>
            </a:prstGeom>
            <a:noFill/>
            <a:ln w="38100">
              <a:solidFill>
                <a:schemeClr val="bg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11649" name="Rectangle 32"/>
            <p:cNvSpPr>
              <a:spLocks noChangeArrowheads="1"/>
            </p:cNvSpPr>
            <p:nvPr/>
          </p:nvSpPr>
          <p:spPr bwMode="auto">
            <a:xfrm>
              <a:off x="3710" y="3501"/>
              <a:ext cx="9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100" b="1" i="0" u="none" strike="noStrike" kern="1200" cap="none" spc="0" normalizeH="0" baseline="0" noProof="0">
                  <a:ln>
                    <a:noFill/>
                  </a:ln>
                  <a:solidFill>
                    <a:schemeClr val="bg1"/>
                  </a:solidFill>
                  <a:effectLst/>
                  <a:uLnTx/>
                  <a:uFillTx/>
                  <a:latin typeface="+mn-lt"/>
                  <a:ea typeface="+mn-ea"/>
                  <a:cs typeface="+mn-ea"/>
                  <a:sym typeface="+mn-lt"/>
                </a:rPr>
                <a:t>0</a:t>
              </a:r>
              <a:endParaRPr kumimoji="0" lang="en-US" altLang="zh-CN" sz="3200" b="1"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11650" name="Rectangle 33"/>
            <p:cNvSpPr>
              <a:spLocks noChangeArrowheads="1"/>
            </p:cNvSpPr>
            <p:nvPr/>
          </p:nvSpPr>
          <p:spPr bwMode="auto">
            <a:xfrm>
              <a:off x="3710" y="3159"/>
              <a:ext cx="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100" b="1" i="0" u="none" strike="noStrike" kern="1200" cap="none" spc="0" normalizeH="0" baseline="0" noProof="0">
                  <a:ln>
                    <a:noFill/>
                  </a:ln>
                  <a:solidFill>
                    <a:schemeClr val="bg1"/>
                  </a:solidFill>
                  <a:effectLst/>
                  <a:uLnTx/>
                  <a:uFillTx/>
                  <a:latin typeface="+mn-lt"/>
                  <a:ea typeface="+mn-ea"/>
                  <a:cs typeface="+mn-ea"/>
                  <a:sym typeface="+mn-lt"/>
                </a:rPr>
                <a:t>1</a:t>
              </a:r>
              <a:endParaRPr kumimoji="0" lang="en-US" altLang="zh-CN" sz="3200" b="1"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11651" name="Rectangle 34"/>
            <p:cNvSpPr>
              <a:spLocks noChangeArrowheads="1"/>
            </p:cNvSpPr>
            <p:nvPr/>
          </p:nvSpPr>
          <p:spPr bwMode="auto">
            <a:xfrm>
              <a:off x="3710" y="2840"/>
              <a:ext cx="99"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100" b="1" i="0" u="none" strike="noStrike" kern="1200" cap="none" spc="0" normalizeH="0" baseline="0" noProof="0">
                  <a:ln>
                    <a:noFill/>
                  </a:ln>
                  <a:solidFill>
                    <a:schemeClr val="bg1"/>
                  </a:solidFill>
                  <a:effectLst/>
                  <a:uLnTx/>
                  <a:uFillTx/>
                  <a:latin typeface="+mn-lt"/>
                  <a:ea typeface="+mn-ea"/>
                  <a:cs typeface="+mn-ea"/>
                  <a:sym typeface="+mn-lt"/>
                </a:rPr>
                <a:t>2</a:t>
              </a:r>
              <a:endParaRPr kumimoji="0" lang="en-US" altLang="zh-CN" sz="3200" b="1"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11652" name="Rectangle 35"/>
            <p:cNvSpPr>
              <a:spLocks noChangeArrowheads="1"/>
            </p:cNvSpPr>
            <p:nvPr/>
          </p:nvSpPr>
          <p:spPr bwMode="auto">
            <a:xfrm>
              <a:off x="3710" y="2456"/>
              <a:ext cx="9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100" b="1" i="0" u="none" strike="noStrike" kern="1200" cap="none" spc="0" normalizeH="0" baseline="0" noProof="0">
                  <a:ln>
                    <a:noFill/>
                  </a:ln>
                  <a:solidFill>
                    <a:schemeClr val="bg1"/>
                  </a:solidFill>
                  <a:effectLst/>
                  <a:uLnTx/>
                  <a:uFillTx/>
                  <a:latin typeface="+mn-lt"/>
                  <a:ea typeface="+mn-ea"/>
                  <a:cs typeface="+mn-ea"/>
                  <a:sym typeface="+mn-lt"/>
                </a:rPr>
                <a:t>3</a:t>
              </a:r>
              <a:endParaRPr kumimoji="0" lang="en-US" altLang="zh-CN" sz="3200" b="1"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11653" name="Rectangle 36"/>
            <p:cNvSpPr>
              <a:spLocks noChangeArrowheads="1"/>
            </p:cNvSpPr>
            <p:nvPr/>
          </p:nvSpPr>
          <p:spPr bwMode="auto">
            <a:xfrm>
              <a:off x="3710" y="2158"/>
              <a:ext cx="9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100" b="1" i="0" u="none" strike="noStrike" kern="1200" cap="none" spc="0" normalizeH="0" baseline="0" noProof="0">
                  <a:ln>
                    <a:noFill/>
                  </a:ln>
                  <a:solidFill>
                    <a:schemeClr val="bg1"/>
                  </a:solidFill>
                  <a:effectLst/>
                  <a:uLnTx/>
                  <a:uFillTx/>
                  <a:latin typeface="+mn-lt"/>
                  <a:ea typeface="+mn-ea"/>
                  <a:cs typeface="+mn-ea"/>
                  <a:sym typeface="+mn-lt"/>
                </a:rPr>
                <a:t>4</a:t>
              </a:r>
              <a:endParaRPr kumimoji="0" lang="en-US" altLang="zh-CN" sz="3200" b="1"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11654" name="Line 37"/>
            <p:cNvSpPr>
              <a:spLocks noChangeShapeType="1"/>
            </p:cNvSpPr>
            <p:nvPr/>
          </p:nvSpPr>
          <p:spPr bwMode="auto">
            <a:xfrm>
              <a:off x="3859" y="2058"/>
              <a:ext cx="48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55" name="Rectangle 38"/>
            <p:cNvSpPr>
              <a:spLocks noChangeArrowheads="1"/>
            </p:cNvSpPr>
            <p:nvPr/>
          </p:nvSpPr>
          <p:spPr bwMode="auto">
            <a:xfrm>
              <a:off x="3710" y="1842"/>
              <a:ext cx="9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100" b="1" i="0" u="none" strike="noStrike" kern="1200" cap="none" spc="0" normalizeH="0" baseline="0" noProof="0">
                  <a:ln>
                    <a:noFill/>
                  </a:ln>
                  <a:solidFill>
                    <a:schemeClr val="bg1"/>
                  </a:solidFill>
                  <a:effectLst/>
                  <a:uLnTx/>
                  <a:uFillTx/>
                  <a:latin typeface="+mn-lt"/>
                  <a:ea typeface="+mn-ea"/>
                  <a:cs typeface="+mn-ea"/>
                  <a:sym typeface="+mn-lt"/>
                </a:rPr>
                <a:t>5</a:t>
              </a:r>
              <a:endParaRPr kumimoji="0" lang="en-US" altLang="zh-CN" sz="3200" b="1"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11656" name="Rectangle 39"/>
            <p:cNvSpPr>
              <a:spLocks noChangeArrowheads="1"/>
            </p:cNvSpPr>
            <p:nvPr/>
          </p:nvSpPr>
          <p:spPr bwMode="auto">
            <a:xfrm>
              <a:off x="3393" y="1469"/>
              <a:ext cx="637"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err="1">
                  <a:ln>
                    <a:noFill/>
                  </a:ln>
                  <a:solidFill>
                    <a:schemeClr val="bg1"/>
                  </a:solidFill>
                  <a:effectLst/>
                  <a:uLnTx/>
                  <a:uFillTx/>
                  <a:latin typeface="+mn-lt"/>
                  <a:ea typeface="+mn-ea"/>
                  <a:cs typeface="+mn-ea"/>
                  <a:sym typeface="+mn-lt"/>
                </a:rPr>
                <a:t>Q.rear</a:t>
              </a:r>
              <a:endParaRPr kumimoji="0" lang="en-US" altLang="zh-CN" sz="20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1657" name="Rectangle 40"/>
            <p:cNvSpPr>
              <a:spLocks noChangeArrowheads="1"/>
            </p:cNvSpPr>
            <p:nvPr/>
          </p:nvSpPr>
          <p:spPr bwMode="auto">
            <a:xfrm>
              <a:off x="4014" y="2119"/>
              <a:ext cx="188"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000000"/>
                  </a:solidFill>
                  <a:effectLst/>
                  <a:uLnTx/>
                  <a:uFillTx/>
                  <a:latin typeface="+mn-lt"/>
                  <a:ea typeface="+mn-ea"/>
                  <a:cs typeface="+mn-ea"/>
                  <a:sym typeface="+mn-lt"/>
                </a:rPr>
                <a:t>J5</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11658" name="Rectangle 41"/>
            <p:cNvSpPr>
              <a:spLocks noChangeArrowheads="1"/>
            </p:cNvSpPr>
            <p:nvPr/>
          </p:nvSpPr>
          <p:spPr bwMode="auto">
            <a:xfrm>
              <a:off x="4014" y="1819"/>
              <a:ext cx="188"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000000"/>
                  </a:solidFill>
                  <a:effectLst/>
                  <a:uLnTx/>
                  <a:uFillTx/>
                  <a:latin typeface="+mn-lt"/>
                  <a:ea typeface="+mn-ea"/>
                  <a:cs typeface="+mn-ea"/>
                  <a:sym typeface="+mn-lt"/>
                </a:rPr>
                <a:t>J6</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11659" name="Rectangle 42"/>
            <p:cNvSpPr>
              <a:spLocks noChangeArrowheads="1"/>
            </p:cNvSpPr>
            <p:nvPr/>
          </p:nvSpPr>
          <p:spPr bwMode="auto">
            <a:xfrm>
              <a:off x="4030" y="3405"/>
              <a:ext cx="188"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000000"/>
                  </a:solidFill>
                  <a:effectLst/>
                  <a:uLnTx/>
                  <a:uFillTx/>
                  <a:latin typeface="+mn-lt"/>
                  <a:ea typeface="+mn-ea"/>
                  <a:cs typeface="+mn-ea"/>
                  <a:sym typeface="+mn-lt"/>
                </a:rPr>
                <a:t>J1</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60" name="Rectangle 43"/>
            <p:cNvSpPr>
              <a:spLocks noChangeArrowheads="1"/>
            </p:cNvSpPr>
            <p:nvPr/>
          </p:nvSpPr>
          <p:spPr bwMode="auto">
            <a:xfrm>
              <a:off x="4030" y="3130"/>
              <a:ext cx="188"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000000"/>
                  </a:solidFill>
                  <a:effectLst/>
                  <a:uLnTx/>
                  <a:uFillTx/>
                  <a:latin typeface="+mn-lt"/>
                  <a:ea typeface="+mn-ea"/>
                  <a:cs typeface="+mn-ea"/>
                  <a:sym typeface="+mn-lt"/>
                </a:rPr>
                <a:t>J2</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1661" name="Rectangle 44"/>
            <p:cNvSpPr>
              <a:spLocks noChangeArrowheads="1"/>
            </p:cNvSpPr>
            <p:nvPr/>
          </p:nvSpPr>
          <p:spPr bwMode="auto">
            <a:xfrm>
              <a:off x="4030" y="2772"/>
              <a:ext cx="188"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000000"/>
                  </a:solidFill>
                  <a:effectLst/>
                  <a:uLnTx/>
                  <a:uFillTx/>
                  <a:latin typeface="+mn-lt"/>
                  <a:ea typeface="+mn-ea"/>
                  <a:cs typeface="+mn-ea"/>
                  <a:sym typeface="+mn-lt"/>
                </a:rPr>
                <a:t>J3</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11662" name="Rectangle 45"/>
            <p:cNvSpPr>
              <a:spLocks noChangeArrowheads="1"/>
            </p:cNvSpPr>
            <p:nvPr/>
          </p:nvSpPr>
          <p:spPr bwMode="auto">
            <a:xfrm>
              <a:off x="4030" y="2464"/>
              <a:ext cx="188"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000000"/>
                  </a:solidFill>
                  <a:effectLst/>
                  <a:uLnTx/>
                  <a:uFillTx/>
                  <a:latin typeface="+mn-lt"/>
                  <a:ea typeface="+mn-ea"/>
                  <a:cs typeface="+mn-ea"/>
                  <a:sym typeface="+mn-lt"/>
                </a:rPr>
                <a:t>J4</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48" name="Comment 46"/>
          <p:cNvSpPr>
            <a:spLocks noChangeArrowheads="1"/>
          </p:cNvSpPr>
          <p:nvPr/>
        </p:nvSpPr>
        <p:spPr bwMode="auto">
          <a:xfrm>
            <a:off x="850900" y="207963"/>
            <a:ext cx="2763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存在的问题</a:t>
            </a:r>
          </a:p>
        </p:txBody>
      </p:sp>
      <p:sp>
        <p:nvSpPr>
          <p:cNvPr id="111664" name="Text Box 47"/>
          <p:cNvSpPr txBox="1">
            <a:spLocks noChangeArrowheads="1"/>
          </p:cNvSpPr>
          <p:nvPr/>
        </p:nvSpPr>
        <p:spPr bwMode="auto">
          <a:xfrm>
            <a:off x="3522663" y="1287463"/>
            <a:ext cx="1947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设大小为</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M</a:t>
            </a:r>
          </a:p>
        </p:txBody>
      </p:sp>
      <p:sp>
        <p:nvSpPr>
          <p:cNvPr id="111665" name="Text Box 48"/>
          <p:cNvSpPr txBox="1">
            <a:spLocks noChangeArrowheads="1"/>
          </p:cNvSpPr>
          <p:nvPr/>
        </p:nvSpPr>
        <p:spPr bwMode="auto">
          <a:xfrm>
            <a:off x="314325" y="5022850"/>
            <a:ext cx="2470150" cy="1390650"/>
          </a:xfrm>
          <a:prstGeom prst="rect">
            <a:avLst/>
          </a:prstGeom>
          <a:noFill/>
          <a:ln w="5715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front=0</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rear=M</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时</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再入队—</a:t>
            </a:r>
            <a:r>
              <a:rPr kumimoji="0" lang="zh-CN" altLang="zh-CN" sz="2400" b="0" i="0" u="none" strike="noStrike" kern="1200" cap="none" spc="0" normalizeH="0" baseline="0" noProof="0" dirty="0">
                <a:ln>
                  <a:noFill/>
                </a:ln>
                <a:solidFill>
                  <a:schemeClr val="hlink"/>
                </a:solidFill>
                <a:effectLst/>
                <a:uLnTx/>
                <a:uFillTx/>
                <a:latin typeface="+mn-lt"/>
                <a:ea typeface="+mn-ea"/>
                <a:cs typeface="+mn-ea"/>
                <a:sym typeface="+mn-lt"/>
              </a:rPr>
              <a:t>真溢出</a:t>
            </a:r>
            <a:endParaRPr kumimoji="0" lang="zh-CN" altLang="en-US" sz="2400" b="0" i="0" u="none" strike="noStrike" kern="1200" cap="none" spc="0" normalizeH="0" baseline="0" noProof="0" dirty="0">
              <a:ln>
                <a:noFill/>
              </a:ln>
              <a:solidFill>
                <a:schemeClr val="hlink"/>
              </a:solidFill>
              <a:effectLst/>
              <a:uLnTx/>
              <a:uFillTx/>
              <a:latin typeface="+mn-lt"/>
              <a:ea typeface="+mn-ea"/>
              <a:cs typeface="+mn-ea"/>
              <a:sym typeface="+mn-lt"/>
            </a:endParaRPr>
          </a:p>
        </p:txBody>
      </p:sp>
      <p:sp>
        <p:nvSpPr>
          <p:cNvPr id="111666" name="Text Box 49"/>
          <p:cNvSpPr txBox="1">
            <a:spLocks noChangeArrowheads="1"/>
          </p:cNvSpPr>
          <p:nvPr/>
        </p:nvSpPr>
        <p:spPr bwMode="auto">
          <a:xfrm>
            <a:off x="2903538" y="5030788"/>
            <a:ext cx="2478088" cy="1390650"/>
          </a:xfrm>
          <a:prstGeom prst="rect">
            <a:avLst/>
          </a:prstGeom>
          <a:noFill/>
          <a:ln w="5715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front0</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rear=M</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时</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再入队—</a:t>
            </a:r>
            <a:r>
              <a:rPr kumimoji="0" lang="zh-CN" altLang="zh-CN" sz="2400" b="0" i="0" u="none" strike="noStrike" kern="1200" cap="none" spc="0" normalizeH="0" baseline="0" noProof="0" dirty="0">
                <a:ln>
                  <a:noFill/>
                </a:ln>
                <a:solidFill>
                  <a:schemeClr val="hlink"/>
                </a:solidFill>
                <a:effectLst/>
                <a:uLnTx/>
                <a:uFillTx/>
                <a:latin typeface="+mn-lt"/>
                <a:ea typeface="+mn-ea"/>
                <a:cs typeface="+mn-ea"/>
                <a:sym typeface="+mn-lt"/>
              </a:rPr>
              <a:t>假溢出</a:t>
            </a:r>
          </a:p>
        </p:txBody>
      </p:sp>
      <p:pic>
        <p:nvPicPr>
          <p:cNvPr id="52" name="Picture 59" descr="u=146904796,407546596&amp;fm=52&amp;gp=0"/>
          <p:cNvPicPr>
            <a:picLocks noChangeAspect="1"/>
          </p:cNvPicPr>
          <p:nvPr/>
        </p:nvPicPr>
        <p:blipFill>
          <a:blip r:embed="rId3"/>
          <a:stretch>
            <a:fillRect/>
          </a:stretch>
        </p:blipFill>
        <p:spPr>
          <a:xfrm>
            <a:off x="5619750" y="4217988"/>
            <a:ext cx="3524250" cy="2197100"/>
          </a:xfrm>
          <a:prstGeom prst="rect">
            <a:avLst/>
          </a:prstGeom>
          <a:noFill/>
          <a:ln w="9525">
            <a:noFill/>
          </a:ln>
        </p:spPr>
      </p:pic>
      <p:sp>
        <p:nvSpPr>
          <p:cNvPr id="53" name="AutoShape 60"/>
          <p:cNvSpPr>
            <a:spLocks noChangeArrowheads="1"/>
          </p:cNvSpPr>
          <p:nvPr/>
        </p:nvSpPr>
        <p:spPr bwMode="auto">
          <a:xfrm>
            <a:off x="7564438" y="3340100"/>
            <a:ext cx="196850" cy="796925"/>
          </a:xfrm>
          <a:prstGeom prst="downArrow">
            <a:avLst>
              <a:gd name="adj1" fmla="val 50000"/>
              <a:gd name="adj2" fmla="val 100792"/>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pic>
        <p:nvPicPr>
          <p:cNvPr id="54" name="Picture 61" descr="u=1184928351,156208397&amp;fm=52&amp;gp=0"/>
          <p:cNvPicPr>
            <a:picLocks noChangeAspect="1"/>
          </p:cNvPicPr>
          <p:nvPr/>
        </p:nvPicPr>
        <p:blipFill>
          <a:blip r:embed="rId4"/>
          <a:stretch>
            <a:fillRect/>
          </a:stretch>
        </p:blipFill>
        <p:spPr>
          <a:xfrm>
            <a:off x="5619750" y="1033463"/>
            <a:ext cx="3524250" cy="2259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20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fade">
                                      <p:cBhvr>
                                        <p:cTn id="12" dur="2000"/>
                                        <p:tgtEl>
                                          <p:spTgt spid="53"/>
                                        </p:tgtEl>
                                      </p:cBhvr>
                                    </p:animEffect>
                                  </p:childTnLst>
                                </p:cTn>
                              </p:par>
                              <p:par>
                                <p:cTn id="13" presetID="10" presetClass="entr" presetSubtype="0"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2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descr="C:\Documents and Settings\Administrator\Application Data\Tencent\Users\597999009\QQ\WinTemp\RichOle\}O1]~J%G2TLDMXAZW_BV`BY.jpg"/>
          <p:cNvPicPr>
            <a:picLocks noChangeAspect="1"/>
          </p:cNvPicPr>
          <p:nvPr/>
        </p:nvPicPr>
        <p:blipFill>
          <a:blip r:embed="rId2"/>
          <a:stretch>
            <a:fillRect/>
          </a:stretch>
        </p:blipFill>
        <p:spPr>
          <a:xfrm>
            <a:off x="142875" y="1236663"/>
            <a:ext cx="8858250" cy="5072062"/>
          </a:xfrm>
          <a:prstGeom prst="rect">
            <a:avLst/>
          </a:prstGeom>
          <a:noFill/>
          <a:ln w="9525">
            <a:noFill/>
          </a:ln>
        </p:spPr>
      </p:pic>
      <p:sp>
        <p:nvSpPr>
          <p:cNvPr id="5" name="Comment 46"/>
          <p:cNvSpPr>
            <a:spLocks noChangeArrowheads="1"/>
          </p:cNvSpPr>
          <p:nvPr/>
        </p:nvSpPr>
        <p:spPr bwMode="auto">
          <a:xfrm>
            <a:off x="850900" y="207963"/>
            <a:ext cx="2763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存在的问题</a:t>
            </a:r>
          </a:p>
        </p:txBody>
      </p:sp>
      <p:sp>
        <p:nvSpPr>
          <p:cNvPr id="125956" name="矩形 2"/>
          <p:cNvSpPr/>
          <p:nvPr/>
        </p:nvSpPr>
        <p:spPr>
          <a:xfrm>
            <a:off x="0" y="1236663"/>
            <a:ext cx="250825" cy="5072062"/>
          </a:xfrm>
          <a:prstGeom prst="rect">
            <a:avLst/>
          </a:prstGeom>
          <a:solidFill>
            <a:srgbClr val="D4E6F4"/>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25957" name="矩形 6"/>
          <p:cNvSpPr/>
          <p:nvPr/>
        </p:nvSpPr>
        <p:spPr>
          <a:xfrm>
            <a:off x="8893175" y="1236663"/>
            <a:ext cx="250825" cy="5072062"/>
          </a:xfrm>
          <a:prstGeom prst="rect">
            <a:avLst/>
          </a:prstGeom>
          <a:solidFill>
            <a:srgbClr val="D4E6F4"/>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Comment 2"/>
          <p:cNvSpPr>
            <a:spLocks noChangeArrowheads="1"/>
          </p:cNvSpPr>
          <p:nvPr/>
        </p:nvSpPr>
        <p:spPr bwMode="auto">
          <a:xfrm>
            <a:off x="776288" y="196850"/>
            <a:ext cx="5556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解决的方法－－循环队列</a:t>
            </a:r>
          </a:p>
        </p:txBody>
      </p:sp>
      <p:grpSp>
        <p:nvGrpSpPr>
          <p:cNvPr id="126979" name="Group 3"/>
          <p:cNvGrpSpPr>
            <a:grpSpLocks noChangeAspect="1"/>
          </p:cNvGrpSpPr>
          <p:nvPr/>
        </p:nvGrpSpPr>
        <p:grpSpPr>
          <a:xfrm>
            <a:off x="-4762" y="2771775"/>
            <a:ext cx="4424362" cy="3179763"/>
            <a:chOff x="113" y="572"/>
            <a:chExt cx="3402" cy="1996"/>
          </a:xfrm>
        </p:grpSpPr>
        <p:sp>
          <p:nvSpPr>
            <p:cNvPr id="113669" name="AutoShape 4"/>
            <p:cNvSpPr>
              <a:spLocks noChangeAspect="1" noChangeArrowheads="1" noTextEdit="1"/>
            </p:cNvSpPr>
            <p:nvPr/>
          </p:nvSpPr>
          <p:spPr bwMode="auto">
            <a:xfrm>
              <a:off x="113" y="572"/>
              <a:ext cx="3402" cy="199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0" name="Freeform 5"/>
            <p:cNvSpPr>
              <a:spLocks noChangeArrowheads="1"/>
            </p:cNvSpPr>
            <p:nvPr/>
          </p:nvSpPr>
          <p:spPr bwMode="auto">
            <a:xfrm>
              <a:off x="781" y="583"/>
              <a:ext cx="2190" cy="1971"/>
            </a:xfrm>
            <a:custGeom>
              <a:avLst/>
              <a:gdLst>
                <a:gd name="T0" fmla="*/ 0 w 2190"/>
                <a:gd name="T1" fmla="*/ 987 h 1971"/>
                <a:gd name="T2" fmla="*/ 4 w 2190"/>
                <a:gd name="T3" fmla="*/ 871 h 1971"/>
                <a:gd name="T4" fmla="*/ 27 w 2190"/>
                <a:gd name="T5" fmla="*/ 759 h 1971"/>
                <a:gd name="T6" fmla="*/ 66 w 2190"/>
                <a:gd name="T7" fmla="*/ 647 h 1971"/>
                <a:gd name="T8" fmla="*/ 116 w 2190"/>
                <a:gd name="T9" fmla="*/ 542 h 1971"/>
                <a:gd name="T10" fmla="*/ 179 w 2190"/>
                <a:gd name="T11" fmla="*/ 444 h 1971"/>
                <a:gd name="T12" fmla="*/ 256 w 2190"/>
                <a:gd name="T13" fmla="*/ 353 h 1971"/>
                <a:gd name="T14" fmla="*/ 342 w 2190"/>
                <a:gd name="T15" fmla="*/ 269 h 1971"/>
                <a:gd name="T16" fmla="*/ 439 w 2190"/>
                <a:gd name="T17" fmla="*/ 196 h 1971"/>
                <a:gd name="T18" fmla="*/ 548 w 2190"/>
                <a:gd name="T19" fmla="*/ 133 h 1971"/>
                <a:gd name="T20" fmla="*/ 660 w 2190"/>
                <a:gd name="T21" fmla="*/ 80 h 1971"/>
                <a:gd name="T22" fmla="*/ 781 w 2190"/>
                <a:gd name="T23" fmla="*/ 42 h 1971"/>
                <a:gd name="T24" fmla="*/ 905 w 2190"/>
                <a:gd name="T25" fmla="*/ 14 h 1971"/>
                <a:gd name="T26" fmla="*/ 1029 w 2190"/>
                <a:gd name="T27" fmla="*/ 0 h 1971"/>
                <a:gd name="T28" fmla="*/ 1157 w 2190"/>
                <a:gd name="T29" fmla="*/ 0 h 1971"/>
                <a:gd name="T30" fmla="*/ 1285 w 2190"/>
                <a:gd name="T31" fmla="*/ 14 h 1971"/>
                <a:gd name="T32" fmla="*/ 1406 w 2190"/>
                <a:gd name="T33" fmla="*/ 42 h 1971"/>
                <a:gd name="T34" fmla="*/ 1526 w 2190"/>
                <a:gd name="T35" fmla="*/ 80 h 1971"/>
                <a:gd name="T36" fmla="*/ 1643 w 2190"/>
                <a:gd name="T37" fmla="*/ 133 h 1971"/>
                <a:gd name="T38" fmla="*/ 1748 w 2190"/>
                <a:gd name="T39" fmla="*/ 196 h 1971"/>
                <a:gd name="T40" fmla="*/ 1845 w 2190"/>
                <a:gd name="T41" fmla="*/ 269 h 1971"/>
                <a:gd name="T42" fmla="*/ 1934 w 2190"/>
                <a:gd name="T43" fmla="*/ 353 h 1971"/>
                <a:gd name="T44" fmla="*/ 2008 w 2190"/>
                <a:gd name="T45" fmla="*/ 444 h 1971"/>
                <a:gd name="T46" fmla="*/ 2074 w 2190"/>
                <a:gd name="T47" fmla="*/ 542 h 1971"/>
                <a:gd name="T48" fmla="*/ 2124 w 2190"/>
                <a:gd name="T49" fmla="*/ 647 h 1971"/>
                <a:gd name="T50" fmla="*/ 2159 w 2190"/>
                <a:gd name="T51" fmla="*/ 759 h 1971"/>
                <a:gd name="T52" fmla="*/ 2183 w 2190"/>
                <a:gd name="T53" fmla="*/ 871 h 1971"/>
                <a:gd name="T54" fmla="*/ 2190 w 2190"/>
                <a:gd name="T55" fmla="*/ 987 h 1971"/>
                <a:gd name="T56" fmla="*/ 2183 w 2190"/>
                <a:gd name="T57" fmla="*/ 1103 h 1971"/>
                <a:gd name="T58" fmla="*/ 2159 w 2190"/>
                <a:gd name="T59" fmla="*/ 1215 h 1971"/>
                <a:gd name="T60" fmla="*/ 2124 w 2190"/>
                <a:gd name="T61" fmla="*/ 1323 h 1971"/>
                <a:gd name="T62" fmla="*/ 2074 w 2190"/>
                <a:gd name="T63" fmla="*/ 1432 h 1971"/>
                <a:gd name="T64" fmla="*/ 2008 w 2190"/>
                <a:gd name="T65" fmla="*/ 1530 h 1971"/>
                <a:gd name="T66" fmla="*/ 1934 w 2190"/>
                <a:gd name="T67" fmla="*/ 1621 h 1971"/>
                <a:gd name="T68" fmla="*/ 1845 w 2190"/>
                <a:gd name="T69" fmla="*/ 1705 h 1971"/>
                <a:gd name="T70" fmla="*/ 1748 w 2190"/>
                <a:gd name="T71" fmla="*/ 1778 h 1971"/>
                <a:gd name="T72" fmla="*/ 1643 w 2190"/>
                <a:gd name="T73" fmla="*/ 1841 h 1971"/>
                <a:gd name="T74" fmla="*/ 1526 w 2190"/>
                <a:gd name="T75" fmla="*/ 1894 h 1971"/>
                <a:gd name="T76" fmla="*/ 1406 w 2190"/>
                <a:gd name="T77" fmla="*/ 1932 h 1971"/>
                <a:gd name="T78" fmla="*/ 1285 w 2190"/>
                <a:gd name="T79" fmla="*/ 1960 h 1971"/>
                <a:gd name="T80" fmla="*/ 1157 w 2190"/>
                <a:gd name="T81" fmla="*/ 1971 h 1971"/>
                <a:gd name="T82" fmla="*/ 1029 w 2190"/>
                <a:gd name="T83" fmla="*/ 1971 h 1971"/>
                <a:gd name="T84" fmla="*/ 905 w 2190"/>
                <a:gd name="T85" fmla="*/ 1960 h 1971"/>
                <a:gd name="T86" fmla="*/ 781 w 2190"/>
                <a:gd name="T87" fmla="*/ 1932 h 1971"/>
                <a:gd name="T88" fmla="*/ 660 w 2190"/>
                <a:gd name="T89" fmla="*/ 1894 h 1971"/>
                <a:gd name="T90" fmla="*/ 548 w 2190"/>
                <a:gd name="T91" fmla="*/ 1841 h 1971"/>
                <a:gd name="T92" fmla="*/ 439 w 2190"/>
                <a:gd name="T93" fmla="*/ 1778 h 1971"/>
                <a:gd name="T94" fmla="*/ 342 w 2190"/>
                <a:gd name="T95" fmla="*/ 1705 h 1971"/>
                <a:gd name="T96" fmla="*/ 256 w 2190"/>
                <a:gd name="T97" fmla="*/ 1621 h 1971"/>
                <a:gd name="T98" fmla="*/ 179 w 2190"/>
                <a:gd name="T99" fmla="*/ 1530 h 1971"/>
                <a:gd name="T100" fmla="*/ 116 w 2190"/>
                <a:gd name="T101" fmla="*/ 1432 h 1971"/>
                <a:gd name="T102" fmla="*/ 66 w 2190"/>
                <a:gd name="T103" fmla="*/ 1323 h 1971"/>
                <a:gd name="T104" fmla="*/ 27 w 2190"/>
                <a:gd name="T105" fmla="*/ 1215 h 1971"/>
                <a:gd name="T106" fmla="*/ 4 w 2190"/>
                <a:gd name="T107" fmla="*/ 1103 h 1971"/>
                <a:gd name="T108" fmla="*/ 0 w 2190"/>
                <a:gd name="T109" fmla="*/ 987 h 1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190" h="1971">
                  <a:moveTo>
                    <a:pt x="0" y="987"/>
                  </a:moveTo>
                  <a:lnTo>
                    <a:pt x="4" y="871"/>
                  </a:lnTo>
                  <a:lnTo>
                    <a:pt x="27" y="759"/>
                  </a:lnTo>
                  <a:lnTo>
                    <a:pt x="66" y="647"/>
                  </a:lnTo>
                  <a:lnTo>
                    <a:pt x="116" y="542"/>
                  </a:lnTo>
                  <a:lnTo>
                    <a:pt x="179" y="444"/>
                  </a:lnTo>
                  <a:lnTo>
                    <a:pt x="256" y="353"/>
                  </a:lnTo>
                  <a:lnTo>
                    <a:pt x="342" y="269"/>
                  </a:lnTo>
                  <a:lnTo>
                    <a:pt x="439" y="196"/>
                  </a:lnTo>
                  <a:lnTo>
                    <a:pt x="548" y="133"/>
                  </a:lnTo>
                  <a:lnTo>
                    <a:pt x="660" y="80"/>
                  </a:lnTo>
                  <a:lnTo>
                    <a:pt x="781" y="42"/>
                  </a:lnTo>
                  <a:lnTo>
                    <a:pt x="905" y="14"/>
                  </a:lnTo>
                  <a:lnTo>
                    <a:pt x="1029" y="0"/>
                  </a:lnTo>
                  <a:lnTo>
                    <a:pt x="1157" y="0"/>
                  </a:lnTo>
                  <a:lnTo>
                    <a:pt x="1285" y="14"/>
                  </a:lnTo>
                  <a:lnTo>
                    <a:pt x="1406" y="42"/>
                  </a:lnTo>
                  <a:lnTo>
                    <a:pt x="1526" y="80"/>
                  </a:lnTo>
                  <a:lnTo>
                    <a:pt x="1643" y="133"/>
                  </a:lnTo>
                  <a:lnTo>
                    <a:pt x="1748" y="196"/>
                  </a:lnTo>
                  <a:lnTo>
                    <a:pt x="1845" y="269"/>
                  </a:lnTo>
                  <a:lnTo>
                    <a:pt x="1934" y="353"/>
                  </a:lnTo>
                  <a:lnTo>
                    <a:pt x="2008" y="444"/>
                  </a:lnTo>
                  <a:lnTo>
                    <a:pt x="2074" y="542"/>
                  </a:lnTo>
                  <a:lnTo>
                    <a:pt x="2124" y="647"/>
                  </a:lnTo>
                  <a:lnTo>
                    <a:pt x="2159" y="759"/>
                  </a:lnTo>
                  <a:lnTo>
                    <a:pt x="2183" y="871"/>
                  </a:lnTo>
                  <a:lnTo>
                    <a:pt x="2190" y="987"/>
                  </a:lnTo>
                  <a:lnTo>
                    <a:pt x="2183" y="1103"/>
                  </a:lnTo>
                  <a:lnTo>
                    <a:pt x="2159" y="1215"/>
                  </a:lnTo>
                  <a:lnTo>
                    <a:pt x="2124" y="1323"/>
                  </a:lnTo>
                  <a:lnTo>
                    <a:pt x="2074" y="1432"/>
                  </a:lnTo>
                  <a:lnTo>
                    <a:pt x="2008" y="1530"/>
                  </a:lnTo>
                  <a:lnTo>
                    <a:pt x="1934" y="1621"/>
                  </a:lnTo>
                  <a:lnTo>
                    <a:pt x="1845" y="1705"/>
                  </a:lnTo>
                  <a:lnTo>
                    <a:pt x="1748" y="1778"/>
                  </a:lnTo>
                  <a:lnTo>
                    <a:pt x="1643" y="1841"/>
                  </a:lnTo>
                  <a:lnTo>
                    <a:pt x="1526" y="1894"/>
                  </a:lnTo>
                  <a:lnTo>
                    <a:pt x="1406" y="1932"/>
                  </a:lnTo>
                  <a:lnTo>
                    <a:pt x="1285" y="1960"/>
                  </a:lnTo>
                  <a:lnTo>
                    <a:pt x="1157" y="1971"/>
                  </a:lnTo>
                  <a:lnTo>
                    <a:pt x="1029" y="1971"/>
                  </a:lnTo>
                  <a:lnTo>
                    <a:pt x="905" y="1960"/>
                  </a:lnTo>
                  <a:lnTo>
                    <a:pt x="781" y="1932"/>
                  </a:lnTo>
                  <a:lnTo>
                    <a:pt x="660" y="1894"/>
                  </a:lnTo>
                  <a:lnTo>
                    <a:pt x="548" y="1841"/>
                  </a:lnTo>
                  <a:lnTo>
                    <a:pt x="439" y="1778"/>
                  </a:lnTo>
                  <a:lnTo>
                    <a:pt x="342" y="1705"/>
                  </a:lnTo>
                  <a:lnTo>
                    <a:pt x="256" y="1621"/>
                  </a:lnTo>
                  <a:lnTo>
                    <a:pt x="179" y="1530"/>
                  </a:lnTo>
                  <a:lnTo>
                    <a:pt x="116" y="1432"/>
                  </a:lnTo>
                  <a:lnTo>
                    <a:pt x="66" y="1323"/>
                  </a:lnTo>
                  <a:lnTo>
                    <a:pt x="27" y="1215"/>
                  </a:lnTo>
                  <a:lnTo>
                    <a:pt x="4" y="1103"/>
                  </a:lnTo>
                  <a:lnTo>
                    <a:pt x="0" y="987"/>
                  </a:lnTo>
                  <a:close/>
                </a:path>
              </a:pathLst>
            </a:custGeom>
            <a:solidFill>
              <a:srgbClr val="FFFFFF"/>
            </a:solidFill>
            <a:ln w="6350">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1" name="Freeform 6"/>
            <p:cNvSpPr>
              <a:spLocks noChangeArrowheads="1"/>
            </p:cNvSpPr>
            <p:nvPr/>
          </p:nvSpPr>
          <p:spPr bwMode="auto">
            <a:xfrm>
              <a:off x="1411" y="1118"/>
              <a:ext cx="835" cy="802"/>
            </a:xfrm>
            <a:custGeom>
              <a:avLst/>
              <a:gdLst>
                <a:gd name="T0" fmla="*/ 0 w 835"/>
                <a:gd name="T1" fmla="*/ 399 h 802"/>
                <a:gd name="T2" fmla="*/ 4 w 835"/>
                <a:gd name="T3" fmla="*/ 326 h 802"/>
                <a:gd name="T4" fmla="*/ 27 w 835"/>
                <a:gd name="T5" fmla="*/ 256 h 802"/>
                <a:gd name="T6" fmla="*/ 62 w 835"/>
                <a:gd name="T7" fmla="*/ 189 h 802"/>
                <a:gd name="T8" fmla="*/ 109 w 835"/>
                <a:gd name="T9" fmla="*/ 130 h 802"/>
                <a:gd name="T10" fmla="*/ 163 w 835"/>
                <a:gd name="T11" fmla="*/ 81 h 802"/>
                <a:gd name="T12" fmla="*/ 229 w 835"/>
                <a:gd name="T13" fmla="*/ 42 h 802"/>
                <a:gd name="T14" fmla="*/ 303 w 835"/>
                <a:gd name="T15" fmla="*/ 14 h 802"/>
                <a:gd name="T16" fmla="*/ 377 w 835"/>
                <a:gd name="T17" fmla="*/ 0 h 802"/>
                <a:gd name="T18" fmla="*/ 454 w 835"/>
                <a:gd name="T19" fmla="*/ 0 h 802"/>
                <a:gd name="T20" fmla="*/ 532 w 835"/>
                <a:gd name="T21" fmla="*/ 14 h 802"/>
                <a:gd name="T22" fmla="*/ 602 w 835"/>
                <a:gd name="T23" fmla="*/ 42 h 802"/>
                <a:gd name="T24" fmla="*/ 668 w 835"/>
                <a:gd name="T25" fmla="*/ 81 h 802"/>
                <a:gd name="T26" fmla="*/ 726 w 835"/>
                <a:gd name="T27" fmla="*/ 130 h 802"/>
                <a:gd name="T28" fmla="*/ 773 w 835"/>
                <a:gd name="T29" fmla="*/ 189 h 802"/>
                <a:gd name="T30" fmla="*/ 808 w 835"/>
                <a:gd name="T31" fmla="*/ 256 h 802"/>
                <a:gd name="T32" fmla="*/ 827 w 835"/>
                <a:gd name="T33" fmla="*/ 326 h 802"/>
                <a:gd name="T34" fmla="*/ 835 w 835"/>
                <a:gd name="T35" fmla="*/ 399 h 802"/>
                <a:gd name="T36" fmla="*/ 827 w 835"/>
                <a:gd name="T37" fmla="*/ 473 h 802"/>
                <a:gd name="T38" fmla="*/ 808 w 835"/>
                <a:gd name="T39" fmla="*/ 547 h 802"/>
                <a:gd name="T40" fmla="*/ 773 w 835"/>
                <a:gd name="T41" fmla="*/ 613 h 802"/>
                <a:gd name="T42" fmla="*/ 726 w 835"/>
                <a:gd name="T43" fmla="*/ 673 h 802"/>
                <a:gd name="T44" fmla="*/ 668 w 835"/>
                <a:gd name="T45" fmla="*/ 722 h 802"/>
                <a:gd name="T46" fmla="*/ 602 w 835"/>
                <a:gd name="T47" fmla="*/ 760 h 802"/>
                <a:gd name="T48" fmla="*/ 532 w 835"/>
                <a:gd name="T49" fmla="*/ 788 h 802"/>
                <a:gd name="T50" fmla="*/ 454 w 835"/>
                <a:gd name="T51" fmla="*/ 802 h 802"/>
                <a:gd name="T52" fmla="*/ 377 w 835"/>
                <a:gd name="T53" fmla="*/ 802 h 802"/>
                <a:gd name="T54" fmla="*/ 303 w 835"/>
                <a:gd name="T55" fmla="*/ 788 h 802"/>
                <a:gd name="T56" fmla="*/ 229 w 835"/>
                <a:gd name="T57" fmla="*/ 760 h 802"/>
                <a:gd name="T58" fmla="*/ 163 w 835"/>
                <a:gd name="T59" fmla="*/ 722 h 802"/>
                <a:gd name="T60" fmla="*/ 109 w 835"/>
                <a:gd name="T61" fmla="*/ 673 h 802"/>
                <a:gd name="T62" fmla="*/ 62 w 835"/>
                <a:gd name="T63" fmla="*/ 613 h 802"/>
                <a:gd name="T64" fmla="*/ 27 w 835"/>
                <a:gd name="T65" fmla="*/ 547 h 802"/>
                <a:gd name="T66" fmla="*/ 4 w 835"/>
                <a:gd name="T67" fmla="*/ 473 h 802"/>
                <a:gd name="T68" fmla="*/ 0 w 835"/>
                <a:gd name="T69" fmla="*/ 399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35" h="802">
                  <a:moveTo>
                    <a:pt x="0" y="399"/>
                  </a:moveTo>
                  <a:lnTo>
                    <a:pt x="4" y="326"/>
                  </a:lnTo>
                  <a:lnTo>
                    <a:pt x="27" y="256"/>
                  </a:lnTo>
                  <a:lnTo>
                    <a:pt x="62" y="189"/>
                  </a:lnTo>
                  <a:lnTo>
                    <a:pt x="109" y="130"/>
                  </a:lnTo>
                  <a:lnTo>
                    <a:pt x="163" y="81"/>
                  </a:lnTo>
                  <a:lnTo>
                    <a:pt x="229" y="42"/>
                  </a:lnTo>
                  <a:lnTo>
                    <a:pt x="303" y="14"/>
                  </a:lnTo>
                  <a:lnTo>
                    <a:pt x="377" y="0"/>
                  </a:lnTo>
                  <a:lnTo>
                    <a:pt x="454" y="0"/>
                  </a:lnTo>
                  <a:lnTo>
                    <a:pt x="532" y="14"/>
                  </a:lnTo>
                  <a:lnTo>
                    <a:pt x="602" y="42"/>
                  </a:lnTo>
                  <a:lnTo>
                    <a:pt x="668" y="81"/>
                  </a:lnTo>
                  <a:lnTo>
                    <a:pt x="726" y="130"/>
                  </a:lnTo>
                  <a:lnTo>
                    <a:pt x="773" y="189"/>
                  </a:lnTo>
                  <a:lnTo>
                    <a:pt x="808" y="256"/>
                  </a:lnTo>
                  <a:lnTo>
                    <a:pt x="827" y="326"/>
                  </a:lnTo>
                  <a:lnTo>
                    <a:pt x="835" y="399"/>
                  </a:lnTo>
                  <a:lnTo>
                    <a:pt x="827" y="473"/>
                  </a:lnTo>
                  <a:lnTo>
                    <a:pt x="808" y="547"/>
                  </a:lnTo>
                  <a:lnTo>
                    <a:pt x="773" y="613"/>
                  </a:lnTo>
                  <a:lnTo>
                    <a:pt x="726" y="673"/>
                  </a:lnTo>
                  <a:lnTo>
                    <a:pt x="668" y="722"/>
                  </a:lnTo>
                  <a:lnTo>
                    <a:pt x="602" y="760"/>
                  </a:lnTo>
                  <a:lnTo>
                    <a:pt x="532" y="788"/>
                  </a:lnTo>
                  <a:lnTo>
                    <a:pt x="454" y="802"/>
                  </a:lnTo>
                  <a:lnTo>
                    <a:pt x="377" y="802"/>
                  </a:lnTo>
                  <a:lnTo>
                    <a:pt x="303" y="788"/>
                  </a:lnTo>
                  <a:lnTo>
                    <a:pt x="229" y="760"/>
                  </a:lnTo>
                  <a:lnTo>
                    <a:pt x="163" y="722"/>
                  </a:lnTo>
                  <a:lnTo>
                    <a:pt x="109" y="673"/>
                  </a:lnTo>
                  <a:lnTo>
                    <a:pt x="62" y="613"/>
                  </a:lnTo>
                  <a:lnTo>
                    <a:pt x="27" y="547"/>
                  </a:lnTo>
                  <a:lnTo>
                    <a:pt x="4" y="473"/>
                  </a:lnTo>
                  <a:lnTo>
                    <a:pt x="0" y="399"/>
                  </a:lnTo>
                  <a:close/>
                </a:path>
              </a:pathLst>
            </a:custGeom>
            <a:solidFill>
              <a:srgbClr val="FFFFFF"/>
            </a:solidFill>
            <a:ln w="6350">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2" name="Line 7"/>
            <p:cNvSpPr>
              <a:spLocks noChangeShapeType="1"/>
            </p:cNvSpPr>
            <p:nvPr/>
          </p:nvSpPr>
          <p:spPr bwMode="auto">
            <a:xfrm flipH="1" flipV="1">
              <a:off x="1267" y="754"/>
              <a:ext cx="343" cy="417"/>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3" name="Line 8"/>
            <p:cNvSpPr>
              <a:spLocks noChangeShapeType="1"/>
            </p:cNvSpPr>
            <p:nvPr/>
          </p:nvSpPr>
          <p:spPr bwMode="auto">
            <a:xfrm flipV="1">
              <a:off x="2028" y="670"/>
              <a:ext cx="337" cy="504"/>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4" name="Line 9"/>
            <p:cNvSpPr>
              <a:spLocks noChangeShapeType="1"/>
            </p:cNvSpPr>
            <p:nvPr/>
          </p:nvSpPr>
          <p:spPr bwMode="auto">
            <a:xfrm>
              <a:off x="777" y="1524"/>
              <a:ext cx="634" cy="1"/>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5" name="Line 10"/>
            <p:cNvSpPr>
              <a:spLocks noChangeShapeType="1"/>
            </p:cNvSpPr>
            <p:nvPr/>
          </p:nvSpPr>
          <p:spPr bwMode="auto">
            <a:xfrm flipH="1">
              <a:off x="1112" y="1868"/>
              <a:ext cx="487" cy="402"/>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6" name="Line 11"/>
            <p:cNvSpPr>
              <a:spLocks noChangeShapeType="1"/>
            </p:cNvSpPr>
            <p:nvPr/>
          </p:nvSpPr>
          <p:spPr bwMode="auto">
            <a:xfrm>
              <a:off x="2036" y="1864"/>
              <a:ext cx="354" cy="524"/>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7" name="Line 12"/>
            <p:cNvSpPr>
              <a:spLocks noChangeShapeType="1"/>
            </p:cNvSpPr>
            <p:nvPr/>
          </p:nvSpPr>
          <p:spPr bwMode="auto">
            <a:xfrm flipV="1">
              <a:off x="2249" y="1524"/>
              <a:ext cx="664" cy="3"/>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78" name="Rectangle 13"/>
            <p:cNvSpPr>
              <a:spLocks noChangeArrowheads="1"/>
            </p:cNvSpPr>
            <p:nvPr/>
          </p:nvSpPr>
          <p:spPr bwMode="auto">
            <a:xfrm>
              <a:off x="2964" y="1181"/>
              <a:ext cx="10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100" b="1" i="0" u="none" strike="noStrike" kern="1200" cap="none" spc="0" normalizeH="0" baseline="0" noProof="0" dirty="0">
                  <a:ln>
                    <a:noFill/>
                  </a:ln>
                  <a:solidFill>
                    <a:schemeClr val="bg1"/>
                  </a:solidFill>
                  <a:effectLst/>
                  <a:uLnTx/>
                  <a:uFillTx/>
                  <a:latin typeface="+mn-lt"/>
                  <a:ea typeface="+mn-ea"/>
                  <a:cs typeface="+mn-ea"/>
                  <a:sym typeface="+mn-lt"/>
                </a:rPr>
                <a:t>1</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3679" name="Rectangle 14"/>
            <p:cNvSpPr>
              <a:spLocks noChangeArrowheads="1"/>
            </p:cNvSpPr>
            <p:nvPr/>
          </p:nvSpPr>
          <p:spPr bwMode="auto">
            <a:xfrm>
              <a:off x="2715" y="705"/>
              <a:ext cx="10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100" b="1" i="0" u="none" strike="noStrike" kern="1200" cap="none" spc="0" normalizeH="0" baseline="0" noProof="0" dirty="0">
                  <a:ln>
                    <a:noFill/>
                  </a:ln>
                  <a:solidFill>
                    <a:schemeClr val="bg1"/>
                  </a:solidFill>
                  <a:effectLst/>
                  <a:uLnTx/>
                  <a:uFillTx/>
                  <a:latin typeface="+mn-lt"/>
                  <a:ea typeface="+mn-ea"/>
                  <a:cs typeface="+mn-ea"/>
                  <a:sym typeface="+mn-lt"/>
                </a:rPr>
                <a:t>0</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3680" name="Rectangle 15"/>
            <p:cNvSpPr>
              <a:spLocks noChangeArrowheads="1"/>
            </p:cNvSpPr>
            <p:nvPr/>
          </p:nvSpPr>
          <p:spPr bwMode="auto">
            <a:xfrm>
              <a:off x="191" y="2050"/>
              <a:ext cx="336" cy="142"/>
            </a:xfrm>
            <a:prstGeom prst="rect">
              <a:avLst/>
            </a:prstGeom>
            <a:solidFill>
              <a:srgbClr val="FFFFFF"/>
            </a:solidFill>
            <a:ln w="6350">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1" name="Rectangle 16"/>
            <p:cNvSpPr>
              <a:spLocks noChangeArrowheads="1"/>
            </p:cNvSpPr>
            <p:nvPr/>
          </p:nvSpPr>
          <p:spPr bwMode="auto">
            <a:xfrm>
              <a:off x="159" y="1871"/>
              <a:ext cx="449"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err="1">
                  <a:ln>
                    <a:noFill/>
                  </a:ln>
                  <a:solidFill>
                    <a:schemeClr val="bg1"/>
                  </a:solidFill>
                  <a:effectLst/>
                  <a:uLnTx/>
                  <a:uFillTx/>
                  <a:latin typeface="+mn-lt"/>
                  <a:ea typeface="+mn-ea"/>
                  <a:cs typeface="+mn-ea"/>
                  <a:sym typeface="+mn-lt"/>
                </a:rPr>
                <a:t>Q.rear</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3682" name="Rectangle 17"/>
            <p:cNvSpPr>
              <a:spLocks noChangeArrowheads="1"/>
            </p:cNvSpPr>
            <p:nvPr/>
          </p:nvSpPr>
          <p:spPr bwMode="auto">
            <a:xfrm>
              <a:off x="3078" y="2314"/>
              <a:ext cx="336" cy="144"/>
            </a:xfrm>
            <a:prstGeom prst="rect">
              <a:avLst/>
            </a:prstGeom>
            <a:solidFill>
              <a:srgbClr val="FFFFFF"/>
            </a:solidFill>
            <a:ln w="6350">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3" name="Rectangle 18"/>
            <p:cNvSpPr>
              <a:spLocks noChangeArrowheads="1"/>
            </p:cNvSpPr>
            <p:nvPr/>
          </p:nvSpPr>
          <p:spPr bwMode="auto">
            <a:xfrm>
              <a:off x="2934" y="2137"/>
              <a:ext cx="50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err="1">
                  <a:ln>
                    <a:noFill/>
                  </a:ln>
                  <a:solidFill>
                    <a:schemeClr val="bg1"/>
                  </a:solidFill>
                  <a:effectLst/>
                  <a:uLnTx/>
                  <a:uFillTx/>
                  <a:latin typeface="+mn-lt"/>
                  <a:ea typeface="+mn-ea"/>
                  <a:cs typeface="+mn-ea"/>
                  <a:sym typeface="+mn-lt"/>
                </a:rPr>
                <a:t>Q.front</a:t>
              </a:r>
              <a:endParaRPr kumimoji="0" lang="en-US" altLang="zh-CN" sz="32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13684" name="Line 19"/>
            <p:cNvSpPr>
              <a:spLocks noChangeShapeType="1"/>
            </p:cNvSpPr>
            <p:nvPr/>
          </p:nvSpPr>
          <p:spPr bwMode="auto">
            <a:xfrm>
              <a:off x="2187" y="1724"/>
              <a:ext cx="575" cy="399"/>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5" name="Line 20"/>
            <p:cNvSpPr>
              <a:spLocks noChangeShapeType="1"/>
            </p:cNvSpPr>
            <p:nvPr/>
          </p:nvSpPr>
          <p:spPr bwMode="auto">
            <a:xfrm flipH="1">
              <a:off x="1216" y="2141"/>
              <a:ext cx="54" cy="204"/>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6" name="Line 21"/>
            <p:cNvSpPr>
              <a:spLocks noChangeShapeType="1"/>
            </p:cNvSpPr>
            <p:nvPr/>
          </p:nvSpPr>
          <p:spPr bwMode="auto">
            <a:xfrm flipH="1">
              <a:off x="1348" y="2015"/>
              <a:ext cx="82" cy="422"/>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7" name="Line 22"/>
            <p:cNvSpPr>
              <a:spLocks noChangeShapeType="1"/>
            </p:cNvSpPr>
            <p:nvPr/>
          </p:nvSpPr>
          <p:spPr bwMode="auto">
            <a:xfrm flipH="1">
              <a:off x="1391" y="1962"/>
              <a:ext cx="96" cy="487"/>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8" name="Line 23"/>
            <p:cNvSpPr>
              <a:spLocks noChangeShapeType="1"/>
            </p:cNvSpPr>
            <p:nvPr/>
          </p:nvSpPr>
          <p:spPr bwMode="auto">
            <a:xfrm flipH="1">
              <a:off x="1448" y="1920"/>
              <a:ext cx="100" cy="546"/>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89" name="Line 24"/>
            <p:cNvSpPr>
              <a:spLocks noChangeShapeType="1"/>
            </p:cNvSpPr>
            <p:nvPr/>
          </p:nvSpPr>
          <p:spPr bwMode="auto">
            <a:xfrm flipH="1">
              <a:off x="1503" y="1896"/>
              <a:ext cx="105" cy="595"/>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0" name="Line 25"/>
            <p:cNvSpPr>
              <a:spLocks noChangeShapeType="1"/>
            </p:cNvSpPr>
            <p:nvPr/>
          </p:nvSpPr>
          <p:spPr bwMode="auto">
            <a:xfrm flipH="1">
              <a:off x="1558" y="1896"/>
              <a:ext cx="101" cy="60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1" name="Line 26"/>
            <p:cNvSpPr>
              <a:spLocks noChangeShapeType="1"/>
            </p:cNvSpPr>
            <p:nvPr/>
          </p:nvSpPr>
          <p:spPr bwMode="auto">
            <a:xfrm flipH="1">
              <a:off x="2217" y="1808"/>
              <a:ext cx="82" cy="703"/>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2" name="Line 27"/>
            <p:cNvSpPr>
              <a:spLocks noChangeShapeType="1"/>
            </p:cNvSpPr>
            <p:nvPr/>
          </p:nvSpPr>
          <p:spPr bwMode="auto">
            <a:xfrm flipH="1">
              <a:off x="2171" y="1794"/>
              <a:ext cx="95" cy="721"/>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3" name="Line 28"/>
            <p:cNvSpPr>
              <a:spLocks noChangeShapeType="1"/>
            </p:cNvSpPr>
            <p:nvPr/>
          </p:nvSpPr>
          <p:spPr bwMode="auto">
            <a:xfrm flipH="1">
              <a:off x="1733" y="1920"/>
              <a:ext cx="79" cy="623"/>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4" name="Line 29"/>
            <p:cNvSpPr>
              <a:spLocks noChangeShapeType="1"/>
            </p:cNvSpPr>
            <p:nvPr/>
          </p:nvSpPr>
          <p:spPr bwMode="auto">
            <a:xfrm flipH="1">
              <a:off x="1678" y="1931"/>
              <a:ext cx="78" cy="602"/>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5" name="Line 30"/>
            <p:cNvSpPr>
              <a:spLocks noChangeShapeType="1"/>
            </p:cNvSpPr>
            <p:nvPr/>
          </p:nvSpPr>
          <p:spPr bwMode="auto">
            <a:xfrm flipH="1">
              <a:off x="2130" y="1766"/>
              <a:ext cx="105" cy="756"/>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6" name="Line 31"/>
            <p:cNvSpPr>
              <a:spLocks noChangeShapeType="1"/>
            </p:cNvSpPr>
            <p:nvPr/>
          </p:nvSpPr>
          <p:spPr bwMode="auto">
            <a:xfrm flipH="1">
              <a:off x="2089" y="1749"/>
              <a:ext cx="101" cy="777"/>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7" name="Line 32"/>
            <p:cNvSpPr>
              <a:spLocks noChangeShapeType="1"/>
            </p:cNvSpPr>
            <p:nvPr/>
          </p:nvSpPr>
          <p:spPr bwMode="auto">
            <a:xfrm flipH="1">
              <a:off x="2043" y="1805"/>
              <a:ext cx="93" cy="731"/>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8" name="Line 33"/>
            <p:cNvSpPr>
              <a:spLocks noChangeShapeType="1"/>
            </p:cNvSpPr>
            <p:nvPr/>
          </p:nvSpPr>
          <p:spPr bwMode="auto">
            <a:xfrm flipH="1">
              <a:off x="1993" y="1847"/>
              <a:ext cx="93" cy="704"/>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699" name="Line 34"/>
            <p:cNvSpPr>
              <a:spLocks noChangeShapeType="1"/>
            </p:cNvSpPr>
            <p:nvPr/>
          </p:nvSpPr>
          <p:spPr bwMode="auto">
            <a:xfrm flipH="1">
              <a:off x="1950" y="1882"/>
              <a:ext cx="89" cy="66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0" name="Line 35"/>
            <p:cNvSpPr>
              <a:spLocks noChangeShapeType="1"/>
            </p:cNvSpPr>
            <p:nvPr/>
          </p:nvSpPr>
          <p:spPr bwMode="auto">
            <a:xfrm flipH="1">
              <a:off x="1895" y="1910"/>
              <a:ext cx="82" cy="644"/>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1" name="Line 36"/>
            <p:cNvSpPr>
              <a:spLocks noChangeShapeType="1"/>
            </p:cNvSpPr>
            <p:nvPr/>
          </p:nvSpPr>
          <p:spPr bwMode="auto">
            <a:xfrm flipH="1">
              <a:off x="1841" y="1920"/>
              <a:ext cx="82" cy="634"/>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2" name="Line 37"/>
            <p:cNvSpPr>
              <a:spLocks noChangeShapeType="1"/>
            </p:cNvSpPr>
            <p:nvPr/>
          </p:nvSpPr>
          <p:spPr bwMode="auto">
            <a:xfrm flipH="1">
              <a:off x="1784" y="1927"/>
              <a:ext cx="84" cy="623"/>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3" name="Line 38"/>
            <p:cNvSpPr>
              <a:spLocks noChangeShapeType="1"/>
            </p:cNvSpPr>
            <p:nvPr/>
          </p:nvSpPr>
          <p:spPr bwMode="auto">
            <a:xfrm flipH="1">
              <a:off x="2582" y="2029"/>
              <a:ext cx="39" cy="283"/>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4" name="Line 39"/>
            <p:cNvSpPr>
              <a:spLocks noChangeShapeType="1"/>
            </p:cNvSpPr>
            <p:nvPr/>
          </p:nvSpPr>
          <p:spPr bwMode="auto">
            <a:xfrm flipH="1">
              <a:off x="2530" y="1994"/>
              <a:ext cx="45" cy="353"/>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5" name="Line 40"/>
            <p:cNvSpPr>
              <a:spLocks noChangeShapeType="1"/>
            </p:cNvSpPr>
            <p:nvPr/>
          </p:nvSpPr>
          <p:spPr bwMode="auto">
            <a:xfrm flipH="1">
              <a:off x="2490" y="1976"/>
              <a:ext cx="49" cy="393"/>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6" name="Line 41"/>
            <p:cNvSpPr>
              <a:spLocks noChangeShapeType="1"/>
            </p:cNvSpPr>
            <p:nvPr/>
          </p:nvSpPr>
          <p:spPr bwMode="auto">
            <a:xfrm flipH="1">
              <a:off x="2431" y="1941"/>
              <a:ext cx="63" cy="460"/>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7" name="Line 42"/>
            <p:cNvSpPr>
              <a:spLocks noChangeShapeType="1"/>
            </p:cNvSpPr>
            <p:nvPr/>
          </p:nvSpPr>
          <p:spPr bwMode="auto">
            <a:xfrm flipH="1">
              <a:off x="2361" y="1903"/>
              <a:ext cx="72" cy="546"/>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8" name="Line 43"/>
            <p:cNvSpPr>
              <a:spLocks noChangeShapeType="1"/>
            </p:cNvSpPr>
            <p:nvPr/>
          </p:nvSpPr>
          <p:spPr bwMode="auto">
            <a:xfrm flipH="1">
              <a:off x="2307" y="1868"/>
              <a:ext cx="74" cy="59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09" name="Line 44"/>
            <p:cNvSpPr>
              <a:spLocks noChangeShapeType="1"/>
            </p:cNvSpPr>
            <p:nvPr/>
          </p:nvSpPr>
          <p:spPr bwMode="auto">
            <a:xfrm flipH="1">
              <a:off x="2256" y="1840"/>
              <a:ext cx="77" cy="644"/>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10" name="Line 45"/>
            <p:cNvSpPr>
              <a:spLocks noChangeShapeType="1"/>
            </p:cNvSpPr>
            <p:nvPr/>
          </p:nvSpPr>
          <p:spPr bwMode="auto">
            <a:xfrm flipH="1">
              <a:off x="2641" y="2053"/>
              <a:ext cx="27" cy="214"/>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11" name="Line 46"/>
            <p:cNvSpPr>
              <a:spLocks noChangeShapeType="1"/>
            </p:cNvSpPr>
            <p:nvPr/>
          </p:nvSpPr>
          <p:spPr bwMode="auto">
            <a:xfrm flipH="1">
              <a:off x="1619" y="1917"/>
              <a:ext cx="89" cy="609"/>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12" name="Line 47"/>
            <p:cNvSpPr>
              <a:spLocks noChangeShapeType="1"/>
            </p:cNvSpPr>
            <p:nvPr/>
          </p:nvSpPr>
          <p:spPr bwMode="auto">
            <a:xfrm flipH="1">
              <a:off x="1306" y="2053"/>
              <a:ext cx="73" cy="357"/>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13" name="Line 48"/>
            <p:cNvSpPr>
              <a:spLocks noChangeShapeType="1"/>
            </p:cNvSpPr>
            <p:nvPr/>
          </p:nvSpPr>
          <p:spPr bwMode="auto">
            <a:xfrm flipH="1">
              <a:off x="1263" y="2088"/>
              <a:ext cx="68" cy="29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14" name="Line 49"/>
            <p:cNvSpPr>
              <a:spLocks noChangeShapeType="1"/>
            </p:cNvSpPr>
            <p:nvPr/>
          </p:nvSpPr>
          <p:spPr bwMode="auto">
            <a:xfrm flipH="1">
              <a:off x="1185" y="2190"/>
              <a:ext cx="32" cy="136"/>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15" name="Line 50"/>
            <p:cNvSpPr>
              <a:spLocks noChangeShapeType="1"/>
            </p:cNvSpPr>
            <p:nvPr/>
          </p:nvSpPr>
          <p:spPr bwMode="auto">
            <a:xfrm flipH="1">
              <a:off x="1154" y="2228"/>
              <a:ext cx="17" cy="77"/>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16" name="Line 51"/>
            <p:cNvSpPr>
              <a:spLocks noChangeShapeType="1"/>
            </p:cNvSpPr>
            <p:nvPr/>
          </p:nvSpPr>
          <p:spPr bwMode="auto">
            <a:xfrm flipV="1">
              <a:off x="2232" y="1010"/>
              <a:ext cx="510" cy="308"/>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17" name="Line 52"/>
            <p:cNvSpPr>
              <a:spLocks noChangeShapeType="1"/>
            </p:cNvSpPr>
            <p:nvPr/>
          </p:nvSpPr>
          <p:spPr bwMode="auto">
            <a:xfrm flipV="1">
              <a:off x="2614" y="2369"/>
              <a:ext cx="464" cy="3"/>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18" name="Freeform 53"/>
            <p:cNvSpPr>
              <a:spLocks noChangeArrowheads="1"/>
            </p:cNvSpPr>
            <p:nvPr/>
          </p:nvSpPr>
          <p:spPr bwMode="auto">
            <a:xfrm>
              <a:off x="2575" y="2347"/>
              <a:ext cx="51" cy="46"/>
            </a:xfrm>
            <a:custGeom>
              <a:avLst/>
              <a:gdLst>
                <a:gd name="T0" fmla="*/ 0 w 51"/>
                <a:gd name="T1" fmla="*/ 25 h 46"/>
                <a:gd name="T2" fmla="*/ 51 w 51"/>
                <a:gd name="T3" fmla="*/ 0 h 46"/>
                <a:gd name="T4" fmla="*/ 43 w 51"/>
                <a:gd name="T5" fmla="*/ 25 h 46"/>
                <a:gd name="T6" fmla="*/ 51 w 51"/>
                <a:gd name="T7" fmla="*/ 46 h 46"/>
                <a:gd name="T8" fmla="*/ 0 w 51"/>
                <a:gd name="T9" fmla="*/ 25 h 46"/>
              </a:gdLst>
              <a:ahLst/>
              <a:cxnLst>
                <a:cxn ang="0">
                  <a:pos x="T0" y="T1"/>
                </a:cxn>
                <a:cxn ang="0">
                  <a:pos x="T2" y="T3"/>
                </a:cxn>
                <a:cxn ang="0">
                  <a:pos x="T4" y="T5"/>
                </a:cxn>
                <a:cxn ang="0">
                  <a:pos x="T6" y="T7"/>
                </a:cxn>
                <a:cxn ang="0">
                  <a:pos x="T8" y="T9"/>
                </a:cxn>
              </a:cxnLst>
              <a:rect l="0" t="0" r="r" b="b"/>
              <a:pathLst>
                <a:path w="51" h="46">
                  <a:moveTo>
                    <a:pt x="0" y="25"/>
                  </a:moveTo>
                  <a:lnTo>
                    <a:pt x="51" y="0"/>
                  </a:lnTo>
                  <a:lnTo>
                    <a:pt x="43" y="25"/>
                  </a:lnTo>
                  <a:lnTo>
                    <a:pt x="51" y="46"/>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19" name="Line 54"/>
            <p:cNvSpPr>
              <a:spLocks noChangeShapeType="1"/>
            </p:cNvSpPr>
            <p:nvPr/>
          </p:nvSpPr>
          <p:spPr bwMode="auto">
            <a:xfrm>
              <a:off x="543" y="2103"/>
              <a:ext cx="342" cy="0"/>
            </a:xfrm>
            <a:prstGeom prst="line">
              <a:avLst/>
            </a:prstGeom>
            <a:noFill/>
            <a:ln w="63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20" name="Freeform 55"/>
            <p:cNvSpPr>
              <a:spLocks noChangeArrowheads="1"/>
            </p:cNvSpPr>
            <p:nvPr/>
          </p:nvSpPr>
          <p:spPr bwMode="auto">
            <a:xfrm>
              <a:off x="875" y="2081"/>
              <a:ext cx="51" cy="45"/>
            </a:xfrm>
            <a:custGeom>
              <a:avLst/>
              <a:gdLst>
                <a:gd name="T0" fmla="*/ 51 w 51"/>
                <a:gd name="T1" fmla="*/ 21 h 46"/>
                <a:gd name="T2" fmla="*/ 0 w 51"/>
                <a:gd name="T3" fmla="*/ 46 h 46"/>
                <a:gd name="T4" fmla="*/ 4 w 51"/>
                <a:gd name="T5" fmla="*/ 21 h 46"/>
                <a:gd name="T6" fmla="*/ 0 w 51"/>
                <a:gd name="T7" fmla="*/ 0 h 46"/>
                <a:gd name="T8" fmla="*/ 51 w 51"/>
                <a:gd name="T9" fmla="*/ 21 h 46"/>
              </a:gdLst>
              <a:ahLst/>
              <a:cxnLst>
                <a:cxn ang="0">
                  <a:pos x="T0" y="T1"/>
                </a:cxn>
                <a:cxn ang="0">
                  <a:pos x="T2" y="T3"/>
                </a:cxn>
                <a:cxn ang="0">
                  <a:pos x="T4" y="T5"/>
                </a:cxn>
                <a:cxn ang="0">
                  <a:pos x="T6" y="T7"/>
                </a:cxn>
                <a:cxn ang="0">
                  <a:pos x="T8" y="T9"/>
                </a:cxn>
              </a:cxnLst>
              <a:rect l="0" t="0" r="r" b="b"/>
              <a:pathLst>
                <a:path w="51" h="46">
                  <a:moveTo>
                    <a:pt x="51" y="21"/>
                  </a:moveTo>
                  <a:lnTo>
                    <a:pt x="0" y="46"/>
                  </a:lnTo>
                  <a:lnTo>
                    <a:pt x="4" y="21"/>
                  </a:lnTo>
                  <a:lnTo>
                    <a:pt x="0" y="0"/>
                  </a:lnTo>
                  <a:lnTo>
                    <a:pt x="51" y="2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21" name="Rectangle 56"/>
            <p:cNvSpPr>
              <a:spLocks noChangeArrowheads="1"/>
            </p:cNvSpPr>
            <p:nvPr/>
          </p:nvSpPr>
          <p:spPr bwMode="auto">
            <a:xfrm rot="17400000">
              <a:off x="2578" y="1701"/>
              <a:ext cx="83"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rgbClr val="000000"/>
                  </a:solidFill>
                  <a:effectLst/>
                  <a:uLnTx/>
                  <a:uFillTx/>
                  <a:latin typeface="+mn-lt"/>
                  <a:ea typeface="+mn-ea"/>
                  <a:cs typeface="+mn-ea"/>
                  <a:sym typeface="+mn-lt"/>
                </a:rPr>
                <a:t>...</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3722" name="Rectangle 57"/>
            <p:cNvSpPr>
              <a:spLocks noChangeArrowheads="1"/>
            </p:cNvSpPr>
            <p:nvPr/>
          </p:nvSpPr>
          <p:spPr bwMode="auto">
            <a:xfrm rot="20400000">
              <a:off x="1732" y="779"/>
              <a:ext cx="107"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rgbClr val="000000"/>
                  </a:solidFill>
                  <a:effectLst/>
                  <a:uLnTx/>
                  <a:uFillTx/>
                  <a:latin typeface="+mn-lt"/>
                  <a:ea typeface="+mn-ea"/>
                  <a:cs typeface="+mn-ea"/>
                  <a:sym typeface="+mn-lt"/>
                </a:rPr>
                <a:t>...</a:t>
              </a:r>
              <a:endParaRPr kumimoji="0" lang="en-US" altLang="zh-CN" sz="32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764986" name="Text Box 58"/>
          <p:cNvSpPr txBox="1">
            <a:spLocks noChangeArrowheads="1"/>
          </p:cNvSpPr>
          <p:nvPr/>
        </p:nvSpPr>
        <p:spPr bwMode="auto">
          <a:xfrm>
            <a:off x="-4762" y="1312863"/>
            <a:ext cx="7456488" cy="1347788"/>
          </a:xfrm>
          <a:prstGeom prst="rect">
            <a:avLst/>
          </a:prstGeom>
          <a:solidFill>
            <a:srgbClr val="D4E6F4"/>
          </a:solidFill>
          <a:ln w="57150">
            <a:no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72009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base[0]</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接在</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base[M-1]</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之</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后</a:t>
            </a:r>
          </a:p>
          <a:p>
            <a:pPr marL="72009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若</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rear+1==M</a:t>
            </a:r>
          </a:p>
          <a:p>
            <a:pPr marL="72009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则令</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rear=0;</a:t>
            </a:r>
          </a:p>
        </p:txBody>
      </p:sp>
      <p:sp>
        <p:nvSpPr>
          <p:cNvPr id="764987" name="Text Box 59"/>
          <p:cNvSpPr txBox="1">
            <a:spLocks noChangeArrowheads="1"/>
          </p:cNvSpPr>
          <p:nvPr/>
        </p:nvSpPr>
        <p:spPr bwMode="auto">
          <a:xfrm>
            <a:off x="4643438" y="2798763"/>
            <a:ext cx="4497388" cy="3143250"/>
          </a:xfrm>
          <a:prstGeom prst="rect">
            <a:avLst/>
          </a:prstGeom>
          <a:solidFill>
            <a:srgbClr val="D4E6F4"/>
          </a:solidFill>
          <a:ln w="57150">
            <a:no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实现：利用“模”运算</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入队：</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base[rear]=x;</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rear=(rear+1)%M;</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出队：</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x=base[front];</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front=(front+1)%M;</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pic>
        <p:nvPicPr>
          <p:cNvPr id="764988" name="Picture 60" descr="u=146904796,407546596&amp;fm=52&amp;gp=0"/>
          <p:cNvPicPr>
            <a:picLocks noChangeAspect="1"/>
          </p:cNvPicPr>
          <p:nvPr/>
        </p:nvPicPr>
        <p:blipFill>
          <a:blip r:embed="rId2"/>
          <a:stretch>
            <a:fillRect/>
          </a:stretch>
        </p:blipFill>
        <p:spPr>
          <a:xfrm>
            <a:off x="7519988" y="1312863"/>
            <a:ext cx="1620837" cy="13477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64986"/>
                                        </p:tgtEl>
                                        <p:attrNameLst>
                                          <p:attrName>style.visibility</p:attrName>
                                        </p:attrNameLst>
                                      </p:cBhvr>
                                      <p:to>
                                        <p:strVal val="visible"/>
                                      </p:to>
                                    </p:set>
                                    <p:animEffect transition="in" filter="checkerboard(across)">
                                      <p:cBhvr>
                                        <p:cTn id="7" dur="500"/>
                                        <p:tgtEl>
                                          <p:spTgt spid="764986"/>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764987"/>
                                        </p:tgtEl>
                                        <p:attrNameLst>
                                          <p:attrName>style.visibility</p:attrName>
                                        </p:attrNameLst>
                                      </p:cBhvr>
                                      <p:to>
                                        <p:strVal val="visible"/>
                                      </p:to>
                                    </p:set>
                                    <p:animEffect transition="in" filter="wedge">
                                      <p:cBhvr>
                                        <p:cTn id="12" dur="2000"/>
                                        <p:tgtEl>
                                          <p:spTgt spid="764987"/>
                                        </p:tgtEl>
                                      </p:cBhvr>
                                    </p:animEffect>
                                  </p:childTnLst>
                                </p:cTn>
                              </p:par>
                            </p:childTnLst>
                          </p:cTn>
                        </p:par>
                      </p:childTnLst>
                    </p:cTn>
                  </p:par>
                  <p:par>
                    <p:cTn id="13" fill="hold">
                      <p:stCondLst>
                        <p:cond delay="indefinite"/>
                      </p:stCondLst>
                      <p:childTnLst>
                        <p:par>
                          <p:cTn id="14" fill="hold">
                            <p:stCondLst>
                              <p:cond delay="0"/>
                            </p:stCondLst>
                            <p:childTnLst>
                              <p:par>
                                <p:cTn id="15" presetID="26" presetClass="entr" presetSubtype="0" fill="hold" nodeType="clickEffect">
                                  <p:stCondLst>
                                    <p:cond delay="0"/>
                                  </p:stCondLst>
                                  <p:childTnLst>
                                    <p:set>
                                      <p:cBhvr>
                                        <p:cTn id="16" dur="1" fill="hold">
                                          <p:stCondLst>
                                            <p:cond delay="0"/>
                                          </p:stCondLst>
                                        </p:cTn>
                                        <p:tgtEl>
                                          <p:spTgt spid="764988"/>
                                        </p:tgtEl>
                                        <p:attrNameLst>
                                          <p:attrName>style.visibility</p:attrName>
                                        </p:attrNameLst>
                                      </p:cBhvr>
                                      <p:to>
                                        <p:strVal val="visible"/>
                                      </p:to>
                                    </p:set>
                                    <p:animEffect transition="in" filter="wipe(down)">
                                      <p:cBhvr>
                                        <p:cTn id="17" dur="580">
                                          <p:stCondLst>
                                            <p:cond delay="0"/>
                                          </p:stCondLst>
                                        </p:cTn>
                                        <p:tgtEl>
                                          <p:spTgt spid="764988"/>
                                        </p:tgtEl>
                                      </p:cBhvr>
                                    </p:animEffect>
                                    <p:anim calcmode="lin" valueType="num">
                                      <p:cBhvr>
                                        <p:cTn id="18" dur="1822" tmFilter="0,0; 0.14,0.36; 0.43,0.73; 0.71,0.91; 1.0,1.0">
                                          <p:stCondLst>
                                            <p:cond delay="0"/>
                                          </p:stCondLst>
                                        </p:cTn>
                                        <p:tgtEl>
                                          <p:spTgt spid="764988"/>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764988"/>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764988"/>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764988"/>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764988"/>
                                        </p:tgtEl>
                                        <p:attrNameLst>
                                          <p:attrName>ppt_y</p:attrName>
                                        </p:attrNameLst>
                                      </p:cBhvr>
                                      <p:tavLst>
                                        <p:tav tm="0" fmla="#ppt_y-sin(pi*$)/81">
                                          <p:val>
                                            <p:fltVal val="0"/>
                                          </p:val>
                                        </p:tav>
                                        <p:tav tm="100000">
                                          <p:val>
                                            <p:fltVal val="1"/>
                                          </p:val>
                                        </p:tav>
                                      </p:tavLst>
                                    </p:anim>
                                    <p:animScale>
                                      <p:cBhvr>
                                        <p:cTn id="23" dur="26">
                                          <p:stCondLst>
                                            <p:cond delay="650"/>
                                          </p:stCondLst>
                                        </p:cTn>
                                        <p:tgtEl>
                                          <p:spTgt spid="764988"/>
                                        </p:tgtEl>
                                      </p:cBhvr>
                                      <p:to x="100000" y="60000"/>
                                    </p:animScale>
                                    <p:animScale>
                                      <p:cBhvr>
                                        <p:cTn id="24" dur="166" decel="50000">
                                          <p:stCondLst>
                                            <p:cond delay="676"/>
                                          </p:stCondLst>
                                        </p:cTn>
                                        <p:tgtEl>
                                          <p:spTgt spid="764988"/>
                                        </p:tgtEl>
                                      </p:cBhvr>
                                      <p:to x="100000" y="100000"/>
                                    </p:animScale>
                                    <p:animScale>
                                      <p:cBhvr>
                                        <p:cTn id="25" dur="26">
                                          <p:stCondLst>
                                            <p:cond delay="1312"/>
                                          </p:stCondLst>
                                        </p:cTn>
                                        <p:tgtEl>
                                          <p:spTgt spid="764988"/>
                                        </p:tgtEl>
                                      </p:cBhvr>
                                      <p:to x="100000" y="80000"/>
                                    </p:animScale>
                                    <p:animScale>
                                      <p:cBhvr>
                                        <p:cTn id="26" dur="166" decel="50000">
                                          <p:stCondLst>
                                            <p:cond delay="1338"/>
                                          </p:stCondLst>
                                        </p:cTn>
                                        <p:tgtEl>
                                          <p:spTgt spid="764988"/>
                                        </p:tgtEl>
                                      </p:cBhvr>
                                      <p:to x="100000" y="100000"/>
                                    </p:animScale>
                                    <p:animScale>
                                      <p:cBhvr>
                                        <p:cTn id="27" dur="26">
                                          <p:stCondLst>
                                            <p:cond delay="1642"/>
                                          </p:stCondLst>
                                        </p:cTn>
                                        <p:tgtEl>
                                          <p:spTgt spid="764988"/>
                                        </p:tgtEl>
                                      </p:cBhvr>
                                      <p:to x="100000" y="90000"/>
                                    </p:animScale>
                                    <p:animScale>
                                      <p:cBhvr>
                                        <p:cTn id="28" dur="166" decel="50000">
                                          <p:stCondLst>
                                            <p:cond delay="1668"/>
                                          </p:stCondLst>
                                        </p:cTn>
                                        <p:tgtEl>
                                          <p:spTgt spid="764988"/>
                                        </p:tgtEl>
                                      </p:cBhvr>
                                      <p:to x="100000" y="100000"/>
                                    </p:animScale>
                                    <p:animScale>
                                      <p:cBhvr>
                                        <p:cTn id="29" dur="26">
                                          <p:stCondLst>
                                            <p:cond delay="1808"/>
                                          </p:stCondLst>
                                        </p:cTn>
                                        <p:tgtEl>
                                          <p:spTgt spid="764988"/>
                                        </p:tgtEl>
                                      </p:cBhvr>
                                      <p:to x="100000" y="95000"/>
                                    </p:animScale>
                                    <p:animScale>
                                      <p:cBhvr>
                                        <p:cTn id="30" dur="166" decel="50000">
                                          <p:stCondLst>
                                            <p:cond delay="1834"/>
                                          </p:stCondLst>
                                        </p:cTn>
                                        <p:tgtEl>
                                          <p:spTgt spid="76498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4986" grpId="0" animBg="1"/>
      <p:bldP spid="76498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p:nvPr/>
        </p:nvGrpSpPr>
        <p:grpSpPr>
          <a:xfrm>
            <a:off x="3552825" y="3303588"/>
            <a:ext cx="4351338" cy="2314575"/>
            <a:chOff x="2235" y="1738"/>
            <a:chExt cx="2741" cy="1458"/>
          </a:xfrm>
        </p:grpSpPr>
        <p:sp>
          <p:nvSpPr>
            <p:cNvPr id="114695" name="AutoShape 6"/>
            <p:cNvSpPr>
              <a:spLocks noChangeArrowheads="1"/>
            </p:cNvSpPr>
            <p:nvPr/>
          </p:nvSpPr>
          <p:spPr bwMode="auto">
            <a:xfrm>
              <a:off x="3542" y="1941"/>
              <a:ext cx="1434" cy="1255"/>
            </a:xfrm>
            <a:custGeom>
              <a:avLst/>
              <a:gdLst>
                <a:gd name="T0" fmla="*/ 0 w 21600"/>
                <a:gd name="T1" fmla="*/ 10800 h 21600"/>
                <a:gd name="T2" fmla="*/ 10800 w 21600"/>
                <a:gd name="T3" fmla="*/ 0 h 21600"/>
                <a:gd name="T4" fmla="*/ 21600 w 21600"/>
                <a:gd name="T5" fmla="*/ 10800 h 21600"/>
                <a:gd name="T6" fmla="*/ 10800 w 21600"/>
                <a:gd name="T7" fmla="*/ 21600 h 21600"/>
                <a:gd name="T8" fmla="*/ 0 w 21600"/>
                <a:gd name="T9" fmla="*/ 10800 h 21600"/>
                <a:gd name="T10" fmla="*/ 6582 w 21600"/>
                <a:gd name="T11" fmla="*/ 10800 h 21600"/>
                <a:gd name="T12" fmla="*/ 10800 w 21600"/>
                <a:gd name="T13" fmla="*/ 15018 h 21600"/>
                <a:gd name="T14" fmla="*/ 15018 w 21600"/>
                <a:gd name="T15" fmla="*/ 10800 h 21600"/>
                <a:gd name="T16" fmla="*/ 10800 w 21600"/>
                <a:gd name="T17" fmla="*/ 6582 h 21600"/>
                <a:gd name="T18" fmla="*/ 6582 w 21600"/>
                <a:gd name="T19" fmla="*/ 108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6582" y="10800"/>
                  </a:moveTo>
                  <a:cubicBezTo>
                    <a:pt x="6582" y="13130"/>
                    <a:pt x="8470" y="15018"/>
                    <a:pt x="10800" y="15018"/>
                  </a:cubicBezTo>
                  <a:cubicBezTo>
                    <a:pt x="13130" y="15018"/>
                    <a:pt x="15018" y="13130"/>
                    <a:pt x="15018" y="10800"/>
                  </a:cubicBezTo>
                  <a:cubicBezTo>
                    <a:pt x="15018" y="8470"/>
                    <a:pt x="13130" y="6582"/>
                    <a:pt x="10800" y="6582"/>
                  </a:cubicBezTo>
                  <a:cubicBezTo>
                    <a:pt x="8470" y="6582"/>
                    <a:pt x="6582" y="8470"/>
                    <a:pt x="6582" y="10800"/>
                  </a:cubicBezTo>
                  <a:close/>
                </a:path>
              </a:pathLst>
            </a:custGeom>
            <a:noFill/>
            <a:ln w="9525">
              <a:solidFill>
                <a:srgbClr val="0066FF"/>
              </a:solidFill>
              <a:rou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696" name="Line 7"/>
            <p:cNvSpPr>
              <a:spLocks noChangeShapeType="1"/>
            </p:cNvSpPr>
            <p:nvPr/>
          </p:nvSpPr>
          <p:spPr bwMode="auto">
            <a:xfrm>
              <a:off x="3531" y="2552"/>
              <a:ext cx="434" cy="0"/>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697" name="Line 8"/>
            <p:cNvSpPr>
              <a:spLocks noChangeShapeType="1"/>
            </p:cNvSpPr>
            <p:nvPr/>
          </p:nvSpPr>
          <p:spPr bwMode="auto">
            <a:xfrm>
              <a:off x="4528" y="2581"/>
              <a:ext cx="434" cy="0"/>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698" name="Line 9"/>
            <p:cNvSpPr>
              <a:spLocks noChangeShapeType="1"/>
            </p:cNvSpPr>
            <p:nvPr/>
          </p:nvSpPr>
          <p:spPr bwMode="auto">
            <a:xfrm>
              <a:off x="3898" y="2030"/>
              <a:ext cx="222" cy="322"/>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699" name="Line 10"/>
            <p:cNvSpPr>
              <a:spLocks noChangeShapeType="1"/>
            </p:cNvSpPr>
            <p:nvPr/>
          </p:nvSpPr>
          <p:spPr bwMode="auto">
            <a:xfrm>
              <a:off x="4450" y="2770"/>
              <a:ext cx="222" cy="322"/>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00" name="Line 11"/>
            <p:cNvSpPr>
              <a:spLocks noChangeShapeType="1"/>
            </p:cNvSpPr>
            <p:nvPr/>
          </p:nvSpPr>
          <p:spPr bwMode="auto">
            <a:xfrm flipH="1">
              <a:off x="4420" y="2041"/>
              <a:ext cx="233" cy="311"/>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01" name="Line 12"/>
            <p:cNvSpPr>
              <a:spLocks noChangeShapeType="1"/>
            </p:cNvSpPr>
            <p:nvPr/>
          </p:nvSpPr>
          <p:spPr bwMode="auto">
            <a:xfrm flipH="1">
              <a:off x="3871" y="2782"/>
              <a:ext cx="233" cy="311"/>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02" name="Text Box 13"/>
            <p:cNvSpPr txBox="1">
              <a:spLocks noChangeArrowheads="1"/>
            </p:cNvSpPr>
            <p:nvPr/>
          </p:nvSpPr>
          <p:spPr bwMode="auto">
            <a:xfrm>
              <a:off x="3658" y="2272"/>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J4</a:t>
              </a:r>
            </a:p>
          </p:txBody>
        </p:sp>
        <p:sp>
          <p:nvSpPr>
            <p:cNvPr id="114703" name="Text Box 14"/>
            <p:cNvSpPr txBox="1">
              <a:spLocks noChangeArrowheads="1"/>
            </p:cNvSpPr>
            <p:nvPr/>
          </p:nvSpPr>
          <p:spPr bwMode="auto">
            <a:xfrm>
              <a:off x="4158" y="2027"/>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J5</a:t>
              </a:r>
            </a:p>
          </p:txBody>
        </p:sp>
        <p:sp>
          <p:nvSpPr>
            <p:cNvPr id="114704" name="Text Box 15"/>
            <p:cNvSpPr txBox="1">
              <a:spLocks noChangeArrowheads="1"/>
            </p:cNvSpPr>
            <p:nvPr/>
          </p:nvSpPr>
          <p:spPr bwMode="auto">
            <a:xfrm>
              <a:off x="4547" y="2238"/>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J6</a:t>
              </a:r>
            </a:p>
          </p:txBody>
        </p:sp>
        <p:sp>
          <p:nvSpPr>
            <p:cNvPr id="114705" name="Text Box 16"/>
            <p:cNvSpPr txBox="1">
              <a:spLocks noChangeArrowheads="1"/>
            </p:cNvSpPr>
            <p:nvPr/>
          </p:nvSpPr>
          <p:spPr bwMode="auto">
            <a:xfrm>
              <a:off x="4379" y="238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0</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06" name="Text Box 17"/>
            <p:cNvSpPr txBox="1">
              <a:spLocks noChangeArrowheads="1"/>
            </p:cNvSpPr>
            <p:nvPr/>
          </p:nvSpPr>
          <p:spPr bwMode="auto">
            <a:xfrm>
              <a:off x="4376" y="256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1</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07" name="Text Box 18"/>
            <p:cNvSpPr txBox="1">
              <a:spLocks noChangeArrowheads="1"/>
            </p:cNvSpPr>
            <p:nvPr/>
          </p:nvSpPr>
          <p:spPr bwMode="auto">
            <a:xfrm>
              <a:off x="4187" y="2651"/>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2</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08" name="Text Box 19"/>
            <p:cNvSpPr txBox="1">
              <a:spLocks noChangeArrowheads="1"/>
            </p:cNvSpPr>
            <p:nvPr/>
          </p:nvSpPr>
          <p:spPr bwMode="auto">
            <a:xfrm>
              <a:off x="3986" y="255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3</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09" name="Text Box 20"/>
            <p:cNvSpPr txBox="1">
              <a:spLocks noChangeArrowheads="1"/>
            </p:cNvSpPr>
            <p:nvPr/>
          </p:nvSpPr>
          <p:spPr bwMode="auto">
            <a:xfrm>
              <a:off x="3997" y="2385"/>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4</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10" name="Text Box 21"/>
            <p:cNvSpPr txBox="1">
              <a:spLocks noChangeArrowheads="1"/>
            </p:cNvSpPr>
            <p:nvPr/>
          </p:nvSpPr>
          <p:spPr bwMode="auto">
            <a:xfrm>
              <a:off x="4186" y="2296"/>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5</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11" name="Text Box 22"/>
            <p:cNvSpPr txBox="1">
              <a:spLocks noChangeArrowheads="1"/>
            </p:cNvSpPr>
            <p:nvPr/>
          </p:nvSpPr>
          <p:spPr bwMode="auto">
            <a:xfrm>
              <a:off x="2907" y="2504"/>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rear</a:t>
              </a:r>
            </a:p>
          </p:txBody>
        </p:sp>
        <p:sp>
          <p:nvSpPr>
            <p:cNvPr id="114712" name="Line 23"/>
            <p:cNvSpPr>
              <a:spLocks noChangeShapeType="1"/>
            </p:cNvSpPr>
            <p:nvPr/>
          </p:nvSpPr>
          <p:spPr bwMode="auto">
            <a:xfrm flipV="1">
              <a:off x="3287" y="2358"/>
              <a:ext cx="244" cy="100"/>
            </a:xfrm>
            <a:prstGeom prst="line">
              <a:avLst/>
            </a:prstGeom>
            <a:noFill/>
            <a:ln w="381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13" name="Text Box 24"/>
            <p:cNvSpPr txBox="1">
              <a:spLocks noChangeArrowheads="1"/>
            </p:cNvSpPr>
            <p:nvPr/>
          </p:nvSpPr>
          <p:spPr bwMode="auto">
            <a:xfrm>
              <a:off x="2854" y="2327"/>
              <a:ext cx="4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front</a:t>
              </a:r>
            </a:p>
          </p:txBody>
        </p:sp>
        <p:sp>
          <p:nvSpPr>
            <p:cNvPr id="114714" name="Text Box 25"/>
            <p:cNvSpPr txBox="1">
              <a:spLocks noChangeArrowheads="1"/>
            </p:cNvSpPr>
            <p:nvPr/>
          </p:nvSpPr>
          <p:spPr bwMode="auto">
            <a:xfrm>
              <a:off x="3687" y="2645"/>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J9</a:t>
              </a:r>
            </a:p>
          </p:txBody>
        </p:sp>
        <p:sp>
          <p:nvSpPr>
            <p:cNvPr id="114715" name="Text Box 26"/>
            <p:cNvSpPr txBox="1">
              <a:spLocks noChangeArrowheads="1"/>
            </p:cNvSpPr>
            <p:nvPr/>
          </p:nvSpPr>
          <p:spPr bwMode="auto">
            <a:xfrm>
              <a:off x="4121" y="2857"/>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J8</a:t>
              </a:r>
            </a:p>
          </p:txBody>
        </p:sp>
        <p:sp>
          <p:nvSpPr>
            <p:cNvPr id="114716" name="Text Box 27"/>
            <p:cNvSpPr txBox="1">
              <a:spLocks noChangeArrowheads="1"/>
            </p:cNvSpPr>
            <p:nvPr/>
          </p:nvSpPr>
          <p:spPr bwMode="auto">
            <a:xfrm>
              <a:off x="4554" y="2634"/>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J7</a:t>
              </a:r>
            </a:p>
          </p:txBody>
        </p:sp>
        <p:sp>
          <p:nvSpPr>
            <p:cNvPr id="114717" name="Line 28"/>
            <p:cNvSpPr>
              <a:spLocks noChangeShapeType="1"/>
            </p:cNvSpPr>
            <p:nvPr/>
          </p:nvSpPr>
          <p:spPr bwMode="auto">
            <a:xfrm flipV="1">
              <a:off x="3312" y="2488"/>
              <a:ext cx="213" cy="139"/>
            </a:xfrm>
            <a:prstGeom prst="line">
              <a:avLst/>
            </a:prstGeom>
            <a:noFill/>
            <a:ln w="381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20" name="Text Box 31"/>
            <p:cNvSpPr txBox="1">
              <a:spLocks noChangeArrowheads="1"/>
            </p:cNvSpPr>
            <p:nvPr/>
          </p:nvSpPr>
          <p:spPr bwMode="auto">
            <a:xfrm rot="464906">
              <a:off x="2235" y="1738"/>
              <a:ext cx="104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J7,J8,J9</a:t>
              </a:r>
              <a:r>
                <a:rPr kumimoji="0" lang="zh-CN" altLang="zh-CN" sz="2000" b="1" i="0" u="none" strike="noStrike" kern="1200" cap="none" spc="0" normalizeH="0" baseline="0" noProof="0" dirty="0">
                  <a:ln>
                    <a:noFill/>
                  </a:ln>
                  <a:solidFill>
                    <a:schemeClr val="tx1"/>
                  </a:solidFill>
                  <a:effectLst/>
                  <a:uLnTx/>
                  <a:uFillTx/>
                  <a:latin typeface="+mn-lt"/>
                  <a:ea typeface="+mn-ea"/>
                  <a:cs typeface="+mn-ea"/>
                  <a:sym typeface="+mn-lt"/>
                </a:rPr>
                <a:t>入队</a:t>
              </a:r>
              <a:endParaRPr kumimoji="0" lang="zh-CN" altLang="en-US" sz="2000" b="1"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765984" name="AutoShape 32"/>
          <p:cNvSpPr>
            <a:spLocks noChangeArrowheads="1"/>
          </p:cNvSpPr>
          <p:nvPr/>
        </p:nvSpPr>
        <p:spPr bwMode="auto">
          <a:xfrm>
            <a:off x="771525" y="1039813"/>
            <a:ext cx="3059113" cy="919163"/>
          </a:xfrm>
          <a:prstGeom prst="wedgeRoundRectCallout">
            <a:avLst>
              <a:gd name="adj1" fmla="val 96901"/>
              <a:gd name="adj2" fmla="val 105124"/>
              <a:gd name="adj3" fmla="val 16667"/>
            </a:avLst>
          </a:prstGeom>
          <a:noFill/>
          <a:ln w="38100">
            <a:solidFill>
              <a:schemeClr val="accent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rgbClr val="0000FF"/>
                </a:solidFill>
                <a:effectLst/>
                <a:uLnTx/>
                <a:uFillTx/>
                <a:latin typeface="+mn-lt"/>
                <a:ea typeface="+mn-ea"/>
                <a:cs typeface="+mn-ea"/>
                <a:sym typeface="+mn-lt"/>
              </a:rPr>
              <a:t>队空：</a:t>
            </a:r>
            <a:r>
              <a:rPr kumimoji="0" lang="en-US" altLang="zh-CN" sz="2400" b="1" i="0" u="none" strike="noStrike" kern="1200" cap="none" spc="0" normalizeH="0" baseline="0" noProof="0">
                <a:ln>
                  <a:noFill/>
                </a:ln>
                <a:solidFill>
                  <a:srgbClr val="0000FF"/>
                </a:solidFill>
                <a:effectLst/>
                <a:uLnTx/>
                <a:uFillTx/>
                <a:latin typeface="+mn-lt"/>
                <a:ea typeface="+mn-ea"/>
                <a:cs typeface="+mn-ea"/>
                <a:sym typeface="+mn-lt"/>
              </a:rPr>
              <a:t>front==rear</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1200" cap="none" spc="0" normalizeH="0" baseline="0" noProof="0">
                <a:ln>
                  <a:noFill/>
                </a:ln>
                <a:solidFill>
                  <a:srgbClr val="FF3300"/>
                </a:solidFill>
                <a:effectLst/>
                <a:uLnTx/>
                <a:uFillTx/>
                <a:latin typeface="+mn-lt"/>
                <a:ea typeface="+mn-ea"/>
                <a:cs typeface="+mn-ea"/>
                <a:sym typeface="+mn-lt"/>
              </a:rPr>
              <a:t>队满：</a:t>
            </a:r>
            <a:r>
              <a:rPr kumimoji="0" lang="en-US" altLang="zh-CN" sz="2400" b="1" i="0" u="none" strike="noStrike" kern="1200" cap="none" spc="0" normalizeH="0" baseline="0" noProof="0">
                <a:ln>
                  <a:noFill/>
                </a:ln>
                <a:solidFill>
                  <a:srgbClr val="FF3300"/>
                </a:solidFill>
                <a:effectLst/>
                <a:uLnTx/>
                <a:uFillTx/>
                <a:latin typeface="+mn-lt"/>
                <a:ea typeface="+mn-ea"/>
                <a:cs typeface="+mn-ea"/>
                <a:sym typeface="+mn-lt"/>
              </a:rPr>
              <a:t>front==rear</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765985" name="Text Box 33"/>
          <p:cNvSpPr txBox="1">
            <a:spLocks noChangeArrowheads="1"/>
          </p:cNvSpPr>
          <p:nvPr/>
        </p:nvSpPr>
        <p:spPr bwMode="auto">
          <a:xfrm>
            <a:off x="19050" y="4919663"/>
            <a:ext cx="4627563" cy="1814513"/>
          </a:xfrm>
          <a:prstGeom prst="rect">
            <a:avLst/>
          </a:prstGeom>
          <a:noFill/>
          <a:ln w="38100">
            <a:solidFill>
              <a:schemeClr val="accent1">
                <a:lumMod val="60000"/>
                <a:lumOff val="40000"/>
              </a:schemeClr>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解决方案：</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另外</a:t>
            </a:r>
            <a:r>
              <a:rPr kumimoji="0" lang="zh-CN" altLang="en-US" sz="2200" b="0" i="0" u="none" strike="noStrike" kern="1200" cap="none" spc="0" normalizeH="0" baseline="0" noProof="0" dirty="0">
                <a:ln>
                  <a:noFill/>
                </a:ln>
                <a:solidFill>
                  <a:srgbClr val="0066FF"/>
                </a:solidFill>
                <a:effectLst/>
                <a:uLnTx/>
                <a:uFillTx/>
                <a:latin typeface="+mn-lt"/>
                <a:ea typeface="+mn-ea"/>
                <a:cs typeface="+mn-ea"/>
                <a:sym typeface="+mn-lt"/>
              </a:rPr>
              <a:t>设一个标志</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以区别队空、队满</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2</a:t>
            </a:r>
            <a:r>
              <a:rPr kumimoji="0" lang="en-US" altLang="zh-CN" sz="2200" b="0" i="0" u="none" strike="noStrike" kern="1200" cap="none" spc="0" normalizeH="0" baseline="0" noProof="0" dirty="0">
                <a:ln>
                  <a:noFill/>
                </a:ln>
                <a:solidFill>
                  <a:srgbClr val="FF3300"/>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rgbClr val="FF3300"/>
                </a:solidFill>
                <a:effectLst/>
                <a:uLnTx/>
                <a:uFillTx/>
                <a:latin typeface="+mn-lt"/>
                <a:ea typeface="+mn-ea"/>
                <a:cs typeface="+mn-ea"/>
                <a:sym typeface="+mn-lt"/>
              </a:rPr>
              <a:t>少用一个元素空间</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队空：</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front==rear</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zh-CN" sz="2200" b="0" i="0" u="none" strike="noStrike" kern="1200" cap="none" spc="0" normalizeH="0" baseline="0" noProof="0" dirty="0">
                <a:ln>
                  <a:noFill/>
                </a:ln>
                <a:solidFill>
                  <a:schemeClr val="tx1"/>
                </a:solidFill>
                <a:effectLst/>
                <a:uLnTx/>
                <a:uFillTx/>
                <a:latin typeface="+mn-lt"/>
                <a:ea typeface="+mn-ea"/>
                <a:cs typeface="+mn-ea"/>
                <a:sym typeface="+mn-lt"/>
              </a:rPr>
              <a:t>队满：(</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rear+1)%M==front</a:t>
            </a:r>
          </a:p>
        </p:txBody>
      </p:sp>
      <p:grpSp>
        <p:nvGrpSpPr>
          <p:cNvPr id="128005" name="Group 34"/>
          <p:cNvGrpSpPr/>
          <p:nvPr/>
        </p:nvGrpSpPr>
        <p:grpSpPr>
          <a:xfrm>
            <a:off x="1139825" y="2347913"/>
            <a:ext cx="2293938" cy="1992312"/>
            <a:chOff x="1389" y="1311"/>
            <a:chExt cx="1445" cy="1255"/>
          </a:xfrm>
        </p:grpSpPr>
        <p:sp>
          <p:nvSpPr>
            <p:cNvPr id="114724" name="AutoShape 35"/>
            <p:cNvSpPr>
              <a:spLocks noChangeArrowheads="1"/>
            </p:cNvSpPr>
            <p:nvPr/>
          </p:nvSpPr>
          <p:spPr bwMode="auto">
            <a:xfrm>
              <a:off x="1400" y="1311"/>
              <a:ext cx="1434" cy="1255"/>
            </a:xfrm>
            <a:custGeom>
              <a:avLst/>
              <a:gdLst>
                <a:gd name="T0" fmla="*/ 0 w 21600"/>
                <a:gd name="T1" fmla="*/ 10800 h 21600"/>
                <a:gd name="T2" fmla="*/ 10800 w 21600"/>
                <a:gd name="T3" fmla="*/ 0 h 21600"/>
                <a:gd name="T4" fmla="*/ 21600 w 21600"/>
                <a:gd name="T5" fmla="*/ 10800 h 21600"/>
                <a:gd name="T6" fmla="*/ 10800 w 21600"/>
                <a:gd name="T7" fmla="*/ 21600 h 21600"/>
                <a:gd name="T8" fmla="*/ 0 w 21600"/>
                <a:gd name="T9" fmla="*/ 10800 h 21600"/>
                <a:gd name="T10" fmla="*/ 6582 w 21600"/>
                <a:gd name="T11" fmla="*/ 10800 h 21600"/>
                <a:gd name="T12" fmla="*/ 10800 w 21600"/>
                <a:gd name="T13" fmla="*/ 15018 h 21600"/>
                <a:gd name="T14" fmla="*/ 15018 w 21600"/>
                <a:gd name="T15" fmla="*/ 10800 h 21600"/>
                <a:gd name="T16" fmla="*/ 10800 w 21600"/>
                <a:gd name="T17" fmla="*/ 6582 h 21600"/>
                <a:gd name="T18" fmla="*/ 6582 w 21600"/>
                <a:gd name="T19" fmla="*/ 108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6582" y="10800"/>
                  </a:moveTo>
                  <a:cubicBezTo>
                    <a:pt x="6582" y="13130"/>
                    <a:pt x="8470" y="15018"/>
                    <a:pt x="10800" y="15018"/>
                  </a:cubicBezTo>
                  <a:cubicBezTo>
                    <a:pt x="13130" y="15018"/>
                    <a:pt x="15018" y="13130"/>
                    <a:pt x="15018" y="10800"/>
                  </a:cubicBezTo>
                  <a:cubicBezTo>
                    <a:pt x="15018" y="8470"/>
                    <a:pt x="13130" y="6582"/>
                    <a:pt x="10800" y="6582"/>
                  </a:cubicBezTo>
                  <a:cubicBezTo>
                    <a:pt x="8470" y="6582"/>
                    <a:pt x="6582" y="8470"/>
                    <a:pt x="6582" y="10800"/>
                  </a:cubicBezTo>
                  <a:close/>
                </a:path>
              </a:pathLst>
            </a:custGeom>
            <a:noFill/>
            <a:ln w="9525">
              <a:solidFill>
                <a:srgbClr val="0066FF"/>
              </a:solidFill>
              <a:rou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25" name="Line 36"/>
            <p:cNvSpPr>
              <a:spLocks noChangeShapeType="1"/>
            </p:cNvSpPr>
            <p:nvPr/>
          </p:nvSpPr>
          <p:spPr bwMode="auto">
            <a:xfrm>
              <a:off x="1389" y="1922"/>
              <a:ext cx="434" cy="0"/>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26" name="Line 37"/>
            <p:cNvSpPr>
              <a:spLocks noChangeShapeType="1"/>
            </p:cNvSpPr>
            <p:nvPr/>
          </p:nvSpPr>
          <p:spPr bwMode="auto">
            <a:xfrm>
              <a:off x="2374" y="1951"/>
              <a:ext cx="434" cy="0"/>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27" name="Line 38"/>
            <p:cNvSpPr>
              <a:spLocks noChangeShapeType="1"/>
            </p:cNvSpPr>
            <p:nvPr/>
          </p:nvSpPr>
          <p:spPr bwMode="auto">
            <a:xfrm>
              <a:off x="1756" y="1400"/>
              <a:ext cx="222" cy="322"/>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28" name="Line 39"/>
            <p:cNvSpPr>
              <a:spLocks noChangeShapeType="1"/>
            </p:cNvSpPr>
            <p:nvPr/>
          </p:nvSpPr>
          <p:spPr bwMode="auto">
            <a:xfrm>
              <a:off x="2308" y="2140"/>
              <a:ext cx="222" cy="322"/>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29" name="Line 40"/>
            <p:cNvSpPr>
              <a:spLocks noChangeShapeType="1"/>
            </p:cNvSpPr>
            <p:nvPr/>
          </p:nvSpPr>
          <p:spPr bwMode="auto">
            <a:xfrm flipH="1">
              <a:off x="2278" y="1411"/>
              <a:ext cx="233" cy="311"/>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30" name="Line 41"/>
            <p:cNvSpPr>
              <a:spLocks noChangeShapeType="1"/>
            </p:cNvSpPr>
            <p:nvPr/>
          </p:nvSpPr>
          <p:spPr bwMode="auto">
            <a:xfrm flipH="1">
              <a:off x="1729" y="2152"/>
              <a:ext cx="233" cy="311"/>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31" name="Text Box 42"/>
            <p:cNvSpPr txBox="1">
              <a:spLocks noChangeArrowheads="1"/>
            </p:cNvSpPr>
            <p:nvPr/>
          </p:nvSpPr>
          <p:spPr bwMode="auto">
            <a:xfrm>
              <a:off x="1516" y="1642"/>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J4</a:t>
              </a:r>
            </a:p>
          </p:txBody>
        </p:sp>
        <p:sp>
          <p:nvSpPr>
            <p:cNvPr id="114732" name="Text Box 43"/>
            <p:cNvSpPr txBox="1">
              <a:spLocks noChangeArrowheads="1"/>
            </p:cNvSpPr>
            <p:nvPr/>
          </p:nvSpPr>
          <p:spPr bwMode="auto">
            <a:xfrm>
              <a:off x="2016" y="1397"/>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J5</a:t>
              </a:r>
            </a:p>
          </p:txBody>
        </p:sp>
        <p:sp>
          <p:nvSpPr>
            <p:cNvPr id="114733" name="Text Box 44"/>
            <p:cNvSpPr txBox="1">
              <a:spLocks noChangeArrowheads="1"/>
            </p:cNvSpPr>
            <p:nvPr/>
          </p:nvSpPr>
          <p:spPr bwMode="auto">
            <a:xfrm>
              <a:off x="2405" y="1608"/>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J6</a:t>
              </a:r>
            </a:p>
          </p:txBody>
        </p:sp>
        <p:sp>
          <p:nvSpPr>
            <p:cNvPr id="114734" name="Text Box 45"/>
            <p:cNvSpPr txBox="1">
              <a:spLocks noChangeArrowheads="1"/>
            </p:cNvSpPr>
            <p:nvPr/>
          </p:nvSpPr>
          <p:spPr bwMode="auto">
            <a:xfrm>
              <a:off x="2237" y="175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0</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35" name="Text Box 46"/>
            <p:cNvSpPr txBox="1">
              <a:spLocks noChangeArrowheads="1"/>
            </p:cNvSpPr>
            <p:nvPr/>
          </p:nvSpPr>
          <p:spPr bwMode="auto">
            <a:xfrm>
              <a:off x="2234" y="193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1</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36" name="Text Box 47"/>
            <p:cNvSpPr txBox="1">
              <a:spLocks noChangeArrowheads="1"/>
            </p:cNvSpPr>
            <p:nvPr/>
          </p:nvSpPr>
          <p:spPr bwMode="auto">
            <a:xfrm>
              <a:off x="2045" y="2021"/>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2</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37" name="Text Box 48"/>
            <p:cNvSpPr txBox="1">
              <a:spLocks noChangeArrowheads="1"/>
            </p:cNvSpPr>
            <p:nvPr/>
          </p:nvSpPr>
          <p:spPr bwMode="auto">
            <a:xfrm>
              <a:off x="1844" y="192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3</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38" name="Text Box 49"/>
            <p:cNvSpPr txBox="1">
              <a:spLocks noChangeArrowheads="1"/>
            </p:cNvSpPr>
            <p:nvPr/>
          </p:nvSpPr>
          <p:spPr bwMode="auto">
            <a:xfrm>
              <a:off x="1855" y="1755"/>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4</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39" name="Text Box 50"/>
            <p:cNvSpPr txBox="1">
              <a:spLocks noChangeArrowheads="1"/>
            </p:cNvSpPr>
            <p:nvPr/>
          </p:nvSpPr>
          <p:spPr bwMode="auto">
            <a:xfrm>
              <a:off x="2044" y="1666"/>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5</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14740" name="Text Box 51"/>
          <p:cNvSpPr txBox="1">
            <a:spLocks noChangeArrowheads="1"/>
          </p:cNvSpPr>
          <p:nvPr/>
        </p:nvSpPr>
        <p:spPr bwMode="auto">
          <a:xfrm>
            <a:off x="3184525" y="4176713"/>
            <a:ext cx="577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rear</a:t>
            </a:r>
          </a:p>
        </p:txBody>
      </p:sp>
      <p:sp>
        <p:nvSpPr>
          <p:cNvPr id="114741" name="Line 52"/>
          <p:cNvSpPr>
            <a:spLocks noChangeShapeType="1"/>
          </p:cNvSpPr>
          <p:nvPr/>
        </p:nvSpPr>
        <p:spPr bwMode="auto">
          <a:xfrm flipV="1">
            <a:off x="808038" y="3025775"/>
            <a:ext cx="387350" cy="158750"/>
          </a:xfrm>
          <a:prstGeom prst="line">
            <a:avLst/>
          </a:prstGeom>
          <a:noFill/>
          <a:ln w="381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42" name="Text Box 53"/>
          <p:cNvSpPr txBox="1">
            <a:spLocks noChangeArrowheads="1"/>
          </p:cNvSpPr>
          <p:nvPr/>
        </p:nvSpPr>
        <p:spPr bwMode="auto">
          <a:xfrm>
            <a:off x="169863" y="3021013"/>
            <a:ext cx="676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front</a:t>
            </a:r>
          </a:p>
        </p:txBody>
      </p:sp>
      <p:sp>
        <p:nvSpPr>
          <p:cNvPr id="114743" name="Line 54"/>
          <p:cNvSpPr>
            <a:spLocks noChangeShapeType="1"/>
          </p:cNvSpPr>
          <p:nvPr/>
        </p:nvSpPr>
        <p:spPr bwMode="auto">
          <a:xfrm>
            <a:off x="3151188" y="4062413"/>
            <a:ext cx="0" cy="473075"/>
          </a:xfrm>
          <a:prstGeom prst="line">
            <a:avLst/>
          </a:prstGeom>
          <a:noFill/>
          <a:ln w="38100">
            <a:solidFill>
              <a:schemeClr val="tx1"/>
            </a:solidFill>
            <a:round/>
            <a:head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5" name="Group 55"/>
          <p:cNvGrpSpPr/>
          <p:nvPr/>
        </p:nvGrpSpPr>
        <p:grpSpPr>
          <a:xfrm>
            <a:off x="3560763" y="930275"/>
            <a:ext cx="4987925" cy="2336800"/>
            <a:chOff x="2204" y="163"/>
            <a:chExt cx="3141" cy="1472"/>
          </a:xfrm>
        </p:grpSpPr>
        <p:sp>
          <p:nvSpPr>
            <p:cNvPr id="114745" name="AutoShape 56"/>
            <p:cNvSpPr>
              <a:spLocks noChangeArrowheads="1"/>
            </p:cNvSpPr>
            <p:nvPr/>
          </p:nvSpPr>
          <p:spPr bwMode="auto">
            <a:xfrm>
              <a:off x="3386" y="163"/>
              <a:ext cx="1440" cy="1255"/>
            </a:xfrm>
            <a:custGeom>
              <a:avLst/>
              <a:gdLst>
                <a:gd name="T0" fmla="*/ 0 w 21600"/>
                <a:gd name="T1" fmla="*/ 10800 h 21600"/>
                <a:gd name="T2" fmla="*/ 10800 w 21600"/>
                <a:gd name="T3" fmla="*/ 0 h 21600"/>
                <a:gd name="T4" fmla="*/ 21600 w 21600"/>
                <a:gd name="T5" fmla="*/ 10800 h 21600"/>
                <a:gd name="T6" fmla="*/ 10800 w 21600"/>
                <a:gd name="T7" fmla="*/ 21600 h 21600"/>
                <a:gd name="T8" fmla="*/ 0 w 21600"/>
                <a:gd name="T9" fmla="*/ 10800 h 21600"/>
                <a:gd name="T10" fmla="*/ 6582 w 21600"/>
                <a:gd name="T11" fmla="*/ 10800 h 21600"/>
                <a:gd name="T12" fmla="*/ 10800 w 21600"/>
                <a:gd name="T13" fmla="*/ 15018 h 21600"/>
                <a:gd name="T14" fmla="*/ 15018 w 21600"/>
                <a:gd name="T15" fmla="*/ 10800 h 21600"/>
                <a:gd name="T16" fmla="*/ 10800 w 21600"/>
                <a:gd name="T17" fmla="*/ 6582 h 21600"/>
                <a:gd name="T18" fmla="*/ 6582 w 21600"/>
                <a:gd name="T19" fmla="*/ 108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6582" y="10800"/>
                  </a:moveTo>
                  <a:cubicBezTo>
                    <a:pt x="6582" y="13130"/>
                    <a:pt x="8470" y="15018"/>
                    <a:pt x="10800" y="15018"/>
                  </a:cubicBezTo>
                  <a:cubicBezTo>
                    <a:pt x="13130" y="15018"/>
                    <a:pt x="15018" y="13130"/>
                    <a:pt x="15018" y="10800"/>
                  </a:cubicBezTo>
                  <a:cubicBezTo>
                    <a:pt x="15018" y="8470"/>
                    <a:pt x="13130" y="6582"/>
                    <a:pt x="10800" y="6582"/>
                  </a:cubicBezTo>
                  <a:cubicBezTo>
                    <a:pt x="8470" y="6582"/>
                    <a:pt x="6582" y="8470"/>
                    <a:pt x="6582" y="10800"/>
                  </a:cubicBezTo>
                  <a:close/>
                </a:path>
              </a:pathLst>
            </a:custGeom>
            <a:noFill/>
            <a:ln w="9525">
              <a:solidFill>
                <a:srgbClr val="0066FF"/>
              </a:solidFill>
              <a:rou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46" name="Line 57"/>
            <p:cNvSpPr>
              <a:spLocks noChangeShapeType="1"/>
            </p:cNvSpPr>
            <p:nvPr/>
          </p:nvSpPr>
          <p:spPr bwMode="auto">
            <a:xfrm>
              <a:off x="3375" y="774"/>
              <a:ext cx="440" cy="0"/>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47" name="Line 58"/>
            <p:cNvSpPr>
              <a:spLocks noChangeShapeType="1"/>
            </p:cNvSpPr>
            <p:nvPr/>
          </p:nvSpPr>
          <p:spPr bwMode="auto">
            <a:xfrm>
              <a:off x="4360" y="803"/>
              <a:ext cx="434" cy="0"/>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48" name="Line 59"/>
            <p:cNvSpPr>
              <a:spLocks noChangeShapeType="1"/>
            </p:cNvSpPr>
            <p:nvPr/>
          </p:nvSpPr>
          <p:spPr bwMode="auto">
            <a:xfrm>
              <a:off x="3742" y="252"/>
              <a:ext cx="228" cy="322"/>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49" name="Line 60"/>
            <p:cNvSpPr>
              <a:spLocks noChangeShapeType="1"/>
            </p:cNvSpPr>
            <p:nvPr/>
          </p:nvSpPr>
          <p:spPr bwMode="auto">
            <a:xfrm>
              <a:off x="4294" y="992"/>
              <a:ext cx="222" cy="322"/>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50" name="Line 61"/>
            <p:cNvSpPr>
              <a:spLocks noChangeShapeType="1"/>
            </p:cNvSpPr>
            <p:nvPr/>
          </p:nvSpPr>
          <p:spPr bwMode="auto">
            <a:xfrm flipH="1">
              <a:off x="4264" y="263"/>
              <a:ext cx="233" cy="311"/>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51" name="Line 62"/>
            <p:cNvSpPr>
              <a:spLocks noChangeShapeType="1"/>
            </p:cNvSpPr>
            <p:nvPr/>
          </p:nvSpPr>
          <p:spPr bwMode="auto">
            <a:xfrm flipH="1">
              <a:off x="3715" y="1004"/>
              <a:ext cx="239" cy="311"/>
            </a:xfrm>
            <a:prstGeom prst="line">
              <a:avLst/>
            </a:prstGeom>
            <a:noFill/>
            <a:ln w="9525">
              <a:solidFill>
                <a:srgbClr val="0066FF"/>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52" name="Text Box 63"/>
            <p:cNvSpPr txBox="1">
              <a:spLocks noChangeArrowheads="1"/>
            </p:cNvSpPr>
            <p:nvPr/>
          </p:nvSpPr>
          <p:spPr bwMode="auto">
            <a:xfrm>
              <a:off x="4223" y="611"/>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0</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53" name="Text Box 64"/>
            <p:cNvSpPr txBox="1">
              <a:spLocks noChangeArrowheads="1"/>
            </p:cNvSpPr>
            <p:nvPr/>
          </p:nvSpPr>
          <p:spPr bwMode="auto">
            <a:xfrm>
              <a:off x="4220" y="78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1</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54" name="Text Box 65"/>
            <p:cNvSpPr txBox="1">
              <a:spLocks noChangeArrowheads="1"/>
            </p:cNvSpPr>
            <p:nvPr/>
          </p:nvSpPr>
          <p:spPr bwMode="auto">
            <a:xfrm>
              <a:off x="4031" y="87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2</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55" name="Text Box 66"/>
            <p:cNvSpPr txBox="1">
              <a:spLocks noChangeArrowheads="1"/>
            </p:cNvSpPr>
            <p:nvPr/>
          </p:nvSpPr>
          <p:spPr bwMode="auto">
            <a:xfrm>
              <a:off x="3830" y="77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3</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56" name="Text Box 67"/>
            <p:cNvSpPr txBox="1">
              <a:spLocks noChangeArrowheads="1"/>
            </p:cNvSpPr>
            <p:nvPr/>
          </p:nvSpPr>
          <p:spPr bwMode="auto">
            <a:xfrm>
              <a:off x="3841" y="607"/>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4</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57" name="Text Box 68"/>
            <p:cNvSpPr txBox="1">
              <a:spLocks noChangeArrowheads="1"/>
            </p:cNvSpPr>
            <p:nvPr/>
          </p:nvSpPr>
          <p:spPr bwMode="auto">
            <a:xfrm>
              <a:off x="4030" y="518"/>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1" i="0" u="none" strike="noStrike" kern="1200" cap="none" spc="0" normalizeH="0" baseline="0" noProof="0">
                  <a:ln>
                    <a:noFill/>
                  </a:ln>
                  <a:solidFill>
                    <a:schemeClr val="tx1"/>
                  </a:solidFill>
                  <a:effectLst/>
                  <a:uLnTx/>
                  <a:uFillTx/>
                  <a:latin typeface="+mn-lt"/>
                  <a:ea typeface="+mn-ea"/>
                  <a:cs typeface="+mn-ea"/>
                  <a:sym typeface="+mn-lt"/>
                </a:rPr>
                <a:t>5</a:t>
              </a:r>
              <a:endParaRPr kumimoji="0" lang="en-US" altLang="zh-CN" sz="20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58" name="Text Box 69"/>
            <p:cNvSpPr txBox="1">
              <a:spLocks noChangeArrowheads="1"/>
            </p:cNvSpPr>
            <p:nvPr/>
          </p:nvSpPr>
          <p:spPr bwMode="auto">
            <a:xfrm>
              <a:off x="4919" y="678"/>
              <a:ext cx="4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front</a:t>
              </a:r>
            </a:p>
          </p:txBody>
        </p:sp>
        <p:sp>
          <p:nvSpPr>
            <p:cNvPr id="114761" name="Text Box 72"/>
            <p:cNvSpPr txBox="1">
              <a:spLocks noChangeArrowheads="1"/>
            </p:cNvSpPr>
            <p:nvPr/>
          </p:nvSpPr>
          <p:spPr bwMode="auto">
            <a:xfrm rot="21080710">
              <a:off x="2204" y="1383"/>
              <a:ext cx="10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ea"/>
                  <a:sym typeface="+mn-lt"/>
                </a:rPr>
                <a:t>J4,J5,J6</a:t>
              </a:r>
              <a:r>
                <a:rPr kumimoji="0" lang="zh-CN" altLang="zh-CN" sz="2000" b="1" i="0" u="none" strike="noStrike" kern="1200" cap="none" spc="0" normalizeH="0" baseline="0" noProof="0" dirty="0">
                  <a:ln>
                    <a:noFill/>
                  </a:ln>
                  <a:solidFill>
                    <a:schemeClr val="tx1"/>
                  </a:solidFill>
                  <a:effectLst/>
                  <a:uLnTx/>
                  <a:uFillTx/>
                  <a:latin typeface="+mn-lt"/>
                  <a:ea typeface="+mn-ea"/>
                  <a:cs typeface="+mn-ea"/>
                  <a:sym typeface="+mn-lt"/>
                </a:rPr>
                <a:t>出队</a:t>
              </a:r>
              <a:endParaRPr kumimoji="0" lang="zh-CN" altLang="en-US" sz="20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14762" name="Text Box 73"/>
            <p:cNvSpPr txBox="1">
              <a:spLocks noChangeArrowheads="1"/>
            </p:cNvSpPr>
            <p:nvPr/>
          </p:nvSpPr>
          <p:spPr bwMode="auto">
            <a:xfrm>
              <a:off x="4768" y="1189"/>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ea"/>
                  <a:sym typeface="+mn-lt"/>
                </a:rPr>
                <a:t>rear</a:t>
              </a:r>
            </a:p>
          </p:txBody>
        </p:sp>
        <p:sp>
          <p:nvSpPr>
            <p:cNvPr id="114763" name="Line 74"/>
            <p:cNvSpPr>
              <a:spLocks noChangeShapeType="1"/>
            </p:cNvSpPr>
            <p:nvPr/>
          </p:nvSpPr>
          <p:spPr bwMode="auto">
            <a:xfrm>
              <a:off x="4747" y="1117"/>
              <a:ext cx="0" cy="298"/>
            </a:xfrm>
            <a:prstGeom prst="line">
              <a:avLst/>
            </a:prstGeom>
            <a:noFill/>
            <a:ln w="38100">
              <a:solidFill>
                <a:schemeClr val="tx1"/>
              </a:solidFill>
              <a:round/>
              <a:head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14764" name="Line 75"/>
            <p:cNvSpPr>
              <a:spLocks noChangeShapeType="1"/>
            </p:cNvSpPr>
            <p:nvPr/>
          </p:nvSpPr>
          <p:spPr bwMode="auto">
            <a:xfrm flipH="1">
              <a:off x="4794" y="992"/>
              <a:ext cx="338" cy="64"/>
            </a:xfrm>
            <a:prstGeom prst="line">
              <a:avLst/>
            </a:prstGeom>
            <a:noFill/>
            <a:ln w="38100">
              <a:solidFill>
                <a:schemeClr val="tx1"/>
              </a:solidFill>
              <a:rou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78" name="Comment 2"/>
          <p:cNvSpPr>
            <a:spLocks noChangeArrowheads="1"/>
          </p:cNvSpPr>
          <p:nvPr/>
        </p:nvSpPr>
        <p:spPr bwMode="auto">
          <a:xfrm>
            <a:off x="776288" y="196850"/>
            <a:ext cx="5556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解决的方法－－循环队列</a:t>
            </a:r>
          </a:p>
        </p:txBody>
      </p:sp>
      <p:cxnSp>
        <p:nvCxnSpPr>
          <p:cNvPr id="4" name="直接箭头连接符 3"/>
          <p:cNvCxnSpPr/>
          <p:nvPr/>
        </p:nvCxnSpPr>
        <p:spPr bwMode="auto">
          <a:xfrm flipV="1">
            <a:off x="3406775" y="2592388"/>
            <a:ext cx="2085975" cy="379413"/>
          </a:xfrm>
          <a:prstGeom prst="straightConnector1">
            <a:avLst/>
          </a:prstGeom>
          <a:solidFill>
            <a:schemeClr val="accent1"/>
          </a:solidFill>
          <a:ln w="57150" cap="flat" cmpd="sng" algn="ctr">
            <a:solidFill>
              <a:schemeClr val="accent1">
                <a:lumMod val="75000"/>
              </a:schemeClr>
            </a:solidFill>
            <a:prstDash val="solid"/>
            <a:round/>
            <a:headEnd type="none" w="med" len="med"/>
            <a:tailEnd type="triangle"/>
          </a:ln>
        </p:spPr>
      </p:cxnSp>
      <p:cxnSp>
        <p:nvCxnSpPr>
          <p:cNvPr id="81" name="直接箭头连接符 80"/>
          <p:cNvCxnSpPr/>
          <p:nvPr/>
        </p:nvCxnSpPr>
        <p:spPr bwMode="auto">
          <a:xfrm>
            <a:off x="3390900" y="3698875"/>
            <a:ext cx="2203450" cy="390525"/>
          </a:xfrm>
          <a:prstGeom prst="straightConnector1">
            <a:avLst/>
          </a:prstGeom>
          <a:solidFill>
            <a:schemeClr val="accent1"/>
          </a:solidFill>
          <a:ln w="57150" cap="flat" cmpd="sng" algn="ctr">
            <a:solidFill>
              <a:schemeClr val="accent1">
                <a:lumMod val="75000"/>
              </a:schemeClr>
            </a:solidFill>
            <a:prstDash val="solid"/>
            <a:round/>
            <a:headEnd type="none" w="med" len="med"/>
            <a:tailEnd type="triangle"/>
          </a:ln>
        </p:spPr>
      </p:cxnSp>
      <p:sp>
        <p:nvSpPr>
          <p:cNvPr id="128014" name="矩形 9"/>
          <p:cNvSpPr/>
          <p:nvPr/>
        </p:nvSpPr>
        <p:spPr>
          <a:xfrm>
            <a:off x="4873625" y="6661150"/>
            <a:ext cx="4270375" cy="73025"/>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28015" name="矩形 86"/>
          <p:cNvSpPr/>
          <p:nvPr/>
        </p:nvSpPr>
        <p:spPr>
          <a:xfrm>
            <a:off x="5262563" y="6492875"/>
            <a:ext cx="3881437" cy="73025"/>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28016" name="矩形 87"/>
          <p:cNvSpPr/>
          <p:nvPr/>
        </p:nvSpPr>
        <p:spPr>
          <a:xfrm>
            <a:off x="5724525" y="6313488"/>
            <a:ext cx="3419475" cy="66675"/>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28017" name="矩形 88"/>
          <p:cNvSpPr/>
          <p:nvPr/>
        </p:nvSpPr>
        <p:spPr>
          <a:xfrm>
            <a:off x="6149975" y="6135688"/>
            <a:ext cx="2994025" cy="66675"/>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28018" name="矩形 89"/>
          <p:cNvSpPr/>
          <p:nvPr/>
        </p:nvSpPr>
        <p:spPr>
          <a:xfrm>
            <a:off x="6605588" y="5948363"/>
            <a:ext cx="2549525" cy="66675"/>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65984"/>
                                        </p:tgtEl>
                                        <p:attrNameLst>
                                          <p:attrName>style.visibility</p:attrName>
                                        </p:attrNameLst>
                                      </p:cBhvr>
                                      <p:to>
                                        <p:strVal val="visible"/>
                                      </p:to>
                                    </p:set>
                                    <p:animEffect transition="in" filter="box(in)">
                                      <p:cBhvr>
                                        <p:cTn id="17" dur="500"/>
                                        <p:tgtEl>
                                          <p:spTgt spid="76598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65985"/>
                                        </p:tgtEl>
                                        <p:attrNameLst>
                                          <p:attrName>style.visibility</p:attrName>
                                        </p:attrNameLst>
                                      </p:cBhvr>
                                      <p:to>
                                        <p:strVal val="visible"/>
                                      </p:to>
                                    </p:set>
                                    <p:animEffect transition="in" filter="box(in)">
                                      <p:cBhvr>
                                        <p:cTn id="22" dur="500"/>
                                        <p:tgtEl>
                                          <p:spTgt spid="7659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5984" grpId="0" animBg="1"/>
      <p:bldP spid="76598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矩形 1"/>
          <p:cNvSpPr/>
          <p:nvPr/>
        </p:nvSpPr>
        <p:spPr>
          <a:xfrm>
            <a:off x="0" y="1773238"/>
            <a:ext cx="9144000" cy="3887787"/>
          </a:xfrm>
          <a:prstGeom prst="rect">
            <a:avLst/>
          </a:prstGeom>
          <a:solidFill>
            <a:srgbClr val="D4E6F4"/>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766978" name="Comment 2"/>
          <p:cNvSpPr>
            <a:spLocks noChangeArrowheads="1"/>
          </p:cNvSpPr>
          <p:nvPr/>
        </p:nvSpPr>
        <p:spPr bwMode="auto">
          <a:xfrm>
            <a:off x="827088" y="201613"/>
            <a:ext cx="5556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循环队列</a:t>
            </a:r>
          </a:p>
        </p:txBody>
      </p:sp>
      <p:sp>
        <p:nvSpPr>
          <p:cNvPr id="766979" name="Rectangle 3"/>
          <p:cNvSpPr>
            <a:spLocks noChangeArrowheads="1"/>
          </p:cNvSpPr>
          <p:nvPr/>
        </p:nvSpPr>
        <p:spPr bwMode="auto">
          <a:xfrm>
            <a:off x="200025" y="1916113"/>
            <a:ext cx="8915400" cy="374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just"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#define MAXQSIZE  100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最大长度</a:t>
            </a:r>
            <a:endPar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just"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Typedef struct {</a:t>
            </a:r>
          </a:p>
          <a:p>
            <a:pPr marL="342900" marR="0" lvl="0" indent="-342900" algn="just"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QElemType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*base;  //</a:t>
            </a:r>
            <a:r>
              <a:rPr kumimoji="0" lang="zh-CN" altLang="zh-CN" sz="2800" b="0" i="0" u="none" strike="noStrike" kern="1200" cap="none" spc="0" normalizeH="0" baseline="0" noProof="0" dirty="0">
                <a:ln>
                  <a:noFill/>
                </a:ln>
                <a:solidFill>
                  <a:schemeClr val="tx1"/>
                </a:solidFill>
                <a:effectLst/>
                <a:uLnTx/>
                <a:uFillTx/>
                <a:latin typeface="+mn-lt"/>
                <a:ea typeface="+mn-ea"/>
                <a:cs typeface="+mn-ea"/>
                <a:sym typeface="+mn-lt"/>
              </a:rPr>
              <a:t>初始化的动态分配存储空间</a:t>
            </a:r>
          </a:p>
          <a:p>
            <a:pPr marL="342900" marR="0" lvl="0" indent="-342900" algn="just"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zh-CN"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front;            //</a:t>
            </a:r>
            <a:r>
              <a:rPr kumimoji="0" lang="zh-CN" altLang="zh-CN" sz="2800" b="0" i="0" u="none" strike="noStrike" kern="1200" cap="none" spc="0" normalizeH="0" baseline="0" noProof="0" dirty="0">
                <a:ln>
                  <a:noFill/>
                </a:ln>
                <a:solidFill>
                  <a:schemeClr val="tx1"/>
                </a:solidFill>
                <a:effectLst/>
                <a:uLnTx/>
                <a:uFillTx/>
                <a:latin typeface="+mn-lt"/>
                <a:ea typeface="+mn-ea"/>
                <a:cs typeface="+mn-ea"/>
                <a:sym typeface="+mn-lt"/>
              </a:rPr>
              <a:t>头指针</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just"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rear;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尾指针</a:t>
            </a:r>
          </a:p>
          <a:p>
            <a:pPr marL="342900" marR="0" lvl="0" indent="-342900" algn="just" defTabSz="914400" rtl="0" eaLnBrk="0" fontAlgn="base" latinLnBrk="0" hangingPunct="0">
              <a:lnSpc>
                <a:spcPct val="12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SqQueue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8" name="矩形 7"/>
          <p:cNvSpPr/>
          <p:nvPr/>
        </p:nvSpPr>
        <p:spPr bwMode="auto">
          <a:xfrm flipV="1">
            <a:off x="-36512" y="5876925"/>
            <a:ext cx="9180513" cy="144463"/>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669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669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669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669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669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669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6979"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矩形 5"/>
          <p:cNvSpPr/>
          <p:nvPr/>
        </p:nvSpPr>
        <p:spPr>
          <a:xfrm>
            <a:off x="0" y="1773238"/>
            <a:ext cx="9144000" cy="3887787"/>
          </a:xfrm>
          <a:prstGeom prst="rect">
            <a:avLst/>
          </a:prstGeom>
          <a:solidFill>
            <a:srgbClr val="D4E6F4"/>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7" name="矩形 6"/>
          <p:cNvSpPr/>
          <p:nvPr/>
        </p:nvSpPr>
        <p:spPr bwMode="auto">
          <a:xfrm flipV="1">
            <a:off x="-36512" y="5876925"/>
            <a:ext cx="9180513" cy="144463"/>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68002" name="Rectangle 2"/>
          <p:cNvSpPr>
            <a:spLocks noGrp="1" noChangeArrowheads="1"/>
          </p:cNvSpPr>
          <p:nvPr>
            <p:ph idx="1"/>
          </p:nvPr>
        </p:nvSpPr>
        <p:spPr>
          <a:xfrm>
            <a:off x="95250" y="2349500"/>
            <a:ext cx="8915400" cy="2519363"/>
          </a:xfrm>
        </p:spPr>
        <p:txBody>
          <a:bodyPr vert="horz" wrap="square" lIns="91440" tIns="45720" rIns="91440" bIns="45720" numCol="1" anchor="t" anchorCtr="0" compatLnSpc="1"/>
          <a:lstStyle/>
          <a:p>
            <a:pPr marL="0" marR="0" lvl="0" indent="538480" algn="l" defTabSz="914400" rtl="0" eaLnBrk="0" fontAlgn="base" latinLnBrk="0" hangingPunct="0">
              <a:lnSpc>
                <a:spcPct val="11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Status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InitQueue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SqQueue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&amp;Q){</a:t>
            </a:r>
          </a:p>
          <a:p>
            <a:pPr lvl="0">
              <a:lnSpc>
                <a:spcPct val="110000"/>
              </a:lnSpc>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Q.base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ea"/>
                <a:sym typeface="+mn-lt"/>
              </a:rPr>
              <a:t>=(</a:t>
            </a:r>
            <a:r>
              <a:rPr kumimoji="0" lang="en-US" altLang="zh-CN" sz="2800" b="0" i="0" u="none" strike="noStrike" kern="0" cap="none" spc="0" normalizeH="0" baseline="0" noProof="0" dirty="0" err="1" smtClean="0">
                <a:ln>
                  <a:noFill/>
                </a:ln>
                <a:solidFill>
                  <a:schemeClr val="tx1"/>
                </a:solidFill>
                <a:effectLst/>
                <a:uLnTx/>
                <a:uFillTx/>
                <a:latin typeface="+mn-lt"/>
                <a:ea typeface="+mn-ea"/>
                <a:cs typeface="+mn-ea"/>
                <a:sym typeface="+mn-lt"/>
              </a:rPr>
              <a:t>QElemType</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ea"/>
                <a:sym typeface="+mn-lt"/>
              </a:rPr>
              <a:t>*)</a:t>
            </a:r>
            <a:r>
              <a:rPr kumimoji="0" lang="en-US" altLang="zh-CN" sz="2800" b="0" i="0" u="none" strike="noStrike" kern="0" cap="none" spc="0" normalizeH="0" baseline="0" noProof="0" dirty="0" err="1" smtClean="0">
                <a:ln>
                  <a:noFill/>
                </a:ln>
                <a:solidFill>
                  <a:schemeClr val="tx1"/>
                </a:solidFill>
                <a:effectLst/>
                <a:uLnTx/>
                <a:uFillTx/>
                <a:latin typeface="+mn-lt"/>
                <a:ea typeface="+mn-ea"/>
                <a:cs typeface="+mn-ea"/>
                <a:sym typeface="+mn-lt"/>
              </a:rPr>
              <a:t>malloc</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ea"/>
                <a:sym typeface="+mn-lt"/>
              </a:rPr>
              <a:t>(MAXQSIZE</a:t>
            </a:r>
            <a:r>
              <a:rPr lang="en-US" altLang="zh-CN" sz="2800" dirty="0" smtClean="0">
                <a:ea typeface="+mn-ea"/>
                <a:cs typeface="+mn-ea"/>
                <a:sym typeface="+mn-lt"/>
              </a:rPr>
              <a:t>*</a:t>
            </a:r>
            <a:r>
              <a:rPr lang="en-US" altLang="zh-CN" sz="2800" dirty="0" err="1" smtClean="0">
                <a:ea typeface="+mn-ea"/>
                <a:cs typeface="+mn-ea"/>
                <a:sym typeface="+mn-lt"/>
              </a:rPr>
              <a:t>sizeof</a:t>
            </a:r>
            <a:r>
              <a:rPr lang="en-US" altLang="zh-CN" sz="2800" dirty="0" smtClean="0">
                <a:ea typeface="+mn-ea"/>
                <a:cs typeface="+mn-ea"/>
                <a:sym typeface="+mn-lt"/>
              </a:rPr>
              <a:t>(</a:t>
            </a:r>
            <a:r>
              <a:rPr lang="en-US" altLang="zh-CN" sz="2800" dirty="0" err="1" smtClean="0">
                <a:cs typeface="+mn-ea"/>
                <a:sym typeface="+mn-lt"/>
              </a:rPr>
              <a:t>QElemType</a:t>
            </a:r>
            <a:r>
              <a:rPr lang="en-US" altLang="zh-CN" sz="2800" dirty="0" smtClean="0">
                <a:cs typeface="+mn-ea"/>
                <a:sym typeface="+mn-lt"/>
              </a:rPr>
              <a:t>));</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ea"/>
                <a:sym typeface="+mn-lt"/>
              </a:rPr>
              <a:t> </a:t>
            </a:r>
            <a:endPar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endParaRPr>
          </a:p>
          <a:p>
            <a:pPr marL="0" marR="0" lvl="0" indent="538480" algn="l" defTabSz="914400" rtl="0" eaLnBrk="0" fontAlgn="base" latinLnBrk="0" hangingPunct="0">
              <a:lnSpc>
                <a:spcPct val="11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if(!</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Q.base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exit(OVERFLOW);</a:t>
            </a:r>
          </a:p>
          <a:p>
            <a:pPr marL="0" marR="0" lvl="0" indent="538480" algn="l" defTabSz="914400" rtl="0" eaLnBrk="0" fontAlgn="base" latinLnBrk="0" hangingPunct="0">
              <a:lnSpc>
                <a:spcPct val="11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Q.front</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Q.rear</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=0;</a:t>
            </a:r>
          </a:p>
          <a:p>
            <a:pPr marL="0" marR="0" lvl="0" indent="538480" algn="l" defTabSz="914400" rtl="0" eaLnBrk="0" fontAlgn="base" latinLnBrk="0" hangingPunct="0">
              <a:lnSpc>
                <a:spcPct val="11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return OK;</a:t>
            </a:r>
          </a:p>
          <a:p>
            <a:pPr marL="0" marR="0" lvl="0" indent="538480" algn="l" defTabSz="914400" rtl="0" eaLnBrk="0" fontAlgn="base" latinLnBrk="0" hangingPunct="0">
              <a:lnSpc>
                <a:spcPct val="11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p>
        </p:txBody>
      </p:sp>
      <p:sp>
        <p:nvSpPr>
          <p:cNvPr id="768003" name="Comment 3"/>
          <p:cNvSpPr>
            <a:spLocks noChangeArrowheads="1"/>
          </p:cNvSpPr>
          <p:nvPr/>
        </p:nvSpPr>
        <p:spPr bwMode="auto">
          <a:xfrm>
            <a:off x="827088" y="188913"/>
            <a:ext cx="4187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循环队列初始化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680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680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6800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6800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6800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6800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02"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矩形 5"/>
          <p:cNvSpPr/>
          <p:nvPr/>
        </p:nvSpPr>
        <p:spPr>
          <a:xfrm>
            <a:off x="0" y="1773238"/>
            <a:ext cx="9144000" cy="3887787"/>
          </a:xfrm>
          <a:prstGeom prst="rect">
            <a:avLst/>
          </a:prstGeom>
          <a:solidFill>
            <a:srgbClr val="D4E6F4"/>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7" name="矩形 6"/>
          <p:cNvSpPr/>
          <p:nvPr/>
        </p:nvSpPr>
        <p:spPr bwMode="auto">
          <a:xfrm flipV="1">
            <a:off x="-36512" y="5876925"/>
            <a:ext cx="9180513" cy="144463"/>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70051" name="Rectangle 3"/>
          <p:cNvSpPr>
            <a:spLocks noGrp="1" noChangeArrowheads="1"/>
          </p:cNvSpPr>
          <p:nvPr>
            <p:ph idx="1"/>
          </p:nvPr>
        </p:nvSpPr>
        <p:spPr>
          <a:xfrm>
            <a:off x="95250" y="2420938"/>
            <a:ext cx="8915400" cy="2160588"/>
          </a:xfrm>
        </p:spPr>
        <p:txBody>
          <a:bodyPr vert="horz" wrap="square" lIns="91440" tIns="45720" rIns="91440" bIns="45720" numCol="1" anchor="t" anchorCtr="0" compatLnSpc="1"/>
          <a:lstStyle/>
          <a:p>
            <a:pPr marL="0" marR="0" lvl="0" indent="538480" algn="l" defTabSz="914400" rtl="0" eaLnBrk="0" fontAlgn="base" latinLnBrk="0" hangingPunct="0">
              <a:lnSpc>
                <a:spcPct val="130000"/>
              </a:lnSpc>
              <a:spcBef>
                <a:spcPct val="0"/>
              </a:spcBef>
              <a:spcAft>
                <a:spcPct val="0"/>
              </a:spcAft>
              <a:buClrTx/>
              <a:buSzTx/>
              <a:buFontTx/>
              <a:buNone/>
              <a:defRPr/>
            </a:pPr>
            <a:endPar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endParaRP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int  </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QueueLength</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SqQueue</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Q){</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return (</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Q.rear-Q.front+MAXQSIZE</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)%MAXQSIZE;</a:t>
            </a:r>
            <a:r>
              <a:rPr kumimoji="0" lang="en-US" altLang="zh-CN" sz="2400" b="0" i="0" u="none" strike="noStrike" kern="0" cap="none" spc="0" normalizeH="0" baseline="0" noProof="0" dirty="0">
                <a:ln>
                  <a:noFill/>
                </a:ln>
                <a:solidFill>
                  <a:srgbClr val="FF0000"/>
                </a:solidFill>
                <a:effectLst/>
                <a:uLnTx/>
                <a:uFillTx/>
                <a:latin typeface="+mn-lt"/>
                <a:ea typeface="+mn-ea"/>
                <a:cs typeface="+mn-ea"/>
                <a:sym typeface="+mn-lt"/>
              </a:rPr>
              <a:t>                             </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t>
            </a:r>
          </a:p>
        </p:txBody>
      </p:sp>
      <p:sp>
        <p:nvSpPr>
          <p:cNvPr id="770050" name="Comment 2"/>
          <p:cNvSpPr>
            <a:spLocks noChangeArrowheads="1"/>
          </p:cNvSpPr>
          <p:nvPr/>
        </p:nvSpPr>
        <p:spPr bwMode="auto">
          <a:xfrm>
            <a:off x="827088" y="188913"/>
            <a:ext cx="51958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求循环队列的长度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700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700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700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0051"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矩形 5"/>
          <p:cNvSpPr/>
          <p:nvPr/>
        </p:nvSpPr>
        <p:spPr>
          <a:xfrm>
            <a:off x="3175" y="1628775"/>
            <a:ext cx="9144000" cy="3887788"/>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7" name="矩形 6"/>
          <p:cNvSpPr/>
          <p:nvPr/>
        </p:nvSpPr>
        <p:spPr bwMode="auto">
          <a:xfrm flipV="1">
            <a:off x="-33337" y="5732463"/>
            <a:ext cx="9180513" cy="144463"/>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72098" name="Rectangle 2"/>
          <p:cNvSpPr>
            <a:spLocks noGrp="1" noChangeArrowheads="1"/>
          </p:cNvSpPr>
          <p:nvPr>
            <p:ph idx="1"/>
          </p:nvPr>
        </p:nvSpPr>
        <p:spPr>
          <a:xfrm>
            <a:off x="0" y="1916113"/>
            <a:ext cx="9144000" cy="3313113"/>
          </a:xfrm>
        </p:spPr>
        <p:txBody>
          <a:bodyPr vert="horz" wrap="square" lIns="91440" tIns="45720" rIns="91440" bIns="45720" numCol="1" anchor="t" anchorCtr="0" compatLnSpc="1"/>
          <a:lstStyle/>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Status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EnQueue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SqQueue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&amp;</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Q,QElemType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e){</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if((Q.rear+1)%MAXQSIZE==</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Q.front</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return ERROR;</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Q.base</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Q.rear</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]=e;</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Q.rear</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=(Q.rear+1)%MAXQSIZE;</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return OK;</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p>
          <a:p>
            <a:pPr marL="0" marR="0" lvl="0" indent="538480" algn="l" defTabSz="914400" rtl="0" eaLnBrk="0" fontAlgn="base" latinLnBrk="0" hangingPunct="0">
              <a:lnSpc>
                <a:spcPct val="130000"/>
              </a:lnSpc>
              <a:spcBef>
                <a:spcPct val="0"/>
              </a:spcBef>
              <a:spcAft>
                <a:spcPct val="0"/>
              </a:spcAft>
              <a:buClrTx/>
              <a:buSzTx/>
              <a:buFontTx/>
              <a:buNone/>
              <a:defRPr/>
            </a:pPr>
            <a:endPar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endParaRPr>
          </a:p>
        </p:txBody>
      </p:sp>
      <p:sp>
        <p:nvSpPr>
          <p:cNvPr id="772099" name="Comment 3"/>
          <p:cNvSpPr>
            <a:spLocks noChangeArrowheads="1"/>
          </p:cNvSpPr>
          <p:nvPr/>
        </p:nvSpPr>
        <p:spPr bwMode="auto">
          <a:xfrm>
            <a:off x="827088" y="185738"/>
            <a:ext cx="51958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循环队列入队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720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720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720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720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720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7209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098"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矩形 5"/>
          <p:cNvSpPr/>
          <p:nvPr/>
        </p:nvSpPr>
        <p:spPr>
          <a:xfrm>
            <a:off x="3175" y="1628775"/>
            <a:ext cx="9144000" cy="3887788"/>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7" name="矩形 6"/>
          <p:cNvSpPr/>
          <p:nvPr/>
        </p:nvSpPr>
        <p:spPr bwMode="auto">
          <a:xfrm flipV="1">
            <a:off x="-33337" y="5732463"/>
            <a:ext cx="9180513" cy="144463"/>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73122" name="Rectangle 2"/>
          <p:cNvSpPr>
            <a:spLocks noGrp="1" noChangeArrowheads="1"/>
          </p:cNvSpPr>
          <p:nvPr>
            <p:ph idx="1"/>
          </p:nvPr>
        </p:nvSpPr>
        <p:spPr>
          <a:xfrm>
            <a:off x="107950" y="1890713"/>
            <a:ext cx="8610600" cy="3733800"/>
          </a:xfrm>
        </p:spPr>
        <p:txBody>
          <a:bodyPr vert="horz" wrap="square" lIns="91440" tIns="45720" rIns="91440" bIns="45720" numCol="1" anchor="t" anchorCtr="0" compatLnSpc="1"/>
          <a:lstStyle/>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Status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DeQueue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ea"/>
                <a:sym typeface="+mn-lt"/>
              </a:rPr>
              <a:t>(</a:t>
            </a:r>
            <a:r>
              <a:rPr kumimoji="0" lang="en-US" altLang="zh-CN" sz="2800" b="0" i="0" u="none" strike="noStrike" kern="0" cap="none" spc="0" normalizeH="0" baseline="0" noProof="0" dirty="0" err="1" smtClean="0">
                <a:ln>
                  <a:noFill/>
                </a:ln>
                <a:solidFill>
                  <a:schemeClr val="tx1"/>
                </a:solidFill>
                <a:effectLst/>
                <a:uLnTx/>
                <a:uFillTx/>
                <a:latin typeface="+mn-lt"/>
                <a:ea typeface="+mn-ea"/>
                <a:cs typeface="+mn-ea"/>
                <a:sym typeface="+mn-lt"/>
              </a:rPr>
              <a:t>SqQueue</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&amp;</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Q,QElemType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&amp;e){</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if(</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Q.front</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Q.rear</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return ERROR;</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e=</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Q.base</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Q.front</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Q.front</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=(Q.front+1)%MAXQSIZE;</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return OK;</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p>
        </p:txBody>
      </p:sp>
      <p:sp>
        <p:nvSpPr>
          <p:cNvPr id="773123" name="Comment 3"/>
          <p:cNvSpPr>
            <a:spLocks noChangeArrowheads="1"/>
          </p:cNvSpPr>
          <p:nvPr/>
        </p:nvSpPr>
        <p:spPr bwMode="auto">
          <a:xfrm>
            <a:off x="827088" y="198438"/>
            <a:ext cx="51958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循环队列出队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731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731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731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7312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7312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7312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3122"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4146" name="Object 2"/>
          <p:cNvGraphicFramePr/>
          <p:nvPr/>
        </p:nvGraphicFramePr>
        <p:xfrm>
          <a:off x="4159250" y="3314700"/>
          <a:ext cx="825500" cy="228600"/>
        </p:xfrm>
        <a:graphic>
          <a:graphicData uri="http://schemas.openxmlformats.org/presentationml/2006/ole">
            <mc:AlternateContent xmlns:mc="http://schemas.openxmlformats.org/markup-compatibility/2006">
              <mc:Choice xmlns:v="urn:schemas-microsoft-com:vml" Requires="v">
                <p:oleObj spid="_x0000_s8210" r:id="rId3" imgW="825500" imgH="228600" progId="Equation.3">
                  <p:embed/>
                </p:oleObj>
              </mc:Choice>
              <mc:Fallback>
                <p:oleObj r:id="rId3" imgW="825500" imgH="228600" progId="Equation.3">
                  <p:embed/>
                  <p:pic>
                    <p:nvPicPr>
                      <p:cNvPr id="0" name="图片 3080"/>
                      <p:cNvPicPr/>
                      <p:nvPr/>
                    </p:nvPicPr>
                    <p:blipFill>
                      <a:blip r:embed="rId4"/>
                      <a:stretch>
                        <a:fillRect/>
                      </a:stretch>
                    </p:blipFill>
                    <p:spPr>
                      <a:xfrm>
                        <a:off x="4159250" y="3314700"/>
                        <a:ext cx="825500" cy="228600"/>
                      </a:xfrm>
                      <a:prstGeom prst="rect">
                        <a:avLst/>
                      </a:prstGeom>
                      <a:noFill/>
                      <a:ln w="38100">
                        <a:noFill/>
                        <a:miter/>
                      </a:ln>
                    </p:spPr>
                  </p:pic>
                </p:oleObj>
              </mc:Fallback>
            </mc:AlternateContent>
          </a:graphicData>
        </a:graphic>
      </p:graphicFrame>
      <p:grpSp>
        <p:nvGrpSpPr>
          <p:cNvPr id="134147" name="Group 8"/>
          <p:cNvGrpSpPr>
            <a:grpSpLocks noChangeAspect="1"/>
          </p:cNvGrpSpPr>
          <p:nvPr/>
        </p:nvGrpSpPr>
        <p:grpSpPr>
          <a:xfrm>
            <a:off x="1042988" y="1017588"/>
            <a:ext cx="7345362" cy="5400675"/>
            <a:chOff x="1440" y="391"/>
            <a:chExt cx="3168" cy="3004"/>
          </a:xfrm>
        </p:grpSpPr>
        <p:sp>
          <p:nvSpPr>
            <p:cNvPr id="120837" name="AutoShape 7"/>
            <p:cNvSpPr>
              <a:spLocks noChangeAspect="1" noChangeArrowheads="1" noTextEdit="1"/>
            </p:cNvSpPr>
            <p:nvPr/>
          </p:nvSpPr>
          <p:spPr bwMode="auto">
            <a:xfrm>
              <a:off x="1440" y="391"/>
              <a:ext cx="3168" cy="300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38" name="Rectangle 9"/>
            <p:cNvSpPr>
              <a:spLocks noChangeArrowheads="1"/>
            </p:cNvSpPr>
            <p:nvPr/>
          </p:nvSpPr>
          <p:spPr bwMode="auto">
            <a:xfrm>
              <a:off x="2138" y="613"/>
              <a:ext cx="852" cy="293"/>
            </a:xfrm>
            <a:prstGeom prst="rect">
              <a:avLst/>
            </a:prstGeom>
            <a:pattFill prst="ltUpDiag">
              <a:fgClr>
                <a:srgbClr val="000000"/>
              </a:fgClr>
              <a:bgClr>
                <a:srgbClr val="000000"/>
              </a:bgClr>
            </a:pattFill>
            <a:ln w="14288">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39" name="Rectangle 10"/>
            <p:cNvSpPr>
              <a:spLocks noChangeArrowheads="1"/>
            </p:cNvSpPr>
            <p:nvPr/>
          </p:nvSpPr>
          <p:spPr bwMode="auto">
            <a:xfrm>
              <a:off x="2990" y="613"/>
              <a:ext cx="853" cy="293"/>
            </a:xfrm>
            <a:prstGeom prst="rect">
              <a:avLst/>
            </a:prstGeom>
            <a:solidFill>
              <a:srgbClr val="FFFFFF"/>
            </a:solidFill>
            <a:ln w="14288">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40" name="Line 11"/>
            <p:cNvSpPr>
              <a:spLocks noChangeShapeType="1"/>
            </p:cNvSpPr>
            <p:nvPr/>
          </p:nvSpPr>
          <p:spPr bwMode="auto">
            <a:xfrm>
              <a:off x="3399" y="760"/>
              <a:ext cx="1" cy="36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41" name="Freeform 12"/>
            <p:cNvSpPr>
              <a:spLocks noChangeArrowheads="1"/>
            </p:cNvSpPr>
            <p:nvPr/>
          </p:nvSpPr>
          <p:spPr bwMode="auto">
            <a:xfrm>
              <a:off x="3360" y="1103"/>
              <a:ext cx="78" cy="67"/>
            </a:xfrm>
            <a:custGeom>
              <a:avLst/>
              <a:gdLst>
                <a:gd name="T0" fmla="*/ 39 w 78"/>
                <a:gd name="T1" fmla="*/ 67 h 67"/>
                <a:gd name="T2" fmla="*/ 0 w 78"/>
                <a:gd name="T3" fmla="*/ 0 h 67"/>
                <a:gd name="T4" fmla="*/ 20 w 78"/>
                <a:gd name="T5" fmla="*/ 6 h 67"/>
                <a:gd name="T6" fmla="*/ 39 w 78"/>
                <a:gd name="T7" fmla="*/ 8 h 67"/>
                <a:gd name="T8" fmla="*/ 59 w 78"/>
                <a:gd name="T9" fmla="*/ 6 h 67"/>
                <a:gd name="T10" fmla="*/ 78 w 78"/>
                <a:gd name="T11" fmla="*/ 0 h 67"/>
                <a:gd name="T12" fmla="*/ 39 w 78"/>
                <a:gd name="T13" fmla="*/ 67 h 67"/>
              </a:gdLst>
              <a:ahLst/>
              <a:cxnLst>
                <a:cxn ang="0">
                  <a:pos x="T0" y="T1"/>
                </a:cxn>
                <a:cxn ang="0">
                  <a:pos x="T2" y="T3"/>
                </a:cxn>
                <a:cxn ang="0">
                  <a:pos x="T4" y="T5"/>
                </a:cxn>
                <a:cxn ang="0">
                  <a:pos x="T6" y="T7"/>
                </a:cxn>
                <a:cxn ang="0">
                  <a:pos x="T8" y="T9"/>
                </a:cxn>
                <a:cxn ang="0">
                  <a:pos x="T10" y="T11"/>
                </a:cxn>
                <a:cxn ang="0">
                  <a:pos x="T12" y="T13"/>
                </a:cxn>
              </a:cxnLst>
              <a:rect l="0" t="0" r="r" b="b"/>
              <a:pathLst>
                <a:path w="78" h="67">
                  <a:moveTo>
                    <a:pt x="39" y="67"/>
                  </a:moveTo>
                  <a:lnTo>
                    <a:pt x="0" y="0"/>
                  </a:lnTo>
                  <a:lnTo>
                    <a:pt x="20" y="6"/>
                  </a:lnTo>
                  <a:lnTo>
                    <a:pt x="39" y="8"/>
                  </a:lnTo>
                  <a:lnTo>
                    <a:pt x="59" y="6"/>
                  </a:lnTo>
                  <a:lnTo>
                    <a:pt x="78" y="0"/>
                  </a:lnTo>
                  <a:lnTo>
                    <a:pt x="39" y="6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42" name="Rectangle 13"/>
            <p:cNvSpPr>
              <a:spLocks noChangeArrowheads="1"/>
            </p:cNvSpPr>
            <p:nvPr/>
          </p:nvSpPr>
          <p:spPr bwMode="auto">
            <a:xfrm>
              <a:off x="2121" y="1171"/>
              <a:ext cx="852" cy="293"/>
            </a:xfrm>
            <a:prstGeom prst="rect">
              <a:avLst/>
            </a:prstGeom>
            <a:solidFill>
              <a:srgbClr val="FFFFFF"/>
            </a:solidFill>
            <a:ln w="14288">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43" name="Rectangle 14"/>
            <p:cNvSpPr>
              <a:spLocks noChangeArrowheads="1"/>
            </p:cNvSpPr>
            <p:nvPr/>
          </p:nvSpPr>
          <p:spPr bwMode="auto">
            <a:xfrm>
              <a:off x="2973" y="1171"/>
              <a:ext cx="853" cy="293"/>
            </a:xfrm>
            <a:prstGeom prst="rect">
              <a:avLst/>
            </a:prstGeom>
            <a:solidFill>
              <a:srgbClr val="FFFFFF"/>
            </a:solidFill>
            <a:ln w="14288">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44" name="Line 15"/>
            <p:cNvSpPr>
              <a:spLocks noChangeShapeType="1"/>
            </p:cNvSpPr>
            <p:nvPr/>
          </p:nvSpPr>
          <p:spPr bwMode="auto">
            <a:xfrm>
              <a:off x="3399" y="1346"/>
              <a:ext cx="1" cy="359"/>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45" name="Freeform 16"/>
            <p:cNvSpPr>
              <a:spLocks noChangeArrowheads="1"/>
            </p:cNvSpPr>
            <p:nvPr/>
          </p:nvSpPr>
          <p:spPr bwMode="auto">
            <a:xfrm>
              <a:off x="3360" y="1690"/>
              <a:ext cx="78" cy="67"/>
            </a:xfrm>
            <a:custGeom>
              <a:avLst/>
              <a:gdLst>
                <a:gd name="T0" fmla="*/ 39 w 78"/>
                <a:gd name="T1" fmla="*/ 67 h 67"/>
                <a:gd name="T2" fmla="*/ 0 w 78"/>
                <a:gd name="T3" fmla="*/ 0 h 67"/>
                <a:gd name="T4" fmla="*/ 20 w 78"/>
                <a:gd name="T5" fmla="*/ 6 h 67"/>
                <a:gd name="T6" fmla="*/ 39 w 78"/>
                <a:gd name="T7" fmla="*/ 7 h 67"/>
                <a:gd name="T8" fmla="*/ 59 w 78"/>
                <a:gd name="T9" fmla="*/ 6 h 67"/>
                <a:gd name="T10" fmla="*/ 78 w 78"/>
                <a:gd name="T11" fmla="*/ 0 h 67"/>
                <a:gd name="T12" fmla="*/ 39 w 78"/>
                <a:gd name="T13" fmla="*/ 67 h 67"/>
              </a:gdLst>
              <a:ahLst/>
              <a:cxnLst>
                <a:cxn ang="0">
                  <a:pos x="T0" y="T1"/>
                </a:cxn>
                <a:cxn ang="0">
                  <a:pos x="T2" y="T3"/>
                </a:cxn>
                <a:cxn ang="0">
                  <a:pos x="T4" y="T5"/>
                </a:cxn>
                <a:cxn ang="0">
                  <a:pos x="T6" y="T7"/>
                </a:cxn>
                <a:cxn ang="0">
                  <a:pos x="T8" y="T9"/>
                </a:cxn>
                <a:cxn ang="0">
                  <a:pos x="T10" y="T11"/>
                </a:cxn>
                <a:cxn ang="0">
                  <a:pos x="T12" y="T13"/>
                </a:cxn>
              </a:cxnLst>
              <a:rect l="0" t="0" r="r" b="b"/>
              <a:pathLst>
                <a:path w="78" h="67">
                  <a:moveTo>
                    <a:pt x="39" y="67"/>
                  </a:moveTo>
                  <a:lnTo>
                    <a:pt x="0" y="0"/>
                  </a:lnTo>
                  <a:lnTo>
                    <a:pt x="20" y="6"/>
                  </a:lnTo>
                  <a:lnTo>
                    <a:pt x="39" y="7"/>
                  </a:lnTo>
                  <a:lnTo>
                    <a:pt x="59" y="6"/>
                  </a:lnTo>
                  <a:lnTo>
                    <a:pt x="78" y="0"/>
                  </a:lnTo>
                  <a:lnTo>
                    <a:pt x="39" y="6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46" name="Rectangle 17"/>
            <p:cNvSpPr>
              <a:spLocks noChangeArrowheads="1"/>
            </p:cNvSpPr>
            <p:nvPr/>
          </p:nvSpPr>
          <p:spPr bwMode="auto">
            <a:xfrm>
              <a:off x="3391" y="2360"/>
              <a:ext cx="3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47" name="Rectangle 18"/>
            <p:cNvSpPr>
              <a:spLocks noChangeArrowheads="1"/>
            </p:cNvSpPr>
            <p:nvPr/>
          </p:nvSpPr>
          <p:spPr bwMode="auto">
            <a:xfrm>
              <a:off x="3391" y="2484"/>
              <a:ext cx="3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48" name="Rectangle 19"/>
            <p:cNvSpPr>
              <a:spLocks noChangeArrowheads="1"/>
            </p:cNvSpPr>
            <p:nvPr/>
          </p:nvSpPr>
          <p:spPr bwMode="auto">
            <a:xfrm>
              <a:off x="3391" y="2608"/>
              <a:ext cx="3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000000"/>
                  </a:solidFill>
                  <a:effectLst/>
                  <a:uLnTx/>
                  <a:uFillTx/>
                  <a:latin typeface="+mn-lt"/>
                  <a:ea typeface="+mn-ea"/>
                  <a:cs typeface="+mn-ea"/>
                  <a:sym typeface="+mn-lt"/>
                </a:rPr>
                <a:t>.</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49" name="Rectangle 20"/>
            <p:cNvSpPr>
              <a:spLocks noChangeArrowheads="1"/>
            </p:cNvSpPr>
            <p:nvPr/>
          </p:nvSpPr>
          <p:spPr bwMode="auto">
            <a:xfrm>
              <a:off x="2121" y="2982"/>
              <a:ext cx="852" cy="294"/>
            </a:xfrm>
            <a:prstGeom prst="rect">
              <a:avLst/>
            </a:prstGeom>
            <a:solidFill>
              <a:srgbClr val="FFFFFF"/>
            </a:solidFill>
            <a:ln w="14288">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50" name="Rectangle 21"/>
            <p:cNvSpPr>
              <a:spLocks noChangeArrowheads="1"/>
            </p:cNvSpPr>
            <p:nvPr/>
          </p:nvSpPr>
          <p:spPr bwMode="auto">
            <a:xfrm>
              <a:off x="2973" y="2982"/>
              <a:ext cx="853" cy="294"/>
            </a:xfrm>
            <a:prstGeom prst="rect">
              <a:avLst/>
            </a:prstGeom>
            <a:solidFill>
              <a:srgbClr val="FFFFFF"/>
            </a:solidFill>
            <a:ln w="14288">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51" name="Line 22"/>
            <p:cNvSpPr>
              <a:spLocks noChangeShapeType="1"/>
            </p:cNvSpPr>
            <p:nvPr/>
          </p:nvSpPr>
          <p:spPr bwMode="auto">
            <a:xfrm>
              <a:off x="3381" y="2747"/>
              <a:ext cx="1" cy="18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52" name="Freeform 23"/>
            <p:cNvSpPr>
              <a:spLocks noChangeArrowheads="1"/>
            </p:cNvSpPr>
            <p:nvPr/>
          </p:nvSpPr>
          <p:spPr bwMode="auto">
            <a:xfrm>
              <a:off x="3342" y="2914"/>
              <a:ext cx="78" cy="68"/>
            </a:xfrm>
            <a:custGeom>
              <a:avLst/>
              <a:gdLst>
                <a:gd name="T0" fmla="*/ 39 w 78"/>
                <a:gd name="T1" fmla="*/ 68 h 68"/>
                <a:gd name="T2" fmla="*/ 0 w 78"/>
                <a:gd name="T3" fmla="*/ 0 h 68"/>
                <a:gd name="T4" fmla="*/ 21 w 78"/>
                <a:gd name="T5" fmla="*/ 7 h 68"/>
                <a:gd name="T6" fmla="*/ 39 w 78"/>
                <a:gd name="T7" fmla="*/ 9 h 68"/>
                <a:gd name="T8" fmla="*/ 59 w 78"/>
                <a:gd name="T9" fmla="*/ 7 h 68"/>
                <a:gd name="T10" fmla="*/ 78 w 78"/>
                <a:gd name="T11" fmla="*/ 0 h 68"/>
                <a:gd name="T12" fmla="*/ 39 w 78"/>
                <a:gd name="T13" fmla="*/ 68 h 68"/>
              </a:gdLst>
              <a:ahLst/>
              <a:cxnLst>
                <a:cxn ang="0">
                  <a:pos x="T0" y="T1"/>
                </a:cxn>
                <a:cxn ang="0">
                  <a:pos x="T2" y="T3"/>
                </a:cxn>
                <a:cxn ang="0">
                  <a:pos x="T4" y="T5"/>
                </a:cxn>
                <a:cxn ang="0">
                  <a:pos x="T6" y="T7"/>
                </a:cxn>
                <a:cxn ang="0">
                  <a:pos x="T8" y="T9"/>
                </a:cxn>
                <a:cxn ang="0">
                  <a:pos x="T10" y="T11"/>
                </a:cxn>
                <a:cxn ang="0">
                  <a:pos x="T12" y="T13"/>
                </a:cxn>
              </a:cxnLst>
              <a:rect l="0" t="0" r="r" b="b"/>
              <a:pathLst>
                <a:path w="78" h="68">
                  <a:moveTo>
                    <a:pt x="39" y="68"/>
                  </a:moveTo>
                  <a:lnTo>
                    <a:pt x="0" y="0"/>
                  </a:lnTo>
                  <a:lnTo>
                    <a:pt x="21" y="7"/>
                  </a:lnTo>
                  <a:lnTo>
                    <a:pt x="39" y="9"/>
                  </a:lnTo>
                  <a:lnTo>
                    <a:pt x="59" y="7"/>
                  </a:lnTo>
                  <a:lnTo>
                    <a:pt x="78" y="0"/>
                  </a:lnTo>
                  <a:lnTo>
                    <a:pt x="39" y="6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53" name="Freeform 24"/>
            <p:cNvSpPr>
              <a:spLocks noChangeArrowheads="1"/>
            </p:cNvSpPr>
            <p:nvPr/>
          </p:nvSpPr>
          <p:spPr bwMode="auto">
            <a:xfrm>
              <a:off x="3314" y="3041"/>
              <a:ext cx="137" cy="175"/>
            </a:xfrm>
            <a:custGeom>
              <a:avLst/>
              <a:gdLst>
                <a:gd name="T0" fmla="*/ 0 w 137"/>
                <a:gd name="T1" fmla="*/ 175 h 175"/>
                <a:gd name="T2" fmla="*/ 67 w 137"/>
                <a:gd name="T3" fmla="*/ 0 h 175"/>
                <a:gd name="T4" fmla="*/ 137 w 137"/>
                <a:gd name="T5" fmla="*/ 175 h 175"/>
              </a:gdLst>
              <a:ahLst/>
              <a:cxnLst>
                <a:cxn ang="0">
                  <a:pos x="T0" y="T1"/>
                </a:cxn>
                <a:cxn ang="0">
                  <a:pos x="T2" y="T3"/>
                </a:cxn>
                <a:cxn ang="0">
                  <a:pos x="T4" y="T5"/>
                </a:cxn>
              </a:cxnLst>
              <a:rect l="0" t="0" r="r" b="b"/>
              <a:pathLst>
                <a:path w="137" h="175">
                  <a:moveTo>
                    <a:pt x="0" y="175"/>
                  </a:moveTo>
                  <a:lnTo>
                    <a:pt x="67" y="0"/>
                  </a:lnTo>
                  <a:lnTo>
                    <a:pt x="137" y="175"/>
                  </a:lnTo>
                </a:path>
              </a:pathLst>
            </a:custGeom>
            <a:noFill/>
            <a:ln w="14288">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54" name="Line 25"/>
            <p:cNvSpPr>
              <a:spLocks noChangeShapeType="1"/>
            </p:cNvSpPr>
            <p:nvPr/>
          </p:nvSpPr>
          <p:spPr bwMode="auto">
            <a:xfrm>
              <a:off x="1542" y="782"/>
              <a:ext cx="521" cy="1"/>
            </a:xfrm>
            <a:prstGeom prst="line">
              <a:avLst/>
            </a:prstGeom>
            <a:noFill/>
            <a:ln w="14288">
              <a:solidFill>
                <a:schemeClr val="bg1"/>
              </a:solidFill>
              <a:round/>
            </a:ln>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55" name="Freeform 26"/>
            <p:cNvSpPr>
              <a:spLocks noChangeArrowheads="1"/>
            </p:cNvSpPr>
            <p:nvPr/>
          </p:nvSpPr>
          <p:spPr bwMode="auto">
            <a:xfrm>
              <a:off x="2043" y="749"/>
              <a:ext cx="78" cy="67"/>
            </a:xfrm>
            <a:custGeom>
              <a:avLst/>
              <a:gdLst>
                <a:gd name="T0" fmla="*/ 78 w 78"/>
                <a:gd name="T1" fmla="*/ 33 h 67"/>
                <a:gd name="T2" fmla="*/ 0 w 78"/>
                <a:gd name="T3" fmla="*/ 67 h 67"/>
                <a:gd name="T4" fmla="*/ 7 w 78"/>
                <a:gd name="T5" fmla="*/ 51 h 67"/>
                <a:gd name="T6" fmla="*/ 10 w 78"/>
                <a:gd name="T7" fmla="*/ 33 h 67"/>
                <a:gd name="T8" fmla="*/ 7 w 78"/>
                <a:gd name="T9" fmla="*/ 16 h 67"/>
                <a:gd name="T10" fmla="*/ 0 w 78"/>
                <a:gd name="T11" fmla="*/ 0 h 67"/>
                <a:gd name="T12" fmla="*/ 78 w 78"/>
                <a:gd name="T13" fmla="*/ 33 h 67"/>
              </a:gdLst>
              <a:ahLst/>
              <a:cxnLst>
                <a:cxn ang="0">
                  <a:pos x="T0" y="T1"/>
                </a:cxn>
                <a:cxn ang="0">
                  <a:pos x="T2" y="T3"/>
                </a:cxn>
                <a:cxn ang="0">
                  <a:pos x="T4" y="T5"/>
                </a:cxn>
                <a:cxn ang="0">
                  <a:pos x="T6" y="T7"/>
                </a:cxn>
                <a:cxn ang="0">
                  <a:pos x="T8" y="T9"/>
                </a:cxn>
                <a:cxn ang="0">
                  <a:pos x="T10" y="T11"/>
                </a:cxn>
                <a:cxn ang="0">
                  <a:pos x="T12" y="T13"/>
                </a:cxn>
              </a:cxnLst>
              <a:rect l="0" t="0" r="r" b="b"/>
              <a:pathLst>
                <a:path w="78" h="67">
                  <a:moveTo>
                    <a:pt x="78" y="33"/>
                  </a:moveTo>
                  <a:lnTo>
                    <a:pt x="0" y="67"/>
                  </a:lnTo>
                  <a:lnTo>
                    <a:pt x="7" y="51"/>
                  </a:lnTo>
                  <a:lnTo>
                    <a:pt x="10" y="33"/>
                  </a:lnTo>
                  <a:lnTo>
                    <a:pt x="7" y="16"/>
                  </a:lnTo>
                  <a:lnTo>
                    <a:pt x="0" y="0"/>
                  </a:lnTo>
                  <a:lnTo>
                    <a:pt x="78" y="33"/>
                  </a:lnTo>
                  <a:close/>
                </a:path>
              </a:pathLst>
            </a:custGeom>
            <a:solidFill>
              <a:srgbClr val="EAEAEA"/>
            </a:solidFill>
            <a:ln w="9525">
              <a:solidFill>
                <a:srgbClr val="000000"/>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56" name="Rectangle 27"/>
            <p:cNvSpPr>
              <a:spLocks noChangeArrowheads="1"/>
            </p:cNvSpPr>
            <p:nvPr/>
          </p:nvSpPr>
          <p:spPr bwMode="auto">
            <a:xfrm>
              <a:off x="2439" y="422"/>
              <a:ext cx="251"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data</a:t>
              </a:r>
            </a:p>
          </p:txBody>
        </p:sp>
        <p:sp>
          <p:nvSpPr>
            <p:cNvPr id="120857" name="Rectangle 28"/>
            <p:cNvSpPr>
              <a:spLocks noChangeArrowheads="1"/>
            </p:cNvSpPr>
            <p:nvPr/>
          </p:nvSpPr>
          <p:spPr bwMode="auto">
            <a:xfrm>
              <a:off x="3253" y="422"/>
              <a:ext cx="243"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next</a:t>
              </a:r>
            </a:p>
          </p:txBody>
        </p:sp>
        <p:sp>
          <p:nvSpPr>
            <p:cNvPr id="120858" name="Rectangle 29"/>
            <p:cNvSpPr>
              <a:spLocks noChangeArrowheads="1"/>
            </p:cNvSpPr>
            <p:nvPr/>
          </p:nvSpPr>
          <p:spPr bwMode="auto">
            <a:xfrm>
              <a:off x="4013" y="1243"/>
              <a:ext cx="308"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队头</a:t>
              </a:r>
            </a:p>
          </p:txBody>
        </p:sp>
        <p:sp>
          <p:nvSpPr>
            <p:cNvPr id="120859" name="Rectangle 30"/>
            <p:cNvSpPr>
              <a:spLocks noChangeArrowheads="1"/>
            </p:cNvSpPr>
            <p:nvPr/>
          </p:nvSpPr>
          <p:spPr bwMode="auto">
            <a:xfrm>
              <a:off x="3980" y="3047"/>
              <a:ext cx="308"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队尾</a:t>
              </a:r>
            </a:p>
          </p:txBody>
        </p:sp>
        <p:sp>
          <p:nvSpPr>
            <p:cNvPr id="120860" name="Rectangle 31"/>
            <p:cNvSpPr>
              <a:spLocks noChangeArrowheads="1"/>
            </p:cNvSpPr>
            <p:nvPr/>
          </p:nvSpPr>
          <p:spPr bwMode="auto">
            <a:xfrm>
              <a:off x="1585" y="559"/>
              <a:ext cx="421"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err="1">
                  <a:ln>
                    <a:noFill/>
                  </a:ln>
                  <a:solidFill>
                    <a:schemeClr val="bg1"/>
                  </a:solidFill>
                  <a:effectLst/>
                  <a:uLnTx/>
                  <a:uFillTx/>
                  <a:latin typeface="+mn-lt"/>
                  <a:ea typeface="+mn-ea"/>
                  <a:cs typeface="+mn-ea"/>
                  <a:sym typeface="+mn-lt"/>
                </a:rPr>
                <a:t>Q.front</a:t>
              </a:r>
              <a:endPar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20861" name="Rectangle 32"/>
            <p:cNvSpPr>
              <a:spLocks noChangeArrowheads="1"/>
            </p:cNvSpPr>
            <p:nvPr/>
          </p:nvSpPr>
          <p:spPr bwMode="auto">
            <a:xfrm>
              <a:off x="2121" y="1757"/>
              <a:ext cx="852" cy="293"/>
            </a:xfrm>
            <a:prstGeom prst="rect">
              <a:avLst/>
            </a:prstGeom>
            <a:solidFill>
              <a:srgbClr val="FFFFFF"/>
            </a:solidFill>
            <a:ln w="14288">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62" name="Rectangle 33"/>
            <p:cNvSpPr>
              <a:spLocks noChangeArrowheads="1"/>
            </p:cNvSpPr>
            <p:nvPr/>
          </p:nvSpPr>
          <p:spPr bwMode="auto">
            <a:xfrm>
              <a:off x="2973" y="1757"/>
              <a:ext cx="853" cy="293"/>
            </a:xfrm>
            <a:prstGeom prst="rect">
              <a:avLst/>
            </a:prstGeom>
            <a:solidFill>
              <a:srgbClr val="FFFFFF"/>
            </a:solidFill>
            <a:ln w="14288">
              <a:solidFill>
                <a:srgbClr val="000000"/>
              </a:solidFill>
              <a:miter lim="800000"/>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63" name="Line 34"/>
            <p:cNvSpPr>
              <a:spLocks noChangeShapeType="1"/>
            </p:cNvSpPr>
            <p:nvPr/>
          </p:nvSpPr>
          <p:spPr bwMode="auto">
            <a:xfrm>
              <a:off x="3381" y="1919"/>
              <a:ext cx="1" cy="36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64" name="Freeform 35"/>
            <p:cNvSpPr>
              <a:spLocks noChangeArrowheads="1"/>
            </p:cNvSpPr>
            <p:nvPr/>
          </p:nvSpPr>
          <p:spPr bwMode="auto">
            <a:xfrm>
              <a:off x="3342" y="2262"/>
              <a:ext cx="78" cy="68"/>
            </a:xfrm>
            <a:custGeom>
              <a:avLst/>
              <a:gdLst>
                <a:gd name="T0" fmla="*/ 39 w 78"/>
                <a:gd name="T1" fmla="*/ 68 h 68"/>
                <a:gd name="T2" fmla="*/ 0 w 78"/>
                <a:gd name="T3" fmla="*/ 0 h 68"/>
                <a:gd name="T4" fmla="*/ 21 w 78"/>
                <a:gd name="T5" fmla="*/ 7 h 68"/>
                <a:gd name="T6" fmla="*/ 39 w 78"/>
                <a:gd name="T7" fmla="*/ 8 h 68"/>
                <a:gd name="T8" fmla="*/ 59 w 78"/>
                <a:gd name="T9" fmla="*/ 7 h 68"/>
                <a:gd name="T10" fmla="*/ 78 w 78"/>
                <a:gd name="T11" fmla="*/ 0 h 68"/>
                <a:gd name="T12" fmla="*/ 39 w 78"/>
                <a:gd name="T13" fmla="*/ 68 h 68"/>
              </a:gdLst>
              <a:ahLst/>
              <a:cxnLst>
                <a:cxn ang="0">
                  <a:pos x="T0" y="T1"/>
                </a:cxn>
                <a:cxn ang="0">
                  <a:pos x="T2" y="T3"/>
                </a:cxn>
                <a:cxn ang="0">
                  <a:pos x="T4" y="T5"/>
                </a:cxn>
                <a:cxn ang="0">
                  <a:pos x="T6" y="T7"/>
                </a:cxn>
                <a:cxn ang="0">
                  <a:pos x="T8" y="T9"/>
                </a:cxn>
                <a:cxn ang="0">
                  <a:pos x="T10" y="T11"/>
                </a:cxn>
                <a:cxn ang="0">
                  <a:pos x="T12" y="T13"/>
                </a:cxn>
              </a:cxnLst>
              <a:rect l="0" t="0" r="r" b="b"/>
              <a:pathLst>
                <a:path w="78" h="68">
                  <a:moveTo>
                    <a:pt x="39" y="68"/>
                  </a:moveTo>
                  <a:lnTo>
                    <a:pt x="0" y="0"/>
                  </a:lnTo>
                  <a:lnTo>
                    <a:pt x="21" y="7"/>
                  </a:lnTo>
                  <a:lnTo>
                    <a:pt x="39" y="8"/>
                  </a:lnTo>
                  <a:lnTo>
                    <a:pt x="59" y="7"/>
                  </a:lnTo>
                  <a:lnTo>
                    <a:pt x="78" y="0"/>
                  </a:lnTo>
                  <a:lnTo>
                    <a:pt x="39" y="6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65" name="Rectangle 36"/>
            <p:cNvSpPr>
              <a:spLocks noChangeArrowheads="1"/>
            </p:cNvSpPr>
            <p:nvPr/>
          </p:nvSpPr>
          <p:spPr bwMode="auto">
            <a:xfrm>
              <a:off x="1568" y="2938"/>
              <a:ext cx="376"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Q.rear</a:t>
              </a:r>
            </a:p>
          </p:txBody>
        </p:sp>
        <p:sp>
          <p:nvSpPr>
            <p:cNvPr id="120866" name="Line 37"/>
            <p:cNvSpPr>
              <a:spLocks noChangeShapeType="1"/>
            </p:cNvSpPr>
            <p:nvPr/>
          </p:nvSpPr>
          <p:spPr bwMode="auto">
            <a:xfrm>
              <a:off x="1542" y="3181"/>
              <a:ext cx="521" cy="1"/>
            </a:xfrm>
            <a:prstGeom prst="line">
              <a:avLst/>
            </a:prstGeom>
            <a:noFill/>
            <a:ln w="14288">
              <a:solidFill>
                <a:schemeClr val="bg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20867" name="Freeform 38"/>
            <p:cNvSpPr>
              <a:spLocks noChangeArrowheads="1"/>
            </p:cNvSpPr>
            <p:nvPr/>
          </p:nvSpPr>
          <p:spPr bwMode="auto">
            <a:xfrm>
              <a:off x="2043" y="3148"/>
              <a:ext cx="78" cy="67"/>
            </a:xfrm>
            <a:custGeom>
              <a:avLst/>
              <a:gdLst>
                <a:gd name="T0" fmla="*/ 78 w 78"/>
                <a:gd name="T1" fmla="*/ 33 h 67"/>
                <a:gd name="T2" fmla="*/ 0 w 78"/>
                <a:gd name="T3" fmla="*/ 67 h 67"/>
                <a:gd name="T4" fmla="*/ 7 w 78"/>
                <a:gd name="T5" fmla="*/ 50 h 67"/>
                <a:gd name="T6" fmla="*/ 10 w 78"/>
                <a:gd name="T7" fmla="*/ 33 h 67"/>
                <a:gd name="T8" fmla="*/ 7 w 78"/>
                <a:gd name="T9" fmla="*/ 17 h 67"/>
                <a:gd name="T10" fmla="*/ 0 w 78"/>
                <a:gd name="T11" fmla="*/ 0 h 67"/>
                <a:gd name="T12" fmla="*/ 78 w 78"/>
                <a:gd name="T13" fmla="*/ 33 h 67"/>
              </a:gdLst>
              <a:ahLst/>
              <a:cxnLst>
                <a:cxn ang="0">
                  <a:pos x="T0" y="T1"/>
                </a:cxn>
                <a:cxn ang="0">
                  <a:pos x="T2" y="T3"/>
                </a:cxn>
                <a:cxn ang="0">
                  <a:pos x="T4" y="T5"/>
                </a:cxn>
                <a:cxn ang="0">
                  <a:pos x="T6" y="T7"/>
                </a:cxn>
                <a:cxn ang="0">
                  <a:pos x="T8" y="T9"/>
                </a:cxn>
                <a:cxn ang="0">
                  <a:pos x="T10" y="T11"/>
                </a:cxn>
                <a:cxn ang="0">
                  <a:pos x="T12" y="T13"/>
                </a:cxn>
              </a:cxnLst>
              <a:rect l="0" t="0" r="r" b="b"/>
              <a:pathLst>
                <a:path w="78" h="67">
                  <a:moveTo>
                    <a:pt x="78" y="33"/>
                  </a:moveTo>
                  <a:lnTo>
                    <a:pt x="0" y="67"/>
                  </a:lnTo>
                  <a:lnTo>
                    <a:pt x="7" y="50"/>
                  </a:lnTo>
                  <a:lnTo>
                    <a:pt x="10" y="33"/>
                  </a:lnTo>
                  <a:lnTo>
                    <a:pt x="7" y="17"/>
                  </a:lnTo>
                  <a:lnTo>
                    <a:pt x="0" y="0"/>
                  </a:lnTo>
                  <a:lnTo>
                    <a:pt x="78" y="33"/>
                  </a:lnTo>
                  <a:close/>
                </a:path>
              </a:pathLst>
            </a:custGeom>
            <a:solidFill>
              <a:schemeClr val="bg1"/>
            </a:solidFill>
            <a:ln w="9525">
              <a:solidFill>
                <a:schemeClr val="bg1"/>
              </a:solidFill>
              <a:round/>
            </a:ln>
          </p:spPr>
          <p:txBody>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688167" name="Comment 39"/>
          <p:cNvSpPr>
            <a:spLocks noChangeArrowheads="1"/>
          </p:cNvSpPr>
          <p:nvPr/>
        </p:nvSpPr>
        <p:spPr bwMode="auto">
          <a:xfrm>
            <a:off x="831850" y="215900"/>
            <a:ext cx="2743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链队列</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auto">
          <a:xfrm>
            <a:off x="3175" y="1187450"/>
            <a:ext cx="9144000" cy="4689475"/>
          </a:xfrm>
          <a:prstGeom prst="rect">
            <a:avLst/>
          </a:prstGeom>
          <a:solidFill>
            <a:schemeClr val="accent1">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 name="矩形 6"/>
          <p:cNvSpPr/>
          <p:nvPr/>
        </p:nvSpPr>
        <p:spPr bwMode="auto">
          <a:xfrm flipV="1">
            <a:off x="-3175" y="6102350"/>
            <a:ext cx="9180513" cy="144463"/>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21859" name="Rectangle 3"/>
          <p:cNvSpPr>
            <a:spLocks noGrp="1" noChangeArrowheads="1"/>
          </p:cNvSpPr>
          <p:nvPr>
            <p:ph idx="1"/>
          </p:nvPr>
        </p:nvSpPr>
        <p:spPr>
          <a:xfrm>
            <a:off x="755650" y="1392238"/>
            <a:ext cx="6985000" cy="4897438"/>
          </a:xfrm>
        </p:spPr>
        <p:txBody>
          <a:bodyPr vert="horz" wrap="square" lIns="91440" tIns="45720" rIns="91440" bIns="45720" numCol="1" anchor="t" anchorCtr="0" compatLnSpc="1"/>
          <a:lstStyle/>
          <a:p>
            <a:pPr marL="0" marR="0" lvl="0" indent="538480" algn="just"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typedef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struct</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smtClean="0">
                <a:ln>
                  <a:noFill/>
                </a:ln>
                <a:solidFill>
                  <a:schemeClr val="tx1"/>
                </a:solidFill>
                <a:effectLst/>
                <a:uLnTx/>
                <a:uFillTx/>
                <a:latin typeface="+mn-lt"/>
                <a:ea typeface="+mn-ea"/>
                <a:cs typeface="+mn-ea"/>
                <a:sym typeface="+mn-lt"/>
              </a:rPr>
              <a:t>Qnode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p>
          <a:p>
            <a:pPr marL="0" marR="0" lvl="0" indent="538480" algn="just"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QElemType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data;</a:t>
            </a:r>
          </a:p>
          <a:p>
            <a:pPr marL="0" marR="0" lvl="0" indent="538480" algn="just"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struct</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smtClean="0">
                <a:ln>
                  <a:noFill/>
                </a:ln>
                <a:solidFill>
                  <a:schemeClr val="tx1"/>
                </a:solidFill>
                <a:effectLst/>
                <a:uLnTx/>
                <a:uFillTx/>
                <a:latin typeface="+mn-lt"/>
                <a:ea typeface="+mn-ea"/>
                <a:cs typeface="+mn-ea"/>
                <a:sym typeface="+mn-lt"/>
              </a:rPr>
              <a:t>Qnode</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*next;</a:t>
            </a:r>
          </a:p>
          <a:p>
            <a:pPr marL="0" marR="0" lvl="0" indent="538480" algn="just"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0" cap="none" spc="0" normalizeH="0" baseline="0" noProof="0" dirty="0" err="1" smtClean="0">
                <a:ln>
                  <a:noFill/>
                </a:ln>
                <a:solidFill>
                  <a:schemeClr val="tx1"/>
                </a:solidFill>
                <a:effectLst/>
                <a:uLnTx/>
                <a:uFillTx/>
                <a:latin typeface="+mn-lt"/>
                <a:ea typeface="+mn-ea"/>
                <a:cs typeface="+mn-ea"/>
                <a:sym typeface="+mn-lt"/>
              </a:rPr>
              <a:t>QNode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QueuePtr</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p>
          <a:p>
            <a:pPr marL="0" marR="0" lvl="0" indent="538480" algn="just"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typedef struct {</a:t>
            </a:r>
          </a:p>
          <a:p>
            <a:pPr marL="0" marR="0" lvl="0" indent="538480" algn="just"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QueuePtr</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front;            //</a:t>
            </a:r>
            <a:r>
              <a:rPr kumimoji="0" lang="zh-CN" altLang="en-US" sz="2800" b="0" i="0" u="none" strike="noStrike" kern="0" cap="none" spc="0" normalizeH="0" baseline="0" noProof="0" dirty="0">
                <a:ln>
                  <a:noFill/>
                </a:ln>
                <a:solidFill>
                  <a:schemeClr val="tx1"/>
                </a:solidFill>
                <a:effectLst/>
                <a:uLnTx/>
                <a:uFillTx/>
                <a:latin typeface="+mn-lt"/>
                <a:ea typeface="+mn-ea"/>
                <a:cs typeface="+mn-ea"/>
                <a:sym typeface="+mn-lt"/>
              </a:rPr>
              <a:t>队</a:t>
            </a:r>
            <a:r>
              <a:rPr kumimoji="0" lang="zh-CN" altLang="zh-CN" sz="2800" b="0" i="0" u="none" strike="noStrike" kern="0" cap="none" spc="0" normalizeH="0" baseline="0" noProof="0" dirty="0">
                <a:ln>
                  <a:noFill/>
                </a:ln>
                <a:solidFill>
                  <a:schemeClr val="tx1"/>
                </a:solidFill>
                <a:effectLst/>
                <a:uLnTx/>
                <a:uFillTx/>
                <a:latin typeface="+mn-lt"/>
                <a:ea typeface="+mn-ea"/>
                <a:cs typeface="+mn-ea"/>
                <a:sym typeface="+mn-lt"/>
              </a:rPr>
              <a:t>头指针</a:t>
            </a:r>
            <a:r>
              <a:rPr kumimoji="0" lang="zh-CN" altLang="en-US" sz="2800" b="0" i="0" u="none" strike="noStrike" kern="0" cap="none" spc="0" normalizeH="0" baseline="0" noProof="0" dirty="0">
                <a:ln>
                  <a:noFill/>
                </a:ln>
                <a:solidFill>
                  <a:schemeClr val="tx1"/>
                </a:solidFill>
                <a:effectLst/>
                <a:uLnTx/>
                <a:uFillTx/>
                <a:latin typeface="+mn-lt"/>
                <a:ea typeface="+mn-ea"/>
                <a:cs typeface="+mn-ea"/>
                <a:sym typeface="+mn-lt"/>
              </a:rPr>
              <a:t>   </a:t>
            </a:r>
          </a:p>
          <a:p>
            <a:pPr marL="0" marR="0" lvl="0" indent="538480" algn="just" defTabSz="914400" rtl="0" eaLnBrk="0" fontAlgn="base" latinLnBrk="0" hangingPunct="0">
              <a:lnSpc>
                <a:spcPct val="12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QueuePtr</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rear;             //</a:t>
            </a:r>
            <a:r>
              <a:rPr kumimoji="0" lang="zh-CN" altLang="en-US" sz="2800" b="0" i="0" u="none" strike="noStrike" kern="0" cap="none" spc="0" normalizeH="0" baseline="0" noProof="0" dirty="0">
                <a:ln>
                  <a:noFill/>
                </a:ln>
                <a:solidFill>
                  <a:schemeClr val="tx1"/>
                </a:solidFill>
                <a:effectLst/>
                <a:uLnTx/>
                <a:uFillTx/>
                <a:latin typeface="+mn-lt"/>
                <a:ea typeface="+mn-ea"/>
                <a:cs typeface="+mn-ea"/>
                <a:sym typeface="+mn-lt"/>
              </a:rPr>
              <a:t>队尾指针</a:t>
            </a:r>
          </a:p>
          <a:p>
            <a:pPr marL="0" marR="0" lvl="0" indent="538480" algn="just"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LinkQueue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p>
          <a:p>
            <a:pPr marL="0" marR="0" lvl="0" indent="538480" algn="just" defTabSz="914400" rtl="0" eaLnBrk="0" fontAlgn="base" latinLnBrk="0" hangingPunct="0">
              <a:lnSpc>
                <a:spcPct val="12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p>
        </p:txBody>
      </p:sp>
      <p:sp>
        <p:nvSpPr>
          <p:cNvPr id="689159" name="Comment 7"/>
          <p:cNvSpPr>
            <a:spLocks noChangeArrowheads="1"/>
          </p:cNvSpPr>
          <p:nvPr/>
        </p:nvSpPr>
        <p:spPr bwMode="auto">
          <a:xfrm>
            <a:off x="900113" y="206375"/>
            <a:ext cx="2743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链队列</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6194" name="Object 2"/>
          <p:cNvGraphicFramePr/>
          <p:nvPr/>
        </p:nvGraphicFramePr>
        <p:xfrm>
          <a:off x="900113" y="2327275"/>
          <a:ext cx="3355975" cy="815975"/>
        </p:xfrm>
        <a:graphic>
          <a:graphicData uri="http://schemas.openxmlformats.org/presentationml/2006/ole">
            <mc:AlternateContent xmlns:mc="http://schemas.openxmlformats.org/markup-compatibility/2006">
              <mc:Choice xmlns:v="urn:schemas-microsoft-com:vml" Requires="v">
                <p:oleObj spid="_x0000_s9285" r:id="rId3" imgW="3369310" imgH="829310" progId="Visio.Drawing.5">
                  <p:embed/>
                </p:oleObj>
              </mc:Choice>
              <mc:Fallback>
                <p:oleObj r:id="rId3" imgW="3369310" imgH="829310" progId="Visio.Drawing.5">
                  <p:embed/>
                  <p:pic>
                    <p:nvPicPr>
                      <p:cNvPr id="0" name="图片 3084"/>
                      <p:cNvPicPr/>
                      <p:nvPr/>
                    </p:nvPicPr>
                    <p:blipFill>
                      <a:blip r:embed="rId4"/>
                      <a:stretch>
                        <a:fillRect/>
                      </a:stretch>
                    </p:blipFill>
                    <p:spPr>
                      <a:xfrm>
                        <a:off x="900113" y="2327275"/>
                        <a:ext cx="3355975" cy="815975"/>
                      </a:xfrm>
                      <a:prstGeom prst="rect">
                        <a:avLst/>
                      </a:prstGeom>
                      <a:solidFill>
                        <a:schemeClr val="accent1"/>
                      </a:solidFill>
                      <a:ln w="38100">
                        <a:noFill/>
                        <a:miter/>
                      </a:ln>
                    </p:spPr>
                  </p:pic>
                </p:oleObj>
              </mc:Fallback>
            </mc:AlternateContent>
          </a:graphicData>
        </a:graphic>
      </p:graphicFrame>
      <p:graphicFrame>
        <p:nvGraphicFramePr>
          <p:cNvPr id="136195" name="Object 3"/>
          <p:cNvGraphicFramePr/>
          <p:nvPr/>
        </p:nvGraphicFramePr>
        <p:xfrm>
          <a:off x="900113" y="3871913"/>
          <a:ext cx="4457700" cy="817562"/>
        </p:xfrm>
        <a:graphic>
          <a:graphicData uri="http://schemas.openxmlformats.org/presentationml/2006/ole">
            <mc:AlternateContent xmlns:mc="http://schemas.openxmlformats.org/markup-compatibility/2006">
              <mc:Choice xmlns:v="urn:schemas-microsoft-com:vml" Requires="v">
                <p:oleObj spid="_x0000_s9286" r:id="rId5" imgW="4465320" imgH="829310" progId="Visio.Drawing.5">
                  <p:embed/>
                </p:oleObj>
              </mc:Choice>
              <mc:Fallback>
                <p:oleObj r:id="rId5" imgW="4465320" imgH="829310" progId="Visio.Drawing.5">
                  <p:embed/>
                  <p:pic>
                    <p:nvPicPr>
                      <p:cNvPr id="0" name="图片 3081"/>
                      <p:cNvPicPr/>
                      <p:nvPr/>
                    </p:nvPicPr>
                    <p:blipFill>
                      <a:blip r:embed="rId6"/>
                      <a:stretch>
                        <a:fillRect/>
                      </a:stretch>
                    </p:blipFill>
                    <p:spPr>
                      <a:xfrm>
                        <a:off x="900113" y="3871913"/>
                        <a:ext cx="4457700" cy="817562"/>
                      </a:xfrm>
                      <a:prstGeom prst="rect">
                        <a:avLst/>
                      </a:prstGeom>
                      <a:solidFill>
                        <a:schemeClr val="accent1"/>
                      </a:solidFill>
                      <a:ln w="38100">
                        <a:noFill/>
                        <a:miter/>
                      </a:ln>
                    </p:spPr>
                  </p:pic>
                </p:oleObj>
              </mc:Fallback>
            </mc:AlternateContent>
          </a:graphicData>
        </a:graphic>
      </p:graphicFrame>
      <p:graphicFrame>
        <p:nvGraphicFramePr>
          <p:cNvPr id="136196" name="Object 4"/>
          <p:cNvGraphicFramePr/>
          <p:nvPr/>
        </p:nvGraphicFramePr>
        <p:xfrm>
          <a:off x="900113" y="5232400"/>
          <a:ext cx="4484687" cy="1036638"/>
        </p:xfrm>
        <a:graphic>
          <a:graphicData uri="http://schemas.openxmlformats.org/presentationml/2006/ole">
            <mc:AlternateContent xmlns:mc="http://schemas.openxmlformats.org/markup-compatibility/2006">
              <mc:Choice xmlns:v="urn:schemas-microsoft-com:vml" Requires="v">
                <p:oleObj spid="_x0000_s9287" r:id="rId7" imgW="4494530" imgH="1050290" progId="Visio.Drawing.5">
                  <p:embed/>
                </p:oleObj>
              </mc:Choice>
              <mc:Fallback>
                <p:oleObj r:id="rId7" imgW="4494530" imgH="1050290" progId="Visio.Drawing.5">
                  <p:embed/>
                  <p:pic>
                    <p:nvPicPr>
                      <p:cNvPr id="0" name="图片 3082"/>
                      <p:cNvPicPr/>
                      <p:nvPr/>
                    </p:nvPicPr>
                    <p:blipFill>
                      <a:blip r:embed="rId8"/>
                      <a:stretch>
                        <a:fillRect/>
                      </a:stretch>
                    </p:blipFill>
                    <p:spPr>
                      <a:xfrm>
                        <a:off x="900113" y="5232400"/>
                        <a:ext cx="4484687" cy="1036638"/>
                      </a:xfrm>
                      <a:prstGeom prst="rect">
                        <a:avLst/>
                      </a:prstGeom>
                      <a:solidFill>
                        <a:schemeClr val="accent1"/>
                      </a:solidFill>
                      <a:ln w="38100">
                        <a:noFill/>
                        <a:miter/>
                      </a:ln>
                    </p:spPr>
                  </p:pic>
                </p:oleObj>
              </mc:Fallback>
            </mc:AlternateContent>
          </a:graphicData>
        </a:graphic>
      </p:graphicFrame>
      <p:sp>
        <p:nvSpPr>
          <p:cNvPr id="122886" name="Text Box 5"/>
          <p:cNvSpPr txBox="1">
            <a:spLocks noChangeArrowheads="1"/>
          </p:cNvSpPr>
          <p:nvPr/>
        </p:nvSpPr>
        <p:spPr bwMode="auto">
          <a:xfrm>
            <a:off x="900113" y="1789113"/>
            <a:ext cx="1525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空队列</a:t>
            </a:r>
          </a:p>
        </p:txBody>
      </p:sp>
      <p:sp>
        <p:nvSpPr>
          <p:cNvPr id="122887" name="Text Box 6"/>
          <p:cNvSpPr txBox="1">
            <a:spLocks noChangeArrowheads="1"/>
          </p:cNvSpPr>
          <p:nvPr/>
        </p:nvSpPr>
        <p:spPr bwMode="auto">
          <a:xfrm>
            <a:off x="900113" y="3267075"/>
            <a:ext cx="2312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(b) </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元素</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x</a:t>
            </a: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入</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队列</a:t>
            </a:r>
          </a:p>
        </p:txBody>
      </p:sp>
      <p:sp>
        <p:nvSpPr>
          <p:cNvPr id="122888" name="Text Box 8"/>
          <p:cNvSpPr txBox="1">
            <a:spLocks noChangeArrowheads="1"/>
          </p:cNvSpPr>
          <p:nvPr/>
        </p:nvSpPr>
        <p:spPr bwMode="auto">
          <a:xfrm>
            <a:off x="933450" y="6384925"/>
            <a:ext cx="2312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(d) </a:t>
            </a:r>
            <a:r>
              <a:rPr kumimoji="0" lang="zh-CN" altLang="zh-CN" sz="2400" b="0" i="0" u="none" strike="noStrike" kern="1200" cap="none" spc="0" normalizeH="0" baseline="0" noProof="0">
                <a:ln>
                  <a:noFill/>
                </a:ln>
                <a:solidFill>
                  <a:schemeClr val="tx1"/>
                </a:solidFill>
                <a:effectLst/>
                <a:uLnTx/>
                <a:uFillTx/>
                <a:latin typeface="+mn-lt"/>
                <a:ea typeface="+mn-ea"/>
                <a:cs typeface="+mn-ea"/>
                <a:sym typeface="+mn-lt"/>
              </a:rPr>
              <a:t>元素</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x</a:t>
            </a:r>
            <a:r>
              <a:rPr kumimoji="0" lang="zh-CN" altLang="zh-CN" sz="2400" b="0" i="0" u="none" strike="noStrike" kern="1200" cap="none" spc="0" normalizeH="0" baseline="0" noProof="0">
                <a:ln>
                  <a:noFill/>
                </a:ln>
                <a:solidFill>
                  <a:schemeClr val="tx1"/>
                </a:solidFill>
                <a:effectLst/>
                <a:uLnTx/>
                <a:uFillTx/>
                <a:latin typeface="+mn-lt"/>
                <a:ea typeface="+mn-ea"/>
                <a:cs typeface="+mn-ea"/>
                <a:sym typeface="+mn-lt"/>
              </a:rPr>
              <a:t>出</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队列</a:t>
            </a:r>
          </a:p>
        </p:txBody>
      </p:sp>
      <p:graphicFrame>
        <p:nvGraphicFramePr>
          <p:cNvPr id="136200" name="Object 9"/>
          <p:cNvGraphicFramePr/>
          <p:nvPr/>
        </p:nvGraphicFramePr>
        <p:xfrm>
          <a:off x="900113" y="1001713"/>
          <a:ext cx="2230437" cy="755650"/>
        </p:xfrm>
        <a:graphic>
          <a:graphicData uri="http://schemas.openxmlformats.org/presentationml/2006/ole">
            <mc:AlternateContent xmlns:mc="http://schemas.openxmlformats.org/markup-compatibility/2006">
              <mc:Choice xmlns:v="urn:schemas-microsoft-com:vml" Requires="v">
                <p:oleObj spid="_x0000_s9288" r:id="rId9" imgW="2232660" imgH="758825" progId="Visio.Drawing.5">
                  <p:embed/>
                </p:oleObj>
              </mc:Choice>
              <mc:Fallback>
                <p:oleObj r:id="rId9" imgW="2232660" imgH="758825" progId="Visio.Drawing.5">
                  <p:embed/>
                  <p:pic>
                    <p:nvPicPr>
                      <p:cNvPr id="0" name="图片 3083"/>
                      <p:cNvPicPr/>
                      <p:nvPr/>
                    </p:nvPicPr>
                    <p:blipFill>
                      <a:blip r:embed="rId10"/>
                      <a:stretch>
                        <a:fillRect/>
                      </a:stretch>
                    </p:blipFill>
                    <p:spPr>
                      <a:xfrm>
                        <a:off x="900113" y="1001713"/>
                        <a:ext cx="2230437" cy="755650"/>
                      </a:xfrm>
                      <a:prstGeom prst="rect">
                        <a:avLst/>
                      </a:prstGeom>
                      <a:solidFill>
                        <a:schemeClr val="accent1"/>
                      </a:solidFill>
                      <a:ln w="38100">
                        <a:noFill/>
                        <a:miter/>
                      </a:ln>
                    </p:spPr>
                  </p:pic>
                </p:oleObj>
              </mc:Fallback>
            </mc:AlternateContent>
          </a:graphicData>
        </a:graphic>
      </p:graphicFrame>
      <p:sp>
        <p:nvSpPr>
          <p:cNvPr id="122890" name="Text Box 10"/>
          <p:cNvSpPr txBox="1">
            <a:spLocks noChangeArrowheads="1"/>
          </p:cNvSpPr>
          <p:nvPr/>
        </p:nvSpPr>
        <p:spPr bwMode="auto">
          <a:xfrm>
            <a:off x="919163" y="4689475"/>
            <a:ext cx="2295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(c) </a:t>
            </a:r>
            <a:r>
              <a:rPr kumimoji="0" lang="zh-CN" altLang="zh-CN" sz="2400" b="0" i="0" u="none" strike="noStrike" kern="1200" cap="none" spc="0" normalizeH="0" baseline="0" noProof="0">
                <a:ln>
                  <a:noFill/>
                </a:ln>
                <a:solidFill>
                  <a:schemeClr val="tx1"/>
                </a:solidFill>
                <a:effectLst/>
                <a:uLnTx/>
                <a:uFillTx/>
                <a:latin typeface="+mn-lt"/>
                <a:ea typeface="+mn-ea"/>
                <a:cs typeface="+mn-ea"/>
                <a:sym typeface="+mn-lt"/>
              </a:rPr>
              <a:t>元素</a:t>
            </a:r>
            <a:r>
              <a:rPr kumimoji="0" lang="en-US" altLang="zh-CN" sz="2400" b="0" i="0" u="none" strike="noStrike" kern="1200" cap="none" spc="0" normalizeH="0" baseline="0" noProof="0">
                <a:ln>
                  <a:noFill/>
                </a:ln>
                <a:solidFill>
                  <a:schemeClr val="tx1"/>
                </a:solidFill>
                <a:effectLst/>
                <a:uLnTx/>
                <a:uFillTx/>
                <a:latin typeface="+mn-lt"/>
                <a:ea typeface="+mn-ea"/>
                <a:cs typeface="+mn-ea"/>
                <a:sym typeface="+mn-lt"/>
              </a:rPr>
              <a:t>y</a:t>
            </a:r>
            <a:r>
              <a:rPr kumimoji="0" lang="zh-CN" altLang="zh-CN" sz="2400" b="0" i="0" u="none" strike="noStrike" kern="1200" cap="none" spc="0" normalizeH="0" baseline="0" noProof="0">
                <a:ln>
                  <a:noFill/>
                </a:ln>
                <a:solidFill>
                  <a:schemeClr val="tx1"/>
                </a:solidFill>
                <a:effectLst/>
                <a:uLnTx/>
                <a:uFillTx/>
                <a:latin typeface="+mn-lt"/>
                <a:ea typeface="+mn-ea"/>
                <a:cs typeface="+mn-ea"/>
                <a:sym typeface="+mn-lt"/>
              </a:rPr>
              <a:t>入</a:t>
            </a:r>
            <a:r>
              <a:rPr kumimoji="0" lang="zh-CN" altLang="en-US" sz="2400" b="0" i="0" u="none" strike="noStrike" kern="1200" cap="none" spc="0" normalizeH="0" baseline="0" noProof="0">
                <a:ln>
                  <a:noFill/>
                </a:ln>
                <a:solidFill>
                  <a:schemeClr val="tx1"/>
                </a:solidFill>
                <a:effectLst/>
                <a:uLnTx/>
                <a:uFillTx/>
                <a:latin typeface="+mn-lt"/>
                <a:ea typeface="+mn-ea"/>
                <a:cs typeface="+mn-ea"/>
                <a:sym typeface="+mn-lt"/>
              </a:rPr>
              <a:t>队列</a:t>
            </a:r>
          </a:p>
        </p:txBody>
      </p:sp>
      <p:sp>
        <p:nvSpPr>
          <p:cNvPr id="690187" name="Comment 11"/>
          <p:cNvSpPr>
            <a:spLocks noChangeArrowheads="1"/>
          </p:cNvSpPr>
          <p:nvPr/>
        </p:nvSpPr>
        <p:spPr bwMode="auto">
          <a:xfrm>
            <a:off x="827088" y="195263"/>
            <a:ext cx="2743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链队列</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auto">
          <a:xfrm>
            <a:off x="3175" y="1628775"/>
            <a:ext cx="9144000" cy="4608513"/>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23907" name="Rectangle 3"/>
          <p:cNvSpPr>
            <a:spLocks noGrp="1" noChangeArrowheads="1"/>
          </p:cNvSpPr>
          <p:nvPr>
            <p:ph idx="1"/>
          </p:nvPr>
        </p:nvSpPr>
        <p:spPr>
          <a:xfrm>
            <a:off x="225425" y="1989138"/>
            <a:ext cx="8915400" cy="2879725"/>
          </a:xfrm>
        </p:spPr>
        <p:txBody>
          <a:bodyPr vert="horz" wrap="square" lIns="91440" tIns="45720" rIns="91440" bIns="45720" numCol="1" anchor="t" anchorCtr="0" compatLnSpc="1"/>
          <a:lstStyle/>
          <a:p>
            <a:pPr marL="0" marR="0" lvl="0" indent="538480" algn="l" defTabSz="914400" rtl="0" eaLnBrk="0" fontAlgn="base" latinLnBrk="0" hangingPunct="0">
              <a:lnSpc>
                <a:spcPct val="11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Status </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InitQueue</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LinkQueue</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&amp;Q){</a:t>
            </a:r>
          </a:p>
          <a:p>
            <a:pPr marL="0" marR="0" lvl="0" indent="538480" algn="l" defTabSz="914400" rtl="0" eaLnBrk="0" fontAlgn="base" latinLnBrk="0" hangingPunct="0">
              <a:lnSpc>
                <a:spcPct val="11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Q.front</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Q.rear</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QueuePtr</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malloc(</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sizeof</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QNode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p>
          <a:p>
            <a:pPr marL="0" marR="0" lvl="0" indent="538480" algn="l" defTabSz="914400" rtl="0" eaLnBrk="0" fontAlgn="base" latinLnBrk="0" hangingPunct="0">
              <a:lnSpc>
                <a:spcPct val="11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if(!</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Q.front</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exit(OVERFLOW);</a:t>
            </a:r>
          </a:p>
          <a:p>
            <a:pPr marL="0" marR="0" lvl="0" indent="538480" algn="l" defTabSz="914400" rtl="0" eaLnBrk="0" fontAlgn="base" latinLnBrk="0" hangingPunct="0">
              <a:lnSpc>
                <a:spcPct val="11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Q.front</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-&gt;next=NULL;</a:t>
            </a:r>
          </a:p>
          <a:p>
            <a:pPr marL="0" marR="0" lvl="0" indent="538480" algn="l" defTabSz="914400" rtl="0" eaLnBrk="0" fontAlgn="base" latinLnBrk="0" hangingPunct="0">
              <a:lnSpc>
                <a:spcPct val="11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return OK;</a:t>
            </a:r>
          </a:p>
          <a:p>
            <a:pPr marL="0" marR="0" lvl="0" indent="538480" algn="l" defTabSz="914400" rtl="0" eaLnBrk="0" fontAlgn="base" latinLnBrk="0" hangingPunct="0">
              <a:lnSpc>
                <a:spcPct val="11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t>
            </a:r>
          </a:p>
        </p:txBody>
      </p:sp>
      <p:sp>
        <p:nvSpPr>
          <p:cNvPr id="691204" name="Comment 4"/>
          <p:cNvSpPr>
            <a:spLocks noChangeArrowheads="1"/>
          </p:cNvSpPr>
          <p:nvPr/>
        </p:nvSpPr>
        <p:spPr bwMode="auto">
          <a:xfrm>
            <a:off x="827088" y="188913"/>
            <a:ext cx="34671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链队列初始化</a:t>
            </a:r>
          </a:p>
        </p:txBody>
      </p:sp>
      <p:sp>
        <p:nvSpPr>
          <p:cNvPr id="137221" name="矩形 6"/>
          <p:cNvSpPr/>
          <p:nvPr/>
        </p:nvSpPr>
        <p:spPr>
          <a:xfrm>
            <a:off x="-36512" y="5111750"/>
            <a:ext cx="9180512" cy="46038"/>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7222" name="矩形 7"/>
          <p:cNvSpPr/>
          <p:nvPr/>
        </p:nvSpPr>
        <p:spPr>
          <a:xfrm>
            <a:off x="-36512" y="5340350"/>
            <a:ext cx="9180512" cy="46038"/>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7223" name="矩形 8"/>
          <p:cNvSpPr/>
          <p:nvPr/>
        </p:nvSpPr>
        <p:spPr>
          <a:xfrm>
            <a:off x="-36512" y="5559425"/>
            <a:ext cx="9180512" cy="46038"/>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7224" name="矩形 9"/>
          <p:cNvSpPr/>
          <p:nvPr/>
        </p:nvSpPr>
        <p:spPr>
          <a:xfrm>
            <a:off x="-36512" y="5754688"/>
            <a:ext cx="9180512" cy="460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矩形 5"/>
          <p:cNvSpPr/>
          <p:nvPr/>
        </p:nvSpPr>
        <p:spPr>
          <a:xfrm>
            <a:off x="3175" y="1628775"/>
            <a:ext cx="9144000" cy="3887788"/>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7" name="矩形 6"/>
          <p:cNvSpPr/>
          <p:nvPr/>
        </p:nvSpPr>
        <p:spPr bwMode="auto">
          <a:xfrm flipV="1">
            <a:off x="-33337" y="5732463"/>
            <a:ext cx="9180513" cy="144463"/>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24931" name="Rectangle 4"/>
          <p:cNvSpPr>
            <a:spLocks noChangeArrowheads="1"/>
          </p:cNvSpPr>
          <p:nvPr/>
        </p:nvSpPr>
        <p:spPr bwMode="auto">
          <a:xfrm>
            <a:off x="323850" y="1576388"/>
            <a:ext cx="8424863" cy="388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1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DestroyQueue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LinkQueue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&amp;Q){</a:t>
            </a:r>
          </a:p>
          <a:p>
            <a:pPr marL="342900" marR="0" lvl="0" indent="-342900" algn="l" defTabSz="914400" rtl="0" eaLnBrk="0" fontAlgn="base" latinLnBrk="0" hangingPunct="0">
              <a:lnSpc>
                <a:spcPct val="11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while(</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Q.front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1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Q.rear</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Q.front</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-&gt;next;</a:t>
            </a:r>
          </a:p>
          <a:p>
            <a:pPr marL="342900" marR="0" lvl="0" indent="-342900" algn="l" defTabSz="914400" rtl="0" eaLnBrk="0" fontAlgn="base" latinLnBrk="0" hangingPunct="0">
              <a:lnSpc>
                <a:spcPct val="11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free(</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Q.front</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a:t>
            </a:r>
          </a:p>
          <a:p>
            <a:pPr marL="342900" marR="0" lvl="0" indent="-342900" algn="l" defTabSz="914400" rtl="0" eaLnBrk="0" fontAlgn="base" latinLnBrk="0" hangingPunct="0">
              <a:lnSpc>
                <a:spcPct val="11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Q.front</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rgbClr val="FF0000"/>
                </a:solidFill>
                <a:effectLst/>
                <a:uLnTx/>
                <a:uFillTx/>
                <a:latin typeface="+mn-lt"/>
                <a:ea typeface="+mn-ea"/>
                <a:cs typeface="+mn-ea"/>
                <a:sym typeface="+mn-lt"/>
              </a:rPr>
              <a:t>Q.rear</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a:t>
            </a:r>
          </a:p>
          <a:p>
            <a:pPr marL="342900" marR="0" lvl="0" indent="-342900" algn="l" defTabSz="914400" rtl="0" eaLnBrk="0" fontAlgn="base" latinLnBrk="0" hangingPunct="0">
              <a:lnSpc>
                <a:spcPct val="11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342900" marR="0" lvl="0" indent="-342900" algn="l" defTabSz="914400" rtl="0" eaLnBrk="0" fontAlgn="base" latinLnBrk="0" hangingPunct="0">
              <a:lnSpc>
                <a:spcPct val="11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712709" name="Comment 5"/>
          <p:cNvSpPr>
            <a:spLocks noChangeArrowheads="1"/>
          </p:cNvSpPr>
          <p:nvPr/>
        </p:nvSpPr>
        <p:spPr bwMode="auto">
          <a:xfrm>
            <a:off x="827088" y="166688"/>
            <a:ext cx="3467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销毁链队列</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875" y="1541463"/>
            <a:ext cx="9196388" cy="4518025"/>
            <a:chOff x="-15875" y="1541463"/>
            <a:chExt cx="9196388" cy="4518025"/>
          </a:xfrm>
        </p:grpSpPr>
        <p:sp>
          <p:nvSpPr>
            <p:cNvPr id="139269" name="矩形 5"/>
            <p:cNvSpPr/>
            <p:nvPr/>
          </p:nvSpPr>
          <p:spPr>
            <a:xfrm>
              <a:off x="11113" y="1882775"/>
              <a:ext cx="9144000" cy="3816350"/>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7" name="矩形 6"/>
            <p:cNvSpPr/>
            <p:nvPr/>
          </p:nvSpPr>
          <p:spPr bwMode="auto">
            <a:xfrm flipV="1">
              <a:off x="-15875" y="5915025"/>
              <a:ext cx="9180513" cy="144463"/>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8" name="矩形 7"/>
            <p:cNvSpPr/>
            <p:nvPr/>
          </p:nvSpPr>
          <p:spPr bwMode="auto">
            <a:xfrm flipV="1">
              <a:off x="0" y="1541463"/>
              <a:ext cx="9180513" cy="144462"/>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694274" name="Rectangle 2"/>
          <p:cNvSpPr>
            <a:spLocks noGrp="1" noChangeArrowheads="1"/>
          </p:cNvSpPr>
          <p:nvPr>
            <p:ph idx="1"/>
          </p:nvPr>
        </p:nvSpPr>
        <p:spPr>
          <a:xfrm>
            <a:off x="547688" y="2819400"/>
            <a:ext cx="8610600" cy="1584325"/>
          </a:xfrm>
        </p:spPr>
        <p:txBody>
          <a:bodyPr vert="horz" wrap="square" lIns="91440" tIns="45720" rIns="91440" bIns="45720" numCol="1" anchor="t" anchorCtr="0" compatLnSpc="1"/>
          <a:lstStyle/>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Status </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QueueEmpty</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LinkQueue</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Q)</a:t>
            </a:r>
          </a:p>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return (</a:t>
            </a:r>
            <a:r>
              <a:rPr kumimoji="0" lang="en-US" altLang="zh-CN" sz="2400" b="0" i="0" u="none" strike="noStrike" kern="0" cap="none" spc="0" normalizeH="0" baseline="0" noProof="0" dirty="0" err="1">
                <a:ln>
                  <a:noFill/>
                </a:ln>
                <a:solidFill>
                  <a:srgbClr val="FF0000"/>
                </a:solidFill>
                <a:effectLst/>
                <a:uLnTx/>
                <a:uFillTx/>
                <a:latin typeface="+mn-lt"/>
                <a:ea typeface="+mn-ea"/>
                <a:cs typeface="+mn-ea"/>
                <a:sym typeface="+mn-lt"/>
              </a:rPr>
              <a:t>Q.front</a:t>
            </a:r>
            <a:r>
              <a:rPr kumimoji="0" lang="en-US" altLang="zh-CN" sz="2400" b="0" i="0" u="none" strike="noStrike" kern="0" cap="none" spc="0" normalizeH="0" baseline="0" noProof="0" dirty="0">
                <a:ln>
                  <a:noFill/>
                </a:ln>
                <a:solidFill>
                  <a:srgbClr val="FF0000"/>
                </a:solidFill>
                <a:effectLst/>
                <a:uLnTx/>
                <a:uFillTx/>
                <a:latin typeface="+mn-lt"/>
                <a:ea typeface="+mn-ea"/>
                <a:cs typeface="+mn-ea"/>
                <a:sym typeface="+mn-lt"/>
              </a:rPr>
              <a:t>==</a:t>
            </a:r>
            <a:r>
              <a:rPr kumimoji="0" lang="en-US" altLang="zh-CN" sz="2400" b="0" i="0" u="none" strike="noStrike" kern="0" cap="none" spc="0" normalizeH="0" baseline="0" noProof="0" dirty="0" err="1">
                <a:ln>
                  <a:noFill/>
                </a:ln>
                <a:solidFill>
                  <a:srgbClr val="FF0000"/>
                </a:solidFill>
                <a:effectLst/>
                <a:uLnTx/>
                <a:uFillTx/>
                <a:latin typeface="+mn-lt"/>
                <a:ea typeface="+mn-ea"/>
                <a:cs typeface="+mn-ea"/>
                <a:sym typeface="+mn-lt"/>
              </a:rPr>
              <a:t>Q.rear</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t>
            </a:r>
          </a:p>
        </p:txBody>
      </p:sp>
      <p:sp>
        <p:nvSpPr>
          <p:cNvPr id="694277" name="Comment 5"/>
          <p:cNvSpPr>
            <a:spLocks noChangeArrowheads="1"/>
          </p:cNvSpPr>
          <p:nvPr/>
        </p:nvSpPr>
        <p:spPr bwMode="auto">
          <a:xfrm>
            <a:off x="755650" y="196850"/>
            <a:ext cx="44037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判断链队列是否为空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694274">
                                            <p:txEl>
                                              <p:pRg st="0" end="0"/>
                                            </p:txEl>
                                          </p:spTgt>
                                        </p:tgtEl>
                                        <p:attrNameLst>
                                          <p:attrName>style.visibility</p:attrName>
                                        </p:attrNameLst>
                                      </p:cBhvr>
                                      <p:to>
                                        <p:strVal val="visible"/>
                                      </p:to>
                                    </p:set>
                                    <p:anim calcmode="lin" valueType="num">
                                      <p:cBhvr additive="base">
                                        <p:cTn id="14" dur="500" fill="hold"/>
                                        <p:tgtEl>
                                          <p:spTgt spid="694274">
                                            <p:txEl>
                                              <p:pRg st="0" end="0"/>
                                            </p:txEl>
                                          </p:spTgt>
                                        </p:tgtEl>
                                        <p:attrNameLst>
                                          <p:attrName>ppt_x</p:attrName>
                                        </p:attrNameLst>
                                      </p:cBhvr>
                                      <p:tavLst>
                                        <p:tav tm="0">
                                          <p:val>
                                            <p:strVal val="0-#ppt_w/2"/>
                                          </p:val>
                                        </p:tav>
                                        <p:tav tm="100000">
                                          <p:val>
                                            <p:strVal val="#ppt_x"/>
                                          </p:val>
                                        </p:tav>
                                      </p:tavLst>
                                    </p:anim>
                                    <p:anim calcmode="lin" valueType="num">
                                      <p:cBhvr additive="base">
                                        <p:cTn id="15" dur="500" fill="hold"/>
                                        <p:tgtEl>
                                          <p:spTgt spid="69427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694274">
                                            <p:txEl>
                                              <p:pRg st="1" end="1"/>
                                            </p:txEl>
                                          </p:spTgt>
                                        </p:tgtEl>
                                        <p:attrNameLst>
                                          <p:attrName>style.visibility</p:attrName>
                                        </p:attrNameLst>
                                      </p:cBhvr>
                                      <p:to>
                                        <p:strVal val="visible"/>
                                      </p:to>
                                    </p:set>
                                    <p:anim calcmode="lin" valueType="num">
                                      <p:cBhvr additive="base">
                                        <p:cTn id="20" dur="500" fill="hold"/>
                                        <p:tgtEl>
                                          <p:spTgt spid="694274">
                                            <p:txEl>
                                              <p:pRg st="1" end="1"/>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69427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694274">
                                            <p:txEl>
                                              <p:pRg st="2" end="2"/>
                                            </p:txEl>
                                          </p:spTgt>
                                        </p:tgtEl>
                                        <p:attrNameLst>
                                          <p:attrName>style.visibility</p:attrName>
                                        </p:attrNameLst>
                                      </p:cBhvr>
                                      <p:to>
                                        <p:strVal val="visible"/>
                                      </p:to>
                                    </p:set>
                                    <p:anim calcmode="lin" valueType="num">
                                      <p:cBhvr additive="base">
                                        <p:cTn id="26" dur="500" fill="hold"/>
                                        <p:tgtEl>
                                          <p:spTgt spid="694274">
                                            <p:txEl>
                                              <p:pRg st="2" end="2"/>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69427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694274">
                                            <p:txEl>
                                              <p:pRg st="3" end="3"/>
                                            </p:txEl>
                                          </p:spTgt>
                                        </p:tgtEl>
                                        <p:attrNameLst>
                                          <p:attrName>style.visibility</p:attrName>
                                        </p:attrNameLst>
                                      </p:cBhvr>
                                      <p:to>
                                        <p:strVal val="visible"/>
                                      </p:to>
                                    </p:set>
                                    <p:anim calcmode="lin" valueType="num">
                                      <p:cBhvr additive="base">
                                        <p:cTn id="32" dur="500" fill="hold"/>
                                        <p:tgtEl>
                                          <p:spTgt spid="694274">
                                            <p:txEl>
                                              <p:pRg st="3" end="3"/>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694274">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4274"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矩形 5"/>
          <p:cNvSpPr/>
          <p:nvPr/>
        </p:nvSpPr>
        <p:spPr>
          <a:xfrm>
            <a:off x="11113" y="1882775"/>
            <a:ext cx="9144000" cy="3816350"/>
          </a:xfrm>
          <a:prstGeom prst="rect">
            <a:avLst/>
          </a:prstGeom>
          <a:solidFill>
            <a:srgbClr val="D4E6F4"/>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695298" name="Rectangle 2"/>
          <p:cNvSpPr>
            <a:spLocks noGrp="1" noChangeArrowheads="1"/>
          </p:cNvSpPr>
          <p:nvPr>
            <p:ph idx="1"/>
          </p:nvPr>
        </p:nvSpPr>
        <p:spPr>
          <a:xfrm>
            <a:off x="0" y="2133600"/>
            <a:ext cx="8610600" cy="3048000"/>
          </a:xfrm>
        </p:spPr>
        <p:txBody>
          <a:bodyPr vert="horz" wrap="square" lIns="91440" tIns="45720" rIns="91440" bIns="45720" numCol="1" anchor="t" anchorCtr="0" compatLnSpc="1"/>
          <a:lstStyle/>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Status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GetHead</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LinkQueue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Q, </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QElemType</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&amp;e){</a:t>
            </a:r>
          </a:p>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if(</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Q.front</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0" cap="none" spc="0" normalizeH="0" baseline="0" noProof="0" dirty="0" err="1">
                <a:ln>
                  <a:noFill/>
                </a:ln>
                <a:solidFill>
                  <a:schemeClr val="tx1"/>
                </a:solidFill>
                <a:effectLst/>
                <a:uLnTx/>
                <a:uFillTx/>
                <a:latin typeface="+mn-lt"/>
                <a:ea typeface="+mn-ea"/>
                <a:cs typeface="+mn-ea"/>
                <a:sym typeface="+mn-lt"/>
              </a:rPr>
              <a:t>Q.rear</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return ERROR;</a:t>
            </a:r>
          </a:p>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e=</a:t>
            </a:r>
            <a:r>
              <a:rPr kumimoji="0" lang="en-US" altLang="zh-CN" sz="2800" b="0" i="0" u="none" strike="noStrike" kern="0" cap="none" spc="0" normalizeH="0" baseline="0" noProof="0" dirty="0" err="1">
                <a:ln>
                  <a:noFill/>
                </a:ln>
                <a:solidFill>
                  <a:srgbClr val="FF0000"/>
                </a:solidFill>
                <a:effectLst/>
                <a:uLnTx/>
                <a:uFillTx/>
                <a:latin typeface="+mn-lt"/>
                <a:ea typeface="+mn-ea"/>
                <a:cs typeface="+mn-ea"/>
                <a:sym typeface="+mn-lt"/>
              </a:rPr>
              <a:t>Q.front</a:t>
            </a:r>
            <a:r>
              <a:rPr kumimoji="0" lang="en-US" altLang="zh-CN" sz="2800" b="0" i="0" u="none" strike="noStrike" kern="0" cap="none" spc="0" normalizeH="0" baseline="0" noProof="0" dirty="0">
                <a:ln>
                  <a:noFill/>
                </a:ln>
                <a:solidFill>
                  <a:srgbClr val="FF0000"/>
                </a:solidFill>
                <a:effectLst/>
                <a:uLnTx/>
                <a:uFillTx/>
                <a:latin typeface="+mn-lt"/>
                <a:ea typeface="+mn-ea"/>
                <a:cs typeface="+mn-ea"/>
                <a:sym typeface="+mn-lt"/>
              </a:rPr>
              <a:t>-&gt;next-&gt;data</a:t>
            </a: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p>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   return OK;</a:t>
            </a:r>
          </a:p>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rPr>
              <a:t>}</a:t>
            </a:r>
          </a:p>
          <a:p>
            <a:pPr marL="0" marR="0" lvl="0" indent="538480" algn="l" defTabSz="914400" rtl="0" eaLnBrk="0" fontAlgn="base" latinLnBrk="0" hangingPunct="0">
              <a:lnSpc>
                <a:spcPct val="130000"/>
              </a:lnSpc>
              <a:spcBef>
                <a:spcPct val="0"/>
              </a:spcBef>
              <a:spcAft>
                <a:spcPct val="0"/>
              </a:spcAft>
              <a:buClrTx/>
              <a:buSzTx/>
              <a:buFontTx/>
              <a:buNone/>
              <a:defRPr/>
            </a:pPr>
            <a:endParaRPr kumimoji="0" lang="en-US" altLang="zh-CN" sz="2800" b="0" i="0" u="none" strike="noStrike" kern="0" cap="none" spc="0" normalizeH="0" baseline="0" noProof="0" dirty="0">
              <a:ln>
                <a:noFill/>
              </a:ln>
              <a:solidFill>
                <a:schemeClr val="tx1"/>
              </a:solidFill>
              <a:effectLst/>
              <a:uLnTx/>
              <a:uFillTx/>
              <a:latin typeface="+mn-lt"/>
              <a:ea typeface="+mn-ea"/>
              <a:cs typeface="+mn-ea"/>
              <a:sym typeface="+mn-lt"/>
            </a:endParaRPr>
          </a:p>
        </p:txBody>
      </p:sp>
      <p:sp>
        <p:nvSpPr>
          <p:cNvPr id="695301" name="Comment 5"/>
          <p:cNvSpPr>
            <a:spLocks noChangeArrowheads="1"/>
          </p:cNvSpPr>
          <p:nvPr/>
        </p:nvSpPr>
        <p:spPr bwMode="auto">
          <a:xfrm>
            <a:off x="827088" y="204788"/>
            <a:ext cx="48355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求链队列的队头元素</a:t>
            </a:r>
          </a:p>
        </p:txBody>
      </p:sp>
      <p:sp>
        <p:nvSpPr>
          <p:cNvPr id="140293" name="矩形 1"/>
          <p:cNvSpPr/>
          <p:nvPr/>
        </p:nvSpPr>
        <p:spPr>
          <a:xfrm>
            <a:off x="6659563" y="4651375"/>
            <a:ext cx="2498725" cy="71438"/>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0294" name="矩形 7"/>
          <p:cNvSpPr/>
          <p:nvPr/>
        </p:nvSpPr>
        <p:spPr>
          <a:xfrm>
            <a:off x="6659563" y="4864100"/>
            <a:ext cx="2498725" cy="71438"/>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0295" name="矩形 8"/>
          <p:cNvSpPr/>
          <p:nvPr/>
        </p:nvSpPr>
        <p:spPr>
          <a:xfrm>
            <a:off x="6659563" y="5086350"/>
            <a:ext cx="2498725" cy="71438"/>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0296" name="矩形 9"/>
          <p:cNvSpPr/>
          <p:nvPr/>
        </p:nvSpPr>
        <p:spPr>
          <a:xfrm>
            <a:off x="6659563" y="5273675"/>
            <a:ext cx="2498725" cy="71438"/>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0297" name="矩形 10"/>
          <p:cNvSpPr/>
          <p:nvPr/>
        </p:nvSpPr>
        <p:spPr>
          <a:xfrm>
            <a:off x="6659563" y="5441950"/>
            <a:ext cx="2498725" cy="73025"/>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5298">
                                            <p:txEl>
                                              <p:pRg st="0" end="0"/>
                                            </p:txEl>
                                          </p:spTgt>
                                        </p:tgtEl>
                                        <p:attrNameLst>
                                          <p:attrName>style.visibility</p:attrName>
                                        </p:attrNameLst>
                                      </p:cBhvr>
                                      <p:to>
                                        <p:strVal val="visible"/>
                                      </p:to>
                                    </p:set>
                                    <p:anim calcmode="lin" valueType="num">
                                      <p:cBhvr additive="base">
                                        <p:cTn id="7" dur="500" fill="hold"/>
                                        <p:tgtEl>
                                          <p:spTgt spid="69529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9529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95298">
                                            <p:txEl>
                                              <p:pRg st="1" end="1"/>
                                            </p:txEl>
                                          </p:spTgt>
                                        </p:tgtEl>
                                        <p:attrNameLst>
                                          <p:attrName>style.visibility</p:attrName>
                                        </p:attrNameLst>
                                      </p:cBhvr>
                                      <p:to>
                                        <p:strVal val="visible"/>
                                      </p:to>
                                    </p:set>
                                    <p:anim calcmode="lin" valueType="num">
                                      <p:cBhvr additive="base">
                                        <p:cTn id="13" dur="500" fill="hold"/>
                                        <p:tgtEl>
                                          <p:spTgt spid="69529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9529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95298">
                                            <p:txEl>
                                              <p:pRg st="2" end="2"/>
                                            </p:txEl>
                                          </p:spTgt>
                                        </p:tgtEl>
                                        <p:attrNameLst>
                                          <p:attrName>style.visibility</p:attrName>
                                        </p:attrNameLst>
                                      </p:cBhvr>
                                      <p:to>
                                        <p:strVal val="visible"/>
                                      </p:to>
                                    </p:set>
                                    <p:anim calcmode="lin" valueType="num">
                                      <p:cBhvr additive="base">
                                        <p:cTn id="19" dur="500" fill="hold"/>
                                        <p:tgtEl>
                                          <p:spTgt spid="69529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9529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95298">
                                            <p:txEl>
                                              <p:pRg st="3" end="3"/>
                                            </p:txEl>
                                          </p:spTgt>
                                        </p:tgtEl>
                                        <p:attrNameLst>
                                          <p:attrName>style.visibility</p:attrName>
                                        </p:attrNameLst>
                                      </p:cBhvr>
                                      <p:to>
                                        <p:strVal val="visible"/>
                                      </p:to>
                                    </p:set>
                                    <p:anim calcmode="lin" valueType="num">
                                      <p:cBhvr additive="base">
                                        <p:cTn id="25" dur="500" fill="hold"/>
                                        <p:tgtEl>
                                          <p:spTgt spid="69529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9529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95298">
                                            <p:txEl>
                                              <p:pRg st="4" end="4"/>
                                            </p:txEl>
                                          </p:spTgt>
                                        </p:tgtEl>
                                        <p:attrNameLst>
                                          <p:attrName>style.visibility</p:attrName>
                                        </p:attrNameLst>
                                      </p:cBhvr>
                                      <p:to>
                                        <p:strVal val="visible"/>
                                      </p:to>
                                    </p:set>
                                    <p:anim calcmode="lin" valueType="num">
                                      <p:cBhvr additive="base">
                                        <p:cTn id="31" dur="500" fill="hold"/>
                                        <p:tgtEl>
                                          <p:spTgt spid="69529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95298">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5298"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矩形 8"/>
          <p:cNvSpPr/>
          <p:nvPr/>
        </p:nvSpPr>
        <p:spPr>
          <a:xfrm>
            <a:off x="-3175" y="1031875"/>
            <a:ext cx="9144000" cy="3586163"/>
          </a:xfrm>
          <a:prstGeom prst="rect">
            <a:avLst/>
          </a:prstGeom>
          <a:solidFill>
            <a:srgbClr val="D4E6F4"/>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696322" name="Rectangle 2"/>
          <p:cNvSpPr>
            <a:spLocks noGrp="1" noChangeArrowheads="1"/>
          </p:cNvSpPr>
          <p:nvPr>
            <p:ph type="body" sz="half" idx="1"/>
          </p:nvPr>
        </p:nvSpPr>
        <p:spPr>
          <a:xfrm>
            <a:off x="346075" y="1052513"/>
            <a:ext cx="6946900" cy="3671888"/>
          </a:xfrm>
        </p:spPr>
        <p:txBody>
          <a:bodyPr vert="horz" wrap="square" lIns="91440" tIns="45720" rIns="91440" bIns="45720" numCol="1" anchor="t" anchorCtr="0" compatLnSpc="1"/>
          <a:lstStyle/>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Status </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EnQueue</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LinkQueue</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&amp;</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Q,QElemType</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e){</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p=(</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QueuePtr</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)malloc(</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sizeof</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QNode</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if(!p) exit(OVERFLOW);</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0" cap="none" spc="0" normalizeH="0" baseline="0" noProof="0" dirty="0">
                <a:ln>
                  <a:noFill/>
                </a:ln>
                <a:solidFill>
                  <a:srgbClr val="FF0000"/>
                </a:solidFill>
                <a:effectLst/>
                <a:uLnTx/>
                <a:uFillTx/>
                <a:latin typeface="+mn-lt"/>
                <a:ea typeface="+mn-ea"/>
                <a:cs typeface="+mn-ea"/>
                <a:sym typeface="+mn-lt"/>
              </a:rPr>
              <a:t>p-&gt;data=e; p-&gt;next=NULL;</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400" b="0" i="0" u="none" strike="noStrike" kern="0" cap="none" spc="0" normalizeH="0" baseline="0" noProof="0" dirty="0">
                <a:ln>
                  <a:noFill/>
                </a:ln>
                <a:solidFill>
                  <a:srgbClr val="FF0000"/>
                </a:solidFill>
                <a:effectLst/>
                <a:uLnTx/>
                <a:uFillTx/>
                <a:latin typeface="+mn-lt"/>
                <a:ea typeface="+mn-ea"/>
                <a:cs typeface="+mn-ea"/>
                <a:sym typeface="+mn-lt"/>
              </a:rPr>
              <a:t>    </a:t>
            </a:r>
            <a:r>
              <a:rPr kumimoji="0" lang="en-US" altLang="zh-CN" sz="2400" b="0" i="0" u="none" strike="noStrike" kern="0" cap="none" spc="0" normalizeH="0" baseline="0" noProof="0" dirty="0" err="1">
                <a:ln>
                  <a:noFill/>
                </a:ln>
                <a:solidFill>
                  <a:srgbClr val="FF0000"/>
                </a:solidFill>
                <a:effectLst/>
                <a:uLnTx/>
                <a:uFillTx/>
                <a:latin typeface="+mn-lt"/>
                <a:ea typeface="+mn-ea"/>
                <a:cs typeface="+mn-ea"/>
                <a:sym typeface="+mn-lt"/>
              </a:rPr>
              <a:t>Q.rear</a:t>
            </a:r>
            <a:r>
              <a:rPr kumimoji="0" lang="en-US" altLang="zh-CN" sz="2400" b="0" i="0" u="none" strike="noStrike" kern="0" cap="none" spc="0" normalizeH="0" baseline="0" noProof="0" dirty="0">
                <a:ln>
                  <a:noFill/>
                </a:ln>
                <a:solidFill>
                  <a:srgbClr val="FF0000"/>
                </a:solidFill>
                <a:effectLst/>
                <a:uLnTx/>
                <a:uFillTx/>
                <a:latin typeface="+mn-lt"/>
                <a:ea typeface="+mn-ea"/>
                <a:cs typeface="+mn-ea"/>
                <a:sym typeface="+mn-lt"/>
              </a:rPr>
              <a:t>-&gt;next=p;</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400" b="0" i="0" u="none" strike="noStrike" kern="0" cap="none" spc="0" normalizeH="0" baseline="0" noProof="0" dirty="0">
                <a:ln>
                  <a:noFill/>
                </a:ln>
                <a:solidFill>
                  <a:srgbClr val="FF0000"/>
                </a:solidFill>
                <a:effectLst/>
                <a:uLnTx/>
                <a:uFillTx/>
                <a:latin typeface="+mn-lt"/>
                <a:ea typeface="+mn-ea"/>
                <a:cs typeface="+mn-ea"/>
                <a:sym typeface="+mn-lt"/>
              </a:rPr>
              <a:t>    </a:t>
            </a:r>
            <a:r>
              <a:rPr kumimoji="0" lang="en-US" altLang="zh-CN" sz="2400" b="0" i="0" u="none" strike="noStrike" kern="0" cap="none" spc="0" normalizeH="0" baseline="0" noProof="0" dirty="0" err="1">
                <a:ln>
                  <a:noFill/>
                </a:ln>
                <a:solidFill>
                  <a:srgbClr val="FF0000"/>
                </a:solidFill>
                <a:effectLst/>
                <a:uLnTx/>
                <a:uFillTx/>
                <a:latin typeface="+mn-lt"/>
                <a:ea typeface="+mn-ea"/>
                <a:cs typeface="+mn-ea"/>
                <a:sym typeface="+mn-lt"/>
              </a:rPr>
              <a:t>Q.rear</a:t>
            </a:r>
            <a:r>
              <a:rPr kumimoji="0" lang="en-US" altLang="zh-CN" sz="2400" b="0" i="0" u="none" strike="noStrike" kern="0" cap="none" spc="0" normalizeH="0" baseline="0" noProof="0" dirty="0">
                <a:ln>
                  <a:noFill/>
                </a:ln>
                <a:solidFill>
                  <a:srgbClr val="FF0000"/>
                </a:solidFill>
                <a:effectLst/>
                <a:uLnTx/>
                <a:uFillTx/>
                <a:latin typeface="+mn-lt"/>
                <a:ea typeface="+mn-ea"/>
                <a:cs typeface="+mn-ea"/>
                <a:sym typeface="+mn-lt"/>
              </a:rPr>
              <a:t>=p;</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return OK;</a:t>
            </a:r>
          </a:p>
          <a:p>
            <a:pPr marL="0" marR="0" lvl="0" indent="538480" algn="l" defTabSz="914400" rtl="0" eaLnBrk="0" fontAlgn="base" latinLnBrk="0" hangingPunct="0">
              <a:lnSpc>
                <a:spcPct val="12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t>
            </a:r>
          </a:p>
        </p:txBody>
      </p:sp>
      <p:sp>
        <p:nvSpPr>
          <p:cNvPr id="696325" name="Comment 5"/>
          <p:cNvSpPr>
            <a:spLocks noChangeArrowheads="1"/>
          </p:cNvSpPr>
          <p:nvPr/>
        </p:nvSpPr>
        <p:spPr bwMode="auto">
          <a:xfrm>
            <a:off x="900113" y="198438"/>
            <a:ext cx="48355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链队列入队</a:t>
            </a:r>
          </a:p>
        </p:txBody>
      </p:sp>
      <p:graphicFrame>
        <p:nvGraphicFramePr>
          <p:cNvPr id="141317" name="Object 6"/>
          <p:cNvGraphicFramePr>
            <a:graphicFrameLocks noGrp="1"/>
          </p:cNvGraphicFramePr>
          <p:nvPr>
            <p:ph sz="half" idx="2"/>
          </p:nvPr>
        </p:nvGraphicFramePr>
        <p:xfrm>
          <a:off x="0" y="5373688"/>
          <a:ext cx="9144000" cy="1244600"/>
        </p:xfrm>
        <a:graphic>
          <a:graphicData uri="http://schemas.openxmlformats.org/presentationml/2006/ole">
            <mc:AlternateContent xmlns:mc="http://schemas.openxmlformats.org/markup-compatibility/2006">
              <mc:Choice xmlns:v="urn:schemas-microsoft-com:vml" Requires="v">
                <p:oleObj spid="_x0000_s10258" r:id="rId3" imgW="4465320" imgH="829310" progId="Visio.Drawing.5">
                  <p:embed/>
                </p:oleObj>
              </mc:Choice>
              <mc:Fallback>
                <p:oleObj r:id="rId3" imgW="4465320" imgH="829310" progId="Visio.Drawing.5">
                  <p:embed/>
                  <p:pic>
                    <p:nvPicPr>
                      <p:cNvPr id="0" name="图片 3085"/>
                      <p:cNvPicPr/>
                      <p:nvPr/>
                    </p:nvPicPr>
                    <p:blipFill>
                      <a:blip r:embed="rId4"/>
                      <a:srcRect/>
                      <a:stretch>
                        <a:fillRect/>
                      </a:stretch>
                    </p:blipFill>
                    <p:spPr>
                      <a:xfrm>
                        <a:off x="0" y="5373688"/>
                        <a:ext cx="9144000" cy="1244600"/>
                      </a:xfrm>
                      <a:prstGeom prst="rect">
                        <a:avLst/>
                      </a:prstGeom>
                      <a:solidFill>
                        <a:schemeClr val="accent1">
                          <a:alpha val="100000"/>
                        </a:schemeClr>
                      </a:solidFill>
                      <a:ln w="38100">
                        <a:miter/>
                      </a:ln>
                    </p:spPr>
                  </p:pic>
                </p:oleObj>
              </mc:Fallback>
            </mc:AlternateContent>
          </a:graphicData>
        </a:graphic>
      </p:graphicFrame>
      <p:sp>
        <p:nvSpPr>
          <p:cNvPr id="128006" name="Text Box 9"/>
          <p:cNvSpPr txBox="1">
            <a:spLocks noChangeArrowheads="1"/>
          </p:cNvSpPr>
          <p:nvPr/>
        </p:nvSpPr>
        <p:spPr bwMode="auto">
          <a:xfrm>
            <a:off x="8459788" y="4589463"/>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p</a:t>
            </a:r>
          </a:p>
        </p:txBody>
      </p:sp>
      <p:sp>
        <p:nvSpPr>
          <p:cNvPr id="128007" name="Line 10"/>
          <p:cNvSpPr>
            <a:spLocks noChangeShapeType="1"/>
          </p:cNvSpPr>
          <p:nvPr/>
        </p:nvSpPr>
        <p:spPr bwMode="auto">
          <a:xfrm>
            <a:off x="8366125" y="4775200"/>
            <a:ext cx="0" cy="490538"/>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6322">
                                            <p:txEl>
                                              <p:pRg st="0" end="0"/>
                                            </p:txEl>
                                          </p:spTgt>
                                        </p:tgtEl>
                                        <p:attrNameLst>
                                          <p:attrName>style.visibility</p:attrName>
                                        </p:attrNameLst>
                                      </p:cBhvr>
                                      <p:to>
                                        <p:strVal val="visible"/>
                                      </p:to>
                                    </p:set>
                                    <p:anim calcmode="lin" valueType="num">
                                      <p:cBhvr additive="base">
                                        <p:cTn id="7" dur="500" fill="hold"/>
                                        <p:tgtEl>
                                          <p:spTgt spid="69632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963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96322">
                                            <p:txEl>
                                              <p:pRg st="1" end="1"/>
                                            </p:txEl>
                                          </p:spTgt>
                                        </p:tgtEl>
                                        <p:attrNameLst>
                                          <p:attrName>style.visibility</p:attrName>
                                        </p:attrNameLst>
                                      </p:cBhvr>
                                      <p:to>
                                        <p:strVal val="visible"/>
                                      </p:to>
                                    </p:set>
                                    <p:anim calcmode="lin" valueType="num">
                                      <p:cBhvr additive="base">
                                        <p:cTn id="13" dur="500" fill="hold"/>
                                        <p:tgtEl>
                                          <p:spTgt spid="69632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9632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96322">
                                            <p:txEl>
                                              <p:pRg st="2" end="2"/>
                                            </p:txEl>
                                          </p:spTgt>
                                        </p:tgtEl>
                                        <p:attrNameLst>
                                          <p:attrName>style.visibility</p:attrName>
                                        </p:attrNameLst>
                                      </p:cBhvr>
                                      <p:to>
                                        <p:strVal val="visible"/>
                                      </p:to>
                                    </p:set>
                                    <p:anim calcmode="lin" valueType="num">
                                      <p:cBhvr additive="base">
                                        <p:cTn id="19" dur="500" fill="hold"/>
                                        <p:tgtEl>
                                          <p:spTgt spid="69632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9632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96322">
                                            <p:txEl>
                                              <p:pRg st="3" end="3"/>
                                            </p:txEl>
                                          </p:spTgt>
                                        </p:tgtEl>
                                        <p:attrNameLst>
                                          <p:attrName>style.visibility</p:attrName>
                                        </p:attrNameLst>
                                      </p:cBhvr>
                                      <p:to>
                                        <p:strVal val="visible"/>
                                      </p:to>
                                    </p:set>
                                    <p:anim calcmode="lin" valueType="num">
                                      <p:cBhvr additive="base">
                                        <p:cTn id="25" dur="500" fill="hold"/>
                                        <p:tgtEl>
                                          <p:spTgt spid="69632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9632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96322">
                                            <p:txEl>
                                              <p:pRg st="4" end="4"/>
                                            </p:txEl>
                                          </p:spTgt>
                                        </p:tgtEl>
                                        <p:attrNameLst>
                                          <p:attrName>style.visibility</p:attrName>
                                        </p:attrNameLst>
                                      </p:cBhvr>
                                      <p:to>
                                        <p:strVal val="visible"/>
                                      </p:to>
                                    </p:set>
                                    <p:anim calcmode="lin" valueType="num">
                                      <p:cBhvr additive="base">
                                        <p:cTn id="31" dur="500" fill="hold"/>
                                        <p:tgtEl>
                                          <p:spTgt spid="69632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9632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96322">
                                            <p:txEl>
                                              <p:pRg st="5" end="5"/>
                                            </p:txEl>
                                          </p:spTgt>
                                        </p:tgtEl>
                                        <p:attrNameLst>
                                          <p:attrName>style.visibility</p:attrName>
                                        </p:attrNameLst>
                                      </p:cBhvr>
                                      <p:to>
                                        <p:strVal val="visible"/>
                                      </p:to>
                                    </p:set>
                                    <p:anim calcmode="lin" valueType="num">
                                      <p:cBhvr additive="base">
                                        <p:cTn id="37" dur="500" fill="hold"/>
                                        <p:tgtEl>
                                          <p:spTgt spid="69632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9632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96322">
                                            <p:txEl>
                                              <p:pRg st="6" end="6"/>
                                            </p:txEl>
                                          </p:spTgt>
                                        </p:tgtEl>
                                        <p:attrNameLst>
                                          <p:attrName>style.visibility</p:attrName>
                                        </p:attrNameLst>
                                      </p:cBhvr>
                                      <p:to>
                                        <p:strVal val="visible"/>
                                      </p:to>
                                    </p:set>
                                    <p:anim calcmode="lin" valueType="num">
                                      <p:cBhvr additive="base">
                                        <p:cTn id="43" dur="500" fill="hold"/>
                                        <p:tgtEl>
                                          <p:spTgt spid="696322">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9632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96322">
                                            <p:txEl>
                                              <p:pRg st="7" end="7"/>
                                            </p:txEl>
                                          </p:spTgt>
                                        </p:tgtEl>
                                        <p:attrNameLst>
                                          <p:attrName>style.visibility</p:attrName>
                                        </p:attrNameLst>
                                      </p:cBhvr>
                                      <p:to>
                                        <p:strVal val="visible"/>
                                      </p:to>
                                    </p:set>
                                    <p:anim calcmode="lin" valueType="num">
                                      <p:cBhvr additive="base">
                                        <p:cTn id="49" dur="500" fill="hold"/>
                                        <p:tgtEl>
                                          <p:spTgt spid="696322">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696322">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22"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矩形 1"/>
          <p:cNvSpPr/>
          <p:nvPr/>
        </p:nvSpPr>
        <p:spPr>
          <a:xfrm>
            <a:off x="0" y="1268413"/>
            <a:ext cx="9144000" cy="4799012"/>
          </a:xfrm>
          <a:prstGeom prst="rect">
            <a:avLst/>
          </a:prstGeom>
          <a:solidFill>
            <a:srgbClr val="CCCCFF"/>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697346" name="Rectangle 2"/>
          <p:cNvSpPr>
            <a:spLocks noGrp="1" noChangeArrowheads="1"/>
          </p:cNvSpPr>
          <p:nvPr>
            <p:ph type="body" sz="half" idx="1"/>
          </p:nvPr>
        </p:nvSpPr>
        <p:spPr>
          <a:xfrm>
            <a:off x="439738" y="1341438"/>
            <a:ext cx="8243888" cy="4725988"/>
          </a:xfrm>
        </p:spPr>
        <p:txBody>
          <a:bodyPr vert="horz" wrap="square" lIns="91440" tIns="45720" rIns="91440" bIns="45720" numCol="1" anchor="t" anchorCtr="0" compatLnSpc="1"/>
          <a:lstStyle/>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Status </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DeQueue</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LinkQueue</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&amp;</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Q,QElemType</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&amp;e){</a:t>
            </a:r>
          </a:p>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if(</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Q.front</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Q.rear</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return ERROR;</a:t>
            </a:r>
          </a:p>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0" cap="none" spc="0" normalizeH="0" baseline="0" noProof="0" dirty="0">
                <a:ln>
                  <a:noFill/>
                </a:ln>
                <a:solidFill>
                  <a:srgbClr val="FF0000"/>
                </a:solidFill>
                <a:effectLst/>
                <a:uLnTx/>
                <a:uFillTx/>
                <a:latin typeface="+mn-lt"/>
                <a:ea typeface="+mn-ea"/>
                <a:cs typeface="+mn-ea"/>
                <a:sym typeface="+mn-lt"/>
              </a:rPr>
              <a:t>p=</a:t>
            </a:r>
            <a:r>
              <a:rPr kumimoji="0" lang="en-US" altLang="zh-CN" sz="2400" b="0" i="0" u="none" strike="noStrike" kern="0" cap="none" spc="0" normalizeH="0" baseline="0" noProof="0" dirty="0" err="1">
                <a:ln>
                  <a:noFill/>
                </a:ln>
                <a:solidFill>
                  <a:srgbClr val="FF0000"/>
                </a:solidFill>
                <a:effectLst/>
                <a:uLnTx/>
                <a:uFillTx/>
                <a:latin typeface="+mn-lt"/>
                <a:ea typeface="+mn-ea"/>
                <a:cs typeface="+mn-ea"/>
                <a:sym typeface="+mn-lt"/>
              </a:rPr>
              <a:t>Q.front</a:t>
            </a:r>
            <a:r>
              <a:rPr kumimoji="0" lang="en-US" altLang="zh-CN" sz="2400" b="0" i="0" u="none" strike="noStrike" kern="0" cap="none" spc="0" normalizeH="0" baseline="0" noProof="0" dirty="0">
                <a:ln>
                  <a:noFill/>
                </a:ln>
                <a:solidFill>
                  <a:srgbClr val="FF0000"/>
                </a:solidFill>
                <a:effectLst/>
                <a:uLnTx/>
                <a:uFillTx/>
                <a:latin typeface="+mn-lt"/>
                <a:ea typeface="+mn-ea"/>
                <a:cs typeface="+mn-ea"/>
                <a:sym typeface="+mn-lt"/>
              </a:rPr>
              <a:t>-&gt;next;</a:t>
            </a:r>
          </a:p>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0" cap="none" spc="0" normalizeH="0" baseline="0" noProof="0" dirty="0">
                <a:ln>
                  <a:noFill/>
                </a:ln>
                <a:solidFill>
                  <a:srgbClr val="FF0000"/>
                </a:solidFill>
                <a:effectLst/>
                <a:uLnTx/>
                <a:uFillTx/>
                <a:latin typeface="+mn-lt"/>
                <a:ea typeface="+mn-ea"/>
                <a:cs typeface="+mn-ea"/>
                <a:sym typeface="+mn-lt"/>
              </a:rPr>
              <a:t>   e=p-&gt;data;</a:t>
            </a:r>
          </a:p>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0" cap="none" spc="0" normalizeH="0" baseline="0" noProof="0" dirty="0">
                <a:ln>
                  <a:noFill/>
                </a:ln>
                <a:solidFill>
                  <a:srgbClr val="FF0000"/>
                </a:solidFill>
                <a:effectLst/>
                <a:uLnTx/>
                <a:uFillTx/>
                <a:latin typeface="+mn-lt"/>
                <a:ea typeface="+mn-ea"/>
                <a:cs typeface="+mn-ea"/>
                <a:sym typeface="+mn-lt"/>
              </a:rPr>
              <a:t>   </a:t>
            </a:r>
            <a:r>
              <a:rPr kumimoji="0" lang="en-US" altLang="zh-CN" sz="2400" b="0" i="0" u="none" strike="noStrike" kern="0" cap="none" spc="0" normalizeH="0" baseline="0" noProof="0" dirty="0" err="1">
                <a:ln>
                  <a:noFill/>
                </a:ln>
                <a:solidFill>
                  <a:srgbClr val="FF0000"/>
                </a:solidFill>
                <a:effectLst/>
                <a:uLnTx/>
                <a:uFillTx/>
                <a:latin typeface="+mn-lt"/>
                <a:ea typeface="+mn-ea"/>
                <a:cs typeface="+mn-ea"/>
                <a:sym typeface="+mn-lt"/>
              </a:rPr>
              <a:t>Q.front</a:t>
            </a:r>
            <a:r>
              <a:rPr kumimoji="0" lang="en-US" altLang="zh-CN" sz="2400" b="0" i="0" u="none" strike="noStrike" kern="0" cap="none" spc="0" normalizeH="0" baseline="0" noProof="0" dirty="0">
                <a:ln>
                  <a:noFill/>
                </a:ln>
                <a:solidFill>
                  <a:srgbClr val="FF0000"/>
                </a:solidFill>
                <a:effectLst/>
                <a:uLnTx/>
                <a:uFillTx/>
                <a:latin typeface="+mn-lt"/>
                <a:ea typeface="+mn-ea"/>
                <a:cs typeface="+mn-ea"/>
                <a:sym typeface="+mn-lt"/>
              </a:rPr>
              <a:t>-&gt;next=p-&gt;next;</a:t>
            </a:r>
          </a:p>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if(</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Q.rear</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==p) </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Q.rear</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0" cap="none" spc="0" normalizeH="0" baseline="0" noProof="0" dirty="0" err="1">
                <a:ln>
                  <a:noFill/>
                </a:ln>
                <a:solidFill>
                  <a:schemeClr val="tx1"/>
                </a:solidFill>
                <a:effectLst/>
                <a:uLnTx/>
                <a:uFillTx/>
                <a:latin typeface="+mn-lt"/>
                <a:ea typeface="+mn-ea"/>
                <a:cs typeface="+mn-ea"/>
                <a:sym typeface="+mn-lt"/>
              </a:rPr>
              <a:t>Q.front</a:t>
            </a: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t>
            </a:r>
          </a:p>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delete p;</a:t>
            </a:r>
          </a:p>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   return OK;</a:t>
            </a:r>
          </a:p>
          <a:p>
            <a:pPr marL="0" marR="0" lvl="0" indent="538480" algn="l" defTabSz="914400" rtl="0" eaLnBrk="0" fontAlgn="base" latinLnBrk="0" hangingPunct="0">
              <a:lnSpc>
                <a:spcPct val="13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ea"/>
                <a:sym typeface="+mn-lt"/>
              </a:rPr>
              <a:t>}</a:t>
            </a:r>
          </a:p>
        </p:txBody>
      </p:sp>
      <p:graphicFrame>
        <p:nvGraphicFramePr>
          <p:cNvPr id="142340" name="Object 6"/>
          <p:cNvGraphicFramePr>
            <a:graphicFrameLocks noGrp="1"/>
          </p:cNvGraphicFramePr>
          <p:nvPr>
            <p:ph sz="half" idx="2"/>
          </p:nvPr>
        </p:nvGraphicFramePr>
        <p:xfrm>
          <a:off x="5038725" y="2770188"/>
          <a:ext cx="4105275" cy="957262"/>
        </p:xfrm>
        <a:graphic>
          <a:graphicData uri="http://schemas.openxmlformats.org/presentationml/2006/ole">
            <mc:AlternateContent xmlns:mc="http://schemas.openxmlformats.org/markup-compatibility/2006">
              <mc:Choice xmlns:v="urn:schemas-microsoft-com:vml" Requires="v">
                <p:oleObj spid="_x0000_s11282" r:id="rId3" imgW="4494530" imgH="1050290" progId="Visio.Drawing.5">
                  <p:embed/>
                </p:oleObj>
              </mc:Choice>
              <mc:Fallback>
                <p:oleObj r:id="rId3" imgW="4494530" imgH="1050290" progId="Visio.Drawing.5">
                  <p:embed/>
                  <p:pic>
                    <p:nvPicPr>
                      <p:cNvPr id="0" name="图片 3086"/>
                      <p:cNvPicPr/>
                      <p:nvPr/>
                    </p:nvPicPr>
                    <p:blipFill>
                      <a:blip r:embed="rId4"/>
                      <a:srcRect/>
                      <a:stretch>
                        <a:fillRect/>
                      </a:stretch>
                    </p:blipFill>
                    <p:spPr>
                      <a:xfrm>
                        <a:off x="5038725" y="2770188"/>
                        <a:ext cx="4105275" cy="957262"/>
                      </a:xfrm>
                      <a:prstGeom prst="rect">
                        <a:avLst/>
                      </a:prstGeom>
                      <a:solidFill>
                        <a:schemeClr val="accent1">
                          <a:alpha val="100000"/>
                        </a:schemeClr>
                      </a:solidFill>
                      <a:ln w="38100">
                        <a:miter/>
                      </a:ln>
                    </p:spPr>
                  </p:pic>
                </p:oleObj>
              </mc:Fallback>
            </mc:AlternateContent>
          </a:graphicData>
        </a:graphic>
      </p:graphicFrame>
      <p:sp>
        <p:nvSpPr>
          <p:cNvPr id="697349" name="Comment 5"/>
          <p:cNvSpPr>
            <a:spLocks noChangeArrowheads="1"/>
          </p:cNvSpPr>
          <p:nvPr/>
        </p:nvSpPr>
        <p:spPr bwMode="auto">
          <a:xfrm>
            <a:off x="900113" y="236538"/>
            <a:ext cx="48355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链队列出队</a:t>
            </a:r>
          </a:p>
        </p:txBody>
      </p:sp>
      <p:sp>
        <p:nvSpPr>
          <p:cNvPr id="129030" name="Text Box 9"/>
          <p:cNvSpPr txBox="1">
            <a:spLocks noChangeArrowheads="1"/>
          </p:cNvSpPr>
          <p:nvPr/>
        </p:nvSpPr>
        <p:spPr bwMode="auto">
          <a:xfrm>
            <a:off x="7631113" y="1917700"/>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a:t>
            </a:r>
          </a:p>
        </p:txBody>
      </p:sp>
      <p:sp>
        <p:nvSpPr>
          <p:cNvPr id="129031" name="Line 10"/>
          <p:cNvSpPr>
            <a:spLocks noChangeShapeType="1"/>
          </p:cNvSpPr>
          <p:nvPr/>
        </p:nvSpPr>
        <p:spPr bwMode="auto">
          <a:xfrm>
            <a:off x="7631113" y="2146300"/>
            <a:ext cx="0" cy="647700"/>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42344" name="组合 2"/>
          <p:cNvGrpSpPr/>
          <p:nvPr/>
        </p:nvGrpSpPr>
        <p:grpSpPr>
          <a:xfrm>
            <a:off x="5038725" y="5006975"/>
            <a:ext cx="4119563" cy="862013"/>
            <a:chOff x="6660232" y="5006236"/>
            <a:chExt cx="2497388" cy="862778"/>
          </a:xfrm>
        </p:grpSpPr>
        <p:sp>
          <p:nvSpPr>
            <p:cNvPr id="142345" name="矩形 9"/>
            <p:cNvSpPr/>
            <p:nvPr/>
          </p:nvSpPr>
          <p:spPr>
            <a:xfrm>
              <a:off x="6660232" y="5006236"/>
              <a:ext cx="2497388" cy="72008"/>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2346" name="矩形 10"/>
            <p:cNvSpPr/>
            <p:nvPr/>
          </p:nvSpPr>
          <p:spPr>
            <a:xfrm>
              <a:off x="6660232" y="5218193"/>
              <a:ext cx="2497388" cy="72008"/>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2347" name="矩形 11"/>
            <p:cNvSpPr/>
            <p:nvPr/>
          </p:nvSpPr>
          <p:spPr>
            <a:xfrm>
              <a:off x="6660232" y="5441103"/>
              <a:ext cx="2497388" cy="72008"/>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2348" name="矩形 12"/>
            <p:cNvSpPr/>
            <p:nvPr/>
          </p:nvSpPr>
          <p:spPr>
            <a:xfrm>
              <a:off x="6660232" y="5628009"/>
              <a:ext cx="2497388" cy="72008"/>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2349" name="矩形 13"/>
            <p:cNvSpPr/>
            <p:nvPr/>
          </p:nvSpPr>
          <p:spPr>
            <a:xfrm>
              <a:off x="6660232" y="5797006"/>
              <a:ext cx="2497388" cy="72008"/>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7346">
                                            <p:txEl>
                                              <p:pRg st="0" end="0"/>
                                            </p:txEl>
                                          </p:spTgt>
                                        </p:tgtEl>
                                        <p:attrNameLst>
                                          <p:attrName>style.visibility</p:attrName>
                                        </p:attrNameLst>
                                      </p:cBhvr>
                                      <p:to>
                                        <p:strVal val="visible"/>
                                      </p:to>
                                    </p:set>
                                    <p:anim calcmode="lin" valueType="num">
                                      <p:cBhvr additive="base">
                                        <p:cTn id="7" dur="500" fill="hold"/>
                                        <p:tgtEl>
                                          <p:spTgt spid="69734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9734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97346">
                                            <p:txEl>
                                              <p:pRg st="1" end="1"/>
                                            </p:txEl>
                                          </p:spTgt>
                                        </p:tgtEl>
                                        <p:attrNameLst>
                                          <p:attrName>style.visibility</p:attrName>
                                        </p:attrNameLst>
                                      </p:cBhvr>
                                      <p:to>
                                        <p:strVal val="visible"/>
                                      </p:to>
                                    </p:set>
                                    <p:anim calcmode="lin" valueType="num">
                                      <p:cBhvr additive="base">
                                        <p:cTn id="13" dur="500" fill="hold"/>
                                        <p:tgtEl>
                                          <p:spTgt spid="69734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9734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97346">
                                            <p:txEl>
                                              <p:pRg st="2" end="2"/>
                                            </p:txEl>
                                          </p:spTgt>
                                        </p:tgtEl>
                                        <p:attrNameLst>
                                          <p:attrName>style.visibility</p:attrName>
                                        </p:attrNameLst>
                                      </p:cBhvr>
                                      <p:to>
                                        <p:strVal val="visible"/>
                                      </p:to>
                                    </p:set>
                                    <p:anim calcmode="lin" valueType="num">
                                      <p:cBhvr additive="base">
                                        <p:cTn id="19" dur="500" fill="hold"/>
                                        <p:tgtEl>
                                          <p:spTgt spid="69734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9734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97346">
                                            <p:txEl>
                                              <p:pRg st="3" end="3"/>
                                            </p:txEl>
                                          </p:spTgt>
                                        </p:tgtEl>
                                        <p:attrNameLst>
                                          <p:attrName>style.visibility</p:attrName>
                                        </p:attrNameLst>
                                      </p:cBhvr>
                                      <p:to>
                                        <p:strVal val="visible"/>
                                      </p:to>
                                    </p:set>
                                    <p:anim calcmode="lin" valueType="num">
                                      <p:cBhvr additive="base">
                                        <p:cTn id="25" dur="500" fill="hold"/>
                                        <p:tgtEl>
                                          <p:spTgt spid="69734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9734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97346">
                                            <p:txEl>
                                              <p:pRg st="4" end="4"/>
                                            </p:txEl>
                                          </p:spTgt>
                                        </p:tgtEl>
                                        <p:attrNameLst>
                                          <p:attrName>style.visibility</p:attrName>
                                        </p:attrNameLst>
                                      </p:cBhvr>
                                      <p:to>
                                        <p:strVal val="visible"/>
                                      </p:to>
                                    </p:set>
                                    <p:anim calcmode="lin" valueType="num">
                                      <p:cBhvr additive="base">
                                        <p:cTn id="31" dur="500" fill="hold"/>
                                        <p:tgtEl>
                                          <p:spTgt spid="69734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9734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97346">
                                            <p:txEl>
                                              <p:pRg st="5" end="5"/>
                                            </p:txEl>
                                          </p:spTgt>
                                        </p:tgtEl>
                                        <p:attrNameLst>
                                          <p:attrName>style.visibility</p:attrName>
                                        </p:attrNameLst>
                                      </p:cBhvr>
                                      <p:to>
                                        <p:strVal val="visible"/>
                                      </p:to>
                                    </p:set>
                                    <p:anim calcmode="lin" valueType="num">
                                      <p:cBhvr additive="base">
                                        <p:cTn id="37" dur="500" fill="hold"/>
                                        <p:tgtEl>
                                          <p:spTgt spid="697346">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9734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97346">
                                            <p:txEl>
                                              <p:pRg st="6" end="6"/>
                                            </p:txEl>
                                          </p:spTgt>
                                        </p:tgtEl>
                                        <p:attrNameLst>
                                          <p:attrName>style.visibility</p:attrName>
                                        </p:attrNameLst>
                                      </p:cBhvr>
                                      <p:to>
                                        <p:strVal val="visible"/>
                                      </p:to>
                                    </p:set>
                                    <p:anim calcmode="lin" valueType="num">
                                      <p:cBhvr additive="base">
                                        <p:cTn id="43" dur="500" fill="hold"/>
                                        <p:tgtEl>
                                          <p:spTgt spid="697346">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9734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97346">
                                            <p:txEl>
                                              <p:pRg st="7" end="7"/>
                                            </p:txEl>
                                          </p:spTgt>
                                        </p:tgtEl>
                                        <p:attrNameLst>
                                          <p:attrName>style.visibility</p:attrName>
                                        </p:attrNameLst>
                                      </p:cBhvr>
                                      <p:to>
                                        <p:strVal val="visible"/>
                                      </p:to>
                                    </p:set>
                                    <p:anim calcmode="lin" valueType="num">
                                      <p:cBhvr additive="base">
                                        <p:cTn id="49" dur="500" fill="hold"/>
                                        <p:tgtEl>
                                          <p:spTgt spid="697346">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697346">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697346">
                                            <p:txEl>
                                              <p:pRg st="8" end="8"/>
                                            </p:txEl>
                                          </p:spTgt>
                                        </p:tgtEl>
                                        <p:attrNameLst>
                                          <p:attrName>style.visibility</p:attrName>
                                        </p:attrNameLst>
                                      </p:cBhvr>
                                      <p:to>
                                        <p:strVal val="visible"/>
                                      </p:to>
                                    </p:set>
                                    <p:anim calcmode="lin" valueType="num">
                                      <p:cBhvr additive="base">
                                        <p:cTn id="55" dur="500" fill="hold"/>
                                        <p:tgtEl>
                                          <p:spTgt spid="697346">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697346">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346"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750" y="5341620"/>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500188" y="5341620"/>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b="0" kern="1200" cap="none" spc="0" normalizeH="0" baseline="0" noProof="0" dirty="0">
                <a:solidFill>
                  <a:srgbClr val="FEFFFF"/>
                </a:solidFill>
                <a:latin typeface="+mn-lt"/>
                <a:ea typeface="+mn-ea"/>
                <a:cs typeface="+mn-ea"/>
                <a:sym typeface="+mn-lt"/>
              </a:rPr>
              <a:t>目录导航</a:t>
            </a:r>
          </a:p>
        </p:txBody>
      </p:sp>
      <p:sp>
        <p:nvSpPr>
          <p:cNvPr id="14" name="文本框 13"/>
          <p:cNvSpPr txBox="1"/>
          <p:nvPr/>
        </p:nvSpPr>
        <p:spPr>
          <a:xfrm>
            <a:off x="1619250" y="2471738"/>
            <a:ext cx="720725" cy="3416320"/>
          </a:xfrm>
          <a:prstGeom prst="rect">
            <a:avLst/>
          </a:prstGeom>
          <a:noFill/>
        </p:spPr>
        <p:txBody>
          <a:bodyPr>
            <a:spAutoFit/>
          </a:bodyPr>
          <a:lstStyle/>
          <a:p>
            <a:pPr marR="0" defTabSz="914400">
              <a:lnSpc>
                <a:spcPct val="150000"/>
              </a:lnSpc>
              <a:buClrTx/>
              <a:buSzTx/>
              <a:buFontTx/>
              <a:buNone/>
              <a:defRPr/>
            </a:pPr>
            <a:r>
              <a:rPr kumimoji="0" lang="en-US" altLang="zh-CN" b="0" kern="1200" cap="none" spc="0" normalizeH="0" baseline="0" noProof="0" dirty="0">
                <a:solidFill>
                  <a:schemeClr val="tx1"/>
                </a:solidFill>
                <a:latin typeface="+mn-lt"/>
                <a:ea typeface="+mn-ea"/>
                <a:cs typeface="+mn-ea"/>
                <a:sym typeface="+mn-lt"/>
              </a:rPr>
              <a:t>3.1</a:t>
            </a:r>
            <a:endParaRPr kumimoji="0" lang="zh-CN" altLang="en-US" b="0" kern="1200" cap="none" spc="0" normalizeH="0" baseline="0" noProof="0" dirty="0">
              <a:solidFill>
                <a:schemeClr val="tx1"/>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3.2</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3.3</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3.4</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3.5</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smtClean="0">
                <a:solidFill>
                  <a:schemeClr val="bg1"/>
                </a:solidFill>
                <a:latin typeface="+mn-lt"/>
                <a:ea typeface="+mn-ea"/>
                <a:cs typeface="+mn-ea"/>
                <a:sym typeface="+mn-lt"/>
              </a:rPr>
              <a:t>3.6</a:t>
            </a:r>
            <a:endParaRPr kumimoji="0" lang="en-US" altLang="zh-CN" b="0" kern="1200" cap="none" spc="0" normalizeH="0" baseline="0" noProof="0" dirty="0">
              <a:solidFill>
                <a:schemeClr val="bg1"/>
              </a:solidFill>
              <a:latin typeface="+mn-lt"/>
              <a:ea typeface="+mn-ea"/>
              <a:cs typeface="+mn-ea"/>
              <a:sym typeface="+mn-lt"/>
            </a:endParaRPr>
          </a:p>
        </p:txBody>
      </p:sp>
      <p:sp>
        <p:nvSpPr>
          <p:cNvPr id="15" name="文本框 14"/>
          <p:cNvSpPr txBox="1"/>
          <p:nvPr/>
        </p:nvSpPr>
        <p:spPr>
          <a:xfrm>
            <a:off x="2457450" y="2471738"/>
            <a:ext cx="4129088" cy="3416320"/>
          </a:xfrm>
          <a:prstGeom prst="rect">
            <a:avLst/>
          </a:prstGeom>
          <a:noFill/>
        </p:spPr>
        <p:txBody>
          <a:bodyPr>
            <a:spAutoFit/>
          </a:bodyPr>
          <a:lstStyle/>
          <a:p>
            <a:pPr marR="0" defTabSz="914400">
              <a:lnSpc>
                <a:spcPct val="150000"/>
              </a:lnSpc>
              <a:buClrTx/>
              <a:buSzTx/>
              <a:buFontTx/>
              <a:buNone/>
              <a:defRPr/>
            </a:pPr>
            <a:r>
              <a:rPr kumimoji="0" lang="zh-CN" altLang="en-US" b="0" kern="1200" cap="none" spc="0" normalizeH="0" baseline="0" noProof="0" dirty="0">
                <a:solidFill>
                  <a:schemeClr val="tx1"/>
                </a:solidFill>
                <a:latin typeface="+mn-lt"/>
                <a:ea typeface="+mn-ea"/>
                <a:cs typeface="+mn-ea"/>
                <a:sym typeface="+mn-lt"/>
              </a:rPr>
              <a:t>栈和队列的定义和特点</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案例引入</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栈的表示和操作的实现</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栈与递归</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队列的的表示和操作的实现</a:t>
            </a:r>
          </a:p>
          <a:p>
            <a:pPr marR="0" defTabSz="914400">
              <a:lnSpc>
                <a:spcPct val="150000"/>
              </a:lnSpc>
              <a:buClrTx/>
              <a:buSzTx/>
              <a:buFontTx/>
              <a:buNone/>
              <a:defRPr/>
            </a:pPr>
            <a:r>
              <a:rPr kumimoji="0" lang="zh-CN" altLang="en-US" b="0" kern="1200" cap="none" spc="0" normalizeH="0" baseline="0" noProof="0" dirty="0">
                <a:solidFill>
                  <a:schemeClr val="bg1"/>
                </a:solidFill>
                <a:latin typeface="+mn-lt"/>
                <a:ea typeface="+mn-ea"/>
                <a:cs typeface="+mn-ea"/>
                <a:sym typeface="+mn-lt"/>
              </a:rPr>
              <a:t>案例分析与</a:t>
            </a:r>
            <a:r>
              <a:rPr kumimoji="0" lang="zh-CN" altLang="en-US" b="0" kern="1200" cap="none" spc="0" normalizeH="0" baseline="0" noProof="0" dirty="0" smtClean="0">
                <a:solidFill>
                  <a:schemeClr val="bg1"/>
                </a:solidFill>
                <a:latin typeface="+mn-lt"/>
                <a:ea typeface="+mn-ea"/>
                <a:cs typeface="+mn-ea"/>
                <a:sym typeface="+mn-lt"/>
              </a:rPr>
              <a:t>实现</a:t>
            </a:r>
            <a:endParaRPr kumimoji="0" lang="zh-CN" altLang="en-US" b="0" kern="1200" cap="none" spc="0" normalizeH="0" baseline="0" noProof="0" dirty="0">
              <a:solidFill>
                <a:schemeClr val="bg1"/>
              </a:solidFill>
              <a:latin typeface="+mn-lt"/>
              <a:ea typeface="+mn-ea"/>
              <a:cs typeface="+mn-ea"/>
              <a:sym typeface="+mn-lt"/>
            </a:endParaRP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矩形 2"/>
          <p:cNvSpPr/>
          <p:nvPr/>
        </p:nvSpPr>
        <p:spPr>
          <a:xfrm>
            <a:off x="0" y="2420938"/>
            <a:ext cx="9144000" cy="3930650"/>
          </a:xfrm>
          <a:prstGeom prst="rect">
            <a:avLst/>
          </a:prstGeom>
          <a:solidFill>
            <a:srgbClr val="D4E6F4"/>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4387" name="矩形 1"/>
          <p:cNvSpPr/>
          <p:nvPr/>
        </p:nvSpPr>
        <p:spPr>
          <a:xfrm>
            <a:off x="-4762" y="1484313"/>
            <a:ext cx="3240087" cy="658812"/>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4388" name="Rectangle 154"/>
          <p:cNvSpPr txBox="1"/>
          <p:nvPr/>
        </p:nvSpPr>
        <p:spPr>
          <a:xfrm>
            <a:off x="827088" y="179388"/>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案例</a:t>
            </a:r>
            <a:r>
              <a:rPr lang="en-US" altLang="zh-CN" sz="2800" dirty="0">
                <a:solidFill>
                  <a:schemeClr val="bg1"/>
                </a:solidFill>
                <a:sym typeface="+mn-lt"/>
              </a:rPr>
              <a:t>3.1 </a:t>
            </a:r>
            <a:r>
              <a:rPr lang="zh-CN" altLang="en-US" sz="2800" dirty="0">
                <a:solidFill>
                  <a:schemeClr val="bg1"/>
                </a:solidFill>
                <a:sym typeface="+mn-lt"/>
              </a:rPr>
              <a:t>：数制的转换</a:t>
            </a:r>
          </a:p>
        </p:txBody>
      </p:sp>
      <p:sp>
        <p:nvSpPr>
          <p:cNvPr id="130055" name="Text Box 5"/>
          <p:cNvSpPr txBox="1">
            <a:spLocks noChangeArrowheads="1"/>
          </p:cNvSpPr>
          <p:nvPr/>
        </p:nvSpPr>
        <p:spPr bwMode="auto">
          <a:xfrm>
            <a:off x="430213" y="1512888"/>
            <a:ext cx="78867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① 初始化一个空栈</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②</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当十进制数</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非零时，循环执行以下操作：</a:t>
            </a:r>
          </a:p>
          <a:p>
            <a:pPr marL="457200" marR="0" lvl="1" indent="0" algn="l" defTabSz="914400" rtl="0" eaLnBrk="0" fontAlgn="base" latinLnBrk="0" hangingPunct="0">
              <a:lnSpc>
                <a:spcPct val="125000"/>
              </a:lnSpc>
              <a:spcBef>
                <a:spcPct val="20000"/>
              </a:spcBef>
              <a:spcAft>
                <a:spcPct val="0"/>
              </a:spcAft>
              <a:buClrTx/>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把</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与</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8</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求余得到的八进制数压入栈</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457200" marR="0" lvl="1" indent="0" algn="l" defTabSz="914400" rtl="0" eaLnBrk="0" fontAlgn="base" latinLnBrk="0" hangingPunct="0">
              <a:lnSpc>
                <a:spcPct val="125000"/>
              </a:lnSpc>
              <a:spcBef>
                <a:spcPct val="20000"/>
              </a:spcBef>
              <a:spcAft>
                <a:spcPct val="0"/>
              </a:spcAft>
              <a:buClrTx/>
              <a:buSzTx/>
              <a:buFont typeface="Wingdings" panose="05000000000000000000" pitchFamily="2" charset="2"/>
              <a:buChar char="l"/>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更新为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与</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8</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的商。</a:t>
            </a: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③</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当栈</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非空时，循环执行以下操作：</a:t>
            </a:r>
          </a:p>
          <a:p>
            <a:pPr marL="457200" marR="0" lvl="1" indent="0" algn="l" defTabSz="914400" rtl="0" eaLnBrk="0" fontAlgn="base" latinLnBrk="0" hangingPunct="0">
              <a:lnSpc>
                <a:spcPct val="125000"/>
              </a:lnSpc>
              <a:spcBef>
                <a:spcPct val="20000"/>
              </a:spcBef>
              <a:spcAft>
                <a:spcPct val="0"/>
              </a:spcAft>
              <a:buClrTx/>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弹出栈顶元素</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457200" marR="0" lvl="1" indent="0" algn="l" defTabSz="914400" rtl="0" eaLnBrk="0" fontAlgn="base" latinLnBrk="0" hangingPunct="0">
              <a:lnSpc>
                <a:spcPct val="125000"/>
              </a:lnSpc>
              <a:spcBef>
                <a:spcPct val="20000"/>
              </a:spcBef>
              <a:spcAft>
                <a:spcPct val="0"/>
              </a:spcAft>
              <a:buClrTx/>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输出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e</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矩形 3"/>
          <p:cNvSpPr/>
          <p:nvPr/>
        </p:nvSpPr>
        <p:spPr>
          <a:xfrm>
            <a:off x="-19050" y="1831975"/>
            <a:ext cx="9163050" cy="5026025"/>
          </a:xfrm>
          <a:prstGeom prst="rect">
            <a:avLst/>
          </a:prstGeom>
          <a:solidFill>
            <a:srgbClr val="D4E6F4"/>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5411" name="矩形 4"/>
          <p:cNvSpPr/>
          <p:nvPr/>
        </p:nvSpPr>
        <p:spPr>
          <a:xfrm>
            <a:off x="-19050" y="1055688"/>
            <a:ext cx="2790825" cy="511175"/>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5412" name="Rectangle 1"/>
          <p:cNvSpPr/>
          <p:nvPr/>
        </p:nvSpPr>
        <p:spPr>
          <a:xfrm>
            <a:off x="107950" y="1019175"/>
            <a:ext cx="9036050" cy="5924550"/>
          </a:xfrm>
          <a:prstGeom prst="rect">
            <a:avLst/>
          </a:prstGeom>
          <a:noFill/>
          <a:ln w="9525">
            <a:noFill/>
          </a:ln>
        </p:spPr>
        <p:txBody>
          <a:bodyPr anchor="ctr" anchorCtr="0">
            <a:spAutoFit/>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254000">
              <a:lnSpc>
                <a:spcPct val="125000"/>
              </a:lnSpc>
              <a:spcBef>
                <a:spcPct val="20000"/>
              </a:spcBef>
            </a:pPr>
            <a:r>
              <a:rPr lang="zh-CN" altLang="zh-CN" sz="2000" dirty="0">
                <a:solidFill>
                  <a:schemeClr val="bg1"/>
                </a:solidFill>
                <a:sym typeface="+mn-lt"/>
              </a:rPr>
              <a:t>【</a:t>
            </a:r>
            <a:r>
              <a:rPr lang="zh-CN" altLang="en-US" sz="2000" dirty="0">
                <a:solidFill>
                  <a:schemeClr val="bg1"/>
                </a:solidFill>
                <a:sym typeface="+mn-lt"/>
              </a:rPr>
              <a:t>算法描述</a:t>
            </a:r>
            <a:r>
              <a:rPr lang="zh-CN" altLang="zh-CN" sz="2000" dirty="0">
                <a:solidFill>
                  <a:schemeClr val="bg1"/>
                </a:solidFill>
                <a:sym typeface="+mn-lt"/>
              </a:rPr>
              <a:t>】</a:t>
            </a:r>
            <a:endParaRPr lang="en-US" altLang="zh-CN" sz="2000" dirty="0">
              <a:solidFill>
                <a:schemeClr val="bg1"/>
              </a:solidFill>
              <a:sym typeface="+mn-lt"/>
            </a:endParaRPr>
          </a:p>
          <a:p>
            <a:pPr lvl="0" indent="254000">
              <a:lnSpc>
                <a:spcPct val="125000"/>
              </a:lnSpc>
              <a:spcBef>
                <a:spcPct val="20000"/>
              </a:spcBef>
            </a:pPr>
            <a:endParaRPr lang="zh-CN" altLang="zh-CN" sz="2000" dirty="0">
              <a:solidFill>
                <a:schemeClr val="bg1"/>
              </a:solidFill>
              <a:sym typeface="+mn-lt"/>
            </a:endParaRPr>
          </a:p>
          <a:p>
            <a:pPr lvl="0" indent="254000">
              <a:lnSpc>
                <a:spcPct val="125000"/>
              </a:lnSpc>
            </a:pPr>
            <a:r>
              <a:rPr lang="en-US" altLang="zh-CN" sz="2000" dirty="0">
                <a:sym typeface="+mn-lt"/>
              </a:rPr>
              <a:t>void conversion(int N)</a:t>
            </a:r>
          </a:p>
          <a:p>
            <a:pPr lvl="0" indent="254000">
              <a:lnSpc>
                <a:spcPct val="125000"/>
              </a:lnSpc>
            </a:pPr>
            <a:r>
              <a:rPr lang="en-US" altLang="zh-CN" sz="2000" dirty="0">
                <a:sym typeface="+mn-lt"/>
              </a:rPr>
              <a:t>{//</a:t>
            </a:r>
            <a:r>
              <a:rPr lang="zh-CN" altLang="en-US" sz="2000" dirty="0">
                <a:sym typeface="+mn-lt"/>
              </a:rPr>
              <a:t>对于任意一个非负十进制数，打印输出与其等值的八进制数</a:t>
            </a:r>
          </a:p>
          <a:p>
            <a:pPr lvl="0" indent="254000">
              <a:lnSpc>
                <a:spcPct val="125000"/>
              </a:lnSpc>
            </a:pPr>
            <a:r>
              <a:rPr lang="zh-CN" altLang="en-US" sz="2000" dirty="0">
                <a:sym typeface="+mn-lt"/>
              </a:rPr>
              <a:t>   </a:t>
            </a:r>
            <a:r>
              <a:rPr lang="en-US" altLang="zh-CN" sz="2000" dirty="0">
                <a:sym typeface="+mn-lt"/>
              </a:rPr>
              <a:t>InitStack(S);	//</a:t>
            </a:r>
            <a:r>
              <a:rPr lang="zh-CN" altLang="en-US" sz="2000" dirty="0">
                <a:sym typeface="+mn-lt"/>
              </a:rPr>
              <a:t>初始化空栈</a:t>
            </a:r>
            <a:r>
              <a:rPr lang="en-US" altLang="zh-CN" sz="2000" dirty="0">
                <a:sym typeface="+mn-lt"/>
              </a:rPr>
              <a:t>S</a:t>
            </a:r>
          </a:p>
          <a:p>
            <a:pPr lvl="0" indent="254000">
              <a:lnSpc>
                <a:spcPct val="125000"/>
              </a:lnSpc>
            </a:pPr>
            <a:r>
              <a:rPr lang="en-US" altLang="zh-CN" sz="2000" dirty="0">
                <a:sym typeface="+mn-lt"/>
              </a:rPr>
              <a:t>   while(N) {//</a:t>
            </a:r>
            <a:r>
              <a:rPr lang="zh-CN" altLang="en-US" sz="2000" dirty="0">
                <a:sym typeface="+mn-lt"/>
              </a:rPr>
              <a:t>当</a:t>
            </a:r>
            <a:r>
              <a:rPr lang="en-US" altLang="zh-CN" sz="2000" dirty="0">
                <a:sym typeface="+mn-lt"/>
              </a:rPr>
              <a:t>N</a:t>
            </a:r>
            <a:r>
              <a:rPr lang="zh-CN" altLang="en-US" sz="2000" dirty="0">
                <a:sym typeface="+mn-lt"/>
              </a:rPr>
              <a:t>非零时</a:t>
            </a:r>
            <a:r>
              <a:rPr lang="en-US" altLang="zh-CN" sz="2000" dirty="0">
                <a:sym typeface="+mn-lt"/>
              </a:rPr>
              <a:t>,</a:t>
            </a:r>
            <a:r>
              <a:rPr lang="zh-CN" altLang="en-US" sz="2000" dirty="0">
                <a:sym typeface="+mn-lt"/>
              </a:rPr>
              <a:t>循环</a:t>
            </a:r>
          </a:p>
          <a:p>
            <a:pPr lvl="0" indent="254000">
              <a:lnSpc>
                <a:spcPct val="125000"/>
              </a:lnSpc>
            </a:pPr>
            <a:r>
              <a:rPr lang="en-US" altLang="zh-CN" sz="2000" dirty="0">
                <a:sym typeface="+mn-lt"/>
              </a:rPr>
              <a:t>	Push(S,N%8);	//</a:t>
            </a:r>
            <a:r>
              <a:rPr lang="zh-CN" altLang="en-US" sz="2000" dirty="0">
                <a:sym typeface="+mn-lt"/>
              </a:rPr>
              <a:t>把</a:t>
            </a:r>
            <a:r>
              <a:rPr lang="en-US" altLang="zh-CN" sz="2000" dirty="0">
                <a:sym typeface="+mn-lt"/>
              </a:rPr>
              <a:t>N</a:t>
            </a:r>
            <a:r>
              <a:rPr lang="zh-CN" altLang="en-US" sz="2000" dirty="0">
                <a:sym typeface="+mn-lt"/>
              </a:rPr>
              <a:t>与</a:t>
            </a:r>
            <a:r>
              <a:rPr lang="en-US" altLang="zh-CN" sz="2000" dirty="0">
                <a:sym typeface="+mn-lt"/>
              </a:rPr>
              <a:t>8</a:t>
            </a:r>
            <a:r>
              <a:rPr lang="zh-CN" altLang="en-US" sz="2000" dirty="0">
                <a:sym typeface="+mn-lt"/>
              </a:rPr>
              <a:t>求余得到的八进制数压入栈</a:t>
            </a:r>
            <a:r>
              <a:rPr lang="en-US" altLang="zh-CN" sz="2000" dirty="0">
                <a:sym typeface="+mn-lt"/>
              </a:rPr>
              <a:t>S</a:t>
            </a:r>
          </a:p>
          <a:p>
            <a:pPr lvl="0" indent="254000">
              <a:lnSpc>
                <a:spcPct val="125000"/>
              </a:lnSpc>
            </a:pPr>
            <a:r>
              <a:rPr lang="en-US" altLang="zh-CN" sz="2000" dirty="0">
                <a:sym typeface="+mn-lt"/>
              </a:rPr>
              <a:t>     	 N=N/8;		//N</a:t>
            </a:r>
            <a:r>
              <a:rPr lang="zh-CN" altLang="en-US" sz="2000" dirty="0">
                <a:sym typeface="+mn-lt"/>
              </a:rPr>
              <a:t>更新为</a:t>
            </a:r>
            <a:r>
              <a:rPr lang="en-US" altLang="zh-CN" sz="2000" dirty="0">
                <a:sym typeface="+mn-lt"/>
              </a:rPr>
              <a:t>N</a:t>
            </a:r>
            <a:r>
              <a:rPr lang="zh-CN" altLang="en-US" sz="2000" dirty="0">
                <a:sym typeface="+mn-lt"/>
              </a:rPr>
              <a:t>与</a:t>
            </a:r>
            <a:r>
              <a:rPr lang="en-US" altLang="zh-CN" sz="2000" dirty="0">
                <a:sym typeface="+mn-lt"/>
              </a:rPr>
              <a:t>8</a:t>
            </a:r>
            <a:r>
              <a:rPr lang="zh-CN" altLang="en-US" sz="2000" dirty="0">
                <a:sym typeface="+mn-lt"/>
              </a:rPr>
              <a:t>的商</a:t>
            </a:r>
          </a:p>
          <a:p>
            <a:pPr lvl="0" indent="254000">
              <a:lnSpc>
                <a:spcPct val="125000"/>
              </a:lnSpc>
            </a:pPr>
            <a:r>
              <a:rPr lang="zh-CN" altLang="en-US" sz="2000" dirty="0">
                <a:sym typeface="+mn-lt"/>
              </a:rPr>
              <a:t>   </a:t>
            </a:r>
            <a:r>
              <a:rPr lang="en-US" altLang="zh-CN" sz="2000" dirty="0">
                <a:sym typeface="+mn-lt"/>
              </a:rPr>
              <a:t>}</a:t>
            </a:r>
          </a:p>
          <a:p>
            <a:pPr lvl="0" indent="254000">
              <a:lnSpc>
                <a:spcPct val="125000"/>
              </a:lnSpc>
            </a:pPr>
            <a:r>
              <a:rPr lang="en-US" altLang="zh-CN" sz="2000" dirty="0">
                <a:sym typeface="+mn-lt"/>
              </a:rPr>
              <a:t>   while(!StackEmpty(S))//</a:t>
            </a:r>
            <a:r>
              <a:rPr lang="zh-CN" altLang="en-US" sz="2000" dirty="0">
                <a:sym typeface="+mn-lt"/>
              </a:rPr>
              <a:t>当栈</a:t>
            </a:r>
            <a:r>
              <a:rPr lang="en-US" altLang="zh-CN" sz="2000" dirty="0">
                <a:sym typeface="+mn-lt"/>
              </a:rPr>
              <a:t>S</a:t>
            </a:r>
            <a:r>
              <a:rPr lang="zh-CN" altLang="en-US" sz="2000" dirty="0">
                <a:sym typeface="+mn-lt"/>
              </a:rPr>
              <a:t>非空时，循环</a:t>
            </a:r>
          </a:p>
          <a:p>
            <a:pPr lvl="0" indent="254000">
              <a:lnSpc>
                <a:spcPct val="125000"/>
              </a:lnSpc>
            </a:pPr>
            <a:r>
              <a:rPr lang="zh-CN" altLang="en-US" sz="2000" dirty="0">
                <a:sym typeface="+mn-lt"/>
              </a:rPr>
              <a:t>   </a:t>
            </a:r>
            <a:r>
              <a:rPr lang="en-US" altLang="zh-CN" sz="2000" dirty="0">
                <a:sym typeface="+mn-lt"/>
              </a:rPr>
              <a:t>{</a:t>
            </a:r>
          </a:p>
          <a:p>
            <a:pPr lvl="0" indent="254000">
              <a:lnSpc>
                <a:spcPct val="125000"/>
              </a:lnSpc>
            </a:pPr>
            <a:r>
              <a:rPr lang="en-US" altLang="zh-CN" sz="2000" dirty="0">
                <a:sym typeface="+mn-lt"/>
              </a:rPr>
              <a:t>      Pop(S,e);		//</a:t>
            </a:r>
            <a:r>
              <a:rPr lang="zh-CN" altLang="en-US" sz="2000" dirty="0">
                <a:sym typeface="+mn-lt"/>
              </a:rPr>
              <a:t>弹出栈顶元素</a:t>
            </a:r>
            <a:r>
              <a:rPr lang="en-US" altLang="zh-CN" sz="2000" dirty="0">
                <a:sym typeface="+mn-lt"/>
              </a:rPr>
              <a:t>e</a:t>
            </a:r>
          </a:p>
          <a:p>
            <a:pPr lvl="0" indent="254000">
              <a:lnSpc>
                <a:spcPct val="125000"/>
              </a:lnSpc>
            </a:pPr>
            <a:r>
              <a:rPr lang="en-US" altLang="zh-CN" sz="2000" dirty="0">
                <a:sym typeface="+mn-lt"/>
              </a:rPr>
              <a:t>      cout&lt;&lt;e;		//</a:t>
            </a:r>
            <a:r>
              <a:rPr lang="zh-CN" altLang="en-US" sz="2000" dirty="0">
                <a:sym typeface="+mn-lt"/>
              </a:rPr>
              <a:t>输出</a:t>
            </a:r>
            <a:r>
              <a:rPr lang="en-US" altLang="zh-CN" sz="2000" dirty="0">
                <a:sym typeface="+mn-lt"/>
              </a:rPr>
              <a:t>e</a:t>
            </a:r>
          </a:p>
          <a:p>
            <a:pPr lvl="0" indent="254000">
              <a:lnSpc>
                <a:spcPct val="125000"/>
              </a:lnSpc>
            </a:pPr>
            <a:r>
              <a:rPr lang="en-US" altLang="zh-CN" sz="2000" dirty="0">
                <a:sym typeface="+mn-lt"/>
              </a:rPr>
              <a:t>   }</a:t>
            </a:r>
          </a:p>
          <a:p>
            <a:pPr lvl="0" indent="254000">
              <a:lnSpc>
                <a:spcPct val="125000"/>
              </a:lnSpc>
            </a:pPr>
            <a:r>
              <a:rPr lang="en-US" altLang="zh-CN" sz="2000" dirty="0">
                <a:sym typeface="+mn-lt"/>
              </a:rPr>
              <a:t>}</a:t>
            </a:r>
          </a:p>
        </p:txBody>
      </p:sp>
      <p:sp>
        <p:nvSpPr>
          <p:cNvPr id="145413" name="Rectangle 154"/>
          <p:cNvSpPr txBox="1"/>
          <p:nvPr/>
        </p:nvSpPr>
        <p:spPr>
          <a:xfrm>
            <a:off x="827088" y="163513"/>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案例</a:t>
            </a:r>
            <a:r>
              <a:rPr lang="en-US" altLang="zh-CN" sz="2800" dirty="0">
                <a:solidFill>
                  <a:schemeClr val="bg1"/>
                </a:solidFill>
                <a:sym typeface="+mn-lt"/>
              </a:rPr>
              <a:t>3.1 </a:t>
            </a:r>
            <a:r>
              <a:rPr lang="zh-CN" altLang="en-US" sz="2800" dirty="0">
                <a:solidFill>
                  <a:schemeClr val="bg1"/>
                </a:solidFill>
                <a:sym typeface="+mn-lt"/>
              </a:rPr>
              <a:t>：数制的转换</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矩形 2"/>
          <p:cNvSpPr/>
          <p:nvPr/>
        </p:nvSpPr>
        <p:spPr>
          <a:xfrm>
            <a:off x="0" y="1374775"/>
            <a:ext cx="9144000" cy="5483225"/>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6435" name="矩形 1"/>
          <p:cNvSpPr/>
          <p:nvPr/>
        </p:nvSpPr>
        <p:spPr>
          <a:xfrm>
            <a:off x="0" y="904875"/>
            <a:ext cx="2771775" cy="469900"/>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6436" name="Rectangle 154"/>
          <p:cNvSpPr txBox="1"/>
          <p:nvPr/>
        </p:nvSpPr>
        <p:spPr>
          <a:xfrm>
            <a:off x="827088" y="134938"/>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案例</a:t>
            </a:r>
            <a:r>
              <a:rPr lang="en-US" altLang="zh-CN" sz="2800" dirty="0">
                <a:solidFill>
                  <a:schemeClr val="bg1"/>
                </a:solidFill>
                <a:sym typeface="+mn-lt"/>
              </a:rPr>
              <a:t>3.2 </a:t>
            </a:r>
            <a:r>
              <a:rPr lang="zh-CN" altLang="en-US" sz="2800" dirty="0">
                <a:solidFill>
                  <a:schemeClr val="bg1"/>
                </a:solidFill>
                <a:sym typeface="+mn-lt"/>
              </a:rPr>
              <a:t>：括号的匹配</a:t>
            </a:r>
          </a:p>
        </p:txBody>
      </p:sp>
      <p:sp>
        <p:nvSpPr>
          <p:cNvPr id="132100" name="Text Box 5"/>
          <p:cNvSpPr txBox="1">
            <a:spLocks noChangeArrowheads="1"/>
          </p:cNvSpPr>
          <p:nvPr/>
        </p:nvSpPr>
        <p:spPr bwMode="auto">
          <a:xfrm>
            <a:off x="271463" y="908050"/>
            <a:ext cx="8718550" cy="576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endPar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rgbClr val="FF0000"/>
                </a:solidFill>
                <a:effectLst/>
                <a:uLnTx/>
                <a:uFillTx/>
                <a:latin typeface="+mn-lt"/>
                <a:ea typeface="+mn-ea"/>
                <a:cs typeface="+mn-ea"/>
                <a:sym typeface="+mn-lt"/>
              </a:rPr>
              <a:t>①</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初始化一个空栈</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a:t>
            </a:r>
          </a:p>
          <a:p>
            <a:pPr marL="354330" marR="0" lvl="0" indent="-35433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rgbClr val="FF0000"/>
                </a:solidFill>
                <a:effectLst/>
                <a:uLnTx/>
                <a:uFillTx/>
                <a:latin typeface="+mn-lt"/>
                <a:ea typeface="+mn-ea"/>
                <a:cs typeface="+mn-ea"/>
                <a:sym typeface="+mn-lt"/>
              </a:rPr>
              <a:t>②</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设置一标记性变量</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flag</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，用来标记匹配结果以控制循环及返回结果，</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表示正确匹配，</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表示错误匹配，</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flag</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初值为</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a:t>
            </a:r>
          </a:p>
          <a:p>
            <a:pPr marL="354330" marR="0" lvl="0" indent="-35433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rgbClr val="FF0000"/>
                </a:solidFill>
                <a:effectLst/>
                <a:uLnTx/>
                <a:uFillTx/>
                <a:latin typeface="+mn-lt"/>
                <a:ea typeface="+mn-ea"/>
                <a:cs typeface="+mn-ea"/>
                <a:sym typeface="+mn-lt"/>
              </a:rPr>
              <a:t>③</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扫描表达式，依次读入字符</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，如果表达式没有扫描完毕或</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flag</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非零，则循环执行以下操作：</a:t>
            </a:r>
          </a:p>
          <a:p>
            <a:pPr marL="457200" marR="0" lvl="1" indent="0" algn="l" defTabSz="914400" rtl="0" eaLnBrk="0" fontAlgn="base" latinLnBrk="0" hangingPunct="0">
              <a:lnSpc>
                <a:spcPct val="125000"/>
              </a:lnSpc>
              <a:spcBef>
                <a:spcPct val="20000"/>
              </a:spcBef>
              <a:spcAft>
                <a:spcPct val="0"/>
              </a:spcAft>
              <a:buClr>
                <a:schemeClr val="accent1">
                  <a:lumMod val="75000"/>
                </a:schemeClr>
              </a:buClr>
              <a:buSzTx/>
              <a:buFont typeface="Wingdings" panose="05000000000000000000" pitchFamily="2" charset="2"/>
              <a:buChar char="l"/>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若</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是左括号“</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或“</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，则将其压入栈；</a:t>
            </a:r>
          </a:p>
          <a:p>
            <a:pPr marL="806450" marR="0" lvl="1" indent="-349250" algn="l" defTabSz="914400" rtl="0" eaLnBrk="0" fontAlgn="base" latinLnBrk="0" hangingPunct="0">
              <a:lnSpc>
                <a:spcPct val="125000"/>
              </a:lnSpc>
              <a:spcBef>
                <a:spcPct val="20000"/>
              </a:spcBef>
              <a:spcAft>
                <a:spcPct val="0"/>
              </a:spcAft>
              <a:buClr>
                <a:schemeClr val="accent1">
                  <a:lumMod val="75000"/>
                </a:schemeClr>
              </a:buClr>
              <a:buSzTx/>
              <a:buFont typeface="Wingdings" panose="05000000000000000000" pitchFamily="2" charset="2"/>
              <a:buChar char="l"/>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若</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是右括号“</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，则根据当前栈顶元素的值分情况考虑：若栈非空且栈顶元素是“</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，则正确匹配，否则错误匹配，</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flag</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置为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p>
          <a:p>
            <a:pPr marL="806450" marR="0" lvl="1" indent="-349250" algn="l" defTabSz="914400" rtl="0" eaLnBrk="0" fontAlgn="base" latinLnBrk="0" hangingPunct="0">
              <a:lnSpc>
                <a:spcPct val="125000"/>
              </a:lnSpc>
              <a:spcBef>
                <a:spcPct val="20000"/>
              </a:spcBef>
              <a:spcAft>
                <a:spcPct val="0"/>
              </a:spcAft>
              <a:buClr>
                <a:schemeClr val="accent1">
                  <a:lumMod val="75000"/>
                </a:schemeClr>
              </a:buClr>
              <a:buSzTx/>
              <a:buFont typeface="Wingdings" panose="05000000000000000000" pitchFamily="2" charset="2"/>
              <a:buChar char="l"/>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若</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是右括号“</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，则根据当前栈顶元素的值分情况考虑：若栈非空且栈顶元素是“</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，则正确匹配，否则错误匹配，</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flag</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置为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p>
          <a:p>
            <a:pPr marL="354330" marR="0" lvl="0" indent="-35433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200" b="0" i="0" u="none" strike="noStrike" kern="1200" cap="none" spc="0" normalizeH="0" baseline="0" noProof="0" dirty="0">
                <a:ln>
                  <a:noFill/>
                </a:ln>
                <a:solidFill>
                  <a:srgbClr val="FF0000"/>
                </a:solidFill>
                <a:effectLst/>
                <a:uLnTx/>
                <a:uFillTx/>
                <a:latin typeface="+mn-lt"/>
                <a:ea typeface="+mn-ea"/>
                <a:cs typeface="+mn-ea"/>
                <a:sym typeface="+mn-lt"/>
              </a:rPr>
              <a:t>④</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 退出循环后，如果栈空且</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flag</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值为</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，则匹配成功，返回</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true</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，否则返回</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false</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Text Box 20"/>
          <p:cNvSpPr txBox="1">
            <a:spLocks noChangeArrowheads="1"/>
          </p:cNvSpPr>
          <p:nvPr/>
        </p:nvSpPr>
        <p:spPr bwMode="auto">
          <a:xfrm>
            <a:off x="809625" y="1023938"/>
            <a:ext cx="4114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ea"/>
                <a:sym typeface="+mn-lt"/>
              </a:rPr>
              <a:t>算术四则运算规则</a:t>
            </a:r>
          </a:p>
        </p:txBody>
      </p:sp>
      <p:sp>
        <p:nvSpPr>
          <p:cNvPr id="147459" name="Rectangle 154"/>
          <p:cNvSpPr txBox="1"/>
          <p:nvPr/>
        </p:nvSpPr>
        <p:spPr>
          <a:xfrm>
            <a:off x="809625" y="171450"/>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案例</a:t>
            </a:r>
            <a:r>
              <a:rPr lang="en-US" altLang="zh-CN" sz="2800" dirty="0">
                <a:solidFill>
                  <a:schemeClr val="bg1"/>
                </a:solidFill>
                <a:sym typeface="+mn-lt"/>
              </a:rPr>
              <a:t>3.3 </a:t>
            </a:r>
            <a:r>
              <a:rPr lang="zh-CN" altLang="en-US" sz="2800" dirty="0">
                <a:solidFill>
                  <a:schemeClr val="bg1"/>
                </a:solidFill>
                <a:sym typeface="+mn-lt"/>
              </a:rPr>
              <a:t>：表达式求值</a:t>
            </a:r>
          </a:p>
        </p:txBody>
      </p:sp>
      <p:grpSp>
        <p:nvGrpSpPr>
          <p:cNvPr id="8" name="组合 7"/>
          <p:cNvGrpSpPr/>
          <p:nvPr/>
        </p:nvGrpSpPr>
        <p:grpSpPr>
          <a:xfrm>
            <a:off x="687388" y="2217738"/>
            <a:ext cx="2147887" cy="2890837"/>
            <a:chOff x="1088322" y="2217316"/>
            <a:chExt cx="2147157" cy="2890623"/>
          </a:xfrm>
        </p:grpSpPr>
        <p:sp>
          <p:nvSpPr>
            <p:cNvPr id="9" name="íṡľíḍè-Rectangle 22"/>
            <p:cNvSpPr/>
            <p:nvPr/>
          </p:nvSpPr>
          <p:spPr>
            <a:xfrm>
              <a:off x="1167670" y="2217316"/>
              <a:ext cx="1901179" cy="1901684"/>
            </a:xfrm>
            <a:prstGeom prst="rect">
              <a:avLst/>
            </a:pr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0" name="íṡľíḍè-Freeform: Shape 23"/>
            <p:cNvSpPr/>
            <p:nvPr/>
          </p:nvSpPr>
          <p:spPr>
            <a:xfrm rot="10800000">
              <a:off x="1167670" y="3988835"/>
              <a:ext cx="1901179" cy="369860"/>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4F81BD">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1" name="îŝḷîḓé-Rectangle 38"/>
            <p:cNvSpPr/>
            <p:nvPr/>
          </p:nvSpPr>
          <p:spPr>
            <a:xfrm>
              <a:off x="1088322" y="4580928"/>
              <a:ext cx="2147157" cy="527011"/>
            </a:xfrm>
            <a:prstGeom prst="rect">
              <a:avLst/>
            </a:prstGeom>
          </p:spPr>
          <p:txBody>
            <a:bodyPr lIns="0" tIns="0" rIns="0" bIns="0"/>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lumMod val="100000"/>
                    </a:prstClr>
                  </a:solidFill>
                  <a:effectLst/>
                  <a:uLnTx/>
                  <a:uFillTx/>
                  <a:latin typeface="+mn-lt"/>
                  <a:ea typeface="+mn-ea"/>
                  <a:cs typeface="+mn-ea"/>
                  <a:sym typeface="+mn-lt"/>
                </a:rPr>
                <a:t>先乘除</a:t>
              </a:r>
              <a:r>
                <a:rPr kumimoji="0" lang="en-US" altLang="zh-CN" sz="2400" b="0" i="0" u="none" strike="noStrike" kern="0" cap="none" spc="0" normalizeH="0" baseline="0" noProof="0" dirty="0">
                  <a:ln>
                    <a:noFill/>
                  </a:ln>
                  <a:solidFill>
                    <a:prstClr val="black">
                      <a:lumMod val="100000"/>
                    </a:prstClr>
                  </a:solidFill>
                  <a:effectLst/>
                  <a:uLnTx/>
                  <a:uFillTx/>
                  <a:latin typeface="+mn-lt"/>
                  <a:ea typeface="+mn-ea"/>
                  <a:cs typeface="+mn-ea"/>
                  <a:sym typeface="+mn-lt"/>
                </a:rPr>
                <a:t>,</a:t>
              </a:r>
              <a:r>
                <a:rPr kumimoji="0" lang="zh-CN" altLang="en-US" sz="2400" b="0" i="0" u="none" strike="noStrike" kern="0" cap="none" spc="0" normalizeH="0" baseline="0" noProof="0" dirty="0">
                  <a:ln>
                    <a:noFill/>
                  </a:ln>
                  <a:solidFill>
                    <a:prstClr val="black">
                      <a:lumMod val="100000"/>
                    </a:prstClr>
                  </a:solidFill>
                  <a:effectLst/>
                  <a:uLnTx/>
                  <a:uFillTx/>
                  <a:latin typeface="+mn-lt"/>
                  <a:ea typeface="+mn-ea"/>
                  <a:cs typeface="+mn-ea"/>
                  <a:sym typeface="+mn-lt"/>
                </a:rPr>
                <a:t>后加减</a:t>
              </a:r>
            </a:p>
          </p:txBody>
        </p:sp>
        <p:sp>
          <p:nvSpPr>
            <p:cNvPr id="12" name="îŝḷîḓé-Freeform: Shape 42"/>
            <p:cNvSpPr/>
            <p:nvPr/>
          </p:nvSpPr>
          <p:spPr bwMode="auto">
            <a:xfrm>
              <a:off x="1689780" y="2469709"/>
              <a:ext cx="944242" cy="944493"/>
            </a:xfrm>
            <a:custGeom>
              <a:avLst/>
              <a:gdLst>
                <a:gd name="T0" fmla="*/ 184 w 260"/>
                <a:gd name="T1" fmla="*/ 106 h 260"/>
                <a:gd name="T2" fmla="*/ 193 w 260"/>
                <a:gd name="T3" fmla="*/ 143 h 260"/>
                <a:gd name="T4" fmla="*/ 117 w 260"/>
                <a:gd name="T5" fmla="*/ 219 h 260"/>
                <a:gd name="T6" fmla="*/ 42 w 260"/>
                <a:gd name="T7" fmla="*/ 143 h 260"/>
                <a:gd name="T8" fmla="*/ 117 w 260"/>
                <a:gd name="T9" fmla="*/ 66 h 260"/>
                <a:gd name="T10" fmla="*/ 154 w 260"/>
                <a:gd name="T11" fmla="*/ 76 h 260"/>
                <a:gd name="T12" fmla="*/ 183 w 260"/>
                <a:gd name="T13" fmla="*/ 46 h 260"/>
                <a:gd name="T14" fmla="*/ 117 w 260"/>
                <a:gd name="T15" fmla="*/ 25 h 260"/>
                <a:gd name="T16" fmla="*/ 0 w 260"/>
                <a:gd name="T17" fmla="*/ 143 h 260"/>
                <a:gd name="T18" fmla="*/ 117 w 260"/>
                <a:gd name="T19" fmla="*/ 260 h 260"/>
                <a:gd name="T20" fmla="*/ 233 w 260"/>
                <a:gd name="T21" fmla="*/ 143 h 260"/>
                <a:gd name="T22" fmla="*/ 213 w 260"/>
                <a:gd name="T23" fmla="*/ 77 h 260"/>
                <a:gd name="T24" fmla="*/ 184 w 260"/>
                <a:gd name="T25" fmla="*/ 106 h 260"/>
                <a:gd name="T26" fmla="*/ 225 w 260"/>
                <a:gd name="T27" fmla="*/ 35 h 260"/>
                <a:gd name="T28" fmla="*/ 225 w 260"/>
                <a:gd name="T29" fmla="*/ 35 h 260"/>
                <a:gd name="T30" fmla="*/ 225 w 260"/>
                <a:gd name="T31" fmla="*/ 0 h 260"/>
                <a:gd name="T32" fmla="*/ 203 w 260"/>
                <a:gd name="T33" fmla="*/ 23 h 260"/>
                <a:gd name="T34" fmla="*/ 203 w 260"/>
                <a:gd name="T35" fmla="*/ 46 h 260"/>
                <a:gd name="T36" fmla="*/ 139 w 260"/>
                <a:gd name="T37" fmla="*/ 111 h 260"/>
                <a:gd name="T38" fmla="*/ 117 w 260"/>
                <a:gd name="T39" fmla="*/ 104 h 260"/>
                <a:gd name="T40" fmla="*/ 79 w 260"/>
                <a:gd name="T41" fmla="*/ 143 h 260"/>
                <a:gd name="T42" fmla="*/ 117 w 260"/>
                <a:gd name="T43" fmla="*/ 181 h 260"/>
                <a:gd name="T44" fmla="*/ 155 w 260"/>
                <a:gd name="T45" fmla="*/ 143 h 260"/>
                <a:gd name="T46" fmla="*/ 150 w 260"/>
                <a:gd name="T47" fmla="*/ 123 h 260"/>
                <a:gd name="T48" fmla="*/ 215 w 260"/>
                <a:gd name="T49" fmla="*/ 58 h 260"/>
                <a:gd name="T50" fmla="*/ 237 w 260"/>
                <a:gd name="T51" fmla="*/ 58 h 260"/>
                <a:gd name="T52" fmla="*/ 260 w 260"/>
                <a:gd name="T53" fmla="*/ 35 h 260"/>
                <a:gd name="T54" fmla="*/ 225 w 260"/>
                <a:gd name="T55" fmla="*/ 35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0" h="260">
                  <a:moveTo>
                    <a:pt x="184" y="106"/>
                  </a:moveTo>
                  <a:cubicBezTo>
                    <a:pt x="190" y="117"/>
                    <a:pt x="193" y="129"/>
                    <a:pt x="193" y="143"/>
                  </a:cubicBezTo>
                  <a:cubicBezTo>
                    <a:pt x="193" y="185"/>
                    <a:pt x="159" y="219"/>
                    <a:pt x="117" y="219"/>
                  </a:cubicBezTo>
                  <a:cubicBezTo>
                    <a:pt x="76" y="219"/>
                    <a:pt x="42" y="185"/>
                    <a:pt x="42" y="143"/>
                  </a:cubicBezTo>
                  <a:cubicBezTo>
                    <a:pt x="42" y="100"/>
                    <a:pt x="76" y="66"/>
                    <a:pt x="117" y="66"/>
                  </a:cubicBezTo>
                  <a:cubicBezTo>
                    <a:pt x="131" y="66"/>
                    <a:pt x="143" y="70"/>
                    <a:pt x="154" y="76"/>
                  </a:cubicBezTo>
                  <a:cubicBezTo>
                    <a:pt x="183" y="46"/>
                    <a:pt x="183" y="46"/>
                    <a:pt x="183" y="46"/>
                  </a:cubicBezTo>
                  <a:cubicBezTo>
                    <a:pt x="165" y="33"/>
                    <a:pt x="141" y="25"/>
                    <a:pt x="117" y="25"/>
                  </a:cubicBezTo>
                  <a:cubicBezTo>
                    <a:pt x="52" y="25"/>
                    <a:pt x="0" y="78"/>
                    <a:pt x="0" y="143"/>
                  </a:cubicBezTo>
                  <a:cubicBezTo>
                    <a:pt x="0" y="207"/>
                    <a:pt x="52" y="260"/>
                    <a:pt x="117" y="260"/>
                  </a:cubicBezTo>
                  <a:cubicBezTo>
                    <a:pt x="181" y="260"/>
                    <a:pt x="233" y="207"/>
                    <a:pt x="233" y="143"/>
                  </a:cubicBezTo>
                  <a:cubicBezTo>
                    <a:pt x="233" y="118"/>
                    <a:pt x="226" y="96"/>
                    <a:pt x="213" y="77"/>
                  </a:cubicBezTo>
                  <a:cubicBezTo>
                    <a:pt x="184" y="106"/>
                    <a:pt x="184" y="106"/>
                    <a:pt x="184" y="106"/>
                  </a:cubicBezTo>
                  <a:close/>
                  <a:moveTo>
                    <a:pt x="225" y="35"/>
                  </a:moveTo>
                  <a:cubicBezTo>
                    <a:pt x="225" y="35"/>
                    <a:pt x="225" y="35"/>
                    <a:pt x="225" y="35"/>
                  </a:cubicBezTo>
                  <a:cubicBezTo>
                    <a:pt x="225" y="0"/>
                    <a:pt x="225" y="0"/>
                    <a:pt x="225" y="0"/>
                  </a:cubicBezTo>
                  <a:cubicBezTo>
                    <a:pt x="203" y="23"/>
                    <a:pt x="203" y="23"/>
                    <a:pt x="203" y="23"/>
                  </a:cubicBezTo>
                  <a:cubicBezTo>
                    <a:pt x="203" y="46"/>
                    <a:pt x="203" y="46"/>
                    <a:pt x="203" y="46"/>
                  </a:cubicBezTo>
                  <a:cubicBezTo>
                    <a:pt x="139" y="111"/>
                    <a:pt x="139" y="111"/>
                    <a:pt x="139" y="111"/>
                  </a:cubicBezTo>
                  <a:cubicBezTo>
                    <a:pt x="133" y="106"/>
                    <a:pt x="125" y="104"/>
                    <a:pt x="117" y="104"/>
                  </a:cubicBezTo>
                  <a:cubicBezTo>
                    <a:pt x="96" y="104"/>
                    <a:pt x="79" y="121"/>
                    <a:pt x="79" y="143"/>
                  </a:cubicBezTo>
                  <a:cubicBezTo>
                    <a:pt x="79" y="164"/>
                    <a:pt x="96" y="181"/>
                    <a:pt x="117" y="181"/>
                  </a:cubicBezTo>
                  <a:cubicBezTo>
                    <a:pt x="138" y="181"/>
                    <a:pt x="155" y="164"/>
                    <a:pt x="155" y="143"/>
                  </a:cubicBezTo>
                  <a:cubicBezTo>
                    <a:pt x="155" y="136"/>
                    <a:pt x="154" y="129"/>
                    <a:pt x="150" y="123"/>
                  </a:cubicBezTo>
                  <a:cubicBezTo>
                    <a:pt x="215" y="58"/>
                    <a:pt x="215" y="58"/>
                    <a:pt x="215" y="58"/>
                  </a:cubicBezTo>
                  <a:cubicBezTo>
                    <a:pt x="237" y="58"/>
                    <a:pt x="237" y="58"/>
                    <a:pt x="237" y="58"/>
                  </a:cubicBezTo>
                  <a:cubicBezTo>
                    <a:pt x="260" y="35"/>
                    <a:pt x="260" y="35"/>
                    <a:pt x="260" y="35"/>
                  </a:cubicBezTo>
                  <a:cubicBezTo>
                    <a:pt x="225" y="35"/>
                    <a:pt x="225" y="35"/>
                    <a:pt x="225" y="35"/>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13" name="组合 12"/>
          <p:cNvGrpSpPr/>
          <p:nvPr/>
        </p:nvGrpSpPr>
        <p:grpSpPr>
          <a:xfrm>
            <a:off x="6292850" y="2217738"/>
            <a:ext cx="1900238" cy="2890837"/>
            <a:chOff x="9271092" y="2217316"/>
            <a:chExt cx="1901376" cy="2890623"/>
          </a:xfrm>
        </p:grpSpPr>
        <p:sp>
          <p:nvSpPr>
            <p:cNvPr id="14" name="íṡľíḍè-Rectangle 30"/>
            <p:cNvSpPr/>
            <p:nvPr/>
          </p:nvSpPr>
          <p:spPr>
            <a:xfrm>
              <a:off x="9271092" y="2217316"/>
              <a:ext cx="1901376" cy="1901684"/>
            </a:xfrm>
            <a:prstGeom prst="rect">
              <a:avLst/>
            </a:prstGeom>
            <a:solidFill>
              <a:srgbClr val="8064A2"/>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5" name="íṡľíḍè-Freeform: Shape 31"/>
            <p:cNvSpPr/>
            <p:nvPr/>
          </p:nvSpPr>
          <p:spPr>
            <a:xfrm rot="10800000">
              <a:off x="9271092" y="4028519"/>
              <a:ext cx="1901376" cy="369861"/>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8064A2">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16" name="îŝḷîḓé-Rectangle 41"/>
            <p:cNvSpPr/>
            <p:nvPr/>
          </p:nvSpPr>
          <p:spPr>
            <a:xfrm>
              <a:off x="9271092" y="4580928"/>
              <a:ext cx="1901376" cy="527011"/>
            </a:xfrm>
            <a:prstGeom prst="rect">
              <a:avLst/>
            </a:prstGeom>
          </p:spPr>
          <p:txBody>
            <a:bodyPr lIns="0" tIns="0" rIns="0" bIns="0"/>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lumMod val="100000"/>
                    </a:prstClr>
                  </a:solidFill>
                  <a:effectLst/>
                  <a:uLnTx/>
                  <a:uFillTx/>
                  <a:latin typeface="+mn-lt"/>
                  <a:ea typeface="+mn-ea"/>
                  <a:cs typeface="+mn-ea"/>
                  <a:sym typeface="+mn-lt"/>
                </a:rPr>
                <a:t>先括号内</a:t>
              </a:r>
              <a:r>
                <a:rPr kumimoji="0" lang="en-US" altLang="zh-CN" sz="2400" b="0" i="0" u="none" strike="noStrike" kern="0" cap="none" spc="0" normalizeH="0" baseline="0" noProof="0" dirty="0">
                  <a:ln>
                    <a:noFill/>
                  </a:ln>
                  <a:solidFill>
                    <a:prstClr val="black">
                      <a:lumMod val="100000"/>
                    </a:prstClr>
                  </a:solidFill>
                  <a:effectLst/>
                  <a:uLnTx/>
                  <a:uFillTx/>
                  <a:latin typeface="+mn-lt"/>
                  <a:ea typeface="+mn-ea"/>
                  <a:cs typeface="+mn-ea"/>
                  <a:sym typeface="+mn-lt"/>
                </a:rPr>
                <a:t>,</a:t>
              </a:r>
              <a:r>
                <a:rPr kumimoji="0" lang="zh-CN" altLang="en-US" sz="2400" b="0" i="0" u="none" strike="noStrike" kern="0" cap="none" spc="0" normalizeH="0" baseline="0" noProof="0" dirty="0">
                  <a:ln>
                    <a:noFill/>
                  </a:ln>
                  <a:solidFill>
                    <a:prstClr val="black">
                      <a:lumMod val="100000"/>
                    </a:prstClr>
                  </a:solidFill>
                  <a:effectLst/>
                  <a:uLnTx/>
                  <a:uFillTx/>
                  <a:latin typeface="+mn-lt"/>
                  <a:ea typeface="+mn-ea"/>
                  <a:cs typeface="+mn-ea"/>
                  <a:sym typeface="+mn-lt"/>
                </a:rPr>
                <a:t>后括号外</a:t>
              </a:r>
            </a:p>
          </p:txBody>
        </p:sp>
        <p:sp>
          <p:nvSpPr>
            <p:cNvPr id="17" name="îŝḷîḓé-Freeform: Shape 43"/>
            <p:cNvSpPr/>
            <p:nvPr/>
          </p:nvSpPr>
          <p:spPr bwMode="auto">
            <a:xfrm>
              <a:off x="9761924" y="2560191"/>
              <a:ext cx="838702" cy="838138"/>
            </a:xfrm>
            <a:custGeom>
              <a:avLst/>
              <a:gdLst>
                <a:gd name="T0" fmla="*/ 116 w 232"/>
                <a:gd name="T1" fmla="*/ 0 h 232"/>
                <a:gd name="T2" fmla="*/ 0 w 232"/>
                <a:gd name="T3" fmla="*/ 116 h 232"/>
                <a:gd name="T4" fmla="*/ 116 w 232"/>
                <a:gd name="T5" fmla="*/ 232 h 232"/>
                <a:gd name="T6" fmla="*/ 232 w 232"/>
                <a:gd name="T7" fmla="*/ 116 h 232"/>
                <a:gd name="T8" fmla="*/ 116 w 232"/>
                <a:gd name="T9" fmla="*/ 0 h 232"/>
                <a:gd name="T10" fmla="*/ 129 w 232"/>
                <a:gd name="T11" fmla="*/ 208 h 232"/>
                <a:gd name="T12" fmla="*/ 129 w 232"/>
                <a:gd name="T13" fmla="*/ 190 h 232"/>
                <a:gd name="T14" fmla="*/ 117 w 232"/>
                <a:gd name="T15" fmla="*/ 178 h 232"/>
                <a:gd name="T16" fmla="*/ 105 w 232"/>
                <a:gd name="T17" fmla="*/ 190 h 232"/>
                <a:gd name="T18" fmla="*/ 105 w 232"/>
                <a:gd name="T19" fmla="*/ 208 h 232"/>
                <a:gd name="T20" fmla="*/ 25 w 232"/>
                <a:gd name="T21" fmla="*/ 129 h 232"/>
                <a:gd name="T22" fmla="*/ 42 w 232"/>
                <a:gd name="T23" fmla="*/ 129 h 232"/>
                <a:gd name="T24" fmla="*/ 53 w 232"/>
                <a:gd name="T25" fmla="*/ 117 h 232"/>
                <a:gd name="T26" fmla="*/ 42 w 232"/>
                <a:gd name="T27" fmla="*/ 105 h 232"/>
                <a:gd name="T28" fmla="*/ 24 w 232"/>
                <a:gd name="T29" fmla="*/ 105 h 232"/>
                <a:gd name="T30" fmla="*/ 104 w 232"/>
                <a:gd name="T31" fmla="*/ 25 h 232"/>
                <a:gd name="T32" fmla="*/ 104 w 232"/>
                <a:gd name="T33" fmla="*/ 41 h 232"/>
                <a:gd name="T34" fmla="*/ 116 w 232"/>
                <a:gd name="T35" fmla="*/ 53 h 232"/>
                <a:gd name="T36" fmla="*/ 128 w 232"/>
                <a:gd name="T37" fmla="*/ 41 h 232"/>
                <a:gd name="T38" fmla="*/ 128 w 232"/>
                <a:gd name="T39" fmla="*/ 25 h 232"/>
                <a:gd name="T40" fmla="*/ 208 w 232"/>
                <a:gd name="T41" fmla="*/ 104 h 232"/>
                <a:gd name="T42" fmla="*/ 190 w 232"/>
                <a:gd name="T43" fmla="*/ 104 h 232"/>
                <a:gd name="T44" fmla="*/ 179 w 232"/>
                <a:gd name="T45" fmla="*/ 116 h 232"/>
                <a:gd name="T46" fmla="*/ 190 w 232"/>
                <a:gd name="T47" fmla="*/ 128 h 232"/>
                <a:gd name="T48" fmla="*/ 208 w 232"/>
                <a:gd name="T49" fmla="*/ 128 h 232"/>
                <a:gd name="T50" fmla="*/ 129 w 232"/>
                <a:gd name="T51" fmla="*/ 208 h 232"/>
                <a:gd name="T52" fmla="*/ 124 w 232"/>
                <a:gd name="T53" fmla="*/ 94 h 232"/>
                <a:gd name="T54" fmla="*/ 70 w 232"/>
                <a:gd name="T55" fmla="*/ 69 h 232"/>
                <a:gd name="T56" fmla="*/ 94 w 232"/>
                <a:gd name="T57" fmla="*/ 124 h 232"/>
                <a:gd name="T58" fmla="*/ 109 w 232"/>
                <a:gd name="T59" fmla="*/ 138 h 232"/>
                <a:gd name="T60" fmla="*/ 163 w 232"/>
                <a:gd name="T61" fmla="*/ 163 h 232"/>
                <a:gd name="T62" fmla="*/ 138 w 232"/>
                <a:gd name="T63" fmla="*/ 108 h 232"/>
                <a:gd name="T64" fmla="*/ 124 w 232"/>
                <a:gd name="T65" fmla="*/ 94 h 232"/>
                <a:gd name="T66" fmla="*/ 123 w 232"/>
                <a:gd name="T67" fmla="*/ 123 h 232"/>
                <a:gd name="T68" fmla="*/ 110 w 232"/>
                <a:gd name="T69" fmla="*/ 123 h 232"/>
                <a:gd name="T70" fmla="*/ 110 w 232"/>
                <a:gd name="T71" fmla="*/ 109 h 232"/>
                <a:gd name="T72" fmla="*/ 123 w 232"/>
                <a:gd name="T73" fmla="*/ 109 h 232"/>
                <a:gd name="T74" fmla="*/ 123 w 232"/>
                <a:gd name="T75" fmla="*/ 123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2" h="232">
                  <a:moveTo>
                    <a:pt x="116" y="0"/>
                  </a:moveTo>
                  <a:cubicBezTo>
                    <a:pt x="52" y="0"/>
                    <a:pt x="0" y="52"/>
                    <a:pt x="0" y="116"/>
                  </a:cubicBezTo>
                  <a:cubicBezTo>
                    <a:pt x="0" y="180"/>
                    <a:pt x="52" y="232"/>
                    <a:pt x="116" y="232"/>
                  </a:cubicBezTo>
                  <a:cubicBezTo>
                    <a:pt x="180" y="232"/>
                    <a:pt x="232" y="180"/>
                    <a:pt x="232" y="116"/>
                  </a:cubicBezTo>
                  <a:cubicBezTo>
                    <a:pt x="232" y="52"/>
                    <a:pt x="180" y="0"/>
                    <a:pt x="116" y="0"/>
                  </a:cubicBezTo>
                  <a:close/>
                  <a:moveTo>
                    <a:pt x="129" y="208"/>
                  </a:moveTo>
                  <a:cubicBezTo>
                    <a:pt x="129" y="190"/>
                    <a:pt x="129" y="190"/>
                    <a:pt x="129" y="190"/>
                  </a:cubicBezTo>
                  <a:cubicBezTo>
                    <a:pt x="129" y="183"/>
                    <a:pt x="123" y="178"/>
                    <a:pt x="117" y="178"/>
                  </a:cubicBezTo>
                  <a:cubicBezTo>
                    <a:pt x="110" y="178"/>
                    <a:pt x="105" y="183"/>
                    <a:pt x="105" y="190"/>
                  </a:cubicBezTo>
                  <a:cubicBezTo>
                    <a:pt x="105" y="208"/>
                    <a:pt x="105" y="208"/>
                    <a:pt x="105" y="208"/>
                  </a:cubicBezTo>
                  <a:cubicBezTo>
                    <a:pt x="63" y="203"/>
                    <a:pt x="30" y="170"/>
                    <a:pt x="25" y="129"/>
                  </a:cubicBezTo>
                  <a:cubicBezTo>
                    <a:pt x="42" y="129"/>
                    <a:pt x="42" y="129"/>
                    <a:pt x="42" y="129"/>
                  </a:cubicBezTo>
                  <a:cubicBezTo>
                    <a:pt x="48" y="129"/>
                    <a:pt x="53" y="123"/>
                    <a:pt x="53" y="117"/>
                  </a:cubicBezTo>
                  <a:cubicBezTo>
                    <a:pt x="53" y="110"/>
                    <a:pt x="48" y="105"/>
                    <a:pt x="42" y="105"/>
                  </a:cubicBezTo>
                  <a:cubicBezTo>
                    <a:pt x="24" y="105"/>
                    <a:pt x="24" y="105"/>
                    <a:pt x="24" y="105"/>
                  </a:cubicBezTo>
                  <a:cubicBezTo>
                    <a:pt x="29" y="63"/>
                    <a:pt x="63" y="30"/>
                    <a:pt x="104" y="25"/>
                  </a:cubicBezTo>
                  <a:cubicBezTo>
                    <a:pt x="104" y="41"/>
                    <a:pt x="104" y="41"/>
                    <a:pt x="104" y="41"/>
                  </a:cubicBezTo>
                  <a:cubicBezTo>
                    <a:pt x="104" y="47"/>
                    <a:pt x="109" y="53"/>
                    <a:pt x="116" y="53"/>
                  </a:cubicBezTo>
                  <a:cubicBezTo>
                    <a:pt x="122" y="53"/>
                    <a:pt x="128" y="47"/>
                    <a:pt x="128" y="41"/>
                  </a:cubicBezTo>
                  <a:cubicBezTo>
                    <a:pt x="128" y="25"/>
                    <a:pt x="128" y="25"/>
                    <a:pt x="128" y="25"/>
                  </a:cubicBezTo>
                  <a:cubicBezTo>
                    <a:pt x="169" y="30"/>
                    <a:pt x="202" y="63"/>
                    <a:pt x="208" y="104"/>
                  </a:cubicBezTo>
                  <a:cubicBezTo>
                    <a:pt x="190" y="104"/>
                    <a:pt x="190" y="104"/>
                    <a:pt x="190" y="104"/>
                  </a:cubicBezTo>
                  <a:cubicBezTo>
                    <a:pt x="184" y="104"/>
                    <a:pt x="179" y="109"/>
                    <a:pt x="179" y="116"/>
                  </a:cubicBezTo>
                  <a:cubicBezTo>
                    <a:pt x="179" y="122"/>
                    <a:pt x="184" y="128"/>
                    <a:pt x="190" y="128"/>
                  </a:cubicBezTo>
                  <a:cubicBezTo>
                    <a:pt x="208" y="128"/>
                    <a:pt x="208" y="128"/>
                    <a:pt x="208" y="128"/>
                  </a:cubicBezTo>
                  <a:cubicBezTo>
                    <a:pt x="203" y="169"/>
                    <a:pt x="170" y="202"/>
                    <a:pt x="129" y="208"/>
                  </a:cubicBezTo>
                  <a:close/>
                  <a:moveTo>
                    <a:pt x="124" y="94"/>
                  </a:moveTo>
                  <a:cubicBezTo>
                    <a:pt x="70" y="69"/>
                    <a:pt x="70" y="69"/>
                    <a:pt x="70" y="69"/>
                  </a:cubicBezTo>
                  <a:cubicBezTo>
                    <a:pt x="94" y="124"/>
                    <a:pt x="94" y="124"/>
                    <a:pt x="94" y="124"/>
                  </a:cubicBezTo>
                  <a:cubicBezTo>
                    <a:pt x="97" y="129"/>
                    <a:pt x="103" y="136"/>
                    <a:pt x="109" y="138"/>
                  </a:cubicBezTo>
                  <a:cubicBezTo>
                    <a:pt x="163" y="163"/>
                    <a:pt x="163" y="163"/>
                    <a:pt x="163" y="163"/>
                  </a:cubicBezTo>
                  <a:cubicBezTo>
                    <a:pt x="138" y="108"/>
                    <a:pt x="138" y="108"/>
                    <a:pt x="138" y="108"/>
                  </a:cubicBezTo>
                  <a:cubicBezTo>
                    <a:pt x="136" y="103"/>
                    <a:pt x="130" y="96"/>
                    <a:pt x="124" y="94"/>
                  </a:cubicBezTo>
                  <a:close/>
                  <a:moveTo>
                    <a:pt x="123" y="123"/>
                  </a:moveTo>
                  <a:cubicBezTo>
                    <a:pt x="119" y="126"/>
                    <a:pt x="113" y="126"/>
                    <a:pt x="110" y="123"/>
                  </a:cubicBezTo>
                  <a:cubicBezTo>
                    <a:pt x="106" y="119"/>
                    <a:pt x="106" y="113"/>
                    <a:pt x="110" y="109"/>
                  </a:cubicBezTo>
                  <a:cubicBezTo>
                    <a:pt x="113" y="106"/>
                    <a:pt x="119" y="106"/>
                    <a:pt x="123" y="109"/>
                  </a:cubicBezTo>
                  <a:cubicBezTo>
                    <a:pt x="127" y="113"/>
                    <a:pt x="127" y="119"/>
                    <a:pt x="123" y="123"/>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grpSp>
        <p:nvGrpSpPr>
          <p:cNvPr id="18" name="组合 17"/>
          <p:cNvGrpSpPr/>
          <p:nvPr/>
        </p:nvGrpSpPr>
        <p:grpSpPr>
          <a:xfrm>
            <a:off x="3357563" y="2217738"/>
            <a:ext cx="2146300" cy="2867025"/>
            <a:chOff x="3758030" y="2217316"/>
            <a:chExt cx="2147157" cy="2867868"/>
          </a:xfrm>
        </p:grpSpPr>
        <p:sp>
          <p:nvSpPr>
            <p:cNvPr id="19" name="íṡľíḍè-Rectangle 18"/>
            <p:cNvSpPr/>
            <p:nvPr/>
          </p:nvSpPr>
          <p:spPr>
            <a:xfrm>
              <a:off x="3869199" y="2217316"/>
              <a:ext cx="1900996" cy="1900796"/>
            </a:xfrm>
            <a:prstGeom prst="rect">
              <a:avLst/>
            </a:prstGeom>
            <a:solidFill>
              <a:srgbClr val="C0504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20" name="íṡľíḍè-Freeform: Shape 19"/>
            <p:cNvSpPr/>
            <p:nvPr/>
          </p:nvSpPr>
          <p:spPr>
            <a:xfrm rot="10800000">
              <a:off x="3869199" y="3991074"/>
              <a:ext cx="1900996" cy="369997"/>
            </a:xfrm>
            <a:custGeom>
              <a:avLst/>
              <a:gdLst>
                <a:gd name="connsiteX0" fmla="*/ 1901372 w 1901372"/>
                <a:gd name="connsiteY0" fmla="*/ 370114 h 370114"/>
                <a:gd name="connsiteX1" fmla="*/ 0 w 1901372"/>
                <a:gd name="connsiteY1" fmla="*/ 370114 h 370114"/>
                <a:gd name="connsiteX2" fmla="*/ 0 w 1901372"/>
                <a:gd name="connsiteY2" fmla="*/ 239486 h 370114"/>
                <a:gd name="connsiteX3" fmla="*/ 639355 w 1901372"/>
                <a:gd name="connsiteY3" fmla="*/ 239486 h 370114"/>
                <a:gd name="connsiteX4" fmla="*/ 950686 w 1901372"/>
                <a:gd name="connsiteY4" fmla="*/ 0 h 370114"/>
                <a:gd name="connsiteX5" fmla="*/ 1262017 w 1901372"/>
                <a:gd name="connsiteY5" fmla="*/ 239486 h 370114"/>
                <a:gd name="connsiteX6" fmla="*/ 1901372 w 1901372"/>
                <a:gd name="connsiteY6" fmla="*/ 239486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372" h="370114">
                  <a:moveTo>
                    <a:pt x="1901372" y="370114"/>
                  </a:moveTo>
                  <a:lnTo>
                    <a:pt x="0" y="370114"/>
                  </a:lnTo>
                  <a:lnTo>
                    <a:pt x="0" y="239486"/>
                  </a:lnTo>
                  <a:lnTo>
                    <a:pt x="639355" y="239486"/>
                  </a:lnTo>
                  <a:lnTo>
                    <a:pt x="950686" y="0"/>
                  </a:lnTo>
                  <a:lnTo>
                    <a:pt x="1262017" y="239486"/>
                  </a:lnTo>
                  <a:lnTo>
                    <a:pt x="1901372" y="239486"/>
                  </a:lnTo>
                  <a:close/>
                </a:path>
              </a:pathLst>
            </a:custGeom>
            <a:solidFill>
              <a:srgbClr val="C0504D">
                <a:lumMod val="75000"/>
              </a:srgb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21" name="îŝḷîḓé-Rectangle 39"/>
            <p:cNvSpPr/>
            <p:nvPr/>
          </p:nvSpPr>
          <p:spPr>
            <a:xfrm>
              <a:off x="3758030" y="4557979"/>
              <a:ext cx="2147157" cy="527205"/>
            </a:xfrm>
            <a:prstGeom prst="rect">
              <a:avLst/>
            </a:prstGeom>
          </p:spPr>
          <p:txBody>
            <a:bodyPr lIns="0" tIns="0" rIns="0" bIns="0"/>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lumMod val="100000"/>
                    </a:prstClr>
                  </a:solidFill>
                  <a:effectLst/>
                  <a:uLnTx/>
                  <a:uFillTx/>
                  <a:latin typeface="+mn-lt"/>
                  <a:ea typeface="+mn-ea"/>
                  <a:cs typeface="+mn-ea"/>
                  <a:sym typeface="+mn-lt"/>
                </a:rPr>
                <a:t>从左算到右</a:t>
              </a:r>
            </a:p>
          </p:txBody>
        </p:sp>
        <p:sp>
          <p:nvSpPr>
            <p:cNvPr id="22" name="îŝḷîḓé-Freeform: Shape 44"/>
            <p:cNvSpPr/>
            <p:nvPr/>
          </p:nvSpPr>
          <p:spPr bwMode="auto">
            <a:xfrm>
              <a:off x="4388519" y="2568256"/>
              <a:ext cx="851240" cy="851150"/>
            </a:xfrm>
            <a:custGeom>
              <a:avLst/>
              <a:gdLst>
                <a:gd name="T0" fmla="*/ 187 w 228"/>
                <a:gd name="T1" fmla="*/ 114 h 240"/>
                <a:gd name="T2" fmla="*/ 114 w 228"/>
                <a:gd name="T3" fmla="*/ 40 h 240"/>
                <a:gd name="T4" fmla="*/ 40 w 228"/>
                <a:gd name="T5" fmla="*/ 114 h 240"/>
                <a:gd name="T6" fmla="*/ 68 w 228"/>
                <a:gd name="T7" fmla="*/ 171 h 240"/>
                <a:gd name="T8" fmla="*/ 74 w 228"/>
                <a:gd name="T9" fmla="*/ 173 h 240"/>
                <a:gd name="T10" fmla="*/ 81 w 228"/>
                <a:gd name="T11" fmla="*/ 169 h 240"/>
                <a:gd name="T12" fmla="*/ 79 w 228"/>
                <a:gd name="T13" fmla="*/ 156 h 240"/>
                <a:gd name="T14" fmla="*/ 59 w 228"/>
                <a:gd name="T15" fmla="*/ 114 h 240"/>
                <a:gd name="T16" fmla="*/ 114 w 228"/>
                <a:gd name="T17" fmla="*/ 59 h 240"/>
                <a:gd name="T18" fmla="*/ 169 w 228"/>
                <a:gd name="T19" fmla="*/ 114 h 240"/>
                <a:gd name="T20" fmla="*/ 152 w 228"/>
                <a:gd name="T21" fmla="*/ 153 h 240"/>
                <a:gd name="T22" fmla="*/ 151 w 228"/>
                <a:gd name="T23" fmla="*/ 166 h 240"/>
                <a:gd name="T24" fmla="*/ 165 w 228"/>
                <a:gd name="T25" fmla="*/ 167 h 240"/>
                <a:gd name="T26" fmla="*/ 187 w 228"/>
                <a:gd name="T27" fmla="*/ 114 h 240"/>
                <a:gd name="T28" fmla="*/ 116 w 228"/>
                <a:gd name="T29" fmla="*/ 79 h 240"/>
                <a:gd name="T30" fmla="*/ 81 w 228"/>
                <a:gd name="T31" fmla="*/ 114 h 240"/>
                <a:gd name="T32" fmla="*/ 101 w 228"/>
                <a:gd name="T33" fmla="*/ 144 h 240"/>
                <a:gd name="T34" fmla="*/ 101 w 228"/>
                <a:gd name="T35" fmla="*/ 226 h 240"/>
                <a:gd name="T36" fmla="*/ 115 w 228"/>
                <a:gd name="T37" fmla="*/ 240 h 240"/>
                <a:gd name="T38" fmla="*/ 129 w 228"/>
                <a:gd name="T39" fmla="*/ 226 h 240"/>
                <a:gd name="T40" fmla="*/ 129 w 228"/>
                <a:gd name="T41" fmla="*/ 145 h 240"/>
                <a:gd name="T42" fmla="*/ 150 w 228"/>
                <a:gd name="T43" fmla="*/ 114 h 240"/>
                <a:gd name="T44" fmla="*/ 116 w 228"/>
                <a:gd name="T45" fmla="*/ 79 h 240"/>
                <a:gd name="T46" fmla="*/ 114 w 228"/>
                <a:gd name="T47" fmla="*/ 0 h 240"/>
                <a:gd name="T48" fmla="*/ 0 w 228"/>
                <a:gd name="T49" fmla="*/ 114 h 240"/>
                <a:gd name="T50" fmla="*/ 52 w 228"/>
                <a:gd name="T51" fmla="*/ 209 h 240"/>
                <a:gd name="T52" fmla="*/ 57 w 228"/>
                <a:gd name="T53" fmla="*/ 211 h 240"/>
                <a:gd name="T54" fmla="*/ 65 w 228"/>
                <a:gd name="T55" fmla="*/ 206 h 240"/>
                <a:gd name="T56" fmla="*/ 62 w 228"/>
                <a:gd name="T57" fmla="*/ 193 h 240"/>
                <a:gd name="T58" fmla="*/ 19 w 228"/>
                <a:gd name="T59" fmla="*/ 114 h 240"/>
                <a:gd name="T60" fmla="*/ 114 w 228"/>
                <a:gd name="T61" fmla="*/ 18 h 240"/>
                <a:gd name="T62" fmla="*/ 209 w 228"/>
                <a:gd name="T63" fmla="*/ 114 h 240"/>
                <a:gd name="T64" fmla="*/ 168 w 228"/>
                <a:gd name="T65" fmla="*/ 192 h 240"/>
                <a:gd name="T66" fmla="*/ 165 w 228"/>
                <a:gd name="T67" fmla="*/ 205 h 240"/>
                <a:gd name="T68" fmla="*/ 178 w 228"/>
                <a:gd name="T69" fmla="*/ 208 h 240"/>
                <a:gd name="T70" fmla="*/ 228 w 228"/>
                <a:gd name="T71" fmla="*/ 114 h 240"/>
                <a:gd name="T72" fmla="*/ 114 w 228"/>
                <a:gd name="T73"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40">
                  <a:moveTo>
                    <a:pt x="187" y="114"/>
                  </a:moveTo>
                  <a:cubicBezTo>
                    <a:pt x="187" y="73"/>
                    <a:pt x="154" y="40"/>
                    <a:pt x="114" y="40"/>
                  </a:cubicBezTo>
                  <a:cubicBezTo>
                    <a:pt x="73" y="40"/>
                    <a:pt x="40" y="73"/>
                    <a:pt x="40" y="114"/>
                  </a:cubicBezTo>
                  <a:cubicBezTo>
                    <a:pt x="40" y="136"/>
                    <a:pt x="50" y="157"/>
                    <a:pt x="68" y="171"/>
                  </a:cubicBezTo>
                  <a:cubicBezTo>
                    <a:pt x="69" y="172"/>
                    <a:pt x="71" y="173"/>
                    <a:pt x="74" y="173"/>
                  </a:cubicBezTo>
                  <a:cubicBezTo>
                    <a:pt x="76" y="173"/>
                    <a:pt x="79" y="171"/>
                    <a:pt x="81" y="169"/>
                  </a:cubicBezTo>
                  <a:cubicBezTo>
                    <a:pt x="84" y="165"/>
                    <a:pt x="83" y="159"/>
                    <a:pt x="79" y="156"/>
                  </a:cubicBezTo>
                  <a:cubicBezTo>
                    <a:pt x="67" y="146"/>
                    <a:pt x="59" y="130"/>
                    <a:pt x="59" y="114"/>
                  </a:cubicBezTo>
                  <a:cubicBezTo>
                    <a:pt x="59" y="83"/>
                    <a:pt x="84" y="59"/>
                    <a:pt x="114" y="59"/>
                  </a:cubicBezTo>
                  <a:cubicBezTo>
                    <a:pt x="144" y="59"/>
                    <a:pt x="169" y="83"/>
                    <a:pt x="169" y="114"/>
                  </a:cubicBezTo>
                  <a:cubicBezTo>
                    <a:pt x="169" y="129"/>
                    <a:pt x="163" y="143"/>
                    <a:pt x="152" y="153"/>
                  </a:cubicBezTo>
                  <a:cubicBezTo>
                    <a:pt x="148" y="157"/>
                    <a:pt x="148" y="163"/>
                    <a:pt x="151" y="166"/>
                  </a:cubicBezTo>
                  <a:cubicBezTo>
                    <a:pt x="155" y="170"/>
                    <a:pt x="161" y="170"/>
                    <a:pt x="165" y="167"/>
                  </a:cubicBezTo>
                  <a:cubicBezTo>
                    <a:pt x="179" y="153"/>
                    <a:pt x="187" y="134"/>
                    <a:pt x="187" y="114"/>
                  </a:cubicBezTo>
                  <a:close/>
                  <a:moveTo>
                    <a:pt x="116" y="79"/>
                  </a:moveTo>
                  <a:cubicBezTo>
                    <a:pt x="97" y="79"/>
                    <a:pt x="81" y="95"/>
                    <a:pt x="81" y="114"/>
                  </a:cubicBezTo>
                  <a:cubicBezTo>
                    <a:pt x="81" y="127"/>
                    <a:pt x="89" y="139"/>
                    <a:pt x="101" y="144"/>
                  </a:cubicBezTo>
                  <a:cubicBezTo>
                    <a:pt x="101" y="226"/>
                    <a:pt x="101" y="226"/>
                    <a:pt x="101" y="226"/>
                  </a:cubicBezTo>
                  <a:cubicBezTo>
                    <a:pt x="101" y="233"/>
                    <a:pt x="107" y="240"/>
                    <a:pt x="115" y="240"/>
                  </a:cubicBezTo>
                  <a:cubicBezTo>
                    <a:pt x="123" y="240"/>
                    <a:pt x="129" y="233"/>
                    <a:pt x="129" y="226"/>
                  </a:cubicBezTo>
                  <a:cubicBezTo>
                    <a:pt x="129" y="145"/>
                    <a:pt x="129" y="145"/>
                    <a:pt x="129" y="145"/>
                  </a:cubicBezTo>
                  <a:cubicBezTo>
                    <a:pt x="141" y="140"/>
                    <a:pt x="150" y="128"/>
                    <a:pt x="150" y="114"/>
                  </a:cubicBezTo>
                  <a:cubicBezTo>
                    <a:pt x="150" y="95"/>
                    <a:pt x="134" y="79"/>
                    <a:pt x="116" y="79"/>
                  </a:cubicBezTo>
                  <a:close/>
                  <a:moveTo>
                    <a:pt x="114" y="0"/>
                  </a:moveTo>
                  <a:cubicBezTo>
                    <a:pt x="51" y="0"/>
                    <a:pt x="0" y="51"/>
                    <a:pt x="0" y="114"/>
                  </a:cubicBezTo>
                  <a:cubicBezTo>
                    <a:pt x="0" y="152"/>
                    <a:pt x="19" y="188"/>
                    <a:pt x="52" y="209"/>
                  </a:cubicBezTo>
                  <a:cubicBezTo>
                    <a:pt x="54" y="210"/>
                    <a:pt x="55" y="211"/>
                    <a:pt x="57" y="211"/>
                  </a:cubicBezTo>
                  <a:cubicBezTo>
                    <a:pt x="60" y="211"/>
                    <a:pt x="63" y="209"/>
                    <a:pt x="65" y="206"/>
                  </a:cubicBezTo>
                  <a:cubicBezTo>
                    <a:pt x="68" y="202"/>
                    <a:pt x="67" y="196"/>
                    <a:pt x="62" y="193"/>
                  </a:cubicBezTo>
                  <a:cubicBezTo>
                    <a:pt x="35" y="176"/>
                    <a:pt x="19" y="146"/>
                    <a:pt x="19" y="114"/>
                  </a:cubicBezTo>
                  <a:cubicBezTo>
                    <a:pt x="19" y="61"/>
                    <a:pt x="61" y="18"/>
                    <a:pt x="114" y="18"/>
                  </a:cubicBezTo>
                  <a:cubicBezTo>
                    <a:pt x="166" y="18"/>
                    <a:pt x="209" y="61"/>
                    <a:pt x="209" y="114"/>
                  </a:cubicBezTo>
                  <a:cubicBezTo>
                    <a:pt x="209" y="145"/>
                    <a:pt x="194" y="174"/>
                    <a:pt x="168" y="192"/>
                  </a:cubicBezTo>
                  <a:cubicBezTo>
                    <a:pt x="163" y="195"/>
                    <a:pt x="162" y="201"/>
                    <a:pt x="165" y="205"/>
                  </a:cubicBezTo>
                  <a:cubicBezTo>
                    <a:pt x="168" y="209"/>
                    <a:pt x="174" y="211"/>
                    <a:pt x="178" y="208"/>
                  </a:cubicBezTo>
                  <a:cubicBezTo>
                    <a:pt x="209" y="186"/>
                    <a:pt x="228" y="151"/>
                    <a:pt x="228" y="114"/>
                  </a:cubicBezTo>
                  <a:cubicBezTo>
                    <a:pt x="228" y="51"/>
                    <a:pt x="177" y="0"/>
                    <a:pt x="114" y="0"/>
                  </a:cubicBezTo>
                  <a:close/>
                </a:path>
              </a:pathLst>
            </a:custGeom>
            <a:solidFill>
              <a:sysClr val="window" lastClr="FFFFFF"/>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1000"/>
                                        <p:tgtEl>
                                          <p:spTgt spid="18"/>
                                        </p:tgtEl>
                                      </p:cBhvr>
                                    </p:animEffect>
                                    <p:anim calcmode="lin" valueType="num">
                                      <p:cBhvr>
                                        <p:cTn id="14" dur="1000" fill="hold"/>
                                        <p:tgtEl>
                                          <p:spTgt spid="18"/>
                                        </p:tgtEl>
                                        <p:attrNameLst>
                                          <p:attrName>ppt_x</p:attrName>
                                        </p:attrNameLst>
                                      </p:cBhvr>
                                      <p:tavLst>
                                        <p:tav tm="0">
                                          <p:val>
                                            <p:strVal val="#ppt_x"/>
                                          </p:val>
                                        </p:tav>
                                        <p:tav tm="100000">
                                          <p:val>
                                            <p:strVal val="#ppt_x"/>
                                          </p:val>
                                        </p:tav>
                                      </p:tavLst>
                                    </p:anim>
                                    <p:anim calcmode="lin" valueType="num">
                                      <p:cBhvr>
                                        <p:cTn id="15" dur="1000" fill="hold"/>
                                        <p:tgtEl>
                                          <p:spTgt spid="18"/>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矩形 57"/>
          <p:cNvSpPr/>
          <p:nvPr/>
        </p:nvSpPr>
        <p:spPr>
          <a:xfrm>
            <a:off x="6053138" y="5775325"/>
            <a:ext cx="1830387" cy="571500"/>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8483" name="矩形 50"/>
          <p:cNvSpPr/>
          <p:nvPr/>
        </p:nvSpPr>
        <p:spPr>
          <a:xfrm>
            <a:off x="6053138" y="5165725"/>
            <a:ext cx="1830387" cy="571500"/>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8484" name="矩形 49"/>
          <p:cNvSpPr/>
          <p:nvPr/>
        </p:nvSpPr>
        <p:spPr>
          <a:xfrm>
            <a:off x="6059488" y="4251325"/>
            <a:ext cx="1830387" cy="571500"/>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8485" name="矩形 32"/>
          <p:cNvSpPr/>
          <p:nvPr/>
        </p:nvSpPr>
        <p:spPr>
          <a:xfrm>
            <a:off x="6059488" y="3652838"/>
            <a:ext cx="1830387" cy="571500"/>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8486" name="矩形 31"/>
          <p:cNvSpPr/>
          <p:nvPr/>
        </p:nvSpPr>
        <p:spPr>
          <a:xfrm>
            <a:off x="6053138" y="3070225"/>
            <a:ext cx="1830387" cy="571500"/>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8487" name="矩形 2"/>
          <p:cNvSpPr/>
          <p:nvPr/>
        </p:nvSpPr>
        <p:spPr>
          <a:xfrm>
            <a:off x="6053138" y="1990725"/>
            <a:ext cx="1830387" cy="571500"/>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8488" name="矩形 1"/>
          <p:cNvSpPr/>
          <p:nvPr/>
        </p:nvSpPr>
        <p:spPr>
          <a:xfrm>
            <a:off x="261938" y="3514725"/>
            <a:ext cx="1295400" cy="519113"/>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34147" name="Text Box 6"/>
          <p:cNvSpPr txBox="1">
            <a:spLocks noChangeArrowheads="1"/>
          </p:cNvSpPr>
          <p:nvPr/>
        </p:nvSpPr>
        <p:spPr bwMode="auto">
          <a:xfrm>
            <a:off x="261938" y="3514725"/>
            <a:ext cx="1255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表达式</a:t>
            </a:r>
          </a:p>
        </p:txBody>
      </p:sp>
      <p:grpSp>
        <p:nvGrpSpPr>
          <p:cNvPr id="148490" name="Group 7"/>
          <p:cNvGrpSpPr/>
          <p:nvPr/>
        </p:nvGrpSpPr>
        <p:grpSpPr>
          <a:xfrm>
            <a:off x="5519738" y="1304925"/>
            <a:ext cx="2363787" cy="1228725"/>
            <a:chOff x="4224" y="480"/>
            <a:chExt cx="1489" cy="774"/>
          </a:xfrm>
        </p:grpSpPr>
        <p:sp>
          <p:nvSpPr>
            <p:cNvPr id="134149" name="Text Box 8"/>
            <p:cNvSpPr txBox="1">
              <a:spLocks noChangeArrowheads="1"/>
            </p:cNvSpPr>
            <p:nvPr/>
          </p:nvSpPr>
          <p:spPr bwMode="auto">
            <a:xfrm>
              <a:off x="4560" y="480"/>
              <a:ext cx="1153" cy="327"/>
            </a:xfrm>
            <a:prstGeom prst="rect">
              <a:avLst/>
            </a:prstGeom>
            <a:solidFill>
              <a:srgbClr val="6C4C8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常数</a:t>
              </a:r>
            </a:p>
          </p:txBody>
        </p:sp>
        <p:sp>
          <p:nvSpPr>
            <p:cNvPr id="134150" name="Text Box 9"/>
            <p:cNvSpPr txBox="1">
              <a:spLocks noChangeArrowheads="1"/>
            </p:cNvSpPr>
            <p:nvPr/>
          </p:nvSpPr>
          <p:spPr bwMode="auto">
            <a:xfrm>
              <a:off x="4560" y="927"/>
              <a:ext cx="11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标识符</a:t>
              </a:r>
            </a:p>
          </p:txBody>
        </p:sp>
        <p:sp>
          <p:nvSpPr>
            <p:cNvPr id="134151" name="Line 10"/>
            <p:cNvSpPr>
              <a:spLocks noChangeShapeType="1"/>
            </p:cNvSpPr>
            <p:nvPr/>
          </p:nvSpPr>
          <p:spPr bwMode="auto">
            <a:xfrm flipV="1">
              <a:off x="4224" y="672"/>
              <a:ext cx="288"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52" name="Line 11"/>
            <p:cNvSpPr>
              <a:spLocks noChangeShapeType="1"/>
            </p:cNvSpPr>
            <p:nvPr/>
          </p:nvSpPr>
          <p:spPr bwMode="auto">
            <a:xfrm>
              <a:off x="4224" y="960"/>
              <a:ext cx="288"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48491" name="Group 12"/>
          <p:cNvGrpSpPr/>
          <p:nvPr/>
        </p:nvGrpSpPr>
        <p:grpSpPr>
          <a:xfrm>
            <a:off x="1557338" y="1609725"/>
            <a:ext cx="3963987" cy="4410075"/>
            <a:chOff x="1056" y="720"/>
            <a:chExt cx="2497" cy="2778"/>
          </a:xfrm>
        </p:grpSpPr>
        <p:sp>
          <p:nvSpPr>
            <p:cNvPr id="134154" name="Line 13"/>
            <p:cNvSpPr>
              <a:spLocks noChangeShapeType="1"/>
            </p:cNvSpPr>
            <p:nvPr/>
          </p:nvSpPr>
          <p:spPr bwMode="auto">
            <a:xfrm flipV="1">
              <a:off x="1056" y="1008"/>
              <a:ext cx="768" cy="9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55" name="Text Box 14"/>
            <p:cNvSpPr txBox="1">
              <a:spLocks noChangeArrowheads="1"/>
            </p:cNvSpPr>
            <p:nvPr/>
          </p:nvSpPr>
          <p:spPr bwMode="auto">
            <a:xfrm>
              <a:off x="1824" y="720"/>
              <a:ext cx="1729" cy="327"/>
            </a:xfrm>
            <a:prstGeom prst="rect">
              <a:avLst/>
            </a:prstGeom>
            <a:solidFill>
              <a:srgbClr val="6C4C8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操作数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(operand)</a:t>
              </a:r>
            </a:p>
          </p:txBody>
        </p:sp>
        <p:sp>
          <p:nvSpPr>
            <p:cNvPr id="134157" name="Line 16"/>
            <p:cNvSpPr>
              <a:spLocks noChangeShapeType="1"/>
            </p:cNvSpPr>
            <p:nvPr/>
          </p:nvSpPr>
          <p:spPr bwMode="auto">
            <a:xfrm flipV="1">
              <a:off x="1056" y="2112"/>
              <a:ext cx="76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58" name="Text Box 17"/>
            <p:cNvSpPr txBox="1">
              <a:spLocks noChangeArrowheads="1"/>
            </p:cNvSpPr>
            <p:nvPr/>
          </p:nvSpPr>
          <p:spPr bwMode="auto">
            <a:xfrm>
              <a:off x="1821" y="3168"/>
              <a:ext cx="1732" cy="330"/>
            </a:xfrm>
            <a:prstGeom prst="rect">
              <a:avLst/>
            </a:prstGeom>
            <a:solidFill>
              <a:srgbClr val="6C4C8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界限符</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(delimiter)</a:t>
              </a:r>
            </a:p>
          </p:txBody>
        </p:sp>
        <p:sp>
          <p:nvSpPr>
            <p:cNvPr id="134159" name="Line 18"/>
            <p:cNvSpPr>
              <a:spLocks noChangeShapeType="1"/>
            </p:cNvSpPr>
            <p:nvPr/>
          </p:nvSpPr>
          <p:spPr bwMode="auto">
            <a:xfrm>
              <a:off x="1056" y="2256"/>
              <a:ext cx="672" cy="10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56" name="Text Box 15"/>
            <p:cNvSpPr txBox="1">
              <a:spLocks noChangeArrowheads="1"/>
            </p:cNvSpPr>
            <p:nvPr/>
          </p:nvSpPr>
          <p:spPr bwMode="auto">
            <a:xfrm>
              <a:off x="1821" y="1968"/>
              <a:ext cx="1680" cy="327"/>
            </a:xfrm>
            <a:prstGeom prst="rect">
              <a:avLst/>
            </a:prstGeom>
            <a:solidFill>
              <a:srgbClr val="6C4C8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运算符</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(operator)</a:t>
              </a:r>
            </a:p>
          </p:txBody>
        </p:sp>
      </p:grpSp>
      <p:grpSp>
        <p:nvGrpSpPr>
          <p:cNvPr id="148492" name="Group 19"/>
          <p:cNvGrpSpPr/>
          <p:nvPr/>
        </p:nvGrpSpPr>
        <p:grpSpPr>
          <a:xfrm>
            <a:off x="5438775" y="3133725"/>
            <a:ext cx="2444750" cy="1671638"/>
            <a:chOff x="4125" y="1680"/>
            <a:chExt cx="1540" cy="1053"/>
          </a:xfrm>
        </p:grpSpPr>
        <p:sp>
          <p:nvSpPr>
            <p:cNvPr id="134161" name="Text Box 20"/>
            <p:cNvSpPr txBox="1">
              <a:spLocks noChangeArrowheads="1"/>
            </p:cNvSpPr>
            <p:nvPr/>
          </p:nvSpPr>
          <p:spPr bwMode="auto">
            <a:xfrm>
              <a:off x="4608" y="1680"/>
              <a:ext cx="105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算术</a:t>
              </a:r>
            </a:p>
          </p:txBody>
        </p:sp>
        <p:sp>
          <p:nvSpPr>
            <p:cNvPr id="134162" name="Text Box 21"/>
            <p:cNvSpPr txBox="1">
              <a:spLocks noChangeArrowheads="1"/>
            </p:cNvSpPr>
            <p:nvPr/>
          </p:nvSpPr>
          <p:spPr bwMode="auto">
            <a:xfrm>
              <a:off x="4608" y="2016"/>
              <a:ext cx="96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逻辑</a:t>
              </a:r>
            </a:p>
          </p:txBody>
        </p:sp>
        <p:sp>
          <p:nvSpPr>
            <p:cNvPr id="134163" name="Text Box 22"/>
            <p:cNvSpPr txBox="1">
              <a:spLocks noChangeArrowheads="1"/>
            </p:cNvSpPr>
            <p:nvPr/>
          </p:nvSpPr>
          <p:spPr bwMode="auto">
            <a:xfrm>
              <a:off x="4608" y="2406"/>
              <a:ext cx="83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关系</a:t>
              </a:r>
            </a:p>
          </p:txBody>
        </p:sp>
        <p:sp>
          <p:nvSpPr>
            <p:cNvPr id="134164" name="Line 23"/>
            <p:cNvSpPr>
              <a:spLocks noChangeShapeType="1"/>
            </p:cNvSpPr>
            <p:nvPr/>
          </p:nvSpPr>
          <p:spPr bwMode="auto">
            <a:xfrm flipV="1">
              <a:off x="4128" y="1905"/>
              <a:ext cx="384" cy="1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65" name="Line 24"/>
            <p:cNvSpPr>
              <a:spLocks noChangeShapeType="1"/>
            </p:cNvSpPr>
            <p:nvPr/>
          </p:nvSpPr>
          <p:spPr bwMode="auto">
            <a:xfrm>
              <a:off x="4128" y="2160"/>
              <a:ext cx="38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66" name="Line 25"/>
            <p:cNvSpPr>
              <a:spLocks noChangeShapeType="1"/>
            </p:cNvSpPr>
            <p:nvPr/>
          </p:nvSpPr>
          <p:spPr bwMode="auto">
            <a:xfrm>
              <a:off x="4125" y="2280"/>
              <a:ext cx="387"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48493" name="Group 26"/>
          <p:cNvGrpSpPr/>
          <p:nvPr/>
        </p:nvGrpSpPr>
        <p:grpSpPr>
          <a:xfrm>
            <a:off x="5521325" y="5191125"/>
            <a:ext cx="2219325" cy="1128713"/>
            <a:chOff x="3553" y="3024"/>
            <a:chExt cx="1398" cy="711"/>
          </a:xfrm>
        </p:grpSpPr>
        <p:sp>
          <p:nvSpPr>
            <p:cNvPr id="134168" name="Text Box 27"/>
            <p:cNvSpPr txBox="1">
              <a:spLocks noChangeArrowheads="1"/>
            </p:cNvSpPr>
            <p:nvPr/>
          </p:nvSpPr>
          <p:spPr bwMode="auto">
            <a:xfrm>
              <a:off x="3936" y="3024"/>
              <a:ext cx="10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括号</a:t>
              </a:r>
            </a:p>
          </p:txBody>
        </p:sp>
        <p:sp>
          <p:nvSpPr>
            <p:cNvPr id="134169" name="Text Box 28"/>
            <p:cNvSpPr txBox="1">
              <a:spLocks noChangeArrowheads="1"/>
            </p:cNvSpPr>
            <p:nvPr/>
          </p:nvSpPr>
          <p:spPr bwMode="auto">
            <a:xfrm>
              <a:off x="3936" y="3408"/>
              <a:ext cx="10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结束符</a:t>
              </a:r>
            </a:p>
          </p:txBody>
        </p:sp>
        <p:sp>
          <p:nvSpPr>
            <p:cNvPr id="134170" name="Line 29"/>
            <p:cNvSpPr>
              <a:spLocks noChangeShapeType="1"/>
            </p:cNvSpPr>
            <p:nvPr/>
          </p:nvSpPr>
          <p:spPr bwMode="auto">
            <a:xfrm flipV="1">
              <a:off x="3553" y="3216"/>
              <a:ext cx="339" cy="12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4171" name="Line 30"/>
            <p:cNvSpPr>
              <a:spLocks noChangeShapeType="1"/>
            </p:cNvSpPr>
            <p:nvPr/>
          </p:nvSpPr>
          <p:spPr bwMode="auto">
            <a:xfrm>
              <a:off x="3553" y="3471"/>
              <a:ext cx="339" cy="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48494" name="Rectangle 154"/>
          <p:cNvSpPr txBox="1"/>
          <p:nvPr/>
        </p:nvSpPr>
        <p:spPr>
          <a:xfrm>
            <a:off x="827088" y="188913"/>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案例</a:t>
            </a:r>
            <a:r>
              <a:rPr lang="en-US" altLang="zh-CN" sz="2800" dirty="0">
                <a:solidFill>
                  <a:schemeClr val="bg1"/>
                </a:solidFill>
                <a:sym typeface="+mn-lt"/>
              </a:rPr>
              <a:t>3.3 </a:t>
            </a:r>
            <a:r>
              <a:rPr lang="zh-CN" altLang="en-US" sz="2800" dirty="0">
                <a:solidFill>
                  <a:schemeClr val="bg1"/>
                </a:solidFill>
                <a:sym typeface="+mn-lt"/>
              </a:rPr>
              <a:t>：表达式求值</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9506" name="Object 12"/>
          <p:cNvGraphicFramePr/>
          <p:nvPr/>
        </p:nvGraphicFramePr>
        <p:xfrm>
          <a:off x="285750" y="1889125"/>
          <a:ext cx="8534400" cy="4419600"/>
        </p:xfrm>
        <a:graphic>
          <a:graphicData uri="http://schemas.openxmlformats.org/presentationml/2006/ole">
            <mc:AlternateContent xmlns:mc="http://schemas.openxmlformats.org/markup-compatibility/2006">
              <mc:Choice xmlns:v="urn:schemas-microsoft-com:vml" Requires="v">
                <p:oleObj spid="_x0000_s12306" r:id="rId3" imgW="6967855" imgH="3793490" progId="Visio.Drawing.5">
                  <p:embed/>
                </p:oleObj>
              </mc:Choice>
              <mc:Fallback>
                <p:oleObj r:id="rId3" imgW="6967855" imgH="3793490" progId="Visio.Drawing.5">
                  <p:embed/>
                  <p:pic>
                    <p:nvPicPr>
                      <p:cNvPr id="0" name="图片 3087"/>
                      <p:cNvPicPr/>
                      <p:nvPr/>
                    </p:nvPicPr>
                    <p:blipFill>
                      <a:blip r:embed="rId4"/>
                      <a:stretch>
                        <a:fillRect/>
                      </a:stretch>
                    </p:blipFill>
                    <p:spPr>
                      <a:xfrm>
                        <a:off x="285750" y="1889125"/>
                        <a:ext cx="8534400" cy="4419600"/>
                      </a:xfrm>
                      <a:prstGeom prst="rect">
                        <a:avLst/>
                      </a:prstGeom>
                      <a:solidFill>
                        <a:srgbClr val="FFCC99"/>
                      </a:solidFill>
                      <a:ln w="9525" cap="flat" cmpd="sng">
                        <a:solidFill>
                          <a:srgbClr val="FFCC99"/>
                        </a:solidFill>
                        <a:prstDash val="solid"/>
                        <a:miter/>
                        <a:headEnd type="none" w="med" len="med"/>
                        <a:tailEnd type="none" w="med" len="med"/>
                      </a:ln>
                    </p:spPr>
                  </p:pic>
                </p:oleObj>
              </mc:Fallback>
            </mc:AlternateContent>
          </a:graphicData>
        </a:graphic>
      </p:graphicFrame>
      <p:sp>
        <p:nvSpPr>
          <p:cNvPr id="135172" name="Rectangle 13"/>
          <p:cNvSpPr>
            <a:spLocks noChangeArrowheads="1"/>
          </p:cNvSpPr>
          <p:nvPr/>
        </p:nvSpPr>
        <p:spPr bwMode="auto">
          <a:xfrm>
            <a:off x="2114550" y="27654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hlink"/>
                </a:solidFill>
                <a:effectLst/>
                <a:uLnTx/>
                <a:uFillTx/>
                <a:latin typeface="+mn-lt"/>
                <a:ea typeface="+mn-ea"/>
                <a:cs typeface="+mn-ea"/>
                <a:sym typeface="+mn-lt"/>
              </a:rPr>
              <a:t>&gt;</a:t>
            </a:r>
          </a:p>
        </p:txBody>
      </p:sp>
      <p:sp>
        <p:nvSpPr>
          <p:cNvPr id="135173" name="Rectangle 14"/>
          <p:cNvSpPr>
            <a:spLocks noChangeArrowheads="1"/>
          </p:cNvSpPr>
          <p:nvPr/>
        </p:nvSpPr>
        <p:spPr bwMode="auto">
          <a:xfrm>
            <a:off x="3181350" y="28035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74" name="Rectangle 15"/>
          <p:cNvSpPr>
            <a:spLocks noChangeArrowheads="1"/>
          </p:cNvSpPr>
          <p:nvPr/>
        </p:nvSpPr>
        <p:spPr bwMode="auto">
          <a:xfrm>
            <a:off x="4171950" y="27654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175" name="Rectangle 16"/>
          <p:cNvSpPr>
            <a:spLocks noChangeArrowheads="1"/>
          </p:cNvSpPr>
          <p:nvPr/>
        </p:nvSpPr>
        <p:spPr bwMode="auto">
          <a:xfrm>
            <a:off x="5162550" y="27654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176" name="Rectangle 17"/>
          <p:cNvSpPr>
            <a:spLocks noChangeArrowheads="1"/>
          </p:cNvSpPr>
          <p:nvPr/>
        </p:nvSpPr>
        <p:spPr bwMode="auto">
          <a:xfrm>
            <a:off x="6153150" y="27654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177" name="Rectangle 18"/>
          <p:cNvSpPr>
            <a:spLocks noChangeArrowheads="1"/>
          </p:cNvSpPr>
          <p:nvPr/>
        </p:nvSpPr>
        <p:spPr bwMode="auto">
          <a:xfrm>
            <a:off x="6838950" y="280352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78" name="Rectangle 19"/>
          <p:cNvSpPr>
            <a:spLocks noChangeArrowheads="1"/>
          </p:cNvSpPr>
          <p:nvPr/>
        </p:nvSpPr>
        <p:spPr bwMode="auto">
          <a:xfrm>
            <a:off x="7677150" y="28035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79" name="Rectangle 20"/>
          <p:cNvSpPr>
            <a:spLocks noChangeArrowheads="1"/>
          </p:cNvSpPr>
          <p:nvPr/>
        </p:nvSpPr>
        <p:spPr bwMode="auto">
          <a:xfrm>
            <a:off x="2114550" y="33369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80" name="Rectangle 21"/>
          <p:cNvSpPr>
            <a:spLocks noChangeArrowheads="1"/>
          </p:cNvSpPr>
          <p:nvPr/>
        </p:nvSpPr>
        <p:spPr bwMode="auto">
          <a:xfrm>
            <a:off x="3181350" y="3336925"/>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81" name="Rectangle 22"/>
          <p:cNvSpPr>
            <a:spLocks noChangeArrowheads="1"/>
          </p:cNvSpPr>
          <p:nvPr/>
        </p:nvSpPr>
        <p:spPr bwMode="auto">
          <a:xfrm>
            <a:off x="4248150" y="33369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182" name="Rectangle 23"/>
          <p:cNvSpPr>
            <a:spLocks noChangeArrowheads="1"/>
          </p:cNvSpPr>
          <p:nvPr/>
        </p:nvSpPr>
        <p:spPr bwMode="auto">
          <a:xfrm>
            <a:off x="5162550" y="33369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183" name="Rectangle 24"/>
          <p:cNvSpPr>
            <a:spLocks noChangeArrowheads="1"/>
          </p:cNvSpPr>
          <p:nvPr/>
        </p:nvSpPr>
        <p:spPr bwMode="auto">
          <a:xfrm>
            <a:off x="6153150" y="3336925"/>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184" name="Rectangle 25"/>
          <p:cNvSpPr>
            <a:spLocks noChangeArrowheads="1"/>
          </p:cNvSpPr>
          <p:nvPr/>
        </p:nvSpPr>
        <p:spPr bwMode="auto">
          <a:xfrm>
            <a:off x="6838950" y="33369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85" name="Rectangle 26"/>
          <p:cNvSpPr>
            <a:spLocks noChangeArrowheads="1"/>
          </p:cNvSpPr>
          <p:nvPr/>
        </p:nvSpPr>
        <p:spPr bwMode="auto">
          <a:xfrm>
            <a:off x="7677150" y="33369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86" name="Rectangle 27"/>
          <p:cNvSpPr>
            <a:spLocks noChangeArrowheads="1"/>
          </p:cNvSpPr>
          <p:nvPr/>
        </p:nvSpPr>
        <p:spPr bwMode="auto">
          <a:xfrm>
            <a:off x="2114550" y="38703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87" name="Rectangle 28"/>
          <p:cNvSpPr>
            <a:spLocks noChangeArrowheads="1"/>
          </p:cNvSpPr>
          <p:nvPr/>
        </p:nvSpPr>
        <p:spPr bwMode="auto">
          <a:xfrm>
            <a:off x="3181350" y="3870325"/>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88" name="Rectangle 29"/>
          <p:cNvSpPr>
            <a:spLocks noChangeArrowheads="1"/>
          </p:cNvSpPr>
          <p:nvPr/>
        </p:nvSpPr>
        <p:spPr bwMode="auto">
          <a:xfrm>
            <a:off x="4248150" y="387032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89" name="Rectangle 30"/>
          <p:cNvSpPr>
            <a:spLocks noChangeArrowheads="1"/>
          </p:cNvSpPr>
          <p:nvPr/>
        </p:nvSpPr>
        <p:spPr bwMode="auto">
          <a:xfrm>
            <a:off x="5162550" y="387032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90" name="Rectangle 31"/>
          <p:cNvSpPr>
            <a:spLocks noChangeArrowheads="1"/>
          </p:cNvSpPr>
          <p:nvPr/>
        </p:nvSpPr>
        <p:spPr bwMode="auto">
          <a:xfrm>
            <a:off x="6153150" y="38322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191" name="Rectangle 32"/>
          <p:cNvSpPr>
            <a:spLocks noChangeArrowheads="1"/>
          </p:cNvSpPr>
          <p:nvPr/>
        </p:nvSpPr>
        <p:spPr bwMode="auto">
          <a:xfrm>
            <a:off x="6838950" y="38703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92" name="Rectangle 33"/>
          <p:cNvSpPr>
            <a:spLocks noChangeArrowheads="1"/>
          </p:cNvSpPr>
          <p:nvPr/>
        </p:nvSpPr>
        <p:spPr bwMode="auto">
          <a:xfrm>
            <a:off x="7677150" y="387032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93" name="Rectangle 34"/>
          <p:cNvSpPr>
            <a:spLocks noChangeArrowheads="1"/>
          </p:cNvSpPr>
          <p:nvPr/>
        </p:nvSpPr>
        <p:spPr bwMode="auto">
          <a:xfrm>
            <a:off x="2114550" y="43275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94" name="Rectangle 35"/>
          <p:cNvSpPr>
            <a:spLocks noChangeArrowheads="1"/>
          </p:cNvSpPr>
          <p:nvPr/>
        </p:nvSpPr>
        <p:spPr bwMode="auto">
          <a:xfrm>
            <a:off x="3181350" y="43275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95" name="Rectangle 36"/>
          <p:cNvSpPr>
            <a:spLocks noChangeArrowheads="1"/>
          </p:cNvSpPr>
          <p:nvPr/>
        </p:nvSpPr>
        <p:spPr bwMode="auto">
          <a:xfrm>
            <a:off x="4248150" y="42894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96" name="Rectangle 37"/>
          <p:cNvSpPr>
            <a:spLocks noChangeArrowheads="1"/>
          </p:cNvSpPr>
          <p:nvPr/>
        </p:nvSpPr>
        <p:spPr bwMode="auto">
          <a:xfrm>
            <a:off x="5162550" y="42894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97" name="Rectangle 38"/>
          <p:cNvSpPr>
            <a:spLocks noChangeArrowheads="1"/>
          </p:cNvSpPr>
          <p:nvPr/>
        </p:nvSpPr>
        <p:spPr bwMode="auto">
          <a:xfrm>
            <a:off x="6153150" y="42894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198" name="Rectangle 39"/>
          <p:cNvSpPr>
            <a:spLocks noChangeArrowheads="1"/>
          </p:cNvSpPr>
          <p:nvPr/>
        </p:nvSpPr>
        <p:spPr bwMode="auto">
          <a:xfrm>
            <a:off x="6838950" y="42894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199" name="Rectangle 40"/>
          <p:cNvSpPr>
            <a:spLocks noChangeArrowheads="1"/>
          </p:cNvSpPr>
          <p:nvPr/>
        </p:nvSpPr>
        <p:spPr bwMode="auto">
          <a:xfrm>
            <a:off x="7677150" y="432752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200" name="Rectangle 41"/>
          <p:cNvSpPr>
            <a:spLocks noChangeArrowheads="1"/>
          </p:cNvSpPr>
          <p:nvPr/>
        </p:nvSpPr>
        <p:spPr bwMode="auto">
          <a:xfrm>
            <a:off x="2114550" y="478472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201" name="Rectangle 42"/>
          <p:cNvSpPr>
            <a:spLocks noChangeArrowheads="1"/>
          </p:cNvSpPr>
          <p:nvPr/>
        </p:nvSpPr>
        <p:spPr bwMode="auto">
          <a:xfrm>
            <a:off x="3181350" y="4784725"/>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202" name="Rectangle 43"/>
          <p:cNvSpPr>
            <a:spLocks noChangeArrowheads="1"/>
          </p:cNvSpPr>
          <p:nvPr/>
        </p:nvSpPr>
        <p:spPr bwMode="auto">
          <a:xfrm>
            <a:off x="4248150" y="47466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203" name="Rectangle 44"/>
          <p:cNvSpPr>
            <a:spLocks noChangeArrowheads="1"/>
          </p:cNvSpPr>
          <p:nvPr/>
        </p:nvSpPr>
        <p:spPr bwMode="auto">
          <a:xfrm>
            <a:off x="5162550" y="47466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204" name="Rectangle 45"/>
          <p:cNvSpPr>
            <a:spLocks noChangeArrowheads="1"/>
          </p:cNvSpPr>
          <p:nvPr/>
        </p:nvSpPr>
        <p:spPr bwMode="auto">
          <a:xfrm>
            <a:off x="6153150" y="47466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205" name="Rectangle 46"/>
          <p:cNvSpPr>
            <a:spLocks noChangeArrowheads="1"/>
          </p:cNvSpPr>
          <p:nvPr/>
        </p:nvSpPr>
        <p:spPr bwMode="auto">
          <a:xfrm>
            <a:off x="6838950" y="47466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a:t>
            </a:r>
          </a:p>
        </p:txBody>
      </p:sp>
      <p:sp>
        <p:nvSpPr>
          <p:cNvPr id="135206" name="Rectangle 47"/>
          <p:cNvSpPr>
            <a:spLocks noChangeArrowheads="1"/>
          </p:cNvSpPr>
          <p:nvPr/>
        </p:nvSpPr>
        <p:spPr bwMode="auto">
          <a:xfrm>
            <a:off x="2114550" y="52419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207" name="Rectangle 48"/>
          <p:cNvSpPr>
            <a:spLocks noChangeArrowheads="1"/>
          </p:cNvSpPr>
          <p:nvPr/>
        </p:nvSpPr>
        <p:spPr bwMode="auto">
          <a:xfrm>
            <a:off x="3181350" y="5241925"/>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208" name="Rectangle 49"/>
          <p:cNvSpPr>
            <a:spLocks noChangeArrowheads="1"/>
          </p:cNvSpPr>
          <p:nvPr/>
        </p:nvSpPr>
        <p:spPr bwMode="auto">
          <a:xfrm>
            <a:off x="4248150" y="52038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209" name="Rectangle 50"/>
          <p:cNvSpPr>
            <a:spLocks noChangeArrowheads="1"/>
          </p:cNvSpPr>
          <p:nvPr/>
        </p:nvSpPr>
        <p:spPr bwMode="auto">
          <a:xfrm>
            <a:off x="5162550" y="52038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210" name="Rectangle 51"/>
          <p:cNvSpPr>
            <a:spLocks noChangeArrowheads="1"/>
          </p:cNvSpPr>
          <p:nvPr/>
        </p:nvSpPr>
        <p:spPr bwMode="auto">
          <a:xfrm>
            <a:off x="6153150" y="52038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x</a:t>
            </a:r>
          </a:p>
        </p:txBody>
      </p:sp>
      <p:sp>
        <p:nvSpPr>
          <p:cNvPr id="135211" name="Rectangle 52"/>
          <p:cNvSpPr>
            <a:spLocks noChangeArrowheads="1"/>
          </p:cNvSpPr>
          <p:nvPr/>
        </p:nvSpPr>
        <p:spPr bwMode="auto">
          <a:xfrm>
            <a:off x="6838950" y="52038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212" name="Rectangle 53"/>
          <p:cNvSpPr>
            <a:spLocks noChangeArrowheads="1"/>
          </p:cNvSpPr>
          <p:nvPr/>
        </p:nvSpPr>
        <p:spPr bwMode="auto">
          <a:xfrm>
            <a:off x="7677150" y="52419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&gt;</a:t>
            </a:r>
          </a:p>
        </p:txBody>
      </p:sp>
      <p:sp>
        <p:nvSpPr>
          <p:cNvPr id="135213" name="Rectangle 54"/>
          <p:cNvSpPr>
            <a:spLocks noChangeArrowheads="1"/>
          </p:cNvSpPr>
          <p:nvPr/>
        </p:nvSpPr>
        <p:spPr bwMode="auto">
          <a:xfrm>
            <a:off x="2114550" y="57372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214" name="Rectangle 55"/>
          <p:cNvSpPr>
            <a:spLocks noChangeArrowheads="1"/>
          </p:cNvSpPr>
          <p:nvPr/>
        </p:nvSpPr>
        <p:spPr bwMode="auto">
          <a:xfrm>
            <a:off x="3181350" y="5775325"/>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215" name="Rectangle 56"/>
          <p:cNvSpPr>
            <a:spLocks noChangeArrowheads="1"/>
          </p:cNvSpPr>
          <p:nvPr/>
        </p:nvSpPr>
        <p:spPr bwMode="auto">
          <a:xfrm>
            <a:off x="4248150" y="57372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216" name="Rectangle 57"/>
          <p:cNvSpPr>
            <a:spLocks noChangeArrowheads="1"/>
          </p:cNvSpPr>
          <p:nvPr/>
        </p:nvSpPr>
        <p:spPr bwMode="auto">
          <a:xfrm>
            <a:off x="5162550" y="57372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217" name="Rectangle 58"/>
          <p:cNvSpPr>
            <a:spLocks noChangeArrowheads="1"/>
          </p:cNvSpPr>
          <p:nvPr/>
        </p:nvSpPr>
        <p:spPr bwMode="auto">
          <a:xfrm>
            <a:off x="6153150" y="5737225"/>
            <a:ext cx="357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&lt;</a:t>
            </a:r>
          </a:p>
        </p:txBody>
      </p:sp>
      <p:sp>
        <p:nvSpPr>
          <p:cNvPr id="135218" name="Rectangle 59"/>
          <p:cNvSpPr>
            <a:spLocks noChangeArrowheads="1"/>
          </p:cNvSpPr>
          <p:nvPr/>
        </p:nvSpPr>
        <p:spPr bwMode="auto">
          <a:xfrm>
            <a:off x="7677150" y="577532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hlink"/>
                </a:solidFill>
                <a:effectLst/>
                <a:uLnTx/>
                <a:uFillTx/>
                <a:latin typeface="+mn-lt"/>
                <a:ea typeface="+mn-ea"/>
                <a:cs typeface="+mn-ea"/>
                <a:sym typeface="+mn-lt"/>
              </a:rPr>
              <a:t>=</a:t>
            </a:r>
          </a:p>
        </p:txBody>
      </p:sp>
      <p:sp>
        <p:nvSpPr>
          <p:cNvPr id="135219" name="Rectangle 60"/>
          <p:cNvSpPr>
            <a:spLocks noChangeArrowheads="1"/>
          </p:cNvSpPr>
          <p:nvPr/>
        </p:nvSpPr>
        <p:spPr bwMode="auto">
          <a:xfrm>
            <a:off x="7677150" y="470058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0000"/>
                </a:solidFill>
                <a:effectLst/>
                <a:uLnTx/>
                <a:uFillTx/>
                <a:latin typeface="+mn-lt"/>
                <a:ea typeface="+mn-ea"/>
                <a:cs typeface="+mn-ea"/>
                <a:sym typeface="+mn-lt"/>
              </a:rPr>
              <a:t>x</a:t>
            </a:r>
          </a:p>
        </p:txBody>
      </p:sp>
      <p:sp>
        <p:nvSpPr>
          <p:cNvPr id="135220" name="Rectangle 61"/>
          <p:cNvSpPr>
            <a:spLocks noChangeArrowheads="1"/>
          </p:cNvSpPr>
          <p:nvPr/>
        </p:nvSpPr>
        <p:spPr bwMode="auto">
          <a:xfrm>
            <a:off x="6838950" y="56610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rgbClr val="FF0000"/>
                </a:solidFill>
                <a:effectLst/>
                <a:uLnTx/>
                <a:uFillTx/>
                <a:latin typeface="+mn-lt"/>
                <a:ea typeface="+mn-ea"/>
                <a:cs typeface="+mn-ea"/>
                <a:sym typeface="+mn-lt"/>
              </a:rPr>
              <a:t>x</a:t>
            </a:r>
          </a:p>
        </p:txBody>
      </p:sp>
      <p:sp>
        <p:nvSpPr>
          <p:cNvPr id="135221" name="Text Box 109"/>
          <p:cNvSpPr txBox="1">
            <a:spLocks noChangeArrowheads="1"/>
          </p:cNvSpPr>
          <p:nvPr/>
        </p:nvSpPr>
        <p:spPr bwMode="auto">
          <a:xfrm>
            <a:off x="2214563" y="1171575"/>
            <a:ext cx="4310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表</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3.1</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　算符间的优先关系</a:t>
            </a:r>
          </a:p>
        </p:txBody>
      </p:sp>
      <p:sp>
        <p:nvSpPr>
          <p:cNvPr id="149557" name="Rectangle 154"/>
          <p:cNvSpPr txBox="1"/>
          <p:nvPr/>
        </p:nvSpPr>
        <p:spPr>
          <a:xfrm>
            <a:off x="827088" y="188913"/>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案例</a:t>
            </a:r>
            <a:r>
              <a:rPr lang="en-US" altLang="zh-CN" sz="2800" dirty="0">
                <a:solidFill>
                  <a:schemeClr val="bg1"/>
                </a:solidFill>
                <a:sym typeface="+mn-lt"/>
              </a:rPr>
              <a:t>3.3 </a:t>
            </a:r>
            <a:r>
              <a:rPr lang="zh-CN" altLang="en-US" sz="2800" dirty="0">
                <a:solidFill>
                  <a:schemeClr val="bg1"/>
                </a:solidFill>
                <a:sym typeface="+mn-lt"/>
              </a:rPr>
              <a:t>：表达式求值</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19050" y="1754188"/>
            <a:ext cx="9144000" cy="510381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6195" name="Rectangle 4"/>
          <p:cNvSpPr>
            <a:spLocks noRot="1" noChangeArrowheads="1"/>
          </p:cNvSpPr>
          <p:nvPr/>
        </p:nvSpPr>
        <p:spPr bwMode="auto">
          <a:xfrm>
            <a:off x="231775" y="604838"/>
            <a:ext cx="8893175"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1" fontAlgn="base" latinLnBrk="0" hangingPunct="1">
              <a:lnSpc>
                <a:spcPct val="80000"/>
              </a:lnSpc>
              <a:spcBef>
                <a:spcPct val="20000"/>
              </a:spcBef>
              <a:spcAft>
                <a:spcPct val="0"/>
              </a:spcAft>
              <a:buClrTx/>
              <a:buSzTx/>
              <a:buFont typeface="Arial" panose="020B0604020202020204" pitchFamily="34" charset="0"/>
              <a:buNone/>
              <a:defRPr/>
            </a:pPr>
            <a:endParaRPr kumimoji="0" lang="en-US" altLang="zh-CN" sz="4000" b="1" i="0" u="none" strike="noStrike" kern="1200" cap="none" spc="0" normalizeH="0" baseline="0" noProof="0">
              <a:ln>
                <a:noFill/>
              </a:ln>
              <a:solidFill>
                <a:schemeClr val="tx1"/>
              </a:solidFill>
              <a:effectLst/>
              <a:uLnTx/>
              <a:uFillTx/>
              <a:latin typeface="+mn-lt"/>
              <a:ea typeface="+mn-ea"/>
              <a:cs typeface="+mn-ea"/>
              <a:sym typeface="+mn-lt"/>
            </a:endParaRPr>
          </a:p>
          <a:p>
            <a:pPr marL="342900" marR="0" lvl="0" indent="-342900" algn="l" defTabSz="914400" rtl="0" eaLnBrk="1" fontAlgn="base" latinLnBrk="0" hangingPunct="1">
              <a:lnSpc>
                <a:spcPct val="80000"/>
              </a:lnSpc>
              <a:spcBef>
                <a:spcPct val="20000"/>
              </a:spcBef>
              <a:spcAft>
                <a:spcPct val="0"/>
              </a:spcAft>
              <a:buClrTx/>
              <a:buSzTx/>
              <a:buFont typeface="Arial" panose="020B0604020202020204" pitchFamily="34" charset="0"/>
              <a:buNone/>
              <a:defRPr/>
            </a:pPr>
            <a:endParaRPr kumimoji="0" lang="en-US" altLang="zh-CN" sz="4000" b="1" i="0" u="none" strike="noStrike" kern="1200" cap="none" spc="0" normalizeH="0" baseline="0" noProof="0">
              <a:ln>
                <a:noFill/>
              </a:ln>
              <a:solidFill>
                <a:srgbClr val="FF3399"/>
              </a:solidFill>
              <a:effectLst/>
              <a:uLnTx/>
              <a:uFillTx/>
              <a:latin typeface="+mn-lt"/>
              <a:ea typeface="+mn-ea"/>
              <a:cs typeface="+mn-ea"/>
              <a:sym typeface="+mn-lt"/>
            </a:endParaRPr>
          </a:p>
        </p:txBody>
      </p:sp>
      <p:sp>
        <p:nvSpPr>
          <p:cNvPr id="136196" name="Rectangle 5"/>
          <p:cNvSpPr>
            <a:spLocks noChangeArrowheads="1"/>
          </p:cNvSpPr>
          <p:nvPr/>
        </p:nvSpPr>
        <p:spPr bwMode="auto">
          <a:xfrm>
            <a:off x="4763" y="823913"/>
            <a:ext cx="2122488" cy="509588"/>
          </a:xfrm>
          <a:prstGeom prst="rect">
            <a:avLst/>
          </a:prstGeom>
          <a:solidFill>
            <a:srgbClr val="A78DC2"/>
          </a:solidFill>
          <a:ln>
            <a:noFill/>
          </a:ln>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759814" name="Rectangle 6"/>
          <p:cNvSpPr>
            <a:spLocks noChangeArrowheads="1"/>
          </p:cNvSpPr>
          <p:nvPr/>
        </p:nvSpPr>
        <p:spPr bwMode="auto">
          <a:xfrm>
            <a:off x="1588" y="1754188"/>
            <a:ext cx="9034463" cy="510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54000">
              <a:defRPr sz="2400" b="1">
                <a:solidFill>
                  <a:schemeClr val="tx1"/>
                </a:solidFill>
                <a:latin typeface="Times New Roman" panose="02020603050405020304" pitchFamily="18" charset="0"/>
                <a:ea typeface="楷体_GB2312" pitchFamily="49" charset="-122"/>
              </a:defRPr>
            </a:lvl1pPr>
            <a:lvl2pPr indent="254000">
              <a:defRPr sz="2400" b="1">
                <a:solidFill>
                  <a:schemeClr val="tx1"/>
                </a:solidFill>
                <a:latin typeface="Times New Roman" panose="02020603050405020304" pitchFamily="18" charset="0"/>
                <a:ea typeface="楷体_GB2312" pitchFamily="49" charset="-122"/>
              </a:defRPr>
            </a:lvl2pPr>
            <a:lvl3pPr indent="254000">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541655" marR="0" lvl="0" indent="-287655"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①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初始化</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OPTR</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栈和</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OPND</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栈，将表达式起始符“</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压入</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OPTR</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栈。</a:t>
            </a:r>
          </a:p>
          <a:p>
            <a:pPr marL="541655" marR="0" lvl="0" indent="-287655"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②</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扫描表达式，读入第一个字符</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，如果表达式没有扫描完毕至“</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或</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OPTR</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的栈顶元素不为“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时，则循环执行以下操作：</a:t>
            </a:r>
          </a:p>
          <a:p>
            <a:pPr marL="895350" marR="0" lvl="1" indent="-354330" algn="l" defTabSz="914400" rtl="0" eaLnBrk="0" fontAlgn="base" latinLnBrk="0" hangingPunct="0">
              <a:lnSpc>
                <a:spcPct val="125000"/>
              </a:lnSpc>
              <a:spcBef>
                <a:spcPct val="20000"/>
              </a:spcBef>
              <a:spcAft>
                <a:spcPct val="0"/>
              </a:spcAft>
              <a:buClrTx/>
              <a:buSzTx/>
              <a:buFont typeface="Wingdings" panose="05000000000000000000" pitchFamily="2" charset="2"/>
              <a:buChar char="l"/>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若</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不是运算符，则压入</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OPND</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栈，读入下一字符</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p>
          <a:p>
            <a:pPr marL="895350" marR="0" lvl="1" indent="-354330" algn="l" defTabSz="914400" rtl="0" eaLnBrk="0" fontAlgn="base" latinLnBrk="0" hangingPunct="0">
              <a:lnSpc>
                <a:spcPct val="125000"/>
              </a:lnSpc>
              <a:spcBef>
                <a:spcPct val="20000"/>
              </a:spcBef>
              <a:spcAft>
                <a:spcPct val="0"/>
              </a:spcAft>
              <a:buClrTx/>
              <a:buSzTx/>
              <a:buFont typeface="Wingdings" panose="05000000000000000000" pitchFamily="2" charset="2"/>
              <a:buChar char="l"/>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若</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是运算符，则根据</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OPTR</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的栈顶元素和</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的优先级比较结果，做不同的处理：</a:t>
            </a:r>
          </a:p>
          <a:p>
            <a:pPr marL="914400" marR="0" lvl="2" indent="254000" algn="l" defTabSz="914400" rtl="0" eaLnBrk="0" fontAlgn="base" latinLnBrk="0" hangingPunct="0">
              <a:lnSpc>
                <a:spcPct val="125000"/>
              </a:lnSpc>
              <a:spcBef>
                <a:spcPct val="2000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若是小于，则</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压入</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OPTR</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栈，读入下一字符</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p>
          <a:p>
            <a:pPr marL="1170305" marR="0" lvl="2" indent="-274955" algn="l" defTabSz="914400" rtl="0" eaLnBrk="0" fontAlgn="base" latinLnBrk="0" hangingPunct="0">
              <a:lnSpc>
                <a:spcPct val="125000"/>
              </a:lnSpc>
              <a:spcBef>
                <a:spcPct val="2000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若是大于，则弹出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OPTR</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栈顶的运算符，从</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OPND</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栈弹出两个数，进行相应运算，结果压入</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OPND</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栈；</a:t>
            </a:r>
          </a:p>
          <a:p>
            <a:pPr marL="1170305" marR="0" lvl="2" indent="-274955" algn="l" defTabSz="914400" rtl="0" eaLnBrk="0" fontAlgn="base" latinLnBrk="0" hangingPunct="0">
              <a:lnSpc>
                <a:spcPct val="125000"/>
              </a:lnSpc>
              <a:spcBef>
                <a:spcPct val="2000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若是等于，则</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OPTR</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的栈顶元素是“</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且</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是“</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，这时弹出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OPTR</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栈顶的“</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，相当于括号匹配成功，然后读入下一字符</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25400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③</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OPND</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栈顶元素即为表达式求值结果，返回此元素。</a:t>
            </a:r>
          </a:p>
        </p:txBody>
      </p:sp>
      <p:sp>
        <p:nvSpPr>
          <p:cNvPr id="136198" name="Text Box 7"/>
          <p:cNvSpPr txBox="1">
            <a:spLocks noChangeArrowheads="1"/>
          </p:cNvSpPr>
          <p:nvPr/>
        </p:nvSpPr>
        <p:spPr bwMode="auto">
          <a:xfrm>
            <a:off x="-19050" y="1311275"/>
            <a:ext cx="9144000" cy="461963"/>
          </a:xfrm>
          <a:prstGeom prst="rect">
            <a:avLst/>
          </a:prstGeom>
          <a:solidFill>
            <a:srgbClr val="EAEAEA"/>
          </a:solidFill>
          <a:ln w="38100">
            <a:no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设定两栈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OPND-----</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操作数或运算结果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OPTR------</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运算符</a:t>
            </a:r>
          </a:p>
        </p:txBody>
      </p:sp>
      <p:sp>
        <p:nvSpPr>
          <p:cNvPr id="150535" name="Rectangle 154"/>
          <p:cNvSpPr txBox="1"/>
          <p:nvPr/>
        </p:nvSpPr>
        <p:spPr>
          <a:xfrm>
            <a:off x="827088" y="188913"/>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案例</a:t>
            </a:r>
            <a:r>
              <a:rPr lang="en-US" altLang="zh-CN" sz="2800" dirty="0">
                <a:solidFill>
                  <a:schemeClr val="bg1"/>
                </a:solidFill>
                <a:sym typeface="+mn-lt"/>
              </a:rPr>
              <a:t>3.3 </a:t>
            </a:r>
            <a:r>
              <a:rPr lang="zh-CN" altLang="en-US" sz="2800" dirty="0">
                <a:solidFill>
                  <a:schemeClr val="bg1"/>
                </a:solidFill>
                <a:sym typeface="+mn-lt"/>
              </a:rPr>
              <a:t>：表达式求值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59814">
                                            <p:txEl>
                                              <p:pRg st="0" end="0"/>
                                            </p:txEl>
                                          </p:spTgt>
                                        </p:tgtEl>
                                        <p:attrNameLst>
                                          <p:attrName>style.visibility</p:attrName>
                                        </p:attrNameLst>
                                      </p:cBhvr>
                                      <p:to>
                                        <p:strVal val="visible"/>
                                      </p:to>
                                    </p:set>
                                    <p:animEffect transition="in" filter="box(in)">
                                      <p:cBhvr>
                                        <p:cTn id="7" dur="500"/>
                                        <p:tgtEl>
                                          <p:spTgt spid="7598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59814">
                                            <p:txEl>
                                              <p:pRg st="1" end="1"/>
                                            </p:txEl>
                                          </p:spTgt>
                                        </p:tgtEl>
                                        <p:attrNameLst>
                                          <p:attrName>style.visibility</p:attrName>
                                        </p:attrNameLst>
                                      </p:cBhvr>
                                      <p:to>
                                        <p:strVal val="visible"/>
                                      </p:to>
                                    </p:set>
                                    <p:animEffect transition="in" filter="box(in)">
                                      <p:cBhvr>
                                        <p:cTn id="12" dur="500"/>
                                        <p:tgtEl>
                                          <p:spTgt spid="759814">
                                            <p:txEl>
                                              <p:pRg st="1" end="1"/>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759814">
                                            <p:txEl>
                                              <p:pRg st="2" end="2"/>
                                            </p:txEl>
                                          </p:spTgt>
                                        </p:tgtEl>
                                        <p:attrNameLst>
                                          <p:attrName>style.visibility</p:attrName>
                                        </p:attrNameLst>
                                      </p:cBhvr>
                                      <p:to>
                                        <p:strVal val="visible"/>
                                      </p:to>
                                    </p:set>
                                    <p:animEffect transition="in" filter="box(in)">
                                      <p:cBhvr>
                                        <p:cTn id="15" dur="500"/>
                                        <p:tgtEl>
                                          <p:spTgt spid="759814">
                                            <p:txEl>
                                              <p:pRg st="2" end="2"/>
                                            </p:txEl>
                                          </p:spTgt>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759814">
                                            <p:txEl>
                                              <p:pRg st="3" end="3"/>
                                            </p:txEl>
                                          </p:spTgt>
                                        </p:tgtEl>
                                        <p:attrNameLst>
                                          <p:attrName>style.visibility</p:attrName>
                                        </p:attrNameLst>
                                      </p:cBhvr>
                                      <p:to>
                                        <p:strVal val="visible"/>
                                      </p:to>
                                    </p:set>
                                    <p:animEffect transition="in" filter="box(in)">
                                      <p:cBhvr>
                                        <p:cTn id="18" dur="500"/>
                                        <p:tgtEl>
                                          <p:spTgt spid="759814">
                                            <p:txEl>
                                              <p:pRg st="3" end="3"/>
                                            </p:txEl>
                                          </p:spTgt>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759814">
                                            <p:txEl>
                                              <p:pRg st="4" end="4"/>
                                            </p:txEl>
                                          </p:spTgt>
                                        </p:tgtEl>
                                        <p:attrNameLst>
                                          <p:attrName>style.visibility</p:attrName>
                                        </p:attrNameLst>
                                      </p:cBhvr>
                                      <p:to>
                                        <p:strVal val="visible"/>
                                      </p:to>
                                    </p:set>
                                    <p:animEffect transition="in" filter="box(in)">
                                      <p:cBhvr>
                                        <p:cTn id="21" dur="500"/>
                                        <p:tgtEl>
                                          <p:spTgt spid="759814">
                                            <p:txEl>
                                              <p:pRg st="4" end="4"/>
                                            </p:txEl>
                                          </p:spTgt>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759814">
                                            <p:txEl>
                                              <p:pRg st="5" end="5"/>
                                            </p:txEl>
                                          </p:spTgt>
                                        </p:tgtEl>
                                        <p:attrNameLst>
                                          <p:attrName>style.visibility</p:attrName>
                                        </p:attrNameLst>
                                      </p:cBhvr>
                                      <p:to>
                                        <p:strVal val="visible"/>
                                      </p:to>
                                    </p:set>
                                    <p:animEffect transition="in" filter="box(in)">
                                      <p:cBhvr>
                                        <p:cTn id="24" dur="500"/>
                                        <p:tgtEl>
                                          <p:spTgt spid="759814">
                                            <p:txEl>
                                              <p:pRg st="5" end="5"/>
                                            </p:txEl>
                                          </p:spTgt>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759814">
                                            <p:txEl>
                                              <p:pRg st="6" end="6"/>
                                            </p:txEl>
                                          </p:spTgt>
                                        </p:tgtEl>
                                        <p:attrNameLst>
                                          <p:attrName>style.visibility</p:attrName>
                                        </p:attrNameLst>
                                      </p:cBhvr>
                                      <p:to>
                                        <p:strVal val="visible"/>
                                      </p:to>
                                    </p:set>
                                    <p:animEffect transition="in" filter="box(in)">
                                      <p:cBhvr>
                                        <p:cTn id="27" dur="500"/>
                                        <p:tgtEl>
                                          <p:spTgt spid="75981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759814">
                                            <p:txEl>
                                              <p:pRg st="7" end="7"/>
                                            </p:txEl>
                                          </p:spTgt>
                                        </p:tgtEl>
                                        <p:attrNameLst>
                                          <p:attrName>style.visibility</p:attrName>
                                        </p:attrNameLst>
                                      </p:cBhvr>
                                      <p:to>
                                        <p:strVal val="visible"/>
                                      </p:to>
                                    </p:set>
                                    <p:animEffect transition="in" filter="box(in)">
                                      <p:cBhvr>
                                        <p:cTn id="32" dur="500"/>
                                        <p:tgtEl>
                                          <p:spTgt spid="75981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9814"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Text Box 56"/>
          <p:cNvSpPr txBox="1">
            <a:spLocks noChangeArrowheads="1"/>
          </p:cNvSpPr>
          <p:nvPr/>
        </p:nvSpPr>
        <p:spPr bwMode="auto">
          <a:xfrm>
            <a:off x="0" y="827088"/>
            <a:ext cx="9144000" cy="6019800"/>
          </a:xfrm>
          <a:prstGeom prst="rect">
            <a:avLst/>
          </a:prstGeom>
          <a:solidFill>
            <a:srgbClr val="D4E6F4"/>
          </a:solidFill>
          <a:ln>
            <a:noFill/>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OperandType</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EvaluateExpression</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InitStack</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(OPTR);  Push (OPTR</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InitStack</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(OPND);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getchar(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while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GetTop</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(OPTR)! = '#')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if (! </a:t>
            </a:r>
            <a:r>
              <a:rPr kumimoji="0" lang="en-US" altLang="zh-CN" sz="1800" b="0" i="0" u="none" strike="noStrike" kern="1200" cap="none" spc="0" normalizeH="0" baseline="0" noProof="0" dirty="0">
                <a:ln>
                  <a:noFill/>
                </a:ln>
                <a:solidFill>
                  <a:srgbClr val="FF0000"/>
                </a:solidFill>
                <a:effectLst/>
                <a:uLnTx/>
                <a:uFillTx/>
                <a:latin typeface="+mn-lt"/>
                <a:ea typeface="+mn-ea"/>
                <a:cs typeface="+mn-ea"/>
                <a:sym typeface="+mn-lt"/>
              </a:rPr>
              <a:t>In(</a:t>
            </a:r>
            <a:r>
              <a:rPr kumimoji="0" lang="en-US" altLang="zh-CN" sz="1800" b="0" i="0" u="none" strike="noStrike" kern="1200" cap="none" spc="0" normalizeH="0" baseline="0" noProof="0" dirty="0" err="1">
                <a:ln>
                  <a:noFill/>
                </a:ln>
                <a:solidFill>
                  <a:srgbClr val="FF0000"/>
                </a:solidFill>
                <a:effectLst/>
                <a:uLnTx/>
                <a:uFillTx/>
                <a:latin typeface="+mn-lt"/>
                <a:ea typeface="+mn-ea"/>
                <a:cs typeface="+mn-ea"/>
                <a:sym typeface="+mn-lt"/>
              </a:rPr>
              <a:t>ch</a:t>
            </a:r>
            <a:r>
              <a:rPr kumimoji="0" lang="en-US" altLang="zh-CN" sz="18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){Push(</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OPND,ch</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lang="en-US" altLang="zh-CN" sz="1800" b="0" dirty="0" err="1">
                <a:latin typeface="+mn-lt"/>
                <a:ea typeface="+mn-ea"/>
                <a:cs typeface="+mn-ea"/>
                <a:sym typeface="+mn-lt"/>
              </a:rPr>
              <a:t>cin</a:t>
            </a:r>
            <a:r>
              <a:rPr lang="en-US" altLang="zh-CN" sz="1800" b="0" dirty="0">
                <a:latin typeface="+mn-lt"/>
                <a:ea typeface="+mn-ea"/>
                <a:cs typeface="+mn-ea"/>
                <a:sym typeface="+mn-lt"/>
              </a:rPr>
              <a:t>&gt;&gt;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不是运算符则进栈</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else</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switch (</a:t>
            </a:r>
            <a:r>
              <a:rPr kumimoji="0" lang="en-US" altLang="zh-CN" sz="1800" b="0" i="0" u="none" strike="noStrike" kern="1200" cap="none" spc="0" normalizeH="0" baseline="0" noProof="0" dirty="0">
                <a:ln>
                  <a:noFill/>
                </a:ln>
                <a:solidFill>
                  <a:srgbClr val="FF0000"/>
                </a:solidFill>
                <a:effectLst/>
                <a:uLnTx/>
                <a:uFillTx/>
                <a:latin typeface="+mn-lt"/>
                <a:ea typeface="+mn-ea"/>
                <a:cs typeface="+mn-ea"/>
                <a:sym typeface="+mn-lt"/>
              </a:rPr>
              <a:t>Precede(</a:t>
            </a:r>
            <a:r>
              <a:rPr kumimoji="0" lang="en-US" altLang="zh-CN" sz="1800" b="0" i="0" u="none" strike="noStrike" kern="1200" cap="none" spc="0" normalizeH="0" baseline="0" noProof="0" dirty="0" err="1">
                <a:ln>
                  <a:noFill/>
                </a:ln>
                <a:solidFill>
                  <a:srgbClr val="FF0000"/>
                </a:solidFill>
                <a:effectLst/>
                <a:uLnTx/>
                <a:uFillTx/>
                <a:latin typeface="+mn-lt"/>
                <a:ea typeface="+mn-ea"/>
                <a:cs typeface="+mn-ea"/>
                <a:sym typeface="+mn-lt"/>
              </a:rPr>
              <a:t>GetTop</a:t>
            </a:r>
            <a:r>
              <a:rPr kumimoji="0" lang="en-US" altLang="zh-CN" sz="1800" b="0" i="0" u="none" strike="noStrike" kern="1200" cap="none" spc="0" normalizeH="0" baseline="0" noProof="0" dirty="0">
                <a:ln>
                  <a:noFill/>
                </a:ln>
                <a:solidFill>
                  <a:srgbClr val="FF0000"/>
                </a:solidFill>
                <a:effectLst/>
                <a:uLnTx/>
                <a:uFillTx/>
                <a:latin typeface="+mn-lt"/>
                <a:ea typeface="+mn-ea"/>
                <a:cs typeface="+mn-ea"/>
                <a:sym typeface="+mn-lt"/>
              </a:rPr>
              <a:t>(OPTR),</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比较优先权</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case '&lt;' :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当前字符</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压入</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OPTR</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栈，读入下一字符</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ch</a:t>
            </a:r>
            <a:endPar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Push(OPTR,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cin</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&gt;&gt;</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ch</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break;</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case '&gt;' :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弹出</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OPTR</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栈顶的运算符运算，并将运算结果入栈</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Pop(OPTR, theta);</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Pop(OPND, b);  Pop(OPND, a);</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Push(OPND, </a:t>
            </a:r>
            <a:r>
              <a:rPr kumimoji="0" lang="en-US" altLang="zh-CN" sz="1800" b="0" i="0" u="none" strike="noStrike" kern="1200" cap="none" spc="0" normalizeH="0" baseline="0" noProof="0" dirty="0">
                <a:ln>
                  <a:noFill/>
                </a:ln>
                <a:solidFill>
                  <a:srgbClr val="FF0000"/>
                </a:solidFill>
                <a:effectLst/>
                <a:uLnTx/>
                <a:uFillTx/>
                <a:latin typeface="+mn-lt"/>
                <a:ea typeface="+mn-ea"/>
                <a:cs typeface="+mn-ea"/>
                <a:sym typeface="+mn-lt"/>
              </a:rPr>
              <a:t>Operate(a, theta, b)</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break;</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case '=' :    //</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脱括号并接收下一字符</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Pop(</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OPTR,x</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a:t>
            </a:r>
            <a:r>
              <a:rPr lang="en-US" altLang="zh-CN" sz="1800" b="0" dirty="0" err="1">
                <a:latin typeface="+mn-lt"/>
                <a:ea typeface="+mn-ea"/>
                <a:cs typeface="+mn-ea"/>
                <a:sym typeface="+mn-lt"/>
              </a:rPr>
              <a:t>cin</a:t>
            </a:r>
            <a:r>
              <a:rPr lang="en-US" altLang="zh-CN" sz="1800" b="0" dirty="0">
                <a:latin typeface="+mn-lt"/>
                <a:ea typeface="+mn-ea"/>
                <a:cs typeface="+mn-ea"/>
                <a:sym typeface="+mn-lt"/>
              </a:rPr>
              <a:t>&gt;&gt;</a:t>
            </a:r>
            <a:r>
              <a:rPr kumimoji="0" lang="en-US" altLang="zh-CN" sz="1800" b="0" i="0" u="none" strike="noStrike" kern="1200" cap="none" spc="0" normalizeH="0" baseline="0" noProof="0">
                <a:ln>
                  <a:noFill/>
                </a:ln>
                <a:solidFill>
                  <a:schemeClr val="tx1"/>
                </a:solidFill>
                <a:effectLst/>
                <a:uLnTx/>
                <a:uFillTx/>
                <a:latin typeface="+mn-lt"/>
                <a:ea typeface="+mn-ea"/>
                <a:cs typeface="+mn-ea"/>
                <a:sym typeface="+mn-lt"/>
              </a:rPr>
              <a:t>ch;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break;</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 switch</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 // while</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  return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GetTop</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(OPND);} // </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EvaluateExpression</a:t>
            </a:r>
            <a:endPar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4" name="组合 3"/>
          <p:cNvGrpSpPr/>
          <p:nvPr/>
        </p:nvGrpSpPr>
        <p:grpSpPr>
          <a:xfrm>
            <a:off x="5290239" y="6117707"/>
            <a:ext cx="3849390" cy="407035"/>
            <a:chOff x="7452320" y="5445224"/>
            <a:chExt cx="1691680" cy="407035"/>
          </a:xfrm>
          <a:solidFill>
            <a:schemeClr val="accent1">
              <a:lumMod val="60000"/>
              <a:lumOff val="40000"/>
            </a:schemeClr>
          </a:solidFill>
        </p:grpSpPr>
        <p:sp>
          <p:nvSpPr>
            <p:cNvPr id="2" name="矩形 1"/>
            <p:cNvSpPr/>
            <p:nvPr/>
          </p:nvSpPr>
          <p:spPr bwMode="auto">
            <a:xfrm>
              <a:off x="8180158" y="5445224"/>
              <a:ext cx="963841" cy="45719"/>
            </a:xfrm>
            <a:prstGeom prst="rect">
              <a:avLst/>
            </a:prstGeom>
            <a:grp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5" name="矩形 4"/>
            <p:cNvSpPr/>
            <p:nvPr/>
          </p:nvSpPr>
          <p:spPr bwMode="auto">
            <a:xfrm>
              <a:off x="7926997" y="5552148"/>
              <a:ext cx="1217003" cy="45719"/>
            </a:xfrm>
            <a:prstGeom prst="rect">
              <a:avLst/>
            </a:prstGeom>
            <a:grp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6" name="矩形 5"/>
            <p:cNvSpPr/>
            <p:nvPr/>
          </p:nvSpPr>
          <p:spPr bwMode="auto">
            <a:xfrm>
              <a:off x="7737126" y="5679344"/>
              <a:ext cx="1406873" cy="45719"/>
            </a:xfrm>
            <a:prstGeom prst="rect">
              <a:avLst/>
            </a:prstGeom>
            <a:grp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 name="矩形 6"/>
            <p:cNvSpPr/>
            <p:nvPr/>
          </p:nvSpPr>
          <p:spPr bwMode="auto">
            <a:xfrm>
              <a:off x="7452320" y="5806540"/>
              <a:ext cx="1691680" cy="45719"/>
            </a:xfrm>
            <a:prstGeom prst="rect">
              <a:avLst/>
            </a:prstGeom>
            <a:grp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151556" name="Rectangle 154"/>
          <p:cNvSpPr txBox="1"/>
          <p:nvPr/>
        </p:nvSpPr>
        <p:spPr>
          <a:xfrm>
            <a:off x="827088" y="188913"/>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案例</a:t>
            </a:r>
            <a:r>
              <a:rPr lang="en-US" altLang="zh-CN" sz="2800" dirty="0">
                <a:solidFill>
                  <a:schemeClr val="bg1"/>
                </a:solidFill>
                <a:sym typeface="+mn-lt"/>
              </a:rPr>
              <a:t>3.3 </a:t>
            </a:r>
            <a:r>
              <a:rPr lang="zh-CN" altLang="en-US" sz="2800" dirty="0">
                <a:solidFill>
                  <a:schemeClr val="bg1"/>
                </a:solidFill>
                <a:sym typeface="+mn-lt"/>
              </a:rPr>
              <a:t>：表达式求值</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
          <p:cNvGrpSpPr/>
          <p:nvPr/>
        </p:nvGrpSpPr>
        <p:grpSpPr>
          <a:xfrm>
            <a:off x="501650" y="1052513"/>
            <a:ext cx="8153400" cy="466725"/>
            <a:chOff x="340" y="494"/>
            <a:chExt cx="5136" cy="294"/>
          </a:xfrm>
        </p:grpSpPr>
        <p:sp>
          <p:nvSpPr>
            <p:cNvPr id="138244" name="Text Box 11"/>
            <p:cNvSpPr txBox="1">
              <a:spLocks noChangeArrowheads="1"/>
            </p:cNvSpPr>
            <p:nvPr/>
          </p:nvSpPr>
          <p:spPr bwMode="auto">
            <a:xfrm>
              <a:off x="340" y="494"/>
              <a:ext cx="912" cy="294"/>
            </a:xfrm>
            <a:prstGeom prst="rect">
              <a:avLst/>
            </a:prstGeom>
            <a:solidFill>
              <a:schemeClr val="accent1">
                <a:lumMod val="60000"/>
                <a:lumOff val="40000"/>
              </a:schemeClr>
            </a:solidFill>
            <a:ln w="9525">
              <a:solidFill>
                <a:schemeClr val="tx1"/>
              </a:solid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OPTR</a:t>
              </a:r>
            </a:p>
          </p:txBody>
        </p:sp>
        <p:sp>
          <p:nvSpPr>
            <p:cNvPr id="138245" name="Text Box 12"/>
            <p:cNvSpPr txBox="1">
              <a:spLocks noChangeArrowheads="1"/>
            </p:cNvSpPr>
            <p:nvPr/>
          </p:nvSpPr>
          <p:spPr bwMode="auto">
            <a:xfrm>
              <a:off x="1588" y="494"/>
              <a:ext cx="912" cy="294"/>
            </a:xfrm>
            <a:prstGeom prst="rect">
              <a:avLst/>
            </a:prstGeom>
            <a:solidFill>
              <a:schemeClr val="accent1">
                <a:lumMod val="60000"/>
                <a:lumOff val="40000"/>
              </a:schemeClr>
            </a:solidFill>
            <a:ln w="9525">
              <a:solidFill>
                <a:schemeClr val="tx1"/>
              </a:solid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OPND</a:t>
              </a:r>
            </a:p>
          </p:txBody>
        </p:sp>
        <p:sp>
          <p:nvSpPr>
            <p:cNvPr id="138246" name="Text Box 13"/>
            <p:cNvSpPr txBox="1">
              <a:spLocks noChangeArrowheads="1"/>
            </p:cNvSpPr>
            <p:nvPr/>
          </p:nvSpPr>
          <p:spPr bwMode="auto">
            <a:xfrm>
              <a:off x="2884" y="494"/>
              <a:ext cx="912" cy="294"/>
            </a:xfrm>
            <a:prstGeom prst="rect">
              <a:avLst/>
            </a:prstGeom>
            <a:solidFill>
              <a:schemeClr val="accent1">
                <a:lumMod val="60000"/>
                <a:lumOff val="40000"/>
              </a:schemeClr>
            </a:solidFill>
            <a:ln w="9525">
              <a:solidFill>
                <a:schemeClr val="tx1"/>
              </a:solid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INPUT</a:t>
              </a:r>
            </a:p>
          </p:txBody>
        </p:sp>
        <p:sp>
          <p:nvSpPr>
            <p:cNvPr id="138247" name="Text Box 14"/>
            <p:cNvSpPr txBox="1">
              <a:spLocks noChangeArrowheads="1"/>
            </p:cNvSpPr>
            <p:nvPr/>
          </p:nvSpPr>
          <p:spPr bwMode="auto">
            <a:xfrm>
              <a:off x="4180" y="494"/>
              <a:ext cx="1296" cy="294"/>
            </a:xfrm>
            <a:prstGeom prst="rect">
              <a:avLst/>
            </a:prstGeom>
            <a:solidFill>
              <a:schemeClr val="accent1">
                <a:lumMod val="60000"/>
                <a:lumOff val="40000"/>
              </a:schemeClr>
            </a:solidFill>
            <a:ln w="9525">
              <a:solidFill>
                <a:schemeClr val="tx1"/>
              </a:solid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OPERATE</a:t>
              </a:r>
            </a:p>
          </p:txBody>
        </p:sp>
      </p:grpSp>
      <p:grpSp>
        <p:nvGrpSpPr>
          <p:cNvPr id="3" name="Group 15"/>
          <p:cNvGrpSpPr/>
          <p:nvPr/>
        </p:nvGrpSpPr>
        <p:grpSpPr>
          <a:xfrm>
            <a:off x="501650" y="1620838"/>
            <a:ext cx="8153400" cy="466725"/>
            <a:chOff x="340" y="1022"/>
            <a:chExt cx="5136" cy="294"/>
          </a:xfrm>
        </p:grpSpPr>
        <p:sp>
          <p:nvSpPr>
            <p:cNvPr id="138249" name="Text Box 16"/>
            <p:cNvSpPr txBox="1">
              <a:spLocks noChangeArrowheads="1"/>
            </p:cNvSpPr>
            <p:nvPr/>
          </p:nvSpPr>
          <p:spPr bwMode="auto">
            <a:xfrm>
              <a:off x="2884" y="1022"/>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3*(7-2)#</a:t>
              </a:r>
            </a:p>
          </p:txBody>
        </p:sp>
        <p:sp>
          <p:nvSpPr>
            <p:cNvPr id="138250" name="Text Box 17"/>
            <p:cNvSpPr txBox="1">
              <a:spLocks noChangeArrowheads="1"/>
            </p:cNvSpPr>
            <p:nvPr/>
          </p:nvSpPr>
          <p:spPr bwMode="auto">
            <a:xfrm>
              <a:off x="4180" y="1022"/>
              <a:ext cx="1296"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Push(opnd,’3’)</a:t>
              </a:r>
            </a:p>
          </p:txBody>
        </p:sp>
        <p:sp>
          <p:nvSpPr>
            <p:cNvPr id="138251" name="Text Box 18"/>
            <p:cNvSpPr txBox="1">
              <a:spLocks noChangeArrowheads="1"/>
            </p:cNvSpPr>
            <p:nvPr/>
          </p:nvSpPr>
          <p:spPr bwMode="auto">
            <a:xfrm>
              <a:off x="1588" y="1022"/>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p>
          </p:txBody>
        </p:sp>
        <p:sp>
          <p:nvSpPr>
            <p:cNvPr id="138252" name="Text Box 19"/>
            <p:cNvSpPr txBox="1">
              <a:spLocks noChangeArrowheads="1"/>
            </p:cNvSpPr>
            <p:nvPr/>
          </p:nvSpPr>
          <p:spPr bwMode="auto">
            <a:xfrm>
              <a:off x="340" y="1022"/>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grpSp>
      <p:grpSp>
        <p:nvGrpSpPr>
          <p:cNvPr id="4" name="Group 20"/>
          <p:cNvGrpSpPr/>
          <p:nvPr/>
        </p:nvGrpSpPr>
        <p:grpSpPr>
          <a:xfrm>
            <a:off x="501650" y="2078038"/>
            <a:ext cx="8153400" cy="466725"/>
            <a:chOff x="340" y="1310"/>
            <a:chExt cx="5136" cy="294"/>
          </a:xfrm>
        </p:grpSpPr>
        <p:sp>
          <p:nvSpPr>
            <p:cNvPr id="138254" name="Text Box 21"/>
            <p:cNvSpPr txBox="1">
              <a:spLocks noChangeArrowheads="1"/>
            </p:cNvSpPr>
            <p:nvPr/>
          </p:nvSpPr>
          <p:spPr bwMode="auto">
            <a:xfrm>
              <a:off x="2884" y="1310"/>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*(7-2)#</a:t>
              </a:r>
            </a:p>
          </p:txBody>
        </p:sp>
        <p:sp>
          <p:nvSpPr>
            <p:cNvPr id="138255" name="Text Box 22"/>
            <p:cNvSpPr txBox="1">
              <a:spLocks noChangeArrowheads="1"/>
            </p:cNvSpPr>
            <p:nvPr/>
          </p:nvSpPr>
          <p:spPr bwMode="auto">
            <a:xfrm>
              <a:off x="1588" y="1310"/>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138256" name="Text Box 23"/>
            <p:cNvSpPr txBox="1">
              <a:spLocks noChangeArrowheads="1"/>
            </p:cNvSpPr>
            <p:nvPr/>
          </p:nvSpPr>
          <p:spPr bwMode="auto">
            <a:xfrm>
              <a:off x="340" y="1310"/>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57" name="Text Box 24"/>
            <p:cNvSpPr txBox="1">
              <a:spLocks noChangeArrowheads="1"/>
            </p:cNvSpPr>
            <p:nvPr/>
          </p:nvSpPr>
          <p:spPr bwMode="auto">
            <a:xfrm>
              <a:off x="4180" y="1310"/>
              <a:ext cx="1296"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Push(optr,’*’)</a:t>
              </a:r>
            </a:p>
          </p:txBody>
        </p:sp>
      </p:grpSp>
      <p:grpSp>
        <p:nvGrpSpPr>
          <p:cNvPr id="5" name="Group 25"/>
          <p:cNvGrpSpPr/>
          <p:nvPr/>
        </p:nvGrpSpPr>
        <p:grpSpPr>
          <a:xfrm>
            <a:off x="501650" y="2535238"/>
            <a:ext cx="8153400" cy="466725"/>
            <a:chOff x="340" y="1598"/>
            <a:chExt cx="5136" cy="294"/>
          </a:xfrm>
        </p:grpSpPr>
        <p:sp>
          <p:nvSpPr>
            <p:cNvPr id="138259" name="Text Box 26"/>
            <p:cNvSpPr txBox="1">
              <a:spLocks noChangeArrowheads="1"/>
            </p:cNvSpPr>
            <p:nvPr/>
          </p:nvSpPr>
          <p:spPr bwMode="auto">
            <a:xfrm>
              <a:off x="340" y="1598"/>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60" name="Text Box 27"/>
            <p:cNvSpPr txBox="1">
              <a:spLocks noChangeArrowheads="1"/>
            </p:cNvSpPr>
            <p:nvPr/>
          </p:nvSpPr>
          <p:spPr bwMode="auto">
            <a:xfrm>
              <a:off x="1588" y="1598"/>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138261" name="Text Box 28"/>
            <p:cNvSpPr txBox="1">
              <a:spLocks noChangeArrowheads="1"/>
            </p:cNvSpPr>
            <p:nvPr/>
          </p:nvSpPr>
          <p:spPr bwMode="auto">
            <a:xfrm>
              <a:off x="2884" y="1598"/>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(7-2)#</a:t>
              </a:r>
            </a:p>
          </p:txBody>
        </p:sp>
        <p:sp>
          <p:nvSpPr>
            <p:cNvPr id="138262" name="Text Box 29"/>
            <p:cNvSpPr txBox="1">
              <a:spLocks noChangeArrowheads="1"/>
            </p:cNvSpPr>
            <p:nvPr/>
          </p:nvSpPr>
          <p:spPr bwMode="auto">
            <a:xfrm>
              <a:off x="4180" y="1598"/>
              <a:ext cx="1296"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Push(optr,’(’)</a:t>
              </a:r>
            </a:p>
          </p:txBody>
        </p:sp>
      </p:grpSp>
      <p:grpSp>
        <p:nvGrpSpPr>
          <p:cNvPr id="6" name="Group 30"/>
          <p:cNvGrpSpPr/>
          <p:nvPr/>
        </p:nvGrpSpPr>
        <p:grpSpPr>
          <a:xfrm>
            <a:off x="501650" y="2992438"/>
            <a:ext cx="8153400" cy="466725"/>
            <a:chOff x="340" y="1886"/>
            <a:chExt cx="5136" cy="294"/>
          </a:xfrm>
        </p:grpSpPr>
        <p:sp>
          <p:nvSpPr>
            <p:cNvPr id="138264" name="Text Box 31"/>
            <p:cNvSpPr txBox="1">
              <a:spLocks noChangeArrowheads="1"/>
            </p:cNvSpPr>
            <p:nvPr/>
          </p:nvSpPr>
          <p:spPr bwMode="auto">
            <a:xfrm>
              <a:off x="340" y="1886"/>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65" name="Text Box 32"/>
            <p:cNvSpPr txBox="1">
              <a:spLocks noChangeArrowheads="1"/>
            </p:cNvSpPr>
            <p:nvPr/>
          </p:nvSpPr>
          <p:spPr bwMode="auto">
            <a:xfrm>
              <a:off x="1588" y="1886"/>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3</a:t>
              </a:r>
            </a:p>
          </p:txBody>
        </p:sp>
        <p:sp>
          <p:nvSpPr>
            <p:cNvPr id="138266" name="Text Box 33"/>
            <p:cNvSpPr txBox="1">
              <a:spLocks noChangeArrowheads="1"/>
            </p:cNvSpPr>
            <p:nvPr/>
          </p:nvSpPr>
          <p:spPr bwMode="auto">
            <a:xfrm>
              <a:off x="2884" y="1886"/>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7-2)#</a:t>
              </a:r>
            </a:p>
          </p:txBody>
        </p:sp>
        <p:sp>
          <p:nvSpPr>
            <p:cNvPr id="138267" name="Text Box 34"/>
            <p:cNvSpPr txBox="1">
              <a:spLocks noChangeArrowheads="1"/>
            </p:cNvSpPr>
            <p:nvPr/>
          </p:nvSpPr>
          <p:spPr bwMode="auto">
            <a:xfrm>
              <a:off x="4180" y="1886"/>
              <a:ext cx="1296"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Push(opnd,’7’)</a:t>
              </a:r>
            </a:p>
          </p:txBody>
        </p:sp>
      </p:grpSp>
      <p:grpSp>
        <p:nvGrpSpPr>
          <p:cNvPr id="7" name="Group 35"/>
          <p:cNvGrpSpPr/>
          <p:nvPr/>
        </p:nvGrpSpPr>
        <p:grpSpPr>
          <a:xfrm>
            <a:off x="501650" y="3449638"/>
            <a:ext cx="8153400" cy="466725"/>
            <a:chOff x="340" y="2174"/>
            <a:chExt cx="5136" cy="294"/>
          </a:xfrm>
        </p:grpSpPr>
        <p:sp>
          <p:nvSpPr>
            <p:cNvPr id="138269" name="Text Box 36"/>
            <p:cNvSpPr txBox="1">
              <a:spLocks noChangeArrowheads="1"/>
            </p:cNvSpPr>
            <p:nvPr/>
          </p:nvSpPr>
          <p:spPr bwMode="auto">
            <a:xfrm>
              <a:off x="340" y="2174"/>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70" name="Text Box 37"/>
            <p:cNvSpPr txBox="1">
              <a:spLocks noChangeArrowheads="1"/>
            </p:cNvSpPr>
            <p:nvPr/>
          </p:nvSpPr>
          <p:spPr bwMode="auto">
            <a:xfrm>
              <a:off x="1588" y="2174"/>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3,7</a:t>
              </a:r>
            </a:p>
          </p:txBody>
        </p:sp>
        <p:sp>
          <p:nvSpPr>
            <p:cNvPr id="138271" name="Text Box 38"/>
            <p:cNvSpPr txBox="1">
              <a:spLocks noChangeArrowheads="1"/>
            </p:cNvSpPr>
            <p:nvPr/>
          </p:nvSpPr>
          <p:spPr bwMode="auto">
            <a:xfrm>
              <a:off x="2884" y="2174"/>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8272" name="Text Box 39"/>
            <p:cNvSpPr txBox="1">
              <a:spLocks noChangeArrowheads="1"/>
            </p:cNvSpPr>
            <p:nvPr/>
          </p:nvSpPr>
          <p:spPr bwMode="auto">
            <a:xfrm>
              <a:off x="4180" y="2174"/>
              <a:ext cx="1296"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Push(optr,’-’)</a:t>
              </a:r>
            </a:p>
          </p:txBody>
        </p:sp>
      </p:grpSp>
      <p:grpSp>
        <p:nvGrpSpPr>
          <p:cNvPr id="8" name="Group 40"/>
          <p:cNvGrpSpPr/>
          <p:nvPr/>
        </p:nvGrpSpPr>
        <p:grpSpPr>
          <a:xfrm>
            <a:off x="501650" y="3906838"/>
            <a:ext cx="8153400" cy="466725"/>
            <a:chOff x="340" y="2462"/>
            <a:chExt cx="5136" cy="294"/>
          </a:xfrm>
        </p:grpSpPr>
        <p:sp>
          <p:nvSpPr>
            <p:cNvPr id="138274" name="Text Box 41"/>
            <p:cNvSpPr txBox="1">
              <a:spLocks noChangeArrowheads="1"/>
            </p:cNvSpPr>
            <p:nvPr/>
          </p:nvSpPr>
          <p:spPr bwMode="auto">
            <a:xfrm>
              <a:off x="340" y="2462"/>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75" name="Text Box 42"/>
            <p:cNvSpPr txBox="1">
              <a:spLocks noChangeArrowheads="1"/>
            </p:cNvSpPr>
            <p:nvPr/>
          </p:nvSpPr>
          <p:spPr bwMode="auto">
            <a:xfrm>
              <a:off x="1588" y="2462"/>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3,7</a:t>
              </a:r>
            </a:p>
          </p:txBody>
        </p:sp>
        <p:sp>
          <p:nvSpPr>
            <p:cNvPr id="138276" name="Text Box 43"/>
            <p:cNvSpPr txBox="1">
              <a:spLocks noChangeArrowheads="1"/>
            </p:cNvSpPr>
            <p:nvPr/>
          </p:nvSpPr>
          <p:spPr bwMode="auto">
            <a:xfrm>
              <a:off x="2884" y="2462"/>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8277" name="Text Box 44"/>
            <p:cNvSpPr txBox="1">
              <a:spLocks noChangeArrowheads="1"/>
            </p:cNvSpPr>
            <p:nvPr/>
          </p:nvSpPr>
          <p:spPr bwMode="auto">
            <a:xfrm>
              <a:off x="4180" y="2462"/>
              <a:ext cx="1296"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Push(opnd,’2’)</a:t>
              </a:r>
            </a:p>
          </p:txBody>
        </p:sp>
      </p:grpSp>
      <p:grpSp>
        <p:nvGrpSpPr>
          <p:cNvPr id="9" name="Group 45"/>
          <p:cNvGrpSpPr/>
          <p:nvPr/>
        </p:nvGrpSpPr>
        <p:grpSpPr>
          <a:xfrm>
            <a:off x="501650" y="4354513"/>
            <a:ext cx="8153400" cy="476250"/>
            <a:chOff x="340" y="2744"/>
            <a:chExt cx="5136" cy="300"/>
          </a:xfrm>
        </p:grpSpPr>
        <p:sp>
          <p:nvSpPr>
            <p:cNvPr id="138279" name="Text Box 46"/>
            <p:cNvSpPr txBox="1">
              <a:spLocks noChangeArrowheads="1"/>
            </p:cNvSpPr>
            <p:nvPr/>
          </p:nvSpPr>
          <p:spPr bwMode="auto">
            <a:xfrm>
              <a:off x="340" y="2750"/>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r>
                <a:rPr kumimoji="0" lang="zh-CN" altLang="en-US"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80" name="Text Box 47"/>
            <p:cNvSpPr txBox="1">
              <a:spLocks noChangeArrowheads="1"/>
            </p:cNvSpPr>
            <p:nvPr/>
          </p:nvSpPr>
          <p:spPr bwMode="auto">
            <a:xfrm>
              <a:off x="1588" y="2750"/>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3,7,2</a:t>
              </a:r>
            </a:p>
          </p:txBody>
        </p:sp>
        <p:sp>
          <p:nvSpPr>
            <p:cNvPr id="138281" name="Text Box 48"/>
            <p:cNvSpPr txBox="1">
              <a:spLocks noChangeArrowheads="1"/>
            </p:cNvSpPr>
            <p:nvPr/>
          </p:nvSpPr>
          <p:spPr bwMode="auto">
            <a:xfrm>
              <a:off x="2884" y="2744"/>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82" name="Text Box 49"/>
            <p:cNvSpPr txBox="1">
              <a:spLocks noChangeArrowheads="1"/>
            </p:cNvSpPr>
            <p:nvPr/>
          </p:nvSpPr>
          <p:spPr bwMode="auto">
            <a:xfrm>
              <a:off x="4180" y="2750"/>
              <a:ext cx="1296"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Operate(7-2)</a:t>
              </a:r>
            </a:p>
          </p:txBody>
        </p:sp>
      </p:grpSp>
      <p:grpSp>
        <p:nvGrpSpPr>
          <p:cNvPr id="10" name="Group 50"/>
          <p:cNvGrpSpPr/>
          <p:nvPr/>
        </p:nvGrpSpPr>
        <p:grpSpPr>
          <a:xfrm>
            <a:off x="501650" y="4821238"/>
            <a:ext cx="8153400" cy="466725"/>
            <a:chOff x="340" y="3038"/>
            <a:chExt cx="5136" cy="294"/>
          </a:xfrm>
        </p:grpSpPr>
        <p:sp>
          <p:nvSpPr>
            <p:cNvPr id="138284" name="Text Box 51"/>
            <p:cNvSpPr txBox="1">
              <a:spLocks noChangeArrowheads="1"/>
            </p:cNvSpPr>
            <p:nvPr/>
          </p:nvSpPr>
          <p:spPr bwMode="auto">
            <a:xfrm>
              <a:off x="340" y="3038"/>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85" name="Text Box 52"/>
            <p:cNvSpPr txBox="1">
              <a:spLocks noChangeArrowheads="1"/>
            </p:cNvSpPr>
            <p:nvPr/>
          </p:nvSpPr>
          <p:spPr bwMode="auto">
            <a:xfrm>
              <a:off x="1588" y="3038"/>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3,5</a:t>
              </a:r>
            </a:p>
          </p:txBody>
        </p:sp>
        <p:sp>
          <p:nvSpPr>
            <p:cNvPr id="138286" name="Text Box 53"/>
            <p:cNvSpPr txBox="1">
              <a:spLocks noChangeArrowheads="1"/>
            </p:cNvSpPr>
            <p:nvPr/>
          </p:nvSpPr>
          <p:spPr bwMode="auto">
            <a:xfrm>
              <a:off x="2884" y="3038"/>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87" name="Text Box 54"/>
            <p:cNvSpPr txBox="1">
              <a:spLocks noChangeArrowheads="1"/>
            </p:cNvSpPr>
            <p:nvPr/>
          </p:nvSpPr>
          <p:spPr bwMode="auto">
            <a:xfrm>
              <a:off x="4180" y="3038"/>
              <a:ext cx="1296"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Pop(optr)</a:t>
              </a:r>
            </a:p>
          </p:txBody>
        </p:sp>
      </p:grpSp>
      <p:grpSp>
        <p:nvGrpSpPr>
          <p:cNvPr id="11" name="Group 55"/>
          <p:cNvGrpSpPr/>
          <p:nvPr/>
        </p:nvGrpSpPr>
        <p:grpSpPr>
          <a:xfrm>
            <a:off x="501650" y="5278438"/>
            <a:ext cx="8153400" cy="466725"/>
            <a:chOff x="340" y="3326"/>
            <a:chExt cx="5136" cy="294"/>
          </a:xfrm>
        </p:grpSpPr>
        <p:sp>
          <p:nvSpPr>
            <p:cNvPr id="138289" name="Text Box 56"/>
            <p:cNvSpPr txBox="1">
              <a:spLocks noChangeArrowheads="1"/>
            </p:cNvSpPr>
            <p:nvPr/>
          </p:nvSpPr>
          <p:spPr bwMode="auto">
            <a:xfrm>
              <a:off x="340" y="3326"/>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90" name="Text Box 57"/>
            <p:cNvSpPr txBox="1">
              <a:spLocks noChangeArrowheads="1"/>
            </p:cNvSpPr>
            <p:nvPr/>
          </p:nvSpPr>
          <p:spPr bwMode="auto">
            <a:xfrm>
              <a:off x="1588" y="3326"/>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3,5</a:t>
              </a:r>
            </a:p>
          </p:txBody>
        </p:sp>
        <p:sp>
          <p:nvSpPr>
            <p:cNvPr id="138291" name="Text Box 58"/>
            <p:cNvSpPr txBox="1">
              <a:spLocks noChangeArrowheads="1"/>
            </p:cNvSpPr>
            <p:nvPr/>
          </p:nvSpPr>
          <p:spPr bwMode="auto">
            <a:xfrm>
              <a:off x="2884" y="3326"/>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92" name="Text Box 59"/>
            <p:cNvSpPr txBox="1">
              <a:spLocks noChangeArrowheads="1"/>
            </p:cNvSpPr>
            <p:nvPr/>
          </p:nvSpPr>
          <p:spPr bwMode="auto">
            <a:xfrm>
              <a:off x="4180" y="3326"/>
              <a:ext cx="1296"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Operate(3*5)</a:t>
              </a:r>
            </a:p>
          </p:txBody>
        </p:sp>
      </p:grpSp>
      <p:grpSp>
        <p:nvGrpSpPr>
          <p:cNvPr id="12" name="Group 60"/>
          <p:cNvGrpSpPr/>
          <p:nvPr/>
        </p:nvGrpSpPr>
        <p:grpSpPr>
          <a:xfrm>
            <a:off x="501650" y="5735638"/>
            <a:ext cx="8153400" cy="466725"/>
            <a:chOff x="340" y="3614"/>
            <a:chExt cx="5136" cy="294"/>
          </a:xfrm>
        </p:grpSpPr>
        <p:sp>
          <p:nvSpPr>
            <p:cNvPr id="138294" name="Text Box 61"/>
            <p:cNvSpPr txBox="1">
              <a:spLocks noChangeArrowheads="1"/>
            </p:cNvSpPr>
            <p:nvPr/>
          </p:nvSpPr>
          <p:spPr bwMode="auto">
            <a:xfrm>
              <a:off x="340" y="3614"/>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95" name="Text Box 62"/>
            <p:cNvSpPr txBox="1">
              <a:spLocks noChangeArrowheads="1"/>
            </p:cNvSpPr>
            <p:nvPr/>
          </p:nvSpPr>
          <p:spPr bwMode="auto">
            <a:xfrm>
              <a:off x="1588" y="3614"/>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15</a:t>
              </a:r>
            </a:p>
          </p:txBody>
        </p:sp>
        <p:sp>
          <p:nvSpPr>
            <p:cNvPr id="138296" name="Text Box 63"/>
            <p:cNvSpPr txBox="1">
              <a:spLocks noChangeArrowheads="1"/>
            </p:cNvSpPr>
            <p:nvPr/>
          </p:nvSpPr>
          <p:spPr bwMode="auto">
            <a:xfrm>
              <a:off x="2884" y="3614"/>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97" name="Text Box 64"/>
            <p:cNvSpPr txBox="1">
              <a:spLocks noChangeArrowheads="1"/>
            </p:cNvSpPr>
            <p:nvPr/>
          </p:nvSpPr>
          <p:spPr bwMode="auto">
            <a:xfrm>
              <a:off x="4180" y="3614"/>
              <a:ext cx="1296"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GetTop(opnd)</a:t>
              </a:r>
            </a:p>
          </p:txBody>
        </p:sp>
      </p:grpSp>
      <p:sp>
        <p:nvSpPr>
          <p:cNvPr id="59" name="Shape 26"/>
          <p:cNvSpPr/>
          <p:nvPr/>
        </p:nvSpPr>
        <p:spPr>
          <a:xfrm flipH="1">
            <a:off x="0" y="6381750"/>
            <a:ext cx="9140825" cy="4762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3" name="Rectangle 154"/>
          <p:cNvSpPr txBox="1"/>
          <p:nvPr>
            <p:custDataLst>
              <p:tags r:id="rId1"/>
            </p:custDataLst>
          </p:nvPr>
        </p:nvSpPr>
        <p:spPr>
          <a:xfrm>
            <a:off x="827088" y="163513"/>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案例</a:t>
            </a:r>
            <a:r>
              <a:rPr lang="en-US" altLang="zh-CN" sz="2800" dirty="0">
                <a:solidFill>
                  <a:schemeClr val="bg1"/>
                </a:solidFill>
                <a:sym typeface="+mn-lt"/>
              </a:rPr>
              <a:t>3.3 </a:t>
            </a:r>
            <a:r>
              <a:rPr lang="zh-CN" altLang="en-US" sz="2800" dirty="0">
                <a:solidFill>
                  <a:schemeClr val="bg1"/>
                </a:solidFill>
                <a:sym typeface="+mn-lt"/>
              </a:rPr>
              <a:t>：表达式求值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 name="矩形: 圆角 26"/>
          <p:cNvSpPr/>
          <p:nvPr/>
        </p:nvSpPr>
        <p:spPr bwMode="auto">
          <a:xfrm>
            <a:off x="-1" y="2982214"/>
            <a:ext cx="9140825" cy="609600"/>
          </a:xfrm>
          <a:prstGeom prst="roundRect">
            <a:avLst>
              <a:gd name="adj" fmla="val 8509"/>
            </a:avLst>
          </a:prstGeom>
          <a:solidFill>
            <a:srgbClr val="EAEAEA"/>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9" name="Shape 26"/>
          <p:cNvSpPr/>
          <p:nvPr/>
        </p:nvSpPr>
        <p:spPr>
          <a:xfrm flipH="1">
            <a:off x="0" y="6381750"/>
            <a:ext cx="9140825" cy="4762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52590" name="Rectangle 154"/>
          <p:cNvSpPr txBox="1"/>
          <p:nvPr/>
        </p:nvSpPr>
        <p:spPr>
          <a:xfrm>
            <a:off x="827404" y="163830"/>
            <a:ext cx="8497124"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将中缀表达式转换成前缀、后缀表达式</a:t>
            </a:r>
            <a:r>
              <a:rPr lang="zh-CN" altLang="en-US" dirty="0">
                <a:solidFill>
                  <a:schemeClr val="bg1"/>
                </a:solidFill>
                <a:sym typeface="+mn-lt"/>
              </a:rPr>
              <a:t>（手工方法）</a:t>
            </a:r>
          </a:p>
        </p:txBody>
      </p:sp>
      <p:sp>
        <p:nvSpPr>
          <p:cNvPr id="12" name="Rectangle 5"/>
          <p:cNvSpPr>
            <a:spLocks noChangeArrowheads="1"/>
          </p:cNvSpPr>
          <p:nvPr/>
        </p:nvSpPr>
        <p:spPr bwMode="auto">
          <a:xfrm>
            <a:off x="2906002" y="924948"/>
            <a:ext cx="3620922" cy="509588"/>
          </a:xfrm>
          <a:prstGeom prst="rect">
            <a:avLst/>
          </a:prstGeom>
          <a:solidFill>
            <a:srgbClr val="A78DC2"/>
          </a:solidFill>
          <a:ln>
            <a:noFill/>
          </a:ln>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lang="zh-CN" altLang="en-US" b="0" dirty="0">
                <a:latin typeface="+mn-lt"/>
                <a:ea typeface="+mn-ea"/>
                <a:cs typeface="+mn-ea"/>
                <a:sym typeface="+mn-lt"/>
              </a:rPr>
              <a:t>中缀：</a:t>
            </a:r>
            <a:r>
              <a:rPr kumimoji="0" lang="pt-BR" altLang="zh-CN" b="0" i="0" u="none" strike="noStrike" kern="1200" cap="none" spc="0" normalizeH="0" baseline="0" noProof="0" dirty="0">
                <a:ln>
                  <a:noFill/>
                </a:ln>
                <a:effectLst/>
                <a:uLnTx/>
                <a:uFillTx/>
                <a:latin typeface="+mn-lt"/>
                <a:ea typeface="+mn-ea"/>
                <a:cs typeface="+mn-ea"/>
                <a:sym typeface="+mn-lt"/>
              </a:rPr>
              <a:t>a+b*c-(d+e)</a:t>
            </a:r>
            <a:endParaRPr kumimoji="0" lang="en-US" altLang="zh-CN" b="0" i="0" u="none" strike="noStrike" kern="1200" cap="none" spc="0" normalizeH="0" baseline="0" noProof="0" dirty="0">
              <a:ln>
                <a:noFill/>
              </a:ln>
              <a:effectLst/>
              <a:uLnTx/>
              <a:uFillTx/>
              <a:latin typeface="+mn-lt"/>
              <a:ea typeface="+mn-ea"/>
              <a:cs typeface="+mn-ea"/>
              <a:sym typeface="+mn-lt"/>
            </a:endParaRPr>
          </a:p>
        </p:txBody>
      </p:sp>
      <p:sp>
        <p:nvSpPr>
          <p:cNvPr id="15" name="矩形: 圆角 14"/>
          <p:cNvSpPr/>
          <p:nvPr/>
        </p:nvSpPr>
        <p:spPr bwMode="auto">
          <a:xfrm>
            <a:off x="0" y="1655764"/>
            <a:ext cx="9140825" cy="609600"/>
          </a:xfrm>
          <a:prstGeom prst="roundRect">
            <a:avLst>
              <a:gd name="adj" fmla="val 8509"/>
            </a:avLst>
          </a:prstGeom>
          <a:solidFill>
            <a:srgbClr val="EAEAEA"/>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34" name="组合 33"/>
          <p:cNvGrpSpPr/>
          <p:nvPr/>
        </p:nvGrpSpPr>
        <p:grpSpPr>
          <a:xfrm>
            <a:off x="17636" y="1695050"/>
            <a:ext cx="8371353" cy="1183533"/>
            <a:chOff x="17636" y="1695050"/>
            <a:chExt cx="8371353" cy="1183533"/>
          </a:xfrm>
        </p:grpSpPr>
        <p:sp>
          <p:nvSpPr>
            <p:cNvPr id="18" name="Text Box 6"/>
            <p:cNvSpPr txBox="1">
              <a:spLocks noChangeArrowheads="1"/>
            </p:cNvSpPr>
            <p:nvPr/>
          </p:nvSpPr>
          <p:spPr bwMode="auto">
            <a:xfrm>
              <a:off x="17636" y="1695050"/>
              <a:ext cx="83713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按运算符优先级对所有的运算单位加括号</a:t>
              </a:r>
              <a:endParaRPr kumimoji="0" lang="en-US" altLang="zh-CN"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21" name="Rectangle 5"/>
            <p:cNvSpPr>
              <a:spLocks noChangeArrowheads="1"/>
            </p:cNvSpPr>
            <p:nvPr/>
          </p:nvSpPr>
          <p:spPr bwMode="auto">
            <a:xfrm>
              <a:off x="2374428" y="2368995"/>
              <a:ext cx="4845058" cy="509588"/>
            </a:xfrm>
            <a:prstGeom prst="rect">
              <a:avLst/>
            </a:prstGeom>
            <a:solidFill>
              <a:srgbClr val="A78DC2"/>
            </a:solidFill>
            <a:ln>
              <a:noFill/>
            </a:ln>
          </p:spPr>
          <p:txBody>
            <a:bodyPr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中缀加括号：</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((a+(b*c))-(</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d+e</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zh-CN" altLang="en-US"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28" name="矩形: 圆角 27"/>
          <p:cNvSpPr/>
          <p:nvPr/>
        </p:nvSpPr>
        <p:spPr bwMode="auto">
          <a:xfrm>
            <a:off x="-1" y="4423277"/>
            <a:ext cx="9140825" cy="609600"/>
          </a:xfrm>
          <a:prstGeom prst="roundRect">
            <a:avLst>
              <a:gd name="adj" fmla="val 8509"/>
            </a:avLst>
          </a:prstGeom>
          <a:solidFill>
            <a:srgbClr val="EAEAEA"/>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32" name="组合 31"/>
          <p:cNvGrpSpPr/>
          <p:nvPr/>
        </p:nvGrpSpPr>
        <p:grpSpPr>
          <a:xfrm>
            <a:off x="-1" y="3034992"/>
            <a:ext cx="7771445" cy="1192464"/>
            <a:chOff x="-1" y="3034992"/>
            <a:chExt cx="7771445" cy="1192464"/>
          </a:xfrm>
        </p:grpSpPr>
        <p:sp>
          <p:nvSpPr>
            <p:cNvPr id="22" name="Text Box 6"/>
            <p:cNvSpPr txBox="1">
              <a:spLocks noChangeArrowheads="1"/>
            </p:cNvSpPr>
            <p:nvPr/>
          </p:nvSpPr>
          <p:spPr bwMode="auto">
            <a:xfrm>
              <a:off x="-1" y="3034992"/>
              <a:ext cx="7558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把运算符号移动到对应的括号前面，然后去括号</a:t>
              </a:r>
              <a:endParaRPr kumimoji="0" lang="en-US" altLang="zh-CN"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23" name="Rectangle 5"/>
            <p:cNvSpPr>
              <a:spLocks noChangeArrowheads="1"/>
            </p:cNvSpPr>
            <p:nvPr/>
          </p:nvSpPr>
          <p:spPr bwMode="auto">
            <a:xfrm>
              <a:off x="879598" y="3717868"/>
              <a:ext cx="2989660" cy="509588"/>
            </a:xfrm>
            <a:prstGeom prst="rect">
              <a:avLst/>
            </a:prstGeom>
            <a:solidFill>
              <a:srgbClr val="A78DC2"/>
            </a:solidFill>
            <a:ln>
              <a:noFill/>
            </a:ln>
          </p:spPr>
          <p:txBody>
            <a:bodyPr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bc</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+(de))</a:t>
              </a:r>
              <a:endPar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24" name="Rectangle 5"/>
            <p:cNvSpPr>
              <a:spLocks noChangeArrowheads="1"/>
            </p:cNvSpPr>
            <p:nvPr/>
          </p:nvSpPr>
          <p:spPr bwMode="auto">
            <a:xfrm>
              <a:off x="4622106" y="3717868"/>
              <a:ext cx="3149338" cy="509588"/>
            </a:xfrm>
            <a:prstGeom prst="rect">
              <a:avLst/>
            </a:prstGeom>
            <a:solidFill>
              <a:srgbClr val="A78DC2"/>
            </a:solidFill>
            <a:ln>
              <a:noFill/>
            </a:ln>
          </p:spPr>
          <p:txBody>
            <a:bodyPr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前缀：</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bc+de</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en-US"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30" name="箭头: 右 29"/>
            <p:cNvSpPr/>
            <p:nvPr/>
          </p:nvSpPr>
          <p:spPr bwMode="auto">
            <a:xfrm>
              <a:off x="4023322" y="3818359"/>
              <a:ext cx="504056" cy="280184"/>
            </a:xfrm>
            <a:prstGeom prst="rightArrow">
              <a:avLst/>
            </a:prstGeom>
            <a:solidFill>
              <a:srgbClr val="0070C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rgbClr val="05B8CA"/>
                </a:solidFill>
                <a:effectLst/>
                <a:latin typeface="Times New Roman" panose="02020603050405020304" pitchFamily="18" charset="0"/>
                <a:ea typeface="仿宋_GB2312" pitchFamily="49" charset="-122"/>
              </a:endParaRPr>
            </a:p>
          </p:txBody>
        </p:sp>
      </p:grpSp>
      <p:grpSp>
        <p:nvGrpSpPr>
          <p:cNvPr id="33" name="组合 32"/>
          <p:cNvGrpSpPr/>
          <p:nvPr/>
        </p:nvGrpSpPr>
        <p:grpSpPr>
          <a:xfrm>
            <a:off x="-1" y="4476055"/>
            <a:ext cx="7611767" cy="1213927"/>
            <a:chOff x="-1" y="4476055"/>
            <a:chExt cx="7611767" cy="1213927"/>
          </a:xfrm>
        </p:grpSpPr>
        <p:sp>
          <p:nvSpPr>
            <p:cNvPr id="25" name="Rectangle 5"/>
            <p:cNvSpPr>
              <a:spLocks noChangeArrowheads="1"/>
            </p:cNvSpPr>
            <p:nvPr/>
          </p:nvSpPr>
          <p:spPr bwMode="auto">
            <a:xfrm>
              <a:off x="909281" y="5180394"/>
              <a:ext cx="2989660" cy="509588"/>
            </a:xfrm>
            <a:prstGeom prst="rect">
              <a:avLst/>
            </a:prstGeom>
            <a:solidFill>
              <a:srgbClr val="A78DC2"/>
            </a:solidFill>
            <a:ln>
              <a:noFill/>
            </a:ln>
          </p:spPr>
          <p:txBody>
            <a:bodyPr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((a(</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bc</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 )- (de)+ )-</a:t>
              </a:r>
              <a:endParaRPr kumimoji="0" lang="zh-CN" altLang="en-US"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26" name="Rectangle 5"/>
            <p:cNvSpPr>
              <a:spLocks noChangeArrowheads="1"/>
            </p:cNvSpPr>
            <p:nvPr/>
          </p:nvSpPr>
          <p:spPr bwMode="auto">
            <a:xfrm>
              <a:off x="4622106" y="5158931"/>
              <a:ext cx="2989660" cy="509588"/>
            </a:xfrm>
            <a:prstGeom prst="rect">
              <a:avLst/>
            </a:prstGeom>
            <a:solidFill>
              <a:srgbClr val="A78DC2"/>
            </a:solidFill>
            <a:ln>
              <a:noFill/>
            </a:ln>
          </p:spPr>
          <p:txBody>
            <a:bodyPr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lang="zh-CN" altLang="en-US" b="0" dirty="0">
                  <a:latin typeface="+mn-lt"/>
                  <a:ea typeface="+mn-ea"/>
                  <a:cs typeface="+mn-ea"/>
                  <a:sym typeface="+mn-lt"/>
                </a:rPr>
                <a:t>后缀：</a:t>
              </a:r>
              <a:r>
                <a:rPr kumimoji="0" lang="en-US" altLang="zh-CN" b="0" i="0" u="none" strike="noStrike" kern="1200" cap="none" spc="0" normalizeH="0" baseline="0" noProof="0" dirty="0" err="1">
                  <a:ln>
                    <a:noFill/>
                  </a:ln>
                  <a:solidFill>
                    <a:schemeClr val="tx1"/>
                  </a:solidFill>
                  <a:effectLst/>
                  <a:uLnTx/>
                  <a:uFillTx/>
                  <a:latin typeface="+mn-lt"/>
                  <a:ea typeface="+mn-ea"/>
                  <a:cs typeface="+mn-ea"/>
                  <a:sym typeface="+mn-lt"/>
                </a:rPr>
                <a:t>abc</a:t>
              </a:r>
              <a:r>
                <a:rPr kumimoji="0" lang="en-US" altLang="zh-CN" b="0" i="0" u="none" strike="noStrike" kern="1200" cap="none" spc="0" normalizeH="0" baseline="0" noProof="0" dirty="0">
                  <a:ln>
                    <a:noFill/>
                  </a:ln>
                  <a:solidFill>
                    <a:schemeClr val="tx1"/>
                  </a:solidFill>
                  <a:effectLst/>
                  <a:uLnTx/>
                  <a:uFillTx/>
                  <a:latin typeface="+mn-lt"/>
                  <a:ea typeface="+mn-ea"/>
                  <a:cs typeface="+mn-ea"/>
                  <a:sym typeface="+mn-lt"/>
                </a:rPr>
                <a:t>*-de+- </a:t>
              </a:r>
              <a:endParaRPr kumimoji="0" lang="zh-CN" altLang="en-US"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29" name="Text Box 6"/>
            <p:cNvSpPr txBox="1">
              <a:spLocks noChangeArrowheads="1"/>
            </p:cNvSpPr>
            <p:nvPr/>
          </p:nvSpPr>
          <p:spPr bwMode="auto">
            <a:xfrm>
              <a:off x="-1" y="4476055"/>
              <a:ext cx="7558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把运算符号移动到对应的括号后面，然后去括号</a:t>
              </a:r>
              <a:endParaRPr kumimoji="0" lang="en-US" altLang="zh-CN"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31" name="箭头: 右 30"/>
            <p:cNvSpPr/>
            <p:nvPr/>
          </p:nvSpPr>
          <p:spPr bwMode="auto">
            <a:xfrm>
              <a:off x="4023322" y="5273633"/>
              <a:ext cx="504056" cy="280184"/>
            </a:xfrm>
            <a:prstGeom prst="rightArrow">
              <a:avLst/>
            </a:prstGeom>
            <a:solidFill>
              <a:srgbClr val="0070C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rgbClr val="05B8CA"/>
                </a:solidFill>
                <a:effectLst/>
                <a:latin typeface="Times New Roman" panose="02020603050405020304" pitchFamily="18" charset="0"/>
                <a:ea typeface="仿宋_GB2312"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1000"/>
                                        <p:tgtEl>
                                          <p:spTgt spid="32"/>
                                        </p:tgtEl>
                                      </p:cBhvr>
                                    </p:animEffect>
                                    <p:anim calcmode="lin" valueType="num">
                                      <p:cBhvr>
                                        <p:cTn id="15" dur="1000" fill="hold"/>
                                        <p:tgtEl>
                                          <p:spTgt spid="32"/>
                                        </p:tgtEl>
                                        <p:attrNameLst>
                                          <p:attrName>ppt_x</p:attrName>
                                        </p:attrNameLst>
                                      </p:cBhvr>
                                      <p:tavLst>
                                        <p:tav tm="0">
                                          <p:val>
                                            <p:strVal val="#ppt_x"/>
                                          </p:val>
                                        </p:tav>
                                        <p:tav tm="100000">
                                          <p:val>
                                            <p:strVal val="#ppt_x"/>
                                          </p:val>
                                        </p:tav>
                                      </p:tavLst>
                                    </p:anim>
                                    <p:anim calcmode="lin" valueType="num">
                                      <p:cBhvr>
                                        <p:cTn id="1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1000"/>
                                        <p:tgtEl>
                                          <p:spTgt spid="33"/>
                                        </p:tgtEl>
                                      </p:cBhvr>
                                    </p:animEffect>
                                    <p:anim calcmode="lin" valueType="num">
                                      <p:cBhvr>
                                        <p:cTn id="22" dur="1000" fill="hold"/>
                                        <p:tgtEl>
                                          <p:spTgt spid="33"/>
                                        </p:tgtEl>
                                        <p:attrNameLst>
                                          <p:attrName>ppt_x</p:attrName>
                                        </p:attrNameLst>
                                      </p:cBhvr>
                                      <p:tavLst>
                                        <p:tav tm="0">
                                          <p:val>
                                            <p:strVal val="#ppt_x"/>
                                          </p:val>
                                        </p:tav>
                                        <p:tav tm="100000">
                                          <p:val>
                                            <p:strVal val="#ppt_x"/>
                                          </p:val>
                                        </p:tav>
                                      </p:tavLst>
                                    </p:anim>
                                    <p:anim calcmode="lin" valueType="num">
                                      <p:cBhvr>
                                        <p:cTn id="23"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9" name="Shape 26"/>
          <p:cNvSpPr/>
          <p:nvPr/>
        </p:nvSpPr>
        <p:spPr>
          <a:xfrm flipH="1">
            <a:off x="0" y="6381750"/>
            <a:ext cx="9140825" cy="4762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52590" name="Rectangle 154"/>
          <p:cNvSpPr txBox="1"/>
          <p:nvPr/>
        </p:nvSpPr>
        <p:spPr>
          <a:xfrm>
            <a:off x="827405" y="163830"/>
            <a:ext cx="7417003"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补充：将中缀表达式转换成前缀表达式</a:t>
            </a:r>
          </a:p>
        </p:txBody>
      </p:sp>
      <p:sp>
        <p:nvSpPr>
          <p:cNvPr id="12" name="Rectangle 5"/>
          <p:cNvSpPr>
            <a:spLocks noChangeArrowheads="1"/>
          </p:cNvSpPr>
          <p:nvPr/>
        </p:nvSpPr>
        <p:spPr bwMode="auto">
          <a:xfrm>
            <a:off x="4763" y="823913"/>
            <a:ext cx="2122488" cy="509588"/>
          </a:xfrm>
          <a:prstGeom prst="rect">
            <a:avLst/>
          </a:prstGeom>
          <a:solidFill>
            <a:srgbClr val="A78DC2"/>
          </a:solidFill>
          <a:ln>
            <a:noFill/>
          </a:ln>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13" name="Rectangle 6"/>
          <p:cNvSpPr>
            <a:spLocks noChangeArrowheads="1"/>
          </p:cNvSpPr>
          <p:nvPr/>
        </p:nvSpPr>
        <p:spPr bwMode="auto">
          <a:xfrm>
            <a:off x="-26956" y="1387590"/>
            <a:ext cx="9034463" cy="4963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54000">
              <a:defRPr sz="2400" b="1">
                <a:solidFill>
                  <a:schemeClr val="tx1"/>
                </a:solidFill>
                <a:latin typeface="Times New Roman" panose="02020603050405020304" pitchFamily="18" charset="0"/>
                <a:ea typeface="楷体_GB2312" pitchFamily="49" charset="-122"/>
              </a:defRPr>
            </a:lvl1pPr>
            <a:lvl2pPr indent="254000">
              <a:defRPr sz="2400" b="1">
                <a:solidFill>
                  <a:schemeClr val="tx1"/>
                </a:solidFill>
                <a:latin typeface="Times New Roman" panose="02020603050405020304" pitchFamily="18" charset="0"/>
                <a:ea typeface="楷体_GB2312" pitchFamily="49" charset="-122"/>
              </a:defRPr>
            </a:lvl2pPr>
            <a:lvl3pPr indent="254000">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541655" lvl="0" indent="-287655">
              <a:lnSpc>
                <a:spcPct val="125000"/>
              </a:lnSpc>
              <a:spcBef>
                <a:spcPct val="20000"/>
              </a:spcBef>
              <a:defRPr/>
            </a:pPr>
            <a:r>
              <a:rPr lang="en-US" altLang="zh-CN" sz="1600" b="0" dirty="0">
                <a:latin typeface="+mn-lt"/>
                <a:ea typeface="+mn-ea"/>
                <a:cs typeface="+mn-ea"/>
                <a:sym typeface="+mn-lt"/>
              </a:rPr>
              <a:t>(1) </a:t>
            </a:r>
            <a:r>
              <a:rPr lang="zh-CN" altLang="en-US" sz="1600" b="0" dirty="0">
                <a:latin typeface="+mn-lt"/>
                <a:ea typeface="+mn-ea"/>
                <a:cs typeface="+mn-ea"/>
                <a:sym typeface="+mn-lt"/>
              </a:rPr>
              <a:t>初始化两个栈：运算符栈</a:t>
            </a:r>
            <a:r>
              <a:rPr lang="en-US" altLang="zh-CN" sz="1600" b="0" dirty="0">
                <a:latin typeface="+mn-lt"/>
                <a:ea typeface="+mn-ea"/>
                <a:cs typeface="+mn-ea"/>
                <a:sym typeface="+mn-lt"/>
              </a:rPr>
              <a:t>S1</a:t>
            </a:r>
            <a:r>
              <a:rPr lang="zh-CN" altLang="en-US" sz="1600" b="0" dirty="0">
                <a:latin typeface="+mn-lt"/>
                <a:ea typeface="+mn-ea"/>
                <a:cs typeface="+mn-ea"/>
                <a:sym typeface="+mn-lt"/>
              </a:rPr>
              <a:t>和储存中间结果的栈</a:t>
            </a:r>
            <a:r>
              <a:rPr lang="en-US" altLang="zh-CN" sz="1600" b="0" dirty="0">
                <a:latin typeface="+mn-lt"/>
                <a:ea typeface="+mn-ea"/>
                <a:cs typeface="+mn-ea"/>
                <a:sym typeface="+mn-lt"/>
              </a:rPr>
              <a:t>S2</a:t>
            </a:r>
            <a:r>
              <a:rPr lang="zh-CN" altLang="en-US" sz="1600" b="0" dirty="0">
                <a:latin typeface="+mn-lt"/>
                <a:ea typeface="+mn-ea"/>
                <a:cs typeface="+mn-ea"/>
                <a:sym typeface="+mn-lt"/>
              </a:rPr>
              <a:t>。</a:t>
            </a:r>
          </a:p>
          <a:p>
            <a:pPr marL="541655" lvl="0" indent="-287655">
              <a:lnSpc>
                <a:spcPct val="125000"/>
              </a:lnSpc>
              <a:spcBef>
                <a:spcPct val="20000"/>
              </a:spcBef>
              <a:defRPr/>
            </a:pPr>
            <a:r>
              <a:rPr lang="en-US" altLang="zh-CN" sz="1600" b="0" dirty="0">
                <a:latin typeface="+mn-lt"/>
                <a:ea typeface="+mn-ea"/>
                <a:cs typeface="+mn-ea"/>
                <a:sym typeface="+mn-lt"/>
              </a:rPr>
              <a:t>(2) </a:t>
            </a:r>
            <a:r>
              <a:rPr lang="zh-CN" altLang="en-US" sz="1600" b="0" dirty="0">
                <a:latin typeface="+mn-lt"/>
                <a:ea typeface="+mn-ea"/>
                <a:cs typeface="+mn-ea"/>
                <a:sym typeface="+mn-lt"/>
              </a:rPr>
              <a:t>从右至左扫描中缀表达式。</a:t>
            </a:r>
          </a:p>
          <a:p>
            <a:pPr marL="541655" lvl="0" indent="-287655">
              <a:lnSpc>
                <a:spcPct val="125000"/>
              </a:lnSpc>
              <a:spcBef>
                <a:spcPct val="20000"/>
              </a:spcBef>
              <a:defRPr/>
            </a:pPr>
            <a:r>
              <a:rPr lang="en-US" altLang="zh-CN" sz="1600" b="0" dirty="0">
                <a:latin typeface="+mn-lt"/>
                <a:ea typeface="+mn-ea"/>
                <a:cs typeface="+mn-ea"/>
                <a:sym typeface="+mn-lt"/>
              </a:rPr>
              <a:t>(3) </a:t>
            </a:r>
            <a:r>
              <a:rPr lang="zh-CN" altLang="en-US" sz="1600" b="0" dirty="0">
                <a:latin typeface="+mn-lt"/>
                <a:ea typeface="+mn-ea"/>
                <a:cs typeface="+mn-ea"/>
                <a:sym typeface="+mn-lt"/>
              </a:rPr>
              <a:t>遇到操作数时，将其压入</a:t>
            </a:r>
            <a:r>
              <a:rPr lang="en-US" altLang="zh-CN" sz="1600" b="0" dirty="0">
                <a:latin typeface="+mn-lt"/>
                <a:ea typeface="+mn-ea"/>
                <a:cs typeface="+mn-ea"/>
                <a:sym typeface="+mn-lt"/>
              </a:rPr>
              <a:t>S2</a:t>
            </a:r>
            <a:r>
              <a:rPr lang="zh-CN" altLang="en-US" sz="1600" b="0" dirty="0">
                <a:latin typeface="+mn-lt"/>
                <a:ea typeface="+mn-ea"/>
                <a:cs typeface="+mn-ea"/>
                <a:sym typeface="+mn-lt"/>
              </a:rPr>
              <a:t>。</a:t>
            </a:r>
            <a:endParaRPr lang="en-US" altLang="zh-CN" sz="1600" b="0" dirty="0">
              <a:latin typeface="+mn-lt"/>
              <a:ea typeface="+mn-ea"/>
              <a:cs typeface="+mn-ea"/>
              <a:sym typeface="+mn-lt"/>
            </a:endParaRPr>
          </a:p>
          <a:p>
            <a:pPr marL="541655" lvl="0" indent="-287655">
              <a:lnSpc>
                <a:spcPct val="125000"/>
              </a:lnSpc>
              <a:spcBef>
                <a:spcPct val="20000"/>
              </a:spcBef>
              <a:defRPr/>
            </a:pPr>
            <a:r>
              <a:rPr lang="en-US" altLang="zh-CN" sz="1600" b="0" dirty="0">
                <a:latin typeface="+mn-lt"/>
                <a:ea typeface="+mn-ea"/>
                <a:cs typeface="+mn-ea"/>
                <a:sym typeface="+mn-lt"/>
              </a:rPr>
              <a:t>(4) </a:t>
            </a:r>
            <a:r>
              <a:rPr lang="zh-CN" altLang="en-US" sz="1600" b="0" dirty="0">
                <a:latin typeface="+mn-lt"/>
                <a:ea typeface="+mn-ea"/>
                <a:cs typeface="+mn-ea"/>
                <a:sym typeface="+mn-lt"/>
              </a:rPr>
              <a:t>遇到运算符时，比较其与</a:t>
            </a:r>
            <a:r>
              <a:rPr lang="en-US" altLang="zh-CN" sz="1600" b="0" dirty="0">
                <a:latin typeface="+mn-lt"/>
                <a:ea typeface="+mn-ea"/>
                <a:cs typeface="+mn-ea"/>
                <a:sym typeface="+mn-lt"/>
              </a:rPr>
              <a:t>S1</a:t>
            </a:r>
            <a:r>
              <a:rPr lang="zh-CN" altLang="en-US" sz="1600" b="0" dirty="0">
                <a:latin typeface="+mn-lt"/>
                <a:ea typeface="+mn-ea"/>
                <a:cs typeface="+mn-ea"/>
                <a:sym typeface="+mn-lt"/>
              </a:rPr>
              <a:t>栈顶运算符的优先级：</a:t>
            </a:r>
          </a:p>
          <a:p>
            <a:pPr marL="541655" lvl="0" indent="-287655">
              <a:lnSpc>
                <a:spcPct val="125000"/>
              </a:lnSpc>
              <a:spcBef>
                <a:spcPct val="20000"/>
              </a:spcBef>
              <a:buFont typeface="Wingdings" panose="05000000000000000000" pitchFamily="2" charset="2"/>
              <a:buChar char="l"/>
              <a:defRPr/>
            </a:pPr>
            <a:r>
              <a:rPr lang="en-US" altLang="zh-CN" sz="1600" b="0" dirty="0">
                <a:latin typeface="+mn-lt"/>
                <a:ea typeface="+mn-ea"/>
                <a:cs typeface="+mn-ea"/>
                <a:sym typeface="+mn-lt"/>
              </a:rPr>
              <a:t>(4-1) </a:t>
            </a:r>
            <a:r>
              <a:rPr lang="zh-CN" altLang="en-US" sz="1600" b="0" dirty="0">
                <a:latin typeface="+mn-lt"/>
                <a:ea typeface="+mn-ea"/>
                <a:cs typeface="+mn-ea"/>
                <a:sym typeface="+mn-lt"/>
              </a:rPr>
              <a:t>如果</a:t>
            </a:r>
            <a:r>
              <a:rPr lang="en-US" altLang="zh-CN" sz="1600" b="0" dirty="0">
                <a:latin typeface="+mn-lt"/>
                <a:ea typeface="+mn-ea"/>
                <a:cs typeface="+mn-ea"/>
                <a:sym typeface="+mn-lt"/>
              </a:rPr>
              <a:t>S1</a:t>
            </a:r>
            <a:r>
              <a:rPr lang="zh-CN" altLang="en-US" sz="1600" b="0" dirty="0">
                <a:latin typeface="+mn-lt"/>
                <a:ea typeface="+mn-ea"/>
                <a:cs typeface="+mn-ea"/>
                <a:sym typeface="+mn-lt"/>
              </a:rPr>
              <a:t>为空，或栈顶运算符为 “</a:t>
            </a:r>
            <a:r>
              <a:rPr lang="en-US" altLang="zh-CN" sz="1600" b="0" dirty="0">
                <a:latin typeface="+mn-lt"/>
                <a:ea typeface="+mn-ea"/>
                <a:cs typeface="+mn-ea"/>
                <a:sym typeface="+mn-lt"/>
              </a:rPr>
              <a:t>)</a:t>
            </a:r>
            <a:r>
              <a:rPr lang="zh-CN" altLang="en-US" sz="1600" b="0" dirty="0">
                <a:cs typeface="+mn-ea"/>
                <a:sym typeface="+mn-lt"/>
              </a:rPr>
              <a:t>“</a:t>
            </a:r>
            <a:r>
              <a:rPr lang="zh-CN" altLang="en-US" sz="1600" b="0" dirty="0">
                <a:latin typeface="+mn-lt"/>
                <a:ea typeface="+mn-ea"/>
                <a:cs typeface="+mn-ea"/>
                <a:sym typeface="+mn-lt"/>
              </a:rPr>
              <a:t>，则直接将此运算符入栈；</a:t>
            </a:r>
          </a:p>
          <a:p>
            <a:pPr marL="541655" lvl="0" indent="-287655">
              <a:lnSpc>
                <a:spcPct val="125000"/>
              </a:lnSpc>
              <a:spcBef>
                <a:spcPct val="20000"/>
              </a:spcBef>
              <a:buFont typeface="Wingdings" panose="05000000000000000000" pitchFamily="2" charset="2"/>
              <a:buChar char="l"/>
              <a:defRPr/>
            </a:pPr>
            <a:r>
              <a:rPr lang="en-US" altLang="zh-CN" sz="1600" b="0" dirty="0">
                <a:latin typeface="+mn-lt"/>
                <a:ea typeface="+mn-ea"/>
                <a:cs typeface="+mn-ea"/>
                <a:sym typeface="+mn-lt"/>
              </a:rPr>
              <a:t>(4-2) </a:t>
            </a:r>
            <a:r>
              <a:rPr lang="zh-CN" altLang="en-US" sz="1600" b="0" dirty="0">
                <a:latin typeface="+mn-lt"/>
                <a:ea typeface="+mn-ea"/>
                <a:cs typeface="+mn-ea"/>
                <a:sym typeface="+mn-lt"/>
              </a:rPr>
              <a:t>否则，若优先级比栈顶运算符的较高或相等，也将运算符压入</a:t>
            </a:r>
            <a:r>
              <a:rPr lang="en-US" altLang="zh-CN" sz="1600" b="0" dirty="0">
                <a:latin typeface="+mn-lt"/>
                <a:ea typeface="+mn-ea"/>
                <a:cs typeface="+mn-ea"/>
                <a:sym typeface="+mn-lt"/>
              </a:rPr>
              <a:t>S1</a:t>
            </a:r>
            <a:r>
              <a:rPr lang="zh-CN" altLang="en-US" sz="1600" b="0" dirty="0">
                <a:latin typeface="+mn-lt"/>
                <a:ea typeface="+mn-ea"/>
                <a:cs typeface="+mn-ea"/>
                <a:sym typeface="+mn-lt"/>
              </a:rPr>
              <a:t>；</a:t>
            </a:r>
          </a:p>
          <a:p>
            <a:pPr marL="541655" lvl="0" indent="-287655">
              <a:lnSpc>
                <a:spcPct val="125000"/>
              </a:lnSpc>
              <a:spcBef>
                <a:spcPct val="20000"/>
              </a:spcBef>
              <a:buFont typeface="Wingdings" panose="05000000000000000000" pitchFamily="2" charset="2"/>
              <a:buChar char="l"/>
              <a:defRPr/>
            </a:pPr>
            <a:r>
              <a:rPr lang="en-US" altLang="zh-CN" sz="1600" b="0" dirty="0">
                <a:latin typeface="+mn-lt"/>
                <a:ea typeface="+mn-ea"/>
                <a:cs typeface="+mn-ea"/>
                <a:sym typeface="+mn-lt"/>
              </a:rPr>
              <a:t>(4-3) </a:t>
            </a:r>
            <a:r>
              <a:rPr lang="zh-CN" altLang="en-US" sz="1600" b="0" dirty="0">
                <a:latin typeface="+mn-lt"/>
                <a:ea typeface="+mn-ea"/>
                <a:cs typeface="+mn-ea"/>
                <a:sym typeface="+mn-lt"/>
              </a:rPr>
              <a:t>否则，将</a:t>
            </a:r>
            <a:r>
              <a:rPr lang="en-US" altLang="zh-CN" sz="1600" b="0" dirty="0">
                <a:latin typeface="+mn-lt"/>
                <a:ea typeface="+mn-ea"/>
                <a:cs typeface="+mn-ea"/>
                <a:sym typeface="+mn-lt"/>
              </a:rPr>
              <a:t>S1</a:t>
            </a:r>
            <a:r>
              <a:rPr lang="zh-CN" altLang="en-US" sz="1600" b="0" dirty="0">
                <a:latin typeface="+mn-lt"/>
                <a:ea typeface="+mn-ea"/>
                <a:cs typeface="+mn-ea"/>
                <a:sym typeface="+mn-lt"/>
              </a:rPr>
              <a:t>栈顶运算符弹出并压入到</a:t>
            </a:r>
            <a:r>
              <a:rPr lang="en-US" altLang="zh-CN" sz="1600" b="0" dirty="0">
                <a:latin typeface="+mn-lt"/>
                <a:ea typeface="+mn-ea"/>
                <a:cs typeface="+mn-ea"/>
                <a:sym typeface="+mn-lt"/>
              </a:rPr>
              <a:t>S2</a:t>
            </a:r>
            <a:r>
              <a:rPr lang="zh-CN" altLang="en-US" sz="1600" b="0" dirty="0">
                <a:latin typeface="+mn-lt"/>
                <a:ea typeface="+mn-ea"/>
                <a:cs typeface="+mn-ea"/>
                <a:sym typeface="+mn-lt"/>
              </a:rPr>
              <a:t>中，再转到</a:t>
            </a:r>
            <a:r>
              <a:rPr lang="en-US" altLang="zh-CN" sz="1600" b="0" dirty="0">
                <a:latin typeface="+mn-lt"/>
                <a:ea typeface="+mn-ea"/>
                <a:cs typeface="+mn-ea"/>
                <a:sym typeface="+mn-lt"/>
              </a:rPr>
              <a:t>(4-1)</a:t>
            </a:r>
            <a:r>
              <a:rPr lang="zh-CN" altLang="en-US" sz="1600" b="0" dirty="0">
                <a:latin typeface="+mn-lt"/>
                <a:ea typeface="+mn-ea"/>
                <a:cs typeface="+mn-ea"/>
                <a:sym typeface="+mn-lt"/>
              </a:rPr>
              <a:t>与</a:t>
            </a:r>
            <a:r>
              <a:rPr lang="en-US" altLang="zh-CN" sz="1600" b="0" dirty="0">
                <a:latin typeface="+mn-lt"/>
                <a:ea typeface="+mn-ea"/>
                <a:cs typeface="+mn-ea"/>
                <a:sym typeface="+mn-lt"/>
              </a:rPr>
              <a:t>S1</a:t>
            </a:r>
            <a:r>
              <a:rPr lang="zh-CN" altLang="en-US" sz="1600" b="0" dirty="0">
                <a:latin typeface="+mn-lt"/>
                <a:ea typeface="+mn-ea"/>
                <a:cs typeface="+mn-ea"/>
                <a:sym typeface="+mn-lt"/>
              </a:rPr>
              <a:t>中新的栈顶运算符相比较。</a:t>
            </a:r>
          </a:p>
          <a:p>
            <a:pPr marL="541655" lvl="0" indent="-287655">
              <a:lnSpc>
                <a:spcPct val="125000"/>
              </a:lnSpc>
              <a:spcBef>
                <a:spcPct val="20000"/>
              </a:spcBef>
              <a:defRPr/>
            </a:pPr>
            <a:r>
              <a:rPr lang="en-US" altLang="zh-CN" sz="1600" b="0" dirty="0">
                <a:latin typeface="+mn-lt"/>
                <a:ea typeface="+mn-ea"/>
                <a:cs typeface="+mn-ea"/>
                <a:sym typeface="+mn-lt"/>
              </a:rPr>
              <a:t>(5) </a:t>
            </a:r>
            <a:r>
              <a:rPr lang="zh-CN" altLang="en-US" sz="1600" b="0" dirty="0">
                <a:latin typeface="+mn-lt"/>
                <a:ea typeface="+mn-ea"/>
                <a:cs typeface="+mn-ea"/>
                <a:sym typeface="+mn-lt"/>
              </a:rPr>
              <a:t>遇到括号时：</a:t>
            </a:r>
          </a:p>
          <a:p>
            <a:pPr marL="541655" lvl="0" indent="-287655">
              <a:lnSpc>
                <a:spcPct val="125000"/>
              </a:lnSpc>
              <a:spcBef>
                <a:spcPct val="20000"/>
              </a:spcBef>
              <a:buFont typeface="Wingdings" panose="05000000000000000000" pitchFamily="2" charset="2"/>
              <a:buChar char="l"/>
              <a:defRPr/>
            </a:pPr>
            <a:r>
              <a:rPr lang="en-US" altLang="zh-CN" sz="1600" b="0" dirty="0">
                <a:latin typeface="+mn-lt"/>
                <a:ea typeface="+mn-ea"/>
                <a:cs typeface="+mn-ea"/>
                <a:sym typeface="+mn-lt"/>
              </a:rPr>
              <a:t>(5-1) </a:t>
            </a:r>
            <a:r>
              <a:rPr lang="zh-CN" altLang="en-US" sz="1600" b="0" dirty="0">
                <a:latin typeface="+mn-lt"/>
                <a:ea typeface="+mn-ea"/>
                <a:cs typeface="+mn-ea"/>
                <a:sym typeface="+mn-lt"/>
              </a:rPr>
              <a:t>若是 “</a:t>
            </a:r>
            <a:r>
              <a:rPr lang="en-US" altLang="zh-CN" sz="1600" b="0" dirty="0">
                <a:latin typeface="+mn-lt"/>
                <a:ea typeface="+mn-ea"/>
                <a:cs typeface="+mn-ea"/>
                <a:sym typeface="+mn-lt"/>
              </a:rPr>
              <a:t>)</a:t>
            </a:r>
            <a:r>
              <a:rPr lang="zh-CN" altLang="en-US" sz="1600" b="0" dirty="0">
                <a:cs typeface="+mn-ea"/>
                <a:sym typeface="+mn-lt"/>
              </a:rPr>
              <a:t>“</a:t>
            </a:r>
            <a:r>
              <a:rPr lang="zh-CN" altLang="en-US" sz="1600" b="0" dirty="0">
                <a:latin typeface="+mn-lt"/>
                <a:ea typeface="+mn-ea"/>
                <a:cs typeface="+mn-ea"/>
                <a:sym typeface="+mn-lt"/>
              </a:rPr>
              <a:t>，则直接压入</a:t>
            </a:r>
            <a:r>
              <a:rPr lang="en-US" altLang="zh-CN" sz="1600" b="0" dirty="0">
                <a:latin typeface="+mn-lt"/>
                <a:ea typeface="+mn-ea"/>
                <a:cs typeface="+mn-ea"/>
                <a:sym typeface="+mn-lt"/>
              </a:rPr>
              <a:t>S1</a:t>
            </a:r>
            <a:r>
              <a:rPr lang="zh-CN" altLang="en-US" sz="1600" b="0" dirty="0">
                <a:latin typeface="+mn-lt"/>
                <a:ea typeface="+mn-ea"/>
                <a:cs typeface="+mn-ea"/>
                <a:sym typeface="+mn-lt"/>
              </a:rPr>
              <a:t>；</a:t>
            </a:r>
          </a:p>
          <a:p>
            <a:pPr marL="541655" lvl="0" indent="-287655">
              <a:lnSpc>
                <a:spcPct val="125000"/>
              </a:lnSpc>
              <a:spcBef>
                <a:spcPct val="20000"/>
              </a:spcBef>
              <a:buFont typeface="Wingdings" panose="05000000000000000000" pitchFamily="2" charset="2"/>
              <a:buChar char="l"/>
              <a:defRPr/>
            </a:pPr>
            <a:r>
              <a:rPr lang="en-US" altLang="zh-CN" sz="1600" b="0" dirty="0">
                <a:latin typeface="+mn-lt"/>
                <a:ea typeface="+mn-ea"/>
                <a:cs typeface="+mn-ea"/>
                <a:sym typeface="+mn-lt"/>
              </a:rPr>
              <a:t>(5-2) </a:t>
            </a:r>
            <a:r>
              <a:rPr lang="zh-CN" altLang="en-US" sz="1600" b="0" dirty="0">
                <a:latin typeface="+mn-lt"/>
                <a:ea typeface="+mn-ea"/>
                <a:cs typeface="+mn-ea"/>
                <a:sym typeface="+mn-lt"/>
              </a:rPr>
              <a:t>若是 “</a:t>
            </a:r>
            <a:r>
              <a:rPr lang="en-US" altLang="zh-CN" sz="1600" b="0" dirty="0">
                <a:latin typeface="+mn-lt"/>
                <a:ea typeface="+mn-ea"/>
                <a:cs typeface="+mn-ea"/>
                <a:sym typeface="+mn-lt"/>
              </a:rPr>
              <a:t>(</a:t>
            </a:r>
            <a:r>
              <a:rPr lang="zh-CN" altLang="en-US" sz="1600" b="0" dirty="0">
                <a:cs typeface="+mn-ea"/>
                <a:sym typeface="+mn-lt"/>
              </a:rPr>
              <a:t>“</a:t>
            </a:r>
            <a:r>
              <a:rPr lang="zh-CN" altLang="en-US" sz="1600" b="0" dirty="0">
                <a:latin typeface="+mn-lt"/>
                <a:ea typeface="+mn-ea"/>
                <a:cs typeface="+mn-ea"/>
                <a:sym typeface="+mn-lt"/>
              </a:rPr>
              <a:t>，则依次弹出</a:t>
            </a:r>
            <a:r>
              <a:rPr lang="en-US" altLang="zh-CN" sz="1600" b="0" dirty="0">
                <a:latin typeface="+mn-lt"/>
                <a:ea typeface="+mn-ea"/>
                <a:cs typeface="+mn-ea"/>
                <a:sym typeface="+mn-lt"/>
              </a:rPr>
              <a:t>S1</a:t>
            </a:r>
            <a:r>
              <a:rPr lang="zh-CN" altLang="en-US" sz="1600" b="0" dirty="0">
                <a:latin typeface="+mn-lt"/>
                <a:ea typeface="+mn-ea"/>
                <a:cs typeface="+mn-ea"/>
                <a:sym typeface="+mn-lt"/>
              </a:rPr>
              <a:t>栈顶运算符，压入</a:t>
            </a:r>
            <a:r>
              <a:rPr lang="en-US" altLang="zh-CN" sz="1600" b="0" dirty="0">
                <a:latin typeface="+mn-lt"/>
                <a:ea typeface="+mn-ea"/>
                <a:cs typeface="+mn-ea"/>
                <a:sym typeface="+mn-lt"/>
              </a:rPr>
              <a:t>S2</a:t>
            </a:r>
            <a:r>
              <a:rPr lang="zh-CN" altLang="en-US" sz="1600" b="0" dirty="0">
                <a:latin typeface="+mn-lt"/>
                <a:ea typeface="+mn-ea"/>
                <a:cs typeface="+mn-ea"/>
                <a:sym typeface="+mn-lt"/>
              </a:rPr>
              <a:t>，直到遇到</a:t>
            </a:r>
            <a:r>
              <a:rPr lang="zh-CN" altLang="en-US" sz="1600" b="0" dirty="0">
                <a:cs typeface="+mn-ea"/>
                <a:sym typeface="+mn-lt"/>
              </a:rPr>
              <a:t>“</a:t>
            </a:r>
            <a:r>
              <a:rPr lang="en-US" altLang="zh-CN" sz="1600" b="0" dirty="0">
                <a:cs typeface="+mn-ea"/>
                <a:sym typeface="+mn-lt"/>
              </a:rPr>
              <a:t>)</a:t>
            </a:r>
            <a:r>
              <a:rPr lang="zh-CN" altLang="en-US" sz="1600" b="0" dirty="0">
                <a:cs typeface="+mn-ea"/>
                <a:sym typeface="+mn-lt"/>
              </a:rPr>
              <a:t>“</a:t>
            </a:r>
            <a:r>
              <a:rPr lang="zh-CN" altLang="en-US" sz="1600" b="0" dirty="0">
                <a:latin typeface="+mn-lt"/>
                <a:ea typeface="+mn-ea"/>
                <a:cs typeface="+mn-ea"/>
                <a:sym typeface="+mn-lt"/>
              </a:rPr>
              <a:t>为止，即这一对括号丢弃。</a:t>
            </a:r>
            <a:endParaRPr lang="en-US" altLang="zh-CN" sz="1600" b="0" dirty="0">
              <a:latin typeface="+mn-lt"/>
              <a:ea typeface="+mn-ea"/>
              <a:cs typeface="+mn-ea"/>
              <a:sym typeface="+mn-lt"/>
            </a:endParaRPr>
          </a:p>
          <a:p>
            <a:pPr marL="541655" lvl="0" indent="-287655">
              <a:lnSpc>
                <a:spcPct val="125000"/>
              </a:lnSpc>
              <a:spcBef>
                <a:spcPct val="20000"/>
              </a:spcBef>
              <a:buFont typeface="Wingdings" panose="05000000000000000000" pitchFamily="2" charset="2"/>
              <a:buChar char="l"/>
              <a:defRPr/>
            </a:pPr>
            <a:r>
              <a:rPr lang="en-US" altLang="zh-CN" sz="1600" b="0" dirty="0">
                <a:latin typeface="+mn-lt"/>
                <a:ea typeface="+mn-ea"/>
                <a:cs typeface="+mn-ea"/>
                <a:sym typeface="+mn-lt"/>
              </a:rPr>
              <a:t>(6) </a:t>
            </a:r>
            <a:r>
              <a:rPr lang="zh-CN" altLang="en-US" sz="1600" b="0" dirty="0">
                <a:latin typeface="+mn-lt"/>
                <a:ea typeface="+mn-ea"/>
                <a:cs typeface="+mn-ea"/>
                <a:sym typeface="+mn-lt"/>
              </a:rPr>
              <a:t>重复步骤</a:t>
            </a:r>
            <a:r>
              <a:rPr lang="en-US" altLang="zh-CN" sz="1600" b="0" dirty="0">
                <a:latin typeface="+mn-lt"/>
                <a:ea typeface="+mn-ea"/>
                <a:cs typeface="+mn-ea"/>
                <a:sym typeface="+mn-lt"/>
              </a:rPr>
              <a:t>(2)</a:t>
            </a:r>
            <a:r>
              <a:rPr lang="zh-CN" altLang="en-US" sz="1600" b="0" dirty="0">
                <a:latin typeface="+mn-lt"/>
                <a:ea typeface="+mn-ea"/>
                <a:cs typeface="+mn-ea"/>
                <a:sym typeface="+mn-lt"/>
              </a:rPr>
              <a:t>至</a:t>
            </a:r>
            <a:r>
              <a:rPr lang="en-US" altLang="zh-CN" sz="1600" b="0" dirty="0">
                <a:latin typeface="+mn-lt"/>
                <a:ea typeface="+mn-ea"/>
                <a:cs typeface="+mn-ea"/>
                <a:sym typeface="+mn-lt"/>
              </a:rPr>
              <a:t>(5)</a:t>
            </a:r>
            <a:r>
              <a:rPr lang="zh-CN" altLang="en-US" sz="1600" b="0" dirty="0">
                <a:latin typeface="+mn-lt"/>
                <a:ea typeface="+mn-ea"/>
                <a:cs typeface="+mn-ea"/>
                <a:sym typeface="+mn-lt"/>
              </a:rPr>
              <a:t>，直到表达式的最左边。</a:t>
            </a:r>
            <a:endParaRPr lang="en-US" altLang="zh-CN" sz="1600" b="0" dirty="0">
              <a:latin typeface="+mn-lt"/>
              <a:ea typeface="+mn-ea"/>
              <a:cs typeface="+mn-ea"/>
              <a:sym typeface="+mn-lt"/>
            </a:endParaRPr>
          </a:p>
          <a:p>
            <a:pPr marL="541655" lvl="0" indent="-287655">
              <a:lnSpc>
                <a:spcPct val="125000"/>
              </a:lnSpc>
              <a:spcBef>
                <a:spcPct val="20000"/>
              </a:spcBef>
              <a:defRPr/>
            </a:pPr>
            <a:r>
              <a:rPr lang="en-US" altLang="zh-CN" sz="1600" b="0" dirty="0">
                <a:latin typeface="+mn-lt"/>
                <a:ea typeface="+mn-ea"/>
                <a:cs typeface="+mn-ea"/>
                <a:sym typeface="+mn-lt"/>
              </a:rPr>
              <a:t>(7) </a:t>
            </a:r>
            <a:r>
              <a:rPr lang="zh-CN" altLang="en-US" sz="1600" b="0" dirty="0">
                <a:latin typeface="+mn-lt"/>
                <a:ea typeface="+mn-ea"/>
                <a:cs typeface="+mn-ea"/>
                <a:sym typeface="+mn-lt"/>
              </a:rPr>
              <a:t>将</a:t>
            </a:r>
            <a:r>
              <a:rPr lang="en-US" altLang="zh-CN" sz="1600" b="0" dirty="0">
                <a:latin typeface="+mn-lt"/>
                <a:ea typeface="+mn-ea"/>
                <a:cs typeface="+mn-ea"/>
                <a:sym typeface="+mn-lt"/>
              </a:rPr>
              <a:t>S1</a:t>
            </a:r>
            <a:r>
              <a:rPr lang="zh-CN" altLang="en-US" sz="1600" b="0" dirty="0">
                <a:latin typeface="+mn-lt"/>
                <a:ea typeface="+mn-ea"/>
                <a:cs typeface="+mn-ea"/>
                <a:sym typeface="+mn-lt"/>
              </a:rPr>
              <a:t>中剩余的运算符依次弹出并压入</a:t>
            </a:r>
            <a:r>
              <a:rPr lang="en-US" altLang="zh-CN" sz="1600" b="0" dirty="0">
                <a:latin typeface="+mn-lt"/>
                <a:ea typeface="+mn-ea"/>
                <a:cs typeface="+mn-ea"/>
                <a:sym typeface="+mn-lt"/>
              </a:rPr>
              <a:t>S2</a:t>
            </a:r>
            <a:r>
              <a:rPr lang="zh-CN" altLang="en-US" sz="1600" b="0" dirty="0">
                <a:latin typeface="+mn-lt"/>
                <a:ea typeface="+mn-ea"/>
                <a:cs typeface="+mn-ea"/>
                <a:sym typeface="+mn-lt"/>
              </a:rPr>
              <a:t>。</a:t>
            </a:r>
          </a:p>
          <a:p>
            <a:pPr marL="541655" lvl="0" indent="-287655">
              <a:lnSpc>
                <a:spcPct val="125000"/>
              </a:lnSpc>
              <a:spcBef>
                <a:spcPct val="20000"/>
              </a:spcBef>
              <a:defRPr/>
            </a:pPr>
            <a:r>
              <a:rPr lang="en-US" altLang="zh-CN" sz="1600" b="0" dirty="0">
                <a:latin typeface="+mn-lt"/>
                <a:ea typeface="+mn-ea"/>
                <a:cs typeface="+mn-ea"/>
                <a:sym typeface="+mn-lt"/>
              </a:rPr>
              <a:t>(8) </a:t>
            </a:r>
            <a:r>
              <a:rPr lang="zh-CN" altLang="en-US" sz="1600" b="0" dirty="0">
                <a:latin typeface="+mn-lt"/>
                <a:ea typeface="+mn-ea"/>
                <a:cs typeface="+mn-ea"/>
                <a:sym typeface="+mn-lt"/>
              </a:rPr>
              <a:t>依次弹出</a:t>
            </a:r>
            <a:r>
              <a:rPr lang="en-US" altLang="zh-CN" sz="1600" b="0" dirty="0">
                <a:latin typeface="+mn-lt"/>
                <a:ea typeface="+mn-ea"/>
                <a:cs typeface="+mn-ea"/>
                <a:sym typeface="+mn-lt"/>
              </a:rPr>
              <a:t>S2</a:t>
            </a:r>
            <a:r>
              <a:rPr lang="zh-CN" altLang="en-US" sz="1600" b="0" dirty="0">
                <a:latin typeface="+mn-lt"/>
                <a:ea typeface="+mn-ea"/>
                <a:cs typeface="+mn-ea"/>
                <a:sym typeface="+mn-lt"/>
              </a:rPr>
              <a:t>中的元素并输出，结果即为中缀表达式对应的前缀表达式。</a:t>
            </a:r>
            <a:endParaRPr kumimoji="0" lang="zh-CN" altLang="en-US" sz="1600" b="0" i="0" u="none" strike="noStrike" kern="1200" cap="none" spc="0" normalizeH="0" baseline="0" noProof="0" dirty="0">
              <a:ln>
                <a:noFill/>
              </a:ln>
              <a:effectLst/>
              <a:uLnTx/>
              <a:uFillTx/>
              <a:latin typeface="+mn-lt"/>
              <a:ea typeface="+mn-ea"/>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ox(in)">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box(in)">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box(in)">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box(in)">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box(in)">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box(in)">
                                      <p:cBhvr>
                                        <p:cTn id="32" dur="5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3">
                                            <p:txEl>
                                              <p:pRg st="6" end="6"/>
                                            </p:txEl>
                                          </p:spTgt>
                                        </p:tgtEl>
                                        <p:attrNameLst>
                                          <p:attrName>style.visibility</p:attrName>
                                        </p:attrNameLst>
                                      </p:cBhvr>
                                      <p:to>
                                        <p:strVal val="visible"/>
                                      </p:to>
                                    </p:set>
                                    <p:animEffect transition="in" filter="box(in)">
                                      <p:cBhvr>
                                        <p:cTn id="37" dur="500"/>
                                        <p:tgtEl>
                                          <p:spTgt spid="1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3">
                                            <p:txEl>
                                              <p:pRg st="7" end="7"/>
                                            </p:txEl>
                                          </p:spTgt>
                                        </p:tgtEl>
                                        <p:attrNameLst>
                                          <p:attrName>style.visibility</p:attrName>
                                        </p:attrNameLst>
                                      </p:cBhvr>
                                      <p:to>
                                        <p:strVal val="visible"/>
                                      </p:to>
                                    </p:set>
                                    <p:animEffect transition="in" filter="box(in)">
                                      <p:cBhvr>
                                        <p:cTn id="42" dur="500"/>
                                        <p:tgtEl>
                                          <p:spTgt spid="1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3">
                                            <p:txEl>
                                              <p:pRg st="8" end="8"/>
                                            </p:txEl>
                                          </p:spTgt>
                                        </p:tgtEl>
                                        <p:attrNameLst>
                                          <p:attrName>style.visibility</p:attrName>
                                        </p:attrNameLst>
                                      </p:cBhvr>
                                      <p:to>
                                        <p:strVal val="visible"/>
                                      </p:to>
                                    </p:set>
                                    <p:animEffect transition="in" filter="box(in)">
                                      <p:cBhvr>
                                        <p:cTn id="47" dur="500"/>
                                        <p:tgtEl>
                                          <p:spTgt spid="1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13">
                                            <p:txEl>
                                              <p:pRg st="9" end="9"/>
                                            </p:txEl>
                                          </p:spTgt>
                                        </p:tgtEl>
                                        <p:attrNameLst>
                                          <p:attrName>style.visibility</p:attrName>
                                        </p:attrNameLst>
                                      </p:cBhvr>
                                      <p:to>
                                        <p:strVal val="visible"/>
                                      </p:to>
                                    </p:set>
                                    <p:animEffect transition="in" filter="box(in)">
                                      <p:cBhvr>
                                        <p:cTn id="52" dur="500"/>
                                        <p:tgtEl>
                                          <p:spTgt spid="1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13">
                                            <p:txEl>
                                              <p:pRg st="10" end="10"/>
                                            </p:txEl>
                                          </p:spTgt>
                                        </p:tgtEl>
                                        <p:attrNameLst>
                                          <p:attrName>style.visibility</p:attrName>
                                        </p:attrNameLst>
                                      </p:cBhvr>
                                      <p:to>
                                        <p:strVal val="visible"/>
                                      </p:to>
                                    </p:set>
                                    <p:animEffect transition="in" filter="box(in)">
                                      <p:cBhvr>
                                        <p:cTn id="57" dur="500"/>
                                        <p:tgtEl>
                                          <p:spTgt spid="1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13">
                                            <p:txEl>
                                              <p:pRg st="11" end="11"/>
                                            </p:txEl>
                                          </p:spTgt>
                                        </p:tgtEl>
                                        <p:attrNameLst>
                                          <p:attrName>style.visibility</p:attrName>
                                        </p:attrNameLst>
                                      </p:cBhvr>
                                      <p:to>
                                        <p:strVal val="visible"/>
                                      </p:to>
                                    </p:set>
                                    <p:animEffect transition="in" filter="box(in)">
                                      <p:cBhvr>
                                        <p:cTn id="62" dur="500"/>
                                        <p:tgtEl>
                                          <p:spTgt spid="1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13">
                                            <p:txEl>
                                              <p:pRg st="12" end="12"/>
                                            </p:txEl>
                                          </p:spTgt>
                                        </p:tgtEl>
                                        <p:attrNameLst>
                                          <p:attrName>style.visibility</p:attrName>
                                        </p:attrNameLst>
                                      </p:cBhvr>
                                      <p:to>
                                        <p:strVal val="visible"/>
                                      </p:to>
                                    </p:set>
                                    <p:animEffect transition="in" filter="box(in)">
                                      <p:cBhvr>
                                        <p:cTn id="67" dur="500"/>
                                        <p:tgtEl>
                                          <p:spTgt spid="1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10"/>
          <p:cNvGrpSpPr/>
          <p:nvPr/>
        </p:nvGrpSpPr>
        <p:grpSpPr>
          <a:xfrm>
            <a:off x="501650" y="1052513"/>
            <a:ext cx="8153400" cy="466725"/>
            <a:chOff x="340" y="494"/>
            <a:chExt cx="5136" cy="294"/>
          </a:xfrm>
        </p:grpSpPr>
        <p:sp>
          <p:nvSpPr>
            <p:cNvPr id="138244" name="Text Box 11"/>
            <p:cNvSpPr txBox="1">
              <a:spLocks noChangeArrowheads="1"/>
            </p:cNvSpPr>
            <p:nvPr/>
          </p:nvSpPr>
          <p:spPr bwMode="auto">
            <a:xfrm>
              <a:off x="340" y="494"/>
              <a:ext cx="912" cy="294"/>
            </a:xfrm>
            <a:prstGeom prst="rect">
              <a:avLst/>
            </a:prstGeom>
            <a:solidFill>
              <a:schemeClr val="accent1">
                <a:lumMod val="60000"/>
                <a:lumOff val="40000"/>
              </a:schemeClr>
            </a:solidFill>
            <a:ln w="9525">
              <a:solidFill>
                <a:schemeClr val="tx1"/>
              </a:solid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rPr>
                <a:t>S1</a:t>
              </a:r>
            </a:p>
          </p:txBody>
        </p:sp>
        <p:sp>
          <p:nvSpPr>
            <p:cNvPr id="138245" name="Text Box 12"/>
            <p:cNvSpPr txBox="1">
              <a:spLocks noChangeArrowheads="1"/>
            </p:cNvSpPr>
            <p:nvPr/>
          </p:nvSpPr>
          <p:spPr bwMode="auto">
            <a:xfrm>
              <a:off x="1533" y="494"/>
              <a:ext cx="967" cy="290"/>
            </a:xfrm>
            <a:prstGeom prst="rect">
              <a:avLst/>
            </a:prstGeom>
            <a:solidFill>
              <a:schemeClr val="accent1">
                <a:lumMod val="60000"/>
                <a:lumOff val="40000"/>
              </a:schemeClr>
            </a:solidFill>
            <a:ln w="9525">
              <a:solidFill>
                <a:schemeClr val="tx1"/>
              </a:solidFill>
              <a:miter lim="800000"/>
            </a:ln>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dirty="0">
                  <a:solidFill>
                    <a:schemeClr val="bg1"/>
                  </a:solidFill>
                  <a:latin typeface="+mn-lt"/>
                  <a:ea typeface="+mn-ea"/>
                  <a:cs typeface="+mn-ea"/>
                  <a:sym typeface="+mn-lt"/>
                </a:rPr>
                <a:t>S2</a:t>
              </a:r>
              <a:endParaRPr kumimoji="0" lang="en-US" altLang="zh-CN" sz="2400" b="1"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38246" name="Text Box 13"/>
            <p:cNvSpPr txBox="1">
              <a:spLocks noChangeArrowheads="1"/>
            </p:cNvSpPr>
            <p:nvPr/>
          </p:nvSpPr>
          <p:spPr bwMode="auto">
            <a:xfrm>
              <a:off x="2884" y="494"/>
              <a:ext cx="912" cy="294"/>
            </a:xfrm>
            <a:prstGeom prst="rect">
              <a:avLst/>
            </a:prstGeom>
            <a:solidFill>
              <a:schemeClr val="accent1">
                <a:lumMod val="60000"/>
                <a:lumOff val="40000"/>
              </a:schemeClr>
            </a:solidFill>
            <a:ln w="9525">
              <a:solidFill>
                <a:schemeClr val="tx1"/>
              </a:solid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INPUT</a:t>
              </a:r>
            </a:p>
          </p:txBody>
        </p:sp>
        <p:sp>
          <p:nvSpPr>
            <p:cNvPr id="138247" name="Text Box 14"/>
            <p:cNvSpPr txBox="1">
              <a:spLocks noChangeArrowheads="1"/>
            </p:cNvSpPr>
            <p:nvPr/>
          </p:nvSpPr>
          <p:spPr bwMode="auto">
            <a:xfrm>
              <a:off x="4180" y="494"/>
              <a:ext cx="1296" cy="294"/>
            </a:xfrm>
            <a:prstGeom prst="rect">
              <a:avLst/>
            </a:prstGeom>
            <a:solidFill>
              <a:schemeClr val="accent1">
                <a:lumMod val="60000"/>
                <a:lumOff val="40000"/>
              </a:schemeClr>
            </a:solidFill>
            <a:ln w="9525">
              <a:solidFill>
                <a:schemeClr val="tx1"/>
              </a:solid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OPERATE</a:t>
              </a:r>
            </a:p>
          </p:txBody>
        </p:sp>
      </p:grpSp>
      <p:grpSp>
        <p:nvGrpSpPr>
          <p:cNvPr id="3" name="Group 15"/>
          <p:cNvGrpSpPr/>
          <p:nvPr/>
        </p:nvGrpSpPr>
        <p:grpSpPr>
          <a:xfrm>
            <a:off x="501650" y="1620838"/>
            <a:ext cx="8153400" cy="466725"/>
            <a:chOff x="340" y="1022"/>
            <a:chExt cx="5136" cy="294"/>
          </a:xfrm>
        </p:grpSpPr>
        <p:sp>
          <p:nvSpPr>
            <p:cNvPr id="138249" name="Text Box 16"/>
            <p:cNvSpPr txBox="1">
              <a:spLocks noChangeArrowheads="1"/>
            </p:cNvSpPr>
            <p:nvPr/>
          </p:nvSpPr>
          <p:spPr bwMode="auto">
            <a:xfrm>
              <a:off x="2884" y="1022"/>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3*(7-2)#</a:t>
              </a:r>
            </a:p>
          </p:txBody>
        </p:sp>
        <p:sp>
          <p:nvSpPr>
            <p:cNvPr id="138250" name="Text Box 17"/>
            <p:cNvSpPr txBox="1">
              <a:spLocks noChangeArrowheads="1"/>
            </p:cNvSpPr>
            <p:nvPr/>
          </p:nvSpPr>
          <p:spPr bwMode="auto">
            <a:xfrm>
              <a:off x="4180" y="1022"/>
              <a:ext cx="1296"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Push(</a:t>
              </a:r>
              <a:r>
                <a:rPr lang="en-US" altLang="zh-CN" noProof="0" dirty="0" err="1">
                  <a:ln>
                    <a:noFill/>
                  </a:ln>
                  <a:effectLst/>
                  <a:uLnTx/>
                  <a:uFillTx/>
                  <a:latin typeface="+mn-lt"/>
                  <a:ea typeface="+mn-ea"/>
                  <a:cs typeface="+mn-ea"/>
                  <a:sym typeface="+mn-lt"/>
                </a:rPr>
                <a:t>optr</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38251" name="Text Box 18"/>
            <p:cNvSpPr txBox="1">
              <a:spLocks noChangeArrowheads="1"/>
            </p:cNvSpPr>
            <p:nvPr/>
          </p:nvSpPr>
          <p:spPr bwMode="auto">
            <a:xfrm>
              <a:off x="1534" y="1022"/>
              <a:ext cx="966"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p>
          </p:txBody>
        </p:sp>
        <p:sp>
          <p:nvSpPr>
            <p:cNvPr id="138252" name="Text Box 19"/>
            <p:cNvSpPr txBox="1">
              <a:spLocks noChangeArrowheads="1"/>
            </p:cNvSpPr>
            <p:nvPr/>
          </p:nvSpPr>
          <p:spPr bwMode="auto">
            <a:xfrm>
              <a:off x="340" y="1022"/>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grpSp>
      <p:grpSp>
        <p:nvGrpSpPr>
          <p:cNvPr id="4" name="Group 20"/>
          <p:cNvGrpSpPr/>
          <p:nvPr/>
        </p:nvGrpSpPr>
        <p:grpSpPr>
          <a:xfrm>
            <a:off x="501650" y="2078038"/>
            <a:ext cx="8153400" cy="460375"/>
            <a:chOff x="340" y="1310"/>
            <a:chExt cx="5136" cy="290"/>
          </a:xfrm>
        </p:grpSpPr>
        <p:sp>
          <p:nvSpPr>
            <p:cNvPr id="138254" name="Text Box 21"/>
            <p:cNvSpPr txBox="1">
              <a:spLocks noChangeArrowheads="1"/>
            </p:cNvSpPr>
            <p:nvPr/>
          </p:nvSpPr>
          <p:spPr bwMode="auto">
            <a:xfrm>
              <a:off x="2884" y="1310"/>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noProof="0">
                  <a:ln>
                    <a:noFill/>
                  </a:ln>
                  <a:effectLst/>
                  <a:uLnTx/>
                  <a:uFillTx/>
                  <a:latin typeface="+mn-lt"/>
                  <a:ea typeface="+mn-ea"/>
                  <a:cs typeface="+mn-ea"/>
                  <a:sym typeface="+mn-lt"/>
                </a:rPr>
                <a:t>3*(7-2</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55" name="Text Box 22"/>
            <p:cNvSpPr txBox="1">
              <a:spLocks noChangeArrowheads="1"/>
            </p:cNvSpPr>
            <p:nvPr/>
          </p:nvSpPr>
          <p:spPr bwMode="auto">
            <a:xfrm>
              <a:off x="1534" y="1310"/>
              <a:ext cx="966"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56" name="Text Box 23"/>
            <p:cNvSpPr txBox="1">
              <a:spLocks noChangeArrowheads="1"/>
            </p:cNvSpPr>
            <p:nvPr/>
          </p:nvSpPr>
          <p:spPr bwMode="auto">
            <a:xfrm>
              <a:off x="340" y="1310"/>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57" name="Text Box 24"/>
            <p:cNvSpPr txBox="1">
              <a:spLocks noChangeArrowheads="1"/>
            </p:cNvSpPr>
            <p:nvPr/>
          </p:nvSpPr>
          <p:spPr bwMode="auto">
            <a:xfrm>
              <a:off x="4180" y="1310"/>
              <a:ext cx="1296"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Push(</a:t>
              </a:r>
              <a:r>
                <a:rPr lang="en-US" altLang="zh-CN" noProof="0" dirty="0">
                  <a:ln>
                    <a:noFill/>
                  </a:ln>
                  <a:effectLst/>
                  <a:uLnTx/>
                  <a:uFillTx/>
                  <a:latin typeface="+mn-lt"/>
                  <a:ea typeface="+mn-ea"/>
                  <a:cs typeface="+mn-ea"/>
                  <a:sym typeface="+mn-lt"/>
                </a:rPr>
                <a:t>out</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,’2’)</a:t>
              </a:r>
            </a:p>
          </p:txBody>
        </p:sp>
      </p:grpSp>
      <p:grpSp>
        <p:nvGrpSpPr>
          <p:cNvPr id="5" name="Group 25"/>
          <p:cNvGrpSpPr/>
          <p:nvPr/>
        </p:nvGrpSpPr>
        <p:grpSpPr>
          <a:xfrm>
            <a:off x="501650" y="2535238"/>
            <a:ext cx="8153400" cy="460375"/>
            <a:chOff x="340" y="1598"/>
            <a:chExt cx="5136" cy="290"/>
          </a:xfrm>
        </p:grpSpPr>
        <p:sp>
          <p:nvSpPr>
            <p:cNvPr id="138259" name="Text Box 26"/>
            <p:cNvSpPr txBox="1">
              <a:spLocks noChangeArrowheads="1"/>
            </p:cNvSpPr>
            <p:nvPr/>
          </p:nvSpPr>
          <p:spPr bwMode="auto">
            <a:xfrm>
              <a:off x="340" y="1598"/>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60" name="Text Box 27"/>
            <p:cNvSpPr txBox="1">
              <a:spLocks noChangeArrowheads="1"/>
            </p:cNvSpPr>
            <p:nvPr/>
          </p:nvSpPr>
          <p:spPr bwMode="auto">
            <a:xfrm>
              <a:off x="1536" y="1598"/>
              <a:ext cx="964"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8261" name="Text Box 28"/>
            <p:cNvSpPr txBox="1">
              <a:spLocks noChangeArrowheads="1"/>
            </p:cNvSpPr>
            <p:nvPr/>
          </p:nvSpPr>
          <p:spPr bwMode="auto">
            <a:xfrm>
              <a:off x="2884" y="1598"/>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noProof="0">
                  <a:ln>
                    <a:noFill/>
                  </a:ln>
                  <a:effectLst/>
                  <a:uLnTx/>
                  <a:uFillTx/>
                  <a:latin typeface="+mn-lt"/>
                  <a:ea typeface="+mn-ea"/>
                  <a:cs typeface="+mn-ea"/>
                  <a:sym typeface="+mn-lt"/>
                </a:rPr>
                <a:t>3*(7-</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62" name="Text Box 29"/>
            <p:cNvSpPr txBox="1">
              <a:spLocks noChangeArrowheads="1"/>
            </p:cNvSpPr>
            <p:nvPr/>
          </p:nvSpPr>
          <p:spPr bwMode="auto">
            <a:xfrm>
              <a:off x="4180" y="1598"/>
              <a:ext cx="1296"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Push(optr,’-’)</a:t>
              </a:r>
            </a:p>
          </p:txBody>
        </p:sp>
      </p:grpSp>
      <p:grpSp>
        <p:nvGrpSpPr>
          <p:cNvPr id="6" name="Group 30"/>
          <p:cNvGrpSpPr/>
          <p:nvPr/>
        </p:nvGrpSpPr>
        <p:grpSpPr>
          <a:xfrm>
            <a:off x="501650" y="2992438"/>
            <a:ext cx="8153400" cy="466725"/>
            <a:chOff x="340" y="1886"/>
            <a:chExt cx="5136" cy="294"/>
          </a:xfrm>
        </p:grpSpPr>
        <p:sp>
          <p:nvSpPr>
            <p:cNvPr id="138264" name="Text Box 31"/>
            <p:cNvSpPr txBox="1">
              <a:spLocks noChangeArrowheads="1"/>
            </p:cNvSpPr>
            <p:nvPr/>
          </p:nvSpPr>
          <p:spPr bwMode="auto">
            <a:xfrm>
              <a:off x="340" y="1886"/>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65" name="Text Box 32"/>
            <p:cNvSpPr txBox="1">
              <a:spLocks noChangeArrowheads="1"/>
            </p:cNvSpPr>
            <p:nvPr/>
          </p:nvSpPr>
          <p:spPr bwMode="auto">
            <a:xfrm>
              <a:off x="1536" y="1886"/>
              <a:ext cx="964"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8266" name="Text Box 33"/>
            <p:cNvSpPr txBox="1">
              <a:spLocks noChangeArrowheads="1"/>
            </p:cNvSpPr>
            <p:nvPr/>
          </p:nvSpPr>
          <p:spPr bwMode="auto">
            <a:xfrm>
              <a:off x="2884" y="1886"/>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noProof="0">
                  <a:ln>
                    <a:noFill/>
                  </a:ln>
                  <a:effectLst/>
                  <a:uLnTx/>
                  <a:uFillTx/>
                  <a:latin typeface="+mn-lt"/>
                  <a:ea typeface="+mn-ea"/>
                  <a:cs typeface="+mn-ea"/>
                  <a:sym typeface="+mn-lt"/>
                </a:rPr>
                <a:t>3*(7</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67" name="Text Box 34"/>
            <p:cNvSpPr txBox="1">
              <a:spLocks noChangeArrowheads="1"/>
            </p:cNvSpPr>
            <p:nvPr/>
          </p:nvSpPr>
          <p:spPr bwMode="auto">
            <a:xfrm>
              <a:off x="4180" y="1886"/>
              <a:ext cx="1296"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Push(</a:t>
              </a:r>
              <a:r>
                <a:rPr lang="en-US" altLang="zh-CN" dirty="0">
                  <a:latin typeface="+mn-lt"/>
                  <a:ea typeface="+mn-ea"/>
                  <a:cs typeface="+mn-ea"/>
                  <a:sym typeface="+mn-lt"/>
                </a:rPr>
                <a:t>out</a:t>
              </a:r>
              <a:r>
                <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rPr>
                <a:t>,’7’)</a:t>
              </a:r>
            </a:p>
          </p:txBody>
        </p:sp>
      </p:grpSp>
      <p:grpSp>
        <p:nvGrpSpPr>
          <p:cNvPr id="7" name="Group 35"/>
          <p:cNvGrpSpPr/>
          <p:nvPr/>
        </p:nvGrpSpPr>
        <p:grpSpPr>
          <a:xfrm>
            <a:off x="501650" y="3449638"/>
            <a:ext cx="8153400" cy="460375"/>
            <a:chOff x="340" y="2174"/>
            <a:chExt cx="5136" cy="290"/>
          </a:xfrm>
        </p:grpSpPr>
        <p:sp>
          <p:nvSpPr>
            <p:cNvPr id="138269" name="Text Box 36"/>
            <p:cNvSpPr txBox="1">
              <a:spLocks noChangeArrowheads="1"/>
            </p:cNvSpPr>
            <p:nvPr/>
          </p:nvSpPr>
          <p:spPr bwMode="auto">
            <a:xfrm>
              <a:off x="340" y="2174"/>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70" name="Text Box 37"/>
            <p:cNvSpPr txBox="1">
              <a:spLocks noChangeArrowheads="1"/>
            </p:cNvSpPr>
            <p:nvPr/>
          </p:nvSpPr>
          <p:spPr bwMode="auto">
            <a:xfrm>
              <a:off x="1536" y="2174"/>
              <a:ext cx="964"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2,7</a:t>
              </a:r>
            </a:p>
          </p:txBody>
        </p:sp>
        <p:sp>
          <p:nvSpPr>
            <p:cNvPr id="138271" name="Text Box 38"/>
            <p:cNvSpPr txBox="1">
              <a:spLocks noChangeArrowheads="1"/>
            </p:cNvSpPr>
            <p:nvPr/>
          </p:nvSpPr>
          <p:spPr bwMode="auto">
            <a:xfrm>
              <a:off x="2884" y="2174"/>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noProof="0">
                  <a:ln>
                    <a:noFill/>
                  </a:ln>
                  <a:effectLst/>
                  <a:uLnTx/>
                  <a:uFillTx/>
                  <a:latin typeface="+mn-lt"/>
                  <a:ea typeface="+mn-ea"/>
                  <a:cs typeface="+mn-ea"/>
                  <a:sym typeface="+mn-lt"/>
                </a:rPr>
                <a:t>3*(</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72" name="Text Box 39"/>
            <p:cNvSpPr txBox="1">
              <a:spLocks noChangeArrowheads="1"/>
            </p:cNvSpPr>
            <p:nvPr/>
          </p:nvSpPr>
          <p:spPr bwMode="auto">
            <a:xfrm>
              <a:off x="4180" y="2174"/>
              <a:ext cx="1296"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noProof="0">
                  <a:ln>
                    <a:noFill/>
                  </a:ln>
                  <a:effectLst/>
                  <a:uLnTx/>
                  <a:uFillTx/>
                  <a:latin typeface="+mn-lt"/>
                  <a:ea typeface="+mn-ea"/>
                  <a:cs typeface="+mn-ea"/>
                  <a:sym typeface="+mn-lt"/>
                </a:rPr>
                <a:t>Pop(optr)</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8" name="Group 40"/>
          <p:cNvGrpSpPr/>
          <p:nvPr/>
        </p:nvGrpSpPr>
        <p:grpSpPr>
          <a:xfrm>
            <a:off x="501650" y="3906838"/>
            <a:ext cx="8153400" cy="460375"/>
            <a:chOff x="340" y="2462"/>
            <a:chExt cx="5136" cy="290"/>
          </a:xfrm>
        </p:grpSpPr>
        <p:sp>
          <p:nvSpPr>
            <p:cNvPr id="138274" name="Text Box 41"/>
            <p:cNvSpPr txBox="1">
              <a:spLocks noChangeArrowheads="1"/>
            </p:cNvSpPr>
            <p:nvPr/>
          </p:nvSpPr>
          <p:spPr bwMode="auto">
            <a:xfrm>
              <a:off x="340" y="2462"/>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75" name="Text Box 42"/>
            <p:cNvSpPr txBox="1">
              <a:spLocks noChangeArrowheads="1"/>
            </p:cNvSpPr>
            <p:nvPr/>
          </p:nvSpPr>
          <p:spPr bwMode="auto">
            <a:xfrm>
              <a:off x="1536" y="2462"/>
              <a:ext cx="964"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2,7,-</a:t>
              </a:r>
            </a:p>
          </p:txBody>
        </p:sp>
        <p:sp>
          <p:nvSpPr>
            <p:cNvPr id="138276" name="Text Box 43"/>
            <p:cNvSpPr txBox="1">
              <a:spLocks noChangeArrowheads="1"/>
            </p:cNvSpPr>
            <p:nvPr/>
          </p:nvSpPr>
          <p:spPr bwMode="auto">
            <a:xfrm>
              <a:off x="2884" y="2462"/>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noProof="0">
                  <a:ln>
                    <a:noFill/>
                  </a:ln>
                  <a:effectLst/>
                  <a:uLnTx/>
                  <a:uFillTx/>
                  <a:latin typeface="+mn-lt"/>
                  <a:ea typeface="+mn-ea"/>
                  <a:cs typeface="+mn-ea"/>
                  <a:sym typeface="+mn-lt"/>
                </a:rPr>
                <a:t>3*</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77" name="Text Box 44"/>
            <p:cNvSpPr txBox="1">
              <a:spLocks noChangeArrowheads="1"/>
            </p:cNvSpPr>
            <p:nvPr/>
          </p:nvSpPr>
          <p:spPr bwMode="auto">
            <a:xfrm>
              <a:off x="4180" y="2462"/>
              <a:ext cx="1296"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Push(</a:t>
              </a:r>
              <a:r>
                <a:rPr lang="en-US" altLang="zh-CN" noProof="0">
                  <a:ln>
                    <a:noFill/>
                  </a:ln>
                  <a:effectLst/>
                  <a:uLnTx/>
                  <a:uFillTx/>
                  <a:latin typeface="+mn-lt"/>
                  <a:ea typeface="+mn-ea"/>
                  <a:cs typeface="+mn-ea"/>
                  <a:sym typeface="+mn-lt"/>
                </a:rPr>
                <a:t>optr</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grpSp>
      <p:grpSp>
        <p:nvGrpSpPr>
          <p:cNvPr id="9" name="Group 45"/>
          <p:cNvGrpSpPr/>
          <p:nvPr/>
        </p:nvGrpSpPr>
        <p:grpSpPr>
          <a:xfrm>
            <a:off x="501650" y="4354513"/>
            <a:ext cx="8153400" cy="469900"/>
            <a:chOff x="340" y="2744"/>
            <a:chExt cx="5136" cy="296"/>
          </a:xfrm>
        </p:grpSpPr>
        <p:sp>
          <p:nvSpPr>
            <p:cNvPr id="138279" name="Text Box 46"/>
            <p:cNvSpPr txBox="1">
              <a:spLocks noChangeArrowheads="1"/>
            </p:cNvSpPr>
            <p:nvPr/>
          </p:nvSpPr>
          <p:spPr bwMode="auto">
            <a:xfrm>
              <a:off x="340" y="2750"/>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80" name="Text Box 47"/>
            <p:cNvSpPr txBox="1">
              <a:spLocks noChangeArrowheads="1"/>
            </p:cNvSpPr>
            <p:nvPr/>
          </p:nvSpPr>
          <p:spPr bwMode="auto">
            <a:xfrm>
              <a:off x="1536" y="2750"/>
              <a:ext cx="964"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2,7,-</a:t>
              </a:r>
            </a:p>
          </p:txBody>
        </p:sp>
        <p:sp>
          <p:nvSpPr>
            <p:cNvPr id="138281" name="Text Box 48"/>
            <p:cNvSpPr txBox="1">
              <a:spLocks noChangeArrowheads="1"/>
            </p:cNvSpPr>
            <p:nvPr/>
          </p:nvSpPr>
          <p:spPr bwMode="auto">
            <a:xfrm>
              <a:off x="2884" y="2744"/>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noProof="0">
                  <a:ln>
                    <a:noFill/>
                  </a:ln>
                  <a:effectLst/>
                  <a:uLnTx/>
                  <a:uFillTx/>
                  <a:latin typeface="+mn-lt"/>
                  <a:ea typeface="+mn-ea"/>
                  <a:cs typeface="+mn-ea"/>
                  <a:sym typeface="+mn-lt"/>
                </a:rPr>
                <a:t>3</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82" name="Text Box 49"/>
            <p:cNvSpPr txBox="1">
              <a:spLocks noChangeArrowheads="1"/>
            </p:cNvSpPr>
            <p:nvPr/>
          </p:nvSpPr>
          <p:spPr bwMode="auto">
            <a:xfrm>
              <a:off x="4180" y="2750"/>
              <a:ext cx="1296"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noProof="0" dirty="0">
                  <a:ln>
                    <a:noFill/>
                  </a:ln>
                  <a:effectLst/>
                  <a:uLnTx/>
                  <a:uFillTx/>
                  <a:latin typeface="+mn-lt"/>
                  <a:ea typeface="+mn-ea"/>
                  <a:cs typeface="+mn-ea"/>
                  <a:sym typeface="+mn-lt"/>
                </a:rPr>
                <a:t>Push(out,’3’)</a:t>
              </a:r>
              <a:endPar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endParaRPr>
            </a:p>
          </p:txBody>
        </p:sp>
      </p:grpSp>
      <p:grpSp>
        <p:nvGrpSpPr>
          <p:cNvPr id="10" name="Group 50"/>
          <p:cNvGrpSpPr/>
          <p:nvPr/>
        </p:nvGrpSpPr>
        <p:grpSpPr>
          <a:xfrm>
            <a:off x="501650" y="4821238"/>
            <a:ext cx="8153400" cy="466725"/>
            <a:chOff x="340" y="3038"/>
            <a:chExt cx="5136" cy="294"/>
          </a:xfrm>
        </p:grpSpPr>
        <p:sp>
          <p:nvSpPr>
            <p:cNvPr id="138284" name="Text Box 51"/>
            <p:cNvSpPr txBox="1">
              <a:spLocks noChangeArrowheads="1"/>
            </p:cNvSpPr>
            <p:nvPr/>
          </p:nvSpPr>
          <p:spPr bwMode="auto">
            <a:xfrm>
              <a:off x="340" y="3038"/>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85" name="Text Box 52"/>
            <p:cNvSpPr txBox="1">
              <a:spLocks noChangeArrowheads="1"/>
            </p:cNvSpPr>
            <p:nvPr/>
          </p:nvSpPr>
          <p:spPr bwMode="auto">
            <a:xfrm>
              <a:off x="1536" y="3038"/>
              <a:ext cx="964"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2,7,-,3</a:t>
              </a:r>
            </a:p>
          </p:txBody>
        </p:sp>
        <p:sp>
          <p:nvSpPr>
            <p:cNvPr id="138286" name="Text Box 53"/>
            <p:cNvSpPr txBox="1">
              <a:spLocks noChangeArrowheads="1"/>
            </p:cNvSpPr>
            <p:nvPr/>
          </p:nvSpPr>
          <p:spPr bwMode="auto">
            <a:xfrm>
              <a:off x="2884" y="3038"/>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87" name="Text Box 54"/>
            <p:cNvSpPr txBox="1">
              <a:spLocks noChangeArrowheads="1"/>
            </p:cNvSpPr>
            <p:nvPr/>
          </p:nvSpPr>
          <p:spPr bwMode="auto">
            <a:xfrm>
              <a:off x="4180" y="3038"/>
              <a:ext cx="1296"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Pop(optr)</a:t>
              </a:r>
            </a:p>
          </p:txBody>
        </p:sp>
      </p:grpSp>
      <p:grpSp>
        <p:nvGrpSpPr>
          <p:cNvPr id="11" name="Group 55"/>
          <p:cNvGrpSpPr/>
          <p:nvPr/>
        </p:nvGrpSpPr>
        <p:grpSpPr>
          <a:xfrm>
            <a:off x="501650" y="5278449"/>
            <a:ext cx="8153400" cy="466726"/>
            <a:chOff x="340" y="3326"/>
            <a:chExt cx="5136" cy="294"/>
          </a:xfrm>
        </p:grpSpPr>
        <p:sp>
          <p:nvSpPr>
            <p:cNvPr id="138289" name="Text Box 56"/>
            <p:cNvSpPr txBox="1">
              <a:spLocks noChangeArrowheads="1"/>
            </p:cNvSpPr>
            <p:nvPr/>
          </p:nvSpPr>
          <p:spPr bwMode="auto">
            <a:xfrm>
              <a:off x="340" y="3326"/>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90" name="Text Box 57"/>
            <p:cNvSpPr txBox="1">
              <a:spLocks noChangeArrowheads="1"/>
            </p:cNvSpPr>
            <p:nvPr/>
          </p:nvSpPr>
          <p:spPr bwMode="auto">
            <a:xfrm>
              <a:off x="1536" y="3326"/>
              <a:ext cx="964"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noProof="0">
                  <a:ln>
                    <a:noFill/>
                  </a:ln>
                  <a:effectLst/>
                  <a:uLnTx/>
                  <a:uFillTx/>
                  <a:latin typeface="+mn-lt"/>
                  <a:ea typeface="+mn-ea"/>
                  <a:cs typeface="+mn-ea"/>
                  <a:sym typeface="+mn-lt"/>
                </a:rPr>
                <a:t>2,7,-,3,*</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91" name="Text Box 58"/>
            <p:cNvSpPr txBox="1">
              <a:spLocks noChangeArrowheads="1"/>
            </p:cNvSpPr>
            <p:nvPr/>
          </p:nvSpPr>
          <p:spPr bwMode="auto">
            <a:xfrm>
              <a:off x="2884" y="3326"/>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92" name="Text Box 59"/>
            <p:cNvSpPr txBox="1">
              <a:spLocks noChangeArrowheads="1"/>
            </p:cNvSpPr>
            <p:nvPr/>
          </p:nvSpPr>
          <p:spPr bwMode="auto">
            <a:xfrm>
              <a:off x="4180" y="3326"/>
              <a:ext cx="1296"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dirty="0">
                  <a:latin typeface="+mn-lt"/>
                  <a:ea typeface="+mn-ea"/>
                  <a:cs typeface="+mn-ea"/>
                  <a:sym typeface="+mn-lt"/>
                </a:rPr>
                <a:t>Pop</a:t>
              </a:r>
              <a:r>
                <a:rPr lang="en-US" altLang="zh-CN" noProof="0" dirty="0">
                  <a:ln>
                    <a:noFill/>
                  </a:ln>
                  <a:effectLst/>
                  <a:uLnTx/>
                  <a:uFillTx/>
                  <a:latin typeface="+mn-lt"/>
                  <a:ea typeface="+mn-ea"/>
                  <a:cs typeface="+mn-ea"/>
                  <a:sym typeface="+mn-lt"/>
                </a:rPr>
                <a:t>(out)</a:t>
              </a:r>
              <a:endPar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59" name="Shape 26"/>
          <p:cNvSpPr/>
          <p:nvPr/>
        </p:nvSpPr>
        <p:spPr>
          <a:xfrm flipH="1">
            <a:off x="0" y="6381750"/>
            <a:ext cx="9140825" cy="4762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52590" name="Rectangle 154"/>
          <p:cNvSpPr txBox="1"/>
          <p:nvPr/>
        </p:nvSpPr>
        <p:spPr>
          <a:xfrm>
            <a:off x="827405" y="163830"/>
            <a:ext cx="532828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将中缀表达式转换成前缀表达式</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20752" y="870694"/>
            <a:ext cx="6567472" cy="509588"/>
          </a:xfrm>
          <a:prstGeom prst="rect">
            <a:avLst/>
          </a:prstGeom>
          <a:solidFill>
            <a:srgbClr val="A78DC2"/>
          </a:solidFill>
          <a:ln>
            <a:noFill/>
          </a:ln>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中缀表达式“</a:t>
            </a:r>
            <a:r>
              <a:rPr kumimoji="0" lang="en-US" altLang="zh-CN" sz="2000" b="0" i="0" u="none" strike="noStrike" kern="1200" cap="none" spc="0" normalizeH="0" baseline="0" noProof="0" dirty="0">
                <a:ln>
                  <a:noFill/>
                </a:ln>
                <a:solidFill>
                  <a:schemeClr val="bg1"/>
                </a:solidFill>
                <a:effectLst/>
                <a:uLnTx/>
                <a:uFillTx/>
                <a:latin typeface="+mn-lt"/>
                <a:ea typeface="+mn-ea"/>
                <a:cs typeface="+mn-ea"/>
                <a:sym typeface="+mn-lt"/>
              </a:rPr>
              <a:t>1+((2+3)×4)-5</a:t>
            </a: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“转换为前缀表达式</a:t>
            </a:r>
            <a:endParaRPr kumimoji="0" lang="en-US" altLang="zh-CN" sz="20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8" name="Rectangle 154"/>
          <p:cNvSpPr txBox="1">
            <a:spLocks noGrp="1"/>
          </p:cNvSpPr>
          <p:nvPr>
            <p:ph type="title"/>
          </p:nvPr>
        </p:nvSpPr>
        <p:spPr>
          <a:xfrm>
            <a:off x="844550" y="260350"/>
            <a:ext cx="6400800" cy="4572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补充：将中缀表达式转换成前缀表达式</a:t>
            </a:r>
          </a:p>
        </p:txBody>
      </p:sp>
      <p:pic>
        <p:nvPicPr>
          <p:cNvPr id="10" name="图片 9"/>
          <p:cNvPicPr>
            <a:picLocks noChangeAspect="1"/>
          </p:cNvPicPr>
          <p:nvPr/>
        </p:nvPicPr>
        <p:blipFill>
          <a:blip r:embed="rId2"/>
          <a:stretch>
            <a:fillRect/>
          </a:stretch>
        </p:blipFill>
        <p:spPr>
          <a:xfrm>
            <a:off x="443013" y="1533426"/>
            <a:ext cx="7203873" cy="50700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10"/>
          <p:cNvGrpSpPr/>
          <p:nvPr/>
        </p:nvGrpSpPr>
        <p:grpSpPr>
          <a:xfrm>
            <a:off x="501650" y="1052513"/>
            <a:ext cx="8153400" cy="466725"/>
            <a:chOff x="340" y="494"/>
            <a:chExt cx="5136" cy="294"/>
          </a:xfrm>
        </p:grpSpPr>
        <p:sp>
          <p:nvSpPr>
            <p:cNvPr id="138244" name="Text Box 11"/>
            <p:cNvSpPr txBox="1">
              <a:spLocks noChangeArrowheads="1"/>
            </p:cNvSpPr>
            <p:nvPr/>
          </p:nvSpPr>
          <p:spPr bwMode="auto">
            <a:xfrm>
              <a:off x="340" y="494"/>
              <a:ext cx="912" cy="294"/>
            </a:xfrm>
            <a:prstGeom prst="rect">
              <a:avLst/>
            </a:prstGeom>
            <a:solidFill>
              <a:schemeClr val="accent1">
                <a:lumMod val="60000"/>
                <a:lumOff val="40000"/>
              </a:schemeClr>
            </a:solidFill>
            <a:ln w="9525">
              <a:solidFill>
                <a:schemeClr val="tx1"/>
              </a:solid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OPTR</a:t>
              </a:r>
            </a:p>
          </p:txBody>
        </p:sp>
        <p:sp>
          <p:nvSpPr>
            <p:cNvPr id="138245" name="Text Box 12"/>
            <p:cNvSpPr txBox="1">
              <a:spLocks noChangeArrowheads="1"/>
            </p:cNvSpPr>
            <p:nvPr/>
          </p:nvSpPr>
          <p:spPr bwMode="auto">
            <a:xfrm>
              <a:off x="1588" y="494"/>
              <a:ext cx="912" cy="294"/>
            </a:xfrm>
            <a:prstGeom prst="rect">
              <a:avLst/>
            </a:prstGeom>
            <a:solidFill>
              <a:schemeClr val="accent1">
                <a:lumMod val="60000"/>
                <a:lumOff val="40000"/>
              </a:schemeClr>
            </a:solidFill>
            <a:ln w="9525">
              <a:solidFill>
                <a:schemeClr val="tx1"/>
              </a:solid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OPND</a:t>
              </a:r>
            </a:p>
          </p:txBody>
        </p:sp>
        <p:sp>
          <p:nvSpPr>
            <p:cNvPr id="138246" name="Text Box 13"/>
            <p:cNvSpPr txBox="1">
              <a:spLocks noChangeArrowheads="1"/>
            </p:cNvSpPr>
            <p:nvPr/>
          </p:nvSpPr>
          <p:spPr bwMode="auto">
            <a:xfrm>
              <a:off x="2884" y="494"/>
              <a:ext cx="912" cy="294"/>
            </a:xfrm>
            <a:prstGeom prst="rect">
              <a:avLst/>
            </a:prstGeom>
            <a:solidFill>
              <a:schemeClr val="accent1">
                <a:lumMod val="60000"/>
                <a:lumOff val="40000"/>
              </a:schemeClr>
            </a:solidFill>
            <a:ln w="9525">
              <a:solidFill>
                <a:schemeClr val="tx1"/>
              </a:solid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INPUT</a:t>
              </a:r>
            </a:p>
          </p:txBody>
        </p:sp>
        <p:sp>
          <p:nvSpPr>
            <p:cNvPr id="138247" name="Text Box 14"/>
            <p:cNvSpPr txBox="1">
              <a:spLocks noChangeArrowheads="1"/>
            </p:cNvSpPr>
            <p:nvPr/>
          </p:nvSpPr>
          <p:spPr bwMode="auto">
            <a:xfrm>
              <a:off x="4180" y="494"/>
              <a:ext cx="1296" cy="294"/>
            </a:xfrm>
            <a:prstGeom prst="rect">
              <a:avLst/>
            </a:prstGeom>
            <a:solidFill>
              <a:schemeClr val="accent1">
                <a:lumMod val="60000"/>
                <a:lumOff val="40000"/>
              </a:schemeClr>
            </a:solidFill>
            <a:ln w="9525">
              <a:solidFill>
                <a:schemeClr val="tx1"/>
              </a:solidFill>
              <a:miter lim="800000"/>
            </a:ln>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OPERATE</a:t>
              </a:r>
            </a:p>
          </p:txBody>
        </p:sp>
      </p:grpSp>
      <p:grpSp>
        <p:nvGrpSpPr>
          <p:cNvPr id="3" name="Group 15"/>
          <p:cNvGrpSpPr/>
          <p:nvPr/>
        </p:nvGrpSpPr>
        <p:grpSpPr>
          <a:xfrm>
            <a:off x="501650" y="1620838"/>
            <a:ext cx="8153400" cy="466725"/>
            <a:chOff x="340" y="1022"/>
            <a:chExt cx="5136" cy="294"/>
          </a:xfrm>
        </p:grpSpPr>
        <p:sp>
          <p:nvSpPr>
            <p:cNvPr id="138249" name="Text Box 16"/>
            <p:cNvSpPr txBox="1">
              <a:spLocks noChangeArrowheads="1"/>
            </p:cNvSpPr>
            <p:nvPr/>
          </p:nvSpPr>
          <p:spPr bwMode="auto">
            <a:xfrm>
              <a:off x="2884" y="1022"/>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*3-72#</a:t>
              </a:r>
            </a:p>
          </p:txBody>
        </p:sp>
        <p:sp>
          <p:nvSpPr>
            <p:cNvPr id="138250" name="Text Box 17"/>
            <p:cNvSpPr txBox="1">
              <a:spLocks noChangeArrowheads="1"/>
            </p:cNvSpPr>
            <p:nvPr/>
          </p:nvSpPr>
          <p:spPr bwMode="auto">
            <a:xfrm>
              <a:off x="4180" y="1022"/>
              <a:ext cx="1296"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Push(opnd,’2’)</a:t>
              </a:r>
            </a:p>
          </p:txBody>
        </p:sp>
        <p:sp>
          <p:nvSpPr>
            <p:cNvPr id="138251" name="Text Box 18"/>
            <p:cNvSpPr txBox="1">
              <a:spLocks noChangeArrowheads="1"/>
            </p:cNvSpPr>
            <p:nvPr/>
          </p:nvSpPr>
          <p:spPr bwMode="auto">
            <a:xfrm>
              <a:off x="1588" y="1022"/>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 </a:t>
              </a:r>
            </a:p>
          </p:txBody>
        </p:sp>
        <p:sp>
          <p:nvSpPr>
            <p:cNvPr id="138252" name="Text Box 19"/>
            <p:cNvSpPr txBox="1">
              <a:spLocks noChangeArrowheads="1"/>
            </p:cNvSpPr>
            <p:nvPr/>
          </p:nvSpPr>
          <p:spPr bwMode="auto">
            <a:xfrm>
              <a:off x="340" y="1022"/>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grpSp>
      <p:grpSp>
        <p:nvGrpSpPr>
          <p:cNvPr id="4" name="Group 20"/>
          <p:cNvGrpSpPr/>
          <p:nvPr/>
        </p:nvGrpSpPr>
        <p:grpSpPr>
          <a:xfrm>
            <a:off x="501650" y="2078038"/>
            <a:ext cx="8153400" cy="466725"/>
            <a:chOff x="340" y="1310"/>
            <a:chExt cx="5136" cy="294"/>
          </a:xfrm>
        </p:grpSpPr>
        <p:sp>
          <p:nvSpPr>
            <p:cNvPr id="138254" name="Text Box 21"/>
            <p:cNvSpPr txBox="1">
              <a:spLocks noChangeArrowheads="1"/>
            </p:cNvSpPr>
            <p:nvPr/>
          </p:nvSpPr>
          <p:spPr bwMode="auto">
            <a:xfrm>
              <a:off x="2884" y="1310"/>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noProof="0">
                  <a:ln>
                    <a:noFill/>
                  </a:ln>
                  <a:effectLst/>
                  <a:uLnTx/>
                  <a:uFillTx/>
                  <a:latin typeface="+mn-lt"/>
                  <a:ea typeface="+mn-ea"/>
                  <a:cs typeface="+mn-ea"/>
                  <a:sym typeface="+mn-lt"/>
                </a:rPr>
                <a:t>*3-7</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55" name="Text Box 22"/>
            <p:cNvSpPr txBox="1">
              <a:spLocks noChangeArrowheads="1"/>
            </p:cNvSpPr>
            <p:nvPr/>
          </p:nvSpPr>
          <p:spPr bwMode="auto">
            <a:xfrm>
              <a:off x="1588" y="1310"/>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38256" name="Text Box 23"/>
            <p:cNvSpPr txBox="1">
              <a:spLocks noChangeArrowheads="1"/>
            </p:cNvSpPr>
            <p:nvPr/>
          </p:nvSpPr>
          <p:spPr bwMode="auto">
            <a:xfrm>
              <a:off x="340" y="1310"/>
              <a:ext cx="912"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57" name="Text Box 24"/>
            <p:cNvSpPr txBox="1">
              <a:spLocks noChangeArrowheads="1"/>
            </p:cNvSpPr>
            <p:nvPr/>
          </p:nvSpPr>
          <p:spPr bwMode="auto">
            <a:xfrm>
              <a:off x="4180" y="1310"/>
              <a:ext cx="1296"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Push(</a:t>
              </a:r>
              <a:r>
                <a:rPr lang="en-US" altLang="zh-CN" noProof="0">
                  <a:ln>
                    <a:noFill/>
                  </a:ln>
                  <a:effectLst/>
                  <a:uLnTx/>
                  <a:uFillTx/>
                  <a:latin typeface="+mn-lt"/>
                  <a:ea typeface="+mn-ea"/>
                  <a:cs typeface="+mn-ea"/>
                  <a:sym typeface="+mn-lt"/>
                </a:rPr>
                <a:t>opnd</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grpSp>
      <p:grpSp>
        <p:nvGrpSpPr>
          <p:cNvPr id="5" name="Group 25"/>
          <p:cNvGrpSpPr/>
          <p:nvPr/>
        </p:nvGrpSpPr>
        <p:grpSpPr>
          <a:xfrm>
            <a:off x="501650" y="2535238"/>
            <a:ext cx="8153400" cy="460375"/>
            <a:chOff x="340" y="1598"/>
            <a:chExt cx="5136" cy="290"/>
          </a:xfrm>
        </p:grpSpPr>
        <p:sp>
          <p:nvSpPr>
            <p:cNvPr id="138259" name="Text Box 26"/>
            <p:cNvSpPr txBox="1">
              <a:spLocks noChangeArrowheads="1"/>
            </p:cNvSpPr>
            <p:nvPr/>
          </p:nvSpPr>
          <p:spPr bwMode="auto">
            <a:xfrm>
              <a:off x="340" y="1598"/>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60" name="Text Box 27"/>
            <p:cNvSpPr txBox="1">
              <a:spLocks noChangeArrowheads="1"/>
            </p:cNvSpPr>
            <p:nvPr/>
          </p:nvSpPr>
          <p:spPr bwMode="auto">
            <a:xfrm>
              <a:off x="1588" y="1598"/>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2,7</a:t>
              </a:r>
            </a:p>
          </p:txBody>
        </p:sp>
        <p:sp>
          <p:nvSpPr>
            <p:cNvPr id="138261" name="Text Box 28"/>
            <p:cNvSpPr txBox="1">
              <a:spLocks noChangeArrowheads="1"/>
            </p:cNvSpPr>
            <p:nvPr/>
          </p:nvSpPr>
          <p:spPr bwMode="auto">
            <a:xfrm>
              <a:off x="2884" y="1598"/>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noProof="0">
                  <a:ln>
                    <a:noFill/>
                  </a:ln>
                  <a:effectLst/>
                  <a:uLnTx/>
                  <a:uFillTx/>
                  <a:latin typeface="+mn-lt"/>
                  <a:ea typeface="+mn-ea"/>
                  <a:cs typeface="+mn-ea"/>
                  <a:sym typeface="+mn-lt"/>
                </a:rPr>
                <a:t>*3-</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62" name="Text Box 29"/>
            <p:cNvSpPr txBox="1">
              <a:spLocks noChangeArrowheads="1"/>
            </p:cNvSpPr>
            <p:nvPr/>
          </p:nvSpPr>
          <p:spPr bwMode="auto">
            <a:xfrm>
              <a:off x="4180" y="1598"/>
              <a:ext cx="1296"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noProof="0">
                  <a:ln>
                    <a:noFill/>
                  </a:ln>
                  <a:effectLst/>
                  <a:uLnTx/>
                  <a:uFillTx/>
                  <a:latin typeface="+mn-lt"/>
                  <a:ea typeface="+mn-ea"/>
                  <a:cs typeface="+mn-ea"/>
                  <a:sym typeface="+mn-lt"/>
                </a:rPr>
                <a:t>Operate(7-2)</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6" name="Group 30"/>
          <p:cNvGrpSpPr/>
          <p:nvPr/>
        </p:nvGrpSpPr>
        <p:grpSpPr>
          <a:xfrm>
            <a:off x="501650" y="2992438"/>
            <a:ext cx="8153400" cy="460375"/>
            <a:chOff x="340" y="1886"/>
            <a:chExt cx="5136" cy="290"/>
          </a:xfrm>
        </p:grpSpPr>
        <p:sp>
          <p:nvSpPr>
            <p:cNvPr id="138264" name="Text Box 31"/>
            <p:cNvSpPr txBox="1">
              <a:spLocks noChangeArrowheads="1"/>
            </p:cNvSpPr>
            <p:nvPr/>
          </p:nvSpPr>
          <p:spPr bwMode="auto">
            <a:xfrm>
              <a:off x="340" y="1886"/>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65" name="Text Box 32"/>
            <p:cNvSpPr txBox="1">
              <a:spLocks noChangeArrowheads="1"/>
            </p:cNvSpPr>
            <p:nvPr/>
          </p:nvSpPr>
          <p:spPr bwMode="auto">
            <a:xfrm>
              <a:off x="1588" y="1886"/>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5</a:t>
              </a:r>
            </a:p>
          </p:txBody>
        </p:sp>
        <p:sp>
          <p:nvSpPr>
            <p:cNvPr id="138266" name="Text Box 33"/>
            <p:cNvSpPr txBox="1">
              <a:spLocks noChangeArrowheads="1"/>
            </p:cNvSpPr>
            <p:nvPr/>
          </p:nvSpPr>
          <p:spPr bwMode="auto">
            <a:xfrm>
              <a:off x="2884" y="1886"/>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noProof="0">
                  <a:ln>
                    <a:noFill/>
                  </a:ln>
                  <a:effectLst/>
                  <a:uLnTx/>
                  <a:uFillTx/>
                  <a:latin typeface="+mn-lt"/>
                  <a:ea typeface="+mn-ea"/>
                  <a:cs typeface="+mn-ea"/>
                  <a:sym typeface="+mn-lt"/>
                </a:rPr>
                <a:t>*3</a:t>
              </a: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67" name="Text Box 34"/>
            <p:cNvSpPr txBox="1">
              <a:spLocks noChangeArrowheads="1"/>
            </p:cNvSpPr>
            <p:nvPr/>
          </p:nvSpPr>
          <p:spPr bwMode="auto">
            <a:xfrm>
              <a:off x="4180" y="1886"/>
              <a:ext cx="1296"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Push(opnd,’3’)</a:t>
              </a:r>
            </a:p>
          </p:txBody>
        </p:sp>
      </p:grpSp>
      <p:grpSp>
        <p:nvGrpSpPr>
          <p:cNvPr id="7" name="Group 35"/>
          <p:cNvGrpSpPr/>
          <p:nvPr/>
        </p:nvGrpSpPr>
        <p:grpSpPr>
          <a:xfrm>
            <a:off x="501650" y="3449638"/>
            <a:ext cx="8153400" cy="460375"/>
            <a:chOff x="340" y="2174"/>
            <a:chExt cx="5136" cy="290"/>
          </a:xfrm>
        </p:grpSpPr>
        <p:sp>
          <p:nvSpPr>
            <p:cNvPr id="138269" name="Text Box 36"/>
            <p:cNvSpPr txBox="1">
              <a:spLocks noChangeArrowheads="1"/>
            </p:cNvSpPr>
            <p:nvPr/>
          </p:nvSpPr>
          <p:spPr bwMode="auto">
            <a:xfrm>
              <a:off x="340" y="2174"/>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70" name="Text Box 37"/>
            <p:cNvSpPr txBox="1">
              <a:spLocks noChangeArrowheads="1"/>
            </p:cNvSpPr>
            <p:nvPr/>
          </p:nvSpPr>
          <p:spPr bwMode="auto">
            <a:xfrm>
              <a:off x="1588" y="2174"/>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5,3</a:t>
              </a:r>
            </a:p>
          </p:txBody>
        </p:sp>
        <p:sp>
          <p:nvSpPr>
            <p:cNvPr id="138271" name="Text Box 38"/>
            <p:cNvSpPr txBox="1">
              <a:spLocks noChangeArrowheads="1"/>
            </p:cNvSpPr>
            <p:nvPr/>
          </p:nvSpPr>
          <p:spPr bwMode="auto">
            <a:xfrm>
              <a:off x="2884" y="2174"/>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72" name="Text Box 39"/>
            <p:cNvSpPr txBox="1">
              <a:spLocks noChangeArrowheads="1"/>
            </p:cNvSpPr>
            <p:nvPr/>
          </p:nvSpPr>
          <p:spPr bwMode="auto">
            <a:xfrm>
              <a:off x="4180" y="2174"/>
              <a:ext cx="1296"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noProof="0">
                  <a:ln>
                    <a:noFill/>
                  </a:ln>
                  <a:effectLst/>
                  <a:uLnTx/>
                  <a:uFillTx/>
                  <a:latin typeface="+mn-lt"/>
                  <a:ea typeface="+mn-ea"/>
                  <a:cs typeface="+mn-ea"/>
                  <a:sym typeface="+mn-lt"/>
                </a:rPr>
                <a:t>Operate(3*5)</a:t>
              </a:r>
              <a:endParaRPr kumimoji="0" lang="en-US"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8" name="Group 40"/>
          <p:cNvGrpSpPr/>
          <p:nvPr/>
        </p:nvGrpSpPr>
        <p:grpSpPr>
          <a:xfrm>
            <a:off x="501650" y="3906838"/>
            <a:ext cx="8153400" cy="465138"/>
            <a:chOff x="340" y="2462"/>
            <a:chExt cx="5136" cy="293"/>
          </a:xfrm>
        </p:grpSpPr>
        <p:sp>
          <p:nvSpPr>
            <p:cNvPr id="138274" name="Text Box 41"/>
            <p:cNvSpPr txBox="1">
              <a:spLocks noChangeArrowheads="1"/>
            </p:cNvSpPr>
            <p:nvPr/>
          </p:nvSpPr>
          <p:spPr bwMode="auto">
            <a:xfrm>
              <a:off x="340" y="2462"/>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38275" name="Text Box 42"/>
            <p:cNvSpPr txBox="1">
              <a:spLocks noChangeArrowheads="1"/>
            </p:cNvSpPr>
            <p:nvPr/>
          </p:nvSpPr>
          <p:spPr bwMode="auto">
            <a:xfrm>
              <a:off x="1588" y="2462"/>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15</a:t>
              </a:r>
            </a:p>
          </p:txBody>
        </p:sp>
        <p:sp>
          <p:nvSpPr>
            <p:cNvPr id="138276" name="Text Box 43"/>
            <p:cNvSpPr txBox="1">
              <a:spLocks noChangeArrowheads="1"/>
            </p:cNvSpPr>
            <p:nvPr/>
          </p:nvSpPr>
          <p:spPr bwMode="auto">
            <a:xfrm>
              <a:off x="2884" y="2462"/>
              <a:ext cx="912"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a:t>
              </a:r>
            </a:p>
          </p:txBody>
        </p:sp>
        <p:sp>
          <p:nvSpPr>
            <p:cNvPr id="138277" name="Text Box 44"/>
            <p:cNvSpPr txBox="1">
              <a:spLocks noChangeArrowheads="1"/>
            </p:cNvSpPr>
            <p:nvPr/>
          </p:nvSpPr>
          <p:spPr bwMode="auto">
            <a:xfrm>
              <a:off x="4180" y="2462"/>
              <a:ext cx="1296" cy="29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o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lang="en-US" altLang="zh-CN" dirty="0">
                  <a:latin typeface="+mn-lt"/>
                  <a:ea typeface="+mn-ea"/>
                  <a:cs typeface="+mn-ea"/>
                  <a:sym typeface="+mn-lt"/>
                </a:rPr>
                <a:t>Pop</a:t>
              </a:r>
              <a:r>
                <a:rPr lang="en-US" altLang="zh-CN" noProof="0" dirty="0">
                  <a:ln>
                    <a:noFill/>
                  </a:ln>
                  <a:effectLst/>
                  <a:uLnTx/>
                  <a:uFillTx/>
                  <a:latin typeface="+mn-lt"/>
                  <a:ea typeface="+mn-ea"/>
                  <a:cs typeface="+mn-ea"/>
                  <a:sym typeface="+mn-lt"/>
                </a:rPr>
                <a:t>(</a:t>
              </a:r>
              <a:r>
                <a:rPr lang="en-US" altLang="zh-CN" noProof="0" dirty="0" err="1">
                  <a:ln>
                    <a:noFill/>
                  </a:ln>
                  <a:effectLst/>
                  <a:uLnTx/>
                  <a:uFillTx/>
                  <a:latin typeface="+mn-lt"/>
                  <a:ea typeface="+mn-ea"/>
                  <a:cs typeface="+mn-ea"/>
                  <a:sym typeface="+mn-lt"/>
                </a:rPr>
                <a:t>opnd</a:t>
              </a:r>
              <a:r>
                <a:rPr lang="en-US" altLang="zh-CN" noProof="0" dirty="0">
                  <a:ln>
                    <a:noFill/>
                  </a:ln>
                  <a:effectLst/>
                  <a:uLnTx/>
                  <a:uFillTx/>
                  <a:latin typeface="+mn-lt"/>
                  <a:ea typeface="+mn-ea"/>
                  <a:cs typeface="+mn-ea"/>
                  <a:sym typeface="+mn-lt"/>
                </a:rPr>
                <a:t>)</a:t>
              </a:r>
              <a:endParaRPr kumimoji="0" lang="en-US" altLang="zh-CN" b="1"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2400" b="1"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59" name="Shape 26"/>
          <p:cNvSpPr/>
          <p:nvPr/>
        </p:nvSpPr>
        <p:spPr>
          <a:xfrm flipH="1">
            <a:off x="0" y="6381750"/>
            <a:ext cx="9140825" cy="4762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52590" name="Rectangle 154"/>
          <p:cNvSpPr txBox="1"/>
          <p:nvPr/>
        </p:nvSpPr>
        <p:spPr>
          <a:xfrm>
            <a:off x="827088" y="163513"/>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补充：前缀表达式求值</a:t>
            </a:r>
          </a:p>
        </p:txBody>
      </p:sp>
      <p:sp>
        <p:nvSpPr>
          <p:cNvPr id="10" name="矩形 9"/>
          <p:cNvSpPr/>
          <p:nvPr/>
        </p:nvSpPr>
        <p:spPr bwMode="auto">
          <a:xfrm>
            <a:off x="266477" y="4471927"/>
            <a:ext cx="8547546" cy="1981319"/>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596900" marR="0" lvl="0" indent="-342900" algn="l" defTabSz="914400" rtl="0" eaLnBrk="0" fontAlgn="base" latinLnBrk="0" hangingPunct="0">
              <a:lnSpc>
                <a:spcPct val="125000"/>
              </a:lnSpc>
              <a:spcBef>
                <a:spcPct val="20000"/>
              </a:spcBef>
              <a:spcAft>
                <a:spcPct val="0"/>
              </a:spcAft>
              <a:buClrTx/>
              <a:buSzTx/>
              <a:buFont typeface="Wingdings" panose="05000000000000000000" charset="0"/>
              <a:buChar char="l"/>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建立一个栈</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从右到左扫描前缀表达式。</a:t>
            </a:r>
          </a:p>
          <a:p>
            <a:pPr marL="596900" marR="0" lvl="0" indent="-342900" algn="l" defTabSz="914400" rtl="0" eaLnBrk="0" fontAlgn="base" latinLnBrk="0" hangingPunct="0">
              <a:lnSpc>
                <a:spcPct val="125000"/>
              </a:lnSpc>
              <a:spcBef>
                <a:spcPct val="20000"/>
              </a:spcBef>
              <a:spcAft>
                <a:spcPct val="0"/>
              </a:spcAft>
              <a:buClrTx/>
              <a:buSzTx/>
              <a:buFont typeface="Wingdings" panose="05000000000000000000" charset="0"/>
              <a:buChar char="l"/>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遇到数字就将其转换为数值压入栈</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中。</a:t>
            </a:r>
          </a:p>
          <a:p>
            <a:pPr marL="596900" marR="0" lvl="0" indent="-342900" algn="l" defTabSz="914400" rtl="0" eaLnBrk="0" fontAlgn="base" latinLnBrk="0" hangingPunct="0">
              <a:lnSpc>
                <a:spcPct val="125000"/>
              </a:lnSpc>
              <a:spcBef>
                <a:spcPct val="20000"/>
              </a:spcBef>
              <a:spcAft>
                <a:spcPct val="0"/>
              </a:spcAft>
              <a:buClrTx/>
              <a:buSzTx/>
              <a:buFont typeface="Wingdings" panose="05000000000000000000" charset="0"/>
              <a:buChar char="l"/>
              <a:defRPr/>
            </a:pPr>
            <a:r>
              <a:rPr lang="zh-CN" altLang="en-US" sz="1800" b="0" dirty="0">
                <a:latin typeface="+mn-lt"/>
                <a:ea typeface="+mn-ea"/>
                <a:cs typeface="+mn-ea"/>
                <a:sym typeface="+mn-lt"/>
              </a:rPr>
              <a:t>遇</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到运算符</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op</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时，则从栈中依次弹出两个数</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Y</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X</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，然后以</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"X</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op Y</a:t>
            </a:r>
            <a:r>
              <a:rPr lang="en-US" altLang="zh-CN" sz="1800" b="0" noProof="0" dirty="0">
                <a:latin typeface="+mn-lt"/>
                <a:ea typeface="+mn-ea"/>
                <a:cs typeface="+mn-ea"/>
                <a:sym typeface="+mn-lt"/>
              </a:rPr>
              <a:t>"</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的形式计算，将计算结果压入栈</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S</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中。</a:t>
            </a:r>
          </a:p>
          <a:p>
            <a:pPr marL="596900" marR="0" lvl="0" indent="-342900" algn="l" defTabSz="914400" rtl="0" eaLnBrk="0" fontAlgn="base" latinLnBrk="0" hangingPunct="0">
              <a:lnSpc>
                <a:spcPct val="125000"/>
              </a:lnSpc>
              <a:spcBef>
                <a:spcPct val="20000"/>
              </a:spcBef>
              <a:spcAft>
                <a:spcPct val="0"/>
              </a:spcAft>
              <a:buClrTx/>
              <a:buSzTx/>
              <a:buFont typeface="Wingdings" panose="05000000000000000000" charset="0"/>
              <a:buChar char="l"/>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重复执行，直到表达式最左端，最后输出栈顶的数值即为表达式的结果。</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9" name="Shape 26"/>
          <p:cNvSpPr/>
          <p:nvPr/>
        </p:nvSpPr>
        <p:spPr>
          <a:xfrm flipH="1">
            <a:off x="0" y="6381750"/>
            <a:ext cx="9140825" cy="4762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52590" name="Rectangle 154"/>
          <p:cNvSpPr txBox="1"/>
          <p:nvPr/>
        </p:nvSpPr>
        <p:spPr>
          <a:xfrm>
            <a:off x="827405" y="163830"/>
            <a:ext cx="806507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补充：将中缀表达式转换成后缀表达式</a:t>
            </a:r>
            <a:r>
              <a:rPr lang="zh-CN" altLang="en-US" dirty="0">
                <a:solidFill>
                  <a:schemeClr val="bg1"/>
                </a:solidFill>
                <a:sym typeface="+mn-lt"/>
              </a:rPr>
              <a:t>（两个栈）</a:t>
            </a:r>
          </a:p>
        </p:txBody>
      </p:sp>
      <p:sp>
        <p:nvSpPr>
          <p:cNvPr id="12" name="Rectangle 5"/>
          <p:cNvSpPr>
            <a:spLocks noChangeArrowheads="1"/>
          </p:cNvSpPr>
          <p:nvPr/>
        </p:nvSpPr>
        <p:spPr bwMode="auto">
          <a:xfrm>
            <a:off x="4763" y="823913"/>
            <a:ext cx="2122488" cy="509588"/>
          </a:xfrm>
          <a:prstGeom prst="rect">
            <a:avLst/>
          </a:prstGeom>
          <a:solidFill>
            <a:srgbClr val="A78DC2"/>
          </a:solidFill>
          <a:ln>
            <a:noFill/>
          </a:ln>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13" name="Rectangle 6"/>
          <p:cNvSpPr>
            <a:spLocks noChangeArrowheads="1"/>
          </p:cNvSpPr>
          <p:nvPr/>
        </p:nvSpPr>
        <p:spPr bwMode="auto">
          <a:xfrm>
            <a:off x="-2857" y="1331958"/>
            <a:ext cx="9034463" cy="52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54000">
              <a:defRPr sz="2400" b="1">
                <a:solidFill>
                  <a:schemeClr val="tx1"/>
                </a:solidFill>
                <a:latin typeface="Times New Roman" panose="02020603050405020304" pitchFamily="18" charset="0"/>
                <a:ea typeface="楷体_GB2312" pitchFamily="49" charset="-122"/>
              </a:defRPr>
            </a:lvl1pPr>
            <a:lvl2pPr indent="254000">
              <a:defRPr sz="2400" b="1">
                <a:solidFill>
                  <a:schemeClr val="tx1"/>
                </a:solidFill>
                <a:latin typeface="Times New Roman" panose="02020603050405020304" pitchFamily="18" charset="0"/>
                <a:ea typeface="楷体_GB2312" pitchFamily="49" charset="-122"/>
              </a:defRPr>
            </a:lvl2pPr>
            <a:lvl3pPr indent="254000">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541655" lvl="0" indent="-287655">
              <a:lnSpc>
                <a:spcPct val="125000"/>
              </a:lnSpc>
              <a:spcBef>
                <a:spcPct val="20000"/>
              </a:spcBef>
              <a:defRPr/>
            </a:pPr>
            <a:r>
              <a:rPr lang="en-US" altLang="zh-CN" sz="1600" b="0" dirty="0">
                <a:latin typeface="+mn-lt"/>
                <a:ea typeface="+mn-ea"/>
                <a:cs typeface="+mn-ea"/>
                <a:sym typeface="+mn-lt"/>
              </a:rPr>
              <a:t>(1) </a:t>
            </a:r>
            <a:r>
              <a:rPr lang="zh-CN" altLang="en-US" sz="1600" b="0" dirty="0">
                <a:latin typeface="+mn-lt"/>
                <a:ea typeface="+mn-ea"/>
                <a:cs typeface="+mn-ea"/>
                <a:sym typeface="+mn-lt"/>
              </a:rPr>
              <a:t>初始化两个栈：运算符栈</a:t>
            </a:r>
            <a:r>
              <a:rPr lang="en-US" altLang="zh-CN" sz="1600" b="0" dirty="0">
                <a:latin typeface="+mn-lt"/>
                <a:ea typeface="+mn-ea"/>
                <a:cs typeface="+mn-ea"/>
                <a:sym typeface="+mn-lt"/>
              </a:rPr>
              <a:t>S1</a:t>
            </a:r>
            <a:r>
              <a:rPr lang="zh-CN" altLang="en-US" sz="1600" b="0" dirty="0">
                <a:latin typeface="+mn-lt"/>
                <a:ea typeface="+mn-ea"/>
                <a:cs typeface="+mn-ea"/>
                <a:sym typeface="+mn-lt"/>
              </a:rPr>
              <a:t>和储存中间结果的栈</a:t>
            </a:r>
            <a:r>
              <a:rPr lang="en-US" altLang="zh-CN" sz="1600" b="0" dirty="0">
                <a:latin typeface="+mn-lt"/>
                <a:ea typeface="+mn-ea"/>
                <a:cs typeface="+mn-ea"/>
                <a:sym typeface="+mn-lt"/>
              </a:rPr>
              <a:t>S2</a:t>
            </a:r>
            <a:r>
              <a:rPr lang="zh-CN" altLang="en-US" sz="1600" b="0" dirty="0">
                <a:latin typeface="+mn-lt"/>
                <a:ea typeface="+mn-ea"/>
                <a:cs typeface="+mn-ea"/>
                <a:sym typeface="+mn-lt"/>
              </a:rPr>
              <a:t>。</a:t>
            </a:r>
          </a:p>
          <a:p>
            <a:pPr marL="541655" lvl="0" indent="-287655">
              <a:lnSpc>
                <a:spcPct val="125000"/>
              </a:lnSpc>
              <a:spcBef>
                <a:spcPct val="20000"/>
              </a:spcBef>
              <a:defRPr/>
            </a:pPr>
            <a:r>
              <a:rPr lang="en-US" altLang="zh-CN" sz="1600" b="0" dirty="0">
                <a:latin typeface="+mn-lt"/>
                <a:ea typeface="+mn-ea"/>
                <a:cs typeface="+mn-ea"/>
                <a:sym typeface="+mn-lt"/>
              </a:rPr>
              <a:t>(2) </a:t>
            </a:r>
            <a:r>
              <a:rPr lang="zh-CN" altLang="en-US" sz="1600" b="0" dirty="0">
                <a:latin typeface="+mn-lt"/>
                <a:ea typeface="+mn-ea"/>
                <a:cs typeface="+mn-ea"/>
                <a:sym typeface="+mn-lt"/>
              </a:rPr>
              <a:t>从左至右扫描中缀表达式。</a:t>
            </a:r>
          </a:p>
          <a:p>
            <a:pPr marL="541655" lvl="0" indent="-287655">
              <a:lnSpc>
                <a:spcPct val="125000"/>
              </a:lnSpc>
              <a:spcBef>
                <a:spcPct val="20000"/>
              </a:spcBef>
              <a:defRPr/>
            </a:pPr>
            <a:r>
              <a:rPr lang="en-US" altLang="zh-CN" sz="1600" b="0" dirty="0">
                <a:latin typeface="+mn-lt"/>
                <a:ea typeface="+mn-ea"/>
                <a:cs typeface="+mn-ea"/>
                <a:sym typeface="+mn-lt"/>
              </a:rPr>
              <a:t>(3) </a:t>
            </a:r>
            <a:r>
              <a:rPr lang="zh-CN" altLang="en-US" sz="1600" b="0" dirty="0">
                <a:latin typeface="+mn-lt"/>
                <a:ea typeface="+mn-ea"/>
                <a:cs typeface="+mn-ea"/>
                <a:sym typeface="+mn-lt"/>
              </a:rPr>
              <a:t>遇到操作数时，将其压入</a:t>
            </a:r>
            <a:r>
              <a:rPr lang="en-US" altLang="zh-CN" sz="1600" b="0" dirty="0">
                <a:latin typeface="+mn-lt"/>
                <a:ea typeface="+mn-ea"/>
                <a:cs typeface="+mn-ea"/>
                <a:sym typeface="+mn-lt"/>
              </a:rPr>
              <a:t>S2</a:t>
            </a:r>
            <a:r>
              <a:rPr lang="zh-CN" altLang="en-US" sz="1600" b="0" dirty="0">
                <a:latin typeface="+mn-lt"/>
                <a:ea typeface="+mn-ea"/>
                <a:cs typeface="+mn-ea"/>
                <a:sym typeface="+mn-lt"/>
              </a:rPr>
              <a:t>。</a:t>
            </a:r>
          </a:p>
          <a:p>
            <a:pPr marL="541655" lvl="0" indent="-287655">
              <a:lnSpc>
                <a:spcPct val="125000"/>
              </a:lnSpc>
              <a:spcBef>
                <a:spcPct val="20000"/>
              </a:spcBef>
              <a:defRPr/>
            </a:pPr>
            <a:r>
              <a:rPr lang="en-US" altLang="zh-CN" sz="1600" b="0" dirty="0">
                <a:latin typeface="+mn-lt"/>
                <a:ea typeface="+mn-ea"/>
                <a:cs typeface="+mn-ea"/>
                <a:sym typeface="+mn-lt"/>
              </a:rPr>
              <a:t>(4) </a:t>
            </a:r>
            <a:r>
              <a:rPr lang="zh-CN" altLang="en-US" sz="1600" b="0" dirty="0">
                <a:latin typeface="+mn-lt"/>
                <a:ea typeface="+mn-ea"/>
                <a:cs typeface="+mn-ea"/>
                <a:sym typeface="+mn-lt"/>
              </a:rPr>
              <a:t>遇到运算符时，比较其与</a:t>
            </a:r>
            <a:r>
              <a:rPr lang="en-US" altLang="zh-CN" sz="1600" b="0" dirty="0">
                <a:latin typeface="+mn-lt"/>
                <a:ea typeface="+mn-ea"/>
                <a:cs typeface="+mn-ea"/>
                <a:sym typeface="+mn-lt"/>
              </a:rPr>
              <a:t>S1</a:t>
            </a:r>
            <a:r>
              <a:rPr lang="zh-CN" altLang="en-US" sz="1600" b="0" dirty="0">
                <a:latin typeface="+mn-lt"/>
                <a:ea typeface="+mn-ea"/>
                <a:cs typeface="+mn-ea"/>
                <a:sym typeface="+mn-lt"/>
              </a:rPr>
              <a:t>栈顶运算符的优先级：</a:t>
            </a:r>
          </a:p>
          <a:p>
            <a:pPr marL="541655" lvl="0" indent="-287655">
              <a:lnSpc>
                <a:spcPct val="125000"/>
              </a:lnSpc>
              <a:spcBef>
                <a:spcPct val="20000"/>
              </a:spcBef>
              <a:buFont typeface="Wingdings" panose="05000000000000000000" pitchFamily="2" charset="2"/>
              <a:buChar char="l"/>
              <a:defRPr/>
            </a:pPr>
            <a:r>
              <a:rPr lang="en-US" altLang="zh-CN" sz="1600" b="0" dirty="0">
                <a:latin typeface="+mn-lt"/>
                <a:ea typeface="+mn-ea"/>
                <a:cs typeface="+mn-ea"/>
                <a:sym typeface="+mn-lt"/>
              </a:rPr>
              <a:t>(4-1) </a:t>
            </a:r>
            <a:r>
              <a:rPr lang="zh-CN" altLang="en-US" sz="1600" b="0" dirty="0">
                <a:latin typeface="+mn-lt"/>
                <a:ea typeface="+mn-ea"/>
                <a:cs typeface="+mn-ea"/>
                <a:sym typeface="+mn-lt"/>
              </a:rPr>
              <a:t>若</a:t>
            </a:r>
            <a:r>
              <a:rPr lang="en-US" altLang="zh-CN" sz="1600" b="0" dirty="0">
                <a:latin typeface="+mn-lt"/>
                <a:ea typeface="+mn-ea"/>
                <a:cs typeface="+mn-ea"/>
                <a:sym typeface="+mn-lt"/>
              </a:rPr>
              <a:t>S1</a:t>
            </a:r>
            <a:r>
              <a:rPr lang="zh-CN" altLang="en-US" sz="1600" b="0" dirty="0">
                <a:latin typeface="+mn-lt"/>
                <a:ea typeface="+mn-ea"/>
                <a:cs typeface="+mn-ea"/>
                <a:sym typeface="+mn-lt"/>
              </a:rPr>
              <a:t>为空，或栈顶运算符为</a:t>
            </a:r>
            <a:r>
              <a:rPr lang="zh-CN" altLang="en-US" sz="1600" b="0" dirty="0">
                <a:cs typeface="+mn-ea"/>
                <a:sym typeface="+mn-lt"/>
              </a:rPr>
              <a:t>“</a:t>
            </a:r>
            <a:r>
              <a:rPr lang="en-US" altLang="zh-CN" sz="1600" b="0" dirty="0">
                <a:cs typeface="+mn-ea"/>
                <a:sym typeface="+mn-lt"/>
              </a:rPr>
              <a:t>(</a:t>
            </a:r>
            <a:r>
              <a:rPr lang="zh-CN" altLang="en-US" sz="1600" b="0" dirty="0">
                <a:cs typeface="+mn-ea"/>
                <a:sym typeface="+mn-lt"/>
              </a:rPr>
              <a:t>“ </a:t>
            </a:r>
            <a:r>
              <a:rPr lang="zh-CN" altLang="en-US" sz="1600" b="0" dirty="0">
                <a:latin typeface="+mn-lt"/>
                <a:ea typeface="+mn-ea"/>
                <a:cs typeface="+mn-ea"/>
                <a:sym typeface="+mn-lt"/>
              </a:rPr>
              <a:t>，则直接将此运算符入栈；</a:t>
            </a:r>
          </a:p>
          <a:p>
            <a:pPr marL="541655" lvl="0" indent="-287655">
              <a:lnSpc>
                <a:spcPct val="125000"/>
              </a:lnSpc>
              <a:spcBef>
                <a:spcPct val="20000"/>
              </a:spcBef>
              <a:buFont typeface="Wingdings" panose="05000000000000000000" pitchFamily="2" charset="2"/>
              <a:buChar char="l"/>
              <a:defRPr/>
            </a:pPr>
            <a:r>
              <a:rPr lang="en-US" altLang="zh-CN" sz="1600" b="0" dirty="0">
                <a:latin typeface="+mn-lt"/>
                <a:ea typeface="+mn-ea"/>
                <a:cs typeface="+mn-ea"/>
                <a:sym typeface="+mn-lt"/>
              </a:rPr>
              <a:t>(4-2) </a:t>
            </a:r>
            <a:r>
              <a:rPr lang="zh-CN" altLang="en-US" sz="1600" b="0" dirty="0">
                <a:latin typeface="+mn-lt"/>
                <a:ea typeface="+mn-ea"/>
                <a:cs typeface="+mn-ea"/>
                <a:sym typeface="+mn-lt"/>
              </a:rPr>
              <a:t>否则，若优先级比栈顶运算符的高，也将运算符压入</a:t>
            </a:r>
            <a:r>
              <a:rPr lang="en-US" altLang="zh-CN" sz="1600" b="0" dirty="0">
                <a:latin typeface="+mn-lt"/>
                <a:ea typeface="+mn-ea"/>
                <a:cs typeface="+mn-ea"/>
                <a:sym typeface="+mn-lt"/>
              </a:rPr>
              <a:t>S1</a:t>
            </a:r>
            <a:r>
              <a:rPr lang="zh-CN" altLang="en-US" sz="1600" b="0" dirty="0">
                <a:latin typeface="+mn-lt"/>
                <a:ea typeface="+mn-ea"/>
                <a:cs typeface="+mn-ea"/>
                <a:sym typeface="+mn-lt"/>
              </a:rPr>
              <a:t>；</a:t>
            </a:r>
          </a:p>
          <a:p>
            <a:pPr marL="541655" lvl="0" indent="-287655">
              <a:lnSpc>
                <a:spcPct val="125000"/>
              </a:lnSpc>
              <a:spcBef>
                <a:spcPct val="20000"/>
              </a:spcBef>
              <a:buFont typeface="Wingdings" panose="05000000000000000000" pitchFamily="2" charset="2"/>
              <a:buChar char="l"/>
              <a:defRPr/>
            </a:pPr>
            <a:r>
              <a:rPr lang="en-US" altLang="zh-CN" sz="1600" b="0" dirty="0">
                <a:latin typeface="+mn-lt"/>
                <a:ea typeface="+mn-ea"/>
                <a:cs typeface="+mn-ea"/>
                <a:sym typeface="+mn-lt"/>
              </a:rPr>
              <a:t>(4-3) </a:t>
            </a:r>
            <a:r>
              <a:rPr lang="zh-CN" altLang="en-US" sz="1600" b="0" dirty="0">
                <a:latin typeface="+mn-lt"/>
                <a:ea typeface="+mn-ea"/>
                <a:cs typeface="+mn-ea"/>
                <a:sym typeface="+mn-lt"/>
              </a:rPr>
              <a:t>否则，将</a:t>
            </a:r>
            <a:r>
              <a:rPr lang="en-US" altLang="zh-CN" sz="1600" b="0" dirty="0">
                <a:latin typeface="+mn-lt"/>
                <a:ea typeface="+mn-ea"/>
                <a:cs typeface="+mn-ea"/>
                <a:sym typeface="+mn-lt"/>
              </a:rPr>
              <a:t>S1</a:t>
            </a:r>
            <a:r>
              <a:rPr lang="zh-CN" altLang="en-US" sz="1600" b="0" dirty="0">
                <a:latin typeface="+mn-lt"/>
                <a:ea typeface="+mn-ea"/>
                <a:cs typeface="+mn-ea"/>
                <a:sym typeface="+mn-lt"/>
              </a:rPr>
              <a:t>栈顶运算符弹出并压入到</a:t>
            </a:r>
            <a:r>
              <a:rPr lang="en-US" altLang="zh-CN" sz="1600" b="0" dirty="0">
                <a:latin typeface="+mn-lt"/>
                <a:ea typeface="+mn-ea"/>
                <a:cs typeface="+mn-ea"/>
                <a:sym typeface="+mn-lt"/>
              </a:rPr>
              <a:t>S2</a:t>
            </a:r>
            <a:r>
              <a:rPr lang="zh-CN" altLang="en-US" sz="1600" b="0" dirty="0">
                <a:latin typeface="+mn-lt"/>
                <a:ea typeface="+mn-ea"/>
                <a:cs typeface="+mn-ea"/>
                <a:sym typeface="+mn-lt"/>
              </a:rPr>
              <a:t>中，再次转到</a:t>
            </a:r>
            <a:r>
              <a:rPr lang="en-US" altLang="zh-CN" sz="1600" b="0" dirty="0">
                <a:latin typeface="+mn-lt"/>
                <a:ea typeface="+mn-ea"/>
                <a:cs typeface="+mn-ea"/>
                <a:sym typeface="+mn-lt"/>
              </a:rPr>
              <a:t>(4-1)</a:t>
            </a:r>
            <a:r>
              <a:rPr lang="zh-CN" altLang="en-US" sz="1600" b="0" dirty="0">
                <a:latin typeface="+mn-lt"/>
                <a:ea typeface="+mn-ea"/>
                <a:cs typeface="+mn-ea"/>
                <a:sym typeface="+mn-lt"/>
              </a:rPr>
              <a:t>与</a:t>
            </a:r>
            <a:r>
              <a:rPr lang="en-US" altLang="zh-CN" sz="1600" b="0" dirty="0">
                <a:latin typeface="+mn-lt"/>
                <a:ea typeface="+mn-ea"/>
                <a:cs typeface="+mn-ea"/>
                <a:sym typeface="+mn-lt"/>
              </a:rPr>
              <a:t>S1</a:t>
            </a:r>
            <a:r>
              <a:rPr lang="zh-CN" altLang="en-US" sz="1600" b="0" dirty="0">
                <a:latin typeface="+mn-lt"/>
                <a:ea typeface="+mn-ea"/>
                <a:cs typeface="+mn-ea"/>
                <a:sym typeface="+mn-lt"/>
              </a:rPr>
              <a:t>中新的栈顶运算符相比。</a:t>
            </a:r>
          </a:p>
          <a:p>
            <a:pPr marL="541655" lvl="0" indent="-287655">
              <a:lnSpc>
                <a:spcPct val="125000"/>
              </a:lnSpc>
              <a:spcBef>
                <a:spcPct val="20000"/>
              </a:spcBef>
              <a:defRPr/>
            </a:pPr>
            <a:r>
              <a:rPr lang="en-US" altLang="zh-CN" sz="1600" b="0" dirty="0">
                <a:latin typeface="+mn-lt"/>
                <a:ea typeface="+mn-ea"/>
                <a:cs typeface="+mn-ea"/>
                <a:sym typeface="+mn-lt"/>
              </a:rPr>
              <a:t>(5) </a:t>
            </a:r>
            <a:r>
              <a:rPr lang="zh-CN" altLang="en-US" sz="1600" b="0" dirty="0">
                <a:latin typeface="+mn-lt"/>
                <a:ea typeface="+mn-ea"/>
                <a:cs typeface="+mn-ea"/>
                <a:sym typeface="+mn-lt"/>
              </a:rPr>
              <a:t>遇到括号时：</a:t>
            </a:r>
          </a:p>
          <a:p>
            <a:pPr marL="541655" lvl="0" indent="-287655">
              <a:lnSpc>
                <a:spcPct val="125000"/>
              </a:lnSpc>
              <a:spcBef>
                <a:spcPct val="20000"/>
              </a:spcBef>
              <a:buFont typeface="Wingdings" panose="05000000000000000000" pitchFamily="2" charset="2"/>
              <a:buChar char="l"/>
              <a:defRPr/>
            </a:pPr>
            <a:r>
              <a:rPr lang="en-US" altLang="zh-CN" sz="1600" b="0" dirty="0">
                <a:latin typeface="+mn-lt"/>
                <a:ea typeface="+mn-ea"/>
                <a:cs typeface="+mn-ea"/>
                <a:sym typeface="+mn-lt"/>
              </a:rPr>
              <a:t>(5-1) </a:t>
            </a:r>
            <a:r>
              <a:rPr lang="zh-CN" altLang="en-US" sz="1600" b="0" dirty="0">
                <a:latin typeface="+mn-lt"/>
                <a:ea typeface="+mn-ea"/>
                <a:cs typeface="+mn-ea"/>
                <a:sym typeface="+mn-lt"/>
              </a:rPr>
              <a:t>如果是</a:t>
            </a:r>
            <a:r>
              <a:rPr lang="zh-CN" altLang="en-US" sz="1600" b="0" dirty="0">
                <a:cs typeface="+mn-ea"/>
                <a:sym typeface="+mn-lt"/>
              </a:rPr>
              <a:t>“</a:t>
            </a:r>
            <a:r>
              <a:rPr lang="en-US" altLang="zh-CN" sz="1600" b="0" dirty="0">
                <a:cs typeface="+mn-ea"/>
                <a:sym typeface="+mn-lt"/>
              </a:rPr>
              <a:t>(</a:t>
            </a:r>
            <a:r>
              <a:rPr lang="zh-CN" altLang="en-US" sz="1600" b="0" dirty="0">
                <a:cs typeface="+mn-ea"/>
                <a:sym typeface="+mn-lt"/>
              </a:rPr>
              <a:t>“ </a:t>
            </a:r>
            <a:r>
              <a:rPr lang="zh-CN" altLang="en-US" sz="1600" b="0" dirty="0">
                <a:latin typeface="+mn-lt"/>
                <a:ea typeface="+mn-ea"/>
                <a:cs typeface="+mn-ea"/>
                <a:sym typeface="+mn-lt"/>
              </a:rPr>
              <a:t>，则直接压入</a:t>
            </a:r>
            <a:r>
              <a:rPr lang="en-US" altLang="zh-CN" sz="1600" b="0" dirty="0">
                <a:latin typeface="+mn-lt"/>
                <a:ea typeface="+mn-ea"/>
                <a:cs typeface="+mn-ea"/>
                <a:sym typeface="+mn-lt"/>
              </a:rPr>
              <a:t>S1</a:t>
            </a:r>
            <a:r>
              <a:rPr lang="zh-CN" altLang="en-US" sz="1600" b="0" dirty="0">
                <a:latin typeface="+mn-lt"/>
                <a:ea typeface="+mn-ea"/>
                <a:cs typeface="+mn-ea"/>
                <a:sym typeface="+mn-lt"/>
              </a:rPr>
              <a:t>；</a:t>
            </a:r>
          </a:p>
          <a:p>
            <a:pPr marL="541655" lvl="0" indent="-287655">
              <a:lnSpc>
                <a:spcPct val="125000"/>
              </a:lnSpc>
              <a:spcBef>
                <a:spcPct val="20000"/>
              </a:spcBef>
              <a:buFont typeface="Wingdings" panose="05000000000000000000" pitchFamily="2" charset="2"/>
              <a:buChar char="l"/>
              <a:defRPr/>
            </a:pPr>
            <a:r>
              <a:rPr lang="en-US" altLang="zh-CN" sz="1600" b="0" dirty="0">
                <a:latin typeface="+mn-lt"/>
                <a:ea typeface="+mn-ea"/>
                <a:cs typeface="+mn-ea"/>
                <a:sym typeface="+mn-lt"/>
              </a:rPr>
              <a:t>(5-2) </a:t>
            </a:r>
            <a:r>
              <a:rPr lang="zh-CN" altLang="en-US" sz="1600" b="0" dirty="0">
                <a:latin typeface="+mn-lt"/>
                <a:ea typeface="+mn-ea"/>
                <a:cs typeface="+mn-ea"/>
                <a:sym typeface="+mn-lt"/>
              </a:rPr>
              <a:t>如果是</a:t>
            </a:r>
            <a:r>
              <a:rPr lang="zh-CN" altLang="en-US" sz="1600" b="0" dirty="0">
                <a:cs typeface="+mn-ea"/>
                <a:sym typeface="+mn-lt"/>
              </a:rPr>
              <a:t>“</a:t>
            </a:r>
            <a:r>
              <a:rPr lang="en-US" altLang="zh-CN" sz="1600" b="0" dirty="0">
                <a:cs typeface="+mn-ea"/>
                <a:sym typeface="+mn-lt"/>
              </a:rPr>
              <a:t>)</a:t>
            </a:r>
            <a:r>
              <a:rPr lang="zh-CN" altLang="en-US" sz="1600" b="0" dirty="0">
                <a:cs typeface="+mn-ea"/>
                <a:sym typeface="+mn-lt"/>
              </a:rPr>
              <a:t>“ ， </a:t>
            </a:r>
            <a:r>
              <a:rPr lang="zh-CN" altLang="en-US" sz="1600" b="0" dirty="0">
                <a:latin typeface="+mn-lt"/>
                <a:ea typeface="+mn-ea"/>
                <a:cs typeface="+mn-ea"/>
                <a:sym typeface="+mn-lt"/>
              </a:rPr>
              <a:t>则依次弹出</a:t>
            </a:r>
            <a:r>
              <a:rPr lang="en-US" altLang="zh-CN" sz="1600" b="0" dirty="0">
                <a:latin typeface="+mn-lt"/>
                <a:ea typeface="+mn-ea"/>
                <a:cs typeface="+mn-ea"/>
                <a:sym typeface="+mn-lt"/>
              </a:rPr>
              <a:t>S1</a:t>
            </a:r>
            <a:r>
              <a:rPr lang="zh-CN" altLang="en-US" sz="1600" b="0" dirty="0">
                <a:latin typeface="+mn-lt"/>
                <a:ea typeface="+mn-ea"/>
                <a:cs typeface="+mn-ea"/>
                <a:sym typeface="+mn-lt"/>
              </a:rPr>
              <a:t>栈顶的运算符，并压入</a:t>
            </a:r>
            <a:r>
              <a:rPr lang="en-US" altLang="zh-CN" sz="1600" b="0" dirty="0">
                <a:latin typeface="+mn-lt"/>
                <a:ea typeface="+mn-ea"/>
                <a:cs typeface="+mn-ea"/>
                <a:sym typeface="+mn-lt"/>
              </a:rPr>
              <a:t>S2</a:t>
            </a:r>
            <a:r>
              <a:rPr lang="zh-CN" altLang="en-US" sz="1600" b="0" dirty="0">
                <a:latin typeface="+mn-lt"/>
                <a:ea typeface="+mn-ea"/>
                <a:cs typeface="+mn-ea"/>
                <a:sym typeface="+mn-lt"/>
              </a:rPr>
              <a:t>，直到遇到</a:t>
            </a:r>
            <a:r>
              <a:rPr lang="zh-CN" altLang="en-US" sz="1600" b="0" dirty="0">
                <a:cs typeface="+mn-ea"/>
                <a:sym typeface="+mn-lt"/>
              </a:rPr>
              <a:t>“</a:t>
            </a:r>
            <a:r>
              <a:rPr lang="en-US" altLang="zh-CN" sz="1600" b="0" dirty="0">
                <a:cs typeface="+mn-ea"/>
                <a:sym typeface="+mn-lt"/>
              </a:rPr>
              <a:t>(</a:t>
            </a:r>
            <a:r>
              <a:rPr lang="zh-CN" altLang="en-US" sz="1600" b="0" dirty="0">
                <a:cs typeface="+mn-ea"/>
                <a:sym typeface="+mn-lt"/>
              </a:rPr>
              <a:t>“</a:t>
            </a:r>
            <a:r>
              <a:rPr lang="zh-CN" altLang="en-US" sz="1600" b="0" dirty="0">
                <a:latin typeface="+mn-lt"/>
                <a:ea typeface="+mn-ea"/>
                <a:cs typeface="+mn-ea"/>
                <a:sym typeface="+mn-lt"/>
              </a:rPr>
              <a:t>为止，即将这一对括号丢弃。</a:t>
            </a:r>
            <a:endParaRPr lang="en-US" altLang="zh-CN" sz="1600" b="0" dirty="0">
              <a:latin typeface="+mn-lt"/>
              <a:ea typeface="+mn-ea"/>
              <a:cs typeface="+mn-ea"/>
              <a:sym typeface="+mn-lt"/>
            </a:endParaRPr>
          </a:p>
          <a:p>
            <a:pPr marL="254000" lvl="0" indent="0">
              <a:lnSpc>
                <a:spcPct val="125000"/>
              </a:lnSpc>
              <a:spcBef>
                <a:spcPct val="20000"/>
              </a:spcBef>
              <a:defRPr/>
            </a:pPr>
            <a:r>
              <a:rPr lang="en-US" altLang="zh-CN" sz="1600" b="0" dirty="0">
                <a:latin typeface="+mn-lt"/>
                <a:ea typeface="+mn-ea"/>
                <a:cs typeface="+mn-ea"/>
                <a:sym typeface="+mn-lt"/>
              </a:rPr>
              <a:t>(6) </a:t>
            </a:r>
            <a:r>
              <a:rPr lang="zh-CN" altLang="en-US" sz="1600" b="0" dirty="0">
                <a:latin typeface="+mn-lt"/>
                <a:ea typeface="+mn-ea"/>
                <a:cs typeface="+mn-ea"/>
                <a:sym typeface="+mn-lt"/>
              </a:rPr>
              <a:t>重复步骤</a:t>
            </a:r>
            <a:r>
              <a:rPr lang="en-US" altLang="zh-CN" sz="1600" b="0" dirty="0">
                <a:latin typeface="+mn-lt"/>
                <a:ea typeface="+mn-ea"/>
                <a:cs typeface="+mn-ea"/>
                <a:sym typeface="+mn-lt"/>
              </a:rPr>
              <a:t>(2)</a:t>
            </a:r>
            <a:r>
              <a:rPr lang="zh-CN" altLang="en-US" sz="1600" b="0" dirty="0">
                <a:latin typeface="+mn-lt"/>
                <a:ea typeface="+mn-ea"/>
                <a:cs typeface="+mn-ea"/>
                <a:sym typeface="+mn-lt"/>
              </a:rPr>
              <a:t>至</a:t>
            </a:r>
            <a:r>
              <a:rPr lang="en-US" altLang="zh-CN" sz="1600" b="0" dirty="0">
                <a:latin typeface="+mn-lt"/>
                <a:ea typeface="+mn-ea"/>
                <a:cs typeface="+mn-ea"/>
                <a:sym typeface="+mn-lt"/>
              </a:rPr>
              <a:t>(5)</a:t>
            </a:r>
            <a:r>
              <a:rPr lang="zh-CN" altLang="en-US" sz="1600" b="0" dirty="0">
                <a:latin typeface="+mn-lt"/>
                <a:ea typeface="+mn-ea"/>
                <a:cs typeface="+mn-ea"/>
                <a:sym typeface="+mn-lt"/>
              </a:rPr>
              <a:t>，直到表达式的最右边。</a:t>
            </a:r>
          </a:p>
          <a:p>
            <a:pPr marL="541655" lvl="0" indent="-287655">
              <a:lnSpc>
                <a:spcPct val="125000"/>
              </a:lnSpc>
              <a:spcBef>
                <a:spcPct val="20000"/>
              </a:spcBef>
              <a:defRPr/>
            </a:pPr>
            <a:r>
              <a:rPr lang="en-US" altLang="zh-CN" sz="1600" b="0" dirty="0">
                <a:latin typeface="+mn-lt"/>
                <a:ea typeface="+mn-ea"/>
                <a:cs typeface="+mn-ea"/>
                <a:sym typeface="+mn-lt"/>
              </a:rPr>
              <a:t>(7) </a:t>
            </a:r>
            <a:r>
              <a:rPr lang="zh-CN" altLang="en-US" sz="1600" b="0" dirty="0">
                <a:latin typeface="+mn-lt"/>
                <a:ea typeface="+mn-ea"/>
                <a:cs typeface="+mn-ea"/>
                <a:sym typeface="+mn-lt"/>
              </a:rPr>
              <a:t>将</a:t>
            </a:r>
            <a:r>
              <a:rPr lang="en-US" altLang="zh-CN" sz="1600" b="0" dirty="0">
                <a:latin typeface="+mn-lt"/>
                <a:ea typeface="+mn-ea"/>
                <a:cs typeface="+mn-ea"/>
                <a:sym typeface="+mn-lt"/>
              </a:rPr>
              <a:t>S1</a:t>
            </a:r>
            <a:r>
              <a:rPr lang="zh-CN" altLang="en-US" sz="1600" b="0" dirty="0">
                <a:latin typeface="+mn-lt"/>
                <a:ea typeface="+mn-ea"/>
                <a:cs typeface="+mn-ea"/>
                <a:sym typeface="+mn-lt"/>
              </a:rPr>
              <a:t>中剩余的运算符依次弹出并压入</a:t>
            </a:r>
            <a:r>
              <a:rPr lang="en-US" altLang="zh-CN" sz="1600" b="0" dirty="0">
                <a:latin typeface="+mn-lt"/>
                <a:ea typeface="+mn-ea"/>
                <a:cs typeface="+mn-ea"/>
                <a:sym typeface="+mn-lt"/>
              </a:rPr>
              <a:t>S2</a:t>
            </a:r>
            <a:r>
              <a:rPr lang="zh-CN" altLang="en-US" sz="1600" b="0" dirty="0">
                <a:latin typeface="+mn-lt"/>
                <a:ea typeface="+mn-ea"/>
                <a:cs typeface="+mn-ea"/>
                <a:sym typeface="+mn-lt"/>
              </a:rPr>
              <a:t>。</a:t>
            </a:r>
          </a:p>
          <a:p>
            <a:pPr marL="541655" lvl="0" indent="-287655">
              <a:lnSpc>
                <a:spcPct val="125000"/>
              </a:lnSpc>
              <a:spcBef>
                <a:spcPct val="20000"/>
              </a:spcBef>
              <a:defRPr/>
            </a:pPr>
            <a:r>
              <a:rPr lang="en-US" altLang="zh-CN" sz="1600" b="0" dirty="0">
                <a:latin typeface="+mn-lt"/>
                <a:ea typeface="+mn-ea"/>
                <a:cs typeface="+mn-ea"/>
                <a:sym typeface="+mn-lt"/>
              </a:rPr>
              <a:t>(8) </a:t>
            </a:r>
            <a:r>
              <a:rPr lang="zh-CN" altLang="en-US" sz="1600" b="0" dirty="0">
                <a:latin typeface="+mn-lt"/>
                <a:ea typeface="+mn-ea"/>
                <a:cs typeface="+mn-ea"/>
                <a:sym typeface="+mn-lt"/>
              </a:rPr>
              <a:t>依次弹出</a:t>
            </a:r>
            <a:r>
              <a:rPr lang="en-US" altLang="zh-CN" sz="1600" b="0" dirty="0">
                <a:latin typeface="+mn-lt"/>
                <a:ea typeface="+mn-ea"/>
                <a:cs typeface="+mn-ea"/>
                <a:sym typeface="+mn-lt"/>
              </a:rPr>
              <a:t>S2</a:t>
            </a:r>
            <a:r>
              <a:rPr lang="zh-CN" altLang="en-US" sz="1600" b="0" dirty="0">
                <a:latin typeface="+mn-lt"/>
                <a:ea typeface="+mn-ea"/>
                <a:cs typeface="+mn-ea"/>
                <a:sym typeface="+mn-lt"/>
              </a:rPr>
              <a:t>中的元素并输出，结果的逆序即为中缀表达式对应的后缀表达式（转换为前缀表达式时不用逆序）。</a:t>
            </a:r>
            <a:endParaRPr kumimoji="0" lang="zh-CN" altLang="en-US" sz="1600" b="0" i="0" u="none" strike="noStrike" kern="1200" cap="none" spc="0" normalizeH="0" baseline="0" noProof="0" dirty="0">
              <a:ln>
                <a:noFill/>
              </a:ln>
              <a:effectLst/>
              <a:uLnTx/>
              <a:uFillTx/>
              <a:latin typeface="+mn-lt"/>
              <a:ea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box(in)">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box(in)">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box(in)">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box(in)">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box(in)">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box(in)">
                                      <p:cBhvr>
                                        <p:cTn id="32" dur="5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3">
                                            <p:txEl>
                                              <p:pRg st="6" end="6"/>
                                            </p:txEl>
                                          </p:spTgt>
                                        </p:tgtEl>
                                        <p:attrNameLst>
                                          <p:attrName>style.visibility</p:attrName>
                                        </p:attrNameLst>
                                      </p:cBhvr>
                                      <p:to>
                                        <p:strVal val="visible"/>
                                      </p:to>
                                    </p:set>
                                    <p:animEffect transition="in" filter="box(in)">
                                      <p:cBhvr>
                                        <p:cTn id="37" dur="500"/>
                                        <p:tgtEl>
                                          <p:spTgt spid="1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3">
                                            <p:txEl>
                                              <p:pRg st="7" end="7"/>
                                            </p:txEl>
                                          </p:spTgt>
                                        </p:tgtEl>
                                        <p:attrNameLst>
                                          <p:attrName>style.visibility</p:attrName>
                                        </p:attrNameLst>
                                      </p:cBhvr>
                                      <p:to>
                                        <p:strVal val="visible"/>
                                      </p:to>
                                    </p:set>
                                    <p:animEffect transition="in" filter="box(in)">
                                      <p:cBhvr>
                                        <p:cTn id="42" dur="500"/>
                                        <p:tgtEl>
                                          <p:spTgt spid="1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3">
                                            <p:txEl>
                                              <p:pRg st="8" end="8"/>
                                            </p:txEl>
                                          </p:spTgt>
                                        </p:tgtEl>
                                        <p:attrNameLst>
                                          <p:attrName>style.visibility</p:attrName>
                                        </p:attrNameLst>
                                      </p:cBhvr>
                                      <p:to>
                                        <p:strVal val="visible"/>
                                      </p:to>
                                    </p:set>
                                    <p:animEffect transition="in" filter="box(in)">
                                      <p:cBhvr>
                                        <p:cTn id="47" dur="500"/>
                                        <p:tgtEl>
                                          <p:spTgt spid="1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13">
                                            <p:txEl>
                                              <p:pRg st="9" end="9"/>
                                            </p:txEl>
                                          </p:spTgt>
                                        </p:tgtEl>
                                        <p:attrNameLst>
                                          <p:attrName>style.visibility</p:attrName>
                                        </p:attrNameLst>
                                      </p:cBhvr>
                                      <p:to>
                                        <p:strVal val="visible"/>
                                      </p:to>
                                    </p:set>
                                    <p:animEffect transition="in" filter="box(in)">
                                      <p:cBhvr>
                                        <p:cTn id="52" dur="500"/>
                                        <p:tgtEl>
                                          <p:spTgt spid="1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13">
                                            <p:txEl>
                                              <p:pRg st="10" end="10"/>
                                            </p:txEl>
                                          </p:spTgt>
                                        </p:tgtEl>
                                        <p:attrNameLst>
                                          <p:attrName>style.visibility</p:attrName>
                                        </p:attrNameLst>
                                      </p:cBhvr>
                                      <p:to>
                                        <p:strVal val="visible"/>
                                      </p:to>
                                    </p:set>
                                    <p:animEffect transition="in" filter="box(in)">
                                      <p:cBhvr>
                                        <p:cTn id="57" dur="500"/>
                                        <p:tgtEl>
                                          <p:spTgt spid="1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13">
                                            <p:txEl>
                                              <p:pRg st="11" end="11"/>
                                            </p:txEl>
                                          </p:spTgt>
                                        </p:tgtEl>
                                        <p:attrNameLst>
                                          <p:attrName>style.visibility</p:attrName>
                                        </p:attrNameLst>
                                      </p:cBhvr>
                                      <p:to>
                                        <p:strVal val="visible"/>
                                      </p:to>
                                    </p:set>
                                    <p:animEffect transition="in" filter="box(in)">
                                      <p:cBhvr>
                                        <p:cTn id="62" dur="500"/>
                                        <p:tgtEl>
                                          <p:spTgt spid="1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13">
                                            <p:txEl>
                                              <p:pRg st="12" end="12"/>
                                            </p:txEl>
                                          </p:spTgt>
                                        </p:tgtEl>
                                        <p:attrNameLst>
                                          <p:attrName>style.visibility</p:attrName>
                                        </p:attrNameLst>
                                      </p:cBhvr>
                                      <p:to>
                                        <p:strVal val="visible"/>
                                      </p:to>
                                    </p:set>
                                    <p:animEffect transition="in" filter="box(in)">
                                      <p:cBhvr>
                                        <p:cTn id="67" dur="500"/>
                                        <p:tgtEl>
                                          <p:spTgt spid="1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20752" y="870694"/>
            <a:ext cx="5582977" cy="509588"/>
          </a:xfrm>
          <a:prstGeom prst="rect">
            <a:avLst/>
          </a:prstGeom>
          <a:solidFill>
            <a:srgbClr val="A78DC2"/>
          </a:solidFill>
          <a:ln>
            <a:noFill/>
          </a:ln>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中缀表达式“</a:t>
            </a:r>
            <a:r>
              <a:rPr kumimoji="0" lang="en-US" altLang="zh-CN" sz="2000" b="0" i="0" u="none" strike="noStrike" kern="1200" cap="none" spc="0" normalizeH="0" baseline="0" noProof="0" dirty="0">
                <a:ln>
                  <a:noFill/>
                </a:ln>
                <a:solidFill>
                  <a:schemeClr val="bg1"/>
                </a:solidFill>
                <a:effectLst/>
                <a:uLnTx/>
                <a:uFillTx/>
                <a:latin typeface="+mn-lt"/>
                <a:ea typeface="+mn-ea"/>
                <a:cs typeface="+mn-ea"/>
                <a:sym typeface="+mn-lt"/>
              </a:rPr>
              <a:t>1+((2+3)×4)-5”</a:t>
            </a:r>
            <a:r>
              <a:rPr kumimoji="0" lang="zh-CN" altLang="en-US" sz="2000" b="0" i="0" u="none" strike="noStrike" kern="1200" cap="none" spc="0" normalizeH="0" baseline="0" noProof="0" dirty="0">
                <a:ln>
                  <a:noFill/>
                </a:ln>
                <a:solidFill>
                  <a:schemeClr val="bg1"/>
                </a:solidFill>
                <a:effectLst/>
                <a:uLnTx/>
                <a:uFillTx/>
                <a:latin typeface="+mn-lt"/>
                <a:ea typeface="+mn-ea"/>
                <a:cs typeface="+mn-ea"/>
                <a:sym typeface="+mn-lt"/>
              </a:rPr>
              <a:t>转换为后缀表达式</a:t>
            </a:r>
            <a:endParaRPr kumimoji="0" lang="en-US" altLang="zh-CN" sz="2000" b="0" i="0" u="none" strike="noStrike" kern="1200" cap="none" spc="0" normalizeH="0" baseline="0" noProof="0" dirty="0">
              <a:ln>
                <a:noFill/>
              </a:ln>
              <a:solidFill>
                <a:schemeClr val="bg1"/>
              </a:solidFill>
              <a:effectLst/>
              <a:uLnTx/>
              <a:uFillTx/>
              <a:latin typeface="+mn-lt"/>
              <a:ea typeface="+mn-ea"/>
              <a:cs typeface="+mn-ea"/>
              <a:sym typeface="+mn-lt"/>
            </a:endParaRPr>
          </a:p>
        </p:txBody>
      </p:sp>
      <p:pic>
        <p:nvPicPr>
          <p:cNvPr id="7" name="图片 6"/>
          <p:cNvPicPr>
            <a:picLocks noChangeAspect="1"/>
          </p:cNvPicPr>
          <p:nvPr/>
        </p:nvPicPr>
        <p:blipFill>
          <a:blip r:embed="rId2"/>
          <a:stretch>
            <a:fillRect/>
          </a:stretch>
        </p:blipFill>
        <p:spPr>
          <a:xfrm>
            <a:off x="395536" y="1478262"/>
            <a:ext cx="7543874" cy="5152585"/>
          </a:xfrm>
          <a:prstGeom prst="rect">
            <a:avLst/>
          </a:prstGeom>
        </p:spPr>
      </p:pic>
      <p:sp>
        <p:nvSpPr>
          <p:cNvPr id="8" name="Rectangle 154"/>
          <p:cNvSpPr txBox="1">
            <a:spLocks noGrp="1"/>
          </p:cNvSpPr>
          <p:nvPr>
            <p:ph type="title"/>
          </p:nvPr>
        </p:nvSpPr>
        <p:spPr>
          <a:xfrm>
            <a:off x="844550" y="260350"/>
            <a:ext cx="8119938" cy="4572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补充：将中缀表达式转换成后缀表达式（两个栈）</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290239" y="6117707"/>
            <a:ext cx="3849390" cy="407035"/>
            <a:chOff x="7452320" y="5445224"/>
            <a:chExt cx="1691680" cy="407035"/>
          </a:xfrm>
          <a:solidFill>
            <a:schemeClr val="accent1">
              <a:lumMod val="60000"/>
              <a:lumOff val="40000"/>
            </a:schemeClr>
          </a:solidFill>
        </p:grpSpPr>
        <p:sp>
          <p:nvSpPr>
            <p:cNvPr id="2" name="矩形 1"/>
            <p:cNvSpPr/>
            <p:nvPr/>
          </p:nvSpPr>
          <p:spPr bwMode="auto">
            <a:xfrm>
              <a:off x="8180158" y="5445224"/>
              <a:ext cx="963841" cy="45719"/>
            </a:xfrm>
            <a:prstGeom prst="rect">
              <a:avLst/>
            </a:prstGeom>
            <a:grp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5" name="矩形 4"/>
            <p:cNvSpPr/>
            <p:nvPr/>
          </p:nvSpPr>
          <p:spPr bwMode="auto">
            <a:xfrm>
              <a:off x="7926997" y="5552148"/>
              <a:ext cx="1217003" cy="45719"/>
            </a:xfrm>
            <a:prstGeom prst="rect">
              <a:avLst/>
            </a:prstGeom>
            <a:grp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6" name="矩形 5"/>
            <p:cNvSpPr/>
            <p:nvPr/>
          </p:nvSpPr>
          <p:spPr bwMode="auto">
            <a:xfrm>
              <a:off x="7737126" y="5679344"/>
              <a:ext cx="1406873" cy="45719"/>
            </a:xfrm>
            <a:prstGeom prst="rect">
              <a:avLst/>
            </a:prstGeom>
            <a:grp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 name="矩形 6"/>
            <p:cNvSpPr/>
            <p:nvPr/>
          </p:nvSpPr>
          <p:spPr bwMode="auto">
            <a:xfrm>
              <a:off x="7452320" y="5806540"/>
              <a:ext cx="1691680" cy="45719"/>
            </a:xfrm>
            <a:prstGeom prst="rect">
              <a:avLst/>
            </a:prstGeom>
            <a:grp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151556" name="Rectangle 154"/>
          <p:cNvSpPr txBox="1"/>
          <p:nvPr/>
        </p:nvSpPr>
        <p:spPr>
          <a:xfrm>
            <a:off x="827404" y="189230"/>
            <a:ext cx="8137084"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smtClean="0">
                <a:solidFill>
                  <a:schemeClr val="bg1"/>
                </a:solidFill>
                <a:sym typeface="+mn-lt"/>
              </a:rPr>
              <a:t>将</a:t>
            </a:r>
            <a:r>
              <a:rPr lang="zh-CN" altLang="en-US" sz="2800" dirty="0">
                <a:solidFill>
                  <a:schemeClr val="bg1"/>
                </a:solidFill>
                <a:sym typeface="+mn-lt"/>
              </a:rPr>
              <a:t>中缀表达式转换成后缀表达式</a:t>
            </a:r>
            <a:r>
              <a:rPr lang="zh-CN" altLang="en-US" dirty="0">
                <a:solidFill>
                  <a:schemeClr val="bg1"/>
                </a:solidFill>
                <a:sym typeface="+mn-lt"/>
              </a:rPr>
              <a:t>（一个栈）</a:t>
            </a:r>
          </a:p>
        </p:txBody>
      </p:sp>
      <p:sp>
        <p:nvSpPr>
          <p:cNvPr id="151554" name="Text Box 2"/>
          <p:cNvSpPr txBox="1"/>
          <p:nvPr>
            <p:custDataLst>
              <p:tags r:id="rId1"/>
            </p:custDataLst>
          </p:nvPr>
        </p:nvSpPr>
        <p:spPr>
          <a:xfrm>
            <a:off x="414338" y="1685925"/>
            <a:ext cx="4773612" cy="579438"/>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 + b * c + ( d * e + f ) * g</a:t>
            </a:r>
          </a:p>
        </p:txBody>
      </p:sp>
      <p:sp>
        <p:nvSpPr>
          <p:cNvPr id="364612" name="Line 68"/>
          <p:cNvSpPr/>
          <p:nvPr/>
        </p:nvSpPr>
        <p:spPr>
          <a:xfrm>
            <a:off x="2501900" y="2197100"/>
            <a:ext cx="2006600" cy="0"/>
          </a:xfrm>
          <a:prstGeom prst="line">
            <a:avLst/>
          </a:prstGeom>
          <a:ln w="57150" cap="flat" cmpd="thinThick">
            <a:solidFill>
              <a:schemeClr val="folHlink"/>
            </a:solidFill>
            <a:prstDash val="solid"/>
            <a:headEnd type="none" w="med" len="med"/>
            <a:tailEnd type="none" w="med" len="med"/>
          </a:ln>
        </p:spPr>
        <p:txBody>
          <a:bodyPr/>
          <a:lstStyle/>
          <a:p>
            <a:endParaRPr lang="zh-CN" altLang="en-US"/>
          </a:p>
        </p:txBody>
      </p:sp>
      <p:sp>
        <p:nvSpPr>
          <p:cNvPr id="364613" name="Text Box 69"/>
          <p:cNvSpPr txBox="1">
            <a:spLocks noChangeArrowheads="1"/>
          </p:cNvSpPr>
          <p:nvPr/>
        </p:nvSpPr>
        <p:spPr bwMode="auto">
          <a:xfrm>
            <a:off x="2743200" y="1778000"/>
            <a:ext cx="927100" cy="366713"/>
          </a:xfrm>
          <a:prstGeom prst="rect">
            <a:avLst/>
          </a:prstGeom>
          <a:solidFill>
            <a:srgbClr val="FF99CC">
              <a:alpha val="50000"/>
            </a:srgbClr>
          </a:solidFill>
          <a:ln w="9525" algn="ctr">
            <a:noFill/>
            <a:miter lim="800000"/>
          </a:ln>
          <a:effectLst/>
        </p:spPr>
        <p:txBody>
          <a:bodyPr lIns="90000" tIns="46800" rIns="90000" bIns="46800">
            <a:spAutoFit/>
          </a:bodyPr>
          <a:lstStyle/>
          <a:p>
            <a:pPr marR="0" defTabSz="914400">
              <a:spcBef>
                <a:spcPct val="50000"/>
              </a:spcBef>
              <a:buClrTx/>
              <a:buSzTx/>
              <a:buFontTx/>
              <a:buNone/>
              <a:defRPr/>
            </a:pPr>
            <a:endParaRPr kumimoji="1" lang="zh-CN" altLang="zh-CN" kern="1200" cap="none" spc="0" normalizeH="0" baseline="0" noProof="0">
              <a:effectLst>
                <a:outerShdw blurRad="38100" dist="38100" dir="2700000" algn="tl">
                  <a:srgbClr val="000000"/>
                </a:outerShdw>
              </a:effectLst>
              <a:latin typeface="Times New Roman" panose="02020603050405020304" pitchFamily="18" charset="0"/>
              <a:ea typeface="楷体_GB2312"/>
              <a:cs typeface="楷体_GB2312"/>
            </a:endParaRPr>
          </a:p>
        </p:txBody>
      </p:sp>
      <p:sp>
        <p:nvSpPr>
          <p:cNvPr id="364614" name="AutoShape 70"/>
          <p:cNvSpPr/>
          <p:nvPr/>
        </p:nvSpPr>
        <p:spPr>
          <a:xfrm rot="10800000">
            <a:off x="3390900" y="2222500"/>
            <a:ext cx="177800" cy="342900"/>
          </a:xfrm>
          <a:prstGeom prst="upArrow">
            <a:avLst>
              <a:gd name="adj1" fmla="val 50000"/>
              <a:gd name="adj2" fmla="val 48214"/>
            </a:avLst>
          </a:prstGeom>
          <a:gradFill rotWithShape="1">
            <a:gsLst>
              <a:gs pos="0">
                <a:srgbClr val="007600"/>
              </a:gs>
              <a:gs pos="50000">
                <a:srgbClr val="00FF00"/>
              </a:gs>
              <a:gs pos="100000">
                <a:srgbClr val="007600"/>
              </a:gs>
            </a:gsLst>
            <a:lin ang="5400000" scaled="1"/>
            <a:tileRect/>
          </a:gradFill>
          <a:ln w="9525">
            <a:noFill/>
          </a:ln>
        </p:spPr>
        <p:txBody>
          <a:bodyPr lIns="90000" tIns="46800" rIns="90000" bIns="46800"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364615" name="Text Box 71"/>
          <p:cNvSpPr txBox="1"/>
          <p:nvPr>
            <p:custDataLst>
              <p:tags r:id="rId2"/>
            </p:custDataLst>
          </p:nvPr>
        </p:nvSpPr>
        <p:spPr>
          <a:xfrm>
            <a:off x="2836863" y="2414588"/>
            <a:ext cx="1060450" cy="5191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eaLnBrk="1" hangingPunct="1">
              <a:buNone/>
            </a:pPr>
            <a:r>
              <a:rPr lang="en-US" altLang="zh-CN" sz="2800" b="1" dirty="0">
                <a:solidFill>
                  <a:schemeClr val="folHlink"/>
                </a:solidFill>
                <a:latin typeface="Arial" panose="020B0604020202020204" pitchFamily="34" charset="0"/>
                <a:ea typeface="楷体_GB2312" pitchFamily="49" charset="-122"/>
              </a:rPr>
              <a:t>d e *</a:t>
            </a:r>
          </a:p>
        </p:txBody>
      </p:sp>
      <p:sp>
        <p:nvSpPr>
          <p:cNvPr id="364616" name="Text Box 72"/>
          <p:cNvSpPr txBox="1"/>
          <p:nvPr>
            <p:custDataLst>
              <p:tags r:id="rId3"/>
            </p:custDataLst>
          </p:nvPr>
        </p:nvSpPr>
        <p:spPr>
          <a:xfrm>
            <a:off x="3675063" y="2414588"/>
            <a:ext cx="400050" cy="5191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eaLnBrk="1" hangingPunct="1">
              <a:buNone/>
            </a:pPr>
            <a:r>
              <a:rPr lang="en-US" altLang="zh-CN" sz="2800" b="1" dirty="0">
                <a:solidFill>
                  <a:schemeClr val="folHlink"/>
                </a:solidFill>
                <a:latin typeface="Arial" panose="020B0604020202020204" pitchFamily="34" charset="0"/>
                <a:ea typeface="楷体_GB2312" pitchFamily="49" charset="-122"/>
              </a:rPr>
              <a:t>f </a:t>
            </a:r>
          </a:p>
        </p:txBody>
      </p:sp>
      <p:sp>
        <p:nvSpPr>
          <p:cNvPr id="364617" name="Text Box 73"/>
          <p:cNvSpPr txBox="1">
            <a:spLocks noChangeArrowheads="1"/>
          </p:cNvSpPr>
          <p:nvPr/>
        </p:nvSpPr>
        <p:spPr bwMode="auto">
          <a:xfrm>
            <a:off x="2870200" y="2501900"/>
            <a:ext cx="787400" cy="366713"/>
          </a:xfrm>
          <a:prstGeom prst="rect">
            <a:avLst/>
          </a:prstGeom>
          <a:solidFill>
            <a:srgbClr val="FF99CC">
              <a:alpha val="50000"/>
            </a:srgbClr>
          </a:solidFill>
          <a:ln w="9525" algn="ctr">
            <a:noFill/>
            <a:miter lim="800000"/>
          </a:ln>
          <a:effectLst/>
        </p:spPr>
        <p:txBody>
          <a:bodyPr lIns="90000" tIns="46800" rIns="90000" bIns="46800">
            <a:spAutoFit/>
          </a:bodyPr>
          <a:lstStyle/>
          <a:p>
            <a:pPr marR="0" defTabSz="914400">
              <a:spcBef>
                <a:spcPct val="50000"/>
              </a:spcBef>
              <a:buClrTx/>
              <a:buSzTx/>
              <a:buFontTx/>
              <a:buNone/>
              <a:defRPr/>
            </a:pPr>
            <a:endParaRPr kumimoji="1" lang="zh-CN" altLang="zh-CN" kern="1200" cap="none" spc="0" normalizeH="0" baseline="0" noProof="0">
              <a:effectLst>
                <a:outerShdw blurRad="38100" dist="38100" dir="2700000" algn="tl">
                  <a:srgbClr val="000000"/>
                </a:outerShdw>
              </a:effectLst>
              <a:latin typeface="Times New Roman" panose="02020603050405020304" pitchFamily="18" charset="0"/>
              <a:ea typeface="楷体_GB2312"/>
              <a:cs typeface="楷体_GB2312"/>
            </a:endParaRPr>
          </a:p>
        </p:txBody>
      </p:sp>
      <p:sp>
        <p:nvSpPr>
          <p:cNvPr id="364618" name="Text Box 74"/>
          <p:cNvSpPr txBox="1"/>
          <p:nvPr>
            <p:custDataLst>
              <p:tags r:id="rId4"/>
            </p:custDataLst>
          </p:nvPr>
        </p:nvSpPr>
        <p:spPr>
          <a:xfrm>
            <a:off x="3890963" y="2427288"/>
            <a:ext cx="400050" cy="5191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eaLnBrk="1" hangingPunct="1">
              <a:buNone/>
            </a:pPr>
            <a:r>
              <a:rPr lang="en-US" altLang="zh-CN" sz="2800" b="1" dirty="0">
                <a:solidFill>
                  <a:schemeClr val="folHlink"/>
                </a:solidFill>
                <a:latin typeface="Arial" panose="020B0604020202020204" pitchFamily="34" charset="0"/>
                <a:ea typeface="楷体_GB2312" pitchFamily="49" charset="-122"/>
              </a:rPr>
              <a:t>+</a:t>
            </a:r>
          </a:p>
        </p:txBody>
      </p:sp>
      <p:sp>
        <p:nvSpPr>
          <p:cNvPr id="364619" name="Text Box 75"/>
          <p:cNvSpPr txBox="1">
            <a:spLocks noChangeArrowheads="1"/>
          </p:cNvSpPr>
          <p:nvPr/>
        </p:nvSpPr>
        <p:spPr bwMode="auto">
          <a:xfrm>
            <a:off x="2806700" y="2501900"/>
            <a:ext cx="1524000" cy="366713"/>
          </a:xfrm>
          <a:prstGeom prst="rect">
            <a:avLst/>
          </a:prstGeom>
          <a:solidFill>
            <a:srgbClr val="FF99CC">
              <a:alpha val="50000"/>
            </a:srgbClr>
          </a:solidFill>
          <a:ln w="9525" algn="ctr">
            <a:noFill/>
            <a:miter lim="800000"/>
          </a:ln>
          <a:effectLst/>
        </p:spPr>
        <p:txBody>
          <a:bodyPr lIns="90000" tIns="46800" rIns="90000" bIns="46800">
            <a:spAutoFit/>
          </a:bodyPr>
          <a:lstStyle/>
          <a:p>
            <a:pPr marR="0" defTabSz="914400">
              <a:spcBef>
                <a:spcPct val="50000"/>
              </a:spcBef>
              <a:buClrTx/>
              <a:buSzTx/>
              <a:buFontTx/>
              <a:buNone/>
              <a:defRPr/>
            </a:pPr>
            <a:endParaRPr kumimoji="1" lang="zh-CN" altLang="zh-CN" kern="1200" cap="none" spc="0" normalizeH="0" baseline="0" noProof="0">
              <a:effectLst>
                <a:outerShdw blurRad="38100" dist="38100" dir="2700000" algn="tl">
                  <a:srgbClr val="000000"/>
                </a:outerShdw>
              </a:effectLst>
              <a:latin typeface="Times New Roman" panose="02020603050405020304" pitchFamily="18" charset="0"/>
              <a:ea typeface="楷体_GB2312"/>
              <a:cs typeface="楷体_GB2312"/>
            </a:endParaRPr>
          </a:p>
        </p:txBody>
      </p:sp>
      <p:sp>
        <p:nvSpPr>
          <p:cNvPr id="364620" name="Line 76"/>
          <p:cNvSpPr/>
          <p:nvPr/>
        </p:nvSpPr>
        <p:spPr>
          <a:xfrm>
            <a:off x="1117600" y="2209800"/>
            <a:ext cx="1028700" cy="0"/>
          </a:xfrm>
          <a:prstGeom prst="line">
            <a:avLst/>
          </a:prstGeom>
          <a:ln w="57150" cap="flat" cmpd="thinThick">
            <a:solidFill>
              <a:schemeClr val="folHlink"/>
            </a:solidFill>
            <a:prstDash val="solid"/>
            <a:headEnd type="none" w="med" len="med"/>
            <a:tailEnd type="none" w="med" len="med"/>
          </a:ln>
        </p:spPr>
        <p:txBody>
          <a:bodyPr/>
          <a:lstStyle/>
          <a:p>
            <a:endParaRPr lang="zh-CN" altLang="en-US"/>
          </a:p>
        </p:txBody>
      </p:sp>
      <p:sp>
        <p:nvSpPr>
          <p:cNvPr id="364621" name="AutoShape 77"/>
          <p:cNvSpPr/>
          <p:nvPr/>
        </p:nvSpPr>
        <p:spPr>
          <a:xfrm rot="10800000">
            <a:off x="1511300" y="2235200"/>
            <a:ext cx="177800" cy="342900"/>
          </a:xfrm>
          <a:prstGeom prst="upArrow">
            <a:avLst>
              <a:gd name="adj1" fmla="val 50000"/>
              <a:gd name="adj2" fmla="val 48214"/>
            </a:avLst>
          </a:prstGeom>
          <a:gradFill rotWithShape="1">
            <a:gsLst>
              <a:gs pos="0">
                <a:srgbClr val="007600"/>
              </a:gs>
              <a:gs pos="50000">
                <a:srgbClr val="00FF00"/>
              </a:gs>
              <a:gs pos="100000">
                <a:srgbClr val="007600"/>
              </a:gs>
            </a:gsLst>
            <a:lin ang="5400000" scaled="1"/>
            <a:tileRect/>
          </a:gradFill>
          <a:ln w="9525">
            <a:noFill/>
          </a:ln>
        </p:spPr>
        <p:txBody>
          <a:bodyPr lIns="90000" tIns="46800" rIns="90000" bIns="46800"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364622" name="Text Box 78"/>
          <p:cNvSpPr txBox="1"/>
          <p:nvPr>
            <p:custDataLst>
              <p:tags r:id="rId5"/>
            </p:custDataLst>
          </p:nvPr>
        </p:nvSpPr>
        <p:spPr>
          <a:xfrm>
            <a:off x="1122363" y="2401888"/>
            <a:ext cx="984250" cy="5191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eaLnBrk="1" hangingPunct="1">
              <a:buNone/>
            </a:pPr>
            <a:r>
              <a:rPr lang="en-US" altLang="zh-CN" sz="2800" b="1" dirty="0">
                <a:solidFill>
                  <a:srgbClr val="0000CC"/>
                </a:solidFill>
                <a:latin typeface="Arial" panose="020B0604020202020204" pitchFamily="34" charset="0"/>
                <a:ea typeface="楷体_GB2312" pitchFamily="49" charset="-122"/>
              </a:rPr>
              <a:t>b c *</a:t>
            </a:r>
            <a:endParaRPr lang="en-US" altLang="zh-CN" sz="2800" b="1" dirty="0">
              <a:solidFill>
                <a:srgbClr val="FF0000"/>
              </a:solidFill>
              <a:latin typeface="Arial" panose="020B0604020202020204" pitchFamily="34" charset="0"/>
              <a:ea typeface="楷体_GB2312" pitchFamily="49" charset="-122"/>
            </a:endParaRPr>
          </a:p>
        </p:txBody>
      </p:sp>
      <p:sp>
        <p:nvSpPr>
          <p:cNvPr id="364623" name="Text Box 79"/>
          <p:cNvSpPr txBox="1">
            <a:spLocks noChangeArrowheads="1"/>
          </p:cNvSpPr>
          <p:nvPr/>
        </p:nvSpPr>
        <p:spPr bwMode="auto">
          <a:xfrm>
            <a:off x="1143000" y="2489200"/>
            <a:ext cx="927100" cy="366713"/>
          </a:xfrm>
          <a:prstGeom prst="rect">
            <a:avLst/>
          </a:prstGeom>
          <a:solidFill>
            <a:srgbClr val="CCFFFF">
              <a:alpha val="50000"/>
            </a:srgbClr>
          </a:solidFill>
          <a:ln w="9525" algn="ctr">
            <a:noFill/>
            <a:miter lim="800000"/>
          </a:ln>
          <a:effectLst/>
        </p:spPr>
        <p:txBody>
          <a:bodyPr lIns="90000" tIns="46800" rIns="90000" bIns="46800">
            <a:spAutoFit/>
          </a:bodyPr>
          <a:lstStyle/>
          <a:p>
            <a:pPr marR="0" defTabSz="914400">
              <a:spcBef>
                <a:spcPct val="50000"/>
              </a:spcBef>
              <a:buClrTx/>
              <a:buSzTx/>
              <a:buFontTx/>
              <a:buNone/>
              <a:defRPr/>
            </a:pPr>
            <a:endParaRPr kumimoji="1" lang="zh-CN" altLang="zh-CN" kern="1200" cap="none" spc="0" normalizeH="0" baseline="0" noProof="0">
              <a:effectLst>
                <a:outerShdw blurRad="38100" dist="38100" dir="2700000" algn="tl">
                  <a:srgbClr val="000000"/>
                </a:outerShdw>
              </a:effectLst>
              <a:latin typeface="Times New Roman" panose="02020603050405020304" pitchFamily="18" charset="0"/>
              <a:ea typeface="楷体_GB2312"/>
              <a:cs typeface="楷体_GB2312"/>
            </a:endParaRPr>
          </a:p>
        </p:txBody>
      </p:sp>
      <p:sp>
        <p:nvSpPr>
          <p:cNvPr id="364624" name="Line 80"/>
          <p:cNvSpPr/>
          <p:nvPr/>
        </p:nvSpPr>
        <p:spPr>
          <a:xfrm>
            <a:off x="2501900" y="2946400"/>
            <a:ext cx="2794000" cy="0"/>
          </a:xfrm>
          <a:prstGeom prst="line">
            <a:avLst/>
          </a:prstGeom>
          <a:ln w="57150" cap="flat" cmpd="thinThick">
            <a:solidFill>
              <a:schemeClr val="folHlink"/>
            </a:solidFill>
            <a:prstDash val="solid"/>
            <a:headEnd type="none" w="med" len="med"/>
            <a:tailEnd type="none" w="med" len="med"/>
          </a:ln>
        </p:spPr>
        <p:txBody>
          <a:bodyPr/>
          <a:lstStyle/>
          <a:p>
            <a:endParaRPr lang="zh-CN" altLang="en-US"/>
          </a:p>
        </p:txBody>
      </p:sp>
      <p:sp>
        <p:nvSpPr>
          <p:cNvPr id="364625" name="AutoShape 81"/>
          <p:cNvSpPr/>
          <p:nvPr/>
        </p:nvSpPr>
        <p:spPr>
          <a:xfrm rot="10800000">
            <a:off x="3848100" y="2959100"/>
            <a:ext cx="177800" cy="342900"/>
          </a:xfrm>
          <a:prstGeom prst="upArrow">
            <a:avLst>
              <a:gd name="adj1" fmla="val 50000"/>
              <a:gd name="adj2" fmla="val 48214"/>
            </a:avLst>
          </a:prstGeom>
          <a:gradFill rotWithShape="1">
            <a:gsLst>
              <a:gs pos="0">
                <a:srgbClr val="007600"/>
              </a:gs>
              <a:gs pos="50000">
                <a:srgbClr val="00FF00"/>
              </a:gs>
              <a:gs pos="100000">
                <a:srgbClr val="007600"/>
              </a:gs>
            </a:gsLst>
            <a:lin ang="5400000" scaled="1"/>
            <a:tileRect/>
          </a:gradFill>
          <a:ln w="9525">
            <a:noFill/>
          </a:ln>
        </p:spPr>
        <p:txBody>
          <a:bodyPr lIns="90000" tIns="46800" rIns="90000" bIns="46800"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364626" name="Text Box 82"/>
          <p:cNvSpPr txBox="1"/>
          <p:nvPr>
            <p:custDataLst>
              <p:tags r:id="rId6"/>
            </p:custDataLst>
          </p:nvPr>
        </p:nvSpPr>
        <p:spPr>
          <a:xfrm>
            <a:off x="2989263" y="3201988"/>
            <a:ext cx="1466850" cy="5191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eaLnBrk="1" hangingPunct="1">
              <a:buNone/>
            </a:pPr>
            <a:r>
              <a:rPr lang="en-US" altLang="zh-CN" sz="2800" b="1" dirty="0">
                <a:solidFill>
                  <a:schemeClr val="folHlink"/>
                </a:solidFill>
                <a:latin typeface="Arial" panose="020B0604020202020204" pitchFamily="34" charset="0"/>
                <a:ea typeface="楷体_GB2312" pitchFamily="49" charset="-122"/>
              </a:rPr>
              <a:t>d e * f +</a:t>
            </a:r>
          </a:p>
        </p:txBody>
      </p:sp>
      <p:sp>
        <p:nvSpPr>
          <p:cNvPr id="364627" name="Text Box 83"/>
          <p:cNvSpPr txBox="1"/>
          <p:nvPr>
            <p:custDataLst>
              <p:tags r:id="rId7"/>
            </p:custDataLst>
          </p:nvPr>
        </p:nvSpPr>
        <p:spPr>
          <a:xfrm>
            <a:off x="4411663" y="3138488"/>
            <a:ext cx="400050" cy="5191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eaLnBrk="1" hangingPunct="1">
              <a:buNone/>
            </a:pPr>
            <a:r>
              <a:rPr lang="en-US" altLang="zh-CN" sz="2800" b="1" dirty="0">
                <a:solidFill>
                  <a:schemeClr val="folHlink"/>
                </a:solidFill>
                <a:latin typeface="Arial" panose="020B0604020202020204" pitchFamily="34" charset="0"/>
                <a:ea typeface="楷体_GB2312" pitchFamily="49" charset="-122"/>
              </a:rPr>
              <a:t>g</a:t>
            </a:r>
          </a:p>
        </p:txBody>
      </p:sp>
      <p:sp>
        <p:nvSpPr>
          <p:cNvPr id="364628" name="Text Box 84"/>
          <p:cNvSpPr txBox="1"/>
          <p:nvPr>
            <p:custDataLst>
              <p:tags r:id="rId8"/>
            </p:custDataLst>
          </p:nvPr>
        </p:nvSpPr>
        <p:spPr>
          <a:xfrm>
            <a:off x="4703763" y="3240088"/>
            <a:ext cx="400050" cy="5191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eaLnBrk="1" hangingPunct="1">
              <a:buNone/>
            </a:pPr>
            <a:r>
              <a:rPr lang="en-US" altLang="zh-CN" sz="2800" b="1" dirty="0">
                <a:solidFill>
                  <a:schemeClr val="folHlink"/>
                </a:solidFill>
                <a:latin typeface="Arial" panose="020B0604020202020204" pitchFamily="34" charset="0"/>
                <a:ea typeface="楷体_GB2312" pitchFamily="49" charset="-122"/>
              </a:rPr>
              <a:t>*</a:t>
            </a:r>
          </a:p>
        </p:txBody>
      </p:sp>
      <p:sp>
        <p:nvSpPr>
          <p:cNvPr id="364629" name="Text Box 85"/>
          <p:cNvSpPr txBox="1">
            <a:spLocks noChangeArrowheads="1"/>
          </p:cNvSpPr>
          <p:nvPr/>
        </p:nvSpPr>
        <p:spPr bwMode="auto">
          <a:xfrm>
            <a:off x="2971800" y="3276600"/>
            <a:ext cx="1524000" cy="366713"/>
          </a:xfrm>
          <a:prstGeom prst="rect">
            <a:avLst/>
          </a:prstGeom>
          <a:solidFill>
            <a:srgbClr val="FF99CC">
              <a:alpha val="50000"/>
            </a:srgbClr>
          </a:solidFill>
          <a:ln w="9525" algn="ctr">
            <a:noFill/>
            <a:miter lim="800000"/>
          </a:ln>
          <a:effectLst/>
        </p:spPr>
        <p:txBody>
          <a:bodyPr lIns="90000" tIns="46800" rIns="90000" bIns="46800">
            <a:spAutoFit/>
          </a:bodyPr>
          <a:lstStyle/>
          <a:p>
            <a:pPr marR="0" defTabSz="914400">
              <a:spcBef>
                <a:spcPct val="50000"/>
              </a:spcBef>
              <a:buClrTx/>
              <a:buSzTx/>
              <a:buFontTx/>
              <a:buNone/>
              <a:defRPr/>
            </a:pPr>
            <a:endParaRPr kumimoji="1" lang="zh-CN" altLang="zh-CN" kern="1200" cap="none" spc="0" normalizeH="0" baseline="0" noProof="0">
              <a:effectLst>
                <a:outerShdw blurRad="38100" dist="38100" dir="2700000" algn="tl">
                  <a:srgbClr val="000000"/>
                </a:outerShdw>
              </a:effectLst>
              <a:latin typeface="Times New Roman" panose="02020603050405020304" pitchFamily="18" charset="0"/>
              <a:ea typeface="楷体_GB2312"/>
              <a:cs typeface="楷体_GB2312"/>
            </a:endParaRPr>
          </a:p>
        </p:txBody>
      </p:sp>
      <p:sp>
        <p:nvSpPr>
          <p:cNvPr id="364630" name="Text Box 86"/>
          <p:cNvSpPr txBox="1">
            <a:spLocks noChangeArrowheads="1"/>
          </p:cNvSpPr>
          <p:nvPr/>
        </p:nvSpPr>
        <p:spPr bwMode="auto">
          <a:xfrm>
            <a:off x="2971800" y="3276600"/>
            <a:ext cx="2019300" cy="366713"/>
          </a:xfrm>
          <a:prstGeom prst="rect">
            <a:avLst/>
          </a:prstGeom>
          <a:solidFill>
            <a:srgbClr val="FF99CC">
              <a:alpha val="50000"/>
            </a:srgbClr>
          </a:solidFill>
          <a:ln w="9525" algn="ctr">
            <a:noFill/>
            <a:miter lim="800000"/>
          </a:ln>
          <a:effectLst/>
        </p:spPr>
        <p:txBody>
          <a:bodyPr lIns="90000" tIns="46800" rIns="90000" bIns="46800">
            <a:spAutoFit/>
          </a:bodyPr>
          <a:lstStyle/>
          <a:p>
            <a:pPr marR="0" defTabSz="914400">
              <a:spcBef>
                <a:spcPct val="50000"/>
              </a:spcBef>
              <a:buClrTx/>
              <a:buSzTx/>
              <a:buFontTx/>
              <a:buNone/>
              <a:defRPr/>
            </a:pPr>
            <a:endParaRPr kumimoji="1" lang="zh-CN" altLang="zh-CN" kern="1200" cap="none" spc="0" normalizeH="0" baseline="0" noProof="0">
              <a:effectLst>
                <a:outerShdw blurRad="38100" dist="38100" dir="2700000" algn="tl">
                  <a:srgbClr val="000000"/>
                </a:outerShdw>
              </a:effectLst>
              <a:latin typeface="Times New Roman" panose="02020603050405020304" pitchFamily="18" charset="0"/>
              <a:ea typeface="楷体_GB2312"/>
              <a:cs typeface="楷体_GB2312"/>
            </a:endParaRPr>
          </a:p>
        </p:txBody>
      </p:sp>
      <p:sp>
        <p:nvSpPr>
          <p:cNvPr id="364631" name="Line 87"/>
          <p:cNvSpPr/>
          <p:nvPr/>
        </p:nvSpPr>
        <p:spPr>
          <a:xfrm flipV="1">
            <a:off x="444500" y="2946400"/>
            <a:ext cx="1676400" cy="0"/>
          </a:xfrm>
          <a:prstGeom prst="line">
            <a:avLst/>
          </a:prstGeom>
          <a:ln w="57150" cap="flat" cmpd="thinThick">
            <a:solidFill>
              <a:schemeClr val="folHlink"/>
            </a:solidFill>
            <a:prstDash val="solid"/>
            <a:headEnd type="none" w="med" len="med"/>
            <a:tailEnd type="none" w="med" len="med"/>
          </a:ln>
        </p:spPr>
        <p:txBody>
          <a:bodyPr/>
          <a:lstStyle/>
          <a:p>
            <a:endParaRPr lang="zh-CN" altLang="en-US"/>
          </a:p>
        </p:txBody>
      </p:sp>
      <p:sp>
        <p:nvSpPr>
          <p:cNvPr id="364632" name="AutoShape 88"/>
          <p:cNvSpPr/>
          <p:nvPr/>
        </p:nvSpPr>
        <p:spPr>
          <a:xfrm rot="10800000">
            <a:off x="1219200" y="2971800"/>
            <a:ext cx="177800" cy="342900"/>
          </a:xfrm>
          <a:prstGeom prst="upArrow">
            <a:avLst>
              <a:gd name="adj1" fmla="val 50000"/>
              <a:gd name="adj2" fmla="val 48214"/>
            </a:avLst>
          </a:prstGeom>
          <a:gradFill rotWithShape="1">
            <a:gsLst>
              <a:gs pos="0">
                <a:srgbClr val="007600"/>
              </a:gs>
              <a:gs pos="50000">
                <a:srgbClr val="00FF00"/>
              </a:gs>
              <a:gs pos="100000">
                <a:srgbClr val="007600"/>
              </a:gs>
            </a:gsLst>
            <a:lin ang="5400000" scaled="1"/>
            <a:tileRect/>
          </a:gradFill>
          <a:ln w="9525">
            <a:noFill/>
          </a:ln>
        </p:spPr>
        <p:txBody>
          <a:bodyPr lIns="90000" tIns="46800" rIns="90000" bIns="46800"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364633" name="Text Box 89"/>
          <p:cNvSpPr txBox="1"/>
          <p:nvPr>
            <p:custDataLst>
              <p:tags r:id="rId9"/>
            </p:custDataLst>
          </p:nvPr>
        </p:nvSpPr>
        <p:spPr>
          <a:xfrm>
            <a:off x="512763" y="3189288"/>
            <a:ext cx="400050" cy="5191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eaLnBrk="1" hangingPunct="1">
              <a:buNone/>
            </a:pPr>
            <a:r>
              <a:rPr lang="en-US" altLang="zh-CN" sz="2800" b="1" dirty="0">
                <a:solidFill>
                  <a:srgbClr val="0000CC"/>
                </a:solidFill>
                <a:latin typeface="Arial" panose="020B0604020202020204" pitchFamily="34" charset="0"/>
                <a:ea typeface="楷体_GB2312" pitchFamily="49" charset="-122"/>
              </a:rPr>
              <a:t>a</a:t>
            </a:r>
            <a:endParaRPr lang="en-US" altLang="zh-CN" sz="2800" b="1" dirty="0">
              <a:solidFill>
                <a:srgbClr val="FF0000"/>
              </a:solidFill>
              <a:latin typeface="Arial" panose="020B0604020202020204" pitchFamily="34" charset="0"/>
              <a:ea typeface="楷体_GB2312" pitchFamily="49" charset="-122"/>
            </a:endParaRPr>
          </a:p>
        </p:txBody>
      </p:sp>
      <p:sp>
        <p:nvSpPr>
          <p:cNvPr id="364634" name="Text Box 90"/>
          <p:cNvSpPr txBox="1"/>
          <p:nvPr>
            <p:custDataLst>
              <p:tags r:id="rId10"/>
            </p:custDataLst>
          </p:nvPr>
        </p:nvSpPr>
        <p:spPr>
          <a:xfrm>
            <a:off x="804863" y="3201988"/>
            <a:ext cx="1009650" cy="5191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eaLnBrk="1" hangingPunct="1">
              <a:buNone/>
            </a:pPr>
            <a:r>
              <a:rPr lang="en-US" altLang="zh-CN" sz="2800" b="1" dirty="0">
                <a:solidFill>
                  <a:srgbClr val="0000CC"/>
                </a:solidFill>
                <a:latin typeface="Arial" panose="020B0604020202020204" pitchFamily="34" charset="0"/>
                <a:ea typeface="楷体_GB2312" pitchFamily="49" charset="-122"/>
              </a:rPr>
              <a:t>b c *</a:t>
            </a:r>
            <a:endParaRPr lang="en-US" altLang="zh-CN" sz="2800" b="1" dirty="0">
              <a:solidFill>
                <a:srgbClr val="FF0000"/>
              </a:solidFill>
              <a:latin typeface="Arial" panose="020B0604020202020204" pitchFamily="34" charset="0"/>
              <a:ea typeface="楷体_GB2312" pitchFamily="49" charset="-122"/>
            </a:endParaRPr>
          </a:p>
        </p:txBody>
      </p:sp>
      <p:sp>
        <p:nvSpPr>
          <p:cNvPr id="364635" name="Text Box 91"/>
          <p:cNvSpPr txBox="1"/>
          <p:nvPr>
            <p:custDataLst>
              <p:tags r:id="rId11"/>
            </p:custDataLst>
          </p:nvPr>
        </p:nvSpPr>
        <p:spPr>
          <a:xfrm>
            <a:off x="1643063" y="3227388"/>
            <a:ext cx="400050" cy="5191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eaLnBrk="1" hangingPunct="1">
              <a:buNone/>
            </a:pPr>
            <a:r>
              <a:rPr lang="en-US" altLang="zh-CN" sz="2800" b="1" dirty="0">
                <a:solidFill>
                  <a:srgbClr val="0000CC"/>
                </a:solidFill>
                <a:latin typeface="Arial" panose="020B0604020202020204" pitchFamily="34" charset="0"/>
                <a:ea typeface="楷体_GB2312" pitchFamily="49" charset="-122"/>
              </a:rPr>
              <a:t>+</a:t>
            </a:r>
            <a:endParaRPr lang="en-US" altLang="zh-CN" sz="2800" b="1" dirty="0">
              <a:solidFill>
                <a:srgbClr val="FF0000"/>
              </a:solidFill>
              <a:latin typeface="Arial" panose="020B0604020202020204" pitchFamily="34" charset="0"/>
              <a:ea typeface="楷体_GB2312" pitchFamily="49" charset="-122"/>
            </a:endParaRPr>
          </a:p>
        </p:txBody>
      </p:sp>
      <p:sp>
        <p:nvSpPr>
          <p:cNvPr id="364636" name="Text Box 92"/>
          <p:cNvSpPr txBox="1">
            <a:spLocks noChangeArrowheads="1"/>
          </p:cNvSpPr>
          <p:nvPr/>
        </p:nvSpPr>
        <p:spPr bwMode="auto">
          <a:xfrm>
            <a:off x="584200" y="3289300"/>
            <a:ext cx="1625600" cy="366713"/>
          </a:xfrm>
          <a:prstGeom prst="rect">
            <a:avLst/>
          </a:prstGeom>
          <a:solidFill>
            <a:srgbClr val="CCFFFF">
              <a:alpha val="50000"/>
            </a:srgbClr>
          </a:solidFill>
          <a:ln w="9525" algn="ctr">
            <a:noFill/>
            <a:miter lim="800000"/>
          </a:ln>
          <a:effectLst/>
        </p:spPr>
        <p:txBody>
          <a:bodyPr lIns="90000" tIns="46800" rIns="90000" bIns="46800">
            <a:spAutoFit/>
          </a:bodyPr>
          <a:lstStyle/>
          <a:p>
            <a:pPr marR="0" defTabSz="914400">
              <a:spcBef>
                <a:spcPct val="50000"/>
              </a:spcBef>
              <a:buClrTx/>
              <a:buSzTx/>
              <a:buFontTx/>
              <a:buNone/>
              <a:defRPr/>
            </a:pPr>
            <a:endParaRPr kumimoji="1" lang="zh-CN" altLang="zh-CN" kern="1200" cap="none" spc="0" normalizeH="0" baseline="0" noProof="0">
              <a:effectLst>
                <a:outerShdw blurRad="38100" dist="38100" dir="2700000" algn="tl">
                  <a:srgbClr val="000000"/>
                </a:outerShdw>
              </a:effectLst>
              <a:latin typeface="Times New Roman" panose="02020603050405020304" pitchFamily="18" charset="0"/>
              <a:ea typeface="楷体_GB2312"/>
              <a:cs typeface="楷体_GB2312"/>
            </a:endParaRPr>
          </a:p>
        </p:txBody>
      </p:sp>
      <p:sp>
        <p:nvSpPr>
          <p:cNvPr id="364637" name="Text Box 93"/>
          <p:cNvSpPr txBox="1">
            <a:spLocks noChangeArrowheads="1"/>
          </p:cNvSpPr>
          <p:nvPr/>
        </p:nvSpPr>
        <p:spPr bwMode="auto">
          <a:xfrm>
            <a:off x="825500" y="3289300"/>
            <a:ext cx="927100" cy="366713"/>
          </a:xfrm>
          <a:prstGeom prst="rect">
            <a:avLst/>
          </a:prstGeom>
          <a:solidFill>
            <a:srgbClr val="CCFFCC">
              <a:alpha val="50000"/>
            </a:srgbClr>
          </a:solidFill>
          <a:ln w="9525" algn="ctr">
            <a:noFill/>
            <a:miter lim="800000"/>
          </a:ln>
          <a:effectLst/>
        </p:spPr>
        <p:txBody>
          <a:bodyPr lIns="90000" tIns="46800" rIns="90000" bIns="46800">
            <a:spAutoFit/>
          </a:bodyPr>
          <a:lstStyle/>
          <a:p>
            <a:pPr marR="0" defTabSz="914400">
              <a:spcBef>
                <a:spcPct val="50000"/>
              </a:spcBef>
              <a:buClrTx/>
              <a:buSzTx/>
              <a:buFontTx/>
              <a:buNone/>
              <a:defRPr/>
            </a:pPr>
            <a:endParaRPr kumimoji="1" lang="zh-CN" altLang="zh-CN" kern="1200" cap="none" spc="0" normalizeH="0" baseline="0" noProof="0">
              <a:effectLst>
                <a:outerShdw blurRad="38100" dist="38100" dir="2700000" algn="tl">
                  <a:srgbClr val="000000"/>
                </a:outerShdw>
              </a:effectLst>
              <a:latin typeface="Times New Roman" panose="02020603050405020304" pitchFamily="18" charset="0"/>
              <a:ea typeface="楷体_GB2312"/>
              <a:cs typeface="楷体_GB2312"/>
            </a:endParaRPr>
          </a:p>
        </p:txBody>
      </p:sp>
      <p:sp>
        <p:nvSpPr>
          <p:cNvPr id="364638" name="Line 94"/>
          <p:cNvSpPr/>
          <p:nvPr/>
        </p:nvSpPr>
        <p:spPr>
          <a:xfrm>
            <a:off x="469900" y="3721100"/>
            <a:ext cx="4800600" cy="0"/>
          </a:xfrm>
          <a:prstGeom prst="line">
            <a:avLst/>
          </a:prstGeom>
          <a:ln w="57150" cap="flat" cmpd="thinThick">
            <a:solidFill>
              <a:schemeClr val="folHlink"/>
            </a:solidFill>
            <a:prstDash val="solid"/>
            <a:headEnd type="none" w="med" len="med"/>
            <a:tailEnd type="none" w="med" len="med"/>
          </a:ln>
        </p:spPr>
        <p:txBody>
          <a:bodyPr/>
          <a:lstStyle/>
          <a:p>
            <a:endParaRPr lang="zh-CN" altLang="en-US"/>
          </a:p>
        </p:txBody>
      </p:sp>
      <p:sp>
        <p:nvSpPr>
          <p:cNvPr id="364639" name="AutoShape 95"/>
          <p:cNvSpPr/>
          <p:nvPr/>
        </p:nvSpPr>
        <p:spPr>
          <a:xfrm rot="10800000">
            <a:off x="2552700" y="3759200"/>
            <a:ext cx="177800" cy="342900"/>
          </a:xfrm>
          <a:prstGeom prst="upArrow">
            <a:avLst>
              <a:gd name="adj1" fmla="val 50000"/>
              <a:gd name="adj2" fmla="val 48214"/>
            </a:avLst>
          </a:prstGeom>
          <a:gradFill rotWithShape="1">
            <a:gsLst>
              <a:gs pos="0">
                <a:srgbClr val="007600"/>
              </a:gs>
              <a:gs pos="50000">
                <a:srgbClr val="00FF00"/>
              </a:gs>
              <a:gs pos="100000">
                <a:srgbClr val="007600"/>
              </a:gs>
            </a:gsLst>
            <a:lin ang="5400000" scaled="1"/>
            <a:tileRect/>
          </a:gradFill>
          <a:ln w="9525">
            <a:noFill/>
          </a:ln>
        </p:spPr>
        <p:txBody>
          <a:bodyPr lIns="90000" tIns="46800" rIns="90000" bIns="46800"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364640" name="Text Box 96"/>
          <p:cNvSpPr txBox="1"/>
          <p:nvPr>
            <p:custDataLst>
              <p:tags r:id="rId12"/>
            </p:custDataLst>
          </p:nvPr>
        </p:nvSpPr>
        <p:spPr>
          <a:xfrm>
            <a:off x="1338263" y="4052888"/>
            <a:ext cx="1593850" cy="5191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eaLnBrk="1" hangingPunct="1">
              <a:buNone/>
            </a:pPr>
            <a:r>
              <a:rPr lang="en-US" altLang="zh-CN" sz="2800" b="1" dirty="0">
                <a:solidFill>
                  <a:srgbClr val="0000CC"/>
                </a:solidFill>
                <a:latin typeface="Arial" panose="020B0604020202020204" pitchFamily="34" charset="0"/>
                <a:ea typeface="楷体_GB2312" pitchFamily="49" charset="-122"/>
              </a:rPr>
              <a:t>a b c * +</a:t>
            </a:r>
            <a:endParaRPr lang="en-US" altLang="zh-CN" sz="2800" b="1" dirty="0">
              <a:solidFill>
                <a:srgbClr val="FF0000"/>
              </a:solidFill>
              <a:latin typeface="Arial" panose="020B0604020202020204" pitchFamily="34" charset="0"/>
              <a:ea typeface="楷体_GB2312" pitchFamily="49" charset="-122"/>
            </a:endParaRPr>
          </a:p>
        </p:txBody>
      </p:sp>
      <p:sp>
        <p:nvSpPr>
          <p:cNvPr id="364641" name="Text Box 97"/>
          <p:cNvSpPr txBox="1">
            <a:spLocks noChangeArrowheads="1"/>
          </p:cNvSpPr>
          <p:nvPr/>
        </p:nvSpPr>
        <p:spPr bwMode="auto">
          <a:xfrm>
            <a:off x="1282700" y="4140200"/>
            <a:ext cx="1625600" cy="366713"/>
          </a:xfrm>
          <a:prstGeom prst="rect">
            <a:avLst/>
          </a:prstGeom>
          <a:solidFill>
            <a:srgbClr val="CCFFFF">
              <a:alpha val="50000"/>
            </a:srgbClr>
          </a:solidFill>
          <a:ln w="9525" algn="ctr">
            <a:noFill/>
            <a:miter lim="800000"/>
          </a:ln>
          <a:effectLst/>
        </p:spPr>
        <p:txBody>
          <a:bodyPr lIns="90000" tIns="46800" rIns="90000" bIns="46800">
            <a:spAutoFit/>
          </a:bodyPr>
          <a:lstStyle/>
          <a:p>
            <a:pPr marR="0" defTabSz="914400">
              <a:spcBef>
                <a:spcPct val="50000"/>
              </a:spcBef>
              <a:buClrTx/>
              <a:buSzTx/>
              <a:buFontTx/>
              <a:buNone/>
              <a:defRPr/>
            </a:pPr>
            <a:endParaRPr kumimoji="1" lang="zh-CN" altLang="zh-CN" kern="1200" cap="none" spc="0" normalizeH="0" baseline="0" noProof="0">
              <a:effectLst>
                <a:outerShdw blurRad="38100" dist="38100" dir="2700000" algn="tl">
                  <a:srgbClr val="000000"/>
                </a:outerShdw>
              </a:effectLst>
              <a:latin typeface="Times New Roman" panose="02020603050405020304" pitchFamily="18" charset="0"/>
              <a:ea typeface="楷体_GB2312"/>
              <a:cs typeface="楷体_GB2312"/>
            </a:endParaRPr>
          </a:p>
        </p:txBody>
      </p:sp>
      <p:sp>
        <p:nvSpPr>
          <p:cNvPr id="364642" name="Text Box 98"/>
          <p:cNvSpPr txBox="1"/>
          <p:nvPr>
            <p:custDataLst>
              <p:tags r:id="rId13"/>
            </p:custDataLst>
          </p:nvPr>
        </p:nvSpPr>
        <p:spPr>
          <a:xfrm>
            <a:off x="2874963" y="4052888"/>
            <a:ext cx="2216150" cy="5191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eaLnBrk="1" hangingPunct="1">
              <a:buNone/>
            </a:pPr>
            <a:r>
              <a:rPr lang="en-US" altLang="zh-CN" sz="2800" b="1" dirty="0">
                <a:solidFill>
                  <a:schemeClr val="folHlink"/>
                </a:solidFill>
                <a:latin typeface="Arial" panose="020B0604020202020204" pitchFamily="34" charset="0"/>
                <a:ea typeface="楷体_GB2312" pitchFamily="49" charset="-122"/>
              </a:rPr>
              <a:t>d e * f + g *</a:t>
            </a:r>
          </a:p>
        </p:txBody>
      </p:sp>
      <p:sp>
        <p:nvSpPr>
          <p:cNvPr id="364643" name="Text Box 99"/>
          <p:cNvSpPr txBox="1">
            <a:spLocks noChangeArrowheads="1"/>
          </p:cNvSpPr>
          <p:nvPr/>
        </p:nvSpPr>
        <p:spPr bwMode="auto">
          <a:xfrm>
            <a:off x="2921000" y="4140200"/>
            <a:ext cx="2019300" cy="366713"/>
          </a:xfrm>
          <a:prstGeom prst="rect">
            <a:avLst/>
          </a:prstGeom>
          <a:solidFill>
            <a:srgbClr val="FF99CC">
              <a:alpha val="50000"/>
            </a:srgbClr>
          </a:solidFill>
          <a:ln w="9525" algn="ctr">
            <a:noFill/>
            <a:miter lim="800000"/>
          </a:ln>
          <a:effectLst/>
        </p:spPr>
        <p:txBody>
          <a:bodyPr lIns="90000" tIns="46800" rIns="90000" bIns="46800">
            <a:spAutoFit/>
          </a:bodyPr>
          <a:lstStyle/>
          <a:p>
            <a:pPr marR="0" defTabSz="914400">
              <a:spcBef>
                <a:spcPct val="50000"/>
              </a:spcBef>
              <a:buClrTx/>
              <a:buSzTx/>
              <a:buFontTx/>
              <a:buNone/>
              <a:defRPr/>
            </a:pPr>
            <a:endParaRPr kumimoji="1" lang="zh-CN" altLang="zh-CN" kern="1200" cap="none" spc="0" normalizeH="0" baseline="0" noProof="0">
              <a:effectLst>
                <a:outerShdw blurRad="38100" dist="38100" dir="2700000" algn="tl">
                  <a:srgbClr val="000000"/>
                </a:outerShdw>
              </a:effectLst>
              <a:latin typeface="Times New Roman" panose="02020603050405020304" pitchFamily="18" charset="0"/>
              <a:ea typeface="楷体_GB2312"/>
              <a:cs typeface="楷体_GB2312"/>
            </a:endParaRPr>
          </a:p>
        </p:txBody>
      </p:sp>
      <p:sp>
        <p:nvSpPr>
          <p:cNvPr id="364644" name="Text Box 100"/>
          <p:cNvSpPr txBox="1"/>
          <p:nvPr>
            <p:custDataLst>
              <p:tags r:id="rId14"/>
            </p:custDataLst>
          </p:nvPr>
        </p:nvSpPr>
        <p:spPr>
          <a:xfrm>
            <a:off x="4957763" y="4065588"/>
            <a:ext cx="374650" cy="5191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eaLnBrk="1" hangingPunct="1">
              <a:buNone/>
            </a:pPr>
            <a:r>
              <a:rPr lang="en-US" altLang="zh-CN" sz="2800" b="1" dirty="0">
                <a:solidFill>
                  <a:srgbClr val="FF0000"/>
                </a:solidFill>
                <a:latin typeface="Arial" panose="020B0604020202020204" pitchFamily="34" charset="0"/>
                <a:ea typeface="楷体_GB2312" pitchFamily="49" charset="-122"/>
              </a:rPr>
              <a:t>+</a:t>
            </a:r>
          </a:p>
        </p:txBody>
      </p:sp>
      <p:sp>
        <p:nvSpPr>
          <p:cNvPr id="364645" name="Oval 101"/>
          <p:cNvSpPr/>
          <p:nvPr/>
        </p:nvSpPr>
        <p:spPr>
          <a:xfrm>
            <a:off x="3619500" y="1744663"/>
            <a:ext cx="468313" cy="468312"/>
          </a:xfrm>
          <a:prstGeom prst="ellipse">
            <a:avLst/>
          </a:prstGeom>
          <a:noFill/>
          <a:ln w="38100" cap="flat" cmpd="sng">
            <a:solidFill>
              <a:srgbClr val="FF0000"/>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364646" name="Oval 102"/>
          <p:cNvSpPr/>
          <p:nvPr/>
        </p:nvSpPr>
        <p:spPr>
          <a:xfrm>
            <a:off x="4432300" y="1731963"/>
            <a:ext cx="468313" cy="468312"/>
          </a:xfrm>
          <a:prstGeom prst="ellipse">
            <a:avLst/>
          </a:prstGeom>
          <a:noFill/>
          <a:ln w="38100" cap="flat" cmpd="sng">
            <a:solidFill>
              <a:srgbClr val="FF0000"/>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364647" name="Oval 103"/>
          <p:cNvSpPr/>
          <p:nvPr/>
        </p:nvSpPr>
        <p:spPr>
          <a:xfrm>
            <a:off x="723900" y="1757363"/>
            <a:ext cx="468313" cy="468312"/>
          </a:xfrm>
          <a:prstGeom prst="ellipse">
            <a:avLst/>
          </a:prstGeom>
          <a:noFill/>
          <a:ln w="38100" cap="flat" cmpd="sng">
            <a:solidFill>
              <a:srgbClr val="FF0000"/>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364648" name="Oval 104"/>
          <p:cNvSpPr/>
          <p:nvPr/>
        </p:nvSpPr>
        <p:spPr>
          <a:xfrm>
            <a:off x="2044700" y="1795463"/>
            <a:ext cx="468313" cy="468312"/>
          </a:xfrm>
          <a:prstGeom prst="ellipse">
            <a:avLst/>
          </a:prstGeom>
          <a:noFill/>
          <a:ln w="38100" cap="flat" cmpd="sng">
            <a:solidFill>
              <a:srgbClr val="FF0000"/>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364649" name="Text Box 105"/>
          <p:cNvSpPr txBox="1"/>
          <p:nvPr>
            <p:custDataLst>
              <p:tags r:id="rId15"/>
            </p:custDataLst>
          </p:nvPr>
        </p:nvSpPr>
        <p:spPr>
          <a:xfrm>
            <a:off x="5665788" y="1687513"/>
            <a:ext cx="2925762" cy="579437"/>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FF0000"/>
                </a:solidFill>
                <a:latin typeface="Arial" panose="020B0604020202020204" pitchFamily="34" charset="0"/>
                <a:ea typeface="隶书" panose="02010509060101010101" pitchFamily="49" charset="-122"/>
              </a:rPr>
              <a:t>abc*+de*f+g*+</a:t>
            </a:r>
          </a:p>
        </p:txBody>
      </p:sp>
      <p:sp>
        <p:nvSpPr>
          <p:cNvPr id="364650" name="AutoShape 106"/>
          <p:cNvSpPr/>
          <p:nvPr/>
        </p:nvSpPr>
        <p:spPr>
          <a:xfrm>
            <a:off x="5207000" y="2733988"/>
            <a:ext cx="3613150" cy="1272550"/>
          </a:xfrm>
          <a:prstGeom prst="cloudCallout">
            <a:avLst>
              <a:gd name="adj1" fmla="val -24148"/>
              <a:gd name="adj2" fmla="val -104023"/>
            </a:avLst>
          </a:prstGeom>
          <a:solidFill>
            <a:schemeClr val="bg2">
              <a:lumMod val="20000"/>
              <a:lumOff val="80000"/>
            </a:schemeClr>
          </a:solidFill>
          <a:ln w="38100" cap="flat" cmpd="sng">
            <a:solidFill>
              <a:schemeClr val="accent2">
                <a:lumMod val="75000"/>
              </a:schemeClr>
            </a:solidFill>
            <a:prstDash val="solid"/>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eaLnBrk="1" hangingPunct="1">
              <a:buNone/>
            </a:pPr>
            <a:r>
              <a:rPr lang="zh-CN" altLang="en-US" sz="2400" b="1" dirty="0">
                <a:solidFill>
                  <a:srgbClr val="000000"/>
                </a:solidFill>
                <a:latin typeface="+mn-ea"/>
                <a:cs typeface="+mn-ea"/>
              </a:rPr>
              <a:t>中缀</a:t>
            </a:r>
            <a:r>
              <a:rPr lang="en-US" altLang="zh-CN" sz="2400" b="1" dirty="0">
                <a:solidFill>
                  <a:srgbClr val="000000"/>
                </a:solidFill>
                <a:latin typeface="+mn-ea"/>
                <a:cs typeface="+mn-ea"/>
              </a:rPr>
              <a:t>=&gt;</a:t>
            </a:r>
            <a:r>
              <a:rPr lang="zh-CN" altLang="en-US" sz="2400" b="1" dirty="0">
                <a:solidFill>
                  <a:srgbClr val="000000"/>
                </a:solidFill>
                <a:latin typeface="+mn-ea"/>
                <a:cs typeface="+mn-ea"/>
              </a:rPr>
              <a:t>后缀</a:t>
            </a:r>
          </a:p>
          <a:p>
            <a:pPr marL="0" lvl="0" indent="0" eaLnBrk="1" hangingPunct="1">
              <a:buNone/>
            </a:pPr>
            <a:r>
              <a:rPr lang="zh-CN" altLang="en-US" sz="2000" b="1" dirty="0">
                <a:solidFill>
                  <a:srgbClr val="0000CC"/>
                </a:solidFill>
                <a:latin typeface="+mn-ea"/>
                <a:cs typeface="+mn-ea"/>
              </a:rPr>
              <a:t>操作数的顺序不变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4612"/>
                                        </p:tgtEl>
                                        <p:attrNameLst>
                                          <p:attrName>style.visibility</p:attrName>
                                        </p:attrNameLst>
                                      </p:cBhvr>
                                      <p:to>
                                        <p:strVal val="visible"/>
                                      </p:to>
                                    </p:set>
                                    <p:animEffect transition="in" filter="blinds(horizontal)">
                                      <p:cBhvr>
                                        <p:cTn id="7" dur="500"/>
                                        <p:tgtEl>
                                          <p:spTgt spid="364612"/>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grpId="0" nodeType="clickEffect">
                                  <p:stCondLst>
                                    <p:cond delay="0"/>
                                  </p:stCondLst>
                                  <p:childTnLst>
                                    <p:set>
                                      <p:cBhvr>
                                        <p:cTn id="11" dur="1" fill="hold">
                                          <p:stCondLst>
                                            <p:cond delay="0"/>
                                          </p:stCondLst>
                                        </p:cTn>
                                        <p:tgtEl>
                                          <p:spTgt spid="364614"/>
                                        </p:tgtEl>
                                        <p:attrNameLst>
                                          <p:attrName>style.visibility</p:attrName>
                                        </p:attrNameLst>
                                      </p:cBhvr>
                                      <p:to>
                                        <p:strVal val="visible"/>
                                      </p:to>
                                    </p:set>
                                    <p:anim calcmode="lin" valueType="num">
                                      <p:cBhvr>
                                        <p:cTn id="12" dur="500" fill="hold"/>
                                        <p:tgtEl>
                                          <p:spTgt spid="364614"/>
                                        </p:tgtEl>
                                        <p:attrNameLst>
                                          <p:attrName>ppt_x</p:attrName>
                                        </p:attrNameLst>
                                      </p:cBhvr>
                                      <p:tavLst>
                                        <p:tav tm="0">
                                          <p:val>
                                            <p:strVal val="#ppt_x"/>
                                          </p:val>
                                        </p:tav>
                                        <p:tav tm="100000">
                                          <p:val>
                                            <p:strVal val="#ppt_x"/>
                                          </p:val>
                                        </p:tav>
                                      </p:tavLst>
                                    </p:anim>
                                    <p:anim calcmode="lin" valueType="num">
                                      <p:cBhvr>
                                        <p:cTn id="13" dur="500" fill="hold"/>
                                        <p:tgtEl>
                                          <p:spTgt spid="364614"/>
                                        </p:tgtEl>
                                        <p:attrNameLst>
                                          <p:attrName>ppt_y</p:attrName>
                                        </p:attrNameLst>
                                      </p:cBhvr>
                                      <p:tavLst>
                                        <p:tav tm="0">
                                          <p:val>
                                            <p:strVal val="#ppt_y-#ppt_h/2"/>
                                          </p:val>
                                        </p:tav>
                                        <p:tav tm="100000">
                                          <p:val>
                                            <p:strVal val="#ppt_y"/>
                                          </p:val>
                                        </p:tav>
                                      </p:tavLst>
                                    </p:anim>
                                    <p:anim calcmode="lin" valueType="num">
                                      <p:cBhvr>
                                        <p:cTn id="14" dur="500" fill="hold"/>
                                        <p:tgtEl>
                                          <p:spTgt spid="364614"/>
                                        </p:tgtEl>
                                        <p:attrNameLst>
                                          <p:attrName>ppt_w</p:attrName>
                                        </p:attrNameLst>
                                      </p:cBhvr>
                                      <p:tavLst>
                                        <p:tav tm="0">
                                          <p:val>
                                            <p:strVal val="#ppt_w"/>
                                          </p:val>
                                        </p:tav>
                                        <p:tav tm="100000">
                                          <p:val>
                                            <p:strVal val="#ppt_w"/>
                                          </p:val>
                                        </p:tav>
                                      </p:tavLst>
                                    </p:anim>
                                    <p:anim calcmode="lin" valueType="num">
                                      <p:cBhvr>
                                        <p:cTn id="15" dur="500" fill="hold"/>
                                        <p:tgtEl>
                                          <p:spTgt spid="364614"/>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64613"/>
                                        </p:tgtEl>
                                        <p:attrNameLst>
                                          <p:attrName>style.visibility</p:attrName>
                                        </p:attrNameLst>
                                      </p:cBhvr>
                                      <p:to>
                                        <p:strVal val="visible"/>
                                      </p:to>
                                    </p:set>
                                    <p:animEffect transition="in" filter="blinds(horizontal)">
                                      <p:cBhvr>
                                        <p:cTn id="20" dur="500"/>
                                        <p:tgtEl>
                                          <p:spTgt spid="364613"/>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364615">
                                            <p:txEl>
                                              <p:pRg st="0" end="0"/>
                                            </p:txEl>
                                          </p:spTgt>
                                        </p:tgtEl>
                                        <p:attrNameLst>
                                          <p:attrName>style.visibility</p:attrName>
                                        </p:attrNameLst>
                                      </p:cBhvr>
                                      <p:to>
                                        <p:strVal val="visible"/>
                                      </p:to>
                                    </p:set>
                                    <p:animEffect transition="in" filter="box(out)">
                                      <p:cBhvr>
                                        <p:cTn id="25" dur="500"/>
                                        <p:tgtEl>
                                          <p:spTgt spid="364615">
                                            <p:txEl>
                                              <p:pRg st="0" end="0"/>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17" name="CAMERA.WAV"/>
                                        </p:tgtEl>
                                      </p:cMediaNode>
                                    </p:audio>
                                  </p:subTnLst>
                                </p:cTn>
                              </p:par>
                              <p:par>
                                <p:cTn id="26" presetID="3" presetClass="entr" presetSubtype="10" fill="hold" grpId="0" nodeType="withEffect">
                                  <p:stCondLst>
                                    <p:cond delay="0"/>
                                  </p:stCondLst>
                                  <p:childTnLst>
                                    <p:set>
                                      <p:cBhvr>
                                        <p:cTn id="27" dur="1" fill="hold">
                                          <p:stCondLst>
                                            <p:cond delay="0"/>
                                          </p:stCondLst>
                                        </p:cTn>
                                        <p:tgtEl>
                                          <p:spTgt spid="364617"/>
                                        </p:tgtEl>
                                        <p:attrNameLst>
                                          <p:attrName>style.visibility</p:attrName>
                                        </p:attrNameLst>
                                      </p:cBhvr>
                                      <p:to>
                                        <p:strVal val="visible"/>
                                      </p:to>
                                    </p:set>
                                    <p:animEffect transition="in" filter="blinds(horizontal)">
                                      <p:cBhvr>
                                        <p:cTn id="28" dur="500"/>
                                        <p:tgtEl>
                                          <p:spTgt spid="364617"/>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6464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364616">
                                            <p:txEl>
                                              <p:pRg st="0" end="0"/>
                                            </p:txEl>
                                          </p:spTgt>
                                        </p:tgtEl>
                                        <p:attrNameLst>
                                          <p:attrName>style.visibility</p:attrName>
                                        </p:attrNameLst>
                                      </p:cBhvr>
                                      <p:to>
                                        <p:strVal val="visible"/>
                                      </p:to>
                                    </p:set>
                                    <p:animEffect transition="in" filter="box(out)">
                                      <p:cBhvr>
                                        <p:cTn id="37" dur="500"/>
                                        <p:tgtEl>
                                          <p:spTgt spid="364616">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17"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364618">
                                            <p:txEl>
                                              <p:pRg st="0" end="0"/>
                                            </p:txEl>
                                          </p:spTgt>
                                        </p:tgtEl>
                                        <p:attrNameLst>
                                          <p:attrName>style.visibility</p:attrName>
                                        </p:attrNameLst>
                                      </p:cBhvr>
                                      <p:to>
                                        <p:strVal val="visible"/>
                                      </p:to>
                                    </p:set>
                                    <p:animEffect transition="in" filter="box(out)">
                                      <p:cBhvr>
                                        <p:cTn id="42" dur="500"/>
                                        <p:tgtEl>
                                          <p:spTgt spid="364618">
                                            <p:txEl>
                                              <p:pRg st="0" end="0"/>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17" name="CAMERA.WAV"/>
                                        </p:tgtEl>
                                      </p:cMediaNode>
                                    </p:audio>
                                  </p:sub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364617"/>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364613"/>
                                        </p:tgtEl>
                                        <p:attrNameLst>
                                          <p:attrName>style.visibility</p:attrName>
                                        </p:attrNameLst>
                                      </p:cBhvr>
                                      <p:to>
                                        <p:strVal val="hidden"/>
                                      </p:to>
                                    </p:set>
                                  </p:childTnLst>
                                </p:cTn>
                              </p:par>
                            </p:childTnLst>
                          </p:cTn>
                        </p:par>
                        <p:par>
                          <p:cTn id="49" fill="hold">
                            <p:stCondLst>
                              <p:cond delay="0"/>
                            </p:stCondLst>
                            <p:childTnLst>
                              <p:par>
                                <p:cTn id="50" presetID="3" presetClass="entr" presetSubtype="10" fill="hold" grpId="0" nodeType="afterEffect">
                                  <p:stCondLst>
                                    <p:cond delay="0"/>
                                  </p:stCondLst>
                                  <p:childTnLst>
                                    <p:set>
                                      <p:cBhvr>
                                        <p:cTn id="51" dur="1" fill="hold">
                                          <p:stCondLst>
                                            <p:cond delay="0"/>
                                          </p:stCondLst>
                                        </p:cTn>
                                        <p:tgtEl>
                                          <p:spTgt spid="364619"/>
                                        </p:tgtEl>
                                        <p:attrNameLst>
                                          <p:attrName>style.visibility</p:attrName>
                                        </p:attrNameLst>
                                      </p:cBhvr>
                                      <p:to>
                                        <p:strVal val="visible"/>
                                      </p:to>
                                    </p:set>
                                    <p:animEffect transition="in" filter="blinds(horizontal)">
                                      <p:cBhvr>
                                        <p:cTn id="52" dur="500"/>
                                        <p:tgtEl>
                                          <p:spTgt spid="364619"/>
                                        </p:tgtEl>
                                      </p:cBhvr>
                                    </p:animEffect>
                                  </p:childTnLst>
                                </p:cTn>
                              </p:par>
                              <p:par>
                                <p:cTn id="53" presetID="1" presetClass="exit" presetSubtype="0" fill="hold" grpId="1" nodeType="withEffect">
                                  <p:stCondLst>
                                    <p:cond delay="0"/>
                                  </p:stCondLst>
                                  <p:childTnLst>
                                    <p:set>
                                      <p:cBhvr>
                                        <p:cTn id="54" dur="1" fill="hold">
                                          <p:stCondLst>
                                            <p:cond delay="0"/>
                                          </p:stCondLst>
                                        </p:cTn>
                                        <p:tgtEl>
                                          <p:spTgt spid="36464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364620"/>
                                        </p:tgtEl>
                                        <p:attrNameLst>
                                          <p:attrName>style.visibility</p:attrName>
                                        </p:attrNameLst>
                                      </p:cBhvr>
                                      <p:to>
                                        <p:strVal val="visible"/>
                                      </p:to>
                                    </p:set>
                                    <p:animEffect transition="in" filter="blinds(horizontal)">
                                      <p:cBhvr>
                                        <p:cTn id="59" dur="500"/>
                                        <p:tgtEl>
                                          <p:spTgt spid="364620"/>
                                        </p:tgtEl>
                                      </p:cBhvr>
                                    </p:animEffect>
                                  </p:childTnLst>
                                </p:cTn>
                              </p:par>
                            </p:childTnLst>
                          </p:cTn>
                        </p:par>
                      </p:childTnLst>
                    </p:cTn>
                  </p:par>
                  <p:par>
                    <p:cTn id="60" fill="hold">
                      <p:stCondLst>
                        <p:cond delay="indefinite"/>
                      </p:stCondLst>
                      <p:childTnLst>
                        <p:par>
                          <p:cTn id="61" fill="hold">
                            <p:stCondLst>
                              <p:cond delay="0"/>
                            </p:stCondLst>
                            <p:childTnLst>
                              <p:par>
                                <p:cTn id="62" presetID="17" presetClass="entr" presetSubtype="1" fill="hold" grpId="0" nodeType="clickEffect">
                                  <p:stCondLst>
                                    <p:cond delay="0"/>
                                  </p:stCondLst>
                                  <p:childTnLst>
                                    <p:set>
                                      <p:cBhvr>
                                        <p:cTn id="63" dur="1" fill="hold">
                                          <p:stCondLst>
                                            <p:cond delay="0"/>
                                          </p:stCondLst>
                                        </p:cTn>
                                        <p:tgtEl>
                                          <p:spTgt spid="364621"/>
                                        </p:tgtEl>
                                        <p:attrNameLst>
                                          <p:attrName>style.visibility</p:attrName>
                                        </p:attrNameLst>
                                      </p:cBhvr>
                                      <p:to>
                                        <p:strVal val="visible"/>
                                      </p:to>
                                    </p:set>
                                    <p:anim calcmode="lin" valueType="num">
                                      <p:cBhvr>
                                        <p:cTn id="64" dur="500" fill="hold"/>
                                        <p:tgtEl>
                                          <p:spTgt spid="364621"/>
                                        </p:tgtEl>
                                        <p:attrNameLst>
                                          <p:attrName>ppt_x</p:attrName>
                                        </p:attrNameLst>
                                      </p:cBhvr>
                                      <p:tavLst>
                                        <p:tav tm="0">
                                          <p:val>
                                            <p:strVal val="#ppt_x"/>
                                          </p:val>
                                        </p:tav>
                                        <p:tav tm="100000">
                                          <p:val>
                                            <p:strVal val="#ppt_x"/>
                                          </p:val>
                                        </p:tav>
                                      </p:tavLst>
                                    </p:anim>
                                    <p:anim calcmode="lin" valueType="num">
                                      <p:cBhvr>
                                        <p:cTn id="65" dur="500" fill="hold"/>
                                        <p:tgtEl>
                                          <p:spTgt spid="364621"/>
                                        </p:tgtEl>
                                        <p:attrNameLst>
                                          <p:attrName>ppt_y</p:attrName>
                                        </p:attrNameLst>
                                      </p:cBhvr>
                                      <p:tavLst>
                                        <p:tav tm="0">
                                          <p:val>
                                            <p:strVal val="#ppt_y-#ppt_h/2"/>
                                          </p:val>
                                        </p:tav>
                                        <p:tav tm="100000">
                                          <p:val>
                                            <p:strVal val="#ppt_y"/>
                                          </p:val>
                                        </p:tav>
                                      </p:tavLst>
                                    </p:anim>
                                    <p:anim calcmode="lin" valueType="num">
                                      <p:cBhvr>
                                        <p:cTn id="66" dur="500" fill="hold"/>
                                        <p:tgtEl>
                                          <p:spTgt spid="364621"/>
                                        </p:tgtEl>
                                        <p:attrNameLst>
                                          <p:attrName>ppt_w</p:attrName>
                                        </p:attrNameLst>
                                      </p:cBhvr>
                                      <p:tavLst>
                                        <p:tav tm="0">
                                          <p:val>
                                            <p:strVal val="#ppt_w"/>
                                          </p:val>
                                        </p:tav>
                                        <p:tav tm="100000">
                                          <p:val>
                                            <p:strVal val="#ppt_w"/>
                                          </p:val>
                                        </p:tav>
                                      </p:tavLst>
                                    </p:anim>
                                    <p:anim calcmode="lin" valueType="num">
                                      <p:cBhvr>
                                        <p:cTn id="67" dur="500" fill="hold"/>
                                        <p:tgtEl>
                                          <p:spTgt spid="364621"/>
                                        </p:tgtEl>
                                        <p:attrNameLst>
                                          <p:attrName>ppt_h</p:attrName>
                                        </p:attrNameLst>
                                      </p:cBhvr>
                                      <p:tavLst>
                                        <p:tav tm="0">
                                          <p:val>
                                            <p:fltVal val="0"/>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364622">
                                            <p:txEl>
                                              <p:pRg st="0" end="0"/>
                                            </p:txEl>
                                          </p:spTgt>
                                        </p:tgtEl>
                                        <p:attrNameLst>
                                          <p:attrName>style.visibility</p:attrName>
                                        </p:attrNameLst>
                                      </p:cBhvr>
                                      <p:to>
                                        <p:strVal val="visible"/>
                                      </p:to>
                                    </p:set>
                                    <p:animEffect transition="in" filter="box(out)">
                                      <p:cBhvr>
                                        <p:cTn id="72" dur="500"/>
                                        <p:tgtEl>
                                          <p:spTgt spid="364622">
                                            <p:txEl>
                                              <p:pRg st="0" end="0"/>
                                            </p:txEl>
                                          </p:spTgt>
                                        </p:tgtEl>
                                      </p:cBhvr>
                                    </p:animEffect>
                                  </p:childTnLst>
                                  <p:subTnLst>
                                    <p:audio>
                                      <p:cMediaNode>
                                        <p:cTn display="0" masterRel="sameClick">
                                          <p:stCondLst>
                                            <p:cond evt="begin" delay="0">
                                              <p:tn val="70"/>
                                            </p:cond>
                                          </p:stCondLst>
                                          <p:endCondLst>
                                            <p:cond evt="onStopAudio" delay="0">
                                              <p:tgtEl>
                                                <p:sldTgt/>
                                              </p:tgtEl>
                                            </p:cond>
                                          </p:endCondLst>
                                        </p:cTn>
                                        <p:tgtEl>
                                          <p:sndTgt r:embed="rId17" name="CAMERA.WAV"/>
                                        </p:tgtEl>
                                      </p:cMediaNode>
                                    </p:audio>
                                  </p:subTnLst>
                                </p:cTn>
                              </p:par>
                            </p:childTnLst>
                          </p:cTn>
                        </p:par>
                        <p:par>
                          <p:cTn id="73" fill="hold">
                            <p:stCondLst>
                              <p:cond delay="500"/>
                            </p:stCondLst>
                            <p:childTnLst>
                              <p:par>
                                <p:cTn id="74" presetID="3" presetClass="entr" presetSubtype="10" fill="hold" grpId="0" nodeType="afterEffect">
                                  <p:stCondLst>
                                    <p:cond delay="0"/>
                                  </p:stCondLst>
                                  <p:childTnLst>
                                    <p:set>
                                      <p:cBhvr>
                                        <p:cTn id="75" dur="1" fill="hold">
                                          <p:stCondLst>
                                            <p:cond delay="0"/>
                                          </p:stCondLst>
                                        </p:cTn>
                                        <p:tgtEl>
                                          <p:spTgt spid="364623"/>
                                        </p:tgtEl>
                                        <p:attrNameLst>
                                          <p:attrName>style.visibility</p:attrName>
                                        </p:attrNameLst>
                                      </p:cBhvr>
                                      <p:to>
                                        <p:strVal val="visible"/>
                                      </p:to>
                                    </p:set>
                                    <p:animEffect transition="in" filter="blinds(horizontal)">
                                      <p:cBhvr>
                                        <p:cTn id="76" dur="500"/>
                                        <p:tgtEl>
                                          <p:spTgt spid="364623"/>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364624"/>
                                        </p:tgtEl>
                                        <p:attrNameLst>
                                          <p:attrName>style.visibility</p:attrName>
                                        </p:attrNameLst>
                                      </p:cBhvr>
                                      <p:to>
                                        <p:strVal val="visible"/>
                                      </p:to>
                                    </p:set>
                                    <p:animEffect transition="in" filter="blinds(horizontal)">
                                      <p:cBhvr>
                                        <p:cTn id="81" dur="500"/>
                                        <p:tgtEl>
                                          <p:spTgt spid="364624"/>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364646"/>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7" presetClass="entr" presetSubtype="1" fill="hold" grpId="0" nodeType="clickEffect">
                                  <p:stCondLst>
                                    <p:cond delay="0"/>
                                  </p:stCondLst>
                                  <p:childTnLst>
                                    <p:set>
                                      <p:cBhvr>
                                        <p:cTn id="89" dur="1" fill="hold">
                                          <p:stCondLst>
                                            <p:cond delay="0"/>
                                          </p:stCondLst>
                                        </p:cTn>
                                        <p:tgtEl>
                                          <p:spTgt spid="364625"/>
                                        </p:tgtEl>
                                        <p:attrNameLst>
                                          <p:attrName>style.visibility</p:attrName>
                                        </p:attrNameLst>
                                      </p:cBhvr>
                                      <p:to>
                                        <p:strVal val="visible"/>
                                      </p:to>
                                    </p:set>
                                    <p:anim calcmode="lin" valueType="num">
                                      <p:cBhvr>
                                        <p:cTn id="90" dur="500" fill="hold"/>
                                        <p:tgtEl>
                                          <p:spTgt spid="364625"/>
                                        </p:tgtEl>
                                        <p:attrNameLst>
                                          <p:attrName>ppt_x</p:attrName>
                                        </p:attrNameLst>
                                      </p:cBhvr>
                                      <p:tavLst>
                                        <p:tav tm="0">
                                          <p:val>
                                            <p:strVal val="#ppt_x"/>
                                          </p:val>
                                        </p:tav>
                                        <p:tav tm="100000">
                                          <p:val>
                                            <p:strVal val="#ppt_x"/>
                                          </p:val>
                                        </p:tav>
                                      </p:tavLst>
                                    </p:anim>
                                    <p:anim calcmode="lin" valueType="num">
                                      <p:cBhvr>
                                        <p:cTn id="91" dur="500" fill="hold"/>
                                        <p:tgtEl>
                                          <p:spTgt spid="364625"/>
                                        </p:tgtEl>
                                        <p:attrNameLst>
                                          <p:attrName>ppt_y</p:attrName>
                                        </p:attrNameLst>
                                      </p:cBhvr>
                                      <p:tavLst>
                                        <p:tav tm="0">
                                          <p:val>
                                            <p:strVal val="#ppt_y-#ppt_h/2"/>
                                          </p:val>
                                        </p:tav>
                                        <p:tav tm="100000">
                                          <p:val>
                                            <p:strVal val="#ppt_y"/>
                                          </p:val>
                                        </p:tav>
                                      </p:tavLst>
                                    </p:anim>
                                    <p:anim calcmode="lin" valueType="num">
                                      <p:cBhvr>
                                        <p:cTn id="92" dur="500" fill="hold"/>
                                        <p:tgtEl>
                                          <p:spTgt spid="364625"/>
                                        </p:tgtEl>
                                        <p:attrNameLst>
                                          <p:attrName>ppt_w</p:attrName>
                                        </p:attrNameLst>
                                      </p:cBhvr>
                                      <p:tavLst>
                                        <p:tav tm="0">
                                          <p:val>
                                            <p:strVal val="#ppt_w"/>
                                          </p:val>
                                        </p:tav>
                                        <p:tav tm="100000">
                                          <p:val>
                                            <p:strVal val="#ppt_w"/>
                                          </p:val>
                                        </p:tav>
                                      </p:tavLst>
                                    </p:anim>
                                    <p:anim calcmode="lin" valueType="num">
                                      <p:cBhvr>
                                        <p:cTn id="93" dur="500" fill="hold"/>
                                        <p:tgtEl>
                                          <p:spTgt spid="364625"/>
                                        </p:tgtEl>
                                        <p:attrNameLst>
                                          <p:attrName>ppt_h</p:attrName>
                                        </p:attrNameLst>
                                      </p:cBhvr>
                                      <p:tavLst>
                                        <p:tav tm="0">
                                          <p:val>
                                            <p:fltVal val="0"/>
                                          </p:val>
                                        </p:tav>
                                        <p:tav tm="100000">
                                          <p:val>
                                            <p:strVal val="#ppt_h"/>
                                          </p:val>
                                        </p:tav>
                                      </p:tavLst>
                                    </p:anim>
                                  </p:childTnLst>
                                </p:cTn>
                              </p:par>
                            </p:childTnLst>
                          </p:cTn>
                        </p:par>
                      </p:childTnLst>
                    </p:cTn>
                  </p:par>
                  <p:par>
                    <p:cTn id="94" fill="hold">
                      <p:stCondLst>
                        <p:cond delay="indefinite"/>
                      </p:stCondLst>
                      <p:childTnLst>
                        <p:par>
                          <p:cTn id="95" fill="hold">
                            <p:stCondLst>
                              <p:cond delay="0"/>
                            </p:stCondLst>
                            <p:childTnLst>
                              <p:par>
                                <p:cTn id="96" presetID="4" presetClass="entr" presetSubtype="32" fill="hold" grpId="0" nodeType="clickEffect">
                                  <p:stCondLst>
                                    <p:cond delay="0"/>
                                  </p:stCondLst>
                                  <p:childTnLst>
                                    <p:set>
                                      <p:cBhvr>
                                        <p:cTn id="97" dur="1" fill="hold">
                                          <p:stCondLst>
                                            <p:cond delay="0"/>
                                          </p:stCondLst>
                                        </p:cTn>
                                        <p:tgtEl>
                                          <p:spTgt spid="364626">
                                            <p:txEl>
                                              <p:pRg st="0" end="0"/>
                                            </p:txEl>
                                          </p:spTgt>
                                        </p:tgtEl>
                                        <p:attrNameLst>
                                          <p:attrName>style.visibility</p:attrName>
                                        </p:attrNameLst>
                                      </p:cBhvr>
                                      <p:to>
                                        <p:strVal val="visible"/>
                                      </p:to>
                                    </p:set>
                                    <p:animEffect transition="in" filter="box(out)">
                                      <p:cBhvr>
                                        <p:cTn id="98" dur="500"/>
                                        <p:tgtEl>
                                          <p:spTgt spid="364626">
                                            <p:txEl>
                                              <p:pRg st="0" end="0"/>
                                            </p:txEl>
                                          </p:spTgt>
                                        </p:tgtEl>
                                      </p:cBhvr>
                                    </p:animEffect>
                                  </p:childTnLst>
                                  <p:subTnLst>
                                    <p:audio>
                                      <p:cMediaNode>
                                        <p:cTn display="0" masterRel="sameClick">
                                          <p:stCondLst>
                                            <p:cond evt="begin" delay="0">
                                              <p:tn val="96"/>
                                            </p:cond>
                                          </p:stCondLst>
                                          <p:endCondLst>
                                            <p:cond evt="onStopAudio" delay="0">
                                              <p:tgtEl>
                                                <p:sldTgt/>
                                              </p:tgtEl>
                                            </p:cond>
                                          </p:endCondLst>
                                        </p:cTn>
                                        <p:tgtEl>
                                          <p:sndTgt r:embed="rId17" name="CAMERA.WAV"/>
                                        </p:tgtEl>
                                      </p:cMediaNode>
                                    </p:audio>
                                  </p:subTnLst>
                                </p:cTn>
                              </p:par>
                              <p:par>
                                <p:cTn id="99" presetID="3" presetClass="entr" presetSubtype="10" fill="hold" grpId="0" nodeType="withEffect">
                                  <p:stCondLst>
                                    <p:cond delay="0"/>
                                  </p:stCondLst>
                                  <p:childTnLst>
                                    <p:set>
                                      <p:cBhvr>
                                        <p:cTn id="100" dur="1" fill="hold">
                                          <p:stCondLst>
                                            <p:cond delay="0"/>
                                          </p:stCondLst>
                                        </p:cTn>
                                        <p:tgtEl>
                                          <p:spTgt spid="364629"/>
                                        </p:tgtEl>
                                        <p:attrNameLst>
                                          <p:attrName>style.visibility</p:attrName>
                                        </p:attrNameLst>
                                      </p:cBhvr>
                                      <p:to>
                                        <p:strVal val="visible"/>
                                      </p:to>
                                    </p:set>
                                    <p:animEffect transition="in" filter="blinds(horizontal)">
                                      <p:cBhvr>
                                        <p:cTn id="101" dur="500"/>
                                        <p:tgtEl>
                                          <p:spTgt spid="364629"/>
                                        </p:tgtEl>
                                      </p:cBhvr>
                                    </p:animEffect>
                                  </p:childTnLst>
                                </p:cTn>
                              </p:par>
                            </p:childTnLst>
                          </p:cTn>
                        </p:par>
                      </p:childTnLst>
                    </p:cTn>
                  </p:par>
                  <p:par>
                    <p:cTn id="102" fill="hold">
                      <p:stCondLst>
                        <p:cond delay="indefinite"/>
                      </p:stCondLst>
                      <p:childTnLst>
                        <p:par>
                          <p:cTn id="103" fill="hold">
                            <p:stCondLst>
                              <p:cond delay="0"/>
                            </p:stCondLst>
                            <p:childTnLst>
                              <p:par>
                                <p:cTn id="104" presetID="4" presetClass="entr" presetSubtype="32" fill="hold" grpId="0" nodeType="clickEffect">
                                  <p:stCondLst>
                                    <p:cond delay="0"/>
                                  </p:stCondLst>
                                  <p:childTnLst>
                                    <p:set>
                                      <p:cBhvr>
                                        <p:cTn id="105" dur="1" fill="hold">
                                          <p:stCondLst>
                                            <p:cond delay="0"/>
                                          </p:stCondLst>
                                        </p:cTn>
                                        <p:tgtEl>
                                          <p:spTgt spid="364627">
                                            <p:txEl>
                                              <p:pRg st="0" end="0"/>
                                            </p:txEl>
                                          </p:spTgt>
                                        </p:tgtEl>
                                        <p:attrNameLst>
                                          <p:attrName>style.visibility</p:attrName>
                                        </p:attrNameLst>
                                      </p:cBhvr>
                                      <p:to>
                                        <p:strVal val="visible"/>
                                      </p:to>
                                    </p:set>
                                    <p:animEffect transition="in" filter="box(out)">
                                      <p:cBhvr>
                                        <p:cTn id="106" dur="500"/>
                                        <p:tgtEl>
                                          <p:spTgt spid="364627">
                                            <p:txEl>
                                              <p:pRg st="0" end="0"/>
                                            </p:txEl>
                                          </p:spTgt>
                                        </p:tgtEl>
                                      </p:cBhvr>
                                    </p:animEffect>
                                  </p:childTnLst>
                                  <p:subTnLst>
                                    <p:audio>
                                      <p:cMediaNode>
                                        <p:cTn display="0" masterRel="sameClick">
                                          <p:stCondLst>
                                            <p:cond evt="begin" delay="0">
                                              <p:tn val="104"/>
                                            </p:cond>
                                          </p:stCondLst>
                                          <p:endCondLst>
                                            <p:cond evt="onStopAudio" delay="0">
                                              <p:tgtEl>
                                                <p:sldTgt/>
                                              </p:tgtEl>
                                            </p:cond>
                                          </p:endCondLst>
                                        </p:cTn>
                                        <p:tgtEl>
                                          <p:sndTgt r:embed="rId17" name="CAMERA.WAV"/>
                                        </p:tgtEl>
                                      </p:cMediaNode>
                                    </p:audio>
                                  </p:subTnLst>
                                </p:cTn>
                              </p:par>
                            </p:childTnLst>
                          </p:cTn>
                        </p:par>
                      </p:childTnLst>
                    </p:cTn>
                  </p:par>
                  <p:par>
                    <p:cTn id="107" fill="hold">
                      <p:stCondLst>
                        <p:cond delay="indefinite"/>
                      </p:stCondLst>
                      <p:childTnLst>
                        <p:par>
                          <p:cTn id="108" fill="hold">
                            <p:stCondLst>
                              <p:cond delay="0"/>
                            </p:stCondLst>
                            <p:childTnLst>
                              <p:par>
                                <p:cTn id="109" presetID="4" presetClass="entr" presetSubtype="32" fill="hold" nodeType="clickEffect">
                                  <p:stCondLst>
                                    <p:cond delay="0"/>
                                  </p:stCondLst>
                                  <p:childTnLst>
                                    <p:set>
                                      <p:cBhvr>
                                        <p:cTn id="110" dur="1" fill="hold">
                                          <p:stCondLst>
                                            <p:cond delay="0"/>
                                          </p:stCondLst>
                                        </p:cTn>
                                        <p:tgtEl>
                                          <p:spTgt spid="364628">
                                            <p:txEl>
                                              <p:pRg st="0" end="0"/>
                                            </p:txEl>
                                          </p:spTgt>
                                        </p:tgtEl>
                                        <p:attrNameLst>
                                          <p:attrName>style.visibility</p:attrName>
                                        </p:attrNameLst>
                                      </p:cBhvr>
                                      <p:to>
                                        <p:strVal val="visible"/>
                                      </p:to>
                                    </p:set>
                                    <p:animEffect transition="in" filter="box(out)">
                                      <p:cBhvr>
                                        <p:cTn id="111" dur="500"/>
                                        <p:tgtEl>
                                          <p:spTgt spid="364628">
                                            <p:txEl>
                                              <p:pRg st="0" end="0"/>
                                            </p:txEl>
                                          </p:spTgt>
                                        </p:tgtEl>
                                      </p:cBhvr>
                                    </p:animEffect>
                                  </p:childTnLst>
                                  <p:subTnLst>
                                    <p:audio>
                                      <p:cMediaNode>
                                        <p:cTn display="0" masterRel="sameClick">
                                          <p:stCondLst>
                                            <p:cond evt="begin" delay="0">
                                              <p:tn val="109"/>
                                            </p:cond>
                                          </p:stCondLst>
                                          <p:endCondLst>
                                            <p:cond evt="onStopAudio" delay="0">
                                              <p:tgtEl>
                                                <p:sldTgt/>
                                              </p:tgtEl>
                                            </p:cond>
                                          </p:endCondLst>
                                        </p:cTn>
                                        <p:tgtEl>
                                          <p:sndTgt r:embed="rId17" name="CAMERA.WAV"/>
                                        </p:tgtEl>
                                      </p:cMediaNode>
                                    </p:audio>
                                  </p:subTnLst>
                                </p:cTn>
                              </p:par>
                            </p:childTnLst>
                          </p:cTn>
                        </p:par>
                      </p:childTnLst>
                    </p:cTn>
                  </p:par>
                  <p:par>
                    <p:cTn id="112" fill="hold">
                      <p:stCondLst>
                        <p:cond delay="indefinite"/>
                      </p:stCondLst>
                      <p:childTnLst>
                        <p:par>
                          <p:cTn id="113" fill="hold">
                            <p:stCondLst>
                              <p:cond delay="0"/>
                            </p:stCondLst>
                            <p:childTnLst>
                              <p:par>
                                <p:cTn id="114" presetID="1" presetClass="exit" presetSubtype="0" fill="hold" grpId="1" nodeType="clickEffect">
                                  <p:stCondLst>
                                    <p:cond delay="0"/>
                                  </p:stCondLst>
                                  <p:childTnLst>
                                    <p:set>
                                      <p:cBhvr>
                                        <p:cTn id="115" dur="1" fill="hold">
                                          <p:stCondLst>
                                            <p:cond delay="0"/>
                                          </p:stCondLst>
                                        </p:cTn>
                                        <p:tgtEl>
                                          <p:spTgt spid="364619"/>
                                        </p:tgtEl>
                                        <p:attrNameLst>
                                          <p:attrName>style.visibility</p:attrName>
                                        </p:attrNameLst>
                                      </p:cBhvr>
                                      <p:to>
                                        <p:strVal val="hidden"/>
                                      </p:to>
                                    </p:set>
                                  </p:childTnLst>
                                </p:cTn>
                              </p:par>
                              <p:par>
                                <p:cTn id="116" presetID="1" presetClass="exit" presetSubtype="0" fill="hold" nodeType="withEffect">
                                  <p:stCondLst>
                                    <p:cond delay="0"/>
                                  </p:stCondLst>
                                  <p:childTnLst>
                                    <p:set>
                                      <p:cBhvr>
                                        <p:cTn id="117" dur="1" fill="hold">
                                          <p:stCondLst>
                                            <p:cond delay="0"/>
                                          </p:stCondLst>
                                        </p:cTn>
                                        <p:tgtEl>
                                          <p:spTgt spid="364629"/>
                                        </p:tgtEl>
                                        <p:attrNameLst>
                                          <p:attrName>style.visibility</p:attrName>
                                        </p:attrNameLst>
                                      </p:cBhvr>
                                      <p:to>
                                        <p:strVal val="hidden"/>
                                      </p:to>
                                    </p:set>
                                  </p:childTnLst>
                                </p:cTn>
                              </p:par>
                            </p:childTnLst>
                          </p:cTn>
                        </p:par>
                        <p:par>
                          <p:cTn id="118" fill="hold">
                            <p:stCondLst>
                              <p:cond delay="0"/>
                            </p:stCondLst>
                            <p:childTnLst>
                              <p:par>
                                <p:cTn id="119" presetID="3" presetClass="entr" presetSubtype="10" fill="hold" grpId="0" nodeType="afterEffect">
                                  <p:stCondLst>
                                    <p:cond delay="0"/>
                                  </p:stCondLst>
                                  <p:childTnLst>
                                    <p:set>
                                      <p:cBhvr>
                                        <p:cTn id="120" dur="1" fill="hold">
                                          <p:stCondLst>
                                            <p:cond delay="0"/>
                                          </p:stCondLst>
                                        </p:cTn>
                                        <p:tgtEl>
                                          <p:spTgt spid="364630"/>
                                        </p:tgtEl>
                                        <p:attrNameLst>
                                          <p:attrName>style.visibility</p:attrName>
                                        </p:attrNameLst>
                                      </p:cBhvr>
                                      <p:to>
                                        <p:strVal val="visible"/>
                                      </p:to>
                                    </p:set>
                                    <p:animEffect transition="in" filter="blinds(horizontal)">
                                      <p:cBhvr>
                                        <p:cTn id="121" dur="500"/>
                                        <p:tgtEl>
                                          <p:spTgt spid="364630"/>
                                        </p:tgtEl>
                                      </p:cBhvr>
                                    </p:animEffect>
                                  </p:childTnLst>
                                </p:cTn>
                              </p:par>
                              <p:par>
                                <p:cTn id="122" presetID="1" presetClass="exit" presetSubtype="0" fill="hold" grpId="1" nodeType="withEffect">
                                  <p:stCondLst>
                                    <p:cond delay="0"/>
                                  </p:stCondLst>
                                  <p:childTnLst>
                                    <p:set>
                                      <p:cBhvr>
                                        <p:cTn id="123" dur="1" fill="hold">
                                          <p:stCondLst>
                                            <p:cond delay="0"/>
                                          </p:stCondLst>
                                        </p:cTn>
                                        <p:tgtEl>
                                          <p:spTgt spid="364646"/>
                                        </p:tgtEl>
                                        <p:attrNameLst>
                                          <p:attrName>style.visibility</p:attrName>
                                        </p:attrNameLst>
                                      </p:cBhvr>
                                      <p:to>
                                        <p:strVal val="hidden"/>
                                      </p:to>
                                    </p:set>
                                  </p:childTnLst>
                                </p:cTn>
                              </p:par>
                            </p:childTnLst>
                          </p:cTn>
                        </p:par>
                      </p:childTnLst>
                    </p:cTn>
                  </p:par>
                  <p:par>
                    <p:cTn id="124" fill="hold">
                      <p:stCondLst>
                        <p:cond delay="indefinite"/>
                      </p:stCondLst>
                      <p:childTnLst>
                        <p:par>
                          <p:cTn id="125" fill="hold">
                            <p:stCondLst>
                              <p:cond delay="0"/>
                            </p:stCondLst>
                            <p:childTnLst>
                              <p:par>
                                <p:cTn id="126" presetID="3" presetClass="entr" presetSubtype="10" fill="hold" nodeType="clickEffect">
                                  <p:stCondLst>
                                    <p:cond delay="0"/>
                                  </p:stCondLst>
                                  <p:childTnLst>
                                    <p:set>
                                      <p:cBhvr>
                                        <p:cTn id="127" dur="1" fill="hold">
                                          <p:stCondLst>
                                            <p:cond delay="0"/>
                                          </p:stCondLst>
                                        </p:cTn>
                                        <p:tgtEl>
                                          <p:spTgt spid="364631"/>
                                        </p:tgtEl>
                                        <p:attrNameLst>
                                          <p:attrName>style.visibility</p:attrName>
                                        </p:attrNameLst>
                                      </p:cBhvr>
                                      <p:to>
                                        <p:strVal val="visible"/>
                                      </p:to>
                                    </p:set>
                                    <p:animEffect transition="in" filter="blinds(horizontal)">
                                      <p:cBhvr>
                                        <p:cTn id="128" dur="500"/>
                                        <p:tgtEl>
                                          <p:spTgt spid="364631"/>
                                        </p:tgtEl>
                                      </p:cBhvr>
                                    </p:animEffec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364647"/>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7" presetClass="entr" presetSubtype="1" fill="hold" grpId="0" nodeType="clickEffect">
                                  <p:stCondLst>
                                    <p:cond delay="0"/>
                                  </p:stCondLst>
                                  <p:childTnLst>
                                    <p:set>
                                      <p:cBhvr>
                                        <p:cTn id="136" dur="1" fill="hold">
                                          <p:stCondLst>
                                            <p:cond delay="0"/>
                                          </p:stCondLst>
                                        </p:cTn>
                                        <p:tgtEl>
                                          <p:spTgt spid="364632"/>
                                        </p:tgtEl>
                                        <p:attrNameLst>
                                          <p:attrName>style.visibility</p:attrName>
                                        </p:attrNameLst>
                                      </p:cBhvr>
                                      <p:to>
                                        <p:strVal val="visible"/>
                                      </p:to>
                                    </p:set>
                                    <p:anim calcmode="lin" valueType="num">
                                      <p:cBhvr>
                                        <p:cTn id="137" dur="500" fill="hold"/>
                                        <p:tgtEl>
                                          <p:spTgt spid="364632"/>
                                        </p:tgtEl>
                                        <p:attrNameLst>
                                          <p:attrName>ppt_x</p:attrName>
                                        </p:attrNameLst>
                                      </p:cBhvr>
                                      <p:tavLst>
                                        <p:tav tm="0">
                                          <p:val>
                                            <p:strVal val="#ppt_x"/>
                                          </p:val>
                                        </p:tav>
                                        <p:tav tm="100000">
                                          <p:val>
                                            <p:strVal val="#ppt_x"/>
                                          </p:val>
                                        </p:tav>
                                      </p:tavLst>
                                    </p:anim>
                                    <p:anim calcmode="lin" valueType="num">
                                      <p:cBhvr>
                                        <p:cTn id="138" dur="500" fill="hold"/>
                                        <p:tgtEl>
                                          <p:spTgt spid="364632"/>
                                        </p:tgtEl>
                                        <p:attrNameLst>
                                          <p:attrName>ppt_y</p:attrName>
                                        </p:attrNameLst>
                                      </p:cBhvr>
                                      <p:tavLst>
                                        <p:tav tm="0">
                                          <p:val>
                                            <p:strVal val="#ppt_y-#ppt_h/2"/>
                                          </p:val>
                                        </p:tav>
                                        <p:tav tm="100000">
                                          <p:val>
                                            <p:strVal val="#ppt_y"/>
                                          </p:val>
                                        </p:tav>
                                      </p:tavLst>
                                    </p:anim>
                                    <p:anim calcmode="lin" valueType="num">
                                      <p:cBhvr>
                                        <p:cTn id="139" dur="500" fill="hold"/>
                                        <p:tgtEl>
                                          <p:spTgt spid="364632"/>
                                        </p:tgtEl>
                                        <p:attrNameLst>
                                          <p:attrName>ppt_w</p:attrName>
                                        </p:attrNameLst>
                                      </p:cBhvr>
                                      <p:tavLst>
                                        <p:tav tm="0">
                                          <p:val>
                                            <p:strVal val="#ppt_w"/>
                                          </p:val>
                                        </p:tav>
                                        <p:tav tm="100000">
                                          <p:val>
                                            <p:strVal val="#ppt_w"/>
                                          </p:val>
                                        </p:tav>
                                      </p:tavLst>
                                    </p:anim>
                                    <p:anim calcmode="lin" valueType="num">
                                      <p:cBhvr>
                                        <p:cTn id="140" dur="500" fill="hold"/>
                                        <p:tgtEl>
                                          <p:spTgt spid="364632"/>
                                        </p:tgtEl>
                                        <p:attrNameLst>
                                          <p:attrName>ppt_h</p:attrName>
                                        </p:attrNameLst>
                                      </p:cBhvr>
                                      <p:tavLst>
                                        <p:tav tm="0">
                                          <p:val>
                                            <p:fltVal val="0"/>
                                          </p:val>
                                        </p:tav>
                                        <p:tav tm="100000">
                                          <p:val>
                                            <p:strVal val="#ppt_h"/>
                                          </p:val>
                                        </p:tav>
                                      </p:tavLst>
                                    </p:anim>
                                  </p:childTnLst>
                                </p:cTn>
                              </p:par>
                            </p:childTnLst>
                          </p:cTn>
                        </p:par>
                      </p:childTnLst>
                    </p:cTn>
                  </p:par>
                  <p:par>
                    <p:cTn id="141" fill="hold">
                      <p:stCondLst>
                        <p:cond delay="indefinite"/>
                      </p:stCondLst>
                      <p:childTnLst>
                        <p:par>
                          <p:cTn id="142" fill="hold">
                            <p:stCondLst>
                              <p:cond delay="0"/>
                            </p:stCondLst>
                            <p:childTnLst>
                              <p:par>
                                <p:cTn id="143" presetID="4" presetClass="entr" presetSubtype="32" fill="hold" grpId="0" nodeType="clickEffect">
                                  <p:stCondLst>
                                    <p:cond delay="0"/>
                                  </p:stCondLst>
                                  <p:childTnLst>
                                    <p:set>
                                      <p:cBhvr>
                                        <p:cTn id="144" dur="1" fill="hold">
                                          <p:stCondLst>
                                            <p:cond delay="0"/>
                                          </p:stCondLst>
                                        </p:cTn>
                                        <p:tgtEl>
                                          <p:spTgt spid="364633">
                                            <p:txEl>
                                              <p:pRg st="0" end="0"/>
                                            </p:txEl>
                                          </p:spTgt>
                                        </p:tgtEl>
                                        <p:attrNameLst>
                                          <p:attrName>style.visibility</p:attrName>
                                        </p:attrNameLst>
                                      </p:cBhvr>
                                      <p:to>
                                        <p:strVal val="visible"/>
                                      </p:to>
                                    </p:set>
                                    <p:animEffect transition="in" filter="box(out)">
                                      <p:cBhvr>
                                        <p:cTn id="145" dur="500"/>
                                        <p:tgtEl>
                                          <p:spTgt spid="364633">
                                            <p:txEl>
                                              <p:pRg st="0" end="0"/>
                                            </p:txEl>
                                          </p:spTgt>
                                        </p:tgtEl>
                                      </p:cBhvr>
                                    </p:animEffect>
                                  </p:childTnLst>
                                  <p:subTnLst>
                                    <p:audio>
                                      <p:cMediaNode>
                                        <p:cTn display="0" masterRel="sameClick">
                                          <p:stCondLst>
                                            <p:cond evt="begin" delay="0">
                                              <p:tn val="143"/>
                                            </p:cond>
                                          </p:stCondLst>
                                          <p:endCondLst>
                                            <p:cond evt="onStopAudio" delay="0">
                                              <p:tgtEl>
                                                <p:sldTgt/>
                                              </p:tgtEl>
                                            </p:cond>
                                          </p:endCondLst>
                                        </p:cTn>
                                        <p:tgtEl>
                                          <p:sndTgt r:embed="rId17" name="CAMERA.WAV"/>
                                        </p:tgtEl>
                                      </p:cMediaNode>
                                    </p:audio>
                                  </p:subTnLst>
                                </p:cTn>
                              </p:par>
                            </p:childTnLst>
                          </p:cTn>
                        </p:par>
                      </p:childTnLst>
                    </p:cTn>
                  </p:par>
                  <p:par>
                    <p:cTn id="146" fill="hold">
                      <p:stCondLst>
                        <p:cond delay="indefinite"/>
                      </p:stCondLst>
                      <p:childTnLst>
                        <p:par>
                          <p:cTn id="147" fill="hold">
                            <p:stCondLst>
                              <p:cond delay="0"/>
                            </p:stCondLst>
                            <p:childTnLst>
                              <p:par>
                                <p:cTn id="148" presetID="4" presetClass="entr" presetSubtype="32" fill="hold" grpId="0" nodeType="clickEffect">
                                  <p:stCondLst>
                                    <p:cond delay="0"/>
                                  </p:stCondLst>
                                  <p:childTnLst>
                                    <p:set>
                                      <p:cBhvr>
                                        <p:cTn id="149" dur="1" fill="hold">
                                          <p:stCondLst>
                                            <p:cond delay="0"/>
                                          </p:stCondLst>
                                        </p:cTn>
                                        <p:tgtEl>
                                          <p:spTgt spid="364634">
                                            <p:txEl>
                                              <p:pRg st="0" end="0"/>
                                            </p:txEl>
                                          </p:spTgt>
                                        </p:tgtEl>
                                        <p:attrNameLst>
                                          <p:attrName>style.visibility</p:attrName>
                                        </p:attrNameLst>
                                      </p:cBhvr>
                                      <p:to>
                                        <p:strVal val="visible"/>
                                      </p:to>
                                    </p:set>
                                    <p:animEffect transition="in" filter="box(out)">
                                      <p:cBhvr>
                                        <p:cTn id="150" dur="500"/>
                                        <p:tgtEl>
                                          <p:spTgt spid="364634">
                                            <p:txEl>
                                              <p:pRg st="0" end="0"/>
                                            </p:txEl>
                                          </p:spTgt>
                                        </p:tgtEl>
                                      </p:cBhvr>
                                    </p:animEffect>
                                  </p:childTnLst>
                                  <p:subTnLst>
                                    <p:audio>
                                      <p:cMediaNode>
                                        <p:cTn display="0" masterRel="sameClick">
                                          <p:stCondLst>
                                            <p:cond evt="begin" delay="0">
                                              <p:tn val="148"/>
                                            </p:cond>
                                          </p:stCondLst>
                                          <p:endCondLst>
                                            <p:cond evt="onStopAudio" delay="0">
                                              <p:tgtEl>
                                                <p:sldTgt/>
                                              </p:tgtEl>
                                            </p:cond>
                                          </p:endCondLst>
                                        </p:cTn>
                                        <p:tgtEl>
                                          <p:sndTgt r:embed="rId17" name="CAMERA.WAV"/>
                                        </p:tgtEl>
                                      </p:cMediaNode>
                                    </p:audio>
                                  </p:subTnLst>
                                </p:cTn>
                              </p:par>
                              <p:par>
                                <p:cTn id="151" presetID="3" presetClass="entr" presetSubtype="10" fill="hold" grpId="0" nodeType="withEffect">
                                  <p:stCondLst>
                                    <p:cond delay="0"/>
                                  </p:stCondLst>
                                  <p:childTnLst>
                                    <p:set>
                                      <p:cBhvr>
                                        <p:cTn id="152" dur="1" fill="hold">
                                          <p:stCondLst>
                                            <p:cond delay="0"/>
                                          </p:stCondLst>
                                        </p:cTn>
                                        <p:tgtEl>
                                          <p:spTgt spid="364637"/>
                                        </p:tgtEl>
                                        <p:attrNameLst>
                                          <p:attrName>style.visibility</p:attrName>
                                        </p:attrNameLst>
                                      </p:cBhvr>
                                      <p:to>
                                        <p:strVal val="visible"/>
                                      </p:to>
                                    </p:set>
                                    <p:animEffect transition="in" filter="blinds(horizontal)">
                                      <p:cBhvr>
                                        <p:cTn id="153" dur="500"/>
                                        <p:tgtEl>
                                          <p:spTgt spid="364637"/>
                                        </p:tgtEl>
                                      </p:cBhvr>
                                    </p:animEffect>
                                  </p:childTnLst>
                                </p:cTn>
                              </p:par>
                            </p:childTnLst>
                          </p:cTn>
                        </p:par>
                      </p:childTnLst>
                    </p:cTn>
                  </p:par>
                  <p:par>
                    <p:cTn id="154" fill="hold">
                      <p:stCondLst>
                        <p:cond delay="indefinite"/>
                      </p:stCondLst>
                      <p:childTnLst>
                        <p:par>
                          <p:cTn id="155" fill="hold">
                            <p:stCondLst>
                              <p:cond delay="0"/>
                            </p:stCondLst>
                            <p:childTnLst>
                              <p:par>
                                <p:cTn id="156" presetID="4" presetClass="entr" presetSubtype="32" fill="hold" grpId="0" nodeType="clickEffect">
                                  <p:stCondLst>
                                    <p:cond delay="0"/>
                                  </p:stCondLst>
                                  <p:childTnLst>
                                    <p:set>
                                      <p:cBhvr>
                                        <p:cTn id="157" dur="1" fill="hold">
                                          <p:stCondLst>
                                            <p:cond delay="0"/>
                                          </p:stCondLst>
                                        </p:cTn>
                                        <p:tgtEl>
                                          <p:spTgt spid="364635">
                                            <p:txEl>
                                              <p:pRg st="0" end="0"/>
                                            </p:txEl>
                                          </p:spTgt>
                                        </p:tgtEl>
                                        <p:attrNameLst>
                                          <p:attrName>style.visibility</p:attrName>
                                        </p:attrNameLst>
                                      </p:cBhvr>
                                      <p:to>
                                        <p:strVal val="visible"/>
                                      </p:to>
                                    </p:set>
                                    <p:animEffect transition="in" filter="box(out)">
                                      <p:cBhvr>
                                        <p:cTn id="158" dur="500"/>
                                        <p:tgtEl>
                                          <p:spTgt spid="364635">
                                            <p:txEl>
                                              <p:pRg st="0" end="0"/>
                                            </p:txEl>
                                          </p:spTgt>
                                        </p:tgtEl>
                                      </p:cBhvr>
                                    </p:animEffect>
                                  </p:childTnLst>
                                  <p:subTnLst>
                                    <p:audio>
                                      <p:cMediaNode>
                                        <p:cTn display="0" masterRel="sameClick">
                                          <p:stCondLst>
                                            <p:cond evt="begin" delay="0">
                                              <p:tn val="156"/>
                                            </p:cond>
                                          </p:stCondLst>
                                          <p:endCondLst>
                                            <p:cond evt="onStopAudio" delay="0">
                                              <p:tgtEl>
                                                <p:sldTgt/>
                                              </p:tgtEl>
                                            </p:cond>
                                          </p:endCondLst>
                                        </p:cTn>
                                        <p:tgtEl>
                                          <p:sndTgt r:embed="rId17" name="CAMERA.WAV"/>
                                        </p:tgtEl>
                                      </p:cMediaNode>
                                    </p:audio>
                                  </p:subTnLst>
                                </p:cTn>
                              </p:par>
                            </p:childTnLst>
                          </p:cTn>
                        </p:par>
                      </p:childTnLst>
                    </p:cTn>
                  </p:par>
                  <p:par>
                    <p:cTn id="159" fill="hold">
                      <p:stCondLst>
                        <p:cond delay="indefinite"/>
                      </p:stCondLst>
                      <p:childTnLst>
                        <p:par>
                          <p:cTn id="160" fill="hold">
                            <p:stCondLst>
                              <p:cond delay="0"/>
                            </p:stCondLst>
                            <p:childTnLst>
                              <p:par>
                                <p:cTn id="161" presetID="1" presetClass="exit" presetSubtype="0" fill="hold" grpId="1" nodeType="clickEffect">
                                  <p:stCondLst>
                                    <p:cond delay="0"/>
                                  </p:stCondLst>
                                  <p:childTnLst>
                                    <p:set>
                                      <p:cBhvr>
                                        <p:cTn id="162" dur="1" fill="hold">
                                          <p:stCondLst>
                                            <p:cond delay="0"/>
                                          </p:stCondLst>
                                        </p:cTn>
                                        <p:tgtEl>
                                          <p:spTgt spid="364623"/>
                                        </p:tgtEl>
                                        <p:attrNameLst>
                                          <p:attrName>style.visibility</p:attrName>
                                        </p:attrNameLst>
                                      </p:cBhvr>
                                      <p:to>
                                        <p:strVal val="hidden"/>
                                      </p:to>
                                    </p:set>
                                  </p:childTnLst>
                                </p:cTn>
                              </p:par>
                              <p:par>
                                <p:cTn id="163" presetID="1" presetClass="exit" presetSubtype="0" fill="hold" grpId="1" nodeType="withEffect">
                                  <p:stCondLst>
                                    <p:cond delay="0"/>
                                  </p:stCondLst>
                                  <p:childTnLst>
                                    <p:set>
                                      <p:cBhvr>
                                        <p:cTn id="164" dur="1" fill="hold">
                                          <p:stCondLst>
                                            <p:cond delay="0"/>
                                          </p:stCondLst>
                                        </p:cTn>
                                        <p:tgtEl>
                                          <p:spTgt spid="364637"/>
                                        </p:tgtEl>
                                        <p:attrNameLst>
                                          <p:attrName>style.visibility</p:attrName>
                                        </p:attrNameLst>
                                      </p:cBhvr>
                                      <p:to>
                                        <p:strVal val="hidden"/>
                                      </p:to>
                                    </p:set>
                                  </p:childTnLst>
                                </p:cTn>
                              </p:par>
                            </p:childTnLst>
                          </p:cTn>
                        </p:par>
                        <p:par>
                          <p:cTn id="165" fill="hold">
                            <p:stCondLst>
                              <p:cond delay="0"/>
                            </p:stCondLst>
                            <p:childTnLst>
                              <p:par>
                                <p:cTn id="166" presetID="3" presetClass="entr" presetSubtype="10" fill="hold" grpId="0" nodeType="afterEffect">
                                  <p:stCondLst>
                                    <p:cond delay="0"/>
                                  </p:stCondLst>
                                  <p:childTnLst>
                                    <p:set>
                                      <p:cBhvr>
                                        <p:cTn id="167" dur="1" fill="hold">
                                          <p:stCondLst>
                                            <p:cond delay="0"/>
                                          </p:stCondLst>
                                        </p:cTn>
                                        <p:tgtEl>
                                          <p:spTgt spid="364636"/>
                                        </p:tgtEl>
                                        <p:attrNameLst>
                                          <p:attrName>style.visibility</p:attrName>
                                        </p:attrNameLst>
                                      </p:cBhvr>
                                      <p:to>
                                        <p:strVal val="visible"/>
                                      </p:to>
                                    </p:set>
                                    <p:animEffect transition="in" filter="blinds(horizontal)">
                                      <p:cBhvr>
                                        <p:cTn id="168" dur="500"/>
                                        <p:tgtEl>
                                          <p:spTgt spid="364636"/>
                                        </p:tgtEl>
                                      </p:cBhvr>
                                    </p:animEffect>
                                  </p:childTnLst>
                                </p:cTn>
                              </p:par>
                              <p:par>
                                <p:cTn id="169" presetID="1" presetClass="exit" presetSubtype="0" fill="hold" grpId="1" nodeType="withEffect">
                                  <p:stCondLst>
                                    <p:cond delay="0"/>
                                  </p:stCondLst>
                                  <p:childTnLst>
                                    <p:set>
                                      <p:cBhvr>
                                        <p:cTn id="170" dur="1" fill="hold">
                                          <p:stCondLst>
                                            <p:cond delay="0"/>
                                          </p:stCondLst>
                                        </p:cTn>
                                        <p:tgtEl>
                                          <p:spTgt spid="364647"/>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3" presetClass="entr" presetSubtype="10" fill="hold" nodeType="clickEffect">
                                  <p:stCondLst>
                                    <p:cond delay="0"/>
                                  </p:stCondLst>
                                  <p:childTnLst>
                                    <p:set>
                                      <p:cBhvr>
                                        <p:cTn id="174" dur="1" fill="hold">
                                          <p:stCondLst>
                                            <p:cond delay="0"/>
                                          </p:stCondLst>
                                        </p:cTn>
                                        <p:tgtEl>
                                          <p:spTgt spid="364638"/>
                                        </p:tgtEl>
                                        <p:attrNameLst>
                                          <p:attrName>style.visibility</p:attrName>
                                        </p:attrNameLst>
                                      </p:cBhvr>
                                      <p:to>
                                        <p:strVal val="visible"/>
                                      </p:to>
                                    </p:set>
                                    <p:animEffect transition="in" filter="blinds(horizontal)">
                                      <p:cBhvr>
                                        <p:cTn id="175" dur="500"/>
                                        <p:tgtEl>
                                          <p:spTgt spid="364638"/>
                                        </p:tgtEl>
                                      </p:cBhvr>
                                    </p:animEffec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364648"/>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7" presetClass="entr" presetSubtype="1" fill="hold" grpId="0" nodeType="clickEffect">
                                  <p:stCondLst>
                                    <p:cond delay="0"/>
                                  </p:stCondLst>
                                  <p:childTnLst>
                                    <p:set>
                                      <p:cBhvr>
                                        <p:cTn id="183" dur="1" fill="hold">
                                          <p:stCondLst>
                                            <p:cond delay="0"/>
                                          </p:stCondLst>
                                        </p:cTn>
                                        <p:tgtEl>
                                          <p:spTgt spid="364639"/>
                                        </p:tgtEl>
                                        <p:attrNameLst>
                                          <p:attrName>style.visibility</p:attrName>
                                        </p:attrNameLst>
                                      </p:cBhvr>
                                      <p:to>
                                        <p:strVal val="visible"/>
                                      </p:to>
                                    </p:set>
                                    <p:anim calcmode="lin" valueType="num">
                                      <p:cBhvr>
                                        <p:cTn id="184" dur="500" fill="hold"/>
                                        <p:tgtEl>
                                          <p:spTgt spid="364639"/>
                                        </p:tgtEl>
                                        <p:attrNameLst>
                                          <p:attrName>ppt_x</p:attrName>
                                        </p:attrNameLst>
                                      </p:cBhvr>
                                      <p:tavLst>
                                        <p:tav tm="0">
                                          <p:val>
                                            <p:strVal val="#ppt_x"/>
                                          </p:val>
                                        </p:tav>
                                        <p:tav tm="100000">
                                          <p:val>
                                            <p:strVal val="#ppt_x"/>
                                          </p:val>
                                        </p:tav>
                                      </p:tavLst>
                                    </p:anim>
                                    <p:anim calcmode="lin" valueType="num">
                                      <p:cBhvr>
                                        <p:cTn id="185" dur="500" fill="hold"/>
                                        <p:tgtEl>
                                          <p:spTgt spid="364639"/>
                                        </p:tgtEl>
                                        <p:attrNameLst>
                                          <p:attrName>ppt_y</p:attrName>
                                        </p:attrNameLst>
                                      </p:cBhvr>
                                      <p:tavLst>
                                        <p:tav tm="0">
                                          <p:val>
                                            <p:strVal val="#ppt_y-#ppt_h/2"/>
                                          </p:val>
                                        </p:tav>
                                        <p:tav tm="100000">
                                          <p:val>
                                            <p:strVal val="#ppt_y"/>
                                          </p:val>
                                        </p:tav>
                                      </p:tavLst>
                                    </p:anim>
                                    <p:anim calcmode="lin" valueType="num">
                                      <p:cBhvr>
                                        <p:cTn id="186" dur="500" fill="hold"/>
                                        <p:tgtEl>
                                          <p:spTgt spid="364639"/>
                                        </p:tgtEl>
                                        <p:attrNameLst>
                                          <p:attrName>ppt_w</p:attrName>
                                        </p:attrNameLst>
                                      </p:cBhvr>
                                      <p:tavLst>
                                        <p:tav tm="0">
                                          <p:val>
                                            <p:strVal val="#ppt_w"/>
                                          </p:val>
                                        </p:tav>
                                        <p:tav tm="100000">
                                          <p:val>
                                            <p:strVal val="#ppt_w"/>
                                          </p:val>
                                        </p:tav>
                                      </p:tavLst>
                                    </p:anim>
                                    <p:anim calcmode="lin" valueType="num">
                                      <p:cBhvr>
                                        <p:cTn id="187" dur="500" fill="hold"/>
                                        <p:tgtEl>
                                          <p:spTgt spid="364639"/>
                                        </p:tgtEl>
                                        <p:attrNameLst>
                                          <p:attrName>ppt_h</p:attrName>
                                        </p:attrNameLst>
                                      </p:cBhvr>
                                      <p:tavLst>
                                        <p:tav tm="0">
                                          <p:val>
                                            <p:fltVal val="0"/>
                                          </p:val>
                                        </p:tav>
                                        <p:tav tm="100000">
                                          <p:val>
                                            <p:strVal val="#ppt_h"/>
                                          </p:val>
                                        </p:tav>
                                      </p:tavLst>
                                    </p:anim>
                                  </p:childTnLst>
                                </p:cTn>
                              </p:par>
                            </p:childTnLst>
                          </p:cTn>
                        </p:par>
                      </p:childTnLst>
                    </p:cTn>
                  </p:par>
                  <p:par>
                    <p:cTn id="188" fill="hold">
                      <p:stCondLst>
                        <p:cond delay="indefinite"/>
                      </p:stCondLst>
                      <p:childTnLst>
                        <p:par>
                          <p:cTn id="189" fill="hold">
                            <p:stCondLst>
                              <p:cond delay="0"/>
                            </p:stCondLst>
                            <p:childTnLst>
                              <p:par>
                                <p:cTn id="190" presetID="4" presetClass="entr" presetSubtype="32" fill="hold" grpId="0" nodeType="clickEffect">
                                  <p:stCondLst>
                                    <p:cond delay="0"/>
                                  </p:stCondLst>
                                  <p:childTnLst>
                                    <p:set>
                                      <p:cBhvr>
                                        <p:cTn id="191" dur="1" fill="hold">
                                          <p:stCondLst>
                                            <p:cond delay="0"/>
                                          </p:stCondLst>
                                        </p:cTn>
                                        <p:tgtEl>
                                          <p:spTgt spid="364640">
                                            <p:txEl>
                                              <p:pRg st="0" end="0"/>
                                            </p:txEl>
                                          </p:spTgt>
                                        </p:tgtEl>
                                        <p:attrNameLst>
                                          <p:attrName>style.visibility</p:attrName>
                                        </p:attrNameLst>
                                      </p:cBhvr>
                                      <p:to>
                                        <p:strVal val="visible"/>
                                      </p:to>
                                    </p:set>
                                    <p:animEffect transition="in" filter="box(out)">
                                      <p:cBhvr>
                                        <p:cTn id="192" dur="500"/>
                                        <p:tgtEl>
                                          <p:spTgt spid="364640">
                                            <p:txEl>
                                              <p:pRg st="0" end="0"/>
                                            </p:txEl>
                                          </p:spTgt>
                                        </p:tgtEl>
                                      </p:cBhvr>
                                    </p:animEffect>
                                  </p:childTnLst>
                                  <p:subTnLst>
                                    <p:audio>
                                      <p:cMediaNode>
                                        <p:cTn display="0" masterRel="sameClick">
                                          <p:stCondLst>
                                            <p:cond evt="begin" delay="0">
                                              <p:tn val="190"/>
                                            </p:cond>
                                          </p:stCondLst>
                                          <p:endCondLst>
                                            <p:cond evt="onStopAudio" delay="0">
                                              <p:tgtEl>
                                                <p:sldTgt/>
                                              </p:tgtEl>
                                            </p:cond>
                                          </p:endCondLst>
                                        </p:cTn>
                                        <p:tgtEl>
                                          <p:sndTgt r:embed="rId17" name="CAMERA.WAV"/>
                                        </p:tgtEl>
                                      </p:cMediaNode>
                                    </p:audio>
                                  </p:subTnLst>
                                </p:cTn>
                              </p:par>
                              <p:par>
                                <p:cTn id="193" presetID="3" presetClass="entr" presetSubtype="10" fill="hold" grpId="0" nodeType="withEffect">
                                  <p:stCondLst>
                                    <p:cond delay="0"/>
                                  </p:stCondLst>
                                  <p:childTnLst>
                                    <p:set>
                                      <p:cBhvr>
                                        <p:cTn id="194" dur="1" fill="hold">
                                          <p:stCondLst>
                                            <p:cond delay="0"/>
                                          </p:stCondLst>
                                        </p:cTn>
                                        <p:tgtEl>
                                          <p:spTgt spid="364641"/>
                                        </p:tgtEl>
                                        <p:attrNameLst>
                                          <p:attrName>style.visibility</p:attrName>
                                        </p:attrNameLst>
                                      </p:cBhvr>
                                      <p:to>
                                        <p:strVal val="visible"/>
                                      </p:to>
                                    </p:set>
                                    <p:animEffect transition="in" filter="blinds(horizontal)">
                                      <p:cBhvr>
                                        <p:cTn id="195" dur="500"/>
                                        <p:tgtEl>
                                          <p:spTgt spid="364641"/>
                                        </p:tgtEl>
                                      </p:cBhvr>
                                    </p:animEffect>
                                  </p:childTnLst>
                                </p:cTn>
                              </p:par>
                            </p:childTnLst>
                          </p:cTn>
                        </p:par>
                      </p:childTnLst>
                    </p:cTn>
                  </p:par>
                  <p:par>
                    <p:cTn id="196" fill="hold">
                      <p:stCondLst>
                        <p:cond delay="indefinite"/>
                      </p:stCondLst>
                      <p:childTnLst>
                        <p:par>
                          <p:cTn id="197" fill="hold">
                            <p:stCondLst>
                              <p:cond delay="0"/>
                            </p:stCondLst>
                            <p:childTnLst>
                              <p:par>
                                <p:cTn id="198" presetID="4" presetClass="entr" presetSubtype="32" fill="hold" grpId="0" nodeType="clickEffect">
                                  <p:stCondLst>
                                    <p:cond delay="0"/>
                                  </p:stCondLst>
                                  <p:childTnLst>
                                    <p:set>
                                      <p:cBhvr>
                                        <p:cTn id="199" dur="1" fill="hold">
                                          <p:stCondLst>
                                            <p:cond delay="0"/>
                                          </p:stCondLst>
                                        </p:cTn>
                                        <p:tgtEl>
                                          <p:spTgt spid="364642">
                                            <p:txEl>
                                              <p:pRg st="0" end="0"/>
                                            </p:txEl>
                                          </p:spTgt>
                                        </p:tgtEl>
                                        <p:attrNameLst>
                                          <p:attrName>style.visibility</p:attrName>
                                        </p:attrNameLst>
                                      </p:cBhvr>
                                      <p:to>
                                        <p:strVal val="visible"/>
                                      </p:to>
                                    </p:set>
                                    <p:animEffect transition="in" filter="box(out)">
                                      <p:cBhvr>
                                        <p:cTn id="200" dur="500"/>
                                        <p:tgtEl>
                                          <p:spTgt spid="364642">
                                            <p:txEl>
                                              <p:pRg st="0" end="0"/>
                                            </p:txEl>
                                          </p:spTgt>
                                        </p:tgtEl>
                                      </p:cBhvr>
                                    </p:animEffect>
                                  </p:childTnLst>
                                  <p:subTnLst>
                                    <p:audio>
                                      <p:cMediaNode>
                                        <p:cTn display="0" masterRel="sameClick">
                                          <p:stCondLst>
                                            <p:cond evt="begin" delay="0">
                                              <p:tn val="198"/>
                                            </p:cond>
                                          </p:stCondLst>
                                          <p:endCondLst>
                                            <p:cond evt="onStopAudio" delay="0">
                                              <p:tgtEl>
                                                <p:sldTgt/>
                                              </p:tgtEl>
                                            </p:cond>
                                          </p:endCondLst>
                                        </p:cTn>
                                        <p:tgtEl>
                                          <p:sndTgt r:embed="rId17" name="CAMERA.WAV"/>
                                        </p:tgtEl>
                                      </p:cMediaNode>
                                    </p:audio>
                                  </p:subTnLst>
                                </p:cTn>
                              </p:par>
                              <p:par>
                                <p:cTn id="201" presetID="3" presetClass="entr" presetSubtype="10" fill="hold" grpId="0" nodeType="withEffect">
                                  <p:stCondLst>
                                    <p:cond delay="0"/>
                                  </p:stCondLst>
                                  <p:childTnLst>
                                    <p:set>
                                      <p:cBhvr>
                                        <p:cTn id="202" dur="1" fill="hold">
                                          <p:stCondLst>
                                            <p:cond delay="0"/>
                                          </p:stCondLst>
                                        </p:cTn>
                                        <p:tgtEl>
                                          <p:spTgt spid="364643"/>
                                        </p:tgtEl>
                                        <p:attrNameLst>
                                          <p:attrName>style.visibility</p:attrName>
                                        </p:attrNameLst>
                                      </p:cBhvr>
                                      <p:to>
                                        <p:strVal val="visible"/>
                                      </p:to>
                                    </p:set>
                                    <p:animEffect transition="in" filter="blinds(horizontal)">
                                      <p:cBhvr>
                                        <p:cTn id="203" dur="500"/>
                                        <p:tgtEl>
                                          <p:spTgt spid="364643"/>
                                        </p:tgtEl>
                                      </p:cBhvr>
                                    </p:animEffect>
                                  </p:childTnLst>
                                </p:cTn>
                              </p:par>
                            </p:childTnLst>
                          </p:cTn>
                        </p:par>
                      </p:childTnLst>
                    </p:cTn>
                  </p:par>
                  <p:par>
                    <p:cTn id="204" fill="hold">
                      <p:stCondLst>
                        <p:cond delay="indefinite"/>
                      </p:stCondLst>
                      <p:childTnLst>
                        <p:par>
                          <p:cTn id="205" fill="hold">
                            <p:stCondLst>
                              <p:cond delay="0"/>
                            </p:stCondLst>
                            <p:childTnLst>
                              <p:par>
                                <p:cTn id="206" presetID="4" presetClass="entr" presetSubtype="32" fill="hold" grpId="0" nodeType="clickEffect">
                                  <p:stCondLst>
                                    <p:cond delay="0"/>
                                  </p:stCondLst>
                                  <p:childTnLst>
                                    <p:set>
                                      <p:cBhvr>
                                        <p:cTn id="207" dur="1" fill="hold">
                                          <p:stCondLst>
                                            <p:cond delay="0"/>
                                          </p:stCondLst>
                                        </p:cTn>
                                        <p:tgtEl>
                                          <p:spTgt spid="364644">
                                            <p:txEl>
                                              <p:pRg st="0" end="0"/>
                                            </p:txEl>
                                          </p:spTgt>
                                        </p:tgtEl>
                                        <p:attrNameLst>
                                          <p:attrName>style.visibility</p:attrName>
                                        </p:attrNameLst>
                                      </p:cBhvr>
                                      <p:to>
                                        <p:strVal val="visible"/>
                                      </p:to>
                                    </p:set>
                                    <p:animEffect transition="in" filter="box(out)">
                                      <p:cBhvr>
                                        <p:cTn id="208" dur="500"/>
                                        <p:tgtEl>
                                          <p:spTgt spid="364644">
                                            <p:txEl>
                                              <p:pRg st="0" end="0"/>
                                            </p:txEl>
                                          </p:spTgt>
                                        </p:tgtEl>
                                      </p:cBhvr>
                                    </p:animEffect>
                                  </p:childTnLst>
                                  <p:subTnLst>
                                    <p:audio>
                                      <p:cMediaNode>
                                        <p:cTn display="0" masterRel="sameClick">
                                          <p:stCondLst>
                                            <p:cond evt="begin" delay="0">
                                              <p:tn val="206"/>
                                            </p:cond>
                                          </p:stCondLst>
                                          <p:endCondLst>
                                            <p:cond evt="onStopAudio" delay="0">
                                              <p:tgtEl>
                                                <p:sldTgt/>
                                              </p:tgtEl>
                                            </p:cond>
                                          </p:endCondLst>
                                        </p:cTn>
                                        <p:tgtEl>
                                          <p:sndTgt r:embed="rId17" name="CAMERA.WAV"/>
                                        </p:tgtEl>
                                      </p:cMediaNode>
                                    </p:audio>
                                  </p:subTnLst>
                                </p:cTn>
                              </p:par>
                            </p:childTnLst>
                          </p:cTn>
                        </p:par>
                      </p:childTnLst>
                    </p:cTn>
                  </p:par>
                  <p:par>
                    <p:cTn id="209" fill="hold">
                      <p:stCondLst>
                        <p:cond delay="indefinite"/>
                      </p:stCondLst>
                      <p:childTnLst>
                        <p:par>
                          <p:cTn id="210" fill="hold">
                            <p:stCondLst>
                              <p:cond delay="0"/>
                            </p:stCondLst>
                            <p:childTnLst>
                              <p:par>
                                <p:cTn id="211" presetID="1" presetClass="exit" presetSubtype="0" fill="hold" grpId="1" nodeType="clickEffect">
                                  <p:stCondLst>
                                    <p:cond delay="0"/>
                                  </p:stCondLst>
                                  <p:childTnLst>
                                    <p:set>
                                      <p:cBhvr>
                                        <p:cTn id="212" dur="1" fill="hold">
                                          <p:stCondLst>
                                            <p:cond delay="0"/>
                                          </p:stCondLst>
                                        </p:cTn>
                                        <p:tgtEl>
                                          <p:spTgt spid="364648"/>
                                        </p:tgtEl>
                                        <p:attrNameLst>
                                          <p:attrName>style.visibility</p:attrName>
                                        </p:attrNameLst>
                                      </p:cBhvr>
                                      <p:to>
                                        <p:strVal val="hidden"/>
                                      </p:to>
                                    </p:set>
                                  </p:childTnLst>
                                </p:cTn>
                              </p:par>
                              <p:par>
                                <p:cTn id="213" presetID="1" presetClass="exit" presetSubtype="0" fill="hold" grpId="1" nodeType="withEffect">
                                  <p:stCondLst>
                                    <p:cond delay="0"/>
                                  </p:stCondLst>
                                  <p:childTnLst>
                                    <p:set>
                                      <p:cBhvr>
                                        <p:cTn id="214" dur="1" fill="hold">
                                          <p:stCondLst>
                                            <p:cond delay="0"/>
                                          </p:stCondLst>
                                        </p:cTn>
                                        <p:tgtEl>
                                          <p:spTgt spid="364636"/>
                                        </p:tgtEl>
                                        <p:attrNameLst>
                                          <p:attrName>style.visibility</p:attrName>
                                        </p:attrNameLst>
                                      </p:cBhvr>
                                      <p:to>
                                        <p:strVal val="hidden"/>
                                      </p:to>
                                    </p:set>
                                  </p:childTnLst>
                                </p:cTn>
                              </p:par>
                              <p:par>
                                <p:cTn id="215" presetID="1" presetClass="exit" presetSubtype="0" fill="hold" grpId="1" nodeType="withEffect">
                                  <p:stCondLst>
                                    <p:cond delay="0"/>
                                  </p:stCondLst>
                                  <p:childTnLst>
                                    <p:set>
                                      <p:cBhvr>
                                        <p:cTn id="216" dur="1" fill="hold">
                                          <p:stCondLst>
                                            <p:cond delay="0"/>
                                          </p:stCondLst>
                                        </p:cTn>
                                        <p:tgtEl>
                                          <p:spTgt spid="364630"/>
                                        </p:tgtEl>
                                        <p:attrNameLst>
                                          <p:attrName>style.visibility</p:attrName>
                                        </p:attrNameLst>
                                      </p:cBhvr>
                                      <p:to>
                                        <p:strVal val="hidden"/>
                                      </p:to>
                                    </p:set>
                                  </p:childTnLst>
                                </p:cTn>
                              </p:par>
                            </p:childTnLst>
                          </p:cTn>
                        </p:par>
                      </p:childTnLst>
                    </p:cTn>
                  </p:par>
                  <p:par>
                    <p:cTn id="217" fill="hold">
                      <p:stCondLst>
                        <p:cond delay="indefinite"/>
                      </p:stCondLst>
                      <p:childTnLst>
                        <p:par>
                          <p:cTn id="218" fill="hold">
                            <p:stCondLst>
                              <p:cond delay="0"/>
                            </p:stCondLst>
                            <p:childTnLst>
                              <p:par>
                                <p:cTn id="219" presetID="1" presetClass="entr" presetSubtype="0" fill="hold" grpId="0" nodeType="clickEffect">
                                  <p:stCondLst>
                                    <p:cond delay="0"/>
                                  </p:stCondLst>
                                  <p:childTnLst>
                                    <p:set>
                                      <p:cBhvr>
                                        <p:cTn id="220" dur="1" fill="hold">
                                          <p:stCondLst>
                                            <p:cond delay="0"/>
                                          </p:stCondLst>
                                        </p:cTn>
                                        <p:tgtEl>
                                          <p:spTgt spid="364649"/>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7" presetClass="entr" presetSubtype="4" fill="hold" grpId="0" nodeType="clickEffect">
                                  <p:stCondLst>
                                    <p:cond delay="0"/>
                                  </p:stCondLst>
                                  <p:childTnLst>
                                    <p:set>
                                      <p:cBhvr>
                                        <p:cTn id="224" dur="1" fill="hold">
                                          <p:stCondLst>
                                            <p:cond delay="0"/>
                                          </p:stCondLst>
                                        </p:cTn>
                                        <p:tgtEl>
                                          <p:spTgt spid="364650"/>
                                        </p:tgtEl>
                                        <p:attrNameLst>
                                          <p:attrName>style.visibility</p:attrName>
                                        </p:attrNameLst>
                                      </p:cBhvr>
                                      <p:to>
                                        <p:strVal val="visible"/>
                                      </p:to>
                                    </p:set>
                                    <p:anim calcmode="lin" valueType="num">
                                      <p:cBhvr>
                                        <p:cTn id="225" dur="500" fill="hold"/>
                                        <p:tgtEl>
                                          <p:spTgt spid="364650"/>
                                        </p:tgtEl>
                                        <p:attrNameLst>
                                          <p:attrName>ppt_x</p:attrName>
                                        </p:attrNameLst>
                                      </p:cBhvr>
                                      <p:tavLst>
                                        <p:tav tm="0">
                                          <p:val>
                                            <p:strVal val="#ppt_x"/>
                                          </p:val>
                                        </p:tav>
                                        <p:tav tm="100000">
                                          <p:val>
                                            <p:strVal val="#ppt_x"/>
                                          </p:val>
                                        </p:tav>
                                      </p:tavLst>
                                    </p:anim>
                                    <p:anim calcmode="lin" valueType="num">
                                      <p:cBhvr>
                                        <p:cTn id="226" dur="500" fill="hold"/>
                                        <p:tgtEl>
                                          <p:spTgt spid="364650"/>
                                        </p:tgtEl>
                                        <p:attrNameLst>
                                          <p:attrName>ppt_y</p:attrName>
                                        </p:attrNameLst>
                                      </p:cBhvr>
                                      <p:tavLst>
                                        <p:tav tm="0">
                                          <p:val>
                                            <p:strVal val="#ppt_y+#ppt_h/2"/>
                                          </p:val>
                                        </p:tav>
                                        <p:tav tm="100000">
                                          <p:val>
                                            <p:strVal val="#ppt_y"/>
                                          </p:val>
                                        </p:tav>
                                      </p:tavLst>
                                    </p:anim>
                                    <p:anim calcmode="lin" valueType="num">
                                      <p:cBhvr>
                                        <p:cTn id="227" dur="500" fill="hold"/>
                                        <p:tgtEl>
                                          <p:spTgt spid="364650"/>
                                        </p:tgtEl>
                                        <p:attrNameLst>
                                          <p:attrName>ppt_w</p:attrName>
                                        </p:attrNameLst>
                                      </p:cBhvr>
                                      <p:tavLst>
                                        <p:tav tm="0">
                                          <p:val>
                                            <p:strVal val="#ppt_w"/>
                                          </p:val>
                                        </p:tav>
                                        <p:tav tm="100000">
                                          <p:val>
                                            <p:strVal val="#ppt_w"/>
                                          </p:val>
                                        </p:tav>
                                      </p:tavLst>
                                    </p:anim>
                                    <p:anim calcmode="lin" valueType="num">
                                      <p:cBhvr>
                                        <p:cTn id="228" dur="500" fill="hold"/>
                                        <p:tgtEl>
                                          <p:spTgt spid="36465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613" grpId="0" bldLvl="0" animBg="1"/>
      <p:bldP spid="364613" grpId="1" bldLvl="0" animBg="1"/>
      <p:bldP spid="364614" grpId="0" bldLvl="0" animBg="1"/>
      <p:bldP spid="364615" grpId="0" build="p"/>
      <p:bldP spid="364616" grpId="0" build="p"/>
      <p:bldP spid="364617" grpId="0" bldLvl="0" animBg="1"/>
      <p:bldP spid="364617" grpId="1" bldLvl="0" animBg="1"/>
      <p:bldP spid="364618" grpId="0" build="p"/>
      <p:bldP spid="364619" grpId="0" bldLvl="0" animBg="1"/>
      <p:bldP spid="364619" grpId="1" bldLvl="0" animBg="1"/>
      <p:bldP spid="364621" grpId="0" bldLvl="0" animBg="1"/>
      <p:bldP spid="364622" grpId="0" build="p"/>
      <p:bldP spid="364623" grpId="0" bldLvl="0" animBg="1"/>
      <p:bldP spid="364623" grpId="1" bldLvl="0" animBg="1"/>
      <p:bldP spid="364625" grpId="0" bldLvl="0" animBg="1"/>
      <p:bldP spid="364626" grpId="0" build="p"/>
      <p:bldP spid="364627" grpId="0" build="p"/>
      <p:bldP spid="364629" grpId="0" bldLvl="0" animBg="1"/>
      <p:bldP spid="364630" grpId="0" bldLvl="0" animBg="1"/>
      <p:bldP spid="364630" grpId="1" bldLvl="0" animBg="1"/>
      <p:bldP spid="364632" grpId="0" bldLvl="0" animBg="1"/>
      <p:bldP spid="364633" grpId="0" build="p"/>
      <p:bldP spid="364634" grpId="0" build="p"/>
      <p:bldP spid="364635" grpId="0" build="p"/>
      <p:bldP spid="364636" grpId="0" bldLvl="0" animBg="1"/>
      <p:bldP spid="364636" grpId="1" bldLvl="0" animBg="1"/>
      <p:bldP spid="364637" grpId="0" bldLvl="0" animBg="1"/>
      <p:bldP spid="364637" grpId="1" bldLvl="0" animBg="1"/>
      <p:bldP spid="364639" grpId="0" bldLvl="0" animBg="1"/>
      <p:bldP spid="364640" grpId="0" build="p"/>
      <p:bldP spid="364641" grpId="0" bldLvl="0" animBg="1"/>
      <p:bldP spid="364642" grpId="0" build="p"/>
      <p:bldP spid="364643" grpId="0" bldLvl="0" animBg="1"/>
      <p:bldP spid="364644" grpId="0" build="p"/>
      <p:bldP spid="364645" grpId="0" bldLvl="0" animBg="1"/>
      <p:bldP spid="364645" grpId="1" bldLvl="0" animBg="1"/>
      <p:bldP spid="364646" grpId="0" bldLvl="0" animBg="1"/>
      <p:bldP spid="364646" grpId="1" bldLvl="0" animBg="1"/>
      <p:bldP spid="364647" grpId="0" bldLvl="0" animBg="1"/>
      <p:bldP spid="364647" grpId="1" bldLvl="0" animBg="1"/>
      <p:bldP spid="364648" grpId="0" bldLvl="0" animBg="1"/>
      <p:bldP spid="364648" grpId="1" bldLvl="0" animBg="1"/>
      <p:bldP spid="364649" grpId="0"/>
      <p:bldP spid="364650" grpId="0" bldLvl="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6" name="Rectangle 154"/>
          <p:cNvSpPr txBox="1"/>
          <p:nvPr/>
        </p:nvSpPr>
        <p:spPr>
          <a:xfrm>
            <a:off x="827404" y="189230"/>
            <a:ext cx="8209092"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smtClean="0">
                <a:solidFill>
                  <a:schemeClr val="bg1"/>
                </a:solidFill>
                <a:sym typeface="+mn-lt"/>
              </a:rPr>
              <a:t>将</a:t>
            </a:r>
            <a:r>
              <a:rPr lang="zh-CN" altLang="en-US" sz="2800" dirty="0">
                <a:solidFill>
                  <a:schemeClr val="bg1"/>
                </a:solidFill>
                <a:sym typeface="+mn-lt"/>
              </a:rPr>
              <a:t>中缀表达式转换成后缀表达式</a:t>
            </a:r>
            <a:r>
              <a:rPr lang="zh-CN" altLang="en-US" dirty="0">
                <a:solidFill>
                  <a:schemeClr val="bg1"/>
                </a:solidFill>
                <a:sym typeface="+mn-lt"/>
              </a:rPr>
              <a:t>（一个栈）</a:t>
            </a:r>
          </a:p>
        </p:txBody>
      </p:sp>
      <p:sp>
        <p:nvSpPr>
          <p:cNvPr id="153602" name="Text Box 2"/>
          <p:cNvSpPr txBox="1"/>
          <p:nvPr>
            <p:custDataLst>
              <p:tags r:id="rId1"/>
            </p:custDataLst>
          </p:nvPr>
        </p:nvSpPr>
        <p:spPr>
          <a:xfrm>
            <a:off x="414338" y="836613"/>
            <a:ext cx="4773612" cy="579437"/>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 + b * c + ( d * e + f ) * g</a:t>
            </a:r>
          </a:p>
        </p:txBody>
      </p:sp>
      <p:sp>
        <p:nvSpPr>
          <p:cNvPr id="626692" name="Text Box 4"/>
          <p:cNvSpPr txBox="1"/>
          <p:nvPr>
            <p:custDataLst>
              <p:tags r:id="rId2"/>
            </p:custDataLst>
          </p:nvPr>
        </p:nvSpPr>
        <p:spPr>
          <a:xfrm>
            <a:off x="1312863" y="2011363"/>
            <a:ext cx="384175" cy="579437"/>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t>
            </a:r>
          </a:p>
        </p:txBody>
      </p:sp>
      <p:grpSp>
        <p:nvGrpSpPr>
          <p:cNvPr id="3" name="Group 5"/>
          <p:cNvGrpSpPr/>
          <p:nvPr/>
        </p:nvGrpSpPr>
        <p:grpSpPr>
          <a:xfrm>
            <a:off x="1171575" y="1552575"/>
            <a:ext cx="566738" cy="1638300"/>
            <a:chOff x="576" y="1829"/>
            <a:chExt cx="357" cy="813"/>
          </a:xfrm>
        </p:grpSpPr>
        <p:sp>
          <p:nvSpPr>
            <p:cNvPr id="153653" name="Line 6"/>
            <p:cNvSpPr/>
            <p:nvPr>
              <p:custDataLst>
                <p:tags r:id="rId25"/>
              </p:custDataLst>
            </p:nvPr>
          </p:nvSpPr>
          <p:spPr>
            <a:xfrm>
              <a:off x="576" y="1829"/>
              <a:ext cx="0" cy="813"/>
            </a:xfrm>
            <a:prstGeom prst="line">
              <a:avLst/>
            </a:prstGeom>
            <a:ln w="38100" cap="flat" cmpd="sng">
              <a:solidFill>
                <a:srgbClr val="008000"/>
              </a:solidFill>
              <a:prstDash val="solid"/>
              <a:headEnd type="none" w="med" len="med"/>
              <a:tailEnd type="none" w="med" len="med"/>
            </a:ln>
          </p:spPr>
          <p:txBody>
            <a:bodyPr/>
            <a:lstStyle/>
            <a:p>
              <a:endParaRPr lang="zh-CN" altLang="en-US"/>
            </a:p>
          </p:txBody>
        </p:sp>
        <p:sp>
          <p:nvSpPr>
            <p:cNvPr id="153654" name="Line 7"/>
            <p:cNvSpPr/>
            <p:nvPr>
              <p:custDataLst>
                <p:tags r:id="rId26"/>
              </p:custDataLst>
            </p:nvPr>
          </p:nvSpPr>
          <p:spPr>
            <a:xfrm>
              <a:off x="576" y="2633"/>
              <a:ext cx="347" cy="0"/>
            </a:xfrm>
            <a:prstGeom prst="line">
              <a:avLst/>
            </a:prstGeom>
            <a:ln w="38100" cap="flat" cmpd="sng">
              <a:solidFill>
                <a:srgbClr val="008000"/>
              </a:solidFill>
              <a:prstDash val="solid"/>
              <a:headEnd type="none" w="med" len="med"/>
              <a:tailEnd type="none" w="med" len="med"/>
            </a:ln>
          </p:spPr>
          <p:txBody>
            <a:bodyPr/>
            <a:lstStyle/>
            <a:p>
              <a:endParaRPr lang="zh-CN" altLang="en-US"/>
            </a:p>
          </p:txBody>
        </p:sp>
        <p:sp>
          <p:nvSpPr>
            <p:cNvPr id="153655" name="Line 8"/>
            <p:cNvSpPr/>
            <p:nvPr>
              <p:custDataLst>
                <p:tags r:id="rId27"/>
              </p:custDataLst>
            </p:nvPr>
          </p:nvSpPr>
          <p:spPr>
            <a:xfrm>
              <a:off x="933" y="1829"/>
              <a:ext cx="0" cy="813"/>
            </a:xfrm>
            <a:prstGeom prst="line">
              <a:avLst/>
            </a:prstGeom>
            <a:ln w="38100" cap="flat" cmpd="sng">
              <a:solidFill>
                <a:srgbClr val="008000"/>
              </a:solidFill>
              <a:prstDash val="solid"/>
              <a:headEnd type="none" w="med" len="med"/>
              <a:tailEnd type="none" w="med" len="med"/>
            </a:ln>
          </p:spPr>
          <p:txBody>
            <a:bodyPr/>
            <a:lstStyle/>
            <a:p>
              <a:endParaRPr lang="zh-CN" altLang="en-US"/>
            </a:p>
          </p:txBody>
        </p:sp>
      </p:grpSp>
      <p:sp>
        <p:nvSpPr>
          <p:cNvPr id="626697" name="Rectangle 9"/>
          <p:cNvSpPr/>
          <p:nvPr>
            <p:custDataLst>
              <p:tags r:id="rId3"/>
            </p:custDataLst>
          </p:nvPr>
        </p:nvSpPr>
        <p:spPr>
          <a:xfrm>
            <a:off x="2259013" y="2217738"/>
            <a:ext cx="5748337" cy="438150"/>
          </a:xfrm>
          <a:prstGeom prst="rect">
            <a:avLst/>
          </a:prstGeom>
          <a:solidFill>
            <a:schemeClr val="bg1"/>
          </a:solidFill>
          <a:ln w="38100" cap="flat" cmpd="sng">
            <a:solidFill>
              <a:srgbClr val="008000"/>
            </a:solidFill>
            <a:prstDash val="solid"/>
            <a:miter/>
            <a:headEnd type="none" w="med" len="med"/>
            <a:tailEnd type="none" w="med" len="med"/>
          </a:ln>
        </p:spPr>
        <p:txBody>
          <a:bodyPr lIns="90000" tIns="46800" rIns="90000" bIns="46800" anchor="ctr" anchorCtr="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zh-CN" sz="2000" b="1" dirty="0">
              <a:solidFill>
                <a:srgbClr val="000000"/>
              </a:solidFill>
              <a:ea typeface="隶书" panose="02010509060101010101" pitchFamily="49" charset="-122"/>
            </a:endParaRPr>
          </a:p>
        </p:txBody>
      </p:sp>
      <p:sp>
        <p:nvSpPr>
          <p:cNvPr id="626698" name="Text Box 10"/>
          <p:cNvSpPr txBox="1"/>
          <p:nvPr>
            <p:custDataLst>
              <p:tags r:id="rId4"/>
            </p:custDataLst>
          </p:nvPr>
        </p:nvSpPr>
        <p:spPr>
          <a:xfrm>
            <a:off x="2257425" y="2141538"/>
            <a:ext cx="519113" cy="579437"/>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 </a:t>
            </a:r>
          </a:p>
        </p:txBody>
      </p:sp>
      <p:sp>
        <p:nvSpPr>
          <p:cNvPr id="626699" name="Text Box 11"/>
          <p:cNvSpPr txBox="1"/>
          <p:nvPr>
            <p:custDataLst>
              <p:tags r:id="rId5"/>
            </p:custDataLst>
          </p:nvPr>
        </p:nvSpPr>
        <p:spPr>
          <a:xfrm>
            <a:off x="1255713" y="2287588"/>
            <a:ext cx="419100" cy="579437"/>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t>
            </a:r>
          </a:p>
        </p:txBody>
      </p:sp>
      <p:sp>
        <p:nvSpPr>
          <p:cNvPr id="626700" name="Text Box 12"/>
          <p:cNvSpPr txBox="1"/>
          <p:nvPr>
            <p:custDataLst>
              <p:tags r:id="rId6"/>
            </p:custDataLst>
          </p:nvPr>
        </p:nvSpPr>
        <p:spPr>
          <a:xfrm>
            <a:off x="2692400" y="2143125"/>
            <a:ext cx="530225" cy="579438"/>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b</a:t>
            </a:r>
            <a:r>
              <a:rPr lang="en-US" altLang="zh-CN" b="1" dirty="0">
                <a:solidFill>
                  <a:srgbClr val="000000"/>
                </a:solidFill>
                <a:ea typeface="隶书" panose="02010509060101010101" pitchFamily="49" charset="-122"/>
              </a:rPr>
              <a:t> </a:t>
            </a:r>
          </a:p>
        </p:txBody>
      </p:sp>
      <p:sp>
        <p:nvSpPr>
          <p:cNvPr id="626702" name="Text Box 14"/>
          <p:cNvSpPr txBox="1"/>
          <p:nvPr>
            <p:custDataLst>
              <p:tags r:id="rId7"/>
            </p:custDataLst>
          </p:nvPr>
        </p:nvSpPr>
        <p:spPr>
          <a:xfrm>
            <a:off x="2505075" y="1687513"/>
            <a:ext cx="1929130" cy="461645"/>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后缀表达式</a:t>
            </a:r>
            <a:r>
              <a:rPr lang="en-US" altLang="zh-CN"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楷体_GB2312" pitchFamily="49" charset="-122"/>
                <a:ea typeface="楷体_GB2312" pitchFamily="49" charset="-122"/>
              </a:rPr>
              <a:t> </a:t>
            </a:r>
          </a:p>
        </p:txBody>
      </p:sp>
      <p:sp>
        <p:nvSpPr>
          <p:cNvPr id="626703" name="Text Box 15"/>
          <p:cNvSpPr txBox="1"/>
          <p:nvPr>
            <p:custDataLst>
              <p:tags r:id="rId8"/>
            </p:custDataLst>
          </p:nvPr>
        </p:nvSpPr>
        <p:spPr>
          <a:xfrm>
            <a:off x="3173413" y="2114550"/>
            <a:ext cx="463550" cy="579438"/>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c </a:t>
            </a:r>
          </a:p>
        </p:txBody>
      </p:sp>
      <p:sp>
        <p:nvSpPr>
          <p:cNvPr id="626704" name="Text Box 16"/>
          <p:cNvSpPr txBox="1"/>
          <p:nvPr>
            <p:custDataLst>
              <p:tags r:id="rId9"/>
            </p:custDataLst>
          </p:nvPr>
        </p:nvSpPr>
        <p:spPr>
          <a:xfrm>
            <a:off x="3576638" y="2181225"/>
            <a:ext cx="384175" cy="579438"/>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t>
            </a:r>
          </a:p>
        </p:txBody>
      </p:sp>
      <p:sp>
        <p:nvSpPr>
          <p:cNvPr id="626705" name="Text Box 17"/>
          <p:cNvSpPr txBox="1"/>
          <p:nvPr>
            <p:custDataLst>
              <p:tags r:id="rId10"/>
            </p:custDataLst>
          </p:nvPr>
        </p:nvSpPr>
        <p:spPr>
          <a:xfrm>
            <a:off x="4010025" y="2128838"/>
            <a:ext cx="409575" cy="579437"/>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t>
            </a:r>
          </a:p>
        </p:txBody>
      </p:sp>
      <p:sp>
        <p:nvSpPr>
          <p:cNvPr id="626707" name="Text Box 19"/>
          <p:cNvSpPr txBox="1">
            <a:spLocks noChangeArrowheads="1"/>
          </p:cNvSpPr>
          <p:nvPr/>
        </p:nvSpPr>
        <p:spPr bwMode="auto">
          <a:xfrm>
            <a:off x="776288" y="4051300"/>
            <a:ext cx="180975" cy="457200"/>
          </a:xfrm>
          <a:prstGeom prst="rect">
            <a:avLst/>
          </a:prstGeom>
          <a:noFill/>
          <a:ln w="9525">
            <a:noFill/>
            <a:miter lim="800000"/>
          </a:ln>
          <a:effectLst/>
        </p:spPr>
        <p:txBody>
          <a:bodyPr wrap="none" lIns="90000" tIns="46800" rIns="90000" bIns="46800">
            <a:spAutoFit/>
          </a:bodyPr>
          <a:lstStyle/>
          <a:p>
            <a:pPr marR="0" defTabSz="914400">
              <a:spcBef>
                <a:spcPct val="20000"/>
              </a:spcBef>
              <a:buClrTx/>
              <a:buSzTx/>
              <a:buFontTx/>
              <a:buNone/>
              <a:defRPr/>
            </a:pPr>
            <a:endParaRPr kumimoji="1" lang="zh-CN" altLang="zh-CN" b="0" kern="1200" cap="none" spc="0" normalizeH="0" baseline="0" noProof="0">
              <a:effectLst>
                <a:outerShdw blurRad="38100" dist="38100" dir="2700000" algn="tl">
                  <a:srgbClr val="C0C0C0"/>
                </a:outerShdw>
              </a:effectLst>
              <a:latin typeface="Times New Roman" panose="02020603050405020304" pitchFamily="18" charset="0"/>
              <a:ea typeface="楷体_GB2312"/>
              <a:cs typeface="楷体_GB2312"/>
            </a:endParaRPr>
          </a:p>
        </p:txBody>
      </p:sp>
      <p:sp>
        <p:nvSpPr>
          <p:cNvPr id="626708" name="Text Box 20"/>
          <p:cNvSpPr txBox="1"/>
          <p:nvPr/>
        </p:nvSpPr>
        <p:spPr>
          <a:xfrm>
            <a:off x="5091113" y="885825"/>
            <a:ext cx="406400" cy="579438"/>
          </a:xfrm>
          <a:prstGeom prst="rect">
            <a:avLst/>
          </a:prstGeom>
          <a:noFill/>
          <a:ln w="9525">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FF0000"/>
                </a:solidFill>
                <a:latin typeface="Arial" panose="020B0604020202020204" pitchFamily="34" charset="0"/>
                <a:ea typeface="宋体" panose="02010600030101010101" pitchFamily="2" charset="-122"/>
              </a:rPr>
              <a:t>#</a:t>
            </a:r>
          </a:p>
        </p:txBody>
      </p:sp>
      <p:sp>
        <p:nvSpPr>
          <p:cNvPr id="626709" name="Text Box 21"/>
          <p:cNvSpPr txBox="1"/>
          <p:nvPr/>
        </p:nvSpPr>
        <p:spPr>
          <a:xfrm>
            <a:off x="1257300" y="2647950"/>
            <a:ext cx="406400" cy="579438"/>
          </a:xfrm>
          <a:prstGeom prst="rect">
            <a:avLst/>
          </a:prstGeom>
          <a:noFill/>
          <a:ln w="9525">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FF0000"/>
                </a:solidFill>
                <a:latin typeface="Arial" panose="020B0604020202020204" pitchFamily="34" charset="0"/>
                <a:ea typeface="宋体" panose="02010600030101010101" pitchFamily="2" charset="-122"/>
              </a:rPr>
              <a:t>#</a:t>
            </a:r>
          </a:p>
        </p:txBody>
      </p:sp>
      <p:sp>
        <p:nvSpPr>
          <p:cNvPr id="626710" name="Text Box 22"/>
          <p:cNvSpPr txBox="1"/>
          <p:nvPr/>
        </p:nvSpPr>
        <p:spPr>
          <a:xfrm>
            <a:off x="179705" y="4004945"/>
            <a:ext cx="8964295" cy="461645"/>
          </a:xfrm>
          <a:prstGeom prst="rect">
            <a:avLst/>
          </a:prstGeom>
          <a:solidFill>
            <a:schemeClr val="bg2">
              <a:lumMod val="20000"/>
              <a:lumOff val="80000"/>
            </a:schemeClr>
          </a:solidFill>
          <a:ln w="9525">
            <a:noFill/>
          </a:ln>
        </p:spPr>
        <p:txBody>
          <a:bodyPr wrap="squar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sz="2400" dirty="0">
                <a:solidFill>
                  <a:srgbClr val="6600FF"/>
                </a:solidFill>
                <a:latin typeface="微软雅黑" panose="020B0503020204020204" pitchFamily="34" charset="-122"/>
                <a:ea typeface="微软雅黑" panose="020B0503020204020204" pitchFamily="34" charset="-122"/>
              </a:rPr>
              <a:t>①</a:t>
            </a:r>
            <a:r>
              <a:rPr lang="zh-CN" altLang="en-US" sz="2400" dirty="0">
                <a:latin typeface="微软雅黑" panose="020B0503020204020204" pitchFamily="34" charset="-122"/>
                <a:ea typeface="微软雅黑" panose="020B0503020204020204" pitchFamily="34" charset="-122"/>
              </a:rPr>
              <a:t>若</a:t>
            </a:r>
            <a:r>
              <a:rPr lang="zh-CN" altLang="en-US" sz="2400" dirty="0">
                <a:solidFill>
                  <a:srgbClr val="000000"/>
                </a:solidFill>
                <a:latin typeface="微软雅黑" panose="020B0503020204020204" pitchFamily="34" charset="-122"/>
                <a:ea typeface="微软雅黑" panose="020B0503020204020204" pitchFamily="34" charset="-122"/>
              </a:rPr>
              <a:t>当前字符</a:t>
            </a:r>
            <a:r>
              <a:rPr lang="zh-CN" altLang="en-US" sz="2400" dirty="0">
                <a:latin typeface="微软雅黑" panose="020B0503020204020204" pitchFamily="34" charset="-122"/>
                <a:ea typeface="微软雅黑" panose="020B0503020204020204" pitchFamily="34" charset="-122"/>
              </a:rPr>
              <a:t>是</a:t>
            </a:r>
            <a:r>
              <a:rPr lang="zh-CN" altLang="en-US" sz="2400" dirty="0">
                <a:solidFill>
                  <a:srgbClr val="FF0000"/>
                </a:solidFill>
                <a:latin typeface="微软雅黑" panose="020B0503020204020204" pitchFamily="34" charset="-122"/>
                <a:ea typeface="微软雅黑" panose="020B0503020204020204" pitchFamily="34" charset="-122"/>
              </a:rPr>
              <a:t>操作数</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则</a:t>
            </a:r>
            <a:r>
              <a:rPr lang="zh-CN" altLang="en-US" sz="2400" dirty="0">
                <a:solidFill>
                  <a:srgbClr val="0000FF"/>
                </a:solidFill>
                <a:latin typeface="微软雅黑" panose="020B0503020204020204" pitchFamily="34" charset="-122"/>
                <a:ea typeface="微软雅黑" panose="020B0503020204020204" pitchFamily="34" charset="-122"/>
              </a:rPr>
              <a:t>直接发送</a:t>
            </a:r>
            <a:r>
              <a:rPr lang="zh-CN" altLang="en-US" sz="2400" dirty="0">
                <a:solidFill>
                  <a:srgbClr val="000000"/>
                </a:solidFill>
                <a:latin typeface="微软雅黑" panose="020B0503020204020204" pitchFamily="34" charset="-122"/>
                <a:ea typeface="微软雅黑" panose="020B0503020204020204" pitchFamily="34" charset="-122"/>
              </a:rPr>
              <a:t>给后缀式</a:t>
            </a:r>
          </a:p>
        </p:txBody>
      </p:sp>
      <p:sp>
        <p:nvSpPr>
          <p:cNvPr id="626711" name="Text Box 23"/>
          <p:cNvSpPr txBox="1"/>
          <p:nvPr/>
        </p:nvSpPr>
        <p:spPr>
          <a:xfrm>
            <a:off x="192405" y="4469130"/>
            <a:ext cx="8951595" cy="461645"/>
          </a:xfrm>
          <a:prstGeom prst="rect">
            <a:avLst/>
          </a:prstGeom>
          <a:solidFill>
            <a:schemeClr val="bg2">
              <a:lumMod val="20000"/>
              <a:lumOff val="80000"/>
            </a:schemeClr>
          </a:solidFill>
          <a:ln w="9525">
            <a:noFill/>
          </a:ln>
        </p:spPr>
        <p:txBody>
          <a:bodyPr wrap="squar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sz="2400" dirty="0">
                <a:solidFill>
                  <a:srgbClr val="6600FF"/>
                </a:solidFill>
                <a:latin typeface="微软雅黑" panose="020B0503020204020204" pitchFamily="34" charset="-122"/>
                <a:ea typeface="微软雅黑" panose="020B0503020204020204" pitchFamily="34" charset="-122"/>
              </a:rPr>
              <a:t>②</a:t>
            </a:r>
            <a:r>
              <a:rPr lang="zh-CN" altLang="en-US" sz="2400" dirty="0">
                <a:latin typeface="微软雅黑" panose="020B0503020204020204" pitchFamily="34" charset="-122"/>
                <a:ea typeface="微软雅黑" panose="020B0503020204020204" pitchFamily="34" charset="-122"/>
              </a:rPr>
              <a:t>若</a:t>
            </a:r>
            <a:r>
              <a:rPr lang="zh-CN" altLang="en-US" sz="2400" dirty="0">
                <a:solidFill>
                  <a:srgbClr val="000000"/>
                </a:solidFill>
                <a:latin typeface="微软雅黑" panose="020B0503020204020204" pitchFamily="34" charset="-122"/>
                <a:ea typeface="微软雅黑" panose="020B0503020204020204" pitchFamily="34" charset="-122"/>
              </a:rPr>
              <a:t>当前字符</a:t>
            </a:r>
            <a:r>
              <a:rPr lang="zh-CN" altLang="en-US" sz="2400" dirty="0">
                <a:latin typeface="微软雅黑" panose="020B0503020204020204" pitchFamily="34" charset="-122"/>
                <a:ea typeface="微软雅黑" panose="020B0503020204020204" pitchFamily="34" charset="-122"/>
              </a:rPr>
              <a:t>是</a:t>
            </a:r>
            <a:r>
              <a:rPr lang="zh-CN" altLang="en-US" sz="2400" dirty="0">
                <a:solidFill>
                  <a:srgbClr val="FF0000"/>
                </a:solidFill>
                <a:latin typeface="微软雅黑" panose="020B0503020204020204" pitchFamily="34" charset="-122"/>
                <a:ea typeface="微软雅黑" panose="020B0503020204020204" pitchFamily="34" charset="-122"/>
              </a:rPr>
              <a:t>运算符</a:t>
            </a:r>
            <a:r>
              <a:rPr lang="zh-CN" altLang="en-US" sz="2400" dirty="0">
                <a:latin typeface="微软雅黑" panose="020B0503020204020204" pitchFamily="34" charset="-122"/>
                <a:ea typeface="微软雅黑" panose="020B0503020204020204" pitchFamily="34" charset="-122"/>
              </a:rPr>
              <a:t>：</a:t>
            </a:r>
          </a:p>
        </p:txBody>
      </p:sp>
      <p:sp>
        <p:nvSpPr>
          <p:cNvPr id="626712" name="Rectangle 24"/>
          <p:cNvSpPr/>
          <p:nvPr/>
        </p:nvSpPr>
        <p:spPr>
          <a:xfrm>
            <a:off x="522605" y="4864100"/>
            <a:ext cx="8620760" cy="461645"/>
          </a:xfrm>
          <a:prstGeom prst="rect">
            <a:avLst/>
          </a:prstGeom>
          <a:solidFill>
            <a:schemeClr val="bg2">
              <a:lumMod val="20000"/>
              <a:lumOff val="80000"/>
            </a:schemeClr>
          </a:solidFill>
          <a:ln w="9525">
            <a:noFill/>
          </a:ln>
        </p:spPr>
        <p:txBody>
          <a:bodyPr wrap="squar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lvl="0">
              <a:buFont typeface="Wingdings" panose="05000000000000000000" charset="0"/>
              <a:buChar char="l"/>
            </a:pPr>
            <a:r>
              <a:rPr lang="zh-CN" altLang="en-US" sz="2400" dirty="0">
                <a:latin typeface="微软雅黑" panose="020B0503020204020204" pitchFamily="34" charset="-122"/>
                <a:ea typeface="微软雅黑" panose="020B0503020204020204" pitchFamily="34" charset="-122"/>
              </a:rPr>
              <a:t>若</a:t>
            </a:r>
            <a:r>
              <a:rPr lang="zh-CN" altLang="en-US" sz="2400" dirty="0">
                <a:solidFill>
                  <a:srgbClr val="000000"/>
                </a:solidFill>
                <a:latin typeface="微软雅黑" panose="020B0503020204020204" pitchFamily="34" charset="-122"/>
                <a:ea typeface="微软雅黑" panose="020B0503020204020204" pitchFamily="34" charset="-122"/>
              </a:rPr>
              <a:t>运算符的</a:t>
            </a:r>
            <a:r>
              <a:rPr lang="zh-CN" altLang="en-US" sz="2400" dirty="0">
                <a:solidFill>
                  <a:srgbClr val="FF0000"/>
                </a:solidFill>
                <a:latin typeface="微软雅黑" panose="020B0503020204020204" pitchFamily="34" charset="-122"/>
                <a:ea typeface="微软雅黑" panose="020B0503020204020204" pitchFamily="34" charset="-122"/>
              </a:rPr>
              <a:t>优先级高于</a:t>
            </a:r>
            <a:r>
              <a:rPr lang="zh-CN" altLang="en-US" sz="2400" dirty="0">
                <a:solidFill>
                  <a:schemeClr val="folHlink"/>
                </a:solidFill>
                <a:latin typeface="微软雅黑" panose="020B0503020204020204" pitchFamily="34" charset="-122"/>
                <a:ea typeface="微软雅黑" panose="020B0503020204020204" pitchFamily="34" charset="-122"/>
              </a:rPr>
              <a:t>栈顶</a:t>
            </a:r>
            <a:r>
              <a:rPr lang="zh-CN" altLang="en-US" sz="2400" dirty="0">
                <a:solidFill>
                  <a:srgbClr val="000000"/>
                </a:solidFill>
                <a:latin typeface="微软雅黑" panose="020B0503020204020204" pitchFamily="34" charset="-122"/>
                <a:ea typeface="微软雅黑" panose="020B0503020204020204" pitchFamily="34" charset="-122"/>
              </a:rPr>
              <a:t>运算符，则</a:t>
            </a:r>
            <a:r>
              <a:rPr lang="zh-CN" altLang="en-US" sz="2400" dirty="0">
                <a:solidFill>
                  <a:srgbClr val="663300"/>
                </a:solidFill>
                <a:latin typeface="微软雅黑" panose="020B0503020204020204" pitchFamily="34" charset="-122"/>
                <a:ea typeface="微软雅黑" panose="020B0503020204020204" pitchFamily="34" charset="-122"/>
              </a:rPr>
              <a:t>进栈</a:t>
            </a:r>
          </a:p>
        </p:txBody>
      </p:sp>
      <p:sp>
        <p:nvSpPr>
          <p:cNvPr id="626713" name="Rectangle 25"/>
          <p:cNvSpPr/>
          <p:nvPr/>
        </p:nvSpPr>
        <p:spPr>
          <a:xfrm>
            <a:off x="532130" y="5276850"/>
            <a:ext cx="8611235" cy="461645"/>
          </a:xfrm>
          <a:prstGeom prst="rect">
            <a:avLst/>
          </a:prstGeom>
          <a:solidFill>
            <a:schemeClr val="bg2">
              <a:lumMod val="20000"/>
              <a:lumOff val="80000"/>
            </a:schemeClr>
          </a:solidFill>
          <a:ln w="9525">
            <a:noFill/>
          </a:ln>
        </p:spPr>
        <p:txBody>
          <a:bodyPr wrap="squar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lvl="0">
              <a:buFont typeface="Wingdings" panose="05000000000000000000" charset="0"/>
              <a:buChar char="l"/>
            </a:pPr>
            <a:r>
              <a:rPr lang="zh-CN" altLang="en-US" sz="2400" dirty="0">
                <a:solidFill>
                  <a:schemeClr val="tx1"/>
                </a:solidFill>
                <a:latin typeface="微软雅黑" panose="020B0503020204020204" pitchFamily="34" charset="-122"/>
                <a:ea typeface="微软雅黑" panose="020B0503020204020204" pitchFamily="34" charset="-122"/>
              </a:rPr>
              <a:t>否则，</a:t>
            </a:r>
            <a:r>
              <a:rPr lang="zh-CN" altLang="en-US" sz="2400" dirty="0">
                <a:solidFill>
                  <a:srgbClr val="FF0000"/>
                </a:solidFill>
                <a:latin typeface="微软雅黑" panose="020B0503020204020204" pitchFamily="34" charset="-122"/>
                <a:ea typeface="微软雅黑" panose="020B0503020204020204" pitchFamily="34" charset="-122"/>
              </a:rPr>
              <a:t>出栈栈顶</a:t>
            </a:r>
            <a:r>
              <a:rPr lang="zh-CN" altLang="en-US" sz="2400" dirty="0">
                <a:solidFill>
                  <a:srgbClr val="000000"/>
                </a:solidFill>
                <a:latin typeface="微软雅黑" panose="020B0503020204020204" pitchFamily="34" charset="-122"/>
                <a:ea typeface="微软雅黑" panose="020B0503020204020204" pitchFamily="34" charset="-122"/>
              </a:rPr>
              <a:t>运算符</a:t>
            </a:r>
            <a:r>
              <a:rPr lang="zh-CN" altLang="en-US" sz="2400" dirty="0">
                <a:solidFill>
                  <a:srgbClr val="FF0000"/>
                </a:solidFill>
                <a:latin typeface="微软雅黑" panose="020B0503020204020204" pitchFamily="34" charset="-122"/>
                <a:ea typeface="微软雅黑" panose="020B0503020204020204" pitchFamily="34" charset="-122"/>
              </a:rPr>
              <a:t>发送</a:t>
            </a:r>
            <a:r>
              <a:rPr lang="zh-CN" altLang="en-US" sz="2400" dirty="0">
                <a:solidFill>
                  <a:srgbClr val="000000"/>
                </a:solidFill>
                <a:latin typeface="微软雅黑" panose="020B0503020204020204" pitchFamily="34" charset="-122"/>
                <a:ea typeface="微软雅黑" panose="020B0503020204020204" pitchFamily="34" charset="-122"/>
              </a:rPr>
              <a:t>给后缀式</a:t>
            </a:r>
          </a:p>
        </p:txBody>
      </p:sp>
      <p:sp>
        <p:nvSpPr>
          <p:cNvPr id="626714" name="Text Box 26"/>
          <p:cNvSpPr txBox="1"/>
          <p:nvPr/>
        </p:nvSpPr>
        <p:spPr>
          <a:xfrm>
            <a:off x="204470" y="3573145"/>
            <a:ext cx="8938895" cy="461645"/>
          </a:xfrm>
          <a:prstGeom prst="rect">
            <a:avLst/>
          </a:prstGeom>
          <a:solidFill>
            <a:schemeClr val="bg2">
              <a:lumMod val="20000"/>
              <a:lumOff val="80000"/>
            </a:schemeClr>
          </a:solidFill>
          <a:ln w="9525">
            <a:noFill/>
          </a:ln>
        </p:spPr>
        <p:txBody>
          <a:bodyPr wrap="squar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zh-CN" altLang="en-US" sz="2400" dirty="0">
                <a:solidFill>
                  <a:srgbClr val="000000"/>
                </a:solidFill>
                <a:latin typeface="微软雅黑" panose="020B0503020204020204" pitchFamily="34" charset="-122"/>
                <a:ea typeface="微软雅黑" panose="020B0503020204020204" pitchFamily="34" charset="-122"/>
              </a:rPr>
              <a:t>转换算法步骤：依次读入中缀表达式字符</a:t>
            </a:r>
          </a:p>
        </p:txBody>
      </p:sp>
      <p:sp>
        <p:nvSpPr>
          <p:cNvPr id="626715" name="Oval 27"/>
          <p:cNvSpPr/>
          <p:nvPr/>
        </p:nvSpPr>
        <p:spPr>
          <a:xfrm>
            <a:off x="373063" y="869950"/>
            <a:ext cx="468312"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16" name="Oval 28"/>
          <p:cNvSpPr/>
          <p:nvPr/>
        </p:nvSpPr>
        <p:spPr>
          <a:xfrm>
            <a:off x="712788" y="869950"/>
            <a:ext cx="468312"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17" name="Oval 29"/>
          <p:cNvSpPr/>
          <p:nvPr/>
        </p:nvSpPr>
        <p:spPr>
          <a:xfrm>
            <a:off x="1081088" y="869950"/>
            <a:ext cx="468312"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18" name="Oval 30"/>
          <p:cNvSpPr/>
          <p:nvPr/>
        </p:nvSpPr>
        <p:spPr>
          <a:xfrm>
            <a:off x="1420813" y="869950"/>
            <a:ext cx="468312"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19" name="Oval 31"/>
          <p:cNvSpPr/>
          <p:nvPr/>
        </p:nvSpPr>
        <p:spPr>
          <a:xfrm>
            <a:off x="1731963" y="869950"/>
            <a:ext cx="468312"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20" name="Oval 32"/>
          <p:cNvSpPr/>
          <p:nvPr/>
        </p:nvSpPr>
        <p:spPr>
          <a:xfrm>
            <a:off x="2071688" y="869950"/>
            <a:ext cx="468312"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21" name="Oval 33"/>
          <p:cNvSpPr/>
          <p:nvPr/>
        </p:nvSpPr>
        <p:spPr>
          <a:xfrm>
            <a:off x="2397125" y="869950"/>
            <a:ext cx="468313"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22" name="Oval 34"/>
          <p:cNvSpPr/>
          <p:nvPr/>
        </p:nvSpPr>
        <p:spPr>
          <a:xfrm>
            <a:off x="2693988" y="869950"/>
            <a:ext cx="468312"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23" name="Oval 35"/>
          <p:cNvSpPr/>
          <p:nvPr/>
        </p:nvSpPr>
        <p:spPr>
          <a:xfrm>
            <a:off x="3005138" y="869950"/>
            <a:ext cx="468312"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24" name="Oval 36"/>
          <p:cNvSpPr/>
          <p:nvPr/>
        </p:nvSpPr>
        <p:spPr>
          <a:xfrm>
            <a:off x="3330575" y="869950"/>
            <a:ext cx="468313"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25" name="Oval 37"/>
          <p:cNvSpPr/>
          <p:nvPr/>
        </p:nvSpPr>
        <p:spPr>
          <a:xfrm>
            <a:off x="3670300" y="869950"/>
            <a:ext cx="468313"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26" name="Oval 38"/>
          <p:cNvSpPr/>
          <p:nvPr/>
        </p:nvSpPr>
        <p:spPr>
          <a:xfrm>
            <a:off x="3895725" y="869950"/>
            <a:ext cx="468313"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27" name="Oval 39"/>
          <p:cNvSpPr/>
          <p:nvPr/>
        </p:nvSpPr>
        <p:spPr>
          <a:xfrm>
            <a:off x="4148138" y="869950"/>
            <a:ext cx="468312"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28" name="Oval 40"/>
          <p:cNvSpPr/>
          <p:nvPr/>
        </p:nvSpPr>
        <p:spPr>
          <a:xfrm>
            <a:off x="4406900" y="869950"/>
            <a:ext cx="468313"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29" name="Oval 41"/>
          <p:cNvSpPr/>
          <p:nvPr/>
        </p:nvSpPr>
        <p:spPr>
          <a:xfrm>
            <a:off x="4737100" y="869950"/>
            <a:ext cx="468313"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30" name="Oval 42"/>
          <p:cNvSpPr/>
          <p:nvPr/>
        </p:nvSpPr>
        <p:spPr>
          <a:xfrm>
            <a:off x="5067300" y="869950"/>
            <a:ext cx="468313" cy="468313"/>
          </a:xfrm>
          <a:prstGeom prst="ellipse">
            <a:avLst/>
          </a:prstGeom>
          <a:noFill/>
          <a:ln w="38100" cap="flat" cmpd="sng">
            <a:solidFill>
              <a:srgbClr val="0000FF"/>
            </a:solidFill>
            <a:prstDash val="sysDot"/>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endParaRPr lang="zh-CN" altLang="en-US" sz="2400" b="1" dirty="0">
              <a:solidFill>
                <a:srgbClr val="6600FF"/>
              </a:solidFill>
              <a:ea typeface="宋体" panose="02010600030101010101" pitchFamily="2" charset="-122"/>
            </a:endParaRPr>
          </a:p>
        </p:txBody>
      </p:sp>
      <p:sp>
        <p:nvSpPr>
          <p:cNvPr id="626731" name="Text Box 43"/>
          <p:cNvSpPr txBox="1"/>
          <p:nvPr>
            <p:custDataLst>
              <p:tags r:id="rId11"/>
            </p:custDataLst>
          </p:nvPr>
        </p:nvSpPr>
        <p:spPr>
          <a:xfrm>
            <a:off x="1257300" y="2289175"/>
            <a:ext cx="419100" cy="579438"/>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t>
            </a:r>
          </a:p>
        </p:txBody>
      </p:sp>
      <p:sp>
        <p:nvSpPr>
          <p:cNvPr id="626732" name="Text Box 44"/>
          <p:cNvSpPr txBox="1"/>
          <p:nvPr>
            <p:custDataLst>
              <p:tags r:id="rId12"/>
            </p:custDataLst>
          </p:nvPr>
        </p:nvSpPr>
        <p:spPr>
          <a:xfrm>
            <a:off x="1298575" y="1852613"/>
            <a:ext cx="384175" cy="579437"/>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t>
            </a:r>
          </a:p>
        </p:txBody>
      </p:sp>
      <p:sp>
        <p:nvSpPr>
          <p:cNvPr id="626733" name="Text Box 45"/>
          <p:cNvSpPr txBox="1"/>
          <p:nvPr>
            <p:custDataLst>
              <p:tags r:id="rId13"/>
            </p:custDataLst>
          </p:nvPr>
        </p:nvSpPr>
        <p:spPr>
          <a:xfrm>
            <a:off x="4445000" y="2128838"/>
            <a:ext cx="409575" cy="579437"/>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d</a:t>
            </a:r>
          </a:p>
        </p:txBody>
      </p:sp>
      <p:sp>
        <p:nvSpPr>
          <p:cNvPr id="626734" name="Text Box 46"/>
          <p:cNvSpPr txBox="1"/>
          <p:nvPr>
            <p:custDataLst>
              <p:tags r:id="rId14"/>
            </p:custDataLst>
          </p:nvPr>
        </p:nvSpPr>
        <p:spPr>
          <a:xfrm>
            <a:off x="4894263" y="2128838"/>
            <a:ext cx="409575" cy="579437"/>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e</a:t>
            </a:r>
          </a:p>
        </p:txBody>
      </p:sp>
      <p:sp>
        <p:nvSpPr>
          <p:cNvPr id="626735" name="Text Box 47"/>
          <p:cNvSpPr txBox="1"/>
          <p:nvPr>
            <p:custDataLst>
              <p:tags r:id="rId15"/>
            </p:custDataLst>
          </p:nvPr>
        </p:nvSpPr>
        <p:spPr>
          <a:xfrm>
            <a:off x="1298575" y="1563688"/>
            <a:ext cx="384175" cy="579437"/>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t>
            </a:r>
          </a:p>
        </p:txBody>
      </p:sp>
      <p:sp>
        <p:nvSpPr>
          <p:cNvPr id="626736" name="Text Box 48"/>
          <p:cNvSpPr txBox="1"/>
          <p:nvPr>
            <p:custDataLst>
              <p:tags r:id="rId16"/>
            </p:custDataLst>
          </p:nvPr>
        </p:nvSpPr>
        <p:spPr>
          <a:xfrm>
            <a:off x="5286375" y="2230438"/>
            <a:ext cx="409575" cy="579437"/>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t>
            </a:r>
          </a:p>
        </p:txBody>
      </p:sp>
      <p:sp>
        <p:nvSpPr>
          <p:cNvPr id="626737" name="Text Box 49"/>
          <p:cNvSpPr txBox="1"/>
          <p:nvPr>
            <p:custDataLst>
              <p:tags r:id="rId17"/>
            </p:custDataLst>
          </p:nvPr>
        </p:nvSpPr>
        <p:spPr>
          <a:xfrm>
            <a:off x="1268413" y="1516063"/>
            <a:ext cx="384175" cy="579437"/>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t>
            </a:r>
          </a:p>
        </p:txBody>
      </p:sp>
      <p:sp>
        <p:nvSpPr>
          <p:cNvPr id="626738" name="Text Box 50"/>
          <p:cNvSpPr txBox="1"/>
          <p:nvPr>
            <p:custDataLst>
              <p:tags r:id="rId18"/>
            </p:custDataLst>
          </p:nvPr>
        </p:nvSpPr>
        <p:spPr>
          <a:xfrm>
            <a:off x="5605463" y="2143125"/>
            <a:ext cx="409575" cy="579438"/>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f</a:t>
            </a:r>
          </a:p>
        </p:txBody>
      </p:sp>
      <p:sp>
        <p:nvSpPr>
          <p:cNvPr id="626739" name="Text Box 51"/>
          <p:cNvSpPr txBox="1"/>
          <p:nvPr>
            <p:custDataLst>
              <p:tags r:id="rId19"/>
            </p:custDataLst>
          </p:nvPr>
        </p:nvSpPr>
        <p:spPr>
          <a:xfrm>
            <a:off x="5910263" y="2143125"/>
            <a:ext cx="409575" cy="579438"/>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t>
            </a:r>
          </a:p>
        </p:txBody>
      </p:sp>
      <p:sp>
        <p:nvSpPr>
          <p:cNvPr id="626740" name="Text Box 52"/>
          <p:cNvSpPr txBox="1"/>
          <p:nvPr>
            <p:custDataLst>
              <p:tags r:id="rId20"/>
            </p:custDataLst>
          </p:nvPr>
        </p:nvSpPr>
        <p:spPr>
          <a:xfrm>
            <a:off x="1298575" y="2012950"/>
            <a:ext cx="384175" cy="579438"/>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t>
            </a:r>
          </a:p>
        </p:txBody>
      </p:sp>
      <p:sp>
        <p:nvSpPr>
          <p:cNvPr id="626741" name="Text Box 53"/>
          <p:cNvSpPr txBox="1"/>
          <p:nvPr>
            <p:custDataLst>
              <p:tags r:id="rId21"/>
            </p:custDataLst>
          </p:nvPr>
        </p:nvSpPr>
        <p:spPr>
          <a:xfrm>
            <a:off x="6302375" y="2085975"/>
            <a:ext cx="409575" cy="579438"/>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g</a:t>
            </a:r>
          </a:p>
        </p:txBody>
      </p:sp>
      <p:sp>
        <p:nvSpPr>
          <p:cNvPr id="626742" name="Text Box 54"/>
          <p:cNvSpPr txBox="1"/>
          <p:nvPr>
            <p:custDataLst>
              <p:tags r:id="rId22"/>
            </p:custDataLst>
          </p:nvPr>
        </p:nvSpPr>
        <p:spPr>
          <a:xfrm>
            <a:off x="6737350" y="2230438"/>
            <a:ext cx="409575" cy="579437"/>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t>
            </a:r>
          </a:p>
        </p:txBody>
      </p:sp>
      <p:sp>
        <p:nvSpPr>
          <p:cNvPr id="626743" name="Text Box 55"/>
          <p:cNvSpPr txBox="1"/>
          <p:nvPr>
            <p:custDataLst>
              <p:tags r:id="rId23"/>
            </p:custDataLst>
          </p:nvPr>
        </p:nvSpPr>
        <p:spPr>
          <a:xfrm>
            <a:off x="7099300" y="2143125"/>
            <a:ext cx="409575" cy="579438"/>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000000"/>
                </a:solidFill>
                <a:latin typeface="Arial" panose="020B0604020202020204" pitchFamily="34" charset="0"/>
                <a:ea typeface="隶书" panose="02010509060101010101" pitchFamily="49" charset="-122"/>
              </a:rPr>
              <a:t>+</a:t>
            </a:r>
          </a:p>
        </p:txBody>
      </p:sp>
      <p:sp>
        <p:nvSpPr>
          <p:cNvPr id="626744" name="Text Box 56"/>
          <p:cNvSpPr txBox="1"/>
          <p:nvPr/>
        </p:nvSpPr>
        <p:spPr>
          <a:xfrm>
            <a:off x="68263" y="885825"/>
            <a:ext cx="406400" cy="579438"/>
          </a:xfrm>
          <a:prstGeom prst="rect">
            <a:avLst/>
          </a:prstGeom>
          <a:noFill/>
          <a:ln w="9525">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FF0000"/>
                </a:solidFill>
                <a:latin typeface="Arial" panose="020B0604020202020204" pitchFamily="34" charset="0"/>
                <a:ea typeface="宋体" panose="02010600030101010101" pitchFamily="2" charset="-122"/>
              </a:rPr>
              <a:t>#</a:t>
            </a:r>
          </a:p>
        </p:txBody>
      </p:sp>
      <p:sp>
        <p:nvSpPr>
          <p:cNvPr id="153651" name="Text Box 65"/>
          <p:cNvSpPr txBox="1"/>
          <p:nvPr>
            <p:custDataLst>
              <p:tags r:id="rId24"/>
            </p:custDataLst>
          </p:nvPr>
        </p:nvSpPr>
        <p:spPr>
          <a:xfrm>
            <a:off x="5665788" y="838200"/>
            <a:ext cx="2925762" cy="579438"/>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kumimoji="1"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kumimoji="1"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kumimoji="1"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kumimoji="1" sz="2000">
                <a:solidFill>
                  <a:schemeClr val="tx1"/>
                </a:solidFill>
                <a:latin typeface="+mn-lt"/>
                <a:ea typeface="+mn-ea"/>
                <a:cs typeface="仿宋_GB2312"/>
              </a:defRPr>
            </a:lvl5pPr>
          </a:lstStyle>
          <a:p>
            <a:pPr marL="0" lvl="0" indent="0">
              <a:buNone/>
            </a:pPr>
            <a:r>
              <a:rPr lang="en-US" altLang="zh-CN" b="1" dirty="0">
                <a:solidFill>
                  <a:srgbClr val="FF0000"/>
                </a:solidFill>
                <a:latin typeface="Arial" panose="020B0604020202020204" pitchFamily="34" charset="0"/>
                <a:ea typeface="隶书" panose="02010509060101010101" pitchFamily="49" charset="-122"/>
              </a:rPr>
              <a:t>abc*+de*f+g*+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670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67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2670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2669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1" fill="hold" grpId="0" nodeType="clickEffect">
                                  <p:stCondLst>
                                    <p:cond delay="0"/>
                                  </p:stCondLst>
                                  <p:childTnLst>
                                    <p:set>
                                      <p:cBhvr>
                                        <p:cTn id="20" dur="1" fill="hold">
                                          <p:stCondLst>
                                            <p:cond delay="0"/>
                                          </p:stCondLst>
                                        </p:cTn>
                                        <p:tgtEl>
                                          <p:spTgt spid="626709"/>
                                        </p:tgtEl>
                                        <p:attrNameLst>
                                          <p:attrName>style.visibility</p:attrName>
                                        </p:attrNameLst>
                                      </p:cBhvr>
                                      <p:to>
                                        <p:strVal val="visible"/>
                                      </p:to>
                                    </p:set>
                                    <p:anim calcmode="lin" valueType="num">
                                      <p:cBhvr additive="base">
                                        <p:cTn id="21" dur="500" fill="hold"/>
                                        <p:tgtEl>
                                          <p:spTgt spid="626709"/>
                                        </p:tgtEl>
                                        <p:attrNameLst>
                                          <p:attrName>ppt_x</p:attrName>
                                        </p:attrNameLst>
                                      </p:cBhvr>
                                      <p:tavLst>
                                        <p:tav tm="0">
                                          <p:val>
                                            <p:strVal val="#ppt_x"/>
                                          </p:val>
                                        </p:tav>
                                        <p:tav tm="100000">
                                          <p:val>
                                            <p:strVal val="#ppt_x"/>
                                          </p:val>
                                        </p:tav>
                                      </p:tavLst>
                                    </p:anim>
                                    <p:anim calcmode="lin" valueType="num">
                                      <p:cBhvr additive="base">
                                        <p:cTn id="22" dur="500" fill="hold"/>
                                        <p:tgtEl>
                                          <p:spTgt spid="626709"/>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67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67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267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267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267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267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626698"/>
                                        </p:tgtEl>
                                        <p:attrNameLst>
                                          <p:attrName>style.visibility</p:attrName>
                                        </p:attrNameLst>
                                      </p:cBhvr>
                                      <p:to>
                                        <p:strVal val="visible"/>
                                      </p:to>
                                    </p:set>
                                    <p:anim calcmode="lin" valueType="num">
                                      <p:cBhvr additive="base">
                                        <p:cTn id="51" dur="500" fill="hold"/>
                                        <p:tgtEl>
                                          <p:spTgt spid="626698"/>
                                        </p:tgtEl>
                                        <p:attrNameLst>
                                          <p:attrName>ppt_x</p:attrName>
                                        </p:attrNameLst>
                                      </p:cBhvr>
                                      <p:tavLst>
                                        <p:tav tm="0">
                                          <p:val>
                                            <p:strVal val="1+#ppt_w/2"/>
                                          </p:val>
                                        </p:tav>
                                        <p:tav tm="100000">
                                          <p:val>
                                            <p:strVal val="#ppt_x"/>
                                          </p:val>
                                        </p:tav>
                                      </p:tavLst>
                                    </p:anim>
                                    <p:anim calcmode="lin" valueType="num">
                                      <p:cBhvr additive="base">
                                        <p:cTn id="52" dur="500" fill="hold"/>
                                        <p:tgtEl>
                                          <p:spTgt spid="626698"/>
                                        </p:tgtEl>
                                        <p:attrNameLst>
                                          <p:attrName>ppt_y</p:attrName>
                                        </p:attrNameLst>
                                      </p:cBhvr>
                                      <p:tavLst>
                                        <p:tav tm="0">
                                          <p:val>
                                            <p:strVal val="#ppt_y"/>
                                          </p:val>
                                        </p:tav>
                                        <p:tav tm="100000">
                                          <p:val>
                                            <p:strVal val="#ppt_y"/>
                                          </p:val>
                                        </p:tav>
                                      </p:tavLst>
                                    </p:anim>
                                  </p:childTnLst>
                                </p:cTn>
                              </p:par>
                              <p:par>
                                <p:cTn id="53" presetID="1" presetClass="exit" presetSubtype="0" fill="hold" grpId="1" nodeType="withEffect">
                                  <p:stCondLst>
                                    <p:cond delay="0"/>
                                  </p:stCondLst>
                                  <p:childTnLst>
                                    <p:set>
                                      <p:cBhvr>
                                        <p:cTn id="54" dur="1" fill="hold">
                                          <p:stCondLst>
                                            <p:cond delay="0"/>
                                          </p:stCondLst>
                                        </p:cTn>
                                        <p:tgtEl>
                                          <p:spTgt spid="62671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267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1" fill="hold" grpId="0" nodeType="clickEffect">
                                  <p:stCondLst>
                                    <p:cond delay="0"/>
                                  </p:stCondLst>
                                  <p:childTnLst>
                                    <p:set>
                                      <p:cBhvr>
                                        <p:cTn id="62" dur="1" fill="hold">
                                          <p:stCondLst>
                                            <p:cond delay="0"/>
                                          </p:stCondLst>
                                        </p:cTn>
                                        <p:tgtEl>
                                          <p:spTgt spid="626699"/>
                                        </p:tgtEl>
                                        <p:attrNameLst>
                                          <p:attrName>style.visibility</p:attrName>
                                        </p:attrNameLst>
                                      </p:cBhvr>
                                      <p:to>
                                        <p:strVal val="visible"/>
                                      </p:to>
                                    </p:set>
                                    <p:anim calcmode="lin" valueType="num">
                                      <p:cBhvr additive="base">
                                        <p:cTn id="63" dur="500" fill="hold"/>
                                        <p:tgtEl>
                                          <p:spTgt spid="626699"/>
                                        </p:tgtEl>
                                        <p:attrNameLst>
                                          <p:attrName>ppt_x</p:attrName>
                                        </p:attrNameLst>
                                      </p:cBhvr>
                                      <p:tavLst>
                                        <p:tav tm="0">
                                          <p:val>
                                            <p:strVal val="#ppt_x"/>
                                          </p:val>
                                        </p:tav>
                                        <p:tav tm="100000">
                                          <p:val>
                                            <p:strVal val="#ppt_x"/>
                                          </p:val>
                                        </p:tav>
                                      </p:tavLst>
                                    </p:anim>
                                    <p:anim calcmode="lin" valueType="num">
                                      <p:cBhvr additive="base">
                                        <p:cTn id="64" dur="500" fill="hold"/>
                                        <p:tgtEl>
                                          <p:spTgt spid="626699"/>
                                        </p:tgtEl>
                                        <p:attrNameLst>
                                          <p:attrName>ppt_y</p:attrName>
                                        </p:attrNameLst>
                                      </p:cBhvr>
                                      <p:tavLst>
                                        <p:tav tm="0">
                                          <p:val>
                                            <p:strVal val="0-#ppt_h/2"/>
                                          </p:val>
                                        </p:tav>
                                        <p:tav tm="100000">
                                          <p:val>
                                            <p:strVal val="#ppt_y"/>
                                          </p:val>
                                        </p:tav>
                                      </p:tavLst>
                                    </p:anim>
                                  </p:childTnLst>
                                </p:cTn>
                              </p:par>
                              <p:par>
                                <p:cTn id="65" presetID="1" presetClass="exit" presetSubtype="0" fill="hold" grpId="1" nodeType="withEffect">
                                  <p:stCondLst>
                                    <p:cond delay="0"/>
                                  </p:stCondLst>
                                  <p:childTnLst>
                                    <p:set>
                                      <p:cBhvr>
                                        <p:cTn id="66" dur="1" fill="hold">
                                          <p:stCondLst>
                                            <p:cond delay="0"/>
                                          </p:stCondLst>
                                        </p:cTn>
                                        <p:tgtEl>
                                          <p:spTgt spid="626716"/>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2671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 presetClass="entr" presetSubtype="2" fill="hold" grpId="0" nodeType="clickEffect">
                                  <p:stCondLst>
                                    <p:cond delay="0"/>
                                  </p:stCondLst>
                                  <p:childTnLst>
                                    <p:set>
                                      <p:cBhvr>
                                        <p:cTn id="74" dur="1" fill="hold">
                                          <p:stCondLst>
                                            <p:cond delay="0"/>
                                          </p:stCondLst>
                                        </p:cTn>
                                        <p:tgtEl>
                                          <p:spTgt spid="626700"/>
                                        </p:tgtEl>
                                        <p:attrNameLst>
                                          <p:attrName>style.visibility</p:attrName>
                                        </p:attrNameLst>
                                      </p:cBhvr>
                                      <p:to>
                                        <p:strVal val="visible"/>
                                      </p:to>
                                    </p:set>
                                    <p:anim calcmode="lin" valueType="num">
                                      <p:cBhvr additive="base">
                                        <p:cTn id="75" dur="500" fill="hold"/>
                                        <p:tgtEl>
                                          <p:spTgt spid="626700"/>
                                        </p:tgtEl>
                                        <p:attrNameLst>
                                          <p:attrName>ppt_x</p:attrName>
                                        </p:attrNameLst>
                                      </p:cBhvr>
                                      <p:tavLst>
                                        <p:tav tm="0">
                                          <p:val>
                                            <p:strVal val="1+#ppt_w/2"/>
                                          </p:val>
                                        </p:tav>
                                        <p:tav tm="100000">
                                          <p:val>
                                            <p:strVal val="#ppt_x"/>
                                          </p:val>
                                        </p:tav>
                                      </p:tavLst>
                                    </p:anim>
                                    <p:anim calcmode="lin" valueType="num">
                                      <p:cBhvr additive="base">
                                        <p:cTn id="76" dur="500" fill="hold"/>
                                        <p:tgtEl>
                                          <p:spTgt spid="626700"/>
                                        </p:tgtEl>
                                        <p:attrNameLst>
                                          <p:attrName>ppt_y</p:attrName>
                                        </p:attrNameLst>
                                      </p:cBhvr>
                                      <p:tavLst>
                                        <p:tav tm="0">
                                          <p:val>
                                            <p:strVal val="#ppt_y"/>
                                          </p:val>
                                        </p:tav>
                                        <p:tav tm="100000">
                                          <p:val>
                                            <p:strVal val="#ppt_y"/>
                                          </p:val>
                                        </p:tav>
                                      </p:tavLst>
                                    </p:anim>
                                  </p:childTnLst>
                                </p:cTn>
                              </p:par>
                              <p:par>
                                <p:cTn id="77" presetID="1" presetClass="exit" presetSubtype="0" fill="hold" grpId="1" nodeType="withEffect">
                                  <p:stCondLst>
                                    <p:cond delay="0"/>
                                  </p:stCondLst>
                                  <p:childTnLst>
                                    <p:set>
                                      <p:cBhvr>
                                        <p:cTn id="78" dur="1" fill="hold">
                                          <p:stCondLst>
                                            <p:cond delay="0"/>
                                          </p:stCondLst>
                                        </p:cTn>
                                        <p:tgtEl>
                                          <p:spTgt spid="626717"/>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2671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 presetClass="entr" presetSubtype="1" fill="hold" grpId="0" nodeType="clickEffect">
                                  <p:stCondLst>
                                    <p:cond delay="0"/>
                                  </p:stCondLst>
                                  <p:childTnLst>
                                    <p:set>
                                      <p:cBhvr>
                                        <p:cTn id="86" dur="1" fill="hold">
                                          <p:stCondLst>
                                            <p:cond delay="0"/>
                                          </p:stCondLst>
                                        </p:cTn>
                                        <p:tgtEl>
                                          <p:spTgt spid="626692"/>
                                        </p:tgtEl>
                                        <p:attrNameLst>
                                          <p:attrName>style.visibility</p:attrName>
                                        </p:attrNameLst>
                                      </p:cBhvr>
                                      <p:to>
                                        <p:strVal val="visible"/>
                                      </p:to>
                                    </p:set>
                                    <p:anim calcmode="lin" valueType="num">
                                      <p:cBhvr additive="base">
                                        <p:cTn id="87" dur="500" fill="hold"/>
                                        <p:tgtEl>
                                          <p:spTgt spid="626692"/>
                                        </p:tgtEl>
                                        <p:attrNameLst>
                                          <p:attrName>ppt_x</p:attrName>
                                        </p:attrNameLst>
                                      </p:cBhvr>
                                      <p:tavLst>
                                        <p:tav tm="0">
                                          <p:val>
                                            <p:strVal val="#ppt_x"/>
                                          </p:val>
                                        </p:tav>
                                        <p:tav tm="100000">
                                          <p:val>
                                            <p:strVal val="#ppt_x"/>
                                          </p:val>
                                        </p:tav>
                                      </p:tavLst>
                                    </p:anim>
                                    <p:anim calcmode="lin" valueType="num">
                                      <p:cBhvr additive="base">
                                        <p:cTn id="88" dur="500" fill="hold"/>
                                        <p:tgtEl>
                                          <p:spTgt spid="626692"/>
                                        </p:tgtEl>
                                        <p:attrNameLst>
                                          <p:attrName>ppt_y</p:attrName>
                                        </p:attrNameLst>
                                      </p:cBhvr>
                                      <p:tavLst>
                                        <p:tav tm="0">
                                          <p:val>
                                            <p:strVal val="0-#ppt_h/2"/>
                                          </p:val>
                                        </p:tav>
                                        <p:tav tm="100000">
                                          <p:val>
                                            <p:strVal val="#ppt_y"/>
                                          </p:val>
                                        </p:tav>
                                      </p:tavLst>
                                    </p:anim>
                                  </p:childTnLst>
                                </p:cTn>
                              </p:par>
                              <p:par>
                                <p:cTn id="89" presetID="1" presetClass="exit" presetSubtype="0" fill="hold" grpId="1" nodeType="withEffect">
                                  <p:stCondLst>
                                    <p:cond delay="0"/>
                                  </p:stCondLst>
                                  <p:childTnLst>
                                    <p:set>
                                      <p:cBhvr>
                                        <p:cTn id="90" dur="1" fill="hold">
                                          <p:stCondLst>
                                            <p:cond delay="0"/>
                                          </p:stCondLst>
                                        </p:cTn>
                                        <p:tgtEl>
                                          <p:spTgt spid="626718"/>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2671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 presetClass="entr" presetSubtype="2" fill="hold" grpId="0" nodeType="clickEffect">
                                  <p:stCondLst>
                                    <p:cond delay="0"/>
                                  </p:stCondLst>
                                  <p:childTnLst>
                                    <p:set>
                                      <p:cBhvr>
                                        <p:cTn id="98" dur="1" fill="hold">
                                          <p:stCondLst>
                                            <p:cond delay="0"/>
                                          </p:stCondLst>
                                        </p:cTn>
                                        <p:tgtEl>
                                          <p:spTgt spid="626703"/>
                                        </p:tgtEl>
                                        <p:attrNameLst>
                                          <p:attrName>style.visibility</p:attrName>
                                        </p:attrNameLst>
                                      </p:cBhvr>
                                      <p:to>
                                        <p:strVal val="visible"/>
                                      </p:to>
                                    </p:set>
                                    <p:anim calcmode="lin" valueType="num">
                                      <p:cBhvr additive="base">
                                        <p:cTn id="99" dur="500" fill="hold"/>
                                        <p:tgtEl>
                                          <p:spTgt spid="626703"/>
                                        </p:tgtEl>
                                        <p:attrNameLst>
                                          <p:attrName>ppt_x</p:attrName>
                                        </p:attrNameLst>
                                      </p:cBhvr>
                                      <p:tavLst>
                                        <p:tav tm="0">
                                          <p:val>
                                            <p:strVal val="1+#ppt_w/2"/>
                                          </p:val>
                                        </p:tav>
                                        <p:tav tm="100000">
                                          <p:val>
                                            <p:strVal val="#ppt_x"/>
                                          </p:val>
                                        </p:tav>
                                      </p:tavLst>
                                    </p:anim>
                                    <p:anim calcmode="lin" valueType="num">
                                      <p:cBhvr additive="base">
                                        <p:cTn id="100" dur="500" fill="hold"/>
                                        <p:tgtEl>
                                          <p:spTgt spid="626703"/>
                                        </p:tgtEl>
                                        <p:attrNameLst>
                                          <p:attrName>ppt_y</p:attrName>
                                        </p:attrNameLst>
                                      </p:cBhvr>
                                      <p:tavLst>
                                        <p:tav tm="0">
                                          <p:val>
                                            <p:strVal val="#ppt_y"/>
                                          </p:val>
                                        </p:tav>
                                        <p:tav tm="100000">
                                          <p:val>
                                            <p:strVal val="#ppt_y"/>
                                          </p:val>
                                        </p:tav>
                                      </p:tavLst>
                                    </p:anim>
                                  </p:childTnLst>
                                </p:cTn>
                              </p:par>
                              <p:par>
                                <p:cTn id="101" presetID="1" presetClass="exit" presetSubtype="0" fill="hold" grpId="1" nodeType="withEffect">
                                  <p:stCondLst>
                                    <p:cond delay="0"/>
                                  </p:stCondLst>
                                  <p:childTnLst>
                                    <p:set>
                                      <p:cBhvr>
                                        <p:cTn id="102" dur="1" fill="hold">
                                          <p:stCondLst>
                                            <p:cond delay="0"/>
                                          </p:stCondLst>
                                        </p:cTn>
                                        <p:tgtEl>
                                          <p:spTgt spid="626719"/>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62672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2" presetClass="exit" presetSubtype="1" fill="hold" grpId="1" nodeType="clickEffect">
                                  <p:stCondLst>
                                    <p:cond delay="0"/>
                                  </p:stCondLst>
                                  <p:childTnLst>
                                    <p:anim calcmode="lin" valueType="num">
                                      <p:cBhvr additive="base">
                                        <p:cTn id="110" dur="500"/>
                                        <p:tgtEl>
                                          <p:spTgt spid="626692"/>
                                        </p:tgtEl>
                                        <p:attrNameLst>
                                          <p:attrName>ppt_x</p:attrName>
                                        </p:attrNameLst>
                                      </p:cBhvr>
                                      <p:tavLst>
                                        <p:tav tm="0">
                                          <p:val>
                                            <p:strVal val="ppt_x"/>
                                          </p:val>
                                        </p:tav>
                                        <p:tav tm="100000">
                                          <p:val>
                                            <p:strVal val="ppt_x"/>
                                          </p:val>
                                        </p:tav>
                                      </p:tavLst>
                                    </p:anim>
                                    <p:anim calcmode="lin" valueType="num">
                                      <p:cBhvr additive="base">
                                        <p:cTn id="111" dur="500"/>
                                        <p:tgtEl>
                                          <p:spTgt spid="626692"/>
                                        </p:tgtEl>
                                        <p:attrNameLst>
                                          <p:attrName>ppt_y</p:attrName>
                                        </p:attrNameLst>
                                      </p:cBhvr>
                                      <p:tavLst>
                                        <p:tav tm="0">
                                          <p:val>
                                            <p:strVal val="ppt_y"/>
                                          </p:val>
                                        </p:tav>
                                        <p:tav tm="100000">
                                          <p:val>
                                            <p:strVal val="0-ppt_h/2"/>
                                          </p:val>
                                        </p:tav>
                                      </p:tavLst>
                                    </p:anim>
                                    <p:set>
                                      <p:cBhvr>
                                        <p:cTn id="112" dur="1" fill="hold">
                                          <p:stCondLst>
                                            <p:cond delay="499"/>
                                          </p:stCondLst>
                                        </p:cTn>
                                        <p:tgtEl>
                                          <p:spTgt spid="626692"/>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2" presetClass="entr" presetSubtype="2" fill="hold" grpId="0" nodeType="clickEffect">
                                  <p:stCondLst>
                                    <p:cond delay="0"/>
                                  </p:stCondLst>
                                  <p:childTnLst>
                                    <p:set>
                                      <p:cBhvr>
                                        <p:cTn id="116" dur="1" fill="hold">
                                          <p:stCondLst>
                                            <p:cond delay="0"/>
                                          </p:stCondLst>
                                        </p:cTn>
                                        <p:tgtEl>
                                          <p:spTgt spid="626704"/>
                                        </p:tgtEl>
                                        <p:attrNameLst>
                                          <p:attrName>style.visibility</p:attrName>
                                        </p:attrNameLst>
                                      </p:cBhvr>
                                      <p:to>
                                        <p:strVal val="visible"/>
                                      </p:to>
                                    </p:set>
                                    <p:anim calcmode="lin" valueType="num">
                                      <p:cBhvr additive="base">
                                        <p:cTn id="117" dur="500" fill="hold"/>
                                        <p:tgtEl>
                                          <p:spTgt spid="626704"/>
                                        </p:tgtEl>
                                        <p:attrNameLst>
                                          <p:attrName>ppt_x</p:attrName>
                                        </p:attrNameLst>
                                      </p:cBhvr>
                                      <p:tavLst>
                                        <p:tav tm="0">
                                          <p:val>
                                            <p:strVal val="1+#ppt_w/2"/>
                                          </p:val>
                                        </p:tav>
                                        <p:tav tm="100000">
                                          <p:val>
                                            <p:strVal val="#ppt_x"/>
                                          </p:val>
                                        </p:tav>
                                      </p:tavLst>
                                    </p:anim>
                                    <p:anim calcmode="lin" valueType="num">
                                      <p:cBhvr additive="base">
                                        <p:cTn id="118" dur="500" fill="hold"/>
                                        <p:tgtEl>
                                          <p:spTgt spid="626704"/>
                                        </p:tgtEl>
                                        <p:attrNameLst>
                                          <p:attrName>ppt_y</p:attrName>
                                        </p:attrNameLst>
                                      </p:cBhvr>
                                      <p:tavLst>
                                        <p:tav tm="0">
                                          <p:val>
                                            <p:strVal val="#ppt_y"/>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xit" presetSubtype="1" fill="hold" grpId="1" nodeType="clickEffect">
                                  <p:stCondLst>
                                    <p:cond delay="0"/>
                                  </p:stCondLst>
                                  <p:childTnLst>
                                    <p:anim calcmode="lin" valueType="num">
                                      <p:cBhvr additive="base">
                                        <p:cTn id="122" dur="500"/>
                                        <p:tgtEl>
                                          <p:spTgt spid="626699"/>
                                        </p:tgtEl>
                                        <p:attrNameLst>
                                          <p:attrName>ppt_x</p:attrName>
                                        </p:attrNameLst>
                                      </p:cBhvr>
                                      <p:tavLst>
                                        <p:tav tm="0">
                                          <p:val>
                                            <p:strVal val="ppt_x"/>
                                          </p:val>
                                        </p:tav>
                                        <p:tav tm="100000">
                                          <p:val>
                                            <p:strVal val="ppt_x"/>
                                          </p:val>
                                        </p:tav>
                                      </p:tavLst>
                                    </p:anim>
                                    <p:anim calcmode="lin" valueType="num">
                                      <p:cBhvr additive="base">
                                        <p:cTn id="123" dur="500"/>
                                        <p:tgtEl>
                                          <p:spTgt spid="626699"/>
                                        </p:tgtEl>
                                        <p:attrNameLst>
                                          <p:attrName>ppt_y</p:attrName>
                                        </p:attrNameLst>
                                      </p:cBhvr>
                                      <p:tavLst>
                                        <p:tav tm="0">
                                          <p:val>
                                            <p:strVal val="ppt_y"/>
                                          </p:val>
                                        </p:tav>
                                        <p:tav tm="100000">
                                          <p:val>
                                            <p:strVal val="0-ppt_h/2"/>
                                          </p:val>
                                        </p:tav>
                                      </p:tavLst>
                                    </p:anim>
                                    <p:set>
                                      <p:cBhvr>
                                        <p:cTn id="124" dur="1" fill="hold">
                                          <p:stCondLst>
                                            <p:cond delay="499"/>
                                          </p:stCondLst>
                                        </p:cTn>
                                        <p:tgtEl>
                                          <p:spTgt spid="626699"/>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2" presetClass="entr" presetSubtype="2" fill="hold" grpId="0" nodeType="clickEffect">
                                  <p:stCondLst>
                                    <p:cond delay="0"/>
                                  </p:stCondLst>
                                  <p:childTnLst>
                                    <p:set>
                                      <p:cBhvr>
                                        <p:cTn id="128" dur="1" fill="hold">
                                          <p:stCondLst>
                                            <p:cond delay="0"/>
                                          </p:stCondLst>
                                        </p:cTn>
                                        <p:tgtEl>
                                          <p:spTgt spid="626705"/>
                                        </p:tgtEl>
                                        <p:attrNameLst>
                                          <p:attrName>style.visibility</p:attrName>
                                        </p:attrNameLst>
                                      </p:cBhvr>
                                      <p:to>
                                        <p:strVal val="visible"/>
                                      </p:to>
                                    </p:set>
                                    <p:anim calcmode="lin" valueType="num">
                                      <p:cBhvr additive="base">
                                        <p:cTn id="129" dur="500" fill="hold"/>
                                        <p:tgtEl>
                                          <p:spTgt spid="626705"/>
                                        </p:tgtEl>
                                        <p:attrNameLst>
                                          <p:attrName>ppt_x</p:attrName>
                                        </p:attrNameLst>
                                      </p:cBhvr>
                                      <p:tavLst>
                                        <p:tav tm="0">
                                          <p:val>
                                            <p:strVal val="1+#ppt_w/2"/>
                                          </p:val>
                                        </p:tav>
                                        <p:tav tm="100000">
                                          <p:val>
                                            <p:strVal val="#ppt_x"/>
                                          </p:val>
                                        </p:tav>
                                      </p:tavLst>
                                    </p:anim>
                                    <p:anim calcmode="lin" valueType="num">
                                      <p:cBhvr additive="base">
                                        <p:cTn id="130" dur="500" fill="hold"/>
                                        <p:tgtEl>
                                          <p:spTgt spid="626705"/>
                                        </p:tgtEl>
                                        <p:attrNameLst>
                                          <p:attrName>ppt_y</p:attrName>
                                        </p:attrNameLst>
                                      </p:cBhvr>
                                      <p:tavLst>
                                        <p:tav tm="0">
                                          <p:val>
                                            <p:strVal val="#ppt_y"/>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2" presetClass="entr" presetSubtype="1" fill="hold" grpId="0" nodeType="clickEffect">
                                  <p:stCondLst>
                                    <p:cond delay="0"/>
                                  </p:stCondLst>
                                  <p:childTnLst>
                                    <p:set>
                                      <p:cBhvr>
                                        <p:cTn id="134" dur="1" fill="hold">
                                          <p:stCondLst>
                                            <p:cond delay="0"/>
                                          </p:stCondLst>
                                        </p:cTn>
                                        <p:tgtEl>
                                          <p:spTgt spid="626731"/>
                                        </p:tgtEl>
                                        <p:attrNameLst>
                                          <p:attrName>style.visibility</p:attrName>
                                        </p:attrNameLst>
                                      </p:cBhvr>
                                      <p:to>
                                        <p:strVal val="visible"/>
                                      </p:to>
                                    </p:set>
                                    <p:anim calcmode="lin" valueType="num">
                                      <p:cBhvr additive="base">
                                        <p:cTn id="135" dur="500" fill="hold"/>
                                        <p:tgtEl>
                                          <p:spTgt spid="626731"/>
                                        </p:tgtEl>
                                        <p:attrNameLst>
                                          <p:attrName>ppt_x</p:attrName>
                                        </p:attrNameLst>
                                      </p:cBhvr>
                                      <p:tavLst>
                                        <p:tav tm="0">
                                          <p:val>
                                            <p:strVal val="#ppt_x"/>
                                          </p:val>
                                        </p:tav>
                                        <p:tav tm="100000">
                                          <p:val>
                                            <p:strVal val="#ppt_x"/>
                                          </p:val>
                                        </p:tav>
                                      </p:tavLst>
                                    </p:anim>
                                    <p:anim calcmode="lin" valueType="num">
                                      <p:cBhvr additive="base">
                                        <p:cTn id="136" dur="500" fill="hold"/>
                                        <p:tgtEl>
                                          <p:spTgt spid="626731"/>
                                        </p:tgtEl>
                                        <p:attrNameLst>
                                          <p:attrName>ppt_y</p:attrName>
                                        </p:attrNameLst>
                                      </p:cBhvr>
                                      <p:tavLst>
                                        <p:tav tm="0">
                                          <p:val>
                                            <p:strVal val="0-#ppt_h/2"/>
                                          </p:val>
                                        </p:tav>
                                        <p:tav tm="100000">
                                          <p:val>
                                            <p:strVal val="#ppt_y"/>
                                          </p:val>
                                        </p:tav>
                                      </p:tavLst>
                                    </p:anim>
                                  </p:childTnLst>
                                </p:cTn>
                              </p:par>
                              <p:par>
                                <p:cTn id="137" presetID="1" presetClass="exit" presetSubtype="0" fill="hold" grpId="1" nodeType="withEffect">
                                  <p:stCondLst>
                                    <p:cond delay="0"/>
                                  </p:stCondLst>
                                  <p:childTnLst>
                                    <p:set>
                                      <p:cBhvr>
                                        <p:cTn id="138" dur="1" fill="hold">
                                          <p:stCondLst>
                                            <p:cond delay="0"/>
                                          </p:stCondLst>
                                        </p:cTn>
                                        <p:tgtEl>
                                          <p:spTgt spid="626720"/>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626721"/>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2" presetClass="entr" presetSubtype="1" fill="hold" grpId="0" nodeType="clickEffect">
                                  <p:stCondLst>
                                    <p:cond delay="0"/>
                                  </p:stCondLst>
                                  <p:childTnLst>
                                    <p:set>
                                      <p:cBhvr>
                                        <p:cTn id="146" dur="1" fill="hold">
                                          <p:stCondLst>
                                            <p:cond delay="0"/>
                                          </p:stCondLst>
                                        </p:cTn>
                                        <p:tgtEl>
                                          <p:spTgt spid="626732"/>
                                        </p:tgtEl>
                                        <p:attrNameLst>
                                          <p:attrName>style.visibility</p:attrName>
                                        </p:attrNameLst>
                                      </p:cBhvr>
                                      <p:to>
                                        <p:strVal val="visible"/>
                                      </p:to>
                                    </p:set>
                                    <p:anim calcmode="lin" valueType="num">
                                      <p:cBhvr additive="base">
                                        <p:cTn id="147" dur="500" fill="hold"/>
                                        <p:tgtEl>
                                          <p:spTgt spid="626732"/>
                                        </p:tgtEl>
                                        <p:attrNameLst>
                                          <p:attrName>ppt_x</p:attrName>
                                        </p:attrNameLst>
                                      </p:cBhvr>
                                      <p:tavLst>
                                        <p:tav tm="0">
                                          <p:val>
                                            <p:strVal val="#ppt_x"/>
                                          </p:val>
                                        </p:tav>
                                        <p:tav tm="100000">
                                          <p:val>
                                            <p:strVal val="#ppt_x"/>
                                          </p:val>
                                        </p:tav>
                                      </p:tavLst>
                                    </p:anim>
                                    <p:anim calcmode="lin" valueType="num">
                                      <p:cBhvr additive="base">
                                        <p:cTn id="148" dur="500" fill="hold"/>
                                        <p:tgtEl>
                                          <p:spTgt spid="626732"/>
                                        </p:tgtEl>
                                        <p:attrNameLst>
                                          <p:attrName>ppt_y</p:attrName>
                                        </p:attrNameLst>
                                      </p:cBhvr>
                                      <p:tavLst>
                                        <p:tav tm="0">
                                          <p:val>
                                            <p:strVal val="0-#ppt_h/2"/>
                                          </p:val>
                                        </p:tav>
                                        <p:tav tm="100000">
                                          <p:val>
                                            <p:strVal val="#ppt_y"/>
                                          </p:val>
                                        </p:tav>
                                      </p:tavLst>
                                    </p:anim>
                                  </p:childTnLst>
                                </p:cTn>
                              </p:par>
                              <p:par>
                                <p:cTn id="149" presetID="1" presetClass="exit" presetSubtype="0" fill="hold" grpId="1" nodeType="withEffect">
                                  <p:stCondLst>
                                    <p:cond delay="0"/>
                                  </p:stCondLst>
                                  <p:childTnLst>
                                    <p:set>
                                      <p:cBhvr>
                                        <p:cTn id="150" dur="1" fill="hold">
                                          <p:stCondLst>
                                            <p:cond delay="0"/>
                                          </p:stCondLst>
                                        </p:cTn>
                                        <p:tgtEl>
                                          <p:spTgt spid="626721"/>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626722"/>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2" presetClass="entr" presetSubtype="2" fill="hold" grpId="0" nodeType="clickEffect">
                                  <p:stCondLst>
                                    <p:cond delay="0"/>
                                  </p:stCondLst>
                                  <p:childTnLst>
                                    <p:set>
                                      <p:cBhvr>
                                        <p:cTn id="158" dur="1" fill="hold">
                                          <p:stCondLst>
                                            <p:cond delay="0"/>
                                          </p:stCondLst>
                                        </p:cTn>
                                        <p:tgtEl>
                                          <p:spTgt spid="626733"/>
                                        </p:tgtEl>
                                        <p:attrNameLst>
                                          <p:attrName>style.visibility</p:attrName>
                                        </p:attrNameLst>
                                      </p:cBhvr>
                                      <p:to>
                                        <p:strVal val="visible"/>
                                      </p:to>
                                    </p:set>
                                    <p:anim calcmode="lin" valueType="num">
                                      <p:cBhvr additive="base">
                                        <p:cTn id="159" dur="500" fill="hold"/>
                                        <p:tgtEl>
                                          <p:spTgt spid="626733"/>
                                        </p:tgtEl>
                                        <p:attrNameLst>
                                          <p:attrName>ppt_x</p:attrName>
                                        </p:attrNameLst>
                                      </p:cBhvr>
                                      <p:tavLst>
                                        <p:tav tm="0">
                                          <p:val>
                                            <p:strVal val="1+#ppt_w/2"/>
                                          </p:val>
                                        </p:tav>
                                        <p:tav tm="100000">
                                          <p:val>
                                            <p:strVal val="#ppt_x"/>
                                          </p:val>
                                        </p:tav>
                                      </p:tavLst>
                                    </p:anim>
                                    <p:anim calcmode="lin" valueType="num">
                                      <p:cBhvr additive="base">
                                        <p:cTn id="160" dur="500" fill="hold"/>
                                        <p:tgtEl>
                                          <p:spTgt spid="626733"/>
                                        </p:tgtEl>
                                        <p:attrNameLst>
                                          <p:attrName>ppt_y</p:attrName>
                                        </p:attrNameLst>
                                      </p:cBhvr>
                                      <p:tavLst>
                                        <p:tav tm="0">
                                          <p:val>
                                            <p:strVal val="#ppt_y"/>
                                          </p:val>
                                        </p:tav>
                                        <p:tav tm="100000">
                                          <p:val>
                                            <p:strVal val="#ppt_y"/>
                                          </p:val>
                                        </p:tav>
                                      </p:tavLst>
                                    </p:anim>
                                  </p:childTnLst>
                                </p:cTn>
                              </p:par>
                              <p:par>
                                <p:cTn id="161" presetID="1" presetClass="exit" presetSubtype="0" fill="hold" grpId="1" nodeType="withEffect">
                                  <p:stCondLst>
                                    <p:cond delay="0"/>
                                  </p:stCondLst>
                                  <p:childTnLst>
                                    <p:set>
                                      <p:cBhvr>
                                        <p:cTn id="162" dur="1" fill="hold">
                                          <p:stCondLst>
                                            <p:cond delay="0"/>
                                          </p:stCondLst>
                                        </p:cTn>
                                        <p:tgtEl>
                                          <p:spTgt spid="626722"/>
                                        </p:tgtEl>
                                        <p:attrNameLst>
                                          <p:attrName>style.visibility</p:attrName>
                                        </p:attrNameLst>
                                      </p:cBhvr>
                                      <p:to>
                                        <p:strVal val="hidden"/>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626723"/>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2" presetClass="entr" presetSubtype="1" fill="hold" grpId="0" nodeType="clickEffect">
                                  <p:stCondLst>
                                    <p:cond delay="0"/>
                                  </p:stCondLst>
                                  <p:childTnLst>
                                    <p:set>
                                      <p:cBhvr>
                                        <p:cTn id="170" dur="1" fill="hold">
                                          <p:stCondLst>
                                            <p:cond delay="0"/>
                                          </p:stCondLst>
                                        </p:cTn>
                                        <p:tgtEl>
                                          <p:spTgt spid="626735"/>
                                        </p:tgtEl>
                                        <p:attrNameLst>
                                          <p:attrName>style.visibility</p:attrName>
                                        </p:attrNameLst>
                                      </p:cBhvr>
                                      <p:to>
                                        <p:strVal val="visible"/>
                                      </p:to>
                                    </p:set>
                                    <p:anim calcmode="lin" valueType="num">
                                      <p:cBhvr additive="base">
                                        <p:cTn id="171" dur="500" fill="hold"/>
                                        <p:tgtEl>
                                          <p:spTgt spid="626735"/>
                                        </p:tgtEl>
                                        <p:attrNameLst>
                                          <p:attrName>ppt_x</p:attrName>
                                        </p:attrNameLst>
                                      </p:cBhvr>
                                      <p:tavLst>
                                        <p:tav tm="0">
                                          <p:val>
                                            <p:strVal val="#ppt_x"/>
                                          </p:val>
                                        </p:tav>
                                        <p:tav tm="100000">
                                          <p:val>
                                            <p:strVal val="#ppt_x"/>
                                          </p:val>
                                        </p:tav>
                                      </p:tavLst>
                                    </p:anim>
                                    <p:anim calcmode="lin" valueType="num">
                                      <p:cBhvr additive="base">
                                        <p:cTn id="172" dur="500" fill="hold"/>
                                        <p:tgtEl>
                                          <p:spTgt spid="626735"/>
                                        </p:tgtEl>
                                        <p:attrNameLst>
                                          <p:attrName>ppt_y</p:attrName>
                                        </p:attrNameLst>
                                      </p:cBhvr>
                                      <p:tavLst>
                                        <p:tav tm="0">
                                          <p:val>
                                            <p:strVal val="0-#ppt_h/2"/>
                                          </p:val>
                                        </p:tav>
                                        <p:tav tm="100000">
                                          <p:val>
                                            <p:strVal val="#ppt_y"/>
                                          </p:val>
                                        </p:tav>
                                      </p:tavLst>
                                    </p:anim>
                                  </p:childTnLst>
                                </p:cTn>
                              </p:par>
                              <p:par>
                                <p:cTn id="173" presetID="1" presetClass="exit" presetSubtype="0" fill="hold" grpId="1" nodeType="withEffect">
                                  <p:stCondLst>
                                    <p:cond delay="0"/>
                                  </p:stCondLst>
                                  <p:childTnLst>
                                    <p:set>
                                      <p:cBhvr>
                                        <p:cTn id="174" dur="1" fill="hold">
                                          <p:stCondLst>
                                            <p:cond delay="0"/>
                                          </p:stCondLst>
                                        </p:cTn>
                                        <p:tgtEl>
                                          <p:spTgt spid="626723"/>
                                        </p:tgtEl>
                                        <p:attrNameLst>
                                          <p:attrName>style.visibility</p:attrName>
                                        </p:attrNameLst>
                                      </p:cBhvr>
                                      <p:to>
                                        <p:strVal val="hidden"/>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626724"/>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2" presetClass="entr" presetSubtype="2" fill="hold" grpId="0" nodeType="clickEffect">
                                  <p:stCondLst>
                                    <p:cond delay="0"/>
                                  </p:stCondLst>
                                  <p:childTnLst>
                                    <p:set>
                                      <p:cBhvr>
                                        <p:cTn id="182" dur="1" fill="hold">
                                          <p:stCondLst>
                                            <p:cond delay="0"/>
                                          </p:stCondLst>
                                        </p:cTn>
                                        <p:tgtEl>
                                          <p:spTgt spid="626734"/>
                                        </p:tgtEl>
                                        <p:attrNameLst>
                                          <p:attrName>style.visibility</p:attrName>
                                        </p:attrNameLst>
                                      </p:cBhvr>
                                      <p:to>
                                        <p:strVal val="visible"/>
                                      </p:to>
                                    </p:set>
                                    <p:anim calcmode="lin" valueType="num">
                                      <p:cBhvr additive="base">
                                        <p:cTn id="183" dur="500" fill="hold"/>
                                        <p:tgtEl>
                                          <p:spTgt spid="626734"/>
                                        </p:tgtEl>
                                        <p:attrNameLst>
                                          <p:attrName>ppt_x</p:attrName>
                                        </p:attrNameLst>
                                      </p:cBhvr>
                                      <p:tavLst>
                                        <p:tav tm="0">
                                          <p:val>
                                            <p:strVal val="1+#ppt_w/2"/>
                                          </p:val>
                                        </p:tav>
                                        <p:tav tm="100000">
                                          <p:val>
                                            <p:strVal val="#ppt_x"/>
                                          </p:val>
                                        </p:tav>
                                      </p:tavLst>
                                    </p:anim>
                                    <p:anim calcmode="lin" valueType="num">
                                      <p:cBhvr additive="base">
                                        <p:cTn id="184" dur="500" fill="hold"/>
                                        <p:tgtEl>
                                          <p:spTgt spid="626734"/>
                                        </p:tgtEl>
                                        <p:attrNameLst>
                                          <p:attrName>ppt_y</p:attrName>
                                        </p:attrNameLst>
                                      </p:cBhvr>
                                      <p:tavLst>
                                        <p:tav tm="0">
                                          <p:val>
                                            <p:strVal val="#ppt_y"/>
                                          </p:val>
                                        </p:tav>
                                        <p:tav tm="100000">
                                          <p:val>
                                            <p:strVal val="#ppt_y"/>
                                          </p:val>
                                        </p:tav>
                                      </p:tavLst>
                                    </p:anim>
                                  </p:childTnLst>
                                </p:cTn>
                              </p:par>
                              <p:par>
                                <p:cTn id="185" presetID="1" presetClass="exit" presetSubtype="0" fill="hold" grpId="1" nodeType="withEffect">
                                  <p:stCondLst>
                                    <p:cond delay="0"/>
                                  </p:stCondLst>
                                  <p:childTnLst>
                                    <p:set>
                                      <p:cBhvr>
                                        <p:cTn id="186" dur="1" fill="hold">
                                          <p:stCondLst>
                                            <p:cond delay="0"/>
                                          </p:stCondLst>
                                        </p:cTn>
                                        <p:tgtEl>
                                          <p:spTgt spid="626724"/>
                                        </p:tgtEl>
                                        <p:attrNameLst>
                                          <p:attrName>style.visibility</p:attrName>
                                        </p:attrNameLst>
                                      </p:cBhvr>
                                      <p:to>
                                        <p:strVal val="hidden"/>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626725"/>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2" presetClass="exit" presetSubtype="1" fill="hold" grpId="1" nodeType="clickEffect">
                                  <p:stCondLst>
                                    <p:cond delay="0"/>
                                  </p:stCondLst>
                                  <p:childTnLst>
                                    <p:anim calcmode="lin" valueType="num">
                                      <p:cBhvr additive="base">
                                        <p:cTn id="194" dur="500"/>
                                        <p:tgtEl>
                                          <p:spTgt spid="626735"/>
                                        </p:tgtEl>
                                        <p:attrNameLst>
                                          <p:attrName>ppt_x</p:attrName>
                                        </p:attrNameLst>
                                      </p:cBhvr>
                                      <p:tavLst>
                                        <p:tav tm="0">
                                          <p:val>
                                            <p:strVal val="ppt_x"/>
                                          </p:val>
                                        </p:tav>
                                        <p:tav tm="100000">
                                          <p:val>
                                            <p:strVal val="ppt_x"/>
                                          </p:val>
                                        </p:tav>
                                      </p:tavLst>
                                    </p:anim>
                                    <p:anim calcmode="lin" valueType="num">
                                      <p:cBhvr additive="base">
                                        <p:cTn id="195" dur="500"/>
                                        <p:tgtEl>
                                          <p:spTgt spid="626735"/>
                                        </p:tgtEl>
                                        <p:attrNameLst>
                                          <p:attrName>ppt_y</p:attrName>
                                        </p:attrNameLst>
                                      </p:cBhvr>
                                      <p:tavLst>
                                        <p:tav tm="0">
                                          <p:val>
                                            <p:strVal val="ppt_y"/>
                                          </p:val>
                                        </p:tav>
                                        <p:tav tm="100000">
                                          <p:val>
                                            <p:strVal val="0-ppt_h/2"/>
                                          </p:val>
                                        </p:tav>
                                      </p:tavLst>
                                    </p:anim>
                                    <p:set>
                                      <p:cBhvr>
                                        <p:cTn id="196" dur="1" fill="hold">
                                          <p:stCondLst>
                                            <p:cond delay="499"/>
                                          </p:stCondLst>
                                        </p:cTn>
                                        <p:tgtEl>
                                          <p:spTgt spid="626735"/>
                                        </p:tgtEl>
                                        <p:attrNameLst>
                                          <p:attrName>style.visibility</p:attrName>
                                        </p:attrNameLst>
                                      </p:cBhvr>
                                      <p:to>
                                        <p:strVal val="hidden"/>
                                      </p:to>
                                    </p:set>
                                  </p:childTnLst>
                                </p:cTn>
                              </p:par>
                            </p:childTnLst>
                          </p:cTn>
                        </p:par>
                      </p:childTnLst>
                    </p:cTn>
                  </p:par>
                  <p:par>
                    <p:cTn id="197" fill="hold">
                      <p:stCondLst>
                        <p:cond delay="indefinite"/>
                      </p:stCondLst>
                      <p:childTnLst>
                        <p:par>
                          <p:cTn id="198" fill="hold">
                            <p:stCondLst>
                              <p:cond delay="0"/>
                            </p:stCondLst>
                            <p:childTnLst>
                              <p:par>
                                <p:cTn id="199" presetID="2" presetClass="entr" presetSubtype="2" fill="hold" grpId="0" nodeType="clickEffect">
                                  <p:stCondLst>
                                    <p:cond delay="0"/>
                                  </p:stCondLst>
                                  <p:childTnLst>
                                    <p:set>
                                      <p:cBhvr>
                                        <p:cTn id="200" dur="1" fill="hold">
                                          <p:stCondLst>
                                            <p:cond delay="0"/>
                                          </p:stCondLst>
                                        </p:cTn>
                                        <p:tgtEl>
                                          <p:spTgt spid="626736"/>
                                        </p:tgtEl>
                                        <p:attrNameLst>
                                          <p:attrName>style.visibility</p:attrName>
                                        </p:attrNameLst>
                                      </p:cBhvr>
                                      <p:to>
                                        <p:strVal val="visible"/>
                                      </p:to>
                                    </p:set>
                                    <p:anim calcmode="lin" valueType="num">
                                      <p:cBhvr additive="base">
                                        <p:cTn id="201" dur="500" fill="hold"/>
                                        <p:tgtEl>
                                          <p:spTgt spid="626736"/>
                                        </p:tgtEl>
                                        <p:attrNameLst>
                                          <p:attrName>ppt_x</p:attrName>
                                        </p:attrNameLst>
                                      </p:cBhvr>
                                      <p:tavLst>
                                        <p:tav tm="0">
                                          <p:val>
                                            <p:strVal val="1+#ppt_w/2"/>
                                          </p:val>
                                        </p:tav>
                                        <p:tav tm="100000">
                                          <p:val>
                                            <p:strVal val="#ppt_x"/>
                                          </p:val>
                                        </p:tav>
                                      </p:tavLst>
                                    </p:anim>
                                    <p:anim calcmode="lin" valueType="num">
                                      <p:cBhvr additive="base">
                                        <p:cTn id="202" dur="500" fill="hold"/>
                                        <p:tgtEl>
                                          <p:spTgt spid="626736"/>
                                        </p:tgtEl>
                                        <p:attrNameLst>
                                          <p:attrName>ppt_y</p:attrName>
                                        </p:attrNameLst>
                                      </p:cBhvr>
                                      <p:tavLst>
                                        <p:tav tm="0">
                                          <p:val>
                                            <p:strVal val="#ppt_y"/>
                                          </p:val>
                                        </p:tav>
                                        <p:tav tm="100000">
                                          <p:val>
                                            <p:strVal val="#ppt_y"/>
                                          </p:val>
                                        </p:tav>
                                      </p:tavLst>
                                    </p:anim>
                                  </p:childTnLst>
                                </p:cTn>
                              </p:par>
                            </p:childTnLst>
                          </p:cTn>
                        </p:par>
                      </p:childTnLst>
                    </p:cTn>
                  </p:par>
                  <p:par>
                    <p:cTn id="203" fill="hold">
                      <p:stCondLst>
                        <p:cond delay="indefinite"/>
                      </p:stCondLst>
                      <p:childTnLst>
                        <p:par>
                          <p:cTn id="204" fill="hold">
                            <p:stCondLst>
                              <p:cond delay="0"/>
                            </p:stCondLst>
                            <p:childTnLst>
                              <p:par>
                                <p:cTn id="205" presetID="2" presetClass="entr" presetSubtype="1" fill="hold" grpId="0" nodeType="clickEffect">
                                  <p:stCondLst>
                                    <p:cond delay="0"/>
                                  </p:stCondLst>
                                  <p:childTnLst>
                                    <p:set>
                                      <p:cBhvr>
                                        <p:cTn id="206" dur="1" fill="hold">
                                          <p:stCondLst>
                                            <p:cond delay="0"/>
                                          </p:stCondLst>
                                        </p:cTn>
                                        <p:tgtEl>
                                          <p:spTgt spid="626737"/>
                                        </p:tgtEl>
                                        <p:attrNameLst>
                                          <p:attrName>style.visibility</p:attrName>
                                        </p:attrNameLst>
                                      </p:cBhvr>
                                      <p:to>
                                        <p:strVal val="visible"/>
                                      </p:to>
                                    </p:set>
                                    <p:anim calcmode="lin" valueType="num">
                                      <p:cBhvr additive="base">
                                        <p:cTn id="207" dur="500" fill="hold"/>
                                        <p:tgtEl>
                                          <p:spTgt spid="626737"/>
                                        </p:tgtEl>
                                        <p:attrNameLst>
                                          <p:attrName>ppt_x</p:attrName>
                                        </p:attrNameLst>
                                      </p:cBhvr>
                                      <p:tavLst>
                                        <p:tav tm="0">
                                          <p:val>
                                            <p:strVal val="#ppt_x"/>
                                          </p:val>
                                        </p:tav>
                                        <p:tav tm="100000">
                                          <p:val>
                                            <p:strVal val="#ppt_x"/>
                                          </p:val>
                                        </p:tav>
                                      </p:tavLst>
                                    </p:anim>
                                    <p:anim calcmode="lin" valueType="num">
                                      <p:cBhvr additive="base">
                                        <p:cTn id="208" dur="500" fill="hold"/>
                                        <p:tgtEl>
                                          <p:spTgt spid="626737"/>
                                        </p:tgtEl>
                                        <p:attrNameLst>
                                          <p:attrName>ppt_y</p:attrName>
                                        </p:attrNameLst>
                                      </p:cBhvr>
                                      <p:tavLst>
                                        <p:tav tm="0">
                                          <p:val>
                                            <p:strVal val="0-#ppt_h/2"/>
                                          </p:val>
                                        </p:tav>
                                        <p:tav tm="100000">
                                          <p:val>
                                            <p:strVal val="#ppt_y"/>
                                          </p:val>
                                        </p:tav>
                                      </p:tavLst>
                                    </p:anim>
                                  </p:childTnLst>
                                </p:cTn>
                              </p:par>
                              <p:par>
                                <p:cTn id="209" presetID="1" presetClass="exit" presetSubtype="0" fill="hold" grpId="1" nodeType="withEffect">
                                  <p:stCondLst>
                                    <p:cond delay="0"/>
                                  </p:stCondLst>
                                  <p:childTnLst>
                                    <p:set>
                                      <p:cBhvr>
                                        <p:cTn id="210" dur="1" fill="hold">
                                          <p:stCondLst>
                                            <p:cond delay="0"/>
                                          </p:stCondLst>
                                        </p:cTn>
                                        <p:tgtEl>
                                          <p:spTgt spid="626725"/>
                                        </p:tgtEl>
                                        <p:attrNameLst>
                                          <p:attrName>style.visibility</p:attrName>
                                        </p:attrNameLst>
                                      </p:cBhvr>
                                      <p:to>
                                        <p:strVal val="hidden"/>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626726"/>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2" presetClass="entr" presetSubtype="2" fill="hold" grpId="0" nodeType="clickEffect">
                                  <p:stCondLst>
                                    <p:cond delay="0"/>
                                  </p:stCondLst>
                                  <p:childTnLst>
                                    <p:set>
                                      <p:cBhvr>
                                        <p:cTn id="218" dur="1" fill="hold">
                                          <p:stCondLst>
                                            <p:cond delay="0"/>
                                          </p:stCondLst>
                                        </p:cTn>
                                        <p:tgtEl>
                                          <p:spTgt spid="626738"/>
                                        </p:tgtEl>
                                        <p:attrNameLst>
                                          <p:attrName>style.visibility</p:attrName>
                                        </p:attrNameLst>
                                      </p:cBhvr>
                                      <p:to>
                                        <p:strVal val="visible"/>
                                      </p:to>
                                    </p:set>
                                    <p:anim calcmode="lin" valueType="num">
                                      <p:cBhvr additive="base">
                                        <p:cTn id="219" dur="500" fill="hold"/>
                                        <p:tgtEl>
                                          <p:spTgt spid="626738"/>
                                        </p:tgtEl>
                                        <p:attrNameLst>
                                          <p:attrName>ppt_x</p:attrName>
                                        </p:attrNameLst>
                                      </p:cBhvr>
                                      <p:tavLst>
                                        <p:tav tm="0">
                                          <p:val>
                                            <p:strVal val="1+#ppt_w/2"/>
                                          </p:val>
                                        </p:tav>
                                        <p:tav tm="100000">
                                          <p:val>
                                            <p:strVal val="#ppt_x"/>
                                          </p:val>
                                        </p:tav>
                                      </p:tavLst>
                                    </p:anim>
                                    <p:anim calcmode="lin" valueType="num">
                                      <p:cBhvr additive="base">
                                        <p:cTn id="220" dur="500" fill="hold"/>
                                        <p:tgtEl>
                                          <p:spTgt spid="626738"/>
                                        </p:tgtEl>
                                        <p:attrNameLst>
                                          <p:attrName>ppt_y</p:attrName>
                                        </p:attrNameLst>
                                      </p:cBhvr>
                                      <p:tavLst>
                                        <p:tav tm="0">
                                          <p:val>
                                            <p:strVal val="#ppt_y"/>
                                          </p:val>
                                        </p:tav>
                                        <p:tav tm="100000">
                                          <p:val>
                                            <p:strVal val="#ppt_y"/>
                                          </p:val>
                                        </p:tav>
                                      </p:tavLst>
                                    </p:anim>
                                  </p:childTnLst>
                                </p:cTn>
                              </p:par>
                              <p:par>
                                <p:cTn id="221" presetID="1" presetClass="exit" presetSubtype="0" fill="hold" grpId="1" nodeType="withEffect">
                                  <p:stCondLst>
                                    <p:cond delay="0"/>
                                  </p:stCondLst>
                                  <p:childTnLst>
                                    <p:set>
                                      <p:cBhvr>
                                        <p:cTn id="222" dur="1" fill="hold">
                                          <p:stCondLst>
                                            <p:cond delay="0"/>
                                          </p:stCondLst>
                                        </p:cTn>
                                        <p:tgtEl>
                                          <p:spTgt spid="626726"/>
                                        </p:tgtEl>
                                        <p:attrNameLst>
                                          <p:attrName>style.visibility</p:attrName>
                                        </p:attrNameLst>
                                      </p:cBhvr>
                                      <p:to>
                                        <p:strVal val="hidden"/>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grpId="0" nodeType="clickEffect">
                                  <p:stCondLst>
                                    <p:cond delay="0"/>
                                  </p:stCondLst>
                                  <p:childTnLst>
                                    <p:set>
                                      <p:cBhvr>
                                        <p:cTn id="226" dur="1" fill="hold">
                                          <p:stCondLst>
                                            <p:cond delay="0"/>
                                          </p:stCondLst>
                                        </p:cTn>
                                        <p:tgtEl>
                                          <p:spTgt spid="626727"/>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2" presetClass="exit" presetSubtype="1" fill="hold" grpId="1" nodeType="clickEffect">
                                  <p:stCondLst>
                                    <p:cond delay="0"/>
                                  </p:stCondLst>
                                  <p:childTnLst>
                                    <p:anim calcmode="lin" valueType="num">
                                      <p:cBhvr additive="base">
                                        <p:cTn id="230" dur="500"/>
                                        <p:tgtEl>
                                          <p:spTgt spid="626737"/>
                                        </p:tgtEl>
                                        <p:attrNameLst>
                                          <p:attrName>ppt_x</p:attrName>
                                        </p:attrNameLst>
                                      </p:cBhvr>
                                      <p:tavLst>
                                        <p:tav tm="0">
                                          <p:val>
                                            <p:strVal val="ppt_x"/>
                                          </p:val>
                                        </p:tav>
                                        <p:tav tm="100000">
                                          <p:val>
                                            <p:strVal val="ppt_x"/>
                                          </p:val>
                                        </p:tav>
                                      </p:tavLst>
                                    </p:anim>
                                    <p:anim calcmode="lin" valueType="num">
                                      <p:cBhvr additive="base">
                                        <p:cTn id="231" dur="500"/>
                                        <p:tgtEl>
                                          <p:spTgt spid="626737"/>
                                        </p:tgtEl>
                                        <p:attrNameLst>
                                          <p:attrName>ppt_y</p:attrName>
                                        </p:attrNameLst>
                                      </p:cBhvr>
                                      <p:tavLst>
                                        <p:tav tm="0">
                                          <p:val>
                                            <p:strVal val="ppt_y"/>
                                          </p:val>
                                        </p:tav>
                                        <p:tav tm="100000">
                                          <p:val>
                                            <p:strVal val="0-ppt_h/2"/>
                                          </p:val>
                                        </p:tav>
                                      </p:tavLst>
                                    </p:anim>
                                    <p:set>
                                      <p:cBhvr>
                                        <p:cTn id="232" dur="1" fill="hold">
                                          <p:stCondLst>
                                            <p:cond delay="499"/>
                                          </p:stCondLst>
                                        </p:cTn>
                                        <p:tgtEl>
                                          <p:spTgt spid="626737"/>
                                        </p:tgtEl>
                                        <p:attrNameLst>
                                          <p:attrName>style.visibility</p:attrName>
                                        </p:attrNameLst>
                                      </p:cBhvr>
                                      <p:to>
                                        <p:strVal val="hidden"/>
                                      </p:to>
                                    </p:set>
                                  </p:childTnLst>
                                </p:cTn>
                              </p:par>
                            </p:childTnLst>
                          </p:cTn>
                        </p:par>
                      </p:childTnLst>
                    </p:cTn>
                  </p:par>
                  <p:par>
                    <p:cTn id="233" fill="hold">
                      <p:stCondLst>
                        <p:cond delay="indefinite"/>
                      </p:stCondLst>
                      <p:childTnLst>
                        <p:par>
                          <p:cTn id="234" fill="hold">
                            <p:stCondLst>
                              <p:cond delay="0"/>
                            </p:stCondLst>
                            <p:childTnLst>
                              <p:par>
                                <p:cTn id="235" presetID="2" presetClass="entr" presetSubtype="2" fill="hold" grpId="0" nodeType="clickEffect">
                                  <p:stCondLst>
                                    <p:cond delay="0"/>
                                  </p:stCondLst>
                                  <p:childTnLst>
                                    <p:set>
                                      <p:cBhvr>
                                        <p:cTn id="236" dur="1" fill="hold">
                                          <p:stCondLst>
                                            <p:cond delay="0"/>
                                          </p:stCondLst>
                                        </p:cTn>
                                        <p:tgtEl>
                                          <p:spTgt spid="626739"/>
                                        </p:tgtEl>
                                        <p:attrNameLst>
                                          <p:attrName>style.visibility</p:attrName>
                                        </p:attrNameLst>
                                      </p:cBhvr>
                                      <p:to>
                                        <p:strVal val="visible"/>
                                      </p:to>
                                    </p:set>
                                    <p:anim calcmode="lin" valueType="num">
                                      <p:cBhvr additive="base">
                                        <p:cTn id="237" dur="500" fill="hold"/>
                                        <p:tgtEl>
                                          <p:spTgt spid="626739"/>
                                        </p:tgtEl>
                                        <p:attrNameLst>
                                          <p:attrName>ppt_x</p:attrName>
                                        </p:attrNameLst>
                                      </p:cBhvr>
                                      <p:tavLst>
                                        <p:tav tm="0">
                                          <p:val>
                                            <p:strVal val="1+#ppt_w/2"/>
                                          </p:val>
                                        </p:tav>
                                        <p:tav tm="100000">
                                          <p:val>
                                            <p:strVal val="#ppt_x"/>
                                          </p:val>
                                        </p:tav>
                                      </p:tavLst>
                                    </p:anim>
                                    <p:anim calcmode="lin" valueType="num">
                                      <p:cBhvr additive="base">
                                        <p:cTn id="238" dur="500" fill="hold"/>
                                        <p:tgtEl>
                                          <p:spTgt spid="626739"/>
                                        </p:tgtEl>
                                        <p:attrNameLst>
                                          <p:attrName>ppt_y</p:attrName>
                                        </p:attrNameLst>
                                      </p:cBhvr>
                                      <p:tavLst>
                                        <p:tav tm="0">
                                          <p:val>
                                            <p:strVal val="#ppt_y"/>
                                          </p:val>
                                        </p:tav>
                                        <p:tav tm="100000">
                                          <p:val>
                                            <p:strVal val="#ppt_y"/>
                                          </p:val>
                                        </p:tav>
                                      </p:tavLst>
                                    </p:anim>
                                  </p:childTnLst>
                                </p:cTn>
                              </p:par>
                            </p:childTnLst>
                          </p:cTn>
                        </p:par>
                      </p:childTnLst>
                    </p:cTn>
                  </p:par>
                  <p:par>
                    <p:cTn id="239" fill="hold">
                      <p:stCondLst>
                        <p:cond delay="indefinite"/>
                      </p:stCondLst>
                      <p:childTnLst>
                        <p:par>
                          <p:cTn id="240" fill="hold">
                            <p:stCondLst>
                              <p:cond delay="0"/>
                            </p:stCondLst>
                            <p:childTnLst>
                              <p:par>
                                <p:cTn id="241" presetID="2" presetClass="exit" presetSubtype="1" fill="hold" grpId="1" nodeType="clickEffect">
                                  <p:stCondLst>
                                    <p:cond delay="0"/>
                                  </p:stCondLst>
                                  <p:childTnLst>
                                    <p:anim calcmode="lin" valueType="num">
                                      <p:cBhvr additive="base">
                                        <p:cTn id="242" dur="500"/>
                                        <p:tgtEl>
                                          <p:spTgt spid="626732"/>
                                        </p:tgtEl>
                                        <p:attrNameLst>
                                          <p:attrName>ppt_x</p:attrName>
                                        </p:attrNameLst>
                                      </p:cBhvr>
                                      <p:tavLst>
                                        <p:tav tm="0">
                                          <p:val>
                                            <p:strVal val="ppt_x"/>
                                          </p:val>
                                        </p:tav>
                                        <p:tav tm="100000">
                                          <p:val>
                                            <p:strVal val="ppt_x"/>
                                          </p:val>
                                        </p:tav>
                                      </p:tavLst>
                                    </p:anim>
                                    <p:anim calcmode="lin" valueType="num">
                                      <p:cBhvr additive="base">
                                        <p:cTn id="243" dur="500"/>
                                        <p:tgtEl>
                                          <p:spTgt spid="626732"/>
                                        </p:tgtEl>
                                        <p:attrNameLst>
                                          <p:attrName>ppt_y</p:attrName>
                                        </p:attrNameLst>
                                      </p:cBhvr>
                                      <p:tavLst>
                                        <p:tav tm="0">
                                          <p:val>
                                            <p:strVal val="ppt_y"/>
                                          </p:val>
                                        </p:tav>
                                        <p:tav tm="100000">
                                          <p:val>
                                            <p:strVal val="0-ppt_h/2"/>
                                          </p:val>
                                        </p:tav>
                                      </p:tavLst>
                                    </p:anim>
                                    <p:set>
                                      <p:cBhvr>
                                        <p:cTn id="244" dur="1" fill="hold">
                                          <p:stCondLst>
                                            <p:cond delay="499"/>
                                          </p:stCondLst>
                                        </p:cTn>
                                        <p:tgtEl>
                                          <p:spTgt spid="626732"/>
                                        </p:tgtEl>
                                        <p:attrNameLst>
                                          <p:attrName>style.visibility</p:attrName>
                                        </p:attrNameLst>
                                      </p:cBhvr>
                                      <p:to>
                                        <p:strVal val="hidden"/>
                                      </p:to>
                                    </p:set>
                                  </p:childTnLst>
                                </p:cTn>
                              </p:par>
                              <p:par>
                                <p:cTn id="245" presetID="1" presetClass="exit" presetSubtype="0" fill="hold" grpId="1" nodeType="withEffect">
                                  <p:stCondLst>
                                    <p:cond delay="0"/>
                                  </p:stCondLst>
                                  <p:childTnLst>
                                    <p:set>
                                      <p:cBhvr>
                                        <p:cTn id="246" dur="1" fill="hold">
                                          <p:stCondLst>
                                            <p:cond delay="0"/>
                                          </p:stCondLst>
                                        </p:cTn>
                                        <p:tgtEl>
                                          <p:spTgt spid="626727"/>
                                        </p:tgtEl>
                                        <p:attrNameLst>
                                          <p:attrName>style.visibility</p:attrName>
                                        </p:attrNameLst>
                                      </p:cBhvr>
                                      <p:to>
                                        <p:strVal val="hidden"/>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626728"/>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2" presetClass="entr" presetSubtype="1" fill="hold" grpId="0" nodeType="clickEffect">
                                  <p:stCondLst>
                                    <p:cond delay="0"/>
                                  </p:stCondLst>
                                  <p:childTnLst>
                                    <p:set>
                                      <p:cBhvr>
                                        <p:cTn id="254" dur="1" fill="hold">
                                          <p:stCondLst>
                                            <p:cond delay="0"/>
                                          </p:stCondLst>
                                        </p:cTn>
                                        <p:tgtEl>
                                          <p:spTgt spid="626740"/>
                                        </p:tgtEl>
                                        <p:attrNameLst>
                                          <p:attrName>style.visibility</p:attrName>
                                        </p:attrNameLst>
                                      </p:cBhvr>
                                      <p:to>
                                        <p:strVal val="visible"/>
                                      </p:to>
                                    </p:set>
                                    <p:anim calcmode="lin" valueType="num">
                                      <p:cBhvr additive="base">
                                        <p:cTn id="255" dur="500" fill="hold"/>
                                        <p:tgtEl>
                                          <p:spTgt spid="626740"/>
                                        </p:tgtEl>
                                        <p:attrNameLst>
                                          <p:attrName>ppt_x</p:attrName>
                                        </p:attrNameLst>
                                      </p:cBhvr>
                                      <p:tavLst>
                                        <p:tav tm="0">
                                          <p:val>
                                            <p:strVal val="#ppt_x"/>
                                          </p:val>
                                        </p:tav>
                                        <p:tav tm="100000">
                                          <p:val>
                                            <p:strVal val="#ppt_x"/>
                                          </p:val>
                                        </p:tav>
                                      </p:tavLst>
                                    </p:anim>
                                    <p:anim calcmode="lin" valueType="num">
                                      <p:cBhvr additive="base">
                                        <p:cTn id="256" dur="500" fill="hold"/>
                                        <p:tgtEl>
                                          <p:spTgt spid="626740"/>
                                        </p:tgtEl>
                                        <p:attrNameLst>
                                          <p:attrName>ppt_y</p:attrName>
                                        </p:attrNameLst>
                                      </p:cBhvr>
                                      <p:tavLst>
                                        <p:tav tm="0">
                                          <p:val>
                                            <p:strVal val="0-#ppt_h/2"/>
                                          </p:val>
                                        </p:tav>
                                        <p:tav tm="100000">
                                          <p:val>
                                            <p:strVal val="#ppt_y"/>
                                          </p:val>
                                        </p:tav>
                                      </p:tavLst>
                                    </p:anim>
                                  </p:childTnLst>
                                </p:cTn>
                              </p:par>
                              <p:par>
                                <p:cTn id="257" presetID="1" presetClass="exit" presetSubtype="0" fill="hold" grpId="1" nodeType="withEffect">
                                  <p:stCondLst>
                                    <p:cond delay="0"/>
                                  </p:stCondLst>
                                  <p:childTnLst>
                                    <p:set>
                                      <p:cBhvr>
                                        <p:cTn id="258" dur="1" fill="hold">
                                          <p:stCondLst>
                                            <p:cond delay="0"/>
                                          </p:stCondLst>
                                        </p:cTn>
                                        <p:tgtEl>
                                          <p:spTgt spid="626728"/>
                                        </p:tgtEl>
                                        <p:attrNameLst>
                                          <p:attrName>style.visibility</p:attrName>
                                        </p:attrNameLst>
                                      </p:cBhvr>
                                      <p:to>
                                        <p:strVal val="hidden"/>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grpId="0" nodeType="clickEffect">
                                  <p:stCondLst>
                                    <p:cond delay="0"/>
                                  </p:stCondLst>
                                  <p:childTnLst>
                                    <p:set>
                                      <p:cBhvr>
                                        <p:cTn id="262" dur="1" fill="hold">
                                          <p:stCondLst>
                                            <p:cond delay="0"/>
                                          </p:stCondLst>
                                        </p:cTn>
                                        <p:tgtEl>
                                          <p:spTgt spid="626729"/>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2" presetClass="entr" presetSubtype="2" fill="hold" grpId="0" nodeType="clickEffect">
                                  <p:stCondLst>
                                    <p:cond delay="0"/>
                                  </p:stCondLst>
                                  <p:childTnLst>
                                    <p:set>
                                      <p:cBhvr>
                                        <p:cTn id="266" dur="1" fill="hold">
                                          <p:stCondLst>
                                            <p:cond delay="0"/>
                                          </p:stCondLst>
                                        </p:cTn>
                                        <p:tgtEl>
                                          <p:spTgt spid="626741"/>
                                        </p:tgtEl>
                                        <p:attrNameLst>
                                          <p:attrName>style.visibility</p:attrName>
                                        </p:attrNameLst>
                                      </p:cBhvr>
                                      <p:to>
                                        <p:strVal val="visible"/>
                                      </p:to>
                                    </p:set>
                                    <p:anim calcmode="lin" valueType="num">
                                      <p:cBhvr additive="base">
                                        <p:cTn id="267" dur="500" fill="hold"/>
                                        <p:tgtEl>
                                          <p:spTgt spid="626741"/>
                                        </p:tgtEl>
                                        <p:attrNameLst>
                                          <p:attrName>ppt_x</p:attrName>
                                        </p:attrNameLst>
                                      </p:cBhvr>
                                      <p:tavLst>
                                        <p:tav tm="0">
                                          <p:val>
                                            <p:strVal val="1+#ppt_w/2"/>
                                          </p:val>
                                        </p:tav>
                                        <p:tav tm="100000">
                                          <p:val>
                                            <p:strVal val="#ppt_x"/>
                                          </p:val>
                                        </p:tav>
                                      </p:tavLst>
                                    </p:anim>
                                    <p:anim calcmode="lin" valueType="num">
                                      <p:cBhvr additive="base">
                                        <p:cTn id="268" dur="500" fill="hold"/>
                                        <p:tgtEl>
                                          <p:spTgt spid="626741"/>
                                        </p:tgtEl>
                                        <p:attrNameLst>
                                          <p:attrName>ppt_y</p:attrName>
                                        </p:attrNameLst>
                                      </p:cBhvr>
                                      <p:tavLst>
                                        <p:tav tm="0">
                                          <p:val>
                                            <p:strVal val="#ppt_y"/>
                                          </p:val>
                                        </p:tav>
                                        <p:tav tm="100000">
                                          <p:val>
                                            <p:strVal val="#ppt_y"/>
                                          </p:val>
                                        </p:tav>
                                      </p:tavLst>
                                    </p:anim>
                                  </p:childTnLst>
                                </p:cTn>
                              </p:par>
                              <p:par>
                                <p:cTn id="269" presetID="1" presetClass="exit" presetSubtype="0" fill="hold" grpId="1" nodeType="withEffect">
                                  <p:stCondLst>
                                    <p:cond delay="0"/>
                                  </p:stCondLst>
                                  <p:childTnLst>
                                    <p:set>
                                      <p:cBhvr>
                                        <p:cTn id="270" dur="1" fill="hold">
                                          <p:stCondLst>
                                            <p:cond delay="0"/>
                                          </p:stCondLst>
                                        </p:cTn>
                                        <p:tgtEl>
                                          <p:spTgt spid="626729"/>
                                        </p:tgtEl>
                                        <p:attrNameLst>
                                          <p:attrName>style.visibility</p:attrName>
                                        </p:attrNameLst>
                                      </p:cBhvr>
                                      <p:to>
                                        <p:strVal val="hidden"/>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grpId="0" nodeType="clickEffect">
                                  <p:stCondLst>
                                    <p:cond delay="0"/>
                                  </p:stCondLst>
                                  <p:childTnLst>
                                    <p:set>
                                      <p:cBhvr>
                                        <p:cTn id="274" dur="1" fill="hold">
                                          <p:stCondLst>
                                            <p:cond delay="0"/>
                                          </p:stCondLst>
                                        </p:cTn>
                                        <p:tgtEl>
                                          <p:spTgt spid="626730"/>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2" presetClass="exit" presetSubtype="1" fill="hold" grpId="1" nodeType="clickEffect">
                                  <p:stCondLst>
                                    <p:cond delay="0"/>
                                  </p:stCondLst>
                                  <p:childTnLst>
                                    <p:anim calcmode="lin" valueType="num">
                                      <p:cBhvr additive="base">
                                        <p:cTn id="278" dur="500"/>
                                        <p:tgtEl>
                                          <p:spTgt spid="626740"/>
                                        </p:tgtEl>
                                        <p:attrNameLst>
                                          <p:attrName>ppt_x</p:attrName>
                                        </p:attrNameLst>
                                      </p:cBhvr>
                                      <p:tavLst>
                                        <p:tav tm="0">
                                          <p:val>
                                            <p:strVal val="ppt_x"/>
                                          </p:val>
                                        </p:tav>
                                        <p:tav tm="100000">
                                          <p:val>
                                            <p:strVal val="ppt_x"/>
                                          </p:val>
                                        </p:tav>
                                      </p:tavLst>
                                    </p:anim>
                                    <p:anim calcmode="lin" valueType="num">
                                      <p:cBhvr additive="base">
                                        <p:cTn id="279" dur="500"/>
                                        <p:tgtEl>
                                          <p:spTgt spid="626740"/>
                                        </p:tgtEl>
                                        <p:attrNameLst>
                                          <p:attrName>ppt_y</p:attrName>
                                        </p:attrNameLst>
                                      </p:cBhvr>
                                      <p:tavLst>
                                        <p:tav tm="0">
                                          <p:val>
                                            <p:strVal val="ppt_y"/>
                                          </p:val>
                                        </p:tav>
                                        <p:tav tm="100000">
                                          <p:val>
                                            <p:strVal val="0-ppt_h/2"/>
                                          </p:val>
                                        </p:tav>
                                      </p:tavLst>
                                    </p:anim>
                                    <p:set>
                                      <p:cBhvr>
                                        <p:cTn id="280" dur="1" fill="hold">
                                          <p:stCondLst>
                                            <p:cond delay="499"/>
                                          </p:stCondLst>
                                        </p:cTn>
                                        <p:tgtEl>
                                          <p:spTgt spid="626740"/>
                                        </p:tgtEl>
                                        <p:attrNameLst>
                                          <p:attrName>style.visibility</p:attrName>
                                        </p:attrNameLst>
                                      </p:cBhvr>
                                      <p:to>
                                        <p:strVal val="hidden"/>
                                      </p:to>
                                    </p:set>
                                  </p:childTnLst>
                                </p:cTn>
                              </p:par>
                            </p:childTnLst>
                          </p:cTn>
                        </p:par>
                      </p:childTnLst>
                    </p:cTn>
                  </p:par>
                  <p:par>
                    <p:cTn id="281" fill="hold">
                      <p:stCondLst>
                        <p:cond delay="indefinite"/>
                      </p:stCondLst>
                      <p:childTnLst>
                        <p:par>
                          <p:cTn id="282" fill="hold">
                            <p:stCondLst>
                              <p:cond delay="0"/>
                            </p:stCondLst>
                            <p:childTnLst>
                              <p:par>
                                <p:cTn id="283" presetID="2" presetClass="entr" presetSubtype="2" fill="hold" grpId="0" nodeType="clickEffect">
                                  <p:stCondLst>
                                    <p:cond delay="0"/>
                                  </p:stCondLst>
                                  <p:childTnLst>
                                    <p:set>
                                      <p:cBhvr>
                                        <p:cTn id="284" dur="1" fill="hold">
                                          <p:stCondLst>
                                            <p:cond delay="0"/>
                                          </p:stCondLst>
                                        </p:cTn>
                                        <p:tgtEl>
                                          <p:spTgt spid="626742"/>
                                        </p:tgtEl>
                                        <p:attrNameLst>
                                          <p:attrName>style.visibility</p:attrName>
                                        </p:attrNameLst>
                                      </p:cBhvr>
                                      <p:to>
                                        <p:strVal val="visible"/>
                                      </p:to>
                                    </p:set>
                                    <p:anim calcmode="lin" valueType="num">
                                      <p:cBhvr additive="base">
                                        <p:cTn id="285" dur="500" fill="hold"/>
                                        <p:tgtEl>
                                          <p:spTgt spid="626742"/>
                                        </p:tgtEl>
                                        <p:attrNameLst>
                                          <p:attrName>ppt_x</p:attrName>
                                        </p:attrNameLst>
                                      </p:cBhvr>
                                      <p:tavLst>
                                        <p:tav tm="0">
                                          <p:val>
                                            <p:strVal val="1+#ppt_w/2"/>
                                          </p:val>
                                        </p:tav>
                                        <p:tav tm="100000">
                                          <p:val>
                                            <p:strVal val="#ppt_x"/>
                                          </p:val>
                                        </p:tav>
                                      </p:tavLst>
                                    </p:anim>
                                    <p:anim calcmode="lin" valueType="num">
                                      <p:cBhvr additive="base">
                                        <p:cTn id="286" dur="500" fill="hold"/>
                                        <p:tgtEl>
                                          <p:spTgt spid="626742"/>
                                        </p:tgtEl>
                                        <p:attrNameLst>
                                          <p:attrName>ppt_y</p:attrName>
                                        </p:attrNameLst>
                                      </p:cBhvr>
                                      <p:tavLst>
                                        <p:tav tm="0">
                                          <p:val>
                                            <p:strVal val="#ppt_y"/>
                                          </p:val>
                                        </p:tav>
                                        <p:tav tm="100000">
                                          <p:val>
                                            <p:strVal val="#ppt_y"/>
                                          </p:val>
                                        </p:tav>
                                      </p:tavLst>
                                    </p:anim>
                                  </p:childTnLst>
                                </p:cTn>
                              </p:par>
                            </p:childTnLst>
                          </p:cTn>
                        </p:par>
                      </p:childTnLst>
                    </p:cTn>
                  </p:par>
                  <p:par>
                    <p:cTn id="287" fill="hold">
                      <p:stCondLst>
                        <p:cond delay="indefinite"/>
                      </p:stCondLst>
                      <p:childTnLst>
                        <p:par>
                          <p:cTn id="288" fill="hold">
                            <p:stCondLst>
                              <p:cond delay="0"/>
                            </p:stCondLst>
                            <p:childTnLst>
                              <p:par>
                                <p:cTn id="289" presetID="2" presetClass="exit" presetSubtype="1" fill="hold" grpId="1" nodeType="clickEffect">
                                  <p:stCondLst>
                                    <p:cond delay="0"/>
                                  </p:stCondLst>
                                  <p:childTnLst>
                                    <p:anim calcmode="lin" valueType="num">
                                      <p:cBhvr additive="base">
                                        <p:cTn id="290" dur="500"/>
                                        <p:tgtEl>
                                          <p:spTgt spid="626731"/>
                                        </p:tgtEl>
                                        <p:attrNameLst>
                                          <p:attrName>ppt_x</p:attrName>
                                        </p:attrNameLst>
                                      </p:cBhvr>
                                      <p:tavLst>
                                        <p:tav tm="0">
                                          <p:val>
                                            <p:strVal val="ppt_x"/>
                                          </p:val>
                                        </p:tav>
                                        <p:tav tm="100000">
                                          <p:val>
                                            <p:strVal val="ppt_x"/>
                                          </p:val>
                                        </p:tav>
                                      </p:tavLst>
                                    </p:anim>
                                    <p:anim calcmode="lin" valueType="num">
                                      <p:cBhvr additive="base">
                                        <p:cTn id="291" dur="500"/>
                                        <p:tgtEl>
                                          <p:spTgt spid="626731"/>
                                        </p:tgtEl>
                                        <p:attrNameLst>
                                          <p:attrName>ppt_y</p:attrName>
                                        </p:attrNameLst>
                                      </p:cBhvr>
                                      <p:tavLst>
                                        <p:tav tm="0">
                                          <p:val>
                                            <p:strVal val="ppt_y"/>
                                          </p:val>
                                        </p:tav>
                                        <p:tav tm="100000">
                                          <p:val>
                                            <p:strVal val="0-ppt_h/2"/>
                                          </p:val>
                                        </p:tav>
                                      </p:tavLst>
                                    </p:anim>
                                    <p:set>
                                      <p:cBhvr>
                                        <p:cTn id="292" dur="1" fill="hold">
                                          <p:stCondLst>
                                            <p:cond delay="499"/>
                                          </p:stCondLst>
                                        </p:cTn>
                                        <p:tgtEl>
                                          <p:spTgt spid="626731"/>
                                        </p:tgtEl>
                                        <p:attrNameLst>
                                          <p:attrName>style.visibility</p:attrName>
                                        </p:attrNameLst>
                                      </p:cBhvr>
                                      <p:to>
                                        <p:strVal val="hidden"/>
                                      </p:to>
                                    </p:set>
                                  </p:childTnLst>
                                </p:cTn>
                              </p:par>
                            </p:childTnLst>
                          </p:cTn>
                        </p:par>
                      </p:childTnLst>
                    </p:cTn>
                  </p:par>
                  <p:par>
                    <p:cTn id="293" fill="hold">
                      <p:stCondLst>
                        <p:cond delay="indefinite"/>
                      </p:stCondLst>
                      <p:childTnLst>
                        <p:par>
                          <p:cTn id="294" fill="hold">
                            <p:stCondLst>
                              <p:cond delay="0"/>
                            </p:stCondLst>
                            <p:childTnLst>
                              <p:par>
                                <p:cTn id="295" presetID="2" presetClass="entr" presetSubtype="2" fill="hold" grpId="0" nodeType="clickEffect">
                                  <p:stCondLst>
                                    <p:cond delay="0"/>
                                  </p:stCondLst>
                                  <p:childTnLst>
                                    <p:set>
                                      <p:cBhvr>
                                        <p:cTn id="296" dur="1" fill="hold">
                                          <p:stCondLst>
                                            <p:cond delay="0"/>
                                          </p:stCondLst>
                                        </p:cTn>
                                        <p:tgtEl>
                                          <p:spTgt spid="626743"/>
                                        </p:tgtEl>
                                        <p:attrNameLst>
                                          <p:attrName>style.visibility</p:attrName>
                                        </p:attrNameLst>
                                      </p:cBhvr>
                                      <p:to>
                                        <p:strVal val="visible"/>
                                      </p:to>
                                    </p:set>
                                    <p:anim calcmode="lin" valueType="num">
                                      <p:cBhvr additive="base">
                                        <p:cTn id="297" dur="500" fill="hold"/>
                                        <p:tgtEl>
                                          <p:spTgt spid="626743"/>
                                        </p:tgtEl>
                                        <p:attrNameLst>
                                          <p:attrName>ppt_x</p:attrName>
                                        </p:attrNameLst>
                                      </p:cBhvr>
                                      <p:tavLst>
                                        <p:tav tm="0">
                                          <p:val>
                                            <p:strVal val="1+#ppt_w/2"/>
                                          </p:val>
                                        </p:tav>
                                        <p:tav tm="100000">
                                          <p:val>
                                            <p:strVal val="#ppt_x"/>
                                          </p:val>
                                        </p:tav>
                                      </p:tavLst>
                                    </p:anim>
                                    <p:anim calcmode="lin" valueType="num">
                                      <p:cBhvr additive="base">
                                        <p:cTn id="298" dur="500" fill="hold"/>
                                        <p:tgtEl>
                                          <p:spTgt spid="626743"/>
                                        </p:tgtEl>
                                        <p:attrNameLst>
                                          <p:attrName>ppt_y</p:attrName>
                                        </p:attrNameLst>
                                      </p:cBhvr>
                                      <p:tavLst>
                                        <p:tav tm="0">
                                          <p:val>
                                            <p:strVal val="#ppt_y"/>
                                          </p:val>
                                        </p:tav>
                                        <p:tav tm="100000">
                                          <p:val>
                                            <p:strVal val="#ppt_y"/>
                                          </p:val>
                                        </p:tav>
                                      </p:tavLst>
                                    </p:anim>
                                  </p:childTnLst>
                                </p:cTn>
                              </p:par>
                            </p:childTnLst>
                          </p:cTn>
                        </p:par>
                      </p:childTnLst>
                    </p:cTn>
                  </p:par>
                  <p:par>
                    <p:cTn id="299" fill="hold">
                      <p:stCondLst>
                        <p:cond delay="indefinite"/>
                      </p:stCondLst>
                      <p:childTnLst>
                        <p:par>
                          <p:cTn id="300" fill="hold">
                            <p:stCondLst>
                              <p:cond delay="0"/>
                            </p:stCondLst>
                            <p:childTnLst>
                              <p:par>
                                <p:cTn id="301" presetID="2" presetClass="exit" presetSubtype="1" fill="hold" grpId="1" nodeType="clickEffect">
                                  <p:stCondLst>
                                    <p:cond delay="0"/>
                                  </p:stCondLst>
                                  <p:childTnLst>
                                    <p:anim calcmode="lin" valueType="num">
                                      <p:cBhvr additive="base">
                                        <p:cTn id="302" dur="500"/>
                                        <p:tgtEl>
                                          <p:spTgt spid="626709"/>
                                        </p:tgtEl>
                                        <p:attrNameLst>
                                          <p:attrName>ppt_x</p:attrName>
                                        </p:attrNameLst>
                                      </p:cBhvr>
                                      <p:tavLst>
                                        <p:tav tm="0">
                                          <p:val>
                                            <p:strVal val="ppt_x"/>
                                          </p:val>
                                        </p:tav>
                                        <p:tav tm="100000">
                                          <p:val>
                                            <p:strVal val="ppt_x"/>
                                          </p:val>
                                        </p:tav>
                                      </p:tavLst>
                                    </p:anim>
                                    <p:anim calcmode="lin" valueType="num">
                                      <p:cBhvr additive="base">
                                        <p:cTn id="303" dur="500"/>
                                        <p:tgtEl>
                                          <p:spTgt spid="626709"/>
                                        </p:tgtEl>
                                        <p:attrNameLst>
                                          <p:attrName>ppt_y</p:attrName>
                                        </p:attrNameLst>
                                      </p:cBhvr>
                                      <p:tavLst>
                                        <p:tav tm="0">
                                          <p:val>
                                            <p:strVal val="ppt_y"/>
                                          </p:val>
                                        </p:tav>
                                        <p:tav tm="100000">
                                          <p:val>
                                            <p:strVal val="0-ppt_h/2"/>
                                          </p:val>
                                        </p:tav>
                                      </p:tavLst>
                                    </p:anim>
                                    <p:set>
                                      <p:cBhvr>
                                        <p:cTn id="304" dur="1" fill="hold">
                                          <p:stCondLst>
                                            <p:cond delay="499"/>
                                          </p:stCondLst>
                                        </p:cTn>
                                        <p:tgtEl>
                                          <p:spTgt spid="626709"/>
                                        </p:tgtEl>
                                        <p:attrNameLst>
                                          <p:attrName>style.visibility</p:attrName>
                                        </p:attrNameLst>
                                      </p:cBhvr>
                                      <p:to>
                                        <p:strVal val="hidden"/>
                                      </p:to>
                                    </p:set>
                                  </p:childTnLst>
                                </p:cTn>
                              </p:par>
                              <p:par>
                                <p:cTn id="305" presetID="1" presetClass="exit" presetSubtype="0" fill="hold" grpId="1" nodeType="withEffect">
                                  <p:stCondLst>
                                    <p:cond delay="0"/>
                                  </p:stCondLst>
                                  <p:childTnLst>
                                    <p:set>
                                      <p:cBhvr>
                                        <p:cTn id="306" dur="1" fill="hold">
                                          <p:stCondLst>
                                            <p:cond delay="0"/>
                                          </p:stCondLst>
                                        </p:cTn>
                                        <p:tgtEl>
                                          <p:spTgt spid="626730"/>
                                        </p:tgtEl>
                                        <p:attrNameLst>
                                          <p:attrName>style.visibility</p:attrName>
                                        </p:attrNameLst>
                                      </p:cBhvr>
                                      <p:to>
                                        <p:strVal val="hidden"/>
                                      </p:to>
                                    </p:set>
                                  </p:childTnLst>
                                </p:cTn>
                              </p:par>
                              <p:par>
                                <p:cTn id="307" presetID="1" presetClass="exit" presetSubtype="0" fill="hold" grpId="1" nodeType="withEffect">
                                  <p:stCondLst>
                                    <p:cond delay="0"/>
                                  </p:stCondLst>
                                  <p:childTnLst>
                                    <p:set>
                                      <p:cBhvr>
                                        <p:cTn id="308" dur="1" fill="hold">
                                          <p:stCondLst>
                                            <p:cond delay="0"/>
                                          </p:stCondLst>
                                        </p:cTn>
                                        <p:tgtEl>
                                          <p:spTgt spid="626744"/>
                                        </p:tgtEl>
                                        <p:attrNameLst>
                                          <p:attrName>style.visibility</p:attrName>
                                        </p:attrNameLst>
                                      </p:cBhvr>
                                      <p:to>
                                        <p:strVal val="hidden"/>
                                      </p:to>
                                    </p:set>
                                  </p:childTnLst>
                                </p:cTn>
                              </p:par>
                              <p:par>
                                <p:cTn id="309" presetID="1" presetClass="exit" presetSubtype="0" fill="hold" grpId="1" nodeType="withEffect">
                                  <p:stCondLst>
                                    <p:cond delay="0"/>
                                  </p:stCondLst>
                                  <p:childTnLst>
                                    <p:set>
                                      <p:cBhvr>
                                        <p:cTn id="310" dur="1" fill="hold">
                                          <p:stCondLst>
                                            <p:cond delay="0"/>
                                          </p:stCondLst>
                                        </p:cTn>
                                        <p:tgtEl>
                                          <p:spTgt spid="62670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692" grpId="0"/>
      <p:bldP spid="626692" grpId="1"/>
      <p:bldP spid="626697" grpId="0" bldLvl="0" animBg="1"/>
      <p:bldP spid="626698" grpId="0"/>
      <p:bldP spid="626699" grpId="0"/>
      <p:bldP spid="626699" grpId="1"/>
      <p:bldP spid="626700" grpId="0"/>
      <p:bldP spid="626702" grpId="0"/>
      <p:bldP spid="626703" grpId="0"/>
      <p:bldP spid="626704" grpId="0"/>
      <p:bldP spid="626705" grpId="0"/>
      <p:bldP spid="626708" grpId="0"/>
      <p:bldP spid="626708" grpId="1"/>
      <p:bldP spid="626709" grpId="0"/>
      <p:bldP spid="626709" grpId="1"/>
      <p:bldP spid="626710" grpId="0" bldLvl="0" animBg="1"/>
      <p:bldP spid="626711" grpId="0" bldLvl="0" animBg="1"/>
      <p:bldP spid="626712" grpId="0" bldLvl="0" animBg="1"/>
      <p:bldP spid="626713" grpId="0" bldLvl="0" animBg="1"/>
      <p:bldP spid="626715" grpId="0" bldLvl="0" animBg="1"/>
      <p:bldP spid="626715" grpId="1" bldLvl="0" animBg="1"/>
      <p:bldP spid="626716" grpId="0" bldLvl="0" animBg="1"/>
      <p:bldP spid="626716" grpId="1" bldLvl="0" animBg="1"/>
      <p:bldP spid="626717" grpId="0" bldLvl="0" animBg="1"/>
      <p:bldP spid="626717" grpId="1" bldLvl="0" animBg="1"/>
      <p:bldP spid="626718" grpId="0" bldLvl="0" animBg="1"/>
      <p:bldP spid="626718" grpId="1" bldLvl="0" animBg="1"/>
      <p:bldP spid="626719" grpId="0" bldLvl="0" animBg="1"/>
      <p:bldP spid="626719" grpId="1" bldLvl="0" animBg="1"/>
      <p:bldP spid="626720" grpId="0" bldLvl="0" animBg="1"/>
      <p:bldP spid="626720" grpId="1" bldLvl="0" animBg="1"/>
      <p:bldP spid="626721" grpId="0" bldLvl="0" animBg="1"/>
      <p:bldP spid="626721" grpId="1" bldLvl="0" animBg="1"/>
      <p:bldP spid="626722" grpId="0" bldLvl="0" animBg="1"/>
      <p:bldP spid="626722" grpId="1" bldLvl="0" animBg="1"/>
      <p:bldP spid="626723" grpId="0" bldLvl="0" animBg="1"/>
      <p:bldP spid="626723" grpId="1" bldLvl="0" animBg="1"/>
      <p:bldP spid="626724" grpId="0" bldLvl="0" animBg="1"/>
      <p:bldP spid="626724" grpId="1" bldLvl="0" animBg="1"/>
      <p:bldP spid="626725" grpId="0" bldLvl="0" animBg="1"/>
      <p:bldP spid="626725" grpId="1" bldLvl="0" animBg="1"/>
      <p:bldP spid="626726" grpId="0" bldLvl="0" animBg="1"/>
      <p:bldP spid="626726" grpId="1" bldLvl="0" animBg="1"/>
      <p:bldP spid="626727" grpId="0" bldLvl="0" animBg="1"/>
      <p:bldP spid="626727" grpId="1" bldLvl="0" animBg="1"/>
      <p:bldP spid="626728" grpId="0" bldLvl="0" animBg="1"/>
      <p:bldP spid="626728" grpId="1" bldLvl="0" animBg="1"/>
      <p:bldP spid="626729" grpId="0" bldLvl="0" animBg="1"/>
      <p:bldP spid="626729" grpId="1" bldLvl="0" animBg="1"/>
      <p:bldP spid="626730" grpId="0" bldLvl="0" animBg="1"/>
      <p:bldP spid="626730" grpId="1" bldLvl="0" animBg="1"/>
      <p:bldP spid="626731" grpId="0"/>
      <p:bldP spid="626731" grpId="1"/>
      <p:bldP spid="626732" grpId="0"/>
      <p:bldP spid="626732" grpId="1"/>
      <p:bldP spid="626733" grpId="0"/>
      <p:bldP spid="626734" grpId="0"/>
      <p:bldP spid="626735" grpId="0"/>
      <p:bldP spid="626735" grpId="1"/>
      <p:bldP spid="626736" grpId="0"/>
      <p:bldP spid="626737" grpId="0"/>
      <p:bldP spid="626737" grpId="1"/>
      <p:bldP spid="626738" grpId="0"/>
      <p:bldP spid="626739" grpId="0"/>
      <p:bldP spid="626740" grpId="0"/>
      <p:bldP spid="626740" grpId="1"/>
      <p:bldP spid="626741" grpId="0"/>
      <p:bldP spid="626742" grpId="0"/>
      <p:bldP spid="626743" grpId="0"/>
      <p:bldP spid="626744" grpId="0"/>
      <p:bldP spid="626744" grpId="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19050" y="1772921"/>
            <a:ext cx="9144000" cy="2520176"/>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36195" name="Rectangle 4"/>
          <p:cNvSpPr>
            <a:spLocks noRot="1" noChangeArrowheads="1"/>
          </p:cNvSpPr>
          <p:nvPr/>
        </p:nvSpPr>
        <p:spPr bwMode="auto">
          <a:xfrm>
            <a:off x="231775" y="604838"/>
            <a:ext cx="8893175"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1" fontAlgn="base" latinLnBrk="0" hangingPunct="1">
              <a:lnSpc>
                <a:spcPct val="80000"/>
              </a:lnSpc>
              <a:spcBef>
                <a:spcPct val="20000"/>
              </a:spcBef>
              <a:spcAft>
                <a:spcPct val="0"/>
              </a:spcAft>
              <a:buClrTx/>
              <a:buSzTx/>
              <a:buFont typeface="Arial" panose="020B0604020202020204" pitchFamily="34" charset="0"/>
              <a:buNone/>
              <a:defRPr/>
            </a:pPr>
            <a:endParaRPr kumimoji="0" lang="en-US" altLang="zh-CN" sz="4000" b="1" i="0" u="none" strike="noStrike" kern="1200" cap="none" spc="0" normalizeH="0" baseline="0" noProof="0">
              <a:ln>
                <a:noFill/>
              </a:ln>
              <a:solidFill>
                <a:schemeClr val="tx1"/>
              </a:solidFill>
              <a:effectLst/>
              <a:uLnTx/>
              <a:uFillTx/>
              <a:latin typeface="+mn-lt"/>
              <a:ea typeface="+mn-ea"/>
              <a:cs typeface="+mn-ea"/>
              <a:sym typeface="+mn-lt"/>
            </a:endParaRPr>
          </a:p>
          <a:p>
            <a:pPr marL="342900" marR="0" lvl="0" indent="-342900" algn="l" defTabSz="914400" rtl="0" eaLnBrk="1" fontAlgn="base" latinLnBrk="0" hangingPunct="1">
              <a:lnSpc>
                <a:spcPct val="80000"/>
              </a:lnSpc>
              <a:spcBef>
                <a:spcPct val="20000"/>
              </a:spcBef>
              <a:spcAft>
                <a:spcPct val="0"/>
              </a:spcAft>
              <a:buClrTx/>
              <a:buSzTx/>
              <a:buFont typeface="Arial" panose="020B0604020202020204" pitchFamily="34" charset="0"/>
              <a:buNone/>
              <a:defRPr/>
            </a:pPr>
            <a:endParaRPr kumimoji="0" lang="en-US" altLang="zh-CN" sz="4000" b="1" i="0" u="none" strike="noStrike" kern="1200" cap="none" spc="0" normalizeH="0" baseline="0" noProof="0">
              <a:ln>
                <a:noFill/>
              </a:ln>
              <a:solidFill>
                <a:srgbClr val="FF3399"/>
              </a:solidFill>
              <a:effectLst/>
              <a:uLnTx/>
              <a:uFillTx/>
              <a:latin typeface="+mn-lt"/>
              <a:ea typeface="+mn-ea"/>
              <a:cs typeface="+mn-ea"/>
              <a:sym typeface="+mn-lt"/>
            </a:endParaRPr>
          </a:p>
        </p:txBody>
      </p:sp>
      <p:sp>
        <p:nvSpPr>
          <p:cNvPr id="759814" name="Rectangle 6"/>
          <p:cNvSpPr>
            <a:spLocks noChangeArrowheads="1"/>
          </p:cNvSpPr>
          <p:nvPr/>
        </p:nvSpPr>
        <p:spPr bwMode="auto">
          <a:xfrm>
            <a:off x="107504" y="2086318"/>
            <a:ext cx="8928992" cy="195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254000">
              <a:defRPr sz="2400" b="1">
                <a:solidFill>
                  <a:schemeClr val="tx1"/>
                </a:solidFill>
                <a:latin typeface="Times New Roman" panose="02020603050405020304" pitchFamily="18" charset="0"/>
                <a:ea typeface="楷体_GB2312" pitchFamily="49" charset="-122"/>
              </a:defRPr>
            </a:lvl1pPr>
            <a:lvl2pPr indent="254000">
              <a:defRPr sz="2400" b="1">
                <a:solidFill>
                  <a:schemeClr val="tx1"/>
                </a:solidFill>
                <a:latin typeface="Times New Roman" panose="02020603050405020304" pitchFamily="18" charset="0"/>
                <a:ea typeface="楷体_GB2312" pitchFamily="49" charset="-122"/>
              </a:defRPr>
            </a:lvl2pPr>
            <a:lvl3pPr indent="254000">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596900" marR="0" lvl="0" indent="-342900" algn="l" defTabSz="914400" rtl="0" eaLnBrk="0" fontAlgn="base" latinLnBrk="0" hangingPunct="0">
              <a:lnSpc>
                <a:spcPct val="125000"/>
              </a:lnSpc>
              <a:spcBef>
                <a:spcPct val="20000"/>
              </a:spcBef>
              <a:spcAft>
                <a:spcPct val="0"/>
              </a:spcAft>
              <a:buClrTx/>
              <a:buSzTx/>
              <a:buFont typeface="Wingdings" panose="05000000000000000000" charset="0"/>
              <a:buChar char="l"/>
              <a:defRPr/>
            </a:pPr>
            <a:r>
              <a:rPr kumimoji="0" sz="1800" b="0" i="0" u="none" strike="noStrike" kern="1200" cap="none" spc="0" normalizeH="0" baseline="0" noProof="0" dirty="0" err="1">
                <a:ln>
                  <a:noFill/>
                </a:ln>
                <a:solidFill>
                  <a:schemeClr val="tx1"/>
                </a:solidFill>
                <a:effectLst/>
                <a:uLnTx/>
                <a:uFillTx/>
                <a:latin typeface="+mn-lt"/>
                <a:ea typeface="+mn-ea"/>
                <a:cs typeface="+mn-ea"/>
                <a:sym typeface="+mn-lt"/>
              </a:rPr>
              <a:t>建立一个栈S从左到右</a:t>
            </a:r>
            <a:r>
              <a:rPr lang="zh-CN" altLang="en-US" sz="1800" b="0" dirty="0">
                <a:latin typeface="+mn-lt"/>
                <a:ea typeface="+mn-ea"/>
                <a:cs typeface="+mn-ea"/>
                <a:sym typeface="+mn-lt"/>
              </a:rPr>
              <a:t>扫描</a:t>
            </a:r>
            <a:r>
              <a:rPr kumimoji="0" sz="1800" b="0" i="0" u="none" strike="noStrike" kern="1200" cap="none" spc="0" normalizeH="0" baseline="0" noProof="0" dirty="0" err="1">
                <a:ln>
                  <a:noFill/>
                </a:ln>
                <a:solidFill>
                  <a:schemeClr val="tx1"/>
                </a:solidFill>
                <a:effectLst/>
                <a:uLnTx/>
                <a:uFillTx/>
                <a:latin typeface="+mn-lt"/>
                <a:ea typeface="+mn-ea"/>
                <a:cs typeface="+mn-ea"/>
                <a:sym typeface="+mn-lt"/>
              </a:rPr>
              <a:t>后缀表达式</a:t>
            </a:r>
            <a:r>
              <a:rPr kumimoji="0" lang="zh-CN" sz="18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sz="1800" b="0" i="0" u="none" strike="noStrike" kern="1200" cap="none" spc="0" normalizeH="0" baseline="0" noProof="0" dirty="0">
              <a:ln>
                <a:noFill/>
              </a:ln>
              <a:solidFill>
                <a:schemeClr val="tx1"/>
              </a:solidFill>
              <a:effectLst/>
              <a:uLnTx/>
              <a:uFillTx/>
              <a:latin typeface="+mn-lt"/>
              <a:ea typeface="+mn-ea"/>
              <a:cs typeface="+mn-ea"/>
              <a:sym typeface="+mn-lt"/>
            </a:endParaRPr>
          </a:p>
          <a:p>
            <a:pPr marL="596900" marR="0" lvl="0" indent="-342900" algn="l" defTabSz="914400" rtl="0" eaLnBrk="0" fontAlgn="base" latinLnBrk="0" hangingPunct="0">
              <a:lnSpc>
                <a:spcPct val="125000"/>
              </a:lnSpc>
              <a:spcBef>
                <a:spcPct val="20000"/>
              </a:spcBef>
              <a:spcAft>
                <a:spcPct val="0"/>
              </a:spcAft>
              <a:buClrTx/>
              <a:buSzTx/>
              <a:buFont typeface="Wingdings" panose="05000000000000000000" charset="0"/>
              <a:buChar char="l"/>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遇到</a:t>
            </a:r>
            <a:r>
              <a:rPr kumimoji="0" sz="1800" b="0" i="0" u="none" strike="noStrike" kern="1200" cap="none" spc="0" normalizeH="0" baseline="0" noProof="0" dirty="0" err="1">
                <a:ln>
                  <a:noFill/>
                </a:ln>
                <a:solidFill>
                  <a:schemeClr val="tx1"/>
                </a:solidFill>
                <a:effectLst/>
                <a:uLnTx/>
                <a:uFillTx/>
                <a:latin typeface="+mn-lt"/>
                <a:ea typeface="+mn-ea"/>
                <a:cs typeface="+mn-ea"/>
                <a:sym typeface="+mn-lt"/>
              </a:rPr>
              <a:t>数字就将</a:t>
            </a:r>
            <a:r>
              <a:rPr kumimoji="0" lang="zh-CN" sz="1800" b="0" i="0" u="none" strike="noStrike" kern="1200" cap="none" spc="0" normalizeH="0" baseline="0" noProof="0" dirty="0">
                <a:ln>
                  <a:noFill/>
                </a:ln>
                <a:solidFill>
                  <a:schemeClr val="tx1"/>
                </a:solidFill>
                <a:effectLst/>
                <a:uLnTx/>
                <a:uFillTx/>
                <a:latin typeface="+mn-lt"/>
                <a:ea typeface="+mn-ea"/>
                <a:cs typeface="+mn-ea"/>
                <a:sym typeface="+mn-lt"/>
              </a:rPr>
              <a:t>其</a:t>
            </a:r>
            <a:r>
              <a:rPr kumimoji="0" sz="1800" b="0" i="0" u="none" strike="noStrike" kern="1200" cap="none" spc="0" normalizeH="0" baseline="0" noProof="0" dirty="0">
                <a:ln>
                  <a:noFill/>
                </a:ln>
                <a:solidFill>
                  <a:schemeClr val="tx1"/>
                </a:solidFill>
                <a:effectLst/>
                <a:uLnTx/>
                <a:uFillTx/>
                <a:latin typeface="+mn-lt"/>
                <a:ea typeface="+mn-ea"/>
                <a:cs typeface="+mn-ea"/>
                <a:sym typeface="+mn-lt"/>
              </a:rPr>
              <a:t>转换为数值压入栈S中</a:t>
            </a:r>
            <a:r>
              <a:rPr kumimoji="0" lang="zh-CN" sz="1800" b="0" i="0" u="none" strike="noStrike" kern="1200" cap="none" spc="0" normalizeH="0" baseline="0" noProof="0" dirty="0">
                <a:ln>
                  <a:noFill/>
                </a:ln>
                <a:solidFill>
                  <a:schemeClr val="tx1"/>
                </a:solidFill>
                <a:effectLst/>
                <a:uLnTx/>
                <a:uFillTx/>
                <a:latin typeface="+mn-lt"/>
                <a:ea typeface="+mn-ea"/>
                <a:cs typeface="+mn-ea"/>
                <a:sym typeface="+mn-lt"/>
              </a:rPr>
              <a:t>。</a:t>
            </a:r>
          </a:p>
          <a:p>
            <a:pPr marL="596900" marR="0" lvl="0" indent="-342900" algn="l" defTabSz="914400" rtl="0" eaLnBrk="0" fontAlgn="base" latinLnBrk="0" hangingPunct="0">
              <a:lnSpc>
                <a:spcPct val="125000"/>
              </a:lnSpc>
              <a:spcBef>
                <a:spcPct val="20000"/>
              </a:spcBef>
              <a:spcAft>
                <a:spcPct val="0"/>
              </a:spcAft>
              <a:buClrTx/>
              <a:buSzTx/>
              <a:buFont typeface="Wingdings" panose="05000000000000000000" charset="0"/>
              <a:buChar char="l"/>
              <a:defRPr/>
            </a:pPr>
            <a:r>
              <a:rPr lang="zh-CN" altLang="en-US" sz="1800" b="0" dirty="0">
                <a:latin typeface="+mn-lt"/>
                <a:ea typeface="+mn-ea"/>
                <a:cs typeface="+mn-ea"/>
                <a:sym typeface="+mn-lt"/>
              </a:rPr>
              <a:t>遇到</a:t>
            </a:r>
            <a:r>
              <a:rPr kumimoji="0" sz="1800" b="0" i="0" u="none" strike="noStrike" kern="1200" cap="none" spc="0" normalizeH="0" baseline="0" noProof="0" dirty="0" err="1">
                <a:ln>
                  <a:noFill/>
                </a:ln>
                <a:solidFill>
                  <a:schemeClr val="tx1"/>
                </a:solidFill>
                <a:effectLst/>
                <a:uLnTx/>
                <a:uFillTx/>
                <a:latin typeface="+mn-lt"/>
                <a:ea typeface="+mn-ea"/>
                <a:cs typeface="+mn-ea"/>
                <a:sym typeface="+mn-lt"/>
              </a:rPr>
              <a:t>运算符</a:t>
            </a:r>
            <a:r>
              <a:rPr kumimoji="0" lang="en-US" altLang="zh-CN" sz="1800" b="0" i="0" u="none" strike="noStrike" kern="1200" cap="none" spc="0" normalizeH="0" baseline="0" noProof="0" dirty="0" err="1">
                <a:ln>
                  <a:noFill/>
                </a:ln>
                <a:solidFill>
                  <a:schemeClr val="tx1"/>
                </a:solidFill>
                <a:effectLst/>
                <a:uLnTx/>
                <a:uFillTx/>
                <a:latin typeface="+mn-lt"/>
                <a:ea typeface="+mn-ea"/>
                <a:cs typeface="+mn-ea"/>
                <a:sym typeface="+mn-lt"/>
              </a:rPr>
              <a:t>op</a:t>
            </a:r>
            <a:r>
              <a:rPr kumimoji="0" lang="zh-CN" altLang="en-US"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sz="1800" b="0" i="0" u="none" strike="noStrike" kern="1200" cap="none" spc="0" normalizeH="0" baseline="0" noProof="0" dirty="0" err="1">
                <a:ln>
                  <a:noFill/>
                </a:ln>
                <a:solidFill>
                  <a:schemeClr val="tx1"/>
                </a:solidFill>
                <a:effectLst/>
                <a:uLnTx/>
                <a:uFillTx/>
                <a:latin typeface="+mn-lt"/>
                <a:ea typeface="+mn-ea"/>
                <a:cs typeface="+mn-ea"/>
                <a:sym typeface="+mn-lt"/>
              </a:rPr>
              <a:t>则从栈中依次弹出两个数Y和X，然后以</a:t>
            </a:r>
            <a:r>
              <a:rPr kumimoji="0" lang="en-US" sz="1800" b="0" i="0" u="none" strike="noStrike" kern="1200" cap="none" spc="0" normalizeH="0" baseline="0" noProof="0" dirty="0" err="1">
                <a:ln>
                  <a:noFill/>
                </a:ln>
                <a:solidFill>
                  <a:schemeClr val="tx1"/>
                </a:solidFill>
                <a:effectLst/>
                <a:uLnTx/>
                <a:uFillTx/>
                <a:latin typeface="+mn-lt"/>
                <a:ea typeface="+mn-ea"/>
                <a:cs typeface="+mn-ea"/>
                <a:sym typeface="+mn-lt"/>
              </a:rPr>
              <a:t>"</a:t>
            </a:r>
            <a:r>
              <a:rPr kumimoji="0" sz="1800" b="0" i="0" u="none" strike="noStrike" kern="1200" cap="none" spc="0" normalizeH="0" baseline="0" noProof="0" dirty="0" err="1">
                <a:ln>
                  <a:noFill/>
                </a:ln>
                <a:solidFill>
                  <a:schemeClr val="tx1"/>
                </a:solidFill>
                <a:effectLst/>
                <a:uLnTx/>
                <a:uFillTx/>
                <a:latin typeface="+mn-lt"/>
                <a:ea typeface="+mn-ea"/>
                <a:cs typeface="+mn-ea"/>
                <a:sym typeface="+mn-lt"/>
              </a:rPr>
              <a:t>X</a:t>
            </a:r>
            <a:r>
              <a:rPr kumimoji="0" lang="en-US" sz="1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1800" b="0" i="0" u="none" strike="noStrike" kern="1200" cap="none" spc="0" normalizeH="0" baseline="0" noProof="0" dirty="0">
                <a:ln>
                  <a:noFill/>
                </a:ln>
                <a:solidFill>
                  <a:schemeClr val="tx1"/>
                </a:solidFill>
                <a:effectLst/>
                <a:uLnTx/>
                <a:uFillTx/>
                <a:latin typeface="+mn-lt"/>
                <a:ea typeface="+mn-ea"/>
                <a:cs typeface="+mn-ea"/>
                <a:sym typeface="+mn-lt"/>
              </a:rPr>
              <a:t>op </a:t>
            </a:r>
            <a:r>
              <a:rPr kumimoji="0" sz="1800" b="0" i="0" u="none" strike="noStrike" kern="1200" cap="none" spc="0" normalizeH="0" baseline="0" noProof="0" dirty="0" err="1">
                <a:ln>
                  <a:noFill/>
                </a:ln>
                <a:solidFill>
                  <a:schemeClr val="tx1"/>
                </a:solidFill>
                <a:effectLst/>
                <a:uLnTx/>
                <a:uFillTx/>
                <a:latin typeface="+mn-lt"/>
                <a:ea typeface="+mn-ea"/>
                <a:cs typeface="+mn-ea"/>
                <a:sym typeface="+mn-lt"/>
              </a:rPr>
              <a:t>Y</a:t>
            </a:r>
            <a:r>
              <a:rPr lang="en-US" sz="1800" b="0" noProof="0" dirty="0" err="1">
                <a:latin typeface="+mn-lt"/>
                <a:ea typeface="+mn-ea"/>
                <a:cs typeface="+mn-ea"/>
                <a:sym typeface="+mn-lt"/>
              </a:rPr>
              <a:t>"</a:t>
            </a:r>
            <a:r>
              <a:rPr kumimoji="0" sz="1800" b="0" i="0" u="none" strike="noStrike" kern="1200" cap="none" spc="0" normalizeH="0" baseline="0" noProof="0" dirty="0" err="1">
                <a:ln>
                  <a:noFill/>
                </a:ln>
                <a:solidFill>
                  <a:schemeClr val="tx1"/>
                </a:solidFill>
                <a:effectLst/>
                <a:uLnTx/>
                <a:uFillTx/>
                <a:latin typeface="+mn-lt"/>
                <a:ea typeface="+mn-ea"/>
                <a:cs typeface="+mn-ea"/>
                <a:sym typeface="+mn-lt"/>
              </a:rPr>
              <a:t>的形式计算</a:t>
            </a:r>
            <a:r>
              <a:rPr kumimoji="0" sz="1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sz="1800" b="0" i="0" u="none" strike="noStrike" kern="1200" cap="none" spc="0" normalizeH="0" baseline="0" noProof="0" dirty="0">
                <a:ln>
                  <a:noFill/>
                </a:ln>
                <a:solidFill>
                  <a:schemeClr val="tx1"/>
                </a:solidFill>
                <a:effectLst/>
                <a:uLnTx/>
                <a:uFillTx/>
                <a:latin typeface="+mn-lt"/>
                <a:ea typeface="+mn-ea"/>
                <a:cs typeface="+mn-ea"/>
                <a:sym typeface="+mn-lt"/>
              </a:rPr>
              <a:t>将计算结果</a:t>
            </a:r>
            <a:r>
              <a:rPr kumimoji="0" sz="1800" b="0" i="0" u="none" strike="noStrike" kern="1200" cap="none" spc="0" normalizeH="0" baseline="0" noProof="0" dirty="0">
                <a:ln>
                  <a:noFill/>
                </a:ln>
                <a:solidFill>
                  <a:schemeClr val="tx1"/>
                </a:solidFill>
                <a:effectLst/>
                <a:uLnTx/>
                <a:uFillTx/>
                <a:latin typeface="+mn-lt"/>
                <a:ea typeface="+mn-ea"/>
                <a:cs typeface="+mn-ea"/>
                <a:sym typeface="+mn-lt"/>
              </a:rPr>
              <a:t>压</a:t>
            </a:r>
            <a:r>
              <a:rPr kumimoji="0" lang="zh-CN" sz="1800" b="0" i="0" u="none" strike="noStrike" kern="1200" cap="none" spc="0" normalizeH="0" baseline="0" noProof="0" dirty="0">
                <a:ln>
                  <a:noFill/>
                </a:ln>
                <a:solidFill>
                  <a:schemeClr val="tx1"/>
                </a:solidFill>
                <a:effectLst/>
                <a:uLnTx/>
                <a:uFillTx/>
                <a:latin typeface="+mn-lt"/>
                <a:ea typeface="+mn-ea"/>
                <a:cs typeface="+mn-ea"/>
                <a:sym typeface="+mn-lt"/>
              </a:rPr>
              <a:t>入</a:t>
            </a:r>
            <a:r>
              <a:rPr kumimoji="0" sz="1800" b="0" i="0" u="none" strike="noStrike" kern="1200" cap="none" spc="0" normalizeH="0" baseline="0" noProof="0" dirty="0">
                <a:ln>
                  <a:noFill/>
                </a:ln>
                <a:solidFill>
                  <a:schemeClr val="tx1"/>
                </a:solidFill>
                <a:effectLst/>
                <a:uLnTx/>
                <a:uFillTx/>
                <a:latin typeface="+mn-lt"/>
                <a:ea typeface="+mn-ea"/>
                <a:cs typeface="+mn-ea"/>
                <a:sym typeface="+mn-lt"/>
              </a:rPr>
              <a:t>栈S中。</a:t>
            </a:r>
          </a:p>
          <a:p>
            <a:pPr marL="596900" lvl="0" indent="-342900">
              <a:lnSpc>
                <a:spcPct val="125000"/>
              </a:lnSpc>
              <a:spcBef>
                <a:spcPct val="20000"/>
              </a:spcBef>
              <a:buFont typeface="Wingdings" panose="05000000000000000000" charset="0"/>
              <a:buChar char="l"/>
              <a:defRPr/>
            </a:pPr>
            <a:r>
              <a:rPr kumimoji="0" sz="1800" b="0" i="0" u="none" strike="noStrike" kern="1200" cap="none" spc="0" normalizeH="0" baseline="0" noProof="0" dirty="0">
                <a:ln>
                  <a:noFill/>
                </a:ln>
                <a:solidFill>
                  <a:schemeClr val="tx1"/>
                </a:solidFill>
                <a:effectLst/>
                <a:uLnTx/>
                <a:uFillTx/>
                <a:latin typeface="+mn-lt"/>
                <a:ea typeface="+mn-ea"/>
                <a:cs typeface="+mn-ea"/>
                <a:sym typeface="+mn-lt"/>
              </a:rPr>
              <a:t>重复执行，</a:t>
            </a:r>
            <a:r>
              <a:rPr kumimoji="0" lang="zh-CN" sz="1800" b="0" i="0" u="none" strike="noStrike" kern="1200" cap="none" spc="0" normalizeH="0" baseline="0" noProof="0" dirty="0">
                <a:ln>
                  <a:noFill/>
                </a:ln>
                <a:solidFill>
                  <a:schemeClr val="tx1"/>
                </a:solidFill>
                <a:effectLst/>
                <a:uLnTx/>
                <a:uFillTx/>
                <a:latin typeface="+mn-lt"/>
                <a:ea typeface="+mn-ea"/>
                <a:cs typeface="+mn-ea"/>
                <a:sym typeface="+mn-lt"/>
              </a:rPr>
              <a:t>直到表达式扫描完毕，</a:t>
            </a:r>
            <a:r>
              <a:rPr lang="zh-CN" altLang="en-US" sz="1800" b="0" dirty="0">
                <a:latin typeface="+mn-lt"/>
                <a:ea typeface="+mn-ea"/>
                <a:cs typeface="+mn-ea"/>
                <a:sym typeface="+mn-lt"/>
              </a:rPr>
              <a:t>最后输出栈顶的数值即为表达式的结果。</a:t>
            </a:r>
            <a:endParaRPr kumimoji="0" lang="zh-CN" sz="18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50535" name="Rectangle 154"/>
          <p:cNvSpPr txBox="1"/>
          <p:nvPr/>
        </p:nvSpPr>
        <p:spPr>
          <a:xfrm>
            <a:off x="827088" y="188913"/>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后缀表达式求值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59814">
                                            <p:txEl>
                                              <p:pRg st="0" end="0"/>
                                            </p:txEl>
                                          </p:spTgt>
                                        </p:tgtEl>
                                        <p:attrNameLst>
                                          <p:attrName>style.visibility</p:attrName>
                                        </p:attrNameLst>
                                      </p:cBhvr>
                                      <p:to>
                                        <p:strVal val="visible"/>
                                      </p:to>
                                    </p:set>
                                    <p:animEffect transition="in" filter="box(in)">
                                      <p:cBhvr>
                                        <p:cTn id="7" dur="500"/>
                                        <p:tgtEl>
                                          <p:spTgt spid="7598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59814">
                                            <p:txEl>
                                              <p:pRg st="1" end="1"/>
                                            </p:txEl>
                                          </p:spTgt>
                                        </p:tgtEl>
                                        <p:attrNameLst>
                                          <p:attrName>style.visibility</p:attrName>
                                        </p:attrNameLst>
                                      </p:cBhvr>
                                      <p:to>
                                        <p:strVal val="visible"/>
                                      </p:to>
                                    </p:set>
                                    <p:animEffect transition="in" filter="box(in)">
                                      <p:cBhvr>
                                        <p:cTn id="12" dur="500"/>
                                        <p:tgtEl>
                                          <p:spTgt spid="7598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59814">
                                            <p:txEl>
                                              <p:pRg st="2" end="2"/>
                                            </p:txEl>
                                          </p:spTgt>
                                        </p:tgtEl>
                                        <p:attrNameLst>
                                          <p:attrName>style.visibility</p:attrName>
                                        </p:attrNameLst>
                                      </p:cBhvr>
                                      <p:to>
                                        <p:strVal val="visible"/>
                                      </p:to>
                                    </p:set>
                                    <p:animEffect transition="in" filter="box(in)">
                                      <p:cBhvr>
                                        <p:cTn id="17" dur="500"/>
                                        <p:tgtEl>
                                          <p:spTgt spid="7598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59814">
                                            <p:txEl>
                                              <p:pRg st="3" end="3"/>
                                            </p:txEl>
                                          </p:spTgt>
                                        </p:tgtEl>
                                        <p:attrNameLst>
                                          <p:attrName>style.visibility</p:attrName>
                                        </p:attrNameLst>
                                      </p:cBhvr>
                                      <p:to>
                                        <p:strVal val="visible"/>
                                      </p:to>
                                    </p:set>
                                    <p:animEffect transition="in" filter="box(in)">
                                      <p:cBhvr>
                                        <p:cTn id="22" dur="500"/>
                                        <p:tgtEl>
                                          <p:spTgt spid="7598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9814" grpId="0" build="p"/>
    </p:bldLst>
  </p:timing>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39267" name="表格 139266"/>
          <p:cNvGraphicFramePr/>
          <p:nvPr/>
        </p:nvGraphicFramePr>
        <p:xfrm>
          <a:off x="617538" y="849313"/>
          <a:ext cx="7929564" cy="5945185"/>
        </p:xfrm>
        <a:graphic>
          <a:graphicData uri="http://schemas.openxmlformats.org/drawingml/2006/table">
            <a:tbl>
              <a:tblPr/>
              <a:tblGrid>
                <a:gridCol w="779710"/>
                <a:gridCol w="839920"/>
                <a:gridCol w="758637"/>
                <a:gridCol w="794763"/>
                <a:gridCol w="791752"/>
                <a:gridCol w="793258"/>
                <a:gridCol w="794763"/>
                <a:gridCol w="791752"/>
                <a:gridCol w="791752"/>
                <a:gridCol w="793257"/>
              </a:tblGrid>
              <a:tr h="614086">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dirty="0">
                        <a:latin typeface="+mn-lt"/>
                        <a:ea typeface="+mn-ea"/>
                        <a:cs typeface="+mn-ea"/>
                        <a:sym typeface="+mn-lt"/>
                      </a:endParaRPr>
                    </a:p>
                  </a:txBody>
                  <a:tcPr marL="86701" marR="86701" marT="43348" marB="43348">
                    <a:lnL w="38100" cap="flat" cmpd="sng">
                      <a:solidFill>
                        <a:srgbClr val="FF9933"/>
                      </a:solidFill>
                      <a:prstDash val="solid"/>
                      <a:round/>
                      <a:headEnd type="none" w="med" len="med"/>
                      <a:tailEnd type="none" w="med" len="med"/>
                    </a:lnL>
                    <a:lnR w="19050" cap="flat" cmpd="sng">
                      <a:solidFill>
                        <a:srgbClr val="000000"/>
                      </a:solidFill>
                      <a:prstDash val="solid"/>
                      <a:round/>
                      <a:headEnd type="none" w="med" len="med"/>
                      <a:tailEnd type="none" w="med" len="med"/>
                    </a:lnR>
                    <a:lnT w="38100" cap="flat" cmpd="sng">
                      <a:solidFill>
                        <a:srgbClr val="FF9933"/>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38100" cap="flat" cmpd="sng">
                      <a:solidFill>
                        <a:srgbClr val="FF9933"/>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38100" cap="flat" cmpd="sng">
                      <a:solidFill>
                        <a:srgbClr val="FF9933"/>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38100" cap="flat" cmpd="sng">
                      <a:solidFill>
                        <a:srgbClr val="FF9933"/>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38100" cap="flat" cmpd="sng">
                      <a:solidFill>
                        <a:srgbClr val="FF9933"/>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38100" cap="flat" cmpd="sng">
                      <a:solidFill>
                        <a:srgbClr val="FF9933"/>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38100" cap="flat" cmpd="sng">
                      <a:solidFill>
                        <a:srgbClr val="FF9933"/>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38100" cap="flat" cmpd="sng">
                      <a:solidFill>
                        <a:srgbClr val="FF9933"/>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38100" cap="flat" cmpd="sng">
                      <a:solidFill>
                        <a:srgbClr val="FF9933"/>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76200" cap="flat" cmpd="sng">
                      <a:solidFill>
                        <a:srgbClr val="FF9933"/>
                      </a:solidFill>
                      <a:prstDash val="solid"/>
                      <a:round/>
                      <a:headEnd type="none" w="med" len="med"/>
                      <a:tailEnd type="none" w="med" len="med"/>
                    </a:lnR>
                    <a:lnT w="38100" cap="flat" cmpd="sng">
                      <a:solidFill>
                        <a:srgbClr val="FF9933"/>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r>
              <a:tr h="591509">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38100" cap="flat" cmpd="sng">
                      <a:solidFill>
                        <a:srgbClr val="FF9933"/>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76200" cap="flat" cmpd="sng">
                      <a:solidFill>
                        <a:srgbClr val="FF9933"/>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r>
              <a:tr h="593013">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38100" cap="flat" cmpd="sng">
                      <a:solidFill>
                        <a:srgbClr val="FF9933"/>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76200" cap="flat" cmpd="sng">
                      <a:solidFill>
                        <a:srgbClr val="FF9933"/>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r>
              <a:tr h="591508">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38100" cap="flat" cmpd="sng">
                      <a:solidFill>
                        <a:srgbClr val="FF9933"/>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76200" cap="flat" cmpd="sng">
                      <a:solidFill>
                        <a:srgbClr val="FF9933"/>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r>
              <a:tr h="593013">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38100" cap="flat" cmpd="sng">
                      <a:solidFill>
                        <a:srgbClr val="FF9933"/>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dirty="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76200" cap="flat" cmpd="sng">
                      <a:solidFill>
                        <a:srgbClr val="FF9933"/>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r>
              <a:tr h="591509">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38100" cap="flat" cmpd="sng">
                      <a:solidFill>
                        <a:srgbClr val="FF9933"/>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dirty="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76200" cap="flat" cmpd="sng">
                      <a:solidFill>
                        <a:srgbClr val="FF9933"/>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r>
              <a:tr h="593013">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38100" cap="flat" cmpd="sng">
                      <a:solidFill>
                        <a:srgbClr val="FF9933"/>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dirty="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76200" cap="flat" cmpd="sng">
                      <a:solidFill>
                        <a:srgbClr val="FF9933"/>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r>
              <a:tr h="591508">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38100" cap="flat" cmpd="sng">
                      <a:solidFill>
                        <a:srgbClr val="FF9933"/>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76200" cap="flat" cmpd="sng">
                      <a:solidFill>
                        <a:srgbClr val="FF9933"/>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r>
              <a:tr h="593013">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38100" cap="flat" cmpd="sng">
                      <a:solidFill>
                        <a:srgbClr val="FF9933"/>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76200" cap="flat" cmpd="sng">
                      <a:solidFill>
                        <a:srgbClr val="FF9933"/>
                      </a:solidFill>
                      <a:prstDash val="solid"/>
                      <a:round/>
                      <a:headEnd type="none" w="med" len="med"/>
                      <a:tailEnd type="none" w="med" len="med"/>
                    </a:lnR>
                    <a:lnT w="19050" cap="flat" cmpd="sng">
                      <a:solidFill>
                        <a:srgbClr val="000000"/>
                      </a:solidFill>
                      <a:prstDash val="solid"/>
                      <a:round/>
                      <a:headEnd type="none" w="med" len="med"/>
                      <a:tailEnd type="none" w="med" len="med"/>
                    </a:lnT>
                    <a:lnB w="19050" cap="flat" cmpd="sng">
                      <a:solidFill>
                        <a:srgbClr val="000000"/>
                      </a:solidFill>
                      <a:prstDash val="solid"/>
                      <a:round/>
                      <a:headEnd type="none" w="med" len="med"/>
                      <a:tailEnd type="none" w="med" len="med"/>
                    </a:lnB>
                    <a:lnTlToBr>
                      <a:noFill/>
                    </a:lnTlToBr>
                    <a:lnBlToTr>
                      <a:noFill/>
                    </a:lnBlToTr>
                    <a:blipFill rotWithShape="0">
                      <a:blip r:embed="rId2"/>
                    </a:blipFill>
                  </a:tcPr>
                </a:tc>
              </a:tr>
              <a:tr h="593013">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38100" cap="flat" cmpd="sng">
                      <a:solidFill>
                        <a:srgbClr val="FF9933"/>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76200" cap="flat" cmpd="sng">
                      <a:solidFill>
                        <a:srgbClr val="FF9933"/>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76200" cap="flat" cmpd="sng">
                      <a:solidFill>
                        <a:srgbClr val="FF9933"/>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76200" cap="flat" cmpd="sng">
                      <a:solidFill>
                        <a:srgbClr val="FF9933"/>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76200" cap="flat" cmpd="sng">
                      <a:solidFill>
                        <a:srgbClr val="FF9933"/>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76200" cap="flat" cmpd="sng">
                      <a:solidFill>
                        <a:srgbClr val="FF9933"/>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76200" cap="flat" cmpd="sng">
                      <a:solidFill>
                        <a:srgbClr val="FF9933"/>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76200" cap="flat" cmpd="sng">
                      <a:solidFill>
                        <a:srgbClr val="FF9933"/>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76200" cap="flat" cmpd="sng">
                      <a:solidFill>
                        <a:srgbClr val="FF9933"/>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19050" cap="flat" cmpd="sng">
                      <a:solidFill>
                        <a:srgbClr val="000000"/>
                      </a:solidFill>
                      <a:prstDash val="solid"/>
                      <a:round/>
                      <a:headEnd type="none" w="med" len="med"/>
                      <a:tailEnd type="none" w="med" len="med"/>
                    </a:lnR>
                    <a:lnT w="19050" cap="flat" cmpd="sng">
                      <a:solidFill>
                        <a:srgbClr val="000000"/>
                      </a:solidFill>
                      <a:prstDash val="solid"/>
                      <a:round/>
                      <a:headEnd type="none" w="med" len="med"/>
                      <a:tailEnd type="none" w="med" len="med"/>
                    </a:lnT>
                    <a:lnB w="76200" cap="flat" cmpd="sng">
                      <a:solidFill>
                        <a:srgbClr val="FF9933"/>
                      </a:solidFill>
                      <a:prstDash val="solid"/>
                      <a:round/>
                      <a:headEnd type="none" w="med" len="med"/>
                      <a:tailEnd type="none" w="med" len="med"/>
                    </a:lnB>
                    <a:lnTlToBr>
                      <a:noFill/>
                    </a:lnTlToBr>
                    <a:lnBlToTr>
                      <a:noFill/>
                    </a:lnBlToTr>
                    <a:blipFill rotWithShape="0">
                      <a:blip r:embed="rId2"/>
                    </a:blip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indent="0" defTabSz="914400" eaLnBrk="0" hangingPunct="0">
                        <a:buNone/>
                      </a:pPr>
                      <a:endParaRPr lang="zh-CN" altLang="zh-CN" sz="2700" b="0" dirty="0">
                        <a:latin typeface="+mn-lt"/>
                        <a:ea typeface="+mn-ea"/>
                        <a:cs typeface="+mn-ea"/>
                        <a:sym typeface="+mn-lt"/>
                      </a:endParaRPr>
                    </a:p>
                  </a:txBody>
                  <a:tcPr marL="86701" marR="86701" marT="43348" marB="43348">
                    <a:lnL w="19050" cap="flat" cmpd="sng">
                      <a:solidFill>
                        <a:srgbClr val="000000"/>
                      </a:solidFill>
                      <a:prstDash val="solid"/>
                      <a:round/>
                      <a:headEnd type="none" w="med" len="med"/>
                      <a:tailEnd type="none" w="med" len="med"/>
                    </a:lnL>
                    <a:lnR w="76200" cap="flat" cmpd="sng">
                      <a:solidFill>
                        <a:srgbClr val="FF9933"/>
                      </a:solidFill>
                      <a:prstDash val="solid"/>
                      <a:round/>
                      <a:headEnd type="none" w="med" len="med"/>
                      <a:tailEnd type="none" w="med" len="med"/>
                    </a:lnR>
                    <a:lnT w="19050" cap="flat" cmpd="sng">
                      <a:solidFill>
                        <a:srgbClr val="000000"/>
                      </a:solidFill>
                      <a:prstDash val="solid"/>
                      <a:round/>
                      <a:headEnd type="none" w="med" len="med"/>
                      <a:tailEnd type="none" w="med" len="med"/>
                    </a:lnT>
                    <a:lnB w="76200" cap="flat" cmpd="sng">
                      <a:solidFill>
                        <a:srgbClr val="FF9933"/>
                      </a:solidFill>
                      <a:prstDash val="solid"/>
                      <a:round/>
                      <a:headEnd type="none" w="med" len="med"/>
                      <a:tailEnd type="none" w="med" len="med"/>
                    </a:lnB>
                    <a:lnTlToBr>
                      <a:noFill/>
                    </a:lnTlToBr>
                    <a:lnBlToTr>
                      <a:noFill/>
                    </a:lnBlToTr>
                    <a:blipFill rotWithShape="0">
                      <a:blip r:embed="rId2"/>
                    </a:blipFill>
                  </a:tcPr>
                </a:tc>
              </a:tr>
            </a:tbl>
          </a:graphicData>
        </a:graphic>
      </p:graphicFrame>
      <p:pic>
        <p:nvPicPr>
          <p:cNvPr id="558355" name="Picture 275"/>
          <p:cNvPicPr>
            <a:picLocks noChangeAspect="1"/>
          </p:cNvPicPr>
          <p:nvPr/>
        </p:nvPicPr>
        <p:blipFill>
          <a:blip r:embed="rId3"/>
          <a:stretch>
            <a:fillRect/>
          </a:stretch>
        </p:blipFill>
        <p:spPr>
          <a:xfrm>
            <a:off x="1395413" y="1563688"/>
            <a:ext cx="457200" cy="571500"/>
          </a:xfrm>
          <a:prstGeom prst="rect">
            <a:avLst/>
          </a:prstGeom>
          <a:noFill/>
          <a:ln w="25400">
            <a:noFill/>
          </a:ln>
        </p:spPr>
      </p:pic>
      <p:pic>
        <p:nvPicPr>
          <p:cNvPr id="558356" name="Picture 276"/>
          <p:cNvPicPr>
            <a:picLocks noChangeAspect="1"/>
          </p:cNvPicPr>
          <p:nvPr/>
        </p:nvPicPr>
        <p:blipFill>
          <a:blip r:embed="rId4"/>
          <a:stretch>
            <a:fillRect/>
          </a:stretch>
        </p:blipFill>
        <p:spPr>
          <a:xfrm>
            <a:off x="1779588" y="1635125"/>
            <a:ext cx="584200" cy="469900"/>
          </a:xfrm>
          <a:prstGeom prst="rect">
            <a:avLst/>
          </a:prstGeom>
          <a:noFill/>
          <a:ln w="25400">
            <a:noFill/>
          </a:ln>
        </p:spPr>
      </p:pic>
      <p:pic>
        <p:nvPicPr>
          <p:cNvPr id="558357" name="Picture 277"/>
          <p:cNvPicPr>
            <a:picLocks noChangeAspect="1"/>
          </p:cNvPicPr>
          <p:nvPr/>
        </p:nvPicPr>
        <p:blipFill>
          <a:blip r:embed="rId5"/>
          <a:stretch>
            <a:fillRect/>
          </a:stretch>
        </p:blipFill>
        <p:spPr>
          <a:xfrm>
            <a:off x="2500313" y="1563688"/>
            <a:ext cx="444500" cy="533400"/>
          </a:xfrm>
          <a:prstGeom prst="rect">
            <a:avLst/>
          </a:prstGeom>
          <a:noFill/>
          <a:ln w="25400">
            <a:noFill/>
          </a:ln>
        </p:spPr>
      </p:pic>
      <p:pic>
        <p:nvPicPr>
          <p:cNvPr id="558358" name="Picture 278"/>
          <p:cNvPicPr>
            <a:picLocks noChangeAspect="1"/>
          </p:cNvPicPr>
          <p:nvPr/>
        </p:nvPicPr>
        <p:blipFill>
          <a:blip r:embed="rId6"/>
          <a:stretch>
            <a:fillRect/>
          </a:stretch>
        </p:blipFill>
        <p:spPr>
          <a:xfrm>
            <a:off x="2428875" y="2781300"/>
            <a:ext cx="584200" cy="469900"/>
          </a:xfrm>
          <a:prstGeom prst="rect">
            <a:avLst/>
          </a:prstGeom>
          <a:noFill/>
          <a:ln w="25400">
            <a:noFill/>
          </a:ln>
        </p:spPr>
      </p:pic>
      <p:pic>
        <p:nvPicPr>
          <p:cNvPr id="558359" name="Picture 279"/>
          <p:cNvPicPr>
            <a:picLocks noChangeAspect="1"/>
          </p:cNvPicPr>
          <p:nvPr/>
        </p:nvPicPr>
        <p:blipFill>
          <a:blip r:embed="rId7"/>
          <a:stretch>
            <a:fillRect/>
          </a:stretch>
        </p:blipFill>
        <p:spPr>
          <a:xfrm>
            <a:off x="4076700" y="2779713"/>
            <a:ext cx="406400" cy="431800"/>
          </a:xfrm>
          <a:prstGeom prst="rect">
            <a:avLst/>
          </a:prstGeom>
          <a:noFill/>
          <a:ln w="25400">
            <a:noFill/>
          </a:ln>
        </p:spPr>
      </p:pic>
      <p:pic>
        <p:nvPicPr>
          <p:cNvPr id="558360" name="Picture 280"/>
          <p:cNvPicPr>
            <a:picLocks noChangeAspect="1"/>
          </p:cNvPicPr>
          <p:nvPr/>
        </p:nvPicPr>
        <p:blipFill>
          <a:blip r:embed="rId8"/>
          <a:stretch>
            <a:fillRect/>
          </a:stretch>
        </p:blipFill>
        <p:spPr>
          <a:xfrm>
            <a:off x="4003675" y="2132013"/>
            <a:ext cx="584200" cy="469900"/>
          </a:xfrm>
          <a:prstGeom prst="rect">
            <a:avLst/>
          </a:prstGeom>
          <a:noFill/>
          <a:ln w="25400">
            <a:noFill/>
          </a:ln>
        </p:spPr>
      </p:pic>
      <p:pic>
        <p:nvPicPr>
          <p:cNvPr id="558361" name="Picture 281"/>
          <p:cNvPicPr>
            <a:picLocks noChangeAspect="1"/>
          </p:cNvPicPr>
          <p:nvPr/>
        </p:nvPicPr>
        <p:blipFill>
          <a:blip r:embed="rId9"/>
          <a:stretch>
            <a:fillRect/>
          </a:stretch>
        </p:blipFill>
        <p:spPr>
          <a:xfrm>
            <a:off x="5757863" y="2132013"/>
            <a:ext cx="406400" cy="431800"/>
          </a:xfrm>
          <a:prstGeom prst="rect">
            <a:avLst/>
          </a:prstGeom>
          <a:noFill/>
          <a:ln w="25400">
            <a:noFill/>
          </a:ln>
        </p:spPr>
      </p:pic>
      <p:pic>
        <p:nvPicPr>
          <p:cNvPr id="558362" name="Picture 282"/>
          <p:cNvPicPr>
            <a:picLocks noChangeAspect="1"/>
          </p:cNvPicPr>
          <p:nvPr/>
        </p:nvPicPr>
        <p:blipFill>
          <a:blip r:embed="rId10"/>
          <a:stretch>
            <a:fillRect/>
          </a:stretch>
        </p:blipFill>
        <p:spPr>
          <a:xfrm>
            <a:off x="5659438" y="1484313"/>
            <a:ext cx="571500" cy="533400"/>
          </a:xfrm>
          <a:prstGeom prst="rect">
            <a:avLst/>
          </a:prstGeom>
          <a:noFill/>
          <a:ln w="25400">
            <a:noFill/>
          </a:ln>
        </p:spPr>
      </p:pic>
      <p:pic>
        <p:nvPicPr>
          <p:cNvPr id="558363" name="Picture 283"/>
          <p:cNvPicPr>
            <a:picLocks noChangeAspect="1"/>
          </p:cNvPicPr>
          <p:nvPr/>
        </p:nvPicPr>
        <p:blipFill>
          <a:blip r:embed="rId8"/>
          <a:stretch>
            <a:fillRect/>
          </a:stretch>
        </p:blipFill>
        <p:spPr>
          <a:xfrm>
            <a:off x="3779838" y="1512888"/>
            <a:ext cx="584200" cy="469900"/>
          </a:xfrm>
          <a:prstGeom prst="rect">
            <a:avLst/>
          </a:prstGeom>
          <a:noFill/>
          <a:ln w="25400">
            <a:noFill/>
          </a:ln>
        </p:spPr>
      </p:pic>
      <p:pic>
        <p:nvPicPr>
          <p:cNvPr id="558364" name="Picture 284"/>
          <p:cNvPicPr>
            <a:picLocks noChangeAspect="1"/>
          </p:cNvPicPr>
          <p:nvPr/>
        </p:nvPicPr>
        <p:blipFill>
          <a:blip r:embed="rId5"/>
          <a:stretch>
            <a:fillRect/>
          </a:stretch>
        </p:blipFill>
        <p:spPr>
          <a:xfrm>
            <a:off x="5588000" y="1484313"/>
            <a:ext cx="444500" cy="533400"/>
          </a:xfrm>
          <a:prstGeom prst="rect">
            <a:avLst/>
          </a:prstGeom>
          <a:noFill/>
          <a:ln w="25400">
            <a:noFill/>
          </a:ln>
        </p:spPr>
      </p:pic>
      <p:pic>
        <p:nvPicPr>
          <p:cNvPr id="558365" name="Picture 285"/>
          <p:cNvPicPr>
            <a:picLocks noChangeAspect="1"/>
          </p:cNvPicPr>
          <p:nvPr/>
        </p:nvPicPr>
        <p:blipFill>
          <a:blip r:embed="rId11"/>
          <a:stretch>
            <a:fillRect/>
          </a:stretch>
        </p:blipFill>
        <p:spPr>
          <a:xfrm>
            <a:off x="5592763" y="2030413"/>
            <a:ext cx="571500" cy="533400"/>
          </a:xfrm>
          <a:prstGeom prst="rect">
            <a:avLst/>
          </a:prstGeom>
          <a:noFill/>
          <a:ln w="25400">
            <a:noFill/>
          </a:ln>
        </p:spPr>
      </p:pic>
      <p:pic>
        <p:nvPicPr>
          <p:cNvPr id="558366" name="Picture 286"/>
          <p:cNvPicPr>
            <a:picLocks noChangeAspect="1"/>
          </p:cNvPicPr>
          <p:nvPr/>
        </p:nvPicPr>
        <p:blipFill>
          <a:blip r:embed="rId5"/>
          <a:stretch>
            <a:fillRect/>
          </a:stretch>
        </p:blipFill>
        <p:spPr>
          <a:xfrm>
            <a:off x="4076700" y="2054225"/>
            <a:ext cx="444500" cy="533400"/>
          </a:xfrm>
          <a:prstGeom prst="rect">
            <a:avLst/>
          </a:prstGeom>
          <a:noFill/>
          <a:ln w="25400">
            <a:noFill/>
          </a:ln>
        </p:spPr>
      </p:pic>
      <p:pic>
        <p:nvPicPr>
          <p:cNvPr id="558367" name="Picture 287"/>
          <p:cNvPicPr>
            <a:picLocks noChangeAspect="1"/>
          </p:cNvPicPr>
          <p:nvPr/>
        </p:nvPicPr>
        <p:blipFill>
          <a:blip r:embed="rId11"/>
          <a:stretch>
            <a:fillRect/>
          </a:stretch>
        </p:blipFill>
        <p:spPr>
          <a:xfrm>
            <a:off x="4003675" y="2708275"/>
            <a:ext cx="571500" cy="533400"/>
          </a:xfrm>
          <a:prstGeom prst="rect">
            <a:avLst/>
          </a:prstGeom>
          <a:noFill/>
          <a:ln w="25400">
            <a:noFill/>
          </a:ln>
        </p:spPr>
      </p:pic>
      <p:pic>
        <p:nvPicPr>
          <p:cNvPr id="558368" name="Picture 288"/>
          <p:cNvPicPr>
            <a:picLocks noChangeAspect="1"/>
          </p:cNvPicPr>
          <p:nvPr/>
        </p:nvPicPr>
        <p:blipFill>
          <a:blip r:embed="rId5"/>
          <a:stretch>
            <a:fillRect/>
          </a:stretch>
        </p:blipFill>
        <p:spPr>
          <a:xfrm>
            <a:off x="1624013" y="2708275"/>
            <a:ext cx="444500" cy="533400"/>
          </a:xfrm>
          <a:prstGeom prst="rect">
            <a:avLst/>
          </a:prstGeom>
          <a:noFill/>
          <a:ln w="25400">
            <a:noFill/>
          </a:ln>
        </p:spPr>
      </p:pic>
      <p:pic>
        <p:nvPicPr>
          <p:cNvPr id="558369" name="Picture 289"/>
          <p:cNvPicPr>
            <a:picLocks noChangeAspect="1"/>
          </p:cNvPicPr>
          <p:nvPr/>
        </p:nvPicPr>
        <p:blipFill>
          <a:blip r:embed="rId6"/>
          <a:stretch>
            <a:fillRect/>
          </a:stretch>
        </p:blipFill>
        <p:spPr>
          <a:xfrm>
            <a:off x="1476375" y="3895725"/>
            <a:ext cx="584200" cy="469900"/>
          </a:xfrm>
          <a:prstGeom prst="rect">
            <a:avLst/>
          </a:prstGeom>
          <a:noFill/>
          <a:ln w="25400">
            <a:noFill/>
          </a:ln>
        </p:spPr>
      </p:pic>
      <p:pic>
        <p:nvPicPr>
          <p:cNvPr id="558370" name="Picture 290"/>
          <p:cNvPicPr>
            <a:picLocks noChangeAspect="1"/>
          </p:cNvPicPr>
          <p:nvPr/>
        </p:nvPicPr>
        <p:blipFill>
          <a:blip r:embed="rId5"/>
          <a:stretch>
            <a:fillRect/>
          </a:stretch>
        </p:blipFill>
        <p:spPr>
          <a:xfrm>
            <a:off x="3263900" y="3860800"/>
            <a:ext cx="444500" cy="533400"/>
          </a:xfrm>
          <a:prstGeom prst="rect">
            <a:avLst/>
          </a:prstGeom>
          <a:noFill/>
          <a:ln w="25400">
            <a:noFill/>
          </a:ln>
        </p:spPr>
      </p:pic>
      <p:pic>
        <p:nvPicPr>
          <p:cNvPr id="558371" name="Picture 291"/>
          <p:cNvPicPr>
            <a:picLocks noChangeAspect="1"/>
          </p:cNvPicPr>
          <p:nvPr/>
        </p:nvPicPr>
        <p:blipFill>
          <a:blip r:embed="rId6"/>
          <a:stretch>
            <a:fillRect/>
          </a:stretch>
        </p:blipFill>
        <p:spPr>
          <a:xfrm>
            <a:off x="3124200" y="4581525"/>
            <a:ext cx="584200" cy="469900"/>
          </a:xfrm>
          <a:prstGeom prst="rect">
            <a:avLst/>
          </a:prstGeom>
          <a:noFill/>
          <a:ln w="25400">
            <a:noFill/>
          </a:ln>
        </p:spPr>
      </p:pic>
      <p:pic>
        <p:nvPicPr>
          <p:cNvPr id="558372" name="Picture 292"/>
          <p:cNvPicPr>
            <a:picLocks noChangeAspect="1"/>
          </p:cNvPicPr>
          <p:nvPr/>
        </p:nvPicPr>
        <p:blipFill>
          <a:blip r:embed="rId5"/>
          <a:stretch>
            <a:fillRect/>
          </a:stretch>
        </p:blipFill>
        <p:spPr>
          <a:xfrm>
            <a:off x="4908550" y="4475163"/>
            <a:ext cx="444500" cy="533400"/>
          </a:xfrm>
          <a:prstGeom prst="rect">
            <a:avLst/>
          </a:prstGeom>
          <a:noFill/>
          <a:ln w="25400">
            <a:noFill/>
          </a:ln>
        </p:spPr>
      </p:pic>
      <p:pic>
        <p:nvPicPr>
          <p:cNvPr id="558373" name="Picture 293"/>
          <p:cNvPicPr>
            <a:picLocks noChangeAspect="1"/>
          </p:cNvPicPr>
          <p:nvPr/>
        </p:nvPicPr>
        <p:blipFill>
          <a:blip r:embed="rId6"/>
          <a:stretch>
            <a:fillRect/>
          </a:stretch>
        </p:blipFill>
        <p:spPr>
          <a:xfrm>
            <a:off x="4822825" y="3860800"/>
            <a:ext cx="584200" cy="469900"/>
          </a:xfrm>
          <a:prstGeom prst="rect">
            <a:avLst/>
          </a:prstGeom>
          <a:noFill/>
          <a:ln w="25400">
            <a:noFill/>
          </a:ln>
        </p:spPr>
      </p:pic>
      <p:pic>
        <p:nvPicPr>
          <p:cNvPr id="558374" name="Picture 294"/>
          <p:cNvPicPr>
            <a:picLocks noChangeAspect="1"/>
          </p:cNvPicPr>
          <p:nvPr/>
        </p:nvPicPr>
        <p:blipFill>
          <a:blip r:embed="rId5"/>
          <a:stretch>
            <a:fillRect/>
          </a:stretch>
        </p:blipFill>
        <p:spPr>
          <a:xfrm>
            <a:off x="7150100" y="3754438"/>
            <a:ext cx="444500" cy="533400"/>
          </a:xfrm>
          <a:prstGeom prst="rect">
            <a:avLst/>
          </a:prstGeom>
          <a:noFill/>
          <a:ln w="25400">
            <a:noFill/>
          </a:ln>
        </p:spPr>
      </p:pic>
      <p:pic>
        <p:nvPicPr>
          <p:cNvPr id="558375" name="Picture 295"/>
          <p:cNvPicPr>
            <a:picLocks noChangeAspect="1"/>
          </p:cNvPicPr>
          <p:nvPr/>
        </p:nvPicPr>
        <p:blipFill>
          <a:blip r:embed="rId12"/>
          <a:stretch>
            <a:fillRect/>
          </a:stretch>
        </p:blipFill>
        <p:spPr>
          <a:xfrm>
            <a:off x="4911725" y="5145088"/>
            <a:ext cx="406400" cy="431800"/>
          </a:xfrm>
          <a:prstGeom prst="rect">
            <a:avLst/>
          </a:prstGeom>
          <a:noFill/>
          <a:ln w="25400">
            <a:noFill/>
          </a:ln>
        </p:spPr>
      </p:pic>
      <p:sp>
        <p:nvSpPr>
          <p:cNvPr id="558376" name="AutoShape 296"/>
          <p:cNvSpPr>
            <a:spLocks noChangeArrowheads="1"/>
          </p:cNvSpPr>
          <p:nvPr/>
        </p:nvSpPr>
        <p:spPr bwMode="auto">
          <a:xfrm>
            <a:off x="844550" y="1701800"/>
            <a:ext cx="358775" cy="360363"/>
          </a:xfrm>
          <a:prstGeom prst="rightArrow">
            <a:avLst>
              <a:gd name="adj1" fmla="val 50000"/>
              <a:gd name="adj2" fmla="val 25000"/>
            </a:avLst>
          </a:prstGeom>
          <a:solidFill>
            <a:srgbClr val="FFFF00"/>
          </a:solidFill>
          <a:ln w="25400">
            <a:solidFill>
              <a:srgbClr val="FFFF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77" name="AutoShape 297"/>
          <p:cNvSpPr>
            <a:spLocks noChangeArrowheads="1"/>
          </p:cNvSpPr>
          <p:nvPr/>
        </p:nvSpPr>
        <p:spPr bwMode="auto">
          <a:xfrm>
            <a:off x="7881938" y="5800725"/>
            <a:ext cx="358775" cy="360363"/>
          </a:xfrm>
          <a:prstGeom prst="rightArrow">
            <a:avLst>
              <a:gd name="adj1" fmla="val 50000"/>
              <a:gd name="adj2" fmla="val 25000"/>
            </a:avLst>
          </a:prstGeom>
          <a:solidFill>
            <a:srgbClr val="FFFF00"/>
          </a:solidFill>
          <a:ln w="25400">
            <a:solidFill>
              <a:srgbClr val="FFFF00"/>
            </a:solidFill>
            <a:miter lim="800000"/>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78" name="Line 298"/>
          <p:cNvSpPr>
            <a:spLocks noChangeShapeType="1"/>
          </p:cNvSpPr>
          <p:nvPr/>
        </p:nvSpPr>
        <p:spPr bwMode="auto">
          <a:xfrm>
            <a:off x="1347788" y="1917700"/>
            <a:ext cx="1296988"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79" name="Line 299"/>
          <p:cNvSpPr>
            <a:spLocks noChangeShapeType="1"/>
          </p:cNvSpPr>
          <p:nvPr/>
        </p:nvSpPr>
        <p:spPr bwMode="auto">
          <a:xfrm>
            <a:off x="2644775" y="1917700"/>
            <a:ext cx="1588" cy="1008063"/>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80" name="Line 300"/>
          <p:cNvSpPr>
            <a:spLocks noChangeShapeType="1"/>
          </p:cNvSpPr>
          <p:nvPr/>
        </p:nvSpPr>
        <p:spPr bwMode="auto">
          <a:xfrm>
            <a:off x="2644775" y="2925763"/>
            <a:ext cx="1339850"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81" name="Line 301"/>
          <p:cNvSpPr>
            <a:spLocks noChangeShapeType="1"/>
          </p:cNvSpPr>
          <p:nvPr/>
        </p:nvSpPr>
        <p:spPr bwMode="auto">
          <a:xfrm flipV="1">
            <a:off x="4003675" y="2198688"/>
            <a:ext cx="1588" cy="576263"/>
          </a:xfrm>
          <a:prstGeom prst="line">
            <a:avLst/>
          </a:prstGeom>
          <a:noFill/>
          <a:ln w="25400">
            <a:solidFill>
              <a:srgbClr val="FF0000"/>
            </a:solidFill>
            <a:round/>
            <a:tailEnd type="triangle" w="med" len="med"/>
          </a:ln>
          <a:effectLst>
            <a:outerShdw dist="35921" dir="2700000" sy="50000" kx="2115830" algn="bl" rotWithShape="0">
              <a:srgbClr val="C0C0C0"/>
            </a:outerShdw>
          </a:effectLst>
        </p:spPr>
        <p:txBody>
          <a:body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82" name="Line 302"/>
          <p:cNvSpPr>
            <a:spLocks noChangeShapeType="1"/>
          </p:cNvSpPr>
          <p:nvPr/>
        </p:nvSpPr>
        <p:spPr bwMode="auto">
          <a:xfrm>
            <a:off x="4003675" y="2198688"/>
            <a:ext cx="1655763"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83" name="Line 303"/>
          <p:cNvSpPr>
            <a:spLocks noChangeShapeType="1"/>
          </p:cNvSpPr>
          <p:nvPr/>
        </p:nvSpPr>
        <p:spPr bwMode="auto">
          <a:xfrm flipV="1">
            <a:off x="5659438" y="1911350"/>
            <a:ext cx="1588" cy="287338"/>
          </a:xfrm>
          <a:prstGeom prst="line">
            <a:avLst/>
          </a:prstGeom>
          <a:noFill/>
          <a:ln w="25400">
            <a:solidFill>
              <a:srgbClr val="FF0000"/>
            </a:solidFill>
            <a:round/>
            <a:tailEnd type="triangle" w="med" len="med"/>
          </a:ln>
          <a:effectLst>
            <a:outerShdw dist="35921" dir="2700000" sy="50000" kx="2115830" algn="bl" rotWithShape="0">
              <a:srgbClr val="C0C0C0"/>
            </a:outerShdw>
          </a:effectLst>
        </p:spPr>
        <p:txBody>
          <a:body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84" name="Line 304"/>
          <p:cNvSpPr>
            <a:spLocks noChangeShapeType="1"/>
          </p:cNvSpPr>
          <p:nvPr/>
        </p:nvSpPr>
        <p:spPr bwMode="auto">
          <a:xfrm flipH="1">
            <a:off x="4003675" y="1911350"/>
            <a:ext cx="1655763"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85" name="Line 305"/>
          <p:cNvSpPr>
            <a:spLocks noChangeShapeType="1"/>
          </p:cNvSpPr>
          <p:nvPr/>
        </p:nvSpPr>
        <p:spPr bwMode="auto">
          <a:xfrm>
            <a:off x="4003675" y="1766888"/>
            <a:ext cx="2016125"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86" name="Line 306"/>
          <p:cNvSpPr>
            <a:spLocks noChangeShapeType="1"/>
          </p:cNvSpPr>
          <p:nvPr/>
        </p:nvSpPr>
        <p:spPr bwMode="auto">
          <a:xfrm>
            <a:off x="6019800" y="1766888"/>
            <a:ext cx="1588" cy="647700"/>
          </a:xfrm>
          <a:prstGeom prst="line">
            <a:avLst/>
          </a:prstGeom>
          <a:noFill/>
          <a:ln w="25400">
            <a:solidFill>
              <a:srgbClr val="FF0000"/>
            </a:solidFill>
            <a:round/>
            <a:tailEnd type="triangle" w="med" len="med"/>
          </a:ln>
          <a:effectLst>
            <a:outerShdw dist="35921" dir="2700000" sy="50000" kx="2115830" algn="bl" rotWithShape="0">
              <a:srgbClr val="C0C0C0"/>
            </a:outerShdw>
          </a:effectLst>
        </p:spPr>
        <p:txBody>
          <a:body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87" name="Line 307"/>
          <p:cNvSpPr>
            <a:spLocks noChangeShapeType="1"/>
          </p:cNvSpPr>
          <p:nvPr/>
        </p:nvSpPr>
        <p:spPr bwMode="auto">
          <a:xfrm flipH="1">
            <a:off x="4292600" y="2414588"/>
            <a:ext cx="1727200"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88" name="Line 308"/>
          <p:cNvSpPr>
            <a:spLocks noChangeShapeType="1"/>
          </p:cNvSpPr>
          <p:nvPr/>
        </p:nvSpPr>
        <p:spPr bwMode="auto">
          <a:xfrm>
            <a:off x="4292600" y="2414588"/>
            <a:ext cx="1588" cy="576263"/>
          </a:xfrm>
          <a:prstGeom prst="line">
            <a:avLst/>
          </a:prstGeom>
          <a:noFill/>
          <a:ln w="25400">
            <a:solidFill>
              <a:srgbClr val="FF0000"/>
            </a:solidFill>
            <a:round/>
            <a:tailEnd type="triangle" w="med" len="med"/>
          </a:ln>
          <a:effectLst>
            <a:outerShdw dist="35921" dir="2700000" sy="50000" kx="2115830" algn="bl" rotWithShape="0">
              <a:srgbClr val="C0C0C0"/>
            </a:outerShdw>
          </a:effectLst>
        </p:spPr>
        <p:txBody>
          <a:body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89" name="Line 309"/>
          <p:cNvSpPr>
            <a:spLocks noChangeShapeType="1"/>
          </p:cNvSpPr>
          <p:nvPr/>
        </p:nvSpPr>
        <p:spPr bwMode="auto">
          <a:xfrm flipH="1" flipV="1">
            <a:off x="1779588" y="3143250"/>
            <a:ext cx="2205038" cy="30163"/>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90" name="Line 310"/>
          <p:cNvSpPr>
            <a:spLocks noChangeShapeType="1"/>
          </p:cNvSpPr>
          <p:nvPr/>
        </p:nvSpPr>
        <p:spPr bwMode="auto">
          <a:xfrm>
            <a:off x="1779588" y="3141663"/>
            <a:ext cx="0" cy="9413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91" name="Line 311"/>
          <p:cNvSpPr>
            <a:spLocks noChangeShapeType="1"/>
          </p:cNvSpPr>
          <p:nvPr/>
        </p:nvSpPr>
        <p:spPr bwMode="auto">
          <a:xfrm flipV="1">
            <a:off x="1779588" y="4144963"/>
            <a:ext cx="1425575" cy="4763"/>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92" name="Line 312"/>
          <p:cNvSpPr>
            <a:spLocks noChangeShapeType="1"/>
          </p:cNvSpPr>
          <p:nvPr/>
        </p:nvSpPr>
        <p:spPr bwMode="auto">
          <a:xfrm>
            <a:off x="3205163" y="4143375"/>
            <a:ext cx="1588" cy="6492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93" name="Line 313"/>
          <p:cNvSpPr>
            <a:spLocks noChangeShapeType="1"/>
          </p:cNvSpPr>
          <p:nvPr/>
        </p:nvSpPr>
        <p:spPr bwMode="auto">
          <a:xfrm>
            <a:off x="3205163" y="4792663"/>
            <a:ext cx="1584325"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94" name="Line 314"/>
          <p:cNvSpPr>
            <a:spLocks noChangeShapeType="1"/>
          </p:cNvSpPr>
          <p:nvPr/>
        </p:nvSpPr>
        <p:spPr bwMode="auto">
          <a:xfrm>
            <a:off x="4789488" y="4792663"/>
            <a:ext cx="1588" cy="71913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95" name="Line 315"/>
          <p:cNvSpPr>
            <a:spLocks noChangeShapeType="1"/>
          </p:cNvSpPr>
          <p:nvPr/>
        </p:nvSpPr>
        <p:spPr bwMode="auto">
          <a:xfrm>
            <a:off x="4789488" y="5511800"/>
            <a:ext cx="360363"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96" name="Line 316"/>
          <p:cNvSpPr>
            <a:spLocks noChangeShapeType="1"/>
          </p:cNvSpPr>
          <p:nvPr/>
        </p:nvSpPr>
        <p:spPr bwMode="auto">
          <a:xfrm flipV="1">
            <a:off x="5149850" y="4143375"/>
            <a:ext cx="1588" cy="1368425"/>
          </a:xfrm>
          <a:prstGeom prst="line">
            <a:avLst/>
          </a:prstGeom>
          <a:noFill/>
          <a:ln w="25400">
            <a:solidFill>
              <a:srgbClr val="FF0000"/>
            </a:solidFill>
            <a:round/>
            <a:tailEnd type="triangle" w="med" len="med"/>
          </a:ln>
          <a:effectLst>
            <a:outerShdw dist="35921" dir="2700000" sy="50000" kx="2115830" algn="bl" rotWithShape="0">
              <a:srgbClr val="C0C0C0"/>
            </a:outerShdw>
          </a:effectLst>
        </p:spPr>
        <p:txBody>
          <a:body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97" name="Line 317"/>
          <p:cNvSpPr>
            <a:spLocks noChangeShapeType="1"/>
          </p:cNvSpPr>
          <p:nvPr/>
        </p:nvSpPr>
        <p:spPr bwMode="auto">
          <a:xfrm>
            <a:off x="5149850" y="4143375"/>
            <a:ext cx="2085975" cy="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98" name="Line 318"/>
          <p:cNvSpPr>
            <a:spLocks noChangeShapeType="1"/>
          </p:cNvSpPr>
          <p:nvPr/>
        </p:nvSpPr>
        <p:spPr bwMode="auto">
          <a:xfrm>
            <a:off x="7378700" y="4143375"/>
            <a:ext cx="1588" cy="19446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399" name="Line 319"/>
          <p:cNvSpPr>
            <a:spLocks noChangeShapeType="1"/>
          </p:cNvSpPr>
          <p:nvPr/>
        </p:nvSpPr>
        <p:spPr bwMode="auto">
          <a:xfrm>
            <a:off x="7378700" y="6088063"/>
            <a:ext cx="360363"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558400" name="Line 320"/>
          <p:cNvSpPr>
            <a:spLocks noChangeShapeType="1"/>
          </p:cNvSpPr>
          <p:nvPr/>
        </p:nvSpPr>
        <p:spPr bwMode="auto">
          <a:xfrm flipH="1">
            <a:off x="4003675" y="1766888"/>
            <a:ext cx="1588" cy="144463"/>
          </a:xfrm>
          <a:prstGeom prst="line">
            <a:avLst/>
          </a:prstGeom>
          <a:noFill/>
          <a:ln w="25400">
            <a:solidFill>
              <a:srgbClr val="FF0000"/>
            </a:solidFill>
            <a:round/>
            <a:headEnd type="triangle" w="med" len="med"/>
          </a:ln>
          <a:effectLst>
            <a:outerShdw dist="35921" dir="2700000" sy="50000" kx="2115830" algn="bl" rotWithShape="0">
              <a:srgbClr val="C0C0C0"/>
            </a:outerShdw>
          </a:effectLst>
        </p:spPr>
        <p:txBody>
          <a:body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pic>
        <p:nvPicPr>
          <p:cNvPr id="558401" name="Picture 321"/>
          <p:cNvPicPr>
            <a:picLocks noChangeAspect="1"/>
          </p:cNvPicPr>
          <p:nvPr/>
        </p:nvPicPr>
        <p:blipFill>
          <a:blip r:embed="rId5"/>
          <a:stretch>
            <a:fillRect/>
          </a:stretch>
        </p:blipFill>
        <p:spPr>
          <a:xfrm>
            <a:off x="7169150" y="4483100"/>
            <a:ext cx="444500" cy="533400"/>
          </a:xfrm>
          <a:prstGeom prst="rect">
            <a:avLst/>
          </a:prstGeom>
          <a:noFill/>
          <a:ln w="25400">
            <a:noFill/>
          </a:ln>
        </p:spPr>
      </p:pic>
      <p:pic>
        <p:nvPicPr>
          <p:cNvPr id="558402" name="Picture 322"/>
          <p:cNvPicPr>
            <a:picLocks noChangeAspect="1"/>
          </p:cNvPicPr>
          <p:nvPr/>
        </p:nvPicPr>
        <p:blipFill>
          <a:blip r:embed="rId6"/>
          <a:stretch>
            <a:fillRect/>
          </a:stretch>
        </p:blipFill>
        <p:spPr>
          <a:xfrm>
            <a:off x="7092950" y="5656263"/>
            <a:ext cx="584200" cy="469900"/>
          </a:xfrm>
          <a:prstGeom prst="rect">
            <a:avLst/>
          </a:prstGeom>
          <a:noFill/>
          <a:ln w="25400">
            <a:noFill/>
          </a:ln>
        </p:spPr>
      </p:pic>
      <p:sp>
        <p:nvSpPr>
          <p:cNvPr id="53" name="Rectangle 6"/>
          <p:cNvSpPr>
            <a:spLocks noChangeArrowheads="1"/>
          </p:cNvSpPr>
          <p:nvPr/>
        </p:nvSpPr>
        <p:spPr bwMode="auto">
          <a:xfrm>
            <a:off x="754063" y="207963"/>
            <a:ext cx="27305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迷宫求解</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58377"/>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58376"/>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558355"/>
                                        </p:tgtEl>
                                        <p:attrNameLst>
                                          <p:attrName>style.visibility</p:attrName>
                                        </p:attrNameLst>
                                      </p:cBhvr>
                                      <p:to>
                                        <p:strVal val="visible"/>
                                      </p:to>
                                    </p:set>
                                  </p:childTnLst>
                                </p:cTn>
                              </p:par>
                            </p:childTnLst>
                          </p:cTn>
                        </p:par>
                        <p:par>
                          <p:cTn id="13" fill="hold">
                            <p:stCondLst>
                              <p:cond delay="1500"/>
                            </p:stCondLst>
                            <p:childTnLst>
                              <p:par>
                                <p:cTn id="14" presetID="9" presetClass="entr" presetSubtype="0" fill="hold" nodeType="afterEffect">
                                  <p:stCondLst>
                                    <p:cond delay="0"/>
                                  </p:stCondLst>
                                  <p:childTnLst>
                                    <p:set>
                                      <p:cBhvr>
                                        <p:cTn id="15" dur="1" fill="hold">
                                          <p:stCondLst>
                                            <p:cond delay="0"/>
                                          </p:stCondLst>
                                        </p:cTn>
                                        <p:tgtEl>
                                          <p:spTgt spid="558356"/>
                                        </p:tgtEl>
                                        <p:attrNameLst>
                                          <p:attrName>style.visibility</p:attrName>
                                        </p:attrNameLst>
                                      </p:cBhvr>
                                      <p:to>
                                        <p:strVal val="visible"/>
                                      </p:to>
                                    </p:set>
                                    <p:animEffect transition="in" filter="dissolve">
                                      <p:cBhvr>
                                        <p:cTn id="16" dur="500"/>
                                        <p:tgtEl>
                                          <p:spTgt spid="558356"/>
                                        </p:tgtEl>
                                      </p:cBhvr>
                                    </p:animEffect>
                                  </p:childTnLst>
                                </p:cTn>
                              </p:par>
                            </p:childTnLst>
                          </p:cTn>
                        </p:par>
                        <p:par>
                          <p:cTn id="17" fill="hold">
                            <p:stCondLst>
                              <p:cond delay="2000"/>
                            </p:stCondLst>
                            <p:childTnLst>
                              <p:par>
                                <p:cTn id="18" presetID="9" presetClass="entr" presetSubtype="0" fill="hold" nodeType="afterEffect">
                                  <p:stCondLst>
                                    <p:cond delay="0"/>
                                  </p:stCondLst>
                                  <p:childTnLst>
                                    <p:set>
                                      <p:cBhvr>
                                        <p:cTn id="19" dur="1" fill="hold">
                                          <p:stCondLst>
                                            <p:cond delay="0"/>
                                          </p:stCondLst>
                                        </p:cTn>
                                        <p:tgtEl>
                                          <p:spTgt spid="558357"/>
                                        </p:tgtEl>
                                        <p:attrNameLst>
                                          <p:attrName>style.visibility</p:attrName>
                                        </p:attrNameLst>
                                      </p:cBhvr>
                                      <p:to>
                                        <p:strVal val="visible"/>
                                      </p:to>
                                    </p:set>
                                    <p:animEffect transition="in" filter="dissolve">
                                      <p:cBhvr>
                                        <p:cTn id="20" dur="500"/>
                                        <p:tgtEl>
                                          <p:spTgt spid="558357"/>
                                        </p:tgtEl>
                                      </p:cBhvr>
                                    </p:animEffect>
                                  </p:childTnLst>
                                </p:cTn>
                              </p:par>
                            </p:childTnLst>
                          </p:cTn>
                        </p:par>
                        <p:par>
                          <p:cTn id="21" fill="hold">
                            <p:stCondLst>
                              <p:cond delay="2500"/>
                            </p:stCondLst>
                            <p:childTnLst>
                              <p:par>
                                <p:cTn id="22" presetID="9" presetClass="entr" presetSubtype="0" fill="hold" nodeType="afterEffect">
                                  <p:stCondLst>
                                    <p:cond delay="0"/>
                                  </p:stCondLst>
                                  <p:childTnLst>
                                    <p:set>
                                      <p:cBhvr>
                                        <p:cTn id="23" dur="1" fill="hold">
                                          <p:stCondLst>
                                            <p:cond delay="0"/>
                                          </p:stCondLst>
                                        </p:cTn>
                                        <p:tgtEl>
                                          <p:spTgt spid="558358"/>
                                        </p:tgtEl>
                                        <p:attrNameLst>
                                          <p:attrName>style.visibility</p:attrName>
                                        </p:attrNameLst>
                                      </p:cBhvr>
                                      <p:to>
                                        <p:strVal val="visible"/>
                                      </p:to>
                                    </p:set>
                                    <p:animEffect transition="in" filter="dissolve">
                                      <p:cBhvr>
                                        <p:cTn id="24" dur="500"/>
                                        <p:tgtEl>
                                          <p:spTgt spid="558358"/>
                                        </p:tgtEl>
                                      </p:cBhvr>
                                    </p:animEffect>
                                  </p:childTnLst>
                                </p:cTn>
                              </p:par>
                            </p:childTnLst>
                          </p:cTn>
                        </p:par>
                        <p:par>
                          <p:cTn id="25" fill="hold">
                            <p:stCondLst>
                              <p:cond delay="3000"/>
                            </p:stCondLst>
                            <p:childTnLst>
                              <p:par>
                                <p:cTn id="26" presetID="9" presetClass="entr" presetSubtype="0" fill="hold" nodeType="afterEffect">
                                  <p:stCondLst>
                                    <p:cond delay="0"/>
                                  </p:stCondLst>
                                  <p:childTnLst>
                                    <p:set>
                                      <p:cBhvr>
                                        <p:cTn id="27" dur="1" fill="hold">
                                          <p:stCondLst>
                                            <p:cond delay="0"/>
                                          </p:stCondLst>
                                        </p:cTn>
                                        <p:tgtEl>
                                          <p:spTgt spid="558359"/>
                                        </p:tgtEl>
                                        <p:attrNameLst>
                                          <p:attrName>style.visibility</p:attrName>
                                        </p:attrNameLst>
                                      </p:cBhvr>
                                      <p:to>
                                        <p:strVal val="visible"/>
                                      </p:to>
                                    </p:set>
                                    <p:animEffect transition="in" filter="dissolve">
                                      <p:cBhvr>
                                        <p:cTn id="28" dur="500"/>
                                        <p:tgtEl>
                                          <p:spTgt spid="558359"/>
                                        </p:tgtEl>
                                      </p:cBhvr>
                                    </p:animEffect>
                                  </p:childTnLst>
                                </p:cTn>
                              </p:par>
                            </p:childTnLst>
                          </p:cTn>
                        </p:par>
                        <p:par>
                          <p:cTn id="29" fill="hold">
                            <p:stCondLst>
                              <p:cond delay="3500"/>
                            </p:stCondLst>
                            <p:childTnLst>
                              <p:par>
                                <p:cTn id="30" presetID="1" presetClass="entr" presetSubtype="0" fill="hold" nodeType="afterEffect">
                                  <p:stCondLst>
                                    <p:cond delay="0"/>
                                  </p:stCondLst>
                                  <p:childTnLst>
                                    <p:set>
                                      <p:cBhvr>
                                        <p:cTn id="31" dur="1" fill="hold">
                                          <p:stCondLst>
                                            <p:cond delay="499"/>
                                          </p:stCondLst>
                                        </p:cTn>
                                        <p:tgtEl>
                                          <p:spTgt spid="558360"/>
                                        </p:tgtEl>
                                        <p:attrNameLst>
                                          <p:attrName>style.visibility</p:attrName>
                                        </p:attrNameLst>
                                      </p:cBhvr>
                                      <p:to>
                                        <p:strVal val="visible"/>
                                      </p:to>
                                    </p:set>
                                  </p:childTnLst>
                                </p:cTn>
                              </p:par>
                            </p:childTnLst>
                          </p:cTn>
                        </p:par>
                        <p:par>
                          <p:cTn id="32" fill="hold">
                            <p:stCondLst>
                              <p:cond delay="4000"/>
                            </p:stCondLst>
                            <p:childTnLst>
                              <p:par>
                                <p:cTn id="33" presetID="9" presetClass="entr" presetSubtype="0" fill="hold" nodeType="afterEffect">
                                  <p:stCondLst>
                                    <p:cond delay="0"/>
                                  </p:stCondLst>
                                  <p:childTnLst>
                                    <p:set>
                                      <p:cBhvr>
                                        <p:cTn id="34" dur="1" fill="hold">
                                          <p:stCondLst>
                                            <p:cond delay="0"/>
                                          </p:stCondLst>
                                        </p:cTn>
                                        <p:tgtEl>
                                          <p:spTgt spid="558361"/>
                                        </p:tgtEl>
                                        <p:attrNameLst>
                                          <p:attrName>style.visibility</p:attrName>
                                        </p:attrNameLst>
                                      </p:cBhvr>
                                      <p:to>
                                        <p:strVal val="visible"/>
                                      </p:to>
                                    </p:set>
                                    <p:animEffect transition="in" filter="dissolve">
                                      <p:cBhvr>
                                        <p:cTn id="35" dur="500"/>
                                        <p:tgtEl>
                                          <p:spTgt spid="558361"/>
                                        </p:tgtEl>
                                      </p:cBhvr>
                                    </p:animEffect>
                                  </p:childTnLst>
                                </p:cTn>
                              </p:par>
                            </p:childTnLst>
                          </p:cTn>
                        </p:par>
                        <p:par>
                          <p:cTn id="36" fill="hold">
                            <p:stCondLst>
                              <p:cond delay="4500"/>
                            </p:stCondLst>
                            <p:childTnLst>
                              <p:par>
                                <p:cTn id="37" presetID="9" presetClass="entr" presetSubtype="0" fill="hold" nodeType="afterEffect">
                                  <p:stCondLst>
                                    <p:cond delay="0"/>
                                  </p:stCondLst>
                                  <p:childTnLst>
                                    <p:set>
                                      <p:cBhvr>
                                        <p:cTn id="38" dur="1" fill="hold">
                                          <p:stCondLst>
                                            <p:cond delay="0"/>
                                          </p:stCondLst>
                                        </p:cTn>
                                        <p:tgtEl>
                                          <p:spTgt spid="558362"/>
                                        </p:tgtEl>
                                        <p:attrNameLst>
                                          <p:attrName>style.visibility</p:attrName>
                                        </p:attrNameLst>
                                      </p:cBhvr>
                                      <p:to>
                                        <p:strVal val="visible"/>
                                      </p:to>
                                    </p:set>
                                    <p:animEffect transition="in" filter="dissolve">
                                      <p:cBhvr>
                                        <p:cTn id="39" dur="500"/>
                                        <p:tgtEl>
                                          <p:spTgt spid="558362"/>
                                        </p:tgtEl>
                                      </p:cBhvr>
                                    </p:animEffect>
                                  </p:childTnLst>
                                </p:cTn>
                              </p:par>
                            </p:childTnLst>
                          </p:cTn>
                        </p:par>
                        <p:par>
                          <p:cTn id="40" fill="hold">
                            <p:stCondLst>
                              <p:cond delay="5000"/>
                            </p:stCondLst>
                            <p:childTnLst>
                              <p:par>
                                <p:cTn id="41" presetID="1" presetClass="entr" presetSubtype="0" fill="hold" nodeType="afterEffect">
                                  <p:stCondLst>
                                    <p:cond delay="0"/>
                                  </p:stCondLst>
                                  <p:childTnLst>
                                    <p:set>
                                      <p:cBhvr>
                                        <p:cTn id="42" dur="1" fill="hold">
                                          <p:stCondLst>
                                            <p:cond delay="499"/>
                                          </p:stCondLst>
                                        </p:cTn>
                                        <p:tgtEl>
                                          <p:spTgt spid="558363"/>
                                        </p:tgtEl>
                                        <p:attrNameLst>
                                          <p:attrName>style.visibility</p:attrName>
                                        </p:attrNameLst>
                                      </p:cBhvr>
                                      <p:to>
                                        <p:strVal val="visible"/>
                                      </p:to>
                                    </p:set>
                                  </p:childTnLst>
                                </p:cTn>
                              </p:par>
                            </p:childTnLst>
                          </p:cTn>
                        </p:par>
                        <p:par>
                          <p:cTn id="43" fill="hold">
                            <p:stCondLst>
                              <p:cond delay="5500"/>
                            </p:stCondLst>
                            <p:childTnLst>
                              <p:par>
                                <p:cTn id="44" presetID="9" presetClass="entr" presetSubtype="0" fill="hold" nodeType="afterEffect">
                                  <p:stCondLst>
                                    <p:cond delay="0"/>
                                  </p:stCondLst>
                                  <p:childTnLst>
                                    <p:set>
                                      <p:cBhvr>
                                        <p:cTn id="45" dur="1" fill="hold">
                                          <p:stCondLst>
                                            <p:cond delay="0"/>
                                          </p:stCondLst>
                                        </p:cTn>
                                        <p:tgtEl>
                                          <p:spTgt spid="558364"/>
                                        </p:tgtEl>
                                        <p:attrNameLst>
                                          <p:attrName>style.visibility</p:attrName>
                                        </p:attrNameLst>
                                      </p:cBhvr>
                                      <p:to>
                                        <p:strVal val="visible"/>
                                      </p:to>
                                    </p:set>
                                    <p:animEffect transition="in" filter="dissolve">
                                      <p:cBhvr>
                                        <p:cTn id="46" dur="500"/>
                                        <p:tgtEl>
                                          <p:spTgt spid="558364"/>
                                        </p:tgtEl>
                                      </p:cBhvr>
                                    </p:animEffect>
                                  </p:childTnLst>
                                </p:cTn>
                              </p:par>
                            </p:childTnLst>
                          </p:cTn>
                        </p:par>
                        <p:par>
                          <p:cTn id="47" fill="hold">
                            <p:stCondLst>
                              <p:cond delay="6000"/>
                            </p:stCondLst>
                            <p:childTnLst>
                              <p:par>
                                <p:cTn id="48" presetID="9" presetClass="entr" presetSubtype="0" fill="hold" nodeType="afterEffect">
                                  <p:stCondLst>
                                    <p:cond delay="0"/>
                                  </p:stCondLst>
                                  <p:childTnLst>
                                    <p:set>
                                      <p:cBhvr>
                                        <p:cTn id="49" dur="1" fill="hold">
                                          <p:stCondLst>
                                            <p:cond delay="0"/>
                                          </p:stCondLst>
                                        </p:cTn>
                                        <p:tgtEl>
                                          <p:spTgt spid="558365"/>
                                        </p:tgtEl>
                                        <p:attrNameLst>
                                          <p:attrName>style.visibility</p:attrName>
                                        </p:attrNameLst>
                                      </p:cBhvr>
                                      <p:to>
                                        <p:strVal val="visible"/>
                                      </p:to>
                                    </p:set>
                                    <p:animEffect transition="in" filter="dissolve">
                                      <p:cBhvr>
                                        <p:cTn id="50" dur="500"/>
                                        <p:tgtEl>
                                          <p:spTgt spid="558365"/>
                                        </p:tgtEl>
                                      </p:cBhvr>
                                    </p:animEffect>
                                  </p:childTnLst>
                                </p:cTn>
                              </p:par>
                            </p:childTnLst>
                          </p:cTn>
                        </p:par>
                        <p:par>
                          <p:cTn id="51" fill="hold">
                            <p:stCondLst>
                              <p:cond delay="6500"/>
                            </p:stCondLst>
                            <p:childTnLst>
                              <p:par>
                                <p:cTn id="52" presetID="9" presetClass="entr" presetSubtype="0" fill="hold" nodeType="afterEffect">
                                  <p:stCondLst>
                                    <p:cond delay="0"/>
                                  </p:stCondLst>
                                  <p:childTnLst>
                                    <p:set>
                                      <p:cBhvr>
                                        <p:cTn id="53" dur="1" fill="hold">
                                          <p:stCondLst>
                                            <p:cond delay="0"/>
                                          </p:stCondLst>
                                        </p:cTn>
                                        <p:tgtEl>
                                          <p:spTgt spid="558366"/>
                                        </p:tgtEl>
                                        <p:attrNameLst>
                                          <p:attrName>style.visibility</p:attrName>
                                        </p:attrNameLst>
                                      </p:cBhvr>
                                      <p:to>
                                        <p:strVal val="visible"/>
                                      </p:to>
                                    </p:set>
                                    <p:animEffect transition="in" filter="dissolve">
                                      <p:cBhvr>
                                        <p:cTn id="54" dur="500"/>
                                        <p:tgtEl>
                                          <p:spTgt spid="558366"/>
                                        </p:tgtEl>
                                      </p:cBhvr>
                                    </p:animEffect>
                                  </p:childTnLst>
                                </p:cTn>
                              </p:par>
                            </p:childTnLst>
                          </p:cTn>
                        </p:par>
                        <p:par>
                          <p:cTn id="55" fill="hold">
                            <p:stCondLst>
                              <p:cond delay="7000"/>
                            </p:stCondLst>
                            <p:childTnLst>
                              <p:par>
                                <p:cTn id="56" presetID="9" presetClass="entr" presetSubtype="0" fill="hold" nodeType="afterEffect">
                                  <p:stCondLst>
                                    <p:cond delay="0"/>
                                  </p:stCondLst>
                                  <p:childTnLst>
                                    <p:set>
                                      <p:cBhvr>
                                        <p:cTn id="57" dur="1" fill="hold">
                                          <p:stCondLst>
                                            <p:cond delay="0"/>
                                          </p:stCondLst>
                                        </p:cTn>
                                        <p:tgtEl>
                                          <p:spTgt spid="558367"/>
                                        </p:tgtEl>
                                        <p:attrNameLst>
                                          <p:attrName>style.visibility</p:attrName>
                                        </p:attrNameLst>
                                      </p:cBhvr>
                                      <p:to>
                                        <p:strVal val="visible"/>
                                      </p:to>
                                    </p:set>
                                    <p:animEffect transition="in" filter="dissolve">
                                      <p:cBhvr>
                                        <p:cTn id="58" dur="500"/>
                                        <p:tgtEl>
                                          <p:spTgt spid="558367"/>
                                        </p:tgtEl>
                                      </p:cBhvr>
                                    </p:animEffect>
                                  </p:childTnLst>
                                </p:cTn>
                              </p:par>
                            </p:childTnLst>
                          </p:cTn>
                        </p:par>
                        <p:par>
                          <p:cTn id="59" fill="hold">
                            <p:stCondLst>
                              <p:cond delay="7500"/>
                            </p:stCondLst>
                            <p:childTnLst>
                              <p:par>
                                <p:cTn id="60" presetID="9" presetClass="entr" presetSubtype="0" fill="hold" nodeType="afterEffect">
                                  <p:stCondLst>
                                    <p:cond delay="0"/>
                                  </p:stCondLst>
                                  <p:childTnLst>
                                    <p:set>
                                      <p:cBhvr>
                                        <p:cTn id="61" dur="1" fill="hold">
                                          <p:stCondLst>
                                            <p:cond delay="0"/>
                                          </p:stCondLst>
                                        </p:cTn>
                                        <p:tgtEl>
                                          <p:spTgt spid="558368"/>
                                        </p:tgtEl>
                                        <p:attrNameLst>
                                          <p:attrName>style.visibility</p:attrName>
                                        </p:attrNameLst>
                                      </p:cBhvr>
                                      <p:to>
                                        <p:strVal val="visible"/>
                                      </p:to>
                                    </p:set>
                                    <p:animEffect transition="in" filter="dissolve">
                                      <p:cBhvr>
                                        <p:cTn id="62" dur="500"/>
                                        <p:tgtEl>
                                          <p:spTgt spid="558368"/>
                                        </p:tgtEl>
                                      </p:cBhvr>
                                    </p:animEffect>
                                  </p:childTnLst>
                                </p:cTn>
                              </p:par>
                            </p:childTnLst>
                          </p:cTn>
                        </p:par>
                        <p:par>
                          <p:cTn id="63" fill="hold">
                            <p:stCondLst>
                              <p:cond delay="8000"/>
                            </p:stCondLst>
                            <p:childTnLst>
                              <p:par>
                                <p:cTn id="64" presetID="9" presetClass="entr" presetSubtype="0" fill="hold" nodeType="afterEffect">
                                  <p:stCondLst>
                                    <p:cond delay="0"/>
                                  </p:stCondLst>
                                  <p:childTnLst>
                                    <p:set>
                                      <p:cBhvr>
                                        <p:cTn id="65" dur="1" fill="hold">
                                          <p:stCondLst>
                                            <p:cond delay="0"/>
                                          </p:stCondLst>
                                        </p:cTn>
                                        <p:tgtEl>
                                          <p:spTgt spid="558369"/>
                                        </p:tgtEl>
                                        <p:attrNameLst>
                                          <p:attrName>style.visibility</p:attrName>
                                        </p:attrNameLst>
                                      </p:cBhvr>
                                      <p:to>
                                        <p:strVal val="visible"/>
                                      </p:to>
                                    </p:set>
                                    <p:animEffect transition="in" filter="dissolve">
                                      <p:cBhvr>
                                        <p:cTn id="66" dur="500"/>
                                        <p:tgtEl>
                                          <p:spTgt spid="558369"/>
                                        </p:tgtEl>
                                      </p:cBhvr>
                                    </p:animEffect>
                                  </p:childTnLst>
                                </p:cTn>
                              </p:par>
                            </p:childTnLst>
                          </p:cTn>
                        </p:par>
                        <p:par>
                          <p:cTn id="67" fill="hold">
                            <p:stCondLst>
                              <p:cond delay="8500"/>
                            </p:stCondLst>
                            <p:childTnLst>
                              <p:par>
                                <p:cTn id="68" presetID="9" presetClass="entr" presetSubtype="0" fill="hold" nodeType="afterEffect">
                                  <p:stCondLst>
                                    <p:cond delay="0"/>
                                  </p:stCondLst>
                                  <p:childTnLst>
                                    <p:set>
                                      <p:cBhvr>
                                        <p:cTn id="69" dur="1" fill="hold">
                                          <p:stCondLst>
                                            <p:cond delay="0"/>
                                          </p:stCondLst>
                                        </p:cTn>
                                        <p:tgtEl>
                                          <p:spTgt spid="558370"/>
                                        </p:tgtEl>
                                        <p:attrNameLst>
                                          <p:attrName>style.visibility</p:attrName>
                                        </p:attrNameLst>
                                      </p:cBhvr>
                                      <p:to>
                                        <p:strVal val="visible"/>
                                      </p:to>
                                    </p:set>
                                    <p:animEffect transition="in" filter="dissolve">
                                      <p:cBhvr>
                                        <p:cTn id="70" dur="500"/>
                                        <p:tgtEl>
                                          <p:spTgt spid="558370"/>
                                        </p:tgtEl>
                                      </p:cBhvr>
                                    </p:animEffect>
                                  </p:childTnLst>
                                </p:cTn>
                              </p:par>
                            </p:childTnLst>
                          </p:cTn>
                        </p:par>
                        <p:par>
                          <p:cTn id="71" fill="hold">
                            <p:stCondLst>
                              <p:cond delay="9000"/>
                            </p:stCondLst>
                            <p:childTnLst>
                              <p:par>
                                <p:cTn id="72" presetID="9" presetClass="entr" presetSubtype="0" fill="hold" nodeType="afterEffect">
                                  <p:stCondLst>
                                    <p:cond delay="0"/>
                                  </p:stCondLst>
                                  <p:childTnLst>
                                    <p:set>
                                      <p:cBhvr>
                                        <p:cTn id="73" dur="1" fill="hold">
                                          <p:stCondLst>
                                            <p:cond delay="0"/>
                                          </p:stCondLst>
                                        </p:cTn>
                                        <p:tgtEl>
                                          <p:spTgt spid="558371"/>
                                        </p:tgtEl>
                                        <p:attrNameLst>
                                          <p:attrName>style.visibility</p:attrName>
                                        </p:attrNameLst>
                                      </p:cBhvr>
                                      <p:to>
                                        <p:strVal val="visible"/>
                                      </p:to>
                                    </p:set>
                                    <p:animEffect transition="in" filter="dissolve">
                                      <p:cBhvr>
                                        <p:cTn id="74" dur="500"/>
                                        <p:tgtEl>
                                          <p:spTgt spid="558371"/>
                                        </p:tgtEl>
                                      </p:cBhvr>
                                    </p:animEffect>
                                  </p:childTnLst>
                                </p:cTn>
                              </p:par>
                            </p:childTnLst>
                          </p:cTn>
                        </p:par>
                        <p:par>
                          <p:cTn id="75" fill="hold">
                            <p:stCondLst>
                              <p:cond delay="9500"/>
                            </p:stCondLst>
                            <p:childTnLst>
                              <p:par>
                                <p:cTn id="76" presetID="9" presetClass="entr" presetSubtype="0" fill="hold" nodeType="afterEffect">
                                  <p:stCondLst>
                                    <p:cond delay="0"/>
                                  </p:stCondLst>
                                  <p:childTnLst>
                                    <p:set>
                                      <p:cBhvr>
                                        <p:cTn id="77" dur="1" fill="hold">
                                          <p:stCondLst>
                                            <p:cond delay="0"/>
                                          </p:stCondLst>
                                        </p:cTn>
                                        <p:tgtEl>
                                          <p:spTgt spid="558372"/>
                                        </p:tgtEl>
                                        <p:attrNameLst>
                                          <p:attrName>style.visibility</p:attrName>
                                        </p:attrNameLst>
                                      </p:cBhvr>
                                      <p:to>
                                        <p:strVal val="visible"/>
                                      </p:to>
                                    </p:set>
                                    <p:animEffect transition="in" filter="dissolve">
                                      <p:cBhvr>
                                        <p:cTn id="78" dur="500"/>
                                        <p:tgtEl>
                                          <p:spTgt spid="558372"/>
                                        </p:tgtEl>
                                      </p:cBhvr>
                                    </p:animEffect>
                                  </p:childTnLst>
                                </p:cTn>
                              </p:par>
                            </p:childTnLst>
                          </p:cTn>
                        </p:par>
                        <p:par>
                          <p:cTn id="79" fill="hold">
                            <p:stCondLst>
                              <p:cond delay="10000"/>
                            </p:stCondLst>
                            <p:childTnLst>
                              <p:par>
                                <p:cTn id="80" presetID="9" presetClass="entr" presetSubtype="0" fill="hold" nodeType="afterEffect">
                                  <p:stCondLst>
                                    <p:cond delay="0"/>
                                  </p:stCondLst>
                                  <p:childTnLst>
                                    <p:set>
                                      <p:cBhvr>
                                        <p:cTn id="81" dur="1" fill="hold">
                                          <p:stCondLst>
                                            <p:cond delay="0"/>
                                          </p:stCondLst>
                                        </p:cTn>
                                        <p:tgtEl>
                                          <p:spTgt spid="558375"/>
                                        </p:tgtEl>
                                        <p:attrNameLst>
                                          <p:attrName>style.visibility</p:attrName>
                                        </p:attrNameLst>
                                      </p:cBhvr>
                                      <p:to>
                                        <p:strVal val="visible"/>
                                      </p:to>
                                    </p:set>
                                    <p:animEffect transition="in" filter="dissolve">
                                      <p:cBhvr>
                                        <p:cTn id="82" dur="500"/>
                                        <p:tgtEl>
                                          <p:spTgt spid="558375"/>
                                        </p:tgtEl>
                                      </p:cBhvr>
                                    </p:animEffect>
                                  </p:childTnLst>
                                </p:cTn>
                              </p:par>
                            </p:childTnLst>
                          </p:cTn>
                        </p:par>
                        <p:par>
                          <p:cTn id="83" fill="hold">
                            <p:stCondLst>
                              <p:cond delay="10500"/>
                            </p:stCondLst>
                            <p:childTnLst>
                              <p:par>
                                <p:cTn id="84" presetID="9" presetClass="entr" presetSubtype="0" fill="hold" nodeType="afterEffect">
                                  <p:stCondLst>
                                    <p:cond delay="0"/>
                                  </p:stCondLst>
                                  <p:childTnLst>
                                    <p:set>
                                      <p:cBhvr>
                                        <p:cTn id="85" dur="1" fill="hold">
                                          <p:stCondLst>
                                            <p:cond delay="0"/>
                                          </p:stCondLst>
                                        </p:cTn>
                                        <p:tgtEl>
                                          <p:spTgt spid="558373"/>
                                        </p:tgtEl>
                                        <p:attrNameLst>
                                          <p:attrName>style.visibility</p:attrName>
                                        </p:attrNameLst>
                                      </p:cBhvr>
                                      <p:to>
                                        <p:strVal val="visible"/>
                                      </p:to>
                                    </p:set>
                                    <p:animEffect transition="in" filter="dissolve">
                                      <p:cBhvr>
                                        <p:cTn id="86" dur="500"/>
                                        <p:tgtEl>
                                          <p:spTgt spid="558373"/>
                                        </p:tgtEl>
                                      </p:cBhvr>
                                    </p:animEffect>
                                  </p:childTnLst>
                                </p:cTn>
                              </p:par>
                            </p:childTnLst>
                          </p:cTn>
                        </p:par>
                        <p:par>
                          <p:cTn id="87" fill="hold">
                            <p:stCondLst>
                              <p:cond delay="11000"/>
                            </p:stCondLst>
                            <p:childTnLst>
                              <p:par>
                                <p:cTn id="88" presetID="9" presetClass="entr" presetSubtype="0" fill="hold" nodeType="afterEffect">
                                  <p:stCondLst>
                                    <p:cond delay="0"/>
                                  </p:stCondLst>
                                  <p:childTnLst>
                                    <p:set>
                                      <p:cBhvr>
                                        <p:cTn id="89" dur="1" fill="hold">
                                          <p:stCondLst>
                                            <p:cond delay="0"/>
                                          </p:stCondLst>
                                        </p:cTn>
                                        <p:tgtEl>
                                          <p:spTgt spid="558374"/>
                                        </p:tgtEl>
                                        <p:attrNameLst>
                                          <p:attrName>style.visibility</p:attrName>
                                        </p:attrNameLst>
                                      </p:cBhvr>
                                      <p:to>
                                        <p:strVal val="visible"/>
                                      </p:to>
                                    </p:set>
                                    <p:animEffect transition="in" filter="dissolve">
                                      <p:cBhvr>
                                        <p:cTn id="90" dur="500"/>
                                        <p:tgtEl>
                                          <p:spTgt spid="558374"/>
                                        </p:tgtEl>
                                      </p:cBhvr>
                                    </p:animEffect>
                                  </p:childTnLst>
                                </p:cTn>
                              </p:par>
                            </p:childTnLst>
                          </p:cTn>
                        </p:par>
                        <p:par>
                          <p:cTn id="91" fill="hold">
                            <p:stCondLst>
                              <p:cond delay="11500"/>
                            </p:stCondLst>
                            <p:childTnLst>
                              <p:par>
                                <p:cTn id="92" presetID="9" presetClass="entr" presetSubtype="0" fill="hold" nodeType="afterEffect">
                                  <p:stCondLst>
                                    <p:cond delay="0"/>
                                  </p:stCondLst>
                                  <p:childTnLst>
                                    <p:set>
                                      <p:cBhvr>
                                        <p:cTn id="93" dur="1" fill="hold">
                                          <p:stCondLst>
                                            <p:cond delay="0"/>
                                          </p:stCondLst>
                                        </p:cTn>
                                        <p:tgtEl>
                                          <p:spTgt spid="558401"/>
                                        </p:tgtEl>
                                        <p:attrNameLst>
                                          <p:attrName>style.visibility</p:attrName>
                                        </p:attrNameLst>
                                      </p:cBhvr>
                                      <p:to>
                                        <p:strVal val="visible"/>
                                      </p:to>
                                    </p:set>
                                    <p:animEffect transition="in" filter="dissolve">
                                      <p:cBhvr>
                                        <p:cTn id="94" dur="500"/>
                                        <p:tgtEl>
                                          <p:spTgt spid="558401"/>
                                        </p:tgtEl>
                                      </p:cBhvr>
                                    </p:animEffect>
                                  </p:childTnLst>
                                </p:cTn>
                              </p:par>
                            </p:childTnLst>
                          </p:cTn>
                        </p:par>
                        <p:par>
                          <p:cTn id="95" fill="hold">
                            <p:stCondLst>
                              <p:cond delay="12000"/>
                            </p:stCondLst>
                            <p:childTnLst>
                              <p:par>
                                <p:cTn id="96" presetID="9" presetClass="entr" presetSubtype="0" fill="hold" nodeType="afterEffect">
                                  <p:stCondLst>
                                    <p:cond delay="0"/>
                                  </p:stCondLst>
                                  <p:childTnLst>
                                    <p:set>
                                      <p:cBhvr>
                                        <p:cTn id="97" dur="1" fill="hold">
                                          <p:stCondLst>
                                            <p:cond delay="0"/>
                                          </p:stCondLst>
                                        </p:cTn>
                                        <p:tgtEl>
                                          <p:spTgt spid="558402"/>
                                        </p:tgtEl>
                                        <p:attrNameLst>
                                          <p:attrName>style.visibility</p:attrName>
                                        </p:attrNameLst>
                                      </p:cBhvr>
                                      <p:to>
                                        <p:strVal val="visible"/>
                                      </p:to>
                                    </p:set>
                                    <p:animEffect transition="in" filter="dissolve">
                                      <p:cBhvr>
                                        <p:cTn id="98" dur="500"/>
                                        <p:tgtEl>
                                          <p:spTgt spid="558402"/>
                                        </p:tgtEl>
                                      </p:cBhvr>
                                    </p:animEffect>
                                  </p:childTnLst>
                                </p:cTn>
                              </p:par>
                            </p:childTnLst>
                          </p:cTn>
                        </p:par>
                      </p:childTnLst>
                    </p:cTn>
                  </p:par>
                  <p:par>
                    <p:cTn id="99" fill="hold">
                      <p:stCondLst>
                        <p:cond delay="indefinite"/>
                      </p:stCondLst>
                      <p:childTnLst>
                        <p:par>
                          <p:cTn id="100" fill="hold">
                            <p:stCondLst>
                              <p:cond delay="0"/>
                            </p:stCondLst>
                            <p:childTnLst>
                              <p:par>
                                <p:cTn id="101" presetID="9" presetClass="entr" presetSubtype="0" fill="hold" nodeType="clickEffect">
                                  <p:stCondLst>
                                    <p:cond delay="0"/>
                                  </p:stCondLst>
                                  <p:childTnLst>
                                    <p:set>
                                      <p:cBhvr>
                                        <p:cTn id="102" dur="1" fill="hold">
                                          <p:stCondLst>
                                            <p:cond delay="0"/>
                                          </p:stCondLst>
                                        </p:cTn>
                                        <p:tgtEl>
                                          <p:spTgt spid="558378"/>
                                        </p:tgtEl>
                                        <p:attrNameLst>
                                          <p:attrName>style.visibility</p:attrName>
                                        </p:attrNameLst>
                                      </p:cBhvr>
                                      <p:to>
                                        <p:strVal val="visible"/>
                                      </p:to>
                                    </p:set>
                                    <p:animEffect transition="in" filter="dissolve">
                                      <p:cBhvr>
                                        <p:cTn id="103" dur="500"/>
                                        <p:tgtEl>
                                          <p:spTgt spid="558378"/>
                                        </p:tgtEl>
                                      </p:cBhvr>
                                    </p:animEffect>
                                  </p:childTnLst>
                                </p:cTn>
                              </p:par>
                            </p:childTnLst>
                          </p:cTn>
                        </p:par>
                        <p:par>
                          <p:cTn id="104" fill="hold">
                            <p:stCondLst>
                              <p:cond delay="500"/>
                            </p:stCondLst>
                            <p:childTnLst>
                              <p:par>
                                <p:cTn id="105" presetID="9" presetClass="entr" presetSubtype="0" fill="hold" nodeType="afterEffect">
                                  <p:stCondLst>
                                    <p:cond delay="0"/>
                                  </p:stCondLst>
                                  <p:childTnLst>
                                    <p:set>
                                      <p:cBhvr>
                                        <p:cTn id="106" dur="1" fill="hold">
                                          <p:stCondLst>
                                            <p:cond delay="0"/>
                                          </p:stCondLst>
                                        </p:cTn>
                                        <p:tgtEl>
                                          <p:spTgt spid="558379"/>
                                        </p:tgtEl>
                                        <p:attrNameLst>
                                          <p:attrName>style.visibility</p:attrName>
                                        </p:attrNameLst>
                                      </p:cBhvr>
                                      <p:to>
                                        <p:strVal val="visible"/>
                                      </p:to>
                                    </p:set>
                                    <p:animEffect transition="in" filter="dissolve">
                                      <p:cBhvr>
                                        <p:cTn id="107" dur="500"/>
                                        <p:tgtEl>
                                          <p:spTgt spid="558379"/>
                                        </p:tgtEl>
                                      </p:cBhvr>
                                    </p:animEffect>
                                  </p:childTnLst>
                                </p:cTn>
                              </p:par>
                            </p:childTnLst>
                          </p:cTn>
                        </p:par>
                        <p:par>
                          <p:cTn id="108" fill="hold">
                            <p:stCondLst>
                              <p:cond delay="1000"/>
                            </p:stCondLst>
                            <p:childTnLst>
                              <p:par>
                                <p:cTn id="109" presetID="9" presetClass="entr" presetSubtype="0" fill="hold" nodeType="afterEffect">
                                  <p:stCondLst>
                                    <p:cond delay="0"/>
                                  </p:stCondLst>
                                  <p:childTnLst>
                                    <p:set>
                                      <p:cBhvr>
                                        <p:cTn id="110" dur="1" fill="hold">
                                          <p:stCondLst>
                                            <p:cond delay="0"/>
                                          </p:stCondLst>
                                        </p:cTn>
                                        <p:tgtEl>
                                          <p:spTgt spid="558380"/>
                                        </p:tgtEl>
                                        <p:attrNameLst>
                                          <p:attrName>style.visibility</p:attrName>
                                        </p:attrNameLst>
                                      </p:cBhvr>
                                      <p:to>
                                        <p:strVal val="visible"/>
                                      </p:to>
                                    </p:set>
                                    <p:animEffect transition="in" filter="dissolve">
                                      <p:cBhvr>
                                        <p:cTn id="111" dur="500"/>
                                        <p:tgtEl>
                                          <p:spTgt spid="558380"/>
                                        </p:tgtEl>
                                      </p:cBhvr>
                                    </p:animEffect>
                                  </p:childTnLst>
                                </p:cTn>
                              </p:par>
                            </p:childTnLst>
                          </p:cTn>
                        </p:par>
                        <p:par>
                          <p:cTn id="112" fill="hold">
                            <p:stCondLst>
                              <p:cond delay="1500"/>
                            </p:stCondLst>
                            <p:childTnLst>
                              <p:par>
                                <p:cTn id="113" presetID="9" presetClass="entr" presetSubtype="0" fill="hold" nodeType="afterEffect">
                                  <p:stCondLst>
                                    <p:cond delay="0"/>
                                  </p:stCondLst>
                                  <p:childTnLst>
                                    <p:set>
                                      <p:cBhvr>
                                        <p:cTn id="114" dur="1" fill="hold">
                                          <p:stCondLst>
                                            <p:cond delay="0"/>
                                          </p:stCondLst>
                                        </p:cTn>
                                        <p:tgtEl>
                                          <p:spTgt spid="558381"/>
                                        </p:tgtEl>
                                        <p:attrNameLst>
                                          <p:attrName>style.visibility</p:attrName>
                                        </p:attrNameLst>
                                      </p:cBhvr>
                                      <p:to>
                                        <p:strVal val="visible"/>
                                      </p:to>
                                    </p:set>
                                    <p:animEffect transition="in" filter="dissolve">
                                      <p:cBhvr>
                                        <p:cTn id="115" dur="500"/>
                                        <p:tgtEl>
                                          <p:spTgt spid="558381"/>
                                        </p:tgtEl>
                                      </p:cBhvr>
                                    </p:animEffect>
                                  </p:childTnLst>
                                </p:cTn>
                              </p:par>
                            </p:childTnLst>
                          </p:cTn>
                        </p:par>
                        <p:par>
                          <p:cTn id="116" fill="hold">
                            <p:stCondLst>
                              <p:cond delay="2000"/>
                            </p:stCondLst>
                            <p:childTnLst>
                              <p:par>
                                <p:cTn id="117" presetID="9" presetClass="entr" presetSubtype="0" fill="hold" nodeType="afterEffect">
                                  <p:stCondLst>
                                    <p:cond delay="0"/>
                                  </p:stCondLst>
                                  <p:childTnLst>
                                    <p:set>
                                      <p:cBhvr>
                                        <p:cTn id="118" dur="1" fill="hold">
                                          <p:stCondLst>
                                            <p:cond delay="0"/>
                                          </p:stCondLst>
                                        </p:cTn>
                                        <p:tgtEl>
                                          <p:spTgt spid="558382"/>
                                        </p:tgtEl>
                                        <p:attrNameLst>
                                          <p:attrName>style.visibility</p:attrName>
                                        </p:attrNameLst>
                                      </p:cBhvr>
                                      <p:to>
                                        <p:strVal val="visible"/>
                                      </p:to>
                                    </p:set>
                                    <p:animEffect transition="in" filter="dissolve">
                                      <p:cBhvr>
                                        <p:cTn id="119" dur="500"/>
                                        <p:tgtEl>
                                          <p:spTgt spid="558382"/>
                                        </p:tgtEl>
                                      </p:cBhvr>
                                    </p:animEffect>
                                  </p:childTnLst>
                                </p:cTn>
                              </p:par>
                            </p:childTnLst>
                          </p:cTn>
                        </p:par>
                        <p:par>
                          <p:cTn id="120" fill="hold">
                            <p:stCondLst>
                              <p:cond delay="2500"/>
                            </p:stCondLst>
                            <p:childTnLst>
                              <p:par>
                                <p:cTn id="121" presetID="9" presetClass="entr" presetSubtype="0" fill="hold" nodeType="afterEffect">
                                  <p:stCondLst>
                                    <p:cond delay="0"/>
                                  </p:stCondLst>
                                  <p:childTnLst>
                                    <p:set>
                                      <p:cBhvr>
                                        <p:cTn id="122" dur="1" fill="hold">
                                          <p:stCondLst>
                                            <p:cond delay="0"/>
                                          </p:stCondLst>
                                        </p:cTn>
                                        <p:tgtEl>
                                          <p:spTgt spid="558383"/>
                                        </p:tgtEl>
                                        <p:attrNameLst>
                                          <p:attrName>style.visibility</p:attrName>
                                        </p:attrNameLst>
                                      </p:cBhvr>
                                      <p:to>
                                        <p:strVal val="visible"/>
                                      </p:to>
                                    </p:set>
                                    <p:animEffect transition="in" filter="dissolve">
                                      <p:cBhvr>
                                        <p:cTn id="123" dur="500"/>
                                        <p:tgtEl>
                                          <p:spTgt spid="558383"/>
                                        </p:tgtEl>
                                      </p:cBhvr>
                                    </p:animEffect>
                                  </p:childTnLst>
                                </p:cTn>
                              </p:par>
                            </p:childTnLst>
                          </p:cTn>
                        </p:par>
                        <p:par>
                          <p:cTn id="124" fill="hold">
                            <p:stCondLst>
                              <p:cond delay="3000"/>
                            </p:stCondLst>
                            <p:childTnLst>
                              <p:par>
                                <p:cTn id="125" presetID="9" presetClass="entr" presetSubtype="0" fill="hold" nodeType="afterEffect">
                                  <p:stCondLst>
                                    <p:cond delay="0"/>
                                  </p:stCondLst>
                                  <p:childTnLst>
                                    <p:set>
                                      <p:cBhvr>
                                        <p:cTn id="126" dur="1" fill="hold">
                                          <p:stCondLst>
                                            <p:cond delay="0"/>
                                          </p:stCondLst>
                                        </p:cTn>
                                        <p:tgtEl>
                                          <p:spTgt spid="558384"/>
                                        </p:tgtEl>
                                        <p:attrNameLst>
                                          <p:attrName>style.visibility</p:attrName>
                                        </p:attrNameLst>
                                      </p:cBhvr>
                                      <p:to>
                                        <p:strVal val="visible"/>
                                      </p:to>
                                    </p:set>
                                    <p:animEffect transition="in" filter="dissolve">
                                      <p:cBhvr>
                                        <p:cTn id="127" dur="500"/>
                                        <p:tgtEl>
                                          <p:spTgt spid="558384"/>
                                        </p:tgtEl>
                                      </p:cBhvr>
                                    </p:animEffect>
                                  </p:childTnLst>
                                </p:cTn>
                              </p:par>
                            </p:childTnLst>
                          </p:cTn>
                        </p:par>
                        <p:par>
                          <p:cTn id="128" fill="hold">
                            <p:stCondLst>
                              <p:cond delay="3500"/>
                            </p:stCondLst>
                            <p:childTnLst>
                              <p:par>
                                <p:cTn id="129" presetID="9" presetClass="entr" presetSubtype="0" fill="hold" nodeType="afterEffect">
                                  <p:stCondLst>
                                    <p:cond delay="0"/>
                                  </p:stCondLst>
                                  <p:childTnLst>
                                    <p:set>
                                      <p:cBhvr>
                                        <p:cTn id="130" dur="1" fill="hold">
                                          <p:stCondLst>
                                            <p:cond delay="0"/>
                                          </p:stCondLst>
                                        </p:cTn>
                                        <p:tgtEl>
                                          <p:spTgt spid="558400"/>
                                        </p:tgtEl>
                                        <p:attrNameLst>
                                          <p:attrName>style.visibility</p:attrName>
                                        </p:attrNameLst>
                                      </p:cBhvr>
                                      <p:to>
                                        <p:strVal val="visible"/>
                                      </p:to>
                                    </p:set>
                                    <p:animEffect transition="in" filter="dissolve">
                                      <p:cBhvr>
                                        <p:cTn id="131" dur="500"/>
                                        <p:tgtEl>
                                          <p:spTgt spid="558400"/>
                                        </p:tgtEl>
                                      </p:cBhvr>
                                    </p:animEffect>
                                  </p:childTnLst>
                                </p:cTn>
                              </p:par>
                            </p:childTnLst>
                          </p:cTn>
                        </p:par>
                        <p:par>
                          <p:cTn id="132" fill="hold">
                            <p:stCondLst>
                              <p:cond delay="4000"/>
                            </p:stCondLst>
                            <p:childTnLst>
                              <p:par>
                                <p:cTn id="133" presetID="9" presetClass="entr" presetSubtype="0" fill="hold" nodeType="afterEffect">
                                  <p:stCondLst>
                                    <p:cond delay="0"/>
                                  </p:stCondLst>
                                  <p:childTnLst>
                                    <p:set>
                                      <p:cBhvr>
                                        <p:cTn id="134" dur="1" fill="hold">
                                          <p:stCondLst>
                                            <p:cond delay="0"/>
                                          </p:stCondLst>
                                        </p:cTn>
                                        <p:tgtEl>
                                          <p:spTgt spid="558385"/>
                                        </p:tgtEl>
                                        <p:attrNameLst>
                                          <p:attrName>style.visibility</p:attrName>
                                        </p:attrNameLst>
                                      </p:cBhvr>
                                      <p:to>
                                        <p:strVal val="visible"/>
                                      </p:to>
                                    </p:set>
                                    <p:animEffect transition="in" filter="dissolve">
                                      <p:cBhvr>
                                        <p:cTn id="135" dur="500"/>
                                        <p:tgtEl>
                                          <p:spTgt spid="558385"/>
                                        </p:tgtEl>
                                      </p:cBhvr>
                                    </p:animEffect>
                                  </p:childTnLst>
                                </p:cTn>
                              </p:par>
                            </p:childTnLst>
                          </p:cTn>
                        </p:par>
                        <p:par>
                          <p:cTn id="136" fill="hold">
                            <p:stCondLst>
                              <p:cond delay="4500"/>
                            </p:stCondLst>
                            <p:childTnLst>
                              <p:par>
                                <p:cTn id="137" presetID="9" presetClass="entr" presetSubtype="0" fill="hold" nodeType="afterEffect">
                                  <p:stCondLst>
                                    <p:cond delay="0"/>
                                  </p:stCondLst>
                                  <p:childTnLst>
                                    <p:set>
                                      <p:cBhvr>
                                        <p:cTn id="138" dur="1" fill="hold">
                                          <p:stCondLst>
                                            <p:cond delay="0"/>
                                          </p:stCondLst>
                                        </p:cTn>
                                        <p:tgtEl>
                                          <p:spTgt spid="558386"/>
                                        </p:tgtEl>
                                        <p:attrNameLst>
                                          <p:attrName>style.visibility</p:attrName>
                                        </p:attrNameLst>
                                      </p:cBhvr>
                                      <p:to>
                                        <p:strVal val="visible"/>
                                      </p:to>
                                    </p:set>
                                    <p:animEffect transition="in" filter="dissolve">
                                      <p:cBhvr>
                                        <p:cTn id="139" dur="500"/>
                                        <p:tgtEl>
                                          <p:spTgt spid="558386"/>
                                        </p:tgtEl>
                                      </p:cBhvr>
                                    </p:animEffect>
                                  </p:childTnLst>
                                </p:cTn>
                              </p:par>
                            </p:childTnLst>
                          </p:cTn>
                        </p:par>
                        <p:par>
                          <p:cTn id="140" fill="hold">
                            <p:stCondLst>
                              <p:cond delay="5000"/>
                            </p:stCondLst>
                            <p:childTnLst>
                              <p:par>
                                <p:cTn id="141" presetID="9" presetClass="entr" presetSubtype="0" fill="hold" nodeType="afterEffect">
                                  <p:stCondLst>
                                    <p:cond delay="0"/>
                                  </p:stCondLst>
                                  <p:childTnLst>
                                    <p:set>
                                      <p:cBhvr>
                                        <p:cTn id="142" dur="1" fill="hold">
                                          <p:stCondLst>
                                            <p:cond delay="0"/>
                                          </p:stCondLst>
                                        </p:cTn>
                                        <p:tgtEl>
                                          <p:spTgt spid="558387"/>
                                        </p:tgtEl>
                                        <p:attrNameLst>
                                          <p:attrName>style.visibility</p:attrName>
                                        </p:attrNameLst>
                                      </p:cBhvr>
                                      <p:to>
                                        <p:strVal val="visible"/>
                                      </p:to>
                                    </p:set>
                                    <p:animEffect transition="in" filter="dissolve">
                                      <p:cBhvr>
                                        <p:cTn id="143" dur="500"/>
                                        <p:tgtEl>
                                          <p:spTgt spid="558387"/>
                                        </p:tgtEl>
                                      </p:cBhvr>
                                    </p:animEffect>
                                  </p:childTnLst>
                                </p:cTn>
                              </p:par>
                            </p:childTnLst>
                          </p:cTn>
                        </p:par>
                        <p:par>
                          <p:cTn id="144" fill="hold">
                            <p:stCondLst>
                              <p:cond delay="5500"/>
                            </p:stCondLst>
                            <p:childTnLst>
                              <p:par>
                                <p:cTn id="145" presetID="9" presetClass="entr" presetSubtype="0" fill="hold" nodeType="afterEffect">
                                  <p:stCondLst>
                                    <p:cond delay="0"/>
                                  </p:stCondLst>
                                  <p:childTnLst>
                                    <p:set>
                                      <p:cBhvr>
                                        <p:cTn id="146" dur="1" fill="hold">
                                          <p:stCondLst>
                                            <p:cond delay="0"/>
                                          </p:stCondLst>
                                        </p:cTn>
                                        <p:tgtEl>
                                          <p:spTgt spid="558388"/>
                                        </p:tgtEl>
                                        <p:attrNameLst>
                                          <p:attrName>style.visibility</p:attrName>
                                        </p:attrNameLst>
                                      </p:cBhvr>
                                      <p:to>
                                        <p:strVal val="visible"/>
                                      </p:to>
                                    </p:set>
                                    <p:animEffect transition="in" filter="dissolve">
                                      <p:cBhvr>
                                        <p:cTn id="147" dur="500"/>
                                        <p:tgtEl>
                                          <p:spTgt spid="558388"/>
                                        </p:tgtEl>
                                      </p:cBhvr>
                                    </p:animEffect>
                                  </p:childTnLst>
                                </p:cTn>
                              </p:par>
                            </p:childTnLst>
                          </p:cTn>
                        </p:par>
                        <p:par>
                          <p:cTn id="148" fill="hold">
                            <p:stCondLst>
                              <p:cond delay="6000"/>
                            </p:stCondLst>
                            <p:childTnLst>
                              <p:par>
                                <p:cTn id="149" presetID="9" presetClass="entr" presetSubtype="0" fill="hold" nodeType="afterEffect">
                                  <p:stCondLst>
                                    <p:cond delay="0"/>
                                  </p:stCondLst>
                                  <p:childTnLst>
                                    <p:set>
                                      <p:cBhvr>
                                        <p:cTn id="150" dur="1" fill="hold">
                                          <p:stCondLst>
                                            <p:cond delay="0"/>
                                          </p:stCondLst>
                                        </p:cTn>
                                        <p:tgtEl>
                                          <p:spTgt spid="558389"/>
                                        </p:tgtEl>
                                        <p:attrNameLst>
                                          <p:attrName>style.visibility</p:attrName>
                                        </p:attrNameLst>
                                      </p:cBhvr>
                                      <p:to>
                                        <p:strVal val="visible"/>
                                      </p:to>
                                    </p:set>
                                    <p:animEffect transition="in" filter="dissolve">
                                      <p:cBhvr>
                                        <p:cTn id="151" dur="500"/>
                                        <p:tgtEl>
                                          <p:spTgt spid="558389"/>
                                        </p:tgtEl>
                                      </p:cBhvr>
                                    </p:animEffect>
                                  </p:childTnLst>
                                </p:cTn>
                              </p:par>
                            </p:childTnLst>
                          </p:cTn>
                        </p:par>
                        <p:par>
                          <p:cTn id="152" fill="hold">
                            <p:stCondLst>
                              <p:cond delay="6500"/>
                            </p:stCondLst>
                            <p:childTnLst>
                              <p:par>
                                <p:cTn id="153" presetID="9" presetClass="entr" presetSubtype="0" fill="hold" nodeType="afterEffect">
                                  <p:stCondLst>
                                    <p:cond delay="0"/>
                                  </p:stCondLst>
                                  <p:childTnLst>
                                    <p:set>
                                      <p:cBhvr>
                                        <p:cTn id="154" dur="1" fill="hold">
                                          <p:stCondLst>
                                            <p:cond delay="0"/>
                                          </p:stCondLst>
                                        </p:cTn>
                                        <p:tgtEl>
                                          <p:spTgt spid="558390"/>
                                        </p:tgtEl>
                                        <p:attrNameLst>
                                          <p:attrName>style.visibility</p:attrName>
                                        </p:attrNameLst>
                                      </p:cBhvr>
                                      <p:to>
                                        <p:strVal val="visible"/>
                                      </p:to>
                                    </p:set>
                                    <p:animEffect transition="in" filter="dissolve">
                                      <p:cBhvr>
                                        <p:cTn id="155" dur="500"/>
                                        <p:tgtEl>
                                          <p:spTgt spid="558390"/>
                                        </p:tgtEl>
                                      </p:cBhvr>
                                    </p:animEffect>
                                  </p:childTnLst>
                                </p:cTn>
                              </p:par>
                            </p:childTnLst>
                          </p:cTn>
                        </p:par>
                        <p:par>
                          <p:cTn id="156" fill="hold">
                            <p:stCondLst>
                              <p:cond delay="7000"/>
                            </p:stCondLst>
                            <p:childTnLst>
                              <p:par>
                                <p:cTn id="157" presetID="9" presetClass="entr" presetSubtype="0" fill="hold" nodeType="afterEffect">
                                  <p:stCondLst>
                                    <p:cond delay="0"/>
                                  </p:stCondLst>
                                  <p:childTnLst>
                                    <p:set>
                                      <p:cBhvr>
                                        <p:cTn id="158" dur="1" fill="hold">
                                          <p:stCondLst>
                                            <p:cond delay="0"/>
                                          </p:stCondLst>
                                        </p:cTn>
                                        <p:tgtEl>
                                          <p:spTgt spid="558391"/>
                                        </p:tgtEl>
                                        <p:attrNameLst>
                                          <p:attrName>style.visibility</p:attrName>
                                        </p:attrNameLst>
                                      </p:cBhvr>
                                      <p:to>
                                        <p:strVal val="visible"/>
                                      </p:to>
                                    </p:set>
                                    <p:animEffect transition="in" filter="dissolve">
                                      <p:cBhvr>
                                        <p:cTn id="159" dur="500"/>
                                        <p:tgtEl>
                                          <p:spTgt spid="558391"/>
                                        </p:tgtEl>
                                      </p:cBhvr>
                                    </p:animEffect>
                                  </p:childTnLst>
                                </p:cTn>
                              </p:par>
                            </p:childTnLst>
                          </p:cTn>
                        </p:par>
                        <p:par>
                          <p:cTn id="160" fill="hold">
                            <p:stCondLst>
                              <p:cond delay="7500"/>
                            </p:stCondLst>
                            <p:childTnLst>
                              <p:par>
                                <p:cTn id="161" presetID="9" presetClass="entr" presetSubtype="0" fill="hold" nodeType="afterEffect">
                                  <p:stCondLst>
                                    <p:cond delay="0"/>
                                  </p:stCondLst>
                                  <p:childTnLst>
                                    <p:set>
                                      <p:cBhvr>
                                        <p:cTn id="162" dur="1" fill="hold">
                                          <p:stCondLst>
                                            <p:cond delay="0"/>
                                          </p:stCondLst>
                                        </p:cTn>
                                        <p:tgtEl>
                                          <p:spTgt spid="558392"/>
                                        </p:tgtEl>
                                        <p:attrNameLst>
                                          <p:attrName>style.visibility</p:attrName>
                                        </p:attrNameLst>
                                      </p:cBhvr>
                                      <p:to>
                                        <p:strVal val="visible"/>
                                      </p:to>
                                    </p:set>
                                    <p:animEffect transition="in" filter="dissolve">
                                      <p:cBhvr>
                                        <p:cTn id="163" dur="500"/>
                                        <p:tgtEl>
                                          <p:spTgt spid="558392"/>
                                        </p:tgtEl>
                                      </p:cBhvr>
                                    </p:animEffect>
                                  </p:childTnLst>
                                </p:cTn>
                              </p:par>
                            </p:childTnLst>
                          </p:cTn>
                        </p:par>
                        <p:par>
                          <p:cTn id="164" fill="hold">
                            <p:stCondLst>
                              <p:cond delay="8000"/>
                            </p:stCondLst>
                            <p:childTnLst>
                              <p:par>
                                <p:cTn id="165" presetID="9" presetClass="entr" presetSubtype="0" fill="hold" nodeType="afterEffect">
                                  <p:stCondLst>
                                    <p:cond delay="0"/>
                                  </p:stCondLst>
                                  <p:childTnLst>
                                    <p:set>
                                      <p:cBhvr>
                                        <p:cTn id="166" dur="1" fill="hold">
                                          <p:stCondLst>
                                            <p:cond delay="0"/>
                                          </p:stCondLst>
                                        </p:cTn>
                                        <p:tgtEl>
                                          <p:spTgt spid="558393"/>
                                        </p:tgtEl>
                                        <p:attrNameLst>
                                          <p:attrName>style.visibility</p:attrName>
                                        </p:attrNameLst>
                                      </p:cBhvr>
                                      <p:to>
                                        <p:strVal val="visible"/>
                                      </p:to>
                                    </p:set>
                                    <p:animEffect transition="in" filter="dissolve">
                                      <p:cBhvr>
                                        <p:cTn id="167" dur="500"/>
                                        <p:tgtEl>
                                          <p:spTgt spid="558393"/>
                                        </p:tgtEl>
                                      </p:cBhvr>
                                    </p:animEffect>
                                  </p:childTnLst>
                                </p:cTn>
                              </p:par>
                            </p:childTnLst>
                          </p:cTn>
                        </p:par>
                        <p:par>
                          <p:cTn id="168" fill="hold">
                            <p:stCondLst>
                              <p:cond delay="8500"/>
                            </p:stCondLst>
                            <p:childTnLst>
                              <p:par>
                                <p:cTn id="169" presetID="9" presetClass="entr" presetSubtype="0" fill="hold" nodeType="afterEffect">
                                  <p:stCondLst>
                                    <p:cond delay="0"/>
                                  </p:stCondLst>
                                  <p:childTnLst>
                                    <p:set>
                                      <p:cBhvr>
                                        <p:cTn id="170" dur="1" fill="hold">
                                          <p:stCondLst>
                                            <p:cond delay="0"/>
                                          </p:stCondLst>
                                        </p:cTn>
                                        <p:tgtEl>
                                          <p:spTgt spid="558394"/>
                                        </p:tgtEl>
                                        <p:attrNameLst>
                                          <p:attrName>style.visibility</p:attrName>
                                        </p:attrNameLst>
                                      </p:cBhvr>
                                      <p:to>
                                        <p:strVal val="visible"/>
                                      </p:to>
                                    </p:set>
                                    <p:animEffect transition="in" filter="dissolve">
                                      <p:cBhvr>
                                        <p:cTn id="171" dur="500"/>
                                        <p:tgtEl>
                                          <p:spTgt spid="558394"/>
                                        </p:tgtEl>
                                      </p:cBhvr>
                                    </p:animEffect>
                                  </p:childTnLst>
                                </p:cTn>
                              </p:par>
                            </p:childTnLst>
                          </p:cTn>
                        </p:par>
                        <p:par>
                          <p:cTn id="172" fill="hold">
                            <p:stCondLst>
                              <p:cond delay="9000"/>
                            </p:stCondLst>
                            <p:childTnLst>
                              <p:par>
                                <p:cTn id="173" presetID="9" presetClass="entr" presetSubtype="0" fill="hold" nodeType="afterEffect">
                                  <p:stCondLst>
                                    <p:cond delay="0"/>
                                  </p:stCondLst>
                                  <p:childTnLst>
                                    <p:set>
                                      <p:cBhvr>
                                        <p:cTn id="174" dur="1" fill="hold">
                                          <p:stCondLst>
                                            <p:cond delay="0"/>
                                          </p:stCondLst>
                                        </p:cTn>
                                        <p:tgtEl>
                                          <p:spTgt spid="558395"/>
                                        </p:tgtEl>
                                        <p:attrNameLst>
                                          <p:attrName>style.visibility</p:attrName>
                                        </p:attrNameLst>
                                      </p:cBhvr>
                                      <p:to>
                                        <p:strVal val="visible"/>
                                      </p:to>
                                    </p:set>
                                    <p:animEffect transition="in" filter="dissolve">
                                      <p:cBhvr>
                                        <p:cTn id="175" dur="500"/>
                                        <p:tgtEl>
                                          <p:spTgt spid="558395"/>
                                        </p:tgtEl>
                                      </p:cBhvr>
                                    </p:animEffect>
                                  </p:childTnLst>
                                </p:cTn>
                              </p:par>
                            </p:childTnLst>
                          </p:cTn>
                        </p:par>
                        <p:par>
                          <p:cTn id="176" fill="hold">
                            <p:stCondLst>
                              <p:cond delay="9500"/>
                            </p:stCondLst>
                            <p:childTnLst>
                              <p:par>
                                <p:cTn id="177" presetID="9" presetClass="entr" presetSubtype="0" fill="hold" nodeType="afterEffect">
                                  <p:stCondLst>
                                    <p:cond delay="0"/>
                                  </p:stCondLst>
                                  <p:childTnLst>
                                    <p:set>
                                      <p:cBhvr>
                                        <p:cTn id="178" dur="1" fill="hold">
                                          <p:stCondLst>
                                            <p:cond delay="0"/>
                                          </p:stCondLst>
                                        </p:cTn>
                                        <p:tgtEl>
                                          <p:spTgt spid="558396"/>
                                        </p:tgtEl>
                                        <p:attrNameLst>
                                          <p:attrName>style.visibility</p:attrName>
                                        </p:attrNameLst>
                                      </p:cBhvr>
                                      <p:to>
                                        <p:strVal val="visible"/>
                                      </p:to>
                                    </p:set>
                                    <p:animEffect transition="in" filter="dissolve">
                                      <p:cBhvr>
                                        <p:cTn id="179" dur="500"/>
                                        <p:tgtEl>
                                          <p:spTgt spid="558396"/>
                                        </p:tgtEl>
                                      </p:cBhvr>
                                    </p:animEffect>
                                  </p:childTnLst>
                                </p:cTn>
                              </p:par>
                            </p:childTnLst>
                          </p:cTn>
                        </p:par>
                        <p:par>
                          <p:cTn id="180" fill="hold">
                            <p:stCondLst>
                              <p:cond delay="10000"/>
                            </p:stCondLst>
                            <p:childTnLst>
                              <p:par>
                                <p:cTn id="181" presetID="9" presetClass="entr" presetSubtype="0" fill="hold" nodeType="afterEffect">
                                  <p:stCondLst>
                                    <p:cond delay="0"/>
                                  </p:stCondLst>
                                  <p:childTnLst>
                                    <p:set>
                                      <p:cBhvr>
                                        <p:cTn id="182" dur="1" fill="hold">
                                          <p:stCondLst>
                                            <p:cond delay="0"/>
                                          </p:stCondLst>
                                        </p:cTn>
                                        <p:tgtEl>
                                          <p:spTgt spid="558397"/>
                                        </p:tgtEl>
                                        <p:attrNameLst>
                                          <p:attrName>style.visibility</p:attrName>
                                        </p:attrNameLst>
                                      </p:cBhvr>
                                      <p:to>
                                        <p:strVal val="visible"/>
                                      </p:to>
                                    </p:set>
                                    <p:animEffect transition="in" filter="dissolve">
                                      <p:cBhvr>
                                        <p:cTn id="183" dur="500"/>
                                        <p:tgtEl>
                                          <p:spTgt spid="558397"/>
                                        </p:tgtEl>
                                      </p:cBhvr>
                                    </p:animEffect>
                                  </p:childTnLst>
                                </p:cTn>
                              </p:par>
                            </p:childTnLst>
                          </p:cTn>
                        </p:par>
                        <p:par>
                          <p:cTn id="184" fill="hold">
                            <p:stCondLst>
                              <p:cond delay="10500"/>
                            </p:stCondLst>
                            <p:childTnLst>
                              <p:par>
                                <p:cTn id="185" presetID="9" presetClass="entr" presetSubtype="0" fill="hold" nodeType="afterEffect">
                                  <p:stCondLst>
                                    <p:cond delay="0"/>
                                  </p:stCondLst>
                                  <p:childTnLst>
                                    <p:set>
                                      <p:cBhvr>
                                        <p:cTn id="186" dur="1" fill="hold">
                                          <p:stCondLst>
                                            <p:cond delay="0"/>
                                          </p:stCondLst>
                                        </p:cTn>
                                        <p:tgtEl>
                                          <p:spTgt spid="558398"/>
                                        </p:tgtEl>
                                        <p:attrNameLst>
                                          <p:attrName>style.visibility</p:attrName>
                                        </p:attrNameLst>
                                      </p:cBhvr>
                                      <p:to>
                                        <p:strVal val="visible"/>
                                      </p:to>
                                    </p:set>
                                    <p:animEffect transition="in" filter="dissolve">
                                      <p:cBhvr>
                                        <p:cTn id="187" dur="500"/>
                                        <p:tgtEl>
                                          <p:spTgt spid="558398"/>
                                        </p:tgtEl>
                                      </p:cBhvr>
                                    </p:animEffect>
                                  </p:childTnLst>
                                </p:cTn>
                              </p:par>
                            </p:childTnLst>
                          </p:cTn>
                        </p:par>
                        <p:par>
                          <p:cTn id="188" fill="hold">
                            <p:stCondLst>
                              <p:cond delay="11000"/>
                            </p:stCondLst>
                            <p:childTnLst>
                              <p:par>
                                <p:cTn id="189" presetID="9" presetClass="entr" presetSubtype="0" fill="hold" nodeType="afterEffect">
                                  <p:stCondLst>
                                    <p:cond delay="0"/>
                                  </p:stCondLst>
                                  <p:childTnLst>
                                    <p:set>
                                      <p:cBhvr>
                                        <p:cTn id="190" dur="1" fill="hold">
                                          <p:stCondLst>
                                            <p:cond delay="0"/>
                                          </p:stCondLst>
                                        </p:cTn>
                                        <p:tgtEl>
                                          <p:spTgt spid="558399"/>
                                        </p:tgtEl>
                                        <p:attrNameLst>
                                          <p:attrName>style.visibility</p:attrName>
                                        </p:attrNameLst>
                                      </p:cBhvr>
                                      <p:to>
                                        <p:strVal val="visible"/>
                                      </p:to>
                                    </p:set>
                                    <p:animEffect transition="in" filter="dissolve">
                                      <p:cBhvr>
                                        <p:cTn id="191" dur="500"/>
                                        <p:tgtEl>
                                          <p:spTgt spid="558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376" grpId="0" animBg="1"/>
      <p:bldP spid="558377" grpId="0" animBg="1"/>
    </p:bldLst>
  </p:timing>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4626" name="圆角矩形 1"/>
          <p:cNvSpPr/>
          <p:nvPr/>
        </p:nvSpPr>
        <p:spPr>
          <a:xfrm>
            <a:off x="539750" y="1211263"/>
            <a:ext cx="8145463" cy="641350"/>
          </a:xfrm>
          <a:prstGeom prst="roundRect">
            <a:avLst>
              <a:gd name="adj" fmla="val 16667"/>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6" name="圆角矩形 5"/>
          <p:cNvSpPr/>
          <p:nvPr/>
        </p:nvSpPr>
        <p:spPr bwMode="auto">
          <a:xfrm>
            <a:off x="539750" y="2073275"/>
            <a:ext cx="8145463" cy="4103688"/>
          </a:xfrm>
          <a:prstGeom prst="roundRect">
            <a:avLst>
              <a:gd name="adj" fmla="val 3982"/>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30116" name="Rectangle 4"/>
          <p:cNvSpPr>
            <a:spLocks noChangeArrowheads="1"/>
          </p:cNvSpPr>
          <p:nvPr/>
        </p:nvSpPr>
        <p:spPr bwMode="auto">
          <a:xfrm>
            <a:off x="539750" y="2273300"/>
            <a:ext cx="8145463" cy="3762375"/>
          </a:xfrm>
          <a:prstGeom prst="rect">
            <a:avLst/>
          </a:prstGeom>
          <a:noFill/>
          <a:ln w="25400">
            <a:noFill/>
            <a:miter lim="800000"/>
          </a:ln>
          <a:effectLst>
            <a:outerShdw dist="35921" dir="2700000" sy="50000" kx="2115830" algn="bl" rotWithShape="0">
              <a:srgbClr val="C0C0C0"/>
            </a:outerShdw>
          </a:effectLst>
        </p:spPr>
        <p:txBody>
          <a:bodyPr anchor="ctr">
            <a:spAutoFit/>
          </a:body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从入口出发，按某一方向向未走过的前方探索</a:t>
            </a:r>
          </a:p>
          <a:p>
            <a:pPr marL="0" marR="0" lvl="0" indent="0" algn="l" defTabSz="914400" rtl="0" eaLnBrk="1" fontAlgn="base" latinLnBrk="0" hangingPunct="1">
              <a:lnSpc>
                <a:spcPct val="130000"/>
              </a:lnSpc>
              <a:spcBef>
                <a:spcPct val="50000"/>
              </a:spcBef>
              <a:spcAft>
                <a:spcPct val="0"/>
              </a:spcAft>
              <a:buClr>
                <a:srgbClr val="FF0000"/>
              </a:buClr>
              <a:buSzTx/>
              <a:buFont typeface="Wingdings" panose="05000000000000000000" pitchFamily="2" charset="2"/>
              <a:buChar char="ü"/>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若能走通，则到达新点，否则试探下一方向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p>
          <a:p>
            <a:pPr marL="176530" marR="0" lvl="0" indent="-176530" algn="l" defTabSz="914400" rtl="0" eaLnBrk="1" fontAlgn="base" latinLnBrk="0" hangingPunct="1">
              <a:lnSpc>
                <a:spcPct val="130000"/>
              </a:lnSpc>
              <a:spcBef>
                <a:spcPct val="50000"/>
              </a:spcBef>
              <a:spcAft>
                <a:spcPct val="0"/>
              </a:spcAft>
              <a:buClr>
                <a:srgbClr val="FF0000"/>
              </a:buClr>
              <a:buSzTx/>
              <a:buFont typeface="Wingdings" panose="05000000000000000000" pitchFamily="2" charset="2"/>
              <a:buChar char="ü"/>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若所有的方向均没有通路，则沿原路返回前一点，换下一个方向再继续试探</a:t>
            </a:r>
          </a:p>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直到所有可能的通路都探索到，或找到一条通路，或无路可走又返回到入口点。</a:t>
            </a:r>
          </a:p>
        </p:txBody>
      </p:sp>
      <p:sp>
        <p:nvSpPr>
          <p:cNvPr id="140292" name="Rectangle 5"/>
          <p:cNvSpPr>
            <a:spLocks noChangeArrowheads="1"/>
          </p:cNvSpPr>
          <p:nvPr/>
        </p:nvSpPr>
        <p:spPr bwMode="auto">
          <a:xfrm>
            <a:off x="539750" y="1236663"/>
            <a:ext cx="326231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3000" b="0" i="0" u="none" strike="noStrike" kern="1200" cap="none" spc="0" normalizeH="0" baseline="0" noProof="0" dirty="0">
                <a:ln>
                  <a:noFill/>
                </a:ln>
                <a:solidFill>
                  <a:schemeClr val="bg1"/>
                </a:solidFill>
                <a:effectLst/>
                <a:uLnTx/>
                <a:uFillTx/>
                <a:latin typeface="+mn-lt"/>
                <a:ea typeface="+mn-ea"/>
                <a:cs typeface="+mn-ea"/>
                <a:sym typeface="+mn-lt"/>
              </a:rPr>
              <a:t>求解思想：</a:t>
            </a:r>
            <a:r>
              <a:rPr kumimoji="0" lang="zh-CN" altLang="en-US" sz="3000" b="0" i="0" u="none" strike="noStrike" kern="1200" cap="none" spc="0" normalizeH="0" baseline="0" noProof="0" dirty="0">
                <a:ln>
                  <a:noFill/>
                </a:ln>
                <a:solidFill>
                  <a:srgbClr val="FFC000"/>
                </a:solidFill>
                <a:effectLst/>
                <a:uLnTx/>
                <a:uFillTx/>
                <a:latin typeface="+mn-lt"/>
                <a:ea typeface="+mn-ea"/>
                <a:cs typeface="+mn-ea"/>
                <a:sym typeface="+mn-lt"/>
              </a:rPr>
              <a:t>回溯法</a:t>
            </a:r>
          </a:p>
        </p:txBody>
      </p:sp>
      <p:sp>
        <p:nvSpPr>
          <p:cNvPr id="140293" name="Rectangle 6"/>
          <p:cNvSpPr>
            <a:spLocks noChangeArrowheads="1"/>
          </p:cNvSpPr>
          <p:nvPr/>
        </p:nvSpPr>
        <p:spPr bwMode="auto">
          <a:xfrm>
            <a:off x="754063" y="207963"/>
            <a:ext cx="27305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迷宫求解</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37221" name="表格 137220"/>
          <p:cNvGraphicFramePr/>
          <p:nvPr/>
        </p:nvGraphicFramePr>
        <p:xfrm>
          <a:off x="1036638" y="914400"/>
          <a:ext cx="7129458" cy="5832476"/>
        </p:xfrm>
        <a:graphic>
          <a:graphicData uri="http://schemas.openxmlformats.org/drawingml/2006/table">
            <a:tbl>
              <a:tblPr/>
              <a:tblGrid>
                <a:gridCol w="648260"/>
                <a:gridCol w="648260"/>
                <a:gridCol w="648260"/>
                <a:gridCol w="648260"/>
                <a:gridCol w="648260"/>
                <a:gridCol w="646858"/>
                <a:gridCol w="648260"/>
                <a:gridCol w="648260"/>
                <a:gridCol w="648260"/>
                <a:gridCol w="648260"/>
                <a:gridCol w="648260"/>
              </a:tblGrid>
              <a:tr h="582123">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buNone/>
                      </a:pPr>
                      <a:endParaRPr lang="zh-CN" altLang="zh-CN" sz="2800" dirty="0">
                        <a:solidFill>
                          <a:schemeClr val="bg1"/>
                        </a:solidFill>
                        <a:latin typeface="+mn-lt"/>
                        <a:ea typeface="+mn-ea"/>
                        <a:cs typeface="+mn-ea"/>
                        <a:sym typeface="+mn-lt"/>
                      </a:endParaRPr>
                    </a:p>
                  </a:txBody>
                  <a:tcPr marL="89991" marR="89991" marT="46799" marB="46799" anchor="ctr" anchorCtr="1">
                    <a:lnL>
                      <a:noFill/>
                    </a:lnL>
                    <a:lnR>
                      <a:noFill/>
                    </a:lnR>
                    <a:lnT>
                      <a:noFill/>
                    </a:lnT>
                    <a:lnB>
                      <a:noFill/>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0</a:t>
                      </a:r>
                    </a:p>
                  </a:txBody>
                  <a:tcPr marL="89991" marR="89991" marT="46799" marB="46799" anchor="ctr" anchorCtr="1">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1</a:t>
                      </a:r>
                    </a:p>
                  </a:txBody>
                  <a:tcPr marL="89991" marR="89991" marT="46799" marB="46799" anchor="ctr" anchorCtr="1">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2</a:t>
                      </a:r>
                    </a:p>
                  </a:txBody>
                  <a:tcPr marL="89991" marR="89991" marT="46799" marB="46799" anchor="ctr" anchorCtr="1">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3</a:t>
                      </a:r>
                    </a:p>
                  </a:txBody>
                  <a:tcPr marL="89991" marR="89991" marT="46799" marB="46799" anchor="ctr" anchorCtr="1">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4</a:t>
                      </a:r>
                    </a:p>
                  </a:txBody>
                  <a:tcPr marL="89991" marR="89991" marT="46799" marB="46799" anchor="ctr" anchorCtr="1">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5</a:t>
                      </a:r>
                    </a:p>
                  </a:txBody>
                  <a:tcPr marL="89991" marR="89991" marT="46799" marB="46799" anchor="ctr" anchorCtr="1">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6</a:t>
                      </a:r>
                    </a:p>
                  </a:txBody>
                  <a:tcPr marL="89991" marR="89991" marT="46799" marB="46799" anchor="ctr" anchorCtr="1">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7</a:t>
                      </a:r>
                    </a:p>
                  </a:txBody>
                  <a:tcPr marL="89991" marR="89991" marT="46799" marB="46799" anchor="ctr" anchorCtr="1">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8</a:t>
                      </a:r>
                    </a:p>
                  </a:txBody>
                  <a:tcPr marL="89991" marR="89991" marT="46799" marB="46799" anchor="ctr" anchorCtr="1">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9</a:t>
                      </a:r>
                    </a:p>
                  </a:txBody>
                  <a:tcPr marL="89991" marR="89991" marT="46799" marB="46799" anchor="ctr" anchorCtr="1">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r>
              <a:tr h="524474">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0</a:t>
                      </a:r>
                    </a:p>
                  </a:txBody>
                  <a:tcPr marL="89991" marR="89991" marT="46799" marB="46799" anchor="ctr" anchorCtr="1">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r>
              <a:tr h="525878">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1</a:t>
                      </a:r>
                    </a:p>
                  </a:txBody>
                  <a:tcPr marL="89991" marR="89991" marT="46799" marB="46799" anchor="ctr" anchorCtr="1">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r>
              <a:tr h="524473">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2</a:t>
                      </a:r>
                    </a:p>
                  </a:txBody>
                  <a:tcPr marL="89991" marR="89991" marT="46799" marB="46799" anchor="ctr" anchorCtr="1">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r>
              <a:tr h="524474">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3</a:t>
                      </a:r>
                    </a:p>
                  </a:txBody>
                  <a:tcPr marL="89991" marR="89991" marT="46799" marB="46799" anchor="ctr" anchorCtr="1">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r>
              <a:tr h="524473">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4</a:t>
                      </a:r>
                    </a:p>
                  </a:txBody>
                  <a:tcPr marL="89991" marR="89991" marT="46799" marB="46799" anchor="ctr" anchorCtr="1">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r>
              <a:tr h="525878">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5</a:t>
                      </a:r>
                    </a:p>
                  </a:txBody>
                  <a:tcPr marL="89991" marR="89991" marT="46799" marB="46799" anchor="ctr" anchorCtr="1">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r>
              <a:tr h="524474">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6</a:t>
                      </a:r>
                    </a:p>
                  </a:txBody>
                  <a:tcPr marL="89991" marR="89991" marT="46799" marB="46799" anchor="ctr" anchorCtr="1">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78DC2"/>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78DC2"/>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78DC2"/>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r>
              <a:tr h="524473">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7</a:t>
                      </a:r>
                    </a:p>
                  </a:txBody>
                  <a:tcPr marL="89991" marR="89991" marT="46799" marB="46799" anchor="ctr" anchorCtr="1">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r>
              <a:tr h="525878">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8</a:t>
                      </a:r>
                    </a:p>
                  </a:txBody>
                  <a:tcPr marL="89991" marR="89991" marT="46799" marB="46799" anchor="ctr" anchorCtr="1">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rgbClr val="FFFF00"/>
                          </a:solidFill>
                          <a:latin typeface="+mn-lt"/>
                          <a:ea typeface="+mn-ea"/>
                          <a:cs typeface="+mn-ea"/>
                          <a:sym typeface="+mn-lt"/>
                        </a:rPr>
                        <a:t>0</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r>
              <a:tr h="525878">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solidFill>
                            <a:schemeClr val="bg1"/>
                          </a:solidFill>
                          <a:latin typeface="+mn-lt"/>
                          <a:ea typeface="+mn-ea"/>
                          <a:cs typeface="+mn-ea"/>
                          <a:sym typeface="+mn-lt"/>
                        </a:rPr>
                        <a:t>9</a:t>
                      </a:r>
                    </a:p>
                  </a:txBody>
                  <a:tcPr marL="89991" marR="89991" marT="46799" marB="46799" anchor="ctr" anchorCtr="1">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1">
                        <a:lumMod val="60000"/>
                        <a:lumOff val="4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marL="0" lvl="0"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0" fontAlgn="base" latinLnBrk="0" hangingPunct="0">
                        <a:lnSpc>
                          <a:spcPct val="100000"/>
                        </a:lnSpc>
                        <a:spcBef>
                          <a:spcPct val="20000"/>
                        </a:spcBef>
                        <a:spcAft>
                          <a:spcPct val="0"/>
                        </a:spcAft>
                        <a:buNone/>
                        <a:defRPr sz="2400" b="1" i="0" u="none" kern="1200" baseline="0">
                          <a:solidFill>
                            <a:schemeClr val="tx1"/>
                          </a:solidFill>
                          <a:latin typeface="Times New Roman" panose="02020603050405020304" pitchFamily="18" charset="0"/>
                          <a:ea typeface="楷体_GB2312" pitchFamily="49" charset="-122"/>
                          <a:cs typeface="+mn-cs"/>
                        </a:defRPr>
                      </a:lvl5pPr>
                    </a:lstStyle>
                    <a:p>
                      <a:pPr lvl="0" algn="ctr">
                        <a:spcBef>
                          <a:spcPct val="0"/>
                        </a:spcBef>
                        <a:buNone/>
                      </a:pPr>
                      <a:r>
                        <a:rPr lang="en-US" altLang="zh-CN" sz="2800" dirty="0">
                          <a:latin typeface="+mn-lt"/>
                          <a:ea typeface="+mn-ea"/>
                          <a:cs typeface="+mn-ea"/>
                          <a:sym typeface="+mn-lt"/>
                        </a:rPr>
                        <a:t>1</a:t>
                      </a:r>
                    </a:p>
                  </a:txBody>
                  <a:tcPr marL="89991" marR="89991" marT="46799" marB="46799"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r>
            </a:tbl>
          </a:graphicData>
        </a:graphic>
      </p:graphicFrame>
      <p:sp>
        <p:nvSpPr>
          <p:cNvPr id="4" name="Rectangle 5"/>
          <p:cNvSpPr>
            <a:spLocks noChangeArrowheads="1"/>
          </p:cNvSpPr>
          <p:nvPr/>
        </p:nvSpPr>
        <p:spPr bwMode="auto">
          <a:xfrm>
            <a:off x="827088" y="206375"/>
            <a:ext cx="273208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迷宫求解</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7460" name="Rectangle 5"/>
          <p:cNvSpPr>
            <a:spLocks noChangeArrowheads="1"/>
          </p:cNvSpPr>
          <p:nvPr/>
        </p:nvSpPr>
        <p:spPr bwMode="auto">
          <a:xfrm>
            <a:off x="900430" y="208280"/>
            <a:ext cx="4756150" cy="516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迷宫求解</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递归</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回溯法</a:t>
            </a:r>
          </a:p>
        </p:txBody>
      </p:sp>
      <p:sp>
        <p:nvSpPr>
          <p:cNvPr id="750595" name="文本占位符 750594"/>
          <p:cNvSpPr>
            <a:spLocks noGrp="1"/>
          </p:cNvSpPr>
          <p:nvPr>
            <p:ph type="body" idx="1"/>
          </p:nvPr>
        </p:nvSpPr>
        <p:spPr>
          <a:xfrm>
            <a:off x="468630" y="1412875"/>
            <a:ext cx="8135620" cy="5200015"/>
          </a:xfrm>
        </p:spPr>
        <p:txBody>
          <a:bodyPr/>
          <a:lstStyle/>
          <a:p>
            <a:pPr latinLnBrk="0">
              <a:lnSpc>
                <a:spcPct val="120000"/>
              </a:lnSpc>
            </a:pPr>
            <a:r>
              <a:rPr lang="zh-CN" altLang="en-US" sz="2800" dirty="0"/>
              <a:t>抽象类定义</a:t>
            </a:r>
          </a:p>
          <a:p>
            <a:pPr latinLnBrk="0">
              <a:lnSpc>
                <a:spcPct val="120000"/>
              </a:lnSpc>
              <a:buNone/>
            </a:pPr>
            <a:r>
              <a:rPr lang="en-US" altLang="zh-CN" sz="2800">
                <a:solidFill>
                  <a:srgbClr val="FF6600"/>
                </a:solidFill>
              </a:rPr>
              <a:t>class Maze{</a:t>
            </a:r>
          </a:p>
          <a:p>
            <a:pPr latinLnBrk="0">
              <a:lnSpc>
                <a:spcPct val="120000"/>
              </a:lnSpc>
              <a:buNone/>
            </a:pPr>
            <a:r>
              <a:rPr lang="en-US" altLang="zh-CN" sz="2800">
                <a:solidFill>
                  <a:srgbClr val="FF6600"/>
                </a:solidFill>
              </a:rPr>
              <a:t>  private:</a:t>
            </a:r>
          </a:p>
          <a:p>
            <a:pPr latinLnBrk="0">
              <a:lnSpc>
                <a:spcPct val="120000"/>
              </a:lnSpc>
              <a:buNone/>
            </a:pPr>
            <a:r>
              <a:rPr lang="en-US" altLang="zh-CN" sz="2800">
                <a:solidFill>
                  <a:srgbClr val="FF6600"/>
                </a:solidFill>
              </a:rPr>
              <a:t>    </a:t>
            </a:r>
            <a:r>
              <a:rPr lang="en-US" altLang="zh-CN" sz="2800" err="1">
                <a:solidFill>
                  <a:srgbClr val="FF6600"/>
                </a:solidFill>
              </a:rPr>
              <a:t>int</a:t>
            </a:r>
            <a:r>
              <a:rPr lang="en-US" altLang="zh-CN" sz="2800">
                <a:solidFill>
                  <a:srgbClr val="FF6600"/>
                </a:solidFill>
              </a:rPr>
              <a:t> </a:t>
            </a:r>
            <a:r>
              <a:rPr lang="en-US" altLang="zh-CN" sz="2800" err="1">
                <a:solidFill>
                  <a:srgbClr val="FF6600"/>
                </a:solidFill>
              </a:rPr>
              <a:t>MazeSize</a:t>
            </a:r>
            <a:r>
              <a:rPr lang="en-US" altLang="zh-CN" sz="2800">
                <a:solidFill>
                  <a:schemeClr val="tx2"/>
                </a:solidFill>
              </a:rPr>
              <a:t>;//</a:t>
            </a:r>
            <a:r>
              <a:rPr lang="zh-CN" altLang="en-US" sz="2800" dirty="0">
                <a:solidFill>
                  <a:schemeClr val="tx2"/>
                </a:solidFill>
              </a:rPr>
              <a:t>迷宫交通路口数</a:t>
            </a:r>
          </a:p>
          <a:p>
            <a:pPr latinLnBrk="0">
              <a:lnSpc>
                <a:spcPct val="120000"/>
              </a:lnSpc>
              <a:buNone/>
            </a:pPr>
            <a:r>
              <a:rPr lang="zh-CN" altLang="en-US" sz="2800">
                <a:solidFill>
                  <a:srgbClr val="FF6600"/>
                </a:solidFill>
              </a:rPr>
              <a:t>    </a:t>
            </a:r>
            <a:r>
              <a:rPr lang="en-US" altLang="zh-CN" sz="2800" err="1">
                <a:solidFill>
                  <a:srgbClr val="FF6600"/>
                </a:solidFill>
              </a:rPr>
              <a:t>int</a:t>
            </a:r>
            <a:r>
              <a:rPr lang="en-US" altLang="zh-CN" sz="2800">
                <a:solidFill>
                  <a:srgbClr val="FF6600"/>
                </a:solidFill>
              </a:rPr>
              <a:t> Exit;          </a:t>
            </a:r>
            <a:r>
              <a:rPr lang="en-US" altLang="zh-CN" sz="2800">
                <a:solidFill>
                  <a:schemeClr val="tx2"/>
                </a:solidFill>
              </a:rPr>
              <a:t>//</a:t>
            </a:r>
            <a:r>
              <a:rPr lang="zh-CN" altLang="en-US" sz="2800" dirty="0">
                <a:solidFill>
                  <a:schemeClr val="tx2"/>
                </a:solidFill>
              </a:rPr>
              <a:t>迷宫出口号码</a:t>
            </a:r>
          </a:p>
          <a:p>
            <a:pPr latinLnBrk="0">
              <a:lnSpc>
                <a:spcPct val="120000"/>
              </a:lnSpc>
              <a:buNone/>
            </a:pPr>
            <a:r>
              <a:rPr lang="zh-CN" altLang="en-US" sz="2800">
                <a:solidFill>
                  <a:srgbClr val="FF6600"/>
                </a:solidFill>
              </a:rPr>
              <a:t>    </a:t>
            </a:r>
            <a:r>
              <a:rPr lang="en-US" altLang="zh-CN" sz="2800">
                <a:solidFill>
                  <a:srgbClr val="FF6600"/>
                </a:solidFill>
              </a:rPr>
              <a:t>Intersection * </a:t>
            </a:r>
            <a:r>
              <a:rPr lang="en-US" altLang="zh-CN" sz="2800" err="1">
                <a:solidFill>
                  <a:srgbClr val="FF6600"/>
                </a:solidFill>
              </a:rPr>
              <a:t>intsec</a:t>
            </a:r>
            <a:r>
              <a:rPr lang="en-US" altLang="zh-CN" sz="2800">
                <a:solidFill>
                  <a:srgbClr val="FF6600"/>
                </a:solidFill>
              </a:rPr>
              <a:t>;  </a:t>
            </a:r>
            <a:r>
              <a:rPr lang="en-US" altLang="zh-CN" sz="2800">
                <a:solidFill>
                  <a:schemeClr val="tx2"/>
                </a:solidFill>
              </a:rPr>
              <a:t>//</a:t>
            </a:r>
            <a:r>
              <a:rPr lang="zh-CN" altLang="en-US" sz="2800" dirty="0">
                <a:solidFill>
                  <a:schemeClr val="tx2"/>
                </a:solidFill>
              </a:rPr>
              <a:t>迷宫路口数组</a:t>
            </a:r>
          </a:p>
          <a:p>
            <a:pPr latinLnBrk="0">
              <a:lnSpc>
                <a:spcPct val="120000"/>
              </a:lnSpc>
              <a:buNone/>
            </a:pPr>
            <a:r>
              <a:rPr lang="zh-CN" altLang="en-US" sz="2800">
                <a:solidFill>
                  <a:srgbClr val="FF6600"/>
                </a:solidFill>
              </a:rPr>
              <a:t>  </a:t>
            </a:r>
            <a:r>
              <a:rPr lang="en-US" altLang="zh-CN" sz="2800">
                <a:solidFill>
                  <a:srgbClr val="FF6600"/>
                </a:solidFill>
              </a:rPr>
              <a:t>public:</a:t>
            </a:r>
          </a:p>
          <a:p>
            <a:pPr latinLnBrk="0">
              <a:lnSpc>
                <a:spcPct val="120000"/>
              </a:lnSpc>
              <a:buNone/>
            </a:pPr>
            <a:r>
              <a:rPr lang="en-US" altLang="zh-CN" sz="2800">
                <a:solidFill>
                  <a:srgbClr val="FF6600"/>
                </a:solidFill>
              </a:rPr>
              <a:t>    Maze(char * filename);   </a:t>
            </a:r>
            <a:r>
              <a:rPr lang="en-US" altLang="zh-CN" sz="2800">
                <a:solidFill>
                  <a:schemeClr val="tx2"/>
                </a:solidFill>
              </a:rPr>
              <a:t>//</a:t>
            </a:r>
            <a:r>
              <a:rPr lang="zh-CN" altLang="en-US" sz="2800" dirty="0">
                <a:solidFill>
                  <a:schemeClr val="tx2"/>
                </a:solidFill>
              </a:rPr>
              <a:t>读取迷宫数据</a:t>
            </a:r>
          </a:p>
          <a:p>
            <a:pPr latinLnBrk="0">
              <a:lnSpc>
                <a:spcPct val="120000"/>
              </a:lnSpc>
              <a:buNone/>
            </a:pPr>
            <a:r>
              <a:rPr lang="zh-CN" altLang="en-US" sz="2800">
                <a:solidFill>
                  <a:srgbClr val="FF6600"/>
                </a:solidFill>
              </a:rPr>
              <a:t>    </a:t>
            </a:r>
            <a:r>
              <a:rPr lang="en-US" altLang="zh-CN" sz="2800" err="1">
                <a:solidFill>
                  <a:srgbClr val="FF6600"/>
                </a:solidFill>
              </a:rPr>
              <a:t>int</a:t>
            </a:r>
            <a:r>
              <a:rPr lang="en-US" altLang="zh-CN" sz="2800">
                <a:solidFill>
                  <a:srgbClr val="FF6600"/>
                </a:solidFill>
              </a:rPr>
              <a:t> </a:t>
            </a:r>
            <a:r>
              <a:rPr lang="en-US" altLang="zh-CN" sz="2800" err="1">
                <a:solidFill>
                  <a:srgbClr val="FF6600"/>
                </a:solidFill>
              </a:rPr>
              <a:t>TraverseMaze(int</a:t>
            </a:r>
            <a:r>
              <a:rPr lang="en-US" altLang="zh-CN" sz="2800">
                <a:solidFill>
                  <a:srgbClr val="FF6600"/>
                </a:solidFill>
              </a:rPr>
              <a:t> </a:t>
            </a:r>
            <a:r>
              <a:rPr lang="en-US" altLang="zh-CN" sz="2800" err="1">
                <a:solidFill>
                  <a:srgbClr val="FF6600"/>
                </a:solidFill>
              </a:rPr>
              <a:t>CurrentPos</a:t>
            </a:r>
            <a:r>
              <a:rPr lang="en-US" altLang="zh-CN" sz="2800">
                <a:solidFill>
                  <a:srgbClr val="FF6600"/>
                </a:solidFill>
              </a:rPr>
              <a:t>=1); </a:t>
            </a:r>
            <a:r>
              <a:rPr lang="en-US" altLang="zh-CN" sz="2800">
                <a:solidFill>
                  <a:schemeClr val="tx2"/>
                </a:solidFill>
              </a:rPr>
              <a:t>//</a:t>
            </a:r>
            <a:r>
              <a:rPr lang="zh-CN" altLang="en-US" sz="2800" dirty="0">
                <a:solidFill>
                  <a:schemeClr val="tx2"/>
                </a:solidFill>
              </a:rPr>
              <a:t>迷宫求解</a:t>
            </a:r>
          </a:p>
          <a:p>
            <a:pPr latinLnBrk="0">
              <a:lnSpc>
                <a:spcPct val="120000"/>
              </a:lnSpc>
              <a:buNone/>
            </a:pPr>
            <a:r>
              <a:rPr lang="zh-CN" altLang="en-US" sz="2800">
                <a:solidFill>
                  <a:srgbClr val="FF6600"/>
                </a:solidFill>
              </a:rPr>
              <a:t>  </a:t>
            </a:r>
            <a:r>
              <a:rPr lang="en-US" altLang="zh-CN" sz="2800">
                <a:solidFill>
                  <a:srgbClr val="FF6600"/>
                </a:solidFill>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7460" name="Rectangle 5"/>
          <p:cNvSpPr>
            <a:spLocks noChangeArrowheads="1"/>
          </p:cNvSpPr>
          <p:nvPr/>
        </p:nvSpPr>
        <p:spPr bwMode="auto">
          <a:xfrm>
            <a:off x="900430" y="208280"/>
            <a:ext cx="4756150" cy="516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迷宫求解</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递归</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回溯法</a:t>
            </a:r>
          </a:p>
        </p:txBody>
      </p:sp>
      <p:sp>
        <p:nvSpPr>
          <p:cNvPr id="751619" name="文本占位符 751618"/>
          <p:cNvSpPr>
            <a:spLocks noGrp="1"/>
          </p:cNvSpPr>
          <p:nvPr>
            <p:ph type="body" idx="1"/>
          </p:nvPr>
        </p:nvSpPr>
        <p:spPr>
          <a:xfrm>
            <a:off x="755650" y="1700213"/>
            <a:ext cx="7921625" cy="4270375"/>
          </a:xfrm>
        </p:spPr>
        <p:txBody>
          <a:bodyPr/>
          <a:lstStyle/>
          <a:p>
            <a:r>
              <a:rPr lang="zh-CN" altLang="en-US" sz="2800" dirty="0"/>
              <a:t>迷宫路口数据结构</a:t>
            </a:r>
          </a:p>
          <a:p>
            <a:pPr>
              <a:buNone/>
            </a:pPr>
            <a:r>
              <a:rPr lang="en-US" altLang="zh-CN" sz="2800" err="1">
                <a:solidFill>
                  <a:schemeClr val="folHlink"/>
                </a:solidFill>
              </a:rPr>
              <a:t>struct</a:t>
            </a:r>
            <a:r>
              <a:rPr lang="en-US" altLang="zh-CN" sz="2800">
                <a:solidFill>
                  <a:schemeClr val="folHlink"/>
                </a:solidFill>
              </a:rPr>
              <a:t> Intersection{</a:t>
            </a:r>
          </a:p>
          <a:p>
            <a:pPr>
              <a:buNone/>
            </a:pPr>
            <a:r>
              <a:rPr lang="en-US" altLang="zh-CN" sz="2800">
                <a:solidFill>
                  <a:schemeClr val="folHlink"/>
                </a:solidFill>
              </a:rPr>
              <a:t>  </a:t>
            </a:r>
            <a:r>
              <a:rPr lang="en-US" altLang="zh-CN" sz="2800" err="1">
                <a:solidFill>
                  <a:schemeClr val="folHlink"/>
                </a:solidFill>
              </a:rPr>
              <a:t>int</a:t>
            </a:r>
            <a:r>
              <a:rPr lang="en-US" altLang="zh-CN" sz="2800">
                <a:solidFill>
                  <a:schemeClr val="folHlink"/>
                </a:solidFill>
              </a:rPr>
              <a:t> left;</a:t>
            </a:r>
          </a:p>
          <a:p>
            <a:pPr>
              <a:buNone/>
            </a:pPr>
            <a:r>
              <a:rPr lang="en-US" altLang="zh-CN" sz="2800">
                <a:solidFill>
                  <a:schemeClr val="folHlink"/>
                </a:solidFill>
              </a:rPr>
              <a:t>  </a:t>
            </a:r>
            <a:r>
              <a:rPr lang="en-US" altLang="zh-CN" sz="2800" err="1">
                <a:solidFill>
                  <a:schemeClr val="folHlink"/>
                </a:solidFill>
              </a:rPr>
              <a:t>int</a:t>
            </a:r>
            <a:r>
              <a:rPr lang="en-US" altLang="zh-CN" sz="2800">
                <a:solidFill>
                  <a:schemeClr val="folHlink"/>
                </a:solidFill>
              </a:rPr>
              <a:t> forward;</a:t>
            </a:r>
          </a:p>
          <a:p>
            <a:pPr>
              <a:buNone/>
            </a:pPr>
            <a:r>
              <a:rPr lang="en-US" altLang="zh-CN" sz="2800">
                <a:solidFill>
                  <a:schemeClr val="folHlink"/>
                </a:solidFill>
              </a:rPr>
              <a:t>  </a:t>
            </a:r>
            <a:r>
              <a:rPr lang="en-US" altLang="zh-CN" sz="2800" err="1">
                <a:solidFill>
                  <a:schemeClr val="folHlink"/>
                </a:solidFill>
              </a:rPr>
              <a:t>int</a:t>
            </a:r>
            <a:r>
              <a:rPr lang="en-US" altLang="zh-CN" sz="2800">
                <a:solidFill>
                  <a:schemeClr val="folHlink"/>
                </a:solidFill>
              </a:rPr>
              <a:t> right;</a:t>
            </a:r>
          </a:p>
          <a:p>
            <a:pPr>
              <a:buNone/>
            </a:pPr>
            <a:r>
              <a:rPr lang="en-US" altLang="zh-CN" sz="2800">
                <a:solidFill>
                  <a:schemeClr val="folHlink"/>
                </a:solidFill>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7460" name="Rectangle 5"/>
          <p:cNvSpPr>
            <a:spLocks noChangeArrowheads="1"/>
          </p:cNvSpPr>
          <p:nvPr/>
        </p:nvSpPr>
        <p:spPr bwMode="auto">
          <a:xfrm>
            <a:off x="900430" y="208280"/>
            <a:ext cx="4756150" cy="516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迷宫求解</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递归</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回溯法</a:t>
            </a:r>
          </a:p>
        </p:txBody>
      </p:sp>
      <p:sp>
        <p:nvSpPr>
          <p:cNvPr id="752643" name="文本占位符 752642"/>
          <p:cNvSpPr>
            <a:spLocks noGrp="1"/>
          </p:cNvSpPr>
          <p:nvPr>
            <p:ph type="body" idx="1"/>
          </p:nvPr>
        </p:nvSpPr>
        <p:spPr>
          <a:xfrm>
            <a:off x="35560" y="1196340"/>
            <a:ext cx="9048750" cy="5605145"/>
          </a:xfrm>
          <a:solidFill>
            <a:schemeClr val="bg2">
              <a:lumMod val="20000"/>
              <a:lumOff val="80000"/>
            </a:schemeClr>
          </a:solidFill>
        </p:spPr>
        <p:txBody>
          <a:bodyPr/>
          <a:lstStyle/>
          <a:p>
            <a:pPr latinLnBrk="0">
              <a:lnSpc>
                <a:spcPct val="100000"/>
              </a:lnSpc>
            </a:pPr>
            <a:r>
              <a:rPr lang="zh-CN" altLang="en-US" sz="2400" b="1" dirty="0">
                <a:solidFill>
                  <a:schemeClr val="folHlink"/>
                </a:solidFill>
                <a:ea typeface="楷体_GB2312" pitchFamily="49" charset="-122"/>
              </a:rPr>
              <a:t>读取迷宫文件数据</a:t>
            </a:r>
          </a:p>
          <a:p>
            <a:pPr latinLnBrk="0">
              <a:lnSpc>
                <a:spcPct val="100000"/>
              </a:lnSpc>
              <a:buNone/>
            </a:pPr>
            <a:r>
              <a:rPr lang="en-US" altLang="zh-CN" sz="2400"/>
              <a:t>Maze::Maze(char * filename){</a:t>
            </a:r>
          </a:p>
          <a:p>
            <a:pPr latinLnBrk="0">
              <a:lnSpc>
                <a:spcPct val="100000"/>
              </a:lnSpc>
              <a:buNone/>
            </a:pPr>
            <a:r>
              <a:rPr lang="en-US" altLang="zh-CN" sz="2400"/>
              <a:t>    </a:t>
            </a:r>
            <a:r>
              <a:rPr lang="en-US" altLang="zh-CN" sz="2400" err="1"/>
              <a:t>ifstream</a:t>
            </a:r>
            <a:r>
              <a:rPr lang="en-US" altLang="zh-CN" sz="2400"/>
              <a:t> fin;</a:t>
            </a:r>
          </a:p>
          <a:p>
            <a:pPr latinLnBrk="0">
              <a:lnSpc>
                <a:spcPct val="100000"/>
              </a:lnSpc>
              <a:buNone/>
            </a:pPr>
            <a:r>
              <a:rPr lang="en-US" altLang="zh-CN" sz="2400"/>
              <a:t>    </a:t>
            </a:r>
            <a:r>
              <a:rPr lang="en-US" altLang="zh-CN" sz="2400" err="1"/>
              <a:t>fin.open(filename,ios::in|ios::nocreate</a:t>
            </a:r>
            <a:r>
              <a:rPr lang="en-US" altLang="zh-CN" sz="2400"/>
              <a:t>);</a:t>
            </a:r>
          </a:p>
          <a:p>
            <a:pPr latinLnBrk="0">
              <a:lnSpc>
                <a:spcPct val="100000"/>
              </a:lnSpc>
              <a:buNone/>
            </a:pPr>
            <a:r>
              <a:rPr lang="en-US" altLang="zh-CN" sz="2400"/>
              <a:t>    if(!fin){</a:t>
            </a:r>
          </a:p>
          <a:p>
            <a:pPr latinLnBrk="0">
              <a:lnSpc>
                <a:spcPct val="100000"/>
              </a:lnSpc>
              <a:buNone/>
            </a:pPr>
            <a:r>
              <a:rPr lang="en-US" altLang="zh-CN" sz="2400"/>
              <a:t>     </a:t>
            </a:r>
            <a:r>
              <a:rPr lang="en-US" altLang="zh-CN" sz="2000"/>
              <a:t> </a:t>
            </a:r>
            <a:r>
              <a:rPr lang="en-US" altLang="zh-CN" sz="2000" err="1"/>
              <a:t>cerr</a:t>
            </a:r>
            <a:r>
              <a:rPr lang="en-US" altLang="zh-CN" sz="2000"/>
              <a:t>&lt;&lt;"The Maze data file "&lt;&lt;filename&lt;&lt;" cannot be opened!"&lt;&lt;</a:t>
            </a:r>
            <a:r>
              <a:rPr lang="en-US" altLang="zh-CN" sz="2000" err="1"/>
              <a:t>endl</a:t>
            </a:r>
            <a:r>
              <a:rPr lang="en-US" altLang="zh-CN" sz="2000"/>
              <a:t>;</a:t>
            </a:r>
          </a:p>
          <a:p>
            <a:pPr latinLnBrk="0">
              <a:lnSpc>
                <a:spcPct val="100000"/>
              </a:lnSpc>
              <a:buNone/>
            </a:pPr>
            <a:r>
              <a:rPr lang="en-US" altLang="zh-CN" sz="2400"/>
              <a:t>      exit(1);</a:t>
            </a:r>
          </a:p>
          <a:p>
            <a:pPr latinLnBrk="0">
              <a:lnSpc>
                <a:spcPct val="100000"/>
              </a:lnSpc>
              <a:buNone/>
            </a:pPr>
            <a:r>
              <a:rPr lang="en-US" altLang="zh-CN" sz="2400"/>
              <a:t>      }</a:t>
            </a:r>
          </a:p>
          <a:p>
            <a:pPr latinLnBrk="0">
              <a:lnSpc>
                <a:spcPct val="100000"/>
              </a:lnSpc>
              <a:buNone/>
            </a:pPr>
            <a:r>
              <a:rPr lang="en-US" altLang="zh-CN" sz="2400"/>
              <a:t>    fin&gt;&gt;</a:t>
            </a:r>
            <a:r>
              <a:rPr lang="en-US" altLang="zh-CN" sz="2400" err="1"/>
              <a:t>MazeSize</a:t>
            </a:r>
            <a:r>
              <a:rPr lang="en-US" altLang="zh-CN" sz="2400"/>
              <a:t>;</a:t>
            </a:r>
          </a:p>
          <a:p>
            <a:pPr latinLnBrk="0">
              <a:lnSpc>
                <a:spcPct val="100000"/>
              </a:lnSpc>
              <a:buNone/>
            </a:pPr>
            <a:r>
              <a:rPr lang="en-US" altLang="zh-CN" sz="2400"/>
              <a:t>    </a:t>
            </a:r>
            <a:r>
              <a:rPr lang="en-US" altLang="zh-CN" sz="2400" err="1"/>
              <a:t>intsec</a:t>
            </a:r>
            <a:r>
              <a:rPr lang="en-US" altLang="zh-CN" sz="2400"/>
              <a:t>=new Intersection[MazeSize+1];</a:t>
            </a:r>
          </a:p>
          <a:p>
            <a:pPr latinLnBrk="0">
              <a:lnSpc>
                <a:spcPct val="100000"/>
              </a:lnSpc>
              <a:buNone/>
            </a:pPr>
            <a:r>
              <a:rPr lang="en-US" altLang="zh-CN" sz="2400"/>
              <a:t>    </a:t>
            </a:r>
            <a:r>
              <a:rPr lang="en-US" altLang="zh-CN" sz="2400" err="1"/>
              <a:t>for(int</a:t>
            </a:r>
            <a:r>
              <a:rPr lang="en-US" altLang="zh-CN" sz="2400"/>
              <a:t> i=1;i&lt;=</a:t>
            </a:r>
            <a:r>
              <a:rPr lang="en-US" altLang="zh-CN" sz="2400" err="1"/>
              <a:t>MazeSize;i</a:t>
            </a:r>
            <a:r>
              <a:rPr lang="en-US" altLang="zh-CN" sz="2400"/>
              <a:t>++)</a:t>
            </a:r>
          </a:p>
          <a:p>
            <a:pPr latinLnBrk="0">
              <a:lnSpc>
                <a:spcPct val="100000"/>
              </a:lnSpc>
              <a:buNone/>
            </a:pPr>
            <a:r>
              <a:rPr lang="en-US" altLang="zh-CN" sz="2400"/>
              <a:t>      fin&gt;&gt;</a:t>
            </a:r>
            <a:r>
              <a:rPr lang="en-US" altLang="zh-CN" sz="2400" err="1"/>
              <a:t>intsec[i].left</a:t>
            </a:r>
            <a:r>
              <a:rPr lang="en-US" altLang="zh-CN" sz="2400"/>
              <a:t>&gt;&gt;</a:t>
            </a:r>
            <a:r>
              <a:rPr lang="en-US" altLang="zh-CN" sz="2400" err="1"/>
              <a:t>intsec[i].forward</a:t>
            </a:r>
            <a:r>
              <a:rPr lang="en-US" altLang="zh-CN" sz="2400"/>
              <a:t>&gt;&gt;</a:t>
            </a:r>
            <a:r>
              <a:rPr lang="en-US" altLang="zh-CN" sz="2400" err="1"/>
              <a:t>intsec[i].right</a:t>
            </a:r>
            <a:r>
              <a:rPr lang="en-US" altLang="zh-CN" sz="2400"/>
              <a:t>;</a:t>
            </a:r>
          </a:p>
          <a:p>
            <a:pPr latinLnBrk="0">
              <a:lnSpc>
                <a:spcPct val="100000"/>
              </a:lnSpc>
              <a:buNone/>
            </a:pPr>
            <a:r>
              <a:rPr lang="en-US" altLang="zh-CN" sz="2400"/>
              <a:t>      fin&gt;&gt;Exit;</a:t>
            </a:r>
          </a:p>
          <a:p>
            <a:pPr latinLnBrk="0">
              <a:lnSpc>
                <a:spcPct val="100000"/>
              </a:lnSpc>
              <a:buNone/>
            </a:pPr>
            <a:r>
              <a:rPr lang="en-US" altLang="zh-CN" sz="2400"/>
              <a:t>      fin.close();</a:t>
            </a:r>
          </a:p>
          <a:p>
            <a:pPr latinLnBrk="0">
              <a:lnSpc>
                <a:spcPct val="100000"/>
              </a:lnSpc>
              <a:buNone/>
            </a:pPr>
            <a:r>
              <a:rPr lang="en-US" altLang="zh-CN" sz="2400"/>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7460" name="Rectangle 5"/>
          <p:cNvSpPr>
            <a:spLocks noChangeArrowheads="1"/>
          </p:cNvSpPr>
          <p:nvPr/>
        </p:nvSpPr>
        <p:spPr bwMode="auto">
          <a:xfrm>
            <a:off x="900430" y="208280"/>
            <a:ext cx="4756150" cy="516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迷宫求解</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递归</a:t>
            </a:r>
            <a:r>
              <a:rPr kumimoji="0" lang="en-US" altLang="zh-CN" sz="2800" b="0" i="0" u="none" strike="noStrike" kern="1200" cap="none" spc="0" normalizeH="0" baseline="0" noProof="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a:ln>
                  <a:noFill/>
                </a:ln>
                <a:solidFill>
                  <a:schemeClr val="bg1"/>
                </a:solidFill>
                <a:effectLst/>
                <a:uLnTx/>
                <a:uFillTx/>
                <a:latin typeface="+mn-lt"/>
                <a:ea typeface="+mn-ea"/>
                <a:cs typeface="+mn-ea"/>
                <a:sym typeface="+mn-lt"/>
              </a:rPr>
              <a:t>回溯法</a:t>
            </a:r>
          </a:p>
        </p:txBody>
      </p:sp>
      <p:sp>
        <p:nvSpPr>
          <p:cNvPr id="752643" name="文本占位符 752642"/>
          <p:cNvSpPr>
            <a:spLocks noGrp="1"/>
          </p:cNvSpPr>
          <p:nvPr>
            <p:ph type="body" idx="1"/>
          </p:nvPr>
        </p:nvSpPr>
        <p:spPr>
          <a:xfrm>
            <a:off x="35560" y="1196340"/>
            <a:ext cx="9048750" cy="4842510"/>
          </a:xfrm>
          <a:solidFill>
            <a:schemeClr val="bg2">
              <a:lumMod val="20000"/>
              <a:lumOff val="80000"/>
            </a:schemeClr>
          </a:solidFill>
        </p:spPr>
        <p:txBody>
          <a:bodyPr/>
          <a:lstStyle/>
          <a:p>
            <a:pPr latinLnBrk="0">
              <a:lnSpc>
                <a:spcPct val="120000"/>
              </a:lnSpc>
            </a:pPr>
            <a:r>
              <a:rPr lang="zh-CN" altLang="en-US" sz="2400" b="1" dirty="0">
                <a:solidFill>
                  <a:schemeClr val="folHlink"/>
                </a:solidFill>
                <a:ea typeface="楷体_GB2312" pitchFamily="49" charset="-122"/>
                <a:cs typeface="+mn-lt"/>
              </a:rPr>
              <a:t>int Maze::TraverseMaze(int CurrentPos){</a:t>
            </a:r>
          </a:p>
          <a:p>
            <a:pPr latinLnBrk="0">
              <a:lnSpc>
                <a:spcPct val="120000"/>
              </a:lnSpc>
            </a:pPr>
            <a:r>
              <a:rPr lang="zh-CN" altLang="en-US" sz="2400" b="1" dirty="0">
                <a:solidFill>
                  <a:schemeClr val="folHlink"/>
                </a:solidFill>
                <a:ea typeface="楷体_GB2312" pitchFamily="49" charset="-122"/>
                <a:cs typeface="+mn-lt"/>
              </a:rPr>
              <a:t>    if(CurrentPos==0) return 0;</a:t>
            </a:r>
          </a:p>
          <a:p>
            <a:pPr latinLnBrk="0">
              <a:lnSpc>
                <a:spcPct val="120000"/>
              </a:lnSpc>
            </a:pPr>
            <a:r>
              <a:rPr lang="zh-CN" altLang="en-US" sz="2400" b="1" dirty="0">
                <a:solidFill>
                  <a:schemeClr val="folHlink"/>
                </a:solidFill>
                <a:ea typeface="楷体_GB2312" pitchFamily="49" charset="-122"/>
                <a:cs typeface="+mn-lt"/>
              </a:rPr>
              <a:t>    else if(CurrentPos==Exit){</a:t>
            </a:r>
          </a:p>
          <a:p>
            <a:pPr latinLnBrk="0">
              <a:lnSpc>
                <a:spcPct val="120000"/>
              </a:lnSpc>
            </a:pPr>
            <a:r>
              <a:rPr lang="zh-CN" altLang="en-US" sz="2400" b="1" dirty="0">
                <a:solidFill>
                  <a:schemeClr val="folHlink"/>
                </a:solidFill>
                <a:ea typeface="楷体_GB2312" pitchFamily="49" charset="-122"/>
                <a:cs typeface="+mn-lt"/>
              </a:rPr>
              <a:t>	        cout&lt;&lt;CurrentPos&lt;&lt;"  ";return 1;	}</a:t>
            </a:r>
          </a:p>
          <a:p>
            <a:pPr latinLnBrk="0">
              <a:lnSpc>
                <a:spcPct val="120000"/>
              </a:lnSpc>
            </a:pPr>
            <a:r>
              <a:rPr lang="zh-CN" altLang="en-US" sz="2400" b="1" dirty="0">
                <a:solidFill>
                  <a:schemeClr val="folHlink"/>
                </a:solidFill>
                <a:ea typeface="楷体_GB2312" pitchFamily="49" charset="-122"/>
                <a:cs typeface="+mn-lt"/>
              </a:rPr>
              <a:t>	else if (</a:t>
            </a:r>
            <a:r>
              <a:rPr lang="zh-CN" altLang="en-US" sz="2400" b="1" dirty="0">
                <a:solidFill>
                  <a:srgbClr val="FF0000"/>
                </a:solidFill>
                <a:ea typeface="楷体_GB2312" pitchFamily="49" charset="-122"/>
                <a:cs typeface="+mn-lt"/>
              </a:rPr>
              <a:t>TraverseMaze( intsec[CurrentPos].left</a:t>
            </a:r>
            <a:r>
              <a:rPr lang="zh-CN" altLang="en-US" sz="2400" b="1" dirty="0">
                <a:solidFill>
                  <a:schemeClr val="folHlink"/>
                </a:solidFill>
                <a:ea typeface="楷体_GB2312" pitchFamily="49" charset="-122"/>
                <a:cs typeface="+mn-lt"/>
              </a:rPr>
              <a:t>)) {</a:t>
            </a:r>
          </a:p>
          <a:p>
            <a:pPr latinLnBrk="0">
              <a:lnSpc>
                <a:spcPct val="120000"/>
              </a:lnSpc>
            </a:pPr>
            <a:r>
              <a:rPr lang="zh-CN" altLang="en-US" sz="2400" b="1" dirty="0">
                <a:solidFill>
                  <a:schemeClr val="folHlink"/>
                </a:solidFill>
                <a:ea typeface="楷体_GB2312" pitchFamily="49" charset="-122"/>
                <a:cs typeface="+mn-lt"/>
              </a:rPr>
              <a:t>	  cout&lt;&lt;CurrentPos&lt;&lt;"  ";return 1;	  }</a:t>
            </a:r>
          </a:p>
          <a:p>
            <a:pPr latinLnBrk="0">
              <a:lnSpc>
                <a:spcPct val="120000"/>
              </a:lnSpc>
            </a:pPr>
            <a:r>
              <a:rPr lang="zh-CN" altLang="en-US" sz="2400" b="1" dirty="0">
                <a:solidFill>
                  <a:schemeClr val="folHlink"/>
                </a:solidFill>
                <a:ea typeface="楷体_GB2312" pitchFamily="49" charset="-122"/>
                <a:cs typeface="+mn-lt"/>
              </a:rPr>
              <a:t>	else if(</a:t>
            </a:r>
            <a:r>
              <a:rPr lang="zh-CN" altLang="en-US" sz="2400" b="1" dirty="0">
                <a:solidFill>
                  <a:srgbClr val="FF0000"/>
                </a:solidFill>
                <a:ea typeface="楷体_GB2312" pitchFamily="49" charset="-122"/>
                <a:cs typeface="+mn-lt"/>
              </a:rPr>
              <a:t>TraverseMaze(intsec[CurrentPos].forward</a:t>
            </a:r>
            <a:r>
              <a:rPr lang="zh-CN" altLang="en-US" sz="2400" b="1" dirty="0">
                <a:solidFill>
                  <a:schemeClr val="folHlink"/>
                </a:solidFill>
                <a:ea typeface="楷体_GB2312" pitchFamily="49" charset="-122"/>
                <a:cs typeface="+mn-lt"/>
              </a:rPr>
              <a:t>)){</a:t>
            </a:r>
          </a:p>
          <a:p>
            <a:pPr latinLnBrk="0">
              <a:lnSpc>
                <a:spcPct val="120000"/>
              </a:lnSpc>
            </a:pPr>
            <a:r>
              <a:rPr lang="zh-CN" altLang="en-US" sz="2400" b="1" dirty="0">
                <a:solidFill>
                  <a:schemeClr val="folHlink"/>
                </a:solidFill>
                <a:ea typeface="楷体_GB2312" pitchFamily="49" charset="-122"/>
                <a:cs typeface="+mn-lt"/>
              </a:rPr>
              <a:t>	    cout&lt;&lt;CurrentPos&lt;&lt;"  "; return 1;	    }</a:t>
            </a:r>
          </a:p>
          <a:p>
            <a:pPr latinLnBrk="0">
              <a:lnSpc>
                <a:spcPct val="120000"/>
              </a:lnSpc>
            </a:pPr>
            <a:r>
              <a:rPr lang="zh-CN" altLang="en-US" sz="2400" b="1" dirty="0">
                <a:solidFill>
                  <a:schemeClr val="folHlink"/>
                </a:solidFill>
                <a:ea typeface="楷体_GB2312" pitchFamily="49" charset="-122"/>
                <a:cs typeface="+mn-lt"/>
              </a:rPr>
              <a:t>	else if(</a:t>
            </a:r>
            <a:r>
              <a:rPr lang="zh-CN" altLang="en-US" sz="2400" b="1" dirty="0">
                <a:solidFill>
                  <a:srgbClr val="FF0000"/>
                </a:solidFill>
                <a:ea typeface="楷体_GB2312" pitchFamily="49" charset="-122"/>
                <a:cs typeface="+mn-lt"/>
              </a:rPr>
              <a:t>TraverseMaze(intsec[CurrentPos].right</a:t>
            </a:r>
            <a:r>
              <a:rPr lang="zh-CN" altLang="en-US" sz="2400" b="1" dirty="0">
                <a:solidFill>
                  <a:schemeClr val="folHlink"/>
                </a:solidFill>
                <a:ea typeface="楷体_GB2312" pitchFamily="49" charset="-122"/>
                <a:cs typeface="+mn-lt"/>
              </a:rPr>
              <a:t>)){</a:t>
            </a:r>
          </a:p>
          <a:p>
            <a:pPr latinLnBrk="0">
              <a:lnSpc>
                <a:spcPct val="120000"/>
              </a:lnSpc>
            </a:pPr>
            <a:r>
              <a:rPr lang="zh-CN" altLang="en-US" sz="2400" b="1" dirty="0">
                <a:solidFill>
                  <a:schemeClr val="folHlink"/>
                </a:solidFill>
                <a:ea typeface="楷体_GB2312" pitchFamily="49" charset="-122"/>
                <a:cs typeface="+mn-lt"/>
              </a:rPr>
              <a:t>	      cout&lt;&lt;CurrentPos&lt;&lt;"  ";return 1;	      }</a:t>
            </a:r>
          </a:p>
          <a:p>
            <a:pPr latinLnBrk="0">
              <a:lnSpc>
                <a:spcPct val="120000"/>
              </a:lnSpc>
            </a:pPr>
            <a:r>
              <a:rPr lang="zh-CN" altLang="en-US" sz="2400" b="1" dirty="0">
                <a:solidFill>
                  <a:schemeClr val="folHlink"/>
                </a:solidFill>
                <a:ea typeface="楷体_GB2312" pitchFamily="49" charset="-122"/>
                <a:cs typeface="+mn-lt"/>
              </a:rPr>
              <a:t>}</a:t>
            </a:r>
          </a:p>
          <a:p>
            <a:pPr latinLnBrk="0">
              <a:lnSpc>
                <a:spcPct val="100000"/>
              </a:lnSpc>
            </a:pPr>
            <a:r>
              <a:rPr lang="zh-CN" altLang="en-US" sz="2400" b="1" dirty="0">
                <a:solidFill>
                  <a:schemeClr val="folHlink"/>
                </a:solidFill>
                <a:ea typeface="楷体_GB2312" pitchFamily="49" charset="-122"/>
                <a:cs typeface="+mn-lt"/>
              </a:rPr>
              <a:t>    </a:t>
            </a:r>
          </a:p>
          <a:p>
            <a:pPr>
              <a:lnSpc>
                <a:spcPct val="80000"/>
              </a:lnSpc>
            </a:pPr>
            <a:r>
              <a:rPr lang="zh-CN" altLang="en-US" sz="2400" b="1" dirty="0">
                <a:solidFill>
                  <a:schemeClr val="folHlink"/>
                </a:solidFill>
                <a:ea typeface="楷体_GB2312" pitchFamily="49" charset="-122"/>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1652588"/>
            <a:ext cx="9144000" cy="472916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 name="同侧圆角矩形 1"/>
          <p:cNvSpPr/>
          <p:nvPr/>
        </p:nvSpPr>
        <p:spPr bwMode="auto">
          <a:xfrm>
            <a:off x="0" y="1149350"/>
            <a:ext cx="3059113" cy="503238"/>
          </a:xfrm>
          <a:prstGeom prst="round2SameRect">
            <a:avLst/>
          </a:prstGeom>
          <a:solidFill>
            <a:schemeClr val="accent1"/>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48483" name="Rectangle 1"/>
          <p:cNvSpPr>
            <a:spLocks noChangeArrowheads="1"/>
          </p:cNvSpPr>
          <p:nvPr/>
        </p:nvSpPr>
        <p:spPr bwMode="auto">
          <a:xfrm>
            <a:off x="488950" y="1149350"/>
            <a:ext cx="8181975"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bg1"/>
                </a:solidFill>
                <a:effectLst/>
                <a:uLnTx/>
                <a:uFillTx/>
                <a:latin typeface="+mn-lt"/>
                <a:ea typeface="+mn-ea"/>
                <a:cs typeface="+mn-ea"/>
                <a:sym typeface="+mn-lt"/>
              </a:rPr>
              <a:t>案例分析</a:t>
            </a:r>
            <a:r>
              <a:rPr kumimoji="0" lang="en-US" altLang="zh-CN" sz="2400" b="0" i="0" u="none" strike="noStrike" kern="1200" cap="none" spc="0" normalizeH="0" baseline="0" noProof="0" dirty="0">
                <a:ln>
                  <a:noFill/>
                </a:ln>
                <a:solidFill>
                  <a:schemeClr val="bg1"/>
                </a:solidFill>
                <a:effectLst/>
                <a:uLnTx/>
                <a:uFillTx/>
                <a:latin typeface="+mn-lt"/>
                <a:ea typeface="+mn-ea"/>
                <a:cs typeface="+mn-ea"/>
                <a:sym typeface="+mn-lt"/>
              </a:rPr>
              <a:t>】</a:t>
            </a:r>
          </a:p>
          <a:p>
            <a:pPr marL="457200" marR="0" lvl="0" indent="-457200" algn="l" defTabSz="914400" rtl="0" eaLnBrk="0" fontAlgn="base" latinLnBrk="0" hangingPunct="0">
              <a:lnSpc>
                <a:spcPct val="125000"/>
              </a:lnSpc>
              <a:spcBef>
                <a:spcPts val="1200"/>
              </a:spcBef>
              <a:spcAft>
                <a:spcPct val="0"/>
              </a:spcAft>
              <a:buClr>
                <a:srgbClr val="FF00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设置两个队列分别存放男士和女士入队者</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457200" marR="0" lvl="0" indent="-457200" algn="l" defTabSz="914400" rtl="0" eaLnBrk="0" fontAlgn="base" latinLnBrk="0" hangingPunct="0">
              <a:lnSpc>
                <a:spcPct val="125000"/>
              </a:lnSpc>
              <a:spcBef>
                <a:spcPts val="1200"/>
              </a:spcBef>
              <a:spcAft>
                <a:spcPct val="0"/>
              </a:spcAft>
              <a:buClr>
                <a:srgbClr val="FF00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假设男士和女士的记录存放在一个数组中作为输入，然后依次扫描该数组的各元素，并根据性别来决定是进入男队还是女队。</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457200" marR="0" lvl="0" indent="-457200" algn="l" defTabSz="914400" rtl="0" eaLnBrk="0" fontAlgn="base" latinLnBrk="0" hangingPunct="0">
              <a:lnSpc>
                <a:spcPct val="125000"/>
              </a:lnSpc>
              <a:spcBef>
                <a:spcPts val="1200"/>
              </a:spcBef>
              <a:spcAft>
                <a:spcPct val="0"/>
              </a:spcAft>
              <a:buClr>
                <a:srgbClr val="FF00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当这两个队列构造完成之后，依次将两队当前的队头元素出队来配成舞伴，直至某队列变空为止。</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457200" marR="0" lvl="0" indent="-457200" algn="l" defTabSz="914400" rtl="0" eaLnBrk="0" fontAlgn="base" latinLnBrk="0" hangingPunct="0">
              <a:lnSpc>
                <a:spcPct val="125000"/>
              </a:lnSpc>
              <a:spcBef>
                <a:spcPts val="1200"/>
              </a:spcBef>
              <a:spcAft>
                <a:spcPct val="0"/>
              </a:spcAft>
              <a:buClr>
                <a:srgbClr val="FF0000"/>
              </a:buClr>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此时，若某队仍有等待配对者，则输出此队列中排在队头的等待者的姓名，此人将是下一轮舞曲开始时第一个可获得舞伴的人。</a:t>
            </a:r>
          </a:p>
        </p:txBody>
      </p:sp>
      <p:sp>
        <p:nvSpPr>
          <p:cNvPr id="162821" name="Rectangle 154"/>
          <p:cNvSpPr txBox="1"/>
          <p:nvPr/>
        </p:nvSpPr>
        <p:spPr>
          <a:xfrm>
            <a:off x="882650" y="163513"/>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案例</a:t>
            </a:r>
            <a:r>
              <a:rPr lang="en-US" altLang="zh-CN" sz="2800" dirty="0">
                <a:solidFill>
                  <a:schemeClr val="bg1"/>
                </a:solidFill>
                <a:sym typeface="+mn-lt"/>
              </a:rPr>
              <a:t>3.4 </a:t>
            </a:r>
            <a:r>
              <a:rPr lang="zh-CN" altLang="en-US" sz="2800" dirty="0">
                <a:solidFill>
                  <a:schemeClr val="bg1"/>
                </a:solidFill>
                <a:sym typeface="+mn-lt"/>
              </a:rPr>
              <a:t>：舞伴问题</a:t>
            </a: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矩形 1"/>
          <p:cNvSpPr/>
          <p:nvPr/>
        </p:nvSpPr>
        <p:spPr>
          <a:xfrm>
            <a:off x="0" y="1484313"/>
            <a:ext cx="9144000" cy="5040312"/>
          </a:xfrm>
          <a:prstGeom prst="rect">
            <a:avLst/>
          </a:prstGeom>
          <a:solidFill>
            <a:srgbClr val="E2D9EB"/>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49507" name="Rectangle 1"/>
          <p:cNvSpPr>
            <a:spLocks noChangeArrowheads="1"/>
          </p:cNvSpPr>
          <p:nvPr/>
        </p:nvSpPr>
        <p:spPr bwMode="auto">
          <a:xfrm>
            <a:off x="611188" y="923925"/>
            <a:ext cx="8281988" cy="544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数据结构</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altLang="zh-CN" sz="1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 - - -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跳舞者个人信息</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 - - -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typedef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char name[20];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姓名</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char sex;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性别，</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'F'</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表示女性，</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'M'</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表示男性</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}Person;</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 - - -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队列的顺序存储结构</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 - - - </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#define MAXQSIZE 100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队列可能达到的最大长度</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typedef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Person *base;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队列中数据元素类型为</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Person</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int front;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头指针</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int rear;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尾指针</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SqQueue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SqQueue</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Mdancers,Fdancers</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分别存放男士和女士入队者队列</a:t>
            </a:r>
          </a:p>
        </p:txBody>
      </p:sp>
      <p:sp>
        <p:nvSpPr>
          <p:cNvPr id="163844" name="Rectangle 154"/>
          <p:cNvSpPr txBox="1"/>
          <p:nvPr/>
        </p:nvSpPr>
        <p:spPr>
          <a:xfrm>
            <a:off x="882650" y="163513"/>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案例</a:t>
            </a:r>
            <a:r>
              <a:rPr lang="en-US" altLang="zh-CN" sz="2800" dirty="0">
                <a:solidFill>
                  <a:schemeClr val="bg1"/>
                </a:solidFill>
                <a:sym typeface="+mn-lt"/>
              </a:rPr>
              <a:t>3.4 </a:t>
            </a:r>
            <a:r>
              <a:rPr lang="zh-CN" altLang="en-US" sz="2800" dirty="0">
                <a:solidFill>
                  <a:schemeClr val="bg1"/>
                </a:solidFill>
                <a:sym typeface="+mn-lt"/>
              </a:rPr>
              <a:t>：舞伴问题</a:t>
            </a: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0" y="1773238"/>
            <a:ext cx="9144000" cy="439261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50531" name="Rectangle 1"/>
          <p:cNvSpPr>
            <a:spLocks noChangeArrowheads="1"/>
          </p:cNvSpPr>
          <p:nvPr/>
        </p:nvSpPr>
        <p:spPr bwMode="auto">
          <a:xfrm>
            <a:off x="508000" y="1009650"/>
            <a:ext cx="8493125" cy="504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540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2540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zh-CN" sz="28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算法步骤</a:t>
            </a:r>
            <a:r>
              <a:rPr kumimoji="0" lang="zh-CN" altLang="zh-CN" sz="2800" b="0" i="0" u="none" strike="noStrike" kern="1200" cap="none" spc="0" normalizeH="0" baseline="0" noProof="0" dirty="0">
                <a:ln>
                  <a:noFill/>
                </a:ln>
                <a:solidFill>
                  <a:srgbClr val="FF0000"/>
                </a:solidFill>
                <a:effectLst/>
                <a:uLnTx/>
                <a:uFillTx/>
                <a:latin typeface="+mn-lt"/>
                <a:ea typeface="+mn-ea"/>
                <a:cs typeface="+mn-ea"/>
                <a:sym typeface="+mn-lt"/>
              </a:rPr>
              <a:t>】</a:t>
            </a:r>
            <a:endPar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endParaRPr>
          </a:p>
          <a:p>
            <a:pPr marL="0" marR="0" lvl="0" indent="2540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zh-CN" sz="2000" b="1" i="0" u="none" strike="noStrike" kern="1200" cap="none" spc="0" normalizeH="0" baseline="0" noProof="0" dirty="0">
              <a:ln>
                <a:noFill/>
              </a:ln>
              <a:solidFill>
                <a:srgbClr val="FF0000"/>
              </a:solidFill>
              <a:effectLst/>
              <a:uLnTx/>
              <a:uFillTx/>
              <a:latin typeface="+mn-lt"/>
              <a:ea typeface="+mn-ea"/>
              <a:cs typeface="+mn-ea"/>
              <a:sym typeface="+mn-lt"/>
            </a:endParaRPr>
          </a:p>
          <a:p>
            <a:pPr marL="0" marR="0" lvl="0" indent="254000" algn="l" defTabSz="914400" rtl="0" eaLnBrk="0" fontAlgn="base" latinLnBrk="0" hangingPunct="0">
              <a:lnSpc>
                <a:spcPct val="125000"/>
              </a:lnSpc>
              <a:spcBef>
                <a:spcPct val="0"/>
              </a:spcBef>
              <a:spcAft>
                <a:spcPct val="0"/>
              </a:spcAft>
              <a:buClrTx/>
              <a:buSzTx/>
              <a:buFont typeface="Arial" panose="020B0604020202020204" pitchFamily="34" charset="0"/>
              <a:buNone/>
              <a:defRPr/>
            </a:pPr>
            <a:r>
              <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rPr>
              <a:t>①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初始化</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Mdancers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队列和</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Fdancers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队列。</a:t>
            </a:r>
          </a:p>
          <a:p>
            <a:pPr marL="0" marR="0" lvl="0" indent="254000" algn="l" defTabSz="914400" rtl="0" eaLnBrk="0" fontAlgn="base" latinLnBrk="0" hangingPunct="0">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② 反复循环，依次将跳舞者根据其性别插入</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Mdancers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队列或</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Fdancers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队列。</a:t>
            </a:r>
          </a:p>
          <a:p>
            <a:pPr marL="0" marR="0" lvl="0" indent="254000" algn="l" defTabSz="914400" rtl="0" eaLnBrk="0" fontAlgn="base" latinLnBrk="0" hangingPunct="0">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③ 当</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Mdancers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队列和</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Fdancers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队列均为非空时，反复循环，依次输出男女舞伴的姓名。</a:t>
            </a:r>
          </a:p>
          <a:p>
            <a:pPr marL="0" marR="0" lvl="0" indent="254000" algn="l" defTabSz="914400" rtl="0" eaLnBrk="0" fontAlgn="base" latinLnBrk="0" hangingPunct="0">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④ 如果</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Mdancers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队列为空而</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Fdancers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队列非空，则输出</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Fdancers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队列的队头女士的姓名。</a:t>
            </a:r>
          </a:p>
          <a:p>
            <a:pPr marL="0" marR="0" lvl="0" indent="254000" algn="l" defTabSz="914400" rtl="0" eaLnBrk="0" fontAlgn="base" latinLnBrk="0" hangingPunct="0">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⑤ 如果</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Fdancers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队列为空而</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Mdancers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队列非空，则输出</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Mdancers</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队列的队头男士的姓名。</a:t>
            </a:r>
          </a:p>
        </p:txBody>
      </p:sp>
      <p:sp>
        <p:nvSpPr>
          <p:cNvPr id="164868" name="Rectangle 154"/>
          <p:cNvSpPr txBox="1"/>
          <p:nvPr/>
        </p:nvSpPr>
        <p:spPr>
          <a:xfrm>
            <a:off x="882650" y="163513"/>
            <a:ext cx="4933950"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pPr>
            <a:r>
              <a:rPr lang="zh-CN" altLang="en-US" sz="2800" dirty="0">
                <a:solidFill>
                  <a:schemeClr val="bg1"/>
                </a:solidFill>
                <a:sym typeface="+mn-lt"/>
              </a:rPr>
              <a:t>案例</a:t>
            </a:r>
            <a:r>
              <a:rPr lang="en-US" altLang="zh-CN" sz="2800" dirty="0">
                <a:solidFill>
                  <a:schemeClr val="bg1"/>
                </a:solidFill>
                <a:sym typeface="+mn-lt"/>
              </a:rPr>
              <a:t>3.4 </a:t>
            </a:r>
            <a:r>
              <a:rPr lang="zh-CN" altLang="en-US" sz="2800" dirty="0">
                <a:solidFill>
                  <a:schemeClr val="bg1"/>
                </a:solidFill>
                <a:sym typeface="+mn-lt"/>
              </a:rPr>
              <a:t>：舞伴问题</a:t>
            </a:r>
          </a:p>
        </p:txBody>
      </p:sp>
      <p:sp>
        <p:nvSpPr>
          <p:cNvPr id="164869" name="矩形 3"/>
          <p:cNvSpPr/>
          <p:nvPr/>
        </p:nvSpPr>
        <p:spPr>
          <a:xfrm>
            <a:off x="0" y="6308725"/>
            <a:ext cx="9144000" cy="73025"/>
          </a:xfrm>
          <a:prstGeom prst="rect">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矩形 2"/>
          <p:cNvSpPr/>
          <p:nvPr/>
        </p:nvSpPr>
        <p:spPr>
          <a:xfrm>
            <a:off x="0" y="1322388"/>
            <a:ext cx="4787900" cy="2563812"/>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1555" name="Rectangle 6"/>
          <p:cNvSpPr>
            <a:spLocks noChangeArrowheads="1"/>
          </p:cNvSpPr>
          <p:nvPr/>
        </p:nvSpPr>
        <p:spPr bwMode="auto">
          <a:xfrm>
            <a:off x="114300" y="1501775"/>
            <a:ext cx="4559300" cy="218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3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3600" b="0" i="0" u="none" strike="noStrike" kern="1200" cap="none" spc="0" normalizeH="0" baseline="0" noProof="0" dirty="0">
                <a:ln>
                  <a:noFill/>
                </a:ln>
                <a:solidFill>
                  <a:schemeClr val="tx1"/>
                </a:solidFill>
                <a:effectLst/>
                <a:uLnTx/>
                <a:uFillTx/>
                <a:latin typeface="+mn-lt"/>
                <a:ea typeface="+mn-ea"/>
                <a:cs typeface="+mn-ea"/>
                <a:sym typeface="+mn-lt"/>
              </a:rPr>
              <a:t>例</a:t>
            </a:r>
            <a:r>
              <a:rPr kumimoji="0" lang="en-US" altLang="zh-CN" sz="3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3600" b="0" i="0" u="none" strike="noStrike" kern="1200" cap="none" spc="0" normalizeH="0" baseline="0" noProof="0" dirty="0">
                <a:ln>
                  <a:noFill/>
                </a:ln>
                <a:solidFill>
                  <a:schemeClr val="tx1"/>
                </a:solidFill>
                <a:effectLst/>
                <a:uLnTx/>
                <a:uFillTx/>
                <a:latin typeface="+mn-lt"/>
                <a:ea typeface="+mn-ea"/>
                <a:cs typeface="+mn-ea"/>
                <a:sym typeface="+mn-lt"/>
              </a:rPr>
              <a:t>汽车加油站</a:t>
            </a:r>
            <a:endParaRPr kumimoji="0" lang="en-US" altLang="zh-CN" sz="3600" b="0" i="0" u="none" strike="noStrike" kern="1200" cap="none" spc="0" normalizeH="0" baseline="0" noProof="0" dirty="0">
              <a:ln>
                <a:noFill/>
              </a:ln>
              <a:solidFill>
                <a:schemeClr val="tx1"/>
              </a:solidFill>
              <a:effectLst/>
              <a:uLnTx/>
              <a:uFillTx/>
              <a:latin typeface="+mn-lt"/>
              <a:ea typeface="+mn-ea"/>
              <a:cs typeface="+mn-ea"/>
              <a:sym typeface="+mn-l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000" b="0" i="0" u="none" strike="noStrike" kern="1200" cap="none" spc="0" normalizeH="0" baseline="0" noProof="0" dirty="0">
              <a:ln>
                <a:noFill/>
              </a:ln>
              <a:solidFill>
                <a:schemeClr val="bg1"/>
              </a:solidFill>
              <a:effectLst/>
              <a:uLnTx/>
              <a:uFillTx/>
              <a:latin typeface="+mn-lt"/>
              <a:ea typeface="+mn-ea"/>
              <a:cs typeface="+mn-ea"/>
              <a:sym typeface="+mn-lt"/>
            </a:endParaRPr>
          </a:p>
          <a:p>
            <a:pPr marL="342900" marR="0" lvl="0" indent="0" algn="l" defTabSz="914400" rtl="0" eaLnBrk="0" fontAlgn="base" latinLnBrk="0" hangingPunct="0">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结构：入口和出口为单行道，</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加油车道若干条</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n</a:t>
            </a:r>
            <a:r>
              <a:rPr kumimoji="0" lang="zh-CN" altLang="en-US" sz="2400" b="0" i="0" u="none" strike="noStrike" kern="1200" cap="none" spc="0" normalizeH="0" baseline="0" noProof="0" dirty="0">
                <a:ln>
                  <a:noFill/>
                </a:ln>
                <a:solidFill>
                  <a:srgbClr val="000000"/>
                </a:solidFill>
                <a:effectLst/>
                <a:uLnTx/>
                <a:uFillTx/>
                <a:latin typeface="+mn-lt"/>
                <a:ea typeface="+mn-ea"/>
                <a:cs typeface="+mn-ea"/>
                <a:sym typeface="+mn-lt"/>
              </a:rPr>
              <a:t>每辆车加油都要经过三段路程，三个队列</a:t>
            </a:r>
          </a:p>
        </p:txBody>
      </p:sp>
      <p:sp>
        <p:nvSpPr>
          <p:cNvPr id="151556" name="Rectangle 7"/>
          <p:cNvSpPr>
            <a:spLocks noChangeArrowheads="1"/>
          </p:cNvSpPr>
          <p:nvPr/>
        </p:nvSpPr>
        <p:spPr bwMode="auto">
          <a:xfrm>
            <a:off x="839788" y="1285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队列的其它应用</a:t>
            </a:r>
          </a:p>
        </p:txBody>
      </p:sp>
      <p:pic>
        <p:nvPicPr>
          <p:cNvPr id="165893" name="Picture 12" descr="u=1422871826,592798755&amp;fm=52&amp;gp=0"/>
          <p:cNvPicPr>
            <a:picLocks noChangeAspect="1"/>
          </p:cNvPicPr>
          <p:nvPr/>
        </p:nvPicPr>
        <p:blipFill>
          <a:blip r:embed="rId2"/>
          <a:stretch>
            <a:fillRect/>
          </a:stretch>
        </p:blipFill>
        <p:spPr>
          <a:xfrm>
            <a:off x="5148263" y="1322388"/>
            <a:ext cx="3995737" cy="2563812"/>
          </a:xfrm>
          <a:prstGeom prst="rect">
            <a:avLst/>
          </a:prstGeom>
          <a:noFill/>
          <a:ln w="9525">
            <a:noFill/>
          </a:ln>
        </p:spPr>
      </p:pic>
      <p:sp>
        <p:nvSpPr>
          <p:cNvPr id="6" name="Rectangle 6"/>
          <p:cNvSpPr>
            <a:spLocks noChangeArrowheads="1"/>
          </p:cNvSpPr>
          <p:nvPr/>
        </p:nvSpPr>
        <p:spPr bwMode="auto">
          <a:xfrm>
            <a:off x="425450" y="4067175"/>
            <a:ext cx="84963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457200" marR="0" lvl="0" indent="-457200" algn="l" defTabSz="914400" rtl="0" eaLnBrk="0" fontAlgn="base" latinLnBrk="0" hangingPunct="0">
              <a:lnSpc>
                <a:spcPct val="125000"/>
              </a:lnSpc>
              <a:spcBef>
                <a:spcPct val="0"/>
              </a:spcBef>
              <a:spcAft>
                <a:spcPct val="0"/>
              </a:spcAft>
              <a:buClr>
                <a:srgbClr val="FF0000"/>
              </a:buClr>
              <a:buSzTx/>
              <a:buFont typeface="Wingdings" panose="05000000000000000000" pitchFamily="2" charset="2"/>
              <a:buChar char="n"/>
              <a:defRPr/>
            </a:pPr>
            <a:r>
              <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rPr>
              <a:t>入口处排队等候进入加油车道</a:t>
            </a:r>
          </a:p>
          <a:p>
            <a:pPr marL="457200" marR="0" lvl="0" indent="-457200" algn="l" defTabSz="914400" rtl="0" eaLnBrk="0" fontAlgn="base" latinLnBrk="0" hangingPunct="0">
              <a:lnSpc>
                <a:spcPct val="125000"/>
              </a:lnSpc>
              <a:spcBef>
                <a:spcPct val="0"/>
              </a:spcBef>
              <a:spcAft>
                <a:spcPct val="0"/>
              </a:spcAft>
              <a:buClr>
                <a:srgbClr val="FF0000"/>
              </a:buClr>
              <a:buSzTx/>
              <a:buFont typeface="Wingdings" panose="05000000000000000000" pitchFamily="2" charset="2"/>
              <a:buChar char="n"/>
              <a:defRPr/>
            </a:pPr>
            <a:r>
              <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rPr>
              <a:t>在加油车道排队等候加油</a:t>
            </a:r>
          </a:p>
          <a:p>
            <a:pPr marL="457200" marR="0" lvl="0" indent="-457200" algn="l" defTabSz="914400" rtl="0" eaLnBrk="0" fontAlgn="base" latinLnBrk="0" hangingPunct="0">
              <a:lnSpc>
                <a:spcPct val="125000"/>
              </a:lnSpc>
              <a:spcBef>
                <a:spcPct val="0"/>
              </a:spcBef>
              <a:spcAft>
                <a:spcPct val="0"/>
              </a:spcAft>
              <a:buClr>
                <a:srgbClr val="FF0000"/>
              </a:buClr>
              <a:buSzTx/>
              <a:buFont typeface="Wingdings" panose="05000000000000000000" pitchFamily="2" charset="2"/>
              <a:buChar char="n"/>
              <a:defRPr/>
            </a:pPr>
            <a:r>
              <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rPr>
              <a:t>出口处排队等候离开</a:t>
            </a:r>
          </a:p>
          <a:p>
            <a:pPr marL="342900" marR="0" lvl="0" indent="-342900" algn="l" defTabSz="914400" rtl="0" eaLnBrk="0" fontAlgn="base" latinLnBrk="0" hangingPunct="0">
              <a:lnSpc>
                <a:spcPct val="125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rPr>
              <a:t>若用算法模拟，需要设置</a:t>
            </a:r>
            <a:r>
              <a:rPr kumimoji="0" lang="en-US" altLang="zh-CN" sz="3600" b="0" i="0" u="none" strike="noStrike" kern="1200" cap="none" spc="0" normalizeH="0" baseline="0" noProof="0" dirty="0">
                <a:ln>
                  <a:noFill/>
                </a:ln>
                <a:solidFill>
                  <a:srgbClr val="FF0000"/>
                </a:solidFill>
                <a:effectLst/>
                <a:uLnTx/>
                <a:uFillTx/>
                <a:latin typeface="+mn-lt"/>
                <a:ea typeface="+mn-ea"/>
                <a:cs typeface="+mn-ea"/>
                <a:sym typeface="+mn-lt"/>
              </a:rPr>
              <a:t>n+2</a:t>
            </a:r>
            <a:r>
              <a:rPr kumimoji="0" lang="zh-CN" altLang="en-US" sz="3600" b="0" i="0" u="none" strike="noStrike" kern="1200" cap="none" spc="0" normalizeH="0" baseline="0" noProof="0" dirty="0">
                <a:ln>
                  <a:noFill/>
                </a:ln>
                <a:solidFill>
                  <a:srgbClr val="FF0000"/>
                </a:solidFill>
                <a:effectLst/>
                <a:uLnTx/>
                <a:uFillTx/>
                <a:latin typeface="+mn-lt"/>
                <a:ea typeface="+mn-ea"/>
                <a:cs typeface="+mn-ea"/>
                <a:sym typeface="+mn-lt"/>
              </a:rPr>
              <a:t>个队列</a:t>
            </a:r>
            <a:r>
              <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rPr>
              <a:t>。　</a:t>
            </a: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圆角矩形 7"/>
          <p:cNvSpPr/>
          <p:nvPr/>
        </p:nvSpPr>
        <p:spPr>
          <a:xfrm>
            <a:off x="250825" y="1052513"/>
            <a:ext cx="5545138" cy="546100"/>
          </a:xfrm>
          <a:prstGeom prst="roundRect">
            <a:avLst>
              <a:gd name="adj" fmla="val 16667"/>
            </a:avLst>
          </a:prstGeom>
          <a:solidFill>
            <a:schemeClr val="accent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cxnSp>
        <p:nvCxnSpPr>
          <p:cNvPr id="166915" name="直接连接符 8"/>
          <p:cNvCxnSpPr/>
          <p:nvPr/>
        </p:nvCxnSpPr>
        <p:spPr>
          <a:xfrm>
            <a:off x="684213" y="5949950"/>
            <a:ext cx="8208962" cy="0"/>
          </a:xfrm>
          <a:prstGeom prst="line">
            <a:avLst/>
          </a:prstGeom>
          <a:ln w="9525" cap="flat" cmpd="sng">
            <a:solidFill>
              <a:srgbClr val="A78DC2"/>
            </a:solidFill>
            <a:prstDash val="solid"/>
            <a:headEnd type="none" w="med" len="med"/>
            <a:tailEnd type="none" w="med" len="med"/>
          </a:ln>
        </p:spPr>
      </p:cxnSp>
      <p:sp>
        <p:nvSpPr>
          <p:cNvPr id="152579" name="Rectangle 4"/>
          <p:cNvSpPr>
            <a:spLocks noChangeArrowheads="1"/>
          </p:cNvSpPr>
          <p:nvPr/>
        </p:nvSpPr>
        <p:spPr bwMode="auto">
          <a:xfrm>
            <a:off x="269875" y="1077913"/>
            <a:ext cx="8623300" cy="4713288"/>
          </a:xfrm>
          <a:prstGeom prst="rect">
            <a:avLst/>
          </a:prstGeom>
          <a:noFill/>
          <a:ln>
            <a:noFill/>
          </a:ln>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600" b="0" i="0" u="none" strike="noStrike" kern="1200" cap="none" spc="0" normalizeH="0" baseline="0" noProof="0" dirty="0">
                <a:ln>
                  <a:noFill/>
                </a:ln>
                <a:solidFill>
                  <a:schemeClr val="bg1"/>
                </a:solidFill>
                <a:effectLst/>
                <a:uLnTx/>
                <a:uFillTx/>
                <a:latin typeface="+mn-lt"/>
                <a:ea typeface="+mn-ea"/>
                <a:cs typeface="+mn-ea"/>
                <a:sym typeface="+mn-lt"/>
              </a:rPr>
              <a:t>例</a:t>
            </a:r>
            <a:r>
              <a:rPr kumimoji="0" lang="en-US" altLang="zh-CN" sz="26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600" b="0" i="0" u="none" strike="noStrike" kern="1200" cap="none" spc="0" normalizeH="0" baseline="0" noProof="0" dirty="0">
                <a:ln>
                  <a:noFill/>
                </a:ln>
                <a:solidFill>
                  <a:schemeClr val="bg1"/>
                </a:solidFill>
                <a:effectLst/>
                <a:uLnTx/>
                <a:uFillTx/>
                <a:latin typeface="+mn-lt"/>
                <a:ea typeface="+mn-ea"/>
                <a:cs typeface="+mn-ea"/>
                <a:sym typeface="+mn-lt"/>
              </a:rPr>
              <a:t>模拟打印机缓冲区</a:t>
            </a:r>
            <a:endParaRPr kumimoji="0" lang="en-US" altLang="zh-CN" sz="2600" b="0" i="0" u="none" strike="noStrike" kern="1200" cap="none" spc="0" normalizeH="0" baseline="0" noProof="0" dirty="0">
              <a:ln>
                <a:noFill/>
              </a:ln>
              <a:solidFill>
                <a:schemeClr val="bg1"/>
              </a:solidFill>
              <a:effectLst/>
              <a:uLnTx/>
              <a:uFillTx/>
              <a:latin typeface="+mn-lt"/>
              <a:ea typeface="+mn-ea"/>
              <a:cs typeface="+mn-ea"/>
              <a:sym typeface="+mn-lt"/>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600" b="0" i="0" u="none" strike="noStrike" kern="1200" cap="none" spc="0" normalizeH="0" baseline="0" noProof="0" dirty="0">
              <a:ln>
                <a:noFill/>
              </a:ln>
              <a:solidFill>
                <a:schemeClr val="bg1"/>
              </a:solidFill>
              <a:effectLst/>
              <a:uLnTx/>
              <a:uFillTx/>
              <a:latin typeface="+mn-lt"/>
              <a:ea typeface="+mn-ea"/>
              <a:cs typeface="+mn-ea"/>
              <a:sym typeface="+mn-lt"/>
            </a:endParaRPr>
          </a:p>
          <a:p>
            <a:pPr marL="342900" marR="0" lvl="0" indent="-34290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2600" b="0" i="0" u="none" strike="noStrike" kern="1200" cap="none" spc="0" normalizeH="0" baseline="0" noProof="0" dirty="0">
                <a:ln>
                  <a:noFill/>
                </a:ln>
                <a:solidFill>
                  <a:srgbClr val="000000"/>
                </a:solidFill>
                <a:effectLst/>
                <a:uLnTx/>
                <a:uFillTx/>
                <a:latin typeface="+mn-lt"/>
                <a:ea typeface="+mn-ea"/>
                <a:cs typeface="+mn-ea"/>
                <a:sym typeface="+mn-lt"/>
              </a:rPr>
              <a:t>在主机将数据输出到打印机时，主机速度与打印机的打印速度不匹配</a:t>
            </a:r>
          </a:p>
          <a:p>
            <a:pPr marL="342900" marR="0" lvl="0" indent="-34290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2600" b="0" i="0" u="none" strike="noStrike" kern="1200" cap="none" spc="0" normalizeH="0" baseline="0" noProof="0" dirty="0">
                <a:ln>
                  <a:noFill/>
                </a:ln>
                <a:solidFill>
                  <a:srgbClr val="000000"/>
                </a:solidFill>
                <a:effectLst/>
                <a:uLnTx/>
                <a:uFillTx/>
                <a:latin typeface="+mn-lt"/>
                <a:ea typeface="+mn-ea"/>
                <a:cs typeface="+mn-ea"/>
                <a:sym typeface="+mn-lt"/>
              </a:rPr>
              <a:t>为打印机设置一个</a:t>
            </a:r>
            <a:r>
              <a:rPr kumimoji="0" lang="zh-CN" altLang="en-US" sz="2600" b="0" i="0" u="none" strike="noStrike" kern="1200" cap="none" spc="0" normalizeH="0" baseline="0" noProof="0" dirty="0">
                <a:ln>
                  <a:noFill/>
                </a:ln>
                <a:solidFill>
                  <a:srgbClr val="FF0000"/>
                </a:solidFill>
                <a:effectLst/>
                <a:uLnTx/>
                <a:uFillTx/>
                <a:latin typeface="+mn-lt"/>
                <a:ea typeface="+mn-ea"/>
                <a:cs typeface="+mn-ea"/>
                <a:sym typeface="+mn-lt"/>
              </a:rPr>
              <a:t>打印数据缓冲区</a:t>
            </a:r>
            <a:r>
              <a:rPr kumimoji="0" lang="zh-CN" altLang="en-US" sz="2600" b="0" i="0" u="none" strike="noStrike" kern="1200" cap="none" spc="0" normalizeH="0" baseline="0" noProof="0" dirty="0">
                <a:ln>
                  <a:noFill/>
                </a:ln>
                <a:solidFill>
                  <a:srgbClr val="000000"/>
                </a:solidFill>
                <a:effectLst/>
                <a:uLnTx/>
                <a:uFillTx/>
                <a:latin typeface="+mn-lt"/>
                <a:ea typeface="+mn-ea"/>
                <a:cs typeface="+mn-ea"/>
                <a:sym typeface="+mn-lt"/>
              </a:rPr>
              <a:t>，当主机需要打印数据时，先将数据依次写入缓冲区，写满后主机转去做其他的事情</a:t>
            </a:r>
          </a:p>
          <a:p>
            <a:pPr marL="342900" marR="0" lvl="0" indent="-342900" algn="l" defTabSz="914400" rtl="0" eaLnBrk="0" fontAlgn="base" latinLnBrk="0" hangingPunct="0">
              <a:lnSpc>
                <a:spcPct val="125000"/>
              </a:lnSpc>
              <a:spcBef>
                <a:spcPct val="20000"/>
              </a:spcBef>
              <a:spcAft>
                <a:spcPct val="0"/>
              </a:spcAft>
              <a:buClr>
                <a:srgbClr val="FF0000"/>
              </a:buClr>
              <a:buSzTx/>
              <a:buFont typeface="Wingdings" panose="05000000000000000000" pitchFamily="2" charset="2"/>
              <a:buChar char="ü"/>
              <a:defRPr/>
            </a:pPr>
            <a:r>
              <a:rPr kumimoji="0" lang="zh-CN" altLang="en-US" sz="2600" b="0" i="0" u="none" strike="noStrike" kern="1200" cap="none" spc="0" normalizeH="0" baseline="0" noProof="0" dirty="0">
                <a:ln>
                  <a:noFill/>
                </a:ln>
                <a:solidFill>
                  <a:srgbClr val="000000"/>
                </a:solidFill>
                <a:effectLst/>
                <a:uLnTx/>
                <a:uFillTx/>
                <a:latin typeface="+mn-lt"/>
                <a:ea typeface="+mn-ea"/>
                <a:cs typeface="+mn-ea"/>
                <a:sym typeface="+mn-lt"/>
              </a:rPr>
              <a:t>而打印机就从缓冲区中按照</a:t>
            </a:r>
            <a:r>
              <a:rPr kumimoji="0" lang="zh-CN" altLang="en-US" sz="2600" b="0" i="0" u="none" strike="noStrike" kern="1200" cap="none" spc="0" normalizeH="0" baseline="0" noProof="0" dirty="0">
                <a:ln>
                  <a:noFill/>
                </a:ln>
                <a:solidFill>
                  <a:srgbClr val="FF0000"/>
                </a:solidFill>
                <a:effectLst/>
                <a:uLnTx/>
                <a:uFillTx/>
                <a:latin typeface="+mn-lt"/>
                <a:ea typeface="+mn-ea"/>
                <a:cs typeface="+mn-ea"/>
                <a:sym typeface="+mn-lt"/>
              </a:rPr>
              <a:t>先进先出</a:t>
            </a:r>
            <a: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t/>
            </a:r>
            <a:br>
              <a:rPr kumimoji="0" lang="en-US" altLang="zh-CN" sz="2600" b="0" i="0" u="none" strike="noStrike" kern="1200" cap="none" spc="0" normalizeH="0" baseline="0" noProof="0" dirty="0">
                <a:ln>
                  <a:noFill/>
                </a:ln>
                <a:solidFill>
                  <a:srgbClr val="FF0000"/>
                </a:solidFill>
                <a:effectLst/>
                <a:uLnTx/>
                <a:uFillTx/>
                <a:latin typeface="+mn-lt"/>
                <a:ea typeface="+mn-ea"/>
                <a:cs typeface="+mn-ea"/>
                <a:sym typeface="+mn-lt"/>
              </a:rPr>
            </a:br>
            <a:r>
              <a:rPr kumimoji="0" lang="zh-CN" altLang="en-US" sz="2600" b="0" i="0" u="none" strike="noStrike" kern="1200" cap="none" spc="0" normalizeH="0" baseline="0" noProof="0" dirty="0">
                <a:ln>
                  <a:noFill/>
                </a:ln>
                <a:solidFill>
                  <a:srgbClr val="000000"/>
                </a:solidFill>
                <a:effectLst/>
                <a:uLnTx/>
                <a:uFillTx/>
                <a:latin typeface="+mn-lt"/>
                <a:ea typeface="+mn-ea"/>
                <a:cs typeface="+mn-ea"/>
                <a:sym typeface="+mn-lt"/>
              </a:rPr>
              <a:t>的原则依次读取数据并打印</a:t>
            </a:r>
          </a:p>
        </p:txBody>
      </p:sp>
      <p:pic>
        <p:nvPicPr>
          <p:cNvPr id="166917" name="Picture 7" descr="u=3377142674,1089877773&amp;fm=52&amp;gp=0"/>
          <p:cNvPicPr>
            <a:picLocks noChangeAspect="1"/>
          </p:cNvPicPr>
          <p:nvPr/>
        </p:nvPicPr>
        <p:blipFill>
          <a:blip r:embed="rId2"/>
          <a:stretch>
            <a:fillRect/>
          </a:stretch>
        </p:blipFill>
        <p:spPr>
          <a:xfrm>
            <a:off x="6329363" y="4511675"/>
            <a:ext cx="2814637" cy="2346325"/>
          </a:xfrm>
          <a:prstGeom prst="rect">
            <a:avLst/>
          </a:prstGeom>
          <a:noFill/>
          <a:ln w="9525">
            <a:noFill/>
          </a:ln>
        </p:spPr>
      </p:pic>
      <p:sp>
        <p:nvSpPr>
          <p:cNvPr id="4" name="Rectangle 7"/>
          <p:cNvSpPr>
            <a:spLocks noChangeArrowheads="1"/>
          </p:cNvSpPr>
          <p:nvPr/>
        </p:nvSpPr>
        <p:spPr bwMode="auto">
          <a:xfrm>
            <a:off x="839788" y="1285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队列的其它应用</a:t>
            </a:r>
          </a:p>
        </p:txBody>
      </p:sp>
      <p:cxnSp>
        <p:nvCxnSpPr>
          <p:cNvPr id="166919" name="直接连接符 2"/>
          <p:cNvCxnSpPr/>
          <p:nvPr/>
        </p:nvCxnSpPr>
        <p:spPr>
          <a:xfrm>
            <a:off x="684213" y="3128963"/>
            <a:ext cx="8064500" cy="0"/>
          </a:xfrm>
          <a:prstGeom prst="line">
            <a:avLst/>
          </a:prstGeom>
          <a:ln w="9525" cap="flat" cmpd="sng">
            <a:solidFill>
              <a:srgbClr val="A78DC2"/>
            </a:solidFill>
            <a:prstDash val="solid"/>
            <a:headEnd type="none" w="med" len="med"/>
            <a:tailEnd type="none" w="med" len="med"/>
          </a:ln>
        </p:spPr>
      </p:cxnSp>
      <p:cxnSp>
        <p:nvCxnSpPr>
          <p:cNvPr id="166920" name="直接连接符 6"/>
          <p:cNvCxnSpPr/>
          <p:nvPr/>
        </p:nvCxnSpPr>
        <p:spPr>
          <a:xfrm>
            <a:off x="665163" y="4665663"/>
            <a:ext cx="8083550" cy="0"/>
          </a:xfrm>
          <a:prstGeom prst="line">
            <a:avLst/>
          </a:prstGeom>
          <a:ln w="9525" cap="flat" cmpd="sng">
            <a:solidFill>
              <a:srgbClr val="A78DC2"/>
            </a:solidFill>
            <a:prstDash val="solid"/>
            <a:headEnd type="none" w="med" len="med"/>
            <a:tailEnd type="none" w="med" len="med"/>
          </a:ln>
        </p:spPr>
      </p:cxn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03" name="Rectangle 4"/>
          <p:cNvSpPr>
            <a:spLocks noChangeArrowheads="1"/>
          </p:cNvSpPr>
          <p:nvPr/>
        </p:nvSpPr>
        <p:spPr bwMode="auto">
          <a:xfrm>
            <a:off x="468313" y="1412875"/>
            <a:ext cx="82819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36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zh-CN" altLang="en-US" sz="3600" b="0" i="0" u="none" strike="noStrike" kern="1200" cap="none" spc="0" normalizeH="0" baseline="0" noProof="0" dirty="0">
                <a:ln>
                  <a:noFill/>
                </a:ln>
                <a:solidFill>
                  <a:srgbClr val="FF0000"/>
                </a:solidFill>
                <a:effectLst/>
                <a:uLnTx/>
                <a:uFillTx/>
                <a:latin typeface="+mn-lt"/>
                <a:ea typeface="+mn-ea"/>
                <a:cs typeface="+mn-ea"/>
                <a:sym typeface="+mn-lt"/>
              </a:rPr>
              <a:t>例</a:t>
            </a:r>
            <a:r>
              <a:rPr kumimoji="0" lang="en-US" altLang="zh-CN" sz="36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zh-CN" altLang="en-US" sz="3600" b="0" i="0" u="none" strike="noStrike" kern="1200" cap="none" spc="0" normalizeH="0" baseline="0" noProof="0" dirty="0">
                <a:ln>
                  <a:noFill/>
                </a:ln>
                <a:solidFill>
                  <a:srgbClr val="FF0000"/>
                </a:solidFill>
                <a:effectLst/>
                <a:uLnTx/>
                <a:uFillTx/>
                <a:latin typeface="+mn-lt"/>
                <a:ea typeface="+mn-ea"/>
                <a:cs typeface="+mn-ea"/>
                <a:sym typeface="+mn-lt"/>
              </a:rPr>
              <a:t>打印杨辉三角形</a:t>
            </a:r>
            <a:endParaRPr kumimoji="0" lang="zh-CN" altLang="en-US" sz="2800" b="0"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153604" name="Rectangle 6"/>
          <p:cNvSpPr>
            <a:spLocks noChangeArrowheads="1"/>
          </p:cNvSpPr>
          <p:nvPr/>
        </p:nvSpPr>
        <p:spPr bwMode="auto">
          <a:xfrm>
            <a:off x="144463" y="3132138"/>
            <a:ext cx="184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graphicFrame>
        <p:nvGraphicFramePr>
          <p:cNvPr id="167940" name="Object 5"/>
          <p:cNvGraphicFramePr/>
          <p:nvPr/>
        </p:nvGraphicFramePr>
        <p:xfrm>
          <a:off x="684213" y="2665413"/>
          <a:ext cx="3706812" cy="2513012"/>
        </p:xfrm>
        <a:graphic>
          <a:graphicData uri="http://schemas.openxmlformats.org/presentationml/2006/ole">
            <mc:AlternateContent xmlns:mc="http://schemas.openxmlformats.org/markup-compatibility/2006">
              <mc:Choice xmlns:v="urn:schemas-microsoft-com:vml" Requires="v">
                <p:oleObj spid="_x0000_s13331" r:id="rId3" imgW="2746375" imgH="1825625" progId="Word.Picture.8">
                  <p:embed/>
                </p:oleObj>
              </mc:Choice>
              <mc:Fallback>
                <p:oleObj r:id="rId3" imgW="2746375" imgH="1825625" progId="Word.Picture.8">
                  <p:embed/>
                  <p:pic>
                    <p:nvPicPr>
                      <p:cNvPr id="0" name="图片 3089"/>
                      <p:cNvPicPr/>
                      <p:nvPr/>
                    </p:nvPicPr>
                    <p:blipFill>
                      <a:blip r:embed="rId4"/>
                      <a:srcRect l="8635" b="37291"/>
                      <a:stretch>
                        <a:fillRect/>
                      </a:stretch>
                    </p:blipFill>
                    <p:spPr>
                      <a:xfrm>
                        <a:off x="684213" y="2665413"/>
                        <a:ext cx="3706812" cy="2513012"/>
                      </a:xfrm>
                      <a:prstGeom prst="rect">
                        <a:avLst/>
                      </a:prstGeom>
                      <a:solidFill>
                        <a:srgbClr val="E2D9EB"/>
                      </a:solidFill>
                      <a:ln w="38100">
                        <a:noFill/>
                        <a:miter/>
                      </a:ln>
                    </p:spPr>
                  </p:pic>
                </p:oleObj>
              </mc:Fallback>
            </mc:AlternateContent>
          </a:graphicData>
        </a:graphic>
      </p:graphicFrame>
      <p:pic>
        <p:nvPicPr>
          <p:cNvPr id="167941" name="Picture 7"/>
          <p:cNvPicPr>
            <a:picLocks noChangeAspect="1"/>
          </p:cNvPicPr>
          <p:nvPr/>
        </p:nvPicPr>
        <p:blipFill>
          <a:blip r:embed="rId5"/>
          <a:stretch>
            <a:fillRect/>
          </a:stretch>
        </p:blipFill>
        <p:spPr>
          <a:xfrm>
            <a:off x="5076825" y="2665413"/>
            <a:ext cx="3673475" cy="2513012"/>
          </a:xfrm>
          <a:prstGeom prst="rect">
            <a:avLst/>
          </a:prstGeom>
          <a:solidFill>
            <a:srgbClr val="A78DC2"/>
          </a:solidFill>
          <a:ln w="9525" cap="flat" cmpd="sng">
            <a:solidFill>
              <a:srgbClr val="6C4C8F"/>
            </a:solidFill>
            <a:prstDash val="solid"/>
            <a:miter/>
            <a:headEnd type="none" w="med" len="med"/>
            <a:tailEnd type="none" w="med" len="med"/>
          </a:ln>
        </p:spPr>
      </p:pic>
      <p:sp>
        <p:nvSpPr>
          <p:cNvPr id="6" name="Rectangle 7"/>
          <p:cNvSpPr>
            <a:spLocks noChangeArrowheads="1"/>
          </p:cNvSpPr>
          <p:nvPr/>
        </p:nvSpPr>
        <p:spPr bwMode="auto">
          <a:xfrm>
            <a:off x="839788" y="1285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队列的其它应用</a:t>
            </a:r>
          </a:p>
        </p:txBody>
      </p:sp>
      <p:sp>
        <p:nvSpPr>
          <p:cNvPr id="7"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8962" name="Picture 5" descr="http://spec.cumtcs.net/%CA%FD%BE%DD%BD%E1%B9%B9(%D0%C2)/%CA%FD%BE%DD%BD%E1%B9%B9/lesson/ch04/picture/13.jpg"/>
          <p:cNvPicPr/>
          <p:nvPr/>
        </p:nvPicPr>
        <p:blipFill>
          <a:blip r:embed="rId2" r:link="rId3"/>
          <a:stretch>
            <a:fillRect/>
          </a:stretch>
        </p:blipFill>
        <p:spPr>
          <a:xfrm>
            <a:off x="755650" y="962025"/>
            <a:ext cx="7548563" cy="2941638"/>
          </a:xfrm>
          <a:prstGeom prst="rect">
            <a:avLst/>
          </a:prstGeom>
          <a:solidFill>
            <a:srgbClr val="A78DC2"/>
          </a:solidFill>
          <a:ln w="9525" cap="flat" cmpd="sng">
            <a:solidFill>
              <a:srgbClr val="6C4C8F"/>
            </a:solidFill>
            <a:prstDash val="solid"/>
            <a:miter/>
            <a:headEnd type="none" w="med" len="med"/>
            <a:tailEnd type="none" w="med" len="med"/>
          </a:ln>
        </p:spPr>
      </p:pic>
      <p:sp>
        <p:nvSpPr>
          <p:cNvPr id="154628" name="Text Box 6"/>
          <p:cNvSpPr txBox="1">
            <a:spLocks noChangeArrowheads="1"/>
          </p:cNvSpPr>
          <p:nvPr/>
        </p:nvSpPr>
        <p:spPr bwMode="auto">
          <a:xfrm>
            <a:off x="622300" y="4005263"/>
            <a:ext cx="7840663" cy="2781300"/>
          </a:xfrm>
          <a:prstGeom prst="roundRect">
            <a:avLst>
              <a:gd name="adj" fmla="val 6807"/>
            </a:avLst>
          </a:prstGeom>
          <a:solidFill>
            <a:schemeClr val="accent2">
              <a:lumMod val="20000"/>
              <a:lumOff val="80000"/>
            </a:schemeClr>
          </a:solidFill>
          <a:ln>
            <a:noFill/>
          </a:ln>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EnQueue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(q,0);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各行间插入一个</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for ( j=1; j&lt;=i+2; j++ ) {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DeQueue (</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q,t</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	  //</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一个系数出队</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EnQueue</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(q, </a:t>
            </a:r>
            <a:r>
              <a:rPr kumimoji="0" lang="en-US" altLang="zh-CN" sz="2400" b="0" i="0" u="none" strike="noStrike" kern="1200" cap="none" spc="0" normalizeH="0" baseline="0" noProof="0" dirty="0" err="1">
                <a:ln>
                  <a:noFill/>
                </a:ln>
                <a:solidFill>
                  <a:srgbClr val="FF0000"/>
                </a:solidFill>
                <a:effectLst/>
                <a:uLnTx/>
                <a:uFillTx/>
                <a:latin typeface="+mn-lt"/>
                <a:ea typeface="+mn-ea"/>
                <a:cs typeface="+mn-ea"/>
                <a:sym typeface="+mn-lt"/>
              </a:rPr>
              <a:t>s+t</a:t>
            </a:r>
            <a:r>
              <a:rPr kumimoji="0" lang="en-US" altLang="zh-CN" sz="2400" b="0" i="0" u="none" strike="noStrike" kern="1200" cap="none" spc="0" normalizeH="0" baseline="0" noProof="0" dirty="0">
                <a:ln>
                  <a:noFill/>
                </a:ln>
                <a:solidFill>
                  <a:srgbClr val="FF0000"/>
                </a:solidFill>
                <a:effectLst/>
                <a:uLnTx/>
                <a:uFillTx/>
                <a:latin typeface="+mn-lt"/>
                <a:ea typeface="+mn-ea"/>
                <a:cs typeface="+mn-ea"/>
                <a:sym typeface="+mn-lt"/>
              </a:rPr>
              <a:t> );	//</a:t>
            </a:r>
            <a:r>
              <a:rPr kumimoji="0" lang="zh-CN" altLang="en-US" sz="2400" b="0" i="0" u="none" strike="noStrike" kern="1200" cap="none" spc="0" normalizeH="0" baseline="0" noProof="0" dirty="0">
                <a:ln>
                  <a:noFill/>
                </a:ln>
                <a:solidFill>
                  <a:srgbClr val="FF0000"/>
                </a:solidFill>
                <a:effectLst/>
                <a:uLnTx/>
                <a:uFillTx/>
                <a:latin typeface="+mn-lt"/>
                <a:ea typeface="+mn-ea"/>
                <a:cs typeface="+mn-ea"/>
                <a:sym typeface="+mn-lt"/>
              </a:rPr>
              <a:t>计算下一行系数，并进队</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s = t;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 ( j != i+2 )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cout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&lt;&lt; s &lt;&lt; ' ';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i+2</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个</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 } </a:t>
            </a:r>
          </a:p>
        </p:txBody>
      </p:sp>
      <p:sp>
        <p:nvSpPr>
          <p:cNvPr id="4" name="Rectangle 7"/>
          <p:cNvSpPr>
            <a:spLocks noChangeArrowheads="1"/>
          </p:cNvSpPr>
          <p:nvPr/>
        </p:nvSpPr>
        <p:spPr bwMode="auto">
          <a:xfrm>
            <a:off x="839788" y="128588"/>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队列的其它应用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18467" y="1340768"/>
            <a:ext cx="8707065" cy="4677428"/>
          </a:xfrm>
          <a:prstGeom prst="rect">
            <a:avLst/>
          </a:prstGeom>
        </p:spPr>
      </p:pic>
      <p:sp>
        <p:nvSpPr>
          <p:cNvPr id="5" name="Comment 8"/>
          <p:cNvSpPr>
            <a:spLocks noChangeArrowheads="1"/>
          </p:cNvSpPr>
          <p:nvPr/>
        </p:nvSpPr>
        <p:spPr bwMode="auto">
          <a:xfrm>
            <a:off x="923925" y="223838"/>
            <a:ext cx="7620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双端队列</a:t>
            </a:r>
            <a:r>
              <a:rPr lang="zh-CN" altLang="en-US" sz="2800" b="0" dirty="0">
                <a:solidFill>
                  <a:schemeClr val="bg1"/>
                </a:solidFill>
                <a:latin typeface="+mn-lt"/>
                <a:ea typeface="+mn-ea"/>
                <a:cs typeface="+mn-ea"/>
                <a:sym typeface="+mn-lt"/>
              </a:rPr>
              <a:t>（</a:t>
            </a:r>
            <a:r>
              <a:rPr lang="en-US" altLang="zh-CN" sz="2800" b="0" dirty="0">
                <a:solidFill>
                  <a:schemeClr val="bg1"/>
                </a:solidFill>
                <a:latin typeface="+mn-lt"/>
                <a:ea typeface="+mn-ea"/>
                <a:cs typeface="+mn-ea"/>
                <a:sym typeface="+mn-lt"/>
              </a:rPr>
              <a:t>deque</a:t>
            </a:r>
            <a:r>
              <a:rPr lang="zh-CN" altLang="en-US" sz="2800" b="0" dirty="0">
                <a:solidFill>
                  <a:schemeClr val="bg1"/>
                </a:solidFill>
                <a:latin typeface="+mn-lt"/>
                <a:ea typeface="+mn-ea"/>
                <a:cs typeface="+mn-ea"/>
                <a:sym typeface="+mn-lt"/>
              </a:rPr>
              <a:t>）</a:t>
            </a:r>
            <a:endPar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250825" y="1052513"/>
            <a:ext cx="8435975" cy="3384599"/>
          </a:xfrm>
          <a:prstGeom prst="rect">
            <a:avLst/>
          </a:prstGeom>
          <a:solidFill>
            <a:schemeClr val="bg2">
              <a:lumMod val="20000"/>
              <a:lumOff val="80000"/>
            </a:schemeClr>
          </a:solidFill>
          <a:ln>
            <a:noFill/>
          </a:ln>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254000" marR="0" lvl="0" indent="-254000" algn="just"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0" cap="none" spc="0" normalizeH="0" baseline="0" noProof="0" dirty="0">
                <a:ln>
                  <a:noFill/>
                </a:ln>
                <a:solidFill>
                  <a:schemeClr val="accent1">
                    <a:lumMod val="75000"/>
                  </a:schemeClr>
                </a:solidFill>
                <a:effectLst/>
                <a:uLnTx/>
                <a:uFillTx/>
                <a:latin typeface="Times New Roman" panose="02020603050405020304" pitchFamily="18" charset="0"/>
                <a:ea typeface="方正书宋简体" panose="02010601030101010101" pitchFamily="2" charset="-122"/>
                <a:cs typeface="+mn-cs"/>
              </a:rPr>
              <a:t>【2021</a:t>
            </a:r>
            <a:r>
              <a:rPr kumimoji="0" lang="zh-CN" altLang="en-US" sz="2000" b="0" i="0" u="none" strike="noStrike" kern="0" cap="none" spc="0" normalizeH="0" baseline="0" noProof="0" dirty="0">
                <a:ln>
                  <a:noFill/>
                </a:ln>
                <a:solidFill>
                  <a:schemeClr val="accent1">
                    <a:lumMod val="75000"/>
                  </a:schemeClr>
                </a:solidFill>
                <a:effectLst/>
                <a:uLnTx/>
                <a:uFillTx/>
                <a:latin typeface="Times New Roman" panose="02020603050405020304" pitchFamily="18" charset="0"/>
                <a:ea typeface="方正书宋简体" panose="02010601030101010101" pitchFamily="2" charset="-122"/>
                <a:cs typeface="+mn-cs"/>
              </a:rPr>
              <a:t>年第</a:t>
            </a:r>
            <a:r>
              <a:rPr kumimoji="0" lang="en-US" altLang="zh-CN" sz="2000" b="0" i="0" u="none" strike="noStrike" kern="0" cap="none" spc="0" normalizeH="0" baseline="0" noProof="0" dirty="0">
                <a:ln>
                  <a:noFill/>
                </a:ln>
                <a:solidFill>
                  <a:schemeClr val="accent1">
                    <a:lumMod val="75000"/>
                  </a:schemeClr>
                </a:solidFill>
                <a:effectLst/>
                <a:uLnTx/>
                <a:uFillTx/>
                <a:latin typeface="Times New Roman" panose="02020603050405020304" pitchFamily="18" charset="0"/>
                <a:ea typeface="方正书宋简体" panose="02010601030101010101" pitchFamily="2" charset="-122"/>
                <a:cs typeface="+mn-cs"/>
              </a:rPr>
              <a:t>2</a:t>
            </a:r>
            <a:r>
              <a:rPr kumimoji="0" lang="zh-CN" altLang="en-US" sz="2000" b="0" i="0" u="none" strike="noStrike" kern="0" cap="none" spc="0" normalizeH="0" baseline="0" noProof="0" dirty="0">
                <a:ln>
                  <a:noFill/>
                </a:ln>
                <a:solidFill>
                  <a:schemeClr val="accent1">
                    <a:lumMod val="75000"/>
                  </a:schemeClr>
                </a:solidFill>
                <a:effectLst/>
                <a:uLnTx/>
                <a:uFillTx/>
                <a:latin typeface="Times New Roman" panose="02020603050405020304" pitchFamily="18" charset="0"/>
                <a:ea typeface="方正书宋简体" panose="02010601030101010101" pitchFamily="2" charset="-122"/>
                <a:cs typeface="+mn-cs"/>
              </a:rPr>
              <a:t>题</a:t>
            </a:r>
            <a:r>
              <a:rPr kumimoji="0" lang="en-US" altLang="zh-CN" sz="2000" b="0" i="0" u="none" strike="noStrike" kern="0" cap="none" spc="0" normalizeH="0" baseline="0" noProof="0" dirty="0">
                <a:ln>
                  <a:noFill/>
                </a:ln>
                <a:solidFill>
                  <a:schemeClr val="accent1">
                    <a:lumMod val="75000"/>
                  </a:schemeClr>
                </a:solidFill>
                <a:effectLst/>
                <a:uLnTx/>
                <a:uFillTx/>
                <a:latin typeface="Times New Roman" panose="02020603050405020304" pitchFamily="18" charset="0"/>
                <a:ea typeface="方正书宋简体" panose="0201060103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已知初始为空的队列</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Q</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的一端既能进行入队操作又能进行出队操作，另一端只能进行入队操作，若入队序列为：</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1, 2, 3, 4, 5</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，则不能得到的出队序列是（    ）。</a:t>
            </a:r>
          </a:p>
          <a:p>
            <a:pPr marL="254000" marR="0" lvl="0" indent="-254000" algn="just"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A</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5, 4, 3, 1, 2	</a:t>
            </a:r>
          </a:p>
          <a:p>
            <a:pPr marL="254000" marR="0" lvl="0" indent="-254000" algn="just"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B</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5, 3, 1, 2, 4</a:t>
            </a:r>
          </a:p>
          <a:p>
            <a:pPr marL="254000" marR="0" lvl="0" indent="-254000" algn="just"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C</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4, 2, 1, 3, 5</a:t>
            </a:r>
          </a:p>
          <a:p>
            <a:pPr marL="254000" marR="0" lvl="0" indent="-254000" algn="just"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D</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方正书宋简体" panose="02010601030101010101" pitchFamily="2" charset="-122"/>
                <a:cs typeface="+mn-cs"/>
              </a:rPr>
              <a:t>4, 1, 3, 2, 5</a:t>
            </a:r>
            <a:endPar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4" name="八边形 3"/>
          <p:cNvSpPr/>
          <p:nvPr/>
        </p:nvSpPr>
        <p:spPr bwMode="auto">
          <a:xfrm>
            <a:off x="3275856" y="1863551"/>
            <a:ext cx="647700" cy="719138"/>
          </a:xfrm>
          <a:prstGeom prst="octagon">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rgbClr val="FFFF66"/>
                </a:solidFill>
                <a:effectLst/>
                <a:uLnTx/>
                <a:uFillTx/>
                <a:latin typeface="Times New Roman" panose="02020603050405020304" pitchFamily="18" charset="0"/>
                <a:ea typeface="仿宋_GB2312" pitchFamily="49" charset="-122"/>
                <a:cs typeface="+mn-cs"/>
              </a:rPr>
              <a:t>D</a:t>
            </a:r>
          </a:p>
        </p:txBody>
      </p:sp>
      <p:grpSp>
        <p:nvGrpSpPr>
          <p:cNvPr id="8" name="组合 7"/>
          <p:cNvGrpSpPr/>
          <p:nvPr/>
        </p:nvGrpSpPr>
        <p:grpSpPr>
          <a:xfrm>
            <a:off x="2288726" y="2852936"/>
            <a:ext cx="6604449" cy="2592289"/>
            <a:chOff x="2288726" y="2852936"/>
            <a:chExt cx="6604449" cy="2592289"/>
          </a:xfrm>
        </p:grpSpPr>
        <p:pic>
          <p:nvPicPr>
            <p:cNvPr id="6" name="图片 5"/>
            <p:cNvPicPr>
              <a:picLocks noChangeAspect="1"/>
            </p:cNvPicPr>
            <p:nvPr/>
          </p:nvPicPr>
          <p:blipFill>
            <a:blip r:embed="rId2"/>
            <a:stretch>
              <a:fillRect/>
            </a:stretch>
          </p:blipFill>
          <p:spPr>
            <a:xfrm>
              <a:off x="2288726" y="2852936"/>
              <a:ext cx="6604449" cy="2592288"/>
            </a:xfrm>
            <a:prstGeom prst="rect">
              <a:avLst/>
            </a:prstGeom>
          </p:spPr>
        </p:pic>
        <p:sp>
          <p:nvSpPr>
            <p:cNvPr id="7" name="矩形 6"/>
            <p:cNvSpPr/>
            <p:nvPr/>
          </p:nvSpPr>
          <p:spPr bwMode="auto">
            <a:xfrm>
              <a:off x="2411760" y="4581129"/>
              <a:ext cx="6408712" cy="864096"/>
            </a:xfrm>
            <a:prstGeom prst="rect">
              <a:avLst/>
            </a:prstGeom>
            <a:noFill/>
            <a:ln w="2540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仿宋_GB2312" pitchFamily="49" charset="-122"/>
              </a:endParaRPr>
            </a:p>
          </p:txBody>
        </p:sp>
      </p:grpSp>
      <p:sp>
        <p:nvSpPr>
          <p:cNvPr id="9" name="Comment 8"/>
          <p:cNvSpPr>
            <a:spLocks noChangeArrowheads="1"/>
          </p:cNvSpPr>
          <p:nvPr/>
        </p:nvSpPr>
        <p:spPr bwMode="auto">
          <a:xfrm>
            <a:off x="923925" y="223838"/>
            <a:ext cx="7620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双端队列</a:t>
            </a:r>
            <a:r>
              <a:rPr lang="zh-CN" altLang="en-US" sz="2800" b="0" dirty="0">
                <a:solidFill>
                  <a:schemeClr val="bg1"/>
                </a:solidFill>
                <a:latin typeface="+mn-lt"/>
                <a:ea typeface="+mn-ea"/>
                <a:cs typeface="+mn-ea"/>
                <a:sym typeface="+mn-lt"/>
              </a:rPr>
              <a:t>（</a:t>
            </a:r>
            <a:r>
              <a:rPr lang="en-US" altLang="zh-CN" sz="2800" b="0" dirty="0">
                <a:solidFill>
                  <a:schemeClr val="bg1"/>
                </a:solidFill>
                <a:latin typeface="+mn-lt"/>
                <a:ea typeface="+mn-ea"/>
                <a:cs typeface="+mn-ea"/>
                <a:sym typeface="+mn-lt"/>
              </a:rPr>
              <a:t>deque</a:t>
            </a:r>
            <a:r>
              <a:rPr lang="zh-CN" altLang="en-US" sz="2800" b="0" dirty="0">
                <a:solidFill>
                  <a:schemeClr val="bg1"/>
                </a:solidFill>
                <a:latin typeface="+mn-lt"/>
                <a:ea typeface="+mn-ea"/>
                <a:cs typeface="+mn-ea"/>
                <a:sym typeface="+mn-lt"/>
              </a:rPr>
              <a:t>）</a:t>
            </a:r>
            <a:endPar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9986" name="矩形 1"/>
          <p:cNvSpPr/>
          <p:nvPr/>
        </p:nvSpPr>
        <p:spPr>
          <a:xfrm>
            <a:off x="0" y="4797425"/>
            <a:ext cx="9144000" cy="1225550"/>
          </a:xfrm>
          <a:prstGeom prst="rect">
            <a:avLst/>
          </a:prstGeom>
          <a:solidFill>
            <a:srgbClr val="E2D9EB"/>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graphicFrame>
        <p:nvGraphicFramePr>
          <p:cNvPr id="169987" name="Object 4"/>
          <p:cNvGraphicFramePr/>
          <p:nvPr/>
        </p:nvGraphicFramePr>
        <p:xfrm>
          <a:off x="290513" y="2422525"/>
          <a:ext cx="8355012" cy="3602038"/>
        </p:xfrm>
        <a:graphic>
          <a:graphicData uri="http://schemas.openxmlformats.org/presentationml/2006/ole">
            <mc:AlternateContent xmlns:mc="http://schemas.openxmlformats.org/markup-compatibility/2006">
              <mc:Choice xmlns:v="urn:schemas-microsoft-com:vml" Requires="v">
                <p:oleObj spid="_x0000_s14355" r:id="rId3" imgW="7187565" imgH="3103880" progId="Word.Document.8">
                  <p:embed/>
                </p:oleObj>
              </mc:Choice>
              <mc:Fallback>
                <p:oleObj r:id="rId3" imgW="7187565" imgH="3103880" progId="Word.Document.8">
                  <p:embed/>
                  <p:pic>
                    <p:nvPicPr>
                      <p:cNvPr id="0" name="图片 3088"/>
                      <p:cNvPicPr/>
                      <p:nvPr/>
                    </p:nvPicPr>
                    <p:blipFill>
                      <a:blip r:embed="rId4"/>
                      <a:stretch>
                        <a:fillRect/>
                      </a:stretch>
                    </p:blipFill>
                    <p:spPr>
                      <a:xfrm>
                        <a:off x="290513" y="2422525"/>
                        <a:ext cx="8355012" cy="3602038"/>
                      </a:xfrm>
                      <a:prstGeom prst="rect">
                        <a:avLst/>
                      </a:prstGeom>
                      <a:noFill/>
                      <a:ln w="38100">
                        <a:noFill/>
                        <a:miter/>
                      </a:ln>
                    </p:spPr>
                  </p:pic>
                </p:oleObj>
              </mc:Fallback>
            </mc:AlternateContent>
          </a:graphicData>
        </a:graphic>
      </p:graphicFrame>
      <p:sp>
        <p:nvSpPr>
          <p:cNvPr id="796677" name="Rectangle 5"/>
          <p:cNvSpPr>
            <a:spLocks noChangeArrowheads="1"/>
          </p:cNvSpPr>
          <p:nvPr/>
        </p:nvSpPr>
        <p:spPr bwMode="auto">
          <a:xfrm>
            <a:off x="949325" y="1116013"/>
            <a:ext cx="7696200" cy="936625"/>
          </a:xfrm>
          <a:prstGeom prst="rect">
            <a:avLst/>
          </a:prstGeom>
          <a:noFill/>
          <a:ln w="9525">
            <a:noFill/>
            <a:miter lim="800000"/>
          </a:ln>
        </p:spPr>
        <p:txBody>
          <a:bodyPr/>
          <a:lstStyle/>
          <a:p>
            <a:pPr marL="457200" marR="0" lvl="0" indent="-457200" algn="l" defTabSz="914400" rtl="0" eaLnBrk="0" fontAlgn="base" latinLnBrk="0" hangingPunct="0">
              <a:lnSpc>
                <a:spcPct val="125000"/>
              </a:lnSpc>
              <a:spcBef>
                <a:spcPts val="600"/>
              </a:spcBef>
              <a:spcAft>
                <a:spcPct val="0"/>
              </a:spcAft>
              <a:buClr>
                <a:srgbClr val="FF0000"/>
              </a:buClr>
              <a:buSzPct val="50000"/>
              <a:buFont typeface="Wingdings" panose="05000000000000000000" pitchFamily="2" charset="2"/>
              <a:buChar char="ü"/>
              <a:defRPr/>
            </a:pP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每次从队列中取出的是具有最高优先权的元素</a:t>
            </a:r>
          </a:p>
          <a:p>
            <a:pPr marL="457200" marR="0" lvl="0" indent="-457200" algn="l" defTabSz="914400" rtl="0" eaLnBrk="0" fontAlgn="base" latinLnBrk="0" hangingPunct="0">
              <a:lnSpc>
                <a:spcPct val="125000"/>
              </a:lnSpc>
              <a:spcBef>
                <a:spcPts val="600"/>
              </a:spcBef>
              <a:spcAft>
                <a:spcPct val="0"/>
              </a:spcAft>
              <a:buClr>
                <a:srgbClr val="FF0000"/>
              </a:buClr>
              <a:buSzPct val="50000"/>
              <a:buFont typeface="Wingdings" panose="05000000000000000000" pitchFamily="2" charset="2"/>
              <a:buChar char="ü"/>
              <a:defRPr/>
            </a:pPr>
            <a:r>
              <a:rPr kumimoji="1" lang="zh-CN" altLang="en-US" sz="2400" b="0" i="0" u="none" strike="noStrike" kern="1200" cap="none" spc="0" normalizeH="0" baseline="0" noProof="0" dirty="0">
                <a:ln>
                  <a:noFill/>
                </a:ln>
                <a:solidFill>
                  <a:schemeClr val="tx1"/>
                </a:solidFill>
                <a:effectLst/>
                <a:uLnTx/>
                <a:uFillTx/>
                <a:latin typeface="+mn-lt"/>
                <a:ea typeface="+mn-ea"/>
                <a:cs typeface="+mn-ea"/>
                <a:sym typeface="+mn-lt"/>
              </a:rPr>
              <a:t>任务优先权及执行顺序的关系</a:t>
            </a:r>
          </a:p>
        </p:txBody>
      </p:sp>
      <p:sp>
        <p:nvSpPr>
          <p:cNvPr id="796678" name="Text Box 6"/>
          <p:cNvSpPr txBox="1">
            <a:spLocks noChangeArrowheads="1"/>
          </p:cNvSpPr>
          <p:nvPr/>
        </p:nvSpPr>
        <p:spPr bwMode="auto">
          <a:xfrm>
            <a:off x="2335213" y="5119688"/>
            <a:ext cx="4264025" cy="579438"/>
          </a:xfrm>
          <a:prstGeom prst="rect">
            <a:avLst/>
          </a:prstGeom>
          <a:noFill/>
          <a:ln w="9525">
            <a:noFill/>
            <a:miter lim="800000"/>
          </a:ln>
          <a:effectLst/>
        </p:spPr>
        <p:txBody>
          <a:bodyPr wrap="none">
            <a:spAutoFit/>
          </a:bodyPr>
          <a:lstStyle/>
          <a:p>
            <a:pPr marR="0" defTabSz="914400" eaLnBrk="1" hangingPunct="1">
              <a:buClrTx/>
              <a:buSzTx/>
              <a:buFontTx/>
              <a:buNone/>
              <a:defRPr/>
            </a:pPr>
            <a:r>
              <a:rPr kumimoji="1" lang="zh-CN" altLang="en-US" sz="3200" b="0" kern="1200" cap="none" spc="0" normalizeH="0" baseline="0" noProof="0" dirty="0">
                <a:solidFill>
                  <a:srgbClr val="FF3300"/>
                </a:solidFill>
                <a:latin typeface="+mn-lt"/>
                <a:ea typeface="+mn-ea"/>
                <a:cs typeface="+mn-ea"/>
                <a:sym typeface="+mn-lt"/>
              </a:rPr>
              <a:t>数字越小，优先权越高</a:t>
            </a:r>
            <a:endParaRPr kumimoji="1" lang="zh-CN" altLang="en-US" b="0" kern="1200" cap="none" spc="0" normalizeH="0" baseline="0" noProof="0" dirty="0">
              <a:latin typeface="+mn-lt"/>
              <a:ea typeface="+mn-ea"/>
              <a:cs typeface="+mn-ea"/>
              <a:sym typeface="+mn-lt"/>
            </a:endParaRPr>
          </a:p>
        </p:txBody>
      </p:sp>
      <p:sp>
        <p:nvSpPr>
          <p:cNvPr id="796680" name="Comment 8"/>
          <p:cNvSpPr>
            <a:spLocks noChangeArrowheads="1"/>
          </p:cNvSpPr>
          <p:nvPr/>
        </p:nvSpPr>
        <p:spPr bwMode="auto">
          <a:xfrm>
            <a:off x="923925" y="223838"/>
            <a:ext cx="7620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优先级队列</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en-US" altLang="en-US" sz="2800" b="0" i="0" u="none" strike="noStrike" kern="1200" cap="none" spc="0" normalizeH="0" baseline="0" noProof="0" dirty="0" err="1">
                <a:ln>
                  <a:noFill/>
                </a:ln>
                <a:solidFill>
                  <a:schemeClr val="bg1"/>
                </a:solidFill>
                <a:effectLst/>
                <a:uLnTx/>
                <a:uFillTx/>
                <a:latin typeface="+mn-lt"/>
                <a:ea typeface="+mn-ea"/>
                <a:cs typeface="+mn-ea"/>
                <a:sym typeface="+mn-lt"/>
                <a:hlinkClick r:id="rId5" action="ppaction://hlinkfile"/>
              </a:rPr>
              <a:t>priority_queue</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堆</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71010" name="Group 4"/>
          <p:cNvGrpSpPr/>
          <p:nvPr/>
        </p:nvGrpSpPr>
        <p:grpSpPr>
          <a:xfrm>
            <a:off x="306388" y="1341438"/>
            <a:ext cx="8207375" cy="4176712"/>
            <a:chOff x="816" y="2963"/>
            <a:chExt cx="2784" cy="1069"/>
          </a:xfrm>
        </p:grpSpPr>
        <p:sp>
          <p:nvSpPr>
            <p:cNvPr id="156676" name="Oval 5"/>
            <p:cNvSpPr>
              <a:spLocks noChangeArrowheads="1"/>
            </p:cNvSpPr>
            <p:nvPr/>
          </p:nvSpPr>
          <p:spPr bwMode="auto">
            <a:xfrm>
              <a:off x="2208" y="2976"/>
              <a:ext cx="240" cy="192"/>
            </a:xfrm>
            <a:prstGeom prst="ellipse">
              <a:avLst/>
            </a:prstGeom>
            <a:solidFill>
              <a:schemeClr val="accent1"/>
            </a:solidFill>
            <a:ln w="9525">
              <a:solidFill>
                <a:schemeClr val="tx1"/>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80</a:t>
              </a:r>
            </a:p>
          </p:txBody>
        </p:sp>
        <p:sp>
          <p:nvSpPr>
            <p:cNvPr id="156677" name="Oval 6"/>
            <p:cNvSpPr>
              <a:spLocks noChangeArrowheads="1"/>
            </p:cNvSpPr>
            <p:nvPr/>
          </p:nvSpPr>
          <p:spPr bwMode="auto">
            <a:xfrm>
              <a:off x="1680" y="3216"/>
              <a:ext cx="240" cy="192"/>
            </a:xfrm>
            <a:prstGeom prst="ellipse">
              <a:avLst/>
            </a:prstGeom>
            <a:solidFill>
              <a:schemeClr val="accent1"/>
            </a:solidFill>
            <a:ln w="9525">
              <a:solidFill>
                <a:schemeClr val="tx1"/>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75</a:t>
              </a:r>
            </a:p>
          </p:txBody>
        </p:sp>
        <p:sp>
          <p:nvSpPr>
            <p:cNvPr id="156678" name="Oval 7"/>
            <p:cNvSpPr>
              <a:spLocks noChangeArrowheads="1"/>
            </p:cNvSpPr>
            <p:nvPr/>
          </p:nvSpPr>
          <p:spPr bwMode="auto">
            <a:xfrm>
              <a:off x="3024" y="3168"/>
              <a:ext cx="240" cy="192"/>
            </a:xfrm>
            <a:prstGeom prst="ellipse">
              <a:avLst/>
            </a:prstGeom>
            <a:solidFill>
              <a:schemeClr val="accent1"/>
            </a:solidFill>
            <a:ln w="9525">
              <a:solidFill>
                <a:schemeClr val="tx1"/>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40</a:t>
              </a:r>
            </a:p>
          </p:txBody>
        </p:sp>
        <p:sp>
          <p:nvSpPr>
            <p:cNvPr id="156679" name="Oval 8"/>
            <p:cNvSpPr>
              <a:spLocks noChangeArrowheads="1"/>
            </p:cNvSpPr>
            <p:nvPr/>
          </p:nvSpPr>
          <p:spPr bwMode="auto">
            <a:xfrm>
              <a:off x="1392" y="3504"/>
              <a:ext cx="240" cy="192"/>
            </a:xfrm>
            <a:prstGeom prst="ellipse">
              <a:avLst/>
            </a:prstGeom>
            <a:solidFill>
              <a:schemeClr val="accent1"/>
            </a:solidFill>
            <a:ln w="9525">
              <a:solidFill>
                <a:schemeClr val="tx1"/>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62</a:t>
              </a:r>
            </a:p>
          </p:txBody>
        </p:sp>
        <p:sp>
          <p:nvSpPr>
            <p:cNvPr id="156680" name="Oval 9"/>
            <p:cNvSpPr>
              <a:spLocks noChangeArrowheads="1"/>
            </p:cNvSpPr>
            <p:nvPr/>
          </p:nvSpPr>
          <p:spPr bwMode="auto">
            <a:xfrm>
              <a:off x="2016" y="3552"/>
              <a:ext cx="240" cy="192"/>
            </a:xfrm>
            <a:prstGeom prst="ellipse">
              <a:avLst/>
            </a:prstGeom>
            <a:solidFill>
              <a:schemeClr val="accent1"/>
            </a:solidFill>
            <a:ln w="9525">
              <a:solidFill>
                <a:schemeClr val="tx1"/>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73</a:t>
              </a:r>
            </a:p>
          </p:txBody>
        </p:sp>
        <p:sp>
          <p:nvSpPr>
            <p:cNvPr id="156681" name="Oval 10"/>
            <p:cNvSpPr>
              <a:spLocks noChangeArrowheads="1"/>
            </p:cNvSpPr>
            <p:nvPr/>
          </p:nvSpPr>
          <p:spPr bwMode="auto">
            <a:xfrm>
              <a:off x="3360" y="3552"/>
              <a:ext cx="240" cy="192"/>
            </a:xfrm>
            <a:prstGeom prst="ellipse">
              <a:avLst/>
            </a:prstGeom>
            <a:solidFill>
              <a:schemeClr val="accent1"/>
            </a:solidFill>
            <a:ln w="9525">
              <a:solidFill>
                <a:schemeClr val="tx1"/>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28</a:t>
              </a:r>
            </a:p>
          </p:txBody>
        </p:sp>
        <p:sp>
          <p:nvSpPr>
            <p:cNvPr id="156682" name="Oval 11"/>
            <p:cNvSpPr>
              <a:spLocks noChangeArrowheads="1"/>
            </p:cNvSpPr>
            <p:nvPr/>
          </p:nvSpPr>
          <p:spPr bwMode="auto">
            <a:xfrm>
              <a:off x="2736" y="3552"/>
              <a:ext cx="240" cy="192"/>
            </a:xfrm>
            <a:prstGeom prst="ellipse">
              <a:avLst/>
            </a:prstGeom>
            <a:solidFill>
              <a:schemeClr val="accent1"/>
            </a:solidFill>
            <a:ln w="9525">
              <a:solidFill>
                <a:schemeClr val="tx1"/>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35</a:t>
              </a:r>
            </a:p>
          </p:txBody>
        </p:sp>
        <p:sp>
          <p:nvSpPr>
            <p:cNvPr id="156683" name="Oval 12"/>
            <p:cNvSpPr>
              <a:spLocks noChangeArrowheads="1"/>
            </p:cNvSpPr>
            <p:nvPr/>
          </p:nvSpPr>
          <p:spPr bwMode="auto">
            <a:xfrm>
              <a:off x="1008" y="3840"/>
              <a:ext cx="240" cy="192"/>
            </a:xfrm>
            <a:prstGeom prst="ellipse">
              <a:avLst/>
            </a:prstGeom>
            <a:solidFill>
              <a:schemeClr val="accent1"/>
            </a:solidFill>
            <a:ln w="9525">
              <a:solidFill>
                <a:schemeClr val="tx1"/>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50</a:t>
              </a:r>
            </a:p>
          </p:txBody>
        </p:sp>
        <p:sp>
          <p:nvSpPr>
            <p:cNvPr id="156684" name="Oval 13"/>
            <p:cNvSpPr>
              <a:spLocks noChangeArrowheads="1"/>
            </p:cNvSpPr>
            <p:nvPr/>
          </p:nvSpPr>
          <p:spPr bwMode="auto">
            <a:xfrm>
              <a:off x="1536" y="3840"/>
              <a:ext cx="240" cy="192"/>
            </a:xfrm>
            <a:prstGeom prst="ellipse">
              <a:avLst/>
            </a:prstGeom>
            <a:solidFill>
              <a:schemeClr val="accent1"/>
            </a:solidFill>
            <a:ln w="9525">
              <a:solidFill>
                <a:schemeClr val="tx1"/>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38</a:t>
              </a:r>
            </a:p>
          </p:txBody>
        </p:sp>
        <p:sp>
          <p:nvSpPr>
            <p:cNvPr id="156685" name="Oval 14"/>
            <p:cNvSpPr>
              <a:spLocks noChangeArrowheads="1"/>
            </p:cNvSpPr>
            <p:nvPr/>
          </p:nvSpPr>
          <p:spPr bwMode="auto">
            <a:xfrm>
              <a:off x="1920" y="3840"/>
              <a:ext cx="240" cy="192"/>
            </a:xfrm>
            <a:prstGeom prst="ellipse">
              <a:avLst/>
            </a:prstGeom>
            <a:solidFill>
              <a:schemeClr val="accent1"/>
            </a:solidFill>
            <a:ln w="9525">
              <a:solidFill>
                <a:schemeClr val="tx1"/>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25</a:t>
              </a:r>
            </a:p>
          </p:txBody>
        </p:sp>
        <p:sp>
          <p:nvSpPr>
            <p:cNvPr id="156686" name="Oval 15"/>
            <p:cNvSpPr>
              <a:spLocks noChangeArrowheads="1"/>
            </p:cNvSpPr>
            <p:nvPr/>
          </p:nvSpPr>
          <p:spPr bwMode="auto">
            <a:xfrm>
              <a:off x="2304" y="3840"/>
              <a:ext cx="240" cy="192"/>
            </a:xfrm>
            <a:prstGeom prst="ellipse">
              <a:avLst/>
            </a:prstGeom>
            <a:solidFill>
              <a:schemeClr val="accent1"/>
            </a:solidFill>
            <a:ln w="9525">
              <a:solidFill>
                <a:schemeClr val="tx1"/>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47</a:t>
              </a:r>
            </a:p>
          </p:txBody>
        </p:sp>
        <p:sp>
          <p:nvSpPr>
            <p:cNvPr id="156687" name="Oval 16"/>
            <p:cNvSpPr>
              <a:spLocks noChangeArrowheads="1"/>
            </p:cNvSpPr>
            <p:nvPr/>
          </p:nvSpPr>
          <p:spPr bwMode="auto">
            <a:xfrm>
              <a:off x="2592" y="3840"/>
              <a:ext cx="240" cy="192"/>
            </a:xfrm>
            <a:prstGeom prst="ellipse">
              <a:avLst/>
            </a:prstGeom>
            <a:solidFill>
              <a:schemeClr val="accent1"/>
            </a:solidFill>
            <a:ln w="9525">
              <a:solidFill>
                <a:schemeClr val="tx1"/>
              </a:solidFill>
              <a:round/>
            </a:ln>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bg1"/>
                  </a:solidFill>
                  <a:effectLst/>
                  <a:uLnTx/>
                  <a:uFillTx/>
                  <a:latin typeface="+mn-lt"/>
                  <a:ea typeface="+mn-ea"/>
                  <a:cs typeface="+mn-ea"/>
                  <a:sym typeface="+mn-lt"/>
                </a:rPr>
                <a:t>15</a:t>
              </a:r>
            </a:p>
          </p:txBody>
        </p:sp>
        <p:sp>
          <p:nvSpPr>
            <p:cNvPr id="156688" name="Line 17"/>
            <p:cNvSpPr>
              <a:spLocks noChangeShapeType="1"/>
            </p:cNvSpPr>
            <p:nvPr/>
          </p:nvSpPr>
          <p:spPr bwMode="auto">
            <a:xfrm flipH="1">
              <a:off x="1920" y="3087"/>
              <a:ext cx="288" cy="16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89" name="Line 18"/>
            <p:cNvSpPr>
              <a:spLocks noChangeShapeType="1"/>
            </p:cNvSpPr>
            <p:nvPr/>
          </p:nvSpPr>
          <p:spPr bwMode="auto">
            <a:xfrm>
              <a:off x="2448" y="3087"/>
              <a:ext cx="576" cy="1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0" name="Line 19"/>
            <p:cNvSpPr>
              <a:spLocks noChangeShapeType="1"/>
            </p:cNvSpPr>
            <p:nvPr/>
          </p:nvSpPr>
          <p:spPr bwMode="auto">
            <a:xfrm flipH="1">
              <a:off x="1581" y="3387"/>
              <a:ext cx="147" cy="12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1" name="Line 20"/>
            <p:cNvSpPr>
              <a:spLocks noChangeShapeType="1"/>
            </p:cNvSpPr>
            <p:nvPr/>
          </p:nvSpPr>
          <p:spPr bwMode="auto">
            <a:xfrm>
              <a:off x="1887" y="3387"/>
              <a:ext cx="192" cy="18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2" name="Line 21"/>
            <p:cNvSpPr>
              <a:spLocks noChangeShapeType="1"/>
            </p:cNvSpPr>
            <p:nvPr/>
          </p:nvSpPr>
          <p:spPr bwMode="auto">
            <a:xfrm flipH="1">
              <a:off x="2895" y="3347"/>
              <a:ext cx="177" cy="20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3" name="Line 22"/>
            <p:cNvSpPr>
              <a:spLocks noChangeShapeType="1"/>
            </p:cNvSpPr>
            <p:nvPr/>
          </p:nvSpPr>
          <p:spPr bwMode="auto">
            <a:xfrm>
              <a:off x="3249" y="3312"/>
              <a:ext cx="207"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4" name="Line 23"/>
            <p:cNvSpPr>
              <a:spLocks noChangeShapeType="1"/>
            </p:cNvSpPr>
            <p:nvPr/>
          </p:nvSpPr>
          <p:spPr bwMode="auto">
            <a:xfrm flipH="1">
              <a:off x="1167" y="3648"/>
              <a:ext cx="243" cy="20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5" name="Line 24"/>
            <p:cNvSpPr>
              <a:spLocks noChangeShapeType="1"/>
            </p:cNvSpPr>
            <p:nvPr/>
          </p:nvSpPr>
          <p:spPr bwMode="auto">
            <a:xfrm>
              <a:off x="1581" y="3683"/>
              <a:ext cx="66" cy="15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6" name="Line 25"/>
            <p:cNvSpPr>
              <a:spLocks noChangeShapeType="1"/>
            </p:cNvSpPr>
            <p:nvPr/>
          </p:nvSpPr>
          <p:spPr bwMode="auto">
            <a:xfrm flipH="1">
              <a:off x="2046" y="3737"/>
              <a:ext cx="48" cy="10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7" name="Line 26"/>
            <p:cNvSpPr>
              <a:spLocks noChangeShapeType="1"/>
            </p:cNvSpPr>
            <p:nvPr/>
          </p:nvSpPr>
          <p:spPr bwMode="auto">
            <a:xfrm>
              <a:off x="2238" y="3696"/>
              <a:ext cx="162"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8" name="Line 27"/>
            <p:cNvSpPr>
              <a:spLocks noChangeShapeType="1"/>
            </p:cNvSpPr>
            <p:nvPr/>
          </p:nvSpPr>
          <p:spPr bwMode="auto">
            <a:xfrm flipH="1">
              <a:off x="2736" y="3731"/>
              <a:ext cx="63" cy="1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9" name="Text Box 28"/>
            <p:cNvSpPr txBox="1">
              <a:spLocks noChangeArrowheads="1"/>
            </p:cNvSpPr>
            <p:nvPr/>
          </p:nvSpPr>
          <p:spPr bwMode="auto">
            <a:xfrm>
              <a:off x="2880" y="2963"/>
              <a:ext cx="6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00" name="Text Box 29"/>
            <p:cNvSpPr txBox="1">
              <a:spLocks noChangeArrowheads="1"/>
            </p:cNvSpPr>
            <p:nvPr/>
          </p:nvSpPr>
          <p:spPr bwMode="auto">
            <a:xfrm>
              <a:off x="1728" y="3011"/>
              <a:ext cx="6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01" name="Text Box 30"/>
            <p:cNvSpPr txBox="1">
              <a:spLocks noChangeArrowheads="1"/>
            </p:cNvSpPr>
            <p:nvPr/>
          </p:nvSpPr>
          <p:spPr bwMode="auto">
            <a:xfrm>
              <a:off x="1248" y="3395"/>
              <a:ext cx="6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02" name="Text Box 31"/>
            <p:cNvSpPr txBox="1">
              <a:spLocks noChangeArrowheads="1"/>
            </p:cNvSpPr>
            <p:nvPr/>
          </p:nvSpPr>
          <p:spPr bwMode="auto">
            <a:xfrm>
              <a:off x="2160" y="3347"/>
              <a:ext cx="6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03" name="Text Box 32"/>
            <p:cNvSpPr txBox="1">
              <a:spLocks noChangeArrowheads="1"/>
            </p:cNvSpPr>
            <p:nvPr/>
          </p:nvSpPr>
          <p:spPr bwMode="auto">
            <a:xfrm>
              <a:off x="2784" y="3347"/>
              <a:ext cx="6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04" name="Text Box 33"/>
            <p:cNvSpPr txBox="1">
              <a:spLocks noChangeArrowheads="1"/>
            </p:cNvSpPr>
            <p:nvPr/>
          </p:nvSpPr>
          <p:spPr bwMode="auto">
            <a:xfrm>
              <a:off x="3504" y="3347"/>
              <a:ext cx="6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05" name="Text Box 34"/>
            <p:cNvSpPr txBox="1">
              <a:spLocks noChangeArrowheads="1"/>
            </p:cNvSpPr>
            <p:nvPr/>
          </p:nvSpPr>
          <p:spPr bwMode="auto">
            <a:xfrm>
              <a:off x="816" y="3731"/>
              <a:ext cx="6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06" name="Text Box 35"/>
            <p:cNvSpPr txBox="1">
              <a:spLocks noChangeArrowheads="1"/>
            </p:cNvSpPr>
            <p:nvPr/>
          </p:nvSpPr>
          <p:spPr bwMode="auto">
            <a:xfrm>
              <a:off x="1392" y="3683"/>
              <a:ext cx="6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07" name="Text Box 36"/>
            <p:cNvSpPr txBox="1">
              <a:spLocks noChangeArrowheads="1"/>
            </p:cNvSpPr>
            <p:nvPr/>
          </p:nvSpPr>
          <p:spPr bwMode="auto">
            <a:xfrm>
              <a:off x="1776" y="3635"/>
              <a:ext cx="6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08" name="Text Box 37"/>
            <p:cNvSpPr txBox="1">
              <a:spLocks noChangeArrowheads="1"/>
            </p:cNvSpPr>
            <p:nvPr/>
          </p:nvSpPr>
          <p:spPr bwMode="auto">
            <a:xfrm>
              <a:off x="2304" y="3635"/>
              <a:ext cx="6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09" name="Text Box 38"/>
            <p:cNvSpPr txBox="1">
              <a:spLocks noChangeArrowheads="1"/>
            </p:cNvSpPr>
            <p:nvPr/>
          </p:nvSpPr>
          <p:spPr bwMode="auto">
            <a:xfrm>
              <a:off x="2832" y="3635"/>
              <a:ext cx="6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1"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3" name="Group 39"/>
          <p:cNvGrpSpPr/>
          <p:nvPr/>
        </p:nvGrpSpPr>
        <p:grpSpPr>
          <a:xfrm>
            <a:off x="5894388" y="1392238"/>
            <a:ext cx="2522537" cy="519112"/>
            <a:chOff x="4108" y="1672"/>
            <a:chExt cx="1589" cy="327"/>
          </a:xfrm>
        </p:grpSpPr>
        <p:sp>
          <p:nvSpPr>
            <p:cNvPr id="156711" name="AutoShape 40"/>
            <p:cNvSpPr>
              <a:spLocks noChangeArrowheads="1"/>
            </p:cNvSpPr>
            <p:nvPr/>
          </p:nvSpPr>
          <p:spPr bwMode="auto">
            <a:xfrm>
              <a:off x="4108" y="1758"/>
              <a:ext cx="798" cy="186"/>
            </a:xfrm>
            <a:prstGeom prst="rightArrow">
              <a:avLst>
                <a:gd name="adj1" fmla="val 56620"/>
                <a:gd name="adj2" fmla="val 109896"/>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12" name="Rectangle 41"/>
            <p:cNvSpPr>
              <a:spLocks noChangeArrowheads="1"/>
            </p:cNvSpPr>
            <p:nvPr/>
          </p:nvSpPr>
          <p:spPr bwMode="auto">
            <a:xfrm>
              <a:off x="4906" y="1672"/>
              <a:ext cx="791" cy="32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rgbClr val="FF3300"/>
                  </a:solidFill>
                  <a:effectLst/>
                  <a:uLnTx/>
                  <a:uFillTx/>
                  <a:latin typeface="+mn-lt"/>
                  <a:ea typeface="+mn-ea"/>
                  <a:cs typeface="+mn-ea"/>
                  <a:sym typeface="+mn-lt"/>
                </a:rPr>
                <a:t>大根堆</a:t>
              </a:r>
            </a:p>
          </p:txBody>
        </p:sp>
      </p:grpSp>
      <p:sp>
        <p:nvSpPr>
          <p:cNvPr id="40" name="Comment 8"/>
          <p:cNvSpPr>
            <a:spLocks noChangeArrowheads="1"/>
          </p:cNvSpPr>
          <p:nvPr/>
        </p:nvSpPr>
        <p:spPr bwMode="auto">
          <a:xfrm>
            <a:off x="927100" y="188278"/>
            <a:ext cx="7620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优先级队列（priority_queue）--</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堆</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362" name="图片 9"/>
          <p:cNvPicPr>
            <a:picLocks noChangeAspect="1"/>
          </p:cNvPicPr>
          <p:nvPr/>
        </p:nvPicPr>
        <p:blipFill>
          <a:blip r:embed="rId2"/>
          <a:srcRect l="1575"/>
          <a:stretch>
            <a:fillRect/>
          </a:stretch>
        </p:blipFill>
        <p:spPr>
          <a:xfrm>
            <a:off x="0" y="1588"/>
            <a:ext cx="9124950" cy="1831975"/>
          </a:xfrm>
          <a:prstGeom prst="rect">
            <a:avLst/>
          </a:prstGeom>
          <a:noFill/>
          <a:ln w="9525">
            <a:noFill/>
          </a:ln>
        </p:spPr>
      </p:pic>
      <p:sp>
        <p:nvSpPr>
          <p:cNvPr id="11266" name="矩形: 圆角 16"/>
          <p:cNvSpPr>
            <a:spLocks noChangeArrowheads="1"/>
          </p:cNvSpPr>
          <p:nvPr/>
        </p:nvSpPr>
        <p:spPr bwMode="auto">
          <a:xfrm>
            <a:off x="2444750" y="5915660"/>
            <a:ext cx="5199063" cy="504825"/>
          </a:xfrm>
          <a:prstGeom prst="roundRect">
            <a:avLst>
              <a:gd name="adj" fmla="val 16667"/>
            </a:avLst>
          </a:prstGeom>
          <a:solidFill>
            <a:srgbClr val="9476B6"/>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1267" name="矩形: 圆角 15"/>
          <p:cNvSpPr>
            <a:spLocks noChangeArrowheads="1"/>
          </p:cNvSpPr>
          <p:nvPr/>
        </p:nvSpPr>
        <p:spPr bwMode="auto">
          <a:xfrm>
            <a:off x="1500188" y="5915660"/>
            <a:ext cx="839788" cy="504825"/>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a:defRPr sz="2800">
                <a:solidFill>
                  <a:schemeClr val="tx1"/>
                </a:solidFill>
                <a:latin typeface="Times New Roman" panose="02020603050405020304" pitchFamily="18" charset="0"/>
                <a:ea typeface="仿宋_GB2312" pitchFamily="49" charset="-122"/>
              </a:defRPr>
            </a:lvl1pPr>
            <a:lvl2pPr marL="742950" indent="-285750">
              <a:defRPr sz="2800">
                <a:solidFill>
                  <a:schemeClr val="tx1"/>
                </a:solidFill>
                <a:latin typeface="Times New Roman" panose="02020603050405020304" pitchFamily="18" charset="0"/>
                <a:ea typeface="仿宋_GB2312" pitchFamily="49" charset="-122"/>
              </a:defRPr>
            </a:lvl2pPr>
            <a:lvl3pPr marL="1143000" indent="-228600">
              <a:defRPr sz="2800">
                <a:solidFill>
                  <a:schemeClr val="tx1"/>
                </a:solidFill>
                <a:latin typeface="Times New Roman" panose="02020603050405020304" pitchFamily="18" charset="0"/>
                <a:ea typeface="仿宋_GB2312" pitchFamily="49" charset="-122"/>
              </a:defRPr>
            </a:lvl3pPr>
            <a:lvl4pPr marL="1600200" indent="-228600">
              <a:defRPr sz="2800">
                <a:solidFill>
                  <a:schemeClr val="tx1"/>
                </a:solidFill>
                <a:latin typeface="Times New Roman" panose="02020603050405020304" pitchFamily="18" charset="0"/>
                <a:ea typeface="仿宋_GB2312" pitchFamily="49" charset="-122"/>
              </a:defRPr>
            </a:lvl4pPr>
            <a:lvl5pPr marL="2057400" indent="-228600">
              <a:defRPr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仿宋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8" name="矩形 7"/>
          <p:cNvSpPr/>
          <p:nvPr/>
        </p:nvSpPr>
        <p:spPr bwMode="auto">
          <a:xfrm>
            <a:off x="9525" y="1588"/>
            <a:ext cx="9151938" cy="2024063"/>
          </a:xfrm>
          <a:prstGeom prst="rect">
            <a:avLst/>
          </a:prstGeom>
          <a:solidFill>
            <a:schemeClr val="tx1">
              <a:alpha val="50000"/>
            </a:schemeClr>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lt"/>
              <a:ea typeface="+mn-ea"/>
              <a:cs typeface="+mn-ea"/>
              <a:sym typeface="+mn-lt"/>
            </a:endParaRPr>
          </a:p>
        </p:txBody>
      </p:sp>
      <p:sp>
        <p:nvSpPr>
          <p:cNvPr id="7" name="Shape 26"/>
          <p:cNvSpPr/>
          <p:nvPr/>
        </p:nvSpPr>
        <p:spPr>
          <a:xfrm flipH="1">
            <a:off x="-36512" y="774700"/>
            <a:ext cx="9207500" cy="1260475"/>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bg1"/>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
        <p:nvSpPr>
          <p:cNvPr id="13" name="文本框 12"/>
          <p:cNvSpPr txBox="1"/>
          <p:nvPr/>
        </p:nvSpPr>
        <p:spPr>
          <a:xfrm>
            <a:off x="558800" y="331788"/>
            <a:ext cx="2573338" cy="647700"/>
          </a:xfrm>
          <a:prstGeom prst="rect">
            <a:avLst/>
          </a:prstGeom>
          <a:noFill/>
        </p:spPr>
        <p:txBody>
          <a:bodyPr>
            <a:spAutoFit/>
          </a:bodyPr>
          <a:lstStyle/>
          <a:p>
            <a:pPr marR="0" algn="dist" defTabSz="914400">
              <a:buClrTx/>
              <a:buSzTx/>
              <a:buFontTx/>
              <a:buNone/>
              <a:defRPr/>
            </a:pPr>
            <a:r>
              <a:rPr kumimoji="0" lang="zh-CN" altLang="en-US" sz="3600" b="0" kern="1200" cap="none" spc="0" normalizeH="0" baseline="0" noProof="0" dirty="0">
                <a:solidFill>
                  <a:srgbClr val="FEFFFF"/>
                </a:solidFill>
                <a:latin typeface="+mn-lt"/>
                <a:ea typeface="+mn-ea"/>
                <a:cs typeface="+mn-ea"/>
                <a:sym typeface="+mn-lt"/>
              </a:rPr>
              <a:t>目录导航</a:t>
            </a:r>
          </a:p>
        </p:txBody>
      </p:sp>
      <p:sp>
        <p:nvSpPr>
          <p:cNvPr id="14" name="文本框 13"/>
          <p:cNvSpPr txBox="1"/>
          <p:nvPr/>
        </p:nvSpPr>
        <p:spPr>
          <a:xfrm>
            <a:off x="1619250" y="2471738"/>
            <a:ext cx="720725" cy="3969385"/>
          </a:xfrm>
          <a:prstGeom prst="rect">
            <a:avLst/>
          </a:prstGeom>
          <a:noFill/>
        </p:spPr>
        <p:txBody>
          <a:bodyPr>
            <a:spAutoFit/>
          </a:bodyPr>
          <a:lstStyle/>
          <a:p>
            <a:pPr marR="0" defTabSz="914400">
              <a:lnSpc>
                <a:spcPct val="150000"/>
              </a:lnSpc>
              <a:buClrTx/>
              <a:buSzTx/>
              <a:buFontTx/>
              <a:buNone/>
              <a:defRPr/>
            </a:pPr>
            <a:r>
              <a:rPr kumimoji="0" lang="en-US" altLang="zh-CN" b="0" kern="1200" cap="none" spc="0" normalizeH="0" baseline="0" noProof="0" dirty="0">
                <a:solidFill>
                  <a:schemeClr val="tx1"/>
                </a:solidFill>
                <a:latin typeface="+mn-lt"/>
                <a:ea typeface="+mn-ea"/>
                <a:cs typeface="+mn-ea"/>
                <a:sym typeface="+mn-lt"/>
              </a:rPr>
              <a:t>3.1</a:t>
            </a:r>
            <a:endParaRPr kumimoji="0" lang="zh-CN" altLang="en-US" b="0" kern="1200" cap="none" spc="0" normalizeH="0" baseline="0" noProof="0" dirty="0">
              <a:solidFill>
                <a:schemeClr val="tx1"/>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3.2</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3.3</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3.4</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3.5</a:t>
            </a:r>
            <a:endParaRPr kumimoji="0" lang="zh-CN" altLang="en-US" b="0" kern="1200" cap="none" spc="0" normalizeH="0" baseline="0" noProof="0" dirty="0">
              <a:solidFill>
                <a:srgbClr val="000000">
                  <a:lumMod val="95000"/>
                  <a:lumOff val="5000"/>
                </a:srgbClr>
              </a:solidFill>
              <a:latin typeface="+mn-lt"/>
              <a:ea typeface="+mn-ea"/>
              <a:cs typeface="+mn-ea"/>
              <a:sym typeface="+mn-lt"/>
            </a:endParaRPr>
          </a:p>
          <a:p>
            <a:pPr marR="0" defTabSz="914400">
              <a:lnSpc>
                <a:spcPct val="150000"/>
              </a:lnSpc>
              <a:buClrTx/>
              <a:buSzTx/>
              <a:buFontTx/>
              <a:buNone/>
              <a:defRPr/>
            </a:pPr>
            <a:r>
              <a:rPr kumimoji="0" lang="en-US" altLang="zh-CN" b="0" kern="1200" cap="none" spc="0" normalizeH="0" baseline="0" noProof="0" dirty="0">
                <a:solidFill>
                  <a:srgbClr val="000000">
                    <a:lumMod val="95000"/>
                    <a:lumOff val="5000"/>
                  </a:srgbClr>
                </a:solidFill>
                <a:latin typeface="+mn-lt"/>
                <a:ea typeface="+mn-ea"/>
                <a:cs typeface="+mn-ea"/>
                <a:sym typeface="+mn-lt"/>
              </a:rPr>
              <a:t>3.6</a:t>
            </a:r>
          </a:p>
          <a:p>
            <a:pPr marR="0" defTabSz="914400">
              <a:lnSpc>
                <a:spcPct val="150000"/>
              </a:lnSpc>
              <a:buClrTx/>
              <a:buSzTx/>
              <a:buFontTx/>
              <a:buNone/>
              <a:defRPr/>
            </a:pPr>
            <a:r>
              <a:rPr kumimoji="0" lang="en-US" altLang="zh-CN" b="0" kern="1200" cap="none" spc="0" normalizeH="0" baseline="0" noProof="0" dirty="0">
                <a:solidFill>
                  <a:schemeClr val="bg1"/>
                </a:solidFill>
                <a:latin typeface="+mn-lt"/>
                <a:ea typeface="+mn-ea"/>
                <a:cs typeface="+mn-ea"/>
                <a:sym typeface="+mn-lt"/>
              </a:rPr>
              <a:t>3.7</a:t>
            </a:r>
          </a:p>
        </p:txBody>
      </p:sp>
      <p:sp>
        <p:nvSpPr>
          <p:cNvPr id="15" name="文本框 14"/>
          <p:cNvSpPr txBox="1"/>
          <p:nvPr/>
        </p:nvSpPr>
        <p:spPr>
          <a:xfrm>
            <a:off x="2457450" y="2471738"/>
            <a:ext cx="4129088" cy="3969385"/>
          </a:xfrm>
          <a:prstGeom prst="rect">
            <a:avLst/>
          </a:prstGeom>
          <a:noFill/>
        </p:spPr>
        <p:txBody>
          <a:bodyPr>
            <a:spAutoFit/>
          </a:bodyPr>
          <a:lstStyle/>
          <a:p>
            <a:pPr marR="0" defTabSz="914400">
              <a:lnSpc>
                <a:spcPct val="150000"/>
              </a:lnSpc>
              <a:buClrTx/>
              <a:buSzTx/>
              <a:buFontTx/>
              <a:buNone/>
              <a:defRPr/>
            </a:pPr>
            <a:r>
              <a:rPr kumimoji="0" lang="zh-CN" altLang="en-US" b="0" kern="1200" cap="none" spc="0" normalizeH="0" baseline="0" noProof="0" dirty="0">
                <a:solidFill>
                  <a:schemeClr val="tx1"/>
                </a:solidFill>
                <a:latin typeface="+mn-lt"/>
                <a:ea typeface="+mn-ea"/>
                <a:cs typeface="+mn-ea"/>
                <a:sym typeface="+mn-lt"/>
              </a:rPr>
              <a:t>栈和队列的定义和特点</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案例引入</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栈的表示和操作的实现</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栈与递归</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队列的的表示和操作的实现</a:t>
            </a:r>
          </a:p>
          <a:p>
            <a:pPr marR="0" defTabSz="914400">
              <a:lnSpc>
                <a:spcPct val="150000"/>
              </a:lnSpc>
              <a:buClrTx/>
              <a:buSzTx/>
              <a:buFontTx/>
              <a:buNone/>
              <a:defRPr/>
            </a:pPr>
            <a:r>
              <a:rPr kumimoji="0" lang="zh-CN" altLang="en-US" b="0" kern="1200" cap="none" spc="0" normalizeH="0" baseline="0" noProof="0" dirty="0">
                <a:solidFill>
                  <a:srgbClr val="000000">
                    <a:lumMod val="95000"/>
                    <a:lumOff val="5000"/>
                  </a:srgbClr>
                </a:solidFill>
                <a:latin typeface="+mn-lt"/>
                <a:ea typeface="+mn-ea"/>
                <a:cs typeface="+mn-ea"/>
                <a:sym typeface="+mn-lt"/>
              </a:rPr>
              <a:t>案例分析与实现</a:t>
            </a:r>
          </a:p>
          <a:p>
            <a:pPr marR="0" defTabSz="914400">
              <a:lnSpc>
                <a:spcPct val="150000"/>
              </a:lnSpc>
              <a:buClrTx/>
              <a:buSzTx/>
              <a:buFontTx/>
              <a:buNone/>
              <a:defRPr/>
            </a:pPr>
            <a:r>
              <a:rPr kumimoji="0" lang="zh-CN" altLang="en-US" b="0" kern="1200" cap="none" spc="0" normalizeH="0" baseline="0" noProof="0" dirty="0">
                <a:solidFill>
                  <a:schemeClr val="bg1"/>
                </a:solidFill>
                <a:latin typeface="+mn-lt"/>
                <a:ea typeface="+mn-ea"/>
                <a:cs typeface="+mn-ea"/>
                <a:sym typeface="+mn-lt"/>
              </a:rPr>
              <a:t>LeetCode算法练习题</a:t>
            </a:r>
          </a:p>
        </p:txBody>
      </p:sp>
      <p:sp>
        <p:nvSpPr>
          <p:cNvPr id="2" name="矩形 1"/>
          <p:cNvSpPr/>
          <p:nvPr/>
        </p:nvSpPr>
        <p:spPr>
          <a:xfrm>
            <a:off x="3276600" y="457200"/>
            <a:ext cx="1458913"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FEFFFF"/>
                </a:solidFill>
                <a:effectLst/>
                <a:uLnTx/>
                <a:uFillTx/>
                <a:latin typeface="+mn-lt"/>
                <a:ea typeface="+mn-ea"/>
                <a:cs typeface="+mn-ea"/>
                <a:sym typeface="+mn-lt"/>
              </a:rPr>
              <a:t>Contents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3.1】LeetCode 150 逆波兰表达式求值</a:t>
            </a:r>
          </a:p>
        </p:txBody>
      </p:sp>
      <p:sp>
        <p:nvSpPr>
          <p:cNvPr id="180227" name="矩形 5"/>
          <p:cNvSpPr>
            <a:spLocks noChangeArrowheads="1"/>
          </p:cNvSpPr>
          <p:nvPr/>
        </p:nvSpPr>
        <p:spPr bwMode="auto">
          <a:xfrm>
            <a:off x="0" y="105410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【问题描述】</a:t>
            </a:r>
          </a:p>
        </p:txBody>
      </p:sp>
      <p:sp>
        <p:nvSpPr>
          <p:cNvPr id="180230" name="矩形 8"/>
          <p:cNvSpPr>
            <a:spLocks noChangeArrowheads="1"/>
          </p:cNvSpPr>
          <p:nvPr/>
        </p:nvSpPr>
        <p:spPr bwMode="auto">
          <a:xfrm>
            <a:off x="0" y="4326255"/>
            <a:ext cx="3083560" cy="521970"/>
          </a:xfrm>
          <a:prstGeom prst="rect">
            <a:avLst/>
          </a:prstGeom>
          <a:solidFill>
            <a:srgbClr val="9476B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【输入输出示例】</a:t>
            </a:r>
          </a:p>
        </p:txBody>
      </p:sp>
      <p:sp>
        <p:nvSpPr>
          <p:cNvPr id="3" name="圆角矩形 2"/>
          <p:cNvSpPr/>
          <p:nvPr/>
        </p:nvSpPr>
        <p:spPr>
          <a:xfrm>
            <a:off x="323215" y="1755140"/>
            <a:ext cx="8398510" cy="2355258"/>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根据逆波兰表示法求表达式的值。有效的算符包括 +、-、*、/，每个运算对象可以是整数，也可以是另一个逆波兰表达式。假设给定的逆波兰表达式总是有效的，即表达式总会计算出有效数值且不存在除数为 0 的情况。其中，整数除法只保留整数部分。</a:t>
            </a:r>
          </a:p>
        </p:txBody>
      </p:sp>
      <p:sp>
        <p:nvSpPr>
          <p:cNvPr id="4" name="圆角矩形 3"/>
          <p:cNvSpPr/>
          <p:nvPr/>
        </p:nvSpPr>
        <p:spPr>
          <a:xfrm>
            <a:off x="323215" y="5012690"/>
            <a:ext cx="8398510" cy="1407921"/>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输入 ：tokens = ["10", "6", "9", "3", "+", "-11", "*", "/", "*", "17", "+", "5",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输出 ：22</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3.1】LeetCode 150 逆波兰表达式求值</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pic>
        <p:nvPicPr>
          <p:cNvPr id="3" name="图片 2"/>
          <p:cNvPicPr>
            <a:picLocks noChangeAspect="1"/>
          </p:cNvPicPr>
          <p:nvPr/>
        </p:nvPicPr>
        <p:blipFill>
          <a:blip r:embed="rId2"/>
          <a:stretch>
            <a:fillRect/>
          </a:stretch>
        </p:blipFill>
        <p:spPr>
          <a:xfrm>
            <a:off x="1331595" y="1582420"/>
            <a:ext cx="6230620" cy="51193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3.1】LeetCode 150 逆波兰表达式求值</a:t>
            </a:r>
          </a:p>
        </p:txBody>
      </p:sp>
      <p:sp>
        <p:nvSpPr>
          <p:cNvPr id="180227" name="矩形 5"/>
          <p:cNvSpPr>
            <a:spLocks noChangeArrowheads="1"/>
          </p:cNvSpPr>
          <p:nvPr/>
        </p:nvSpPr>
        <p:spPr bwMode="auto">
          <a:xfrm>
            <a:off x="0" y="105410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23215" y="1845310"/>
            <a:ext cx="8398510" cy="4580797"/>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① 遍历逆波兰表达式，循环执行以下操作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判断当前字符 token 是否为操作数。若 token 为操作数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则将字符转化为整型数据，并将其入栈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若 token 为运算符，首先将两个操作数出栈，并进行相应运算，然后将运算后得到的新操作数入栈。</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② 逆波兰表达式遍历结束后，栈内元素即为表达式的值 res。</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③ 返回逆波兰表达式的值 res。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3.1】LeetCode 150 逆波兰表达式求值</a:t>
            </a:r>
          </a:p>
        </p:txBody>
      </p:sp>
      <p:sp>
        <p:nvSpPr>
          <p:cNvPr id="180227" name="矩形 5"/>
          <p:cNvSpPr>
            <a:spLocks noChangeArrowheads="1"/>
          </p:cNvSpPr>
          <p:nvPr/>
        </p:nvSpPr>
        <p:spPr bwMode="auto">
          <a:xfrm>
            <a:off x="0" y="105410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3" name="图片 2"/>
          <p:cNvPicPr>
            <a:picLocks noChangeAspect="1"/>
          </p:cNvPicPr>
          <p:nvPr/>
        </p:nvPicPr>
        <p:blipFill>
          <a:blip r:embed="rId2"/>
          <a:stretch>
            <a:fillRect/>
          </a:stretch>
        </p:blipFill>
        <p:spPr>
          <a:xfrm>
            <a:off x="467360" y="2065655"/>
            <a:ext cx="8261985" cy="986155"/>
          </a:xfrm>
          <a:prstGeom prst="rect">
            <a:avLst/>
          </a:prstGeom>
        </p:spPr>
      </p:pic>
      <p:pic>
        <p:nvPicPr>
          <p:cNvPr id="4" name="图片 3"/>
          <p:cNvPicPr>
            <a:picLocks noChangeAspect="1"/>
          </p:cNvPicPr>
          <p:nvPr/>
        </p:nvPicPr>
        <p:blipFill>
          <a:blip r:embed="rId3"/>
          <a:srcRect b="70769"/>
          <a:stretch>
            <a:fillRect/>
          </a:stretch>
        </p:blipFill>
        <p:spPr>
          <a:xfrm>
            <a:off x="467360" y="3030855"/>
            <a:ext cx="8266430" cy="24955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3.1】LeetCode 150 逆波兰表达式求值</a:t>
            </a:r>
          </a:p>
        </p:txBody>
      </p:sp>
      <p:sp>
        <p:nvSpPr>
          <p:cNvPr id="180227" name="矩形 5"/>
          <p:cNvSpPr>
            <a:spLocks noChangeArrowheads="1"/>
          </p:cNvSpPr>
          <p:nvPr/>
        </p:nvSpPr>
        <p:spPr bwMode="auto">
          <a:xfrm>
            <a:off x="0" y="83883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2" name="图片 1"/>
          <p:cNvPicPr>
            <a:picLocks noChangeAspect="1"/>
          </p:cNvPicPr>
          <p:nvPr/>
        </p:nvPicPr>
        <p:blipFill>
          <a:blip r:embed="rId2"/>
          <a:srcRect t="29922"/>
          <a:stretch>
            <a:fillRect/>
          </a:stretch>
        </p:blipFill>
        <p:spPr>
          <a:xfrm>
            <a:off x="939800" y="1433195"/>
            <a:ext cx="7265035" cy="52546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3.1】LeetCode 150 逆波兰表达式求值</a:t>
            </a:r>
          </a:p>
        </p:txBody>
      </p:sp>
      <p:sp>
        <p:nvSpPr>
          <p:cNvPr id="180227" name="矩形 5"/>
          <p:cNvSpPr>
            <a:spLocks noChangeArrowheads="1"/>
          </p:cNvSpPr>
          <p:nvPr/>
        </p:nvSpPr>
        <p:spPr bwMode="auto">
          <a:xfrm>
            <a:off x="0" y="119761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p>
        </p:txBody>
      </p:sp>
      <p:sp>
        <p:nvSpPr>
          <p:cNvPr id="3" name="圆角矩形 2"/>
          <p:cNvSpPr/>
          <p:nvPr/>
        </p:nvSpPr>
        <p:spPr>
          <a:xfrm>
            <a:off x="323215" y="2921635"/>
            <a:ext cx="8398510" cy="1907028"/>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算法需要遍历 tokens 一次，计算逆波兰表达式的值，因此时间复杂度为 O(n) ；使用栈存储计算过程中的操作数及其计算结果，栈内元素个数不会超过逆波兰表达式的长度，因此空间复杂度为 O(n)。</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3.2】LeetCode 1249 移除无效的括号</a:t>
            </a:r>
          </a:p>
        </p:txBody>
      </p:sp>
      <p:sp>
        <p:nvSpPr>
          <p:cNvPr id="180227" name="矩形 5"/>
          <p:cNvSpPr>
            <a:spLocks noChangeArrowheads="1"/>
          </p:cNvSpPr>
          <p:nvPr/>
        </p:nvSpPr>
        <p:spPr bwMode="auto">
          <a:xfrm>
            <a:off x="0" y="83883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【问题描述】</a:t>
            </a:r>
          </a:p>
        </p:txBody>
      </p:sp>
      <p:sp>
        <p:nvSpPr>
          <p:cNvPr id="180230" name="矩形 8"/>
          <p:cNvSpPr>
            <a:spLocks noChangeArrowheads="1"/>
          </p:cNvSpPr>
          <p:nvPr/>
        </p:nvSpPr>
        <p:spPr bwMode="auto">
          <a:xfrm>
            <a:off x="0" y="4756785"/>
            <a:ext cx="3083560" cy="521970"/>
          </a:xfrm>
          <a:prstGeom prst="rect">
            <a:avLst/>
          </a:prstGeom>
          <a:solidFill>
            <a:srgbClr val="9476B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【输入输出示例】</a:t>
            </a:r>
          </a:p>
        </p:txBody>
      </p:sp>
      <p:sp>
        <p:nvSpPr>
          <p:cNvPr id="3" name="圆角矩形 2"/>
          <p:cNvSpPr/>
          <p:nvPr/>
        </p:nvSpPr>
        <p:spPr>
          <a:xfrm>
            <a:off x="323215" y="1468120"/>
            <a:ext cx="8398510" cy="3236838"/>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0" i="0" u="none" strike="noStrike" kern="1200" cap="none" spc="0" normalizeH="0" baseline="0" noProof="0" dirty="0">
                <a:ln>
                  <a:noFill/>
                </a:ln>
                <a:solidFill>
                  <a:schemeClr val="tx1"/>
                </a:solidFill>
                <a:effectLst/>
                <a:uLnTx/>
                <a:uFillTx/>
                <a:latin typeface="+mn-lt"/>
                <a:ea typeface="+mn-ea"/>
                <a:cs typeface="+mn-ea"/>
                <a:sym typeface="+mn-lt"/>
              </a:rPr>
              <a:t>给定一个由“(”“)”和小写字母组成的字符串 s，从字符串中删除最少数目的“(”或“)”，使得剩下的括号字符串有效。有效括号字符串应当符合以下任意一条要求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0" i="0" u="none" strike="noStrike" kern="1200" cap="none" spc="0" normalizeH="0" baseline="0" noProof="0" dirty="0">
                <a:ln>
                  <a:noFill/>
                </a:ln>
                <a:solidFill>
                  <a:schemeClr val="tx1"/>
                </a:solidFill>
                <a:effectLst/>
                <a:uLnTx/>
                <a:uFillTx/>
                <a:latin typeface="+mn-lt"/>
                <a:ea typeface="+mn-ea"/>
                <a:cs typeface="+mn-ea"/>
                <a:sym typeface="+mn-lt"/>
              </a:rPr>
              <a:t>（1）空字符或只包含小写字母的字符串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0" i="0" u="none" strike="noStrike" kern="1200" cap="none" spc="0" normalizeH="0" baseline="0" noProof="0" dirty="0">
                <a:ln>
                  <a:noFill/>
                </a:ln>
                <a:solidFill>
                  <a:schemeClr val="tx1"/>
                </a:solidFill>
                <a:effectLst/>
                <a:uLnTx/>
                <a:uFillTx/>
                <a:latin typeface="+mn-lt"/>
                <a:ea typeface="+mn-ea"/>
                <a:cs typeface="+mn-ea"/>
                <a:sym typeface="+mn-lt"/>
              </a:rPr>
              <a:t>（2）可以被写作“AB”的字符串，即“A”连接“B”，其中“A”和“B”都是有效括号字符串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0" i="0" u="none" strike="noStrike" kern="1200" cap="none" spc="0" normalizeH="0" baseline="0" noProof="0" dirty="0">
                <a:ln>
                  <a:noFill/>
                </a:ln>
                <a:solidFill>
                  <a:schemeClr val="tx1"/>
                </a:solidFill>
                <a:effectLst/>
                <a:uLnTx/>
                <a:uFillTx/>
                <a:latin typeface="+mn-lt"/>
                <a:ea typeface="+mn-ea"/>
                <a:cs typeface="+mn-ea"/>
                <a:sym typeface="+mn-lt"/>
              </a:rPr>
              <a:t>（3）可以被写作“(A)”的字符串，其中“A”是一个有效括号字符串</a:t>
            </a: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4" name="圆角矩形 3"/>
          <p:cNvSpPr/>
          <p:nvPr/>
        </p:nvSpPr>
        <p:spPr>
          <a:xfrm>
            <a:off x="323215" y="5374640"/>
            <a:ext cx="8398510" cy="1249138"/>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0" i="0" u="none" strike="noStrike" kern="1200" cap="none" spc="0" normalizeH="0" baseline="0" noProof="0" dirty="0">
                <a:ln>
                  <a:noFill/>
                </a:ln>
                <a:solidFill>
                  <a:schemeClr val="tx1"/>
                </a:solidFill>
                <a:effectLst/>
                <a:uLnTx/>
                <a:uFillTx/>
                <a:latin typeface="+mn-lt"/>
                <a:ea typeface="+mn-ea"/>
                <a:cs typeface="+mn-ea"/>
                <a:sym typeface="+mn-lt"/>
              </a:rPr>
              <a:t>输入 ：s = "lee(t(c)o)de)"</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0" i="0" u="none" strike="noStrike" kern="1200" cap="none" spc="0" normalizeH="0" baseline="0" noProof="0" dirty="0">
                <a:ln>
                  <a:noFill/>
                </a:ln>
                <a:solidFill>
                  <a:schemeClr val="tx1"/>
                </a:solidFill>
                <a:effectLst/>
                <a:uLnTx/>
                <a:uFillTx/>
                <a:latin typeface="+mn-lt"/>
                <a:ea typeface="+mn-ea"/>
                <a:cs typeface="+mn-ea"/>
                <a:sym typeface="+mn-lt"/>
              </a:rPr>
              <a:t>输出 ："lee(t(c)o)de"</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b="0" i="0" u="none" strike="noStrike" kern="1200" cap="none" spc="0" normalizeH="0" baseline="0" noProof="0" dirty="0">
                <a:ln>
                  <a:noFill/>
                </a:ln>
                <a:solidFill>
                  <a:schemeClr val="tx1"/>
                </a:solidFill>
                <a:effectLst/>
                <a:uLnTx/>
                <a:uFillTx/>
                <a:latin typeface="+mn-lt"/>
                <a:ea typeface="+mn-ea"/>
                <a:cs typeface="+mn-ea"/>
                <a:sym typeface="+mn-lt"/>
              </a:rPr>
              <a:t>解释 ："lee(t(co)de)" , "lee(t(c)ode)" 也是一个可行答案。</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3.2】LeetCode 1249 移除无效的括号</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pic>
        <p:nvPicPr>
          <p:cNvPr id="2" name="图片 1"/>
          <p:cNvPicPr>
            <a:picLocks noChangeAspect="1"/>
          </p:cNvPicPr>
          <p:nvPr/>
        </p:nvPicPr>
        <p:blipFill>
          <a:blip r:embed="rId2"/>
          <a:stretch>
            <a:fillRect/>
          </a:stretch>
        </p:blipFill>
        <p:spPr>
          <a:xfrm>
            <a:off x="1835785" y="1485265"/>
            <a:ext cx="5593715" cy="52330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3.2】LeetCode 1249 移除无效的括号</a:t>
            </a:r>
          </a:p>
        </p:txBody>
      </p:sp>
      <p:sp>
        <p:nvSpPr>
          <p:cNvPr id="180227" name="矩形 5"/>
          <p:cNvSpPr>
            <a:spLocks noChangeArrowheads="1"/>
          </p:cNvSpPr>
          <p:nvPr/>
        </p:nvSpPr>
        <p:spPr bwMode="auto">
          <a:xfrm>
            <a:off x="0" y="105410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23215" y="1845310"/>
            <a:ext cx="8398510" cy="4563099"/>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① 遍历字符串 s，循环执行以下操作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若字符为小写字母，则跳出本次循环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若字符为“(”，则将下标入栈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若字符为“)”，首先判断栈是否为空，若栈为空，则将其在原字符串中标记为 -1，否则弹出栈顶元素。</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② 将栈中剩余字符在原字符串中标记为 -1。</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③ 遍历修改后的字符串 s，将不是 -1 的元素即有效括号存入 news。</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④ 返回有效括号字符串 news。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3.2】LeetCode 1249 移除无效的括号</a:t>
            </a:r>
          </a:p>
        </p:txBody>
      </p:sp>
      <p:sp>
        <p:nvSpPr>
          <p:cNvPr id="180227" name="矩形 5"/>
          <p:cNvSpPr>
            <a:spLocks noChangeArrowheads="1"/>
          </p:cNvSpPr>
          <p:nvPr/>
        </p:nvSpPr>
        <p:spPr bwMode="auto">
          <a:xfrm>
            <a:off x="0" y="105410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5" name="图片 4"/>
          <p:cNvPicPr>
            <a:picLocks noChangeAspect="1"/>
          </p:cNvPicPr>
          <p:nvPr/>
        </p:nvPicPr>
        <p:blipFill>
          <a:blip r:embed="rId2"/>
          <a:stretch>
            <a:fillRect/>
          </a:stretch>
        </p:blipFill>
        <p:spPr>
          <a:xfrm>
            <a:off x="683260" y="1917065"/>
            <a:ext cx="7712710" cy="44278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3.2】LeetCode 1249 移除无效的括号</a:t>
            </a:r>
          </a:p>
        </p:txBody>
      </p:sp>
      <p:sp>
        <p:nvSpPr>
          <p:cNvPr id="180227" name="矩形 5"/>
          <p:cNvSpPr>
            <a:spLocks noChangeArrowheads="1"/>
          </p:cNvSpPr>
          <p:nvPr/>
        </p:nvSpPr>
        <p:spPr bwMode="auto">
          <a:xfrm>
            <a:off x="0" y="105410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2" name="图片 1"/>
          <p:cNvPicPr>
            <a:picLocks noChangeAspect="1"/>
          </p:cNvPicPr>
          <p:nvPr/>
        </p:nvPicPr>
        <p:blipFill>
          <a:blip r:embed="rId2"/>
          <a:stretch>
            <a:fillRect/>
          </a:stretch>
        </p:blipFill>
        <p:spPr>
          <a:xfrm>
            <a:off x="395605" y="2205355"/>
            <a:ext cx="8328025" cy="34048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3.2】LeetCode 1249 移除无效的括号</a:t>
            </a:r>
          </a:p>
        </p:txBody>
      </p:sp>
      <p:sp>
        <p:nvSpPr>
          <p:cNvPr id="180227" name="矩形 5"/>
          <p:cNvSpPr>
            <a:spLocks noChangeArrowheads="1"/>
          </p:cNvSpPr>
          <p:nvPr/>
        </p:nvSpPr>
        <p:spPr bwMode="auto">
          <a:xfrm>
            <a:off x="0" y="119761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p>
        </p:txBody>
      </p:sp>
      <p:sp>
        <p:nvSpPr>
          <p:cNvPr id="3" name="圆角矩形 2"/>
          <p:cNvSpPr/>
          <p:nvPr/>
        </p:nvSpPr>
        <p:spPr>
          <a:xfrm>
            <a:off x="323215" y="2060575"/>
            <a:ext cx="8398510" cy="4132569"/>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算法首先需要遍历字符串一次，统计需要删除的括号，这一步的时间复杂度是 O(n)，之后需要遍历修改后的字符串，返回有效括号字符串，这一步的时间复杂度也是 O(n)，因此算法的整体时间复杂度为 O(n) ；算法使用栈来统计需要删除的括号，在最坏情况下，栈将存储 n 个元素，另外字符串 news 用于存储最终的有效括号字符串，在最坏情况下，news 的长度与原字符串相同，均为 n，因此算法空间复杂度为 O(n)。</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3.3】LeetCode 1823 找出游戏的获胜者</a:t>
            </a:r>
          </a:p>
        </p:txBody>
      </p:sp>
      <p:sp>
        <p:nvSpPr>
          <p:cNvPr id="180227" name="矩形 5"/>
          <p:cNvSpPr>
            <a:spLocks noChangeArrowheads="1"/>
          </p:cNvSpPr>
          <p:nvPr/>
        </p:nvSpPr>
        <p:spPr bwMode="auto">
          <a:xfrm>
            <a:off x="0" y="982345"/>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【问题描述】</a:t>
            </a:r>
          </a:p>
        </p:txBody>
      </p:sp>
      <p:sp>
        <p:nvSpPr>
          <p:cNvPr id="3" name="圆角矩形 2"/>
          <p:cNvSpPr/>
          <p:nvPr/>
        </p:nvSpPr>
        <p:spPr>
          <a:xfrm>
            <a:off x="323215" y="1845310"/>
            <a:ext cx="8398510" cy="4327948"/>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假设共有 n 名小伙伴一起做游戏，小伙伴们围成一圈，顺时针从 1 到 n 编号，即从小伙伴 i的位置顺时针移动一位会到达小伙伴 i + 1 的位置，其中，1 ≤ i &lt; n，从小伙伴 n 的位置顺时针移动一位会回到小伙伴 1 的位置。游戏遵循如下规则。</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（1）从小伙伴 1 所在位置开始。</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（2）朝顺时针方向数 k 名小伙伴，计数时需要包含起始时的那位小伙伴。绕圈进行计数，一些小伙伴可能会被数过不止一次。</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（3）数到的最后一名小伙伴需要离开圈子，并视作输掉游戏。</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（4）如果圈子中仍然有不止一名小伙伴，则从刚刚输掉游戏的小伙伴顺时针方向的下一位小伙伴开始，继续执行（2）。</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（5）如果圈子中只剩下一名小伙伴，则此人获胜。</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给定参与游戏的小伙伴总数 n 和一个整数 k，返回游戏的获胜者。</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3.3】LeetCode 1823 找出游戏的获胜者</a:t>
            </a:r>
          </a:p>
        </p:txBody>
      </p:sp>
      <p:sp>
        <p:nvSpPr>
          <p:cNvPr id="180227" name="矩形 5"/>
          <p:cNvSpPr>
            <a:spLocks noChangeArrowheads="1"/>
          </p:cNvSpPr>
          <p:nvPr/>
        </p:nvSpPr>
        <p:spPr bwMode="auto">
          <a:xfrm>
            <a:off x="0" y="982345"/>
            <a:ext cx="342074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【输入输出示例】</a:t>
            </a:r>
          </a:p>
        </p:txBody>
      </p:sp>
      <p:sp>
        <p:nvSpPr>
          <p:cNvPr id="3" name="圆角矩形 2"/>
          <p:cNvSpPr/>
          <p:nvPr/>
        </p:nvSpPr>
        <p:spPr>
          <a:xfrm>
            <a:off x="323215" y="1845310"/>
            <a:ext cx="8398510" cy="4677891"/>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输入 ：n = 5, k = 2</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输出 ：3</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解释 ：游戏步骤如下。</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（1）从小伙伴 1 开始。</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（2）顺时针数 2 名小伙伴，也就是小伙伴 1 和小伙伴 2。</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（3）小伙伴 2 离开圈子。下一轮从小伙伴 3 开始。</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（4）顺时针数 2 名小伙伴，也就是小伙伴 3 和小伙伴 4。</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（5）小伙伴 4 离开圈子。下一轮从小伙伴 5 开始。</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（6）顺时针数 2 名小伙伴，也就是小伙伴 5 和小伙伴 1。</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（7）小伙伴 1 离开圈子。下一轮从小伙伴 3 开始。</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（8）顺时针数 2 名小伙伴，也就是小伙伴 3 和 5。</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200" b="0" i="0" u="none" strike="noStrike" kern="1200" cap="none" spc="0" normalizeH="0" baseline="0" noProof="0" dirty="0">
                <a:ln>
                  <a:noFill/>
                </a:ln>
                <a:solidFill>
                  <a:schemeClr val="tx1"/>
                </a:solidFill>
                <a:effectLst/>
                <a:uLnTx/>
                <a:uFillTx/>
                <a:latin typeface="+mn-lt"/>
                <a:ea typeface="+mn-ea"/>
                <a:cs typeface="+mn-ea"/>
                <a:sym typeface="+mn-lt"/>
              </a:rPr>
              <a:t>（9）小伙伴 5 离开圈子。只剩下小伙伴3。所以小伙伴 3 是游戏的获胜者。</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3.3】LeetCode 1823 找出游戏的获胜者</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pic>
        <p:nvPicPr>
          <p:cNvPr id="3" name="图片 2"/>
          <p:cNvPicPr>
            <a:picLocks noChangeAspect="1"/>
          </p:cNvPicPr>
          <p:nvPr/>
        </p:nvPicPr>
        <p:blipFill>
          <a:blip r:embed="rId2"/>
          <a:stretch>
            <a:fillRect/>
          </a:stretch>
        </p:blipFill>
        <p:spPr>
          <a:xfrm>
            <a:off x="1115695" y="1628775"/>
            <a:ext cx="6879590" cy="47898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3.3】LeetCode 1823 找出游戏的获胜者</a:t>
            </a:r>
          </a:p>
        </p:txBody>
      </p:sp>
      <p:sp>
        <p:nvSpPr>
          <p:cNvPr id="180227" name="矩形 5"/>
          <p:cNvSpPr>
            <a:spLocks noChangeArrowheads="1"/>
          </p:cNvSpPr>
          <p:nvPr/>
        </p:nvSpPr>
        <p:spPr bwMode="auto">
          <a:xfrm>
            <a:off x="0" y="105410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23215" y="1845310"/>
            <a:ext cx="8398510" cy="4132569"/>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① 定义 head 和 tail 两个指针，初始时均为空。</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② 将 n 个小伙伴的编号存入无头结点的链队，head 指向队头，tail 指向队尾。</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③ 当队列中元素个数大于 1 时，循环执行以下操作。</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重复以下操作 k -1 次 ：将队头元素出队并将其在队尾处重新入队，将 head 指向新的队头，tail 指向新的队尾。</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将队头元素出队。</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④ 返回游戏获胜者编号 res。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3.3】LeetCode 1823 找出游戏的获胜者</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3" name="图片 2"/>
          <p:cNvPicPr>
            <a:picLocks noChangeAspect="1"/>
          </p:cNvPicPr>
          <p:nvPr/>
        </p:nvPicPr>
        <p:blipFill>
          <a:blip r:embed="rId2"/>
          <a:stretch>
            <a:fillRect/>
          </a:stretch>
        </p:blipFill>
        <p:spPr>
          <a:xfrm>
            <a:off x="769620" y="1557020"/>
            <a:ext cx="7605395" cy="48952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3.3】LeetCode 1823 找出游戏的获胜者</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2" name="图片 1"/>
          <p:cNvPicPr>
            <a:picLocks noChangeAspect="1"/>
          </p:cNvPicPr>
          <p:nvPr/>
        </p:nvPicPr>
        <p:blipFill>
          <a:blip r:embed="rId2"/>
          <a:stretch>
            <a:fillRect/>
          </a:stretch>
        </p:blipFill>
        <p:spPr>
          <a:xfrm>
            <a:off x="395605" y="1845310"/>
            <a:ext cx="8664575" cy="46145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3.3】LeetCode 1823 找出游戏的获胜者</a:t>
            </a:r>
          </a:p>
        </p:txBody>
      </p:sp>
      <p:sp>
        <p:nvSpPr>
          <p:cNvPr id="180227" name="矩形 5"/>
          <p:cNvSpPr>
            <a:spLocks noChangeArrowheads="1"/>
          </p:cNvSpPr>
          <p:nvPr/>
        </p:nvSpPr>
        <p:spPr bwMode="auto">
          <a:xfrm>
            <a:off x="0" y="119761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p>
        </p:txBody>
      </p:sp>
      <p:sp>
        <p:nvSpPr>
          <p:cNvPr id="3" name="圆角矩形 2"/>
          <p:cNvSpPr/>
          <p:nvPr/>
        </p:nvSpPr>
        <p:spPr>
          <a:xfrm>
            <a:off x="323215" y="2778125"/>
            <a:ext cx="8398510" cy="1890106"/>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初始时需要将 n 个元素入队，每一轮游戏需要将 k 个元素依次出队，将 k -1 个元素依次入队，游戏总计进行 n -1 轮，因此时间复杂度为 O（nk）；队列中最多有 n 个元素，空间复杂度为 O（n）</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3.4】LeetCode 32 最长有效括号</a:t>
            </a:r>
          </a:p>
        </p:txBody>
      </p:sp>
      <p:sp>
        <p:nvSpPr>
          <p:cNvPr id="180227" name="矩形 5"/>
          <p:cNvSpPr>
            <a:spLocks noChangeArrowheads="1"/>
          </p:cNvSpPr>
          <p:nvPr/>
        </p:nvSpPr>
        <p:spPr bwMode="auto">
          <a:xfrm>
            <a:off x="0" y="119761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【问题描述】</a:t>
            </a:r>
          </a:p>
        </p:txBody>
      </p:sp>
      <p:sp>
        <p:nvSpPr>
          <p:cNvPr id="3" name="圆角矩形 2"/>
          <p:cNvSpPr/>
          <p:nvPr/>
        </p:nvSpPr>
        <p:spPr>
          <a:xfrm>
            <a:off x="323215" y="2060575"/>
            <a:ext cx="8398510" cy="1422569"/>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给定一个只包含“(”和“)”的字符串，找出最长有效括号子串的长度，即格式正确且连续的括号子串的长度。</a:t>
            </a:r>
          </a:p>
        </p:txBody>
      </p:sp>
      <p:sp>
        <p:nvSpPr>
          <p:cNvPr id="2" name="矩形 5"/>
          <p:cNvSpPr>
            <a:spLocks noChangeArrowheads="1"/>
          </p:cNvSpPr>
          <p:nvPr/>
        </p:nvSpPr>
        <p:spPr bwMode="auto">
          <a:xfrm>
            <a:off x="0" y="3786505"/>
            <a:ext cx="342074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【输入输出示例】</a:t>
            </a:r>
          </a:p>
        </p:txBody>
      </p:sp>
      <p:sp>
        <p:nvSpPr>
          <p:cNvPr id="4" name="圆角矩形 3"/>
          <p:cNvSpPr/>
          <p:nvPr/>
        </p:nvSpPr>
        <p:spPr>
          <a:xfrm>
            <a:off x="323850" y="4652010"/>
            <a:ext cx="8398510" cy="1440055"/>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输入 ：s =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输出 ：4</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解释 ：最长有效括号子串是“()()”。</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3.4】LeetCode 32 最长有效括号</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pic>
        <p:nvPicPr>
          <p:cNvPr id="2" name="图片 1"/>
          <p:cNvPicPr>
            <a:picLocks noChangeAspect="1"/>
          </p:cNvPicPr>
          <p:nvPr/>
        </p:nvPicPr>
        <p:blipFill>
          <a:blip r:embed="rId2"/>
          <a:stretch>
            <a:fillRect/>
          </a:stretch>
        </p:blipFill>
        <p:spPr>
          <a:xfrm>
            <a:off x="1807210" y="1557020"/>
            <a:ext cx="5528945" cy="50482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3.4】LeetCode 32 最长有效括号</a:t>
            </a:r>
          </a:p>
        </p:txBody>
      </p:sp>
      <p:sp>
        <p:nvSpPr>
          <p:cNvPr id="180227" name="矩形 5"/>
          <p:cNvSpPr>
            <a:spLocks noChangeArrowheads="1"/>
          </p:cNvSpPr>
          <p:nvPr/>
        </p:nvSpPr>
        <p:spPr bwMode="auto">
          <a:xfrm>
            <a:off x="0" y="119761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23215" y="2204085"/>
            <a:ext cx="8398510" cy="3253148"/>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① 栈 stk 初始化，并存入一个值为 -1 的元素。</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② 遍历字符串 s，循环执行以下操作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若字符为“(”，将其下标入栈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若字符为“)”，弹出栈顶元素，如果弹出后栈为空，则将其下标入栈，否则，将其下标减去栈顶元素即为以该右括号结束的最长有效括号子串的长度。</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③ 返回最长有效括号子串的长度 maxans。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3.4】LeetCode 32 最长有效括号</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3" name="图片 2"/>
          <p:cNvPicPr>
            <a:picLocks noChangeAspect="1"/>
          </p:cNvPicPr>
          <p:nvPr/>
        </p:nvPicPr>
        <p:blipFill>
          <a:blip r:embed="rId2"/>
          <a:stretch>
            <a:fillRect/>
          </a:stretch>
        </p:blipFill>
        <p:spPr>
          <a:xfrm>
            <a:off x="705485" y="1628775"/>
            <a:ext cx="7849870" cy="4978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3.4】LeetCode 32 最长有效括号</a:t>
            </a:r>
          </a:p>
        </p:txBody>
      </p:sp>
      <p:sp>
        <p:nvSpPr>
          <p:cNvPr id="180227" name="矩形 5"/>
          <p:cNvSpPr>
            <a:spLocks noChangeArrowheads="1"/>
          </p:cNvSpPr>
          <p:nvPr/>
        </p:nvSpPr>
        <p:spPr bwMode="auto">
          <a:xfrm>
            <a:off x="0" y="119761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p>
        </p:txBody>
      </p:sp>
      <p:sp>
        <p:nvSpPr>
          <p:cNvPr id="3" name="圆角矩形 2"/>
          <p:cNvSpPr/>
          <p:nvPr/>
        </p:nvSpPr>
        <p:spPr>
          <a:xfrm>
            <a:off x="323215" y="2778125"/>
            <a:ext cx="8398510" cy="1439231"/>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sz="2800" b="0" i="0" u="none" strike="noStrike" kern="1200" cap="none" spc="0" normalizeH="0" baseline="0" noProof="0" dirty="0">
                <a:ln>
                  <a:noFill/>
                </a:ln>
                <a:solidFill>
                  <a:schemeClr val="tx1"/>
                </a:solidFill>
                <a:effectLst/>
                <a:uLnTx/>
                <a:uFillTx/>
                <a:latin typeface="+mn-lt"/>
                <a:ea typeface="+mn-ea"/>
                <a:cs typeface="+mn-ea"/>
                <a:sym typeface="+mn-lt"/>
              </a:rPr>
              <a:t>算法只需要遍历字符串一次，时间复杂度为 O(n) ；在最坏情况下，栈的大小会达到 n，空间复杂度为 O(n)。</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3.5】LeetCode 1106 解析布尔表达式</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【问题描述】</a:t>
            </a:r>
          </a:p>
        </p:txBody>
      </p:sp>
      <p:sp>
        <p:nvSpPr>
          <p:cNvPr id="3" name="圆角矩形 2"/>
          <p:cNvSpPr/>
          <p:nvPr/>
        </p:nvSpPr>
        <p:spPr>
          <a:xfrm>
            <a:off x="323215" y="1558290"/>
            <a:ext cx="8398510" cy="3620123"/>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mn-lt"/>
                <a:ea typeface="+mn-ea"/>
                <a:cs typeface="+mn-ea"/>
                <a:sym typeface="+mn-lt"/>
              </a:rPr>
              <a:t>给定一个以字符串形式表述的布尔表达式 expression，返回该式的运算结果。有效的表达式</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mn-lt"/>
                <a:ea typeface="+mn-ea"/>
                <a:cs typeface="+mn-ea"/>
                <a:sym typeface="+mn-lt"/>
              </a:rPr>
              <a:t>需遵守以下约定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mn-lt"/>
                <a:ea typeface="+mn-ea"/>
                <a:cs typeface="+mn-ea"/>
                <a:sym typeface="+mn-lt"/>
              </a:rPr>
              <a:t>（1）“t”，运算结果为 true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mn-lt"/>
                <a:ea typeface="+mn-ea"/>
                <a:cs typeface="+mn-ea"/>
                <a:sym typeface="+mn-lt"/>
              </a:rPr>
              <a:t>（2）“f”，运算结果为 false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mn-lt"/>
                <a:ea typeface="+mn-ea"/>
                <a:cs typeface="+mn-ea"/>
                <a:sym typeface="+mn-lt"/>
              </a:rPr>
              <a:t>（3）“！ (expr)”，运算过程为对内部表达式 expr 进行逻辑非运算，即 NOT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mn-lt"/>
                <a:ea typeface="+mn-ea"/>
                <a:cs typeface="+mn-ea"/>
                <a:sym typeface="+mn-lt"/>
              </a:rPr>
              <a:t>（4）“&amp;(expr1, expr2,…)”，运算过程为对 2 个或 2 个以上内部表达式 expr1, expr2, …进行逻辑与运算，即 AND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mn-lt"/>
                <a:ea typeface="+mn-ea"/>
                <a:cs typeface="+mn-ea"/>
                <a:sym typeface="+mn-lt"/>
              </a:rPr>
              <a:t>（5）“|(expr1, expr2,…)”，运算过程为对 2 个或 2 个以上内部表达式 expr1, expr2, …进行逻辑或运算，即 OR。</a:t>
            </a:r>
          </a:p>
        </p:txBody>
      </p:sp>
      <p:sp>
        <p:nvSpPr>
          <p:cNvPr id="2" name="矩形 5"/>
          <p:cNvSpPr>
            <a:spLocks noChangeArrowheads="1"/>
          </p:cNvSpPr>
          <p:nvPr/>
        </p:nvSpPr>
        <p:spPr bwMode="auto">
          <a:xfrm>
            <a:off x="0" y="5302250"/>
            <a:ext cx="342074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【输入输出示例】</a:t>
            </a:r>
          </a:p>
        </p:txBody>
      </p:sp>
      <p:sp>
        <p:nvSpPr>
          <p:cNvPr id="4" name="圆角矩形 3"/>
          <p:cNvSpPr/>
          <p:nvPr/>
        </p:nvSpPr>
        <p:spPr>
          <a:xfrm>
            <a:off x="372745" y="5948680"/>
            <a:ext cx="8398510" cy="735991"/>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mn-lt"/>
                <a:ea typeface="+mn-ea"/>
                <a:cs typeface="+mn-ea"/>
                <a:sym typeface="+mn-lt"/>
              </a:rPr>
              <a:t>输入 ：expression = "!(f)"</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mn-lt"/>
                <a:ea typeface="+mn-ea"/>
                <a:cs typeface="+mn-ea"/>
                <a:sym typeface="+mn-lt"/>
              </a:rPr>
              <a:t>输出 ：true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3.5】LeetCode 1106 解析布尔表达式</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pic>
        <p:nvPicPr>
          <p:cNvPr id="3" name="图片 2"/>
          <p:cNvPicPr>
            <a:picLocks noChangeAspect="1"/>
          </p:cNvPicPr>
          <p:nvPr/>
        </p:nvPicPr>
        <p:blipFill>
          <a:blip r:embed="rId2"/>
          <a:stretch>
            <a:fillRect/>
          </a:stretch>
        </p:blipFill>
        <p:spPr>
          <a:xfrm>
            <a:off x="1763395" y="1544955"/>
            <a:ext cx="5781675" cy="51847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3.5】LeetCode 1106 解析布尔表达式</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【问题分析】</a:t>
            </a:r>
          </a:p>
        </p:txBody>
      </p:sp>
      <p:pic>
        <p:nvPicPr>
          <p:cNvPr id="2" name="图片 1"/>
          <p:cNvPicPr>
            <a:picLocks noChangeAspect="1"/>
          </p:cNvPicPr>
          <p:nvPr/>
        </p:nvPicPr>
        <p:blipFill>
          <a:blip r:embed="rId2"/>
          <a:stretch>
            <a:fillRect/>
          </a:stretch>
        </p:blipFill>
        <p:spPr>
          <a:xfrm>
            <a:off x="539750" y="2277110"/>
            <a:ext cx="8048625" cy="32823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3.5】LeetCode 1106 解析布尔表达式</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p>
        </p:txBody>
      </p:sp>
      <p:sp>
        <p:nvSpPr>
          <p:cNvPr id="3" name="圆角矩形 2"/>
          <p:cNvSpPr/>
          <p:nvPr/>
        </p:nvSpPr>
        <p:spPr>
          <a:xfrm>
            <a:off x="323215" y="1558290"/>
            <a:ext cx="8398510" cy="5095115"/>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600" b="0" i="0" u="none" strike="noStrike" kern="1200" cap="none" spc="0" normalizeH="0" baseline="0" noProof="0" dirty="0">
                <a:ln>
                  <a:noFill/>
                </a:ln>
                <a:solidFill>
                  <a:schemeClr val="tx1"/>
                </a:solidFill>
                <a:effectLst/>
                <a:uLnTx/>
                <a:uFillTx/>
                <a:latin typeface="+mn-lt"/>
                <a:ea typeface="+mn-ea"/>
                <a:cs typeface="+mn-ea"/>
                <a:sym typeface="+mn-lt"/>
              </a:rPr>
              <a:t>① 初始化一个字符栈 stack 用于存储表达式中的字符，栈顶指针 top 为 0。</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600" b="0" i="0" u="none" strike="noStrike" kern="1200" cap="none" spc="0" normalizeH="0" baseline="0" noProof="0" dirty="0">
                <a:ln>
                  <a:noFill/>
                </a:ln>
                <a:solidFill>
                  <a:schemeClr val="tx1"/>
                </a:solidFill>
                <a:effectLst/>
                <a:uLnTx/>
                <a:uFillTx/>
                <a:latin typeface="+mn-lt"/>
                <a:ea typeface="+mn-ea"/>
                <a:cs typeface="+mn-ea"/>
                <a:sym typeface="+mn-lt"/>
              </a:rPr>
              <a:t>② 遍历表达式中的每个字符，循环执行以下操作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600" b="0" i="0" u="none" strike="noStrike" kern="1200" cap="none" spc="0" normalizeH="0" baseline="0" noProof="0" dirty="0">
                <a:ln>
                  <a:noFill/>
                </a:ln>
                <a:solidFill>
                  <a:schemeClr val="tx1"/>
                </a:solidFill>
                <a:effectLst/>
                <a:uLnTx/>
                <a:uFillTx/>
                <a:latin typeface="+mn-lt"/>
                <a:ea typeface="+mn-ea"/>
                <a:cs typeface="+mn-ea"/>
                <a:sym typeface="+mn-lt"/>
              </a:rPr>
              <a:t>如果字符是逗号“，”，跳过，继续处理下一个字符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600" b="0" i="0" u="none" strike="noStrike" kern="1200" cap="none" spc="0" normalizeH="0" baseline="0" noProof="0" dirty="0">
                <a:ln>
                  <a:noFill/>
                </a:ln>
                <a:solidFill>
                  <a:schemeClr val="tx1"/>
                </a:solidFill>
                <a:effectLst/>
                <a:uLnTx/>
                <a:uFillTx/>
                <a:latin typeface="+mn-lt"/>
                <a:ea typeface="+mn-ea"/>
                <a:cs typeface="+mn-ea"/>
                <a:sym typeface="+mn-lt"/>
              </a:rPr>
              <a:t>如果字符不是右括号“）”，将其入栈并继续处理下一个字符 ；</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n"/>
              <a:defRPr/>
            </a:pPr>
            <a:r>
              <a:rPr kumimoji="1" lang="en-US" altLang="zh-CN" sz="2600" b="0" i="0" u="none" strike="noStrike" kern="1200" cap="none" spc="0" normalizeH="0" baseline="0" noProof="0" dirty="0">
                <a:ln>
                  <a:noFill/>
                </a:ln>
                <a:solidFill>
                  <a:schemeClr val="tx1"/>
                </a:solidFill>
                <a:effectLst/>
                <a:uLnTx/>
                <a:uFillTx/>
                <a:latin typeface="+mn-lt"/>
                <a:ea typeface="+mn-ea"/>
                <a:cs typeface="+mn-ea"/>
                <a:sym typeface="+mn-lt"/>
              </a:rPr>
              <a:t>如果字符是右括号“）”，则统计在括号内的“t”和“f”的数量。</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600" b="0" i="0" u="none" strike="noStrike" kern="1200" cap="none" spc="0" normalizeH="0" baseline="0" noProof="0" dirty="0">
                <a:ln>
                  <a:noFill/>
                </a:ln>
                <a:solidFill>
                  <a:schemeClr val="tx1"/>
                </a:solidFill>
                <a:effectLst/>
                <a:uLnTx/>
                <a:uFillTx/>
                <a:latin typeface="+mn-lt"/>
                <a:ea typeface="+mn-ea"/>
                <a:cs typeface="+mn-ea"/>
                <a:sym typeface="+mn-lt"/>
              </a:rPr>
              <a:t>③ 计算表达式结果，根据操作符 op 进行相应的布尔计算。</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600" b="0" i="0" u="none" strike="noStrike" kern="1200" cap="none" spc="0" normalizeH="0" baseline="0" noProof="0" dirty="0">
                <a:ln>
                  <a:noFill/>
                </a:ln>
                <a:solidFill>
                  <a:schemeClr val="tx1"/>
                </a:solidFill>
                <a:effectLst/>
                <a:uLnTx/>
                <a:uFillTx/>
                <a:latin typeface="+mn-lt"/>
                <a:ea typeface="+mn-ea"/>
                <a:cs typeface="+mn-ea"/>
                <a:sym typeface="+mn-lt"/>
              </a:rPr>
              <a:t>④ 遍历完成后，返回栈顶的元素即为最终的布尔表达式结果。</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3.5】LeetCode 1106 解析布尔表达式</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2" name="图片 1"/>
          <p:cNvPicPr>
            <a:picLocks noChangeAspect="1"/>
          </p:cNvPicPr>
          <p:nvPr/>
        </p:nvPicPr>
        <p:blipFill>
          <a:blip r:embed="rId2"/>
          <a:stretch>
            <a:fillRect/>
          </a:stretch>
        </p:blipFill>
        <p:spPr>
          <a:xfrm>
            <a:off x="971550" y="1485265"/>
            <a:ext cx="7195820" cy="52412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3.5】LeetCode 1106 解析布尔表达式</a:t>
            </a:r>
          </a:p>
        </p:txBody>
      </p:sp>
      <p:sp>
        <p:nvSpPr>
          <p:cNvPr id="180227" name="矩形 5"/>
          <p:cNvSpPr>
            <a:spLocks noChangeArrowheads="1"/>
          </p:cNvSpPr>
          <p:nvPr/>
        </p:nvSpPr>
        <p:spPr bwMode="auto">
          <a:xfrm>
            <a:off x="0" y="91059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p>
        </p:txBody>
      </p:sp>
      <p:pic>
        <p:nvPicPr>
          <p:cNvPr id="3" name="图片 2"/>
          <p:cNvPicPr>
            <a:picLocks noChangeAspect="1"/>
          </p:cNvPicPr>
          <p:nvPr/>
        </p:nvPicPr>
        <p:blipFill>
          <a:blip r:embed="rId2"/>
          <a:stretch>
            <a:fillRect/>
          </a:stretch>
        </p:blipFill>
        <p:spPr>
          <a:xfrm>
            <a:off x="395605" y="1587500"/>
            <a:ext cx="8363585" cy="3999865"/>
          </a:xfrm>
          <a:prstGeom prst="rect">
            <a:avLst/>
          </a:prstGeom>
        </p:spPr>
      </p:pic>
      <p:pic>
        <p:nvPicPr>
          <p:cNvPr id="4" name="图片 3"/>
          <p:cNvPicPr>
            <a:picLocks noChangeAspect="1"/>
          </p:cNvPicPr>
          <p:nvPr/>
        </p:nvPicPr>
        <p:blipFill>
          <a:blip r:embed="rId3"/>
          <a:stretch>
            <a:fillRect/>
          </a:stretch>
        </p:blipFill>
        <p:spPr>
          <a:xfrm>
            <a:off x="395605" y="5589270"/>
            <a:ext cx="837438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9445" name="Rectangle 154"/>
          <p:cNvSpPr txBox="1"/>
          <p:nvPr/>
        </p:nvSpPr>
        <p:spPr>
          <a:xfrm>
            <a:off x="611505" y="188595"/>
            <a:ext cx="8038465" cy="609600"/>
          </a:xfrm>
          <a:prstGeom prst="rect">
            <a:avLst/>
          </a:prstGeom>
          <a:noFill/>
          <a:ln w="9525">
            <a:noFill/>
          </a:ln>
        </p:spPr>
        <p:txBody>
          <a:bodyPr anchor="ctr" anchorCtr="0"/>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r>
              <a:rPr lang="zh-CN" altLang="en-US" dirty="0">
                <a:solidFill>
                  <a:schemeClr val="bg1"/>
                </a:solidFill>
                <a:sym typeface="+mn-lt"/>
              </a:rPr>
              <a:t>【算法练习题 3.5】LeetCode 1106 解析布尔表达式</a:t>
            </a:r>
          </a:p>
        </p:txBody>
      </p:sp>
      <p:sp>
        <p:nvSpPr>
          <p:cNvPr id="180227" name="矩形 5"/>
          <p:cNvSpPr>
            <a:spLocks noChangeArrowheads="1"/>
          </p:cNvSpPr>
          <p:nvPr/>
        </p:nvSpPr>
        <p:spPr bwMode="auto">
          <a:xfrm>
            <a:off x="0" y="1197610"/>
            <a:ext cx="2524125" cy="521970"/>
          </a:xfrm>
          <a:prstGeom prst="rect">
            <a:avLst/>
          </a:prstGeom>
          <a:solidFill>
            <a:srgbClr val="9476B6"/>
          </a:solid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【算法分析】</a:t>
            </a:r>
          </a:p>
        </p:txBody>
      </p:sp>
      <p:sp>
        <p:nvSpPr>
          <p:cNvPr id="3" name="圆角矩形 2"/>
          <p:cNvSpPr/>
          <p:nvPr/>
        </p:nvSpPr>
        <p:spPr>
          <a:xfrm>
            <a:off x="323215" y="2778125"/>
            <a:ext cx="8398510" cy="1456229"/>
          </a:xfrm>
          <a:prstGeom prst="roundRect">
            <a:avLst>
              <a:gd name="adj" fmla="val 6741"/>
            </a:avLst>
          </a:prstGeom>
          <a:solidFill>
            <a:srgbClr val="EAEAEA"/>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sz="2800" b="0" i="0" u="none" strike="noStrike" kern="1200" cap="none" spc="0" normalizeH="0" baseline="0" noProof="0" dirty="0">
                <a:ln>
                  <a:noFill/>
                </a:ln>
                <a:solidFill>
                  <a:schemeClr val="tx1"/>
                </a:solidFill>
                <a:effectLst/>
                <a:uLnTx/>
                <a:uFillTx/>
                <a:latin typeface="+mn-lt"/>
                <a:ea typeface="+mn-ea"/>
                <a:cs typeface="+mn-ea"/>
                <a:sym typeface="+mn-lt"/>
              </a:rPr>
              <a:t>在 expr() 函数中，每个字符只会被访问一次，因此时间复杂度为 O(n) ；在最坏情况下，栈的高度可能接近表达式的长度的一半，因此空间复杂度为 O(n)。</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2034" name="矩形 1"/>
          <p:cNvSpPr/>
          <p:nvPr/>
        </p:nvSpPr>
        <p:spPr>
          <a:xfrm>
            <a:off x="0" y="1196975"/>
            <a:ext cx="9144000" cy="5111750"/>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724996" name="Rectangle 4"/>
          <p:cNvSpPr>
            <a:spLocks noChangeArrowheads="1"/>
          </p:cNvSpPr>
          <p:nvPr/>
        </p:nvSpPr>
        <p:spPr bwMode="auto">
          <a:xfrm>
            <a:off x="461963" y="1412875"/>
            <a:ext cx="8337550" cy="4662488"/>
          </a:xfrm>
          <a:prstGeom prst="rect">
            <a:avLst/>
          </a:prstGeom>
          <a:noFill/>
          <a:ln w="9525">
            <a:noFill/>
            <a:miter lim="800000"/>
          </a:ln>
          <a:effectLst/>
        </p:spPr>
        <p:txBody>
          <a:bodyPr/>
          <a:lstStyle/>
          <a:p>
            <a:pPr marL="354330" marR="0" lvl="0" indent="-354330" algn="l" defTabSz="914400" rtl="0" eaLnBrk="0" fontAlgn="base" latinLnBrk="0" hangingPunct="0">
              <a:lnSpc>
                <a:spcPct val="125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1. </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掌握栈和队列的</a:t>
            </a:r>
            <a:r>
              <a:rPr kumimoji="1" lang="zh-CN" altLang="en-US" sz="2800" b="0" i="0" u="none" strike="noStrike" kern="1200" cap="none" spc="0" normalizeH="0" baseline="0" noProof="0" dirty="0">
                <a:ln>
                  <a:noFill/>
                </a:ln>
                <a:solidFill>
                  <a:srgbClr val="FF0000"/>
                </a:solidFill>
                <a:effectLst/>
                <a:uLnTx/>
                <a:uFillTx/>
                <a:latin typeface="+mn-lt"/>
                <a:ea typeface="+mn-ea"/>
                <a:cs typeface="+mn-ea"/>
                <a:sym typeface="+mn-lt"/>
              </a:rPr>
              <a:t>特点</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，并能在相应的应用问题中正确选用</a:t>
            </a:r>
          </a:p>
          <a:p>
            <a:pPr marL="354330" marR="0" lvl="0" indent="-354330" algn="l" defTabSz="914400" rtl="0" eaLnBrk="0" fontAlgn="base" latinLnBrk="0" hangingPunct="0">
              <a:lnSpc>
                <a:spcPct val="125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2. </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熟练掌握栈的</a:t>
            </a:r>
            <a:r>
              <a:rPr kumimoji="1" lang="zh-CN" altLang="en-US" sz="2800" b="0" i="0" u="none" strike="noStrike" kern="1200" cap="none" spc="0" normalizeH="0" baseline="0" noProof="0" dirty="0">
                <a:ln>
                  <a:noFill/>
                </a:ln>
                <a:solidFill>
                  <a:srgbClr val="FF0000"/>
                </a:solidFill>
                <a:effectLst/>
                <a:uLnTx/>
                <a:uFillTx/>
                <a:latin typeface="+mn-lt"/>
                <a:ea typeface="+mn-ea"/>
                <a:cs typeface="+mn-ea"/>
                <a:sym typeface="+mn-lt"/>
              </a:rPr>
              <a:t>顺序栈</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和链栈的进栈出栈算法，特别应注意</a:t>
            </a:r>
            <a:r>
              <a:rPr kumimoji="1" lang="zh-CN" altLang="en-US" sz="2800" b="0" i="0" u="none" strike="noStrike" kern="1200" cap="none" spc="0" normalizeH="0" baseline="0" noProof="0" dirty="0">
                <a:ln>
                  <a:noFill/>
                </a:ln>
                <a:solidFill>
                  <a:srgbClr val="FF0000"/>
                </a:solidFill>
                <a:effectLst/>
                <a:uLnTx/>
                <a:uFillTx/>
                <a:latin typeface="+mn-lt"/>
                <a:ea typeface="+mn-ea"/>
                <a:cs typeface="+mn-ea"/>
                <a:sym typeface="+mn-lt"/>
              </a:rPr>
              <a:t>栈满和栈空</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的条件</a:t>
            </a:r>
          </a:p>
          <a:p>
            <a:pPr marL="354330" marR="0" lvl="0" indent="-354330" algn="l" defTabSz="914400" rtl="0" eaLnBrk="0" fontAlgn="base" latinLnBrk="0" hangingPunct="0">
              <a:lnSpc>
                <a:spcPct val="125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3. </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熟练掌握</a:t>
            </a:r>
            <a:r>
              <a:rPr kumimoji="1" lang="zh-CN" altLang="en-US" sz="2800" b="0" i="0" u="none" strike="noStrike" kern="1200" cap="none" spc="0" normalizeH="0" baseline="0" noProof="0" dirty="0">
                <a:ln>
                  <a:noFill/>
                </a:ln>
                <a:solidFill>
                  <a:srgbClr val="FF0000"/>
                </a:solidFill>
                <a:effectLst/>
                <a:uLnTx/>
                <a:uFillTx/>
                <a:latin typeface="+mn-lt"/>
                <a:ea typeface="+mn-ea"/>
                <a:cs typeface="+mn-ea"/>
                <a:sym typeface="+mn-lt"/>
              </a:rPr>
              <a:t>循环队列</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和链队列的进队出队算法，特别注意</a:t>
            </a:r>
            <a:r>
              <a:rPr kumimoji="1" lang="zh-CN" altLang="en-US" sz="2800" b="0" i="0" u="none" strike="noStrike" kern="1200" cap="none" spc="0" normalizeH="0" baseline="0" noProof="0" dirty="0">
                <a:ln>
                  <a:noFill/>
                </a:ln>
                <a:solidFill>
                  <a:srgbClr val="FF0000"/>
                </a:solidFill>
                <a:effectLst/>
                <a:uLnTx/>
                <a:uFillTx/>
                <a:latin typeface="+mn-lt"/>
                <a:ea typeface="+mn-ea"/>
                <a:cs typeface="+mn-ea"/>
                <a:sym typeface="+mn-lt"/>
              </a:rPr>
              <a:t>队满和队空</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的条件</a:t>
            </a:r>
          </a:p>
          <a:p>
            <a:pPr marL="354330" marR="0" lvl="0" indent="-354330" algn="l" defTabSz="914400" rtl="0" eaLnBrk="0" fontAlgn="base" latinLnBrk="0" hangingPunct="0">
              <a:lnSpc>
                <a:spcPct val="125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4. </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理解</a:t>
            </a:r>
            <a:r>
              <a:rPr kumimoji="1" lang="zh-CN" altLang="en-US" sz="2800" b="0" i="0" u="none" strike="noStrike" kern="1200" cap="none" spc="0" normalizeH="0" baseline="0" noProof="0" dirty="0">
                <a:ln>
                  <a:noFill/>
                </a:ln>
                <a:solidFill>
                  <a:srgbClr val="FF0000"/>
                </a:solidFill>
                <a:effectLst/>
                <a:uLnTx/>
                <a:uFillTx/>
                <a:latin typeface="+mn-lt"/>
                <a:ea typeface="+mn-ea"/>
                <a:cs typeface="+mn-ea"/>
                <a:sym typeface="+mn-lt"/>
              </a:rPr>
              <a:t>递归算法</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执行过程中栈的状态变化过程</a:t>
            </a:r>
            <a:endPar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a:p>
            <a:pPr marL="354330" marR="0" lvl="0" indent="-354330" algn="l" defTabSz="914400" rtl="0" eaLnBrk="0" fontAlgn="base" latinLnBrk="0" hangingPunct="0">
              <a:lnSpc>
                <a:spcPct val="125000"/>
              </a:lnSpc>
              <a:spcBef>
                <a:spcPct val="2000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lt"/>
                <a:ea typeface="+mn-ea"/>
                <a:cs typeface="+mn-ea"/>
                <a:sym typeface="+mn-lt"/>
              </a:rPr>
              <a:t>5. </a:t>
            </a:r>
            <a:r>
              <a:rPr kumimoji="1" lang="zh-CN" altLang="en-US" sz="2800" b="0" i="0" u="none" strike="noStrike" kern="1200" cap="none" spc="0" normalizeH="0" baseline="0" noProof="0" dirty="0">
                <a:ln>
                  <a:noFill/>
                </a:ln>
                <a:solidFill>
                  <a:schemeClr val="tx1"/>
                </a:solidFill>
                <a:effectLst/>
                <a:uLnTx/>
                <a:uFillTx/>
                <a:latin typeface="+mn-lt"/>
                <a:ea typeface="+mn-ea"/>
                <a:cs typeface="+mn-ea"/>
                <a:sym typeface="+mn-lt"/>
              </a:rPr>
              <a:t>掌握</a:t>
            </a:r>
            <a:r>
              <a:rPr kumimoji="1" lang="zh-CN" altLang="en-US" sz="2800" b="0" i="0" u="none" strike="noStrike" kern="1200" cap="none" spc="0" normalizeH="0" baseline="0" noProof="0" dirty="0">
                <a:ln>
                  <a:noFill/>
                </a:ln>
                <a:solidFill>
                  <a:srgbClr val="FF0000"/>
                </a:solidFill>
                <a:effectLst/>
                <a:uLnTx/>
                <a:uFillTx/>
                <a:latin typeface="+mn-lt"/>
                <a:ea typeface="+mn-ea"/>
                <a:cs typeface="+mn-ea"/>
                <a:sym typeface="+mn-lt"/>
              </a:rPr>
              <a:t>表达式求值算法</a:t>
            </a:r>
            <a:endParaRPr kumimoji="1" lang="en-US" altLang="zh-CN" sz="2800" b="0" i="0" u="none" strike="noStrike" kern="1200" cap="none" spc="0" normalizeH="0" baseline="0" noProof="0" dirty="0">
              <a:ln>
                <a:noFill/>
              </a:ln>
              <a:solidFill>
                <a:srgbClr val="FF0000"/>
              </a:solidFill>
              <a:effectLst/>
              <a:uLnTx/>
              <a:uFillTx/>
              <a:latin typeface="+mn-lt"/>
              <a:ea typeface="+mn-ea"/>
              <a:cs typeface="+mn-ea"/>
              <a:sym typeface="+mn-lt"/>
            </a:endParaRPr>
          </a:p>
        </p:txBody>
      </p:sp>
      <p:sp>
        <p:nvSpPr>
          <p:cNvPr id="724997" name="Comment 5"/>
          <p:cNvSpPr>
            <a:spLocks noChangeArrowheads="1"/>
          </p:cNvSpPr>
          <p:nvPr/>
        </p:nvSpPr>
        <p:spPr bwMode="auto">
          <a:xfrm>
            <a:off x="900113" y="198438"/>
            <a:ext cx="16764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小结</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3058" name="矩形 1"/>
          <p:cNvSpPr/>
          <p:nvPr/>
        </p:nvSpPr>
        <p:spPr>
          <a:xfrm>
            <a:off x="0" y="5621338"/>
            <a:ext cx="9144000" cy="1120775"/>
          </a:xfrm>
          <a:prstGeom prst="rect">
            <a:avLst/>
          </a:prstGeom>
          <a:solidFill>
            <a:srgbClr val="C4B3D7"/>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8723" name="Rectangle 5"/>
          <p:cNvSpPr>
            <a:spLocks noChangeArrowheads="1"/>
          </p:cNvSpPr>
          <p:nvPr/>
        </p:nvSpPr>
        <p:spPr bwMode="auto">
          <a:xfrm>
            <a:off x="406400" y="912813"/>
            <a:ext cx="8607425"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9875">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269875" algn="l" defTabSz="914400" rtl="0" eaLnBrk="0" fontAlgn="base" latinLnBrk="0" hangingPunct="0">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）将编号为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的两个栈存放于一个数组空间</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V[m]</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中，栈底分别处于数组的两端。当第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号栈的栈顶指针</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top[0]</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等于</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时该栈为空；当第</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号栈的栈顶指针</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top[1]</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等于</a:t>
            </a:r>
            <a:r>
              <a:rPr kumimoji="0" lang="en-US" altLang="zh-CN" sz="2400" b="0" i="1" u="none" strike="noStrike" kern="1200" cap="none" spc="0" normalizeH="0" baseline="0" noProof="0" dirty="0">
                <a:ln>
                  <a:noFill/>
                </a:ln>
                <a:solidFill>
                  <a:schemeClr val="tx1"/>
                </a:solidFill>
                <a:effectLst/>
                <a:uLnTx/>
                <a:uFillTx/>
                <a:latin typeface="+mn-lt"/>
                <a:ea typeface="+mn-ea"/>
                <a:cs typeface="+mn-ea"/>
                <a:sym typeface="+mn-lt"/>
              </a:rPr>
              <a:t>m</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时，该栈为空。两个栈均从两端向中间增长。试编写双栈初始化，判断栈空、栈满、进栈和出栈等算法的函数。双栈数据结构的定义如下：</a:t>
            </a:r>
          </a:p>
          <a:p>
            <a:pPr marL="0" marR="0" lvl="0" indent="269875" algn="l" defTabSz="914400" rtl="0" eaLnBrk="0" fontAlgn="base" latinLnBrk="0" hangingPunct="0">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typedef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struct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269875" algn="l" defTabSz="914400" rtl="0" eaLnBrk="0" fontAlgn="base" latinLnBrk="0" hangingPunct="0">
              <a:lnSpc>
                <a:spcPct val="125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int top[2], bot[2];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栈顶和栈底指针</a:t>
            </a:r>
          </a:p>
          <a:p>
            <a:pPr marL="0" marR="0" lvl="0" indent="269875" algn="l" defTabSz="914400" rtl="0" eaLnBrk="0" fontAlgn="base" latinLnBrk="0" hangingPunct="0">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*V;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栈数组 </a:t>
            </a:r>
          </a:p>
          <a:p>
            <a:pPr marL="0" marR="0" lvl="0" indent="269875" algn="l" defTabSz="914400" rtl="0" eaLnBrk="0" fontAlgn="base" latinLnBrk="0" hangingPunct="0">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int m;          	//</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栈最大可容纳元素个数</a:t>
            </a:r>
          </a:p>
          <a:p>
            <a:pPr marL="0" marR="0" lvl="0" indent="269875" algn="l" defTabSz="914400" rtl="0" eaLnBrk="0" fontAlgn="base" latinLnBrk="0" hangingPunct="0">
              <a:lnSpc>
                <a:spcPct val="12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DblStack</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p:txBody>
      </p:sp>
      <p:graphicFrame>
        <p:nvGraphicFramePr>
          <p:cNvPr id="173060" name="Object 4"/>
          <p:cNvGraphicFramePr/>
          <p:nvPr/>
        </p:nvGraphicFramePr>
        <p:xfrm>
          <a:off x="539750" y="5781675"/>
          <a:ext cx="6335713" cy="863600"/>
        </p:xfrm>
        <a:graphic>
          <a:graphicData uri="http://schemas.openxmlformats.org/presentationml/2006/ole">
            <mc:AlternateContent xmlns:mc="http://schemas.openxmlformats.org/markup-compatibility/2006">
              <mc:Choice xmlns:v="urn:schemas-microsoft-com:vml" Requires="v">
                <p:oleObj spid="_x0000_s15378" r:id="rId3" imgW="3816985" imgH="1081405" progId="Word.Picture.8">
                  <p:embed/>
                </p:oleObj>
              </mc:Choice>
              <mc:Fallback>
                <p:oleObj r:id="rId3" imgW="3816985" imgH="1081405" progId="Word.Picture.8">
                  <p:embed/>
                  <p:pic>
                    <p:nvPicPr>
                      <p:cNvPr id="0" name="图片 3090"/>
                      <p:cNvPicPr/>
                      <p:nvPr/>
                    </p:nvPicPr>
                    <p:blipFill>
                      <a:blip r:embed="rId4"/>
                      <a:srcRect l="2226" t="16228" r="2759" b="36267"/>
                      <a:stretch>
                        <a:fillRect/>
                      </a:stretch>
                    </p:blipFill>
                    <p:spPr>
                      <a:xfrm>
                        <a:off x="539750" y="5781675"/>
                        <a:ext cx="6335713" cy="863600"/>
                      </a:xfrm>
                      <a:prstGeom prst="rect">
                        <a:avLst/>
                      </a:prstGeom>
                      <a:solidFill>
                        <a:srgbClr val="C4B3D7"/>
                      </a:solidFill>
                      <a:ln w="38100">
                        <a:noFill/>
                        <a:miter/>
                      </a:ln>
                    </p:spPr>
                  </p:pic>
                </p:oleObj>
              </mc:Fallback>
            </mc:AlternateContent>
          </a:graphicData>
        </a:graphic>
      </p:graphicFrame>
      <p:sp>
        <p:nvSpPr>
          <p:cNvPr id="776199" name="Comment 7"/>
          <p:cNvSpPr>
            <a:spLocks noChangeArrowheads="1"/>
          </p:cNvSpPr>
          <p:nvPr/>
        </p:nvSpPr>
        <p:spPr bwMode="auto">
          <a:xfrm>
            <a:off x="1039813" y="222250"/>
            <a:ext cx="33877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算法设计题</a:t>
            </a:r>
          </a:p>
        </p:txBody>
      </p:sp>
      <p:pic>
        <p:nvPicPr>
          <p:cNvPr id="173062" name="Picture 8" descr="back3">
            <a:hlinkClick r:id="rId5" action="ppaction://hlinksldjump"/>
          </p:cNvPr>
          <p:cNvPicPr>
            <a:picLocks noChangeAspect="1"/>
          </p:cNvPicPr>
          <p:nvPr/>
        </p:nvPicPr>
        <p:blipFill>
          <a:blip r:embed="rId6"/>
          <a:stretch>
            <a:fillRect/>
          </a:stretch>
        </p:blipFill>
        <p:spPr>
          <a:xfrm>
            <a:off x="7356475" y="5961063"/>
            <a:ext cx="1657350" cy="503237"/>
          </a:xfrm>
          <a:prstGeom prst="rect">
            <a:avLst/>
          </a:prstGeom>
          <a:solidFill>
            <a:srgbClr val="C4B3D7"/>
          </a:solidFill>
          <a:ln w="9525">
            <a:noFill/>
          </a:ln>
        </p:spPr>
      </p:pic>
      <p:cxnSp>
        <p:nvCxnSpPr>
          <p:cNvPr id="173063" name="直接连接符 3"/>
          <p:cNvCxnSpPr>
            <a:stCxn id="158723" idx="1"/>
          </p:cNvCxnSpPr>
          <p:nvPr/>
        </p:nvCxnSpPr>
        <p:spPr>
          <a:xfrm>
            <a:off x="406400" y="3267075"/>
            <a:ext cx="8413750" cy="0"/>
          </a:xfrm>
          <a:prstGeom prst="line">
            <a:avLst/>
          </a:prstGeom>
          <a:ln w="9525" cap="flat" cmpd="sng">
            <a:solidFill>
              <a:srgbClr val="6C4C8F"/>
            </a:solidFill>
            <a:prstDash val="soli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bwMode="auto">
          <a:xfrm>
            <a:off x="0" y="1773238"/>
            <a:ext cx="9144000" cy="4392613"/>
          </a:xfrm>
          <a:prstGeom prst="rect">
            <a:avLst/>
          </a:prstGeom>
          <a:solidFill>
            <a:schemeClr val="bg2">
              <a:lumMod val="20000"/>
              <a:lumOff val="8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78244" name="Rectangle 4"/>
          <p:cNvSpPr>
            <a:spLocks noChangeArrowheads="1"/>
          </p:cNvSpPr>
          <p:nvPr/>
        </p:nvSpPr>
        <p:spPr bwMode="auto">
          <a:xfrm>
            <a:off x="755650" y="1196975"/>
            <a:ext cx="7777163" cy="480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初始化一个大小为</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m</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的双向栈</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s</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Status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Init_Stack</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DblStack</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s,int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m)</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s.V</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=new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SElemType</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[m]</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s.bot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[0]=-1;</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s.bot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[1]=m;</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s.top</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[0]=-1;</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s.top</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[1]=m;</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return OK;</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778245" name="Comment 5"/>
          <p:cNvSpPr>
            <a:spLocks noChangeArrowheads="1"/>
          </p:cNvSpPr>
          <p:nvPr/>
        </p:nvSpPr>
        <p:spPr bwMode="auto">
          <a:xfrm>
            <a:off x="971550" y="198438"/>
            <a:ext cx="18764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答案</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78244"/>
                                        </p:tgtEl>
                                        <p:attrNameLst>
                                          <p:attrName>style.visibility</p:attrName>
                                        </p:attrNameLst>
                                      </p:cBhvr>
                                      <p:to>
                                        <p:strVal val="visible"/>
                                      </p:to>
                                    </p:set>
                                    <p:animEffect transition="in" filter="diamond(in)">
                                      <p:cBhvr>
                                        <p:cTn id="7" dur="2000"/>
                                        <p:tgtEl>
                                          <p:spTgt spid="77824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78244" grpId="0"/>
    </p:bldLst>
  </p:timing>
</p:sld>
</file>

<file path=ppt/slides/slide1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0771" name="Rectangle 4"/>
          <p:cNvSpPr>
            <a:spLocks noChangeArrowheads="1"/>
          </p:cNvSpPr>
          <p:nvPr/>
        </p:nvSpPr>
        <p:spPr bwMode="auto">
          <a:xfrm>
            <a:off x="252413" y="1565275"/>
            <a:ext cx="4206875" cy="3735388"/>
          </a:xfrm>
          <a:prstGeom prst="roundRect">
            <a:avLst>
              <a:gd name="adj" fmla="val 6492"/>
            </a:avLst>
          </a:prstGeom>
          <a:solidFill>
            <a:srgbClr val="C4B3D7"/>
          </a:solidFill>
          <a:ln>
            <a:noFill/>
          </a:ln>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判栈</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空否</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空返回</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1,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否则返回</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0</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int IsEmpty(</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DblStack</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s,int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return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s.top</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s.bot</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779269" name="Comment 5"/>
          <p:cNvSpPr>
            <a:spLocks noChangeArrowheads="1"/>
          </p:cNvSpPr>
          <p:nvPr/>
        </p:nvSpPr>
        <p:spPr bwMode="auto">
          <a:xfrm>
            <a:off x="971550" y="198438"/>
            <a:ext cx="18764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答案</a:t>
            </a:r>
          </a:p>
        </p:txBody>
      </p:sp>
      <p:sp>
        <p:nvSpPr>
          <p:cNvPr id="4" name="Rectangle 4"/>
          <p:cNvSpPr>
            <a:spLocks noChangeArrowheads="1"/>
          </p:cNvSpPr>
          <p:nvPr/>
        </p:nvSpPr>
        <p:spPr bwMode="auto">
          <a:xfrm>
            <a:off x="4787900" y="1557338"/>
            <a:ext cx="4135438" cy="3743325"/>
          </a:xfrm>
          <a:prstGeom prst="roundRect">
            <a:avLst>
              <a:gd name="adj" fmla="val 5814"/>
            </a:avLst>
          </a:prstGeom>
          <a:solidFill>
            <a:srgbClr val="D4E6F4"/>
          </a:solidFill>
          <a:ln>
            <a:noFill/>
          </a:ln>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判栈满否</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满返回</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1, </a:t>
            </a:r>
            <a:r>
              <a:rPr kumimoji="0" lang="zh-CN" altLang="en-US" sz="2200" b="0" i="0" u="none" strike="noStrike" kern="1200" cap="none" spc="0" normalizeH="0" baseline="0" noProof="0" dirty="0">
                <a:ln>
                  <a:noFill/>
                </a:ln>
                <a:solidFill>
                  <a:schemeClr val="tx1"/>
                </a:solidFill>
                <a:effectLst/>
                <a:uLnTx/>
                <a:uFillTx/>
                <a:latin typeface="+mn-lt"/>
                <a:ea typeface="+mn-ea"/>
                <a:cs typeface="+mn-ea"/>
                <a:sym typeface="+mn-lt"/>
              </a:rPr>
              <a:t>否则返回</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0</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IsFull</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DblStack</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s)</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a:t>
            </a:r>
          </a:p>
          <a:p>
            <a:pPr marL="45720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if(</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s.top</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[0]+1==</a:t>
            </a:r>
            <a:r>
              <a:rPr kumimoji="0" lang="en-US" altLang="zh-CN" sz="2200" b="0" i="0" u="none" strike="noStrike" kern="1200" cap="none" spc="0" normalizeH="0" baseline="0" noProof="0" dirty="0" err="1">
                <a:ln>
                  <a:noFill/>
                </a:ln>
                <a:solidFill>
                  <a:schemeClr val="tx1"/>
                </a:solidFill>
                <a:effectLst/>
                <a:uLnTx/>
                <a:uFillTx/>
                <a:latin typeface="+mn-lt"/>
                <a:ea typeface="+mn-ea"/>
                <a:cs typeface="+mn-ea"/>
                <a:sym typeface="+mn-lt"/>
              </a:rPr>
              <a:t>s.top</a:t>
            </a: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[1]) </a:t>
            </a:r>
          </a:p>
          <a:p>
            <a:pPr marL="45720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	return 1;</a:t>
            </a:r>
          </a:p>
          <a:p>
            <a:pPr marL="45720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else return 0;</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75109" name="矩形 1"/>
          <p:cNvSpPr/>
          <p:nvPr/>
        </p:nvSpPr>
        <p:spPr>
          <a:xfrm>
            <a:off x="252413" y="3848100"/>
            <a:ext cx="4206875" cy="46038"/>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75110" name="矩形 5"/>
          <p:cNvSpPr/>
          <p:nvPr/>
        </p:nvSpPr>
        <p:spPr>
          <a:xfrm>
            <a:off x="252413" y="4064000"/>
            <a:ext cx="4206875" cy="46038"/>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75111" name="矩形 6"/>
          <p:cNvSpPr/>
          <p:nvPr/>
        </p:nvSpPr>
        <p:spPr>
          <a:xfrm>
            <a:off x="252413" y="4287838"/>
            <a:ext cx="4206875" cy="4603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75112" name="矩形 7"/>
          <p:cNvSpPr/>
          <p:nvPr/>
        </p:nvSpPr>
        <p:spPr>
          <a:xfrm>
            <a:off x="252413" y="4498975"/>
            <a:ext cx="4206875" cy="46038"/>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75113" name="矩形 8"/>
          <p:cNvSpPr/>
          <p:nvPr/>
        </p:nvSpPr>
        <p:spPr>
          <a:xfrm>
            <a:off x="252413" y="4710113"/>
            <a:ext cx="4206875" cy="44450"/>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75114" name="矩形 9"/>
          <p:cNvSpPr/>
          <p:nvPr/>
        </p:nvSpPr>
        <p:spPr>
          <a:xfrm>
            <a:off x="252413" y="4959350"/>
            <a:ext cx="4206875" cy="46038"/>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1" name="Shape 26"/>
          <p:cNvSpPr/>
          <p:nvPr/>
        </p:nvSpPr>
        <p:spPr>
          <a:xfrm flipH="1">
            <a:off x="0" y="5607050"/>
            <a:ext cx="9140825" cy="1250950"/>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chemeClr val="tx1">
              <a:lumMod val="50000"/>
              <a:lumOff val="50000"/>
            </a:schemeClr>
          </a:solidFill>
          <a:ln w="9525" cap="flat" cmpd="sng">
            <a:noFill/>
            <a:prstDash val="solid"/>
            <a:round/>
            <a:headEnd type="none" w="med" len="med"/>
            <a:tailEnd type="none" w="med" len="med"/>
          </a:ln>
        </p:spPr>
        <p:txBody>
          <a:bodyPr lIns="68569" tIns="34275" rIns="68569" bIns="34275"/>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1015" b="0" i="0" u="none" strike="noStrike" kern="1200" cap="none" spc="0" normalizeH="0" baseline="0" noProof="0">
              <a:ln>
                <a:noFill/>
              </a:ln>
              <a:solidFill>
                <a:srgbClr val="000000"/>
              </a:solidFill>
              <a:effectLst/>
              <a:uLnTx/>
              <a:uFillTx/>
              <a:latin typeface="+mn-lt"/>
              <a:ea typeface="+mn-ea"/>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6130" name="矩形 1"/>
          <p:cNvSpPr/>
          <p:nvPr/>
        </p:nvSpPr>
        <p:spPr>
          <a:xfrm>
            <a:off x="0" y="1196975"/>
            <a:ext cx="9144000" cy="4679950"/>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781316" name="Rectangle 4"/>
          <p:cNvSpPr>
            <a:spLocks noChangeArrowheads="1"/>
          </p:cNvSpPr>
          <p:nvPr/>
        </p:nvSpPr>
        <p:spPr bwMode="auto">
          <a:xfrm>
            <a:off x="863600" y="1341438"/>
            <a:ext cx="7524750" cy="433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Dblpush</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DblStack</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s,SElemType</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x,int</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if(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IsFull</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(s ) )  exit(1);</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栈满则停止执行</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if (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 0 )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s.V</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s.top</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[0] ] = x;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栈</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情形：栈顶指针先加</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1,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然后按此地址进栈</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else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s.V</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s.top</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[1]]=x;</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栈</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情形：栈顶指针先减</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1,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然后按此地址进栈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781317" name="Comment 5"/>
          <p:cNvSpPr>
            <a:spLocks noChangeArrowheads="1"/>
          </p:cNvSpPr>
          <p:nvPr/>
        </p:nvSpPr>
        <p:spPr bwMode="auto">
          <a:xfrm>
            <a:off x="900113" y="198438"/>
            <a:ext cx="18764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答案</a:t>
            </a:r>
          </a:p>
        </p:txBody>
      </p:sp>
      <p:sp>
        <p:nvSpPr>
          <p:cNvPr id="3" name="矩形 2"/>
          <p:cNvSpPr/>
          <p:nvPr/>
        </p:nvSpPr>
        <p:spPr bwMode="auto">
          <a:xfrm>
            <a:off x="0" y="6092825"/>
            <a:ext cx="9144000" cy="215900"/>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81316"/>
                                        </p:tgtEl>
                                        <p:attrNameLst>
                                          <p:attrName>style.visibility</p:attrName>
                                        </p:attrNameLst>
                                      </p:cBhvr>
                                      <p:to>
                                        <p:strVal val="visible"/>
                                      </p:to>
                                    </p:set>
                                    <p:animEffect transition="in" filter="diamond(in)">
                                      <p:cBhvr>
                                        <p:cTn id="7" dur="2000"/>
                                        <p:tgtEl>
                                          <p:spTgt spid="781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1316" grpId="0"/>
    </p:bldLst>
  </p:timing>
</p:sld>
</file>

<file path=ppt/slides/slide1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7154" name="矩形 3"/>
          <p:cNvSpPr/>
          <p:nvPr/>
        </p:nvSpPr>
        <p:spPr>
          <a:xfrm>
            <a:off x="0" y="1196975"/>
            <a:ext cx="9144000" cy="4679950"/>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5" name="矩形 4"/>
          <p:cNvSpPr/>
          <p:nvPr/>
        </p:nvSpPr>
        <p:spPr bwMode="auto">
          <a:xfrm>
            <a:off x="0" y="6092825"/>
            <a:ext cx="9144000" cy="215900"/>
          </a:xfrm>
          <a:prstGeom prst="rect">
            <a:avLst/>
          </a:prstGeom>
          <a:solidFill>
            <a:schemeClr val="accent1">
              <a:lumMod val="60000"/>
              <a:lumOff val="40000"/>
            </a:schemeClr>
          </a:solidFill>
          <a:ln w="9525" cap="flat" cmpd="sng" algn="ctr">
            <a:noFill/>
            <a:prstDash val="solid"/>
            <a:round/>
            <a:headEnd type="none" w="med" len="med"/>
            <a:tailEnd type="none" w="med" len="med"/>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82340" name="Rectangle 4"/>
          <p:cNvSpPr>
            <a:spLocks noChangeArrowheads="1"/>
          </p:cNvSpPr>
          <p:nvPr/>
        </p:nvSpPr>
        <p:spPr bwMode="auto">
          <a:xfrm>
            <a:off x="179388" y="1341438"/>
            <a:ext cx="8697913" cy="41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Dblpop</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DblStack</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&amp;</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s,int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i,SElemType</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&amp;x)</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a:p>
            <a:pPr marL="45720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if ( IsEmpty (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 return 0; </a:t>
            </a:r>
          </a:p>
          <a:p>
            <a:pPr marL="45720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判栈空否</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若栈空则函数返回</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0</a:t>
            </a:r>
          </a:p>
          <a:p>
            <a:pPr marL="45720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if (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i</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 0 )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s.top</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[0]--;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栈</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0</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情形：栈顶指针减</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a:t>
            </a:r>
          </a:p>
          <a:p>
            <a:pPr marL="45720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else </a:t>
            </a: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s.top</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栈</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情形：栈顶指针加</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a:t>
            </a:r>
          </a:p>
          <a:p>
            <a:pPr marL="45720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return 1;</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782341" name="Comment 5"/>
          <p:cNvSpPr>
            <a:spLocks noChangeArrowheads="1"/>
          </p:cNvSpPr>
          <p:nvPr/>
        </p:nvSpPr>
        <p:spPr bwMode="auto">
          <a:xfrm>
            <a:off x="915988" y="211138"/>
            <a:ext cx="18764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答案</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82340"/>
                                        </p:tgtEl>
                                        <p:attrNameLst>
                                          <p:attrName>style.visibility</p:attrName>
                                        </p:attrNameLst>
                                      </p:cBhvr>
                                      <p:to>
                                        <p:strVal val="visible"/>
                                      </p:to>
                                    </p:set>
                                    <p:animEffect transition="in" filter="diamond(in)">
                                      <p:cBhvr>
                                        <p:cTn id="7" dur="2000"/>
                                        <p:tgtEl>
                                          <p:spTgt spid="782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2340" grpId="0"/>
    </p:bldLst>
  </p:timing>
</p:sld>
</file>

<file path=ppt/slides/slide1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43" name="Rectangle 4"/>
          <p:cNvSpPr>
            <a:spLocks noChangeArrowheads="1"/>
          </p:cNvSpPr>
          <p:nvPr/>
        </p:nvSpPr>
        <p:spPr bwMode="auto">
          <a:xfrm>
            <a:off x="534988" y="1136650"/>
            <a:ext cx="8064500" cy="1120775"/>
          </a:xfrm>
          <a:prstGeom prst="rect">
            <a:avLst/>
          </a:prstGeom>
          <a:noFill/>
          <a:ln>
            <a:noFill/>
          </a:ln>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10</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）已知</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f</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为单链表的表头指针</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链表中存储的都是整型数据，试写出实现下列运算的</a:t>
            </a:r>
            <a:r>
              <a:rPr kumimoji="0" lang="zh-CN" altLang="en-US" sz="2800" b="0" i="0" u="none" strike="noStrike" kern="1200" cap="none" spc="0" normalizeH="0" baseline="0" noProof="0" dirty="0">
                <a:ln>
                  <a:noFill/>
                </a:ln>
                <a:solidFill>
                  <a:srgbClr val="FF0000"/>
                </a:solidFill>
                <a:effectLst/>
                <a:uLnTx/>
                <a:uFillTx/>
                <a:latin typeface="+mn-lt"/>
                <a:ea typeface="+mn-ea"/>
                <a:cs typeface="+mn-ea"/>
                <a:sym typeface="+mn-lt"/>
              </a:rPr>
              <a:t>递归</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算法：</a:t>
            </a:r>
          </a:p>
        </p:txBody>
      </p:sp>
      <p:sp>
        <p:nvSpPr>
          <p:cNvPr id="777221" name="Comment 5"/>
          <p:cNvSpPr>
            <a:spLocks noChangeArrowheads="1"/>
          </p:cNvSpPr>
          <p:nvPr/>
        </p:nvSpPr>
        <p:spPr bwMode="auto">
          <a:xfrm>
            <a:off x="900113" y="198438"/>
            <a:ext cx="33893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算法设计题</a:t>
            </a:r>
          </a:p>
        </p:txBody>
      </p:sp>
      <p:grpSp>
        <p:nvGrpSpPr>
          <p:cNvPr id="178180" name="组合 15"/>
          <p:cNvGrpSpPr/>
          <p:nvPr/>
        </p:nvGrpSpPr>
        <p:grpSpPr>
          <a:xfrm>
            <a:off x="3460750" y="3489325"/>
            <a:ext cx="1976438" cy="1762125"/>
            <a:chOff x="3025400" y="1197238"/>
            <a:chExt cx="5489035" cy="4890804"/>
          </a:xfrm>
        </p:grpSpPr>
        <p:sp>
          <p:nvSpPr>
            <p:cNvPr id="7" name="Freeform 5"/>
            <p:cNvSpPr>
              <a:spLocks noEditPoints="1"/>
            </p:cNvSpPr>
            <p:nvPr/>
          </p:nvSpPr>
          <p:spPr bwMode="auto">
            <a:xfrm>
              <a:off x="3373764" y="2204590"/>
              <a:ext cx="2722236" cy="2755074"/>
            </a:xfrm>
            <a:custGeom>
              <a:avLst/>
              <a:gdLst>
                <a:gd name="T0" fmla="*/ 70 w 83"/>
                <a:gd name="T1" fmla="*/ 23 h 84"/>
                <a:gd name="T2" fmla="*/ 76 w 83"/>
                <a:gd name="T3" fmla="*/ 17 h 84"/>
                <a:gd name="T4" fmla="*/ 66 w 83"/>
                <a:gd name="T5" fmla="*/ 8 h 84"/>
                <a:gd name="T6" fmla="*/ 61 w 83"/>
                <a:gd name="T7" fmla="*/ 13 h 84"/>
                <a:gd name="T8" fmla="*/ 48 w 83"/>
                <a:gd name="T9" fmla="*/ 8 h 84"/>
                <a:gd name="T10" fmla="*/ 48 w 83"/>
                <a:gd name="T11" fmla="*/ 0 h 84"/>
                <a:gd name="T12" fmla="*/ 35 w 83"/>
                <a:gd name="T13" fmla="*/ 0 h 84"/>
                <a:gd name="T14" fmla="*/ 35 w 83"/>
                <a:gd name="T15" fmla="*/ 8 h 84"/>
                <a:gd name="T16" fmla="*/ 23 w 83"/>
                <a:gd name="T17" fmla="*/ 13 h 84"/>
                <a:gd name="T18" fmla="*/ 17 w 83"/>
                <a:gd name="T19" fmla="*/ 8 h 84"/>
                <a:gd name="T20" fmla="*/ 7 w 83"/>
                <a:gd name="T21" fmla="*/ 17 h 84"/>
                <a:gd name="T22" fmla="*/ 13 w 83"/>
                <a:gd name="T23" fmla="*/ 23 h 84"/>
                <a:gd name="T24" fmla="*/ 8 w 83"/>
                <a:gd name="T25" fmla="*/ 35 h 84"/>
                <a:gd name="T26" fmla="*/ 0 w 83"/>
                <a:gd name="T27" fmla="*/ 35 h 84"/>
                <a:gd name="T28" fmla="*/ 0 w 83"/>
                <a:gd name="T29" fmla="*/ 49 h 84"/>
                <a:gd name="T30" fmla="*/ 8 w 83"/>
                <a:gd name="T31" fmla="*/ 49 h 84"/>
                <a:gd name="T32" fmla="*/ 13 w 83"/>
                <a:gd name="T33" fmla="*/ 61 h 84"/>
                <a:gd name="T34" fmla="*/ 7 w 83"/>
                <a:gd name="T35" fmla="*/ 67 h 84"/>
                <a:gd name="T36" fmla="*/ 17 w 83"/>
                <a:gd name="T37" fmla="*/ 76 h 84"/>
                <a:gd name="T38" fmla="*/ 22 w 83"/>
                <a:gd name="T39" fmla="*/ 71 h 84"/>
                <a:gd name="T40" fmla="*/ 35 w 83"/>
                <a:gd name="T41" fmla="*/ 76 h 84"/>
                <a:gd name="T42" fmla="*/ 35 w 83"/>
                <a:gd name="T43" fmla="*/ 84 h 84"/>
                <a:gd name="T44" fmla="*/ 48 w 83"/>
                <a:gd name="T45" fmla="*/ 84 h 84"/>
                <a:gd name="T46" fmla="*/ 48 w 83"/>
                <a:gd name="T47" fmla="*/ 76 h 84"/>
                <a:gd name="T48" fmla="*/ 61 w 83"/>
                <a:gd name="T49" fmla="*/ 71 h 84"/>
                <a:gd name="T50" fmla="*/ 66 w 83"/>
                <a:gd name="T51" fmla="*/ 76 h 84"/>
                <a:gd name="T52" fmla="*/ 76 w 83"/>
                <a:gd name="T53" fmla="*/ 67 h 84"/>
                <a:gd name="T54" fmla="*/ 70 w 83"/>
                <a:gd name="T55" fmla="*/ 61 h 84"/>
                <a:gd name="T56" fmla="*/ 75 w 83"/>
                <a:gd name="T57" fmla="*/ 49 h 84"/>
                <a:gd name="T58" fmla="*/ 83 w 83"/>
                <a:gd name="T59" fmla="*/ 49 h 84"/>
                <a:gd name="T60" fmla="*/ 83 w 83"/>
                <a:gd name="T61" fmla="*/ 35 h 84"/>
                <a:gd name="T62" fmla="*/ 75 w 83"/>
                <a:gd name="T63" fmla="*/ 35 h 84"/>
                <a:gd name="T64" fmla="*/ 70 w 83"/>
                <a:gd name="T65" fmla="*/ 23 h 84"/>
                <a:gd name="T66" fmla="*/ 57 w 83"/>
                <a:gd name="T67" fmla="*/ 58 h 84"/>
                <a:gd name="T68" fmla="*/ 42 w 83"/>
                <a:gd name="T69" fmla="*/ 64 h 84"/>
                <a:gd name="T70" fmla="*/ 26 w 83"/>
                <a:gd name="T71" fmla="*/ 58 h 84"/>
                <a:gd name="T72" fmla="*/ 19 w 83"/>
                <a:gd name="T73" fmla="*/ 42 h 84"/>
                <a:gd name="T74" fmla="*/ 26 w 83"/>
                <a:gd name="T75" fmla="*/ 26 h 84"/>
                <a:gd name="T76" fmla="*/ 42 w 83"/>
                <a:gd name="T77" fmla="*/ 20 h 84"/>
                <a:gd name="T78" fmla="*/ 57 w 83"/>
                <a:gd name="T79" fmla="*/ 26 h 84"/>
                <a:gd name="T80" fmla="*/ 64 w 83"/>
                <a:gd name="T81" fmla="*/ 42 h 84"/>
                <a:gd name="T82" fmla="*/ 57 w 83"/>
                <a:gd name="T83" fmla="*/ 5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 h="84">
                  <a:moveTo>
                    <a:pt x="70" y="23"/>
                  </a:moveTo>
                  <a:cubicBezTo>
                    <a:pt x="76" y="17"/>
                    <a:pt x="76" y="17"/>
                    <a:pt x="76" y="17"/>
                  </a:cubicBezTo>
                  <a:cubicBezTo>
                    <a:pt x="66" y="8"/>
                    <a:pt x="66" y="8"/>
                    <a:pt x="66" y="8"/>
                  </a:cubicBezTo>
                  <a:cubicBezTo>
                    <a:pt x="61" y="13"/>
                    <a:pt x="61" y="13"/>
                    <a:pt x="61" y="13"/>
                  </a:cubicBezTo>
                  <a:cubicBezTo>
                    <a:pt x="57" y="11"/>
                    <a:pt x="53" y="9"/>
                    <a:pt x="48" y="8"/>
                  </a:cubicBezTo>
                  <a:cubicBezTo>
                    <a:pt x="48" y="0"/>
                    <a:pt x="48" y="0"/>
                    <a:pt x="48" y="0"/>
                  </a:cubicBezTo>
                  <a:cubicBezTo>
                    <a:pt x="35" y="0"/>
                    <a:pt x="35" y="0"/>
                    <a:pt x="35" y="0"/>
                  </a:cubicBezTo>
                  <a:cubicBezTo>
                    <a:pt x="35" y="8"/>
                    <a:pt x="35" y="8"/>
                    <a:pt x="35" y="8"/>
                  </a:cubicBezTo>
                  <a:cubicBezTo>
                    <a:pt x="30" y="9"/>
                    <a:pt x="26" y="11"/>
                    <a:pt x="23" y="13"/>
                  </a:cubicBezTo>
                  <a:cubicBezTo>
                    <a:pt x="17" y="8"/>
                    <a:pt x="17" y="8"/>
                    <a:pt x="17" y="8"/>
                  </a:cubicBezTo>
                  <a:cubicBezTo>
                    <a:pt x="7" y="17"/>
                    <a:pt x="7" y="17"/>
                    <a:pt x="7" y="17"/>
                  </a:cubicBezTo>
                  <a:cubicBezTo>
                    <a:pt x="13" y="23"/>
                    <a:pt x="13" y="23"/>
                    <a:pt x="13" y="23"/>
                  </a:cubicBezTo>
                  <a:cubicBezTo>
                    <a:pt x="10" y="27"/>
                    <a:pt x="9" y="31"/>
                    <a:pt x="8" y="35"/>
                  </a:cubicBezTo>
                  <a:cubicBezTo>
                    <a:pt x="0" y="35"/>
                    <a:pt x="0" y="35"/>
                    <a:pt x="0" y="35"/>
                  </a:cubicBezTo>
                  <a:cubicBezTo>
                    <a:pt x="0" y="49"/>
                    <a:pt x="0" y="49"/>
                    <a:pt x="0" y="49"/>
                  </a:cubicBezTo>
                  <a:cubicBezTo>
                    <a:pt x="8" y="49"/>
                    <a:pt x="8" y="49"/>
                    <a:pt x="8" y="49"/>
                  </a:cubicBezTo>
                  <a:cubicBezTo>
                    <a:pt x="9" y="53"/>
                    <a:pt x="10" y="57"/>
                    <a:pt x="13" y="61"/>
                  </a:cubicBezTo>
                  <a:cubicBezTo>
                    <a:pt x="7" y="67"/>
                    <a:pt x="7" y="67"/>
                    <a:pt x="7" y="67"/>
                  </a:cubicBezTo>
                  <a:cubicBezTo>
                    <a:pt x="17" y="76"/>
                    <a:pt x="17" y="76"/>
                    <a:pt x="17" y="76"/>
                  </a:cubicBezTo>
                  <a:cubicBezTo>
                    <a:pt x="22" y="71"/>
                    <a:pt x="22" y="71"/>
                    <a:pt x="22" y="71"/>
                  </a:cubicBezTo>
                  <a:cubicBezTo>
                    <a:pt x="26" y="73"/>
                    <a:pt x="30" y="75"/>
                    <a:pt x="35" y="76"/>
                  </a:cubicBezTo>
                  <a:cubicBezTo>
                    <a:pt x="35" y="84"/>
                    <a:pt x="35" y="84"/>
                    <a:pt x="35" y="84"/>
                  </a:cubicBezTo>
                  <a:cubicBezTo>
                    <a:pt x="48" y="84"/>
                    <a:pt x="48" y="84"/>
                    <a:pt x="48" y="84"/>
                  </a:cubicBezTo>
                  <a:cubicBezTo>
                    <a:pt x="48" y="76"/>
                    <a:pt x="48" y="76"/>
                    <a:pt x="48" y="76"/>
                  </a:cubicBezTo>
                  <a:cubicBezTo>
                    <a:pt x="53" y="75"/>
                    <a:pt x="57" y="73"/>
                    <a:pt x="61" y="71"/>
                  </a:cubicBezTo>
                  <a:cubicBezTo>
                    <a:pt x="66" y="76"/>
                    <a:pt x="66" y="76"/>
                    <a:pt x="66" y="76"/>
                  </a:cubicBezTo>
                  <a:cubicBezTo>
                    <a:pt x="76" y="67"/>
                    <a:pt x="76" y="67"/>
                    <a:pt x="76" y="67"/>
                  </a:cubicBezTo>
                  <a:cubicBezTo>
                    <a:pt x="70" y="61"/>
                    <a:pt x="70" y="61"/>
                    <a:pt x="70" y="61"/>
                  </a:cubicBezTo>
                  <a:cubicBezTo>
                    <a:pt x="73" y="57"/>
                    <a:pt x="74" y="53"/>
                    <a:pt x="75" y="49"/>
                  </a:cubicBezTo>
                  <a:cubicBezTo>
                    <a:pt x="83" y="49"/>
                    <a:pt x="83" y="49"/>
                    <a:pt x="83" y="49"/>
                  </a:cubicBezTo>
                  <a:cubicBezTo>
                    <a:pt x="83" y="35"/>
                    <a:pt x="83" y="35"/>
                    <a:pt x="83" y="35"/>
                  </a:cubicBezTo>
                  <a:cubicBezTo>
                    <a:pt x="75" y="35"/>
                    <a:pt x="75" y="35"/>
                    <a:pt x="75" y="35"/>
                  </a:cubicBezTo>
                  <a:cubicBezTo>
                    <a:pt x="74" y="31"/>
                    <a:pt x="73" y="27"/>
                    <a:pt x="70" y="23"/>
                  </a:cubicBezTo>
                  <a:close/>
                  <a:moveTo>
                    <a:pt x="57" y="58"/>
                  </a:moveTo>
                  <a:cubicBezTo>
                    <a:pt x="53" y="62"/>
                    <a:pt x="48" y="64"/>
                    <a:pt x="42" y="64"/>
                  </a:cubicBezTo>
                  <a:cubicBezTo>
                    <a:pt x="35" y="64"/>
                    <a:pt x="30" y="62"/>
                    <a:pt x="26" y="58"/>
                  </a:cubicBezTo>
                  <a:cubicBezTo>
                    <a:pt x="22" y="54"/>
                    <a:pt x="19" y="48"/>
                    <a:pt x="19" y="42"/>
                  </a:cubicBezTo>
                  <a:cubicBezTo>
                    <a:pt x="19" y="36"/>
                    <a:pt x="22" y="30"/>
                    <a:pt x="26" y="26"/>
                  </a:cubicBezTo>
                  <a:cubicBezTo>
                    <a:pt x="30" y="22"/>
                    <a:pt x="35" y="20"/>
                    <a:pt x="42" y="20"/>
                  </a:cubicBezTo>
                  <a:cubicBezTo>
                    <a:pt x="48" y="20"/>
                    <a:pt x="53" y="22"/>
                    <a:pt x="57" y="26"/>
                  </a:cubicBezTo>
                  <a:cubicBezTo>
                    <a:pt x="61" y="30"/>
                    <a:pt x="64" y="36"/>
                    <a:pt x="64" y="42"/>
                  </a:cubicBezTo>
                  <a:cubicBezTo>
                    <a:pt x="64" y="48"/>
                    <a:pt x="61" y="54"/>
                    <a:pt x="57" y="58"/>
                  </a:cubicBezTo>
                  <a:close/>
                </a:path>
              </a:pathLst>
            </a:custGeom>
            <a:solidFill>
              <a:srgbClr val="01ACBE"/>
            </a:solidFill>
            <a:ln>
              <a:noFill/>
            </a:ln>
            <a:effectLst>
              <a:outerShdw blurRad="50800" dist="38100" dir="8100000" algn="tr" rotWithShape="0">
                <a:prstClr val="black">
                  <a:alpha val="40000"/>
                </a:prstClr>
              </a:outerShdw>
            </a:effectLst>
            <a:scene3d>
              <a:camera prst="orthographicFront"/>
              <a:lightRig rig="threePt" dir="t"/>
            </a:scene3d>
            <a:sp3d extrusionH="76200">
              <a:extrusionClr>
                <a:srgbClr val="A5C3CF"/>
              </a:extrusionClr>
            </a:sp3d>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grpSp>
          <p:nvGrpSpPr>
            <p:cNvPr id="178187" name="Group 8"/>
            <p:cNvGrpSpPr>
              <a:grpSpLocks noChangeAspect="1"/>
            </p:cNvGrpSpPr>
            <p:nvPr/>
          </p:nvGrpSpPr>
          <p:grpSpPr>
            <a:xfrm>
              <a:off x="4430530" y="3139897"/>
              <a:ext cx="608702" cy="743027"/>
              <a:chOff x="3804" y="2116"/>
              <a:chExt cx="503" cy="614"/>
            </a:xfrm>
          </p:grpSpPr>
          <p:sp>
            <p:nvSpPr>
              <p:cNvPr id="178196" name="AutoShape 7"/>
              <p:cNvSpPr>
                <a:spLocks noChangeAspect="1" noTextEdit="1"/>
              </p:cNvSpPr>
              <p:nvPr/>
            </p:nvSpPr>
            <p:spPr>
              <a:xfrm>
                <a:off x="3804" y="2116"/>
                <a:ext cx="503" cy="614"/>
              </a:xfrm>
              <a:prstGeom prst="rect">
                <a:avLst/>
              </a:prstGeom>
              <a:noFill/>
              <a:ln w="9525">
                <a:noFill/>
              </a:ln>
            </p:spPr>
            <p:txBody>
              <a:bodyPr/>
              <a:lstStyle/>
              <a:p>
                <a:endParaRPr lang="zh-CN" altLang="en-US"/>
              </a:p>
            </p:txBody>
          </p:sp>
          <p:sp>
            <p:nvSpPr>
              <p:cNvPr id="178197" name="Oval 9"/>
              <p:cNvSpPr/>
              <p:nvPr/>
            </p:nvSpPr>
            <p:spPr>
              <a:xfrm>
                <a:off x="3908" y="2137"/>
                <a:ext cx="273" cy="266"/>
              </a:xfrm>
              <a:prstGeom prst="ellipse">
                <a:avLst/>
              </a:prstGeom>
              <a:solidFill>
                <a:srgbClr val="888890"/>
              </a:solidFill>
              <a:ln w="9525">
                <a:noFill/>
              </a:ln>
            </p:spPr>
            <p:txBody>
              <a:bodyPr/>
              <a:lstStyle>
                <a:lvl1pPr indent="538480" algn="l" rtl="0" eaLnBrk="0" fontAlgn="base" hangingPunct="0">
                  <a:lnSpc>
                    <a:spcPct val="130000"/>
                  </a:lnSpc>
                  <a:spcBef>
                    <a:spcPct val="0"/>
                  </a:spcBef>
                  <a:spcAft>
                    <a:spcPct val="0"/>
                  </a:spcAft>
                  <a:defRPr sz="2400" b="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endParaRPr lang="zh-CN" altLang="en-US" sz="1800" b="1" dirty="0">
                  <a:latin typeface="Calibri" panose="020F0502020204030204" pitchFamily="34" charset="0"/>
                  <a:ea typeface="楷体_GB2312" pitchFamily="49" charset="-122"/>
                </a:endParaRPr>
              </a:p>
            </p:txBody>
          </p:sp>
          <p:sp>
            <p:nvSpPr>
              <p:cNvPr id="178198" name="Freeform 10"/>
              <p:cNvSpPr/>
              <p:nvPr/>
            </p:nvSpPr>
            <p:spPr>
              <a:xfrm>
                <a:off x="3783" y="2423"/>
                <a:ext cx="524" cy="327"/>
              </a:xfrm>
              <a:custGeom>
                <a:avLst/>
                <a:gdLst/>
                <a:ahLst/>
                <a:cxnLst>
                  <a:cxn ang="0">
                    <a:pos x="2147483646" y="0"/>
                  </a:cxn>
                  <a:cxn ang="0">
                    <a:pos x="2147483646" y="0"/>
                  </a:cxn>
                  <a:cxn ang="0">
                    <a:pos x="2147483646" y="2147483646"/>
                  </a:cxn>
                  <a:cxn ang="0">
                    <a:pos x="2147483646" y="2147483646"/>
                  </a:cxn>
                  <a:cxn ang="0">
                    <a:pos x="2147483646" y="2147483646"/>
                  </a:cxn>
                  <a:cxn ang="0">
                    <a:pos x="2147483646" y="0"/>
                  </a:cxn>
                  <a:cxn ang="0">
                    <a:pos x="2147483646" y="0"/>
                  </a:cxn>
                  <a:cxn ang="0">
                    <a:pos x="0" y="2147483646"/>
                  </a:cxn>
                  <a:cxn ang="0">
                    <a:pos x="0" y="2147483646"/>
                  </a:cxn>
                  <a:cxn ang="0">
                    <a:pos x="2147483646" y="2147483646"/>
                  </a:cxn>
                  <a:cxn ang="0">
                    <a:pos x="2147483646" y="2147483646"/>
                  </a:cxn>
                  <a:cxn ang="0">
                    <a:pos x="2147483646" y="2147483646"/>
                  </a:cxn>
                  <a:cxn ang="0">
                    <a:pos x="2147483646" y="0"/>
                  </a:cxn>
                </a:cxnLst>
                <a:rect l="0" t="0" r="0" b="0"/>
                <a:pathLst>
                  <a:path w="25" h="16">
                    <a:moveTo>
                      <a:pt x="16" y="0"/>
                    </a:moveTo>
                    <a:cubicBezTo>
                      <a:pt x="13" y="0"/>
                      <a:pt x="13" y="0"/>
                      <a:pt x="13" y="0"/>
                    </a:cubicBezTo>
                    <a:cubicBezTo>
                      <a:pt x="15" y="11"/>
                      <a:pt x="15" y="11"/>
                      <a:pt x="15" y="11"/>
                    </a:cubicBezTo>
                    <a:cubicBezTo>
                      <a:pt x="12" y="14"/>
                      <a:pt x="12" y="14"/>
                      <a:pt x="12" y="14"/>
                    </a:cubicBezTo>
                    <a:cubicBezTo>
                      <a:pt x="9" y="11"/>
                      <a:pt x="9" y="11"/>
                      <a:pt x="9" y="11"/>
                    </a:cubicBezTo>
                    <a:cubicBezTo>
                      <a:pt x="11" y="0"/>
                      <a:pt x="11" y="0"/>
                      <a:pt x="11" y="0"/>
                    </a:cubicBezTo>
                    <a:cubicBezTo>
                      <a:pt x="8" y="0"/>
                      <a:pt x="8" y="0"/>
                      <a:pt x="8" y="0"/>
                    </a:cubicBezTo>
                    <a:cubicBezTo>
                      <a:pt x="3" y="0"/>
                      <a:pt x="0" y="4"/>
                      <a:pt x="0" y="8"/>
                    </a:cubicBezTo>
                    <a:cubicBezTo>
                      <a:pt x="0" y="14"/>
                      <a:pt x="0" y="14"/>
                      <a:pt x="0" y="14"/>
                    </a:cubicBezTo>
                    <a:cubicBezTo>
                      <a:pt x="3" y="16"/>
                      <a:pt x="9" y="16"/>
                      <a:pt x="12" y="16"/>
                    </a:cubicBezTo>
                    <a:cubicBezTo>
                      <a:pt x="15" y="16"/>
                      <a:pt x="21" y="16"/>
                      <a:pt x="25" y="14"/>
                    </a:cubicBezTo>
                    <a:cubicBezTo>
                      <a:pt x="25" y="8"/>
                      <a:pt x="25" y="8"/>
                      <a:pt x="25" y="8"/>
                    </a:cubicBezTo>
                    <a:cubicBezTo>
                      <a:pt x="25" y="4"/>
                      <a:pt x="21" y="0"/>
                      <a:pt x="16" y="0"/>
                    </a:cubicBezTo>
                  </a:path>
                </a:pathLst>
              </a:custGeom>
              <a:solidFill>
                <a:srgbClr val="888890">
                  <a:alpha val="100000"/>
                </a:srgbClr>
              </a:solidFill>
              <a:ln w="9525">
                <a:noFill/>
              </a:ln>
            </p:spPr>
            <p:txBody>
              <a:bodyPr/>
              <a:lstStyle/>
              <a:p>
                <a:endParaRPr lang="zh-CN" altLang="en-US"/>
              </a:p>
            </p:txBody>
          </p:sp>
        </p:grpSp>
        <p:sp>
          <p:nvSpPr>
            <p:cNvPr id="178188" name="Freeform 14"/>
            <p:cNvSpPr/>
            <p:nvPr/>
          </p:nvSpPr>
          <p:spPr>
            <a:xfrm>
              <a:off x="3025400" y="1969376"/>
              <a:ext cx="2807530" cy="3255283"/>
            </a:xfrm>
            <a:custGeom>
              <a:avLst/>
              <a:gdLst/>
              <a:ahLst/>
              <a:cxnLst>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0" t="0" r="0" b="0"/>
              <a:pathLst>
                <a:path w="85" h="99">
                  <a:moveTo>
                    <a:pt x="49" y="0"/>
                  </a:moveTo>
                  <a:cubicBezTo>
                    <a:pt x="36" y="0"/>
                    <a:pt x="24" y="5"/>
                    <a:pt x="14" y="14"/>
                  </a:cubicBezTo>
                  <a:cubicBezTo>
                    <a:pt x="5" y="23"/>
                    <a:pt x="0" y="36"/>
                    <a:pt x="0" y="49"/>
                  </a:cubicBezTo>
                  <a:cubicBezTo>
                    <a:pt x="0" y="62"/>
                    <a:pt x="5" y="75"/>
                    <a:pt x="14" y="84"/>
                  </a:cubicBezTo>
                  <a:cubicBezTo>
                    <a:pt x="24" y="94"/>
                    <a:pt x="36" y="99"/>
                    <a:pt x="50" y="99"/>
                  </a:cubicBezTo>
                  <a:cubicBezTo>
                    <a:pt x="63" y="99"/>
                    <a:pt x="75" y="94"/>
                    <a:pt x="85" y="84"/>
                  </a:cubicBezTo>
                  <a:cubicBezTo>
                    <a:pt x="82" y="82"/>
                    <a:pt x="82" y="82"/>
                    <a:pt x="82" y="82"/>
                  </a:cubicBezTo>
                  <a:cubicBezTo>
                    <a:pt x="74" y="91"/>
                    <a:pt x="62" y="96"/>
                    <a:pt x="50" y="96"/>
                  </a:cubicBezTo>
                  <a:cubicBezTo>
                    <a:pt x="37" y="96"/>
                    <a:pt x="25" y="91"/>
                    <a:pt x="17" y="82"/>
                  </a:cubicBezTo>
                  <a:cubicBezTo>
                    <a:pt x="8" y="73"/>
                    <a:pt x="3" y="61"/>
                    <a:pt x="3" y="49"/>
                  </a:cubicBezTo>
                  <a:cubicBezTo>
                    <a:pt x="3" y="37"/>
                    <a:pt x="8" y="25"/>
                    <a:pt x="17" y="16"/>
                  </a:cubicBezTo>
                  <a:cubicBezTo>
                    <a:pt x="25" y="7"/>
                    <a:pt x="37" y="3"/>
                    <a:pt x="49" y="2"/>
                  </a:cubicBezTo>
                  <a:cubicBezTo>
                    <a:pt x="60" y="3"/>
                    <a:pt x="70" y="6"/>
                    <a:pt x="78" y="12"/>
                  </a:cubicBezTo>
                  <a:cubicBezTo>
                    <a:pt x="80" y="10"/>
                    <a:pt x="80" y="10"/>
                    <a:pt x="80" y="10"/>
                  </a:cubicBezTo>
                  <a:cubicBezTo>
                    <a:pt x="71" y="3"/>
                    <a:pt x="61" y="0"/>
                    <a:pt x="49" y="0"/>
                  </a:cubicBezTo>
                </a:path>
              </a:pathLst>
            </a:custGeom>
            <a:solidFill>
              <a:srgbClr val="FFC9A1">
                <a:alpha val="100000"/>
              </a:srgbClr>
            </a:solidFill>
            <a:ln w="9525">
              <a:noFill/>
            </a:ln>
          </p:spPr>
          <p:txBody>
            <a:bodyPr/>
            <a:lstStyle/>
            <a:p>
              <a:endParaRPr lang="zh-CN" altLang="en-US"/>
            </a:p>
          </p:txBody>
        </p:sp>
        <p:grpSp>
          <p:nvGrpSpPr>
            <p:cNvPr id="10" name="组合 9"/>
            <p:cNvGrpSpPr/>
            <p:nvPr/>
          </p:nvGrpSpPr>
          <p:grpSpPr>
            <a:xfrm rot="9277281">
              <a:off x="6065134" y="1197238"/>
              <a:ext cx="2449301" cy="2596616"/>
              <a:chOff x="3533775" y="1263651"/>
              <a:chExt cx="4028103" cy="4270375"/>
            </a:xfrm>
            <a:solidFill>
              <a:srgbClr val="8DC1CF"/>
            </a:solidFill>
          </p:grpSpPr>
          <p:sp>
            <p:nvSpPr>
              <p:cNvPr id="15" name="Freeform 5"/>
              <p:cNvSpPr>
                <a:spLocks noEditPoints="1"/>
              </p:cNvSpPr>
              <p:nvPr/>
            </p:nvSpPr>
            <p:spPr bwMode="auto">
              <a:xfrm>
                <a:off x="3990769" y="1572211"/>
                <a:ext cx="3571109" cy="3614186"/>
              </a:xfrm>
              <a:custGeom>
                <a:avLst/>
                <a:gdLst>
                  <a:gd name="T0" fmla="*/ 70 w 83"/>
                  <a:gd name="T1" fmla="*/ 23 h 84"/>
                  <a:gd name="T2" fmla="*/ 76 w 83"/>
                  <a:gd name="T3" fmla="*/ 17 h 84"/>
                  <a:gd name="T4" fmla="*/ 66 w 83"/>
                  <a:gd name="T5" fmla="*/ 8 h 84"/>
                  <a:gd name="T6" fmla="*/ 61 w 83"/>
                  <a:gd name="T7" fmla="*/ 13 h 84"/>
                  <a:gd name="T8" fmla="*/ 48 w 83"/>
                  <a:gd name="T9" fmla="*/ 8 h 84"/>
                  <a:gd name="T10" fmla="*/ 48 w 83"/>
                  <a:gd name="T11" fmla="*/ 0 h 84"/>
                  <a:gd name="T12" fmla="*/ 35 w 83"/>
                  <a:gd name="T13" fmla="*/ 0 h 84"/>
                  <a:gd name="T14" fmla="*/ 35 w 83"/>
                  <a:gd name="T15" fmla="*/ 8 h 84"/>
                  <a:gd name="T16" fmla="*/ 23 w 83"/>
                  <a:gd name="T17" fmla="*/ 13 h 84"/>
                  <a:gd name="T18" fmla="*/ 17 w 83"/>
                  <a:gd name="T19" fmla="*/ 8 h 84"/>
                  <a:gd name="T20" fmla="*/ 7 w 83"/>
                  <a:gd name="T21" fmla="*/ 17 h 84"/>
                  <a:gd name="T22" fmla="*/ 13 w 83"/>
                  <a:gd name="T23" fmla="*/ 23 h 84"/>
                  <a:gd name="T24" fmla="*/ 8 w 83"/>
                  <a:gd name="T25" fmla="*/ 35 h 84"/>
                  <a:gd name="T26" fmla="*/ 0 w 83"/>
                  <a:gd name="T27" fmla="*/ 35 h 84"/>
                  <a:gd name="T28" fmla="*/ 0 w 83"/>
                  <a:gd name="T29" fmla="*/ 49 h 84"/>
                  <a:gd name="T30" fmla="*/ 8 w 83"/>
                  <a:gd name="T31" fmla="*/ 49 h 84"/>
                  <a:gd name="T32" fmla="*/ 13 w 83"/>
                  <a:gd name="T33" fmla="*/ 61 h 84"/>
                  <a:gd name="T34" fmla="*/ 7 w 83"/>
                  <a:gd name="T35" fmla="*/ 67 h 84"/>
                  <a:gd name="T36" fmla="*/ 17 w 83"/>
                  <a:gd name="T37" fmla="*/ 76 h 84"/>
                  <a:gd name="T38" fmla="*/ 22 w 83"/>
                  <a:gd name="T39" fmla="*/ 71 h 84"/>
                  <a:gd name="T40" fmla="*/ 35 w 83"/>
                  <a:gd name="T41" fmla="*/ 76 h 84"/>
                  <a:gd name="T42" fmla="*/ 35 w 83"/>
                  <a:gd name="T43" fmla="*/ 84 h 84"/>
                  <a:gd name="T44" fmla="*/ 48 w 83"/>
                  <a:gd name="T45" fmla="*/ 84 h 84"/>
                  <a:gd name="T46" fmla="*/ 48 w 83"/>
                  <a:gd name="T47" fmla="*/ 76 h 84"/>
                  <a:gd name="T48" fmla="*/ 61 w 83"/>
                  <a:gd name="T49" fmla="*/ 71 h 84"/>
                  <a:gd name="T50" fmla="*/ 66 w 83"/>
                  <a:gd name="T51" fmla="*/ 76 h 84"/>
                  <a:gd name="T52" fmla="*/ 76 w 83"/>
                  <a:gd name="T53" fmla="*/ 67 h 84"/>
                  <a:gd name="T54" fmla="*/ 70 w 83"/>
                  <a:gd name="T55" fmla="*/ 61 h 84"/>
                  <a:gd name="T56" fmla="*/ 75 w 83"/>
                  <a:gd name="T57" fmla="*/ 49 h 84"/>
                  <a:gd name="T58" fmla="*/ 83 w 83"/>
                  <a:gd name="T59" fmla="*/ 49 h 84"/>
                  <a:gd name="T60" fmla="*/ 83 w 83"/>
                  <a:gd name="T61" fmla="*/ 35 h 84"/>
                  <a:gd name="T62" fmla="*/ 75 w 83"/>
                  <a:gd name="T63" fmla="*/ 35 h 84"/>
                  <a:gd name="T64" fmla="*/ 70 w 83"/>
                  <a:gd name="T65" fmla="*/ 23 h 84"/>
                  <a:gd name="T66" fmla="*/ 57 w 83"/>
                  <a:gd name="T67" fmla="*/ 58 h 84"/>
                  <a:gd name="T68" fmla="*/ 42 w 83"/>
                  <a:gd name="T69" fmla="*/ 64 h 84"/>
                  <a:gd name="T70" fmla="*/ 26 w 83"/>
                  <a:gd name="T71" fmla="*/ 58 h 84"/>
                  <a:gd name="T72" fmla="*/ 19 w 83"/>
                  <a:gd name="T73" fmla="*/ 42 h 84"/>
                  <a:gd name="T74" fmla="*/ 26 w 83"/>
                  <a:gd name="T75" fmla="*/ 26 h 84"/>
                  <a:gd name="T76" fmla="*/ 42 w 83"/>
                  <a:gd name="T77" fmla="*/ 20 h 84"/>
                  <a:gd name="T78" fmla="*/ 57 w 83"/>
                  <a:gd name="T79" fmla="*/ 26 h 84"/>
                  <a:gd name="T80" fmla="*/ 64 w 83"/>
                  <a:gd name="T81" fmla="*/ 42 h 84"/>
                  <a:gd name="T82" fmla="*/ 57 w 83"/>
                  <a:gd name="T83" fmla="*/ 5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 h="84">
                    <a:moveTo>
                      <a:pt x="70" y="23"/>
                    </a:moveTo>
                    <a:cubicBezTo>
                      <a:pt x="76" y="17"/>
                      <a:pt x="76" y="17"/>
                      <a:pt x="76" y="17"/>
                    </a:cubicBezTo>
                    <a:cubicBezTo>
                      <a:pt x="66" y="8"/>
                      <a:pt x="66" y="8"/>
                      <a:pt x="66" y="8"/>
                    </a:cubicBezTo>
                    <a:cubicBezTo>
                      <a:pt x="61" y="13"/>
                      <a:pt x="61" y="13"/>
                      <a:pt x="61" y="13"/>
                    </a:cubicBezTo>
                    <a:cubicBezTo>
                      <a:pt x="57" y="11"/>
                      <a:pt x="53" y="9"/>
                      <a:pt x="48" y="8"/>
                    </a:cubicBezTo>
                    <a:cubicBezTo>
                      <a:pt x="48" y="0"/>
                      <a:pt x="48" y="0"/>
                      <a:pt x="48" y="0"/>
                    </a:cubicBezTo>
                    <a:cubicBezTo>
                      <a:pt x="35" y="0"/>
                      <a:pt x="35" y="0"/>
                      <a:pt x="35" y="0"/>
                    </a:cubicBezTo>
                    <a:cubicBezTo>
                      <a:pt x="35" y="8"/>
                      <a:pt x="35" y="8"/>
                      <a:pt x="35" y="8"/>
                    </a:cubicBezTo>
                    <a:cubicBezTo>
                      <a:pt x="30" y="9"/>
                      <a:pt x="26" y="11"/>
                      <a:pt x="23" y="13"/>
                    </a:cubicBezTo>
                    <a:cubicBezTo>
                      <a:pt x="17" y="8"/>
                      <a:pt x="17" y="8"/>
                      <a:pt x="17" y="8"/>
                    </a:cubicBezTo>
                    <a:cubicBezTo>
                      <a:pt x="7" y="17"/>
                      <a:pt x="7" y="17"/>
                      <a:pt x="7" y="17"/>
                    </a:cubicBezTo>
                    <a:cubicBezTo>
                      <a:pt x="13" y="23"/>
                      <a:pt x="13" y="23"/>
                      <a:pt x="13" y="23"/>
                    </a:cubicBezTo>
                    <a:cubicBezTo>
                      <a:pt x="10" y="27"/>
                      <a:pt x="9" y="31"/>
                      <a:pt x="8" y="35"/>
                    </a:cubicBezTo>
                    <a:cubicBezTo>
                      <a:pt x="0" y="35"/>
                      <a:pt x="0" y="35"/>
                      <a:pt x="0" y="35"/>
                    </a:cubicBezTo>
                    <a:cubicBezTo>
                      <a:pt x="0" y="49"/>
                      <a:pt x="0" y="49"/>
                      <a:pt x="0" y="49"/>
                    </a:cubicBezTo>
                    <a:cubicBezTo>
                      <a:pt x="8" y="49"/>
                      <a:pt x="8" y="49"/>
                      <a:pt x="8" y="49"/>
                    </a:cubicBezTo>
                    <a:cubicBezTo>
                      <a:pt x="9" y="53"/>
                      <a:pt x="10" y="57"/>
                      <a:pt x="13" y="61"/>
                    </a:cubicBezTo>
                    <a:cubicBezTo>
                      <a:pt x="7" y="67"/>
                      <a:pt x="7" y="67"/>
                      <a:pt x="7" y="67"/>
                    </a:cubicBezTo>
                    <a:cubicBezTo>
                      <a:pt x="17" y="76"/>
                      <a:pt x="17" y="76"/>
                      <a:pt x="17" y="76"/>
                    </a:cubicBezTo>
                    <a:cubicBezTo>
                      <a:pt x="22" y="71"/>
                      <a:pt x="22" y="71"/>
                      <a:pt x="22" y="71"/>
                    </a:cubicBezTo>
                    <a:cubicBezTo>
                      <a:pt x="26" y="73"/>
                      <a:pt x="30" y="75"/>
                      <a:pt x="35" y="76"/>
                    </a:cubicBezTo>
                    <a:cubicBezTo>
                      <a:pt x="35" y="84"/>
                      <a:pt x="35" y="84"/>
                      <a:pt x="35" y="84"/>
                    </a:cubicBezTo>
                    <a:cubicBezTo>
                      <a:pt x="48" y="84"/>
                      <a:pt x="48" y="84"/>
                      <a:pt x="48" y="84"/>
                    </a:cubicBezTo>
                    <a:cubicBezTo>
                      <a:pt x="48" y="76"/>
                      <a:pt x="48" y="76"/>
                      <a:pt x="48" y="76"/>
                    </a:cubicBezTo>
                    <a:cubicBezTo>
                      <a:pt x="53" y="75"/>
                      <a:pt x="57" y="73"/>
                      <a:pt x="61" y="71"/>
                    </a:cubicBezTo>
                    <a:cubicBezTo>
                      <a:pt x="66" y="76"/>
                      <a:pt x="66" y="76"/>
                      <a:pt x="66" y="76"/>
                    </a:cubicBezTo>
                    <a:cubicBezTo>
                      <a:pt x="76" y="67"/>
                      <a:pt x="76" y="67"/>
                      <a:pt x="76" y="67"/>
                    </a:cubicBezTo>
                    <a:cubicBezTo>
                      <a:pt x="70" y="61"/>
                      <a:pt x="70" y="61"/>
                      <a:pt x="70" y="61"/>
                    </a:cubicBezTo>
                    <a:cubicBezTo>
                      <a:pt x="73" y="57"/>
                      <a:pt x="74" y="53"/>
                      <a:pt x="75" y="49"/>
                    </a:cubicBezTo>
                    <a:cubicBezTo>
                      <a:pt x="83" y="49"/>
                      <a:pt x="83" y="49"/>
                      <a:pt x="83" y="49"/>
                    </a:cubicBezTo>
                    <a:cubicBezTo>
                      <a:pt x="83" y="35"/>
                      <a:pt x="83" y="35"/>
                      <a:pt x="83" y="35"/>
                    </a:cubicBezTo>
                    <a:cubicBezTo>
                      <a:pt x="75" y="35"/>
                      <a:pt x="75" y="35"/>
                      <a:pt x="75" y="35"/>
                    </a:cubicBezTo>
                    <a:cubicBezTo>
                      <a:pt x="74" y="31"/>
                      <a:pt x="73" y="27"/>
                      <a:pt x="70" y="23"/>
                    </a:cubicBezTo>
                    <a:close/>
                    <a:moveTo>
                      <a:pt x="57" y="58"/>
                    </a:moveTo>
                    <a:cubicBezTo>
                      <a:pt x="53" y="62"/>
                      <a:pt x="48" y="64"/>
                      <a:pt x="42" y="64"/>
                    </a:cubicBezTo>
                    <a:cubicBezTo>
                      <a:pt x="35" y="64"/>
                      <a:pt x="30" y="62"/>
                      <a:pt x="26" y="58"/>
                    </a:cubicBezTo>
                    <a:cubicBezTo>
                      <a:pt x="22" y="54"/>
                      <a:pt x="19" y="48"/>
                      <a:pt x="19" y="42"/>
                    </a:cubicBezTo>
                    <a:cubicBezTo>
                      <a:pt x="19" y="36"/>
                      <a:pt x="22" y="30"/>
                      <a:pt x="26" y="26"/>
                    </a:cubicBezTo>
                    <a:cubicBezTo>
                      <a:pt x="30" y="22"/>
                      <a:pt x="35" y="20"/>
                      <a:pt x="42" y="20"/>
                    </a:cubicBezTo>
                    <a:cubicBezTo>
                      <a:pt x="48" y="20"/>
                      <a:pt x="53" y="22"/>
                      <a:pt x="57" y="26"/>
                    </a:cubicBezTo>
                    <a:cubicBezTo>
                      <a:pt x="61" y="30"/>
                      <a:pt x="64" y="36"/>
                      <a:pt x="64" y="42"/>
                    </a:cubicBezTo>
                    <a:cubicBezTo>
                      <a:pt x="64" y="48"/>
                      <a:pt x="61" y="54"/>
                      <a:pt x="57" y="58"/>
                    </a:cubicBezTo>
                    <a:close/>
                  </a:path>
                </a:pathLst>
              </a:custGeom>
              <a:solidFill>
                <a:schemeClr val="accent1">
                  <a:lumMod val="60000"/>
                  <a:lumOff val="40000"/>
                </a:schemeClr>
              </a:solidFill>
              <a:ln>
                <a:noFill/>
              </a:ln>
              <a:effectLst>
                <a:outerShdw blurRad="50800" dist="38100" dir="8100000" algn="tr" rotWithShape="0">
                  <a:prstClr val="black">
                    <a:alpha val="40000"/>
                  </a:prstClr>
                </a:outerShdw>
              </a:effectLst>
              <a:scene3d>
                <a:camera prst="orthographicFront"/>
                <a:lightRig rig="threePt" dir="t"/>
              </a:scene3d>
              <a:sp3d extrusionH="76200">
                <a:extrusionClr>
                  <a:srgbClr val="A5C3CF"/>
                </a:extrusionClr>
              </a:sp3d>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16" name="Freeform 14"/>
              <p:cNvSpPr/>
              <p:nvPr/>
            </p:nvSpPr>
            <p:spPr bwMode="auto">
              <a:xfrm>
                <a:off x="3533775" y="1263651"/>
                <a:ext cx="3683000" cy="4270375"/>
              </a:xfrm>
              <a:custGeom>
                <a:avLst/>
                <a:gdLst>
                  <a:gd name="T0" fmla="*/ 49 w 85"/>
                  <a:gd name="T1" fmla="*/ 0 h 99"/>
                  <a:gd name="T2" fmla="*/ 14 w 85"/>
                  <a:gd name="T3" fmla="*/ 14 h 99"/>
                  <a:gd name="T4" fmla="*/ 0 w 85"/>
                  <a:gd name="T5" fmla="*/ 49 h 99"/>
                  <a:gd name="T6" fmla="*/ 14 w 85"/>
                  <a:gd name="T7" fmla="*/ 84 h 99"/>
                  <a:gd name="T8" fmla="*/ 50 w 85"/>
                  <a:gd name="T9" fmla="*/ 99 h 99"/>
                  <a:gd name="T10" fmla="*/ 85 w 85"/>
                  <a:gd name="T11" fmla="*/ 84 h 99"/>
                  <a:gd name="T12" fmla="*/ 82 w 85"/>
                  <a:gd name="T13" fmla="*/ 82 h 99"/>
                  <a:gd name="T14" fmla="*/ 50 w 85"/>
                  <a:gd name="T15" fmla="*/ 96 h 99"/>
                  <a:gd name="T16" fmla="*/ 17 w 85"/>
                  <a:gd name="T17" fmla="*/ 82 h 99"/>
                  <a:gd name="T18" fmla="*/ 3 w 85"/>
                  <a:gd name="T19" fmla="*/ 49 h 99"/>
                  <a:gd name="T20" fmla="*/ 17 w 85"/>
                  <a:gd name="T21" fmla="*/ 16 h 99"/>
                  <a:gd name="T22" fmla="*/ 49 w 85"/>
                  <a:gd name="T23" fmla="*/ 2 h 99"/>
                  <a:gd name="T24" fmla="*/ 78 w 85"/>
                  <a:gd name="T25" fmla="*/ 12 h 99"/>
                  <a:gd name="T26" fmla="*/ 80 w 85"/>
                  <a:gd name="T27" fmla="*/ 10 h 99"/>
                  <a:gd name="T28" fmla="*/ 49 w 85"/>
                  <a:gd name="T2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99">
                    <a:moveTo>
                      <a:pt x="49" y="0"/>
                    </a:moveTo>
                    <a:cubicBezTo>
                      <a:pt x="36" y="0"/>
                      <a:pt x="24" y="5"/>
                      <a:pt x="14" y="14"/>
                    </a:cubicBezTo>
                    <a:cubicBezTo>
                      <a:pt x="5" y="23"/>
                      <a:pt x="0" y="36"/>
                      <a:pt x="0" y="49"/>
                    </a:cubicBezTo>
                    <a:cubicBezTo>
                      <a:pt x="0" y="62"/>
                      <a:pt x="5" y="75"/>
                      <a:pt x="14" y="84"/>
                    </a:cubicBezTo>
                    <a:cubicBezTo>
                      <a:pt x="24" y="94"/>
                      <a:pt x="36" y="99"/>
                      <a:pt x="50" y="99"/>
                    </a:cubicBezTo>
                    <a:cubicBezTo>
                      <a:pt x="63" y="99"/>
                      <a:pt x="75" y="94"/>
                      <a:pt x="85" y="84"/>
                    </a:cubicBezTo>
                    <a:cubicBezTo>
                      <a:pt x="82" y="82"/>
                      <a:pt x="82" y="82"/>
                      <a:pt x="82" y="82"/>
                    </a:cubicBezTo>
                    <a:cubicBezTo>
                      <a:pt x="74" y="91"/>
                      <a:pt x="62" y="96"/>
                      <a:pt x="50" y="96"/>
                    </a:cubicBezTo>
                    <a:cubicBezTo>
                      <a:pt x="37" y="96"/>
                      <a:pt x="25" y="91"/>
                      <a:pt x="17" y="82"/>
                    </a:cubicBezTo>
                    <a:cubicBezTo>
                      <a:pt x="8" y="73"/>
                      <a:pt x="3" y="61"/>
                      <a:pt x="3" y="49"/>
                    </a:cubicBezTo>
                    <a:cubicBezTo>
                      <a:pt x="3" y="37"/>
                      <a:pt x="8" y="25"/>
                      <a:pt x="17" y="16"/>
                    </a:cubicBezTo>
                    <a:cubicBezTo>
                      <a:pt x="25" y="7"/>
                      <a:pt x="37" y="3"/>
                      <a:pt x="49" y="2"/>
                    </a:cubicBezTo>
                    <a:cubicBezTo>
                      <a:pt x="60" y="3"/>
                      <a:pt x="70" y="6"/>
                      <a:pt x="78" y="12"/>
                    </a:cubicBezTo>
                    <a:cubicBezTo>
                      <a:pt x="80" y="10"/>
                      <a:pt x="80" y="10"/>
                      <a:pt x="80" y="10"/>
                    </a:cubicBezTo>
                    <a:cubicBezTo>
                      <a:pt x="71" y="3"/>
                      <a:pt x="61" y="0"/>
                      <a:pt x="4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grpSp>
        <p:sp>
          <p:nvSpPr>
            <p:cNvPr id="178190" name="KSO_Shape"/>
            <p:cNvSpPr/>
            <p:nvPr/>
          </p:nvSpPr>
          <p:spPr>
            <a:xfrm>
              <a:off x="7000806" y="2262153"/>
              <a:ext cx="337077" cy="607346"/>
            </a:xfrm>
            <a:custGeom>
              <a:avLst/>
              <a:gdLst/>
              <a:ahLst/>
              <a:cxnLst>
                <a:cxn ang="0">
                  <a:pos x="269" y="0"/>
                </a:cxn>
                <a:cxn ang="0">
                  <a:pos x="416" y="0"/>
                </a:cxn>
                <a:cxn ang="0">
                  <a:pos x="416" y="132"/>
                </a:cxn>
                <a:cxn ang="0">
                  <a:pos x="644" y="172"/>
                </a:cxn>
                <a:cxn ang="0">
                  <a:pos x="591" y="344"/>
                </a:cxn>
                <a:cxn ang="0">
                  <a:pos x="376" y="291"/>
                </a:cxn>
                <a:cxn ang="0">
                  <a:pos x="242" y="383"/>
                </a:cxn>
                <a:cxn ang="0">
                  <a:pos x="430" y="502"/>
                </a:cxn>
                <a:cxn ang="0">
                  <a:pos x="685" y="793"/>
                </a:cxn>
                <a:cxn ang="0">
                  <a:pos x="416" y="1058"/>
                </a:cxn>
                <a:cxn ang="0">
                  <a:pos x="416" y="1217"/>
                </a:cxn>
                <a:cxn ang="0">
                  <a:pos x="269" y="1217"/>
                </a:cxn>
                <a:cxn ang="0">
                  <a:pos x="269" y="1071"/>
                </a:cxn>
                <a:cxn ang="0">
                  <a:pos x="0" y="1005"/>
                </a:cxn>
                <a:cxn ang="0">
                  <a:pos x="54" y="833"/>
                </a:cxn>
                <a:cxn ang="0">
                  <a:pos x="309" y="900"/>
                </a:cxn>
                <a:cxn ang="0">
                  <a:pos x="456" y="807"/>
                </a:cxn>
                <a:cxn ang="0">
                  <a:pos x="295" y="675"/>
                </a:cxn>
                <a:cxn ang="0">
                  <a:pos x="13" y="410"/>
                </a:cxn>
                <a:cxn ang="0">
                  <a:pos x="269" y="132"/>
                </a:cxn>
                <a:cxn ang="0">
                  <a:pos x="269" y="0"/>
                </a:cxn>
              </a:cxnLst>
              <a:rect l="0" t="0" r="0" b="0"/>
              <a:pathLst>
                <a:path w="709759" h="1280034">
                  <a:moveTo>
                    <a:pt x="278337" y="0"/>
                  </a:moveTo>
                  <a:cubicBezTo>
                    <a:pt x="431422" y="0"/>
                    <a:pt x="431422" y="0"/>
                    <a:pt x="431422" y="0"/>
                  </a:cubicBezTo>
                  <a:cubicBezTo>
                    <a:pt x="431422" y="139134"/>
                    <a:pt x="431422" y="139134"/>
                    <a:pt x="431422" y="139134"/>
                  </a:cubicBezTo>
                  <a:cubicBezTo>
                    <a:pt x="542757" y="139134"/>
                    <a:pt x="612342" y="166961"/>
                    <a:pt x="668009" y="180875"/>
                  </a:cubicBezTo>
                  <a:cubicBezTo>
                    <a:pt x="612342" y="361749"/>
                    <a:pt x="612342" y="361749"/>
                    <a:pt x="612342" y="361749"/>
                  </a:cubicBezTo>
                  <a:cubicBezTo>
                    <a:pt x="584508" y="347835"/>
                    <a:pt x="501007" y="306095"/>
                    <a:pt x="389672" y="306095"/>
                  </a:cubicBezTo>
                  <a:cubicBezTo>
                    <a:pt x="292254" y="306095"/>
                    <a:pt x="250503" y="361749"/>
                    <a:pt x="250503" y="403489"/>
                  </a:cubicBezTo>
                  <a:cubicBezTo>
                    <a:pt x="250503" y="445229"/>
                    <a:pt x="306171" y="486970"/>
                    <a:pt x="445339" y="528710"/>
                  </a:cubicBezTo>
                  <a:cubicBezTo>
                    <a:pt x="640175" y="598277"/>
                    <a:pt x="709759" y="681757"/>
                    <a:pt x="709759" y="834805"/>
                  </a:cubicBezTo>
                  <a:cubicBezTo>
                    <a:pt x="709759" y="973939"/>
                    <a:pt x="612342" y="1085246"/>
                    <a:pt x="431422" y="1113073"/>
                  </a:cubicBezTo>
                  <a:cubicBezTo>
                    <a:pt x="431422" y="1280034"/>
                    <a:pt x="431422" y="1280034"/>
                    <a:pt x="431422" y="1280034"/>
                  </a:cubicBezTo>
                  <a:cubicBezTo>
                    <a:pt x="278337" y="1280034"/>
                    <a:pt x="278337" y="1280034"/>
                    <a:pt x="278337" y="1280034"/>
                  </a:cubicBezTo>
                  <a:cubicBezTo>
                    <a:pt x="278337" y="1126986"/>
                    <a:pt x="278337" y="1126986"/>
                    <a:pt x="278337" y="1126986"/>
                  </a:cubicBezTo>
                  <a:cubicBezTo>
                    <a:pt x="167002" y="1126986"/>
                    <a:pt x="69584" y="1099160"/>
                    <a:pt x="0" y="1057419"/>
                  </a:cubicBezTo>
                  <a:cubicBezTo>
                    <a:pt x="55667" y="876545"/>
                    <a:pt x="55667" y="876545"/>
                    <a:pt x="55667" y="876545"/>
                  </a:cubicBezTo>
                  <a:cubicBezTo>
                    <a:pt x="125252" y="918285"/>
                    <a:pt x="208753" y="946112"/>
                    <a:pt x="320088" y="946112"/>
                  </a:cubicBezTo>
                  <a:cubicBezTo>
                    <a:pt x="403589" y="946112"/>
                    <a:pt x="473173" y="918285"/>
                    <a:pt x="473173" y="848718"/>
                  </a:cubicBezTo>
                  <a:cubicBezTo>
                    <a:pt x="473173" y="793065"/>
                    <a:pt x="417506" y="751324"/>
                    <a:pt x="306171" y="709584"/>
                  </a:cubicBezTo>
                  <a:cubicBezTo>
                    <a:pt x="125252" y="653930"/>
                    <a:pt x="13917" y="584363"/>
                    <a:pt x="13917" y="431316"/>
                  </a:cubicBezTo>
                  <a:cubicBezTo>
                    <a:pt x="13917" y="292182"/>
                    <a:pt x="111335" y="180875"/>
                    <a:pt x="278337" y="139134"/>
                  </a:cubicBezTo>
                  <a:cubicBezTo>
                    <a:pt x="278337" y="0"/>
                    <a:pt x="278337" y="0"/>
                    <a:pt x="278337" y="0"/>
                  </a:cubicBezTo>
                  <a:close/>
                </a:path>
              </a:pathLst>
            </a:custGeom>
            <a:solidFill>
              <a:srgbClr val="888890">
                <a:alpha val="100000"/>
              </a:srgbClr>
            </a:solidFill>
            <a:ln w="9525">
              <a:noFill/>
            </a:ln>
          </p:spPr>
          <p:txBody>
            <a:bodyPr/>
            <a:lstStyle/>
            <a:p>
              <a:endParaRPr lang="zh-CN" altLang="en-US"/>
            </a:p>
          </p:txBody>
        </p:sp>
        <p:sp>
          <p:nvSpPr>
            <p:cNvPr id="12" name="Freeform 5"/>
            <p:cNvSpPr>
              <a:spLocks noEditPoints="1"/>
            </p:cNvSpPr>
            <p:nvPr/>
          </p:nvSpPr>
          <p:spPr bwMode="auto">
            <a:xfrm rot="13858708">
              <a:off x="6228882" y="4042244"/>
              <a:ext cx="1697289" cy="1717763"/>
            </a:xfrm>
            <a:custGeom>
              <a:avLst/>
              <a:gdLst>
                <a:gd name="T0" fmla="*/ 70 w 83"/>
                <a:gd name="T1" fmla="*/ 23 h 84"/>
                <a:gd name="T2" fmla="*/ 76 w 83"/>
                <a:gd name="T3" fmla="*/ 17 h 84"/>
                <a:gd name="T4" fmla="*/ 66 w 83"/>
                <a:gd name="T5" fmla="*/ 8 h 84"/>
                <a:gd name="T6" fmla="*/ 61 w 83"/>
                <a:gd name="T7" fmla="*/ 13 h 84"/>
                <a:gd name="T8" fmla="*/ 48 w 83"/>
                <a:gd name="T9" fmla="*/ 8 h 84"/>
                <a:gd name="T10" fmla="*/ 48 w 83"/>
                <a:gd name="T11" fmla="*/ 0 h 84"/>
                <a:gd name="T12" fmla="*/ 35 w 83"/>
                <a:gd name="T13" fmla="*/ 0 h 84"/>
                <a:gd name="T14" fmla="*/ 35 w 83"/>
                <a:gd name="T15" fmla="*/ 8 h 84"/>
                <a:gd name="T16" fmla="*/ 23 w 83"/>
                <a:gd name="T17" fmla="*/ 13 h 84"/>
                <a:gd name="T18" fmla="*/ 17 w 83"/>
                <a:gd name="T19" fmla="*/ 8 h 84"/>
                <a:gd name="T20" fmla="*/ 7 w 83"/>
                <a:gd name="T21" fmla="*/ 17 h 84"/>
                <a:gd name="T22" fmla="*/ 13 w 83"/>
                <a:gd name="T23" fmla="*/ 23 h 84"/>
                <a:gd name="T24" fmla="*/ 8 w 83"/>
                <a:gd name="T25" fmla="*/ 35 h 84"/>
                <a:gd name="T26" fmla="*/ 0 w 83"/>
                <a:gd name="T27" fmla="*/ 35 h 84"/>
                <a:gd name="T28" fmla="*/ 0 w 83"/>
                <a:gd name="T29" fmla="*/ 49 h 84"/>
                <a:gd name="T30" fmla="*/ 8 w 83"/>
                <a:gd name="T31" fmla="*/ 49 h 84"/>
                <a:gd name="T32" fmla="*/ 13 w 83"/>
                <a:gd name="T33" fmla="*/ 61 h 84"/>
                <a:gd name="T34" fmla="*/ 7 w 83"/>
                <a:gd name="T35" fmla="*/ 67 h 84"/>
                <a:gd name="T36" fmla="*/ 17 w 83"/>
                <a:gd name="T37" fmla="*/ 76 h 84"/>
                <a:gd name="T38" fmla="*/ 22 w 83"/>
                <a:gd name="T39" fmla="*/ 71 h 84"/>
                <a:gd name="T40" fmla="*/ 35 w 83"/>
                <a:gd name="T41" fmla="*/ 76 h 84"/>
                <a:gd name="T42" fmla="*/ 35 w 83"/>
                <a:gd name="T43" fmla="*/ 84 h 84"/>
                <a:gd name="T44" fmla="*/ 48 w 83"/>
                <a:gd name="T45" fmla="*/ 84 h 84"/>
                <a:gd name="T46" fmla="*/ 48 w 83"/>
                <a:gd name="T47" fmla="*/ 76 h 84"/>
                <a:gd name="T48" fmla="*/ 61 w 83"/>
                <a:gd name="T49" fmla="*/ 71 h 84"/>
                <a:gd name="T50" fmla="*/ 66 w 83"/>
                <a:gd name="T51" fmla="*/ 76 h 84"/>
                <a:gd name="T52" fmla="*/ 76 w 83"/>
                <a:gd name="T53" fmla="*/ 67 h 84"/>
                <a:gd name="T54" fmla="*/ 70 w 83"/>
                <a:gd name="T55" fmla="*/ 61 h 84"/>
                <a:gd name="T56" fmla="*/ 75 w 83"/>
                <a:gd name="T57" fmla="*/ 49 h 84"/>
                <a:gd name="T58" fmla="*/ 83 w 83"/>
                <a:gd name="T59" fmla="*/ 49 h 84"/>
                <a:gd name="T60" fmla="*/ 83 w 83"/>
                <a:gd name="T61" fmla="*/ 35 h 84"/>
                <a:gd name="T62" fmla="*/ 75 w 83"/>
                <a:gd name="T63" fmla="*/ 35 h 84"/>
                <a:gd name="T64" fmla="*/ 70 w 83"/>
                <a:gd name="T65" fmla="*/ 23 h 84"/>
                <a:gd name="T66" fmla="*/ 57 w 83"/>
                <a:gd name="T67" fmla="*/ 58 h 84"/>
                <a:gd name="T68" fmla="*/ 42 w 83"/>
                <a:gd name="T69" fmla="*/ 64 h 84"/>
                <a:gd name="T70" fmla="*/ 26 w 83"/>
                <a:gd name="T71" fmla="*/ 58 h 84"/>
                <a:gd name="T72" fmla="*/ 19 w 83"/>
                <a:gd name="T73" fmla="*/ 42 h 84"/>
                <a:gd name="T74" fmla="*/ 26 w 83"/>
                <a:gd name="T75" fmla="*/ 26 h 84"/>
                <a:gd name="T76" fmla="*/ 42 w 83"/>
                <a:gd name="T77" fmla="*/ 20 h 84"/>
                <a:gd name="T78" fmla="*/ 57 w 83"/>
                <a:gd name="T79" fmla="*/ 26 h 84"/>
                <a:gd name="T80" fmla="*/ 64 w 83"/>
                <a:gd name="T81" fmla="*/ 42 h 84"/>
                <a:gd name="T82" fmla="*/ 57 w 83"/>
                <a:gd name="T83" fmla="*/ 5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 h="84">
                  <a:moveTo>
                    <a:pt x="70" y="23"/>
                  </a:moveTo>
                  <a:cubicBezTo>
                    <a:pt x="76" y="17"/>
                    <a:pt x="76" y="17"/>
                    <a:pt x="76" y="17"/>
                  </a:cubicBezTo>
                  <a:cubicBezTo>
                    <a:pt x="66" y="8"/>
                    <a:pt x="66" y="8"/>
                    <a:pt x="66" y="8"/>
                  </a:cubicBezTo>
                  <a:cubicBezTo>
                    <a:pt x="61" y="13"/>
                    <a:pt x="61" y="13"/>
                    <a:pt x="61" y="13"/>
                  </a:cubicBezTo>
                  <a:cubicBezTo>
                    <a:pt x="57" y="11"/>
                    <a:pt x="53" y="9"/>
                    <a:pt x="48" y="8"/>
                  </a:cubicBezTo>
                  <a:cubicBezTo>
                    <a:pt x="48" y="0"/>
                    <a:pt x="48" y="0"/>
                    <a:pt x="48" y="0"/>
                  </a:cubicBezTo>
                  <a:cubicBezTo>
                    <a:pt x="35" y="0"/>
                    <a:pt x="35" y="0"/>
                    <a:pt x="35" y="0"/>
                  </a:cubicBezTo>
                  <a:cubicBezTo>
                    <a:pt x="35" y="8"/>
                    <a:pt x="35" y="8"/>
                    <a:pt x="35" y="8"/>
                  </a:cubicBezTo>
                  <a:cubicBezTo>
                    <a:pt x="30" y="9"/>
                    <a:pt x="26" y="11"/>
                    <a:pt x="23" y="13"/>
                  </a:cubicBezTo>
                  <a:cubicBezTo>
                    <a:pt x="17" y="8"/>
                    <a:pt x="17" y="8"/>
                    <a:pt x="17" y="8"/>
                  </a:cubicBezTo>
                  <a:cubicBezTo>
                    <a:pt x="7" y="17"/>
                    <a:pt x="7" y="17"/>
                    <a:pt x="7" y="17"/>
                  </a:cubicBezTo>
                  <a:cubicBezTo>
                    <a:pt x="13" y="23"/>
                    <a:pt x="13" y="23"/>
                    <a:pt x="13" y="23"/>
                  </a:cubicBezTo>
                  <a:cubicBezTo>
                    <a:pt x="10" y="27"/>
                    <a:pt x="9" y="31"/>
                    <a:pt x="8" y="35"/>
                  </a:cubicBezTo>
                  <a:cubicBezTo>
                    <a:pt x="0" y="35"/>
                    <a:pt x="0" y="35"/>
                    <a:pt x="0" y="35"/>
                  </a:cubicBezTo>
                  <a:cubicBezTo>
                    <a:pt x="0" y="49"/>
                    <a:pt x="0" y="49"/>
                    <a:pt x="0" y="49"/>
                  </a:cubicBezTo>
                  <a:cubicBezTo>
                    <a:pt x="8" y="49"/>
                    <a:pt x="8" y="49"/>
                    <a:pt x="8" y="49"/>
                  </a:cubicBezTo>
                  <a:cubicBezTo>
                    <a:pt x="9" y="53"/>
                    <a:pt x="10" y="57"/>
                    <a:pt x="13" y="61"/>
                  </a:cubicBezTo>
                  <a:cubicBezTo>
                    <a:pt x="7" y="67"/>
                    <a:pt x="7" y="67"/>
                    <a:pt x="7" y="67"/>
                  </a:cubicBezTo>
                  <a:cubicBezTo>
                    <a:pt x="17" y="76"/>
                    <a:pt x="17" y="76"/>
                    <a:pt x="17" y="76"/>
                  </a:cubicBezTo>
                  <a:cubicBezTo>
                    <a:pt x="22" y="71"/>
                    <a:pt x="22" y="71"/>
                    <a:pt x="22" y="71"/>
                  </a:cubicBezTo>
                  <a:cubicBezTo>
                    <a:pt x="26" y="73"/>
                    <a:pt x="30" y="75"/>
                    <a:pt x="35" y="76"/>
                  </a:cubicBezTo>
                  <a:cubicBezTo>
                    <a:pt x="35" y="84"/>
                    <a:pt x="35" y="84"/>
                    <a:pt x="35" y="84"/>
                  </a:cubicBezTo>
                  <a:cubicBezTo>
                    <a:pt x="48" y="84"/>
                    <a:pt x="48" y="84"/>
                    <a:pt x="48" y="84"/>
                  </a:cubicBezTo>
                  <a:cubicBezTo>
                    <a:pt x="48" y="76"/>
                    <a:pt x="48" y="76"/>
                    <a:pt x="48" y="76"/>
                  </a:cubicBezTo>
                  <a:cubicBezTo>
                    <a:pt x="53" y="75"/>
                    <a:pt x="57" y="73"/>
                    <a:pt x="61" y="71"/>
                  </a:cubicBezTo>
                  <a:cubicBezTo>
                    <a:pt x="66" y="76"/>
                    <a:pt x="66" y="76"/>
                    <a:pt x="66" y="76"/>
                  </a:cubicBezTo>
                  <a:cubicBezTo>
                    <a:pt x="76" y="67"/>
                    <a:pt x="76" y="67"/>
                    <a:pt x="76" y="67"/>
                  </a:cubicBezTo>
                  <a:cubicBezTo>
                    <a:pt x="70" y="61"/>
                    <a:pt x="70" y="61"/>
                    <a:pt x="70" y="61"/>
                  </a:cubicBezTo>
                  <a:cubicBezTo>
                    <a:pt x="73" y="57"/>
                    <a:pt x="74" y="53"/>
                    <a:pt x="75" y="49"/>
                  </a:cubicBezTo>
                  <a:cubicBezTo>
                    <a:pt x="83" y="49"/>
                    <a:pt x="83" y="49"/>
                    <a:pt x="83" y="49"/>
                  </a:cubicBezTo>
                  <a:cubicBezTo>
                    <a:pt x="83" y="35"/>
                    <a:pt x="83" y="35"/>
                    <a:pt x="83" y="35"/>
                  </a:cubicBezTo>
                  <a:cubicBezTo>
                    <a:pt x="75" y="35"/>
                    <a:pt x="75" y="35"/>
                    <a:pt x="75" y="35"/>
                  </a:cubicBezTo>
                  <a:cubicBezTo>
                    <a:pt x="74" y="31"/>
                    <a:pt x="73" y="27"/>
                    <a:pt x="70" y="23"/>
                  </a:cubicBezTo>
                  <a:close/>
                  <a:moveTo>
                    <a:pt x="57" y="58"/>
                  </a:moveTo>
                  <a:cubicBezTo>
                    <a:pt x="53" y="62"/>
                    <a:pt x="48" y="64"/>
                    <a:pt x="42" y="64"/>
                  </a:cubicBezTo>
                  <a:cubicBezTo>
                    <a:pt x="35" y="64"/>
                    <a:pt x="30" y="62"/>
                    <a:pt x="26" y="58"/>
                  </a:cubicBezTo>
                  <a:cubicBezTo>
                    <a:pt x="22" y="54"/>
                    <a:pt x="19" y="48"/>
                    <a:pt x="19" y="42"/>
                  </a:cubicBezTo>
                  <a:cubicBezTo>
                    <a:pt x="19" y="36"/>
                    <a:pt x="22" y="30"/>
                    <a:pt x="26" y="26"/>
                  </a:cubicBezTo>
                  <a:cubicBezTo>
                    <a:pt x="30" y="22"/>
                    <a:pt x="35" y="20"/>
                    <a:pt x="42" y="20"/>
                  </a:cubicBezTo>
                  <a:cubicBezTo>
                    <a:pt x="48" y="20"/>
                    <a:pt x="53" y="22"/>
                    <a:pt x="57" y="26"/>
                  </a:cubicBezTo>
                  <a:cubicBezTo>
                    <a:pt x="61" y="30"/>
                    <a:pt x="64" y="36"/>
                    <a:pt x="64" y="42"/>
                  </a:cubicBezTo>
                  <a:cubicBezTo>
                    <a:pt x="64" y="48"/>
                    <a:pt x="61" y="54"/>
                    <a:pt x="57" y="58"/>
                  </a:cubicBezTo>
                  <a:close/>
                </a:path>
              </a:pathLst>
            </a:custGeom>
            <a:solidFill>
              <a:schemeClr val="bg2">
                <a:lumMod val="60000"/>
                <a:lumOff val="40000"/>
              </a:schemeClr>
            </a:solidFill>
            <a:ln>
              <a:noFill/>
            </a:ln>
            <a:effectLst>
              <a:outerShdw blurRad="50800" dist="38100" dir="8100000" algn="tr" rotWithShape="0">
                <a:prstClr val="black">
                  <a:alpha val="40000"/>
                </a:prstClr>
              </a:outerShdw>
            </a:effectLst>
            <a:scene3d>
              <a:camera prst="orthographicFront"/>
              <a:lightRig rig="threePt" dir="t"/>
            </a:scene3d>
            <a:sp3d extrusionH="76200">
              <a:extrusionClr>
                <a:srgbClr val="A5C3CF"/>
              </a:extrusionClr>
            </a:sp3d>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178194" name="Freeform 18"/>
            <p:cNvSpPr/>
            <p:nvPr/>
          </p:nvSpPr>
          <p:spPr>
            <a:xfrm rot="-1119039">
              <a:off x="5874452" y="4031791"/>
              <a:ext cx="2406149" cy="2056251"/>
            </a:xfrm>
            <a:custGeom>
              <a:avLst/>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0" t="0" r="0" b="0"/>
              <a:pathLst>
                <a:path w="52" h="44">
                  <a:moveTo>
                    <a:pt x="45" y="0"/>
                  </a:moveTo>
                  <a:cubicBezTo>
                    <a:pt x="43" y="2"/>
                    <a:pt x="43" y="2"/>
                    <a:pt x="43" y="2"/>
                  </a:cubicBezTo>
                  <a:cubicBezTo>
                    <a:pt x="43" y="3"/>
                    <a:pt x="43" y="3"/>
                    <a:pt x="43" y="3"/>
                  </a:cubicBezTo>
                  <a:cubicBezTo>
                    <a:pt x="47" y="8"/>
                    <a:pt x="49" y="14"/>
                    <a:pt x="49" y="20"/>
                  </a:cubicBezTo>
                  <a:cubicBezTo>
                    <a:pt x="48" y="26"/>
                    <a:pt x="45" y="31"/>
                    <a:pt x="41" y="35"/>
                  </a:cubicBezTo>
                  <a:cubicBezTo>
                    <a:pt x="37" y="39"/>
                    <a:pt x="31" y="41"/>
                    <a:pt x="26" y="41"/>
                  </a:cubicBezTo>
                  <a:cubicBezTo>
                    <a:pt x="25" y="41"/>
                    <a:pt x="25" y="41"/>
                    <a:pt x="24" y="40"/>
                  </a:cubicBezTo>
                  <a:cubicBezTo>
                    <a:pt x="18" y="40"/>
                    <a:pt x="13" y="37"/>
                    <a:pt x="9" y="32"/>
                  </a:cubicBezTo>
                  <a:cubicBezTo>
                    <a:pt x="5" y="28"/>
                    <a:pt x="3" y="22"/>
                    <a:pt x="3" y="16"/>
                  </a:cubicBezTo>
                  <a:cubicBezTo>
                    <a:pt x="3" y="15"/>
                    <a:pt x="3" y="15"/>
                    <a:pt x="3" y="15"/>
                  </a:cubicBezTo>
                  <a:cubicBezTo>
                    <a:pt x="0" y="15"/>
                    <a:pt x="0" y="15"/>
                    <a:pt x="0" y="15"/>
                  </a:cubicBezTo>
                  <a:cubicBezTo>
                    <a:pt x="0" y="16"/>
                    <a:pt x="0" y="16"/>
                    <a:pt x="0" y="16"/>
                  </a:cubicBezTo>
                  <a:cubicBezTo>
                    <a:pt x="0" y="22"/>
                    <a:pt x="2" y="29"/>
                    <a:pt x="6" y="34"/>
                  </a:cubicBezTo>
                  <a:cubicBezTo>
                    <a:pt x="11" y="40"/>
                    <a:pt x="17" y="43"/>
                    <a:pt x="24" y="43"/>
                  </a:cubicBezTo>
                  <a:cubicBezTo>
                    <a:pt x="25" y="44"/>
                    <a:pt x="25" y="44"/>
                    <a:pt x="26" y="44"/>
                  </a:cubicBezTo>
                  <a:cubicBezTo>
                    <a:pt x="32" y="44"/>
                    <a:pt x="38" y="41"/>
                    <a:pt x="43" y="38"/>
                  </a:cubicBezTo>
                  <a:cubicBezTo>
                    <a:pt x="48" y="33"/>
                    <a:pt x="51" y="27"/>
                    <a:pt x="52" y="20"/>
                  </a:cubicBezTo>
                  <a:cubicBezTo>
                    <a:pt x="52" y="13"/>
                    <a:pt x="50" y="6"/>
                    <a:pt x="46" y="1"/>
                  </a:cubicBezTo>
                  <a:cubicBezTo>
                    <a:pt x="45" y="0"/>
                    <a:pt x="45" y="0"/>
                    <a:pt x="45" y="0"/>
                  </a:cubicBezTo>
                </a:path>
              </a:pathLst>
            </a:custGeom>
            <a:solidFill>
              <a:srgbClr val="D3EF8A">
                <a:alpha val="100000"/>
              </a:srgbClr>
            </a:solidFill>
            <a:ln w="9525">
              <a:noFill/>
            </a:ln>
          </p:spPr>
          <p:txBody>
            <a:bodyPr/>
            <a:lstStyle/>
            <a:p>
              <a:endParaRPr lang="zh-CN" altLang="en-US"/>
            </a:p>
          </p:txBody>
        </p:sp>
        <p:sp>
          <p:nvSpPr>
            <p:cNvPr id="14" name="KSO_Shape"/>
            <p:cNvSpPr/>
            <p:nvPr/>
          </p:nvSpPr>
          <p:spPr bwMode="auto">
            <a:xfrm>
              <a:off x="6931652" y="4722142"/>
              <a:ext cx="330666" cy="356898"/>
            </a:xfrm>
            <a:custGeom>
              <a:avLst/>
              <a:gdLst>
                <a:gd name="T0" fmla="*/ 1753292 w 4636"/>
                <a:gd name="T1" fmla="*/ 1304768 h 4986"/>
                <a:gd name="T2" fmla="*/ 1683756 w 4636"/>
                <a:gd name="T3" fmla="*/ 1479374 h 4986"/>
                <a:gd name="T4" fmla="*/ 1569137 w 4636"/>
                <a:gd name="T5" fmla="*/ 1631438 h 4986"/>
                <a:gd name="T6" fmla="*/ 1415547 w 4636"/>
                <a:gd name="T7" fmla="*/ 1755611 h 4986"/>
                <a:gd name="T8" fmla="*/ 1230628 w 4636"/>
                <a:gd name="T9" fmla="*/ 1845779 h 4986"/>
                <a:gd name="T10" fmla="*/ 1020493 w 4636"/>
                <a:gd name="T11" fmla="*/ 1896594 h 4986"/>
                <a:gd name="T12" fmla="*/ 817235 w 4636"/>
                <a:gd name="T13" fmla="*/ 1902708 h 4986"/>
                <a:gd name="T14" fmla="*/ 601369 w 4636"/>
                <a:gd name="T15" fmla="*/ 1865647 h 4986"/>
                <a:gd name="T16" fmla="*/ 408426 w 4636"/>
                <a:gd name="T17" fmla="*/ 1786558 h 4986"/>
                <a:gd name="T18" fmla="*/ 244521 w 4636"/>
                <a:gd name="T19" fmla="*/ 1671937 h 4986"/>
                <a:gd name="T20" fmla="*/ 117294 w 4636"/>
                <a:gd name="T21" fmla="*/ 1527897 h 4986"/>
                <a:gd name="T22" fmla="*/ 33622 w 4636"/>
                <a:gd name="T23" fmla="*/ 1359022 h 4986"/>
                <a:gd name="T24" fmla="*/ 382 w 4636"/>
                <a:gd name="T25" fmla="*/ 1173336 h 4986"/>
                <a:gd name="T26" fmla="*/ 9170 w 4636"/>
                <a:gd name="T27" fmla="*/ 1046107 h 4986"/>
                <a:gd name="T28" fmla="*/ 44319 w 4636"/>
                <a:gd name="T29" fmla="*/ 918114 h 4986"/>
                <a:gd name="T30" fmla="*/ 104303 w 4636"/>
                <a:gd name="T31" fmla="*/ 799672 h 4986"/>
                <a:gd name="T32" fmla="*/ 224654 w 4636"/>
                <a:gd name="T33" fmla="*/ 654103 h 4986"/>
                <a:gd name="T34" fmla="*/ 458477 w 4636"/>
                <a:gd name="T35" fmla="*/ 495927 h 4986"/>
                <a:gd name="T36" fmla="*/ 1413637 w 4636"/>
                <a:gd name="T37" fmla="*/ 551327 h 4986"/>
                <a:gd name="T38" fmla="*/ 1619952 w 4636"/>
                <a:gd name="T39" fmla="*/ 733956 h 4986"/>
                <a:gd name="T40" fmla="*/ 1693690 w 4636"/>
                <a:gd name="T41" fmla="*/ 845520 h 4986"/>
                <a:gd name="T42" fmla="*/ 1744122 w 4636"/>
                <a:gd name="T43" fmla="*/ 968165 h 4986"/>
                <a:gd name="T44" fmla="*/ 1768957 w 4636"/>
                <a:gd name="T45" fmla="*/ 1099215 h 4986"/>
                <a:gd name="T46" fmla="*/ 810740 w 4636"/>
                <a:gd name="T47" fmla="*/ 1403342 h 4986"/>
                <a:gd name="T48" fmla="*/ 749610 w 4636"/>
                <a:gd name="T49" fmla="*/ 1364371 h 4986"/>
                <a:gd name="T50" fmla="*/ 721337 w 4636"/>
                <a:gd name="T51" fmla="*/ 1311646 h 4986"/>
                <a:gd name="T52" fmla="*/ 574242 w 4636"/>
                <a:gd name="T53" fmla="*/ 1220331 h 4986"/>
                <a:gd name="T54" fmla="*/ 590289 w 4636"/>
                <a:gd name="T55" fmla="*/ 1349853 h 4986"/>
                <a:gd name="T56" fmla="*/ 636519 w 4636"/>
                <a:gd name="T57" fmla="*/ 1442696 h 4986"/>
                <a:gd name="T58" fmla="*/ 705290 w 4636"/>
                <a:gd name="T59" fmla="*/ 1500770 h 4986"/>
                <a:gd name="T60" fmla="*/ 835956 w 4636"/>
                <a:gd name="T61" fmla="*/ 1679961 h 4986"/>
                <a:gd name="T62" fmla="*/ 1024696 w 4636"/>
                <a:gd name="T63" fmla="*/ 1517199 h 4986"/>
                <a:gd name="T64" fmla="*/ 1127089 w 4636"/>
                <a:gd name="T65" fmla="*/ 1453011 h 4986"/>
                <a:gd name="T66" fmla="*/ 1182488 w 4636"/>
                <a:gd name="T67" fmla="*/ 1354819 h 4986"/>
                <a:gd name="T68" fmla="*/ 1193950 w 4636"/>
                <a:gd name="T69" fmla="*/ 1246694 h 4986"/>
                <a:gd name="T70" fmla="*/ 1176375 w 4636"/>
                <a:gd name="T71" fmla="*/ 1166459 h 4986"/>
                <a:gd name="T72" fmla="*/ 1133584 w 4636"/>
                <a:gd name="T73" fmla="*/ 1100361 h 4986"/>
                <a:gd name="T74" fmla="*/ 1066341 w 4636"/>
                <a:gd name="T75" fmla="*/ 1049164 h 4986"/>
                <a:gd name="T76" fmla="*/ 943316 w 4636"/>
                <a:gd name="T77" fmla="*/ 710650 h 4986"/>
                <a:gd name="T78" fmla="*/ 992220 w 4636"/>
                <a:gd name="T79" fmla="*/ 732810 h 4986"/>
                <a:gd name="T80" fmla="*/ 1028899 w 4636"/>
                <a:gd name="T81" fmla="*/ 775984 h 4986"/>
                <a:gd name="T82" fmla="*/ 1183634 w 4636"/>
                <a:gd name="T83" fmla="*/ 862332 h 4986"/>
                <a:gd name="T84" fmla="*/ 1156126 w 4636"/>
                <a:gd name="T85" fmla="*/ 728989 h 4986"/>
                <a:gd name="T86" fmla="*/ 1112953 w 4636"/>
                <a:gd name="T87" fmla="*/ 665566 h 4986"/>
                <a:gd name="T88" fmla="*/ 1054879 w 4636"/>
                <a:gd name="T89" fmla="*/ 620481 h 4986"/>
                <a:gd name="T90" fmla="*/ 971207 w 4636"/>
                <a:gd name="T91" fmla="*/ 591062 h 4986"/>
                <a:gd name="T92" fmla="*/ 831753 w 4636"/>
                <a:gd name="T93" fmla="*/ 588005 h 4986"/>
                <a:gd name="T94" fmla="*/ 707201 w 4636"/>
                <a:gd name="T95" fmla="*/ 635382 h 4986"/>
                <a:gd name="T96" fmla="*/ 628877 w 4636"/>
                <a:gd name="T97" fmla="*/ 713324 h 4986"/>
                <a:gd name="T98" fmla="*/ 596784 w 4636"/>
                <a:gd name="T99" fmla="*/ 822978 h 4986"/>
                <a:gd name="T100" fmla="*/ 609010 w 4636"/>
                <a:gd name="T101" fmla="*/ 933779 h 4986"/>
                <a:gd name="T102" fmla="*/ 664409 w 4636"/>
                <a:gd name="T103" fmla="*/ 1020508 h 4986"/>
                <a:gd name="T104" fmla="*/ 780175 w 4636"/>
                <a:gd name="T105" fmla="*/ 1086989 h 4986"/>
                <a:gd name="T106" fmla="*/ 829461 w 4636"/>
                <a:gd name="T107" fmla="*/ 963962 h 4986"/>
                <a:gd name="T108" fmla="*/ 750374 w 4636"/>
                <a:gd name="T109" fmla="*/ 897100 h 4986"/>
                <a:gd name="T110" fmla="*/ 740440 w 4636"/>
                <a:gd name="T111" fmla="*/ 809988 h 4986"/>
                <a:gd name="T112" fmla="*/ 788198 w 4636"/>
                <a:gd name="T113" fmla="*/ 733192 h 4986"/>
                <a:gd name="T114" fmla="*/ 943316 w 4636"/>
                <a:gd name="T115" fmla="*/ 1136276 h 4986"/>
                <a:gd name="T116" fmla="*/ 1017437 w 4636"/>
                <a:gd name="T117" fmla="*/ 1185945 h 4986"/>
                <a:gd name="T118" fmla="*/ 1045709 w 4636"/>
                <a:gd name="T119" fmla="*/ 1231411 h 4986"/>
                <a:gd name="T120" fmla="*/ 1048766 w 4636"/>
                <a:gd name="T121" fmla="*/ 1299801 h 4986"/>
                <a:gd name="T122" fmla="*/ 1017819 w 4636"/>
                <a:gd name="T123" fmla="*/ 1372395 h 4986"/>
                <a:gd name="T124" fmla="*/ 965858 w 4636"/>
                <a:gd name="T125" fmla="*/ 1409838 h 49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636" h="4986">
                  <a:moveTo>
                    <a:pt x="4636" y="3019"/>
                  </a:moveTo>
                  <a:lnTo>
                    <a:pt x="4636" y="3019"/>
                  </a:lnTo>
                  <a:lnTo>
                    <a:pt x="4635" y="3071"/>
                  </a:lnTo>
                  <a:lnTo>
                    <a:pt x="4633" y="3121"/>
                  </a:lnTo>
                  <a:lnTo>
                    <a:pt x="4629" y="3171"/>
                  </a:lnTo>
                  <a:lnTo>
                    <a:pt x="4624" y="3221"/>
                  </a:lnTo>
                  <a:lnTo>
                    <a:pt x="4618" y="3270"/>
                  </a:lnTo>
                  <a:lnTo>
                    <a:pt x="4609" y="3319"/>
                  </a:lnTo>
                  <a:lnTo>
                    <a:pt x="4600" y="3367"/>
                  </a:lnTo>
                  <a:lnTo>
                    <a:pt x="4589" y="3415"/>
                  </a:lnTo>
                  <a:lnTo>
                    <a:pt x="4577" y="3464"/>
                  </a:lnTo>
                  <a:lnTo>
                    <a:pt x="4563" y="3511"/>
                  </a:lnTo>
                  <a:lnTo>
                    <a:pt x="4548" y="3557"/>
                  </a:lnTo>
                  <a:lnTo>
                    <a:pt x="4532" y="3605"/>
                  </a:lnTo>
                  <a:lnTo>
                    <a:pt x="4515" y="3650"/>
                  </a:lnTo>
                  <a:lnTo>
                    <a:pt x="4496" y="3696"/>
                  </a:lnTo>
                  <a:lnTo>
                    <a:pt x="4476" y="3740"/>
                  </a:lnTo>
                  <a:lnTo>
                    <a:pt x="4454" y="3785"/>
                  </a:lnTo>
                  <a:lnTo>
                    <a:pt x="4431" y="3829"/>
                  </a:lnTo>
                  <a:lnTo>
                    <a:pt x="4407" y="3872"/>
                  </a:lnTo>
                  <a:lnTo>
                    <a:pt x="4382" y="3915"/>
                  </a:lnTo>
                  <a:lnTo>
                    <a:pt x="4357" y="3957"/>
                  </a:lnTo>
                  <a:lnTo>
                    <a:pt x="4330" y="3999"/>
                  </a:lnTo>
                  <a:lnTo>
                    <a:pt x="4300" y="4039"/>
                  </a:lnTo>
                  <a:lnTo>
                    <a:pt x="4271" y="4080"/>
                  </a:lnTo>
                  <a:lnTo>
                    <a:pt x="4240" y="4119"/>
                  </a:lnTo>
                  <a:lnTo>
                    <a:pt x="4209" y="4157"/>
                  </a:lnTo>
                  <a:lnTo>
                    <a:pt x="4176" y="4196"/>
                  </a:lnTo>
                  <a:lnTo>
                    <a:pt x="4141" y="4233"/>
                  </a:lnTo>
                  <a:lnTo>
                    <a:pt x="4107" y="4270"/>
                  </a:lnTo>
                  <a:lnTo>
                    <a:pt x="4071" y="4307"/>
                  </a:lnTo>
                  <a:lnTo>
                    <a:pt x="4034" y="4341"/>
                  </a:lnTo>
                  <a:lnTo>
                    <a:pt x="3996" y="4376"/>
                  </a:lnTo>
                  <a:lnTo>
                    <a:pt x="3957" y="4410"/>
                  </a:lnTo>
                  <a:lnTo>
                    <a:pt x="3917" y="4443"/>
                  </a:lnTo>
                  <a:lnTo>
                    <a:pt x="3876" y="4475"/>
                  </a:lnTo>
                  <a:lnTo>
                    <a:pt x="3835" y="4506"/>
                  </a:lnTo>
                  <a:lnTo>
                    <a:pt x="3792" y="4537"/>
                  </a:lnTo>
                  <a:lnTo>
                    <a:pt x="3749" y="4566"/>
                  </a:lnTo>
                  <a:lnTo>
                    <a:pt x="3705" y="4595"/>
                  </a:lnTo>
                  <a:lnTo>
                    <a:pt x="3660" y="4623"/>
                  </a:lnTo>
                  <a:lnTo>
                    <a:pt x="3614" y="4650"/>
                  </a:lnTo>
                  <a:lnTo>
                    <a:pt x="3567" y="4676"/>
                  </a:lnTo>
                  <a:lnTo>
                    <a:pt x="3520" y="4701"/>
                  </a:lnTo>
                  <a:lnTo>
                    <a:pt x="3472" y="4725"/>
                  </a:lnTo>
                  <a:lnTo>
                    <a:pt x="3422" y="4748"/>
                  </a:lnTo>
                  <a:lnTo>
                    <a:pt x="3373" y="4770"/>
                  </a:lnTo>
                  <a:lnTo>
                    <a:pt x="3322" y="4792"/>
                  </a:lnTo>
                  <a:lnTo>
                    <a:pt x="3272" y="4812"/>
                  </a:lnTo>
                  <a:lnTo>
                    <a:pt x="3221" y="4831"/>
                  </a:lnTo>
                  <a:lnTo>
                    <a:pt x="3168" y="4849"/>
                  </a:lnTo>
                  <a:lnTo>
                    <a:pt x="3114" y="4867"/>
                  </a:lnTo>
                  <a:lnTo>
                    <a:pt x="3062" y="4883"/>
                  </a:lnTo>
                  <a:lnTo>
                    <a:pt x="3007" y="4897"/>
                  </a:lnTo>
                  <a:lnTo>
                    <a:pt x="2952" y="4911"/>
                  </a:lnTo>
                  <a:lnTo>
                    <a:pt x="2897" y="4924"/>
                  </a:lnTo>
                  <a:lnTo>
                    <a:pt x="2841" y="4935"/>
                  </a:lnTo>
                  <a:lnTo>
                    <a:pt x="2785" y="4946"/>
                  </a:lnTo>
                  <a:lnTo>
                    <a:pt x="2729" y="4955"/>
                  </a:lnTo>
                  <a:lnTo>
                    <a:pt x="2671" y="4964"/>
                  </a:lnTo>
                  <a:lnTo>
                    <a:pt x="2613" y="4970"/>
                  </a:lnTo>
                  <a:lnTo>
                    <a:pt x="2555" y="4975"/>
                  </a:lnTo>
                  <a:lnTo>
                    <a:pt x="2496" y="4980"/>
                  </a:lnTo>
                  <a:lnTo>
                    <a:pt x="2437" y="4984"/>
                  </a:lnTo>
                  <a:lnTo>
                    <a:pt x="2377" y="4986"/>
                  </a:lnTo>
                  <a:lnTo>
                    <a:pt x="2318" y="4986"/>
                  </a:lnTo>
                  <a:lnTo>
                    <a:pt x="2258" y="4986"/>
                  </a:lnTo>
                  <a:lnTo>
                    <a:pt x="2199" y="4984"/>
                  </a:lnTo>
                  <a:lnTo>
                    <a:pt x="2139" y="4980"/>
                  </a:lnTo>
                  <a:lnTo>
                    <a:pt x="2081" y="4975"/>
                  </a:lnTo>
                  <a:lnTo>
                    <a:pt x="2022" y="4970"/>
                  </a:lnTo>
                  <a:lnTo>
                    <a:pt x="1964" y="4964"/>
                  </a:lnTo>
                  <a:lnTo>
                    <a:pt x="1908" y="4955"/>
                  </a:lnTo>
                  <a:lnTo>
                    <a:pt x="1851" y="4946"/>
                  </a:lnTo>
                  <a:lnTo>
                    <a:pt x="1794" y="4935"/>
                  </a:lnTo>
                  <a:lnTo>
                    <a:pt x="1738" y="4924"/>
                  </a:lnTo>
                  <a:lnTo>
                    <a:pt x="1683" y="4911"/>
                  </a:lnTo>
                  <a:lnTo>
                    <a:pt x="1628" y="4897"/>
                  </a:lnTo>
                  <a:lnTo>
                    <a:pt x="1574" y="4883"/>
                  </a:lnTo>
                  <a:lnTo>
                    <a:pt x="1521" y="4867"/>
                  </a:lnTo>
                  <a:lnTo>
                    <a:pt x="1468" y="4849"/>
                  </a:lnTo>
                  <a:lnTo>
                    <a:pt x="1416" y="4831"/>
                  </a:lnTo>
                  <a:lnTo>
                    <a:pt x="1364" y="4812"/>
                  </a:lnTo>
                  <a:lnTo>
                    <a:pt x="1313" y="4792"/>
                  </a:lnTo>
                  <a:lnTo>
                    <a:pt x="1262" y="4770"/>
                  </a:lnTo>
                  <a:lnTo>
                    <a:pt x="1213" y="4748"/>
                  </a:lnTo>
                  <a:lnTo>
                    <a:pt x="1163" y="4725"/>
                  </a:lnTo>
                  <a:lnTo>
                    <a:pt x="1116" y="4701"/>
                  </a:lnTo>
                  <a:lnTo>
                    <a:pt x="1069" y="4676"/>
                  </a:lnTo>
                  <a:lnTo>
                    <a:pt x="1021" y="4650"/>
                  </a:lnTo>
                  <a:lnTo>
                    <a:pt x="976" y="4623"/>
                  </a:lnTo>
                  <a:lnTo>
                    <a:pt x="931" y="4595"/>
                  </a:lnTo>
                  <a:lnTo>
                    <a:pt x="887" y="4566"/>
                  </a:lnTo>
                  <a:lnTo>
                    <a:pt x="843" y="4537"/>
                  </a:lnTo>
                  <a:lnTo>
                    <a:pt x="801" y="4506"/>
                  </a:lnTo>
                  <a:lnTo>
                    <a:pt x="759" y="4475"/>
                  </a:lnTo>
                  <a:lnTo>
                    <a:pt x="719" y="4443"/>
                  </a:lnTo>
                  <a:lnTo>
                    <a:pt x="679" y="4410"/>
                  </a:lnTo>
                  <a:lnTo>
                    <a:pt x="640" y="4376"/>
                  </a:lnTo>
                  <a:lnTo>
                    <a:pt x="602" y="4341"/>
                  </a:lnTo>
                  <a:lnTo>
                    <a:pt x="565" y="4307"/>
                  </a:lnTo>
                  <a:lnTo>
                    <a:pt x="529" y="4270"/>
                  </a:lnTo>
                  <a:lnTo>
                    <a:pt x="494" y="4233"/>
                  </a:lnTo>
                  <a:lnTo>
                    <a:pt x="460" y="4196"/>
                  </a:lnTo>
                  <a:lnTo>
                    <a:pt x="428" y="4157"/>
                  </a:lnTo>
                  <a:lnTo>
                    <a:pt x="396" y="4119"/>
                  </a:lnTo>
                  <a:lnTo>
                    <a:pt x="364" y="4080"/>
                  </a:lnTo>
                  <a:lnTo>
                    <a:pt x="335" y="4039"/>
                  </a:lnTo>
                  <a:lnTo>
                    <a:pt x="307" y="3999"/>
                  </a:lnTo>
                  <a:lnTo>
                    <a:pt x="279" y="3957"/>
                  </a:lnTo>
                  <a:lnTo>
                    <a:pt x="253" y="3915"/>
                  </a:lnTo>
                  <a:lnTo>
                    <a:pt x="228" y="3872"/>
                  </a:lnTo>
                  <a:lnTo>
                    <a:pt x="205" y="3829"/>
                  </a:lnTo>
                  <a:lnTo>
                    <a:pt x="182" y="3785"/>
                  </a:lnTo>
                  <a:lnTo>
                    <a:pt x="160" y="3740"/>
                  </a:lnTo>
                  <a:lnTo>
                    <a:pt x="141" y="3696"/>
                  </a:lnTo>
                  <a:lnTo>
                    <a:pt x="122" y="3650"/>
                  </a:lnTo>
                  <a:lnTo>
                    <a:pt x="104" y="3605"/>
                  </a:lnTo>
                  <a:lnTo>
                    <a:pt x="88" y="3557"/>
                  </a:lnTo>
                  <a:lnTo>
                    <a:pt x="72" y="3511"/>
                  </a:lnTo>
                  <a:lnTo>
                    <a:pt x="59" y="3464"/>
                  </a:lnTo>
                  <a:lnTo>
                    <a:pt x="47" y="3415"/>
                  </a:lnTo>
                  <a:lnTo>
                    <a:pt x="35" y="3367"/>
                  </a:lnTo>
                  <a:lnTo>
                    <a:pt x="26" y="3319"/>
                  </a:lnTo>
                  <a:lnTo>
                    <a:pt x="19" y="3270"/>
                  </a:lnTo>
                  <a:lnTo>
                    <a:pt x="11" y="3221"/>
                  </a:lnTo>
                  <a:lnTo>
                    <a:pt x="6" y="3171"/>
                  </a:lnTo>
                  <a:lnTo>
                    <a:pt x="3" y="3121"/>
                  </a:lnTo>
                  <a:lnTo>
                    <a:pt x="1" y="3071"/>
                  </a:lnTo>
                  <a:lnTo>
                    <a:pt x="0" y="3019"/>
                  </a:lnTo>
                  <a:lnTo>
                    <a:pt x="0" y="2983"/>
                  </a:lnTo>
                  <a:lnTo>
                    <a:pt x="1" y="2948"/>
                  </a:lnTo>
                  <a:lnTo>
                    <a:pt x="3" y="2912"/>
                  </a:lnTo>
                  <a:lnTo>
                    <a:pt x="6" y="2877"/>
                  </a:lnTo>
                  <a:lnTo>
                    <a:pt x="9" y="2842"/>
                  </a:lnTo>
                  <a:lnTo>
                    <a:pt x="13" y="2807"/>
                  </a:lnTo>
                  <a:lnTo>
                    <a:pt x="18" y="2772"/>
                  </a:lnTo>
                  <a:lnTo>
                    <a:pt x="24" y="2738"/>
                  </a:lnTo>
                  <a:lnTo>
                    <a:pt x="29" y="2703"/>
                  </a:lnTo>
                  <a:lnTo>
                    <a:pt x="36" y="2669"/>
                  </a:lnTo>
                  <a:lnTo>
                    <a:pt x="44" y="2635"/>
                  </a:lnTo>
                  <a:lnTo>
                    <a:pt x="52" y="2601"/>
                  </a:lnTo>
                  <a:lnTo>
                    <a:pt x="62" y="2567"/>
                  </a:lnTo>
                  <a:lnTo>
                    <a:pt x="71" y="2534"/>
                  </a:lnTo>
                  <a:lnTo>
                    <a:pt x="82" y="2501"/>
                  </a:lnTo>
                  <a:lnTo>
                    <a:pt x="92" y="2468"/>
                  </a:lnTo>
                  <a:lnTo>
                    <a:pt x="104" y="2436"/>
                  </a:lnTo>
                  <a:lnTo>
                    <a:pt x="116" y="2403"/>
                  </a:lnTo>
                  <a:lnTo>
                    <a:pt x="129" y="2371"/>
                  </a:lnTo>
                  <a:lnTo>
                    <a:pt x="143" y="2339"/>
                  </a:lnTo>
                  <a:lnTo>
                    <a:pt x="156" y="2308"/>
                  </a:lnTo>
                  <a:lnTo>
                    <a:pt x="172" y="2276"/>
                  </a:lnTo>
                  <a:lnTo>
                    <a:pt x="187" y="2245"/>
                  </a:lnTo>
                  <a:lnTo>
                    <a:pt x="203" y="2214"/>
                  </a:lnTo>
                  <a:lnTo>
                    <a:pt x="219" y="2184"/>
                  </a:lnTo>
                  <a:lnTo>
                    <a:pt x="237" y="2153"/>
                  </a:lnTo>
                  <a:lnTo>
                    <a:pt x="255" y="2123"/>
                  </a:lnTo>
                  <a:lnTo>
                    <a:pt x="273" y="2093"/>
                  </a:lnTo>
                  <a:lnTo>
                    <a:pt x="292" y="2064"/>
                  </a:lnTo>
                  <a:lnTo>
                    <a:pt x="312" y="2034"/>
                  </a:lnTo>
                  <a:lnTo>
                    <a:pt x="332" y="2006"/>
                  </a:lnTo>
                  <a:lnTo>
                    <a:pt x="353" y="1978"/>
                  </a:lnTo>
                  <a:lnTo>
                    <a:pt x="374" y="1949"/>
                  </a:lnTo>
                  <a:lnTo>
                    <a:pt x="396" y="1922"/>
                  </a:lnTo>
                  <a:lnTo>
                    <a:pt x="440" y="1867"/>
                  </a:lnTo>
                  <a:lnTo>
                    <a:pt x="487" y="1814"/>
                  </a:lnTo>
                  <a:lnTo>
                    <a:pt x="537" y="1762"/>
                  </a:lnTo>
                  <a:lnTo>
                    <a:pt x="588" y="1712"/>
                  </a:lnTo>
                  <a:lnTo>
                    <a:pt x="642" y="1662"/>
                  </a:lnTo>
                  <a:lnTo>
                    <a:pt x="697" y="1615"/>
                  </a:lnTo>
                  <a:lnTo>
                    <a:pt x="754" y="1570"/>
                  </a:lnTo>
                  <a:lnTo>
                    <a:pt x="812" y="1526"/>
                  </a:lnTo>
                  <a:lnTo>
                    <a:pt x="873" y="1483"/>
                  </a:lnTo>
                  <a:lnTo>
                    <a:pt x="935" y="1443"/>
                  </a:lnTo>
                  <a:lnTo>
                    <a:pt x="999" y="1404"/>
                  </a:lnTo>
                  <a:lnTo>
                    <a:pt x="1065" y="1366"/>
                  </a:lnTo>
                  <a:lnTo>
                    <a:pt x="1132" y="1331"/>
                  </a:lnTo>
                  <a:lnTo>
                    <a:pt x="1200" y="1298"/>
                  </a:lnTo>
                  <a:lnTo>
                    <a:pt x="1271" y="1266"/>
                  </a:lnTo>
                  <a:lnTo>
                    <a:pt x="553" y="0"/>
                  </a:lnTo>
                  <a:lnTo>
                    <a:pt x="4082" y="0"/>
                  </a:lnTo>
                  <a:lnTo>
                    <a:pt x="3365" y="1266"/>
                  </a:lnTo>
                  <a:lnTo>
                    <a:pt x="3435" y="1298"/>
                  </a:lnTo>
                  <a:lnTo>
                    <a:pt x="3503" y="1331"/>
                  </a:lnTo>
                  <a:lnTo>
                    <a:pt x="3571" y="1366"/>
                  </a:lnTo>
                  <a:lnTo>
                    <a:pt x="3636" y="1404"/>
                  </a:lnTo>
                  <a:lnTo>
                    <a:pt x="3700" y="1443"/>
                  </a:lnTo>
                  <a:lnTo>
                    <a:pt x="3762" y="1483"/>
                  </a:lnTo>
                  <a:lnTo>
                    <a:pt x="3823" y="1526"/>
                  </a:lnTo>
                  <a:lnTo>
                    <a:pt x="3882" y="1570"/>
                  </a:lnTo>
                  <a:lnTo>
                    <a:pt x="3938" y="1615"/>
                  </a:lnTo>
                  <a:lnTo>
                    <a:pt x="3994" y="1662"/>
                  </a:lnTo>
                  <a:lnTo>
                    <a:pt x="4047" y="1712"/>
                  </a:lnTo>
                  <a:lnTo>
                    <a:pt x="4098" y="1762"/>
                  </a:lnTo>
                  <a:lnTo>
                    <a:pt x="4148" y="1814"/>
                  </a:lnTo>
                  <a:lnTo>
                    <a:pt x="4195" y="1866"/>
                  </a:lnTo>
                  <a:lnTo>
                    <a:pt x="4240" y="1921"/>
                  </a:lnTo>
                  <a:lnTo>
                    <a:pt x="4262" y="1949"/>
                  </a:lnTo>
                  <a:lnTo>
                    <a:pt x="4283" y="1978"/>
                  </a:lnTo>
                  <a:lnTo>
                    <a:pt x="4304" y="2006"/>
                  </a:lnTo>
                  <a:lnTo>
                    <a:pt x="4324" y="2034"/>
                  </a:lnTo>
                  <a:lnTo>
                    <a:pt x="4343" y="2064"/>
                  </a:lnTo>
                  <a:lnTo>
                    <a:pt x="4362" y="2093"/>
                  </a:lnTo>
                  <a:lnTo>
                    <a:pt x="4381" y="2123"/>
                  </a:lnTo>
                  <a:lnTo>
                    <a:pt x="4399" y="2153"/>
                  </a:lnTo>
                  <a:lnTo>
                    <a:pt x="4416" y="2183"/>
                  </a:lnTo>
                  <a:lnTo>
                    <a:pt x="4433" y="2213"/>
                  </a:lnTo>
                  <a:lnTo>
                    <a:pt x="4448" y="2245"/>
                  </a:lnTo>
                  <a:lnTo>
                    <a:pt x="4464" y="2275"/>
                  </a:lnTo>
                  <a:lnTo>
                    <a:pt x="4479" y="2307"/>
                  </a:lnTo>
                  <a:lnTo>
                    <a:pt x="4494" y="2338"/>
                  </a:lnTo>
                  <a:lnTo>
                    <a:pt x="4507" y="2371"/>
                  </a:lnTo>
                  <a:lnTo>
                    <a:pt x="4520" y="2402"/>
                  </a:lnTo>
                  <a:lnTo>
                    <a:pt x="4532" y="2435"/>
                  </a:lnTo>
                  <a:lnTo>
                    <a:pt x="4544" y="2467"/>
                  </a:lnTo>
                  <a:lnTo>
                    <a:pt x="4554" y="2501"/>
                  </a:lnTo>
                  <a:lnTo>
                    <a:pt x="4565" y="2534"/>
                  </a:lnTo>
                  <a:lnTo>
                    <a:pt x="4574" y="2567"/>
                  </a:lnTo>
                  <a:lnTo>
                    <a:pt x="4584" y="2601"/>
                  </a:lnTo>
                  <a:lnTo>
                    <a:pt x="4592" y="2635"/>
                  </a:lnTo>
                  <a:lnTo>
                    <a:pt x="4600" y="2669"/>
                  </a:lnTo>
                  <a:lnTo>
                    <a:pt x="4606" y="2703"/>
                  </a:lnTo>
                  <a:lnTo>
                    <a:pt x="4612" y="2738"/>
                  </a:lnTo>
                  <a:lnTo>
                    <a:pt x="4618" y="2772"/>
                  </a:lnTo>
                  <a:lnTo>
                    <a:pt x="4623" y="2807"/>
                  </a:lnTo>
                  <a:lnTo>
                    <a:pt x="4627" y="2842"/>
                  </a:lnTo>
                  <a:lnTo>
                    <a:pt x="4630" y="2877"/>
                  </a:lnTo>
                  <a:lnTo>
                    <a:pt x="4633" y="2912"/>
                  </a:lnTo>
                  <a:lnTo>
                    <a:pt x="4634" y="2948"/>
                  </a:lnTo>
                  <a:lnTo>
                    <a:pt x="4635" y="2983"/>
                  </a:lnTo>
                  <a:lnTo>
                    <a:pt x="4636" y="3019"/>
                  </a:lnTo>
                  <a:close/>
                  <a:moveTo>
                    <a:pt x="2188" y="3696"/>
                  </a:moveTo>
                  <a:lnTo>
                    <a:pt x="2188" y="3696"/>
                  </a:lnTo>
                  <a:lnTo>
                    <a:pt x="2165" y="3689"/>
                  </a:lnTo>
                  <a:lnTo>
                    <a:pt x="2143" y="3681"/>
                  </a:lnTo>
                  <a:lnTo>
                    <a:pt x="2122" y="3673"/>
                  </a:lnTo>
                  <a:lnTo>
                    <a:pt x="2101" y="3665"/>
                  </a:lnTo>
                  <a:lnTo>
                    <a:pt x="2082" y="3655"/>
                  </a:lnTo>
                  <a:lnTo>
                    <a:pt x="2064" y="3646"/>
                  </a:lnTo>
                  <a:lnTo>
                    <a:pt x="2046" y="3636"/>
                  </a:lnTo>
                  <a:lnTo>
                    <a:pt x="2030" y="3627"/>
                  </a:lnTo>
                  <a:lnTo>
                    <a:pt x="2015" y="3616"/>
                  </a:lnTo>
                  <a:lnTo>
                    <a:pt x="2000" y="3606"/>
                  </a:lnTo>
                  <a:lnTo>
                    <a:pt x="1986" y="3594"/>
                  </a:lnTo>
                  <a:lnTo>
                    <a:pt x="1974" y="3583"/>
                  </a:lnTo>
                  <a:lnTo>
                    <a:pt x="1962" y="3571"/>
                  </a:lnTo>
                  <a:lnTo>
                    <a:pt x="1952" y="3558"/>
                  </a:lnTo>
                  <a:lnTo>
                    <a:pt x="1942" y="3546"/>
                  </a:lnTo>
                  <a:lnTo>
                    <a:pt x="1934" y="3533"/>
                  </a:lnTo>
                  <a:lnTo>
                    <a:pt x="1925" y="3518"/>
                  </a:lnTo>
                  <a:lnTo>
                    <a:pt x="1917" y="3504"/>
                  </a:lnTo>
                  <a:lnTo>
                    <a:pt x="1909" y="3487"/>
                  </a:lnTo>
                  <a:lnTo>
                    <a:pt x="1901" y="3470"/>
                  </a:lnTo>
                  <a:lnTo>
                    <a:pt x="1894" y="3452"/>
                  </a:lnTo>
                  <a:lnTo>
                    <a:pt x="1888" y="3433"/>
                  </a:lnTo>
                  <a:lnTo>
                    <a:pt x="1882" y="3413"/>
                  </a:lnTo>
                  <a:lnTo>
                    <a:pt x="1877" y="3392"/>
                  </a:lnTo>
                  <a:lnTo>
                    <a:pt x="1873" y="3370"/>
                  </a:lnTo>
                  <a:lnTo>
                    <a:pt x="1869" y="3348"/>
                  </a:lnTo>
                  <a:lnTo>
                    <a:pt x="1866" y="3325"/>
                  </a:lnTo>
                  <a:lnTo>
                    <a:pt x="1862" y="3300"/>
                  </a:lnTo>
                  <a:lnTo>
                    <a:pt x="1858" y="3248"/>
                  </a:lnTo>
                  <a:lnTo>
                    <a:pt x="1856" y="3194"/>
                  </a:lnTo>
                  <a:lnTo>
                    <a:pt x="1503" y="3194"/>
                  </a:lnTo>
                  <a:lnTo>
                    <a:pt x="1505" y="3234"/>
                  </a:lnTo>
                  <a:lnTo>
                    <a:pt x="1507" y="3271"/>
                  </a:lnTo>
                  <a:lnTo>
                    <a:pt x="1509" y="3309"/>
                  </a:lnTo>
                  <a:lnTo>
                    <a:pt x="1512" y="3345"/>
                  </a:lnTo>
                  <a:lnTo>
                    <a:pt x="1517" y="3380"/>
                  </a:lnTo>
                  <a:lnTo>
                    <a:pt x="1521" y="3412"/>
                  </a:lnTo>
                  <a:lnTo>
                    <a:pt x="1526" y="3445"/>
                  </a:lnTo>
                  <a:lnTo>
                    <a:pt x="1532" y="3475"/>
                  </a:lnTo>
                  <a:lnTo>
                    <a:pt x="1538" y="3505"/>
                  </a:lnTo>
                  <a:lnTo>
                    <a:pt x="1545" y="3533"/>
                  </a:lnTo>
                  <a:lnTo>
                    <a:pt x="1552" y="3559"/>
                  </a:lnTo>
                  <a:lnTo>
                    <a:pt x="1561" y="3585"/>
                  </a:lnTo>
                  <a:lnTo>
                    <a:pt x="1569" y="3609"/>
                  </a:lnTo>
                  <a:lnTo>
                    <a:pt x="1578" y="3632"/>
                  </a:lnTo>
                  <a:lnTo>
                    <a:pt x="1588" y="3653"/>
                  </a:lnTo>
                  <a:lnTo>
                    <a:pt x="1599" y="3673"/>
                  </a:lnTo>
                  <a:lnTo>
                    <a:pt x="1618" y="3710"/>
                  </a:lnTo>
                  <a:lnTo>
                    <a:pt x="1642" y="3743"/>
                  </a:lnTo>
                  <a:lnTo>
                    <a:pt x="1666" y="3776"/>
                  </a:lnTo>
                  <a:lnTo>
                    <a:pt x="1691" y="3806"/>
                  </a:lnTo>
                  <a:lnTo>
                    <a:pt x="1705" y="3820"/>
                  </a:lnTo>
                  <a:lnTo>
                    <a:pt x="1718" y="3835"/>
                  </a:lnTo>
                  <a:lnTo>
                    <a:pt x="1733" y="3848"/>
                  </a:lnTo>
                  <a:lnTo>
                    <a:pt x="1748" y="3861"/>
                  </a:lnTo>
                  <a:lnTo>
                    <a:pt x="1763" y="3874"/>
                  </a:lnTo>
                  <a:lnTo>
                    <a:pt x="1778" y="3885"/>
                  </a:lnTo>
                  <a:lnTo>
                    <a:pt x="1795" y="3897"/>
                  </a:lnTo>
                  <a:lnTo>
                    <a:pt x="1811" y="3908"/>
                  </a:lnTo>
                  <a:lnTo>
                    <a:pt x="1846" y="3928"/>
                  </a:lnTo>
                  <a:lnTo>
                    <a:pt x="1881" y="3947"/>
                  </a:lnTo>
                  <a:lnTo>
                    <a:pt x="1918" y="3964"/>
                  </a:lnTo>
                  <a:lnTo>
                    <a:pt x="1958" y="3980"/>
                  </a:lnTo>
                  <a:lnTo>
                    <a:pt x="1998" y="3992"/>
                  </a:lnTo>
                  <a:lnTo>
                    <a:pt x="2041" y="4004"/>
                  </a:lnTo>
                  <a:lnTo>
                    <a:pt x="2085" y="4012"/>
                  </a:lnTo>
                  <a:lnTo>
                    <a:pt x="2131" y="4020"/>
                  </a:lnTo>
                  <a:lnTo>
                    <a:pt x="2188" y="4027"/>
                  </a:lnTo>
                  <a:lnTo>
                    <a:pt x="2188" y="4397"/>
                  </a:lnTo>
                  <a:lnTo>
                    <a:pt x="2469" y="4397"/>
                  </a:lnTo>
                  <a:lnTo>
                    <a:pt x="2469" y="4027"/>
                  </a:lnTo>
                  <a:lnTo>
                    <a:pt x="2504" y="4021"/>
                  </a:lnTo>
                  <a:lnTo>
                    <a:pt x="2541" y="4012"/>
                  </a:lnTo>
                  <a:lnTo>
                    <a:pt x="2578" y="4004"/>
                  </a:lnTo>
                  <a:lnTo>
                    <a:pt x="2614" y="3994"/>
                  </a:lnTo>
                  <a:lnTo>
                    <a:pt x="2649" y="3983"/>
                  </a:lnTo>
                  <a:lnTo>
                    <a:pt x="2682" y="3971"/>
                  </a:lnTo>
                  <a:lnTo>
                    <a:pt x="2715" y="3959"/>
                  </a:lnTo>
                  <a:lnTo>
                    <a:pt x="2745" y="3945"/>
                  </a:lnTo>
                  <a:lnTo>
                    <a:pt x="2776" y="3930"/>
                  </a:lnTo>
                  <a:lnTo>
                    <a:pt x="2804" y="3915"/>
                  </a:lnTo>
                  <a:lnTo>
                    <a:pt x="2832" y="3899"/>
                  </a:lnTo>
                  <a:lnTo>
                    <a:pt x="2858" y="3882"/>
                  </a:lnTo>
                  <a:lnTo>
                    <a:pt x="2882" y="3863"/>
                  </a:lnTo>
                  <a:lnTo>
                    <a:pt x="2906" y="3844"/>
                  </a:lnTo>
                  <a:lnTo>
                    <a:pt x="2928" y="3824"/>
                  </a:lnTo>
                  <a:lnTo>
                    <a:pt x="2950" y="3803"/>
                  </a:lnTo>
                  <a:lnTo>
                    <a:pt x="2970" y="3782"/>
                  </a:lnTo>
                  <a:lnTo>
                    <a:pt x="2989" y="3759"/>
                  </a:lnTo>
                  <a:lnTo>
                    <a:pt x="3006" y="3736"/>
                  </a:lnTo>
                  <a:lnTo>
                    <a:pt x="3023" y="3711"/>
                  </a:lnTo>
                  <a:lnTo>
                    <a:pt x="3038" y="3686"/>
                  </a:lnTo>
                  <a:lnTo>
                    <a:pt x="3052" y="3659"/>
                  </a:lnTo>
                  <a:lnTo>
                    <a:pt x="3065" y="3632"/>
                  </a:lnTo>
                  <a:lnTo>
                    <a:pt x="3076" y="3605"/>
                  </a:lnTo>
                  <a:lnTo>
                    <a:pt x="3087" y="3575"/>
                  </a:lnTo>
                  <a:lnTo>
                    <a:pt x="3095" y="3546"/>
                  </a:lnTo>
                  <a:lnTo>
                    <a:pt x="3104" y="3514"/>
                  </a:lnTo>
                  <a:lnTo>
                    <a:pt x="3110" y="3483"/>
                  </a:lnTo>
                  <a:lnTo>
                    <a:pt x="3115" y="3450"/>
                  </a:lnTo>
                  <a:lnTo>
                    <a:pt x="3121" y="3417"/>
                  </a:lnTo>
                  <a:lnTo>
                    <a:pt x="3123" y="3382"/>
                  </a:lnTo>
                  <a:lnTo>
                    <a:pt x="3125" y="3346"/>
                  </a:lnTo>
                  <a:lnTo>
                    <a:pt x="3126" y="3310"/>
                  </a:lnTo>
                  <a:lnTo>
                    <a:pt x="3125" y="3286"/>
                  </a:lnTo>
                  <a:lnTo>
                    <a:pt x="3125" y="3263"/>
                  </a:lnTo>
                  <a:lnTo>
                    <a:pt x="3123" y="3241"/>
                  </a:lnTo>
                  <a:lnTo>
                    <a:pt x="3121" y="3218"/>
                  </a:lnTo>
                  <a:lnTo>
                    <a:pt x="3117" y="3196"/>
                  </a:lnTo>
                  <a:lnTo>
                    <a:pt x="3114" y="3175"/>
                  </a:lnTo>
                  <a:lnTo>
                    <a:pt x="3109" y="3154"/>
                  </a:lnTo>
                  <a:lnTo>
                    <a:pt x="3105" y="3133"/>
                  </a:lnTo>
                  <a:lnTo>
                    <a:pt x="3100" y="3112"/>
                  </a:lnTo>
                  <a:lnTo>
                    <a:pt x="3093" y="3092"/>
                  </a:lnTo>
                  <a:lnTo>
                    <a:pt x="3086" y="3072"/>
                  </a:lnTo>
                  <a:lnTo>
                    <a:pt x="3079" y="3053"/>
                  </a:lnTo>
                  <a:lnTo>
                    <a:pt x="3070" y="3034"/>
                  </a:lnTo>
                  <a:lnTo>
                    <a:pt x="3062" y="3015"/>
                  </a:lnTo>
                  <a:lnTo>
                    <a:pt x="3052" y="2997"/>
                  </a:lnTo>
                  <a:lnTo>
                    <a:pt x="3042" y="2979"/>
                  </a:lnTo>
                  <a:lnTo>
                    <a:pt x="3031" y="2961"/>
                  </a:lnTo>
                  <a:lnTo>
                    <a:pt x="3020" y="2945"/>
                  </a:lnTo>
                  <a:lnTo>
                    <a:pt x="3007" y="2928"/>
                  </a:lnTo>
                  <a:lnTo>
                    <a:pt x="2995" y="2912"/>
                  </a:lnTo>
                  <a:lnTo>
                    <a:pt x="2981" y="2895"/>
                  </a:lnTo>
                  <a:lnTo>
                    <a:pt x="2967" y="2880"/>
                  </a:lnTo>
                  <a:lnTo>
                    <a:pt x="2952" y="2865"/>
                  </a:lnTo>
                  <a:lnTo>
                    <a:pt x="2937" y="2850"/>
                  </a:lnTo>
                  <a:lnTo>
                    <a:pt x="2921" y="2836"/>
                  </a:lnTo>
                  <a:lnTo>
                    <a:pt x="2904" y="2822"/>
                  </a:lnTo>
                  <a:lnTo>
                    <a:pt x="2887" y="2808"/>
                  </a:lnTo>
                  <a:lnTo>
                    <a:pt x="2869" y="2795"/>
                  </a:lnTo>
                  <a:lnTo>
                    <a:pt x="2850" y="2783"/>
                  </a:lnTo>
                  <a:lnTo>
                    <a:pt x="2832" y="2770"/>
                  </a:lnTo>
                  <a:lnTo>
                    <a:pt x="2812" y="2758"/>
                  </a:lnTo>
                  <a:lnTo>
                    <a:pt x="2791" y="2746"/>
                  </a:lnTo>
                  <a:lnTo>
                    <a:pt x="2756" y="2728"/>
                  </a:lnTo>
                  <a:lnTo>
                    <a:pt x="2720" y="2709"/>
                  </a:lnTo>
                  <a:lnTo>
                    <a:pt x="2682" y="2690"/>
                  </a:lnTo>
                  <a:lnTo>
                    <a:pt x="2642" y="2672"/>
                  </a:lnTo>
                  <a:lnTo>
                    <a:pt x="2601" y="2655"/>
                  </a:lnTo>
                  <a:lnTo>
                    <a:pt x="2559" y="2637"/>
                  </a:lnTo>
                  <a:lnTo>
                    <a:pt x="2515" y="2618"/>
                  </a:lnTo>
                  <a:lnTo>
                    <a:pt x="2469" y="2600"/>
                  </a:lnTo>
                  <a:lnTo>
                    <a:pt x="2469" y="1860"/>
                  </a:lnTo>
                  <a:lnTo>
                    <a:pt x="2486" y="1864"/>
                  </a:lnTo>
                  <a:lnTo>
                    <a:pt x="2501" y="1869"/>
                  </a:lnTo>
                  <a:lnTo>
                    <a:pt x="2516" y="1875"/>
                  </a:lnTo>
                  <a:lnTo>
                    <a:pt x="2531" y="1880"/>
                  </a:lnTo>
                  <a:lnTo>
                    <a:pt x="2545" y="1886"/>
                  </a:lnTo>
                  <a:lnTo>
                    <a:pt x="2558" y="1894"/>
                  </a:lnTo>
                  <a:lnTo>
                    <a:pt x="2572" y="1901"/>
                  </a:lnTo>
                  <a:lnTo>
                    <a:pt x="2585" y="1909"/>
                  </a:lnTo>
                  <a:lnTo>
                    <a:pt x="2597" y="1918"/>
                  </a:lnTo>
                  <a:lnTo>
                    <a:pt x="2609" y="1926"/>
                  </a:lnTo>
                  <a:lnTo>
                    <a:pt x="2620" y="1936"/>
                  </a:lnTo>
                  <a:lnTo>
                    <a:pt x="2631" y="1946"/>
                  </a:lnTo>
                  <a:lnTo>
                    <a:pt x="2641" y="1957"/>
                  </a:lnTo>
                  <a:lnTo>
                    <a:pt x="2651" y="1967"/>
                  </a:lnTo>
                  <a:lnTo>
                    <a:pt x="2660" y="1979"/>
                  </a:lnTo>
                  <a:lnTo>
                    <a:pt x="2669" y="1991"/>
                  </a:lnTo>
                  <a:lnTo>
                    <a:pt x="2677" y="2004"/>
                  </a:lnTo>
                  <a:lnTo>
                    <a:pt x="2685" y="2018"/>
                  </a:lnTo>
                  <a:lnTo>
                    <a:pt x="2693" y="2031"/>
                  </a:lnTo>
                  <a:lnTo>
                    <a:pt x="2699" y="2045"/>
                  </a:lnTo>
                  <a:lnTo>
                    <a:pt x="2705" y="2060"/>
                  </a:lnTo>
                  <a:lnTo>
                    <a:pt x="2712" y="2075"/>
                  </a:lnTo>
                  <a:lnTo>
                    <a:pt x="2722" y="2107"/>
                  </a:lnTo>
                  <a:lnTo>
                    <a:pt x="2731" y="2142"/>
                  </a:lnTo>
                  <a:lnTo>
                    <a:pt x="2737" y="2178"/>
                  </a:lnTo>
                  <a:lnTo>
                    <a:pt x="2741" y="2216"/>
                  </a:lnTo>
                  <a:lnTo>
                    <a:pt x="2744" y="2257"/>
                  </a:lnTo>
                  <a:lnTo>
                    <a:pt x="3098" y="2257"/>
                  </a:lnTo>
                  <a:lnTo>
                    <a:pt x="3095" y="2208"/>
                  </a:lnTo>
                  <a:lnTo>
                    <a:pt x="3092" y="2161"/>
                  </a:lnTo>
                  <a:lnTo>
                    <a:pt x="3087" y="2114"/>
                  </a:lnTo>
                  <a:lnTo>
                    <a:pt x="3079" y="2070"/>
                  </a:lnTo>
                  <a:lnTo>
                    <a:pt x="3069" y="2027"/>
                  </a:lnTo>
                  <a:lnTo>
                    <a:pt x="3057" y="1986"/>
                  </a:lnTo>
                  <a:lnTo>
                    <a:pt x="3050" y="1966"/>
                  </a:lnTo>
                  <a:lnTo>
                    <a:pt x="3043" y="1946"/>
                  </a:lnTo>
                  <a:lnTo>
                    <a:pt x="3034" y="1927"/>
                  </a:lnTo>
                  <a:lnTo>
                    <a:pt x="3026" y="1908"/>
                  </a:lnTo>
                  <a:lnTo>
                    <a:pt x="3017" y="1889"/>
                  </a:lnTo>
                  <a:lnTo>
                    <a:pt x="3007" y="1871"/>
                  </a:lnTo>
                  <a:lnTo>
                    <a:pt x="2998" y="1854"/>
                  </a:lnTo>
                  <a:lnTo>
                    <a:pt x="2987" y="1837"/>
                  </a:lnTo>
                  <a:lnTo>
                    <a:pt x="2976" y="1820"/>
                  </a:lnTo>
                  <a:lnTo>
                    <a:pt x="2964" y="1803"/>
                  </a:lnTo>
                  <a:lnTo>
                    <a:pt x="2952" y="1787"/>
                  </a:lnTo>
                  <a:lnTo>
                    <a:pt x="2940" y="1772"/>
                  </a:lnTo>
                  <a:lnTo>
                    <a:pt x="2926" y="1757"/>
                  </a:lnTo>
                  <a:lnTo>
                    <a:pt x="2913" y="1742"/>
                  </a:lnTo>
                  <a:lnTo>
                    <a:pt x="2898" y="1727"/>
                  </a:lnTo>
                  <a:lnTo>
                    <a:pt x="2883" y="1714"/>
                  </a:lnTo>
                  <a:lnTo>
                    <a:pt x="2868" y="1700"/>
                  </a:lnTo>
                  <a:lnTo>
                    <a:pt x="2853" y="1686"/>
                  </a:lnTo>
                  <a:lnTo>
                    <a:pt x="2836" y="1674"/>
                  </a:lnTo>
                  <a:lnTo>
                    <a:pt x="2819" y="1661"/>
                  </a:lnTo>
                  <a:lnTo>
                    <a:pt x="2800" y="1649"/>
                  </a:lnTo>
                  <a:lnTo>
                    <a:pt x="2781" y="1636"/>
                  </a:lnTo>
                  <a:lnTo>
                    <a:pt x="2761" y="1624"/>
                  </a:lnTo>
                  <a:lnTo>
                    <a:pt x="2741" y="1614"/>
                  </a:lnTo>
                  <a:lnTo>
                    <a:pt x="2720" y="1603"/>
                  </a:lnTo>
                  <a:lnTo>
                    <a:pt x="2700" y="1594"/>
                  </a:lnTo>
                  <a:lnTo>
                    <a:pt x="2678" y="1586"/>
                  </a:lnTo>
                  <a:lnTo>
                    <a:pt x="2657" y="1577"/>
                  </a:lnTo>
                  <a:lnTo>
                    <a:pt x="2635" y="1570"/>
                  </a:lnTo>
                  <a:lnTo>
                    <a:pt x="2612" y="1562"/>
                  </a:lnTo>
                  <a:lnTo>
                    <a:pt x="2590" y="1556"/>
                  </a:lnTo>
                  <a:lnTo>
                    <a:pt x="2567" y="1551"/>
                  </a:lnTo>
                  <a:lnTo>
                    <a:pt x="2542" y="1547"/>
                  </a:lnTo>
                  <a:lnTo>
                    <a:pt x="2518" y="1542"/>
                  </a:lnTo>
                  <a:lnTo>
                    <a:pt x="2494" y="1538"/>
                  </a:lnTo>
                  <a:lnTo>
                    <a:pt x="2469" y="1535"/>
                  </a:lnTo>
                  <a:lnTo>
                    <a:pt x="2469" y="1248"/>
                  </a:lnTo>
                  <a:lnTo>
                    <a:pt x="2197" y="1248"/>
                  </a:lnTo>
                  <a:lnTo>
                    <a:pt x="2197" y="1536"/>
                  </a:lnTo>
                  <a:lnTo>
                    <a:pt x="2186" y="1537"/>
                  </a:lnTo>
                  <a:lnTo>
                    <a:pt x="2177" y="1539"/>
                  </a:lnTo>
                  <a:lnTo>
                    <a:pt x="2139" y="1549"/>
                  </a:lnTo>
                  <a:lnTo>
                    <a:pt x="2102" y="1558"/>
                  </a:lnTo>
                  <a:lnTo>
                    <a:pt x="2066" y="1568"/>
                  </a:lnTo>
                  <a:lnTo>
                    <a:pt x="2032" y="1579"/>
                  </a:lnTo>
                  <a:lnTo>
                    <a:pt x="1999" y="1591"/>
                  </a:lnTo>
                  <a:lnTo>
                    <a:pt x="1966" y="1603"/>
                  </a:lnTo>
                  <a:lnTo>
                    <a:pt x="1936" y="1617"/>
                  </a:lnTo>
                  <a:lnTo>
                    <a:pt x="1907" y="1632"/>
                  </a:lnTo>
                  <a:lnTo>
                    <a:pt x="1878" y="1647"/>
                  </a:lnTo>
                  <a:lnTo>
                    <a:pt x="1851" y="1663"/>
                  </a:lnTo>
                  <a:lnTo>
                    <a:pt x="1826" y="1680"/>
                  </a:lnTo>
                  <a:lnTo>
                    <a:pt x="1800" y="1697"/>
                  </a:lnTo>
                  <a:lnTo>
                    <a:pt x="1777" y="1716"/>
                  </a:lnTo>
                  <a:lnTo>
                    <a:pt x="1755" y="1735"/>
                  </a:lnTo>
                  <a:lnTo>
                    <a:pt x="1734" y="1755"/>
                  </a:lnTo>
                  <a:lnTo>
                    <a:pt x="1714" y="1776"/>
                  </a:lnTo>
                  <a:lnTo>
                    <a:pt x="1695" y="1798"/>
                  </a:lnTo>
                  <a:lnTo>
                    <a:pt x="1677" y="1820"/>
                  </a:lnTo>
                  <a:lnTo>
                    <a:pt x="1662" y="1843"/>
                  </a:lnTo>
                  <a:lnTo>
                    <a:pt x="1646" y="1867"/>
                  </a:lnTo>
                  <a:lnTo>
                    <a:pt x="1632" y="1892"/>
                  </a:lnTo>
                  <a:lnTo>
                    <a:pt x="1620" y="1919"/>
                  </a:lnTo>
                  <a:lnTo>
                    <a:pt x="1608" y="1945"/>
                  </a:lnTo>
                  <a:lnTo>
                    <a:pt x="1599" y="1972"/>
                  </a:lnTo>
                  <a:lnTo>
                    <a:pt x="1589" y="2001"/>
                  </a:lnTo>
                  <a:lnTo>
                    <a:pt x="1582" y="2029"/>
                  </a:lnTo>
                  <a:lnTo>
                    <a:pt x="1574" y="2060"/>
                  </a:lnTo>
                  <a:lnTo>
                    <a:pt x="1569" y="2090"/>
                  </a:lnTo>
                  <a:lnTo>
                    <a:pt x="1565" y="2122"/>
                  </a:lnTo>
                  <a:lnTo>
                    <a:pt x="1562" y="2154"/>
                  </a:lnTo>
                  <a:lnTo>
                    <a:pt x="1561" y="2187"/>
                  </a:lnTo>
                  <a:lnTo>
                    <a:pt x="1560" y="2220"/>
                  </a:lnTo>
                  <a:lnTo>
                    <a:pt x="1561" y="2255"/>
                  </a:lnTo>
                  <a:lnTo>
                    <a:pt x="1563" y="2289"/>
                  </a:lnTo>
                  <a:lnTo>
                    <a:pt x="1566" y="2321"/>
                  </a:lnTo>
                  <a:lnTo>
                    <a:pt x="1571" y="2353"/>
                  </a:lnTo>
                  <a:lnTo>
                    <a:pt x="1578" y="2384"/>
                  </a:lnTo>
                  <a:lnTo>
                    <a:pt x="1585" y="2415"/>
                  </a:lnTo>
                  <a:lnTo>
                    <a:pt x="1594" y="2444"/>
                  </a:lnTo>
                  <a:lnTo>
                    <a:pt x="1605" y="2473"/>
                  </a:lnTo>
                  <a:lnTo>
                    <a:pt x="1616" y="2500"/>
                  </a:lnTo>
                  <a:lnTo>
                    <a:pt x="1630" y="2527"/>
                  </a:lnTo>
                  <a:lnTo>
                    <a:pt x="1645" y="2554"/>
                  </a:lnTo>
                  <a:lnTo>
                    <a:pt x="1661" y="2579"/>
                  </a:lnTo>
                  <a:lnTo>
                    <a:pt x="1678" y="2603"/>
                  </a:lnTo>
                  <a:lnTo>
                    <a:pt x="1697" y="2627"/>
                  </a:lnTo>
                  <a:lnTo>
                    <a:pt x="1718" y="2649"/>
                  </a:lnTo>
                  <a:lnTo>
                    <a:pt x="1739" y="2671"/>
                  </a:lnTo>
                  <a:lnTo>
                    <a:pt x="1752" y="2683"/>
                  </a:lnTo>
                  <a:lnTo>
                    <a:pt x="1767" y="2694"/>
                  </a:lnTo>
                  <a:lnTo>
                    <a:pt x="1781" y="2707"/>
                  </a:lnTo>
                  <a:lnTo>
                    <a:pt x="1798" y="2719"/>
                  </a:lnTo>
                  <a:lnTo>
                    <a:pt x="1816" y="2730"/>
                  </a:lnTo>
                  <a:lnTo>
                    <a:pt x="1836" y="2743"/>
                  </a:lnTo>
                  <a:lnTo>
                    <a:pt x="1879" y="2767"/>
                  </a:lnTo>
                  <a:lnTo>
                    <a:pt x="1928" y="2793"/>
                  </a:lnTo>
                  <a:lnTo>
                    <a:pt x="1982" y="2818"/>
                  </a:lnTo>
                  <a:lnTo>
                    <a:pt x="2042" y="2845"/>
                  </a:lnTo>
                  <a:lnTo>
                    <a:pt x="2107" y="2872"/>
                  </a:lnTo>
                  <a:lnTo>
                    <a:pt x="2148" y="2888"/>
                  </a:lnTo>
                  <a:lnTo>
                    <a:pt x="2188" y="2903"/>
                  </a:lnTo>
                  <a:lnTo>
                    <a:pt x="2188" y="3696"/>
                  </a:lnTo>
                  <a:close/>
                  <a:moveTo>
                    <a:pt x="2188" y="2533"/>
                  </a:moveTo>
                  <a:lnTo>
                    <a:pt x="2188" y="2533"/>
                  </a:lnTo>
                  <a:lnTo>
                    <a:pt x="2180" y="2528"/>
                  </a:lnTo>
                  <a:lnTo>
                    <a:pt x="2171" y="2523"/>
                  </a:lnTo>
                  <a:lnTo>
                    <a:pt x="2143" y="2508"/>
                  </a:lnTo>
                  <a:lnTo>
                    <a:pt x="2116" y="2494"/>
                  </a:lnTo>
                  <a:lnTo>
                    <a:pt x="2089" y="2479"/>
                  </a:lnTo>
                  <a:lnTo>
                    <a:pt x="2066" y="2462"/>
                  </a:lnTo>
                  <a:lnTo>
                    <a:pt x="2044" y="2445"/>
                  </a:lnTo>
                  <a:lnTo>
                    <a:pt x="2025" y="2427"/>
                  </a:lnTo>
                  <a:lnTo>
                    <a:pt x="2007" y="2409"/>
                  </a:lnTo>
                  <a:lnTo>
                    <a:pt x="1991" y="2389"/>
                  </a:lnTo>
                  <a:lnTo>
                    <a:pt x="1977" y="2369"/>
                  </a:lnTo>
                  <a:lnTo>
                    <a:pt x="1964" y="2348"/>
                  </a:lnTo>
                  <a:lnTo>
                    <a:pt x="1954" y="2326"/>
                  </a:lnTo>
                  <a:lnTo>
                    <a:pt x="1945" y="2302"/>
                  </a:lnTo>
                  <a:lnTo>
                    <a:pt x="1939" y="2279"/>
                  </a:lnTo>
                  <a:lnTo>
                    <a:pt x="1935" y="2255"/>
                  </a:lnTo>
                  <a:lnTo>
                    <a:pt x="1932" y="2230"/>
                  </a:lnTo>
                  <a:lnTo>
                    <a:pt x="1931" y="2204"/>
                  </a:lnTo>
                  <a:lnTo>
                    <a:pt x="1932" y="2174"/>
                  </a:lnTo>
                  <a:lnTo>
                    <a:pt x="1934" y="2147"/>
                  </a:lnTo>
                  <a:lnTo>
                    <a:pt x="1938" y="2120"/>
                  </a:lnTo>
                  <a:lnTo>
                    <a:pt x="1943" y="2094"/>
                  </a:lnTo>
                  <a:lnTo>
                    <a:pt x="1951" y="2070"/>
                  </a:lnTo>
                  <a:lnTo>
                    <a:pt x="1959" y="2047"/>
                  </a:lnTo>
                  <a:lnTo>
                    <a:pt x="1969" y="2025"/>
                  </a:lnTo>
                  <a:lnTo>
                    <a:pt x="1981" y="2004"/>
                  </a:lnTo>
                  <a:lnTo>
                    <a:pt x="1994" y="1985"/>
                  </a:lnTo>
                  <a:lnTo>
                    <a:pt x="2008" y="1966"/>
                  </a:lnTo>
                  <a:lnTo>
                    <a:pt x="2025" y="1949"/>
                  </a:lnTo>
                  <a:lnTo>
                    <a:pt x="2043" y="1933"/>
                  </a:lnTo>
                  <a:lnTo>
                    <a:pt x="2063" y="1919"/>
                  </a:lnTo>
                  <a:lnTo>
                    <a:pt x="2084" y="1905"/>
                  </a:lnTo>
                  <a:lnTo>
                    <a:pt x="2106" y="1892"/>
                  </a:lnTo>
                  <a:lnTo>
                    <a:pt x="2131" y="1881"/>
                  </a:lnTo>
                  <a:lnTo>
                    <a:pt x="2142" y="1877"/>
                  </a:lnTo>
                  <a:lnTo>
                    <a:pt x="2156" y="1871"/>
                  </a:lnTo>
                  <a:lnTo>
                    <a:pt x="2188" y="1861"/>
                  </a:lnTo>
                  <a:lnTo>
                    <a:pt x="2188" y="2533"/>
                  </a:lnTo>
                  <a:close/>
                  <a:moveTo>
                    <a:pt x="2469" y="2974"/>
                  </a:moveTo>
                  <a:lnTo>
                    <a:pt x="2469" y="2974"/>
                  </a:lnTo>
                  <a:lnTo>
                    <a:pt x="2485" y="2981"/>
                  </a:lnTo>
                  <a:lnTo>
                    <a:pt x="2499" y="2991"/>
                  </a:lnTo>
                  <a:lnTo>
                    <a:pt x="2544" y="3017"/>
                  </a:lnTo>
                  <a:lnTo>
                    <a:pt x="2583" y="3042"/>
                  </a:lnTo>
                  <a:lnTo>
                    <a:pt x="2602" y="3055"/>
                  </a:lnTo>
                  <a:lnTo>
                    <a:pt x="2619" y="3068"/>
                  </a:lnTo>
                  <a:lnTo>
                    <a:pt x="2635" y="3079"/>
                  </a:lnTo>
                  <a:lnTo>
                    <a:pt x="2650" y="3092"/>
                  </a:lnTo>
                  <a:lnTo>
                    <a:pt x="2663" y="3104"/>
                  </a:lnTo>
                  <a:lnTo>
                    <a:pt x="2676" y="3117"/>
                  </a:lnTo>
                  <a:lnTo>
                    <a:pt x="2688" y="3130"/>
                  </a:lnTo>
                  <a:lnTo>
                    <a:pt x="2697" y="3142"/>
                  </a:lnTo>
                  <a:lnTo>
                    <a:pt x="2706" y="3155"/>
                  </a:lnTo>
                  <a:lnTo>
                    <a:pt x="2714" y="3166"/>
                  </a:lnTo>
                  <a:lnTo>
                    <a:pt x="2721" y="3179"/>
                  </a:lnTo>
                  <a:lnTo>
                    <a:pt x="2726" y="3192"/>
                  </a:lnTo>
                  <a:lnTo>
                    <a:pt x="2732" y="3207"/>
                  </a:lnTo>
                  <a:lnTo>
                    <a:pt x="2737" y="3223"/>
                  </a:lnTo>
                  <a:lnTo>
                    <a:pt x="2741" y="3240"/>
                  </a:lnTo>
                  <a:lnTo>
                    <a:pt x="2744" y="3257"/>
                  </a:lnTo>
                  <a:lnTo>
                    <a:pt x="2746" y="3275"/>
                  </a:lnTo>
                  <a:lnTo>
                    <a:pt x="2749" y="3292"/>
                  </a:lnTo>
                  <a:lnTo>
                    <a:pt x="2750" y="3311"/>
                  </a:lnTo>
                  <a:lnTo>
                    <a:pt x="2750" y="3330"/>
                  </a:lnTo>
                  <a:lnTo>
                    <a:pt x="2750" y="3354"/>
                  </a:lnTo>
                  <a:lnTo>
                    <a:pt x="2747" y="3379"/>
                  </a:lnTo>
                  <a:lnTo>
                    <a:pt x="2745" y="3402"/>
                  </a:lnTo>
                  <a:lnTo>
                    <a:pt x="2742" y="3424"/>
                  </a:lnTo>
                  <a:lnTo>
                    <a:pt x="2737" y="3445"/>
                  </a:lnTo>
                  <a:lnTo>
                    <a:pt x="2732" y="3466"/>
                  </a:lnTo>
                  <a:lnTo>
                    <a:pt x="2725" y="3486"/>
                  </a:lnTo>
                  <a:lnTo>
                    <a:pt x="2717" y="3506"/>
                  </a:lnTo>
                  <a:lnTo>
                    <a:pt x="2709" y="3524"/>
                  </a:lnTo>
                  <a:lnTo>
                    <a:pt x="2699" y="3543"/>
                  </a:lnTo>
                  <a:lnTo>
                    <a:pt x="2689" y="3559"/>
                  </a:lnTo>
                  <a:lnTo>
                    <a:pt x="2677" y="3576"/>
                  </a:lnTo>
                  <a:lnTo>
                    <a:pt x="2664" y="3592"/>
                  </a:lnTo>
                  <a:lnTo>
                    <a:pt x="2651" y="3608"/>
                  </a:lnTo>
                  <a:lnTo>
                    <a:pt x="2636" y="3623"/>
                  </a:lnTo>
                  <a:lnTo>
                    <a:pt x="2620" y="3636"/>
                  </a:lnTo>
                  <a:lnTo>
                    <a:pt x="2605" y="3648"/>
                  </a:lnTo>
                  <a:lnTo>
                    <a:pt x="2590" y="3659"/>
                  </a:lnTo>
                  <a:lnTo>
                    <a:pt x="2574" y="3669"/>
                  </a:lnTo>
                  <a:lnTo>
                    <a:pt x="2558" y="3677"/>
                  </a:lnTo>
                  <a:lnTo>
                    <a:pt x="2544" y="3683"/>
                  </a:lnTo>
                  <a:lnTo>
                    <a:pt x="2528" y="3690"/>
                  </a:lnTo>
                  <a:lnTo>
                    <a:pt x="2512" y="3694"/>
                  </a:lnTo>
                  <a:lnTo>
                    <a:pt x="2496" y="3697"/>
                  </a:lnTo>
                  <a:lnTo>
                    <a:pt x="2469" y="3697"/>
                  </a:lnTo>
                  <a:lnTo>
                    <a:pt x="2469" y="2974"/>
                  </a:lnTo>
                  <a:close/>
                </a:path>
              </a:pathLst>
            </a:custGeom>
            <a:solidFill>
              <a:srgbClr val="888890"/>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0" name="Rectangle 4"/>
          <p:cNvSpPr>
            <a:spLocks noChangeArrowheads="1"/>
          </p:cNvSpPr>
          <p:nvPr/>
        </p:nvSpPr>
        <p:spPr bwMode="auto">
          <a:xfrm>
            <a:off x="422275" y="3662363"/>
            <a:ext cx="2801938" cy="1119188"/>
          </a:xfrm>
          <a:prstGeom prst="rect">
            <a:avLst/>
          </a:prstGeom>
          <a:noFill/>
          <a:ln>
            <a:noFill/>
          </a:ln>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05B8CA"/>
                </a:solidFill>
                <a:effectLst/>
                <a:uLnTx/>
                <a:uFillTx/>
                <a:latin typeface="+mn-lt"/>
                <a:ea typeface="+mn-ea"/>
                <a:cs typeface="+mn-ea"/>
                <a:sym typeface="+mn-lt"/>
              </a:rPr>
              <a:t>①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求链表中的最大整数；</a:t>
            </a:r>
          </a:p>
        </p:txBody>
      </p:sp>
      <p:sp>
        <p:nvSpPr>
          <p:cNvPr id="21" name="Rectangle 4"/>
          <p:cNvSpPr>
            <a:spLocks noChangeArrowheads="1"/>
          </p:cNvSpPr>
          <p:nvPr/>
        </p:nvSpPr>
        <p:spPr bwMode="auto">
          <a:xfrm>
            <a:off x="5802313" y="3044825"/>
            <a:ext cx="2760663" cy="1119188"/>
          </a:xfrm>
          <a:prstGeom prst="rect">
            <a:avLst/>
          </a:prstGeom>
          <a:noFill/>
          <a:ln>
            <a:noFill/>
          </a:ln>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B296CE"/>
                </a:solidFill>
                <a:effectLst/>
                <a:uLnTx/>
                <a:uFillTx/>
                <a:latin typeface="+mn-lt"/>
                <a:ea typeface="+mn-ea"/>
                <a:cs typeface="+mn-ea"/>
                <a:sym typeface="+mn-lt"/>
              </a:rPr>
              <a:t>②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求链表的结点个数；</a:t>
            </a:r>
          </a:p>
        </p:txBody>
      </p:sp>
      <p:sp>
        <p:nvSpPr>
          <p:cNvPr id="22" name="Rectangle 4"/>
          <p:cNvSpPr>
            <a:spLocks noChangeArrowheads="1"/>
          </p:cNvSpPr>
          <p:nvPr/>
        </p:nvSpPr>
        <p:spPr bwMode="auto">
          <a:xfrm>
            <a:off x="3933825" y="5583238"/>
            <a:ext cx="4437063" cy="582613"/>
          </a:xfrm>
          <a:prstGeom prst="rect">
            <a:avLst/>
          </a:prstGeom>
          <a:noFill/>
          <a:ln>
            <a:noFill/>
          </a:ln>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25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CCCCCC"/>
                </a:solidFill>
                <a:effectLst/>
                <a:uLnTx/>
                <a:uFillTx/>
                <a:latin typeface="+mn-lt"/>
                <a:ea typeface="+mn-ea"/>
                <a:cs typeface="+mn-ea"/>
                <a:sym typeface="+mn-lt"/>
              </a:rPr>
              <a:t>③ </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求所有整数的平均值。</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83364" name="Rectangle 4"/>
          <p:cNvSpPr>
            <a:spLocks noChangeArrowheads="1"/>
          </p:cNvSpPr>
          <p:nvPr/>
        </p:nvSpPr>
        <p:spPr bwMode="auto">
          <a:xfrm>
            <a:off x="179388" y="3825875"/>
            <a:ext cx="8697913" cy="2881313"/>
          </a:xfrm>
          <a:prstGeom prst="roundRect">
            <a:avLst>
              <a:gd name="adj" fmla="val 5646"/>
            </a:avLst>
          </a:prstGeom>
          <a:solidFill>
            <a:srgbClr val="C4B3D7"/>
          </a:solidFill>
          <a:ln w="57150">
            <a:noFill/>
            <a:miter lim="800000"/>
          </a:ln>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void main( ){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L;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CreatList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cout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&lt;&lt;"</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链表中的最大整数为：</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"&lt;&lt;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GetMax</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(L-&gt;next)&lt;&lt;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endl</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sp>
        <p:nvSpPr>
          <p:cNvPr id="783365" name="Rectangle 5"/>
          <p:cNvSpPr>
            <a:spLocks noChangeArrowheads="1"/>
          </p:cNvSpPr>
          <p:nvPr/>
        </p:nvSpPr>
        <p:spPr bwMode="auto">
          <a:xfrm>
            <a:off x="179388" y="908050"/>
            <a:ext cx="8697913" cy="2755900"/>
          </a:xfrm>
          <a:prstGeom prst="roundRect">
            <a:avLst>
              <a:gd name="adj" fmla="val 6119"/>
            </a:avLst>
          </a:prstGeom>
          <a:solidFill>
            <a:srgbClr val="EAEAEA"/>
          </a:solidFill>
          <a:ln>
            <a:noFill/>
          </a:ln>
        </p:spPr>
        <p:txBody>
          <a:bodyPr anchor="ctr">
            <a:spAutoFit/>
          </a:bodyPr>
          <a:lstStyle>
            <a:lvl1pPr>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buFont typeface="Arial" panose="020B0604020202020204" pitchFamily="34" charset="0"/>
              <a:defRPr sz="2400" b="1">
                <a:solidFill>
                  <a:schemeClr val="tx1"/>
                </a:solidFill>
                <a:latin typeface="Times New Roman" panose="02020603050405020304" pitchFamily="18" charset="0"/>
                <a:ea typeface="楷体_GB2312" pitchFamily="49" charset="-122"/>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int </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GetMax</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p){//</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求链表中的最大整数</a:t>
            </a:r>
            <a:endPar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if(!p-&gt;next)	return p-&gt;data;</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else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int max=</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GetMax</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(p-&gt;next);</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return  p-&gt;data&gt;=max ? p-&gt;</a:t>
            </a:r>
            <a:r>
              <a:rPr kumimoji="0" lang="en-US" altLang="zh-CN" sz="2000" b="0" i="0" u="none" strike="noStrike" kern="1200" cap="none" spc="0" normalizeH="0" baseline="0" noProof="0" dirty="0" err="1">
                <a:ln>
                  <a:noFill/>
                </a:ln>
                <a:solidFill>
                  <a:schemeClr val="tx1"/>
                </a:solidFill>
                <a:effectLst/>
                <a:uLnTx/>
                <a:uFillTx/>
                <a:latin typeface="+mn-lt"/>
                <a:ea typeface="+mn-ea"/>
                <a:cs typeface="+mn-ea"/>
                <a:sym typeface="+mn-lt"/>
              </a:rPr>
              <a:t>data:max</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783366" name="Comment 6"/>
          <p:cNvSpPr>
            <a:spLocks noChangeArrowheads="1"/>
          </p:cNvSpPr>
          <p:nvPr/>
        </p:nvSpPr>
        <p:spPr bwMode="auto">
          <a:xfrm>
            <a:off x="900113" y="198438"/>
            <a:ext cx="18764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提示</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83364"/>
                                        </p:tgtEl>
                                        <p:attrNameLst>
                                          <p:attrName>style.visibility</p:attrName>
                                        </p:attrNameLst>
                                      </p:cBhvr>
                                      <p:to>
                                        <p:strVal val="visible"/>
                                      </p:to>
                                    </p:set>
                                    <p:animEffect transition="in" filter="diamond(in)">
                                      <p:cBhvr>
                                        <p:cTn id="7" dur="2000"/>
                                        <p:tgtEl>
                                          <p:spTgt spid="78336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783365"/>
                                        </p:tgtEl>
                                        <p:attrNameLst>
                                          <p:attrName>style.visibility</p:attrName>
                                        </p:attrNameLst>
                                      </p:cBhvr>
                                      <p:to>
                                        <p:strVal val="visible"/>
                                      </p:to>
                                    </p:set>
                                    <p:animEffect transition="in" filter="diamond(in)">
                                      <p:cBhvr>
                                        <p:cTn id="12" dur="2000"/>
                                        <p:tgtEl>
                                          <p:spTgt spid="783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3364" grpId="0" animBg="1"/>
      <p:bldP spid="78336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dmN2JmY2M5YTAwM2FlZGI5ZWNlMmIzYWU3ZjEwN2MifQ=="/>
  <p:tag name="commondata" val="eyJoZGlkIjoiZjhkMjM2ZGM2ZmEyYjQ3YmNmOTBkMTVhNzBmNjcyNmMifQ=="/>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1_默认设计模板">
  <a:themeElements>
    <a:clrScheme name="自定义 33">
      <a:dk1>
        <a:srgbClr val="000000"/>
      </a:dk1>
      <a:lt1>
        <a:srgbClr val="FEFFFF"/>
      </a:lt1>
      <a:dk2>
        <a:srgbClr val="000000"/>
      </a:dk2>
      <a:lt2>
        <a:srgbClr val="969696"/>
      </a:lt2>
      <a:accent1>
        <a:srgbClr val="6C4C8F"/>
      </a:accent1>
      <a:accent2>
        <a:srgbClr val="3333CC"/>
      </a:accent2>
      <a:accent3>
        <a:srgbClr val="FEFFFF"/>
      </a:accent3>
      <a:accent4>
        <a:srgbClr val="000000"/>
      </a:accent4>
      <a:accent5>
        <a:srgbClr val="AAE2CA"/>
      </a:accent5>
      <a:accent6>
        <a:srgbClr val="2D2DB9"/>
      </a:accent6>
      <a:hlink>
        <a:srgbClr val="0000FF"/>
      </a:hlink>
      <a:folHlink>
        <a:srgbClr val="003366"/>
      </a:folHlink>
    </a:clrScheme>
    <a:fontScheme name="dmabmibi">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noFill/>
          <a:prstDash val="solid"/>
          <a:round/>
          <a:headEnd type="none" w="med" len="med"/>
          <a:tailEnd type="none" w="med" len="med"/>
        </a:ln>
      </a:spPr>
      <a:bodyPr vert="horz" wrap="square" lIns="91440" tIns="45720" rIns="91440" bIns="45720" numCol="1" rtlCol="0"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767</TotalTime>
  <Words>9538</Words>
  <Application>Microsoft Office PowerPoint</Application>
  <PresentationFormat>全屏显示(4:3)</PresentationFormat>
  <Paragraphs>1980</Paragraphs>
  <Slides>180</Slides>
  <Notes>17</Notes>
  <HiddenSlides>64</HiddenSlides>
  <MMClips>0</MMClips>
  <ScaleCrop>false</ScaleCrop>
  <HeadingPairs>
    <vt:vector size="6" baseType="variant">
      <vt:variant>
        <vt:lpstr>主题</vt:lpstr>
      </vt:variant>
      <vt:variant>
        <vt:i4>1</vt:i4>
      </vt:variant>
      <vt:variant>
        <vt:lpstr>嵌入 OLE 服务器</vt:lpstr>
      </vt:variant>
      <vt:variant>
        <vt:i4>4</vt:i4>
      </vt:variant>
      <vt:variant>
        <vt:lpstr>幻灯片标题</vt:lpstr>
      </vt:variant>
      <vt:variant>
        <vt:i4>180</vt:i4>
      </vt:variant>
    </vt:vector>
  </HeadingPairs>
  <TitlesOfParts>
    <vt:vector size="185" baseType="lpstr">
      <vt:lpstr>1_默认设计模板</vt:lpstr>
      <vt:lpstr>Microsoft 公式 3.0</vt:lpstr>
      <vt:lpstr>Visio.Drawing.5</vt:lpstr>
      <vt:lpstr>Microsoft Word Picture</vt:lpstr>
      <vt:lpstr>Microsoft Word 97 - 2003 文档</vt:lpstr>
      <vt:lpstr>PowerPoint 演示文稿</vt:lpstr>
      <vt:lpstr>PowerPoint 演示文稿</vt:lpstr>
      <vt:lpstr>PowerPoint 演示文稿</vt:lpstr>
      <vt:lpstr>PowerPoint 演示文稿</vt:lpstr>
      <vt:lpstr>栈</vt:lpstr>
      <vt:lpstr>栈</vt:lpstr>
      <vt:lpstr>栈与一般线性表的区别</vt:lpstr>
      <vt:lpstr>PowerPoint 演示文稿</vt:lpstr>
      <vt:lpstr>3.2 案例引入</vt:lpstr>
      <vt:lpstr>古代数学--筹算与珠算</vt:lpstr>
      <vt:lpstr>古代数学--筹算与珠算</vt:lpstr>
      <vt:lpstr>中国古代数学文化的传承与发展</vt:lpstr>
      <vt:lpstr>PowerPoint 演示文稿</vt:lpstr>
      <vt:lpstr>PowerPoint 演示文稿</vt:lpstr>
      <vt:lpstr>PowerPoint 演示文稿</vt:lpstr>
      <vt:lpstr>顺序栈的表示</vt:lpstr>
      <vt:lpstr>顺序栈的表示</vt:lpstr>
      <vt:lpstr>顺序栈初始化</vt:lpstr>
      <vt:lpstr>PowerPoint 演示文稿</vt:lpstr>
      <vt:lpstr>PowerPoint 演示文稿</vt:lpstr>
      <vt:lpstr>求顺序栈的长度</vt:lpstr>
      <vt:lpstr>清空顺序栈</vt:lpstr>
      <vt:lpstr>销毁顺序栈</vt:lpstr>
      <vt:lpstr>顺序栈进栈</vt:lpstr>
      <vt:lpstr>顺序栈出栈</vt:lpstr>
      <vt:lpstr>取顺序栈栈顶元素</vt:lpstr>
      <vt:lpstr>PowerPoint 演示文稿</vt:lpstr>
      <vt:lpstr>练习</vt:lpstr>
      <vt:lpstr>PowerPoint 演示文稿</vt:lpstr>
      <vt:lpstr>PowerPoint 演示文稿</vt:lpstr>
      <vt:lpstr>考研试题</vt:lpstr>
      <vt:lpstr>考研试题</vt:lpstr>
      <vt:lpstr>考研试题</vt:lpstr>
      <vt:lpstr>考研试题</vt:lpstr>
      <vt:lpstr>提示</vt:lpstr>
      <vt:lpstr>链栈的表示</vt:lpstr>
      <vt:lpstr>链栈的初始化</vt:lpstr>
      <vt:lpstr>判断链栈是否为空</vt:lpstr>
      <vt:lpstr>链栈进栈</vt:lpstr>
      <vt:lpstr>链栈进栈</vt:lpstr>
      <vt:lpstr>链栈进栈</vt:lpstr>
      <vt:lpstr>链栈进栈</vt:lpstr>
      <vt:lpstr>链栈出栈</vt:lpstr>
      <vt:lpstr>链栈出栈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三格板是一种 L 形的物体，它能覆盖棋盘的三个格子,三格板有四个方向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队列</vt:lpstr>
      <vt:lpstr>队列</vt:lpstr>
      <vt:lpstr>队列</vt:lpstr>
      <vt:lpstr>队列</vt:lpstr>
      <vt:lpstr>队列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补充：将中缀表达式转换成前缀表达式</vt:lpstr>
      <vt:lpstr>PowerPoint 演示文稿</vt:lpstr>
      <vt:lpstr>PowerPoint 演示文稿</vt:lpstr>
      <vt:lpstr>补充：将中缀表达式转换成后缀表达式（两个栈）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bjfu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dc:title>
  <dc:creator>lidongmei</dc:creator>
  <cp:lastModifiedBy>wyw-office</cp:lastModifiedBy>
  <cp:revision>1300</cp:revision>
  <dcterms:created xsi:type="dcterms:W3CDTF">1996-07-15T15:40:00Z</dcterms:created>
  <dcterms:modified xsi:type="dcterms:W3CDTF">2025-04-08T01:12:31Z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2052-12.1.0.17857</vt:lpwstr>
  </property>
  <property fmtid="{D5CDD505-2E9C-101B-9397-08002B2CF9AE}" pid="3" name="ICV">
    <vt:lpwstr>F26FCACF8A8C43A29E12A8612508EB15_12</vt:lpwstr>
  </property>
</Properties>
</file>